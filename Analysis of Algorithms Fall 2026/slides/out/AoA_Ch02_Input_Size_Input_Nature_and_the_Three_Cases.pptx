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5.svg" ContentType="image/svg+xml"/>
  <Override PartName="/ppt/media/image46.svg" ContentType="image/svg+xml"/>
  <Override PartName="/ppt/media/image48.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5.svg" ContentType="image/svg+xml"/>
  <Override PartName="/ppt/media/image66.svg" ContentType="image/svg+xml"/>
  <Override PartName="/ppt/media/image6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DFDBFB-2F89-4294-87C3-9C4F34473572}">
          <p14:sldIdLst>
            <p14:sldId id="256"/>
            <p14:sldId id="257"/>
            <p14:sldId id="258"/>
            <p14:sldId id="259"/>
            <p14:sldId id="260"/>
          </p14:sldIdLst>
        </p14:section>
        <p14:section name="2.1 The Size of the Input" id="{F7F59032-0BC1-4788-A1B0-1D96E02D9C27}">
          <p14:sldIdLst>
            <p14:sldId id="261"/>
            <p14:sldId id="262"/>
            <p14:sldId id="263"/>
            <p14:sldId id="264"/>
            <p14:sldId id="265"/>
            <p14:sldId id="266"/>
            <p14:sldId id="267"/>
          </p14:sldIdLst>
        </p14:section>
        <p14:section name="2.2 The Nature of the Input: Three Cases" id="{90104604-2B11-4D8F-83FA-6C8291015B55}">
          <p14:sldIdLst>
            <p14:sldId id="268"/>
            <p14:sldId id="269"/>
            <p14:sldId id="270"/>
            <p14:sldId id="271"/>
            <p14:sldId id="272"/>
            <p14:sldId id="273"/>
            <p14:sldId id="274"/>
            <p14:sldId id="275"/>
          </p14:sldIdLst>
        </p14:section>
        <p14:section name="2.3 Which Case Should You Report?" id="{31576E41-0CE4-40E7-B7BF-B358FF68151D}">
          <p14:sldIdLst>
            <p14:sldId id="276"/>
            <p14:sldId id="277"/>
            <p14:sldId id="278"/>
            <p14:sldId id="279"/>
          </p14:sldIdLst>
        </p14:section>
        <p14:section name="Pitfalls" id="{3812CE7A-A86D-4457-BEFA-E2125EAC1FF5}">
          <p14:sldIdLst>
            <p14:sldId id="280"/>
            <p14:sldId id="281"/>
          </p14:sldIdLst>
        </p14:section>
        <p14:section name="Lab" id="{4EFE6E56-49C1-4710-93AC-A7227EC8EDB9}">
          <p14:sldIdLst>
            <p14:sldId id="282"/>
            <p14:sldId id="283"/>
            <p14:sldId id="284"/>
            <p14:sldId id="285"/>
            <p14:sldId id="286"/>
            <p14:sldId id="287"/>
          </p14:sldIdLst>
        </p14:section>
        <p14:section name="Checkpoint" id="{EFB6DD20-FE2D-435A-B8A8-5A009664C7E2}">
          <p14:sldIdLst>
            <p14:sldId id="288"/>
            <p14:sldId id="289"/>
            <p14:sldId id="290"/>
          </p14:sldIdLst>
        </p14:section>
        <p14:section name="Wrap-up" id="{F5906399-AD49-4E2F-A156-F0E7F8E80EF0}">
          <p14:sldIdLst>
            <p14:sldId id="291"/>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Input Size, Input Nature, and the Three Cases. Part 1 — Analysing an Algorithm. Week 1: What an algorithm is; input size and the three cases. Handout pages 11–18.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 — the RAM model and the idea of an order of growth. You will also need to be comfortable that lg means log2, and that √(2b) = 2b/2.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input size; bit length; sparse; dense; best case; worst case; average case; expected running time; input distribution; uniform random permutation; randomised algorithm; adversary; pseudo-polynomial.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Chapter 1 was written as a function of n without ever saying what n counts. For an array that is obvious enough. For the other things algorithms take as input it is a decision, and a decision that changes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of those rows need an argument. A graph has |V| vertices and |E| edges, and |E| can be anywhere from 0 to |V|(|V|−1)/2. A bound of O(|V| + |E|) and a bound of O(|V|2) are the same thing on a dense graph and wildly different on a sparse one.</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students get wrong, and it is the root of a famous confusion that Chapter 16 and Chapter 22 both depend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 the size. Two inputs of the same size can still cost an algorithm wildly different amounts, because an algorithm’s control flow depends on what the data says, not only on how much of it there 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Insertion sort’s inner loop shifts elements right until it finds the place for key. The number of shifts for element j is how many of the j elements before it are larger — the number of inversions involving j.</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both tables in this chapter. Expect twenty-five minutes — part B takes about two minutes of CPU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Three shapes of input, all of the same size.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Trial division, whose cost is governed by sqrt(N).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same algorithm, three orders of growth.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Why the size of a number is its number of bits.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3 — Asymptotic Notation. READ: Handout Chapter 2, pages 11–18. THIS WEEK'S LAB: Growth measured: the ratio test, and the crossover at n ≈ 65.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3.xml"/><Relationship Id="rId7"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1.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2.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3.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4.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5.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image" Target="../media/image29.png"/><Relationship Id="rId7" Type="http://schemas.openxmlformats.org/officeDocument/2006/relationships/image" Target="../media/image30.svg"/><Relationship Id="rId8" Type="http://schemas.openxmlformats.org/officeDocument/2006/relationships/image" Target="../media/image31.png"/><Relationship Id="rId9" Type="http://schemas.openxmlformats.org/officeDocument/2006/relationships/image" Target="../media/image32.svg"/><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46.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2.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3.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4.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6.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3.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6.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7.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Input Size, Input Nature, and the Three Cases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ANALYSING AN ALGORITHM</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2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FA9C0312-A4A0-4827-9AB9-6F380944F10B}" type="slidenum">
              <a:rPr lang="en-GB" sz="1000">
                <a:solidFill>
                  <a:srgbClr val="8795A1"/>
                </a:solidFill>
                <a:latin typeface="Segoe UI"/>
              </a:rPr>
              <a:t>2</a:t>
            </a:fld>
          </a:p>
        </p:txBody>
      </p:sp>
      <p:sp>
        <p:nvSpPr>
          <p:cNvPr id="7" name="!!rp1"/>
          <p:cNvSpPr txBox="1"/>
          <p:nvPr/>
        </p:nvSpPr>
        <p:spPr>
          <a:xfrm>
            <a:off x="777240"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822916"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929340"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929340"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516226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516226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0034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0034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9373"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20937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23" name="!!dot3">
            <a:extLst>
              <a:ext uri="{C183D7F6-B498-43B3-948B-1728B52AA6E4}">
                <adec:decorative xmlns:adec="http://schemas.microsoft.com/office/drawing/2017/decorative" val="1"/>
              </a:ext>
            </a:extLst>
          </p:cNvPr>
          <p:cNvSpPr/>
          <p:nvPr/>
        </p:nvSpPr>
        <p:spPr>
          <a:xfrm>
            <a:off x="190284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81140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94567"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0312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960608"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8691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35232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2608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135771"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443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52749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43605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7697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855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6869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772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81817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267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20990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184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Input Size, Input Nature, and the Three Cases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The Role of Algorithms, and What Efficient Means</a:t>
            </a:r>
          </a:p>
        </p:txBody>
      </p:sp>
      <p:sp>
        <p:nvSpPr>
          <p:cNvPr id="70"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1" name="!!chipUS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US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US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Asymptotic Notation</a:t>
            </a:r>
          </a:p>
        </p:txBody>
      </p:sp>
      <p:sp>
        <p:nvSpPr>
          <p:cNvPr id="7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A7EA7FAB-8BD3-4D7E-8BF8-6D81EBF631FC}"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Define</a:t>
            </a:r>
            <a:r>
              <a:rPr sz="2100" b="0" i="0">
                <a:solidFill>
                  <a:srgbClr val="1C252B"/>
                </a:solidFill>
                <a:latin typeface="Segoe UI"/>
              </a:rPr>
              <a:t> the size of an input for an array, a matrix, a graph and a number, and </a:t>
            </a:r>
            <a:r>
              <a:rPr sz="2100" b="1" i="0">
                <a:solidFill>
                  <a:srgbClr val="1C252B"/>
                </a:solidFill>
                <a:latin typeface="Segoe UI"/>
              </a:rPr>
              <a:t>justify</a:t>
            </a:r>
            <a:r>
              <a:rPr sz="2100" b="0" i="0">
                <a:solidFill>
                  <a:srgbClr val="1C252B"/>
                </a:solidFill>
                <a:latin typeface="Segoe UI"/>
              </a:rPr>
              <a:t> why a number’s size is its bit count.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what is meant by the best, expected and worst case behaviour of an algorithm </a:t>
            </a:r>
            <a:r>
              <a:rPr sz="2100" b="0" i="1">
                <a:solidFill>
                  <a:srgbClr val="1C252B"/>
                </a:solidFill>
                <a:latin typeface="Segoe UI"/>
              </a:rPr>
              <a:t>(CLO-1)</a:t>
            </a:r>
            <a:r>
              <a:rPr sz="2100" b="0" i="0">
                <a:solidFill>
                  <a:srgbClr val="1C252B"/>
                </a:solidFill>
                <a:latin typeface="Segoe UI"/>
              </a:rPr>
              <a:t>.</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Identify</a:t>
            </a:r>
            <a:r>
              <a:rPr sz="2100" b="0" i="0">
                <a:solidFill>
                  <a:srgbClr val="1C252B"/>
                </a:solidFill>
                <a:latin typeface="Segoe UI"/>
              </a:rPr>
              <a:t> the characteristics of the data, or the other conditions and assumptions, that lead an algorithm to different behaviours </a:t>
            </a:r>
            <a:r>
              <a:rPr sz="2100" b="0" i="1">
                <a:solidFill>
                  <a:srgbClr val="1C252B"/>
                </a:solidFill>
                <a:latin typeface="Segoe UI"/>
              </a:rPr>
              <a:t>(CLO-2)</a:t>
            </a:r>
            <a:r>
              <a:rPr sz="2100" b="0" i="0">
                <a:solidFill>
                  <a:srgbClr val="1C252B"/>
                </a:solidFill>
                <a:latin typeface="Segoe UI"/>
              </a:rPr>
              <a:t>.</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Derive</a:t>
            </a:r>
            <a:r>
              <a:rPr sz="2100" b="0" i="0">
                <a:solidFill>
                  <a:srgbClr val="1C252B"/>
                </a:solidFill>
                <a:latin typeface="Segoe UI"/>
              </a:rPr>
              <a:t> the best, worst and average case running time of insertion sort and linear search, and </a:t>
            </a:r>
            <a:r>
              <a:rPr sz="2100" b="1" i="0">
                <a:solidFill>
                  <a:srgbClr val="1C252B"/>
                </a:solidFill>
                <a:latin typeface="Segoe UI"/>
              </a:rPr>
              <a:t>say</a:t>
            </a:r>
            <a:r>
              <a:rPr sz="2100" b="0" i="0">
                <a:solidFill>
                  <a:srgbClr val="1C252B"/>
                </a:solidFill>
                <a:latin typeface="Segoe UI"/>
              </a:rPr>
              <a:t> which to report and why.</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Distinguish</a:t>
            </a:r>
            <a:r>
              <a:rPr sz="2100" b="0" i="0">
                <a:solidFill>
                  <a:srgbClr val="1C252B"/>
                </a:solidFill>
                <a:latin typeface="Segoe UI"/>
              </a:rPr>
              <a:t> an average taken over inputs from an expectation taken over an algorithm’s own random choices.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2E563663-8B8B-4E1A-8D0A-91744F09D170}" type="slidenum">
              <a:rPr lang="en-GB" sz="1000">
                <a:solidFill>
                  <a:srgbClr val="8795A1"/>
                </a:solidFill>
                <a:latin typeface="Segoe UI"/>
              </a:rPr>
              <a:t>4</a:t>
            </a:fld>
          </a:p>
        </p:txBody>
      </p:sp>
      <p:sp>
        <p:nvSpPr>
          <p:cNvPr id="7" name="!!term-input size">
            <a:extLst>
              <a:ext uri="{C183D7F6-B498-43B3-948B-1728B52AA6E4}">
                <adec:decorative xmlns:adec="http://schemas.microsoft.com/office/drawing/2017/decorative" val="1"/>
              </a:ext>
            </a:extLst>
          </p:cNvPr>
          <p:cNvSpPr/>
          <p:nvPr/>
        </p:nvSpPr>
        <p:spPr>
          <a:xfrm>
            <a:off x="658368" y="1847088"/>
            <a:ext cx="13127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input siz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input size"/>
          <p:cNvSpPr txBox="1"/>
          <p:nvPr/>
        </p:nvSpPr>
        <p:spPr>
          <a:xfrm>
            <a:off x="950976" y="1962911"/>
            <a:ext cx="11298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input size</a:t>
            </a:r>
          </a:p>
        </p:txBody>
      </p:sp>
      <p:sp>
        <p:nvSpPr>
          <p:cNvPr id="10" name="!!term-bit length">
            <a:extLst>
              <a:ext uri="{C183D7F6-B498-43B3-948B-1728B52AA6E4}">
                <adec:decorative xmlns:adec="http://schemas.microsoft.com/office/drawing/2017/decorative" val="1"/>
              </a:ext>
            </a:extLst>
          </p:cNvPr>
          <p:cNvSpPr/>
          <p:nvPr/>
        </p:nvSpPr>
        <p:spPr>
          <a:xfrm>
            <a:off x="2117409" y="1847088"/>
            <a:ext cx="13235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bit length">
            <a:extLst>
              <a:ext uri="{C183D7F6-B498-43B3-948B-1728B52AA6E4}">
                <adec:decorative xmlns:adec="http://schemas.microsoft.com/office/drawing/2017/decorative" val="1"/>
              </a:ext>
            </a:extLst>
          </p:cNvPr>
          <p:cNvSpPr/>
          <p:nvPr/>
        </p:nvSpPr>
        <p:spPr>
          <a:xfrm>
            <a:off x="224542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bit length"/>
          <p:cNvSpPr txBox="1"/>
          <p:nvPr/>
        </p:nvSpPr>
        <p:spPr>
          <a:xfrm>
            <a:off x="2410017" y="1962911"/>
            <a:ext cx="114063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bit length</a:t>
            </a:r>
          </a:p>
        </p:txBody>
      </p:sp>
      <p:sp>
        <p:nvSpPr>
          <p:cNvPr id="13" name="!!term-sparse">
            <a:extLst>
              <a:ext uri="{C183D7F6-B498-43B3-948B-1728B52AA6E4}">
                <adec:decorative xmlns:adec="http://schemas.microsoft.com/office/drawing/2017/decorative" val="1"/>
              </a:ext>
            </a:extLst>
          </p:cNvPr>
          <p:cNvSpPr/>
          <p:nvPr/>
        </p:nvSpPr>
        <p:spPr>
          <a:xfrm>
            <a:off x="3587227" y="1847088"/>
            <a:ext cx="10225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sparse">
            <a:extLst>
              <a:ext uri="{C183D7F6-B498-43B3-948B-1728B52AA6E4}">
                <adec:decorative xmlns:adec="http://schemas.microsoft.com/office/drawing/2017/decorative" val="1"/>
              </a:ext>
            </a:extLst>
          </p:cNvPr>
          <p:cNvSpPr/>
          <p:nvPr/>
        </p:nvSpPr>
        <p:spPr>
          <a:xfrm>
            <a:off x="371524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sparse"/>
          <p:cNvSpPr txBox="1"/>
          <p:nvPr/>
        </p:nvSpPr>
        <p:spPr>
          <a:xfrm>
            <a:off x="3879835" y="1962911"/>
            <a:ext cx="83966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sparse</a:t>
            </a:r>
          </a:p>
        </p:txBody>
      </p:sp>
      <p:sp>
        <p:nvSpPr>
          <p:cNvPr id="16" name="!!term-dense">
            <a:extLst>
              <a:ext uri="{C183D7F6-B498-43B3-948B-1728B52AA6E4}">
                <adec:decorative xmlns:adec="http://schemas.microsoft.com/office/drawing/2017/decorative" val="1"/>
              </a:ext>
            </a:extLst>
          </p:cNvPr>
          <p:cNvSpPr/>
          <p:nvPr/>
        </p:nvSpPr>
        <p:spPr>
          <a:xfrm>
            <a:off x="4756079" y="1847088"/>
            <a:ext cx="9829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ense">
            <a:extLst>
              <a:ext uri="{C183D7F6-B498-43B3-948B-1728B52AA6E4}">
                <adec:decorative xmlns:adec="http://schemas.microsoft.com/office/drawing/2017/decorative" val="1"/>
              </a:ext>
            </a:extLst>
          </p:cNvPr>
          <p:cNvSpPr/>
          <p:nvPr/>
        </p:nvSpPr>
        <p:spPr>
          <a:xfrm>
            <a:off x="488409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ense"/>
          <p:cNvSpPr txBox="1"/>
          <p:nvPr/>
        </p:nvSpPr>
        <p:spPr>
          <a:xfrm>
            <a:off x="5048687" y="1962911"/>
            <a:ext cx="80010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dense</a:t>
            </a:r>
          </a:p>
        </p:txBody>
      </p:sp>
      <p:sp>
        <p:nvSpPr>
          <p:cNvPr id="19" name="!!term-best case">
            <a:extLst>
              <a:ext uri="{C183D7F6-B498-43B3-948B-1728B52AA6E4}">
                <adec:decorative xmlns:adec="http://schemas.microsoft.com/office/drawing/2017/decorative" val="1"/>
              </a:ext>
            </a:extLst>
          </p:cNvPr>
          <p:cNvSpPr/>
          <p:nvPr/>
        </p:nvSpPr>
        <p:spPr>
          <a:xfrm>
            <a:off x="5885363" y="1847088"/>
            <a:ext cx="12816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best case">
            <a:extLst>
              <a:ext uri="{C183D7F6-B498-43B3-948B-1728B52AA6E4}">
                <adec:decorative xmlns:adec="http://schemas.microsoft.com/office/drawing/2017/decorative" val="1"/>
              </a:ext>
            </a:extLst>
          </p:cNvPr>
          <p:cNvSpPr/>
          <p:nvPr/>
        </p:nvSpPr>
        <p:spPr>
          <a:xfrm>
            <a:off x="601337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best case"/>
          <p:cNvSpPr txBox="1"/>
          <p:nvPr/>
        </p:nvSpPr>
        <p:spPr>
          <a:xfrm>
            <a:off x="6177971" y="1962911"/>
            <a:ext cx="109876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best case</a:t>
            </a:r>
          </a:p>
        </p:txBody>
      </p:sp>
      <p:sp>
        <p:nvSpPr>
          <p:cNvPr id="22" name="!!term-worst case">
            <a:extLst>
              <a:ext uri="{C183D7F6-B498-43B3-948B-1728B52AA6E4}">
                <adec:decorative xmlns:adec="http://schemas.microsoft.com/office/drawing/2017/decorative" val="1"/>
              </a:ext>
            </a:extLst>
          </p:cNvPr>
          <p:cNvSpPr/>
          <p:nvPr/>
        </p:nvSpPr>
        <p:spPr>
          <a:xfrm>
            <a:off x="7313315" y="1847088"/>
            <a:ext cx="13948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worst case">
            <a:extLst>
              <a:ext uri="{C183D7F6-B498-43B3-948B-1728B52AA6E4}">
                <adec:decorative xmlns:adec="http://schemas.microsoft.com/office/drawing/2017/decorative" val="1"/>
              </a:ext>
            </a:extLst>
          </p:cNvPr>
          <p:cNvSpPr/>
          <p:nvPr/>
        </p:nvSpPr>
        <p:spPr>
          <a:xfrm>
            <a:off x="744133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worst case"/>
          <p:cNvSpPr txBox="1"/>
          <p:nvPr/>
        </p:nvSpPr>
        <p:spPr>
          <a:xfrm>
            <a:off x="7605923" y="1962911"/>
            <a:ext cx="121194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worst case</a:t>
            </a:r>
          </a:p>
        </p:txBody>
      </p:sp>
      <p:sp>
        <p:nvSpPr>
          <p:cNvPr id="25" name="!!term-average case">
            <a:extLst>
              <a:ext uri="{C183D7F6-B498-43B3-948B-1728B52AA6E4}">
                <adec:decorative xmlns:adec="http://schemas.microsoft.com/office/drawing/2017/decorative" val="1"/>
              </a:ext>
            </a:extLst>
          </p:cNvPr>
          <p:cNvSpPr/>
          <p:nvPr/>
        </p:nvSpPr>
        <p:spPr>
          <a:xfrm>
            <a:off x="8854445" y="1847088"/>
            <a:ext cx="16144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average case">
            <a:extLst>
              <a:ext uri="{C183D7F6-B498-43B3-948B-1728B52AA6E4}">
                <adec:decorative xmlns:adec="http://schemas.microsoft.com/office/drawing/2017/decorative" val="1"/>
              </a:ext>
            </a:extLst>
          </p:cNvPr>
          <p:cNvSpPr/>
          <p:nvPr/>
        </p:nvSpPr>
        <p:spPr>
          <a:xfrm>
            <a:off x="898246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average case"/>
          <p:cNvSpPr txBox="1"/>
          <p:nvPr/>
        </p:nvSpPr>
        <p:spPr>
          <a:xfrm>
            <a:off x="9147053" y="1962911"/>
            <a:ext cx="14316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average case</a:t>
            </a:r>
          </a:p>
        </p:txBody>
      </p:sp>
      <p:sp>
        <p:nvSpPr>
          <p:cNvPr id="28" name="!!term-expected runni">
            <a:extLst>
              <a:ext uri="{C183D7F6-B498-43B3-948B-1728B52AA6E4}">
                <adec:decorative xmlns:adec="http://schemas.microsoft.com/office/drawing/2017/decorative" val="1"/>
              </a:ext>
            </a:extLst>
          </p:cNvPr>
          <p:cNvSpPr/>
          <p:nvPr/>
        </p:nvSpPr>
        <p:spPr>
          <a:xfrm>
            <a:off x="658368" y="2468880"/>
            <a:ext cx="25036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expected runn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expected runni"/>
          <p:cNvSpPr txBox="1"/>
          <p:nvPr/>
        </p:nvSpPr>
        <p:spPr>
          <a:xfrm>
            <a:off x="950976" y="2584704"/>
            <a:ext cx="232077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expected running time</a:t>
            </a:r>
          </a:p>
        </p:txBody>
      </p:sp>
      <p:sp>
        <p:nvSpPr>
          <p:cNvPr id="31" name="!!term-input distribu">
            <a:extLst>
              <a:ext uri="{C183D7F6-B498-43B3-948B-1728B52AA6E4}">
                <adec:decorative xmlns:adec="http://schemas.microsoft.com/office/drawing/2017/decorative" val="1"/>
              </a:ext>
            </a:extLst>
          </p:cNvPr>
          <p:cNvSpPr/>
          <p:nvPr/>
        </p:nvSpPr>
        <p:spPr>
          <a:xfrm>
            <a:off x="3308322" y="2468880"/>
            <a:ext cx="20236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input distribu">
            <a:extLst>
              <a:ext uri="{C183D7F6-B498-43B3-948B-1728B52AA6E4}">
                <adec:decorative xmlns:adec="http://schemas.microsoft.com/office/drawing/2017/decorative" val="1"/>
              </a:ext>
            </a:extLst>
          </p:cNvPr>
          <p:cNvSpPr/>
          <p:nvPr/>
        </p:nvSpPr>
        <p:spPr>
          <a:xfrm>
            <a:off x="343633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input distribu"/>
          <p:cNvSpPr txBox="1"/>
          <p:nvPr/>
        </p:nvSpPr>
        <p:spPr>
          <a:xfrm>
            <a:off x="3600930" y="2584704"/>
            <a:ext cx="184077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input distribution</a:t>
            </a:r>
          </a:p>
        </p:txBody>
      </p:sp>
      <p:sp>
        <p:nvSpPr>
          <p:cNvPr id="34" name="!!term-uniform random">
            <a:extLst>
              <a:ext uri="{C183D7F6-B498-43B3-948B-1728B52AA6E4}">
                <adec:decorative xmlns:adec="http://schemas.microsoft.com/office/drawing/2017/decorative" val="1"/>
              </a:ext>
            </a:extLst>
          </p:cNvPr>
          <p:cNvSpPr/>
          <p:nvPr/>
        </p:nvSpPr>
        <p:spPr>
          <a:xfrm>
            <a:off x="5478278" y="2468880"/>
            <a:ext cx="31242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uniform random">
            <a:extLst>
              <a:ext uri="{C183D7F6-B498-43B3-948B-1728B52AA6E4}">
                <adec:decorative xmlns:adec="http://schemas.microsoft.com/office/drawing/2017/decorative" val="1"/>
              </a:ext>
            </a:extLst>
          </p:cNvPr>
          <p:cNvSpPr/>
          <p:nvPr/>
        </p:nvSpPr>
        <p:spPr>
          <a:xfrm>
            <a:off x="560629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uniform random"/>
          <p:cNvSpPr txBox="1"/>
          <p:nvPr/>
        </p:nvSpPr>
        <p:spPr>
          <a:xfrm>
            <a:off x="5770886" y="2584704"/>
            <a:ext cx="29413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uniform random permutation</a:t>
            </a:r>
          </a:p>
        </p:txBody>
      </p:sp>
      <p:sp>
        <p:nvSpPr>
          <p:cNvPr id="37" name="!!term-randomised alg">
            <a:extLst>
              <a:ext uri="{C183D7F6-B498-43B3-948B-1728B52AA6E4}">
                <adec:decorative xmlns:adec="http://schemas.microsoft.com/office/drawing/2017/decorative" val="1"/>
              </a:ext>
            </a:extLst>
          </p:cNvPr>
          <p:cNvSpPr/>
          <p:nvPr/>
        </p:nvSpPr>
        <p:spPr>
          <a:xfrm>
            <a:off x="8748794" y="2468880"/>
            <a:ext cx="24686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randomised alg">
            <a:extLst>
              <a:ext uri="{C183D7F6-B498-43B3-948B-1728B52AA6E4}">
                <adec:decorative xmlns:adec="http://schemas.microsoft.com/office/drawing/2017/decorative" val="1"/>
              </a:ext>
            </a:extLst>
          </p:cNvPr>
          <p:cNvSpPr/>
          <p:nvPr/>
        </p:nvSpPr>
        <p:spPr>
          <a:xfrm>
            <a:off x="887681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randomised alg"/>
          <p:cNvSpPr txBox="1"/>
          <p:nvPr/>
        </p:nvSpPr>
        <p:spPr>
          <a:xfrm>
            <a:off x="9041402" y="2584704"/>
            <a:ext cx="22857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randomised algorithm</a:t>
            </a:r>
          </a:p>
        </p:txBody>
      </p:sp>
      <p:sp>
        <p:nvSpPr>
          <p:cNvPr id="40" name="!!term-adversary">
            <a:extLst>
              <a:ext uri="{C183D7F6-B498-43B3-948B-1728B52AA6E4}">
                <adec:decorative xmlns:adec="http://schemas.microsoft.com/office/drawing/2017/decorative" val="1"/>
              </a:ext>
            </a:extLst>
          </p:cNvPr>
          <p:cNvSpPr/>
          <p:nvPr/>
        </p:nvSpPr>
        <p:spPr>
          <a:xfrm>
            <a:off x="658368" y="3090672"/>
            <a:ext cx="13122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adversary">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adversary"/>
          <p:cNvSpPr txBox="1"/>
          <p:nvPr/>
        </p:nvSpPr>
        <p:spPr>
          <a:xfrm>
            <a:off x="950976" y="3206496"/>
            <a:ext cx="11293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adversary</a:t>
            </a:r>
          </a:p>
        </p:txBody>
      </p:sp>
      <p:sp>
        <p:nvSpPr>
          <p:cNvPr id="43" name="!!term-pseudo-polynom">
            <a:extLst>
              <a:ext uri="{C183D7F6-B498-43B3-948B-1728B52AA6E4}">
                <adec:decorative xmlns:adec="http://schemas.microsoft.com/office/drawing/2017/decorative" val="1"/>
              </a:ext>
            </a:extLst>
          </p:cNvPr>
          <p:cNvSpPr/>
          <p:nvPr/>
        </p:nvSpPr>
        <p:spPr>
          <a:xfrm>
            <a:off x="2116920" y="3090672"/>
            <a:ext cx="221765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pseudo-polynom">
            <a:extLst>
              <a:ext uri="{C183D7F6-B498-43B3-948B-1728B52AA6E4}">
                <adec:decorative xmlns:adec="http://schemas.microsoft.com/office/drawing/2017/decorative" val="1"/>
              </a:ext>
            </a:extLst>
          </p:cNvPr>
          <p:cNvSpPr/>
          <p:nvPr/>
        </p:nvSpPr>
        <p:spPr>
          <a:xfrm>
            <a:off x="224493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pseudo-polynom"/>
          <p:cNvSpPr txBox="1"/>
          <p:nvPr/>
        </p:nvSpPr>
        <p:spPr>
          <a:xfrm>
            <a:off x="2409528" y="3206496"/>
            <a:ext cx="203477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pseudo-polynomial</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11–18     </a:t>
            </a:r>
            <a:fld id="{94C8156F-7351-4E65-869C-BA2C364655CC}" type="slidenum">
              <a:rPr lang="en-GB" sz="1000">
                <a:solidFill>
                  <a:srgbClr val="8795A1"/>
                </a:solidFill>
                <a:latin typeface="Segoe UI"/>
              </a:rPr>
              <a:t>5</a:t>
            </a:fld>
          </a:p>
        </p:txBody>
      </p:sp>
      <p:sp>
        <p:nvSpPr>
          <p:cNvPr id="7" name="!!ag0" descr="Go to section 2.1 The Size of the Input">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Size of the Input</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  ›</a:t>
            </a:r>
          </a:p>
        </p:txBody>
      </p:sp>
      <p:sp>
        <p:nvSpPr>
          <p:cNvPr id="12" name="!!ag1" descr="Go to section 2.2 The Nature of the Input: Three Cas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Nature of the Input: Three Cases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  ›</a:t>
            </a:r>
          </a:p>
        </p:txBody>
      </p:sp>
      <p:sp>
        <p:nvSpPr>
          <p:cNvPr id="17" name="!!ag2" descr="Go to section 2.3 Which Case Should You Repor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Which Case Should You Report?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  ›</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Size of the Input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2.1   The Size of the Input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The Nature of the Input: Three Cases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Which Case Should You Report?</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     </a:t>
            </a:r>
            <a:fld id="{A053F757-BC83-4179-9B3E-DCD2FA520AC1}" type="slidenum">
              <a:rPr lang="en-GB" sz="1000">
                <a:solidFill>
                  <a:srgbClr val="8795A1"/>
                </a:solidFill>
                <a:latin typeface="Segoe UI"/>
              </a:rPr>
              <a:t>6</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Input Size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11     </a:t>
            </a:r>
            <a:fld id="{ED5350C6-620A-45EB-9FDF-49326370BE9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86859"/>
          </a:xfrm>
          <a:prstGeom prst="roundRect">
            <a:avLst>
              <a:gd name="adj" fmla="val 223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8685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a:t>
            </a:r>
            <a:r>
              <a:rPr sz="2000" b="1" i="0">
                <a:solidFill>
                  <a:srgbClr val="1A5276"/>
                </a:solidFill>
                <a:latin typeface="Segoe UI"/>
              </a:rPr>
              <a:t>input size</a:t>
            </a:r>
            <a:r>
              <a:rPr sz="2000" b="0" i="0">
                <a:solidFill>
                  <a:srgbClr val="1C252B"/>
                </a:solidFill>
                <a:latin typeface="Segoe UI"/>
              </a:rPr>
              <a:t> is whatever parameter the running time is most naturally expressed in — but it must be a measure of </a:t>
            </a:r>
            <a:r>
              <a:rPr sz="2000" b="0" i="1">
                <a:solidFill>
                  <a:srgbClr val="1C252B"/>
                </a:solidFill>
                <a:latin typeface="Segoe UI"/>
              </a:rPr>
              <a:t>how much input there is</a:t>
            </a:r>
            <a:r>
              <a:rPr sz="2000" b="0" i="0">
                <a:solidFill>
                  <a:srgbClr val="1C252B"/>
                </a:solidFill>
                <a:latin typeface="Segoe UI"/>
              </a:rPr>
              <a:t>, not of what the input says.</a:t>
            </a:r>
          </a:p>
        </p:txBody>
      </p:sp>
      <p:graphicFrame>
        <p:nvGraphicFramePr>
          <p:cNvPr id="10" name="body-1"/>
          <p:cNvGraphicFramePr>
            <a:graphicFrameLocks noGrp="1"/>
          </p:cNvGraphicFramePr>
          <p:nvPr/>
        </p:nvGraphicFramePr>
        <p:xfrm>
          <a:off x="1060704" y="2821939"/>
          <a:ext cx="10161726" cy="2691384"/>
        </p:xfrm>
        <a:graphic>
          <a:graphicData uri="http://schemas.openxmlformats.org/drawingml/2006/table">
            <a:tbl>
              <a:tblPr firstRow="0" bandRow="0" firstCol="0" lastRow="0" lastCol="0" bandCol="0">
                <a:tableStyleId>{2D5ABB26-0587-4C30-8999-92F81FD0307C}</a:tableStyleId>
              </a:tblPr>
              <a:tblGrid>
                <a:gridCol w="2102426"/>
                <a:gridCol w="8059300"/>
              </a:tblGrid>
              <a:tr h="405384">
                <a:tc>
                  <a:txBody>
                    <a:bodyPr wrap="square"/>
                    <a:lstStyle/>
                    <a:p>
                      <a:pPr algn="l"/>
                      <a:r>
                        <a:rPr sz="1700" b="1" i="0">
                          <a:solidFill>
                            <a:srgbClr val="1A5276"/>
                          </a:solidFill>
                          <a:latin typeface="Segoe UI"/>
                        </a:rPr>
                        <a:t>Input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Size, by convention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1" i="0">
                          <a:solidFill>
                            <a:srgbClr val="1C252B"/>
                          </a:solidFill>
                          <a:latin typeface="Segoe UI"/>
                        </a:rPr>
                        <a:t>array, list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n</a:t>
                      </a:r>
                      <a:r>
                        <a:rPr sz="1700" b="0" i="0">
                          <a:solidFill>
                            <a:srgbClr val="1C252B"/>
                          </a:solidFill>
                          <a:latin typeface="Segoe UI"/>
                        </a:rPr>
                        <a:t>, the number of elements</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1" i="0">
                          <a:solidFill>
                            <a:srgbClr val="1C252B"/>
                          </a:solidFill>
                          <a:latin typeface="Segoe UI"/>
                        </a:rPr>
                        <a:t>string</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1">
                          <a:solidFill>
                            <a:srgbClr val="1C252B"/>
                          </a:solidFill>
                          <a:latin typeface="Cambria"/>
                        </a:rPr>
                        <a:t>n</a:t>
                      </a:r>
                      <a:r>
                        <a:rPr sz="1700" b="0" i="0">
                          <a:solidFill>
                            <a:srgbClr val="1C252B"/>
                          </a:solidFill>
                          <a:latin typeface="Segoe UI"/>
                        </a:rPr>
                        <a:t>, the number of characters</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1" i="1">
                          <a:solidFill>
                            <a:srgbClr val="1C252B"/>
                          </a:solidFill>
                          <a:latin typeface="Cambria"/>
                        </a:rPr>
                        <a:t>n</a:t>
                      </a:r>
                      <a:r>
                        <a:rPr sz="1700" b="1" i="0">
                          <a:solidFill>
                            <a:srgbClr val="1C252B"/>
                          </a:solidFill>
                          <a:latin typeface="Cambria"/>
                        </a:rPr>
                        <a:t> × </a:t>
                      </a:r>
                      <a:r>
                        <a:rPr sz="1700" b="1" i="1">
                          <a:solidFill>
                            <a:srgbClr val="1C252B"/>
                          </a:solidFill>
                          <a:latin typeface="Cambria"/>
                        </a:rPr>
                        <a:t>n</a:t>
                      </a:r>
                      <a:r>
                        <a:rPr sz="1700" b="1" i="0">
                          <a:solidFill>
                            <a:srgbClr val="1C252B"/>
                          </a:solidFill>
                          <a:latin typeface="Segoe UI"/>
                        </a:rPr>
                        <a:t> matrix</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n</a:t>
                      </a:r>
                      <a:r>
                        <a:rPr sz="1700" b="0" i="0">
                          <a:solidFill>
                            <a:srgbClr val="1C252B"/>
                          </a:solidFill>
                          <a:latin typeface="Segoe UI"/>
                        </a:rPr>
                        <a:t>, the side — so an </a:t>
                      </a:r>
                      <a:r>
                        <a:rPr sz="1700" b="0" i="0">
                          <a:solidFill>
                            <a:srgbClr val="1C252B"/>
                          </a:solidFill>
                          <a:latin typeface="Cambria"/>
                        </a:rPr>
                        <a:t>O(</a:t>
                      </a:r>
                      <a:r>
                        <a:rPr sz="1700" b="0" i="1">
                          <a:solidFill>
                            <a:srgbClr val="1C252B"/>
                          </a:solidFill>
                          <a:latin typeface="Cambria"/>
                        </a:rPr>
                        <a:t>n</a:t>
                      </a:r>
                      <a:r>
                        <a:rPr sz="1100" b="0" i="0" baseline="30000">
                          <a:solidFill>
                            <a:srgbClr val="1C252B"/>
                          </a:solidFill>
                          <a:latin typeface="Cambria"/>
                        </a:rPr>
                        <a:t>3</a:t>
                      </a:r>
                      <a:r>
                        <a:rPr sz="1700" b="0" i="0">
                          <a:solidFill>
                            <a:srgbClr val="1C252B"/>
                          </a:solidFill>
                          <a:latin typeface="Cambria"/>
                        </a:rPr>
                        <a:t>)</a:t>
                      </a:r>
                      <a:r>
                        <a:rPr sz="1700" b="0" i="0">
                          <a:solidFill>
                            <a:srgbClr val="1C252B"/>
                          </a:solidFill>
                          <a:latin typeface="Segoe UI"/>
                        </a:rPr>
                        <a:t> algorithm is </a:t>
                      </a:r>
                      <a:r>
                        <a:rPr sz="1700" b="0" i="1">
                          <a:solidFill>
                            <a:srgbClr val="1C252B"/>
                          </a:solidFill>
                          <a:latin typeface="Segoe UI"/>
                        </a:rPr>
                        <a:t>linear</a:t>
                      </a:r>
                      <a:r>
                        <a:rPr sz="1700" b="0" i="0">
                          <a:solidFill>
                            <a:srgbClr val="1C252B"/>
                          </a:solidFill>
                          <a:latin typeface="Segoe UI"/>
                        </a:rPr>
                        <a:t> in the </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Segoe UI"/>
                        </a:rPr>
                        <a:t> numbers it reads, which is worth saying out loud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1" i="0">
                          <a:solidFill>
                            <a:srgbClr val="1C252B"/>
                          </a:solidFill>
                          <a:latin typeface="Segoe UI"/>
                        </a:rPr>
                        <a:t>graph</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1">
                          <a:solidFill>
                            <a:srgbClr val="1C252B"/>
                          </a:solidFill>
                          <a:latin typeface="Segoe UI"/>
                        </a:rPr>
                        <a:t>two</a:t>
                      </a:r>
                      <a:r>
                        <a:rPr sz="1700" b="0" i="0">
                          <a:solidFill>
                            <a:srgbClr val="1C252B"/>
                          </a:solidFill>
                          <a:latin typeface="Segoe UI"/>
                        </a:rPr>
                        <a:t> parameters: </a:t>
                      </a:r>
                      <a:r>
                        <a:rPr sz="1700" b="0" i="0">
                          <a:solidFill>
                            <a:srgbClr val="1C252B"/>
                          </a:solidFill>
                          <a:latin typeface="Cambria"/>
                        </a:rPr>
                        <a:t>|</a:t>
                      </a:r>
                      <a:r>
                        <a:rPr sz="1700" b="0" i="1">
                          <a:solidFill>
                            <a:srgbClr val="1C252B"/>
                          </a:solidFill>
                          <a:latin typeface="Cambria"/>
                        </a:rPr>
                        <a:t>V</a:t>
                      </a:r>
                      <a:r>
                        <a:rPr sz="1700" b="0" i="0">
                          <a:solidFill>
                            <a:srgbClr val="1C252B"/>
                          </a:solidFill>
                          <a:latin typeface="Cambria"/>
                        </a:rPr>
                        <a:t>|</a:t>
                      </a:r>
                      <a:r>
                        <a:rPr sz="1700" b="0" i="0">
                          <a:solidFill>
                            <a:srgbClr val="1C252B"/>
                          </a:solidFill>
                          <a:latin typeface="Segoe UI"/>
                        </a:rPr>
                        <a:t> vertices and </a:t>
                      </a:r>
                      <a:r>
                        <a:rPr sz="1700" b="0" i="0">
                          <a:solidFill>
                            <a:srgbClr val="1C252B"/>
                          </a:solidFill>
                          <a:latin typeface="Cambria"/>
                        </a:rPr>
                        <a:t>|</a:t>
                      </a:r>
                      <a:r>
                        <a:rPr sz="1700" b="0" i="1">
                          <a:solidFill>
                            <a:srgbClr val="1C252B"/>
                          </a:solidFill>
                          <a:latin typeface="Cambria"/>
                        </a:rPr>
                        <a:t>E</a:t>
                      </a:r>
                      <a:r>
                        <a:rPr sz="1700" b="0" i="0">
                          <a:solidFill>
                            <a:srgbClr val="1C252B"/>
                          </a:solidFill>
                          <a:latin typeface="Cambria"/>
                        </a:rPr>
                        <a:t>|</a:t>
                      </a:r>
                      <a:r>
                        <a:rPr sz="1700" b="0" i="0">
                          <a:solidFill>
                            <a:srgbClr val="1C252B"/>
                          </a:solidFill>
                          <a:latin typeface="Segoe UI"/>
                        </a:rPr>
                        <a:t> edges</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1" i="0">
                          <a:solidFill>
                            <a:srgbClr val="1C252B"/>
                          </a:solidFill>
                          <a:latin typeface="Segoe UI"/>
                        </a:rPr>
                        <a:t>number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1">
                          <a:solidFill>
                            <a:srgbClr val="1C252B"/>
                          </a:solidFill>
                          <a:latin typeface="Cambria"/>
                        </a:rPr>
                        <a:t>b</a:t>
                      </a:r>
                      <a:r>
                        <a:rPr sz="1700" b="0" i="0">
                          <a:solidFill>
                            <a:srgbClr val="1C252B"/>
                          </a:solidFill>
                          <a:latin typeface="Segoe UI"/>
                        </a:rPr>
                        <a:t>, the number of </a:t>
                      </a:r>
                      <a:r>
                        <a:rPr sz="1700" b="0" i="1">
                          <a:solidFill>
                            <a:srgbClr val="1C252B"/>
                          </a:solidFill>
                          <a:latin typeface="Segoe UI"/>
                        </a:rPr>
                        <a:t>bits</a:t>
                      </a:r>
                      <a:r>
                        <a:rPr sz="1700" b="0" i="0">
                          <a:solidFill>
                            <a:srgbClr val="1C252B"/>
                          </a:solidFill>
                          <a:latin typeface="Segoe UI"/>
                        </a:rPr>
                        <a:t> needed to write it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Bound, Two Graphs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11     </a:t>
            </a:r>
            <a:fld id="{EA2AF7C2-327E-46AC-99A1-2D43AB5EA07C}"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66315"/>
          </a:xfrm>
          <a:prstGeom prst="roundRect">
            <a:avLst>
              <a:gd name="adj" fmla="val 204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6631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Breadth-first search is </a:t>
            </a:r>
            <a:r>
              <a:rPr sz="2000" b="0" i="0">
                <a:solidFill>
                  <a:srgbClr val="1C252B"/>
                </a:solidFill>
                <a:latin typeface="Cambria"/>
              </a:rPr>
              <a:t>O(|</a:t>
            </a:r>
            <a:r>
              <a:rPr sz="2000" b="0" i="1">
                <a:solidFill>
                  <a:srgbClr val="1C252B"/>
                </a:solidFill>
                <a:latin typeface="Cambria"/>
              </a:rPr>
              <a:t>V</a:t>
            </a:r>
            <a:r>
              <a:rPr sz="2000" b="0" i="0">
                <a:solidFill>
                  <a:srgbClr val="1C252B"/>
                </a:solidFill>
                <a:latin typeface="Cambria"/>
              </a:rPr>
              <a:t>| + |</a:t>
            </a:r>
            <a:r>
              <a:rPr sz="2000" b="0" i="1">
                <a:solidFill>
                  <a:srgbClr val="1C252B"/>
                </a:solidFill>
                <a:latin typeface="Cambria"/>
              </a:rPr>
              <a:t>E</a:t>
            </a:r>
            <a:r>
              <a:rPr sz="2000" b="0" i="0">
                <a:solidFill>
                  <a:srgbClr val="1C252B"/>
                </a:solidFill>
                <a:latin typeface="Cambria"/>
              </a:rPr>
              <a:t>|)</a:t>
            </a:r>
            <a:r>
              <a:rPr sz="2000" b="0" i="0">
                <a:solidFill>
                  <a:srgbClr val="1C252B"/>
                </a:solidFill>
                <a:latin typeface="Segoe UI"/>
              </a:rPr>
              <a:t> from an adjacency list.</a:t>
            </a:r>
          </a:p>
        </p:txBody>
      </p:sp>
      <p:sp>
        <p:nvSpPr>
          <p:cNvPr id="10" name="body-1"/>
          <p:cNvSpPr txBox="1"/>
          <p:nvPr/>
        </p:nvSpPr>
        <p:spPr>
          <a:xfrm>
            <a:off x="1042416" y="2468371"/>
            <a:ext cx="1023487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A road network:</a:t>
            </a:r>
            <a:r>
              <a:rPr sz="2000" b="0" i="0">
                <a:solidFill>
                  <a:srgbClr val="1C252B"/>
                </a:solidFill>
                <a:latin typeface="Segoe UI"/>
              </a:rPr>
              <a:t> 2 million junctions, and each junction meets about three roads, so </a:t>
            </a:r>
            <a:r>
              <a:rPr sz="2000" b="0" i="0">
                <a:solidFill>
                  <a:srgbClr val="1C252B"/>
                </a:solidFill>
                <a:latin typeface="Cambria"/>
              </a:rPr>
              <a:t>|</a:t>
            </a:r>
            <a:r>
              <a:rPr sz="2000" b="0" i="1">
                <a:solidFill>
                  <a:srgbClr val="1C252B"/>
                </a:solidFill>
                <a:latin typeface="Cambria"/>
              </a:rPr>
              <a:t>E</a:t>
            </a:r>
            <a:r>
              <a:rPr sz="2000" b="0" i="0">
                <a:solidFill>
                  <a:srgbClr val="1C252B"/>
                </a:solidFill>
                <a:latin typeface="Cambria"/>
              </a:rPr>
              <a:t>| ≈ 3 × 10</a:t>
            </a:r>
            <a:r>
              <a:rPr sz="1300" b="0" i="0" baseline="30000">
                <a:solidFill>
                  <a:srgbClr val="1C252B"/>
                </a:solidFill>
                <a:latin typeface="Cambria"/>
              </a:rPr>
              <a:t>6</a:t>
            </a:r>
            <a:r>
              <a:rPr sz="2000" b="0" i="0">
                <a:solidFill>
                  <a:srgbClr val="1C252B"/>
                </a:solidFill>
                <a:latin typeface="Segoe UI"/>
              </a:rPr>
              <a:t>.</a:t>
            </a:r>
          </a:p>
        </p:txBody>
      </p:sp>
      <p:pic>
        <p:nvPicPr>
          <p:cNvPr id="11" name="body-2" descr="|V| + |E| \approx 2\!\times\!10^{6} + 3\!\times\!10^{6} = 5 \times 10^{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242055"/>
            <a:ext cx="10234879" cy="341619"/>
          </a:xfrm>
          <a:prstGeom prst="rect">
            <a:avLst/>
          </a:prstGeom>
        </p:spPr>
      </p:pic>
      <p:sp>
        <p:nvSpPr>
          <p:cNvPr id="12" name="body-3"/>
          <p:cNvSpPr txBox="1"/>
          <p:nvPr/>
        </p:nvSpPr>
        <p:spPr>
          <a:xfrm>
            <a:off x="1042416" y="3723375"/>
            <a:ext cx="1023487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A social graph of the same vertex count</a:t>
            </a:r>
            <a:r>
              <a:rPr sz="2000" b="0" i="0">
                <a:solidFill>
                  <a:srgbClr val="1C252B"/>
                </a:solidFill>
                <a:latin typeface="Segoe UI"/>
              </a:rPr>
              <a:t>, each person connected to 500 others, so </a:t>
            </a:r>
            <a:r>
              <a:rPr sz="2000" b="0" i="0">
                <a:solidFill>
                  <a:srgbClr val="1C252B"/>
                </a:solidFill>
                <a:latin typeface="Cambria"/>
              </a:rPr>
              <a:t>|</a:t>
            </a:r>
            <a:r>
              <a:rPr sz="2000" b="0" i="1">
                <a:solidFill>
                  <a:srgbClr val="1C252B"/>
                </a:solidFill>
                <a:latin typeface="Cambria"/>
              </a:rPr>
              <a:t>E</a:t>
            </a:r>
            <a:r>
              <a:rPr sz="2000" b="0" i="0">
                <a:solidFill>
                  <a:srgbClr val="1C252B"/>
                </a:solidFill>
                <a:latin typeface="Cambria"/>
              </a:rPr>
              <a:t>| ≈ 2×10</a:t>
            </a:r>
            <a:r>
              <a:rPr sz="1300" b="0" i="0" baseline="30000">
                <a:solidFill>
                  <a:srgbClr val="1C252B"/>
                </a:solidFill>
                <a:latin typeface="Cambria"/>
              </a:rPr>
              <a:t>6</a:t>
            </a:r>
            <a:r>
              <a:rPr sz="2000" b="0" i="0">
                <a:solidFill>
                  <a:srgbClr val="1C252B"/>
                </a:solidFill>
                <a:latin typeface="Cambria"/>
              </a:rPr>
              <a:t> × 500 / 2 = 5 × 10</a:t>
            </a:r>
            <a:r>
              <a:rPr sz="1300" b="0" i="0" baseline="30000">
                <a:solidFill>
                  <a:srgbClr val="1C252B"/>
                </a:solidFill>
                <a:latin typeface="Cambria"/>
              </a:rPr>
              <a:t>8</a:t>
            </a:r>
            <a:r>
              <a:rPr sz="2000" b="0" i="0">
                <a:solidFill>
                  <a:srgbClr val="1C252B"/>
                </a:solidFill>
                <a:latin typeface="Segoe UI"/>
              </a:rPr>
              <a:t>.</a:t>
            </a:r>
          </a:p>
        </p:txBody>
      </p:sp>
      <p:sp>
        <p:nvSpPr>
          <p:cNvPr id="13" name="body-3bar">
            <a:extLst>
              <a:ext uri="{C183D7F6-B498-43B3-948B-1728B52AA6E4}">
                <adec:decorative xmlns:adec="http://schemas.microsoft.com/office/drawing/2017/decorative" val="1"/>
              </a:ext>
            </a:extLst>
          </p:cNvPr>
          <p:cNvSpPr/>
          <p:nvPr/>
        </p:nvSpPr>
        <p:spPr>
          <a:xfrm>
            <a:off x="841248" y="3741663"/>
            <a:ext cx="54864" cy="6156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 name="body-4" descr="|V| + |E| \approx 5 \times 10^{8}."/>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497059"/>
            <a:ext cx="10234879" cy="341619"/>
          </a:xfrm>
          <a:prstGeom prst="rect">
            <a:avLst/>
          </a:prstGeom>
        </p:spPr>
      </p:pic>
      <p:sp>
        <p:nvSpPr>
          <p:cNvPr id="15" name="body-5"/>
          <p:cNvSpPr txBox="1"/>
          <p:nvPr/>
        </p:nvSpPr>
        <p:spPr>
          <a:xfrm>
            <a:off x="1042416" y="4978379"/>
            <a:ext cx="1023487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A factor of 100</a:t>
            </a:r>
            <a:r>
              <a:rPr sz="2000" b="0" i="0">
                <a:solidFill>
                  <a:srgbClr val="1C252B"/>
                </a:solidFill>
                <a:latin typeface="Segoe UI"/>
              </a:rPr>
              <a:t>, on the same algorithm, at the same </a:t>
            </a:r>
            <a:r>
              <a:rPr sz="2000" b="0" i="0">
                <a:solidFill>
                  <a:srgbClr val="1C252B"/>
                </a:solidFill>
                <a:latin typeface="Cambria"/>
              </a:rPr>
              <a:t>|</a:t>
            </a:r>
            <a:r>
              <a:rPr sz="2000" b="0" i="1">
                <a:solidFill>
                  <a:srgbClr val="1C252B"/>
                </a:solidFill>
                <a:latin typeface="Cambria"/>
              </a:rPr>
              <a:t>V</a:t>
            </a:r>
            <a:r>
              <a:rPr sz="2000" b="0" i="0">
                <a:solidFill>
                  <a:srgbClr val="1C252B"/>
                </a:solidFill>
                <a:latin typeface="Cambria"/>
              </a:rPr>
              <a:t>|</a:t>
            </a:r>
            <a:r>
              <a:rPr sz="2000" b="0" i="0">
                <a:solidFill>
                  <a:srgbClr val="1C252B"/>
                </a:solidFill>
                <a:latin typeface="Segoe UI"/>
              </a:rPr>
              <a:t>. This is why Chapter 18 comes before the graph algorithms rather than after them, and why every bound in Part V is quoted in both parameters.</a:t>
            </a:r>
          </a:p>
        </p:txBody>
      </p:sp>
      <p:sp>
        <p:nvSpPr>
          <p:cNvPr id="16" name="body-5bar">
            <a:extLst>
              <a:ext uri="{C183D7F6-B498-43B3-948B-1728B52AA6E4}">
                <adec:decorative xmlns:adec="http://schemas.microsoft.com/office/drawing/2017/decorative" val="1"/>
              </a:ext>
            </a:extLst>
          </p:cNvPr>
          <p:cNvSpPr/>
          <p:nvPr/>
        </p:nvSpPr>
        <p:spPr>
          <a:xfrm>
            <a:off x="841248" y="4996667"/>
            <a:ext cx="54864" cy="9326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right)">
                                      <p:cBhvr>
                                        <p:cTn id="31" dur="42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not just use N itself?</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11     </a:t>
            </a:r>
            <a:fld id="{2C031CFE-6FD5-4FFD-A353-BF3BD3FAE284}"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Because the input to a program is </a:t>
            </a:r>
            <a:r>
              <a:rPr sz="2000" b="0" i="1">
                <a:solidFill>
                  <a:srgbClr val="1C252B"/>
                </a:solidFill>
                <a:latin typeface="Segoe UI"/>
              </a:rPr>
              <a:t>written down</a:t>
            </a:r>
            <a:r>
              <a:rPr sz="2000" b="0" i="0">
                <a:solidFill>
                  <a:srgbClr val="1C252B"/>
                </a:solidFill>
                <a:latin typeface="Segoe UI"/>
              </a:rPr>
              <a:t>, and a number </a:t>
            </a:r>
            <a:r>
              <a:rPr sz="2000" b="0" i="1">
                <a:solidFill>
                  <a:srgbClr val="1C252B"/>
                </a:solidFill>
                <a:latin typeface="Cambria"/>
              </a:rPr>
              <a:t>N</a:t>
            </a:r>
            <a:r>
              <a:rPr sz="2000" b="0" i="0">
                <a:solidFill>
                  <a:srgbClr val="1C252B"/>
                </a:solidFill>
                <a:latin typeface="Segoe UI"/>
              </a:rPr>
              <a:t> is written in about </a:t>
            </a:r>
            <a:r>
              <a:rPr sz="2000" b="0" i="1">
                <a:solidFill>
                  <a:srgbClr val="1C252B"/>
                </a:solidFill>
                <a:latin typeface="Cambria"/>
              </a:rPr>
              <a:t>b</a:t>
            </a:r>
            <a:r>
              <a:rPr sz="2000" b="0" i="0">
                <a:solidFill>
                  <a:srgbClr val="1C252B"/>
                </a:solidFill>
                <a:latin typeface="Cambria"/>
              </a:rPr>
              <a:t> = ⌊ lg </a:t>
            </a:r>
            <a:r>
              <a:rPr sz="2000" b="0" i="1">
                <a:solidFill>
                  <a:srgbClr val="1C252B"/>
                </a:solidFill>
                <a:latin typeface="Cambria"/>
              </a:rPr>
              <a:t>N</a:t>
            </a:r>
            <a:r>
              <a:rPr sz="2000" b="0" i="0">
                <a:solidFill>
                  <a:srgbClr val="1C252B"/>
                </a:solidFill>
                <a:latin typeface="Cambria"/>
              </a:rPr>
              <a:t> ⌋ + 1</a:t>
            </a:r>
            <a:r>
              <a:rPr sz="2000" b="0" i="0">
                <a:solidFill>
                  <a:srgbClr val="1C252B"/>
                </a:solidFill>
                <a:latin typeface="Segoe UI"/>
              </a:rPr>
              <a:t> bits. Typing one more digit multiplies </a:t>
            </a:r>
            <a:r>
              <a:rPr sz="2000" b="0" i="1">
                <a:solidFill>
                  <a:srgbClr val="1C252B"/>
                </a:solidFill>
                <a:latin typeface="Cambria"/>
              </a:rPr>
              <a:t>N</a:t>
            </a:r>
            <a:r>
              <a:rPr sz="2000" b="0" i="0">
                <a:solidFill>
                  <a:srgbClr val="1C252B"/>
                </a:solidFill>
                <a:latin typeface="Segoe UI"/>
              </a:rPr>
              <a:t> by ten while adding three and a bit bits of input.</a:t>
            </a:r>
          </a:p>
        </p:txBody>
      </p:sp>
      <p:sp>
        <p:nvSpPr>
          <p:cNvPr id="10" name="body-1"/>
          <p:cNvSpPr txBox="1"/>
          <p:nvPr/>
        </p:nvSpPr>
        <p:spPr>
          <a:xfrm>
            <a:off x="1060704" y="3138931"/>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If we measured size by value, then an algorithm that loops </a:t>
            </a:r>
            <a:r>
              <a:rPr sz="2000" b="0" i="1">
                <a:solidFill>
                  <a:srgbClr val="1C252B"/>
                </a:solidFill>
                <a:latin typeface="Cambria"/>
              </a:rPr>
              <a:t>N</a:t>
            </a:r>
            <a:r>
              <a:rPr sz="2000" b="0" i="0">
                <a:solidFill>
                  <a:srgbClr val="1C252B"/>
                </a:solidFill>
                <a:latin typeface="Segoe UI"/>
              </a:rPr>
              <a:t> times would be “linear” — and we would be calling an algorithm efficient when doubling the </a:t>
            </a:r>
            <a:r>
              <a:rPr sz="2000" b="0" i="1">
                <a:solidFill>
                  <a:srgbClr val="1C252B"/>
                </a:solidFill>
                <a:latin typeface="Segoe UI"/>
              </a:rPr>
              <a:t>length</a:t>
            </a:r>
            <a:r>
              <a:rPr sz="2000" b="0" i="0">
                <a:solidFill>
                  <a:srgbClr val="1C252B"/>
                </a:solidFill>
                <a:latin typeface="Segoe UI"/>
              </a:rPr>
              <a:t> of its input multiplies its running time by </a:t>
            </a:r>
            <a:r>
              <a:rPr sz="2000" b="0" i="0">
                <a:solidFill>
                  <a:srgbClr val="1C252B"/>
                </a:solidFill>
                <a:latin typeface="Cambria"/>
              </a:rPr>
              <a:t>2</a:t>
            </a:r>
            <a:r>
              <a:rPr sz="1300" b="0" i="1" baseline="30000">
                <a:solidFill>
                  <a:srgbClr val="1C252B"/>
                </a:solidFill>
                <a:latin typeface="Cambria"/>
              </a:rPr>
              <a:t>b</a:t>
            </a:r>
            <a:r>
              <a:rPr sz="2000" b="0" i="0">
                <a:solidFill>
                  <a:srgbClr val="1C252B"/>
                </a:solidFill>
                <a:latin typeface="Segoe UI"/>
              </a:rPr>
              <a:t>.</a:t>
            </a:r>
          </a:p>
        </p:txBody>
      </p:sp>
      <p:sp>
        <p:nvSpPr>
          <p:cNvPr id="11" name="body-2"/>
          <p:cNvSpPr txBox="1"/>
          <p:nvPr/>
        </p:nvSpPr>
        <p:spPr>
          <a:xfrm>
            <a:off x="1060704" y="4229608"/>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So: </a:t>
            </a:r>
            <a:r>
              <a:rPr sz="2000" b="1" i="0">
                <a:solidFill>
                  <a:srgbClr val="1C252B"/>
                </a:solidFill>
                <a:latin typeface="Segoe UI"/>
              </a:rPr>
              <a:t>size </a:t>
            </a:r>
            <a:r>
              <a:rPr sz="2000" b="1" i="0">
                <a:solidFill>
                  <a:srgbClr val="1C252B"/>
                </a:solidFill>
                <a:latin typeface="Cambria"/>
              </a:rPr>
              <a:t>= </a:t>
            </a:r>
            <a:r>
              <a:rPr sz="2000" b="1" i="1">
                <a:solidFill>
                  <a:srgbClr val="1C252B"/>
                </a:solidFill>
                <a:latin typeface="Cambria"/>
              </a:rPr>
              <a:t>b</a:t>
            </a:r>
            <a:r>
              <a:rPr sz="2000" b="1" i="0">
                <a:solidFill>
                  <a:srgbClr val="1C252B"/>
                </a:solidFill>
                <a:latin typeface="Cambria"/>
              </a:rPr>
              <a:t> ≈ lg </a:t>
            </a:r>
            <a:r>
              <a:rPr sz="2000" b="1" i="1">
                <a:solidFill>
                  <a:srgbClr val="1C252B"/>
                </a:solidFill>
                <a:latin typeface="Cambria"/>
              </a:rPr>
              <a:t>N</a:t>
            </a:r>
            <a:r>
              <a:rPr sz="2000" b="0" i="0">
                <a:solidFill>
                  <a:srgbClr val="1C252B"/>
                </a:solidFill>
                <a:latin typeface="Segoe UI"/>
              </a:rPr>
              <a:t>, and an algorithm that loops </a:t>
            </a:r>
            <a:r>
              <a:rPr sz="2000" b="0" i="1">
                <a:solidFill>
                  <a:srgbClr val="1C252B"/>
                </a:solidFill>
                <a:latin typeface="Cambria"/>
              </a:rPr>
              <a:t>N</a:t>
            </a:r>
            <a:r>
              <a:rPr sz="2000" b="0" i="0">
                <a:solidFill>
                  <a:srgbClr val="1C252B"/>
                </a:solidFill>
                <a:latin typeface="Segoe UI"/>
              </a:rPr>
              <a:t> times is </a:t>
            </a:r>
            <a:r>
              <a:rPr sz="2000" b="0" i="0">
                <a:solidFill>
                  <a:srgbClr val="1C252B"/>
                </a:solidFill>
                <a:latin typeface="Cambria"/>
              </a:rPr>
              <a:t>O(2</a:t>
            </a:r>
            <a:r>
              <a:rPr sz="1300" b="0" i="1" baseline="30000">
                <a:solidFill>
                  <a:srgbClr val="1C252B"/>
                </a:solidFill>
                <a:latin typeface="Cambria"/>
              </a:rPr>
              <a:t>b</a:t>
            </a:r>
            <a:r>
              <a:rPr sz="2000" b="0" i="0">
                <a:solidFill>
                  <a:srgbClr val="1C252B"/>
                </a:solidFill>
                <a:latin typeface="Cambria"/>
              </a:rPr>
              <a:t>)</a:t>
            </a:r>
            <a:r>
              <a:rPr sz="2000" b="0" i="0">
                <a:solidFill>
                  <a:srgbClr val="1C252B"/>
                </a:solidFill>
                <a:latin typeface="Segoe UI"/>
              </a:rPr>
              <a:t> — exponential. An algorithm whose cost is polynomial in </a:t>
            </a:r>
            <a:r>
              <a:rPr sz="2000" b="0" i="1">
                <a:solidFill>
                  <a:srgbClr val="1C252B"/>
                </a:solidFill>
                <a:latin typeface="Cambria"/>
              </a:rPr>
              <a:t>N</a:t>
            </a:r>
            <a:r>
              <a:rPr sz="2000" b="0" i="0">
                <a:solidFill>
                  <a:srgbClr val="1C252B"/>
                </a:solidFill>
                <a:latin typeface="Segoe UI"/>
              </a:rPr>
              <a:t> but exponential in </a:t>
            </a:r>
            <a:r>
              <a:rPr sz="2000" b="0" i="1">
                <a:solidFill>
                  <a:srgbClr val="1C252B"/>
                </a:solidFill>
                <a:latin typeface="Cambria"/>
              </a:rPr>
              <a:t>b</a:t>
            </a:r>
            <a:r>
              <a:rPr sz="2000" b="0" i="0">
                <a:solidFill>
                  <a:srgbClr val="1C252B"/>
                </a:solidFill>
                <a:latin typeface="Segoe UI"/>
              </a:rPr>
              <a:t> is called </a:t>
            </a:r>
            <a:r>
              <a:rPr sz="2000" b="1" i="0">
                <a:solidFill>
                  <a:srgbClr val="1A5276"/>
                </a:solidFill>
                <a:latin typeface="Segoe UI"/>
              </a:rPr>
              <a:t>pseudo-polynomial</a:t>
            </a:r>
            <a:r>
              <a:rPr sz="2000" b="0" i="0">
                <a:solidFill>
                  <a:srgbClr val="1C252B"/>
                </a:solidFill>
                <a:latin typeface="Segoe UI"/>
              </a:rPr>
              <a:t>; the 0/1 knapsack algorithm of Chapter 16 is the standard example, and Chapter 22 explains why that distinction decides whether a problem counts as solved.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Claim, Measured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11     </a:t>
            </a:r>
            <a:fld id="{19EAAF40-5ACD-4138-BCDC-A1F9A8C03C3F}"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code/ch02_cases.cpp</a:t>
            </a:r>
            <a:r>
              <a:rPr sz="1900" b="0" i="0">
                <a:solidFill>
                  <a:srgbClr val="1C252B"/>
                </a:solidFill>
                <a:latin typeface="Segoe UI"/>
              </a:rPr>
              <a:t> tests a prime by trial division — a loop running about </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/2</a:t>
            </a:r>
            <a:r>
              <a:rPr sz="1900" b="0" i="0">
                <a:solidFill>
                  <a:srgbClr val="1C252B"/>
                </a:solidFill>
                <a:latin typeface="Segoe UI"/>
              </a:rPr>
              <a:t> times. Since </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 √(2</a:t>
            </a:r>
            <a:r>
              <a:rPr sz="1250" b="0" i="1" baseline="30000">
                <a:solidFill>
                  <a:srgbClr val="1C252B"/>
                </a:solidFill>
                <a:latin typeface="Cambria"/>
              </a:rPr>
              <a:t>b</a:t>
            </a:r>
            <a:r>
              <a:rPr sz="1900" b="0" i="0">
                <a:solidFill>
                  <a:srgbClr val="1C252B"/>
                </a:solidFill>
                <a:latin typeface="Cambria"/>
              </a:rPr>
              <a:t>) = 2</a:t>
            </a:r>
            <a:r>
              <a:rPr sz="1250" b="0" i="1" baseline="30000">
                <a:solidFill>
                  <a:srgbClr val="1C252B"/>
                </a:solidFill>
                <a:latin typeface="Cambria"/>
              </a:rPr>
              <a:t>b</a:t>
            </a:r>
            <a:r>
              <a:rPr sz="1250" b="0" i="0" baseline="30000">
                <a:solidFill>
                  <a:srgbClr val="1C252B"/>
                </a:solidFill>
                <a:latin typeface="Cambria"/>
              </a:rPr>
              <a:t>/2</a:t>
            </a:r>
            <a:r>
              <a:rPr sz="1900" b="0" i="0">
                <a:solidFill>
                  <a:srgbClr val="1C252B"/>
                </a:solidFill>
                <a:latin typeface="Segoe UI"/>
              </a:rPr>
              <a:t>, adding </a:t>
            </a:r>
            <a:r>
              <a:rPr sz="1900" b="0" i="1">
                <a:solidFill>
                  <a:srgbClr val="1C252B"/>
                </a:solidFill>
                <a:latin typeface="Segoe UI"/>
              </a:rPr>
              <a:t>two</a:t>
            </a:r>
            <a:r>
              <a:rPr sz="1900" b="0" i="0">
                <a:solidFill>
                  <a:srgbClr val="1C252B"/>
                </a:solidFill>
                <a:latin typeface="Segoe UI"/>
              </a:rPr>
              <a:t> bits should exactly double the work. Each row below is a prime two bits longer than the row above; median of three runs.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Claim, Measured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11     </a:t>
            </a:r>
            <a:fld id="{FE3940F3-5F31-4ADA-9677-72A69863D2C5}"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50080"/>
          </a:xfrm>
          <a:prstGeom prst="roundRect">
            <a:avLst>
              <a:gd name="adj" fmla="val 205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5008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4631764" cy="3901440"/>
        </p:xfrm>
        <a:graphic>
          <a:graphicData uri="http://schemas.openxmlformats.org/drawingml/2006/table">
            <a:tbl>
              <a:tblPr firstRow="0" bandRow="0" firstCol="0" lastRow="0" lastCol="0" bandCol="0">
                <a:tableStyleId>{2D5ABB26-0587-4C30-8999-92F81FD0307C}</a:tableStyleId>
              </a:tblPr>
              <a:tblGrid>
                <a:gridCol w="615220"/>
                <a:gridCol w="2111666"/>
                <a:gridCol w="1188720"/>
                <a:gridCol w="716158"/>
              </a:tblGrid>
              <a:tr h="390144">
                <a:tc>
                  <a:txBody>
                    <a:bodyPr wrap="square"/>
                    <a:lstStyle/>
                    <a:p>
                      <a:pPr algn="r"/>
                      <a:r>
                        <a:rPr sz="1600" b="1" i="0">
                          <a:solidFill>
                            <a:srgbClr val="1A5276"/>
                          </a:solidFill>
                          <a:latin typeface="Segoe UI"/>
                        </a:rPr>
                        <a:t>bits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time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32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4,294,967,291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0.22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17,179,869,143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0.44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2.01</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36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68,719,476,731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0.86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274,877,906,899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1.76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2.06</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1,099,511,627,689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3.63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2.07</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42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4,398,046,511,093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6.93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1.91</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17,592,186,044,399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15.75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2.27</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46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70,368,744,177,643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29.83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1.89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281,474,976,710,597</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58.81</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1.97</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Claim, Measured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11     </a:t>
            </a:r>
            <a:fld id="{192E6947-2777-405F-BCA3-8F0EA56B7487}"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7119"/>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71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Eight ratios, mean 2.02.</a:t>
            </a:r>
            <a:r>
              <a:rPr sz="1900" b="0" i="0">
                <a:solidFill>
                  <a:srgbClr val="1C252B"/>
                </a:solidFill>
                <a:latin typeface="Segoe UI"/>
              </a:rPr>
              <a:t> The prediction is exact and the measurement meets it.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Now extrapolate, which is the point.</a:t>
            </a:r>
            <a:r>
              <a:rPr sz="1900" b="0" i="0">
                <a:solidFill>
                  <a:srgbClr val="1C252B"/>
                </a:solidFill>
                <a:latin typeface="Segoe UI"/>
              </a:rPr>
              <a:t> From 32 bits to 48 the time went from 0.22 ms to 58.81 ms — a factor of 267, against a predicted </a:t>
            </a:r>
            <a:r>
              <a:rPr sz="1900" b="0" i="0">
                <a:solidFill>
                  <a:srgbClr val="1C252B"/>
                </a:solidFill>
                <a:latin typeface="Cambria"/>
              </a:rPr>
              <a:t>2</a:t>
            </a:r>
            <a:r>
              <a:rPr sz="1250" b="0" i="0" baseline="30000">
                <a:solidFill>
                  <a:srgbClr val="1C252B"/>
                </a:solidFill>
                <a:latin typeface="Cambria"/>
              </a:rPr>
              <a:t>8</a:t>
            </a:r>
            <a:r>
              <a:rPr sz="1900" b="0" i="0">
                <a:solidFill>
                  <a:srgbClr val="1C252B"/>
                </a:solidFill>
                <a:latin typeface="Cambria"/>
              </a:rPr>
              <a:t> = 256</a:t>
            </a:r>
            <a:r>
              <a:rPr sz="1900" b="0" i="0">
                <a:solidFill>
                  <a:srgbClr val="1C252B"/>
                </a:solidFill>
                <a:latin typeface="Segoe UI"/>
              </a:rPr>
              <a:t>. Carry that on:</a:t>
            </a:r>
          </a:p>
        </p:txBody>
      </p:sp>
      <p:sp>
        <p:nvSpPr>
          <p:cNvPr id="12" name="body-1bar">
            <a:extLst>
              <a:ext uri="{C183D7F6-B498-43B3-948B-1728B52AA6E4}">
                <adec:decorative xmlns:adec="http://schemas.microsoft.com/office/drawing/2017/decorative" val="1"/>
              </a:ext>
            </a:extLst>
          </p:cNvPr>
          <p:cNvSpPr/>
          <p:nvPr/>
        </p:nvSpPr>
        <p:spPr>
          <a:xfrm>
            <a:off x="841248" y="2463825"/>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3180537"/>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64 bits:</a:t>
            </a:r>
            <a:r>
              <a:rPr sz="1900" b="0" i="0">
                <a:solidFill>
                  <a:srgbClr val="1C252B"/>
                </a:solidFill>
                <a:latin typeface="Segoe UI"/>
              </a:rPr>
              <a:t> </a:t>
            </a:r>
            <a:r>
              <a:rPr sz="1900" b="0" i="0">
                <a:solidFill>
                  <a:srgbClr val="1C252B"/>
                </a:solidFill>
                <a:latin typeface="Cambria"/>
              </a:rPr>
              <a:t>2</a:t>
            </a:r>
            <a:r>
              <a:rPr sz="1250" b="0" i="0" baseline="30000">
                <a:solidFill>
                  <a:srgbClr val="1C252B"/>
                </a:solidFill>
                <a:latin typeface="Cambria"/>
              </a:rPr>
              <a:t>8</a:t>
            </a:r>
            <a:r>
              <a:rPr sz="1900" b="0" i="0">
                <a:solidFill>
                  <a:srgbClr val="1C252B"/>
                </a:solidFill>
                <a:latin typeface="Cambria"/>
              </a:rPr>
              <a:t> × 58.81 </a:t>
            </a:r>
            <a:r>
              <a:rPr sz="1900" b="0" i="0">
                <a:solidFill>
                  <a:srgbClr val="1C252B"/>
                </a:solidFill>
                <a:latin typeface="Segoe UI"/>
              </a:rPr>
              <a:t>ms</a:t>
            </a:r>
            <a:r>
              <a:rPr sz="1900" b="0" i="0">
                <a:solidFill>
                  <a:srgbClr val="1C252B"/>
                </a:solidFill>
                <a:latin typeface="Cambria"/>
              </a:rPr>
              <a:t> ≈ 15</a:t>
            </a:r>
            <a:r>
              <a:rPr sz="1900" b="0" i="0">
                <a:solidFill>
                  <a:srgbClr val="1C252B"/>
                </a:solidFill>
                <a:latin typeface="Segoe UI"/>
              </a:rPr>
              <a:t> seconds.</a:t>
            </a:r>
          </a:p>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128 bits:</a:t>
            </a:r>
            <a:r>
              <a:rPr sz="1900" b="0" i="0">
                <a:solidFill>
                  <a:srgbClr val="1C252B"/>
                </a:solidFill>
                <a:latin typeface="Segoe UI"/>
              </a:rPr>
              <a:t> </a:t>
            </a:r>
            <a:r>
              <a:rPr sz="1900" b="0" i="0">
                <a:solidFill>
                  <a:srgbClr val="1C252B"/>
                </a:solidFill>
                <a:latin typeface="Cambria"/>
              </a:rPr>
              <a:t>2</a:t>
            </a:r>
            <a:r>
              <a:rPr sz="1250" b="0" i="0" baseline="30000">
                <a:solidFill>
                  <a:srgbClr val="1C252B"/>
                </a:solidFill>
                <a:latin typeface="Cambria"/>
              </a:rPr>
              <a:t>40</a:t>
            </a:r>
            <a:r>
              <a:rPr sz="1900" b="0" i="0">
                <a:solidFill>
                  <a:srgbClr val="1C252B"/>
                </a:solidFill>
                <a:latin typeface="Cambria"/>
              </a:rPr>
              <a:t> × 58.81 </a:t>
            </a:r>
            <a:r>
              <a:rPr sz="1900" b="0" i="0">
                <a:solidFill>
                  <a:srgbClr val="1C252B"/>
                </a:solidFill>
                <a:latin typeface="Segoe UI"/>
              </a:rPr>
              <a:t>ms</a:t>
            </a:r>
            <a:r>
              <a:rPr sz="1900" b="0" i="0">
                <a:solidFill>
                  <a:srgbClr val="1C252B"/>
                </a:solidFill>
                <a:latin typeface="Cambria"/>
              </a:rPr>
              <a:t> ≈ 6.5 × 10</a:t>
            </a:r>
            <a:r>
              <a:rPr sz="1250" b="0" i="0" baseline="30000">
                <a:solidFill>
                  <a:srgbClr val="1C252B"/>
                </a:solidFill>
                <a:latin typeface="Cambria"/>
              </a:rPr>
              <a:t>10</a:t>
            </a:r>
            <a:r>
              <a:rPr sz="1900" b="0" i="0">
                <a:solidFill>
                  <a:srgbClr val="1C252B"/>
                </a:solidFill>
                <a:latin typeface="Segoe UI"/>
              </a:rPr>
              <a:t> s </a:t>
            </a:r>
            <a:r>
              <a:rPr sz="1900" b="0" i="0">
                <a:solidFill>
                  <a:srgbClr val="1C252B"/>
                </a:solidFill>
                <a:latin typeface="Cambria"/>
              </a:rPr>
              <a:t>≈</a:t>
            </a:r>
            <a:r>
              <a:rPr sz="1900" b="0" i="0">
                <a:solidFill>
                  <a:srgbClr val="1C252B"/>
                </a:solidFill>
                <a:latin typeface="Segoe UI"/>
              </a:rPr>
              <a:t> </a:t>
            </a:r>
            <a:r>
              <a:rPr sz="1900" b="1" i="0">
                <a:solidFill>
                  <a:srgbClr val="1C252B"/>
                </a:solidFill>
                <a:latin typeface="Segoe UI"/>
              </a:rPr>
              <a:t>2,000 years</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2048 bits</a:t>
            </a:r>
            <a:r>
              <a:rPr sz="1900" b="0" i="0">
                <a:solidFill>
                  <a:srgbClr val="1C252B"/>
                </a:solidFill>
                <a:latin typeface="Segoe UI"/>
              </a:rPr>
              <a:t>, which is what an RSA key is: there is no useful way to write the number.</a:t>
            </a:r>
          </a:p>
        </p:txBody>
      </p:sp>
      <p:sp>
        <p:nvSpPr>
          <p:cNvPr id="14" name="body-3"/>
          <p:cNvSpPr txBox="1"/>
          <p:nvPr/>
        </p:nvSpPr>
        <p:spPr>
          <a:xfrm>
            <a:off x="1042416" y="438558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notice what did </a:t>
            </a:r>
            <a:r>
              <a:rPr sz="1900" b="1" i="1">
                <a:solidFill>
                  <a:srgbClr val="1C252B"/>
                </a:solidFill>
                <a:latin typeface="Segoe UI"/>
              </a:rPr>
              <a:t>not</a:t>
            </a:r>
            <a:r>
              <a:rPr sz="1900" b="1" i="0">
                <a:solidFill>
                  <a:srgbClr val="1C252B"/>
                </a:solidFill>
                <a:latin typeface="Segoe UI"/>
              </a:rPr>
              <a:t> happen.</a:t>
            </a:r>
            <a:r>
              <a:rPr sz="1900" b="0" i="0">
                <a:solidFill>
                  <a:srgbClr val="1C252B"/>
                </a:solidFill>
                <a:latin typeface="Segoe UI"/>
              </a:rPr>
              <a:t> Going from 32 bits to 128 bits is going from a four-byte input to a sixteen-byte input — twelve extra bytes. The input grew by a factor of four and the running time by a factor of </a:t>
            </a:r>
            <a:r>
              <a:rPr sz="1900" b="0" i="0">
                <a:solidFill>
                  <a:srgbClr val="1C252B"/>
                </a:solidFill>
                <a:latin typeface="Cambria"/>
              </a:rPr>
              <a:t>4 × 10</a:t>
            </a:r>
            <a:r>
              <a:rPr sz="1250" b="0" i="0" baseline="30000">
                <a:solidFill>
                  <a:srgbClr val="1C252B"/>
                </a:solidFill>
                <a:latin typeface="Cambria"/>
              </a:rPr>
              <a:t>11</a:t>
            </a:r>
            <a:r>
              <a:rPr sz="1900" b="0" i="0">
                <a:solidFill>
                  <a:srgbClr val="1C252B"/>
                </a:solidFill>
                <a:latin typeface="Segoe UI"/>
              </a:rPr>
              <a:t>. That is what “exponential in the input size” means, and it is why measuring the size by the value would have hidden it completely.</a:t>
            </a:r>
          </a:p>
        </p:txBody>
      </p:sp>
      <p:sp>
        <p:nvSpPr>
          <p:cNvPr id="15" name="body-3bar">
            <a:extLst>
              <a:ext uri="{C183D7F6-B498-43B3-948B-1728B52AA6E4}">
                <adec:decorative xmlns:adec="http://schemas.microsoft.com/office/drawing/2017/decorative" val="1"/>
              </a:ext>
            </a:extLst>
          </p:cNvPr>
          <p:cNvSpPr/>
          <p:nvPr/>
        </p:nvSpPr>
        <p:spPr>
          <a:xfrm>
            <a:off x="841248" y="440387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xEl>
                                              <p:pRg st="0" end="0"/>
                                            </p:txEl>
                                          </p:spTgt>
                                        </p:tgtEl>
                                        <p:attrNameLst>
                                          <p:attrName>style.visibility</p:attrName>
                                        </p:attrNameLst>
                                      </p:cBhvr>
                                      <p:to>
                                        <p:strVal val="visible"/>
                                      </p:to>
                                    </p:set>
                                    <p:animEffect transition="in" filter="fade">
                                      <p:cBhvr>
                                        <p:cTn id="24" dur="350"/>
                                        <p:tgtEl>
                                          <p:spTgt spid="1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xEl>
                                              <p:pRg st="1" end="1"/>
                                            </p:txEl>
                                          </p:spTgt>
                                        </p:tgtEl>
                                        <p:attrNameLst>
                                          <p:attrName>style.visibility</p:attrName>
                                        </p:attrNameLst>
                                      </p:cBhvr>
                                      <p:to>
                                        <p:strVal val="visible"/>
                                      </p:to>
                                    </p:set>
                                    <p:animEffect transition="in" filter="fade">
                                      <p:cBhvr>
                                        <p:cTn id="29" dur="350"/>
                                        <p:tgtEl>
                                          <p:spTgt spid="13">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xEl>
                                              <p:pRg st="2" end="2"/>
                                            </p:txEl>
                                          </p:spTgt>
                                        </p:tgtEl>
                                        <p:attrNameLst>
                                          <p:attrName>style.visibility</p:attrName>
                                        </p:attrNameLst>
                                      </p:cBhvr>
                                      <p:to>
                                        <p:strVal val="visible"/>
                                      </p:to>
                                    </p:set>
                                    <p:animEffect transition="in" filter="fade">
                                      <p:cBhvr>
                                        <p:cTn id="34" dur="350"/>
                                        <p:tgtEl>
                                          <p:spTgt spid="1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right)">
                                      <p:cBhvr>
                                        <p:cTn id="39" dur="42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Nature of the Input: Three Cases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The Size of the Input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2.2   The Nature of the Input: Three Cases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Which Case Should You Report?</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     </a:t>
            </a:r>
            <a:fld id="{496AEBCA-806F-458D-A233-DAC359EF66D5}" type="slidenum">
              <a:rPr lang="en-GB" sz="1000">
                <a:solidFill>
                  <a:srgbClr val="8795A1"/>
                </a:solidFill>
                <a:latin typeface="Segoe UI"/>
              </a:rPr>
              <a:t>13</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Best, Worst and Average Case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53A8391E-6405-44F7-A281-A39B03593AD1}"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20744"/>
          </a:xfrm>
          <a:prstGeom prst="roundRect">
            <a:avLst>
              <a:gd name="adj" fmla="val 252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2074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Let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a:t>
            </a:r>
            <a:r>
              <a:rPr sz="2300" b="0" i="0">
                <a:solidFill>
                  <a:srgbClr val="1C252B"/>
                </a:solidFill>
                <a:latin typeface="Segoe UI"/>
              </a:rPr>
              <a:t> be the number of primitive operations the algorithm performs on input </a:t>
            </a:r>
            <a:r>
              <a:rPr sz="2300" b="0" i="1">
                <a:solidFill>
                  <a:srgbClr val="1C252B"/>
                </a:solidFill>
                <a:latin typeface="Cambria"/>
              </a:rPr>
              <a:t>x</a:t>
            </a:r>
            <a:r>
              <a:rPr sz="2300" b="0" i="0">
                <a:solidFill>
                  <a:srgbClr val="1C252B"/>
                </a:solidFill>
                <a:latin typeface="Segoe UI"/>
              </a:rPr>
              <a:t>, and let </a:t>
            </a:r>
            <a:r>
              <a:rPr sz="2300" b="0" i="1">
                <a:solidFill>
                  <a:srgbClr val="1C252B"/>
                </a:solidFill>
                <a:latin typeface="Cambria"/>
              </a:rPr>
              <a:t>X</a:t>
            </a:r>
            <a:r>
              <a:rPr sz="1500" b="0" i="1" baseline="-25000">
                <a:solidFill>
                  <a:srgbClr val="1C252B"/>
                </a:solidFill>
                <a:latin typeface="Cambria"/>
              </a:rPr>
              <a:t>n</a:t>
            </a:r>
            <a:r>
              <a:rPr sz="2300" b="0" i="0">
                <a:solidFill>
                  <a:srgbClr val="1C252B"/>
                </a:solidFill>
                <a:latin typeface="Segoe UI"/>
              </a:rPr>
              <a:t> be the set of all inputs of size </a:t>
            </a:r>
            <a:r>
              <a:rPr sz="2300" b="0" i="1">
                <a:solidFill>
                  <a:srgbClr val="1C252B"/>
                </a:solidFill>
                <a:latin typeface="Cambria"/>
              </a:rPr>
              <a:t>n</a:t>
            </a:r>
            <a:r>
              <a:rPr sz="2300" b="0" i="0">
                <a:solidFill>
                  <a:srgbClr val="1C252B"/>
                </a:solidFill>
                <a:latin typeface="Segoe UI"/>
              </a:rPr>
              <a:t>.</a:t>
            </a:r>
          </a:p>
        </p:txBody>
      </p:sp>
      <p:graphicFrame>
        <p:nvGraphicFramePr>
          <p:cNvPr id="10" name="body-1"/>
          <p:cNvGraphicFramePr>
            <a:graphicFrameLocks noGrp="1"/>
          </p:cNvGraphicFramePr>
          <p:nvPr/>
        </p:nvGraphicFramePr>
        <p:xfrm>
          <a:off x="1060704" y="2937992"/>
          <a:ext cx="10161726" cy="2109213"/>
        </p:xfrm>
        <a:graphic>
          <a:graphicData uri="http://schemas.openxmlformats.org/drawingml/2006/table">
            <a:tbl>
              <a:tblPr firstRow="0" bandRow="0" firstCol="0" lastRow="0" lastCol="0" bandCol="0">
                <a:tableStyleId>{2D5ABB26-0587-4C30-8999-92F81FD0307C}</a:tableStyleId>
              </a:tblPr>
              <a:tblGrid>
                <a:gridCol w="3223720"/>
                <a:gridCol w="6938006"/>
              </a:tblGrid>
              <a:tr h="451103">
                <a:tc>
                  <a:txBody>
                    <a:bodyPr wrap="square"/>
                    <a:lstStyle/>
                    <a:p>
                      <a:pPr algn="l"/>
                      <a:r>
                        <a:rPr sz="2000" b="1" i="0">
                          <a:solidFill>
                            <a:srgbClr val="1A5276"/>
                          </a:solidFill>
                          <a:latin typeface="Segoe UI"/>
                        </a:rPr>
                        <a:t>Case</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2000" b="1" i="0">
                          <a:solidFill>
                            <a:srgbClr val="1A5276"/>
                          </a:solidFill>
                          <a:latin typeface="Segoe UI"/>
                        </a:rPr>
                        <a:t>What it promises</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51103">
                <a:tc>
                  <a:txBody>
                    <a:bodyPr wrap="square"/>
                    <a:lstStyle/>
                    <a:p>
                      <a:pPr algn="l"/>
                      <a:r>
                        <a:rPr sz="2000" b="1" i="0">
                          <a:solidFill>
                            <a:srgbClr val="1C252B"/>
                          </a:solidFill>
                          <a:latin typeface="Segoe UI"/>
                        </a:rPr>
                        <a:t>best:</a:t>
                      </a:r>
                      <a:r>
                        <a:rPr sz="2000" b="0" i="0">
                          <a:solidFill>
                            <a:srgbClr val="1C252B"/>
                          </a:solidFill>
                          <a:latin typeface="Segoe UI"/>
                        </a:rPr>
                        <a:t> </a:t>
                      </a:r>
                      <a:r>
                        <a:rPr sz="2000" b="0" i="0">
                          <a:solidFill>
                            <a:srgbClr val="1C252B"/>
                          </a:solidFill>
                          <a:latin typeface="Cambria"/>
                        </a:rPr>
                        <a:t>min</a:t>
                      </a:r>
                      <a:r>
                        <a:rPr sz="1300" b="0" i="1" baseline="-25000">
                          <a:solidFill>
                            <a:srgbClr val="1C252B"/>
                          </a:solidFill>
                          <a:latin typeface="Cambria"/>
                        </a:rPr>
                        <a:t>x</a:t>
                      </a:r>
                      <a:r>
                        <a:rPr sz="1300" b="0" i="0" baseline="-25000">
                          <a:solidFill>
                            <a:srgbClr val="1C252B"/>
                          </a:solidFill>
                          <a:latin typeface="Cambria"/>
                        </a:rPr>
                        <a:t> ∈ </a:t>
                      </a:r>
                      <a:r>
                        <a:rPr sz="1300" b="0" i="1" baseline="-25000">
                          <a:solidFill>
                            <a:srgbClr val="1C252B"/>
                          </a:solidFill>
                          <a:latin typeface="Cambria"/>
                        </a:rPr>
                        <a:t>Xn</a:t>
                      </a:r>
                      <a:r>
                        <a:rPr sz="2000" b="0" i="0">
                          <a:solidFill>
                            <a:srgbClr val="1C252B"/>
                          </a:solidFill>
                          <a:latin typeface="Cambria"/>
                        </a:rPr>
                        <a:t> </a:t>
                      </a:r>
                      <a:r>
                        <a:rPr sz="2000" b="0" i="1">
                          <a:solidFill>
                            <a:srgbClr val="1C252B"/>
                          </a:solidFill>
                          <a:latin typeface="Cambria"/>
                        </a:rPr>
                        <a:t>T</a:t>
                      </a:r>
                      <a:r>
                        <a:rPr sz="2000" b="0" i="0">
                          <a:solidFill>
                            <a:srgbClr val="1C252B"/>
                          </a:solidFill>
                          <a:latin typeface="Cambria"/>
                        </a:rPr>
                        <a:t>(</a:t>
                      </a:r>
                      <a:r>
                        <a:rPr sz="2000" b="0" i="1">
                          <a:solidFill>
                            <a:srgbClr val="1C252B"/>
                          </a:solidFill>
                          <a:latin typeface="Cambria"/>
                        </a:rPr>
                        <a:t>x</a:t>
                      </a:r>
                      <a:r>
                        <a:rPr sz="2000" b="0" i="0">
                          <a:solidFill>
                            <a:srgbClr val="1C252B"/>
                          </a:solidFill>
                          <a:latin typeface="Cambria"/>
                        </a:rPr>
                        <a:t>)</a:t>
                      </a:r>
                      <a:endParaRPr sz="20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2000" b="0" i="0">
                          <a:solidFill>
                            <a:srgbClr val="1C252B"/>
                          </a:solidFill>
                          <a:latin typeface="Segoe UI"/>
                        </a:rPr>
                        <a:t>Nothing useful — a lower bound on an optimist’s hopes.</a:t>
                      </a:r>
                      <a:endParaRPr sz="2000"/>
                    </a:p>
                  </a:txBody>
                  <a:tcPr marL="109728" marR="109728" marT="64008" marB="45720" anchor="t">
                    <a:lnL w="0" cmpd="sng">
                      <a:noFill/>
                    </a:lnL>
                    <a:lnR w="0" cmpd="sng">
                      <a:noFill/>
                    </a:lnR>
                    <a:lnT w="9525" cmpd="sng">
                      <a:noFill/>
                    </a:lnT>
                    <a:lnB w="9525" cmpd="sng">
                      <a:noFill/>
                    </a:lnB>
                    <a:solidFill>
                      <a:srgbClr val="FFFFFF"/>
                    </a:solidFill>
                  </a:tcPr>
                </a:tc>
              </a:tr>
              <a:tr h="451103">
                <a:tc>
                  <a:txBody>
                    <a:bodyPr wrap="square"/>
                    <a:lstStyle/>
                    <a:p>
                      <a:pPr algn="l"/>
                      <a:r>
                        <a:rPr sz="2000" b="1" i="0">
                          <a:solidFill>
                            <a:srgbClr val="1C252B"/>
                          </a:solidFill>
                          <a:latin typeface="Segoe UI"/>
                        </a:rPr>
                        <a:t>worst:</a:t>
                      </a:r>
                      <a:r>
                        <a:rPr sz="2000" b="0" i="0">
                          <a:solidFill>
                            <a:srgbClr val="1C252B"/>
                          </a:solidFill>
                          <a:latin typeface="Segoe UI"/>
                        </a:rPr>
                        <a:t> </a:t>
                      </a:r>
                      <a:r>
                        <a:rPr sz="2000" b="0" i="0">
                          <a:solidFill>
                            <a:srgbClr val="1C252B"/>
                          </a:solidFill>
                          <a:latin typeface="Cambria"/>
                        </a:rPr>
                        <a:t>max</a:t>
                      </a:r>
                      <a:r>
                        <a:rPr sz="1300" b="0" i="1" baseline="-25000">
                          <a:solidFill>
                            <a:srgbClr val="1C252B"/>
                          </a:solidFill>
                          <a:latin typeface="Cambria"/>
                        </a:rPr>
                        <a:t>x</a:t>
                      </a:r>
                      <a:r>
                        <a:rPr sz="1300" b="0" i="0" baseline="-25000">
                          <a:solidFill>
                            <a:srgbClr val="1C252B"/>
                          </a:solidFill>
                          <a:latin typeface="Cambria"/>
                        </a:rPr>
                        <a:t> ∈ </a:t>
                      </a:r>
                      <a:r>
                        <a:rPr sz="1300" b="0" i="1" baseline="-25000">
                          <a:solidFill>
                            <a:srgbClr val="1C252B"/>
                          </a:solidFill>
                          <a:latin typeface="Cambria"/>
                        </a:rPr>
                        <a:t>Xn</a:t>
                      </a:r>
                      <a:r>
                        <a:rPr sz="2000" b="0" i="0">
                          <a:solidFill>
                            <a:srgbClr val="1C252B"/>
                          </a:solidFill>
                          <a:latin typeface="Cambria"/>
                        </a:rPr>
                        <a:t> </a:t>
                      </a:r>
                      <a:r>
                        <a:rPr sz="2000" b="0" i="1">
                          <a:solidFill>
                            <a:srgbClr val="1C252B"/>
                          </a:solidFill>
                          <a:latin typeface="Cambria"/>
                        </a:rPr>
                        <a:t>T</a:t>
                      </a:r>
                      <a:r>
                        <a:rPr sz="2000" b="0" i="0">
                          <a:solidFill>
                            <a:srgbClr val="1C252B"/>
                          </a:solidFill>
                          <a:latin typeface="Cambria"/>
                        </a:rPr>
                        <a:t>(</a:t>
                      </a:r>
                      <a:r>
                        <a:rPr sz="2000" b="0" i="1">
                          <a:solidFill>
                            <a:srgbClr val="1C252B"/>
                          </a:solidFill>
                          <a:latin typeface="Cambria"/>
                        </a:rPr>
                        <a:t>x</a:t>
                      </a:r>
                      <a:r>
                        <a:rPr sz="2000" b="0" i="0">
                          <a:solidFill>
                            <a:srgbClr val="1C252B"/>
                          </a:solidFill>
                          <a:latin typeface="Cambria"/>
                        </a:rPr>
                        <a:t>)</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2000" b="0" i="0">
                          <a:solidFill>
                            <a:srgbClr val="1C252B"/>
                          </a:solidFill>
                          <a:latin typeface="Segoe UI"/>
                        </a:rPr>
                        <a:t>A </a:t>
                      </a:r>
                      <a:r>
                        <a:rPr sz="2000" b="0" i="1">
                          <a:solidFill>
                            <a:srgbClr val="1C252B"/>
                          </a:solidFill>
                          <a:latin typeface="Segoe UI"/>
                        </a:rPr>
                        <a:t>guarantee</a:t>
                      </a:r>
                      <a:r>
                        <a:rPr sz="2000" b="0" i="0">
                          <a:solidFill>
                            <a:srgbClr val="1C252B"/>
                          </a:solidFill>
                          <a:latin typeface="Segoe UI"/>
                        </a:rPr>
                        <a:t>: no input of size </a:t>
                      </a:r>
                      <a:r>
                        <a:rPr sz="2000" b="0" i="1">
                          <a:solidFill>
                            <a:srgbClr val="1C252B"/>
                          </a:solidFill>
                          <a:latin typeface="Cambria"/>
                        </a:rPr>
                        <a:t>n</a:t>
                      </a:r>
                      <a:r>
                        <a:rPr sz="2000" b="0" i="0">
                          <a:solidFill>
                            <a:srgbClr val="1C252B"/>
                          </a:solidFill>
                          <a:latin typeface="Segoe UI"/>
                        </a:rPr>
                        <a:t> costs more than this.</a:t>
                      </a:r>
                      <a:endParaRPr sz="2000"/>
                    </a:p>
                  </a:txBody>
                  <a:tcPr marL="109728" marR="109728" marT="64008" marB="45720" anchor="t">
                    <a:lnL w="0" cmpd="sng">
                      <a:noFill/>
                    </a:lnL>
                    <a:lnR w="0" cmpd="sng">
                      <a:noFill/>
                    </a:lnR>
                    <a:lnT w="9525" cmpd="sng">
                      <a:noFill/>
                    </a:lnT>
                    <a:lnB w="9525" cmpd="sng">
                      <a:noFill/>
                    </a:lnB>
                    <a:solidFill>
                      <a:srgbClr val="F2F8FC"/>
                    </a:solidFill>
                  </a:tcPr>
                </a:tc>
              </a:tr>
              <a:tr h="755904">
                <a:tc>
                  <a:txBody>
                    <a:bodyPr wrap="square"/>
                    <a:lstStyle/>
                    <a:p>
                      <a:pPr algn="l"/>
                      <a:r>
                        <a:rPr sz="2000" b="1" i="0">
                          <a:solidFill>
                            <a:srgbClr val="1C252B"/>
                          </a:solidFill>
                          <a:latin typeface="Segoe UI"/>
                        </a:rPr>
                        <a:t>average:</a:t>
                      </a:r>
                      <a:r>
                        <a:rPr sz="2000" b="0" i="0">
                          <a:solidFill>
                            <a:srgbClr val="1C252B"/>
                          </a:solidFill>
                          <a:latin typeface="Segoe UI"/>
                        </a:rPr>
                        <a:t> </a:t>
                      </a:r>
                      <a:r>
                        <a:rPr sz="2000" b="0" i="1">
                          <a:solidFill>
                            <a:srgbClr val="1C252B"/>
                          </a:solidFill>
                          <a:latin typeface="Cambria"/>
                        </a:rPr>
                        <a:t>E</a:t>
                      </a:r>
                      <a:r>
                        <a:rPr sz="1300" b="0" i="1" baseline="-25000">
                          <a:solidFill>
                            <a:srgbClr val="1C252B"/>
                          </a:solidFill>
                          <a:latin typeface="Cambria"/>
                        </a:rPr>
                        <a:t>x</a:t>
                      </a:r>
                      <a:r>
                        <a:rPr sz="1300" b="0" i="0" baseline="-25000">
                          <a:solidFill>
                            <a:srgbClr val="1C252B"/>
                          </a:solidFill>
                          <a:latin typeface="Cambria"/>
                        </a:rPr>
                        <a:t> ∼ </a:t>
                      </a:r>
                      <a:r>
                        <a:rPr sz="1300" b="0" i="1" baseline="-25000">
                          <a:solidFill>
                            <a:srgbClr val="1C252B"/>
                          </a:solidFill>
                          <a:latin typeface="Cambria"/>
                        </a:rPr>
                        <a:t>D</a:t>
                      </a:r>
                      <a:r>
                        <a:rPr sz="2000" b="0" i="0">
                          <a:solidFill>
                            <a:srgbClr val="1C252B"/>
                          </a:solidFill>
                          <a:latin typeface="Cambria"/>
                        </a:rPr>
                        <a:t> [</a:t>
                      </a:r>
                      <a:r>
                        <a:rPr sz="2000" b="0" i="1">
                          <a:solidFill>
                            <a:srgbClr val="1C252B"/>
                          </a:solidFill>
                          <a:latin typeface="Cambria"/>
                        </a:rPr>
                        <a:t>T</a:t>
                      </a:r>
                      <a:r>
                        <a:rPr sz="2000" b="0" i="0">
                          <a:solidFill>
                            <a:srgbClr val="1C252B"/>
                          </a:solidFill>
                          <a:latin typeface="Cambria"/>
                        </a:rPr>
                        <a:t>(</a:t>
                      </a:r>
                      <a:r>
                        <a:rPr sz="2000" b="0" i="1">
                          <a:solidFill>
                            <a:srgbClr val="1C252B"/>
                          </a:solidFill>
                          <a:latin typeface="Cambria"/>
                        </a:rPr>
                        <a:t>x</a:t>
                      </a:r>
                      <a:r>
                        <a:rPr sz="2000" b="0" i="0">
                          <a:solidFill>
                            <a:srgbClr val="1C252B"/>
                          </a:solidFill>
                          <a:latin typeface="Cambria"/>
                        </a:rPr>
                        <a:t>)]</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2000" b="0" i="0">
                          <a:solidFill>
                            <a:srgbClr val="1C252B"/>
                          </a:solidFill>
                          <a:latin typeface="Segoe UI"/>
                        </a:rPr>
                        <a:t>What to expect </a:t>
                      </a:r>
                      <a:r>
                        <a:rPr sz="2000" b="0" i="1">
                          <a:solidFill>
                            <a:srgbClr val="1C252B"/>
                          </a:solidFill>
                          <a:latin typeface="Segoe UI"/>
                        </a:rPr>
                        <a:t>if</a:t>
                      </a:r>
                      <a:r>
                        <a:rPr sz="2000" b="0" i="0">
                          <a:solidFill>
                            <a:srgbClr val="1C252B"/>
                          </a:solidFill>
                          <a:latin typeface="Segoe UI"/>
                        </a:rPr>
                        <a:t> inputs really are drawn from </a:t>
                      </a:r>
                      <a:r>
                        <a:rPr sz="2000" b="0" i="1">
                          <a:solidFill>
                            <a:srgbClr val="1C252B"/>
                          </a:solidFill>
                          <a:latin typeface="Cambria"/>
                        </a:rPr>
                        <a:t>D</a:t>
                      </a:r>
                      <a:r>
                        <a:rPr sz="2000" b="0" i="0">
                          <a:solidFill>
                            <a:srgbClr val="1C252B"/>
                          </a:solidFill>
                          <a:latin typeface="Segoe UI"/>
                        </a:rPr>
                        <a:t> — and </a:t>
                      </a:r>
                      <a:r>
                        <a:rPr sz="2000" b="0" i="1">
                          <a:solidFill>
                            <a:srgbClr val="1C252B"/>
                          </a:solidFill>
                          <a:latin typeface="Cambria"/>
                        </a:rPr>
                        <a:t>D</a:t>
                      </a:r>
                      <a:r>
                        <a:rPr sz="2000" b="0" i="0">
                          <a:solidFill>
                            <a:srgbClr val="1C252B"/>
                          </a:solidFill>
                          <a:latin typeface="Segoe UI"/>
                        </a:rPr>
                        <a:t> must be stated.</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“Average case” is meaningless until you name a distribution</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BAD30093-E65A-4F77-AB83-12E22B3B3179}"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There is no such thing as a random input. There is only an input drawn from a distribution you have chosen, and the choice is a modelling assumption that can be wrong.</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conventional assumption for sorting is a </a:t>
            </a:r>
            <a:r>
              <a:rPr sz="2300" b="1" i="0">
                <a:solidFill>
                  <a:srgbClr val="1A5276"/>
                </a:solidFill>
                <a:latin typeface="Segoe UI"/>
              </a:rPr>
              <a:t>uniform random permutation</a:t>
            </a:r>
            <a:r>
              <a:rPr sz="2300" b="0" i="0">
                <a:solidFill>
                  <a:srgbClr val="1C252B"/>
                </a:solidFill>
                <a:latin typeface="Segoe UI"/>
              </a:rPr>
              <a:t>: every ordering of the </a:t>
            </a:r>
            <a:r>
              <a:rPr sz="2300" b="0" i="1">
                <a:solidFill>
                  <a:srgbClr val="1C252B"/>
                </a:solidFill>
                <a:latin typeface="Cambria"/>
              </a:rPr>
              <a:t>n</a:t>
            </a:r>
            <a:r>
              <a:rPr sz="2300" b="0" i="0">
                <a:solidFill>
                  <a:srgbClr val="1C252B"/>
                </a:solidFill>
                <a:latin typeface="Segoe UI"/>
              </a:rPr>
              <a:t> elements equally likely. It is a reasonable default and it is often false — real data arrives partly sorted, or sorted by the wrong key, or in a few long runs. When you quote an average case, say what distribution it averages over. When you read one, check.</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Three Cases, Derived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E28C0325-FDA5-4E1F-9AAD-B65889470BCF}"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8596"/>
          </a:xfrm>
          <a:prstGeom prst="roundRect">
            <a:avLst>
              <a:gd name="adj" fmla="val 203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85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Best case — already sorted.</a:t>
            </a:r>
            <a:r>
              <a:rPr sz="1900" b="0" i="0">
                <a:solidFill>
                  <a:srgbClr val="1C252B"/>
                </a:solidFill>
                <a:latin typeface="Segoe UI"/>
              </a:rPr>
              <a:t> For every </a:t>
            </a:r>
            <a:r>
              <a:rPr sz="1900" b="0" i="1">
                <a:solidFill>
                  <a:srgbClr val="1C252B"/>
                </a:solidFill>
                <a:latin typeface="Cambria"/>
              </a:rPr>
              <a:t>j</a:t>
            </a:r>
            <a:r>
              <a:rPr sz="1900" b="0" i="0">
                <a:solidFill>
                  <a:srgbClr val="1C252B"/>
                </a:solidFill>
                <a:latin typeface="Segoe UI"/>
              </a:rPr>
              <a:t>, </a:t>
            </a:r>
            <a:r>
              <a:rPr sz="1900" b="0" i="1">
                <a:solidFill>
                  <a:srgbClr val="1C252B"/>
                </a:solidFill>
                <a:latin typeface="Cambria"/>
              </a:rPr>
              <a:t>a</a:t>
            </a:r>
            <a:r>
              <a:rPr sz="1900" b="0" i="0">
                <a:solidFill>
                  <a:srgbClr val="1C252B"/>
                </a:solidFill>
                <a:latin typeface="Cambria"/>
              </a:rPr>
              <a:t>[</a:t>
            </a:r>
            <a:r>
              <a:rPr sz="1900" b="0" i="1">
                <a:solidFill>
                  <a:srgbClr val="1C252B"/>
                </a:solidFill>
                <a:latin typeface="Cambria"/>
              </a:rPr>
              <a:t>j</a:t>
            </a:r>
            <a:r>
              <a:rPr sz="1900" b="0" i="0">
                <a:solidFill>
                  <a:srgbClr val="1C252B"/>
                </a:solidFill>
                <a:latin typeface="Cambria"/>
              </a:rPr>
              <a:t>−1] ≤ </a:t>
            </a:r>
            <a:r>
              <a:rPr sz="1900" b="0" i="1">
                <a:solidFill>
                  <a:srgbClr val="1C252B"/>
                </a:solidFill>
                <a:latin typeface="Cambria"/>
              </a:rPr>
              <a:t>key</a:t>
            </a:r>
            <a:r>
              <a:rPr sz="1900" b="0" i="0">
                <a:solidFill>
                  <a:srgbClr val="1C252B"/>
                </a:solidFill>
                <a:latin typeface="Segoe UI"/>
              </a:rPr>
              <a:t>, so the </a:t>
            </a:r>
            <a:r>
              <a:rPr sz="1800" b="0" i="0">
                <a:solidFill>
                  <a:srgbClr val="1F4E79"/>
                </a:solidFill>
                <a:latin typeface="Consolas"/>
              </a:rPr>
              <a:t>while</a:t>
            </a:r>
            <a:r>
              <a:rPr sz="1900" b="0" i="0">
                <a:solidFill>
                  <a:srgbClr val="1C252B"/>
                </a:solidFill>
                <a:latin typeface="Segoe UI"/>
              </a:rPr>
              <a:t> test fails at once and does zero shifts. The outer loop still runs </a:t>
            </a:r>
            <a:r>
              <a:rPr sz="1900" b="0" i="1">
                <a:solidFill>
                  <a:srgbClr val="1C252B"/>
                </a:solidFill>
                <a:latin typeface="Cambria"/>
              </a:rPr>
              <a:t>n</a:t>
            </a:r>
            <a:r>
              <a:rPr sz="1900" b="0" i="0">
                <a:solidFill>
                  <a:srgbClr val="1C252B"/>
                </a:solidFill>
                <a:latin typeface="Cambria"/>
              </a:rPr>
              <a:t>−1</a:t>
            </a:r>
            <a:r>
              <a:rPr sz="1900" b="0" i="0">
                <a:solidFill>
                  <a:srgbClr val="1C252B"/>
                </a:solidFill>
                <a:latin typeface="Segoe UI"/>
              </a:rPr>
              <a:t> times:</a:t>
            </a:r>
          </a:p>
        </p:txBody>
      </p:sp>
      <p:pic>
        <p:nvPicPr>
          <p:cNvPr id="10" name="body-1" descr="T(n) = c(n-1) = \bigTh{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746679"/>
            <a:ext cx="10234879" cy="324520"/>
          </a:xfrm>
          <a:prstGeom prst="rect">
            <a:avLst/>
          </a:prstGeom>
        </p:spPr>
      </p:pic>
      <p:sp>
        <p:nvSpPr>
          <p:cNvPr id="11" name="body-2"/>
          <p:cNvSpPr txBox="1"/>
          <p:nvPr/>
        </p:nvSpPr>
        <p:spPr>
          <a:xfrm>
            <a:off x="1042416" y="320391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Worst case — strictly decreasing.</a:t>
            </a:r>
            <a:r>
              <a:rPr sz="1900" b="0" i="0">
                <a:solidFill>
                  <a:srgbClr val="1C252B"/>
                </a:solidFill>
                <a:latin typeface="Segoe UI"/>
              </a:rPr>
              <a:t> Every element must travel to the front, so element </a:t>
            </a:r>
            <a:r>
              <a:rPr sz="1900" b="0" i="1">
                <a:solidFill>
                  <a:srgbClr val="1C252B"/>
                </a:solidFill>
                <a:latin typeface="Cambria"/>
              </a:rPr>
              <a:t>j</a:t>
            </a:r>
            <a:r>
              <a:rPr sz="1900" b="0" i="0">
                <a:solidFill>
                  <a:srgbClr val="1C252B"/>
                </a:solidFill>
                <a:latin typeface="Segoe UI"/>
              </a:rPr>
              <a:t> does </a:t>
            </a:r>
            <a:r>
              <a:rPr sz="1900" b="0" i="1">
                <a:solidFill>
                  <a:srgbClr val="1C252B"/>
                </a:solidFill>
                <a:latin typeface="Cambria"/>
              </a:rPr>
              <a:t>j</a:t>
            </a:r>
            <a:r>
              <a:rPr sz="1900" b="0" i="0">
                <a:solidFill>
                  <a:srgbClr val="1C252B"/>
                </a:solidFill>
                <a:latin typeface="Segoe UI"/>
              </a:rPr>
              <a:t> shifts:</a:t>
            </a:r>
          </a:p>
        </p:txBody>
      </p:sp>
      <p:sp>
        <p:nvSpPr>
          <p:cNvPr id="12" name="body-2bar">
            <a:extLst>
              <a:ext uri="{C183D7F6-B498-43B3-948B-1728B52AA6E4}">
                <adec:decorative xmlns:adec="http://schemas.microsoft.com/office/drawing/2017/decorative" val="1"/>
              </a:ext>
            </a:extLst>
          </p:cNvPr>
          <p:cNvSpPr/>
          <p:nvPr/>
        </p:nvSpPr>
        <p:spPr>
          <a:xfrm>
            <a:off x="841248" y="3222203"/>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3" descr="\sum_{j=1}^{n-1} j = \frac{(n-1)n}{2} \approx \frac{n^{2}}{2} = \bigTh{n^{2}}."/>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938915"/>
            <a:ext cx="10234879" cy="878464"/>
          </a:xfrm>
          <a:prstGeom prst="rect">
            <a:avLst/>
          </a:prstGeom>
        </p:spPr>
      </p:pic>
      <p:pic>
        <p:nvPicPr>
          <p:cNvPr id="14" name="body-4" descr="Average case — uniform random permutation. For any pair (i,j) with i&lt;j, the two orderings are equally likely, so the pair is inverted with probability /12. There are n2 pairs, so by linearity of expectation the expected number of inversions i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950094"/>
            <a:ext cx="10234879" cy="1001542"/>
          </a:xfrm>
          <a:prstGeom prst="rect">
            <a:avLst/>
          </a:prstGeom>
        </p:spPr>
      </p:pic>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Three Cases, Derived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2F502F8A-0C62-4F9C-9AC5-033DA7D90E0C}"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55768"/>
          </a:xfrm>
          <a:prstGeom prst="roundRect">
            <a:avLst>
              <a:gd name="adj" fmla="val 405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5576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mathbb{E}[\text{inversions}] = \frac12\binom{n}{2} = \frac{n(n-1)}{4} \approx \frac{n^{2}}{4} = \bigTh{n^{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670986"/>
          </a:xfrm>
          <a:prstGeom prst="rect">
            <a:avLst/>
          </a:prstGeom>
        </p:spPr>
      </p:pic>
      <p:sp>
        <p:nvSpPr>
          <p:cNvPr id="10" name="body-1"/>
          <p:cNvSpPr txBox="1"/>
          <p:nvPr/>
        </p:nvSpPr>
        <p:spPr>
          <a:xfrm>
            <a:off x="1042416" y="2815381"/>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conclusion, and it is the one that matters.</a:t>
            </a:r>
            <a:r>
              <a:rPr sz="1900" b="0" i="0">
                <a:solidFill>
                  <a:srgbClr val="1C252B"/>
                </a:solidFill>
                <a:latin typeface="Segoe UI"/>
              </a:rPr>
              <a:t> The average case is </a:t>
            </a:r>
            <a:r>
              <a:rPr sz="1900" b="0" i="1">
                <a:solidFill>
                  <a:srgbClr val="1C252B"/>
                </a:solidFill>
                <a:latin typeface="Segoe UI"/>
              </a:rPr>
              <a:t>exactly half</a:t>
            </a:r>
            <a:r>
              <a:rPr sz="1900" b="0" i="0">
                <a:solidFill>
                  <a:srgbClr val="1C252B"/>
                </a:solidFill>
                <a:latin typeface="Segoe UI"/>
              </a:rPr>
              <a:t> the worst case. A factor of two is a constant, and </a:t>
            </a:r>
            <a:r>
              <a:rPr sz="1900" b="0" i="0">
                <a:solidFill>
                  <a:srgbClr val="1C252B"/>
                </a:solidFill>
                <a:latin typeface="Cambria"/>
              </a:rPr>
              <a:t>Θ(·)</a:t>
            </a:r>
            <a:r>
              <a:rPr sz="1900" b="0" i="0">
                <a:solidFill>
                  <a:srgbClr val="1C252B"/>
                </a:solidFill>
                <a:latin typeface="Segoe UI"/>
              </a:rPr>
              <a:t> discards constants — so insertion sort’s average and worst cases have the </a:t>
            </a:r>
            <a:r>
              <a:rPr sz="1900" b="0" i="1">
                <a:solidFill>
                  <a:srgbClr val="1C252B"/>
                </a:solidFill>
                <a:latin typeface="Segoe UI"/>
              </a:rPr>
              <a:t>same order of growth</a:t>
            </a:r>
            <a:r>
              <a:rPr sz="1900" b="0" i="0">
                <a:solidFill>
                  <a:srgbClr val="1C252B"/>
                </a:solidFill>
                <a:latin typeface="Segoe UI"/>
              </a:rPr>
              <a:t>, and the only case that differs is the best one.</a:t>
            </a:r>
          </a:p>
        </p:txBody>
      </p:sp>
      <p:sp>
        <p:nvSpPr>
          <p:cNvPr id="11" name="body-1bar">
            <a:extLst>
              <a:ext uri="{C183D7F6-B498-43B3-948B-1728B52AA6E4}">
                <adec:decorative xmlns:adec="http://schemas.microsoft.com/office/drawing/2017/decorative" val="1"/>
              </a:ext>
            </a:extLst>
          </p:cNvPr>
          <p:cNvSpPr/>
          <p:nvPr/>
        </p:nvSpPr>
        <p:spPr>
          <a:xfrm>
            <a:off x="841248" y="2833669"/>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Algorithm, Three Orders of Growth, Measured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0972A08B-E60F-4484-8EE8-5FBFACA5ADC5}"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24503"/>
          </a:xfrm>
          <a:prstGeom prst="roundRect">
            <a:avLst>
              <a:gd name="adj" fmla="val 252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2450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code/ch02_cases.cpp</a:t>
            </a:r>
            <a:r>
              <a:rPr sz="1900" b="0" i="0">
                <a:solidFill>
                  <a:srgbClr val="1C252B"/>
                </a:solidFill>
                <a:latin typeface="Segoe UI"/>
              </a:rPr>
              <a:t> runs the same insertion sort on three shapes of input at each size; median of five runs, times in milliseconds.</a:t>
            </a:r>
          </a:p>
        </p:txBody>
      </p:sp>
      <p:graphicFrame>
        <p:nvGraphicFramePr>
          <p:cNvPr id="10" name="body-1"/>
          <p:cNvGraphicFramePr>
            <a:graphicFrameLocks noGrp="1"/>
          </p:cNvGraphicFramePr>
          <p:nvPr/>
        </p:nvGraphicFramePr>
        <p:xfrm>
          <a:off x="1042416" y="2746679"/>
          <a:ext cx="5994969" cy="2340864"/>
        </p:xfrm>
        <a:graphic>
          <a:graphicData uri="http://schemas.openxmlformats.org/drawingml/2006/table">
            <a:tbl>
              <a:tblPr firstRow="0" bandRow="0" firstCol="0" lastRow="0" lastCol="0" bandCol="0">
                <a:tableStyleId>{2D5ABB26-0587-4C30-8999-92F81FD0307C}</a:tableStyleId>
              </a:tblPr>
              <a:tblGrid>
                <a:gridCol w="859584"/>
                <a:gridCol w="877490"/>
                <a:gridCol w="716158"/>
                <a:gridCol w="1020214"/>
                <a:gridCol w="716158"/>
                <a:gridCol w="1089207"/>
                <a:gridCol w="716158"/>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sorted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random</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reversed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0.002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0.340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0.634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4,000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0.004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1.430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4.21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2.551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4.03</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0.008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5.288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3.70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9.736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3.82</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16,000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0.021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2.73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21.357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4.04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42.714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4.39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32,000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0.028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1.33</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89.790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4.20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185.054</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4.33</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Algorithm, Three Orders of Growth, Measured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53E44FDA-146B-458A-B883-749D3DB0BDE4}"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5444"/>
          </a:xfrm>
          <a:prstGeom prst="roundRect">
            <a:avLst>
              <a:gd name="adj" fmla="val 207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544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sorted column doubles</a:t>
            </a:r>
            <a:r>
              <a:rPr sz="1900" b="0" i="0">
                <a:solidFill>
                  <a:srgbClr val="1C252B"/>
                </a:solidFill>
                <a:latin typeface="Segoe UI"/>
              </a:rPr>
              <a:t> — 1.90, 2.05, 2.73, 1.33. The ratios are ragged because the absolute times are two to twenty-eight </a:t>
            </a:r>
            <a:r>
              <a:rPr sz="1900" b="0" i="1">
                <a:solidFill>
                  <a:srgbClr val="1C252B"/>
                </a:solidFill>
                <a:latin typeface="Segoe UI"/>
              </a:rPr>
              <a:t>microseconds</a:t>
            </a:r>
            <a:r>
              <a:rPr sz="1900" b="0" i="0">
                <a:solidFill>
                  <a:srgbClr val="1C252B"/>
                </a:solidFill>
                <a:latin typeface="Segoe UI"/>
              </a:rPr>
              <a:t>, where the clock’s own resolution and one stray interrupt are a large fraction of the measurement. The honest reading is: these are five numbers consistent with linear growth and far too small to be consistent with quadratic, which is all the experiment is being asked to show.</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65010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random and reversed columns quadruple</a:t>
            </a:r>
            <a:r>
              <a:rPr sz="1900" b="0" i="0">
                <a:solidFill>
                  <a:srgbClr val="1C252B"/>
                </a:solidFill>
                <a:latin typeface="Segoe UI"/>
              </a:rPr>
              <a:t>, mean 4.04 and 4.14, as </a:t>
            </a:r>
            <a:r>
              <a:rPr sz="1900" b="0" i="0">
                <a:solidFill>
                  <a:srgbClr val="1C252B"/>
                </a:solidFill>
                <a:latin typeface="Cambria"/>
              </a:rPr>
              <a:t>Θ(</a:t>
            </a:r>
            <a:r>
              <a:rPr sz="1900" b="0" i="1">
                <a:solidFill>
                  <a:srgbClr val="1C252B"/>
                </a:solidFill>
                <a:latin typeface="Cambria"/>
              </a:rPr>
              <a:t>n</a:t>
            </a:r>
            <a:r>
              <a:rPr sz="1250" b="0" i="0" baseline="30000">
                <a:solidFill>
                  <a:srgbClr val="1C252B"/>
                </a:solidFill>
                <a:latin typeface="Cambria"/>
              </a:rPr>
              <a:t>2</a:t>
            </a:r>
            <a:r>
              <a:rPr sz="1900" b="0" i="0">
                <a:solidFill>
                  <a:srgbClr val="1C252B"/>
                </a:solidFill>
                <a:latin typeface="Cambria"/>
              </a:rPr>
              <a:t>)</a:t>
            </a:r>
            <a:r>
              <a:rPr sz="1900" b="0" i="0">
                <a:solidFill>
                  <a:srgbClr val="1C252B"/>
                </a:solidFill>
                <a:latin typeface="Segoe UI"/>
              </a:rPr>
              <a:t> requires.</a:t>
            </a:r>
          </a:p>
        </p:txBody>
      </p:sp>
      <p:sp>
        <p:nvSpPr>
          <p:cNvPr id="12" name="body-1bar">
            <a:extLst>
              <a:ext uri="{C183D7F6-B498-43B3-948B-1728B52AA6E4}">
                <adec:decorative xmlns:adec="http://schemas.microsoft.com/office/drawing/2017/decorative" val="1"/>
              </a:ext>
            </a:extLst>
          </p:cNvPr>
          <p:cNvSpPr/>
          <p:nvPr/>
        </p:nvSpPr>
        <p:spPr>
          <a:xfrm>
            <a:off x="841248" y="3668394"/>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08396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now the prediction the derivation made.</a:t>
            </a:r>
            <a:r>
              <a:rPr sz="1900" b="0" i="0">
                <a:solidFill>
                  <a:srgbClr val="1C252B"/>
                </a:solidFill>
                <a:latin typeface="Segoe UI"/>
              </a:rPr>
              <a:t> Random should be half of reversed, because </a:t>
            </a:r>
            <a:r>
              <a:rPr sz="1900" b="0" i="1">
                <a:solidFill>
                  <a:srgbClr val="1C252B"/>
                </a:solidFill>
                <a:latin typeface="Cambria"/>
              </a:rPr>
              <a:t>n</a:t>
            </a:r>
            <a:r>
              <a:rPr sz="1250" b="0" i="0" baseline="30000">
                <a:solidFill>
                  <a:srgbClr val="1C252B"/>
                </a:solidFill>
                <a:latin typeface="Cambria"/>
              </a:rPr>
              <a:t>2</a:t>
            </a:r>
            <a:r>
              <a:rPr sz="1900" b="0" i="0">
                <a:solidFill>
                  <a:srgbClr val="1C252B"/>
                </a:solidFill>
                <a:latin typeface="Cambria"/>
              </a:rPr>
              <a:t>/4</a:t>
            </a:r>
            <a:r>
              <a:rPr sz="1900" b="0" i="0">
                <a:solidFill>
                  <a:srgbClr val="1C252B"/>
                </a:solidFill>
                <a:latin typeface="Segoe UI"/>
              </a:rPr>
              <a:t> is half of </a:t>
            </a:r>
            <a:r>
              <a:rPr sz="1900" b="0" i="1">
                <a:solidFill>
                  <a:srgbClr val="1C252B"/>
                </a:solidFill>
                <a:latin typeface="Cambria"/>
              </a:rPr>
              <a:t>n</a:t>
            </a:r>
            <a:r>
              <a:rPr sz="1250" b="0" i="0" baseline="30000">
                <a:solidFill>
                  <a:srgbClr val="1C252B"/>
                </a:solidFill>
                <a:latin typeface="Cambria"/>
              </a:rPr>
              <a:t>2</a:t>
            </a:r>
            <a:r>
              <a:rPr sz="1900" b="0" i="0">
                <a:solidFill>
                  <a:srgbClr val="1C252B"/>
                </a:solidFill>
                <a:latin typeface="Cambria"/>
              </a:rPr>
              <a:t>/2</a:t>
            </a:r>
            <a:r>
              <a:rPr sz="1900" b="0" i="0">
                <a:solidFill>
                  <a:srgbClr val="1C252B"/>
                </a:solidFill>
                <a:latin typeface="Segoe UI"/>
              </a:rPr>
              <a:t>. Measured:</a:t>
            </a:r>
          </a:p>
        </p:txBody>
      </p:sp>
      <p:sp>
        <p:nvSpPr>
          <p:cNvPr id="14" name="body-2bar">
            <a:extLst>
              <a:ext uri="{C183D7F6-B498-43B3-948B-1728B52AA6E4}">
                <adec:decorative xmlns:adec="http://schemas.microsoft.com/office/drawing/2017/decorative" val="1"/>
              </a:ext>
            </a:extLst>
          </p:cNvPr>
          <p:cNvSpPr/>
          <p:nvPr/>
        </p:nvSpPr>
        <p:spPr>
          <a:xfrm>
            <a:off x="841248" y="410225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3" descr="0.54,\quad 0.56,\quad 0.54,\quad 0.50,\quad 0.49."/>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818964"/>
            <a:ext cx="10234879" cy="324520"/>
          </a:xfrm>
          <a:prstGeom prst="rect">
            <a:avLst/>
          </a:prstGeom>
        </p:spPr>
      </p:pic>
      <p:sp>
        <p:nvSpPr>
          <p:cNvPr id="16" name="body-4"/>
          <p:cNvSpPr txBox="1"/>
          <p:nvPr/>
        </p:nvSpPr>
        <p:spPr>
          <a:xfrm>
            <a:off x="1042416" y="527619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Five independent confirmations of a factor the theory produced from counting inversions. This is what it looks like when an analysis is right about more than the exponent.</a:t>
            </a: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right)">
                                      <p:cBhvr>
                                        <p:cTn id="32" dur="42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right)">
                                      <p:cBhvr>
                                        <p:cTn id="37"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Algorithm, Three Orders of Growth, Measured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227186B4-89CA-492D-86E6-9002350CBD56}"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Finally, the spread.</a:t>
            </a:r>
            <a:r>
              <a:rPr sz="1900" b="0" i="0">
                <a:solidFill>
                  <a:srgbClr val="1C252B"/>
                </a:solidFill>
                <a:latin typeface="Segoe UI"/>
              </a:rPr>
              <a:t> At </a:t>
            </a:r>
            <a:r>
              <a:rPr sz="1900" b="0" i="1">
                <a:solidFill>
                  <a:srgbClr val="1C252B"/>
                </a:solidFill>
                <a:latin typeface="Cambria"/>
              </a:rPr>
              <a:t>n</a:t>
            </a:r>
            <a:r>
              <a:rPr sz="1900" b="0" i="0">
                <a:solidFill>
                  <a:srgbClr val="1C252B"/>
                </a:solidFill>
                <a:latin typeface="Cambria"/>
              </a:rPr>
              <a:t> = 32,000</a:t>
            </a:r>
            <a:r>
              <a:rPr sz="1900" b="0" i="0">
                <a:solidFill>
                  <a:srgbClr val="1C252B"/>
                </a:solidFill>
                <a:latin typeface="Segoe UI"/>
              </a:rPr>
              <a:t>: 0.028 ms on sorted input, 185 ms on reversed. Same algorithm, same compiler, same machine, same input size — a factor of </a:t>
            </a:r>
            <a:r>
              <a:rPr sz="1900" b="1" i="0">
                <a:solidFill>
                  <a:srgbClr val="1C252B"/>
                </a:solidFill>
                <a:latin typeface="Segoe UI"/>
              </a:rPr>
              <a:t>6,600</a:t>
            </a:r>
            <a:r>
              <a:rPr sz="1900" b="0" i="0">
                <a:solidFill>
                  <a:srgbClr val="1C252B"/>
                </a:solidFill>
                <a:latin typeface="Segoe UI"/>
              </a:rPr>
              <a:t>. “How big is the input” does not come close to determining how long a program takes.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Which Case Should You Report?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The Size of the Input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The Nature of the Input: Three Cases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2.3   Which Case Should You Report?</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     </a:t>
            </a:r>
            <a:fld id="{BEB4F3F1-BFFA-47BD-9D29-772EBD1FD871}" type="slidenum">
              <a:rPr lang="en-GB" sz="1000">
                <a:solidFill>
                  <a:srgbClr val="8795A1"/>
                </a:solidFill>
                <a:latin typeface="Segoe UI"/>
              </a:rPr>
              <a:t>21</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convention, and the reasons for it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BE94482B-FE3B-40A3-BB19-DBCBB9186FB1}"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2475"/>
          </a:xfrm>
          <a:prstGeom prst="roundRect">
            <a:avLst>
              <a:gd name="adj" fmla="val 20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247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Report the worst case unless you say otherwise.</a:t>
            </a:r>
            <a:r>
              <a:rPr sz="1700" b="0" i="0">
                <a:solidFill>
                  <a:srgbClr val="1C252B"/>
                </a:solidFill>
                <a:latin typeface="Segoe UI"/>
              </a:rPr>
              <a:t> Three reasons:</a:t>
            </a:r>
          </a:p>
        </p:txBody>
      </p:sp>
      <p:sp>
        <p:nvSpPr>
          <p:cNvPr id="10" name="body-1"/>
          <p:cNvSpPr txBox="1"/>
          <p:nvPr/>
        </p:nvSpPr>
        <p:spPr>
          <a:xfrm>
            <a:off x="1060704" y="2436444"/>
            <a:ext cx="10161727" cy="1813509"/>
          </a:xfrm>
          <a:prstGeom prst="rect">
            <a:avLst/>
          </a:prstGeom>
          <a:noFill/>
        </p:spPr>
        <p:txBody>
          <a:bodyPr wrap="square" anchor="t" lIns="0" rIns="0" tIns="0" bIns="0">
            <a:noAutofit/>
          </a:bodyPr>
          <a:lstStyle/>
          <a:p>
            <a:pPr algn="l" marL="410084" indent="-410084">
              <a:lnSpc>
                <a:spcPct val="104000"/>
              </a:lnSpc>
              <a:spcBef>
                <a:spcPts val="0"/>
              </a:spcBef>
              <a:spcAft>
                <a:spcPts val="594"/>
              </a:spcAft>
            </a:pPr>
            <a:r>
              <a:rPr sz="1700" b="1">
                <a:solidFill>
                  <a:srgbClr val="1F618D"/>
                </a:solidFill>
                <a:latin typeface="Segoe UI"/>
              </a:rPr>
              <a:t>1.	</a:t>
            </a:r>
            <a:r>
              <a:rPr sz="1700" b="0" i="0">
                <a:solidFill>
                  <a:srgbClr val="1C252B"/>
                </a:solidFill>
                <a:latin typeface="Segoe UI"/>
              </a:rPr>
              <a:t>It is a </a:t>
            </a:r>
            <a:r>
              <a:rPr sz="1700" b="0" i="1">
                <a:solidFill>
                  <a:srgbClr val="1C252B"/>
                </a:solidFill>
                <a:latin typeface="Segoe UI"/>
              </a:rPr>
              <a:t>guarantee</a:t>
            </a:r>
            <a:r>
              <a:rPr sz="1700" b="0" i="0">
                <a:solidFill>
                  <a:srgbClr val="1C252B"/>
                </a:solidFill>
                <a:latin typeface="Segoe UI"/>
              </a:rPr>
              <a:t>. An average tells you about a population of runs; a worst case tells you about the run you are having now, which is the one with the deadline.</a:t>
            </a:r>
          </a:p>
          <a:p>
            <a:pPr algn="l" marL="410084" indent="-410084">
              <a:lnSpc>
                <a:spcPct val="104000"/>
              </a:lnSpc>
              <a:spcBef>
                <a:spcPts val="0"/>
              </a:spcBef>
              <a:spcAft>
                <a:spcPts val="594"/>
              </a:spcAft>
            </a:pPr>
            <a:r>
              <a:rPr sz="1700" b="1">
                <a:solidFill>
                  <a:srgbClr val="1F618D"/>
                </a:solidFill>
                <a:latin typeface="Segoe UI"/>
              </a:rPr>
              <a:t>2.	</a:t>
            </a:r>
            <a:r>
              <a:rPr sz="1700" b="0" i="0">
                <a:solidFill>
                  <a:srgbClr val="1C252B"/>
                </a:solidFill>
                <a:latin typeface="Segoe UI"/>
              </a:rPr>
              <a:t>It is often what happens. For searching an absent key, or any algorithm that must examine everything to be sure, the worst case is the typical case.</a:t>
            </a:r>
          </a:p>
          <a:p>
            <a:pPr algn="l" marL="410084" indent="-410084">
              <a:lnSpc>
                <a:spcPct val="104000"/>
              </a:lnSpc>
              <a:spcBef>
                <a:spcPts val="0"/>
              </a:spcBef>
              <a:spcAft>
                <a:spcPts val="0"/>
              </a:spcAft>
            </a:pPr>
            <a:r>
              <a:rPr sz="1700" b="1">
                <a:solidFill>
                  <a:srgbClr val="1F618D"/>
                </a:solidFill>
                <a:latin typeface="Segoe UI"/>
              </a:rPr>
              <a:t>3.	</a:t>
            </a:r>
            <a:r>
              <a:rPr sz="1700" b="0" i="0">
                <a:solidFill>
                  <a:srgbClr val="1C252B"/>
                </a:solidFill>
                <a:latin typeface="Segoe UI"/>
              </a:rPr>
              <a:t>It is frequently the same order as the average anyway — insertion sort above, where the factor between them is two.</a:t>
            </a:r>
          </a:p>
        </p:txBody>
      </p:sp>
      <p:sp>
        <p:nvSpPr>
          <p:cNvPr id="11" name="body-2"/>
          <p:cNvSpPr txBox="1"/>
          <p:nvPr/>
        </p:nvSpPr>
        <p:spPr>
          <a:xfrm>
            <a:off x="1060704" y="4322978"/>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Report the best case almost never.</a:t>
            </a:r>
            <a:r>
              <a:rPr sz="1700" b="0" i="0">
                <a:solidFill>
                  <a:srgbClr val="1C252B"/>
                </a:solidFill>
                <a:latin typeface="Segoe UI"/>
              </a:rPr>
              <a:t> “This sort is </a:t>
            </a:r>
            <a:r>
              <a:rPr sz="1700" b="0" i="0">
                <a:solidFill>
                  <a:srgbClr val="1C252B"/>
                </a:solidFill>
                <a:latin typeface="Cambria"/>
              </a:rPr>
              <a:t>O(</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with the best case quietly intended is the most common dishonest sentence in the subject.</a:t>
            </a:r>
          </a:p>
        </p:txBody>
      </p:sp>
      <p:sp>
        <p:nvSpPr>
          <p:cNvPr id="12" name="body-3"/>
          <p:cNvSpPr txBox="1"/>
          <p:nvPr/>
        </p:nvSpPr>
        <p:spPr>
          <a:xfrm>
            <a:off x="1060704" y="4980609"/>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Report the average case when the worst case is both rare and pessimistic</a:t>
            </a:r>
            <a:r>
              <a:rPr sz="1700" b="0" i="0">
                <a:solidFill>
                  <a:srgbClr val="1C252B"/>
                </a:solidFill>
                <a:latin typeface="Segoe UI"/>
              </a:rPr>
              <a:t>, as with quicksort (Chapter 9) and hashing (Chapter 13) — and then state the distribution, because in both of those chapters there is an input that makes the worst case happen on purpose.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Expected Running Time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264B0FCF-05C0-4918-BA66-EE7A4246C9E9}"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73559"/>
          </a:xfrm>
          <a:prstGeom prst="roundRect">
            <a:avLst>
              <a:gd name="adj" fmla="val 402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7355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randomised algorithm</a:t>
            </a:r>
            <a:r>
              <a:rPr sz="2300" b="0" i="0">
                <a:solidFill>
                  <a:srgbClr val="1C252B"/>
                </a:solidFill>
                <a:latin typeface="Segoe UI"/>
              </a:rPr>
              <a:t> makes random choices of its own. Its </a:t>
            </a:r>
            <a:r>
              <a:rPr sz="2300" b="1" i="0">
                <a:solidFill>
                  <a:srgbClr val="1A5276"/>
                </a:solidFill>
                <a:latin typeface="Segoe UI"/>
              </a:rPr>
              <a:t>expected running time</a:t>
            </a:r>
            <a:r>
              <a:rPr sz="2300" b="0" i="0">
                <a:solidFill>
                  <a:srgbClr val="1C252B"/>
                </a:solidFill>
                <a:latin typeface="Segoe UI"/>
              </a:rPr>
              <a:t> on an input </a:t>
            </a:r>
            <a:r>
              <a:rPr sz="2300" b="0" i="1">
                <a:solidFill>
                  <a:srgbClr val="1C252B"/>
                </a:solidFill>
                <a:latin typeface="Cambria"/>
              </a:rPr>
              <a:t>x</a:t>
            </a:r>
            <a:r>
              <a:rPr sz="2300" b="0" i="0">
                <a:solidFill>
                  <a:srgbClr val="1C252B"/>
                </a:solidFill>
                <a:latin typeface="Segoe UI"/>
              </a:rPr>
              <a:t> is the average over </a:t>
            </a:r>
            <a:r>
              <a:rPr sz="2300" b="0" i="1">
                <a:solidFill>
                  <a:srgbClr val="1C252B"/>
                </a:solidFill>
                <a:latin typeface="Segoe UI"/>
              </a:rPr>
              <a:t>those choices</a:t>
            </a:r>
            <a:r>
              <a:rPr sz="2300" b="0" i="0">
                <a:solidFill>
                  <a:srgbClr val="1C252B"/>
                </a:solidFill>
                <a:latin typeface="Segoe UI"/>
              </a:rPr>
              <a:t>, with </a:t>
            </a:r>
            <a:r>
              <a:rPr sz="2300" b="0" i="1">
                <a:solidFill>
                  <a:srgbClr val="1C252B"/>
                </a:solidFill>
                <a:latin typeface="Cambria"/>
              </a:rPr>
              <a:t>x</a:t>
            </a:r>
            <a:r>
              <a:rPr sz="2300" b="0" i="0">
                <a:solidFill>
                  <a:srgbClr val="1C252B"/>
                </a:solidFill>
                <a:latin typeface="Segoe UI"/>
              </a:rPr>
              <a:t> held fixed:</a:t>
            </a:r>
          </a:p>
        </p:txBody>
      </p:sp>
      <p:pic>
        <p:nvPicPr>
          <p:cNvPr id="10" name="body-1" descr="\mathbb{E}\bigl[T(x)\bigr], \qquad \text{expectation over the algorithm's coin fli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397489"/>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different averages, and the difference is the whole trick</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091AD061-018B-4EE2-A649-E29DE3D9CF9A}"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3578"/>
          </a:xfrm>
          <a:prstGeom prst="roundRect">
            <a:avLst>
              <a:gd name="adj" fmla="val 215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357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Average-case analysis</a:t>
            </a:r>
            <a:r>
              <a:rPr sz="2100" b="0" i="0">
                <a:solidFill>
                  <a:srgbClr val="1C252B"/>
                </a:solidFill>
                <a:latin typeface="Segoe UI"/>
              </a:rPr>
              <a:t> averages over inputs. You must assume a distribution on the input, and an adversary who knows your algorithm can choose an input outside it.</a:t>
            </a:r>
          </a:p>
        </p:txBody>
      </p:sp>
      <p:sp>
        <p:nvSpPr>
          <p:cNvPr id="10" name="body-1"/>
          <p:cNvSpPr txBox="1"/>
          <p:nvPr/>
        </p:nvSpPr>
        <p:spPr>
          <a:xfrm>
            <a:off x="1060704" y="2860624"/>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Expected-time analysis</a:t>
            </a:r>
            <a:r>
              <a:rPr sz="2100" b="0" i="0">
                <a:solidFill>
                  <a:srgbClr val="1C252B"/>
                </a:solidFill>
                <a:latin typeface="Segoe UI"/>
              </a:rPr>
              <a:t> of a randomised algorithm averages over the algorithm’s own coins, </a:t>
            </a:r>
            <a:r>
              <a:rPr sz="2100" b="0" i="1">
                <a:solidFill>
                  <a:srgbClr val="1C252B"/>
                </a:solidFill>
                <a:latin typeface="Segoe UI"/>
              </a:rPr>
              <a:t>for every input</a:t>
            </a:r>
            <a:r>
              <a:rPr sz="2100" b="0" i="0">
                <a:solidFill>
                  <a:srgbClr val="1C252B"/>
                </a:solidFill>
                <a:latin typeface="Segoe UI"/>
              </a:rPr>
              <a:t>. There is no assumption about the data at all. An adversary who knows your code still cannot pick a bad input, because he does not know your coins.</a:t>
            </a:r>
          </a:p>
        </p:txBody>
      </p:sp>
      <p:sp>
        <p:nvSpPr>
          <p:cNvPr id="11" name="body-2"/>
          <p:cNvSpPr txBox="1"/>
          <p:nvPr/>
        </p:nvSpPr>
        <p:spPr>
          <a:xfrm>
            <a:off x="1060704" y="433867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That is why Chapter 9 randomises: it converts an assumption about the world, which can be violated, into an assumption about a random number generator, which cannot. The bound goes from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 lg </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a:t>
            </a:r>
            <a:r>
              <a:rPr sz="2100" b="0" i="1">
                <a:solidFill>
                  <a:srgbClr val="1C252B"/>
                </a:solidFill>
                <a:latin typeface="Segoe UI"/>
              </a:rPr>
              <a:t>if</a:t>
            </a:r>
            <a:r>
              <a:rPr sz="2100" b="0" i="0">
                <a:solidFill>
                  <a:srgbClr val="1C252B"/>
                </a:solidFill>
                <a:latin typeface="Segoe UI"/>
              </a:rPr>
              <a:t> your data is unsorted” to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 lg </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expected, on </a:t>
            </a:r>
            <a:r>
              <a:rPr sz="2100" b="0" i="1">
                <a:solidFill>
                  <a:srgbClr val="1C252B"/>
                </a:solidFill>
                <a:latin typeface="Segoe UI"/>
              </a:rPr>
              <a:t>every</a:t>
            </a:r>
            <a:r>
              <a:rPr sz="2100" b="0" i="0">
                <a:solidFill>
                  <a:srgbClr val="1C252B"/>
                </a:solidFill>
                <a:latin typeface="Segoe UI"/>
              </a:rPr>
              <a:t> input”.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3628E30D-F561-4EF9-8692-00C1C0E7340F}" type="slidenum">
              <a:rPr lang="en-GB" sz="1000">
                <a:solidFill>
                  <a:srgbClr val="8795A1"/>
                </a:solidFill>
                <a:latin typeface="Segoe UI"/>
              </a:rPr>
              <a:t>25</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Quoting one case and meaning another.</a:t>
            </a:r>
            <a:r>
              <a:rPr sz="1700" b="0" i="0">
                <a:solidFill>
                  <a:srgbClr val="1C252B"/>
                </a:solidFill>
                <a:latin typeface="Segoe UI"/>
              </a:rPr>
              <a:t> Always name it: “linear search is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in the worst case and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on average” is a real statement; “linear search is </a:t>
            </a:r>
            <a:r>
              <a:rPr sz="1700" b="0" i="0">
                <a:solidFill>
                  <a:srgbClr val="1C252B"/>
                </a:solidFill>
                <a:latin typeface="Cambria"/>
              </a:rPr>
              <a:t>O(</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is a weaker one that people read as the worst case, correctly.</a:t>
            </a:r>
          </a:p>
        </p:txBody>
      </p:sp>
      <p:sp>
        <p:nvSpPr>
          <p:cNvPr id="10" name="!!pb1">
            <a:extLst>
              <a:ext uri="{C183D7F6-B498-43B3-948B-1728B52AA6E4}">
                <adec:decorative xmlns:adec="http://schemas.microsoft.com/office/drawing/2017/decorative" val="1"/>
              </a:ext>
            </a:extLst>
          </p:cNvPr>
          <p:cNvSpPr/>
          <p:nvPr/>
        </p:nvSpPr>
        <p:spPr>
          <a:xfrm>
            <a:off x="658368" y="276514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78800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4685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Measuring the size of a number by its value.</a:t>
            </a:r>
            <a:r>
              <a:rPr sz="1700" b="0" i="0">
                <a:solidFill>
                  <a:srgbClr val="1C252B"/>
                </a:solidFill>
                <a:latin typeface="Segoe UI"/>
              </a:rPr>
              <a:t> Then trial division looks linear, and the table in Section 2.1 looks impossible.</a:t>
            </a:r>
          </a:p>
        </p:txBody>
      </p:sp>
      <p:sp>
        <p:nvSpPr>
          <p:cNvPr id="13" name="!!pb2">
            <a:extLst>
              <a:ext uri="{C183D7F6-B498-43B3-948B-1728B52AA6E4}">
                <adec:decorative xmlns:adec="http://schemas.microsoft.com/office/drawing/2017/decorative" val="1"/>
              </a:ext>
            </a:extLst>
          </p:cNvPr>
          <p:cNvSpPr/>
          <p:nvPr/>
        </p:nvSpPr>
        <p:spPr>
          <a:xfrm>
            <a:off x="658368" y="35051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280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8691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Quoting a graph bound in one parameter.</a:t>
            </a:r>
            <a:r>
              <a:rPr sz="1700" b="0" i="0">
                <a:solidFill>
                  <a:srgbClr val="1C252B"/>
                </a:solidFill>
                <a:latin typeface="Segoe UI"/>
              </a:rPr>
              <a:t> </a:t>
            </a:r>
            <a:r>
              <a:rPr sz="1700" b="0" i="0">
                <a:solidFill>
                  <a:srgbClr val="1C252B"/>
                </a:solidFill>
                <a:latin typeface="Cambria"/>
              </a:rPr>
              <a:t>O(|</a:t>
            </a:r>
            <a:r>
              <a:rPr sz="1700" b="0" i="1">
                <a:solidFill>
                  <a:srgbClr val="1C252B"/>
                </a:solidFill>
                <a:latin typeface="Cambria"/>
              </a:rPr>
              <a:t>V</a:t>
            </a:r>
            <a:r>
              <a:rPr sz="1700" b="0" i="0">
                <a:solidFill>
                  <a:srgbClr val="1C252B"/>
                </a:solidFill>
                <a:latin typeface="Cambria"/>
              </a:rPr>
              <a:t>|</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hides whether you have exploited sparsity; </a:t>
            </a:r>
            <a:r>
              <a:rPr sz="1700" b="0" i="0">
                <a:solidFill>
                  <a:srgbClr val="1C252B"/>
                </a:solidFill>
                <a:latin typeface="Cambria"/>
              </a:rPr>
              <a:t>O(|</a:t>
            </a:r>
            <a:r>
              <a:rPr sz="1700" b="0" i="1">
                <a:solidFill>
                  <a:srgbClr val="1C252B"/>
                </a:solidFill>
                <a:latin typeface="Cambria"/>
              </a:rPr>
              <a:t>V</a:t>
            </a:r>
            <a:r>
              <a:rPr sz="1700" b="0" i="0">
                <a:solidFill>
                  <a:srgbClr val="1C252B"/>
                </a:solidFill>
                <a:latin typeface="Cambria"/>
              </a:rPr>
              <a:t>| + |</a:t>
            </a:r>
            <a:r>
              <a:rPr sz="1700" b="0" i="1">
                <a:solidFill>
                  <a:srgbClr val="1C252B"/>
                </a:solidFill>
                <a:latin typeface="Cambria"/>
              </a:rPr>
              <a:t>E</a:t>
            </a:r>
            <a:r>
              <a:rPr sz="1700" b="0" i="0">
                <a:solidFill>
                  <a:srgbClr val="1C252B"/>
                </a:solidFill>
                <a:latin typeface="Cambria"/>
              </a:rPr>
              <a:t>|)</a:t>
            </a:r>
            <a:r>
              <a:rPr sz="1700" b="0" i="0">
                <a:solidFill>
                  <a:srgbClr val="1C252B"/>
                </a:solidFill>
                <a:latin typeface="Segoe UI"/>
              </a:rPr>
              <a:t> says you have.</a:t>
            </a:r>
          </a:p>
        </p:txBody>
      </p:sp>
      <p:sp>
        <p:nvSpPr>
          <p:cNvPr id="16" name="!!pb3">
            <a:extLst>
              <a:ext uri="{C183D7F6-B498-43B3-948B-1728B52AA6E4}">
                <adec:decorative xmlns:adec="http://schemas.microsoft.com/office/drawing/2017/decorative" val="1"/>
              </a:ext>
            </a:extLst>
          </p:cNvPr>
          <p:cNvSpPr/>
          <p:nvPr/>
        </p:nvSpPr>
        <p:spPr>
          <a:xfrm>
            <a:off x="658368" y="424525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26811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22696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the average case without saying so.</a:t>
            </a:r>
            <a:r>
              <a:rPr sz="1700" b="0" i="0">
                <a:solidFill>
                  <a:srgbClr val="1C252B"/>
                </a:solidFill>
                <a:latin typeface="Segoe UI"/>
              </a:rPr>
              <a:t> Especially for sorting, where real inputs are very often partly sorted and the uniform permutation assumption is simply false.</a:t>
            </a:r>
          </a:p>
        </p:txBody>
      </p:sp>
      <p:sp>
        <p:nvSpPr>
          <p:cNvPr id="19" name="!!pb4">
            <a:extLst>
              <a:ext uri="{C183D7F6-B498-43B3-948B-1728B52AA6E4}">
                <adec:decorative xmlns:adec="http://schemas.microsoft.com/office/drawing/2017/decorative" val="1"/>
              </a:ext>
            </a:extLst>
          </p:cNvPr>
          <p:cNvSpPr/>
          <p:nvPr/>
        </p:nvSpPr>
        <p:spPr>
          <a:xfrm>
            <a:off x="658368" y="49853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0081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6702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Thinking the best case tells you the algorithm is fast.</a:t>
            </a:r>
            <a:r>
              <a:rPr sz="1700" b="0" i="0">
                <a:solidFill>
                  <a:srgbClr val="1C252B"/>
                </a:solidFill>
                <a:latin typeface="Segoe UI"/>
              </a:rPr>
              <a:t> Insertion sort’s best case is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and it is still a quadratic sort.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8F3FD26A-EAC6-46E8-AF05-E4D9F2449255}"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“average case” with “expected time”.</a:t>
            </a:r>
            <a:r>
              <a:rPr sz="1700" b="0" i="0">
                <a:solidFill>
                  <a:srgbClr val="1C252B"/>
                </a:solidFill>
                <a:latin typeface="Segoe UI"/>
              </a:rPr>
              <a:t> The first assumes something about the data; the second assumes nothing. The second is much stronger and is almost always what a randomised algorithm’s bound means.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Three Shapes, and the Cost of a Bit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AF2315CC-397A-4A54-B5EF-96BC9CAF4843}" type="slidenum">
              <a:rPr lang="en-GB" sz="1000">
                <a:solidFill>
                  <a:srgbClr val="8795A1"/>
                </a:solidFill>
                <a:latin typeface="Segoe UI"/>
              </a:rPr>
              <a:t>27</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both tables in this chapter. Expect twenty-five minutes — part B takes about two minutes of CPU on its own.</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Three shapes of input, all of the same size</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Trial division, whose cost is governed by sqrt(N)</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The same algorithm, three orders of growth</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Why the size of a number is its number of bits</a:t>
            </a:r>
          </a:p>
        </p:txBody>
      </p:sp>
      <p:sp>
        <p:nvSpPr>
          <p:cNvPr id="2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Week 1: Growth measured: the ratio test, and the crossover at n ≈ 65</a:t>
            </a:r>
          </a:p>
        </p:txBody>
      </p:sp>
      <p:sp>
        <p:nvSpPr>
          <p:cNvPr id="2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56 lines of C++</a:t>
            </a:r>
          </a:p>
        </p:txBody>
      </p:sp>
      <p:sp>
        <p:nvSpPr>
          <p:cNvPr id="3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code/ch02_cases.cpp</a:t>
            </a:r>
          </a:p>
        </p:txBody>
      </p:sp>
      <p:sp>
        <p:nvSpPr>
          <p:cNvPr id="3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Shapes, and the Cost of a Bit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C77E8EF4-FC25-436B-96D7-2C8EA6A6392C}"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Three shapes of input, all of the same size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code/ch02_cases.cpp</a:t>
            </a:r>
          </a:p>
        </p:txBody>
      </p:sp>
      <p:sp>
        <p:nvSpPr>
          <p:cNvPr id="14" name="!!code-text" descr="// ch02_cases.cpp -- the nature of the input, and the size of the input. // Build: cl /O2 /EHsc /std:c++17 ch02_cases.cpp (see Appendix A) // --- 1. Three shapes of input, all of the same size ----------------- // Best case: already sorted, so the inner while never executes. // Worst case: reversed, so it runs to the front every time. // Average: a random permutation, which moves each element about half // way -- and half of a quadratic is still a quadratic. static std::vector&lt;int&gt; sorted_input(size_t n) { std::vector&lt;int&gt; a(n); std::iota(a.begin(), a.end(), 0); return a; } static std::vector&lt;int&gt; reversed_input(size_t n) { std::vector&lt;int&gt; a = sorted_input(n); std::reverse(a.begin(), a.end()); return a; }"/>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ch02_cases.cpp -- the nature of the input, and the size of the input.</a:t>
            </a:r>
          </a:p>
          <a:p>
            <a:pPr>
              <a:lnSpc>
                <a:spcPct val="100000"/>
              </a:lnSpc>
              <a:spcAft>
                <a:spcPts val="0"/>
              </a:spcAft>
            </a:pPr>
            <a:r>
              <a:rPr sz="1300" i="1">
                <a:solidFill>
                  <a:srgbClr val="8795A1"/>
                </a:solidFill>
                <a:latin typeface="Consolas"/>
              </a:rPr>
              <a:t>// Build: cl /O2 /EHsc /std:c++17 ch02_cases.cpp      (see Appendix A)</a:t>
            </a:r>
          </a:p>
          <a:p>
            <a:pPr>
              <a:lnSpc>
                <a:spcPct val="100000"/>
              </a:lnSpc>
              <a:spcAft>
                <a:spcPts val="0"/>
              </a:spcAft>
            </a:pPr>
            <a:r>
              <a:rPr sz="1300">
                <a:latin typeface="Consolas"/>
              </a:rPr>
              <a:t> </a:t>
            </a:r>
          </a:p>
          <a:p>
            <a:pPr>
              <a:lnSpc>
                <a:spcPct val="100000"/>
              </a:lnSpc>
              <a:spcAft>
                <a:spcPts val="0"/>
              </a:spcAft>
            </a:pPr>
            <a:r>
              <a:rPr sz="1300" i="1">
                <a:solidFill>
                  <a:srgbClr val="8795A1"/>
                </a:solidFill>
                <a:latin typeface="Consolas"/>
              </a:rPr>
              <a:t>// --- 1. Three shapes of input, all of the same size -----------------</a:t>
            </a:r>
          </a:p>
          <a:p>
            <a:pPr>
              <a:lnSpc>
                <a:spcPct val="100000"/>
              </a:lnSpc>
              <a:spcAft>
                <a:spcPts val="0"/>
              </a:spcAft>
            </a:pPr>
            <a:r>
              <a:rPr sz="1300" i="1">
                <a:solidFill>
                  <a:srgbClr val="8795A1"/>
                </a:solidFill>
                <a:latin typeface="Consolas"/>
              </a:rPr>
              <a:t>// Best case: already sorted, so the inner while never executes.</a:t>
            </a:r>
          </a:p>
          <a:p>
            <a:pPr>
              <a:lnSpc>
                <a:spcPct val="100000"/>
              </a:lnSpc>
              <a:spcAft>
                <a:spcPts val="0"/>
              </a:spcAft>
            </a:pPr>
            <a:r>
              <a:rPr sz="1300" i="1">
                <a:solidFill>
                  <a:srgbClr val="8795A1"/>
                </a:solidFill>
                <a:latin typeface="Consolas"/>
              </a:rPr>
              <a:t>// Worst case: reversed, so it runs to the front every time.</a:t>
            </a:r>
          </a:p>
          <a:p>
            <a:pPr>
              <a:lnSpc>
                <a:spcPct val="100000"/>
              </a:lnSpc>
              <a:spcAft>
                <a:spcPts val="0"/>
              </a:spcAft>
            </a:pPr>
            <a:r>
              <a:rPr sz="1300" i="1">
                <a:solidFill>
                  <a:srgbClr val="8795A1"/>
                </a:solidFill>
                <a:latin typeface="Consolas"/>
              </a:rPr>
              <a:t>// Average: a random permutation, which moves each element about half</a:t>
            </a:r>
          </a:p>
          <a:p>
            <a:pPr>
              <a:lnSpc>
                <a:spcPct val="100000"/>
              </a:lnSpc>
              <a:spcAft>
                <a:spcPts val="0"/>
              </a:spcAft>
            </a:pPr>
            <a:r>
              <a:rPr sz="1300" i="1">
                <a:solidFill>
                  <a:srgbClr val="8795A1"/>
                </a:solidFill>
                <a:latin typeface="Consolas"/>
              </a:rPr>
              <a:t>// way -- and half of a quadratic is still a quadratic.</a:t>
            </a:r>
          </a:p>
          <a:p>
            <a:pPr>
              <a:lnSpc>
                <a:spcPct val="100000"/>
              </a:lnSpc>
              <a:spcAft>
                <a:spcPts val="0"/>
              </a:spcAft>
            </a:pPr>
            <a:r>
              <a:rPr sz="1300" i="0">
                <a:solidFill>
                  <a:srgbClr val="5DADE2"/>
                </a:solidFill>
                <a:latin typeface="Consolas"/>
              </a:rPr>
              <a:t>static</a:t>
            </a:r>
            <a:r>
              <a:rPr sz="1300" i="0">
                <a:solidFill>
                  <a:srgbClr val="E8EDF2"/>
                </a:solidFill>
                <a:latin typeface="Consolas"/>
              </a:rPr>
              <a:t> </a:t>
            </a:r>
            <a:r>
              <a:rPr sz="1300" i="0">
                <a:solidFill>
                  <a:srgbClr val="E8EDF2"/>
                </a:solidFill>
                <a:latin typeface="Consolas"/>
              </a:rPr>
              <a:t>std</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vector</a:t>
            </a:r>
            <a:r>
              <a:rPr sz="1300" i="0">
                <a:solidFill>
                  <a:srgbClr val="AEB6BF"/>
                </a:solidFill>
                <a:latin typeface="Consolas"/>
              </a:rPr>
              <a:t>&lt;</a:t>
            </a:r>
            <a:r>
              <a:rPr sz="1300" i="0">
                <a:solidFill>
                  <a:srgbClr val="5DADE2"/>
                </a:solidFill>
                <a:latin typeface="Consolas"/>
              </a:rPr>
              <a:t>int</a:t>
            </a:r>
            <a:r>
              <a:rPr sz="1300" i="0">
                <a:solidFill>
                  <a:srgbClr val="AEB6BF"/>
                </a:solidFill>
                <a:latin typeface="Consolas"/>
              </a:rPr>
              <a:t>&gt;</a:t>
            </a:r>
            <a:r>
              <a:rPr sz="1300" i="0">
                <a:solidFill>
                  <a:srgbClr val="E8EDF2"/>
                </a:solidFill>
                <a:latin typeface="Consolas"/>
              </a:rPr>
              <a:t> </a:t>
            </a:r>
            <a:r>
              <a:rPr sz="1300" i="0">
                <a:solidFill>
                  <a:srgbClr val="E8EDF2"/>
                </a:solidFill>
                <a:latin typeface="Consolas"/>
              </a:rPr>
              <a:t>sorted_input</a:t>
            </a:r>
            <a:r>
              <a:rPr sz="1300" i="0">
                <a:solidFill>
                  <a:srgbClr val="AEB6BF"/>
                </a:solidFill>
                <a:latin typeface="Consolas"/>
              </a:rPr>
              <a:t>(</a:t>
            </a:r>
            <a:r>
              <a:rPr sz="1300" i="0">
                <a:solidFill>
                  <a:srgbClr val="5DADE2"/>
                </a:solidFill>
                <a:latin typeface="Consolas"/>
              </a:rPr>
              <a:t>size_t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std</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vector</a:t>
            </a:r>
            <a:r>
              <a:rPr sz="1300" i="0">
                <a:solidFill>
                  <a:srgbClr val="AEB6BF"/>
                </a:solidFill>
                <a:latin typeface="Consolas"/>
              </a:rPr>
              <a:t>&lt;</a:t>
            </a:r>
            <a:r>
              <a:rPr sz="1300" i="0">
                <a:solidFill>
                  <a:srgbClr val="5DADE2"/>
                </a:solidFill>
                <a:latin typeface="Consolas"/>
              </a:rPr>
              <a:t>int</a:t>
            </a:r>
            <a:r>
              <a:rPr sz="1300" i="0">
                <a:solidFill>
                  <a:srgbClr val="AEB6BF"/>
                </a:solidFill>
                <a:latin typeface="Consolas"/>
              </a:rPr>
              <a:t>&gt;</a:t>
            </a:r>
            <a:r>
              <a:rPr sz="1300" i="0">
                <a:solidFill>
                  <a:srgbClr val="E8EDF2"/>
                </a:solidFill>
                <a:latin typeface="Consolas"/>
              </a:rPr>
              <a:t> </a:t>
            </a:r>
            <a:r>
              <a:rPr sz="1300" i="0">
                <a:solidFill>
                  <a:srgbClr val="E8EDF2"/>
                </a:solidFill>
                <a:latin typeface="Consolas"/>
              </a:rPr>
              <a:t>a</a:t>
            </a:r>
            <a:r>
              <a:rPr sz="1300" i="0">
                <a:solidFill>
                  <a:srgbClr val="AEB6BF"/>
                </a:solidFill>
                <a:latin typeface="Consolas"/>
              </a:rPr>
              <a:t>(</a:t>
            </a:r>
            <a:r>
              <a:rPr sz="1300" i="0">
                <a:solidFill>
                  <a:srgbClr val="E8EDF2"/>
                </a:solidFill>
                <a:latin typeface="Consolas"/>
              </a:rPr>
              <a:t>n</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std</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iota</a:t>
            </a:r>
            <a:r>
              <a:rPr sz="1300" i="0">
                <a:solidFill>
                  <a:srgbClr val="AEB6BF"/>
                </a:solidFill>
                <a:latin typeface="Consolas"/>
              </a:rPr>
              <a:t>(</a:t>
            </a:r>
            <a:r>
              <a:rPr sz="1300" i="0">
                <a:solidFill>
                  <a:srgbClr val="E8EDF2"/>
                </a:solidFill>
                <a:latin typeface="Consolas"/>
              </a:rPr>
              <a:t>a</a:t>
            </a:r>
            <a:r>
              <a:rPr sz="1300" i="0">
                <a:solidFill>
                  <a:srgbClr val="AEB6BF"/>
                </a:solidFill>
                <a:latin typeface="Consolas"/>
              </a:rPr>
              <a:t>.</a:t>
            </a:r>
            <a:r>
              <a:rPr sz="1300" i="0">
                <a:solidFill>
                  <a:srgbClr val="E8EDF2"/>
                </a:solidFill>
                <a:latin typeface="Consolas"/>
              </a:rPr>
              <a:t>begin</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a:t>
            </a:r>
            <a:r>
              <a:rPr sz="1300" i="0">
                <a:solidFill>
                  <a:srgbClr val="AEB6BF"/>
                </a:solidFill>
                <a:latin typeface="Consolas"/>
              </a:rPr>
              <a:t>.</a:t>
            </a:r>
            <a:r>
              <a:rPr sz="1300" i="0">
                <a:solidFill>
                  <a:srgbClr val="E8EDF2"/>
                </a:solidFill>
                <a:latin typeface="Consolas"/>
              </a:rPr>
              <a:t>end</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a</a:t>
            </a:r>
            <a:r>
              <a:rPr sz="1300" i="0">
                <a:solidFill>
                  <a:srgbClr val="AEB6BF"/>
                </a:solidFill>
                <a:latin typeface="Consolas"/>
              </a:rPr>
              <a:t>;</a:t>
            </a:r>
          </a:p>
          <a:p>
            <a:pPr>
              <a:lnSpc>
                <a:spcPct val="100000"/>
              </a:lnSpc>
              <a:spcAft>
                <a:spcPts val="0"/>
              </a:spcAft>
            </a:pPr>
            <a:r>
              <a:rPr sz="1300" i="0">
                <a:solidFill>
                  <a:srgbClr val="AEB6BF"/>
                </a:solidFill>
                <a:latin typeface="Consolas"/>
              </a:rPr>
              <a:t>}</a:t>
            </a:r>
          </a:p>
          <a:p>
            <a:pPr>
              <a:lnSpc>
                <a:spcPct val="100000"/>
              </a:lnSpc>
              <a:spcAft>
                <a:spcPts val="0"/>
              </a:spcAft>
            </a:pPr>
            <a:r>
              <a:rPr sz="1300" i="0">
                <a:solidFill>
                  <a:srgbClr val="5DADE2"/>
                </a:solidFill>
                <a:latin typeface="Consolas"/>
              </a:rPr>
              <a:t>static</a:t>
            </a:r>
            <a:r>
              <a:rPr sz="1300" i="0">
                <a:solidFill>
                  <a:srgbClr val="E8EDF2"/>
                </a:solidFill>
                <a:latin typeface="Consolas"/>
              </a:rPr>
              <a:t> </a:t>
            </a:r>
            <a:r>
              <a:rPr sz="1300" i="0">
                <a:solidFill>
                  <a:srgbClr val="E8EDF2"/>
                </a:solidFill>
                <a:latin typeface="Consolas"/>
              </a:rPr>
              <a:t>std</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vector</a:t>
            </a:r>
            <a:r>
              <a:rPr sz="1300" i="0">
                <a:solidFill>
                  <a:srgbClr val="AEB6BF"/>
                </a:solidFill>
                <a:latin typeface="Consolas"/>
              </a:rPr>
              <a:t>&lt;</a:t>
            </a:r>
            <a:r>
              <a:rPr sz="1300" i="0">
                <a:solidFill>
                  <a:srgbClr val="5DADE2"/>
                </a:solidFill>
                <a:latin typeface="Consolas"/>
              </a:rPr>
              <a:t>int</a:t>
            </a:r>
            <a:r>
              <a:rPr sz="1300" i="0">
                <a:solidFill>
                  <a:srgbClr val="AEB6BF"/>
                </a:solidFill>
                <a:latin typeface="Consolas"/>
              </a:rPr>
              <a:t>&gt;</a:t>
            </a:r>
            <a:r>
              <a:rPr sz="1300" i="0">
                <a:solidFill>
                  <a:srgbClr val="E8EDF2"/>
                </a:solidFill>
                <a:latin typeface="Consolas"/>
              </a:rPr>
              <a:t> </a:t>
            </a:r>
            <a:r>
              <a:rPr sz="1300" i="0">
                <a:solidFill>
                  <a:srgbClr val="E8EDF2"/>
                </a:solidFill>
                <a:latin typeface="Consolas"/>
              </a:rPr>
              <a:t>reversed_input</a:t>
            </a:r>
            <a:r>
              <a:rPr sz="1300" i="0">
                <a:solidFill>
                  <a:srgbClr val="AEB6BF"/>
                </a:solidFill>
                <a:latin typeface="Consolas"/>
              </a:rPr>
              <a:t>(</a:t>
            </a:r>
            <a:r>
              <a:rPr sz="1300" i="0">
                <a:solidFill>
                  <a:srgbClr val="5DADE2"/>
                </a:solidFill>
                <a:latin typeface="Consolas"/>
              </a:rPr>
              <a:t>size_t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std</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vector</a:t>
            </a:r>
            <a:r>
              <a:rPr sz="1300" i="0">
                <a:solidFill>
                  <a:srgbClr val="AEB6BF"/>
                </a:solidFill>
                <a:latin typeface="Consolas"/>
              </a:rPr>
              <a:t>&lt;</a:t>
            </a:r>
            <a:r>
              <a:rPr sz="1300" i="0">
                <a:solidFill>
                  <a:srgbClr val="5DADE2"/>
                </a:solidFill>
                <a:latin typeface="Consolas"/>
              </a:rPr>
              <a:t>int</a:t>
            </a:r>
            <a:r>
              <a:rPr sz="1300" i="0">
                <a:solidFill>
                  <a:srgbClr val="AEB6BF"/>
                </a:solidFill>
                <a:latin typeface="Consolas"/>
              </a:rPr>
              <a:t>&gt;</a:t>
            </a:r>
            <a:r>
              <a:rPr sz="1300" i="0">
                <a:solidFill>
                  <a:srgbClr val="E8EDF2"/>
                </a:solidFill>
                <a:latin typeface="Consolas"/>
              </a:rPr>
              <a:t> </a:t>
            </a:r>
            <a:r>
              <a:rPr sz="1300" i="0">
                <a:solidFill>
                  <a:srgbClr val="E8EDF2"/>
                </a:solidFill>
                <a:latin typeface="Consolas"/>
              </a:rPr>
              <a:t>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sorted_input</a:t>
            </a:r>
            <a:r>
              <a:rPr sz="1300" i="0">
                <a:solidFill>
                  <a:srgbClr val="AEB6BF"/>
                </a:solidFill>
                <a:latin typeface="Consolas"/>
              </a:rPr>
              <a:t>(</a:t>
            </a:r>
            <a:r>
              <a:rPr sz="1300" i="0">
                <a:solidFill>
                  <a:srgbClr val="E8EDF2"/>
                </a:solidFill>
                <a:latin typeface="Consolas"/>
              </a:rPr>
              <a:t>n</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std</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reverse</a:t>
            </a:r>
            <a:r>
              <a:rPr sz="1300" i="0">
                <a:solidFill>
                  <a:srgbClr val="AEB6BF"/>
                </a:solidFill>
                <a:latin typeface="Consolas"/>
              </a:rPr>
              <a:t>(</a:t>
            </a:r>
            <a:r>
              <a:rPr sz="1300" i="0">
                <a:solidFill>
                  <a:srgbClr val="E8EDF2"/>
                </a:solidFill>
                <a:latin typeface="Consolas"/>
              </a:rPr>
              <a:t>a</a:t>
            </a:r>
            <a:r>
              <a:rPr sz="1300" i="0">
                <a:solidFill>
                  <a:srgbClr val="AEB6BF"/>
                </a:solidFill>
                <a:latin typeface="Consolas"/>
              </a:rPr>
              <a:t>.</a:t>
            </a:r>
            <a:r>
              <a:rPr sz="1300" i="0">
                <a:solidFill>
                  <a:srgbClr val="E8EDF2"/>
                </a:solidFill>
                <a:latin typeface="Consolas"/>
              </a:rPr>
              <a:t>begin</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a:t>
            </a:r>
            <a:r>
              <a:rPr sz="1300" i="0">
                <a:solidFill>
                  <a:srgbClr val="AEB6BF"/>
                </a:solidFill>
                <a:latin typeface="Consolas"/>
              </a:rPr>
              <a:t>.</a:t>
            </a:r>
            <a:r>
              <a:rPr sz="1300" i="0">
                <a:solidFill>
                  <a:srgbClr val="E8EDF2"/>
                </a:solidFill>
                <a:latin typeface="Consolas"/>
              </a:rPr>
              <a:t>end</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a</a:t>
            </a:r>
            <a:r>
              <a:rPr sz="1300" i="0">
                <a:solidFill>
                  <a:srgbClr val="AEB6BF"/>
                </a:solidFill>
                <a:latin typeface="Consolas"/>
              </a:rPr>
              <a:t>;</a:t>
            </a:r>
          </a:p>
          <a:p>
            <a:pPr>
              <a:lnSpc>
                <a:spcPct val="100000"/>
              </a:lnSpc>
              <a:spcAft>
                <a:spcPts val="0"/>
              </a:spcAft>
            </a:pPr>
            <a:r>
              <a:rPr sz="1300" i="0">
                <a:solidFill>
                  <a:srgbClr val="AEB6BF"/>
                </a:solidFill>
                <a:latin typeface="Consolas"/>
              </a:rPr>
              <a:t>}</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a:t>
            </a:r>
          </a:p>
          <a:p>
            <a:pPr algn="r">
              <a:lnSpc>
                <a:spcPct val="100000"/>
              </a:lnSpc>
            </a:pPr>
            <a:r>
              <a:rPr sz="1300">
                <a:solidFill>
                  <a:srgbClr val="4F5D6A"/>
                </a:solidFill>
                <a:latin typeface="Consolas"/>
              </a:rPr>
              <a:t>2</a:t>
            </a:r>
          </a:p>
          <a:p>
            <a:pPr algn="r">
              <a:lnSpc>
                <a:spcPct val="100000"/>
              </a:lnSpc>
            </a:pPr>
            <a:r>
              <a:rPr sz="1300">
                <a:solidFill>
                  <a:srgbClr val="4F5D6A"/>
                </a:solidFill>
                <a:latin typeface="Consolas"/>
              </a:rPr>
              <a:t>3</a:t>
            </a:r>
          </a:p>
          <a:p>
            <a:pPr algn="r">
              <a:lnSpc>
                <a:spcPct val="100000"/>
              </a:lnSpc>
            </a:pPr>
            <a:r>
              <a:rPr sz="1300">
                <a:solidFill>
                  <a:srgbClr val="4F5D6A"/>
                </a:solidFill>
                <a:latin typeface="Consolas"/>
              </a:rPr>
              <a:t>4</a:t>
            </a:r>
          </a:p>
          <a:p>
            <a:pPr algn="r">
              <a:lnSpc>
                <a:spcPct val="100000"/>
              </a:lnSpc>
            </a:pPr>
            <a:r>
              <a:rPr sz="1300">
                <a:solidFill>
                  <a:srgbClr val="4F5D6A"/>
                </a:solidFill>
                <a:latin typeface="Consolas"/>
              </a:rPr>
              <a:t>5</a:t>
            </a:r>
          </a:p>
          <a:p>
            <a:pPr algn="r">
              <a:lnSpc>
                <a:spcPct val="100000"/>
              </a:lnSpc>
            </a:pPr>
            <a:r>
              <a:rPr sz="1300">
                <a:solidFill>
                  <a:srgbClr val="4F5D6A"/>
                </a:solidFill>
                <a:latin typeface="Consolas"/>
              </a:rPr>
              <a:t>6</a:t>
            </a:r>
          </a:p>
          <a:p>
            <a:pPr algn="r">
              <a:lnSpc>
                <a:spcPct val="100000"/>
              </a:lnSpc>
            </a:pPr>
            <a:r>
              <a:rPr sz="1300">
                <a:solidFill>
                  <a:srgbClr val="4F5D6A"/>
                </a:solidFill>
                <a:latin typeface="Consolas"/>
              </a:rPr>
              <a:t>7</a:t>
            </a:r>
          </a:p>
          <a:p>
            <a:pPr algn="r">
              <a:lnSpc>
                <a:spcPct val="100000"/>
              </a:lnSpc>
            </a:pPr>
            <a:r>
              <a:rPr sz="1300">
                <a:solidFill>
                  <a:srgbClr val="4F5D6A"/>
                </a:solidFill>
                <a:latin typeface="Consolas"/>
              </a:rPr>
              <a:t>8</a:t>
            </a:r>
          </a:p>
          <a:p>
            <a:pPr algn="r">
              <a:lnSpc>
                <a:spcPct val="100000"/>
              </a:lnSpc>
            </a:pPr>
            <a:r>
              <a:rPr sz="1300">
                <a:solidFill>
                  <a:srgbClr val="4F5D6A"/>
                </a:solidFill>
                <a:latin typeface="Consolas"/>
              </a:rPr>
              <a:t>9</a:t>
            </a:r>
          </a:p>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Shapes, and the Cost of a Bit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0E33D452-89E2-44F5-A612-7F76EF53AABA}"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Trial division, whose cost is governed by sqrt(N)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code/ch02_cases.cpp</a:t>
            </a:r>
          </a:p>
        </p:txBody>
      </p:sp>
      <p:sp>
        <p:nvSpPr>
          <p:cNvPr id="14" name="!!code-text" descr="// --- 2. Trial division, whose cost is governed by sqrt(N) ----------- // The loop runs about sqrt(N)/2 times when n is prime, which is the // worst case for this algorithm -- so a prime is what we time. static bool is_prime_trial(uint64_t n) { if (n &lt; 2) return false; if (n % 2 == 0) return n == 2; for (uint64_t d = 3; d * d &lt;= n; d += 2) if (n % d == 0) return false; return true; }"/>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Trial division, whose cost is governed by sqrt(N) -----------</a:t>
            </a:r>
          </a:p>
          <a:p>
            <a:pPr>
              <a:lnSpc>
                <a:spcPct val="100000"/>
              </a:lnSpc>
              <a:spcAft>
                <a:spcPts val="0"/>
              </a:spcAft>
            </a:pPr>
            <a:r>
              <a:rPr sz="1900" i="1">
                <a:solidFill>
                  <a:srgbClr val="8795A1"/>
                </a:solidFill>
                <a:latin typeface="Consolas"/>
              </a:rPr>
              <a:t>// The loop runs about sqrt(N)/2 times when n is prime, which is the</a:t>
            </a:r>
          </a:p>
          <a:p>
            <a:pPr>
              <a:lnSpc>
                <a:spcPct val="100000"/>
              </a:lnSpc>
              <a:spcAft>
                <a:spcPts val="0"/>
              </a:spcAft>
            </a:pPr>
            <a:r>
              <a:rPr sz="1900" i="1">
                <a:solidFill>
                  <a:srgbClr val="8795A1"/>
                </a:solidFill>
                <a:latin typeface="Consolas"/>
              </a:rPr>
              <a:t>// worst case for this algorithm -- so a prime is what we time.</a:t>
            </a:r>
          </a:p>
          <a:p>
            <a:pPr>
              <a:lnSpc>
                <a:spcPct val="100000"/>
              </a:lnSpc>
              <a:spcAft>
                <a:spcPts val="0"/>
              </a:spcAft>
            </a:pPr>
            <a:r>
              <a:rPr sz="1900" i="0">
                <a:solidFill>
                  <a:srgbClr val="5DADE2"/>
                </a:solidFill>
                <a:latin typeface="Consolas"/>
              </a:rPr>
              <a:t>static</a:t>
            </a:r>
            <a:r>
              <a:rPr sz="1900" i="0">
                <a:solidFill>
                  <a:srgbClr val="E8EDF2"/>
                </a:solidFill>
                <a:latin typeface="Consolas"/>
              </a:rPr>
              <a:t> </a:t>
            </a:r>
            <a:r>
              <a:rPr sz="1900" i="0">
                <a:solidFill>
                  <a:srgbClr val="5DADE2"/>
                </a:solidFill>
                <a:latin typeface="Consolas"/>
              </a:rPr>
              <a:t>bool</a:t>
            </a:r>
            <a:r>
              <a:rPr sz="1900" i="0">
                <a:solidFill>
                  <a:srgbClr val="E8EDF2"/>
                </a:solidFill>
                <a:latin typeface="Consolas"/>
              </a:rPr>
              <a:t> </a:t>
            </a:r>
            <a:r>
              <a:rPr sz="1900" i="0">
                <a:solidFill>
                  <a:srgbClr val="C39BD3"/>
                </a:solidFill>
                <a:latin typeface="Consolas"/>
              </a:rPr>
              <a:t>is_prime_trial</a:t>
            </a:r>
            <a:r>
              <a:rPr sz="1900" i="0">
                <a:solidFill>
                  <a:srgbClr val="AEB6BF"/>
                </a:solidFill>
                <a:latin typeface="Consolas"/>
              </a:rPr>
              <a:t>(</a:t>
            </a:r>
            <a:r>
              <a:rPr sz="1900" i="0">
                <a:solidFill>
                  <a:srgbClr val="5DADE2"/>
                </a:solidFill>
                <a:latin typeface="Consolas"/>
              </a:rPr>
              <a:t>uint64_t</a:t>
            </a:r>
            <a:r>
              <a:rPr sz="1900" i="0">
                <a:solidFill>
                  <a:srgbClr val="E8EDF2"/>
                </a:solidFill>
                <a:latin typeface="Consolas"/>
              </a:rPr>
              <a:t> </a:t>
            </a:r>
            <a:r>
              <a:rPr sz="1900" i="0">
                <a:solidFill>
                  <a:srgbClr val="E8EDF2"/>
                </a:solidFill>
                <a:latin typeface="Consolas"/>
              </a:rPr>
              <a:t>n</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&lt;</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C39BD3"/>
                </a:solidFill>
                <a:latin typeface="Consolas"/>
              </a:rPr>
              <a:t>false</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uint64_t</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3</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C39BD3"/>
                </a:solidFill>
                <a:latin typeface="Consolas"/>
              </a:rPr>
              <a:t>false</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C39BD3"/>
                </a:solidFill>
                <a:latin typeface="Consolas"/>
              </a:rPr>
              <a:t>true</a:t>
            </a:r>
            <a:r>
              <a:rPr sz="1900" i="0">
                <a:solidFill>
                  <a:srgbClr val="AEB6BF"/>
                </a:solidFill>
                <a:latin typeface="Consolas"/>
              </a:rPr>
              <a:t>;</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Shapes, and the Cost of a Bit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094AE10F-7C4B-4C2D-A602-EAA56B194BCA}"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algorithm, three orders of growth</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code/ch02_cases.cpp</a:t>
            </a:r>
          </a:p>
        </p:txBody>
      </p:sp>
      <p:sp>
        <p:nvSpPr>
          <p:cNvPr id="14" name="!!code-text" descr="// --- 3. The same algorithm, three orders of growth ------------------ for (size_t n = 2000; n &lt;= 32000; n *= 2) { auto s = sorted_input(n); auto r = random_input(n, 12345); auto v = reversed_input(n); double ts = time_ms([&amp;]{ auto a = s; insertion_sort(a); }, 5); double tr = time_ms([&amp;]{ auto a = r; insertion_sort(a); }, 5); double tv = time_ms([&amp;]{ auto a = v; insertion_sort(a); }, 5); /* print the three times and the three ratios */ }"/>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The same algorithm, three orders of growth ------------------</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size_t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2000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32000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sorted_input</a:t>
            </a:r>
            <a:r>
              <a:rPr sz="1900" i="0">
                <a:solidFill>
                  <a:srgbClr val="AEB6BF"/>
                </a:solidFill>
                <a:latin typeface="Consolas"/>
              </a:rPr>
              <a:t>(</a:t>
            </a:r>
            <a:r>
              <a:rPr sz="1900" i="0">
                <a:solidFill>
                  <a:srgbClr val="E8EDF2"/>
                </a:solidFill>
                <a:latin typeface="Consolas"/>
              </a:rPr>
              <a:t>n</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r</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random_input</a:t>
            </a:r>
            <a:r>
              <a:rPr sz="1900" i="0">
                <a:solidFill>
                  <a:srgbClr val="AEB6BF"/>
                </a:solidFill>
                <a:latin typeface="Consolas"/>
              </a:rPr>
              <a:t>(</a:t>
            </a:r>
            <a:r>
              <a:rPr sz="1900" i="0">
                <a:solidFill>
                  <a:srgbClr val="E8EDF2"/>
                </a:solidFill>
                <a:latin typeface="Consolas"/>
              </a:rPr>
              <a:t>n</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12345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reversed_input</a:t>
            </a:r>
            <a:r>
              <a:rPr sz="1900" i="0">
                <a:solidFill>
                  <a:srgbClr val="AEB6BF"/>
                </a:solidFill>
                <a:latin typeface="Consolas"/>
              </a:rPr>
              <a:t>(</a:t>
            </a:r>
            <a:r>
              <a:rPr sz="1900" i="0">
                <a:solidFill>
                  <a:srgbClr val="E8EDF2"/>
                </a:solidFill>
                <a:latin typeface="Consolas"/>
              </a:rPr>
              <a:t>n</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double</a:t>
            </a:r>
            <a:r>
              <a:rPr sz="1900" i="0">
                <a:solidFill>
                  <a:srgbClr val="E8EDF2"/>
                </a:solidFill>
                <a:latin typeface="Consolas"/>
              </a:rPr>
              <a:t> </a:t>
            </a:r>
            <a:r>
              <a:rPr sz="1900" i="0">
                <a:solidFill>
                  <a:srgbClr val="E8EDF2"/>
                </a:solidFill>
                <a:latin typeface="Consolas"/>
              </a:rPr>
              <a:t>ts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time_ms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&amp;</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a</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insertion_sort</a:t>
            </a:r>
            <a:r>
              <a:rPr sz="1900" i="0">
                <a:solidFill>
                  <a:srgbClr val="AEB6BF"/>
                </a:solidFill>
                <a:latin typeface="Consolas"/>
              </a:rPr>
              <a:t>(</a:t>
            </a:r>
            <a:r>
              <a:rPr sz="1900" i="0">
                <a:solidFill>
                  <a:srgbClr val="E8EDF2"/>
                </a:solidFill>
                <a:latin typeface="Consolas"/>
              </a:rPr>
              <a:t>a</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double</a:t>
            </a:r>
            <a:r>
              <a:rPr sz="1900" i="0">
                <a:solidFill>
                  <a:srgbClr val="E8EDF2"/>
                </a:solidFill>
                <a:latin typeface="Consolas"/>
              </a:rPr>
              <a:t> </a:t>
            </a:r>
            <a:r>
              <a:rPr sz="1900" i="0">
                <a:solidFill>
                  <a:srgbClr val="E8EDF2"/>
                </a:solidFill>
                <a:latin typeface="Consolas"/>
              </a:rPr>
              <a:t>tr</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time_ms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&amp;</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a</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insertion_sort</a:t>
            </a:r>
            <a:r>
              <a:rPr sz="1900" i="0">
                <a:solidFill>
                  <a:srgbClr val="AEB6BF"/>
                </a:solidFill>
                <a:latin typeface="Consolas"/>
              </a:rPr>
              <a:t>(</a:t>
            </a:r>
            <a:r>
              <a:rPr sz="1900" i="0">
                <a:solidFill>
                  <a:srgbClr val="E8EDF2"/>
                </a:solidFill>
                <a:latin typeface="Consolas"/>
              </a:rPr>
              <a:t>a</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double</a:t>
            </a:r>
            <a:r>
              <a:rPr sz="1900" i="0">
                <a:solidFill>
                  <a:srgbClr val="E8EDF2"/>
                </a:solidFill>
                <a:latin typeface="Consolas"/>
              </a:rPr>
              <a:t> </a:t>
            </a:r>
            <a:r>
              <a:rPr sz="1900" i="0">
                <a:solidFill>
                  <a:srgbClr val="E8EDF2"/>
                </a:solidFill>
                <a:latin typeface="Consolas"/>
              </a:rPr>
              <a:t>tv</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time_ms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&amp;</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a</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v</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insertion_sort</a:t>
            </a:r>
            <a:r>
              <a:rPr sz="1900" i="0">
                <a:solidFill>
                  <a:srgbClr val="AEB6BF"/>
                </a:solidFill>
                <a:latin typeface="Consolas"/>
              </a:rPr>
              <a:t>(</a:t>
            </a:r>
            <a:r>
              <a:rPr sz="1900" i="0">
                <a:solidFill>
                  <a:srgbClr val="E8EDF2"/>
                </a:solidFill>
                <a:latin typeface="Consolas"/>
              </a:rPr>
              <a:t>a</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1">
                <a:solidFill>
                  <a:srgbClr val="8795A1"/>
                </a:solidFill>
                <a:latin typeface="Consolas"/>
              </a:rPr>
              <a:t>/* print the three times and the three ratios */</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Shapes, and the Cost of a Bit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ED793E6C-85F7-4566-9876-F405C381E02C}"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Why the size of a number is its number of bits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code/ch02_cases.cpp</a:t>
            </a:r>
          </a:p>
        </p:txBody>
      </p:sp>
      <p:sp>
        <p:nvSpPr>
          <p:cNvPr id="14" name="!!code-text" descr="// --- 4. Why the size of a number is its number of bits -------------- // Each row adds TWO bits -- four more characters of input, if you // measure input by its value. Watch the time double anyway. const uint64_t primes[] = { 4294967291ULL, 17179869143ULL, 68719476731ULL, 274877906899ULL, 1099511627689ULL, 4398046511093ULL, 17592186044399ULL, 70368744177643ULL, 281474976710597ULL}; int bits = 32; for (uint64_t p : primes) { bool r = false; double t = time_ms([&amp;]{ r = is_prime_trial(p); }, 3); if (!r) { printf(&quot; BUG: %llu is not prime\n&quot;, p); return 1; } printf(&quot;%4d %22llu %12.2f %7.2f\n&quot;, bits, p, t, t / prev); prev = t; bits += 2; }"/>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--- 4. Why the size of a number is its number of bits --------------</a:t>
            </a:r>
          </a:p>
          <a:p>
            <a:pPr>
              <a:lnSpc>
                <a:spcPct val="100000"/>
              </a:lnSpc>
              <a:spcAft>
                <a:spcPts val="0"/>
              </a:spcAft>
            </a:pPr>
            <a:r>
              <a:rPr sz="1500" i="1">
                <a:solidFill>
                  <a:srgbClr val="8795A1"/>
                </a:solidFill>
                <a:latin typeface="Consolas"/>
              </a:rPr>
              <a:t>// Each row adds TWO bits -- four more characters of input, if you</a:t>
            </a:r>
          </a:p>
          <a:p>
            <a:pPr>
              <a:lnSpc>
                <a:spcPct val="100000"/>
              </a:lnSpc>
              <a:spcAft>
                <a:spcPts val="0"/>
              </a:spcAft>
            </a:pPr>
            <a:r>
              <a:rPr sz="1500" i="1">
                <a:solidFill>
                  <a:srgbClr val="8795A1"/>
                </a:solidFill>
                <a:latin typeface="Consolas"/>
              </a:rPr>
              <a:t>// measure input by its value. Watch the time double anyway.</a:t>
            </a:r>
          </a:p>
          <a:p>
            <a:pPr>
              <a:lnSpc>
                <a:spcPct val="100000"/>
              </a:lnSpc>
              <a:spcAft>
                <a:spcPts val="0"/>
              </a:spcAft>
            </a:pPr>
            <a:r>
              <a:rPr sz="1500" i="0">
                <a:solidFill>
                  <a:srgbClr val="5DADE2"/>
                </a:solidFill>
                <a:latin typeface="Consolas"/>
              </a:rPr>
              <a:t>const</a:t>
            </a:r>
            <a:r>
              <a:rPr sz="1500" i="0">
                <a:solidFill>
                  <a:srgbClr val="E8EDF2"/>
                </a:solidFill>
                <a:latin typeface="Consolas"/>
              </a:rPr>
              <a:t> </a:t>
            </a:r>
            <a:r>
              <a:rPr sz="1500" i="0">
                <a:solidFill>
                  <a:srgbClr val="5DADE2"/>
                </a:solidFill>
                <a:latin typeface="Consolas"/>
              </a:rPr>
              <a:t>uint64_t</a:t>
            </a:r>
            <a:r>
              <a:rPr sz="1500" i="0">
                <a:solidFill>
                  <a:srgbClr val="E8EDF2"/>
                </a:solidFill>
                <a:latin typeface="Consolas"/>
              </a:rPr>
              <a:t> </a:t>
            </a:r>
            <a:r>
              <a:rPr sz="1500" i="0">
                <a:solidFill>
                  <a:srgbClr val="E8EDF2"/>
                </a:solidFill>
                <a:latin typeface="Consolas"/>
              </a:rPr>
              <a:t>primes</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F7DC6F"/>
                </a:solidFill>
                <a:latin typeface="Consolas"/>
              </a:rPr>
              <a:t>4294967291ULL</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17179869143ULL</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68719476731ULL</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F7DC6F"/>
                </a:solidFill>
                <a:latin typeface="Consolas"/>
              </a:rPr>
              <a:t>274877906899ULL</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1099511627689ULL</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4398046511093ULL</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F7DC6F"/>
                </a:solidFill>
                <a:latin typeface="Consolas"/>
              </a:rPr>
              <a:t>17592186044399ULL</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70368744177643ULL</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281474976710597ULL</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5DADE2"/>
                </a:solidFill>
                <a:latin typeface="Consolas"/>
              </a:rPr>
              <a:t>int</a:t>
            </a:r>
            <a:r>
              <a:rPr sz="1500" i="0">
                <a:solidFill>
                  <a:srgbClr val="E8EDF2"/>
                </a:solidFill>
                <a:latin typeface="Consolas"/>
              </a:rPr>
              <a:t> </a:t>
            </a:r>
            <a:r>
              <a:rPr sz="1500" i="0">
                <a:solidFill>
                  <a:srgbClr val="E8EDF2"/>
                </a:solidFill>
                <a:latin typeface="Consolas"/>
              </a:rPr>
              <a:t>bits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32</a:t>
            </a:r>
            <a:r>
              <a:rPr sz="1500" i="0">
                <a:solidFill>
                  <a:srgbClr val="AEB6BF"/>
                </a:solidFill>
                <a:latin typeface="Consolas"/>
              </a:rPr>
              <a:t>;</a:t>
            </a:r>
          </a:p>
          <a:p>
            <a:pPr>
              <a:lnSpc>
                <a:spcPct val="100000"/>
              </a:lnSpc>
              <a:spcAft>
                <a:spcPts val="0"/>
              </a:spcAft>
            </a:pPr>
            <a:r>
              <a:rPr sz="1500" i="0">
                <a:solidFill>
                  <a:srgbClr val="5DADE2"/>
                </a:solidFill>
                <a:latin typeface="Consolas"/>
              </a:rPr>
              <a:t>for</a:t>
            </a:r>
            <a:r>
              <a:rPr sz="1500" i="0">
                <a:solidFill>
                  <a:srgbClr val="E8EDF2"/>
                </a:solidFill>
                <a:latin typeface="Consolas"/>
              </a:rPr>
              <a:t> </a:t>
            </a:r>
            <a:r>
              <a:rPr sz="1500" i="0">
                <a:solidFill>
                  <a:srgbClr val="AEB6BF"/>
                </a:solidFill>
                <a:latin typeface="Consolas"/>
              </a:rPr>
              <a:t>(</a:t>
            </a:r>
            <a:r>
              <a:rPr sz="1500" i="0">
                <a:solidFill>
                  <a:srgbClr val="5DADE2"/>
                </a:solidFill>
                <a:latin typeface="Consolas"/>
              </a:rPr>
              <a:t>uint64_t</a:t>
            </a:r>
            <a:r>
              <a:rPr sz="1500" i="0">
                <a:solidFill>
                  <a:srgbClr val="E8EDF2"/>
                </a:solidFill>
                <a:latin typeface="Consolas"/>
              </a:rPr>
              <a:t> </a:t>
            </a:r>
            <a:r>
              <a:rPr sz="1500" i="0">
                <a:solidFill>
                  <a:srgbClr val="E8EDF2"/>
                </a:solidFill>
                <a:latin typeface="Consolas"/>
              </a:rPr>
              <a:t>p</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primes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bool</a:t>
            </a:r>
            <a:r>
              <a:rPr sz="1500" i="0">
                <a:solidFill>
                  <a:srgbClr val="E8EDF2"/>
                </a:solidFill>
                <a:latin typeface="Consolas"/>
              </a:rPr>
              <a:t> </a:t>
            </a:r>
            <a:r>
              <a:rPr sz="1500" i="0">
                <a:solidFill>
                  <a:srgbClr val="E8EDF2"/>
                </a:solidFill>
                <a:latin typeface="Consolas"/>
              </a:rPr>
              <a:t>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false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double</a:t>
            </a:r>
            <a:r>
              <a:rPr sz="1500" i="0">
                <a:solidFill>
                  <a:srgbClr val="E8EDF2"/>
                </a:solidFill>
                <a:latin typeface="Consolas"/>
              </a:rPr>
              <a:t> </a:t>
            </a:r>
            <a:r>
              <a:rPr sz="1500" i="0">
                <a:solidFill>
                  <a:srgbClr val="E8EDF2"/>
                </a:solidFill>
                <a:latin typeface="Consolas"/>
              </a:rPr>
              <a:t>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time_ms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&amp;</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is_prime_trial</a:t>
            </a:r>
            <a:r>
              <a:rPr sz="1500" i="0">
                <a:solidFill>
                  <a:srgbClr val="AEB6BF"/>
                </a:solidFill>
                <a:latin typeface="Consolas"/>
              </a:rPr>
              <a:t>(</a:t>
            </a:r>
            <a:r>
              <a:rPr sz="1500" i="0">
                <a:solidFill>
                  <a:srgbClr val="E8EDF2"/>
                </a:solidFill>
                <a:latin typeface="Consolas"/>
              </a:rPr>
              <a:t>p</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3</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r</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printf</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BUG: %llu is not prime</a:t>
            </a:r>
            <a:r>
              <a:rPr sz="1500" i="0">
                <a:solidFill>
                  <a:srgbClr val="7DCEA0"/>
                </a:solidFill>
                <a:latin typeface="Consolas"/>
              </a:rPr>
              <a:t>\n</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F7DC6F"/>
                </a:solidFill>
                <a:latin typeface="Consolas"/>
              </a:rPr>
              <a:t>1</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printf</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%4d %22llu %12.2f %7.2f</a:t>
            </a:r>
            <a:r>
              <a:rPr sz="1500" i="0">
                <a:solidFill>
                  <a:srgbClr val="7DCEA0"/>
                </a:solidFill>
                <a:latin typeface="Consolas"/>
              </a:rPr>
              <a:t>\n</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bits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prev</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prev</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bits</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a:t>
            </a:r>
            <a:r>
              <a:rPr sz="1500" i="0">
                <a:solidFill>
                  <a:srgbClr val="AEB6BF"/>
                </a:solidFill>
                <a:latin typeface="Consolas"/>
              </a:rPr>
              <a:t>;</a:t>
            </a:r>
          </a:p>
          <a:p>
            <a:pPr>
              <a:lnSpc>
                <a:spcPct val="100000"/>
              </a:lnSpc>
              <a:spcAft>
                <a:spcPts val="0"/>
              </a:spcAft>
            </a:pPr>
            <a:r>
              <a:rPr sz="1500" i="0">
                <a:solidFill>
                  <a:srgbClr val="AEB6BF"/>
                </a:solidFill>
                <a:latin typeface="Consolas"/>
              </a:rPr>
              <a: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42</a:t>
            </a:r>
          </a:p>
          <a:p>
            <a:pPr algn="r">
              <a:lnSpc>
                <a:spcPct val="100000"/>
              </a:lnSpc>
            </a:pPr>
            <a:r>
              <a:rPr sz="1500">
                <a:solidFill>
                  <a:srgbClr val="4F5D6A"/>
                </a:solidFill>
                <a:latin typeface="Consolas"/>
              </a:rPr>
              <a:t>43</a:t>
            </a:r>
          </a:p>
          <a:p>
            <a:pPr algn="r">
              <a:lnSpc>
                <a:spcPct val="100000"/>
              </a:lnSpc>
            </a:pPr>
            <a:r>
              <a:rPr sz="1500">
                <a:solidFill>
                  <a:srgbClr val="4F5D6A"/>
                </a:solidFill>
                <a:latin typeface="Consolas"/>
              </a:rPr>
              <a:t>44</a:t>
            </a:r>
          </a:p>
          <a:p>
            <a:pPr algn="r">
              <a:lnSpc>
                <a:spcPct val="100000"/>
              </a:lnSpc>
            </a:pPr>
            <a:r>
              <a:rPr sz="1500">
                <a:solidFill>
                  <a:srgbClr val="4F5D6A"/>
                </a:solidFill>
                <a:latin typeface="Consolas"/>
              </a:rPr>
              <a:t>45</a:t>
            </a:r>
          </a:p>
          <a:p>
            <a:pPr algn="r">
              <a:lnSpc>
                <a:spcPct val="100000"/>
              </a:lnSpc>
            </a:pPr>
            <a:r>
              <a:rPr sz="1500">
                <a:solidFill>
                  <a:srgbClr val="4F5D6A"/>
                </a:solidFill>
                <a:latin typeface="Consolas"/>
              </a:rPr>
              <a:t>46</a:t>
            </a:r>
          </a:p>
          <a:p>
            <a:pPr algn="r">
              <a:lnSpc>
                <a:spcPct val="100000"/>
              </a:lnSpc>
            </a:pPr>
            <a:r>
              <a:rPr sz="1500">
                <a:solidFill>
                  <a:srgbClr val="4F5D6A"/>
                </a:solidFill>
                <a:latin typeface="Consolas"/>
              </a:rPr>
              <a:t>47</a:t>
            </a:r>
          </a:p>
          <a:p>
            <a:pPr algn="r">
              <a:lnSpc>
                <a:spcPct val="100000"/>
              </a:lnSpc>
            </a:pPr>
            <a:r>
              <a:rPr sz="1500">
                <a:solidFill>
                  <a:srgbClr val="4F5D6A"/>
                </a:solidFill>
                <a:latin typeface="Consolas"/>
              </a:rPr>
              <a:t>48</a:t>
            </a:r>
          </a:p>
          <a:p>
            <a:pPr algn="r">
              <a:lnSpc>
                <a:spcPct val="100000"/>
              </a:lnSpc>
            </a:pPr>
            <a:r>
              <a:rPr sz="1500">
                <a:solidFill>
                  <a:srgbClr val="4F5D6A"/>
                </a:solidFill>
                <a:latin typeface="Consolas"/>
              </a:rPr>
              <a:t>49</a:t>
            </a:r>
          </a:p>
          <a:p>
            <a:pPr algn="r">
              <a:lnSpc>
                <a:spcPct val="100000"/>
              </a:lnSpc>
            </a:pPr>
            <a:r>
              <a:rPr sz="1500">
                <a:solidFill>
                  <a:srgbClr val="4F5D6A"/>
                </a:solidFill>
                <a:latin typeface="Consolas"/>
              </a:rPr>
              <a:t>50</a:t>
            </a:r>
          </a:p>
          <a:p>
            <a:pPr algn="r">
              <a:lnSpc>
                <a:spcPct val="100000"/>
              </a:lnSpc>
            </a:pPr>
            <a:r>
              <a:rPr sz="1500">
                <a:solidFill>
                  <a:srgbClr val="4F5D6A"/>
                </a:solidFill>
                <a:latin typeface="Consolas"/>
              </a:rPr>
              <a:t>51</a:t>
            </a:r>
          </a:p>
          <a:p>
            <a:pPr algn="r">
              <a:lnSpc>
                <a:spcPct val="100000"/>
              </a:lnSpc>
            </a:pPr>
            <a:r>
              <a:rPr sz="1500">
                <a:solidFill>
                  <a:srgbClr val="4F5D6A"/>
                </a:solidFill>
                <a:latin typeface="Consolas"/>
              </a:rPr>
              <a:t>52</a:t>
            </a:r>
          </a:p>
          <a:p>
            <a:pPr algn="r">
              <a:lnSpc>
                <a:spcPct val="100000"/>
              </a:lnSpc>
            </a:pPr>
            <a:r>
              <a:rPr sz="1500">
                <a:solidFill>
                  <a:srgbClr val="4F5D6A"/>
                </a:solidFill>
                <a:latin typeface="Consolas"/>
              </a:rPr>
              <a:t>53</a:t>
            </a:r>
          </a:p>
          <a:p>
            <a:pPr algn="r">
              <a:lnSpc>
                <a:spcPct val="100000"/>
              </a:lnSpc>
            </a:pPr>
            <a:r>
              <a:rPr sz="1500">
                <a:solidFill>
                  <a:srgbClr val="4F5D6A"/>
                </a:solidFill>
                <a:latin typeface="Consolas"/>
              </a:rPr>
              <a:t>54</a:t>
            </a:r>
          </a:p>
          <a:p>
            <a:pPr algn="r">
              <a:lnSpc>
                <a:spcPct val="100000"/>
              </a:lnSpc>
            </a:pPr>
            <a:r>
              <a:rPr sz="1500">
                <a:solidFill>
                  <a:srgbClr val="4F5D6A"/>
                </a:solidFill>
                <a:latin typeface="Consolas"/>
              </a:rPr>
              <a:t>55</a:t>
            </a:r>
          </a:p>
          <a:p>
            <a:pPr algn="r">
              <a:lnSpc>
                <a:spcPct val="100000"/>
              </a:lnSpc>
            </a:pPr>
            <a:r>
              <a:rPr sz="1500">
                <a:solidFill>
                  <a:srgbClr val="4F5D6A"/>
                </a:solidFill>
                <a:latin typeface="Consolas"/>
              </a:rPr>
              <a:t>56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181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8B5D1890-F090-4574-BBE2-18E03DAF8607}"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In part A, look at the </a:t>
            </a:r>
            <a:r>
              <a:rPr sz="2300" b="0" i="1">
                <a:solidFill>
                  <a:srgbClr val="1C252B"/>
                </a:solidFill>
                <a:latin typeface="Segoe UI"/>
              </a:rPr>
              <a:t>ratio</a:t>
            </a:r>
            <a:r>
              <a:rPr sz="2300" b="0" i="0">
                <a:solidFill>
                  <a:srgbClr val="1C252B"/>
                </a:solidFill>
                <a:latin typeface="Segoe UI"/>
              </a:rPr>
              <a:t> of the random column to the reversed column rather than at either alone. It should be close to </a:t>
            </a:r>
            <a:r>
              <a:rPr sz="2300" b="0" i="0">
                <a:solidFill>
                  <a:srgbClr val="1C252B"/>
                </a:solidFill>
                <a:latin typeface="Cambria"/>
              </a:rPr>
              <a:t>0.5</a:t>
            </a:r>
            <a:r>
              <a:rPr sz="2300" b="0" i="0">
                <a:solidFill>
                  <a:srgbClr val="1C252B"/>
                </a:solidFill>
                <a:latin typeface="Segoe UI"/>
              </a:rPr>
              <a:t>, and it is the one number in the experiment that tests the inversion count rather than just the exponent.</a:t>
            </a:r>
          </a:p>
        </p:txBody>
      </p:sp>
      <p:sp>
        <p:nvSpPr>
          <p:cNvPr id="10" name="body-1"/>
          <p:cNvSpPr txBox="1"/>
          <p:nvPr/>
        </p:nvSpPr>
        <p:spPr>
          <a:xfrm>
            <a:off x="1060704" y="3667074"/>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Replace the random permutation with an array that is sorted except for the last 100 elements, which are shuffled. Predict the running time before you measure it. This is the input shape real data actually has, and it is the one both the best-case and the average-case analyses describe badly.</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An algorithm takes as input an </a:t>
            </a:r>
            <a:r>
              <a:rPr sz="3400" b="0" i="1">
                <a:solidFill>
                  <a:srgbClr val="FFFFFF"/>
                </a:solidFill>
                <a:latin typeface="Cambria"/>
              </a:rPr>
              <a:t>n</a:t>
            </a:r>
            <a:r>
              <a:rPr sz="3400" b="0" i="0">
                <a:solidFill>
                  <a:srgbClr val="FFFFFF"/>
                </a:solidFill>
                <a:latin typeface="Cambria"/>
              </a:rPr>
              <a:t> × </a:t>
            </a:r>
            <a:r>
              <a:rPr sz="3400" b="0" i="1">
                <a:solidFill>
                  <a:srgbClr val="FFFFFF"/>
                </a:solidFill>
                <a:latin typeface="Cambria"/>
              </a:rPr>
              <a:t>n</a:t>
            </a:r>
            <a:r>
              <a:rPr sz="3400" b="0" i="0">
                <a:solidFill>
                  <a:srgbClr val="FFFFFF"/>
                </a:solidFill>
                <a:latin typeface="Segoe UI Semibold"/>
              </a:rPr>
              <a:t> matrix and runs in </a:t>
            </a:r>
            <a:r>
              <a:rPr sz="3400" b="0" i="0">
                <a:solidFill>
                  <a:srgbClr val="FFFFFF"/>
                </a:solidFill>
                <a:latin typeface="Cambria"/>
              </a:rPr>
              <a:t>Θ(</a:t>
            </a:r>
            <a:r>
              <a:rPr sz="3400" b="0" i="1">
                <a:solidFill>
                  <a:srgbClr val="FFFFFF"/>
                </a:solidFill>
                <a:latin typeface="Cambria"/>
              </a:rPr>
              <a:t>n</a:t>
            </a:r>
            <a:r>
              <a:rPr sz="2250" b="0" i="0" baseline="30000">
                <a:solidFill>
                  <a:srgbClr val="FFFFFF"/>
                </a:solidFill>
                <a:latin typeface="Cambria"/>
              </a:rPr>
              <a:t>3</a:t>
            </a:r>
            <a:r>
              <a:rPr sz="3400" b="0" i="0">
                <a:solidFill>
                  <a:srgbClr val="FFFFFF"/>
                </a:solidFill>
                <a:latin typeface="Cambria"/>
              </a:rPr>
              <a:t>)</a:t>
            </a:r>
            <a:r>
              <a:rPr sz="3400" b="0" i="0">
                <a:solidFill>
                  <a:srgbClr val="FFFFFF"/>
                </a:solidFill>
                <a:latin typeface="Segoe UI Semibold"/>
              </a:rPr>
              <a:t>. Is it polynomial in the size of its input? Answer in terms of the number of numbers actually read.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  ·  Input Size, Input Nature, and the Three Cases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  ·  answers in Appendix D     </a:t>
            </a:r>
            <a:fld id="{23A68542-9CC5-4788-86CC-448ACB7DA8FD}"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Linear search for a key that is present at a uniformly random position examines </a:t>
            </a:r>
            <a:r>
              <a:rPr sz="3400" b="0" i="0">
                <a:solidFill>
                  <a:srgbClr val="FFFFFF"/>
                </a:solidFill>
                <a:latin typeface="Cambria"/>
              </a:rPr>
              <a:t>(</a:t>
            </a:r>
            <a:r>
              <a:rPr sz="3400" b="0" i="1">
                <a:solidFill>
                  <a:srgbClr val="FFFFFF"/>
                </a:solidFill>
                <a:latin typeface="Cambria"/>
              </a:rPr>
              <a:t>n</a:t>
            </a:r>
            <a:r>
              <a:rPr sz="3400" b="0" i="0">
                <a:solidFill>
                  <a:srgbClr val="FFFFFF"/>
                </a:solidFill>
                <a:latin typeface="Cambria"/>
              </a:rPr>
              <a:t>+1)/2</a:t>
            </a:r>
            <a:r>
              <a:rPr sz="3400" b="0" i="0">
                <a:solidFill>
                  <a:srgbClr val="FFFFFF"/>
                </a:solidFill>
                <a:latin typeface="Segoe UI Semibold"/>
              </a:rPr>
              <a:t> elements on average and </a:t>
            </a:r>
            <a:r>
              <a:rPr sz="3400" b="0" i="1">
                <a:solidFill>
                  <a:srgbClr val="FFFFFF"/>
                </a:solidFill>
                <a:latin typeface="Cambria"/>
              </a:rPr>
              <a:t>n</a:t>
            </a:r>
            <a:r>
              <a:rPr sz="3400" b="0" i="0">
                <a:solidFill>
                  <a:srgbClr val="FFFFFF"/>
                </a:solidFill>
                <a:latin typeface="Segoe UI Semibold"/>
              </a:rPr>
              <a:t> in the worst case. Why does the course nevertheless describe both cases with the same </a:t>
            </a:r>
            <a:r>
              <a:rPr sz="3400" b="0" i="0">
                <a:solidFill>
                  <a:srgbClr val="FFFFFF"/>
                </a:solidFill>
                <a:latin typeface="Cambria"/>
              </a:rPr>
              <a:t>Θ(·)</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  ·  Input Size, Input Nature, and the Three Cases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  ·  answers in Appendix D     </a:t>
            </a:r>
            <a:fld id="{483094FC-2B81-4D4F-9878-4881FC729429}"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colleague reports that their sorting routine is “</a:t>
            </a:r>
            <a:r>
              <a:rPr sz="3400" b="0" i="0">
                <a:solidFill>
                  <a:srgbClr val="FFFFFF"/>
                </a:solidFill>
                <a:latin typeface="Cambria"/>
              </a:rPr>
              <a:t>O(</a:t>
            </a:r>
            <a:r>
              <a:rPr sz="3400" b="0" i="1">
                <a:solidFill>
                  <a:srgbClr val="FFFFFF"/>
                </a:solidFill>
                <a:latin typeface="Cambria"/>
              </a:rPr>
              <a:t>n</a:t>
            </a:r>
            <a:r>
              <a:rPr sz="3400" b="0" i="0">
                <a:solidFill>
                  <a:srgbClr val="FFFFFF"/>
                </a:solidFill>
                <a:latin typeface="Cambria"/>
              </a:rPr>
              <a:t> lg </a:t>
            </a:r>
            <a:r>
              <a:rPr sz="3400" b="0" i="1">
                <a:solidFill>
                  <a:srgbClr val="FFFFFF"/>
                </a:solidFill>
                <a:latin typeface="Cambria"/>
              </a:rPr>
              <a:t>n</a:t>
            </a:r>
            <a:r>
              <a:rPr sz="3400" b="0" i="0">
                <a:solidFill>
                  <a:srgbClr val="FFFFFF"/>
                </a:solidFill>
                <a:latin typeface="Cambria"/>
              </a:rPr>
              <a:t>)</a:t>
            </a:r>
            <a:r>
              <a:rPr sz="3400" b="0" i="0">
                <a:solidFill>
                  <a:srgbClr val="FFFFFF"/>
                </a:solidFill>
                <a:latin typeface="Segoe UI Semibold"/>
              </a:rPr>
              <a:t> on average”. What single question would you ask before believing the number means anything for your data?</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  ·  Input Size, Input Nature, and the Three Cases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  ·  answers in Appendix D     </a:t>
            </a:r>
            <a:fld id="{47C82536-3BAD-4EB3-971A-2D18EAE2C842}"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     </a:t>
            </a:r>
            <a:fld id="{114EE078-E387-4990-9E2A-B8DF71C161F3}"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Input size is a measure of how much input there is: elements for an array, the side for a matrix, </a:t>
            </a:r>
            <a:r>
              <a:rPr sz="1700" b="0" i="1">
                <a:solidFill>
                  <a:srgbClr val="1C252B"/>
                </a:solidFill>
                <a:latin typeface="Segoe UI"/>
              </a:rPr>
              <a:t>two</a:t>
            </a:r>
            <a:r>
              <a:rPr sz="1700" b="0" i="0">
                <a:solidFill>
                  <a:srgbClr val="1C252B"/>
                </a:solidFill>
                <a:latin typeface="Segoe UI"/>
              </a:rPr>
              <a:t> parameters for a graph, and </a:t>
            </a:r>
            <a:r>
              <a:rPr sz="1700" b="1" i="0">
                <a:solidFill>
                  <a:srgbClr val="1C252B"/>
                </a:solidFill>
                <a:latin typeface="Segoe UI"/>
              </a:rPr>
              <a:t>bits</a:t>
            </a:r>
            <a:r>
              <a:rPr sz="1700" b="0" i="0">
                <a:solidFill>
                  <a:srgbClr val="1C252B"/>
                </a:solidFill>
                <a:latin typeface="Segoe UI"/>
              </a:rPr>
              <a:t> for a number.</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number’s size is its bit length, so a loop running </a:t>
            </a:r>
            <a:r>
              <a:rPr sz="1700" b="0" i="1">
                <a:solidFill>
                  <a:srgbClr val="1C252B"/>
                </a:solidFill>
                <a:latin typeface="Cambria"/>
              </a:rPr>
              <a:t>N</a:t>
            </a:r>
            <a:r>
              <a:rPr sz="1700" b="0" i="0">
                <a:solidFill>
                  <a:srgbClr val="1C252B"/>
                </a:solidFill>
                <a:latin typeface="Segoe UI"/>
              </a:rPr>
              <a:t> times is </a:t>
            </a:r>
            <a:r>
              <a:rPr sz="1700" b="0" i="0">
                <a:solidFill>
                  <a:srgbClr val="1C252B"/>
                </a:solidFill>
                <a:latin typeface="Cambria"/>
              </a:rPr>
              <a:t>O(2</a:t>
            </a:r>
            <a:r>
              <a:rPr sz="1100" b="0" i="1" baseline="30000">
                <a:solidFill>
                  <a:srgbClr val="1C252B"/>
                </a:solidFill>
                <a:latin typeface="Cambria"/>
              </a:rPr>
              <a:t>b</a:t>
            </a:r>
            <a:r>
              <a:rPr sz="1700" b="0" i="0">
                <a:solidFill>
                  <a:srgbClr val="1C252B"/>
                </a:solidFill>
                <a:latin typeface="Cambria"/>
              </a:rPr>
              <a:t>)</a:t>
            </a:r>
            <a:r>
              <a:rPr sz="1700" b="0" i="0">
                <a:solidFill>
                  <a:srgbClr val="1C252B"/>
                </a:solidFill>
                <a:latin typeface="Segoe UI"/>
              </a:rPr>
              <a:t> — exponential. Measured: trial division doubled for every two bits added, eight times running, mean ratio 2.02.</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Best case promises nothing, worst case promises a guarantee, average case promises something only once you have named the distribution.</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Insertion sort: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best, </a:t>
            </a:r>
            <a:r>
              <a:rPr sz="1700" b="0" i="0">
                <a:solidFill>
                  <a:srgbClr val="1C252B"/>
                </a:solidFill>
                <a:latin typeface="Cambria"/>
              </a:rPr>
              <a:t>Θ(</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worst, </a:t>
            </a:r>
            <a:r>
              <a:rPr sz="1700" b="0" i="0">
                <a:solidFill>
                  <a:srgbClr val="1C252B"/>
                </a:solidFill>
                <a:latin typeface="Cambria"/>
              </a:rPr>
              <a:t>Θ(</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average — the average being exactly half the worst, which measurement confirmed at 0.54, 0.56, 0.54, 0.50, 0.49.</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At </a:t>
            </a:r>
            <a:r>
              <a:rPr sz="1700" b="0" i="1">
                <a:solidFill>
                  <a:srgbClr val="1C252B"/>
                </a:solidFill>
                <a:latin typeface="Cambria"/>
              </a:rPr>
              <a:t>n</a:t>
            </a:r>
            <a:r>
              <a:rPr sz="1700" b="0" i="0">
                <a:solidFill>
                  <a:srgbClr val="1C252B"/>
                </a:solidFill>
                <a:latin typeface="Cambria"/>
              </a:rPr>
              <a:t> = 32,000</a:t>
            </a:r>
            <a:r>
              <a:rPr sz="1700" b="0" i="0">
                <a:solidFill>
                  <a:srgbClr val="1C252B"/>
                </a:solidFill>
                <a:latin typeface="Segoe UI"/>
              </a:rPr>
              <a:t> the same sort took 0.028 ms or 185 ms depending only on the </a:t>
            </a:r>
            <a:r>
              <a:rPr sz="1700" b="0" i="1">
                <a:solidFill>
                  <a:srgbClr val="1C252B"/>
                </a:solidFill>
                <a:latin typeface="Segoe UI"/>
              </a:rPr>
              <a:t>shape</a:t>
            </a:r>
            <a:r>
              <a:rPr sz="1700" b="0" i="0">
                <a:solidFill>
                  <a:srgbClr val="1C252B"/>
                </a:solidFill>
                <a:latin typeface="Segoe UI"/>
              </a:rPr>
              <a:t> of its input: a factor of 6,600.</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Report the worst case by default. Report an average only with its distribution attached.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     </a:t>
            </a:r>
            <a:fld id="{728D7697-79F4-4066-8B45-D98D78D12ADC}" type="slidenum">
              <a:rPr lang="en-GB" sz="1000">
                <a:solidFill>
                  <a:srgbClr val="8795A1"/>
                </a:solidFill>
                <a:latin typeface="Segoe UI"/>
              </a:rPr>
              <a:t>37</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An average over inputs assumes something about the world; the expected time of a randomised algorithm assumes nothing, which is why Chapter 9 randomises.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     </a:t>
            </a:r>
            <a:fld id="{535AB459-38C2-4518-AC96-A33A75063424}"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input size of the integer </a:t>
            </a:r>
            <a:r>
              <a:rPr sz="2600" b="0" i="1">
                <a:solidFill>
                  <a:srgbClr val="1C252B"/>
                </a:solidFill>
                <a:latin typeface="Cambria"/>
              </a:rPr>
              <a:t>N</a:t>
            </a:r>
            <a:r>
              <a:rPr sz="2600" b="0" i="0">
                <a:solidFill>
                  <a:srgbClr val="1C252B"/>
                </a:solidFill>
                <a:latin typeface="Segoe UI"/>
              </a:rPr>
              <a:t> is taken to be: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N</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a:t>
            </a:r>
            <a:r>
              <a:rPr sz="2000" b="0" i="1">
                <a:solidFill>
                  <a:srgbClr val="1C252B"/>
                </a:solidFill>
                <a:latin typeface="Cambria"/>
              </a:rPr>
              <a:t>N</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about </a:t>
            </a:r>
            <a:r>
              <a:rPr sz="2000" b="0" i="0">
                <a:solidFill>
                  <a:srgbClr val="1C252B"/>
                </a:solidFill>
                <a:latin typeface="Cambria"/>
              </a:rPr>
              <a:t>lg </a:t>
            </a:r>
            <a:r>
              <a:rPr sz="2000" b="0" i="1">
                <a:solidFill>
                  <a:srgbClr val="1C252B"/>
                </a:solidFill>
                <a:latin typeface="Cambria"/>
              </a:rPr>
              <a:t>N</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N</a:t>
            </a:r>
            <a:r>
              <a:rPr sz="1300" b="0" i="0" baseline="30000">
                <a:solidFill>
                  <a:srgbClr val="1C252B"/>
                </a:solidFill>
                <a:latin typeface="Cambria"/>
              </a:rPr>
              <a:t>2</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     </a:t>
            </a:r>
            <a:fld id="{7293B553-481A-4A5E-A532-66277E58AA18}" type="slidenum">
              <a:rPr lang="en-GB" sz="1000">
                <a:solidFill>
                  <a:srgbClr val="8795A1"/>
                </a:solidFill>
                <a:latin typeface="Segoe UI"/>
              </a:rPr>
              <a:t>39</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Insertion sort’s average-case running time on a uniform random permutation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 lg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1300" b="0" i="0" baseline="30000">
                <a:solidFill>
                  <a:srgbClr val="1C252B"/>
                </a:solidFill>
                <a:latin typeface="Cambria"/>
              </a:rPr>
              <a:t>2</a:t>
            </a:r>
            <a:r>
              <a:rPr sz="2000" b="0" i="0">
                <a:solidFill>
                  <a:srgbClr val="1C252B"/>
                </a:solidFill>
                <a:latin typeface="Cambria"/>
              </a:rPr>
              <a:t>)</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1300" b="0" i="0" baseline="30000">
                <a:solidFill>
                  <a:srgbClr val="1C252B"/>
                </a:solidFill>
                <a:latin typeface="Cambria"/>
              </a:rPr>
              <a:t>2</a:t>
            </a:r>
            <a:r>
              <a:rPr sz="2000" b="0" i="0">
                <a:solidFill>
                  <a:srgbClr val="1C252B"/>
                </a:solidFill>
                <a:latin typeface="Cambria"/>
              </a:rPr>
              <a:t> lg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  ·  Input Size, Input Nature, and the Three Cases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     </a:t>
            </a:r>
            <a:fld id="{7D190A68-8A16-408A-85FE-8B3FB018ECC8}"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Explain what is meant by the best, expected and worst case behaviour of an algorithm, and give one algorithm whose three cases have three different orders of growth </a:t>
            </a:r>
            <a:r>
              <a:rPr sz="1700" b="0" i="1">
                <a:solidFill>
                  <a:srgbClr val="1C252B"/>
                </a:solidFill>
                <a:latin typeface="Segoe UI"/>
              </a:rPr>
              <a:t>(CLO-1)</a:t>
            </a:r>
            <a:r>
              <a:rPr sz="17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513990"/>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5513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495702"/>
            <a:ext cx="95490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Identify two characteristics of input data that change which case an algorithm exhibits, and name an algorithm affected by each </a:t>
            </a:r>
            <a:r>
              <a:rPr sz="1700" b="0" i="1">
                <a:solidFill>
                  <a:srgbClr val="1C252B"/>
                </a:solidFill>
                <a:latin typeface="Segoe UI"/>
              </a:rPr>
              <a:t>(CLO-2)</a:t>
            </a:r>
            <a:r>
              <a:rPr sz="1700" b="0" i="0">
                <a:solidFill>
                  <a:srgbClr val="1C252B"/>
                </a:solidFill>
                <a:latin typeface="Segoe UI"/>
              </a:rPr>
              <a:t>.</a:t>
            </a:r>
          </a:p>
        </p:txBody>
      </p:sp>
      <p:sp>
        <p:nvSpPr>
          <p:cNvPr id="13" name="!!rt2">
            <a:extLst>
              <a:ext uri="{C183D7F6-B498-43B3-948B-1728B52AA6E4}">
                <adec:decorative xmlns:adec="http://schemas.microsoft.com/office/drawing/2017/decorative" val="1"/>
              </a:ext>
            </a:extLst>
          </p:cNvPr>
          <p:cNvSpPr/>
          <p:nvPr/>
        </p:nvSpPr>
        <p:spPr>
          <a:xfrm>
            <a:off x="658368" y="3272332"/>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31348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254044"/>
            <a:ext cx="95490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Why is a bound of </a:t>
            </a:r>
            <a:r>
              <a:rPr sz="1700" b="0" i="0">
                <a:solidFill>
                  <a:srgbClr val="1C252B"/>
                </a:solidFill>
                <a:latin typeface="Cambria"/>
              </a:rPr>
              <a:t>O(|</a:t>
            </a:r>
            <a:r>
              <a:rPr sz="1700" b="0" i="1">
                <a:solidFill>
                  <a:srgbClr val="1C252B"/>
                </a:solidFill>
                <a:latin typeface="Cambria"/>
              </a:rPr>
              <a:t>V</a:t>
            </a:r>
            <a:r>
              <a:rPr sz="1700" b="0" i="0">
                <a:solidFill>
                  <a:srgbClr val="1C252B"/>
                </a:solidFill>
                <a:latin typeface="Cambria"/>
              </a:rPr>
              <a:t>|+|</a:t>
            </a:r>
            <a:r>
              <a:rPr sz="1700" b="0" i="1">
                <a:solidFill>
                  <a:srgbClr val="1C252B"/>
                </a:solidFill>
                <a:latin typeface="Cambria"/>
              </a:rPr>
              <a:t>E</a:t>
            </a:r>
            <a:r>
              <a:rPr sz="1700" b="0" i="0">
                <a:solidFill>
                  <a:srgbClr val="1C252B"/>
                </a:solidFill>
                <a:latin typeface="Cambria"/>
              </a:rPr>
              <a:t>|)</a:t>
            </a:r>
            <a:r>
              <a:rPr sz="1700" b="0" i="0">
                <a:solidFill>
                  <a:srgbClr val="1C252B"/>
                </a:solidFill>
                <a:latin typeface="Segoe UI"/>
              </a:rPr>
              <a:t> more informative than one of </a:t>
            </a:r>
            <a:r>
              <a:rPr sz="1700" b="0" i="0">
                <a:solidFill>
                  <a:srgbClr val="1C252B"/>
                </a:solidFill>
                <a:latin typeface="Cambria"/>
              </a:rPr>
              <a:t>O(|</a:t>
            </a:r>
            <a:r>
              <a:rPr sz="1700" b="0" i="1">
                <a:solidFill>
                  <a:srgbClr val="1C252B"/>
                </a:solidFill>
                <a:latin typeface="Cambria"/>
              </a:rPr>
              <a:t>V</a:t>
            </a:r>
            <a:r>
              <a:rPr sz="1700" b="0" i="0">
                <a:solidFill>
                  <a:srgbClr val="1C252B"/>
                </a:solidFill>
                <a:latin typeface="Cambria"/>
              </a:rPr>
              <a:t>|</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even when the two are equal for the graph in front of you?</a:t>
            </a:r>
          </a:p>
        </p:txBody>
      </p:sp>
      <p:sp>
        <p:nvSpPr>
          <p:cNvPr id="16" name="!!rt3">
            <a:extLst>
              <a:ext uri="{C183D7F6-B498-43B3-948B-1728B52AA6E4}">
                <adec:decorative xmlns:adec="http://schemas.microsoft.com/office/drawing/2017/decorative" val="1"/>
              </a:ext>
            </a:extLst>
          </p:cNvPr>
          <p:cNvSpPr/>
          <p:nvPr/>
        </p:nvSpPr>
        <p:spPr>
          <a:xfrm>
            <a:off x="658368" y="403067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07182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012387"/>
            <a:ext cx="95490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Trial division on a 48-bit prime took 58.81 ms on the book’s machine. Estimate the time for a 70-bit prime, state the assumption your estimate rests on, and say why the estimate is more trustworthy than the absolute time it is derived from.</a:t>
            </a:r>
          </a:p>
        </p:txBody>
      </p:sp>
      <p:sp>
        <p:nvSpPr>
          <p:cNvPr id="19" name="!!rt4">
            <a:extLst>
              <a:ext uri="{C183D7F6-B498-43B3-948B-1728B52AA6E4}">
                <adec:decorative xmlns:adec="http://schemas.microsoft.com/office/drawing/2017/decorative" val="1"/>
              </a:ext>
            </a:extLst>
          </p:cNvPr>
          <p:cNvSpPr/>
          <p:nvPr/>
        </p:nvSpPr>
        <p:spPr>
          <a:xfrm>
            <a:off x="658368" y="505846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9960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40172"/>
            <a:ext cx="95490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You are given a sort you cannot read the source of. Design an experiment that decides whether its worst case is quadratic, using only the ability to supply inputs and time it. Say what inputs you would supply, what you would compute, and what result would leave you unable to tell.</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3 — Asymptotic Notation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 pages 11–18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Growth measured: the ratio test, and the crossover at n ≈ 65</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  ·  Input Size, Input Nature, and the Three Cases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51DACA98-7AB2-4C89-9C25-2C5E8B1D963E}"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Input Size, Input Nature, and the Three Cases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