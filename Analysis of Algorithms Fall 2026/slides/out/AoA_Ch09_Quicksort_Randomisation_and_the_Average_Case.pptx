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5.svg" ContentType="image/svg+xml"/>
  <Override PartName="/ppt/media/image36.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8.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6.svg" ContentType="image/svg+xml"/>
  <Override PartName="/ppt/media/image57.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3C0F002-49AF-404E-AEEE-24CE2AD6FE05}">
          <p14:sldIdLst>
            <p14:sldId id="256"/>
            <p14:sldId id="257"/>
            <p14:sldId id="258"/>
            <p14:sldId id="259"/>
            <p14:sldId id="260"/>
          </p14:sldIdLst>
        </p14:section>
        <p14:section name="9.1 Hard Split, Easy Join" id="{7160D98F-B6B4-4F04-9F6B-57694AF67804}">
          <p14:sldIdLst>
            <p14:sldId id="261"/>
            <p14:sldId id="262"/>
            <p14:sldId id="263"/>
            <p14:sldId id="264"/>
          </p14:sldIdLst>
        </p14:section>
        <p14:section name="9.2 Two Running Times, Both True" id="{76EE2360-8868-4705-B510-464B3B729DAE}">
          <p14:sldIdLst>
            <p14:sldId id="265"/>
            <p14:sldId id="266"/>
            <p14:sldId id="267"/>
            <p14:sldId id="268"/>
            <p14:sldId id="269"/>
          </p14:sldIdLst>
        </p14:section>
        <p14:section name="9.3 Measured: the Gap, and Closing It" id="{30D3E450-4A2D-40C8-9736-04F232DBE1A3}">
          <p14:sldIdLst>
            <p14:sldId id="270"/>
            <p14:sldId id="271"/>
            <p14:sldId id="272"/>
            <p14:sldId id="273"/>
            <p14:sldId id="274"/>
            <p14:sldId id="275"/>
            <p14:sldId id="276"/>
          </p14:sldIdLst>
        </p14:section>
        <p14:section name="9.4 What Is Actually Shipped" id="{674DDA2C-E848-43DF-BE7A-12258A3014A5}">
          <p14:sldIdLst>
            <p14:sldId id="277"/>
            <p14:sldId id="278"/>
            <p14:sldId id="279"/>
          </p14:sldIdLst>
        </p14:section>
        <p14:section name="Pitfalls" id="{773F2303-05EA-4477-A5AA-4E2A8E0D4FC8}">
          <p14:sldIdLst>
            <p14:sldId id="280"/>
            <p14:sldId id="281"/>
          </p14:sldIdLst>
        </p14:section>
        <p14:section name="Lab" id="{532B2245-AFEE-4950-AE32-5C2139EAE28A}">
          <p14:sldIdLst>
            <p14:sldId id="282"/>
            <p14:sldId id="283"/>
            <p14:sldId id="284"/>
            <p14:sldId id="285"/>
            <p14:sldId id="286"/>
            <p14:sldId id="287"/>
            <p14:sldId id="288"/>
            <p14:sldId id="289"/>
            <p14:sldId id="290"/>
          </p14:sldIdLst>
        </p14:section>
        <p14:section name="Checkpoint" id="{C8112C32-BB94-4CDB-8E35-B40EB3B81741}">
          <p14:sldIdLst>
            <p14:sldId id="291"/>
            <p14:sldId id="292"/>
            <p14:sldId id="293"/>
            <p14:sldId id="294"/>
            <p14:sldId id="295"/>
            <p14:sldId id="296"/>
          </p14:sldIdLst>
        </p14:section>
        <p14:section name="Wrap-up" id="{CFBD7A34-8B73-4392-B2DA-2E3EF9DC3F59}">
          <p14:sldIdLst>
            <p14:sldId id="297"/>
            <p14:sldId id="298"/>
            <p14:sldId id="299"/>
            <p14:sldId id="300"/>
            <p14:sldId id="301"/>
            <p14:sldId id="30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9: Quicksort, Randomisation and the Average Case. Part 2 — Recursion and Divide-and-Conquer. Week 6: Quicksort and randomisation. Handout pages 72–81.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for the distinction between an average over inputs and an expectation over an algorithm’s own coins — this chapter is that distinction made concrete. Chapter 8 for the pattern and the baseline.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quicksort; partition; Lomuto; pivot; in-place; unbalanced partition; expected running time; randomised algorithm; adversary; median-of-three; introsort; tail recursion; recursion depth.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Quicksort is merge sort’s mirror image. It does all its work in the divide step and nothing in the combine step.</a:t>
            </a:r>
          </a:p>
          <a:p/>
          <a:p>
            <a:r>
              <a:t>Figure 9.1 (handout p. 72): Quicksort. There is no line after the two recursive calls: once the pieces are sorted, the array is sorted, because Partition already put them in the right places.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9.2 (handout p. 73): Partition (Lomuto). Everything ≤ the pivot is swept to the left; the pivot is then dropped into the gap. Linear, in place, and the only place quicksort compares anything.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Invariant for the for loop: every element of A[loi] is ≤ x; every element of A[ij] is &gt; x; and A[hi−1] = x. Initialisation. i = j = lo, so both ranges are empty and both clauses hold vacuously; the pivot has not been moved. Maintenance. If A[j] &gt; x, the loop body does nothing and j advances, extending the second range by an element that is indeed &gt; x. If A[j] ≤ x, the body exchanges A[i] with A[j]: position i — which held an element &gt; x, or nothing if the range was empty — receives an element ≤ x, extending the first range, and the displaced element lands at j, which is now inside the second range and is &gt; x. Incrementing i and j restores the invariant. Termination. j increases by one each iteration towards the fixed bound hi−2, so the loop ends. At that point A[lo i] holds elements ≤ x and A[i hi−1] elements &gt; x. Line 8 exchanges the pivot into position i; everything left of i is still ≤ x and everything right of it is &gt; x, which is the claim.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If at every level the pivot is the largest (or smallest) remaining element, the partition splits n elements into n−1 and 0, giving T(n) = T(n−1) + T(0) + Θ(n) = T(n−1) + Θ(n). Expanding, T(n) = Σₖ₌₁ⁿ Θ(k) = Θ(n²) — the recursion tree is a path of length n, not a balanced tree of depth lg n. That this is attained by sorted input is immediate: the pivot is A[hi −1], the last element, which in a sorted array is the largest. Every element satisfies A[j] ≤ x, so i advances every iteration and the final exchange returns i = hi−1. The split is (n−1, 0) at every level.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Let z₁ &lt; z₂ &lt; ⋯ &lt; zₙ be the elements in sorted order and let Xᵢⱼ indicate that zᵢ and zⱼ are ever compared. Two elements are compared at most once, since a comparison happens only against a pivot and the pivot is then excluded from both subproblems. So the total is Σᵢ&lt;ⱼ Xᵢⱼ and, by linearity of expectation, E[comparisons] = Σᵢ&lt;ⱼ Pr[zᵢ and zⱼ compared]. Consider the set Zᵢⱼ = {zᵢ, …, zⱼ}, of size j−i+1. While all of Zᵢⱼ sits in one subproblem, no element of it has been a pivot. The first pivot chosen from Zᵢⱼ decides matters: if it is zᵢ or zⱼ, those two are compared; if it is any of the j−i−1 elements strictly between, then zᵢ and zⱼ are separated into different subproblems and are never compared. Each element of Zᵢⱼ is equally likely to be the first pivot chosen from it, so Pr[zᵢ and zⱼ compared] = 2/(j−i+1). Therefore E[comparisons]    = Σᵢ₌₁ⁿ−¹Σⱼ₌ᵢ₊₁ⁿ 2/(j−i+1)    &lt; Σᵢ₌₁ⁿ−¹ Σₖ₌₁ⁿ 2/k    = 2(n−1)Hₙ = O(n lg n), using Hₙ = Θ(lg n) for the harmonic number. The expectation is over the pivot choices only, with the input fixed, so the bound holds for every input.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Reproduces all five tables. Expect thirty minutes.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Lomuto partition, the textbook one.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The same partition, after moving a random element to the end.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Comparisons counted: the two bounds, seen directly.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Recursion depth, which is what actually crashes.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And the same thing in seconds.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The worst case does not just run slowly; it crashes.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On RANDOM input the naive pivot is fine.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On sorted input the pivot (the last element) is the largest, so Partition compares it with all k−1 others and splits (k−1, 0). The subproblem sizes are therefore n−1, n−2, …, 1, and the comparisons are (n−1) + (n−2) + ⋯ + 1 = n(n−1)/2. Measured 0.9990 → 0.9999 of n2/2.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“Average case” averages over inputs and so needs an assumption about the data; an adversary who knows your algorithm simply supplies an input outside that distribution — and sorted data arrives by accident anyway. “Expected” averages over the algorithm’s own coin flips with the input held fixed, so it holds for every input including the adversary’s. He would need to predict your random numbers, not your data.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1 MB / 64 bytes = 16,384 frames, and the depth is n−1, so it crashes for n &gt; 16,384 — confirmed at n = 32,000. Doubling the stack buys n = 32,768: one more doubling of n, for twice the memory. It does not fix anything, because the depth grows linearly and the stack can only grow by constants. Recursing on the smaller side first bounds the depth at O(lg n) and does fix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10 — Lower Bounds and Sorting in Linear Time. READ: Handout Chapter 9, pages 72–81. THIS WEEK'S LAB: The adversarial input, and what randomising costs. ASSESSMENT: Quiz 1 (Ch 1–6).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5.xml"/><Relationship Id="rId8" Type="http://schemas.openxmlformats.org/officeDocument/2006/relationships/slide" Target="slide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0.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7.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8.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9.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30.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31.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2.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3.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6.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9.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0.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1.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2.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3.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5.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6.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2.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53.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4.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7.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0.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1.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09</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Quicksort, Randomisation and the Average Case</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RECURSION AND DIVIDE-AND-CONQUER</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9  ·  WEEK 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Design, Proof and Measurement</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72     </a:t>
            </a:r>
            <a:fld id="{B7B04C25-4DCB-4E99-B326-98F18CF4974B}" type="slidenum">
              <a:rPr lang="en-GB" sz="1000">
                <a:solidFill>
                  <a:srgbClr val="8795A1"/>
                </a:solidFill>
                <a:latin typeface="Segoe UI"/>
              </a:rPr>
              <a:t>2</a:t>
            </a:fld>
          </a:p>
        </p:txBody>
      </p:sp>
      <p:sp>
        <p:nvSpPr>
          <p:cNvPr id="7" name="!!rp1"/>
          <p:cNvSpPr txBox="1"/>
          <p:nvPr/>
        </p:nvSpPr>
        <p:spPr>
          <a:xfrm>
            <a:off x="777240"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18444" y="1755648"/>
            <a:ext cx="2059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18444" y="2029967"/>
            <a:ext cx="2059189"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516226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516226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00346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00346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844673"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844673"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294156"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294156"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9836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8922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824875"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7334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225740"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225740"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9</a:t>
            </a:r>
          </a:p>
        </p:txBody>
      </p:sp>
      <p:sp>
        <p:nvSpPr>
          <p:cNvPr id="37" name="!!dot10">
            <a:extLst>
              <a:ext uri="{C183D7F6-B498-43B3-948B-1728B52AA6E4}">
                <adec:decorative xmlns:adec="http://schemas.microsoft.com/office/drawing/2017/decorative" val="1"/>
              </a:ext>
            </a:extLst>
          </p:cNvPr>
          <p:cNvSpPr/>
          <p:nvPr/>
        </p:nvSpPr>
        <p:spPr>
          <a:xfrm>
            <a:off x="519353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1020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585254"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4938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7697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8553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68696"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7725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818179"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72673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209900"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11846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659383"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56794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1583124"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Quicksort, Randomisation and the Average Case</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Input Size, Input Nature, and the Three Cases</a:t>
            </a:r>
          </a:p>
        </p:txBody>
      </p:sp>
      <p:sp>
        <p:nvSpPr>
          <p:cNvPr id="70" name="!!chipBU8">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8">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8"/>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8  </a:t>
            </a:r>
            <a:r>
              <a:rPr sz="1400" b="0" i="0">
                <a:solidFill>
                  <a:srgbClr val="1C252B"/>
                </a:solidFill>
                <a:latin typeface="Segoe UI"/>
              </a:rPr>
              <a:t>Divide and Conquer: Merge Sort and the Pattern</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11">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11">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11"/>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11  </a:t>
            </a:r>
            <a:r>
              <a:rPr sz="1400" b="0" i="0">
                <a:solidFill>
                  <a:srgbClr val="1C252B"/>
                </a:solidFill>
                <a:latin typeface="Segoe UI"/>
              </a:rPr>
              <a:t>Selection and Order Statistics</a:t>
            </a:r>
          </a:p>
        </p:txBody>
      </p:sp>
      <p:sp>
        <p:nvSpPr>
          <p:cNvPr id="77" name="!!chipUS13">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13">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13"/>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13  </a:t>
            </a:r>
            <a:r>
              <a:rPr sz="1400" b="0" i="0">
                <a:solidFill>
                  <a:srgbClr val="1C252B"/>
                </a:solidFill>
                <a:latin typeface="Segoe UI"/>
              </a:rPr>
              <a:t>Hashing, and What Constant Time Actually Promises</a:t>
            </a:r>
          </a:p>
        </p:txBody>
      </p:sp>
      <p:sp>
        <p:nvSpPr>
          <p:cNvPr id="80" name="!!chipUS15">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15">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15"/>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15  </a:t>
            </a:r>
            <a:r>
              <a:rPr sz="1400" b="0" i="0">
                <a:solidFill>
                  <a:srgbClr val="1C252B"/>
                </a:solidFill>
                <a:latin typeface="Segoe UI"/>
              </a:rPr>
              <a:t>Dynamic Programming I: The Elements</a:t>
            </a:r>
          </a:p>
        </p:txBody>
      </p:sp>
      <p:sp>
        <p:nvSpPr>
          <p:cNvPr id="83" name="!!chipUS17">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chipbUS17">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tUS17"/>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17  </a:t>
            </a:r>
            <a:r>
              <a:rPr sz="1400" b="0" i="0">
                <a:solidFill>
                  <a:srgbClr val="1C252B"/>
                </a:solidFill>
                <a:latin typeface="Segoe UI"/>
              </a:rPr>
              <a:t>Amortised Analysis</a:t>
            </a:r>
          </a:p>
        </p:txBody>
      </p:sp>
      <p:sp>
        <p:nvSpPr>
          <p:cNvPr id="86" name="!!chipUS18">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bUS18">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chiptUS18"/>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18  </a:t>
            </a:r>
            <a:r>
              <a:rPr sz="1400" b="0" i="0">
                <a:solidFill>
                  <a:srgbClr val="1C252B"/>
                </a:solidFill>
                <a:latin typeface="Segoe UI"/>
              </a:rPr>
              <a:t>Graphs: Representation, Traversal and Sparsity</a:t>
            </a:r>
          </a:p>
        </p:txBody>
      </p:sp>
      <p:sp>
        <p:nvSpPr>
          <p:cNvPr id="8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pfill">
            <a:extLst>
              <a:ext uri="{C183D7F6-B498-43B3-948B-1728B52AA6E4}">
                <adec:decorative xmlns:adec="http://schemas.microsoft.com/office/drawing/2017/decorative" val="1"/>
              </a:ext>
            </a:extLst>
          </p:cNvPr>
          <p:cNvSpPr/>
          <p:nvPr/>
        </p:nvSpPr>
        <p:spPr>
          <a:xfrm>
            <a:off x="0" y="0"/>
            <a:ext cx="51879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72     </a:t>
            </a:r>
            <a:fld id="{1FFD0DE7-0DE5-4917-B4C3-4D69D4797536}"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Trace</a:t>
            </a:r>
            <a:r>
              <a:rPr sz="2100" b="0" i="0">
                <a:solidFill>
                  <a:srgbClr val="1C252B"/>
                </a:solidFill>
                <a:latin typeface="Segoe UI"/>
              </a:rPr>
              <a:t> Lomuto partitioning and </a:t>
            </a:r>
            <a:r>
              <a:rPr sz="2100" b="1" i="0">
                <a:solidFill>
                  <a:srgbClr val="1C252B"/>
                </a:solidFill>
                <a:latin typeface="Segoe UI"/>
              </a:rPr>
              <a:t>state</a:t>
            </a:r>
            <a:r>
              <a:rPr sz="2100" b="0" i="0">
                <a:solidFill>
                  <a:srgbClr val="1C252B"/>
                </a:solidFill>
                <a:latin typeface="Segoe UI"/>
              </a:rPr>
              <a:t> its invariant.</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Derive</a:t>
            </a:r>
            <a:r>
              <a:rPr sz="2100" b="0" i="0">
                <a:solidFill>
                  <a:srgbClr val="1C252B"/>
                </a:solidFill>
                <a:latin typeface="Segoe UI"/>
              </a:rPr>
              <a:t> quicksort’s </a:t>
            </a:r>
            <a:r>
              <a:rPr sz="2100" b="0" i="0">
                <a:solidFill>
                  <a:srgbClr val="1C252B"/>
                </a:solidFill>
                <a:latin typeface="Cambria"/>
              </a:rPr>
              <a:t>Θ(</a:t>
            </a:r>
            <a:r>
              <a:rPr sz="2100" b="0" i="1">
                <a:solidFill>
                  <a:srgbClr val="1C252B"/>
                </a:solidFill>
                <a:latin typeface="Cambria"/>
              </a:rPr>
              <a:t>n</a:t>
            </a:r>
            <a:r>
              <a:rPr sz="1400" b="0" i="0" baseline="30000">
                <a:solidFill>
                  <a:srgbClr val="1C252B"/>
                </a:solidFill>
                <a:latin typeface="Cambria"/>
              </a:rPr>
              <a:t>2</a:t>
            </a:r>
            <a:r>
              <a:rPr sz="2100" b="0" i="0">
                <a:solidFill>
                  <a:srgbClr val="1C252B"/>
                </a:solidFill>
                <a:latin typeface="Cambria"/>
              </a:rPr>
              <a:t>)</a:t>
            </a:r>
            <a:r>
              <a:rPr sz="2100" b="0" i="0">
                <a:solidFill>
                  <a:srgbClr val="1C252B"/>
                </a:solidFill>
                <a:latin typeface="Segoe UI"/>
              </a:rPr>
              <a:t> worst case and </a:t>
            </a:r>
            <a:r>
              <a:rPr sz="2100" b="0" i="0">
                <a:solidFill>
                  <a:srgbClr val="1C252B"/>
                </a:solidFill>
                <a:latin typeface="Cambria"/>
              </a:rPr>
              <a:t>Θ(</a:t>
            </a:r>
            <a:r>
              <a:rPr sz="2100" b="0" i="1">
                <a:solidFill>
                  <a:srgbClr val="1C252B"/>
                </a:solidFill>
                <a:latin typeface="Cambria"/>
              </a:rPr>
              <a:t>n</a:t>
            </a:r>
            <a:r>
              <a:rPr sz="2100" b="0" i="0">
                <a:solidFill>
                  <a:srgbClr val="1C252B"/>
                </a:solidFill>
                <a:latin typeface="Cambria"/>
              </a:rPr>
              <a:t> lg </a:t>
            </a:r>
            <a:r>
              <a:rPr sz="2100" b="0" i="1">
                <a:solidFill>
                  <a:srgbClr val="1C252B"/>
                </a:solidFill>
                <a:latin typeface="Cambria"/>
              </a:rPr>
              <a:t>n</a:t>
            </a:r>
            <a:r>
              <a:rPr sz="2100" b="0" i="0">
                <a:solidFill>
                  <a:srgbClr val="1C252B"/>
                </a:solidFill>
                <a:latin typeface="Cambria"/>
              </a:rPr>
              <a:t>)</a:t>
            </a:r>
            <a:r>
              <a:rPr sz="2100" b="0" i="0">
                <a:solidFill>
                  <a:srgbClr val="1C252B"/>
                </a:solidFill>
                <a:latin typeface="Segoe UI"/>
              </a:rPr>
              <a:t> expected case, and </a:t>
            </a:r>
            <a:r>
              <a:rPr sz="2100" b="1" i="0">
                <a:solidFill>
                  <a:srgbClr val="1C252B"/>
                </a:solidFill>
                <a:latin typeface="Segoe UI"/>
              </a:rPr>
              <a:t>identify</a:t>
            </a:r>
            <a:r>
              <a:rPr sz="2100" b="0" i="0">
                <a:solidFill>
                  <a:srgbClr val="1C252B"/>
                </a:solidFill>
                <a:latin typeface="Segoe UI"/>
              </a:rPr>
              <a:t> the input that causes each </a:t>
            </a:r>
            <a:r>
              <a:rPr sz="2100" b="0" i="1">
                <a:solidFill>
                  <a:srgbClr val="1C252B"/>
                </a:solidFill>
                <a:latin typeface="Segoe UI"/>
              </a:rPr>
              <a:t>(CLO-1, CLO-2)</a:t>
            </a:r>
            <a:r>
              <a:rPr sz="2100" b="0" i="0">
                <a:solidFill>
                  <a:srgbClr val="1C252B"/>
                </a:solidFill>
                <a:latin typeface="Segoe UI"/>
              </a:rPr>
              <a:t>.</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Explain</a:t>
            </a:r>
            <a:r>
              <a:rPr sz="2100" b="0" i="0">
                <a:solidFill>
                  <a:srgbClr val="1C252B"/>
                </a:solidFill>
                <a:latin typeface="Segoe UI"/>
              </a:rPr>
              <a:t> why randomising the pivot converts an assumption about the data into an assumption about a random number generator.</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Account</a:t>
            </a:r>
            <a:r>
              <a:rPr sz="2100" b="0" i="0">
                <a:solidFill>
                  <a:srgbClr val="1C252B"/>
                </a:solidFill>
                <a:latin typeface="Segoe UI"/>
              </a:rPr>
              <a:t> for quicksort’s dominance in practice despite a worse worst case than merge sort.</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41233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Predict</a:t>
            </a:r>
            <a:r>
              <a:rPr sz="2100" b="0" i="0">
                <a:solidFill>
                  <a:srgbClr val="1C252B"/>
                </a:solidFill>
                <a:latin typeface="Segoe UI"/>
              </a:rPr>
              <a:t> the recursion depth of a sort and </a:t>
            </a:r>
            <a:r>
              <a:rPr sz="2100" b="1" i="0">
                <a:solidFill>
                  <a:srgbClr val="1C252B"/>
                </a:solidFill>
                <a:latin typeface="Segoe UI"/>
              </a:rPr>
              <a:t>relate</a:t>
            </a:r>
            <a:r>
              <a:rPr sz="2100" b="0" i="0">
                <a:solidFill>
                  <a:srgbClr val="1C252B"/>
                </a:solidFill>
                <a:latin typeface="Segoe UI"/>
              </a:rPr>
              <a:t> it to the stack a program is given.</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7819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72     </a:t>
            </a:r>
            <a:fld id="{37BC8189-A866-4B72-98F7-D7D8D7B463AB}" type="slidenum">
              <a:rPr lang="en-GB" sz="1000">
                <a:solidFill>
                  <a:srgbClr val="8795A1"/>
                </a:solidFill>
                <a:latin typeface="Segoe UI"/>
              </a:rPr>
              <a:t>4</a:t>
            </a:fld>
          </a:p>
        </p:txBody>
      </p:sp>
      <p:sp>
        <p:nvSpPr>
          <p:cNvPr id="7" name="!!term-quicksort">
            <a:extLst>
              <a:ext uri="{C183D7F6-B498-43B3-948B-1728B52AA6E4}">
                <adec:decorative xmlns:adec="http://schemas.microsoft.com/office/drawing/2017/decorative" val="1"/>
              </a:ext>
            </a:extLst>
          </p:cNvPr>
          <p:cNvSpPr/>
          <p:nvPr/>
        </p:nvSpPr>
        <p:spPr>
          <a:xfrm>
            <a:off x="658368" y="1847088"/>
            <a:ext cx="12790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quicksort">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quicksort"/>
          <p:cNvSpPr txBox="1"/>
          <p:nvPr/>
        </p:nvSpPr>
        <p:spPr>
          <a:xfrm>
            <a:off x="950976" y="1962911"/>
            <a:ext cx="109616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quicksort</a:t>
            </a:r>
          </a:p>
        </p:txBody>
      </p:sp>
      <p:sp>
        <p:nvSpPr>
          <p:cNvPr id="10" name="!!term-partition">
            <a:extLst>
              <a:ext uri="{C183D7F6-B498-43B3-948B-1728B52AA6E4}">
                <adec:decorative xmlns:adec="http://schemas.microsoft.com/office/drawing/2017/decorative" val="1"/>
              </a:ext>
            </a:extLst>
          </p:cNvPr>
          <p:cNvSpPr/>
          <p:nvPr/>
        </p:nvSpPr>
        <p:spPr>
          <a:xfrm>
            <a:off x="2083718" y="1847088"/>
            <a:ext cx="121806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partition">
            <a:extLst>
              <a:ext uri="{C183D7F6-B498-43B3-948B-1728B52AA6E4}">
                <adec:decorative xmlns:adec="http://schemas.microsoft.com/office/drawing/2017/decorative" val="1"/>
              </a:ext>
            </a:extLst>
          </p:cNvPr>
          <p:cNvSpPr/>
          <p:nvPr/>
        </p:nvSpPr>
        <p:spPr>
          <a:xfrm>
            <a:off x="221173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partition"/>
          <p:cNvSpPr txBox="1"/>
          <p:nvPr/>
        </p:nvSpPr>
        <p:spPr>
          <a:xfrm>
            <a:off x="2376326" y="1962911"/>
            <a:ext cx="103518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partition</a:t>
            </a:r>
          </a:p>
        </p:txBody>
      </p:sp>
      <p:sp>
        <p:nvSpPr>
          <p:cNvPr id="13" name="!!term-Lomuto">
            <a:extLst>
              <a:ext uri="{C183D7F6-B498-43B3-948B-1728B52AA6E4}">
                <adec:decorative xmlns:adec="http://schemas.microsoft.com/office/drawing/2017/decorative" val="1"/>
              </a:ext>
            </a:extLst>
          </p:cNvPr>
          <p:cNvSpPr/>
          <p:nvPr/>
        </p:nvSpPr>
        <p:spPr>
          <a:xfrm>
            <a:off x="3448092" y="1847088"/>
            <a:ext cx="114544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Lomuto">
            <a:extLst>
              <a:ext uri="{C183D7F6-B498-43B3-948B-1728B52AA6E4}">
                <adec:decorative xmlns:adec="http://schemas.microsoft.com/office/drawing/2017/decorative" val="1"/>
              </a:ext>
            </a:extLst>
          </p:cNvPr>
          <p:cNvSpPr/>
          <p:nvPr/>
        </p:nvSpPr>
        <p:spPr>
          <a:xfrm>
            <a:off x="357610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Lomuto"/>
          <p:cNvSpPr txBox="1"/>
          <p:nvPr/>
        </p:nvSpPr>
        <p:spPr>
          <a:xfrm>
            <a:off x="3740700" y="1962911"/>
            <a:ext cx="96256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Lomuto</a:t>
            </a:r>
          </a:p>
        </p:txBody>
      </p:sp>
      <p:sp>
        <p:nvSpPr>
          <p:cNvPr id="16" name="!!term-pivot">
            <a:extLst>
              <a:ext uri="{C183D7F6-B498-43B3-948B-1728B52AA6E4}">
                <adec:decorative xmlns:adec="http://schemas.microsoft.com/office/drawing/2017/decorative" val="1"/>
              </a:ext>
            </a:extLst>
          </p:cNvPr>
          <p:cNvSpPr/>
          <p:nvPr/>
        </p:nvSpPr>
        <p:spPr>
          <a:xfrm>
            <a:off x="4739845" y="1847088"/>
            <a:ext cx="9019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pivot">
            <a:extLst>
              <a:ext uri="{C183D7F6-B498-43B3-948B-1728B52AA6E4}">
                <adec:decorative xmlns:adec="http://schemas.microsoft.com/office/drawing/2017/decorative" val="1"/>
              </a:ext>
            </a:extLst>
          </p:cNvPr>
          <p:cNvSpPr/>
          <p:nvPr/>
        </p:nvSpPr>
        <p:spPr>
          <a:xfrm>
            <a:off x="486786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pivot"/>
          <p:cNvSpPr txBox="1"/>
          <p:nvPr/>
        </p:nvSpPr>
        <p:spPr>
          <a:xfrm>
            <a:off x="5032453" y="1962911"/>
            <a:ext cx="71904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pivot</a:t>
            </a:r>
          </a:p>
        </p:txBody>
      </p:sp>
      <p:sp>
        <p:nvSpPr>
          <p:cNvPr id="19" name="!!term-in-place">
            <a:extLst>
              <a:ext uri="{C183D7F6-B498-43B3-948B-1728B52AA6E4}">
                <adec:decorative xmlns:adec="http://schemas.microsoft.com/office/drawing/2017/decorative" val="1"/>
              </a:ext>
            </a:extLst>
          </p:cNvPr>
          <p:cNvSpPr/>
          <p:nvPr/>
        </p:nvSpPr>
        <p:spPr>
          <a:xfrm>
            <a:off x="5788069" y="1847088"/>
            <a:ext cx="11709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in-place">
            <a:extLst>
              <a:ext uri="{C183D7F6-B498-43B3-948B-1728B52AA6E4}">
                <adec:decorative xmlns:adec="http://schemas.microsoft.com/office/drawing/2017/decorative" val="1"/>
              </a:ext>
            </a:extLst>
          </p:cNvPr>
          <p:cNvSpPr/>
          <p:nvPr/>
        </p:nvSpPr>
        <p:spPr>
          <a:xfrm>
            <a:off x="591608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in-place"/>
          <p:cNvSpPr txBox="1"/>
          <p:nvPr/>
        </p:nvSpPr>
        <p:spPr>
          <a:xfrm>
            <a:off x="6080677" y="1962911"/>
            <a:ext cx="98808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in-place</a:t>
            </a:r>
          </a:p>
        </p:txBody>
      </p:sp>
      <p:sp>
        <p:nvSpPr>
          <p:cNvPr id="22" name="!!term-unbalanced par">
            <a:extLst>
              <a:ext uri="{C183D7F6-B498-43B3-948B-1728B52AA6E4}">
                <adec:decorative xmlns:adec="http://schemas.microsoft.com/office/drawing/2017/decorative" val="1"/>
              </a:ext>
            </a:extLst>
          </p:cNvPr>
          <p:cNvSpPr/>
          <p:nvPr/>
        </p:nvSpPr>
        <p:spPr>
          <a:xfrm>
            <a:off x="7105341" y="1847088"/>
            <a:ext cx="23360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unbalanced par">
            <a:extLst>
              <a:ext uri="{C183D7F6-B498-43B3-948B-1728B52AA6E4}">
                <adec:decorative xmlns:adec="http://schemas.microsoft.com/office/drawing/2017/decorative" val="1"/>
              </a:ext>
            </a:extLst>
          </p:cNvPr>
          <p:cNvSpPr/>
          <p:nvPr/>
        </p:nvSpPr>
        <p:spPr>
          <a:xfrm>
            <a:off x="723335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unbalanced par"/>
          <p:cNvSpPr txBox="1"/>
          <p:nvPr/>
        </p:nvSpPr>
        <p:spPr>
          <a:xfrm>
            <a:off x="7397949" y="1962911"/>
            <a:ext cx="215312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unbalanced partition</a:t>
            </a:r>
          </a:p>
        </p:txBody>
      </p:sp>
      <p:sp>
        <p:nvSpPr>
          <p:cNvPr id="25" name="!!term-expected runni">
            <a:extLst>
              <a:ext uri="{C183D7F6-B498-43B3-948B-1728B52AA6E4}">
                <adec:decorative xmlns:adec="http://schemas.microsoft.com/office/drawing/2017/decorative" val="1"/>
              </a:ext>
            </a:extLst>
          </p:cNvPr>
          <p:cNvSpPr/>
          <p:nvPr/>
        </p:nvSpPr>
        <p:spPr>
          <a:xfrm>
            <a:off x="658368" y="2468880"/>
            <a:ext cx="250365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expected runni">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expected runni"/>
          <p:cNvSpPr txBox="1"/>
          <p:nvPr/>
        </p:nvSpPr>
        <p:spPr>
          <a:xfrm>
            <a:off x="950976" y="2584704"/>
            <a:ext cx="232077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expected running time</a:t>
            </a:r>
          </a:p>
        </p:txBody>
      </p:sp>
      <p:sp>
        <p:nvSpPr>
          <p:cNvPr id="28" name="!!term-randomised alg">
            <a:extLst>
              <a:ext uri="{C183D7F6-B498-43B3-948B-1728B52AA6E4}">
                <adec:decorative xmlns:adec="http://schemas.microsoft.com/office/drawing/2017/decorative" val="1"/>
              </a:ext>
            </a:extLst>
          </p:cNvPr>
          <p:cNvSpPr/>
          <p:nvPr/>
        </p:nvSpPr>
        <p:spPr>
          <a:xfrm>
            <a:off x="3308322" y="2468880"/>
            <a:ext cx="24686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randomised alg">
            <a:extLst>
              <a:ext uri="{C183D7F6-B498-43B3-948B-1728B52AA6E4}">
                <adec:decorative xmlns:adec="http://schemas.microsoft.com/office/drawing/2017/decorative" val="1"/>
              </a:ext>
            </a:extLst>
          </p:cNvPr>
          <p:cNvSpPr/>
          <p:nvPr/>
        </p:nvSpPr>
        <p:spPr>
          <a:xfrm>
            <a:off x="343633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randomised alg"/>
          <p:cNvSpPr txBox="1"/>
          <p:nvPr/>
        </p:nvSpPr>
        <p:spPr>
          <a:xfrm>
            <a:off x="3600930" y="2584704"/>
            <a:ext cx="228576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randomised algorithm</a:t>
            </a:r>
          </a:p>
        </p:txBody>
      </p:sp>
      <p:sp>
        <p:nvSpPr>
          <p:cNvPr id="31" name="!!term-adversary">
            <a:extLst>
              <a:ext uri="{C183D7F6-B498-43B3-948B-1728B52AA6E4}">
                <adec:decorative xmlns:adec="http://schemas.microsoft.com/office/drawing/2017/decorative" val="1"/>
              </a:ext>
            </a:extLst>
          </p:cNvPr>
          <p:cNvSpPr/>
          <p:nvPr/>
        </p:nvSpPr>
        <p:spPr>
          <a:xfrm>
            <a:off x="5923274" y="2468880"/>
            <a:ext cx="13122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adversary">
            <a:extLst>
              <a:ext uri="{C183D7F6-B498-43B3-948B-1728B52AA6E4}">
                <adec:decorative xmlns:adec="http://schemas.microsoft.com/office/drawing/2017/decorative" val="1"/>
              </a:ext>
            </a:extLst>
          </p:cNvPr>
          <p:cNvSpPr/>
          <p:nvPr/>
        </p:nvSpPr>
        <p:spPr>
          <a:xfrm>
            <a:off x="605129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adversary"/>
          <p:cNvSpPr txBox="1"/>
          <p:nvPr/>
        </p:nvSpPr>
        <p:spPr>
          <a:xfrm>
            <a:off x="6215882" y="2584704"/>
            <a:ext cx="112936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adversary</a:t>
            </a:r>
          </a:p>
        </p:txBody>
      </p:sp>
      <p:sp>
        <p:nvSpPr>
          <p:cNvPr id="34" name="!!term-median-of-thre">
            <a:extLst>
              <a:ext uri="{C183D7F6-B498-43B3-948B-1728B52AA6E4}">
                <adec:decorative xmlns:adec="http://schemas.microsoft.com/office/drawing/2017/decorative" val="1"/>
              </a:ext>
            </a:extLst>
          </p:cNvPr>
          <p:cNvSpPr/>
          <p:nvPr/>
        </p:nvSpPr>
        <p:spPr>
          <a:xfrm>
            <a:off x="7381826" y="2468880"/>
            <a:ext cx="19491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median-of-thre">
            <a:extLst>
              <a:ext uri="{C183D7F6-B498-43B3-948B-1728B52AA6E4}">
                <adec:decorative xmlns:adec="http://schemas.microsoft.com/office/drawing/2017/decorative" val="1"/>
              </a:ext>
            </a:extLst>
          </p:cNvPr>
          <p:cNvSpPr/>
          <p:nvPr/>
        </p:nvSpPr>
        <p:spPr>
          <a:xfrm>
            <a:off x="750984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median-of-thre"/>
          <p:cNvSpPr txBox="1"/>
          <p:nvPr/>
        </p:nvSpPr>
        <p:spPr>
          <a:xfrm>
            <a:off x="7674434" y="2584704"/>
            <a:ext cx="176630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median-of-three</a:t>
            </a:r>
          </a:p>
        </p:txBody>
      </p:sp>
      <p:sp>
        <p:nvSpPr>
          <p:cNvPr id="37" name="!!term-introsort">
            <a:extLst>
              <a:ext uri="{C183D7F6-B498-43B3-948B-1728B52AA6E4}">
                <adec:decorative xmlns:adec="http://schemas.microsoft.com/office/drawing/2017/decorative" val="1"/>
              </a:ext>
            </a:extLst>
          </p:cNvPr>
          <p:cNvSpPr/>
          <p:nvPr/>
        </p:nvSpPr>
        <p:spPr>
          <a:xfrm>
            <a:off x="9477320" y="2468880"/>
            <a:ext cx="122200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introsort">
            <a:extLst>
              <a:ext uri="{C183D7F6-B498-43B3-948B-1728B52AA6E4}">
                <adec:decorative xmlns:adec="http://schemas.microsoft.com/office/drawing/2017/decorative" val="1"/>
              </a:ext>
            </a:extLst>
          </p:cNvPr>
          <p:cNvSpPr/>
          <p:nvPr/>
        </p:nvSpPr>
        <p:spPr>
          <a:xfrm>
            <a:off x="960533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introsort"/>
          <p:cNvSpPr txBox="1"/>
          <p:nvPr/>
        </p:nvSpPr>
        <p:spPr>
          <a:xfrm>
            <a:off x="9769928" y="2584704"/>
            <a:ext cx="103912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introsort</a:t>
            </a:r>
          </a:p>
        </p:txBody>
      </p:sp>
      <p:sp>
        <p:nvSpPr>
          <p:cNvPr id="40" name="!!term-tail recursion">
            <a:extLst>
              <a:ext uri="{C183D7F6-B498-43B3-948B-1728B52AA6E4}">
                <adec:decorative xmlns:adec="http://schemas.microsoft.com/office/drawing/2017/decorative" val="1"/>
              </a:ext>
            </a:extLst>
          </p:cNvPr>
          <p:cNvSpPr/>
          <p:nvPr/>
        </p:nvSpPr>
        <p:spPr>
          <a:xfrm>
            <a:off x="658368" y="3090672"/>
            <a:ext cx="16142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tail recursion">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tail recursion"/>
          <p:cNvSpPr txBox="1"/>
          <p:nvPr/>
        </p:nvSpPr>
        <p:spPr>
          <a:xfrm>
            <a:off x="950976" y="3206496"/>
            <a:ext cx="143140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tail recursion</a:t>
            </a:r>
          </a:p>
        </p:txBody>
      </p:sp>
      <p:sp>
        <p:nvSpPr>
          <p:cNvPr id="43" name="!!term-recursion dept">
            <a:extLst>
              <a:ext uri="{C183D7F6-B498-43B3-948B-1728B52AA6E4}">
                <adec:decorative xmlns:adec="http://schemas.microsoft.com/office/drawing/2017/decorative" val="1"/>
              </a:ext>
            </a:extLst>
          </p:cNvPr>
          <p:cNvSpPr/>
          <p:nvPr/>
        </p:nvSpPr>
        <p:spPr>
          <a:xfrm>
            <a:off x="2418958" y="3090672"/>
            <a:ext cx="18781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recursion dept">
            <a:extLst>
              <a:ext uri="{C183D7F6-B498-43B3-948B-1728B52AA6E4}">
                <adec:decorative xmlns:adec="http://schemas.microsoft.com/office/drawing/2017/decorative" val="1"/>
              </a:ext>
            </a:extLst>
          </p:cNvPr>
          <p:cNvSpPr/>
          <p:nvPr/>
        </p:nvSpPr>
        <p:spPr>
          <a:xfrm>
            <a:off x="254697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recursion dept"/>
          <p:cNvSpPr txBox="1"/>
          <p:nvPr/>
        </p:nvSpPr>
        <p:spPr>
          <a:xfrm>
            <a:off x="2711566" y="3206496"/>
            <a:ext cx="169525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recursion depth</a:t>
            </a:r>
          </a:p>
        </p:txBody>
      </p:sp>
      <p:sp>
        <p:nvSpPr>
          <p:cNvPr id="46"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103759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72–81     </a:t>
            </a:r>
            <a:fld id="{A6F4DE78-8680-48BF-AE5F-22CBE1AD30B9}" type="slidenum">
              <a:rPr lang="en-GB" sz="1000">
                <a:solidFill>
                  <a:srgbClr val="8795A1"/>
                </a:solidFill>
                <a:latin typeface="Segoe UI"/>
              </a:rPr>
              <a:t>5</a:t>
            </a:fld>
          </a:p>
        </p:txBody>
      </p:sp>
      <p:sp>
        <p:nvSpPr>
          <p:cNvPr id="7" name="!!ag0" descr="Go to section 9.1 Hard Split, Easy Join">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9.1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Hard Split, Easy Join</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72  ›</a:t>
            </a:r>
          </a:p>
        </p:txBody>
      </p:sp>
      <p:sp>
        <p:nvSpPr>
          <p:cNvPr id="12" name="!!ag1" descr="Go to section 9.2 Two Running Times, Both True">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9.2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Two Running Times, Both True</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73  ›</a:t>
            </a:r>
          </a:p>
        </p:txBody>
      </p:sp>
      <p:sp>
        <p:nvSpPr>
          <p:cNvPr id="17" name="!!ag2" descr="Go to section 9.3 Measured: the Gap, and Closing It">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9.3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Measured: the Gap, and Closing It</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75  ›</a:t>
            </a:r>
          </a:p>
        </p:txBody>
      </p:sp>
      <p:sp>
        <p:nvSpPr>
          <p:cNvPr id="22" name="!!ag3" descr="Go to section 9.4 What Is Actually Shipped">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9.4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Is Actually Shipped</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76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29698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Hard Split, Easy Join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9.1   Hard Split, Easy Join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9.2   Two Running Times, Both True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9.3   Measured: the Gap, and Closing It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9.4   What Is Actually Shipped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§9.1     </a:t>
            </a:r>
            <a:fld id="{A2524205-2F96-4A47-8753-60D46034AC94}" type="slidenum">
              <a:rPr lang="en-GB" sz="1000">
                <a:solidFill>
                  <a:srgbClr val="8795A1"/>
                </a:solidFill>
                <a:latin typeface="Segoe UI"/>
              </a:rPr>
              <a:t>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55638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Hard Split, Easy Join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9.1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§9.1  ·  Handout p. 72     </a:t>
            </a:r>
            <a:fld id="{B1813BFA-6960-4C3C-A824-F2F901DE7E10}" type="slidenum">
              <a:rPr lang="en-GB" sz="1000">
                <a:solidFill>
                  <a:srgbClr val="8795A1"/>
                </a:solidFill>
                <a:latin typeface="Segoe UI"/>
              </a:rPr>
              <a:t>7</a:t>
            </a:fld>
          </a:p>
        </p:txBody>
      </p:sp>
      <p:pic>
        <p:nvPicPr>
          <p:cNvPr id="6" name="!!figure" descr="Figure 9.1. Quicksort. There is no line after the two recursive calls: once the pieces are sorted, the array is sorted, because Partition already put them in the right places."/>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44908"/>
            <a:ext cx="10874959" cy="3125944"/>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Quicksort. There is no line after the two recursive calls: once the pieces are sorted, the array is sorted, because Partition already put them in the right places.</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81578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Partition (Lomuto)</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9.2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§9.1  ·  Handout p. 72     </a:t>
            </a:r>
            <a:fld id="{558A39F0-0351-4245-8A60-7ED524E2D6BF}" type="slidenum">
              <a:rPr lang="en-GB" sz="1000">
                <a:solidFill>
                  <a:srgbClr val="8795A1"/>
                </a:solidFill>
                <a:latin typeface="Segoe UI"/>
              </a:rPr>
              <a:t>8</a:t>
            </a:fld>
          </a:p>
        </p:txBody>
      </p:sp>
      <p:pic>
        <p:nvPicPr>
          <p:cNvPr id="6" name="!!figure" descr="Figure 9.2. Partition (Lomuto). Everything ≤ the pivot is swept to the left; the pivot is then dropped into the gap. Linear, in place, and the only place quicksort compares anythi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25089" y="1737360"/>
            <a:ext cx="9141516"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Everything ≤ the pivot is swept to the left; the pivot is then dropped into the gap. Linear, in place, and the only place quicksort compares anything.</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07518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Partition is correct</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9.1</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§9.1  ·  Handout p. 72     </a:t>
            </a:r>
            <a:fld id="{72ACD949-4D80-484E-9C75-414068B1B643}"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After Partition returns </a:t>
            </a:r>
            <a:r>
              <a:rPr sz="2300" b="0" i="1">
                <a:solidFill>
                  <a:srgbClr val="1C252B"/>
                </a:solidFill>
                <a:latin typeface="Cambria"/>
              </a:rPr>
              <a:t>i</a:t>
            </a:r>
            <a:r>
              <a:rPr sz="2300" b="0" i="0">
                <a:solidFill>
                  <a:srgbClr val="1C252B"/>
                </a:solidFill>
                <a:latin typeface="Segoe UI"/>
              </a:rPr>
              <a:t>, every element of </a:t>
            </a:r>
            <a:r>
              <a:rPr sz="2300" b="0" i="1">
                <a:solidFill>
                  <a:srgbClr val="1C252B"/>
                </a:solidFill>
                <a:latin typeface="Cambria"/>
              </a:rPr>
              <a:t>A</a:t>
            </a:r>
            <a:r>
              <a:rPr sz="2300" b="0" i="0">
                <a:solidFill>
                  <a:srgbClr val="1C252B"/>
                </a:solidFill>
                <a:latin typeface="Cambria"/>
              </a:rPr>
              <a:t>[</a:t>
            </a:r>
            <a:r>
              <a:rPr sz="2300" b="0" i="1">
                <a:solidFill>
                  <a:srgbClr val="1C252B"/>
                </a:solidFill>
                <a:latin typeface="Cambria"/>
              </a:rPr>
              <a:t>loi</a:t>
            </a:r>
            <a:r>
              <a:rPr sz="2300" b="0" i="0">
                <a:solidFill>
                  <a:srgbClr val="1C252B"/>
                </a:solidFill>
                <a:latin typeface="Cambria"/>
              </a:rPr>
              <a:t>]</a:t>
            </a:r>
            <a:r>
              <a:rPr sz="2300" b="0" i="0">
                <a:solidFill>
                  <a:srgbClr val="1C252B"/>
                </a:solidFill>
                <a:latin typeface="Segoe UI"/>
              </a:rPr>
              <a:t> is </a:t>
            </a:r>
            <a:r>
              <a:rPr sz="2300" b="0" i="0">
                <a:solidFill>
                  <a:srgbClr val="1C252B"/>
                </a:solidFill>
                <a:latin typeface="Cambria"/>
              </a:rPr>
              <a:t>≤ </a:t>
            </a:r>
            <a:r>
              <a:rPr sz="2300" b="0" i="1">
                <a:solidFill>
                  <a:srgbClr val="1C252B"/>
                </a:solidFill>
                <a:latin typeface="Cambria"/>
              </a:rPr>
              <a:t>A</a:t>
            </a:r>
            <a:r>
              <a:rPr sz="2300" b="0" i="0">
                <a:solidFill>
                  <a:srgbClr val="1C252B"/>
                </a:solidFill>
                <a:latin typeface="Cambria"/>
              </a:rPr>
              <a:t>[</a:t>
            </a:r>
            <a:r>
              <a:rPr sz="2300" b="0" i="1">
                <a:solidFill>
                  <a:srgbClr val="1C252B"/>
                </a:solidFill>
                <a:latin typeface="Cambria"/>
              </a:rPr>
              <a:t>i</a:t>
            </a:r>
            <a:r>
              <a:rPr sz="2300" b="0" i="0">
                <a:solidFill>
                  <a:srgbClr val="1C252B"/>
                </a:solidFill>
                <a:latin typeface="Cambria"/>
              </a:rPr>
              <a:t>]</a:t>
            </a:r>
            <a:r>
              <a:rPr sz="2300" b="0" i="0">
                <a:solidFill>
                  <a:srgbClr val="1C252B"/>
                </a:solidFill>
                <a:latin typeface="Segoe UI"/>
              </a:rPr>
              <a:t>, every element of </a:t>
            </a:r>
            <a:r>
              <a:rPr sz="2300" b="0" i="1">
                <a:solidFill>
                  <a:srgbClr val="1C252B"/>
                </a:solidFill>
                <a:latin typeface="Cambria"/>
              </a:rPr>
              <a:t>A</a:t>
            </a:r>
            <a:r>
              <a:rPr sz="2300" b="0" i="0">
                <a:solidFill>
                  <a:srgbClr val="1C252B"/>
                </a:solidFill>
                <a:latin typeface="Cambria"/>
              </a:rPr>
              <a:t>[</a:t>
            </a:r>
            <a:r>
              <a:rPr sz="2300" b="0" i="1">
                <a:solidFill>
                  <a:srgbClr val="1C252B"/>
                </a:solidFill>
                <a:latin typeface="Cambria"/>
              </a:rPr>
              <a:t>i</a:t>
            </a:r>
            <a:r>
              <a:rPr sz="2300" b="0" i="0">
                <a:solidFill>
                  <a:srgbClr val="1C252B"/>
                </a:solidFill>
                <a:latin typeface="Cambria"/>
              </a:rPr>
              <a:t>+1</a:t>
            </a:r>
            <a:r>
              <a:rPr sz="2300" b="0" i="1">
                <a:solidFill>
                  <a:srgbClr val="1C252B"/>
                </a:solidFill>
                <a:latin typeface="Cambria"/>
              </a:rPr>
              <a:t>hi</a:t>
            </a:r>
            <a:r>
              <a:rPr sz="2300" b="0" i="0">
                <a:solidFill>
                  <a:srgbClr val="1C252B"/>
                </a:solidFill>
                <a:latin typeface="Cambria"/>
              </a:rPr>
              <a:t>]</a:t>
            </a:r>
            <a:r>
              <a:rPr sz="2300" b="0" i="0">
                <a:solidFill>
                  <a:srgbClr val="1C252B"/>
                </a:solidFill>
                <a:latin typeface="Segoe UI"/>
              </a:rPr>
              <a:t> is </a:t>
            </a:r>
            <a:r>
              <a:rPr sz="2300" b="0" i="0">
                <a:solidFill>
                  <a:srgbClr val="1C252B"/>
                </a:solidFill>
                <a:latin typeface="Cambria"/>
              </a:rPr>
              <a:t>&gt; </a:t>
            </a:r>
            <a:r>
              <a:rPr sz="2300" b="0" i="1">
                <a:solidFill>
                  <a:srgbClr val="1C252B"/>
                </a:solidFill>
                <a:latin typeface="Cambria"/>
              </a:rPr>
              <a:t>A</a:t>
            </a:r>
            <a:r>
              <a:rPr sz="2300" b="0" i="0">
                <a:solidFill>
                  <a:srgbClr val="1C252B"/>
                </a:solidFill>
                <a:latin typeface="Cambria"/>
              </a:rPr>
              <a:t>[</a:t>
            </a:r>
            <a:r>
              <a:rPr sz="2300" b="0" i="1">
                <a:solidFill>
                  <a:srgbClr val="1C252B"/>
                </a:solidFill>
                <a:latin typeface="Cambria"/>
              </a:rPr>
              <a:t>i</a:t>
            </a:r>
            <a:r>
              <a:rPr sz="2300" b="0" i="0">
                <a:solidFill>
                  <a:srgbClr val="1C252B"/>
                </a:solidFill>
                <a:latin typeface="Cambria"/>
              </a:rPr>
              <a:t>]</a:t>
            </a:r>
            <a:r>
              <a:rPr sz="2300" b="0" i="0">
                <a:solidFill>
                  <a:srgbClr val="1C252B"/>
                </a:solidFill>
                <a:latin typeface="Segoe UI"/>
              </a:rPr>
              <a:t>, and </a:t>
            </a:r>
            <a:r>
              <a:rPr sz="2300" b="0" i="1">
                <a:solidFill>
                  <a:srgbClr val="1C252B"/>
                </a:solidFill>
                <a:latin typeface="Cambria"/>
              </a:rPr>
              <a:t>A</a:t>
            </a:r>
            <a:r>
              <a:rPr sz="2300" b="0" i="0">
                <a:solidFill>
                  <a:srgbClr val="1C252B"/>
                </a:solidFill>
                <a:latin typeface="Cambria"/>
              </a:rPr>
              <a:t>[</a:t>
            </a:r>
            <a:r>
              <a:rPr sz="2300" b="0" i="1">
                <a:solidFill>
                  <a:srgbClr val="1C252B"/>
                </a:solidFill>
                <a:latin typeface="Cambria"/>
              </a:rPr>
              <a:t>i</a:t>
            </a:r>
            <a:r>
              <a:rPr sz="2300" b="0" i="0">
                <a:solidFill>
                  <a:srgbClr val="1C252B"/>
                </a:solidFill>
                <a:latin typeface="Cambria"/>
              </a:rPr>
              <a:t>]</a:t>
            </a:r>
            <a:r>
              <a:rPr sz="2300" b="0" i="0">
                <a:solidFill>
                  <a:srgbClr val="1C252B"/>
                </a:solidFill>
                <a:latin typeface="Segoe UI"/>
              </a:rPr>
              <a:t> is the original pivot.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33457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Two Running Times, Both True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9.1   Hard Split, Easy Join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9.2   Two Running Times, Both True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9.3   Measured: the Gap, and Closing It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9.4   What Is Actually Shipped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§9.2     </a:t>
            </a:r>
            <a:fld id="{2879DE95-0749-4952-8E92-6E7FD77E579E}" type="slidenum">
              <a:rPr lang="en-GB" sz="1000">
                <a:solidFill>
                  <a:srgbClr val="8795A1"/>
                </a:solidFill>
                <a:latin typeface="Segoe UI"/>
              </a:rPr>
              <a:t>10</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59397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Quicksort’s worst case</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9.2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73     </a:t>
            </a:r>
            <a:fld id="{2C0BEC49-DF76-4759-A13F-63CD1B304720}"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Quicksort performs </a:t>
            </a:r>
            <a:r>
              <a:rPr sz="2300" b="0" i="0">
                <a:solidFill>
                  <a:srgbClr val="1C252B"/>
                </a:solidFill>
                <a:latin typeface="Cambria"/>
              </a:rPr>
              <a:t>Θ(</a:t>
            </a:r>
            <a:r>
              <a:rPr sz="2300" b="0" i="1">
                <a:solidFill>
                  <a:srgbClr val="1C252B"/>
                </a:solidFill>
                <a:latin typeface="Cambria"/>
              </a:rPr>
              <a:t>n</a:t>
            </a:r>
            <a:r>
              <a:rPr sz="1500" b="0" i="0" baseline="30000">
                <a:solidFill>
                  <a:srgbClr val="1C252B"/>
                </a:solidFill>
                <a:latin typeface="Cambria"/>
              </a:rPr>
              <a:t>2</a:t>
            </a:r>
            <a:r>
              <a:rPr sz="2300" b="0" i="0">
                <a:solidFill>
                  <a:srgbClr val="1C252B"/>
                </a:solidFill>
                <a:latin typeface="Cambria"/>
              </a:rPr>
              <a:t>)</a:t>
            </a:r>
            <a:r>
              <a:rPr sz="2300" b="0" i="0">
                <a:solidFill>
                  <a:srgbClr val="1C252B"/>
                </a:solidFill>
                <a:latin typeface="Segoe UI"/>
              </a:rPr>
              <a:t> comparisons in the worst case, and that worst case occurs on already-sorted input.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85337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worst case is the commonest input shape in practice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73     </a:t>
            </a:r>
            <a:fld id="{D1FC6C47-1265-4CC6-915A-E09242047B6A}"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69691"/>
          </a:xfrm>
          <a:prstGeom prst="roundRect">
            <a:avLst>
              <a:gd name="adj" fmla="val 3079"/>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69691"/>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This is the part that matters. Quicksort’s worst case is not an exotic adversarial construction — it is </a:t>
            </a:r>
            <a:r>
              <a:rPr sz="2300" b="0" i="1">
                <a:solidFill>
                  <a:srgbClr val="1C252B"/>
                </a:solidFill>
                <a:latin typeface="Segoe UI"/>
              </a:rPr>
              <a:t>data that is already in order</a:t>
            </a:r>
            <a:r>
              <a:rPr sz="2300" b="0" i="0">
                <a:solidFill>
                  <a:srgbClr val="1C252B"/>
                </a:solidFill>
                <a:latin typeface="Segoe UI"/>
              </a:rPr>
              <a:t>, which is what you get from a database query with an </a:t>
            </a:r>
            <a:r>
              <a:rPr sz="2150" b="0" i="0">
                <a:solidFill>
                  <a:srgbClr val="1F4E79"/>
                </a:solidFill>
                <a:latin typeface="Consolas"/>
              </a:rPr>
              <a:t>ORDER BY</a:t>
            </a:r>
            <a:r>
              <a:rPr sz="2300" b="0" i="0">
                <a:solidFill>
                  <a:srgbClr val="1C252B"/>
                </a:solidFill>
                <a:latin typeface="Segoe UI"/>
              </a:rPr>
              <a:t>, a log file, a sorted import, or any list a user has already sorted once.</a:t>
            </a:r>
          </a:p>
        </p:txBody>
      </p:sp>
      <p:sp>
        <p:nvSpPr>
          <p:cNvPr id="10" name="body-1"/>
          <p:cNvSpPr txBox="1"/>
          <p:nvPr/>
        </p:nvSpPr>
        <p:spPr>
          <a:xfrm>
            <a:off x="1060704" y="3667074"/>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 algorithm whose worst case is a rare accident is tolerable. An algorithm whose worst case is Tuesday is not.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11277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Randomised quicksort’s expected time</a:t>
            </a:r>
          </a:p>
        </p:txBody>
      </p:sp>
      <p:pic>
        <p:nvPicPr>
          <p:cNvPr id="3" name="!!kicker-icon" descr="award-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THEOREM 9.3</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73     </a:t>
            </a:r>
            <a:fld id="{A7A2FB4B-A7C8-4D1B-8D9C-093CCF185CE0}"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the pivot is chosen uniformly at random from the subarray, Quicksort performs </a:t>
            </a:r>
            <a:r>
              <a:rPr sz="2300" b="0" i="0">
                <a:solidFill>
                  <a:srgbClr val="1C252B"/>
                </a:solidFill>
                <a:latin typeface="Cambria"/>
              </a:rPr>
              <a:t>O(</a:t>
            </a:r>
            <a:r>
              <a:rPr sz="2300" b="0" i="1">
                <a:solidFill>
                  <a:srgbClr val="1C252B"/>
                </a:solidFill>
                <a:latin typeface="Cambria"/>
              </a:rPr>
              <a:t>n</a:t>
            </a:r>
            <a:r>
              <a:rPr sz="2300" b="0" i="0">
                <a:solidFill>
                  <a:srgbClr val="1C252B"/>
                </a:solidFill>
                <a:latin typeface="Cambria"/>
              </a:rPr>
              <a:t> lg </a:t>
            </a:r>
            <a:r>
              <a:rPr sz="2300" b="0" i="1">
                <a:solidFill>
                  <a:srgbClr val="1C252B"/>
                </a:solidFill>
                <a:latin typeface="Cambria"/>
              </a:rPr>
              <a:t>n</a:t>
            </a:r>
            <a:r>
              <a:rPr sz="2300" b="0" i="0">
                <a:solidFill>
                  <a:srgbClr val="1C252B"/>
                </a:solidFill>
                <a:latin typeface="Cambria"/>
              </a:rPr>
              <a:t>)</a:t>
            </a:r>
            <a:r>
              <a:rPr sz="2300" b="0" i="0">
                <a:solidFill>
                  <a:srgbClr val="1C252B"/>
                </a:solidFill>
                <a:latin typeface="Segoe UI"/>
              </a:rPr>
              <a:t> comparisons in expectation, on </a:t>
            </a:r>
            <a:r>
              <a:rPr sz="2300" b="0" i="1">
                <a:solidFill>
                  <a:srgbClr val="1C252B"/>
                </a:solidFill>
                <a:latin typeface="Segoe UI"/>
              </a:rPr>
              <a:t>every</a:t>
            </a:r>
            <a:r>
              <a:rPr sz="2300" b="0" i="0">
                <a:solidFill>
                  <a:srgbClr val="1C252B"/>
                </a:solidFill>
                <a:latin typeface="Segoe UI"/>
              </a:rPr>
              <a:t> input.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37217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randomising actually bought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§9.2  ·  Handout p. 73     </a:t>
            </a:r>
            <a:fld id="{416EF129-D073-4223-9116-F85C0905210B}"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90263"/>
          </a:xfrm>
          <a:prstGeom prst="roundRect">
            <a:avLst>
              <a:gd name="adj" fmla="val 208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9026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Compare the two statements carefully.</a:t>
            </a:r>
          </a:p>
        </p:txBody>
      </p:sp>
      <p:sp>
        <p:nvSpPr>
          <p:cNvPr id="10" name="body-1"/>
          <p:cNvSpPr txBox="1"/>
          <p:nvPr/>
        </p:nvSpPr>
        <p:spPr>
          <a:xfrm>
            <a:off x="1060704" y="2527782"/>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Without randomisation:</a:t>
            </a:r>
            <a:r>
              <a:rPr sz="2100" b="0" i="0">
                <a:solidFill>
                  <a:srgbClr val="1C252B"/>
                </a:solidFill>
                <a:latin typeface="Segoe UI"/>
              </a:rPr>
              <a:t> “</a:t>
            </a:r>
            <a:r>
              <a:rPr sz="2100" b="0" i="0">
                <a:solidFill>
                  <a:srgbClr val="1C252B"/>
                </a:solidFill>
                <a:latin typeface="Cambria"/>
              </a:rPr>
              <a:t>Θ(</a:t>
            </a:r>
            <a:r>
              <a:rPr sz="2100" b="0" i="1">
                <a:solidFill>
                  <a:srgbClr val="1C252B"/>
                </a:solidFill>
                <a:latin typeface="Cambria"/>
              </a:rPr>
              <a:t>n</a:t>
            </a:r>
            <a:r>
              <a:rPr sz="2100" b="0" i="0">
                <a:solidFill>
                  <a:srgbClr val="1C252B"/>
                </a:solidFill>
                <a:latin typeface="Cambria"/>
              </a:rPr>
              <a:t> lg </a:t>
            </a:r>
            <a:r>
              <a:rPr sz="2100" b="0" i="1">
                <a:solidFill>
                  <a:srgbClr val="1C252B"/>
                </a:solidFill>
                <a:latin typeface="Cambria"/>
              </a:rPr>
              <a:t>n</a:t>
            </a:r>
            <a:r>
              <a:rPr sz="2100" b="0" i="0">
                <a:solidFill>
                  <a:srgbClr val="1C252B"/>
                </a:solidFill>
                <a:latin typeface="Cambria"/>
              </a:rPr>
              <a:t>)</a:t>
            </a:r>
            <a:r>
              <a:rPr sz="2100" b="0" i="0">
                <a:solidFill>
                  <a:srgbClr val="1C252B"/>
                </a:solidFill>
                <a:latin typeface="Segoe UI"/>
              </a:rPr>
              <a:t> </a:t>
            </a:r>
            <a:r>
              <a:rPr sz="2100" b="0" i="1">
                <a:solidFill>
                  <a:srgbClr val="1C252B"/>
                </a:solidFill>
                <a:latin typeface="Segoe UI"/>
              </a:rPr>
              <a:t>on average, assuming the input is a uniform random permutation</a:t>
            </a:r>
            <a:r>
              <a:rPr sz="2100" b="0" i="0">
                <a:solidFill>
                  <a:srgbClr val="1C252B"/>
                </a:solidFill>
                <a:latin typeface="Segoe UI"/>
              </a:rPr>
              <a:t>.” That assumption is about the world, and the world violates it constantly — sorted data is common, not rare.</a:t>
            </a:r>
          </a:p>
        </p:txBody>
      </p:sp>
      <p:sp>
        <p:nvSpPr>
          <p:cNvPr id="11" name="body-2"/>
          <p:cNvSpPr txBox="1"/>
          <p:nvPr/>
        </p:nvSpPr>
        <p:spPr>
          <a:xfrm>
            <a:off x="1060704" y="3672992"/>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F618D"/>
                </a:solidFill>
                <a:latin typeface="Segoe UI"/>
              </a:rPr>
              <a:t>With randomisation:</a:t>
            </a:r>
            <a:r>
              <a:rPr sz="2100" b="0" i="0">
                <a:solidFill>
                  <a:srgbClr val="1C252B"/>
                </a:solidFill>
                <a:latin typeface="Segoe UI"/>
              </a:rPr>
              <a:t> “</a:t>
            </a:r>
            <a:r>
              <a:rPr sz="2100" b="0" i="0">
                <a:solidFill>
                  <a:srgbClr val="1C252B"/>
                </a:solidFill>
                <a:latin typeface="Cambria"/>
              </a:rPr>
              <a:t>O(</a:t>
            </a:r>
            <a:r>
              <a:rPr sz="2100" b="0" i="1">
                <a:solidFill>
                  <a:srgbClr val="1C252B"/>
                </a:solidFill>
                <a:latin typeface="Cambria"/>
              </a:rPr>
              <a:t>n</a:t>
            </a:r>
            <a:r>
              <a:rPr sz="2100" b="0" i="0">
                <a:solidFill>
                  <a:srgbClr val="1C252B"/>
                </a:solidFill>
                <a:latin typeface="Cambria"/>
              </a:rPr>
              <a:t> lg </a:t>
            </a:r>
            <a:r>
              <a:rPr sz="2100" b="0" i="1">
                <a:solidFill>
                  <a:srgbClr val="1C252B"/>
                </a:solidFill>
                <a:latin typeface="Cambria"/>
              </a:rPr>
              <a:t>n</a:t>
            </a:r>
            <a:r>
              <a:rPr sz="2100" b="0" i="0">
                <a:solidFill>
                  <a:srgbClr val="1C252B"/>
                </a:solidFill>
                <a:latin typeface="Cambria"/>
              </a:rPr>
              <a:t>)</a:t>
            </a:r>
            <a:r>
              <a:rPr sz="2100" b="0" i="0">
                <a:solidFill>
                  <a:srgbClr val="1C252B"/>
                </a:solidFill>
                <a:latin typeface="Segoe UI"/>
              </a:rPr>
              <a:t> </a:t>
            </a:r>
            <a:r>
              <a:rPr sz="2100" b="0" i="1">
                <a:solidFill>
                  <a:srgbClr val="1C252B"/>
                </a:solidFill>
                <a:latin typeface="Segoe UI"/>
              </a:rPr>
              <a:t>expected, on every input</a:t>
            </a:r>
            <a:r>
              <a:rPr sz="2100" b="0" i="0">
                <a:solidFill>
                  <a:srgbClr val="1C252B"/>
                </a:solidFill>
                <a:latin typeface="Segoe UI"/>
              </a:rPr>
              <a:t>.” No assumption about the data at all. An adversary who has read your source code, knows your algorithm and chooses the worst possible input still cannot make it slow, because he does not know your coin flips.</a:t>
            </a:r>
          </a:p>
        </p:txBody>
      </p:sp>
      <p:sp>
        <p:nvSpPr>
          <p:cNvPr id="12" name="body-3"/>
          <p:cNvSpPr txBox="1"/>
          <p:nvPr/>
        </p:nvSpPr>
        <p:spPr>
          <a:xfrm>
            <a:off x="1060704" y="5151043"/>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This is Chapter 2’s distinction, and it is the single most valuable idea in the chapter: </a:t>
            </a:r>
            <a:r>
              <a:rPr sz="2100" b="1" i="0">
                <a:solidFill>
                  <a:srgbClr val="1C252B"/>
                </a:solidFill>
                <a:latin typeface="Segoe UI"/>
              </a:rPr>
              <a:t>randomisation converts an assumption you cannot enforce into one you can</a:t>
            </a:r>
            <a:r>
              <a:rPr sz="2100" b="0" i="0">
                <a:solidFill>
                  <a:srgbClr val="1C252B"/>
                </a:solidFill>
                <a:latin typeface="Segoe UI"/>
              </a:rPr>
              <a:t>.</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63156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Measured: the Gap, and Closing It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9.1   Hard Split, Easy Join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9.2   Two Running Times, Both True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9.3   Measured: the Gap, and Closing It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9.4   What Is Actually Shipped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§9.3     </a:t>
            </a:r>
            <a:fld id="{9BAFB91C-6CA7-48F6-93D0-2F71318ECC03}" type="slidenum">
              <a:rPr lang="en-GB" sz="1000">
                <a:solidFill>
                  <a:srgbClr val="8795A1"/>
                </a:solidFill>
                <a:latin typeface="Segoe UI"/>
              </a:rPr>
              <a:t>15</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89096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Comparisons on Already-Sorted Input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75     </a:t>
            </a:r>
            <a:fld id="{4BD7D336-D206-4B07-BDFA-90445B1218D3}"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97268"/>
          </a:xfrm>
          <a:prstGeom prst="roundRect">
            <a:avLst>
              <a:gd name="adj" fmla="val 207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9726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code/ch09_quick.cpp</a:t>
            </a:r>
            <a:r>
              <a:rPr sz="1900" b="0" i="0">
                <a:solidFill>
                  <a:srgbClr val="1C252B"/>
                </a:solidFill>
                <a:latin typeface="Segoe UI"/>
              </a:rPr>
              <a:t> counts comparisons exactly — no timing, no noise.</a:t>
            </a:r>
          </a:p>
        </p:txBody>
      </p:sp>
      <p:graphicFrame>
        <p:nvGraphicFramePr>
          <p:cNvPr id="10" name="body-1"/>
          <p:cNvGraphicFramePr>
            <a:graphicFrameLocks noGrp="1"/>
          </p:cNvGraphicFramePr>
          <p:nvPr/>
        </p:nvGraphicFramePr>
        <p:xfrm>
          <a:off x="1042416" y="2445537"/>
          <a:ext cx="6944859" cy="2340864"/>
        </p:xfrm>
        <a:graphic>
          <a:graphicData uri="http://schemas.openxmlformats.org/drawingml/2006/table">
            <a:tbl>
              <a:tblPr firstRow="0" bandRow="0" firstCol="0" lastRow="0" lastCol="0" bandCol="0">
                <a:tableStyleId>{2D5ABB26-0587-4C30-8999-92F81FD0307C}</a:tableStyleId>
              </a:tblPr>
              <a:tblGrid>
                <a:gridCol w="859584"/>
                <a:gridCol w="1351422"/>
                <a:gridCol w="959427"/>
                <a:gridCol w="1584354"/>
                <a:gridCol w="1024152"/>
                <a:gridCol w="1165920"/>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last-pivot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a:t>
                      </a:r>
                      <a:r>
                        <a:rPr sz="1600" b="1" i="1">
                          <a:solidFill>
                            <a:srgbClr val="1A5276"/>
                          </a:solidFill>
                          <a:latin typeface="Cambria"/>
                        </a:rPr>
                        <a:t>n</a:t>
                      </a:r>
                      <a:r>
                        <a:rPr sz="1050" b="1" i="0" baseline="30000">
                          <a:solidFill>
                            <a:srgbClr val="1A5276"/>
                          </a:solidFill>
                          <a:latin typeface="Cambria"/>
                        </a:rPr>
                        <a:t>2</a:t>
                      </a:r>
                      <a:r>
                        <a:rPr sz="1600" b="1" i="0">
                          <a:solidFill>
                            <a:srgbClr val="1A5276"/>
                          </a:solidFill>
                          <a:latin typeface="Cambria"/>
                        </a:rPr>
                        <a:t>/2)</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random pivot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a:t>
                      </a:r>
                      <a:r>
                        <a:rPr sz="1600" b="1" i="1">
                          <a:solidFill>
                            <a:srgbClr val="1A5276"/>
                          </a:solidFill>
                          <a:latin typeface="Cambria"/>
                        </a:rPr>
                        <a:t>n</a:t>
                      </a:r>
                      <a:r>
                        <a:rPr sz="1600" b="1" i="0">
                          <a:solidFill>
                            <a:srgbClr val="1A5276"/>
                          </a:solidFill>
                          <a:latin typeface="Cambria"/>
                        </a:rPr>
                        <a:t> lg </a:t>
                      </a:r>
                      <a:r>
                        <a:rPr sz="1600" b="1" i="1">
                          <a:solidFill>
                            <a:srgbClr val="1A5276"/>
                          </a:solidFill>
                          <a:latin typeface="Cambria"/>
                        </a:rPr>
                        <a:t>n</a:t>
                      </a:r>
                      <a:r>
                        <a:rPr sz="1600" b="1" i="0">
                          <a:solidFill>
                            <a:srgbClr val="1A5276"/>
                          </a:solidFill>
                          <a:latin typeface="Cambria"/>
                        </a:rPr>
                        <a: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speed-up</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1,000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499,500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0.9990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12,001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1.2042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41.6</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2,000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1,999,000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0.9995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25,000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1.1399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80.0</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4,000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7,998,000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0.9998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52,511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1.0971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152.3</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8,000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31,996,000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0.9999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121,896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1.1752</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262.5</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16,000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127,992,000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0.9999</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271,253</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1.2139</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471.9</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pic>
        <p:nvPicPr>
          <p:cNvPr id="11" name="body-2" descr="The last-pivot column is n(n−1)/2 exactly — 0.9990 → 0.9999, converging to 1. Theorem 9.2 predicted the split (n−1,0) at every level, giving Σk=1n−1k = n(n−1)/2 comparisons, and that is precisely what was counted. This is not an asymptotic estimate; it is the exact numbe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4919116"/>
            <a:ext cx="10234879" cy="941191"/>
          </a:xfrm>
          <a:prstGeom prst="rect">
            <a:avLst/>
          </a:prstGeom>
        </p:spPr>
      </p:pic>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15036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Comparisons on Already-Sorted Input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75     </a:t>
            </a:r>
            <a:fld id="{085F5F05-FA2B-4C91-BB14-B5678F3B8131}"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187067"/>
          </a:xfrm>
          <a:prstGeom prst="roundRect">
            <a:avLst>
              <a:gd name="adj" fmla="val 418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18706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random-pivot column is about </a:t>
            </a:r>
            <a:r>
              <a:rPr sz="1900" b="1" i="0">
                <a:solidFill>
                  <a:srgbClr val="1C252B"/>
                </a:solidFill>
                <a:latin typeface="Cambria"/>
              </a:rPr>
              <a:t>1.15 </a:t>
            </a:r>
            <a:r>
              <a:rPr sz="1900" b="1" i="1">
                <a:solidFill>
                  <a:srgbClr val="1C252B"/>
                </a:solidFill>
                <a:latin typeface="Cambria"/>
              </a:rPr>
              <a:t>n</a:t>
            </a:r>
            <a:r>
              <a:rPr sz="1900" b="1" i="0">
                <a:solidFill>
                  <a:srgbClr val="1C252B"/>
                </a:solidFill>
                <a:latin typeface="Cambria"/>
              </a:rPr>
              <a:t> lg </a:t>
            </a:r>
            <a:r>
              <a:rPr sz="1900" b="1" i="1">
                <a:solidFill>
                  <a:srgbClr val="1C252B"/>
                </a:solidFill>
                <a:latin typeface="Cambria"/>
              </a:rPr>
              <a:t>n</a:t>
            </a:r>
            <a:r>
              <a:rPr sz="1900" b="0" i="0">
                <a:solidFill>
                  <a:srgbClr val="1C252B"/>
                </a:solidFill>
                <a:latin typeface="Segoe UI"/>
              </a:rPr>
              <a:t>, as Theorem 9.3’s </a:t>
            </a:r>
            <a:r>
              <a:rPr sz="1900" b="0" i="0">
                <a:solidFill>
                  <a:srgbClr val="1C252B"/>
                </a:solidFill>
                <a:latin typeface="Cambria"/>
              </a:rPr>
              <a:t>2</a:t>
            </a:r>
            <a:r>
              <a:rPr sz="1900" b="0" i="1">
                <a:solidFill>
                  <a:srgbClr val="1C252B"/>
                </a:solidFill>
                <a:latin typeface="Cambria"/>
              </a:rPr>
              <a:t>n</a:t>
            </a:r>
            <a:r>
              <a:rPr sz="1900" b="0" i="0">
                <a:solidFill>
                  <a:srgbClr val="1C252B"/>
                </a:solidFill>
                <a:latin typeface="Cambria"/>
              </a:rPr>
              <a:t> ln </a:t>
            </a:r>
            <a:r>
              <a:rPr sz="1900" b="0" i="1">
                <a:solidFill>
                  <a:srgbClr val="1C252B"/>
                </a:solidFill>
                <a:latin typeface="Cambria"/>
              </a:rPr>
              <a:t>n</a:t>
            </a:r>
            <a:r>
              <a:rPr sz="1900" b="0" i="0">
                <a:solidFill>
                  <a:srgbClr val="1C252B"/>
                </a:solidFill>
                <a:latin typeface="Cambria"/>
              </a:rPr>
              <a:t> = 1.39 </a:t>
            </a:r>
            <a:r>
              <a:rPr sz="1900" b="0" i="1">
                <a:solidFill>
                  <a:srgbClr val="1C252B"/>
                </a:solidFill>
                <a:latin typeface="Cambria"/>
              </a:rPr>
              <a:t>n</a:t>
            </a:r>
            <a:r>
              <a:rPr sz="1900" b="0" i="0">
                <a:solidFill>
                  <a:srgbClr val="1C252B"/>
                </a:solidFill>
                <a:latin typeface="Cambria"/>
              </a:rPr>
              <a:t> lg </a:t>
            </a:r>
            <a:r>
              <a:rPr sz="1900" b="0" i="1">
                <a:solidFill>
                  <a:srgbClr val="1C252B"/>
                </a:solidFill>
                <a:latin typeface="Cambria"/>
              </a:rPr>
              <a:t>n</a:t>
            </a:r>
            <a:r>
              <a:rPr sz="1900" b="0" i="0">
                <a:solidFill>
                  <a:srgbClr val="1C252B"/>
                </a:solidFill>
                <a:latin typeface="Segoe UI"/>
              </a:rPr>
              <a:t> bound permits.</a:t>
            </a:r>
          </a:p>
        </p:txBody>
      </p:sp>
      <p:sp>
        <p:nvSpPr>
          <p:cNvPr id="10" name="body-0bar">
            <a:extLst>
              <a:ext uri="{C183D7F6-B498-43B3-948B-1728B52AA6E4}">
                <adec:decorative xmlns:adec="http://schemas.microsoft.com/office/drawing/2017/decorative" val="1"/>
              </a:ext>
            </a:extLst>
          </p:cNvPr>
          <p:cNvSpPr/>
          <p:nvPr/>
        </p:nvSpPr>
        <p:spPr>
          <a:xfrm>
            <a:off x="841248" y="2029967"/>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2746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the speed-up grows without limit</a:t>
            </a:r>
            <a:r>
              <a:rPr sz="1900" b="0" i="0">
                <a:solidFill>
                  <a:srgbClr val="1C252B"/>
                </a:solidFill>
                <a:latin typeface="Segoe UI"/>
              </a:rPr>
              <a:t>: 41.6 at </a:t>
            </a:r>
            <a:r>
              <a:rPr sz="1900" b="0" i="1">
                <a:solidFill>
                  <a:srgbClr val="1C252B"/>
                </a:solidFill>
                <a:latin typeface="Cambria"/>
              </a:rPr>
              <a:t>n</a:t>
            </a:r>
            <a:r>
              <a:rPr sz="1900" b="0" i="0">
                <a:solidFill>
                  <a:srgbClr val="1C252B"/>
                </a:solidFill>
                <a:latin typeface="Cambria"/>
              </a:rPr>
              <a:t>=1,000</a:t>
            </a:r>
            <a:r>
              <a:rPr sz="1900" b="0" i="0">
                <a:solidFill>
                  <a:srgbClr val="1C252B"/>
                </a:solidFill>
                <a:latin typeface="Segoe UI"/>
              </a:rPr>
              <a:t> and 471.9 at </a:t>
            </a:r>
            <a:r>
              <a:rPr sz="1900" b="0" i="1">
                <a:solidFill>
                  <a:srgbClr val="1C252B"/>
                </a:solidFill>
                <a:latin typeface="Cambria"/>
              </a:rPr>
              <a:t>n</a:t>
            </a:r>
            <a:r>
              <a:rPr sz="1900" b="0" i="0">
                <a:solidFill>
                  <a:srgbClr val="1C252B"/>
                </a:solidFill>
                <a:latin typeface="Cambria"/>
              </a:rPr>
              <a:t>=16,000</a:t>
            </a:r>
            <a:r>
              <a:rPr sz="1900" b="0" i="0">
                <a:solidFill>
                  <a:srgbClr val="1C252B"/>
                </a:solidFill>
                <a:latin typeface="Segoe UI"/>
              </a:rPr>
              <a:t>. It is multiplying by about 1.8 per doubling, which is what </a:t>
            </a:r>
            <a:r>
              <a:rPr sz="1900" b="0" i="1">
                <a:solidFill>
                  <a:srgbClr val="1C252B"/>
                </a:solidFill>
                <a:latin typeface="Cambria"/>
              </a:rPr>
              <a:t>n</a:t>
            </a:r>
            <a:r>
              <a:rPr sz="1250" b="0" i="0" baseline="30000">
                <a:solidFill>
                  <a:srgbClr val="1C252B"/>
                </a:solidFill>
                <a:latin typeface="Cambria"/>
              </a:rPr>
              <a:t>2</a:t>
            </a:r>
            <a:r>
              <a:rPr sz="1900" b="0" i="0">
                <a:solidFill>
                  <a:srgbClr val="1C252B"/>
                </a:solidFill>
                <a:latin typeface="Cambria"/>
              </a:rPr>
              <a:t>/(</a:t>
            </a:r>
            <a:r>
              <a:rPr sz="1900" b="0" i="1">
                <a:solidFill>
                  <a:srgbClr val="1C252B"/>
                </a:solidFill>
                <a:latin typeface="Cambria"/>
              </a:rPr>
              <a:t>n</a:t>
            </a:r>
            <a:r>
              <a:rPr sz="1900" b="0" i="0">
                <a:solidFill>
                  <a:srgbClr val="1C252B"/>
                </a:solidFill>
                <a:latin typeface="Cambria"/>
              </a:rPr>
              <a:t> lg </a:t>
            </a:r>
            <a:r>
              <a:rPr sz="1900" b="0" i="1">
                <a:solidFill>
                  <a:srgbClr val="1C252B"/>
                </a:solidFill>
                <a:latin typeface="Cambria"/>
              </a:rPr>
              <a:t>n</a:t>
            </a:r>
            <a:r>
              <a:rPr sz="1900" b="0" i="0">
                <a:solidFill>
                  <a:srgbClr val="1C252B"/>
                </a:solidFill>
                <a:latin typeface="Cambria"/>
              </a:rPr>
              <a:t>) = </a:t>
            </a:r>
            <a:r>
              <a:rPr sz="1900" b="0" i="1">
                <a:solidFill>
                  <a:srgbClr val="1C252B"/>
                </a:solidFill>
                <a:latin typeface="Cambria"/>
              </a:rPr>
              <a:t>n</a:t>
            </a:r>
            <a:r>
              <a:rPr sz="1900" b="0" i="0">
                <a:solidFill>
                  <a:srgbClr val="1C252B"/>
                </a:solidFill>
                <a:latin typeface="Cambria"/>
              </a:rPr>
              <a:t>/lg </a:t>
            </a:r>
            <a:r>
              <a:rPr sz="1900" b="0" i="1">
                <a:solidFill>
                  <a:srgbClr val="1C252B"/>
                </a:solidFill>
                <a:latin typeface="Cambria"/>
              </a:rPr>
              <a:t>n</a:t>
            </a:r>
            <a:r>
              <a:rPr sz="1900" b="0" i="0">
                <a:solidFill>
                  <a:srgbClr val="1C252B"/>
                </a:solidFill>
                <a:latin typeface="Segoe UI"/>
              </a:rPr>
              <a:t> does. Extrapolated to a million elements the factor is about 30,000.</a:t>
            </a:r>
          </a:p>
        </p:txBody>
      </p:sp>
      <p:sp>
        <p:nvSpPr>
          <p:cNvPr id="12" name="body-1bar">
            <a:extLst>
              <a:ext uri="{C183D7F6-B498-43B3-948B-1728B52AA6E4}">
                <adec:decorative xmlns:adec="http://schemas.microsoft.com/office/drawing/2017/decorative" val="1"/>
              </a:ext>
            </a:extLst>
          </p:cNvPr>
          <p:cNvSpPr/>
          <p:nvPr/>
        </p:nvSpPr>
        <p:spPr>
          <a:xfrm>
            <a:off x="841248" y="2764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440976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Worst Case Does Not Merely Run Slowly</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75     </a:t>
            </a:r>
            <a:fld id="{F7534908-1C7D-49B9-8090-C371C66E255D}"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59503"/>
          </a:xfrm>
          <a:prstGeom prst="roundRect">
            <a:avLst>
              <a:gd name="adj" fmla="val 209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59503"/>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Recursion depth on the same sorted input:</a:t>
            </a:r>
          </a:p>
        </p:txBody>
      </p:sp>
      <p:graphicFrame>
        <p:nvGraphicFramePr>
          <p:cNvPr id="10" name="body-1"/>
          <p:cNvGraphicFramePr>
            <a:graphicFrameLocks noGrp="1"/>
          </p:cNvGraphicFramePr>
          <p:nvPr/>
        </p:nvGraphicFramePr>
        <p:xfrm>
          <a:off x="1042416" y="2445537"/>
          <a:ext cx="4268841" cy="2340864"/>
        </p:xfrm>
        <a:graphic>
          <a:graphicData uri="http://schemas.openxmlformats.org/drawingml/2006/table">
            <a:tbl>
              <a:tblPr firstRow="0" bandRow="0" firstCol="0" lastRow="0" lastCol="0" bandCol="0">
                <a:tableStyleId>{2D5ABB26-0587-4C30-8999-92F81FD0307C}</a:tableStyleId>
              </a:tblPr>
              <a:tblGrid>
                <a:gridCol w="859584"/>
                <a:gridCol w="1188749"/>
                <a:gridCol w="1584354"/>
                <a:gridCol w="636154"/>
              </a:tblGrid>
              <a:tr h="390144">
                <a:tc>
                  <a:txBody>
                    <a:bodyPr wrap="square"/>
                    <a:lstStyle/>
                    <a:p>
                      <a:pPr algn="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last-pivot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random pivot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Cambria"/>
                        </a:rPr>
                        <a:t>lg </a:t>
                      </a:r>
                      <a:r>
                        <a:rPr sz="1600" b="1" i="1">
                          <a:solidFill>
                            <a:srgbClr val="1A5276"/>
                          </a:solidFill>
                          <a:latin typeface="Cambria"/>
                        </a:rPr>
                        <a:t>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r"/>
                      <a:r>
                        <a:rPr sz="1600" b="0" i="0">
                          <a:solidFill>
                            <a:srgbClr val="1C252B"/>
                          </a:solidFill>
                          <a:latin typeface="Segoe UI"/>
                        </a:rPr>
                        <a:t>1,000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999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21</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10.0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2,000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1,999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26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11.0</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4,000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3,999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27</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12.0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r"/>
                      <a:r>
                        <a:rPr sz="1600" b="0" i="0">
                          <a:solidFill>
                            <a:srgbClr val="1C252B"/>
                          </a:solidFill>
                          <a:latin typeface="Segoe UI"/>
                        </a:rPr>
                        <a:t>8,000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7,999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30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13.0</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r"/>
                      <a:r>
                        <a:rPr sz="1600" b="0" i="0">
                          <a:solidFill>
                            <a:srgbClr val="1C252B"/>
                          </a:solidFill>
                          <a:latin typeface="Segoe UI"/>
                        </a:rPr>
                        <a:t>16,000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15,999</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30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14.0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1" name="body-2"/>
          <p:cNvSpPr txBox="1"/>
          <p:nvPr/>
        </p:nvSpPr>
        <p:spPr>
          <a:xfrm>
            <a:off x="1042416" y="4919116"/>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naive version’s depth is exactly </a:t>
            </a:r>
            <a:r>
              <a:rPr sz="1900" b="1" i="1">
                <a:solidFill>
                  <a:srgbClr val="1C252B"/>
                </a:solidFill>
                <a:latin typeface="Cambria"/>
              </a:rPr>
              <a:t>n</a:t>
            </a:r>
            <a:r>
              <a:rPr sz="1900" b="1" i="0">
                <a:solidFill>
                  <a:srgbClr val="1C252B"/>
                </a:solidFill>
                <a:latin typeface="Cambria"/>
              </a:rPr>
              <a:t>−1</a:t>
            </a:r>
            <a:r>
              <a:rPr sz="1900" b="1" i="0">
                <a:solidFill>
                  <a:srgbClr val="1C252B"/>
                </a:solidFill>
                <a:latin typeface="Segoe UI"/>
              </a:rPr>
              <a:t>.</a:t>
            </a:r>
            <a:r>
              <a:rPr sz="1900" b="0" i="0">
                <a:solidFill>
                  <a:srgbClr val="1C252B"/>
                </a:solidFill>
                <a:latin typeface="Segoe UI"/>
              </a:rPr>
              <a:t> Each of those is a live stack frame. The program measured its own frame size by comparing the address of a local at depth 0 with one at the deepest depth:</a:t>
            </a:r>
          </a:p>
        </p:txBody>
      </p:sp>
      <p:sp>
        <p:nvSpPr>
          <p:cNvPr id="12" name="body-2bar">
            <a:extLst>
              <a:ext uri="{C183D7F6-B498-43B3-948B-1728B52AA6E4}">
                <adec:decorative xmlns:adec="http://schemas.microsoft.com/office/drawing/2017/decorative" val="1"/>
              </a:ext>
            </a:extLst>
          </p:cNvPr>
          <p:cNvSpPr/>
          <p:nvPr/>
        </p:nvSpPr>
        <p:spPr>
          <a:xfrm>
            <a:off x="841248" y="4937404"/>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466915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right)">
                                      <p:cBhvr>
                                        <p:cTn id="13" dur="42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Worst Case Does Not Merely Run Slowly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75     </a:t>
            </a:r>
            <a:fld id="{3F397F3A-82DE-42AC-BADA-F23866CCF797}"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70501"/>
          </a:xfrm>
          <a:prstGeom prst="roundRect">
            <a:avLst>
              <a:gd name="adj" fmla="val 214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7050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42416" y="2011679"/>
          <a:ext cx="4018938" cy="1950720"/>
        </p:xfrm>
        <a:graphic>
          <a:graphicData uri="http://schemas.openxmlformats.org/drawingml/2006/table">
            <a:tbl>
              <a:tblPr firstRow="0" bandRow="0" firstCol="0" lastRow="0" lastCol="0" bandCol="0">
                <a:tableStyleId>{2D5ABB26-0587-4C30-8999-92F81FD0307C}</a:tableStyleId>
              </a:tblPr>
              <a:tblGrid>
                <a:gridCol w="1690075"/>
                <a:gridCol w="2328863"/>
              </a:tblGrid>
              <a:tr h="390144">
                <a:tc>
                  <a:txBody>
                    <a:bodyPr wrap="square"/>
                    <a:lstStyle/>
                    <a:p>
                      <a:pPr algn="l"/>
                      <a:r>
                        <a:rPr sz="1600" b="0" i="0">
                          <a:solidFill>
                            <a:srgbClr val="1C252B"/>
                          </a:solidFill>
                          <a:latin typeface="Segoe UI"/>
                        </a:rPr>
                        <a:t>depth reached</a:t>
                      </a:r>
                      <a:endParaRPr sz="1600"/>
                    </a:p>
                  </a:txBody>
                  <a:tcPr marL="109728" marR="109728" marT="64008" marB="45720" anchor="t">
                    <a:lnL w="0" cmpd="sng">
                      <a:noFill/>
                    </a:lnL>
                    <a:lnR w="0" cmpd="sng">
                      <a:noFill/>
                    </a:lnR>
                    <a:lnT w="19050" cmpd="sng">
                      <a:solidFill>
                        <a:srgbClr val="1A5276"/>
                      </a:solidFill>
                    </a:lnT>
                    <a:lnB w="19050" cmpd="sng">
                      <a:noFill/>
                    </a:lnB>
                    <a:solidFill>
                      <a:srgbClr val="FFFFFF"/>
                    </a:solidFill>
                  </a:tcPr>
                </a:tc>
                <a:tc>
                  <a:txBody>
                    <a:bodyPr wrap="square"/>
                    <a:lstStyle/>
                    <a:p>
                      <a:pPr algn="r"/>
                      <a:r>
                        <a:rPr sz="1600" b="0" i="0">
                          <a:solidFill>
                            <a:srgbClr val="1C252B"/>
                          </a:solidFill>
                          <a:latin typeface="Segoe UI"/>
                        </a:rPr>
                        <a:t>15,999</a:t>
                      </a:r>
                      <a:endParaRPr sz="1600"/>
                    </a:p>
                  </a:txBody>
                  <a:tcPr marL="109728" marR="109728" marT="64008" marB="45720" anchor="t">
                    <a:lnL w="0" cmpd="sng">
                      <a:noFill/>
                    </a:lnL>
                    <a:lnR w="0" cmpd="sng">
                      <a:noFill/>
                    </a:lnR>
                    <a:lnT w="19050" cmpd="sng">
                      <a:solidFill>
                        <a:srgbClr val="1A5276"/>
                      </a:solidFill>
                    </a:lnT>
                    <a:lnB w="19050" cmpd="sng">
                      <a:noFill/>
                    </a:lnB>
                    <a:solidFill>
                      <a:srgbClr val="FFFFFF"/>
                    </a:solidFill>
                  </a:tcPr>
                </a:tc>
              </a:tr>
              <a:tr h="390144">
                <a:tc>
                  <a:txBody>
                    <a:bodyPr wrap="square"/>
                    <a:lstStyle/>
                    <a:p>
                      <a:pPr algn="l"/>
                      <a:r>
                        <a:rPr sz="1600" b="0" i="0">
                          <a:solidFill>
                            <a:srgbClr val="1C252B"/>
                          </a:solidFill>
                          <a:latin typeface="Segoe UI"/>
                        </a:rPr>
                        <a:t>stack span</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1,023,912 bytes</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bytes per frame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64.0</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default stack</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1,048,576 bytes (1 MB)</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frames that fit</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16,384</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0" name="body-1"/>
          <p:cNvSpPr txBox="1"/>
          <p:nvPr/>
        </p:nvSpPr>
        <p:spPr>
          <a:xfrm>
            <a:off x="1042416" y="409511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At </a:t>
            </a:r>
            <a:r>
              <a:rPr sz="1900" b="1" i="1">
                <a:solidFill>
                  <a:srgbClr val="1C252B"/>
                </a:solidFill>
                <a:latin typeface="Cambria"/>
              </a:rPr>
              <a:t>n</a:t>
            </a:r>
            <a:r>
              <a:rPr sz="1900" b="1" i="0">
                <a:solidFill>
                  <a:srgbClr val="1C252B"/>
                </a:solidFill>
                <a:latin typeface="Cambria"/>
              </a:rPr>
              <a:t> = 16,000</a:t>
            </a:r>
            <a:r>
              <a:rPr sz="1900" b="1" i="0">
                <a:solidFill>
                  <a:srgbClr val="1C252B"/>
                </a:solidFill>
                <a:latin typeface="Segoe UI"/>
              </a:rPr>
              <a:t> this program used 99.9% of its stack.</a:t>
            </a:r>
            <a:r>
              <a:rPr sz="1900" b="0" i="0">
                <a:solidFill>
                  <a:srgbClr val="1C252B"/>
                </a:solidFill>
                <a:latin typeface="Segoe UI"/>
              </a:rPr>
              <a:t> It was 385 frames — six elements of input — from dying.</a:t>
            </a:r>
          </a:p>
        </p:txBody>
      </p:sp>
      <p:sp>
        <p:nvSpPr>
          <p:cNvPr id="11" name="body-1bar">
            <a:extLst>
              <a:ext uri="{C183D7F6-B498-43B3-948B-1728B52AA6E4}">
                <adec:decorative xmlns:adec="http://schemas.microsoft.com/office/drawing/2017/decorative" val="1"/>
              </a:ext>
            </a:extLst>
          </p:cNvPr>
          <p:cNvSpPr/>
          <p:nvPr/>
        </p:nvSpPr>
        <p:spPr>
          <a:xfrm>
            <a:off x="841248" y="4113402"/>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4830114"/>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at </a:t>
            </a:r>
            <a:r>
              <a:rPr sz="1900" b="1" i="1">
                <a:solidFill>
                  <a:srgbClr val="1C252B"/>
                </a:solidFill>
                <a:latin typeface="Cambria"/>
              </a:rPr>
              <a:t>n</a:t>
            </a:r>
            <a:r>
              <a:rPr sz="1900" b="1" i="0">
                <a:solidFill>
                  <a:srgbClr val="1C252B"/>
                </a:solidFill>
                <a:latin typeface="Cambria"/>
              </a:rPr>
              <a:t> = 32,000</a:t>
            </a:r>
            <a:r>
              <a:rPr sz="1900" b="1" i="0">
                <a:solidFill>
                  <a:srgbClr val="1C252B"/>
                </a:solidFill>
                <a:latin typeface="Segoe UI"/>
              </a:rPr>
              <a:t> it did die</a:t>
            </a:r>
            <a:r>
              <a:rPr sz="1900" b="0" i="0">
                <a:solidFill>
                  <a:srgbClr val="1C252B"/>
                </a:solidFill>
                <a:latin typeface="Segoe UI"/>
              </a:rPr>
              <a:t>, with </a:t>
            </a:r>
            <a:r>
              <a:rPr sz="1800" b="0" i="0">
                <a:solidFill>
                  <a:srgbClr val="1F4E79"/>
                </a:solidFill>
                <a:latin typeface="Consolas"/>
              </a:rPr>
              <a:t>0xC00000FD</a:t>
            </a:r>
            <a:r>
              <a:rPr sz="1900" b="0" i="0">
                <a:solidFill>
                  <a:srgbClr val="1C252B"/>
                </a:solidFill>
                <a:latin typeface="Segoe UI"/>
              </a:rPr>
              <a:t>, </a:t>
            </a:r>
            <a:r>
              <a:rPr sz="1800" b="0" i="0">
                <a:solidFill>
                  <a:srgbClr val="1F4E79"/>
                </a:solidFill>
                <a:latin typeface="Consolas"/>
              </a:rPr>
              <a:t>STATUS_STACK_OVERFLOW</a:t>
            </a:r>
            <a:r>
              <a:rPr sz="1900" b="0" i="0">
                <a:solidFill>
                  <a:srgbClr val="1C252B"/>
                </a:solidFill>
                <a:latin typeface="Segoe UI"/>
              </a:rPr>
              <a:t>, which is why the timing table in the lab stops at 16,000. The prediction “</a:t>
            </a:r>
            <a:r>
              <a:rPr sz="1900" b="0" i="1">
                <a:solidFill>
                  <a:srgbClr val="1C252B"/>
                </a:solidFill>
                <a:latin typeface="Cambria"/>
              </a:rPr>
              <a:t>n</a:t>
            </a:r>
            <a:r>
              <a:rPr sz="1900" b="0" i="0">
                <a:solidFill>
                  <a:srgbClr val="1C252B"/>
                </a:solidFill>
                <a:latin typeface="Cambria"/>
              </a:rPr>
              <a:t> &gt; 16,384</a:t>
            </a:r>
            <a:r>
              <a:rPr sz="1900" b="0" i="0">
                <a:solidFill>
                  <a:srgbClr val="1C252B"/>
                </a:solidFill>
                <a:latin typeface="Segoe UI"/>
              </a:rPr>
              <a:t> crashes” and the observation agree.</a:t>
            </a:r>
          </a:p>
        </p:txBody>
      </p:sp>
      <p:sp>
        <p:nvSpPr>
          <p:cNvPr id="13" name="body-2bar">
            <a:extLst>
              <a:ext uri="{C183D7F6-B498-43B3-948B-1728B52AA6E4}">
                <adec:decorative xmlns:adec="http://schemas.microsoft.com/office/drawing/2017/decorative" val="1"/>
              </a:ext>
            </a:extLst>
          </p:cNvPr>
          <p:cNvSpPr/>
          <p:nvPr/>
        </p:nvSpPr>
        <p:spPr>
          <a:xfrm>
            <a:off x="841248" y="4848402"/>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492855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2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Worst Case Does Not Merely Run Slowly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75     </a:t>
            </a:r>
            <a:fld id="{90DCAC9E-C590-4DF1-83DF-816CD5BCF149}"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452067"/>
          </a:xfrm>
          <a:prstGeom prst="roundRect">
            <a:avLst>
              <a:gd name="adj" fmla="val 6297"/>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45206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This is the practical form of the worst case.</a:t>
            </a:r>
            <a:r>
              <a:rPr sz="1900" b="0" i="0">
                <a:solidFill>
                  <a:srgbClr val="1C252B"/>
                </a:solidFill>
                <a:latin typeface="Segoe UI"/>
              </a:rPr>
              <a:t> A quadratic sort is a performance bug you can file. A stack overflow is a crash, with no stack trace worth reading, on the day a customer’s data happened to arrive in order.</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18795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And the Trap: On Random Input the Naive Version Wins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§9.3  ·  Handout p. 75     </a:t>
            </a:r>
            <a:fld id="{F89988E1-B7B0-4996-AC7B-689B1DFCAC57}"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27601"/>
          </a:xfrm>
          <a:prstGeom prst="roundRect">
            <a:avLst>
              <a:gd name="adj" fmla="val 2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2760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42416" y="2011679"/>
          <a:ext cx="4614454" cy="1722120"/>
        </p:xfrm>
        <a:graphic>
          <a:graphicData uri="http://schemas.openxmlformats.org/drawingml/2006/table">
            <a:tbl>
              <a:tblPr firstRow="0" bandRow="0" firstCol="0" lastRow="0" lastCol="0" bandCol="0">
                <a:tableStyleId>{2D5ABB26-0587-4C30-8999-92F81FD0307C}</a:tableStyleId>
              </a:tblPr>
              <a:tblGrid>
                <a:gridCol w="837187"/>
                <a:gridCol w="1412977"/>
                <a:gridCol w="1734406"/>
                <a:gridCol w="629884"/>
              </a:tblGrid>
              <a:tr h="344424">
                <a:tc>
                  <a:txBody>
                    <a:bodyPr wrap="square"/>
                    <a:lstStyle/>
                    <a:p>
                      <a:pPr algn="r"/>
                      <a:r>
                        <a:rPr sz="1300" b="1" i="1">
                          <a:solidFill>
                            <a:srgbClr val="1A5276"/>
                          </a:solidFill>
                          <a:latin typeface="Cambria"/>
                        </a:rPr>
                        <a:t>n</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last-pivot (ms)</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random pivot (ms)</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300" b="1" i="0">
                          <a:solidFill>
                            <a:srgbClr val="1A5276"/>
                          </a:solidFill>
                          <a:latin typeface="Segoe UI"/>
                        </a:rPr>
                        <a:t>ratio</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44424">
                <a:tc>
                  <a:txBody>
                    <a:bodyPr wrap="square"/>
                    <a:lstStyle/>
                    <a:p>
                      <a:pPr algn="r"/>
                      <a:r>
                        <a:rPr sz="1300" b="0" i="0">
                          <a:solidFill>
                            <a:srgbClr val="1C252B"/>
                          </a:solidFill>
                          <a:latin typeface="Segoe UI"/>
                        </a:rPr>
                        <a:t>100,000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7.39</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8.86</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0.83</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r"/>
                      <a:r>
                        <a:rPr sz="1300" b="0" i="0">
                          <a:solidFill>
                            <a:srgbClr val="1C252B"/>
                          </a:solidFill>
                          <a:latin typeface="Segoe UI"/>
                        </a:rPr>
                        <a:t>200,000</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16.33</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17.77</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300" b="0" i="0">
                          <a:solidFill>
                            <a:srgbClr val="1C252B"/>
                          </a:solidFill>
                          <a:latin typeface="Segoe UI"/>
                        </a:rPr>
                        <a:t>0.92</a:t>
                      </a:r>
                      <a:endParaRPr sz="1300"/>
                    </a:p>
                  </a:txBody>
                  <a:tcPr marL="109728" marR="109728" marT="64008" marB="45720" anchor="t">
                    <a:lnL w="0" cmpd="sng">
                      <a:noFill/>
                    </a:lnL>
                    <a:lnR w="0" cmpd="sng">
                      <a:noFill/>
                    </a:lnR>
                    <a:lnT w="9525" cmpd="sng">
                      <a:noFill/>
                    </a:lnT>
                    <a:lnB w="9525" cmpd="sng">
                      <a:noFill/>
                    </a:lnB>
                    <a:solidFill>
                      <a:srgbClr val="F2F8FC"/>
                    </a:solidFill>
                  </a:tcPr>
                </a:tc>
              </a:tr>
              <a:tr h="344424">
                <a:tc>
                  <a:txBody>
                    <a:bodyPr wrap="square"/>
                    <a:lstStyle/>
                    <a:p>
                      <a:pPr algn="r"/>
                      <a:r>
                        <a:rPr sz="1300" b="0" i="0">
                          <a:solidFill>
                            <a:srgbClr val="1C252B"/>
                          </a:solidFill>
                          <a:latin typeface="Segoe UI"/>
                        </a:rPr>
                        <a:t>400,000</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33.82</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37.04</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300" b="0" i="0">
                          <a:solidFill>
                            <a:srgbClr val="1C252B"/>
                          </a:solidFill>
                          <a:latin typeface="Segoe UI"/>
                        </a:rPr>
                        <a:t>0.91</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r"/>
                      <a:r>
                        <a:rPr sz="1300" b="0" i="0">
                          <a:solidFill>
                            <a:srgbClr val="1C252B"/>
                          </a:solidFill>
                          <a:latin typeface="Segoe UI"/>
                        </a:rPr>
                        <a:t>800,000</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73.40</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77.72</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r"/>
                      <a:r>
                        <a:rPr sz="1300" b="0" i="0">
                          <a:solidFill>
                            <a:srgbClr val="1C252B"/>
                          </a:solidFill>
                          <a:latin typeface="Segoe UI"/>
                        </a:rPr>
                        <a:t>0.94</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0" name="body-1"/>
          <p:cNvSpPr txBox="1"/>
          <p:nvPr/>
        </p:nvSpPr>
        <p:spPr>
          <a:xfrm>
            <a:off x="1042416" y="3845560"/>
            <a:ext cx="10234879" cy="552907"/>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On random input the unsafe version is 6–17% faster</a:t>
            </a:r>
            <a:r>
              <a:rPr sz="1600" b="0" i="0">
                <a:solidFill>
                  <a:srgbClr val="1C252B"/>
                </a:solidFill>
                <a:latin typeface="Segoe UI"/>
              </a:rPr>
              <a:t>, because it skips a random number generation and a swap per partition.</a:t>
            </a:r>
          </a:p>
        </p:txBody>
      </p:sp>
      <p:sp>
        <p:nvSpPr>
          <p:cNvPr id="11" name="body-1bar">
            <a:extLst>
              <a:ext uri="{C183D7F6-B498-43B3-948B-1728B52AA6E4}">
                <adec:decorative xmlns:adec="http://schemas.microsoft.com/office/drawing/2017/decorative" val="1"/>
              </a:ext>
            </a:extLst>
          </p:cNvPr>
          <p:cNvSpPr/>
          <p:nvPr/>
        </p:nvSpPr>
        <p:spPr>
          <a:xfrm>
            <a:off x="841248" y="3863847"/>
            <a:ext cx="54864" cy="48889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2"/>
          <p:cNvSpPr txBox="1"/>
          <p:nvPr/>
        </p:nvSpPr>
        <p:spPr>
          <a:xfrm>
            <a:off x="1042416" y="4464507"/>
            <a:ext cx="10234879" cy="806500"/>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That is the trap in its purest form.</a:t>
            </a:r>
            <a:r>
              <a:rPr sz="1600" b="0" i="0">
                <a:solidFill>
                  <a:srgbClr val="1C252B"/>
                </a:solidFill>
                <a:latin typeface="Segoe UI"/>
              </a:rPr>
              <a:t> A developer benchmarking on shuffled test data will find randomisation costs 10% and remove it, and the benchmark will support the decision every single time — until the day real, ordered data arrives and the program crashes.</a:t>
            </a:r>
          </a:p>
        </p:txBody>
      </p:sp>
      <p:sp>
        <p:nvSpPr>
          <p:cNvPr id="13" name="body-2bar">
            <a:extLst>
              <a:ext uri="{C183D7F6-B498-43B3-948B-1728B52AA6E4}">
                <adec:decorative xmlns:adec="http://schemas.microsoft.com/office/drawing/2017/decorative" val="1"/>
              </a:ext>
            </a:extLst>
          </p:cNvPr>
          <p:cNvSpPr/>
          <p:nvPr/>
        </p:nvSpPr>
        <p:spPr>
          <a:xfrm>
            <a:off x="841248" y="4482795"/>
            <a:ext cx="54864" cy="74249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body-3"/>
          <p:cNvSpPr txBox="1"/>
          <p:nvPr/>
        </p:nvSpPr>
        <p:spPr>
          <a:xfrm>
            <a:off x="1042416" y="5337048"/>
            <a:ext cx="10234879" cy="299313"/>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7D6608"/>
                </a:solidFill>
                <a:latin typeface="Segoe UI"/>
              </a:rPr>
              <a:t>Ten per cent is the insurance premium.</a:t>
            </a:r>
            <a:r>
              <a:rPr sz="1600" b="0" i="0">
                <a:solidFill>
                  <a:srgbClr val="1C252B"/>
                </a:solidFill>
                <a:latin typeface="Segoe UI"/>
              </a:rPr>
              <a:t> The thing insured against is a factor of 472 and a stack overflow.</a:t>
            </a:r>
          </a:p>
        </p:txBody>
      </p:sp>
      <p:sp>
        <p:nvSpPr>
          <p:cNvPr id="15" name="body-3bar">
            <a:extLst>
              <a:ext uri="{C183D7F6-B498-43B3-948B-1728B52AA6E4}">
                <adec:decorative xmlns:adec="http://schemas.microsoft.com/office/drawing/2017/decorative" val="1"/>
              </a:ext>
            </a:extLst>
          </p:cNvPr>
          <p:cNvSpPr/>
          <p:nvPr/>
        </p:nvSpPr>
        <p:spPr>
          <a:xfrm>
            <a:off x="841248" y="5355336"/>
            <a:ext cx="54864" cy="23530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544735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wipe(right)">
                                      <p:cBhvr>
                                        <p:cTn id="8" dur="420"/>
                                        <p:tgtEl>
                                          <p:spTgt spid="11"/>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2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right)">
                                      <p:cBhvr>
                                        <p:cTn id="16" dur="42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2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right)">
                                      <p:cBhvr>
                                        <p:cTn id="24" dur="42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Is Actually Shipped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9.4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9.1   Hard Split, Easy Join</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9.2   Two Running Times, Both True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9.3   Measured: the Gap, and Closing It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9.4   What Is Actually Shipped</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§9.4     </a:t>
            </a:r>
            <a:fld id="{CD245604-B96B-4D77-BE0E-9BDF3B9E4FF3}" type="slidenum">
              <a:rPr lang="en-GB" sz="1000">
                <a:solidFill>
                  <a:srgbClr val="8795A1"/>
                </a:solidFill>
                <a:latin typeface="Segoe UI"/>
              </a:rPr>
              <a:t>22</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70675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Introsort, and the three defences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76     </a:t>
            </a:r>
            <a:fld id="{07106119-18BC-4D86-A51C-CE26E7B6D166}"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42435"/>
          </a:xfrm>
          <a:prstGeom prst="roundRect">
            <a:avLst>
              <a:gd name="adj" fmla="val 2207"/>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4243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99313"/>
          </a:xfrm>
          <a:prstGeom prst="rect">
            <a:avLst/>
          </a:prstGeom>
          <a:noFill/>
        </p:spPr>
        <p:txBody>
          <a:bodyPr wrap="square" anchor="t" lIns="0" rIns="0" tIns="0" bIns="0">
            <a:noAutofit/>
          </a:bodyPr>
          <a:lstStyle/>
          <a:p>
            <a:pPr algn="l">
              <a:lnSpc>
                <a:spcPct val="104000"/>
              </a:lnSpc>
              <a:spcBef>
                <a:spcPts val="0"/>
              </a:spcBef>
              <a:spcAft>
                <a:spcPts val="0"/>
              </a:spcAft>
            </a:pPr>
            <a:r>
              <a:rPr sz="1500" b="0" i="0">
                <a:solidFill>
                  <a:srgbClr val="1F4E79"/>
                </a:solidFill>
                <a:latin typeface="Consolas"/>
              </a:rPr>
              <a:t>std::sort</a:t>
            </a:r>
            <a:r>
              <a:rPr sz="1600" b="0" i="0">
                <a:solidFill>
                  <a:srgbClr val="1C252B"/>
                </a:solidFill>
                <a:latin typeface="Segoe UI"/>
              </a:rPr>
              <a:t> beat every merge sort in Chapter 8 by 39%. It is </a:t>
            </a:r>
            <a:r>
              <a:rPr sz="1600" b="1" i="0">
                <a:solidFill>
                  <a:srgbClr val="1A5276"/>
                </a:solidFill>
                <a:latin typeface="Segoe UI"/>
              </a:rPr>
              <a:t>introsort</a:t>
            </a:r>
            <a:r>
              <a:rPr sz="1600" b="0" i="0">
                <a:solidFill>
                  <a:srgbClr val="1C252B"/>
                </a:solidFill>
                <a:latin typeface="Segoe UI"/>
              </a:rPr>
              <a:t>, and it stacks three ideas:</a:t>
            </a:r>
          </a:p>
        </p:txBody>
      </p:sp>
      <p:sp>
        <p:nvSpPr>
          <p:cNvPr id="10" name="body-1"/>
          <p:cNvSpPr txBox="1"/>
          <p:nvPr/>
        </p:nvSpPr>
        <p:spPr>
          <a:xfrm>
            <a:off x="1060704" y="2413609"/>
            <a:ext cx="10161727" cy="1709521"/>
          </a:xfrm>
          <a:prstGeom prst="rect">
            <a:avLst/>
          </a:prstGeom>
          <a:noFill/>
        </p:spPr>
        <p:txBody>
          <a:bodyPr wrap="square" anchor="t" lIns="0" rIns="0" tIns="0" bIns="0">
            <a:noAutofit/>
          </a:bodyPr>
          <a:lstStyle/>
          <a:p>
            <a:pPr algn="l" marL="385962" indent="-385962">
              <a:lnSpc>
                <a:spcPct val="104000"/>
              </a:lnSpc>
              <a:spcBef>
                <a:spcPts val="0"/>
              </a:spcBef>
              <a:spcAft>
                <a:spcPts val="560"/>
              </a:spcAft>
            </a:pPr>
            <a:r>
              <a:rPr sz="1600" b="1">
                <a:solidFill>
                  <a:srgbClr val="1F618D"/>
                </a:solidFill>
                <a:latin typeface="Segoe UI"/>
              </a:rPr>
              <a:t>1.	</a:t>
            </a:r>
            <a:r>
              <a:rPr sz="1600" b="1" i="0">
                <a:solidFill>
                  <a:srgbClr val="1F618D"/>
                </a:solidFill>
                <a:latin typeface="Segoe UI"/>
              </a:rPr>
              <a:t>Quicksort</a:t>
            </a:r>
            <a:r>
              <a:rPr sz="1600" b="0" i="0">
                <a:solidFill>
                  <a:srgbClr val="1C252B"/>
                </a:solidFill>
                <a:latin typeface="Segoe UI"/>
              </a:rPr>
              <a:t> as the main engine, for its small constant and its in-place operation — it touches half the memory merge sort does, which is where most of the 39% comes from.</a:t>
            </a:r>
          </a:p>
          <a:p>
            <a:pPr algn="l" marL="385962" indent="-385962">
              <a:lnSpc>
                <a:spcPct val="104000"/>
              </a:lnSpc>
              <a:spcBef>
                <a:spcPts val="0"/>
              </a:spcBef>
              <a:spcAft>
                <a:spcPts val="560"/>
              </a:spcAft>
            </a:pPr>
            <a:r>
              <a:rPr sz="1600" b="1">
                <a:solidFill>
                  <a:srgbClr val="1F618D"/>
                </a:solidFill>
                <a:latin typeface="Segoe UI"/>
              </a:rPr>
              <a:t>2.	</a:t>
            </a:r>
            <a:r>
              <a:rPr sz="1600" b="1" i="0">
                <a:solidFill>
                  <a:srgbClr val="1F618D"/>
                </a:solidFill>
                <a:latin typeface="Segoe UI"/>
              </a:rPr>
              <a:t>An insertion-sort cutoff</a:t>
            </a:r>
            <a:r>
              <a:rPr sz="1600" b="0" i="0">
                <a:solidFill>
                  <a:srgbClr val="1C252B"/>
                </a:solidFill>
                <a:latin typeface="Segoe UI"/>
              </a:rPr>
              <a:t> at around 16–32 elements, for exactly the reason Chapter 1 measured and Chapter 8 tuned.</a:t>
            </a:r>
          </a:p>
          <a:p>
            <a:pPr algn="l" marL="385962" indent="-385962">
              <a:lnSpc>
                <a:spcPct val="104000"/>
              </a:lnSpc>
              <a:spcBef>
                <a:spcPts val="0"/>
              </a:spcBef>
              <a:spcAft>
                <a:spcPts val="0"/>
              </a:spcAft>
            </a:pPr>
            <a:r>
              <a:rPr sz="1600" b="1">
                <a:solidFill>
                  <a:srgbClr val="1F618D"/>
                </a:solidFill>
                <a:latin typeface="Segoe UI"/>
              </a:rPr>
              <a:t>3.	</a:t>
            </a:r>
            <a:r>
              <a:rPr sz="1600" b="1" i="0">
                <a:solidFill>
                  <a:srgbClr val="1F618D"/>
                </a:solidFill>
                <a:latin typeface="Segoe UI"/>
              </a:rPr>
              <a:t>A heapsort fallback.</a:t>
            </a:r>
            <a:r>
              <a:rPr sz="1600" b="0" i="0">
                <a:solidFill>
                  <a:srgbClr val="1C252B"/>
                </a:solidFill>
                <a:latin typeface="Segoe UI"/>
              </a:rPr>
              <a:t> The recursion depth is tracked, and if it exceeds about </a:t>
            </a:r>
            <a:r>
              <a:rPr sz="1600" b="0" i="0">
                <a:solidFill>
                  <a:srgbClr val="1C252B"/>
                </a:solidFill>
                <a:latin typeface="Cambria"/>
              </a:rPr>
              <a:t>2 lg </a:t>
            </a:r>
            <a:r>
              <a:rPr sz="1600" b="0" i="1">
                <a:solidFill>
                  <a:srgbClr val="1C252B"/>
                </a:solidFill>
                <a:latin typeface="Cambria"/>
              </a:rPr>
              <a:t>n</a:t>
            </a:r>
            <a:r>
              <a:rPr sz="1600" b="0" i="0">
                <a:solidFill>
                  <a:srgbClr val="1C252B"/>
                </a:solidFill>
                <a:latin typeface="Segoe UI"/>
              </a:rPr>
              <a:t> the implementation abandons quicksort and finishes with heapsort, which is </a:t>
            </a:r>
            <a:r>
              <a:rPr sz="1600" b="0" i="0">
                <a:solidFill>
                  <a:srgbClr val="1C252B"/>
                </a:solidFill>
                <a:latin typeface="Cambria"/>
              </a:rPr>
              <a:t>O(</a:t>
            </a:r>
            <a:r>
              <a:rPr sz="1600" b="0" i="1">
                <a:solidFill>
                  <a:srgbClr val="1C252B"/>
                </a:solidFill>
                <a:latin typeface="Cambria"/>
              </a:rPr>
              <a:t>n</a:t>
            </a:r>
            <a:r>
              <a:rPr sz="1600" b="0" i="0">
                <a:solidFill>
                  <a:srgbClr val="1C252B"/>
                </a:solidFill>
                <a:latin typeface="Cambria"/>
              </a:rPr>
              <a:t> lg </a:t>
            </a:r>
            <a:r>
              <a:rPr sz="1600" b="0" i="1">
                <a:solidFill>
                  <a:srgbClr val="1C252B"/>
                </a:solidFill>
                <a:latin typeface="Cambria"/>
              </a:rPr>
              <a:t>n</a:t>
            </a:r>
            <a:r>
              <a:rPr sz="1600" b="0" i="0">
                <a:solidFill>
                  <a:srgbClr val="1C252B"/>
                </a:solidFill>
                <a:latin typeface="Cambria"/>
              </a:rPr>
              <a:t>)</a:t>
            </a:r>
            <a:r>
              <a:rPr sz="1600" b="0" i="0">
                <a:solidFill>
                  <a:srgbClr val="1C252B"/>
                </a:solidFill>
                <a:latin typeface="Segoe UI"/>
              </a:rPr>
              <a:t> in the worst case.</a:t>
            </a:r>
          </a:p>
        </p:txBody>
      </p:sp>
      <p:sp>
        <p:nvSpPr>
          <p:cNvPr id="11" name="body-2"/>
          <p:cNvSpPr txBox="1"/>
          <p:nvPr/>
        </p:nvSpPr>
        <p:spPr>
          <a:xfrm>
            <a:off x="1060704" y="4189171"/>
            <a:ext cx="10161727" cy="55290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The third is the interesting one: rather than make the bad case unlikely, it makes it </a:t>
            </a:r>
            <a:r>
              <a:rPr sz="1600" b="0" i="1">
                <a:solidFill>
                  <a:srgbClr val="1C252B"/>
                </a:solidFill>
                <a:latin typeface="Segoe UI"/>
              </a:rPr>
              <a:t>survivable</a:t>
            </a:r>
            <a:r>
              <a:rPr sz="1600" b="0" i="0">
                <a:solidFill>
                  <a:srgbClr val="1C252B"/>
                </a:solidFill>
                <a:latin typeface="Segoe UI"/>
              </a:rPr>
              <a:t>. The guarantee becomes </a:t>
            </a:r>
            <a:r>
              <a:rPr sz="1600" b="0" i="0">
                <a:solidFill>
                  <a:srgbClr val="1C252B"/>
                </a:solidFill>
                <a:latin typeface="Cambria"/>
              </a:rPr>
              <a:t>O(</a:t>
            </a:r>
            <a:r>
              <a:rPr sz="1600" b="0" i="1">
                <a:solidFill>
                  <a:srgbClr val="1C252B"/>
                </a:solidFill>
                <a:latin typeface="Cambria"/>
              </a:rPr>
              <a:t>n</a:t>
            </a:r>
            <a:r>
              <a:rPr sz="1600" b="0" i="0">
                <a:solidFill>
                  <a:srgbClr val="1C252B"/>
                </a:solidFill>
                <a:latin typeface="Cambria"/>
              </a:rPr>
              <a:t> lg </a:t>
            </a:r>
            <a:r>
              <a:rPr sz="1600" b="0" i="1">
                <a:solidFill>
                  <a:srgbClr val="1C252B"/>
                </a:solidFill>
                <a:latin typeface="Cambria"/>
              </a:rPr>
              <a:t>n</a:t>
            </a:r>
            <a:r>
              <a:rPr sz="1600" b="0" i="0">
                <a:solidFill>
                  <a:srgbClr val="1C252B"/>
                </a:solidFill>
                <a:latin typeface="Cambria"/>
              </a:rPr>
              <a:t>)</a:t>
            </a:r>
            <a:r>
              <a:rPr sz="1600" b="0" i="0">
                <a:solidFill>
                  <a:srgbClr val="1C252B"/>
                </a:solidFill>
                <a:latin typeface="Segoe UI"/>
              </a:rPr>
              <a:t> worst case, with quicksort’s constants almost all of the time.</a:t>
            </a:r>
          </a:p>
        </p:txBody>
      </p:sp>
      <p:sp>
        <p:nvSpPr>
          <p:cNvPr id="12" name="body-3"/>
          <p:cNvSpPr txBox="1"/>
          <p:nvPr/>
        </p:nvSpPr>
        <p:spPr>
          <a:xfrm>
            <a:off x="1060704" y="4808118"/>
            <a:ext cx="10161727" cy="806500"/>
          </a:xfrm>
          <a:prstGeom prst="rect">
            <a:avLst/>
          </a:prstGeom>
          <a:noFill/>
        </p:spPr>
        <p:txBody>
          <a:bodyPr wrap="square" anchor="t" lIns="0" rIns="0" tIns="0" bIns="0">
            <a:noAutofit/>
          </a:bodyPr>
          <a:lstStyle/>
          <a:p>
            <a:pPr algn="l">
              <a:lnSpc>
                <a:spcPct val="104000"/>
              </a:lnSpc>
              <a:spcBef>
                <a:spcPts val="0"/>
              </a:spcBef>
              <a:spcAft>
                <a:spcPts val="0"/>
              </a:spcAft>
            </a:pPr>
            <a:r>
              <a:rPr sz="1600" b="1" i="0">
                <a:solidFill>
                  <a:srgbClr val="1F618D"/>
                </a:solidFill>
                <a:latin typeface="Segoe UI"/>
              </a:rPr>
              <a:t>Median-of-three</a:t>
            </a:r>
            <a:r>
              <a:rPr sz="1600" b="0" i="0">
                <a:solidFill>
                  <a:srgbClr val="1C252B"/>
                </a:solidFill>
                <a:latin typeface="Segoe UI"/>
              </a:rPr>
              <a:t> — taking the median of the first, middle and last elements as pivot — is a cheaper partial defence, and it fixes the sorted-input case specifically. It does not give a worst-case guarantee: an adversary who knows you use it can still construct a quadratic input. Use it with randomisation, not instead of it.</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596614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Merge sort or quicksort?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76     </a:t>
            </a:r>
            <a:fld id="{2D93C36C-8CBB-4F8C-84B6-40FF3E2C1A74}"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51959"/>
          </a:xfrm>
          <a:prstGeom prst="roundRect">
            <a:avLst>
              <a:gd name="adj" fmla="val 215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51959"/>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60704" y="2048255"/>
          <a:ext cx="10161726" cy="3630167"/>
        </p:xfrm>
        <a:graphic>
          <a:graphicData uri="http://schemas.openxmlformats.org/drawingml/2006/table">
            <a:tbl>
              <a:tblPr firstRow="0" bandRow="0" firstCol="0" lastRow="0" lastCol="0" bandCol="0">
                <a:tableStyleId>{2D5ABB26-0587-4C30-8999-92F81FD0307C}</a:tableStyleId>
              </a:tblPr>
              <a:tblGrid>
                <a:gridCol w="2467848"/>
                <a:gridCol w="3629188"/>
                <a:gridCol w="4064690"/>
              </a:tblGrid>
              <a:tr h="435864">
                <a:tc>
                  <a:txBody>
                    <a:bodyPr wrap="square"/>
                    <a:lstStyle/>
                    <a:p>
                      <a:pPr algn="l"/>
                      <a:endParaRPr sz="19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900" b="1" i="0">
                          <a:solidFill>
                            <a:srgbClr val="1A5276"/>
                          </a:solidFill>
                          <a:latin typeface="Segoe UI"/>
                        </a:rPr>
                        <a:t>Merge sort</a:t>
                      </a:r>
                      <a:endParaRPr sz="19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900" b="1" i="0">
                          <a:solidFill>
                            <a:srgbClr val="1A5276"/>
                          </a:solidFill>
                          <a:latin typeface="Segoe UI"/>
                        </a:rPr>
                        <a:t>Quicksort (randomised)</a:t>
                      </a:r>
                      <a:endParaRPr sz="19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35864">
                <a:tc>
                  <a:txBody>
                    <a:bodyPr wrap="square"/>
                    <a:lstStyle/>
                    <a:p>
                      <a:pPr algn="l"/>
                      <a:r>
                        <a:rPr sz="1900" b="0" i="0">
                          <a:solidFill>
                            <a:srgbClr val="1C252B"/>
                          </a:solidFill>
                          <a:latin typeface="Segoe UI"/>
                        </a:rPr>
                        <a:t>worst case</a:t>
                      </a:r>
                      <a:endParaRPr sz="19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900" b="0" i="0">
                          <a:solidFill>
                            <a:srgbClr val="1C252B"/>
                          </a:solidFill>
                          <a:latin typeface="Cambria"/>
                        </a:rPr>
                        <a:t>Θ(</a:t>
                      </a:r>
                      <a:r>
                        <a:rPr sz="1900" b="0" i="1">
                          <a:solidFill>
                            <a:srgbClr val="1C252B"/>
                          </a:solidFill>
                          <a:latin typeface="Cambria"/>
                        </a:rPr>
                        <a:t>n</a:t>
                      </a:r>
                      <a:r>
                        <a:rPr sz="1900" b="0" i="0">
                          <a:solidFill>
                            <a:srgbClr val="1C252B"/>
                          </a:solidFill>
                          <a:latin typeface="Cambria"/>
                        </a:rPr>
                        <a:t> lg </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guaranteed</a:t>
                      </a:r>
                      <a:endParaRPr sz="19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900" b="0" i="0">
                          <a:solidFill>
                            <a:srgbClr val="1C252B"/>
                          </a:solidFill>
                          <a:latin typeface="Cambria"/>
                        </a:rPr>
                        <a:t>Θ(</a:t>
                      </a:r>
                      <a:r>
                        <a:rPr sz="1900" b="0" i="1">
                          <a:solidFill>
                            <a:srgbClr val="1C252B"/>
                          </a:solidFill>
                          <a:latin typeface="Cambria"/>
                        </a:rPr>
                        <a:t>n</a:t>
                      </a:r>
                      <a:r>
                        <a:rPr sz="1250" b="0" i="0" baseline="30000">
                          <a:solidFill>
                            <a:srgbClr val="1C252B"/>
                          </a:solidFill>
                          <a:latin typeface="Cambria"/>
                        </a:rPr>
                        <a:t>2</a:t>
                      </a:r>
                      <a:r>
                        <a:rPr sz="1900" b="0" i="0">
                          <a:solidFill>
                            <a:srgbClr val="1C252B"/>
                          </a:solidFill>
                          <a:latin typeface="Cambria"/>
                        </a:rPr>
                        <a:t>)</a:t>
                      </a:r>
                      <a:r>
                        <a:rPr sz="1900" b="0" i="0">
                          <a:solidFill>
                            <a:srgbClr val="1C252B"/>
                          </a:solidFill>
                          <a:latin typeface="Segoe UI"/>
                        </a:rPr>
                        <a:t>, probability vanishingly small</a:t>
                      </a:r>
                      <a:endParaRPr sz="1900"/>
                    </a:p>
                  </a:txBody>
                  <a:tcPr marL="109728" marR="109728" marT="64008" marB="45720" anchor="t">
                    <a:lnL w="0" cmpd="sng">
                      <a:noFill/>
                    </a:lnL>
                    <a:lnR w="0" cmpd="sng">
                      <a:noFill/>
                    </a:lnR>
                    <a:lnT w="9525" cmpd="sng">
                      <a:noFill/>
                    </a:lnT>
                    <a:lnB w="9525" cmpd="sng">
                      <a:noFill/>
                    </a:lnB>
                    <a:solidFill>
                      <a:srgbClr val="FFFFFF"/>
                    </a:solidFill>
                  </a:tcPr>
                </a:tc>
              </a:tr>
              <a:tr h="435864">
                <a:tc>
                  <a:txBody>
                    <a:bodyPr wrap="square"/>
                    <a:lstStyle/>
                    <a:p>
                      <a:pPr algn="l"/>
                      <a:r>
                        <a:rPr sz="1900" b="0" i="0">
                          <a:solidFill>
                            <a:srgbClr val="1C252B"/>
                          </a:solidFill>
                          <a:latin typeface="Segoe UI"/>
                        </a:rPr>
                        <a:t>expected</a:t>
                      </a:r>
                      <a:endParaRPr sz="19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900" b="0" i="0">
                          <a:solidFill>
                            <a:srgbClr val="1C252B"/>
                          </a:solidFill>
                          <a:latin typeface="Cambria"/>
                        </a:rPr>
                        <a:t>Θ(</a:t>
                      </a:r>
                      <a:r>
                        <a:rPr sz="1900" b="0" i="1">
                          <a:solidFill>
                            <a:srgbClr val="1C252B"/>
                          </a:solidFill>
                          <a:latin typeface="Cambria"/>
                        </a:rPr>
                        <a:t>n</a:t>
                      </a:r>
                      <a:r>
                        <a:rPr sz="1900" b="0" i="0">
                          <a:solidFill>
                            <a:srgbClr val="1C252B"/>
                          </a:solidFill>
                          <a:latin typeface="Cambria"/>
                        </a:rPr>
                        <a:t> lg </a:t>
                      </a:r>
                      <a:r>
                        <a:rPr sz="1900" b="0" i="1">
                          <a:solidFill>
                            <a:srgbClr val="1C252B"/>
                          </a:solidFill>
                          <a:latin typeface="Cambria"/>
                        </a:rPr>
                        <a:t>n</a:t>
                      </a:r>
                      <a:r>
                        <a:rPr sz="1900" b="0" i="0">
                          <a:solidFill>
                            <a:srgbClr val="1C252B"/>
                          </a:solidFill>
                          <a:latin typeface="Cambria"/>
                        </a:rPr>
                        <a:t>)</a:t>
                      </a:r>
                      <a:endParaRPr sz="19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900" b="0" i="0">
                          <a:solidFill>
                            <a:srgbClr val="1C252B"/>
                          </a:solidFill>
                          <a:latin typeface="Cambria"/>
                        </a:rPr>
                        <a:t>Θ(</a:t>
                      </a:r>
                      <a:r>
                        <a:rPr sz="1900" b="0" i="1">
                          <a:solidFill>
                            <a:srgbClr val="1C252B"/>
                          </a:solidFill>
                          <a:latin typeface="Cambria"/>
                        </a:rPr>
                        <a:t>n</a:t>
                      </a:r>
                      <a:r>
                        <a:rPr sz="1900" b="0" i="0">
                          <a:solidFill>
                            <a:srgbClr val="1C252B"/>
                          </a:solidFill>
                          <a:latin typeface="Cambria"/>
                        </a:rPr>
                        <a:t> lg </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smaller constant</a:t>
                      </a:r>
                      <a:endParaRPr sz="1900"/>
                    </a:p>
                  </a:txBody>
                  <a:tcPr marL="109728" marR="109728" marT="64008" marB="45720" anchor="t">
                    <a:lnL w="0" cmpd="sng">
                      <a:noFill/>
                    </a:lnL>
                    <a:lnR w="0" cmpd="sng">
                      <a:noFill/>
                    </a:lnR>
                    <a:lnT w="9525" cmpd="sng">
                      <a:noFill/>
                    </a:lnT>
                    <a:lnB w="9525" cmpd="sng">
                      <a:noFill/>
                    </a:lnB>
                    <a:solidFill>
                      <a:srgbClr val="F2F8FC"/>
                    </a:solidFill>
                  </a:tcPr>
                </a:tc>
              </a:tr>
              <a:tr h="435864">
                <a:tc>
                  <a:txBody>
                    <a:bodyPr wrap="square"/>
                    <a:lstStyle/>
                    <a:p>
                      <a:pPr algn="l"/>
                      <a:r>
                        <a:rPr sz="1900" b="0" i="0">
                          <a:solidFill>
                            <a:srgbClr val="1C252B"/>
                          </a:solidFill>
                          <a:latin typeface="Segoe UI"/>
                        </a:rPr>
                        <a:t>space</a:t>
                      </a:r>
                      <a:endParaRPr sz="19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900" b="0" i="0">
                          <a:solidFill>
                            <a:srgbClr val="1C252B"/>
                          </a:solidFill>
                          <a:latin typeface="Cambria"/>
                        </a:rPr>
                        <a:t>Θ(</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auxiliary</a:t>
                      </a:r>
                      <a:endParaRPr sz="19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900" b="0" i="0">
                          <a:solidFill>
                            <a:srgbClr val="1C252B"/>
                          </a:solidFill>
                          <a:latin typeface="Cambria"/>
                        </a:rPr>
                        <a:t>Θ(lg </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stack, in place</a:t>
                      </a:r>
                      <a:endParaRPr sz="1900"/>
                    </a:p>
                  </a:txBody>
                  <a:tcPr marL="109728" marR="109728" marT="64008" marB="45720" anchor="t">
                    <a:lnL w="0" cmpd="sng">
                      <a:noFill/>
                    </a:lnL>
                    <a:lnR w="0" cmpd="sng">
                      <a:noFill/>
                    </a:lnR>
                    <a:lnT w="9525" cmpd="sng">
                      <a:noFill/>
                    </a:lnT>
                    <a:lnB w="9525" cmpd="sng">
                      <a:noFill/>
                    </a:lnB>
                    <a:solidFill>
                      <a:srgbClr val="FFFFFF"/>
                    </a:solidFill>
                  </a:tcPr>
                </a:tc>
              </a:tr>
              <a:tr h="435864">
                <a:tc>
                  <a:txBody>
                    <a:bodyPr wrap="square"/>
                    <a:lstStyle/>
                    <a:p>
                      <a:pPr algn="l"/>
                      <a:r>
                        <a:rPr sz="1900" b="0" i="0">
                          <a:solidFill>
                            <a:srgbClr val="1C252B"/>
                          </a:solidFill>
                          <a:latin typeface="Segoe UI"/>
                        </a:rPr>
                        <a:t>stable</a:t>
                      </a:r>
                      <a:endParaRPr sz="19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900" b="0" i="0">
                          <a:solidFill>
                            <a:srgbClr val="1C252B"/>
                          </a:solidFill>
                          <a:latin typeface="Segoe UI"/>
                        </a:rPr>
                        <a:t>yes</a:t>
                      </a:r>
                      <a:endParaRPr sz="19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900" b="0" i="0">
                          <a:solidFill>
                            <a:srgbClr val="1C252B"/>
                          </a:solidFill>
                          <a:latin typeface="Segoe UI"/>
                        </a:rPr>
                        <a:t>no</a:t>
                      </a:r>
                      <a:endParaRPr sz="1900"/>
                    </a:p>
                  </a:txBody>
                  <a:tcPr marL="109728" marR="109728" marT="64008" marB="45720" anchor="t">
                    <a:lnL w="0" cmpd="sng">
                      <a:noFill/>
                    </a:lnL>
                    <a:lnR w="0" cmpd="sng">
                      <a:noFill/>
                    </a:lnR>
                    <a:lnT w="9525" cmpd="sng">
                      <a:noFill/>
                    </a:lnT>
                    <a:lnB w="9525" cmpd="sng">
                      <a:noFill/>
                    </a:lnB>
                    <a:solidFill>
                      <a:srgbClr val="F2F8FC"/>
                    </a:solidFill>
                  </a:tcPr>
                </a:tc>
              </a:tr>
              <a:tr h="435864">
                <a:tc>
                  <a:txBody>
                    <a:bodyPr wrap="square"/>
                    <a:lstStyle/>
                    <a:p>
                      <a:pPr algn="l"/>
                      <a:r>
                        <a:rPr sz="1900" b="0" i="0">
                          <a:solidFill>
                            <a:srgbClr val="1C252B"/>
                          </a:solidFill>
                          <a:latin typeface="Segoe UI"/>
                        </a:rPr>
                        <a:t>depth</a:t>
                      </a:r>
                      <a:endParaRPr sz="19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900" b="0" i="0">
                          <a:solidFill>
                            <a:srgbClr val="1C252B"/>
                          </a:solidFill>
                          <a:latin typeface="Cambria"/>
                        </a:rPr>
                        <a:t>Θ(lg </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always</a:t>
                      </a:r>
                      <a:endParaRPr sz="19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900" b="0" i="0">
                          <a:solidFill>
                            <a:srgbClr val="1C252B"/>
                          </a:solidFill>
                          <a:latin typeface="Cambria"/>
                        </a:rPr>
                        <a:t>Θ(lg </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expected</a:t>
                      </a:r>
                      <a:endParaRPr sz="1900"/>
                    </a:p>
                  </a:txBody>
                  <a:tcPr marL="109728" marR="109728" marT="64008" marB="45720" anchor="t">
                    <a:lnL w="0" cmpd="sng">
                      <a:noFill/>
                    </a:lnL>
                    <a:lnR w="0" cmpd="sng">
                      <a:noFill/>
                    </a:lnR>
                    <a:lnT w="9525" cmpd="sng">
                      <a:noFill/>
                    </a:lnT>
                    <a:lnB w="9525" cmpd="sng">
                      <a:noFill/>
                    </a:lnB>
                    <a:solidFill>
                      <a:srgbClr val="FFFFFF"/>
                    </a:solidFill>
                  </a:tcPr>
                </a:tc>
              </a:tr>
              <a:tr h="1014983">
                <a:tc>
                  <a:txBody>
                    <a:bodyPr wrap="square"/>
                    <a:lstStyle/>
                    <a:p>
                      <a:pPr algn="l"/>
                      <a:r>
                        <a:rPr sz="1900" b="0" i="0">
                          <a:solidFill>
                            <a:srgbClr val="1C252B"/>
                          </a:solidFill>
                          <a:latin typeface="Segoe UI"/>
                        </a:rPr>
                        <a:t>choose it when</a:t>
                      </a:r>
                      <a:endParaRPr sz="19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900" b="0" i="0">
                          <a:solidFill>
                            <a:srgbClr val="1C252B"/>
                          </a:solidFill>
                          <a:latin typeface="Segoe UI"/>
                        </a:rPr>
                        <a:t>stability matters; worst case must be bounded; data is on disk or a linked list</a:t>
                      </a:r>
                      <a:endParaRPr sz="19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900" b="0" i="0">
                          <a:solidFill>
                            <a:srgbClr val="1C252B"/>
                          </a:solidFill>
                          <a:latin typeface="Segoe UI"/>
                        </a:rPr>
                        <a:t>memory is tight; average speed matters; data is an array in memory</a:t>
                      </a:r>
                      <a:endParaRPr sz="19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22554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76     </a:t>
            </a:r>
            <a:fld id="{324EA83A-5006-41FF-B6C5-34EC45AB8855}" type="slidenum">
              <a:rPr lang="en-GB" sz="1000">
                <a:solidFill>
                  <a:srgbClr val="8795A1"/>
                </a:solidFill>
                <a:latin typeface="Segoe UI"/>
              </a:rPr>
              <a:t>25</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Benchmarking only on shuffled data.</a:t>
            </a:r>
            <a:r>
              <a:rPr sz="1700" b="0" i="0">
                <a:solidFill>
                  <a:srgbClr val="1C252B"/>
                </a:solidFill>
                <a:latin typeface="Segoe UI"/>
              </a:rPr>
              <a:t> It is the one distribution on which the dangerous version looks good — measured, 10% better.</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Believing median-of-three is a guarantee.</a:t>
            </a:r>
            <a:r>
              <a:rPr sz="1700" b="0" i="0">
                <a:solidFill>
                  <a:srgbClr val="1C252B"/>
                </a:solidFill>
                <a:latin typeface="Segoe UI"/>
              </a:rPr>
              <a:t> It defeats sorted input, not an adversary.</a:t>
            </a:r>
          </a:p>
        </p:txBody>
      </p:sp>
      <p:sp>
        <p:nvSpPr>
          <p:cNvPr id="13" name="!!pb2">
            <a:extLst>
              <a:ext uri="{C183D7F6-B498-43B3-948B-1728B52AA6E4}">
                <adec:decorative xmlns:adec="http://schemas.microsoft.com/office/drawing/2017/decorative" val="1"/>
              </a:ext>
            </a:extLst>
          </p:cNvPr>
          <p:cNvSpPr/>
          <p:nvPr/>
        </p:nvSpPr>
        <p:spPr>
          <a:xfrm>
            <a:off x="658368" y="306263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08549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044342"/>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Forgetting recursion depth.</a:t>
            </a:r>
            <a:r>
              <a:rPr sz="1700" b="0" i="0">
                <a:solidFill>
                  <a:srgbClr val="1C252B"/>
                </a:solidFill>
                <a:latin typeface="Segoe UI"/>
              </a:rPr>
              <a:t> Depth </a:t>
            </a:r>
            <a:r>
              <a:rPr sz="1700" b="0" i="1">
                <a:solidFill>
                  <a:srgbClr val="1C252B"/>
                </a:solidFill>
                <a:latin typeface="Cambria"/>
              </a:rPr>
              <a:t>n</a:t>
            </a:r>
            <a:r>
              <a:rPr sz="1700" b="0" i="0">
                <a:solidFill>
                  <a:srgbClr val="1C252B"/>
                </a:solidFill>
                <a:latin typeface="Cambria"/>
              </a:rPr>
              <a:t>−1</a:t>
            </a:r>
            <a:r>
              <a:rPr sz="1700" b="0" i="0">
                <a:solidFill>
                  <a:srgbClr val="1C252B"/>
                </a:solidFill>
                <a:latin typeface="Segoe UI"/>
              </a:rPr>
              <a:t> is a crash, not a slow program, and it arrives at 16,384 elements on a 1 MB stack.</a:t>
            </a:r>
          </a:p>
        </p:txBody>
      </p:sp>
      <p:sp>
        <p:nvSpPr>
          <p:cNvPr id="16" name="!!pb3">
            <a:extLst>
              <a:ext uri="{C183D7F6-B498-43B3-948B-1728B52AA6E4}">
                <adec:decorative xmlns:adec="http://schemas.microsoft.com/office/drawing/2017/decorative" val="1"/>
              </a:ext>
            </a:extLst>
          </p:cNvPr>
          <p:cNvSpPr/>
          <p:nvPr/>
        </p:nvSpPr>
        <p:spPr>
          <a:xfrm>
            <a:off x="658368" y="38026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8255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84396"/>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Not recursing on the smaller side first.</a:t>
            </a:r>
            <a:r>
              <a:rPr sz="1700" b="0" i="0">
                <a:solidFill>
                  <a:srgbClr val="1C252B"/>
                </a:solidFill>
                <a:latin typeface="Segoe UI"/>
              </a:rPr>
              <a:t> Recursing into the smaller part and looping on the larger bounds the stack at </a:t>
            </a:r>
            <a:r>
              <a:rPr sz="1700" b="0" i="0">
                <a:solidFill>
                  <a:srgbClr val="1C252B"/>
                </a:solidFill>
                <a:latin typeface="Cambria"/>
              </a:rPr>
              <a:t>O(lg </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even in the worst case — a two-line change that removes the crash, though not the quadratic time.</a:t>
            </a:r>
          </a:p>
        </p:txBody>
      </p:sp>
      <p:sp>
        <p:nvSpPr>
          <p:cNvPr id="19" name="!!pb4">
            <a:extLst>
              <a:ext uri="{C183D7F6-B498-43B3-948B-1728B52AA6E4}">
                <adec:decorative xmlns:adec="http://schemas.microsoft.com/office/drawing/2017/decorative" val="1"/>
              </a:ext>
            </a:extLst>
          </p:cNvPr>
          <p:cNvSpPr/>
          <p:nvPr/>
        </p:nvSpPr>
        <p:spPr>
          <a:xfrm>
            <a:off x="658368" y="481218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83504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79389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Using quicksort when stability is required.</a:t>
            </a:r>
            <a:r>
              <a:rPr sz="1700" b="0" i="0">
                <a:solidFill>
                  <a:srgbClr val="1C252B"/>
                </a:solidFill>
                <a:latin typeface="Segoe UI"/>
              </a:rPr>
              <a:t> It is not stable, and no amount of pivot selection makes it so.</a:t>
            </a:r>
          </a:p>
        </p:txBody>
      </p:sp>
      <p:sp>
        <p:nvSpPr>
          <p:cNvPr id="22" name="!!pb5">
            <a:extLst>
              <a:ext uri="{C183D7F6-B498-43B3-948B-1728B52AA6E4}">
                <adec:decorative xmlns:adec="http://schemas.microsoft.com/office/drawing/2017/decorative" val="1"/>
              </a:ext>
            </a:extLst>
          </p:cNvPr>
          <p:cNvSpPr/>
          <p:nvPr/>
        </p:nvSpPr>
        <p:spPr>
          <a:xfrm>
            <a:off x="658368" y="555223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57509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53394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Seeding the generator with a constant.</a:t>
            </a:r>
            <a:r>
              <a:rPr sz="1700" b="0" i="0">
                <a:solidFill>
                  <a:srgbClr val="1C252B"/>
                </a:solidFill>
                <a:latin typeface="Segoe UI"/>
              </a:rPr>
              <a:t> An adversary who can read your binary can then reproduce your pivots, and the guarantee of Theorem 9.3 is gone.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648494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76     </a:t>
            </a:r>
            <a:fld id="{EDAB4E2D-35CB-40F3-97CC-48E5CD9A2E60}" type="slidenum">
              <a:rPr lang="en-GB" sz="1000">
                <a:solidFill>
                  <a:srgbClr val="8795A1"/>
                </a:solidFill>
                <a:latin typeface="Segoe UI"/>
              </a:rPr>
              <a:t>26</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Confusing “expected </a:t>
            </a:r>
            <a:r>
              <a:rPr sz="1700" b="1" i="0">
                <a:solidFill>
                  <a:srgbClr val="1C252B"/>
                </a:solidFill>
                <a:latin typeface="Cambria"/>
              </a:rPr>
              <a:t>Θ(</a:t>
            </a:r>
            <a:r>
              <a:rPr sz="1700" b="1" i="1">
                <a:solidFill>
                  <a:srgbClr val="1C252B"/>
                </a:solidFill>
                <a:latin typeface="Cambria"/>
              </a:rPr>
              <a:t>n</a:t>
            </a:r>
            <a:r>
              <a:rPr sz="1700" b="1" i="0">
                <a:solidFill>
                  <a:srgbClr val="1C252B"/>
                </a:solidFill>
                <a:latin typeface="Cambria"/>
              </a:rPr>
              <a:t> lg </a:t>
            </a:r>
            <a:r>
              <a:rPr sz="1700" b="1" i="1">
                <a:solidFill>
                  <a:srgbClr val="1C252B"/>
                </a:solidFill>
                <a:latin typeface="Cambria"/>
              </a:rPr>
              <a:t>n</a:t>
            </a:r>
            <a:r>
              <a:rPr sz="1700" b="1" i="0">
                <a:solidFill>
                  <a:srgbClr val="1C252B"/>
                </a:solidFill>
                <a:latin typeface="Cambria"/>
              </a:rPr>
              <a:t>)</a:t>
            </a:r>
            <a:r>
              <a:rPr sz="1700" b="1" i="0">
                <a:solidFill>
                  <a:srgbClr val="1C252B"/>
                </a:solidFill>
                <a:latin typeface="Segoe UI"/>
              </a:rPr>
              <a:t>” with “average-case </a:t>
            </a:r>
            <a:r>
              <a:rPr sz="1700" b="1" i="0">
                <a:solidFill>
                  <a:srgbClr val="1C252B"/>
                </a:solidFill>
                <a:latin typeface="Cambria"/>
              </a:rPr>
              <a:t>Θ(</a:t>
            </a:r>
            <a:r>
              <a:rPr sz="1700" b="1" i="1">
                <a:solidFill>
                  <a:srgbClr val="1C252B"/>
                </a:solidFill>
                <a:latin typeface="Cambria"/>
              </a:rPr>
              <a:t>n</a:t>
            </a:r>
            <a:r>
              <a:rPr sz="1700" b="1" i="0">
                <a:solidFill>
                  <a:srgbClr val="1C252B"/>
                </a:solidFill>
                <a:latin typeface="Cambria"/>
              </a:rPr>
              <a:t> lg </a:t>
            </a:r>
            <a:r>
              <a:rPr sz="1700" b="1" i="1">
                <a:solidFill>
                  <a:srgbClr val="1C252B"/>
                </a:solidFill>
                <a:latin typeface="Cambria"/>
              </a:rPr>
              <a:t>n</a:t>
            </a:r>
            <a:r>
              <a:rPr sz="1700" b="1" i="0">
                <a:solidFill>
                  <a:srgbClr val="1C252B"/>
                </a:solidFill>
                <a:latin typeface="Cambria"/>
              </a:rPr>
              <a:t>)</a:t>
            </a:r>
            <a:r>
              <a:rPr sz="1700" b="1" i="0">
                <a:solidFill>
                  <a:srgbClr val="1C252B"/>
                </a:solidFill>
                <a:latin typeface="Segoe UI"/>
              </a:rPr>
              <a:t>”.</a:t>
            </a:r>
            <a:r>
              <a:rPr sz="1700" b="0" i="0">
                <a:solidFill>
                  <a:srgbClr val="1C252B"/>
                </a:solidFill>
                <a:latin typeface="Segoe UI"/>
              </a:rPr>
              <a:t> The first holds on every input; the second assumes a distribution.</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74434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The Price of Insurance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76     </a:t>
            </a:r>
            <a:fld id="{980620A6-39CD-4F8E-B980-8E86972003EE}" type="slidenum">
              <a:rPr lang="en-GB" sz="1000">
                <a:solidFill>
                  <a:srgbClr val="8795A1"/>
                </a:solidFill>
                <a:latin typeface="Segoe UI"/>
              </a:rPr>
              <a:t>27</a:t>
            </a:fld>
          </a:p>
        </p:txBody>
      </p:sp>
      <p:sp>
        <p:nvSpPr>
          <p:cNvPr id="7" name="body-0"/>
          <p:cNvSpPr txBox="1"/>
          <p:nvPr/>
        </p:nvSpPr>
        <p:spPr>
          <a:xfrm>
            <a:off x="658368" y="1737360"/>
            <a:ext cx="10874959"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Reproduces all five tables. Expect thirty minutes.</a:t>
            </a:r>
          </a:p>
        </p:txBody>
      </p:sp>
      <p:sp>
        <p:nvSpPr>
          <p:cNvPr id="8" name="!!labsteps-h"/>
          <p:cNvSpPr txBox="1"/>
          <p:nvPr/>
        </p:nvSpPr>
        <p:spPr>
          <a:xfrm>
            <a:off x="658368" y="2365248"/>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2749296"/>
            <a:ext cx="10874959" cy="2164080"/>
          </a:xfrm>
          <a:prstGeom prst="rect">
            <a:avLst/>
          </a:prstGeom>
          <a:noFill/>
        </p:spPr>
        <p:txBody>
          <a:bodyPr wrap="square" anchor="t" lIns="0" rIns="0" tIns="0" bIns="0">
            <a:noAutofit/>
          </a:bodyPr>
          <a:lstStyle/>
          <a:p>
            <a:pPr algn="l" marL="404250" indent="-404250">
              <a:lnSpc>
                <a:spcPct val="100000"/>
              </a:lnSpc>
              <a:spcBef>
                <a:spcPts val="0"/>
              </a:spcBef>
              <a:spcAft>
                <a:spcPts val="480"/>
              </a:spcAft>
            </a:pPr>
            <a:r>
              <a:rPr sz="1600" b="1">
                <a:solidFill>
                  <a:srgbClr val="117A65"/>
                </a:solidFill>
                <a:latin typeface="Segoe UI"/>
              </a:rPr>
              <a:t>1.	</a:t>
            </a:r>
            <a:r>
              <a:rPr sz="1600" b="0" i="0">
                <a:solidFill>
                  <a:srgbClr val="1C252B"/>
                </a:solidFill>
                <a:latin typeface="Segoe UI"/>
              </a:rPr>
              <a:t>Lomuto partition, the textbook one</a:t>
            </a:r>
          </a:p>
          <a:p>
            <a:pPr algn="l" marL="404250" indent="-404250">
              <a:lnSpc>
                <a:spcPct val="100000"/>
              </a:lnSpc>
              <a:spcBef>
                <a:spcPts val="0"/>
              </a:spcBef>
              <a:spcAft>
                <a:spcPts val="480"/>
              </a:spcAft>
            </a:pPr>
            <a:r>
              <a:rPr sz="1600" b="1">
                <a:solidFill>
                  <a:srgbClr val="117A65"/>
                </a:solidFill>
                <a:latin typeface="Segoe UI"/>
              </a:rPr>
              <a:t>2.	</a:t>
            </a:r>
            <a:r>
              <a:rPr sz="1600" b="0" i="0">
                <a:solidFill>
                  <a:srgbClr val="1C252B"/>
                </a:solidFill>
                <a:latin typeface="Segoe UI"/>
              </a:rPr>
              <a:t>The same partition, after moving a random element to the end</a:t>
            </a:r>
          </a:p>
          <a:p>
            <a:pPr algn="l" marL="404250" indent="-404250">
              <a:lnSpc>
                <a:spcPct val="100000"/>
              </a:lnSpc>
              <a:spcBef>
                <a:spcPts val="0"/>
              </a:spcBef>
              <a:spcAft>
                <a:spcPts val="480"/>
              </a:spcAft>
            </a:pPr>
            <a:r>
              <a:rPr sz="1600" b="1">
                <a:solidFill>
                  <a:srgbClr val="117A65"/>
                </a:solidFill>
                <a:latin typeface="Segoe UI"/>
              </a:rPr>
              <a:t>3.	</a:t>
            </a:r>
            <a:r>
              <a:rPr sz="1600" b="0" i="0">
                <a:solidFill>
                  <a:srgbClr val="1C252B"/>
                </a:solidFill>
                <a:latin typeface="Segoe UI"/>
              </a:rPr>
              <a:t>Comparisons counted: the two bounds, seen directly</a:t>
            </a:r>
          </a:p>
          <a:p>
            <a:pPr algn="l" marL="404250" indent="-404250">
              <a:lnSpc>
                <a:spcPct val="100000"/>
              </a:lnSpc>
              <a:spcBef>
                <a:spcPts val="0"/>
              </a:spcBef>
              <a:spcAft>
                <a:spcPts val="480"/>
              </a:spcAft>
            </a:pPr>
            <a:r>
              <a:rPr sz="1600" b="1">
                <a:solidFill>
                  <a:srgbClr val="117A65"/>
                </a:solidFill>
                <a:latin typeface="Segoe UI"/>
              </a:rPr>
              <a:t>4.	</a:t>
            </a:r>
            <a:r>
              <a:rPr sz="1600" b="0" i="0">
                <a:solidFill>
                  <a:srgbClr val="1C252B"/>
                </a:solidFill>
                <a:latin typeface="Segoe UI"/>
              </a:rPr>
              <a:t>Recursion depth, which is what actually crashes</a:t>
            </a:r>
          </a:p>
          <a:p>
            <a:pPr algn="l" marL="404250" indent="-404250">
              <a:lnSpc>
                <a:spcPct val="100000"/>
              </a:lnSpc>
              <a:spcBef>
                <a:spcPts val="0"/>
              </a:spcBef>
              <a:spcAft>
                <a:spcPts val="480"/>
              </a:spcAft>
            </a:pPr>
            <a:r>
              <a:rPr sz="1600" b="1">
                <a:solidFill>
                  <a:srgbClr val="117A65"/>
                </a:solidFill>
                <a:latin typeface="Segoe UI"/>
              </a:rPr>
              <a:t>5.	</a:t>
            </a:r>
            <a:r>
              <a:rPr sz="1600" b="0" i="0">
                <a:solidFill>
                  <a:srgbClr val="1C252B"/>
                </a:solidFill>
                <a:latin typeface="Segoe UI"/>
              </a:rPr>
              <a:t>And the same thing in seconds</a:t>
            </a:r>
          </a:p>
          <a:p>
            <a:pPr algn="l" marL="404250" indent="-404250">
              <a:lnSpc>
                <a:spcPct val="100000"/>
              </a:lnSpc>
              <a:spcBef>
                <a:spcPts val="0"/>
              </a:spcBef>
              <a:spcAft>
                <a:spcPts val="480"/>
              </a:spcAft>
            </a:pPr>
            <a:r>
              <a:rPr sz="1600" b="1">
                <a:solidFill>
                  <a:srgbClr val="117A65"/>
                </a:solidFill>
                <a:latin typeface="Segoe UI"/>
              </a:rPr>
              <a:t>6.	</a:t>
            </a:r>
            <a:r>
              <a:rPr sz="1600" b="0" i="0">
                <a:solidFill>
                  <a:srgbClr val="1C252B"/>
                </a:solidFill>
                <a:latin typeface="Segoe UI"/>
              </a:rPr>
              <a:t>The worst case does not just run slowly; it crashes</a:t>
            </a:r>
          </a:p>
          <a:p>
            <a:pPr algn="l" marL="404250" indent="-404250">
              <a:lnSpc>
                <a:spcPct val="100000"/>
              </a:lnSpc>
              <a:spcBef>
                <a:spcPts val="0"/>
              </a:spcBef>
              <a:spcAft>
                <a:spcPts val="0"/>
              </a:spcAft>
            </a:pPr>
            <a:r>
              <a:rPr sz="1600" b="1">
                <a:solidFill>
                  <a:srgbClr val="117A65"/>
                </a:solidFill>
                <a:latin typeface="Segoe UI"/>
              </a:rPr>
              <a:t>7.	</a:t>
            </a:r>
            <a:r>
              <a:rPr sz="1600" b="0" i="0">
                <a:solidFill>
                  <a:srgbClr val="1C252B"/>
                </a:solidFill>
                <a:latin typeface="Segoe UI"/>
              </a:rPr>
              <a:t>On RANDOM input the naive pivot is fine</a:t>
            </a:r>
          </a:p>
        </p:txBody>
      </p:sp>
      <p:sp>
        <p:nvSpPr>
          <p:cNvPr id="3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700" b="0" i="0">
                <a:solidFill>
                  <a:srgbClr val="1C252B"/>
                </a:solidFill>
                <a:latin typeface="Segoe UI"/>
              </a:rPr>
              <a:t>Week 6: The adversarial input, and what randomising costs</a:t>
            </a:r>
          </a:p>
        </p:txBody>
      </p:sp>
      <p:sp>
        <p:nvSpPr>
          <p:cNvPr id="4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55 lines of C++</a:t>
            </a:r>
          </a:p>
        </p:txBody>
      </p:sp>
      <p:sp>
        <p:nvSpPr>
          <p:cNvPr id="4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5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code/ch09_quick.cpp</a:t>
            </a:r>
          </a:p>
        </p:txBody>
      </p:sp>
      <p:sp>
        <p:nvSpPr>
          <p:cNvPr id="5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pfill">
            <a:extLst>
              <a:ext uri="{C183D7F6-B498-43B3-948B-1728B52AA6E4}">
                <adec:decorative xmlns:adec="http://schemas.microsoft.com/office/drawing/2017/decorative" val="1"/>
              </a:ext>
            </a:extLst>
          </p:cNvPr>
          <p:cNvSpPr/>
          <p:nvPr/>
        </p:nvSpPr>
        <p:spPr>
          <a:xfrm>
            <a:off x="0" y="0"/>
            <a:ext cx="700373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Price of Insurance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76     </a:t>
            </a:r>
            <a:fld id="{6CD8D26A-648C-40F0-B6D2-2EBAD059C04D}"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Lomuto partition, the textbook one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code/ch09_quick.cpp</a:t>
            </a:r>
          </a:p>
        </p:txBody>
      </p:sp>
      <p:sp>
        <p:nvSpPr>
          <p:cNvPr id="14" name="!!code-text" descr="// ch09_quick.cpp -- quicksort, and why randomising is not superstition. // Build: cl /O2 /EHsc /std:c++17 ch09_quick.cpp (see Appendix A) // --- 1. Lomuto partition, the textbook one ------------------------- // Everything &lt;= the pivot is swept to the left. Returns where the // pivot ended up. Linear, and where every comparison happens. static size_t partition_last(std::vector&lt;int&gt;&amp; a, size_t lo, size_t hi) { int pivot = a[hi - 1]; size_t i = lo; for (size_t j = lo; j + 1 &lt; hi; ++j) { ++comps; if (a[j] &lt;= pivot) std::swap(a[i++], a[j]); } std::swap(a[i], a[hi - 1]); return i; }"/>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 ch09_quick.cpp -- quicksort, and why randomising is not superstition.</a:t>
            </a:r>
          </a:p>
          <a:p>
            <a:pPr>
              <a:lnSpc>
                <a:spcPct val="100000"/>
              </a:lnSpc>
              <a:spcAft>
                <a:spcPts val="0"/>
              </a:spcAft>
            </a:pPr>
            <a:r>
              <a:rPr sz="1400" i="1">
                <a:solidFill>
                  <a:srgbClr val="8795A1"/>
                </a:solidFill>
                <a:latin typeface="Consolas"/>
              </a:rPr>
              <a:t>// Build: cl /O2 /EHsc /std:c++17 ch09_quick.cpp     (see Appendix A)</a:t>
            </a:r>
          </a:p>
          <a:p>
            <a:pPr>
              <a:lnSpc>
                <a:spcPct val="100000"/>
              </a:lnSpc>
              <a:spcAft>
                <a:spcPts val="0"/>
              </a:spcAft>
            </a:pPr>
            <a:r>
              <a:rPr sz="1400">
                <a:latin typeface="Consolas"/>
              </a:rPr>
              <a:t> </a:t>
            </a:r>
          </a:p>
          <a:p>
            <a:pPr>
              <a:lnSpc>
                <a:spcPct val="100000"/>
              </a:lnSpc>
              <a:spcAft>
                <a:spcPts val="0"/>
              </a:spcAft>
            </a:pPr>
            <a:r>
              <a:rPr sz="1400" i="1">
                <a:solidFill>
                  <a:srgbClr val="8795A1"/>
                </a:solidFill>
                <a:latin typeface="Consolas"/>
              </a:rPr>
              <a:t>// --- 1. Lomuto partition, the textbook one -------------------------</a:t>
            </a:r>
          </a:p>
          <a:p>
            <a:pPr>
              <a:lnSpc>
                <a:spcPct val="100000"/>
              </a:lnSpc>
              <a:spcAft>
                <a:spcPts val="0"/>
              </a:spcAft>
            </a:pPr>
            <a:r>
              <a:rPr sz="1400" i="1">
                <a:solidFill>
                  <a:srgbClr val="8795A1"/>
                </a:solidFill>
                <a:latin typeface="Consolas"/>
              </a:rPr>
              <a:t>// Everything &lt;= the pivot is swept to the left. Returns where the</a:t>
            </a:r>
          </a:p>
          <a:p>
            <a:pPr>
              <a:lnSpc>
                <a:spcPct val="100000"/>
              </a:lnSpc>
              <a:spcAft>
                <a:spcPts val="0"/>
              </a:spcAft>
            </a:pPr>
            <a:r>
              <a:rPr sz="1400" i="1">
                <a:solidFill>
                  <a:srgbClr val="8795A1"/>
                </a:solidFill>
                <a:latin typeface="Consolas"/>
              </a:rPr>
              <a:t>// pivot ended up. Linear, and where every comparison happens.</a:t>
            </a:r>
          </a:p>
          <a:p>
            <a:pPr>
              <a:lnSpc>
                <a:spcPct val="100000"/>
              </a:lnSpc>
              <a:spcAft>
                <a:spcPts val="0"/>
              </a:spcAft>
            </a:pPr>
            <a:r>
              <a:rPr sz="1400" i="0">
                <a:solidFill>
                  <a:srgbClr val="5DADE2"/>
                </a:solidFill>
                <a:latin typeface="Consolas"/>
              </a:rPr>
              <a:t>static</a:t>
            </a:r>
            <a:r>
              <a:rPr sz="1400" i="0">
                <a:solidFill>
                  <a:srgbClr val="E8EDF2"/>
                </a:solidFill>
                <a:latin typeface="Consolas"/>
              </a:rPr>
              <a:t> </a:t>
            </a:r>
            <a:r>
              <a:rPr sz="1400" i="0">
                <a:solidFill>
                  <a:srgbClr val="5DADE2"/>
                </a:solidFill>
                <a:latin typeface="Consolas"/>
              </a:rPr>
              <a:t>size_t</a:t>
            </a:r>
            <a:r>
              <a:rPr sz="1400" i="0">
                <a:solidFill>
                  <a:srgbClr val="E8EDF2"/>
                </a:solidFill>
                <a:latin typeface="Consolas"/>
              </a:rPr>
              <a:t> </a:t>
            </a:r>
            <a:r>
              <a:rPr sz="1400" i="0">
                <a:solidFill>
                  <a:srgbClr val="C39BD3"/>
                </a:solidFill>
                <a:latin typeface="Consolas"/>
              </a:rPr>
              <a:t>partition_last</a:t>
            </a:r>
            <a:r>
              <a:rPr sz="1400" i="0">
                <a:solidFill>
                  <a:srgbClr val="AEB6BF"/>
                </a:solidFill>
                <a:latin typeface="Consolas"/>
              </a:rPr>
              <a:t>(</a:t>
            </a:r>
            <a:r>
              <a:rPr sz="1400" i="0">
                <a:solidFill>
                  <a:srgbClr val="E8EDF2"/>
                </a:solidFill>
                <a:latin typeface="Consolas"/>
              </a:rPr>
              <a:t>std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vector</a:t>
            </a:r>
            <a:r>
              <a:rPr sz="1400" i="0">
                <a:solidFill>
                  <a:srgbClr val="AEB6BF"/>
                </a:solidFill>
                <a:latin typeface="Consolas"/>
              </a:rPr>
              <a:t>&lt;</a:t>
            </a:r>
            <a:r>
              <a:rPr sz="1400" i="0">
                <a:solidFill>
                  <a:srgbClr val="5DADE2"/>
                </a:solidFill>
                <a:latin typeface="Consolas"/>
              </a:rPr>
              <a:t>int</a:t>
            </a:r>
            <a:r>
              <a:rPr sz="1400" i="0">
                <a:solidFill>
                  <a:srgbClr val="AEB6BF"/>
                </a:solidFill>
                <a:latin typeface="Consolas"/>
              </a:rPr>
              <a:t>&gt;</a:t>
            </a:r>
            <a:r>
              <a:rPr sz="1400" i="0">
                <a:solidFill>
                  <a:srgbClr val="AEB6BF"/>
                </a:solidFill>
                <a:latin typeface="Consolas"/>
              </a:rPr>
              <a:t>&amp;</a:t>
            </a:r>
            <a:r>
              <a:rPr sz="1400" i="0">
                <a:solidFill>
                  <a:srgbClr val="E8EDF2"/>
                </a:solidFill>
                <a:latin typeface="Consolas"/>
              </a:rPr>
              <a:t> </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size_t</a:t>
            </a:r>
            <a:r>
              <a:rPr sz="1400" i="0">
                <a:solidFill>
                  <a:srgbClr val="E8EDF2"/>
                </a:solidFill>
                <a:latin typeface="Consolas"/>
              </a:rPr>
              <a:t> </a:t>
            </a:r>
            <a:r>
              <a:rPr sz="1400" i="0">
                <a:solidFill>
                  <a:srgbClr val="E8EDF2"/>
                </a:solidFill>
                <a:latin typeface="Consolas"/>
              </a:rPr>
              <a:t>lo</a:t>
            </a:r>
            <a:r>
              <a:rPr sz="1400" i="0">
                <a:solidFill>
                  <a:srgbClr val="AEB6BF"/>
                </a:solidFill>
                <a:latin typeface="Consolas"/>
              </a:rPr>
              <a:t>,</a:t>
            </a:r>
            <a:r>
              <a:rPr sz="1400" i="0">
                <a:solidFill>
                  <a:srgbClr val="E8EDF2"/>
                </a:solidFill>
                <a:latin typeface="Consolas"/>
              </a:rPr>
              <a:t> </a:t>
            </a:r>
            <a:r>
              <a:rPr sz="1400" i="0">
                <a:solidFill>
                  <a:srgbClr val="5DADE2"/>
                </a:solidFill>
                <a:latin typeface="Consolas"/>
              </a:rPr>
              <a:t>size_t</a:t>
            </a:r>
            <a:r>
              <a:rPr sz="1400" i="0">
                <a:solidFill>
                  <a:srgbClr val="E8EDF2"/>
                </a:solidFill>
                <a:latin typeface="Consolas"/>
              </a:rPr>
              <a:t> </a:t>
            </a:r>
            <a:r>
              <a:rPr sz="1400" i="0">
                <a:solidFill>
                  <a:srgbClr val="E8EDF2"/>
                </a:solidFill>
                <a:latin typeface="Consolas"/>
              </a:rPr>
              <a:t>hi</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int</a:t>
            </a:r>
            <a:r>
              <a:rPr sz="1400" i="0">
                <a:solidFill>
                  <a:srgbClr val="E8EDF2"/>
                </a:solidFill>
                <a:latin typeface="Consolas"/>
              </a:rPr>
              <a:t> </a:t>
            </a:r>
            <a:r>
              <a:rPr sz="1400" i="0">
                <a:solidFill>
                  <a:srgbClr val="E8EDF2"/>
                </a:solidFill>
                <a:latin typeface="Consolas"/>
              </a:rPr>
              <a:t>pivot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hi</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size_t</a:t>
            </a:r>
            <a:r>
              <a:rPr sz="1400" i="0">
                <a:solidFill>
                  <a:srgbClr val="E8EDF2"/>
                </a:solidFill>
                <a:latin typeface="Consolas"/>
              </a:rPr>
              <a:t> </a:t>
            </a:r>
            <a:r>
              <a:rPr sz="1400" i="0">
                <a:solidFill>
                  <a:srgbClr val="E8EDF2"/>
                </a:solidFill>
                <a:latin typeface="Consolas"/>
              </a:rPr>
              <a:t>i</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lo</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AEB6BF"/>
                </a:solidFill>
                <a:latin typeface="Consolas"/>
              </a:rPr>
              <a:t>(</a:t>
            </a:r>
            <a:r>
              <a:rPr sz="1400" i="0">
                <a:solidFill>
                  <a:srgbClr val="5DADE2"/>
                </a:solidFill>
                <a:latin typeface="Consolas"/>
              </a:rPr>
              <a:t>size_t</a:t>
            </a:r>
            <a:r>
              <a:rPr sz="1400" i="0">
                <a:solidFill>
                  <a:srgbClr val="E8EDF2"/>
                </a:solidFill>
                <a:latin typeface="Consolas"/>
              </a:rPr>
              <a:t> </a:t>
            </a:r>
            <a:r>
              <a:rPr sz="1400" i="0">
                <a:solidFill>
                  <a:srgbClr val="E8EDF2"/>
                </a:solidFill>
                <a:latin typeface="Consolas"/>
              </a:rPr>
              <a:t>j</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lo</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j</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E8EDF2"/>
                </a:solidFill>
                <a:latin typeface="Consolas"/>
              </a:rPr>
              <a:t> </a:t>
            </a:r>
            <a:r>
              <a:rPr sz="1400" i="0">
                <a:solidFill>
                  <a:srgbClr val="AEB6BF"/>
                </a:solidFill>
                <a:latin typeface="Consolas"/>
              </a:rPr>
              <a:t>&lt;</a:t>
            </a:r>
            <a:r>
              <a:rPr sz="1400" i="0">
                <a:solidFill>
                  <a:srgbClr val="E8EDF2"/>
                </a:solidFill>
                <a:latin typeface="Consolas"/>
              </a:rPr>
              <a:t> </a:t>
            </a:r>
            <a:r>
              <a:rPr sz="1400" i="0">
                <a:solidFill>
                  <a:srgbClr val="E8EDF2"/>
                </a:solidFill>
                <a:latin typeface="Consolas"/>
              </a:rPr>
              <a:t>hi</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j</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comps</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j</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&lt;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pivot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swap</a:t>
            </a:r>
            <a:r>
              <a:rPr sz="1400" i="0">
                <a:solidFill>
                  <a:srgbClr val="AEB6BF"/>
                </a:solidFill>
                <a:latin typeface="Consolas"/>
              </a:rPr>
              <a:t>(</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i</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j</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std</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swap</a:t>
            </a:r>
            <a:r>
              <a:rPr sz="1400" i="0">
                <a:solidFill>
                  <a:srgbClr val="AEB6BF"/>
                </a:solidFill>
                <a:latin typeface="Consolas"/>
              </a:rPr>
              <a:t>(</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i</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hi</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i</a:t>
            </a:r>
            <a:r>
              <a:rPr sz="1400" i="0">
                <a:solidFill>
                  <a:srgbClr val="AEB6BF"/>
                </a:solidFill>
                <a:latin typeface="Consolas"/>
              </a:rPr>
              <a:t>;</a:t>
            </a:r>
          </a:p>
          <a:p>
            <a:pPr>
              <a:lnSpc>
                <a:spcPct val="100000"/>
              </a:lnSpc>
              <a:spcAft>
                <a:spcPts val="0"/>
              </a:spcAft>
            </a:pPr>
            <a:r>
              <a:rPr sz="1400" i="0">
                <a:solidFill>
                  <a:srgbClr val="AEB6BF"/>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a:t>
            </a:r>
          </a:p>
          <a:p>
            <a:pPr algn="r">
              <a:lnSpc>
                <a:spcPct val="100000"/>
              </a:lnSpc>
            </a:pPr>
            <a:r>
              <a:rPr sz="1400">
                <a:solidFill>
                  <a:srgbClr val="4F5D6A"/>
                </a:solidFill>
                <a:latin typeface="Consolas"/>
              </a:rPr>
              <a:t>2</a:t>
            </a:r>
          </a:p>
          <a:p>
            <a:pPr algn="r">
              <a:lnSpc>
                <a:spcPct val="100000"/>
              </a:lnSpc>
            </a:pPr>
            <a:r>
              <a:rPr sz="1400">
                <a:solidFill>
                  <a:srgbClr val="4F5D6A"/>
                </a:solidFill>
                <a:latin typeface="Consolas"/>
              </a:rPr>
              <a:t>3</a:t>
            </a:r>
          </a:p>
          <a:p>
            <a:pPr algn="r">
              <a:lnSpc>
                <a:spcPct val="100000"/>
              </a:lnSpc>
            </a:pPr>
            <a:r>
              <a:rPr sz="1400">
                <a:solidFill>
                  <a:srgbClr val="4F5D6A"/>
                </a:solidFill>
                <a:latin typeface="Consolas"/>
              </a:rPr>
              <a:t>4</a:t>
            </a:r>
          </a:p>
          <a:p>
            <a:pPr algn="r">
              <a:lnSpc>
                <a:spcPct val="100000"/>
              </a:lnSpc>
            </a:pPr>
            <a:r>
              <a:rPr sz="1400">
                <a:solidFill>
                  <a:srgbClr val="4F5D6A"/>
                </a:solidFill>
                <a:latin typeface="Consolas"/>
              </a:rPr>
              <a:t>5</a:t>
            </a:r>
          </a:p>
          <a:p>
            <a:pPr algn="r">
              <a:lnSpc>
                <a:spcPct val="100000"/>
              </a:lnSpc>
            </a:pPr>
            <a:r>
              <a:rPr sz="1400">
                <a:solidFill>
                  <a:srgbClr val="4F5D6A"/>
                </a:solidFill>
                <a:latin typeface="Consolas"/>
              </a:rPr>
              <a:t>6</a:t>
            </a:r>
          </a:p>
          <a:p>
            <a:pPr algn="r">
              <a:lnSpc>
                <a:spcPct val="100000"/>
              </a:lnSpc>
            </a:pPr>
            <a:r>
              <a:rPr sz="1400">
                <a:solidFill>
                  <a:srgbClr val="4F5D6A"/>
                </a:solidFill>
                <a:latin typeface="Consolas"/>
              </a:rPr>
              <a:t>7</a:t>
            </a:r>
          </a:p>
          <a:p>
            <a:pPr algn="r">
              <a:lnSpc>
                <a:spcPct val="100000"/>
              </a:lnSpc>
            </a:pPr>
            <a:r>
              <a:rPr sz="1400">
                <a:solidFill>
                  <a:srgbClr val="4F5D6A"/>
                </a:solidFill>
                <a:latin typeface="Consolas"/>
              </a:rPr>
              <a:t>8</a:t>
            </a:r>
          </a:p>
          <a:p>
            <a:pPr algn="r">
              <a:lnSpc>
                <a:spcPct val="100000"/>
              </a:lnSpc>
            </a:pPr>
            <a:r>
              <a:rPr sz="1400">
                <a:solidFill>
                  <a:srgbClr val="4F5D6A"/>
                </a:solidFill>
                <a:latin typeface="Consolas"/>
              </a:rPr>
              <a:t>9</a:t>
            </a:r>
          </a:p>
          <a:p>
            <a:pPr algn="r">
              <a:lnSpc>
                <a:spcPct val="100000"/>
              </a:lnSpc>
            </a:pPr>
            <a:r>
              <a:rPr sz="1400">
                <a:solidFill>
                  <a:srgbClr val="4F5D6A"/>
                </a:solidFill>
                <a:latin typeface="Consolas"/>
              </a:rPr>
              <a:t>10</a:t>
            </a:r>
          </a:p>
          <a:p>
            <a:pPr algn="r">
              <a:lnSpc>
                <a:spcPct val="100000"/>
              </a:lnSpc>
            </a:pPr>
            <a:r>
              <a:rPr sz="1400">
                <a:solidFill>
                  <a:srgbClr val="4F5D6A"/>
                </a:solidFill>
                <a:latin typeface="Consolas"/>
              </a:rPr>
              <a:t>11</a:t>
            </a:r>
          </a:p>
          <a:p>
            <a:pPr algn="r">
              <a:lnSpc>
                <a:spcPct val="100000"/>
              </a:lnSpc>
            </a:pPr>
            <a:r>
              <a:rPr sz="1400">
                <a:solidFill>
                  <a:srgbClr val="4F5D6A"/>
                </a:solidFill>
                <a:latin typeface="Consolas"/>
              </a:rPr>
              <a:t>12</a:t>
            </a:r>
          </a:p>
          <a:p>
            <a:pPr algn="r">
              <a:lnSpc>
                <a:spcPct val="100000"/>
              </a:lnSpc>
            </a:pPr>
            <a:r>
              <a:rPr sz="1400">
                <a:solidFill>
                  <a:srgbClr val="4F5D6A"/>
                </a:solidFill>
                <a:latin typeface="Consolas"/>
              </a:rPr>
              <a:t>13</a:t>
            </a:r>
          </a:p>
          <a:p>
            <a:pPr algn="r">
              <a:lnSpc>
                <a:spcPct val="100000"/>
              </a:lnSpc>
            </a:pPr>
            <a:r>
              <a:rPr sz="1400">
                <a:solidFill>
                  <a:srgbClr val="4F5D6A"/>
                </a:solidFill>
                <a:latin typeface="Consolas"/>
              </a:rPr>
              <a:t>14</a:t>
            </a:r>
          </a:p>
          <a:p>
            <a:pPr algn="r">
              <a:lnSpc>
                <a:spcPct val="100000"/>
              </a:lnSpc>
            </a:pPr>
            <a:r>
              <a:rPr sz="1400">
                <a:solidFill>
                  <a:srgbClr val="4F5D6A"/>
                </a:solidFill>
                <a:latin typeface="Consolas"/>
              </a:rPr>
              <a:t>15</a:t>
            </a:r>
          </a:p>
          <a:p>
            <a:pPr algn="r">
              <a:lnSpc>
                <a:spcPct val="100000"/>
              </a:lnSpc>
            </a:pPr>
            <a:r>
              <a:rPr sz="14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26313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Price of Insurance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76     </a:t>
            </a:r>
            <a:fld id="{DE7D47C0-231D-41B4-871A-DBAB825AD7BC}"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same partition, after moving a random element to the end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346704"/>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code/ch09_quick.cpp</a:t>
            </a:r>
          </a:p>
        </p:txBody>
      </p:sp>
      <p:sp>
        <p:nvSpPr>
          <p:cNvPr id="14" name="!!code-text" descr="// --- 2. The same partition, after moving a random element to the end // One extra swap. That is the entire cost of the change, and it buys // an expected-time bound that holds for EVERY input -- no assumption // about the data at all (Chapter 2's distinction between an average // over inputs and an expectation over the algorithm's own coins). static size_t partition_random(std::vector&lt;int&gt;&amp; a, size_t lo, size_t hi) { std::uniform_int_distribution&lt;size_t&gt; d(lo, hi - 1); std::swap(a[d(rng)], a[hi - 1]); return partition_last(a, lo, hi); }"/>
          <p:cNvSpPr txBox="1"/>
          <p:nvPr/>
        </p:nvSpPr>
        <p:spPr>
          <a:xfrm>
            <a:off x="1362456" y="2523744"/>
            <a:ext cx="9987991" cy="28529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The same partition, after moving a random element to the end</a:t>
            </a:r>
          </a:p>
          <a:p>
            <a:pPr>
              <a:lnSpc>
                <a:spcPct val="100000"/>
              </a:lnSpc>
              <a:spcAft>
                <a:spcPts val="0"/>
              </a:spcAft>
            </a:pPr>
            <a:r>
              <a:rPr sz="1800" i="1">
                <a:solidFill>
                  <a:srgbClr val="8795A1"/>
                </a:solidFill>
                <a:latin typeface="Consolas"/>
              </a:rPr>
              <a:t>// One extra swap. That is the entire cost of the change, and it buys</a:t>
            </a:r>
          </a:p>
          <a:p>
            <a:pPr>
              <a:lnSpc>
                <a:spcPct val="100000"/>
              </a:lnSpc>
              <a:spcAft>
                <a:spcPts val="0"/>
              </a:spcAft>
            </a:pPr>
            <a:r>
              <a:rPr sz="1800" i="1">
                <a:solidFill>
                  <a:srgbClr val="8795A1"/>
                </a:solidFill>
                <a:latin typeface="Consolas"/>
              </a:rPr>
              <a:t>// an expected-time bound that holds for EVERY input -- no assumption</a:t>
            </a:r>
          </a:p>
          <a:p>
            <a:pPr>
              <a:lnSpc>
                <a:spcPct val="100000"/>
              </a:lnSpc>
              <a:spcAft>
                <a:spcPts val="0"/>
              </a:spcAft>
            </a:pPr>
            <a:r>
              <a:rPr sz="1800" i="1">
                <a:solidFill>
                  <a:srgbClr val="8795A1"/>
                </a:solidFill>
                <a:latin typeface="Consolas"/>
              </a:rPr>
              <a:t>// about the data at all (Chapter 2's distinction between an average</a:t>
            </a:r>
          </a:p>
          <a:p>
            <a:pPr>
              <a:lnSpc>
                <a:spcPct val="100000"/>
              </a:lnSpc>
              <a:spcAft>
                <a:spcPts val="0"/>
              </a:spcAft>
            </a:pPr>
            <a:r>
              <a:rPr sz="1800" i="1">
                <a:solidFill>
                  <a:srgbClr val="8795A1"/>
                </a:solidFill>
                <a:latin typeface="Consolas"/>
              </a:rPr>
              <a:t>// over inputs and an expectation over the algorithm's own coins).</a:t>
            </a:r>
          </a:p>
          <a:p>
            <a:pPr>
              <a:lnSpc>
                <a:spcPct val="100000"/>
              </a:lnSpc>
              <a:spcAft>
                <a:spcPts val="0"/>
              </a:spcAft>
            </a:pPr>
            <a:r>
              <a:rPr sz="1800" i="0">
                <a:solidFill>
                  <a:srgbClr val="5DADE2"/>
                </a:solidFill>
                <a:latin typeface="Consolas"/>
              </a:rPr>
              <a:t>static</a:t>
            </a:r>
            <a:r>
              <a:rPr sz="1800" i="0">
                <a:solidFill>
                  <a:srgbClr val="E8EDF2"/>
                </a:solidFill>
                <a:latin typeface="Consolas"/>
              </a:rPr>
              <a:t> </a:t>
            </a:r>
            <a:r>
              <a:rPr sz="1800" i="0">
                <a:solidFill>
                  <a:srgbClr val="5DADE2"/>
                </a:solidFill>
                <a:latin typeface="Consolas"/>
              </a:rPr>
              <a:t>size_t</a:t>
            </a:r>
            <a:r>
              <a:rPr sz="1800" i="0">
                <a:solidFill>
                  <a:srgbClr val="E8EDF2"/>
                </a:solidFill>
                <a:latin typeface="Consolas"/>
              </a:rPr>
              <a:t> </a:t>
            </a:r>
            <a:r>
              <a:rPr sz="1800" i="0">
                <a:solidFill>
                  <a:srgbClr val="C39BD3"/>
                </a:solidFill>
                <a:latin typeface="Consolas"/>
              </a:rPr>
              <a:t>partition_random</a:t>
            </a:r>
            <a:r>
              <a:rPr sz="1800" i="0">
                <a:solidFill>
                  <a:srgbClr val="AEB6BF"/>
                </a:solidFill>
                <a:latin typeface="Consolas"/>
              </a:rPr>
              <a:t>(</a:t>
            </a:r>
            <a:r>
              <a:rPr sz="1800" i="0">
                <a:solidFill>
                  <a:srgbClr val="E8EDF2"/>
                </a:solidFill>
                <a:latin typeface="Consolas"/>
              </a:rPr>
              <a:t>std</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vector</a:t>
            </a:r>
            <a:r>
              <a:rPr sz="1800" i="0">
                <a:solidFill>
                  <a:srgbClr val="AEB6BF"/>
                </a:solidFill>
                <a:latin typeface="Consolas"/>
              </a:rPr>
              <a:t>&lt;</a:t>
            </a:r>
            <a:r>
              <a:rPr sz="1800" i="0">
                <a:solidFill>
                  <a:srgbClr val="5DADE2"/>
                </a:solidFill>
                <a:latin typeface="Consolas"/>
              </a:rPr>
              <a:t>int</a:t>
            </a:r>
            <a:r>
              <a:rPr sz="1800" i="0">
                <a:solidFill>
                  <a:srgbClr val="AEB6BF"/>
                </a:solidFill>
                <a:latin typeface="Consolas"/>
              </a:rPr>
              <a:t>&gt;</a:t>
            </a:r>
            <a:r>
              <a:rPr sz="1800" i="0">
                <a:solidFill>
                  <a:srgbClr val="AEB6BF"/>
                </a:solidFill>
                <a:latin typeface="Consolas"/>
              </a:rPr>
              <a:t>&amp;</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size_t</a:t>
            </a:r>
            <a:r>
              <a:rPr sz="1800" i="0">
                <a:solidFill>
                  <a:srgbClr val="E8EDF2"/>
                </a:solidFill>
                <a:latin typeface="Consolas"/>
              </a:rPr>
              <a:t> </a:t>
            </a:r>
            <a:r>
              <a:rPr sz="1800" i="0">
                <a:solidFill>
                  <a:srgbClr val="E8EDF2"/>
                </a:solidFill>
                <a:latin typeface="Consolas"/>
              </a:rPr>
              <a:t>lo</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size_t</a:t>
            </a:r>
            <a:r>
              <a:rPr sz="1800" i="0">
                <a:solidFill>
                  <a:srgbClr val="E8EDF2"/>
                </a:solidFill>
                <a:latin typeface="Consolas"/>
              </a:rPr>
              <a:t> </a:t>
            </a:r>
            <a:r>
              <a:rPr sz="1800" i="0">
                <a:solidFill>
                  <a:srgbClr val="E8EDF2"/>
                </a:solidFill>
                <a:latin typeface="Consolas"/>
              </a:rPr>
              <a:t>hi</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std</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uniform_int_distribution</a:t>
            </a:r>
            <a:r>
              <a:rPr sz="1800" i="0">
                <a:solidFill>
                  <a:srgbClr val="AEB6BF"/>
                </a:solidFill>
                <a:latin typeface="Consolas"/>
              </a:rPr>
              <a:t>&lt;</a:t>
            </a:r>
            <a:r>
              <a:rPr sz="1800" i="0">
                <a:solidFill>
                  <a:srgbClr val="5DADE2"/>
                </a:solidFill>
                <a:latin typeface="Consolas"/>
              </a:rPr>
              <a:t>size_t</a:t>
            </a:r>
            <a:r>
              <a:rPr sz="1800" i="0">
                <a:solidFill>
                  <a:srgbClr val="AEB6BF"/>
                </a:solidFill>
                <a:latin typeface="Consolas"/>
              </a:rPr>
              <a:t>&gt;</a:t>
            </a:r>
            <a:r>
              <a:rPr sz="1800" i="0">
                <a:solidFill>
                  <a:srgbClr val="E8EDF2"/>
                </a:solidFill>
                <a:latin typeface="Consolas"/>
              </a:rPr>
              <a:t> </a:t>
            </a:r>
            <a:r>
              <a:rPr sz="1800" i="0">
                <a:solidFill>
                  <a:srgbClr val="E8EDF2"/>
                </a:solidFill>
                <a:latin typeface="Consolas"/>
              </a:rPr>
              <a:t>d</a:t>
            </a:r>
            <a:r>
              <a:rPr sz="1800" i="0">
                <a:solidFill>
                  <a:srgbClr val="AEB6BF"/>
                </a:solidFill>
                <a:latin typeface="Consolas"/>
              </a:rPr>
              <a:t>(</a:t>
            </a:r>
            <a:r>
              <a:rPr sz="1800" i="0">
                <a:solidFill>
                  <a:srgbClr val="E8EDF2"/>
                </a:solidFill>
                <a:latin typeface="Consolas"/>
              </a:rPr>
              <a:t>lo</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std</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swap</a:t>
            </a:r>
            <a:r>
              <a:rPr sz="1800" i="0">
                <a:solidFill>
                  <a:srgbClr val="AEB6BF"/>
                </a:solidFill>
                <a:latin typeface="Consolas"/>
              </a:rPr>
              <a:t>(</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d</a:t>
            </a:r>
            <a:r>
              <a:rPr sz="1800" i="0">
                <a:solidFill>
                  <a:srgbClr val="AEB6BF"/>
                </a:solidFill>
                <a:latin typeface="Consolas"/>
              </a:rPr>
              <a:t>(</a:t>
            </a:r>
            <a:r>
              <a:rPr sz="1800" i="0">
                <a:solidFill>
                  <a:srgbClr val="E8EDF2"/>
                </a:solidFill>
                <a:latin typeface="Consolas"/>
              </a:rPr>
              <a:t>rng</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hi</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E8EDF2"/>
                </a:solidFill>
                <a:latin typeface="Consolas"/>
              </a:rPr>
              <a:t>partition_last</a:t>
            </a:r>
            <a:r>
              <a:rPr sz="1800" i="0">
                <a:solidFill>
                  <a:srgbClr val="AEB6BF"/>
                </a:solidFill>
                <a:latin typeface="Consolas"/>
              </a:rPr>
              <a:t>(</a:t>
            </a:r>
            <a:r>
              <a:rPr sz="1800" i="0">
                <a:solidFill>
                  <a:srgbClr val="E8EDF2"/>
                </a:solidFill>
                <a:latin typeface="Consolas"/>
              </a:rPr>
              <a:t>a</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hi</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AEB6BF"/>
                </a:solidFill>
                <a:latin typeface="Consolas"/>
              </a:rPr>
              <a:t>}</a:t>
            </a:r>
          </a:p>
        </p:txBody>
      </p:sp>
      <p:sp>
        <p:nvSpPr>
          <p:cNvPr id="15" name="!!code-num"/>
          <p:cNvSpPr txBox="1"/>
          <p:nvPr/>
        </p:nvSpPr>
        <p:spPr>
          <a:xfrm>
            <a:off x="768096" y="2523744"/>
            <a:ext cx="393192" cy="28529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a:p>
            <a:pPr algn="r">
              <a:lnSpc>
                <a:spcPct val="100000"/>
              </a:lnSpc>
            </a:pPr>
            <a:r>
              <a:rPr sz="1800">
                <a:solidFill>
                  <a:srgbClr val="4F5D6A"/>
                </a:solidFill>
                <a:latin typeface="Consolas"/>
              </a:rPr>
              <a:t>27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52253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Price of Insurance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76     </a:t>
            </a:r>
            <a:fld id="{B9B69FE0-BE5D-4BB8-9735-E31D99108635}"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Comparisons counted: the two bounds, seen directly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code/ch09_quick.cpp</a:t>
            </a:r>
          </a:p>
        </p:txBody>
      </p:sp>
      <p:sp>
        <p:nvSpPr>
          <p:cNvPr id="14" name="!!code-text" descr="// --- 3. Comparisons counted: the two bounds, seen directly --------- // On sorted input the last-element pivot splits n into 0 and n-1 // every single time, so the count is 1+2+...+(n-1) = n(n-1)/2 // exactly. Compare that with the random pivot on the same input."/>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Comparisons counted: the two bounds, seen directly ---------</a:t>
            </a:r>
          </a:p>
          <a:p>
            <a:pPr>
              <a:lnSpc>
                <a:spcPct val="100000"/>
              </a:lnSpc>
              <a:spcAft>
                <a:spcPts val="0"/>
              </a:spcAft>
            </a:pPr>
            <a:r>
              <a:rPr sz="1900" i="1">
                <a:solidFill>
                  <a:srgbClr val="8795A1"/>
                </a:solidFill>
                <a:latin typeface="Consolas"/>
              </a:rPr>
              <a:t>// On sorted input the last-element pivot splits n into 0 and n-1</a:t>
            </a:r>
          </a:p>
          <a:p>
            <a:pPr>
              <a:lnSpc>
                <a:spcPct val="100000"/>
              </a:lnSpc>
              <a:spcAft>
                <a:spcPts val="0"/>
              </a:spcAft>
            </a:pPr>
            <a:r>
              <a:rPr sz="1900" i="1">
                <a:solidFill>
                  <a:srgbClr val="8795A1"/>
                </a:solidFill>
                <a:latin typeface="Consolas"/>
              </a:rPr>
              <a:t>// every single time, so the count is 1+2+...+(n-1) = n(n-1)/2</a:t>
            </a:r>
          </a:p>
          <a:p>
            <a:pPr>
              <a:lnSpc>
                <a:spcPct val="100000"/>
              </a:lnSpc>
              <a:spcAft>
                <a:spcPts val="0"/>
              </a:spcAft>
            </a:pPr>
            <a:r>
              <a:rPr sz="1900" i="1">
                <a:solidFill>
                  <a:srgbClr val="8795A1"/>
                </a:solidFill>
                <a:latin typeface="Consolas"/>
              </a:rPr>
              <a:t>// exactly. Compare that with the random pivot on the same input.</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29</a:t>
            </a:r>
          </a:p>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8193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Price of Insurance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76     </a:t>
            </a:r>
            <a:fld id="{2802FB6A-38E3-4599-A0C0-13B027F71C5F}"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Recursion depth, which is what actually crashes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182624"/>
          </a:xfrm>
          <a:prstGeom prst="roundRect">
            <a:avLst>
              <a:gd name="adj" fmla="val 773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code/ch09_quick.cpp</a:t>
            </a:r>
          </a:p>
        </p:txBody>
      </p:sp>
      <p:sp>
        <p:nvSpPr>
          <p:cNvPr id="14" name="!!code-text" descr="// --- 4. Recursion depth, which is what actually crashes ------------ // The worst case is not only slow. Depth n means n stack frames."/>
          <p:cNvSpPr txBox="1"/>
          <p:nvPr/>
        </p:nvSpPr>
        <p:spPr>
          <a:xfrm>
            <a:off x="1362456" y="2523744"/>
            <a:ext cx="9987991" cy="68884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Recursion depth, which is what actually crashes ------------</a:t>
            </a:r>
          </a:p>
          <a:p>
            <a:pPr>
              <a:lnSpc>
                <a:spcPct val="100000"/>
              </a:lnSpc>
              <a:spcAft>
                <a:spcPts val="0"/>
              </a:spcAft>
            </a:pPr>
            <a:r>
              <a:rPr sz="1900" i="1">
                <a:solidFill>
                  <a:srgbClr val="8795A1"/>
                </a:solidFill>
                <a:latin typeface="Consolas"/>
              </a:rPr>
              <a:t>// The worst case is not only slow. Depth n means n stack frames.</a:t>
            </a:r>
          </a:p>
        </p:txBody>
      </p:sp>
      <p:sp>
        <p:nvSpPr>
          <p:cNvPr id="15" name="!!code-num"/>
          <p:cNvSpPr txBox="1"/>
          <p:nvPr/>
        </p:nvSpPr>
        <p:spPr>
          <a:xfrm>
            <a:off x="768096" y="2523744"/>
            <a:ext cx="393192" cy="6888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4133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Price of Insurance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76     </a:t>
            </a:r>
            <a:fld id="{D256570D-8C60-4980-B628-510EF5009987}"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And the same thing in seconds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code/ch09_quick.cpp</a:t>
            </a:r>
          </a:p>
        </p:txBody>
      </p:sp>
      <p:sp>
        <p:nvSpPr>
          <p:cNvPr id="14" name="!!code-text" descr="// --- 5. And the same thing in seconds ------------------------------ // Capped at 16,000 deliberately: see part 6 for why 32,000 is not an // option on a default stack."/>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And the same thing in seconds ------------------------------</a:t>
            </a:r>
          </a:p>
          <a:p>
            <a:pPr>
              <a:lnSpc>
                <a:spcPct val="100000"/>
              </a:lnSpc>
              <a:spcAft>
                <a:spcPts val="0"/>
              </a:spcAft>
            </a:pPr>
            <a:r>
              <a:rPr sz="1900" i="1">
                <a:solidFill>
                  <a:srgbClr val="8795A1"/>
                </a:solidFill>
                <a:latin typeface="Consolas"/>
              </a:rPr>
              <a:t>// Capped at 16,000 deliberately: see part 6 for why 32,000 is not an</a:t>
            </a:r>
          </a:p>
          <a:p>
            <a:pPr>
              <a:lnSpc>
                <a:spcPct val="100000"/>
              </a:lnSpc>
              <a:spcAft>
                <a:spcPts val="0"/>
              </a:spcAft>
            </a:pPr>
            <a:r>
              <a:rPr sz="1900" i="1">
                <a:solidFill>
                  <a:srgbClr val="8795A1"/>
                </a:solidFill>
                <a:latin typeface="Consolas"/>
              </a:rPr>
              <a:t>// option on a default stack.</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0072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Price of Insurance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76     </a:t>
            </a:r>
            <a:fld id="{9BB40BC6-9FB1-41C6-B36D-DF1A9276F949}"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worst case does not just run slowly; it crashes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788663"/>
          </a:xfrm>
          <a:prstGeom prst="roundRect">
            <a:avLst>
              <a:gd name="adj" fmla="val 241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code/ch09_quick.cpp</a:t>
            </a:r>
          </a:p>
        </p:txBody>
      </p:sp>
      <p:sp>
        <p:nvSpPr>
          <p:cNvPr id="14" name="!!code-text" descr="// --- 6. The worst case does not just run slowly; it crashes -------- // Measure how big one frame actually is by looking at where a local // variable sits at depth 0 and at the deepest depth, then work out // how many fit in the default 1 MB stack. This is a prediction that // can be checked, and it was: at n = 32,000 this program died with // 0xC00000FD, STATUS_STACK_OVERFLOW. double span = (double)(stack_top - stack_deep); double per = span / maxdepth; printf(&quot; bytes per frame : %.1f\n&quot;, per); printf(&quot; default stack : %.0f bytes (1 MB)\n&quot;, LIMIT); printf(&quot; frames that fit : %.0f\n&quot;, LIMIT / per);"/>
          <p:cNvSpPr txBox="1"/>
          <p:nvPr/>
        </p:nvSpPr>
        <p:spPr>
          <a:xfrm>
            <a:off x="1362456" y="2523744"/>
            <a:ext cx="9987991" cy="32948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The worst case does not just run slowly; it crashes --------</a:t>
            </a:r>
          </a:p>
          <a:p>
            <a:pPr>
              <a:lnSpc>
                <a:spcPct val="100000"/>
              </a:lnSpc>
              <a:spcAft>
                <a:spcPts val="0"/>
              </a:spcAft>
            </a:pPr>
            <a:r>
              <a:rPr sz="1900" i="1">
                <a:solidFill>
                  <a:srgbClr val="8795A1"/>
                </a:solidFill>
                <a:latin typeface="Consolas"/>
              </a:rPr>
              <a:t>// Measure how big one frame actually is by looking at where a local</a:t>
            </a:r>
          </a:p>
          <a:p>
            <a:pPr>
              <a:lnSpc>
                <a:spcPct val="100000"/>
              </a:lnSpc>
              <a:spcAft>
                <a:spcPts val="0"/>
              </a:spcAft>
            </a:pPr>
            <a:r>
              <a:rPr sz="1900" i="1">
                <a:solidFill>
                  <a:srgbClr val="8795A1"/>
                </a:solidFill>
                <a:latin typeface="Consolas"/>
              </a:rPr>
              <a:t>// variable sits at depth 0 and at the deepest depth, then work out</a:t>
            </a:r>
          </a:p>
          <a:p>
            <a:pPr>
              <a:lnSpc>
                <a:spcPct val="100000"/>
              </a:lnSpc>
              <a:spcAft>
                <a:spcPts val="0"/>
              </a:spcAft>
            </a:pPr>
            <a:r>
              <a:rPr sz="1900" i="1">
                <a:solidFill>
                  <a:srgbClr val="8795A1"/>
                </a:solidFill>
                <a:latin typeface="Consolas"/>
              </a:rPr>
              <a:t>// how many fit in the default 1 MB stack. This is a prediction that</a:t>
            </a:r>
          </a:p>
          <a:p>
            <a:pPr>
              <a:lnSpc>
                <a:spcPct val="100000"/>
              </a:lnSpc>
              <a:spcAft>
                <a:spcPts val="0"/>
              </a:spcAft>
            </a:pPr>
            <a:r>
              <a:rPr sz="1900" i="1">
                <a:solidFill>
                  <a:srgbClr val="8795A1"/>
                </a:solidFill>
                <a:latin typeface="Consolas"/>
              </a:rPr>
              <a:t>// can be checked, and it was: at n = 32,000 this program died with</a:t>
            </a:r>
          </a:p>
          <a:p>
            <a:pPr>
              <a:lnSpc>
                <a:spcPct val="100000"/>
              </a:lnSpc>
              <a:spcAft>
                <a:spcPts val="0"/>
              </a:spcAft>
            </a:pPr>
            <a:r>
              <a:rPr sz="1900" i="1">
                <a:solidFill>
                  <a:srgbClr val="8795A1"/>
                </a:solidFill>
                <a:latin typeface="Consolas"/>
              </a:rPr>
              <a:t>// 0xC00000FD, STATUS_STACK_OVERFLOW.</a:t>
            </a:r>
          </a:p>
          <a:p>
            <a:pPr>
              <a:lnSpc>
                <a:spcPct val="100000"/>
              </a:lnSpc>
              <a:spcAft>
                <a:spcPts val="0"/>
              </a:spcAft>
            </a:pPr>
            <a:r>
              <a:rPr sz="1900" i="0">
                <a:solidFill>
                  <a:srgbClr val="5DADE2"/>
                </a:solidFill>
                <a:latin typeface="Consolas"/>
              </a:rPr>
              <a:t>double</a:t>
            </a:r>
            <a:r>
              <a:rPr sz="1900" i="0">
                <a:solidFill>
                  <a:srgbClr val="E8EDF2"/>
                </a:solidFill>
                <a:latin typeface="Consolas"/>
              </a:rPr>
              <a:t> </a:t>
            </a:r>
            <a:r>
              <a:rPr sz="1900" i="0">
                <a:solidFill>
                  <a:srgbClr val="E8EDF2"/>
                </a:solidFill>
                <a:latin typeface="Consolas"/>
              </a:rPr>
              <a:t>span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5DADE2"/>
                </a:solidFill>
                <a:latin typeface="Consolas"/>
              </a:rPr>
              <a:t>double</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stack_top</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stack_deep</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5DADE2"/>
                </a:solidFill>
                <a:latin typeface="Consolas"/>
              </a:rPr>
              <a:t>double</a:t>
            </a:r>
            <a:r>
              <a:rPr sz="1900" i="0">
                <a:solidFill>
                  <a:srgbClr val="E8EDF2"/>
                </a:solidFill>
                <a:latin typeface="Consolas"/>
              </a:rPr>
              <a:t> </a:t>
            </a:r>
            <a:r>
              <a:rPr sz="1900" i="0">
                <a:solidFill>
                  <a:srgbClr val="E8EDF2"/>
                </a:solidFill>
                <a:latin typeface="Consolas"/>
              </a:rPr>
              <a:t>per</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span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maxdepth</a:t>
            </a:r>
            <a:r>
              <a:rPr sz="1900" i="0">
                <a:solidFill>
                  <a:srgbClr val="AEB6BF"/>
                </a:solidFill>
                <a:latin typeface="Consolas"/>
              </a:rPr>
              <a:t>;</a:t>
            </a:r>
          </a:p>
          <a:p>
            <a:pPr>
              <a:lnSpc>
                <a:spcPct val="100000"/>
              </a:lnSpc>
              <a:spcAft>
                <a:spcPts val="0"/>
              </a:spcAft>
            </a:pPr>
            <a:r>
              <a:rPr sz="1900" i="0">
                <a:solidFill>
                  <a:srgbClr val="E8EDF2"/>
                </a:solidFill>
                <a:latin typeface="Consolas"/>
              </a:rPr>
              <a:t>printf</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bytes per frame      : %.1f</a:t>
            </a:r>
            <a:r>
              <a:rPr sz="1900" i="0">
                <a:solidFill>
                  <a:srgbClr val="7DCEA0"/>
                </a:solidFill>
                <a:latin typeface="Consolas"/>
              </a:rPr>
              <a:t>\n</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per</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printf</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default stack        : %.0f bytes (1 MB)</a:t>
            </a:r>
            <a:r>
              <a:rPr sz="1900" i="0">
                <a:solidFill>
                  <a:srgbClr val="7DCEA0"/>
                </a:solidFill>
                <a:latin typeface="Consolas"/>
              </a:rPr>
              <a:t>\n</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LIMIT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printf</a:t>
            </a:r>
            <a:r>
              <a:rPr sz="1900" i="0">
                <a:solidFill>
                  <a:srgbClr val="AEB6BF"/>
                </a:solidFill>
                <a:latin typeface="Consolas"/>
              </a:rPr>
              <a:t>(</a:t>
            </a:r>
            <a:r>
              <a:rPr sz="1900" i="0">
                <a:solidFill>
                  <a:srgbClr val="7DCEA0"/>
                </a:solidFill>
                <a:latin typeface="Consolas"/>
              </a:rPr>
              <a:t>"</a:t>
            </a:r>
            <a:r>
              <a:rPr sz="1900" i="0">
                <a:solidFill>
                  <a:srgbClr val="7DCEA0"/>
                </a:solidFill>
                <a:latin typeface="Consolas"/>
              </a:rPr>
              <a:t>   frames that fit      : %.0f</a:t>
            </a:r>
            <a:r>
              <a:rPr sz="1900" i="0">
                <a:solidFill>
                  <a:srgbClr val="7DCEA0"/>
                </a:solidFill>
                <a:latin typeface="Consolas"/>
              </a:rPr>
              <a:t>\n</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LIMIT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per</a:t>
            </a:r>
            <a:r>
              <a:rPr sz="1900" i="0">
                <a:solidFill>
                  <a:srgbClr val="AEB6BF"/>
                </a:solidFill>
                <a:latin typeface="Consolas"/>
              </a:rPr>
              <a:t>)</a:t>
            </a:r>
            <a:r>
              <a:rPr sz="1900" i="0">
                <a:solidFill>
                  <a:srgbClr val="AEB6BF"/>
                </a:solidFill>
                <a:latin typeface="Consolas"/>
              </a:rPr>
              <a:t>;</a:t>
            </a:r>
          </a:p>
        </p:txBody>
      </p:sp>
      <p:sp>
        <p:nvSpPr>
          <p:cNvPr id="15" name="!!code-num"/>
          <p:cNvSpPr txBox="1"/>
          <p:nvPr/>
        </p:nvSpPr>
        <p:spPr>
          <a:xfrm>
            <a:off x="768096" y="2523744"/>
            <a:ext cx="393192" cy="32948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41</a:t>
            </a:r>
          </a:p>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a:p>
            <a:pPr algn="r">
              <a:lnSpc>
                <a:spcPct val="100000"/>
              </a:lnSpc>
            </a:pPr>
            <a:r>
              <a:rPr sz="1900">
                <a:solidFill>
                  <a:srgbClr val="4F5D6A"/>
                </a:solidFill>
                <a:latin typeface="Consolas"/>
              </a:rPr>
              <a:t>48</a:t>
            </a:r>
          </a:p>
          <a:p>
            <a:pPr algn="r">
              <a:lnSpc>
                <a:spcPct val="100000"/>
              </a:lnSpc>
            </a:pPr>
            <a:r>
              <a:rPr sz="1900">
                <a:solidFill>
                  <a:srgbClr val="4F5D6A"/>
                </a:solidFill>
                <a:latin typeface="Consolas"/>
              </a:rPr>
              <a:t>49</a:t>
            </a:r>
          </a:p>
          <a:p>
            <a:pPr algn="r">
              <a:lnSpc>
                <a:spcPct val="100000"/>
              </a:lnSpc>
            </a:pPr>
            <a:r>
              <a:rPr sz="1900">
                <a:solidFill>
                  <a:srgbClr val="4F5D6A"/>
                </a:solidFill>
                <a:latin typeface="Consolas"/>
              </a:rPr>
              <a:t>50</a:t>
            </a:r>
          </a:p>
          <a:p>
            <a:pPr algn="r">
              <a:lnSpc>
                <a:spcPct val="100000"/>
              </a:lnSpc>
            </a:pPr>
            <a:r>
              <a:rPr sz="1900">
                <a:solidFill>
                  <a:srgbClr val="4F5D6A"/>
                </a:solidFill>
                <a:latin typeface="Consolas"/>
              </a:rPr>
              <a:t>51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6012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Price of Insurance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7</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76     </a:t>
            </a:r>
            <a:fld id="{CDE3A226-EA11-4764-BC33-85A3674823A1}"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On RANDOM input the naive pivot is fine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C++  ·  code/ch09_quick.cpp</a:t>
            </a:r>
          </a:p>
        </p:txBody>
      </p:sp>
      <p:sp>
        <p:nvSpPr>
          <p:cNvPr id="14" name="!!code-text" descr="// --- 7. On RANDOM input the naive pivot is fine -------------------- // Which is the trap: the defect is invisible until the day someone // feeds your sort data that is already in order, and that day comes."/>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On RANDOM input the naive pivot is fine --------------------</a:t>
            </a:r>
          </a:p>
          <a:p>
            <a:pPr>
              <a:lnSpc>
                <a:spcPct val="100000"/>
              </a:lnSpc>
              <a:spcAft>
                <a:spcPts val="0"/>
              </a:spcAft>
            </a:pPr>
            <a:r>
              <a:rPr sz="1900" i="1">
                <a:solidFill>
                  <a:srgbClr val="8795A1"/>
                </a:solidFill>
                <a:latin typeface="Consolas"/>
              </a:rPr>
              <a:t>// Which is the trap: the defect is invisible until the day someone</a:t>
            </a:r>
          </a:p>
          <a:p>
            <a:pPr>
              <a:lnSpc>
                <a:spcPct val="100000"/>
              </a:lnSpc>
              <a:spcAft>
                <a:spcPts val="0"/>
              </a:spcAft>
            </a:pPr>
            <a:r>
              <a:rPr sz="1900" i="1">
                <a:solidFill>
                  <a:srgbClr val="8795A1"/>
                </a:solidFill>
                <a:latin typeface="Consolas"/>
              </a:rPr>
              <a:t>// feeds your sort data that is already in order, and that day comes.</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53</a:t>
            </a:r>
          </a:p>
          <a:p>
            <a:pPr algn="r">
              <a:lnSpc>
                <a:spcPct val="100000"/>
              </a:lnSpc>
            </a:pPr>
            <a:r>
              <a:rPr sz="1900">
                <a:solidFill>
                  <a:srgbClr val="4F5D6A"/>
                </a:solidFill>
                <a:latin typeface="Consolas"/>
              </a:rPr>
              <a:t>54</a:t>
            </a:r>
          </a:p>
          <a:p>
            <a:pPr algn="r">
              <a:lnSpc>
                <a:spcPct val="100000"/>
              </a:lnSpc>
            </a:pPr>
            <a:r>
              <a:rPr sz="1900">
                <a:solidFill>
                  <a:srgbClr val="4F5D6A"/>
                </a:solidFill>
                <a:latin typeface="Consolas"/>
              </a:rPr>
              <a:t>55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1952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§9.4  ·  Handout p. 76     </a:t>
            </a:r>
            <a:fld id="{FF3855E2-8604-4616-A461-43B5C95A01F2}" type="slidenum">
              <a:rPr lang="en-GB" sz="1000">
                <a:solidFill>
                  <a:srgbClr val="8795A1"/>
                </a:solidFill>
                <a:latin typeface="Segoe UI"/>
              </a:rPr>
              <a:t>35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7854"/>
          </a:xfrm>
          <a:prstGeom prst="roundRect">
            <a:avLst>
              <a:gd name="adj" fmla="val 2065"/>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785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Part 6 measures the stack rather than assuming it. The frame came out at exactly 64.0 bytes, which is not a number you could have looked up — it depends on this compiler, these optimisation flags and the number of live locals.</a:t>
            </a:r>
          </a:p>
        </p:txBody>
      </p:sp>
      <p:sp>
        <p:nvSpPr>
          <p:cNvPr id="10" name="body-1"/>
          <p:cNvSpPr txBox="1"/>
          <p:nvPr/>
        </p:nvSpPr>
        <p:spPr>
          <a:xfrm>
            <a:off x="1060704" y="3667074"/>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Then try to break it.</a:t>
            </a:r>
            <a:r>
              <a:rPr sz="2300" b="0" i="0">
                <a:solidFill>
                  <a:srgbClr val="1C252B"/>
                </a:solidFill>
                <a:latin typeface="Segoe UI"/>
              </a:rPr>
              <a:t> Make the recursion sort the </a:t>
            </a:r>
            <a:r>
              <a:rPr sz="2300" b="0" i="1">
                <a:solidFill>
                  <a:srgbClr val="1C252B"/>
                </a:solidFill>
                <a:latin typeface="Segoe UI"/>
              </a:rPr>
              <a:t>smaller</a:t>
            </a:r>
            <a:r>
              <a:rPr sz="2300" b="0" i="0">
                <a:solidFill>
                  <a:srgbClr val="1C252B"/>
                </a:solidFill>
                <a:latin typeface="Segoe UI"/>
              </a:rPr>
              <a:t> side recursively and loop on the larger one. Predict first what happens to (a) the comparison count on sorted input and (b) the recursion depth. The answer is that (a) does not change at all and (b) drops to </a:t>
            </a:r>
            <a:r>
              <a:rPr sz="2300" b="0" i="0">
                <a:solidFill>
                  <a:srgbClr val="1C252B"/>
                </a:solidFill>
                <a:latin typeface="Cambria"/>
              </a:rPr>
              <a:t>O(lg </a:t>
            </a:r>
            <a:r>
              <a:rPr sz="2300" b="0" i="1">
                <a:solidFill>
                  <a:srgbClr val="1C252B"/>
                </a:solidFill>
                <a:latin typeface="Cambria"/>
              </a:rPr>
              <a:t>n</a:t>
            </a:r>
            <a:r>
              <a:rPr sz="2300" b="0" i="0">
                <a:solidFill>
                  <a:srgbClr val="1C252B"/>
                </a:solidFill>
                <a:latin typeface="Cambria"/>
              </a:rPr>
              <a:t>)</a:t>
            </a:r>
            <a:r>
              <a:rPr sz="2300" b="0" i="0">
                <a:solidFill>
                  <a:srgbClr val="1C252B"/>
                </a:solidFill>
                <a:latin typeface="Segoe UI"/>
              </a:rPr>
              <a:t> — so the crash disappears and the quadratic time does not. Fixing a symptom is not fixing a bug, and knowing which you have done is the point.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907892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On sorted input the measured comparison count was exactly </a:t>
            </a:r>
            <a:r>
              <a:rPr sz="3400" b="0" i="1">
                <a:solidFill>
                  <a:srgbClr val="FFFFFF"/>
                </a:solidFill>
                <a:latin typeface="Cambria"/>
              </a:rPr>
              <a:t>n</a:t>
            </a:r>
            <a:r>
              <a:rPr sz="3400" b="0" i="0">
                <a:solidFill>
                  <a:srgbClr val="FFFFFF"/>
                </a:solidFill>
                <a:latin typeface="Cambria"/>
              </a:rPr>
              <a:t>(</a:t>
            </a:r>
            <a:r>
              <a:rPr sz="3400" b="0" i="1">
                <a:solidFill>
                  <a:srgbClr val="FFFFFF"/>
                </a:solidFill>
                <a:latin typeface="Cambria"/>
              </a:rPr>
              <a:t>n</a:t>
            </a:r>
            <a:r>
              <a:rPr sz="3400" b="0" i="0">
                <a:solidFill>
                  <a:srgbClr val="FFFFFF"/>
                </a:solidFill>
                <a:latin typeface="Cambria"/>
              </a:rPr>
              <a:t>−1)/2</a:t>
            </a:r>
            <a:r>
              <a:rPr sz="3400" b="0" i="0">
                <a:solidFill>
                  <a:srgbClr val="FFFFFF"/>
                </a:solidFill>
                <a:latin typeface="Segoe UI Semibold"/>
              </a:rPr>
              <a:t>. Derive that from the split Theorem 9.2 describes.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9  ·  Quicksort, Randomisation and the Average Case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81  ·  answers in Appendix D     </a:t>
            </a:r>
            <a:fld id="{DBD197E6-50A2-4F42-A616-7764D1AC9049}"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On sorted input the measured comparison count was exactly </a:t>
            </a:r>
            <a:r>
              <a:rPr sz="2400" b="0" i="1">
                <a:solidFill>
                  <a:srgbClr val="1A5276"/>
                </a:solidFill>
                <a:latin typeface="Cambria"/>
              </a:rPr>
              <a:t>n</a:t>
            </a:r>
            <a:r>
              <a:rPr sz="2400" b="0" i="0">
                <a:solidFill>
                  <a:srgbClr val="1A5276"/>
                </a:solidFill>
                <a:latin typeface="Cambria"/>
              </a:rPr>
              <a:t>(</a:t>
            </a:r>
            <a:r>
              <a:rPr sz="2400" b="0" i="1">
                <a:solidFill>
                  <a:srgbClr val="1A5276"/>
                </a:solidFill>
                <a:latin typeface="Cambria"/>
              </a:rPr>
              <a:t>n</a:t>
            </a:r>
            <a:r>
              <a:rPr sz="2400" b="0" i="0">
                <a:solidFill>
                  <a:srgbClr val="1A5276"/>
                </a:solidFill>
                <a:latin typeface="Cambria"/>
              </a:rPr>
              <a:t>−1)/2</a:t>
            </a:r>
            <a:r>
              <a:rPr sz="2400" b="0" i="0">
                <a:solidFill>
                  <a:srgbClr val="1A5276"/>
                </a:solidFill>
                <a:latin typeface="Segoe UI Semibold"/>
              </a:rPr>
              <a:t>. Derive that from the split Theorem 9.2 describes.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On sorted input the pivot (the last element) is the largest, so Partition compares it with all </a:t>
            </a:r>
            <a:r>
              <a:rPr sz="2200" b="0" i="1">
                <a:solidFill>
                  <a:srgbClr val="1C252B"/>
                </a:solidFill>
                <a:latin typeface="Cambria"/>
              </a:rPr>
              <a:t>k</a:t>
            </a:r>
            <a:r>
              <a:rPr sz="2200" b="0" i="0">
                <a:solidFill>
                  <a:srgbClr val="1C252B"/>
                </a:solidFill>
                <a:latin typeface="Cambria"/>
              </a:rPr>
              <a:t>−1</a:t>
            </a:r>
            <a:r>
              <a:rPr sz="2200" b="0" i="0">
                <a:solidFill>
                  <a:srgbClr val="1C252B"/>
                </a:solidFill>
                <a:latin typeface="Segoe UI"/>
              </a:rPr>
              <a:t> others and splits </a:t>
            </a:r>
            <a:r>
              <a:rPr sz="2200" b="0" i="0">
                <a:solidFill>
                  <a:srgbClr val="1C252B"/>
                </a:solidFill>
                <a:latin typeface="Cambria"/>
              </a:rPr>
              <a:t>(</a:t>
            </a:r>
            <a:r>
              <a:rPr sz="2200" b="0" i="1">
                <a:solidFill>
                  <a:srgbClr val="1C252B"/>
                </a:solidFill>
                <a:latin typeface="Cambria"/>
              </a:rPr>
              <a:t>k</a:t>
            </a:r>
            <a:r>
              <a:rPr sz="2200" b="0" i="0">
                <a:solidFill>
                  <a:srgbClr val="1C252B"/>
                </a:solidFill>
                <a:latin typeface="Cambria"/>
              </a:rPr>
              <a:t>−1, 0)</a:t>
            </a:r>
            <a:r>
              <a:rPr sz="2200" b="0" i="0">
                <a:solidFill>
                  <a:srgbClr val="1C252B"/>
                </a:solidFill>
                <a:latin typeface="Segoe UI"/>
              </a:rPr>
              <a:t>. The subproblem sizes are therefore </a:t>
            </a:r>
            <a:r>
              <a:rPr sz="2200" b="0" i="1">
                <a:solidFill>
                  <a:srgbClr val="1C252B"/>
                </a:solidFill>
                <a:latin typeface="Cambria"/>
              </a:rPr>
              <a:t>n</a:t>
            </a:r>
            <a:r>
              <a:rPr sz="2200" b="0" i="0">
                <a:solidFill>
                  <a:srgbClr val="1C252B"/>
                </a:solidFill>
                <a:latin typeface="Cambria"/>
              </a:rPr>
              <a:t>−1, </a:t>
            </a:r>
            <a:r>
              <a:rPr sz="2200" b="0" i="1">
                <a:solidFill>
                  <a:srgbClr val="1C252B"/>
                </a:solidFill>
                <a:latin typeface="Cambria"/>
              </a:rPr>
              <a:t>n</a:t>
            </a:r>
            <a:r>
              <a:rPr sz="2200" b="0" i="0">
                <a:solidFill>
                  <a:srgbClr val="1C252B"/>
                </a:solidFill>
                <a:latin typeface="Cambria"/>
              </a:rPr>
              <a:t>−2, …, 1</a:t>
            </a:r>
            <a:r>
              <a:rPr sz="2200" b="0" i="0">
                <a:solidFill>
                  <a:srgbClr val="1C252B"/>
                </a:solidFill>
                <a:latin typeface="Segoe UI"/>
              </a:rPr>
              <a:t>, and the comparisons are </a:t>
            </a:r>
            <a:r>
              <a:rPr sz="2200" b="0" i="0">
                <a:solidFill>
                  <a:srgbClr val="1C252B"/>
                </a:solidFill>
                <a:latin typeface="Cambria"/>
              </a:rPr>
              <a:t>(</a:t>
            </a:r>
            <a:r>
              <a:rPr sz="2200" b="0" i="1">
                <a:solidFill>
                  <a:srgbClr val="1C252B"/>
                </a:solidFill>
                <a:latin typeface="Cambria"/>
              </a:rPr>
              <a:t>n</a:t>
            </a:r>
            <a:r>
              <a:rPr sz="2200" b="0" i="0">
                <a:solidFill>
                  <a:srgbClr val="1C252B"/>
                </a:solidFill>
                <a:latin typeface="Cambria"/>
              </a:rPr>
              <a:t>−1) + (</a:t>
            </a:r>
            <a:r>
              <a:rPr sz="2200" b="0" i="1">
                <a:solidFill>
                  <a:srgbClr val="1C252B"/>
                </a:solidFill>
                <a:latin typeface="Cambria"/>
              </a:rPr>
              <a:t>n</a:t>
            </a:r>
            <a:r>
              <a:rPr sz="2200" b="0" i="0">
                <a:solidFill>
                  <a:srgbClr val="1C252B"/>
                </a:solidFill>
                <a:latin typeface="Cambria"/>
              </a:rPr>
              <a:t>−2) + ⋯ + 1 = </a:t>
            </a:r>
            <a:r>
              <a:rPr sz="2200" b="0" i="1">
                <a:solidFill>
                  <a:srgbClr val="1C252B"/>
                </a:solidFill>
                <a:latin typeface="Cambria"/>
              </a:rPr>
              <a:t>n</a:t>
            </a:r>
            <a:r>
              <a:rPr sz="2200" b="0" i="0">
                <a:solidFill>
                  <a:srgbClr val="1C252B"/>
                </a:solidFill>
                <a:latin typeface="Cambria"/>
              </a:rPr>
              <a:t>(</a:t>
            </a:r>
            <a:r>
              <a:rPr sz="2200" b="0" i="1">
                <a:solidFill>
                  <a:srgbClr val="1C252B"/>
                </a:solidFill>
                <a:latin typeface="Cambria"/>
              </a:rPr>
              <a:t>n</a:t>
            </a:r>
            <a:r>
              <a:rPr sz="2200" b="0" i="0">
                <a:solidFill>
                  <a:srgbClr val="1C252B"/>
                </a:solidFill>
                <a:latin typeface="Cambria"/>
              </a:rPr>
              <a:t>−1)/2</a:t>
            </a:r>
            <a:r>
              <a:rPr sz="2200" b="0" i="0">
                <a:solidFill>
                  <a:srgbClr val="1C252B"/>
                </a:solidFill>
                <a:latin typeface="Segoe UI"/>
              </a:rPr>
              <a:t>. Measured </a:t>
            </a:r>
            <a:r>
              <a:rPr sz="2200" b="0" i="0">
                <a:solidFill>
                  <a:srgbClr val="1C252B"/>
                </a:solidFill>
                <a:latin typeface="Cambria"/>
              </a:rPr>
              <a:t>0.9990 → 0.9999</a:t>
            </a:r>
            <a:r>
              <a:rPr sz="2200" b="0" i="0">
                <a:solidFill>
                  <a:srgbClr val="1C252B"/>
                </a:solidFill>
                <a:latin typeface="Segoe UI"/>
              </a:rPr>
              <a:t> of </a:t>
            </a:r>
            <a:r>
              <a:rPr sz="2200" b="0" i="1">
                <a:solidFill>
                  <a:srgbClr val="1C252B"/>
                </a:solidFill>
                <a:latin typeface="Cambria"/>
              </a:rPr>
              <a:t>n</a:t>
            </a:r>
            <a:r>
              <a:rPr sz="1450" b="0" i="0" baseline="30000">
                <a:solidFill>
                  <a:srgbClr val="1C252B"/>
                </a:solidFill>
                <a:latin typeface="Cambria"/>
              </a:rPr>
              <a:t>2</a:t>
            </a:r>
            <a:r>
              <a:rPr sz="2200" b="0" i="0">
                <a:solidFill>
                  <a:srgbClr val="1C252B"/>
                </a:solidFill>
                <a:latin typeface="Cambria"/>
              </a:rPr>
              <a:t>/2</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  answers in Appendix D     </a:t>
            </a:r>
            <a:fld id="{74B2CA50-FD58-4A57-A6A9-3030814CD7F0}"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9771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Explain why “expected </a:t>
            </a:r>
            <a:r>
              <a:rPr sz="3400" b="0" i="0">
                <a:solidFill>
                  <a:srgbClr val="FFFFFF"/>
                </a:solidFill>
                <a:latin typeface="Cambria"/>
              </a:rPr>
              <a:t>O(</a:t>
            </a:r>
            <a:r>
              <a:rPr sz="3400" b="0" i="1">
                <a:solidFill>
                  <a:srgbClr val="FFFFFF"/>
                </a:solidFill>
                <a:latin typeface="Cambria"/>
              </a:rPr>
              <a:t>n</a:t>
            </a:r>
            <a:r>
              <a:rPr sz="3400" b="0" i="0">
                <a:solidFill>
                  <a:srgbClr val="FFFFFF"/>
                </a:solidFill>
                <a:latin typeface="Cambria"/>
              </a:rPr>
              <a:t> lg </a:t>
            </a:r>
            <a:r>
              <a:rPr sz="3400" b="0" i="1">
                <a:solidFill>
                  <a:srgbClr val="FFFFFF"/>
                </a:solidFill>
                <a:latin typeface="Cambria"/>
              </a:rPr>
              <a:t>n</a:t>
            </a:r>
            <a:r>
              <a:rPr sz="3400" b="0" i="0">
                <a:solidFill>
                  <a:srgbClr val="FFFFFF"/>
                </a:solidFill>
                <a:latin typeface="Cambria"/>
              </a:rPr>
              <a:t>)</a:t>
            </a:r>
            <a:r>
              <a:rPr sz="3400" b="0" i="0">
                <a:solidFill>
                  <a:srgbClr val="FFFFFF"/>
                </a:solidFill>
                <a:latin typeface="Segoe UI Semibold"/>
              </a:rPr>
              <a:t> on every input” is a stronger claim than “average-case </a:t>
            </a:r>
            <a:r>
              <a:rPr sz="3400" b="0" i="0">
                <a:solidFill>
                  <a:srgbClr val="FFFFFF"/>
                </a:solidFill>
                <a:latin typeface="Cambria"/>
              </a:rPr>
              <a:t>O(</a:t>
            </a:r>
            <a:r>
              <a:rPr sz="3400" b="0" i="1">
                <a:solidFill>
                  <a:srgbClr val="FFFFFF"/>
                </a:solidFill>
                <a:latin typeface="Cambria"/>
              </a:rPr>
              <a:t>n</a:t>
            </a:r>
            <a:r>
              <a:rPr sz="3400" b="0" i="0">
                <a:solidFill>
                  <a:srgbClr val="FFFFFF"/>
                </a:solidFill>
                <a:latin typeface="Cambria"/>
              </a:rPr>
              <a:t> lg </a:t>
            </a:r>
            <a:r>
              <a:rPr sz="3400" b="0" i="1">
                <a:solidFill>
                  <a:srgbClr val="FFFFFF"/>
                </a:solidFill>
                <a:latin typeface="Cambria"/>
              </a:rPr>
              <a:t>n</a:t>
            </a:r>
            <a:r>
              <a:rPr sz="3400" b="0" i="0">
                <a:solidFill>
                  <a:srgbClr val="FFFFFF"/>
                </a:solidFill>
                <a:latin typeface="Cambria"/>
              </a:rPr>
              <a:t>)</a:t>
            </a:r>
            <a:r>
              <a:rPr sz="3400" b="0" i="0">
                <a:solidFill>
                  <a:srgbClr val="FFFFFF"/>
                </a:solidFill>
                <a:latin typeface="Segoe UI Semibold"/>
              </a:rPr>
              <a:t>”, and why an adversary makes the difference </a:t>
            </a:r>
            <a:r>
              <a:rPr sz="3400" b="0" i="1">
                <a:solidFill>
                  <a:srgbClr val="FFFFFF"/>
                </a:solidFill>
                <a:latin typeface="Segoe UI Semibold"/>
              </a:rPr>
              <a:t>(CLO-2)</a:t>
            </a:r>
            <a:r>
              <a:rPr sz="3400" b="0" i="0">
                <a:solidFill>
                  <a:srgbClr val="FFFFFF"/>
                </a:solidFill>
                <a:latin typeface="Segoe UI Semibold"/>
              </a:rPr>
              <a: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9  ·  Quicksort, Randomisation and the Average Case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81  ·  answers in Appendix D     </a:t>
            </a:r>
            <a:fld id="{7E6C76CA-8EEA-45F3-B094-A5848EA989E0}"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Explain why “expected </a:t>
            </a:r>
            <a:r>
              <a:rPr sz="2400" b="0" i="0">
                <a:solidFill>
                  <a:srgbClr val="1A5276"/>
                </a:solidFill>
                <a:latin typeface="Cambria"/>
              </a:rPr>
              <a:t>O(</a:t>
            </a:r>
            <a:r>
              <a:rPr sz="2400" b="0" i="1">
                <a:solidFill>
                  <a:srgbClr val="1A5276"/>
                </a:solidFill>
                <a:latin typeface="Cambria"/>
              </a:rPr>
              <a:t>n</a:t>
            </a:r>
            <a:r>
              <a:rPr sz="2400" b="0" i="0">
                <a:solidFill>
                  <a:srgbClr val="1A5276"/>
                </a:solidFill>
                <a:latin typeface="Cambria"/>
              </a:rPr>
              <a:t> lg </a:t>
            </a:r>
            <a:r>
              <a:rPr sz="2400" b="0" i="1">
                <a:solidFill>
                  <a:srgbClr val="1A5276"/>
                </a:solidFill>
                <a:latin typeface="Cambria"/>
              </a:rPr>
              <a:t>n</a:t>
            </a:r>
            <a:r>
              <a:rPr sz="2400" b="0" i="0">
                <a:solidFill>
                  <a:srgbClr val="1A5276"/>
                </a:solidFill>
                <a:latin typeface="Cambria"/>
              </a:rPr>
              <a:t>)</a:t>
            </a:r>
            <a:r>
              <a:rPr sz="2400" b="0" i="0">
                <a:solidFill>
                  <a:srgbClr val="1A5276"/>
                </a:solidFill>
                <a:latin typeface="Segoe UI Semibold"/>
              </a:rPr>
              <a:t> on every input” is a stronger claim than “average-case </a:t>
            </a:r>
            <a:r>
              <a:rPr sz="2400" b="0" i="0">
                <a:solidFill>
                  <a:srgbClr val="1A5276"/>
                </a:solidFill>
                <a:latin typeface="Cambria"/>
              </a:rPr>
              <a:t>O(</a:t>
            </a:r>
            <a:r>
              <a:rPr sz="2400" b="0" i="1">
                <a:solidFill>
                  <a:srgbClr val="1A5276"/>
                </a:solidFill>
                <a:latin typeface="Cambria"/>
              </a:rPr>
              <a:t>n</a:t>
            </a:r>
            <a:r>
              <a:rPr sz="2400" b="0" i="0">
                <a:solidFill>
                  <a:srgbClr val="1A5276"/>
                </a:solidFill>
                <a:latin typeface="Cambria"/>
              </a:rPr>
              <a:t> lg </a:t>
            </a:r>
            <a:r>
              <a:rPr sz="2400" b="0" i="1">
                <a:solidFill>
                  <a:srgbClr val="1A5276"/>
                </a:solidFill>
                <a:latin typeface="Cambria"/>
              </a:rPr>
              <a:t>n</a:t>
            </a:r>
            <a:r>
              <a:rPr sz="2400" b="0" i="0">
                <a:solidFill>
                  <a:srgbClr val="1A5276"/>
                </a:solidFill>
                <a:latin typeface="Cambria"/>
              </a:rPr>
              <a:t>)</a:t>
            </a:r>
            <a:r>
              <a:rPr sz="2400" b="0" i="0">
                <a:solidFill>
                  <a:srgbClr val="1A5276"/>
                </a:solidFill>
                <a:latin typeface="Segoe UI Semibold"/>
              </a:rPr>
              <a:t>”, and why an adversary makes the difference </a:t>
            </a:r>
            <a:r>
              <a:rPr sz="2400" b="0" i="1">
                <a:solidFill>
                  <a:srgbClr val="1A5276"/>
                </a:solidFill>
                <a:latin typeface="Segoe UI Semibold"/>
              </a:rPr>
              <a:t>(CLO-2)</a:t>
            </a:r>
            <a:r>
              <a:rPr sz="2400" b="0" i="0">
                <a:solidFill>
                  <a:srgbClr val="1A5276"/>
                </a:solidFill>
                <a:latin typeface="Segoe UI Semibold"/>
              </a:rPr>
              <a: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“Average case” averages over </a:t>
            </a:r>
            <a:r>
              <a:rPr sz="2200" b="0" i="1">
                <a:solidFill>
                  <a:srgbClr val="1C252B"/>
                </a:solidFill>
                <a:latin typeface="Segoe UI"/>
              </a:rPr>
              <a:t>inputs</a:t>
            </a:r>
            <a:r>
              <a:rPr sz="2200" b="0" i="0">
                <a:solidFill>
                  <a:srgbClr val="1C252B"/>
                </a:solidFill>
                <a:latin typeface="Segoe UI"/>
              </a:rPr>
              <a:t> and so needs an assumption about the data; an adversary who knows your algorithm simply supplies an input outside that distribution — and sorted data arrives by accident anyway. “Expected” averages over the algorithm’s </a:t>
            </a:r>
            <a:r>
              <a:rPr sz="2200" b="0" i="1">
                <a:solidFill>
                  <a:srgbClr val="1C252B"/>
                </a:solidFill>
                <a:latin typeface="Segoe UI"/>
              </a:rPr>
              <a:t>own coin flips</a:t>
            </a:r>
            <a:r>
              <a:rPr sz="2200" b="0" i="0">
                <a:solidFill>
                  <a:srgbClr val="1C252B"/>
                </a:solidFill>
                <a:latin typeface="Segoe UI"/>
              </a:rPr>
              <a:t> with the input held fixed, so it holds for every input including the adversary’s. He would need to predict your random numbers, not your data.</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  answers in Appendix D     </a:t>
            </a:r>
            <a:fld id="{322AAD0C-B094-4639-B7A7-FFD50178EA47}"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1651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The measured frame was 64 bytes and the stack 1 MB. At what </a:t>
            </a:r>
            <a:r>
              <a:rPr sz="3400" b="0" i="1">
                <a:solidFill>
                  <a:srgbClr val="FFFFFF"/>
                </a:solidFill>
                <a:latin typeface="Cambria"/>
              </a:rPr>
              <a:t>n</a:t>
            </a:r>
            <a:r>
              <a:rPr sz="3400" b="0" i="0">
                <a:solidFill>
                  <a:srgbClr val="FFFFFF"/>
                </a:solidFill>
                <a:latin typeface="Segoe UI Semibold"/>
              </a:rPr>
              <a:t> does the naive sort on sorted input crash, and what would doubling the stack buy you?</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9  ·  Quicksort, Randomisation and the Average Case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81  ·  answers in Appendix D     </a:t>
            </a:r>
            <a:fld id="{1C8BDCB6-CE03-432A-8FA1-489E0559EB64}"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The measured frame was 64 bytes and the stack 1 MB. At what </a:t>
            </a:r>
            <a:r>
              <a:rPr sz="2400" b="0" i="1">
                <a:solidFill>
                  <a:srgbClr val="1A5276"/>
                </a:solidFill>
                <a:latin typeface="Cambria"/>
              </a:rPr>
              <a:t>n</a:t>
            </a:r>
            <a:r>
              <a:rPr sz="2400" b="0" i="0">
                <a:solidFill>
                  <a:srgbClr val="1A5276"/>
                </a:solidFill>
                <a:latin typeface="Segoe UI Semibold"/>
              </a:rPr>
              <a:t> does the naive sort on sorted input crash, and what would doubling the stack buy you?</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1 </a:t>
            </a:r>
            <a:r>
              <a:rPr sz="2200" b="0" i="0">
                <a:solidFill>
                  <a:srgbClr val="1C252B"/>
                </a:solidFill>
                <a:latin typeface="Segoe UI"/>
              </a:rPr>
              <a:t>MB</a:t>
            </a:r>
            <a:r>
              <a:rPr sz="2200" b="0" i="0">
                <a:solidFill>
                  <a:srgbClr val="1C252B"/>
                </a:solidFill>
                <a:latin typeface="Cambria"/>
              </a:rPr>
              <a:t> / 64 </a:t>
            </a:r>
            <a:r>
              <a:rPr sz="2200" b="0" i="0">
                <a:solidFill>
                  <a:srgbClr val="1C252B"/>
                </a:solidFill>
                <a:latin typeface="Segoe UI"/>
              </a:rPr>
              <a:t>bytes</a:t>
            </a:r>
            <a:r>
              <a:rPr sz="2200" b="0" i="0">
                <a:solidFill>
                  <a:srgbClr val="1C252B"/>
                </a:solidFill>
                <a:latin typeface="Cambria"/>
              </a:rPr>
              <a:t> = 16,384</a:t>
            </a:r>
            <a:r>
              <a:rPr sz="2200" b="0" i="0">
                <a:solidFill>
                  <a:srgbClr val="1C252B"/>
                </a:solidFill>
                <a:latin typeface="Segoe UI"/>
              </a:rPr>
              <a:t> frames, and the depth is </a:t>
            </a:r>
            <a:r>
              <a:rPr sz="2200" b="0" i="1">
                <a:solidFill>
                  <a:srgbClr val="1C252B"/>
                </a:solidFill>
                <a:latin typeface="Cambria"/>
              </a:rPr>
              <a:t>n</a:t>
            </a:r>
            <a:r>
              <a:rPr sz="2200" b="0" i="0">
                <a:solidFill>
                  <a:srgbClr val="1C252B"/>
                </a:solidFill>
                <a:latin typeface="Cambria"/>
              </a:rPr>
              <a:t>−1</a:t>
            </a:r>
            <a:r>
              <a:rPr sz="2200" b="0" i="0">
                <a:solidFill>
                  <a:srgbClr val="1C252B"/>
                </a:solidFill>
                <a:latin typeface="Segoe UI"/>
              </a:rPr>
              <a:t>, so it crashes for </a:t>
            </a:r>
            <a:r>
              <a:rPr sz="2200" b="0" i="1">
                <a:solidFill>
                  <a:srgbClr val="1C252B"/>
                </a:solidFill>
                <a:latin typeface="Cambria"/>
              </a:rPr>
              <a:t>n</a:t>
            </a:r>
            <a:r>
              <a:rPr sz="2200" b="0" i="0">
                <a:solidFill>
                  <a:srgbClr val="1C252B"/>
                </a:solidFill>
                <a:latin typeface="Cambria"/>
              </a:rPr>
              <a:t> &gt; 16,384</a:t>
            </a:r>
            <a:r>
              <a:rPr sz="2200" b="0" i="0">
                <a:solidFill>
                  <a:srgbClr val="1C252B"/>
                </a:solidFill>
                <a:latin typeface="Segoe UI"/>
              </a:rPr>
              <a:t> — confirmed at </a:t>
            </a:r>
            <a:r>
              <a:rPr sz="2200" b="0" i="1">
                <a:solidFill>
                  <a:srgbClr val="1C252B"/>
                </a:solidFill>
                <a:latin typeface="Cambria"/>
              </a:rPr>
              <a:t>n</a:t>
            </a:r>
            <a:r>
              <a:rPr sz="2200" b="0" i="0">
                <a:solidFill>
                  <a:srgbClr val="1C252B"/>
                </a:solidFill>
                <a:latin typeface="Cambria"/>
              </a:rPr>
              <a:t> = 32,000</a:t>
            </a:r>
            <a:r>
              <a:rPr sz="2200" b="0" i="0">
                <a:solidFill>
                  <a:srgbClr val="1C252B"/>
                </a:solidFill>
                <a:latin typeface="Segoe UI"/>
              </a:rPr>
              <a:t>. Doubling the stack buys </a:t>
            </a:r>
            <a:r>
              <a:rPr sz="2200" b="0" i="1">
                <a:solidFill>
                  <a:srgbClr val="1C252B"/>
                </a:solidFill>
                <a:latin typeface="Cambria"/>
              </a:rPr>
              <a:t>n</a:t>
            </a:r>
            <a:r>
              <a:rPr sz="2200" b="0" i="0">
                <a:solidFill>
                  <a:srgbClr val="1C252B"/>
                </a:solidFill>
                <a:latin typeface="Cambria"/>
              </a:rPr>
              <a:t> = 32,768</a:t>
            </a:r>
            <a:r>
              <a:rPr sz="2200" b="0" i="0">
                <a:solidFill>
                  <a:srgbClr val="1C252B"/>
                </a:solidFill>
                <a:latin typeface="Segoe UI"/>
              </a:rPr>
              <a:t>: one more doubling of </a:t>
            </a:r>
            <a:r>
              <a:rPr sz="2200" b="0" i="1">
                <a:solidFill>
                  <a:srgbClr val="1C252B"/>
                </a:solidFill>
                <a:latin typeface="Cambria"/>
              </a:rPr>
              <a:t>n</a:t>
            </a:r>
            <a:r>
              <a:rPr sz="2200" b="0" i="0">
                <a:solidFill>
                  <a:srgbClr val="1C252B"/>
                </a:solidFill>
                <a:latin typeface="Segoe UI"/>
              </a:rPr>
              <a:t>, for twice the memory. It does not fix anything, because the depth grows linearly and the stack can only grow by constants. Recursing on the smaller side first bounds the depth at </a:t>
            </a:r>
            <a:r>
              <a:rPr sz="2200" b="0" i="0">
                <a:solidFill>
                  <a:srgbClr val="1C252B"/>
                </a:solidFill>
                <a:latin typeface="Cambria"/>
              </a:rPr>
              <a:t>O(lg </a:t>
            </a:r>
            <a:r>
              <a:rPr sz="2200" b="0" i="1">
                <a:solidFill>
                  <a:srgbClr val="1C252B"/>
                </a:solidFill>
                <a:latin typeface="Cambria"/>
              </a:rPr>
              <a:t>n</a:t>
            </a:r>
            <a:r>
              <a:rPr sz="2200" b="0" i="0">
                <a:solidFill>
                  <a:srgbClr val="1C252B"/>
                </a:solidFill>
                <a:latin typeface="Cambria"/>
              </a:rPr>
              <a:t>)</a:t>
            </a:r>
            <a:r>
              <a:rPr sz="2200" b="0" i="0">
                <a:solidFill>
                  <a:srgbClr val="1C252B"/>
                </a:solidFill>
                <a:latin typeface="Segoe UI"/>
              </a:rPr>
              <a:t> and does fix it.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  answers in Appendix D     </a:t>
            </a:r>
            <a:fld id="{0EF72D94-6EE9-41A1-A000-6B9154D3C72A}" type="slidenum">
              <a:rPr lang="en-GB" sz="1000">
                <a:solidFill>
                  <a:srgbClr val="8795A1"/>
                </a:solidFill>
                <a:latin typeface="Segoe UI"/>
              </a:rPr>
              <a:t>41</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3530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a:t>
            </a:r>
            <a:fld id="{B2884DBF-6DF1-43A7-85ED-A1C7E8395EB7}" type="slidenum">
              <a:rPr lang="en-GB" sz="1000">
                <a:solidFill>
                  <a:srgbClr val="8795A1"/>
                </a:solidFill>
                <a:latin typeface="Segoe UI"/>
              </a:rPr>
              <a:t>42</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Quicksort is merge sort inverted: a hard split (partition, </a:t>
            </a:r>
            <a:r>
              <a:rPr sz="1700" b="0" i="0">
                <a:solidFill>
                  <a:srgbClr val="1C252B"/>
                </a:solidFill>
                <a:latin typeface="Cambria"/>
              </a:rPr>
              <a:t>Θ(</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in place) and no join at all.</a:t>
            </a:r>
          </a:p>
        </p:txBody>
      </p:sp>
      <p:sp>
        <p:nvSpPr>
          <p:cNvPr id="10" name="!!sb1">
            <a:extLst>
              <a:ext uri="{C183D7F6-B498-43B3-948B-1728B52AA6E4}">
                <adec:decorative xmlns:adec="http://schemas.microsoft.com/office/drawing/2017/decorative" val="1"/>
              </a:ext>
            </a:extLst>
          </p:cNvPr>
          <p:cNvSpPr/>
          <p:nvPr/>
        </p:nvSpPr>
        <p:spPr>
          <a:xfrm>
            <a:off x="658368" y="233172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38658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32257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Worst case </a:t>
            </a:r>
            <a:r>
              <a:rPr sz="1700" b="0" i="0">
                <a:solidFill>
                  <a:srgbClr val="1C252B"/>
                </a:solidFill>
                <a:latin typeface="Cambria"/>
              </a:rPr>
              <a:t>Θ(</a:t>
            </a:r>
            <a:r>
              <a:rPr sz="1700" b="0" i="1">
                <a:solidFill>
                  <a:srgbClr val="1C252B"/>
                </a:solidFill>
                <a:latin typeface="Cambria"/>
              </a:rPr>
              <a:t>n</a:t>
            </a:r>
            <a:r>
              <a:rPr sz="1100" b="0" i="0" baseline="30000">
                <a:solidFill>
                  <a:srgbClr val="1C252B"/>
                </a:solidFill>
                <a:latin typeface="Cambria"/>
              </a:rPr>
              <a:t>2</a:t>
            </a:r>
            <a:r>
              <a:rPr sz="1700" b="0" i="0">
                <a:solidFill>
                  <a:srgbClr val="1C252B"/>
                </a:solidFill>
                <a:latin typeface="Cambria"/>
              </a:rPr>
              <a:t>)</a:t>
            </a:r>
            <a:r>
              <a:rPr sz="1700" b="0" i="0">
                <a:solidFill>
                  <a:srgbClr val="1C252B"/>
                </a:solidFill>
                <a:latin typeface="Segoe UI"/>
              </a:rPr>
              <a:t>, attained on </a:t>
            </a:r>
            <a:r>
              <a:rPr sz="1700" b="0" i="1">
                <a:solidFill>
                  <a:srgbClr val="1C252B"/>
                </a:solidFill>
                <a:latin typeface="Segoe UI"/>
              </a:rPr>
              <a:t>already-sorted</a:t>
            </a:r>
            <a:r>
              <a:rPr sz="1700" b="0" i="0">
                <a:solidFill>
                  <a:srgbClr val="1C252B"/>
                </a:solidFill>
                <a:latin typeface="Segoe UI"/>
              </a:rPr>
              <a:t> input — which is a common input shape, not an exotic one. Expected </a:t>
            </a:r>
            <a:r>
              <a:rPr sz="1700" b="0" i="0">
                <a:solidFill>
                  <a:srgbClr val="1C252B"/>
                </a:solidFill>
                <a:latin typeface="Cambria"/>
              </a:rPr>
              <a:t>O(</a:t>
            </a:r>
            <a:r>
              <a:rPr sz="1700" b="0" i="1">
                <a:solidFill>
                  <a:srgbClr val="1C252B"/>
                </a:solidFill>
                <a:latin typeface="Cambria"/>
              </a:rPr>
              <a:t>n</a:t>
            </a:r>
            <a:r>
              <a:rPr sz="1700" b="0" i="0">
                <a:solidFill>
                  <a:srgbClr val="1C252B"/>
                </a:solidFill>
                <a:latin typeface="Cambria"/>
              </a:rPr>
              <a:t> lg </a:t>
            </a:r>
            <a:r>
              <a:rPr sz="1700" b="0" i="1">
                <a:solidFill>
                  <a:srgbClr val="1C252B"/>
                </a:solidFill>
                <a:latin typeface="Cambria"/>
              </a:rPr>
              <a:t>n</a:t>
            </a:r>
            <a:r>
              <a:rPr sz="1700" b="0" i="0">
                <a:solidFill>
                  <a:srgbClr val="1C252B"/>
                </a:solidFill>
                <a:latin typeface="Cambria"/>
              </a:rPr>
              <a:t>)</a:t>
            </a:r>
            <a:r>
              <a:rPr sz="1700" b="0" i="0">
                <a:solidFill>
                  <a:srgbClr val="1C252B"/>
                </a:solidFill>
                <a:latin typeface="Segoe UI"/>
              </a:rPr>
              <a:t> with a random pivot, on every input.</a:t>
            </a:r>
          </a:p>
        </p:txBody>
      </p:sp>
      <p:sp>
        <p:nvSpPr>
          <p:cNvPr id="13" name="!!sb2">
            <a:extLst>
              <a:ext uri="{C183D7F6-B498-43B3-948B-1728B52AA6E4}">
                <adec:decorative xmlns:adec="http://schemas.microsoft.com/office/drawing/2017/decorative" val="1"/>
              </a:ext>
            </a:extLst>
          </p:cNvPr>
          <p:cNvSpPr/>
          <p:nvPr/>
        </p:nvSpPr>
        <p:spPr>
          <a:xfrm>
            <a:off x="658368" y="305348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10835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04434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Randomisation converts an assumption about the data, which the world violates, into an assumption about a random number generator, which it does not.</a:t>
            </a:r>
          </a:p>
        </p:txBody>
      </p:sp>
      <p:sp>
        <p:nvSpPr>
          <p:cNvPr id="16" name="!!sb3">
            <a:extLst>
              <a:ext uri="{C183D7F6-B498-43B3-948B-1728B52AA6E4}">
                <adec:decorative xmlns:adec="http://schemas.microsoft.com/office/drawing/2017/decorative" val="1"/>
              </a:ext>
            </a:extLst>
          </p:cNvPr>
          <p:cNvSpPr/>
          <p:nvPr/>
        </p:nvSpPr>
        <p:spPr>
          <a:xfrm>
            <a:off x="658368" y="377525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83011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76610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on sorted input the naive pivot made exactly </a:t>
            </a:r>
            <a:r>
              <a:rPr sz="1700" b="0" i="1">
                <a:solidFill>
                  <a:srgbClr val="1C252B"/>
                </a:solidFill>
                <a:latin typeface="Cambria"/>
              </a:rPr>
              <a:t>n</a:t>
            </a:r>
            <a:r>
              <a:rPr sz="1700" b="0" i="0">
                <a:solidFill>
                  <a:srgbClr val="1C252B"/>
                </a:solidFill>
                <a:latin typeface="Cambria"/>
              </a:rPr>
              <a:t>(</a:t>
            </a:r>
            <a:r>
              <a:rPr sz="1700" b="0" i="1">
                <a:solidFill>
                  <a:srgbClr val="1C252B"/>
                </a:solidFill>
                <a:latin typeface="Cambria"/>
              </a:rPr>
              <a:t>n</a:t>
            </a:r>
            <a:r>
              <a:rPr sz="1700" b="0" i="0">
                <a:solidFill>
                  <a:srgbClr val="1C252B"/>
                </a:solidFill>
                <a:latin typeface="Cambria"/>
              </a:rPr>
              <a:t>−1)/2</a:t>
            </a:r>
            <a:r>
              <a:rPr sz="1700" b="0" i="0">
                <a:solidFill>
                  <a:srgbClr val="1C252B"/>
                </a:solidFill>
                <a:latin typeface="Segoe UI"/>
              </a:rPr>
              <a:t> comparisons (</a:t>
            </a:r>
            <a:r>
              <a:rPr sz="1700" b="0" i="0">
                <a:solidFill>
                  <a:srgbClr val="1C252B"/>
                </a:solidFill>
                <a:latin typeface="Cambria"/>
              </a:rPr>
              <a:t>0.9999 × </a:t>
            </a:r>
            <a:r>
              <a:rPr sz="1700" b="0" i="1">
                <a:solidFill>
                  <a:srgbClr val="1C252B"/>
                </a:solidFill>
                <a:latin typeface="Cambria"/>
              </a:rPr>
              <a:t>n</a:t>
            </a:r>
            <a:r>
              <a:rPr sz="1100" b="0" i="0" baseline="30000">
                <a:solidFill>
                  <a:srgbClr val="1C252B"/>
                </a:solidFill>
                <a:latin typeface="Cambria"/>
              </a:rPr>
              <a:t>2</a:t>
            </a:r>
            <a:r>
              <a:rPr sz="1700" b="0" i="0">
                <a:solidFill>
                  <a:srgbClr val="1C252B"/>
                </a:solidFill>
                <a:latin typeface="Cambria"/>
              </a:rPr>
              <a:t>/2</a:t>
            </a:r>
            <a:r>
              <a:rPr sz="1700" b="0" i="0">
                <a:solidFill>
                  <a:srgbClr val="1C252B"/>
                </a:solidFill>
                <a:latin typeface="Segoe UI"/>
              </a:rPr>
              <a:t>) against the random pivot’s </a:t>
            </a:r>
            <a:r>
              <a:rPr sz="1700" b="0" i="0">
                <a:solidFill>
                  <a:srgbClr val="1C252B"/>
                </a:solidFill>
                <a:latin typeface="Cambria"/>
              </a:rPr>
              <a:t>1.15 </a:t>
            </a:r>
            <a:r>
              <a:rPr sz="1700" b="0" i="1">
                <a:solidFill>
                  <a:srgbClr val="1C252B"/>
                </a:solidFill>
                <a:latin typeface="Cambria"/>
              </a:rPr>
              <a:t>n</a:t>
            </a:r>
            <a:r>
              <a:rPr sz="1700" b="0" i="0">
                <a:solidFill>
                  <a:srgbClr val="1C252B"/>
                </a:solidFill>
                <a:latin typeface="Cambria"/>
              </a:rPr>
              <a:t> lg </a:t>
            </a:r>
            <a:r>
              <a:rPr sz="1700" b="0" i="1">
                <a:solidFill>
                  <a:srgbClr val="1C252B"/>
                </a:solidFill>
                <a:latin typeface="Cambria"/>
              </a:rPr>
              <a:t>n</a:t>
            </a:r>
            <a:r>
              <a:rPr sz="1700" b="0" i="0">
                <a:solidFill>
                  <a:srgbClr val="1C252B"/>
                </a:solidFill>
                <a:latin typeface="Segoe UI"/>
              </a:rPr>
              <a:t> — a speed-up of 41.6 at </a:t>
            </a:r>
            <a:r>
              <a:rPr sz="1700" b="0" i="1">
                <a:solidFill>
                  <a:srgbClr val="1C252B"/>
                </a:solidFill>
                <a:latin typeface="Cambria"/>
              </a:rPr>
              <a:t>n</a:t>
            </a:r>
            <a:r>
              <a:rPr sz="1700" b="0" i="0">
                <a:solidFill>
                  <a:srgbClr val="1C252B"/>
                </a:solidFill>
                <a:latin typeface="Cambria"/>
              </a:rPr>
              <a:t>=1,000</a:t>
            </a:r>
            <a:r>
              <a:rPr sz="1700" b="0" i="0">
                <a:solidFill>
                  <a:srgbClr val="1C252B"/>
                </a:solidFill>
                <a:latin typeface="Segoe UI"/>
              </a:rPr>
              <a:t> rising to 471.9 at </a:t>
            </a:r>
            <a:r>
              <a:rPr sz="1700" b="0" i="1">
                <a:solidFill>
                  <a:srgbClr val="1C252B"/>
                </a:solidFill>
                <a:latin typeface="Cambria"/>
              </a:rPr>
              <a:t>n</a:t>
            </a:r>
            <a:r>
              <a:rPr sz="1700" b="0" i="0">
                <a:solidFill>
                  <a:srgbClr val="1C252B"/>
                </a:solidFill>
                <a:latin typeface="Cambria"/>
              </a:rPr>
              <a:t>=16,000</a:t>
            </a:r>
            <a:r>
              <a:rPr sz="1700" b="0" i="0">
                <a:solidFill>
                  <a:srgbClr val="1C252B"/>
                </a:solidFill>
                <a:latin typeface="Segoe UI"/>
              </a:rPr>
              <a:t>.</a:t>
            </a:r>
          </a:p>
        </p:txBody>
      </p:sp>
      <p:sp>
        <p:nvSpPr>
          <p:cNvPr id="19" name="!!sb4">
            <a:extLst>
              <a:ext uri="{C183D7F6-B498-43B3-948B-1728B52AA6E4}">
                <adec:decorative xmlns:adec="http://schemas.microsoft.com/office/drawing/2017/decorative" val="1"/>
              </a:ext>
            </a:extLst>
          </p:cNvPr>
          <p:cNvSpPr/>
          <p:nvPr/>
        </p:nvSpPr>
        <p:spPr>
          <a:xfrm>
            <a:off x="658368" y="449701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55188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48787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the naive version’s recursion depth is exactly </a:t>
            </a:r>
            <a:r>
              <a:rPr sz="1700" b="0" i="1">
                <a:solidFill>
                  <a:srgbClr val="1C252B"/>
                </a:solidFill>
                <a:latin typeface="Cambria"/>
              </a:rPr>
              <a:t>n</a:t>
            </a:r>
            <a:r>
              <a:rPr sz="1700" b="0" i="0">
                <a:solidFill>
                  <a:srgbClr val="1C252B"/>
                </a:solidFill>
                <a:latin typeface="Cambria"/>
              </a:rPr>
              <a:t>−1</a:t>
            </a:r>
            <a:r>
              <a:rPr sz="1700" b="0" i="0">
                <a:solidFill>
                  <a:srgbClr val="1C252B"/>
                </a:solidFill>
                <a:latin typeface="Segoe UI"/>
              </a:rPr>
              <a:t>. At </a:t>
            </a:r>
            <a:r>
              <a:rPr sz="1700" b="0" i="1">
                <a:solidFill>
                  <a:srgbClr val="1C252B"/>
                </a:solidFill>
                <a:latin typeface="Cambria"/>
              </a:rPr>
              <a:t>n</a:t>
            </a:r>
            <a:r>
              <a:rPr sz="1700" b="0" i="0">
                <a:solidFill>
                  <a:srgbClr val="1C252B"/>
                </a:solidFill>
                <a:latin typeface="Cambria"/>
              </a:rPr>
              <a:t> = 16,000</a:t>
            </a:r>
            <a:r>
              <a:rPr sz="1700" b="0" i="0">
                <a:solidFill>
                  <a:srgbClr val="1C252B"/>
                </a:solidFill>
                <a:latin typeface="Segoe UI"/>
              </a:rPr>
              <a:t> it used 99.9% of a 1 MB stack, at 64.0 bytes per frame; at </a:t>
            </a:r>
            <a:r>
              <a:rPr sz="1700" b="0" i="1">
                <a:solidFill>
                  <a:srgbClr val="1C252B"/>
                </a:solidFill>
                <a:latin typeface="Cambria"/>
              </a:rPr>
              <a:t>n</a:t>
            </a:r>
            <a:r>
              <a:rPr sz="1700" b="0" i="0">
                <a:solidFill>
                  <a:srgbClr val="1C252B"/>
                </a:solidFill>
                <a:latin typeface="Cambria"/>
              </a:rPr>
              <a:t> = 32,000</a:t>
            </a:r>
            <a:r>
              <a:rPr sz="1700" b="0" i="0">
                <a:solidFill>
                  <a:srgbClr val="1C252B"/>
                </a:solidFill>
                <a:latin typeface="Segoe UI"/>
              </a:rPr>
              <a:t> it crashed with </a:t>
            </a:r>
            <a:r>
              <a:rPr sz="1600" b="0" i="0">
                <a:solidFill>
                  <a:srgbClr val="1F4E79"/>
                </a:solidFill>
                <a:latin typeface="Consolas"/>
              </a:rPr>
              <a:t>STATUS_STACK_OVERFLOW</a:t>
            </a:r>
            <a:r>
              <a:rPr sz="1700" b="0" i="0">
                <a:solidFill>
                  <a:srgbClr val="1C252B"/>
                </a:solidFill>
                <a:latin typeface="Segoe UI"/>
              </a:rPr>
              <a:t>.</a:t>
            </a:r>
          </a:p>
        </p:txBody>
      </p:sp>
      <p:sp>
        <p:nvSpPr>
          <p:cNvPr id="22" name="!!sb5">
            <a:extLst>
              <a:ext uri="{C183D7F6-B498-43B3-948B-1728B52AA6E4}">
                <adec:decorative xmlns:adec="http://schemas.microsoft.com/office/drawing/2017/decorative" val="1"/>
              </a:ext>
            </a:extLst>
          </p:cNvPr>
          <p:cNvSpPr/>
          <p:nvPr/>
        </p:nvSpPr>
        <p:spPr>
          <a:xfrm>
            <a:off x="658368" y="52187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736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209641"/>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on </a:t>
            </a:r>
            <a:r>
              <a:rPr sz="1700" b="0" i="1">
                <a:solidFill>
                  <a:srgbClr val="1C252B"/>
                </a:solidFill>
                <a:latin typeface="Segoe UI"/>
              </a:rPr>
              <a:t>random</a:t>
            </a:r>
            <a:r>
              <a:rPr sz="1700" b="0" i="0">
                <a:solidFill>
                  <a:srgbClr val="1C252B"/>
                </a:solidFill>
                <a:latin typeface="Segoe UI"/>
              </a:rPr>
              <a:t> input the unsafe version is 6–17% faster. That 10% is the insurance premium, and the thing insured against is a factor of 472 and a crash.</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89470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a:t>
            </a:r>
            <a:fld id="{4D2BD446-7980-405E-B542-246B08A9F11D}" type="slidenum">
              <a:rPr lang="en-GB" sz="1000">
                <a:solidFill>
                  <a:srgbClr val="8795A1"/>
                </a:solidFill>
                <a:latin typeface="Segoe UI"/>
              </a:rPr>
              <a:t>43</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F4E79"/>
                </a:solidFill>
                <a:latin typeface="Consolas"/>
              </a:rPr>
              <a:t>std::sort</a:t>
            </a:r>
            <a:r>
              <a:rPr sz="1700" b="0" i="0">
                <a:solidFill>
                  <a:srgbClr val="1C252B"/>
                </a:solidFill>
                <a:latin typeface="Segoe UI"/>
              </a:rPr>
              <a:t> is introsort: quicksort, plus an insertion-sort cutoff, plus a heapsort fallback once the depth exceeds </a:t>
            </a:r>
            <a:r>
              <a:rPr sz="1700" b="0" i="0">
                <a:solidFill>
                  <a:srgbClr val="1C252B"/>
                </a:solidFill>
                <a:latin typeface="Cambria"/>
              </a:rPr>
              <a:t>2 lg </a:t>
            </a:r>
            <a:r>
              <a:rPr sz="1700" b="0" i="1">
                <a:solidFill>
                  <a:srgbClr val="1C252B"/>
                </a:solidFill>
                <a:latin typeface="Cambria"/>
              </a:rPr>
              <a:t>n</a:t>
            </a:r>
            <a:r>
              <a:rPr sz="1700" b="0" i="0">
                <a:solidFill>
                  <a:srgbClr val="1C252B"/>
                </a:solidFill>
                <a:latin typeface="Segoe UI"/>
              </a:rPr>
              <a:t> — making the bad case survivable rather than merely unlikely.</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15410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a:t>
            </a:r>
            <a:fld id="{580DB3EB-0F66-4D19-AE54-2D6011899496}" type="slidenum">
              <a:rPr lang="en-GB" sz="1000">
                <a:solidFill>
                  <a:srgbClr val="8795A1"/>
                </a:solidFill>
                <a:latin typeface="Segoe UI"/>
              </a:rPr>
              <a:t>44</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Quicksort with a last-element pivot achieves its worst case on: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random input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already-sorted input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input with many duplicates only</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 realistic input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1350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a:t>
            </a:r>
            <a:fld id="{87CCF97F-006D-4C03-8CD9-4D23DCB41DFD}" type="slidenum">
              <a:rPr lang="en-GB" sz="1000">
                <a:solidFill>
                  <a:srgbClr val="8795A1"/>
                </a:solidFill>
                <a:latin typeface="Segoe UI"/>
              </a:rPr>
              <a:t>45</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Randomised quicksort’s expected </a:t>
            </a:r>
            <a:r>
              <a:rPr sz="2600" b="0" i="0">
                <a:solidFill>
                  <a:srgbClr val="1C252B"/>
                </a:solidFill>
                <a:latin typeface="Cambria"/>
              </a:rPr>
              <a:t>O(</a:t>
            </a:r>
            <a:r>
              <a:rPr sz="2600" b="0" i="1">
                <a:solidFill>
                  <a:srgbClr val="1C252B"/>
                </a:solidFill>
                <a:latin typeface="Cambria"/>
              </a:rPr>
              <a:t>n</a:t>
            </a:r>
            <a:r>
              <a:rPr sz="2600" b="0" i="0">
                <a:solidFill>
                  <a:srgbClr val="1C252B"/>
                </a:solidFill>
                <a:latin typeface="Cambria"/>
              </a:rPr>
              <a:t> lg </a:t>
            </a:r>
            <a:r>
              <a:rPr sz="2600" b="0" i="1">
                <a:solidFill>
                  <a:srgbClr val="1C252B"/>
                </a:solidFill>
                <a:latin typeface="Cambria"/>
              </a:rPr>
              <a:t>n</a:t>
            </a:r>
            <a:r>
              <a:rPr sz="2600" b="0" i="0">
                <a:solidFill>
                  <a:srgbClr val="1C252B"/>
                </a:solidFill>
                <a:latin typeface="Cambria"/>
              </a:rPr>
              <a:t>)</a:t>
            </a:r>
            <a:r>
              <a:rPr sz="2600" b="0" i="0">
                <a:solidFill>
                  <a:srgbClr val="1C252B"/>
                </a:solidFill>
                <a:latin typeface="Segoe UI"/>
              </a:rPr>
              <a:t> bound assumes: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input is a random permutation</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input has no duplicates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nothing about the input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input is partly sorted</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7289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Analysis of Algorithms  ·  Chapter 9  ·  Quicksort, Randomisation and the Average Case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81     </a:t>
            </a:r>
            <a:fld id="{30BE29D7-378E-4AF5-8DE1-E8833B28077D}" type="slidenum">
              <a:rPr lang="en-GB" sz="1000">
                <a:solidFill>
                  <a:srgbClr val="8795A1"/>
                </a:solidFill>
                <a:latin typeface="Segoe UI"/>
              </a:rPr>
              <a:t>46</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Lomuto partition’s loop invariant and explain what the final exchange accomplishes.</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quicksort is preferred in practice despite a worse worst case than merge sort </a:t>
            </a:r>
            <a:r>
              <a:rPr sz="1900" b="0" i="1">
                <a:solidFill>
                  <a:srgbClr val="1C252B"/>
                </a:solidFill>
                <a:latin typeface="Segoe UI"/>
              </a:rPr>
              <a:t>(CLO-1)</a:t>
            </a:r>
            <a:r>
              <a:rPr sz="1900" b="0" i="0">
                <a:solidFill>
                  <a:srgbClr val="1C252B"/>
                </a:solidFill>
                <a:latin typeface="Segoe UI"/>
              </a:rPr>
              <a:t>.</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median-of-three a defence against sorted input but not against an adversary?</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In the proof of Theorem 9.3, explain why </a:t>
            </a:r>
            <a:r>
              <a:rPr sz="1900" b="0" i="1">
                <a:solidFill>
                  <a:srgbClr val="1C252B"/>
                </a:solidFill>
                <a:latin typeface="Cambria"/>
              </a:rPr>
              <a:t>z</a:t>
            </a:r>
            <a:r>
              <a:rPr sz="1250" b="0" i="1" baseline="-25000">
                <a:solidFill>
                  <a:srgbClr val="1C252B"/>
                </a:solidFill>
                <a:latin typeface="Cambria"/>
              </a:rPr>
              <a:t>i</a:t>
            </a:r>
            <a:r>
              <a:rPr sz="1900" b="0" i="0">
                <a:solidFill>
                  <a:srgbClr val="1C252B"/>
                </a:solidFill>
                <a:latin typeface="Segoe UI"/>
              </a:rPr>
              <a:t> and </a:t>
            </a:r>
            <a:r>
              <a:rPr sz="1900" b="0" i="1">
                <a:solidFill>
                  <a:srgbClr val="1C252B"/>
                </a:solidFill>
                <a:latin typeface="Cambria"/>
              </a:rPr>
              <a:t>z</a:t>
            </a:r>
            <a:r>
              <a:rPr sz="1250" b="0" i="1" baseline="-25000">
                <a:solidFill>
                  <a:srgbClr val="1C252B"/>
                </a:solidFill>
                <a:latin typeface="Cambria"/>
              </a:rPr>
              <a:t>j</a:t>
            </a:r>
            <a:r>
              <a:rPr sz="1900" b="0" i="0">
                <a:solidFill>
                  <a:srgbClr val="1C252B"/>
                </a:solidFill>
                <a:latin typeface="Segoe UI"/>
              </a:rPr>
              <a:t> are compared exactly when the first pivot chosen from </a:t>
            </a:r>
            <a:r>
              <a:rPr sz="1900" b="0" i="1">
                <a:solidFill>
                  <a:srgbClr val="1C252B"/>
                </a:solidFill>
                <a:latin typeface="Cambria"/>
              </a:rPr>
              <a:t>Z</a:t>
            </a:r>
            <a:r>
              <a:rPr sz="1250" b="0" i="1" baseline="-25000">
                <a:solidFill>
                  <a:srgbClr val="1C252B"/>
                </a:solidFill>
                <a:latin typeface="Cambria"/>
              </a:rPr>
              <a:t>ij</a:t>
            </a:r>
            <a:r>
              <a:rPr sz="1900" b="0" i="0">
                <a:solidFill>
                  <a:srgbClr val="1C252B"/>
                </a:solidFill>
                <a:latin typeface="Segoe UI"/>
              </a:rPr>
              <a:t> is one of them, and evaluate the resulting probability for </a:t>
            </a:r>
            <a:r>
              <a:rPr sz="1900" b="0" i="1">
                <a:solidFill>
                  <a:srgbClr val="1C252B"/>
                </a:solidFill>
                <a:latin typeface="Cambria"/>
              </a:rPr>
              <a:t>i</a:t>
            </a:r>
            <a:r>
              <a:rPr sz="1900" b="0" i="0">
                <a:solidFill>
                  <a:srgbClr val="1C252B"/>
                </a:solidFill>
                <a:latin typeface="Cambria"/>
              </a:rPr>
              <a:t>=3</a:t>
            </a:r>
            <a:r>
              <a:rPr sz="1900" b="0" i="0">
                <a:solidFill>
                  <a:srgbClr val="1C252B"/>
                </a:solidFill>
                <a:latin typeface="Segoe UI"/>
              </a:rPr>
              <a:t>, </a:t>
            </a:r>
            <a:r>
              <a:rPr sz="1900" b="0" i="1">
                <a:solidFill>
                  <a:srgbClr val="1C252B"/>
                </a:solidFill>
                <a:latin typeface="Cambria"/>
              </a:rPr>
              <a:t>j</a:t>
            </a:r>
            <a:r>
              <a:rPr sz="1900" b="0" i="0">
                <a:solidFill>
                  <a:srgbClr val="1C252B"/>
                </a:solidFill>
                <a:latin typeface="Cambria"/>
              </a:rPr>
              <a:t>=10</a:t>
            </a:r>
            <a:r>
              <a:rPr sz="1900" b="0" i="0">
                <a:solidFill>
                  <a:srgbClr val="1C252B"/>
                </a:solidFill>
                <a:latin typeface="Segoe UI"/>
              </a:rPr>
              <a:t>.</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Your team benchmarks a sort on shuffled data and finds randomisation costs 10%, so proposes removing it. Write the reply, citing the measured numbers in this chapter, and name the one experiment that would settle the question.</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3229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09</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9</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10 — Lower Bounds and Sorting in Linear Time</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9, pages 72–81</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The adversarial input, and what randomising costs</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Quiz 1 (Ch 1–6)</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Analysis of Algorithms  ·  Chapter 9  ·  Quicksort, Randomisation and the Average Case</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024DA191-A59F-4C4A-B0DD-59B01C344038}" type="slidenum">
              <a:rPr lang="en-GB" sz="1000">
                <a:solidFill>
                  <a:srgbClr val="D5DEE5"/>
                </a:solidFill>
                <a:latin typeface="Segoe UI"/>
              </a:rPr>
              <a:t>47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nalysis of Algorithms Fall 2026">
  <a:themeElements>
    <a:clrScheme name="Analysis of Algorithm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nalysis of Algorithm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Quicksort, Randomisation and the Average Case</dc:title>
  <dc:subject>Analysis of Algorithms — Design, Proof and Measurement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