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1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6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0.svg" ContentType="image/svg+xml"/>
  <Override PartName="/ppt/media/image61.svg" ContentType="image/svg+xml"/>
  <Override PartName="/ppt/media/image63.svg" ContentType="image/svg+xml"/>
  <Override PartName="/ppt/media/image64.svg" ContentType="image/svg+xml"/>
  <Override PartName="/ppt/media/image66.svg" ContentType="image/svg+xml"/>
  <Override PartName="/ppt/media/image67.svg" ContentType="image/svg+xml"/>
  <Override PartName="/ppt/media/image68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CEBB4D5-680E-4260-86FB-7F463FC2D40E}">
          <p14:sldIdLst>
            <p14:sldId id="256"/>
            <p14:sldId id="257"/>
            <p14:sldId id="258"/>
            <p14:sldId id="259"/>
            <p14:sldId id="260"/>
          </p14:sldIdLst>
        </p14:section>
        <p14:section name="7.1 The Strategy With No Ideas In It" id="{7CB4DF47-11C8-4544-A50A-97E96BFE6F7F}">
          <p14:sldIdLst>
            <p14:sldId id="261"/>
            <p14:sldId id="262"/>
            <p14:sldId id="263"/>
          </p14:sldIdLst>
        </p14:section>
        <p14:section name="7.2 A Problem With Three Answers" id="{CA495189-9BAB-42AD-A7C4-FF501ECC783F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7.3 An Idea About the Problem" id="{E676BC15-ED4C-4E1A-9FBE-2E6C9E642429}">
          <p14:sldIdLst>
            <p14:sldId id="270"/>
            <p14:sldId id="271"/>
            <p14:sldId id="272"/>
            <p14:sldId id="273"/>
          </p14:sldIdLst>
        </p14:section>
        <p14:section name="7.4 The Three, Raced" id="{C6F035CA-D51D-42C3-86AC-1F21BA3B0951}">
          <p14:sldIdLst>
            <p14:sldId id="274"/>
            <p14:sldId id="275"/>
            <p14:sldId id="276"/>
            <p14:sldId id="277"/>
          </p14:sldIdLst>
        </p14:section>
        <p14:section name="7.5 When Brute Force Is the Right Answer" id="{120F4CCF-3A8A-43B2-9B1C-963879A26649}">
          <p14:sldIdLst>
            <p14:sldId id="278"/>
            <p14:sldId id="279"/>
            <p14:sldId id="280"/>
            <p14:sldId id="281"/>
          </p14:sldIdLst>
        </p14:section>
        <p14:section name="Pitfalls" id="{9E85C2E5-4F1B-49F1-82B5-2A0A31D3FE0F}">
          <p14:sldIdLst>
            <p14:sldId id="282"/>
          </p14:sldIdLst>
        </p14:section>
        <p14:section name="Lab" id="{C86750DE-409A-43FB-9F88-83FFCD794FFB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Checkpoint" id="{68564418-0160-405E-995F-67CCF67AA189}">
          <p14:sldIdLst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Wrap-up" id="{50D323A0-B885-4E10-BF99-A1F7C56F2754}">
          <p14:sldIdLst>
            <p14:sldId id="297"/>
            <p14:sldId id="298"/>
            <p14:sldId id="299"/>
            <p14:sldId id="300"/>
            <p14:sldId id="301"/>
            <p14:sldId id="30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7: Brute Force, and When It Is the Right Answer. Part 2 — Recursion and Divide-and-Conquer. Week 5: Brute force; divide and conquer. Handout pages 56–63.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Chapter 3 for the notation, Chapter 4 for the invariant in Section 7.3. No recursion is needed; this chapter is the baseline the rest of Part II improves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brute force; exhaustive search; candidate solution; maximum subarray; redundant work; incremental computation; Kadane’s algorithm; oracle;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7.1 (handout p. 57): Max-Subarray-Brute: every block, summed from scratch. Three nested loops, so Θ(n3) — and lines 4 to 7 are doing work that lines 4 to 7 of the previous iteration already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Proof. For each pair (i,j) with i ≤ j, the inner loop performs j − i + 1 additions. Summing over all pairs, Σᵢ₌₁ⁿΣⱼ₌ᵢⁿ (j−i+1)    = Σᵢ₌₁ⁿΣₘ₌₁ⁿ−ⁱ⁺¹ m    = Σᵢ₌₁ⁿ ((n−i+1)(n−i+2))/2    = Σₚ₌₁ⁿ (p(p+1))/2. The last sum is /12(Σ p² + Σ p) = /12((n(n+1)(2n+1))/6 + (n(n+1))/2), whose leading term is n³/6. By Lemma 3.2 this is Θ(n³). Every other operation is O(1) per pair, contributing O(n²), which the sum rule absorbs.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inner loop recomputes a sum the previous iteration almost had. Extending the block from j to j+1 costs one addition.</a:t>
            </a:r>
          </a:p>
          <a:p/>
          <a:p>
            <a:r>
              <a:t>Figure 7.2 (handout p. 58): Max-Subarray-Quadratic. The search is unchanged — still every pair (i,j) — but each candidate now costs O(1) instead of O(n). A better accountant, not a better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7.3 (handout p. 58): Max-Subarray-Kadane. One pass, two variables. The loop invariant is what makes it believable, and Theorem 7.2 is what makes it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Proof. Invariant: at the start of the iteration for j, here is the maximum sum of a block ending at j−1, and best is the maximum sum of any block within A[1 j−1]. Initialisation. Before j = 1 both ranges are empty; best = −∞ correctly records that no block has been seen, and here = 0 is the empty sum. Maintenance. Assume the invariant before iteration j. Any block ending at j either contains j−1 — in which case its sum is (the sum of a block ending at j−1) +  A[j], maximised by here + A[j] using the invariant — or it does not, in which case it is A[j] alone. Line 3 takes the larger of exactly these two, so afterwards here is the best sum ending at j. Line 4 then extends the running maximum over one more position, re-establishing the invariant for j+1. Termination. The loop runs n times and stops. Substituting j = n+1 into the invariant, best is the maximum sum of any block within A[1n], which is the postcondition. The body is O(1) and runs n times, so the time is Θ(n).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table above makes brute force look indefensible. In absolute terms it often is not.</a:t>
            </a:r>
          </a:p>
          <a:p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pitfall, ask who has seen it happen. One real story beats five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Reproduces all three tables. Expect twenty-five minutes; the cubic column at n = 4,000 takes about ten seconds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Brute force, as literally as it can be written.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2: The same search, with the waste removed.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3: Kadane: a different idea, not a faster loop.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4: All three agree, which is what makes the race fair.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5: The ratios each order of growth predicts.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6: Where brute force is the right answer.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The sum is Σp=1n p(p+1)/2. For n = 100 this is /12((100·101·201)/6 + (100·101)/2) = /12(338,350 + 5,050) = 171,700. Against n3/6 = 166,667 that is 3% high, as it should be — the leading term is n3/6 and the next is n2/2.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The n3 → n2 step removed redundant arithmetic inside the search: the same set of n2 candidate blocks is still examined, each now in O(1) instead of O(n). The n2 → n step changed the search itself — Kadane’s observation about blocks ending at j means pairs are never enumerated at all. The first is careful programming; the second needs an idea about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Ship the cubic version when n is bounded by something real and small — a board of at most 64 squares, a form with at most 50 fields — and the routine is off the critical path. Measured, it costs 79 μs at n = 100. The fact that would change my mind: that n is user-supplied or unbounded, because then the bound is a prediction rather than a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8 — Divide and Conquer: Merge Sort and the Pattern. READ: Handout Chapter 7, pages 56–63. THIS WEEK'S LAB: Where n2 beats n lg n, and by how much.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6.xml"/><Relationship Id="rId6" Type="http://schemas.openxmlformats.org/officeDocument/2006/relationships/slide" Target="slide9.xml"/><Relationship Id="rId7" Type="http://schemas.openxmlformats.org/officeDocument/2006/relationships/slide" Target="slide15.xml"/><Relationship Id="rId8" Type="http://schemas.openxmlformats.org/officeDocument/2006/relationships/slide" Target="slide19.xml"/><Relationship Id="rId9" Type="http://schemas.openxmlformats.org/officeDocument/2006/relationships/slide" Target="slide2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5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21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image" Target="../media/image24.png"/><Relationship Id="rId5" Type="http://schemas.openxmlformats.org/officeDocument/2006/relationships/image" Target="../media/image25.svg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26.svg"/><Relationship Id="rId4" Type="http://schemas.openxmlformats.org/officeDocument/2006/relationships/image" Target="../media/image27.png"/><Relationship Id="rId5" Type="http://schemas.openxmlformats.org/officeDocument/2006/relationships/image" Target="../media/image28.svg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Relationship Id="rId3" Type="http://schemas.openxmlformats.org/officeDocument/2006/relationships/image" Target="../media/image30.sv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31.sv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3" Type="http://schemas.openxmlformats.org/officeDocument/2006/relationships/image" Target="../media/image34.sv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3" Type="http://schemas.openxmlformats.org/officeDocument/2006/relationships/image" Target="../media/image35.sv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3" Type="http://schemas.openxmlformats.org/officeDocument/2006/relationships/image" Target="../media/image36.sv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3" Type="http://schemas.openxmlformats.org/officeDocument/2006/relationships/image" Target="../media/image37.sv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38.sv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0.sv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42.sv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43.sv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44.sv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45.sv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46.sv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47.sv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48.sv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49.sv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.png"/><Relationship Id="rId3" Type="http://schemas.openxmlformats.org/officeDocument/2006/relationships/image" Target="../media/image51.svg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2.png"/><Relationship Id="rId3" Type="http://schemas.openxmlformats.org/officeDocument/2006/relationships/image" Target="../media/image53.svg"/><Relationship Id="rId4" Type="http://schemas.openxmlformats.org/officeDocument/2006/relationships/image" Target="../media/image54.png"/><Relationship Id="rId5" Type="http://schemas.openxmlformats.org/officeDocument/2006/relationships/image" Target="../media/image55.svg"/><Relationship Id="rId6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.png"/><Relationship Id="rId3" Type="http://schemas.openxmlformats.org/officeDocument/2006/relationships/image" Target="../media/image56.sv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2.png"/><Relationship Id="rId3" Type="http://schemas.openxmlformats.org/officeDocument/2006/relationships/image" Target="../media/image57.svg"/><Relationship Id="rId4" Type="http://schemas.openxmlformats.org/officeDocument/2006/relationships/image" Target="../media/image58.png"/><Relationship Id="rId5" Type="http://schemas.openxmlformats.org/officeDocument/2006/relationships/image" Target="../media/image59.svg"/><Relationship Id="rId6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.png"/><Relationship Id="rId3" Type="http://schemas.openxmlformats.org/officeDocument/2006/relationships/image" Target="../media/image60.sv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2.png"/><Relationship Id="rId3" Type="http://schemas.openxmlformats.org/officeDocument/2006/relationships/image" Target="../media/image61.sv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2.png"/><Relationship Id="rId3" Type="http://schemas.openxmlformats.org/officeDocument/2006/relationships/image" Target="../media/image63.sv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2.png"/><Relationship Id="rId3" Type="http://schemas.openxmlformats.org/officeDocument/2006/relationships/image" Target="../media/image64.svg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5.png"/><Relationship Id="rId3" Type="http://schemas.openxmlformats.org/officeDocument/2006/relationships/image" Target="../media/image66.svg"/><Relationship Id="rId4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5.png"/><Relationship Id="rId3" Type="http://schemas.openxmlformats.org/officeDocument/2006/relationships/image" Target="../media/image67.sv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5.png"/><Relationship Id="rId3" Type="http://schemas.openxmlformats.org/officeDocument/2006/relationships/image" Target="../media/image68.sv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7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39769F"/>
                </a:solidFill>
                <a:latin typeface="Segoe UI Black"/>
              </a:rPr>
              <a:t>07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Brute Force, and When It Is the Right Answer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C1D4E1"/>
                </a:solidFill>
                <a:latin typeface="Segoe UI"/>
              </a:rPr>
              <a:t>PART II  ·  RECURSION AND DIVIDE-AND-CONQUER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C1D4E1"/>
                </a:solidFill>
                <a:latin typeface="Segoe UI"/>
              </a:rPr>
              <a:t>CHAPTER 7  ·  WEEK 5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3E1EA"/>
                </a:solidFill>
                <a:latin typeface="Segoe UI"/>
              </a:rPr>
              <a:t>Design, Proof and Measurement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19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A8BAC7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FCCD6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BAC7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56     </a:t>
            </a:r>
            <a:fld id="{1462CFF5-51CE-44F9-A90D-88BAD7EB1F8A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40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2618444" y="1755648"/>
            <a:ext cx="221463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8444" y="2029967"/>
            <a:ext cx="2214637" cy="45720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5162265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62265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7003469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03469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8844673" y="1755648"/>
            <a:ext cx="112029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44673" y="2029967"/>
            <a:ext cx="1120299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10294156" y="1755648"/>
            <a:ext cx="112029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94156" y="2029967"/>
            <a:ext cx="1120299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508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71706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0229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110878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1950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50051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8367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189223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49712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255827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1433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294999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42298" y="2112264"/>
            <a:ext cx="566928" cy="566928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3442298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3577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B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404433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3A3"/>
                </a:solidFill>
                <a:latin typeface="Segoe UI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749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B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443605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3A3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9353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510209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8525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549381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697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588553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6869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627725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3473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69432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26458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733501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179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772673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0990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811846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7594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878450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6766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91762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5938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956794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2542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1023398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1714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1062570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22</a:t>
            </a:r>
          </a:p>
        </p:txBody>
      </p:sp>
      <p:sp>
        <p:nvSpPr>
          <p:cNvPr id="63" name="!!dot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0886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!!dotn23"/>
          <p:cNvSpPr txBox="1"/>
          <p:nvPr/>
        </p:nvSpPr>
        <p:spPr>
          <a:xfrm>
            <a:off x="1101742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23</a:t>
            </a:r>
          </a:p>
        </p:txBody>
      </p:sp>
      <p:sp>
        <p:nvSpPr>
          <p:cNvPr id="65" name="!!dotlabel"/>
          <p:cNvSpPr txBox="1"/>
          <p:nvPr/>
        </p:nvSpPr>
        <p:spPr>
          <a:xfrm>
            <a:off x="799682" y="279806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6794"/>
                </a:solidFill>
                <a:latin typeface="Segoe UI"/>
              </a:rPr>
              <a:t>Brute Force, and When It Is the Right Answer</a:t>
            </a:r>
          </a:p>
        </p:txBody>
      </p:sp>
      <p:sp>
        <p:nvSpPr>
          <p:cNvPr id="66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67" name="!!chipBU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!!chipbBU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!!chiptBU3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276"/>
                </a:solidFill>
                <a:latin typeface="Segoe UI"/>
              </a:rPr>
              <a:t>Ch 3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Asymptotic Notation</a:t>
            </a:r>
          </a:p>
        </p:txBody>
      </p:sp>
      <p:sp>
        <p:nvSpPr>
          <p:cNvPr id="70" name="!!chipBU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chipbBU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64008" cy="42062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!!chiptBU4"/>
          <p:cNvSpPr txBox="1"/>
          <p:nvPr/>
        </p:nvSpPr>
        <p:spPr>
          <a:xfrm>
            <a:off x="859536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276"/>
                </a:solidFill>
                <a:latin typeface="Segoe UI"/>
              </a:rPr>
              <a:t>Ch 4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Correctness: Loop Invariants</a:t>
            </a:r>
          </a:p>
        </p:txBody>
      </p:sp>
      <p:sp>
        <p:nvSpPr>
          <p:cNvPr id="73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74" name="!!chipUS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2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!!chipbUS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64008" cy="420624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!!chiptUS14"/>
          <p:cNvSpPr txBox="1"/>
          <p:nvPr/>
        </p:nvSpPr>
        <p:spPr>
          <a:xfrm>
            <a:off x="6525615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3A95"/>
                </a:solidFill>
                <a:latin typeface="Segoe UI"/>
              </a:rPr>
              <a:t>Ch 14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Greedy Algorithms</a:t>
            </a:r>
          </a:p>
        </p:txBody>
      </p:sp>
      <p:sp>
        <p:nvSpPr>
          <p:cNvPr id="77" name="!!chipUS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2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!!chipbUS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64008" cy="420624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!!chiptUS16"/>
          <p:cNvSpPr txBox="1"/>
          <p:nvPr/>
        </p:nvSpPr>
        <p:spPr>
          <a:xfrm>
            <a:off x="6525615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3A95"/>
                </a:solidFill>
                <a:latin typeface="Segoe UI"/>
              </a:rPr>
              <a:t>Ch 16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Dynamic Programming II: Classic Problems</a:t>
            </a:r>
          </a:p>
        </p:txBody>
      </p:sp>
      <p:sp>
        <p:nvSpPr>
          <p:cNvPr id="80" name="!!chipUS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!!chipbUS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64008" cy="420624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!!chiptUS21"/>
          <p:cNvSpPr txBox="1"/>
          <p:nvPr/>
        </p:nvSpPr>
        <p:spPr>
          <a:xfrm>
            <a:off x="6525615" y="4901184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5B06"/>
                </a:solidFill>
                <a:latin typeface="Segoe UI"/>
              </a:rPr>
              <a:t>Ch 21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String Matching</a:t>
            </a:r>
          </a:p>
        </p:txBody>
      </p:sp>
      <p:sp>
        <p:nvSpPr>
          <p:cNvPr id="83" name="!!chipUS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5321808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4" name="!!chipbUS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5321808"/>
            <a:ext cx="64008" cy="420624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!!chiptUS23"/>
          <p:cNvSpPr txBox="1"/>
          <p:nvPr/>
        </p:nvSpPr>
        <p:spPr>
          <a:xfrm>
            <a:off x="6525615" y="5413248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5B06"/>
                </a:solidFill>
                <a:latin typeface="Segoe UI"/>
              </a:rPr>
              <a:t>Ch 23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The Semester Project</a:t>
            </a:r>
          </a:p>
        </p:txBody>
      </p:sp>
      <p:sp>
        <p:nvSpPr>
          <p:cNvPr id="8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87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56     </a:t>
            </a:r>
            <a:fld id="{8CC9A23A-3472-4E8E-BACD-EAA2F5DE2E6A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63140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6794"/>
                </a:solidFill>
                <a:latin typeface="Segoe UI"/>
              </a:rPr>
              <a:t>Define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brute-force strategy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apply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it to a stated problem </a:t>
            </a:r>
            <a:r>
              <a:rPr sz="2100" b="0" i="1">
                <a:solidFill>
                  <a:srgbClr val="1C252B"/>
                </a:solidFill>
                <a:latin typeface="Segoe UI"/>
              </a:rPr>
              <a:t>(CLO-6)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825496"/>
            <a:ext cx="420624" cy="420624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2884932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2816352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6794"/>
                </a:solidFill>
                <a:latin typeface="Segoe UI"/>
              </a:rPr>
              <a:t>Distinguish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removing redundant work within a search from changing the search itself,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say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which one changes the order of growth.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74059"/>
            <a:ext cx="420624" cy="420624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7334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664915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6794"/>
                </a:solidFill>
                <a:latin typeface="Segoe UI"/>
              </a:rPr>
              <a:t>Derive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running time of the three maximum-subarray algorithms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verify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predicted ratios by measurement.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522622"/>
            <a:ext cx="420624" cy="420624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58205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563770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6794"/>
                </a:solidFill>
                <a:latin typeface="Segoe UI"/>
              </a:rPr>
              <a:t>State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conditions under which brute force is the correct engineering choice.</a:t>
            </a:r>
          </a:p>
        </p:txBody>
      </p:sp>
      <p:sp>
        <p:nvSpPr>
          <p:cNvPr id="20" name="!!o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126126"/>
            <a:ext cx="420624" cy="420624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obn4"/>
          <p:cNvSpPr txBox="1"/>
          <p:nvPr/>
        </p:nvSpPr>
        <p:spPr>
          <a:xfrm>
            <a:off x="658368" y="5185562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2" name="!!ot4"/>
          <p:cNvSpPr txBox="1"/>
          <p:nvPr/>
        </p:nvSpPr>
        <p:spPr>
          <a:xfrm>
            <a:off x="1316736" y="5167274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6794"/>
                </a:solidFill>
                <a:latin typeface="Segoe UI"/>
              </a:rPr>
              <a:t>Use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brute-force implementation as a correctness oracle for a cleverer one.</a:t>
            </a:r>
          </a:p>
        </p:txBody>
      </p:sp>
      <p:sp>
        <p:nvSpPr>
          <p:cNvPr id="5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78193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56     </a:t>
            </a:r>
            <a:fld id="{9A999A46-73A2-482C-B297-9870438DA8B2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brute forc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151130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brute forc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brute force"/>
          <p:cNvSpPr txBox="1"/>
          <p:nvPr/>
        </p:nvSpPr>
        <p:spPr>
          <a:xfrm>
            <a:off x="950976" y="1955291"/>
            <a:ext cx="132842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brute force</a:t>
            </a:r>
          </a:p>
        </p:txBody>
      </p:sp>
      <p:sp>
        <p:nvSpPr>
          <p:cNvPr id="10" name="!!term-exhaustive se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15973" y="1847088"/>
            <a:ext cx="214245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exhaustive se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43989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exhaustive sea"/>
          <p:cNvSpPr txBox="1"/>
          <p:nvPr/>
        </p:nvSpPr>
        <p:spPr>
          <a:xfrm>
            <a:off x="2608581" y="1955291"/>
            <a:ext cx="195957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exhaustive search</a:t>
            </a:r>
          </a:p>
        </p:txBody>
      </p:sp>
      <p:sp>
        <p:nvSpPr>
          <p:cNvPr id="13" name="!!term-candidate solu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04730" y="1847088"/>
            <a:ext cx="223432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candidate solu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32746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candidate solu"/>
          <p:cNvSpPr txBox="1"/>
          <p:nvPr/>
        </p:nvSpPr>
        <p:spPr>
          <a:xfrm>
            <a:off x="4897338" y="1955291"/>
            <a:ext cx="205144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candidate solution</a:t>
            </a:r>
          </a:p>
        </p:txBody>
      </p:sp>
      <p:sp>
        <p:nvSpPr>
          <p:cNvPr id="16" name="!!term-maximum subar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85356" y="1847088"/>
            <a:ext cx="229068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maximum subar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13372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maximum subarr"/>
          <p:cNvSpPr txBox="1"/>
          <p:nvPr/>
        </p:nvSpPr>
        <p:spPr>
          <a:xfrm>
            <a:off x="7277964" y="1955291"/>
            <a:ext cx="210780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maximum subarray</a:t>
            </a:r>
          </a:p>
        </p:txBody>
      </p:sp>
      <p:sp>
        <p:nvSpPr>
          <p:cNvPr id="19" name="!!term-redundant wo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22340" y="1847088"/>
            <a:ext cx="198544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redundant wo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50356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redundant work"/>
          <p:cNvSpPr txBox="1"/>
          <p:nvPr/>
        </p:nvSpPr>
        <p:spPr>
          <a:xfrm>
            <a:off x="9714948" y="1955291"/>
            <a:ext cx="180256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redundant work</a:t>
            </a:r>
          </a:p>
        </p:txBody>
      </p:sp>
      <p:sp>
        <p:nvSpPr>
          <p:cNvPr id="22" name="!!term-incremental c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2883066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incremental c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incremental co"/>
          <p:cNvSpPr txBox="1"/>
          <p:nvPr/>
        </p:nvSpPr>
        <p:spPr>
          <a:xfrm>
            <a:off x="950976" y="2577084"/>
            <a:ext cx="2700186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incremental computation</a:t>
            </a:r>
          </a:p>
        </p:txBody>
      </p:sp>
      <p:sp>
        <p:nvSpPr>
          <p:cNvPr id="25" name="!!term-Kadane’s alg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87738" y="2468880"/>
            <a:ext cx="230726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Kadane’s alg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1575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Kadane’s algor"/>
          <p:cNvSpPr txBox="1"/>
          <p:nvPr/>
        </p:nvSpPr>
        <p:spPr>
          <a:xfrm>
            <a:off x="3980346" y="2577084"/>
            <a:ext cx="212438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Kadane’s algorithm</a:t>
            </a:r>
          </a:p>
        </p:txBody>
      </p:sp>
      <p:sp>
        <p:nvSpPr>
          <p:cNvPr id="28" name="!!term-orac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1308" y="2468880"/>
            <a:ext cx="1026894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orac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6932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oracle"/>
          <p:cNvSpPr txBox="1"/>
          <p:nvPr/>
        </p:nvSpPr>
        <p:spPr>
          <a:xfrm>
            <a:off x="6433916" y="2577084"/>
            <a:ext cx="844014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oracle</a:t>
            </a:r>
          </a:p>
        </p:txBody>
      </p:sp>
      <p:sp>
        <p:nvSpPr>
          <p:cNvPr id="31" name="!!term-bas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4506" y="2468880"/>
            <a:ext cx="123539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bas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42522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baseline"/>
          <p:cNvSpPr txBox="1"/>
          <p:nvPr/>
        </p:nvSpPr>
        <p:spPr>
          <a:xfrm>
            <a:off x="7607114" y="2577084"/>
            <a:ext cx="105251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baseline</a:t>
            </a:r>
          </a:p>
        </p:txBody>
      </p:sp>
      <p:sp>
        <p:nvSpPr>
          <p:cNvPr id="34" name="!!termnote"/>
          <p:cNvSpPr txBox="1"/>
          <p:nvPr/>
        </p:nvSpPr>
        <p:spPr>
          <a:xfrm>
            <a:off x="658368" y="329184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3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37591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56–63     </a:t>
            </a:r>
            <a:fld id="{E17658C8-FB5B-49EC-BBF8-16861ADF6A6E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7.1 The Strategy With No Ideas In It">
            <a:hlinkClick action="ppaction://hlinksldjump" r:id="rId5"/>
          </p:cNvPr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36794"/>
                </a:solidFill>
                <a:latin typeface="Segoe UI Semibold"/>
              </a:rPr>
              <a:t>7.1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The Strategy With No Ideas In It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56  ›</a:t>
            </a:r>
          </a:p>
        </p:txBody>
      </p:sp>
      <p:sp>
        <p:nvSpPr>
          <p:cNvPr id="12" name="!!ag1" descr="Go to section 7.2 A Problem With Three Answers">
            <a:hlinkClick action="ppaction://hlinksldjump" r:id="rId6"/>
          </p:cNvPr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36794"/>
                </a:solidFill>
                <a:latin typeface="Segoe UI Semibold"/>
              </a:rPr>
              <a:t>7.2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A Problem With Three Answers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57  ›</a:t>
            </a:r>
          </a:p>
        </p:txBody>
      </p:sp>
      <p:sp>
        <p:nvSpPr>
          <p:cNvPr id="17" name="!!ag2" descr="Go to section 7.3 An Idea About the Problem">
            <a:hlinkClick action="ppaction://hlinksldjump" r:id="rId7"/>
          </p:cNvPr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36794"/>
                </a:solidFill>
                <a:latin typeface="Segoe UI Semibold"/>
              </a:rPr>
              <a:t>7.3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An Idea About the Problem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58  ›</a:t>
            </a:r>
          </a:p>
        </p:txBody>
      </p:sp>
      <p:sp>
        <p:nvSpPr>
          <p:cNvPr id="22" name="!!ag3" descr="Go to section 7.4 The Three, Raced">
            <a:hlinkClick action="ppaction://hlinksldjump" r:id="rId8"/>
          </p:cNvPr>
          <p:cNvSpPr/>
          <p:nvPr/>
        </p:nvSpPr>
        <p:spPr>
          <a:xfrm>
            <a:off x="658368" y="369417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ag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94176"/>
            <a:ext cx="64008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agn3"/>
          <p:cNvSpPr txBox="1"/>
          <p:nvPr/>
        </p:nvSpPr>
        <p:spPr>
          <a:xfrm>
            <a:off x="932688" y="384048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36794"/>
                </a:solidFill>
                <a:latin typeface="Segoe UI Semibold"/>
              </a:rPr>
              <a:t>7.4</a:t>
            </a:r>
          </a:p>
        </p:txBody>
      </p:sp>
      <p:sp>
        <p:nvSpPr>
          <p:cNvPr id="25" name="!!agt3"/>
          <p:cNvSpPr txBox="1"/>
          <p:nvPr/>
        </p:nvSpPr>
        <p:spPr>
          <a:xfrm>
            <a:off x="1847088" y="384048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The Three, Raced</a:t>
            </a:r>
          </a:p>
        </p:txBody>
      </p:sp>
      <p:sp>
        <p:nvSpPr>
          <p:cNvPr id="26" name="!!agp3"/>
          <p:cNvSpPr txBox="1"/>
          <p:nvPr/>
        </p:nvSpPr>
        <p:spPr>
          <a:xfrm>
            <a:off x="9795967" y="386791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59  ›</a:t>
            </a:r>
          </a:p>
        </p:txBody>
      </p:sp>
      <p:sp>
        <p:nvSpPr>
          <p:cNvPr id="27" name="!!ag4" descr="Go to section 7.5 When Brute Force Is the Right Answer">
            <a:hlinkClick action="ppaction://hlinksldjump" r:id="rId9"/>
          </p:cNvPr>
          <p:cNvSpPr/>
          <p:nvPr/>
        </p:nvSpPr>
        <p:spPr>
          <a:xfrm>
            <a:off x="658368" y="433425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ag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334256"/>
            <a:ext cx="64008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agn4"/>
          <p:cNvSpPr txBox="1"/>
          <p:nvPr/>
        </p:nvSpPr>
        <p:spPr>
          <a:xfrm>
            <a:off x="932688" y="448056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36794"/>
                </a:solidFill>
                <a:latin typeface="Segoe UI Semibold"/>
              </a:rPr>
              <a:t>7.5</a:t>
            </a:r>
          </a:p>
        </p:txBody>
      </p:sp>
      <p:sp>
        <p:nvSpPr>
          <p:cNvPr id="30" name="!!agt4"/>
          <p:cNvSpPr txBox="1"/>
          <p:nvPr/>
        </p:nvSpPr>
        <p:spPr>
          <a:xfrm>
            <a:off x="1847088" y="448056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When Brute Force Is the Right Answer</a:t>
            </a:r>
          </a:p>
        </p:txBody>
      </p:sp>
      <p:sp>
        <p:nvSpPr>
          <p:cNvPr id="31" name="!!agp4"/>
          <p:cNvSpPr txBox="1"/>
          <p:nvPr/>
        </p:nvSpPr>
        <p:spPr>
          <a:xfrm>
            <a:off x="9795967" y="450799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60  ›</a:t>
            </a:r>
          </a:p>
        </p:txBody>
      </p:sp>
      <p:sp>
        <p:nvSpPr>
          <p:cNvPr id="3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96988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The Strategy With No Ideas In It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DD1DF"/>
                </a:solidFill>
                <a:latin typeface="Segoe UI"/>
              </a:rPr>
              <a:t>SECTION 1 OF 5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7.1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6794"/>
                </a:solidFill>
                <a:latin typeface="Segoe UI"/>
              </a:rPr>
              <a:t>7.1   The Strategy With No Ideas In It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7.2   A Problem With Three Answers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7.3   An Idea About the Problem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7.4   The Three, Raced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7.5   When Brute Force Is the Right Answer</a:t>
            </a:r>
          </a:p>
        </p:txBody>
      </p:sp>
      <p:sp>
        <p:nvSpPr>
          <p:cNvPr id="11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</a:t>
            </a:r>
          </a:p>
        </p:txBody>
      </p:sp>
      <p:sp>
        <p:nvSpPr>
          <p:cNvPr id="12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§7.1     </a:t>
            </a:r>
            <a:fld id="{99944D28-D837-4423-ADFC-8660A515237A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556386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Brute Force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§7.1  ·  Handout p. 56     </a:t>
            </a:r>
            <a:fld id="{50A98DB0-E333-4DD9-8540-E6940F3F5B46}" type="slidenum">
              <a:rPr lang="en-GB" sz="1000">
                <a:solidFill>
                  <a:srgbClr val="8795A1"/>
                </a:solidFill>
                <a:latin typeface="Segoe UI"/>
              </a:rPr>
              <a:t>7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605151"/>
          </a:xfrm>
          <a:prstGeom prst="roundRect">
            <a:avLst>
              <a:gd name="adj" fmla="val 3509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605151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A5276"/>
                </a:solidFill>
                <a:latin typeface="Segoe UI"/>
              </a:rPr>
              <a:t>Brute force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also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exhaustive search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solves a problem by generating every candidate solution and testing each one. It needs no insight into the problem’s structure beyond the ability to recognise an answer.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302533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It is the first algorithm you should write and, often, the last one you should ship.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815784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Why a chapter on the obvious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§7.1  ·  Handout p. 56     </a:t>
            </a:r>
            <a:fld id="{DA2B16D0-C8B5-44E8-9C3D-A752E140F1F0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235983"/>
          </a:xfrm>
          <a:prstGeom prst="roundRect">
            <a:avLst>
              <a:gd name="adj" fmla="val 2158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235983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The published HEC outline lists brute force among the design techniques, beside divide-and-conquer, greedy and dynamic programming. That is the right company for it, for three reasons.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084398"/>
            <a:ext cx="10161727" cy="26237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458330" indent="-458330">
              <a:lnSpc>
                <a:spcPct val="104000"/>
              </a:lnSpc>
              <a:spcBef>
                <a:spcPts val="0"/>
              </a:spcBef>
              <a:spcAft>
                <a:spcPts val="665"/>
              </a:spcAft>
            </a:pPr>
            <a:r>
              <a:rPr sz="1900" b="1">
                <a:solidFill>
                  <a:srgbClr val="1F618D"/>
                </a:solidFill>
                <a:latin typeface="Segoe UI"/>
              </a:rPr>
              <a:t>1.	</a:t>
            </a:r>
            <a:r>
              <a:rPr sz="1900" b="1" i="0">
                <a:solidFill>
                  <a:srgbClr val="1F618D"/>
                </a:solidFill>
                <a:latin typeface="Segoe UI"/>
              </a:rPr>
              <a:t>It is the baseline.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“Quicksort is fast” is meaningless without something to be fast relative to. Every later chapter is an improvement on an exhaustive search, and you cannot measure an improvement against nothing.</a:t>
            </a:r>
          </a:p>
          <a:p>
            <a:pPr algn="l" marL="458330" indent="-458330">
              <a:lnSpc>
                <a:spcPct val="104000"/>
              </a:lnSpc>
              <a:spcBef>
                <a:spcPts val="0"/>
              </a:spcBef>
              <a:spcAft>
                <a:spcPts val="665"/>
              </a:spcAft>
            </a:pPr>
            <a:r>
              <a:rPr sz="1900" b="1">
                <a:solidFill>
                  <a:srgbClr val="1F618D"/>
                </a:solidFill>
                <a:latin typeface="Segoe UI"/>
              </a:rPr>
              <a:t>2.	</a:t>
            </a:r>
            <a:r>
              <a:rPr sz="1900" b="1" i="0">
                <a:solidFill>
                  <a:srgbClr val="1F618D"/>
                </a:solidFill>
                <a:latin typeface="Segoe UI"/>
              </a:rPr>
              <a:t>It is the oracle.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 brute-force implementation is short enough to be obviously correct, so it is what you test the clever algorithm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against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Section 7.4 does exactly this.</a:t>
            </a:r>
          </a:p>
          <a:p>
            <a:pPr algn="l" marL="458330" indent="-45833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618D"/>
                </a:solidFill>
                <a:latin typeface="Segoe UI"/>
              </a:rPr>
              <a:t>3.	</a:t>
            </a:r>
            <a:r>
              <a:rPr sz="1900" b="1" i="0">
                <a:solidFill>
                  <a:srgbClr val="1F618D"/>
                </a:solidFill>
                <a:latin typeface="Segoe UI"/>
              </a:rPr>
              <a:t>It is sometimes the answer.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For small or bounded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for code that runs once, or for a correctness-critical path, the four-line version you can read in one sitting beats the forty-line version you cannot.</a:t>
            </a:r>
          </a:p>
        </p:txBody>
      </p:sp>
      <p:sp>
        <p:nvSpPr>
          <p:cNvPr id="1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75182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8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A Problem With Three Answers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DD1DF"/>
                </a:solidFill>
                <a:latin typeface="Segoe UI"/>
              </a:rPr>
              <a:t>SECTION 2 OF 5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7.2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7.1   The Strategy With No Ideas In It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6794"/>
                </a:solidFill>
                <a:latin typeface="Segoe UI"/>
              </a:rPr>
              <a:t>7.2   A Problem With Three Answers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7.3   An Idea About the Problem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7.4   The Three, Raced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7.5   When Brute Force Is the Right Answer</a:t>
            </a:r>
          </a:p>
        </p:txBody>
      </p:sp>
      <p:sp>
        <p:nvSpPr>
          <p:cNvPr id="11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</a:t>
            </a:r>
          </a:p>
        </p:txBody>
      </p:sp>
      <p:sp>
        <p:nvSpPr>
          <p:cNvPr id="12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§7.2     </a:t>
            </a:r>
            <a:fld id="{9B53D1FC-B72D-4CB9-864C-414FC7A8EBD1}" type="slidenum">
              <a:rPr lang="en-GB" sz="1000">
                <a:solidFill>
                  <a:srgbClr val="8795A1"/>
                </a:solidFill>
                <a:latin typeface="Segoe UI"/>
              </a:rPr>
              <a:t>9</a:t>
            </a:fld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334579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Maximum Subarray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§7.2  ·  Handout p. 57     </a:t>
            </a:r>
            <a:fld id="{A1C22787-2289-4BA7-9317-85BFF1923AE5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240610"/>
          </a:xfrm>
          <a:prstGeom prst="roundRect">
            <a:avLst>
              <a:gd name="adj" fmla="val 4081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240610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Given an array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[1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]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of numbers, some negative, find the contiguous block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[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i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j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]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with the largest sum.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937992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If all the numbers were positive the answer would be the whole array and there would be no problem. The negatives are what make it one.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593977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Max-Subarray-Brute: every block, summed from scratch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36794"/>
                </a:solidFill>
                <a:latin typeface="Segoe UI"/>
              </a:rPr>
              <a:t>FIGURE 7.1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§7.2  ·  Handout p. 57     </a:t>
            </a:r>
            <a:fld id="{72405004-566A-470E-ACB9-16ADCD73E8C4}" type="slidenum">
              <a:rPr lang="en-GB" sz="1000">
                <a:solidFill>
                  <a:srgbClr val="8795A1"/>
                </a:solidFill>
                <a:latin typeface="Segoe UI"/>
              </a:rPr>
              <a:t>11</a:t>
            </a:fld>
          </a:p>
        </p:txBody>
      </p:sp>
      <p:pic>
        <p:nvPicPr>
          <p:cNvPr id="6" name="!!figure" descr="Figure 7.1. Max-Subarray-Brute: every block, summed from scratch. Three nested loops, so Θ(n3) — and lines 4 to 7 are doing work that lines 4 to 7 of the previous iteration already did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6882" y="1737360"/>
            <a:ext cx="8517929" cy="3740505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Three nested loops, so Θ(n3) — and lines 4 to 7 are doing work that lines 4 to 7 of the previous iteration already did.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85337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brute force is cubic</a:t>
            </a:r>
          </a:p>
        </p:txBody>
      </p:sp>
      <p:pic>
        <p:nvPicPr>
          <p:cNvPr id="3" name="!!kicker-icon" descr="award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THEOREM 7.1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§7.2  ·  Handout p. 57     </a:t>
            </a:r>
            <a:fld id="{00A03023-2470-48A4-980E-4C48B2E33941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986332"/>
          </a:xfrm>
          <a:prstGeom prst="roundRect">
            <a:avLst>
              <a:gd name="adj" fmla="val 9270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986332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Max-Subarray-Brute runs in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3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time.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112773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Max-Subarray-Quadratic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36794"/>
                </a:solidFill>
                <a:latin typeface="Segoe UI"/>
              </a:rPr>
              <a:t>FIGURE 7.2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§7.2  ·  Handout p. 57     </a:t>
            </a:r>
            <a:fld id="{BD288A54-B528-48C8-AF8C-0C1DA3B9E0AE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pic>
        <p:nvPicPr>
          <p:cNvPr id="6" name="!!figure" descr="Figure 7.2. Max-Subarray-Quadratic. The search is unchanged — still every pair (i,j) — but each candidate now costs O(1) instead of O(n). A better accountant, not a better idea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798" y="1737360"/>
            <a:ext cx="9964097" cy="3740505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The search is unchanged — still every pair (i,j) — but each candidate now costs O(1) instead of O(n). A better accountant, not a better idea.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372171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This is the distinction the chapter exists for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§7.2  ·  Handout p. 57     </a:t>
            </a:r>
            <a:fld id="{4E487C2D-E646-4E55-A103-BE00DFCEDE66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510493"/>
          </a:xfrm>
          <a:prstGeom prst="roundRect">
            <a:avLst>
              <a:gd name="adj" fmla="val 2604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510493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9" name="body-0" descr="Going from n3 to n2 removed redundant work inside the search. The set of candidates examined did not change: still all n2 pairs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" y="2048255"/>
            <a:ext cx="10161727" cy="744687"/>
          </a:xfrm>
          <a:prstGeom prst="rect">
            <a:avLst/>
          </a:prstGeom>
        </p:spPr>
      </p:pic>
      <p:sp>
        <p:nvSpPr>
          <p:cNvPr id="10" name="body-1"/>
          <p:cNvSpPr txBox="1"/>
          <p:nvPr/>
        </p:nvSpPr>
        <p:spPr>
          <a:xfrm>
            <a:off x="1060704" y="2953598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Going from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to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next, will change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the search itself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it will stop examining pairs at all.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3843334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Both are worth doing and they are different activities. The first is careful programming and gets you a constant or a factor of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; the second requires an idea about the problem, and it is what the rest of this book is about.</a:t>
            </a:r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631568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An Idea About the Problem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DD1DF"/>
                </a:solidFill>
                <a:latin typeface="Segoe UI"/>
              </a:rPr>
              <a:t>SECTION 3 OF 5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7.3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7.1   The Strategy With No Ideas In It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7.2   A Problem With Three Answers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6794"/>
                </a:solidFill>
                <a:latin typeface="Segoe UI"/>
              </a:rPr>
              <a:t>7.3   An Idea About the Problem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7.4   The Three, Raced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7.5   When Brute Force Is the Right Answer</a:t>
            </a:r>
          </a:p>
        </p:txBody>
      </p:sp>
      <p:sp>
        <p:nvSpPr>
          <p:cNvPr id="11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</a:t>
            </a:r>
          </a:p>
        </p:txBody>
      </p:sp>
      <p:sp>
        <p:nvSpPr>
          <p:cNvPr id="12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§7.3     </a:t>
            </a:r>
            <a:fld id="{2AD99368-7DFE-4807-BE13-C22708D3B1BF}" type="slidenum">
              <a:rPr lang="en-GB" sz="1000">
                <a:solidFill>
                  <a:srgbClr val="8795A1"/>
                </a:solidFill>
                <a:latin typeface="Segoe UI"/>
              </a:rPr>
              <a:t>15</a:t>
            </a:fld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890966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Kadane’s observation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§7.3  ·  Handout p. 58     </a:t>
            </a:r>
            <a:fld id="{F2F51141-D994-4C6F-8CAB-05F916DF1947}" type="slidenum">
              <a:rPr lang="en-GB" sz="1000">
                <a:solidFill>
                  <a:srgbClr val="8795A1"/>
                </a:solidFill>
                <a:latin typeface="Segoe UI"/>
              </a:rPr>
              <a:t>16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234190"/>
          </a:xfrm>
          <a:prstGeom prst="roundRect">
            <a:avLst>
              <a:gd name="adj" fmla="val 2159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23419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3785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Ask a smaller question: </a:t>
            </a:r>
            <a:r>
              <a:rPr sz="2100" b="0" i="1">
                <a:solidFill>
                  <a:srgbClr val="1C252B"/>
                </a:solidFill>
                <a:latin typeface="Segoe UI"/>
              </a:rPr>
              <a:t>what is the best block </a:t>
            </a:r>
            <a:r>
              <a:rPr sz="2100" b="1" i="1">
                <a:solidFill>
                  <a:srgbClr val="1C252B"/>
                </a:solidFill>
                <a:latin typeface="Segoe UI"/>
              </a:rPr>
              <a:t>ending exactly at position </a:t>
            </a:r>
            <a:r>
              <a:rPr sz="2100" b="1" i="1">
                <a:solidFill>
                  <a:srgbClr val="1C252B"/>
                </a:solidFill>
                <a:latin typeface="Cambria"/>
              </a:rPr>
              <a:t>j</a:t>
            </a:r>
            <a:r>
              <a:rPr sz="2100" b="0" i="1">
                <a:solidFill>
                  <a:srgbClr val="1C252B"/>
                </a:solidFill>
                <a:latin typeface="Segoe UI"/>
              </a:rPr>
              <a:t>?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527782"/>
            <a:ext cx="10161727" cy="10442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Such a block either extends the best block ending at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j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−1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or it starts fresh at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j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 There is no third option — a block ending at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j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that does not contain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j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−1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must begin at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j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 So if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H</a:t>
            </a:r>
            <a:r>
              <a:rPr sz="1400" b="0" i="1" baseline="-25000">
                <a:solidFill>
                  <a:srgbClr val="1C252B"/>
                </a:solidFill>
                <a:latin typeface="Cambria"/>
              </a:rPr>
              <a:t>j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is the best sum ending at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j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</a:t>
            </a:r>
          </a:p>
        </p:txBody>
      </p:sp>
      <p:pic>
        <p:nvPicPr>
          <p:cNvPr id="11" name="body-2" descr="H_{j} = \max\bigl(A[j],\; H_{j-1} + A[j]\bigr),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" y="3672992"/>
            <a:ext cx="10161727" cy="362925"/>
          </a:xfrm>
          <a:prstGeom prst="rect">
            <a:avLst/>
          </a:prstGeom>
        </p:spPr>
      </p:pic>
      <p:sp>
        <p:nvSpPr>
          <p:cNvPr id="12" name="body-3"/>
          <p:cNvSpPr txBox="1"/>
          <p:nvPr/>
        </p:nvSpPr>
        <p:spPr>
          <a:xfrm>
            <a:off x="1060704" y="4182602"/>
            <a:ext cx="10161727" cy="3785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and the answer is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max</a:t>
            </a:r>
            <a:r>
              <a:rPr sz="1400" b="0" i="1" baseline="-25000">
                <a:solidFill>
                  <a:srgbClr val="1C252B"/>
                </a:solidFill>
                <a:latin typeface="Cambria"/>
              </a:rPr>
              <a:t>j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H</a:t>
            </a:r>
            <a:r>
              <a:rPr sz="1400" b="0" i="1" baseline="-25000">
                <a:solidFill>
                  <a:srgbClr val="1C252B"/>
                </a:solidFill>
                <a:latin typeface="Cambria"/>
              </a:rPr>
              <a:t>j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3" name="body-4"/>
          <p:cNvSpPr txBox="1"/>
          <p:nvPr/>
        </p:nvSpPr>
        <p:spPr>
          <a:xfrm>
            <a:off x="1060704" y="4662129"/>
            <a:ext cx="10161727" cy="10442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That one sentence removes an entire dimension from the search. It is also the first appearance in this book of </a:t>
            </a:r>
            <a:r>
              <a:rPr sz="2100" b="0" i="1">
                <a:solidFill>
                  <a:srgbClr val="1C252B"/>
                </a:solidFill>
                <a:latin typeface="Segoe UI"/>
              </a:rPr>
              <a:t>optimal substructure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— the best solution built from best solutions to smaller versions — which Chapter 15 makes into a general technique.</a:t>
            </a:r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50364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Max-Subarray-Kadane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36794"/>
                </a:solidFill>
                <a:latin typeface="Segoe UI"/>
              </a:rPr>
              <a:t>FIGURE 7.3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§7.3  ·  Handout p. 58     </a:t>
            </a:r>
            <a:fld id="{D1CCFE84-3EB4-44C4-A281-9F04936018A1}" type="slidenum">
              <a:rPr lang="en-GB" sz="1000">
                <a:solidFill>
                  <a:srgbClr val="8795A1"/>
                </a:solidFill>
                <a:latin typeface="Segoe UI"/>
              </a:rPr>
              <a:t>17</a:t>
            </a:fld>
          </a:p>
        </p:txBody>
      </p:sp>
      <p:pic>
        <p:nvPicPr>
          <p:cNvPr id="6" name="!!figure" descr="Figure 7.3. Max-Subarray-Kadane. One pass, two variables. The loop invariant is what makes it believable, and Theorem 7.2 is what makes it true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858250"/>
            <a:ext cx="10874959" cy="3049701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One pass, two variables. The loop invariant is what makes it believable, and Theorem 7.2 is what makes it true.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09762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Kadane’s algorithm is correct</a:t>
            </a:r>
          </a:p>
        </p:txBody>
      </p:sp>
      <p:pic>
        <p:nvPicPr>
          <p:cNvPr id="3" name="!!kicker-icon" descr="award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THEOREM 7.2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§7.3  ·  Handout p. 58     </a:t>
            </a:r>
            <a:fld id="{2DF19A2B-9CD6-4702-B58C-F1E08CD39004}" type="slidenum">
              <a:rPr lang="en-GB" sz="1000">
                <a:solidFill>
                  <a:srgbClr val="8795A1"/>
                </a:solidFill>
                <a:latin typeface="Segoe UI"/>
              </a:rPr>
              <a:t>18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986332"/>
          </a:xfrm>
          <a:prstGeom prst="roundRect">
            <a:avLst>
              <a:gd name="adj" fmla="val 9270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986332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Max-Subarray-Kadane returns the maximum subarray sum, in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time.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669159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The Three, Raced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DD1DF"/>
                </a:solidFill>
                <a:latin typeface="Segoe UI"/>
              </a:rPr>
              <a:t>SECTION 4 OF 5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7.4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7.1   The Strategy With No Ideas In It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7.2   A Problem With Three Answers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7.3   An Idea About the Problem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6794"/>
                </a:solidFill>
                <a:latin typeface="Segoe UI"/>
              </a:rPr>
              <a:t>7.4   The Three, Raced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7.5   When Brute Force Is the Right Answer</a:t>
            </a:r>
          </a:p>
        </p:txBody>
      </p:sp>
      <p:sp>
        <p:nvSpPr>
          <p:cNvPr id="11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</a:t>
            </a:r>
          </a:p>
        </p:txBody>
      </p:sp>
      <p:sp>
        <p:nvSpPr>
          <p:cNvPr id="12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§7.4     </a:t>
            </a:r>
            <a:fld id="{65D4FDA8-D911-46E8-B401-5C0C21000635}" type="slidenum">
              <a:rPr lang="en-GB" sz="1000">
                <a:solidFill>
                  <a:srgbClr val="8795A1"/>
                </a:solidFill>
                <a:latin typeface="Segoe UI"/>
              </a:rPr>
              <a:t>19</a:t>
            </a:fld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928557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First, Do They Agree?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§7.4  ·  Handout p. 59     </a:t>
            </a:r>
            <a:fld id="{B0CA2C99-7DD1-4148-A54D-A0F0282D598B}" type="slidenum">
              <a:rPr lang="en-GB" sz="1000">
                <a:solidFill>
                  <a:srgbClr val="8795A1"/>
                </a:solidFill>
                <a:latin typeface="Segoe UI"/>
              </a:rPr>
              <a:t>20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560773"/>
          </a:xfrm>
          <a:prstGeom prst="roundRect">
            <a:avLst>
              <a:gd name="adj" fmla="val 2004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560773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584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A faster algorithm that returns a different answer is not faster. Before any timing, </a:t>
            </a:r>
            <a:r>
              <a:rPr sz="1600" b="0" i="0">
                <a:solidFill>
                  <a:srgbClr val="1F4E79"/>
                </a:solidFill>
                <a:latin typeface="Consolas"/>
              </a:rPr>
              <a:t>code/ch07_brute.cpp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runs all three on the same inputs:</a:t>
            </a:r>
          </a:p>
        </p:txBody>
      </p:sp>
      <p:graphicFrame>
        <p:nvGraphicFramePr>
          <p:cNvPr id="10" name="body-1"/>
          <p:cNvGraphicFramePr>
            <a:graphicFrameLocks noGrp="1"/>
          </p:cNvGraphicFramePr>
          <p:nvPr/>
        </p:nvGraphicFramePr>
        <p:xfrm>
          <a:off x="1042416" y="2669311"/>
          <a:ext cx="3764335" cy="215798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549284"/>
                <a:gridCol w="703799"/>
                <a:gridCol w="1066693"/>
                <a:gridCol w="736625"/>
                <a:gridCol w="707934"/>
              </a:tblGrid>
              <a:tr h="359664">
                <a:tc>
                  <a:txBody>
                    <a:bodyPr wrap="square"/>
                    <a:lstStyle/>
                    <a:p>
                      <a:pPr algn="r"/>
                      <a:r>
                        <a:rPr sz="14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 i="0">
                          <a:solidFill>
                            <a:srgbClr val="1A5276"/>
                          </a:solidFill>
                          <a:latin typeface="Segoe UI"/>
                        </a:rPr>
                        <a:t>cubic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 i="0">
                          <a:solidFill>
                            <a:srgbClr val="1A5276"/>
                          </a:solidFill>
                          <a:latin typeface="Segoe UI"/>
                        </a:rPr>
                        <a:t>quadratic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 i="0">
                          <a:solidFill>
                            <a:srgbClr val="1A5276"/>
                          </a:solidFill>
                          <a:latin typeface="Segoe UI"/>
                        </a:rPr>
                        <a:t>linear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1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35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35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35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agree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2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80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80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80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agree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10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265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265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265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agree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100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563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563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563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agree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500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1362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1362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1362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C252B"/>
                          </a:solidFill>
                          <a:latin typeface="Segoe UI"/>
                        </a:rPr>
                        <a:t>agree</a:t>
                      </a:r>
                      <a:endParaRPr sz="14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-2"/>
          <p:cNvSpPr txBox="1"/>
          <p:nvPr/>
        </p:nvSpPr>
        <p:spPr>
          <a:xfrm>
            <a:off x="1042416" y="4946040"/>
            <a:ext cx="10234879" cy="11234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This is the oracle use of brute force, and it is not a formality. The cubic version is three nested loops with no ideas in it and is almost impossible to get wrong; Kadane’s is four lines that are easy to get subtly wrong — initialise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best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to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instead of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−∞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and it silently returns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for an all-negative array. The agreement above is evidence, cheaply bought.</a:t>
            </a:r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8795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Predicted Ratios: 8, 4, 2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§7.4  ·  Handout p. 59     </a:t>
            </a:r>
            <a:fld id="{ADB2A73D-DBAD-4D20-AA85-A3D21F9256C1}" type="slidenum">
              <a:rPr lang="en-GB" sz="1000">
                <a:solidFill>
                  <a:srgbClr val="8795A1"/>
                </a:solidFill>
                <a:latin typeface="Segoe UI"/>
              </a:rPr>
              <a:t>21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058361"/>
          </a:xfrm>
          <a:prstGeom prst="roundRect">
            <a:avLst>
              <a:gd name="adj" fmla="val 2253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05836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Doubling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should multiply a cubic time by 8, a quadratic by 4 and a linear by 2. Median of 3, 15 and 101 runs respectively; times in milliseconds.</a:t>
            </a:r>
          </a:p>
        </p:txBody>
      </p:sp>
      <p:graphicFrame>
        <p:nvGraphicFramePr>
          <p:cNvPr id="10" name="body-1"/>
          <p:cNvGraphicFramePr>
            <a:graphicFrameLocks noGrp="1"/>
          </p:cNvGraphicFramePr>
          <p:nvPr/>
        </p:nvGraphicFramePr>
        <p:xfrm>
          <a:off x="1042416" y="2746679"/>
          <a:ext cx="5909729" cy="234086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747869"/>
                <a:gridCol w="971300"/>
                <a:gridCol w="716158"/>
                <a:gridCol w="1182502"/>
                <a:gridCol w="716158"/>
                <a:gridCol w="859584"/>
                <a:gridCol w="716158"/>
              </a:tblGrid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cubic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ratio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quadratic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ratio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linear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ratio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500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7.66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—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0.070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—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0.0005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—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60.25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7.86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0.304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4.32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0.0010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2.00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471.16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7.82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1.095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3.60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0.0018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1.80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4,000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3355.85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7.12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4.348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3.97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0.0035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1.94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8,000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—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—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17.299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3.98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0.0071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2.03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-2"/>
          <p:cNvSpPr txBox="1"/>
          <p:nvPr/>
        </p:nvSpPr>
        <p:spPr>
          <a:xfrm>
            <a:off x="1042416" y="5220258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Means: 7.60, 3.97, 1.94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against predicted 8, 4, 2.</a:t>
            </a:r>
          </a:p>
        </p:txBody>
      </p:sp>
      <p:sp>
        <p:nvSpPr>
          <p:cNvPr id="12" name="body-2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5238546"/>
            <a:ext cx="54864" cy="28285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447353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Predicted Ratios: 8, 4, 2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§7.4  ·  Handout p. 59     </a:t>
            </a:r>
            <a:fld id="{C3D36B90-C975-4D8B-A77C-2AE75C857047}" type="slidenum">
              <a:rPr lang="en-GB" sz="1000">
                <a:solidFill>
                  <a:srgbClr val="8795A1"/>
                </a:solidFill>
                <a:latin typeface="Segoe UI"/>
              </a:rPr>
              <a:t>22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488209"/>
          </a:xfrm>
          <a:prstGeom prst="roundRect">
            <a:avLst>
              <a:gd name="adj" fmla="val 3674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48820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12502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Now read the first and last columns together.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At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4,000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the cubic version takes 3.36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seconds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the linear version takes 3.5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microseconds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a factor of about a million. At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500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the factor was about fifteen thousand. The gap is not a constant; it grows as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which is exactly what “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3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against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” means in seconds.</a:t>
            </a:r>
          </a:p>
        </p:txBody>
      </p:sp>
      <p:sp>
        <p:nvSpPr>
          <p:cNvPr id="10" name="body-0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029967"/>
            <a:ext cx="54864" cy="118628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body-1"/>
          <p:cNvSpPr txBox="1"/>
          <p:nvPr/>
        </p:nvSpPr>
        <p:spPr>
          <a:xfrm>
            <a:off x="1042416" y="3348964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And the row that is missing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cubic at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8,000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is missing because it would take about 27 seconds for a result the linear version produces in 7 microseconds.</a:t>
            </a:r>
          </a:p>
        </p:txBody>
      </p:sp>
      <p:sp>
        <p:nvSpPr>
          <p:cNvPr id="12" name="body-1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3367252"/>
            <a:ext cx="54864" cy="58399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70675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When Brute Force Is the Right Answer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DD1DF"/>
                </a:solidFill>
                <a:latin typeface="Segoe UI"/>
              </a:rPr>
              <a:t>SECTION 5 OF 5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7.5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7.1   The Strategy With No Ideas In It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7.2   A Problem With Three Answers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7.3   An Idea About the Problem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7.4   The Three, Raced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6794"/>
                </a:solidFill>
                <a:latin typeface="Segoe UI"/>
              </a:rPr>
              <a:t>7.5   When Brute Force Is the Right Answer</a:t>
            </a:r>
          </a:p>
        </p:txBody>
      </p:sp>
      <p:sp>
        <p:nvSpPr>
          <p:cNvPr id="11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</a:t>
            </a:r>
          </a:p>
        </p:txBody>
      </p:sp>
      <p:sp>
        <p:nvSpPr>
          <p:cNvPr id="12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§7.5     </a:t>
            </a:r>
            <a:fld id="{128D404A-3352-46CA-B0E7-B5943365C349}" type="slidenum">
              <a:rPr lang="en-GB" sz="1000">
                <a:solidFill>
                  <a:srgbClr val="8795A1"/>
                </a:solidFill>
                <a:latin typeface="Segoe UI"/>
              </a:rPr>
              <a:t>23</a:t>
            </a:fld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966148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It Costs, in Absolute Terms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§7.5  ·  Handout p. 60     </a:t>
            </a:r>
            <a:fld id="{B2161DEE-F779-4EEE-8A0D-B610153D68BC}" type="slidenum">
              <a:rPr lang="en-GB" sz="1000">
                <a:solidFill>
                  <a:srgbClr val="8795A1"/>
                </a:solidFill>
                <a:latin typeface="Segoe UI"/>
              </a:rPr>
              <a:t>24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713505"/>
          </a:xfrm>
          <a:prstGeom prst="roundRect">
            <a:avLst>
              <a:gd name="adj" fmla="val 2462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713505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The same cubic routine, read as a cost rather than as a ratio:</a:t>
            </a:r>
          </a:p>
        </p:txBody>
      </p:sp>
      <p:graphicFrame>
        <p:nvGraphicFramePr>
          <p:cNvPr id="10" name="body-1"/>
          <p:cNvGraphicFramePr>
            <a:graphicFrameLocks noGrp="1"/>
          </p:cNvGraphicFramePr>
          <p:nvPr/>
        </p:nvGraphicFramePr>
        <p:xfrm>
          <a:off x="1042416" y="2445537"/>
          <a:ext cx="3648391" cy="273100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747869"/>
                <a:gridCol w="1182709"/>
                <a:gridCol w="1717813"/>
              </a:tblGrid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cubic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verdict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0.1 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μ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s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imperceptible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2.1 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μ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s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imperceptible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78.8 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μ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s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imperceptible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1.6 ms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a visible pause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52.3 ms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a visible pause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1470.1 ms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too slow to ship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225546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It Costs, in Absolute Terms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§7.5  ·  Handout p. 60     </a:t>
            </a:r>
            <a:fld id="{6B0B4BAB-2E2F-4885-B65B-8A19C5B45D60}" type="slidenum">
              <a:rPr lang="en-GB" sz="1000">
                <a:solidFill>
                  <a:srgbClr val="8795A1"/>
                </a:solidFill>
                <a:latin typeface="Segoe UI"/>
              </a:rPr>
              <a:t>25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488209"/>
          </a:xfrm>
          <a:prstGeom prst="roundRect">
            <a:avLst>
              <a:gd name="adj" fmla="val 3674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48820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12502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At 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 = 100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 the cubic algorithm takes 79 microseconds.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If your arrays are bounded by a hundred elements and the routine runs once per user action, the asymptotically terrible algorithm is the correct engineering choice: it is four lines, it needs no proof, and nobody will ever notice.</a:t>
            </a:r>
          </a:p>
        </p:txBody>
      </p:sp>
      <p:sp>
        <p:nvSpPr>
          <p:cNvPr id="10" name="body-0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029967"/>
            <a:ext cx="54864" cy="118628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body-1"/>
          <p:cNvSpPr txBox="1"/>
          <p:nvPr/>
        </p:nvSpPr>
        <p:spPr>
          <a:xfrm>
            <a:off x="1042416" y="3348964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The decision turns on the range of 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, not on the exponent.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Which is why the first question to ask about any algorithm is not “what is its order of growth” but “how big does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get”.</a:t>
            </a:r>
          </a:p>
        </p:txBody>
      </p:sp>
      <p:sp>
        <p:nvSpPr>
          <p:cNvPr id="12" name="body-1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3367252"/>
            <a:ext cx="54864" cy="58399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484944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A checklist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§7.5  ·  Handout p. 60     </a:t>
            </a:r>
            <a:fld id="{346BE35B-730D-400D-8521-E5811CD7A6A5}" type="slidenum">
              <a:rPr lang="en-GB" sz="1000">
                <a:solidFill>
                  <a:srgbClr val="8795A1"/>
                </a:solidFill>
                <a:latin typeface="Segoe UI"/>
              </a:rPr>
              <a:t>26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523613"/>
          </a:xfrm>
          <a:prstGeom prst="roundRect">
            <a:avLst>
              <a:gd name="adj" fmla="val 2021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523613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3785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Brute force is defensible when </a:t>
            </a:r>
            <a:r>
              <a:rPr sz="2100" b="0" i="1">
                <a:solidFill>
                  <a:srgbClr val="1C252B"/>
                </a:solidFill>
                <a:latin typeface="Segoe UI"/>
              </a:rPr>
              <a:t>all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of these hold: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527782"/>
            <a:ext cx="10161727" cy="23228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34813" indent="-234813">
              <a:lnSpc>
                <a:spcPct val="104000"/>
              </a:lnSpc>
              <a:spcBef>
                <a:spcPts val="0"/>
              </a:spcBef>
              <a:spcAft>
                <a:spcPts val="735"/>
              </a:spcAft>
            </a:pPr>
            <a:r>
              <a:rPr sz="2100" b="1">
                <a:solidFill>
                  <a:srgbClr val="1F618D"/>
                </a:solidFill>
                <a:latin typeface="Segoe UI"/>
              </a:rPr>
              <a:t>•	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is small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bounded by something real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— a board size, a number of columns, a field count — not merely small today;</a:t>
            </a:r>
          </a:p>
          <a:p>
            <a:pPr algn="l" marL="234813" indent="-234813">
              <a:lnSpc>
                <a:spcPct val="104000"/>
              </a:lnSpc>
              <a:spcBef>
                <a:spcPts val="0"/>
              </a:spcBef>
              <a:spcAft>
                <a:spcPts val="735"/>
              </a:spcAft>
            </a:pPr>
            <a:r>
              <a:rPr sz="2100" b="1">
                <a:solidFill>
                  <a:srgbClr val="1F618D"/>
                </a:solidFill>
                <a:latin typeface="Segoe UI"/>
              </a:rPr>
              <a:t>•	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the code runs rarely, or off the critical path;</a:t>
            </a:r>
          </a:p>
          <a:p>
            <a:pPr algn="l" marL="234813" indent="-234813">
              <a:lnSpc>
                <a:spcPct val="104000"/>
              </a:lnSpc>
              <a:spcBef>
                <a:spcPts val="0"/>
              </a:spcBef>
              <a:spcAft>
                <a:spcPts val="735"/>
              </a:spcAft>
            </a:pPr>
            <a:r>
              <a:rPr sz="2100" b="1">
                <a:solidFill>
                  <a:srgbClr val="1F618D"/>
                </a:solidFill>
                <a:latin typeface="Segoe UI"/>
              </a:rPr>
              <a:t>•	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correctness matters more than speed, and the short version is the one you can convince yourself of;</a:t>
            </a:r>
          </a:p>
          <a:p>
            <a:pPr algn="l" marL="234813" indent="-234813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F618D"/>
                </a:solidFill>
                <a:latin typeface="Segoe UI"/>
              </a:rPr>
              <a:t>•	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you have measured, at the largest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you will actually see.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4951552"/>
            <a:ext cx="10161727" cy="10442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It is indefensible when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is unbounded or user-supplied, because then you have not chosen a slow algorithm, you have chosen an unbounded one — and Chapter 22 is about problems where that is the only choice anyone knows.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744342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8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8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Common pitfalls</a:t>
            </a:r>
          </a:p>
        </p:txBody>
      </p:sp>
      <p:pic>
        <p:nvPicPr>
          <p:cNvPr id="3" name="!!kicker-icon" descr="exclamation-circ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2672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COMMON PITFALLS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§7.5  ·  Handout p. 60     </a:t>
            </a:r>
            <a:fld id="{552B67F7-2698-4D2D-B1EC-D419C77E6B2A}" type="slidenum">
              <a:rPr lang="en-GB" sz="1000">
                <a:solidFill>
                  <a:srgbClr val="8795A1"/>
                </a:solidFill>
                <a:latin typeface="Segoe UI"/>
              </a:rPr>
              <a:t>27</a:t>
            </a:fld>
          </a:p>
        </p:txBody>
      </p:sp>
      <p:sp>
        <p:nvSpPr>
          <p:cNvPr id="7" name="!!p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px0"/>
          <p:cNvSpPr txBox="1"/>
          <p:nvPr/>
        </p:nvSpPr>
        <p:spPr>
          <a:xfrm>
            <a:off x="658368" y="1778507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9" name="!!pt0"/>
          <p:cNvSpPr txBox="1"/>
          <p:nvPr/>
        </p:nvSpPr>
        <p:spPr>
          <a:xfrm>
            <a:off x="1261872" y="1737360"/>
            <a:ext cx="10271455" cy="570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93226"/>
                </a:solidFill>
                <a:latin typeface="Segoe UI"/>
              </a:rPr>
              <a:t>Confusing “removed redundant work” with “found a better algorithm”.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The cubic-to-quadratic step did not change which candidates were examined. The quadratic-to-linear step did.</a:t>
            </a:r>
          </a:p>
        </p:txBody>
      </p:sp>
      <p:sp>
        <p:nvSpPr>
          <p:cNvPr id="10" name="!!p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27401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x1"/>
          <p:cNvSpPr txBox="1"/>
          <p:nvPr/>
        </p:nvSpPr>
        <p:spPr>
          <a:xfrm>
            <a:off x="658368" y="2550261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2" name="!!pt1"/>
          <p:cNvSpPr txBox="1"/>
          <p:nvPr/>
        </p:nvSpPr>
        <p:spPr>
          <a:xfrm>
            <a:off x="1261872" y="2509113"/>
            <a:ext cx="10271455" cy="570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93226"/>
                </a:solidFill>
                <a:latin typeface="Segoe UI"/>
              </a:rPr>
              <a:t>Initialising </a:t>
            </a:r>
            <a:r>
              <a:rPr sz="1800" b="1" i="1">
                <a:solidFill>
                  <a:srgbClr val="1C252B"/>
                </a:solidFill>
                <a:latin typeface="Cambria"/>
              </a:rPr>
              <a:t>best</a:t>
            </a:r>
            <a:r>
              <a:rPr sz="1800" b="1" i="0">
                <a:solidFill>
                  <a:srgbClr val="1C252B"/>
                </a:solidFill>
                <a:latin typeface="Segoe UI"/>
              </a:rPr>
              <a:t> to 0 in Kadane’s algorithm.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It then returns 0 on an all-negative array, which is wrong unless the empty block is allowed — and if it is, say so in the specification.</a:t>
            </a:r>
          </a:p>
        </p:txBody>
      </p:sp>
      <p:sp>
        <p:nvSpPr>
          <p:cNvPr id="13" name="!!p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299155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x2"/>
          <p:cNvSpPr txBox="1"/>
          <p:nvPr/>
        </p:nvSpPr>
        <p:spPr>
          <a:xfrm>
            <a:off x="658368" y="3322015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5" name="!!pt2"/>
          <p:cNvSpPr txBox="1"/>
          <p:nvPr/>
        </p:nvSpPr>
        <p:spPr>
          <a:xfrm>
            <a:off x="1261872" y="3280867"/>
            <a:ext cx="10271455" cy="570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93226"/>
                </a:solidFill>
                <a:latin typeface="Segoe UI"/>
              </a:rPr>
              <a:t>Dismissing brute force without measuring.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79 microseconds at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 = 100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is not a performance problem.</a:t>
            </a:r>
          </a:p>
        </p:txBody>
      </p:sp>
      <p:sp>
        <p:nvSpPr>
          <p:cNvPr id="16" name="!!p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070908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x3"/>
          <p:cNvSpPr txBox="1"/>
          <p:nvPr/>
        </p:nvSpPr>
        <p:spPr>
          <a:xfrm>
            <a:off x="658368" y="409376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8" name="!!pt3"/>
          <p:cNvSpPr txBox="1"/>
          <p:nvPr/>
        </p:nvSpPr>
        <p:spPr>
          <a:xfrm>
            <a:off x="1261872" y="4052620"/>
            <a:ext cx="10271455" cy="570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93226"/>
                </a:solidFill>
                <a:latin typeface="Segoe UI"/>
              </a:rPr>
              <a:t>Keeping brute force when </a:t>
            </a:r>
            <a:r>
              <a:rPr sz="18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1" i="0">
                <a:solidFill>
                  <a:srgbClr val="1C252B"/>
                </a:solidFill>
                <a:latin typeface="Segoe UI"/>
              </a:rPr>
              <a:t> is user-supplied.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“Small in practice” is a prediction, and users falsify it.</a:t>
            </a:r>
          </a:p>
        </p:txBody>
      </p:sp>
      <p:sp>
        <p:nvSpPr>
          <p:cNvPr id="19" name="!!p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842662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x4"/>
          <p:cNvSpPr txBox="1"/>
          <p:nvPr/>
        </p:nvSpPr>
        <p:spPr>
          <a:xfrm>
            <a:off x="658368" y="486552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1" name="!!pt4"/>
          <p:cNvSpPr txBox="1"/>
          <p:nvPr/>
        </p:nvSpPr>
        <p:spPr>
          <a:xfrm>
            <a:off x="1261872" y="4824374"/>
            <a:ext cx="10271455" cy="570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93226"/>
                </a:solidFill>
                <a:latin typeface="Segoe UI"/>
              </a:rPr>
              <a:t>Not writing the brute force at all.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You then have nothing to test the clever version against, which is how subtly wrong algorithms reach production.</a:t>
            </a:r>
          </a:p>
        </p:txBody>
      </p:sp>
      <p:sp>
        <p:nvSpPr>
          <p:cNvPr id="22" name="!!p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14416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x5"/>
          <p:cNvSpPr txBox="1"/>
          <p:nvPr/>
        </p:nvSpPr>
        <p:spPr>
          <a:xfrm>
            <a:off x="658368" y="563727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4" name="!!pt5"/>
          <p:cNvSpPr txBox="1"/>
          <p:nvPr/>
        </p:nvSpPr>
        <p:spPr>
          <a:xfrm>
            <a:off x="1261872" y="5596128"/>
            <a:ext cx="10271455" cy="570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93226"/>
                </a:solidFill>
                <a:latin typeface="Segoe UI"/>
              </a:rPr>
              <a:t>Timing the brute force once and the clever one once.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At microsecond scale one run measures the scheduler.</a:t>
            </a:r>
          </a:p>
        </p:txBody>
      </p:sp>
      <p:sp>
        <p:nvSpPr>
          <p:cNvPr id="7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03739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Try it yourself: Three Algorithms, One Problem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§7.5  ·  Handout p. 60     </a:t>
            </a:r>
            <a:fld id="{773FF310-2F3F-4F9A-A838-C0F5944620D9}" type="slidenum">
              <a:rPr lang="en-GB" sz="1000">
                <a:solidFill>
                  <a:srgbClr val="8795A1"/>
                </a:solidFill>
                <a:latin typeface="Segoe UI"/>
              </a:rPr>
              <a:t>28</a:t>
            </a:fld>
          </a:p>
        </p:txBody>
      </p:sp>
      <p:sp>
        <p:nvSpPr>
          <p:cNvPr id="7" name="body-0"/>
          <p:cNvSpPr txBox="1"/>
          <p:nvPr/>
        </p:nvSpPr>
        <p:spPr>
          <a:xfrm>
            <a:off x="658368" y="1737360"/>
            <a:ext cx="10874959" cy="6797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Reproduces all three tables. Expect twenty-five minutes; the cubic column at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 = 4,000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takes about ten seconds on its own.</a:t>
            </a:r>
          </a:p>
        </p:txBody>
      </p:sp>
      <p:sp>
        <p:nvSpPr>
          <p:cNvPr id="8" name="!!labsteps-h"/>
          <p:cNvSpPr txBox="1"/>
          <p:nvPr/>
        </p:nvSpPr>
        <p:spPr>
          <a:xfrm>
            <a:off x="658368" y="268224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E6655"/>
                </a:solidFill>
                <a:latin typeface="Segoe UI"/>
              </a:rPr>
              <a:t>WHAT YOU WILL DO</a:t>
            </a:r>
          </a:p>
        </p:txBody>
      </p:sp>
      <p:sp>
        <p:nvSpPr>
          <p:cNvPr id="9" name="!!labsteps"/>
          <p:cNvSpPr txBox="1"/>
          <p:nvPr/>
        </p:nvSpPr>
        <p:spPr>
          <a:xfrm>
            <a:off x="658368" y="3066288"/>
            <a:ext cx="10874959" cy="1859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1.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Brute force, as literally as it can be written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2.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The same search, with the waste removed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3.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Kadane: a different idea, not a faster loop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4.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All three agree, which is what makes the race fair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5.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The ratios each order of growth predicts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6.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Where brute force is the right answer</a:t>
            </a:r>
          </a:p>
        </p:txBody>
      </p:sp>
      <p:sp>
        <p:nvSpPr>
          <p:cNvPr id="34" name="!!lf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lfb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lflTHIS"/>
          <p:cNvSpPr txBox="1"/>
          <p:nvPr/>
        </p:nvSpPr>
        <p:spPr>
          <a:xfrm>
            <a:off x="932688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THIS WEEK'S LAB</a:t>
            </a:r>
          </a:p>
        </p:txBody>
      </p:sp>
      <p:sp>
        <p:nvSpPr>
          <p:cNvPr id="37" name="!!lfvTHIS"/>
          <p:cNvSpPr txBox="1"/>
          <p:nvPr/>
        </p:nvSpPr>
        <p:spPr>
          <a:xfrm>
            <a:off x="932688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Week 5: Where n2 beats n lg n, and by how much</a:t>
            </a:r>
          </a:p>
        </p:txBody>
      </p:sp>
      <p:sp>
        <p:nvSpPr>
          <p:cNvPr id="38" name="!!lf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4794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lfb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4794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lflWHAT"/>
          <p:cNvSpPr txBox="1"/>
          <p:nvPr/>
        </p:nvSpPr>
        <p:spPr>
          <a:xfrm>
            <a:off x="4649114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WHAT YOU WILL RUN</a:t>
            </a:r>
          </a:p>
        </p:txBody>
      </p:sp>
      <p:sp>
        <p:nvSpPr>
          <p:cNvPr id="41" name="!!lfvWHAT"/>
          <p:cNvSpPr txBox="1"/>
          <p:nvPr/>
        </p:nvSpPr>
        <p:spPr>
          <a:xfrm>
            <a:off x="4649114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1 listing, 59 lines of C++</a:t>
            </a:r>
          </a:p>
        </p:txBody>
      </p:sp>
      <p:sp>
        <p:nvSpPr>
          <p:cNvPr id="42" name="!!lfRU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1220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!!lfbRU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1220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lflRUNN"/>
          <p:cNvSpPr txBox="1"/>
          <p:nvPr/>
        </p:nvSpPr>
        <p:spPr>
          <a:xfrm>
            <a:off x="8365540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RUNNABLE COPY</a:t>
            </a:r>
          </a:p>
        </p:txBody>
      </p:sp>
      <p:sp>
        <p:nvSpPr>
          <p:cNvPr id="45" name="!!lfvRUNN"/>
          <p:cNvSpPr txBox="1"/>
          <p:nvPr/>
        </p:nvSpPr>
        <p:spPr>
          <a:xfrm>
            <a:off x="8365540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Consolas"/>
              </a:rPr>
              <a:t>code/ch07_brute.cpp</a:t>
            </a:r>
          </a:p>
        </p:txBody>
      </p:sp>
      <p:sp>
        <p:nvSpPr>
          <p:cNvPr id="4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263137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Three Algorithms, One Problem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 OF 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§7.5  ·  Handout p. 60     </a:t>
            </a:r>
            <a:fld id="{4AFE79CC-03AA-43C2-B6BE-E6DBFD4D2D9A}" type="slidenum">
              <a:rPr lang="en-GB" sz="1000">
                <a:solidFill>
                  <a:srgbClr val="8795A1"/>
                </a:solidFill>
                <a:latin typeface="Segoe UI"/>
              </a:rPr>
              <a:t>29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Brute force, as literally as it can be written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3971543"/>
          </a:xfrm>
          <a:prstGeom prst="roundRect">
            <a:avLst>
              <a:gd name="adj" fmla="val 2302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code/ch07_brute.cpp</a:t>
            </a:r>
          </a:p>
        </p:txBody>
      </p:sp>
      <p:sp>
        <p:nvSpPr>
          <p:cNvPr id="14" name="!!code-text" descr="// ch07_brute.cpp -- brute force, and the two things that beat it. // Build: cl /O2 /EHsc /std:c++17 ch07_brute.cpp (see Appendix A) // --- 1. Brute force, as literally as it can be written ------------- // For every start i and end j, add up a[i..j] from scratch. The inner // re-addition is pure waste, and it is the n^3. static long long max_sub_cubic(const std::vector&lt;int&gt;&amp; a) { long long best = std::numeric_limits&lt;long long&gt;::min(); size_t n = a.size(); for (size_t i = 0; i &lt; n; ++i) for (size_t j = i; j &lt; n; ++j) { long long s = 0; for (size_t k = i; k &lt;= j; ++k) s += a[k]; best = std::max(best, s); } return best; }"/>
          <p:cNvSpPr txBox="1"/>
          <p:nvPr/>
        </p:nvSpPr>
        <p:spPr>
          <a:xfrm>
            <a:off x="1362456" y="2523744"/>
            <a:ext cx="9987991" cy="34777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ch07_brute.cpp -- brute force, and the two things that beat it.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Build: cl /O2 /EHsc /std:c++17 ch07_brute.cpp     (see Appendix A)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--- 1. Brute force, as literally as it can be written 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For every start i and end j, add up a[i..j] from scratch. The inner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re-addition is pure waste, and it is the n^3.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5DADE2"/>
                </a:solidFill>
                <a:latin typeface="Consolas"/>
              </a:rPr>
              <a:t>static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long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long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C39BD3"/>
                </a:solidFill>
                <a:latin typeface="Consolas"/>
              </a:rPr>
              <a:t>max_sub_cubic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5DADE2"/>
                </a:solidFill>
                <a:latin typeface="Consolas"/>
              </a:rPr>
              <a:t>const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std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5DADE2"/>
                </a:solidFill>
                <a:latin typeface="Consolas"/>
              </a:rPr>
              <a:t>int</a:t>
            </a:r>
            <a:r>
              <a:rPr sz="1300" i="0">
                <a:solidFill>
                  <a:srgbClr val="AEB6BF"/>
                </a:solidFill>
                <a:latin typeface="Consolas"/>
              </a:rPr>
              <a:t>&gt;</a:t>
            </a:r>
            <a:r>
              <a:rPr sz="13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long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long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best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std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E8EDF2"/>
                </a:solidFill>
                <a:latin typeface="Consolas"/>
              </a:rPr>
              <a:t>numeric_limits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5DADE2"/>
                </a:solidFill>
                <a:latin typeface="Consolas"/>
              </a:rPr>
              <a:t>long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long</a:t>
            </a:r>
            <a:r>
              <a:rPr sz="1300" i="0">
                <a:solidFill>
                  <a:srgbClr val="AEB6BF"/>
                </a:solidFill>
                <a:latin typeface="Consolas"/>
              </a:rPr>
              <a:t>&gt;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E8EDF2"/>
                </a:solidFill>
                <a:latin typeface="Consolas"/>
              </a:rPr>
              <a:t>min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size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for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0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for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j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j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j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long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long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0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for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k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i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k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j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k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a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k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best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std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  <a:r>
              <a:rPr sz="1300" i="0">
                <a:solidFill>
                  <a:srgbClr val="E8EDF2"/>
                </a:solidFill>
                <a:latin typeface="Consolas"/>
              </a:rPr>
              <a:t>max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best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s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best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AEB6BF"/>
                </a:solidFill>
                <a:latin typeface="Consolas"/>
              </a:rPr>
              <a:t>}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4777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5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6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7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8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9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10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11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12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13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15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16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17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52253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Three Algorithms, One Problem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2 OF 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§7.5  ·  Handout p. 60     </a:t>
            </a:r>
            <a:fld id="{1FEAF531-A5E0-478B-B8FE-8BE0A2CAD2DF}" type="slidenum">
              <a:rPr lang="en-GB" sz="1000">
                <a:solidFill>
                  <a:srgbClr val="8795A1"/>
                </a:solidFill>
                <a:latin typeface="Segoe UI"/>
              </a:rPr>
              <a:t>30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same search, with the waste removed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017264"/>
          </a:xfrm>
          <a:prstGeom prst="roundRect">
            <a:avLst>
              <a:gd name="adj" fmla="val 2276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code/ch07_brute.cpp</a:t>
            </a:r>
          </a:p>
        </p:txBody>
      </p:sp>
      <p:sp>
        <p:nvSpPr>
          <p:cNvPr id="14" name="!!code-text" descr="// --- 2. The same search, with the waste removed -------------------- // Extending the block from j to j+1 costs one addition, not a fresh // traversal. The SEARCH is unchanged -- still every (i, j) pair -- so // this is not yet a better idea, only a better accountant. static long long max_sub_quadratic(const std::vector&lt;int&gt;&amp; a) { long long best = std::numeric_limits&lt;long long&gt;::min(); size_t n = a.size(); for (size_t i = 0; i &lt; n; ++i) { long long s = 0; for (size_t j = i; j &lt; n; ++j) { s += a[j]; best = std::max(best, s); } } return best; }"/>
          <p:cNvSpPr txBox="1"/>
          <p:nvPr/>
        </p:nvSpPr>
        <p:spPr>
          <a:xfrm>
            <a:off x="1362456" y="2523744"/>
            <a:ext cx="9987991" cy="35234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8795A1"/>
                </a:solidFill>
                <a:latin typeface="Consolas"/>
              </a:rPr>
              <a:t>// --- 2. The same search, with the waste removed 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8795A1"/>
                </a:solidFill>
                <a:latin typeface="Consolas"/>
              </a:rPr>
              <a:t>// Extending the block from j to j+1 costs one addition, not a fresh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8795A1"/>
                </a:solidFill>
                <a:latin typeface="Consolas"/>
              </a:rPr>
              <a:t>// traversal. The SEARCH is unchanged -- still every (i, j) pair -- so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8795A1"/>
                </a:solidFill>
                <a:latin typeface="Consolas"/>
              </a:rPr>
              <a:t>// this is not yet a better idea, only a better accountant.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5DADE2"/>
                </a:solidFill>
                <a:latin typeface="Consolas"/>
              </a:rPr>
              <a:t>static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long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long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C39BD3"/>
                </a:solidFill>
                <a:latin typeface="Consolas"/>
              </a:rPr>
              <a:t>max_sub_quadratic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5DADE2"/>
                </a:solidFill>
                <a:latin typeface="Consolas"/>
              </a:rPr>
              <a:t>const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std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  <a:r>
              <a:rPr sz="14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400" i="0">
                <a:solidFill>
                  <a:srgbClr val="AEB6BF"/>
                </a:solidFill>
                <a:latin typeface="Consolas"/>
              </a:rPr>
              <a:t>&lt;</a:t>
            </a:r>
            <a:r>
              <a:rPr sz="1400" i="0">
                <a:solidFill>
                  <a:srgbClr val="5DADE2"/>
                </a:solidFill>
                <a:latin typeface="Consolas"/>
              </a:rPr>
              <a:t>int</a:t>
            </a:r>
            <a:r>
              <a:rPr sz="1400" i="0">
                <a:solidFill>
                  <a:srgbClr val="AEB6BF"/>
                </a:solidFill>
                <a:latin typeface="Consolas"/>
              </a:rPr>
              <a:t>&gt;</a:t>
            </a:r>
            <a:r>
              <a:rPr sz="14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a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long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long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best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=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std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  <a:r>
              <a:rPr sz="1400" i="0">
                <a:solidFill>
                  <a:srgbClr val="E8EDF2"/>
                </a:solidFill>
                <a:latin typeface="Consolas"/>
              </a:rPr>
              <a:t>numeric_limits</a:t>
            </a:r>
            <a:r>
              <a:rPr sz="1400" i="0">
                <a:solidFill>
                  <a:srgbClr val="AEB6BF"/>
                </a:solidFill>
                <a:latin typeface="Consolas"/>
              </a:rPr>
              <a:t>&lt;</a:t>
            </a:r>
            <a:r>
              <a:rPr sz="1400" i="0">
                <a:solidFill>
                  <a:srgbClr val="5DADE2"/>
                </a:solidFill>
                <a:latin typeface="Consolas"/>
              </a:rPr>
              <a:t>long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long</a:t>
            </a:r>
            <a:r>
              <a:rPr sz="1400" i="0">
                <a:solidFill>
                  <a:srgbClr val="AEB6BF"/>
                </a:solidFill>
                <a:latin typeface="Consolas"/>
              </a:rPr>
              <a:t>&gt;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  <a:r>
              <a:rPr sz="1400" i="0">
                <a:solidFill>
                  <a:srgbClr val="E8EDF2"/>
                </a:solidFill>
                <a:latin typeface="Consolas"/>
              </a:rPr>
              <a:t>min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n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=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a</a:t>
            </a:r>
            <a:r>
              <a:rPr sz="1400" i="0">
                <a:solidFill>
                  <a:srgbClr val="AEB6BF"/>
                </a:solidFill>
                <a:latin typeface="Consolas"/>
              </a:rPr>
              <a:t>.</a:t>
            </a:r>
            <a:r>
              <a:rPr sz="1400" i="0">
                <a:solidFill>
                  <a:srgbClr val="E8EDF2"/>
                </a:solidFill>
                <a:latin typeface="Consolas"/>
              </a:rPr>
              <a:t>size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for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i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=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F7DC6F"/>
                </a:solidFill>
                <a:latin typeface="Consolas"/>
              </a:rPr>
              <a:t>0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i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&lt;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n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+</a:t>
            </a:r>
            <a:r>
              <a:rPr sz="1400" i="0">
                <a:solidFill>
                  <a:srgbClr val="AEB6BF"/>
                </a:solidFill>
                <a:latin typeface="Consolas"/>
              </a:rPr>
              <a:t>+</a:t>
            </a:r>
            <a:r>
              <a:rPr sz="1400" i="0">
                <a:solidFill>
                  <a:srgbClr val="E8EDF2"/>
                </a:solidFill>
                <a:latin typeface="Consolas"/>
              </a:rPr>
              <a:t>i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long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long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s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=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F7DC6F"/>
                </a:solidFill>
                <a:latin typeface="Consolas"/>
              </a:rPr>
              <a:t>0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for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j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=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i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j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&lt;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n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+</a:t>
            </a:r>
            <a:r>
              <a:rPr sz="1400" i="0">
                <a:solidFill>
                  <a:srgbClr val="AEB6BF"/>
                </a:solidFill>
                <a:latin typeface="Consolas"/>
              </a:rPr>
              <a:t>+</a:t>
            </a:r>
            <a:r>
              <a:rPr sz="1400" i="0">
                <a:solidFill>
                  <a:srgbClr val="E8EDF2"/>
                </a:solidFill>
                <a:latin typeface="Consolas"/>
              </a:rPr>
              <a:t>j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400" i="0">
                <a:solidFill>
                  <a:srgbClr val="E8EDF2"/>
                </a:solidFill>
                <a:latin typeface="Consolas"/>
              </a:rPr>
              <a:t>s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+</a:t>
            </a:r>
            <a:r>
              <a:rPr sz="1400" i="0">
                <a:solidFill>
                  <a:srgbClr val="AEB6BF"/>
                </a:solidFill>
                <a:latin typeface="Consolas"/>
              </a:rPr>
              <a:t>=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a</a:t>
            </a:r>
            <a:r>
              <a:rPr sz="1400" i="0">
                <a:solidFill>
                  <a:srgbClr val="AEB6BF"/>
                </a:solidFill>
                <a:latin typeface="Consolas"/>
              </a:rPr>
              <a:t>[</a:t>
            </a:r>
            <a:r>
              <a:rPr sz="1400" i="0">
                <a:solidFill>
                  <a:srgbClr val="E8EDF2"/>
                </a:solidFill>
                <a:latin typeface="Consolas"/>
              </a:rPr>
              <a:t>j</a:t>
            </a:r>
            <a:r>
              <a:rPr sz="1400" i="0">
                <a:solidFill>
                  <a:srgbClr val="AEB6BF"/>
                </a:solidFill>
                <a:latin typeface="Consolas"/>
              </a:rPr>
              <a:t>]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400" i="0">
                <a:solidFill>
                  <a:srgbClr val="E8EDF2"/>
                </a:solidFill>
                <a:latin typeface="Consolas"/>
              </a:rPr>
              <a:t>best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=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std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  <a:r>
              <a:rPr sz="1400" i="0">
                <a:solidFill>
                  <a:srgbClr val="E8EDF2"/>
                </a:solidFill>
                <a:latin typeface="Consolas"/>
              </a:rPr>
              <a:t>max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best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s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4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</a:t>
            </a:r>
            <a:r>
              <a:rPr sz="14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</a:t>
            </a:r>
            <a:r>
              <a:rPr sz="14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best</a:t>
            </a:r>
            <a:r>
              <a:rPr sz="14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AEB6BF"/>
                </a:solidFill>
                <a:latin typeface="Consolas"/>
              </a:rPr>
              <a:t>}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5234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19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20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21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22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23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24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25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26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27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28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29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30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31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32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33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34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781933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Three Algorithms, One Problem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3 OF 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§7.5  ·  Handout p. 60     </a:t>
            </a:r>
            <a:fld id="{8A8BF9F9-3745-4DF0-B4E6-91BC9EECE13C}" type="slidenum">
              <a:rPr lang="en-GB" sz="1000">
                <a:solidFill>
                  <a:srgbClr val="8795A1"/>
                </a:solidFill>
                <a:latin typeface="Segoe UI"/>
              </a:rPr>
              <a:t>31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Kadane: a different idea, not a faster loop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169664"/>
          </a:xfrm>
          <a:prstGeom prst="roundRect">
            <a:avLst>
              <a:gd name="adj" fmla="val 2192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code/ch07_brute.cpp</a:t>
            </a:r>
          </a:p>
        </p:txBody>
      </p:sp>
      <p:sp>
        <p:nvSpPr>
          <p:cNvPr id="14" name="!!code-text" descr="// --- 3. Kadane: a different idea, not a faster loop ---------------- // Invariant: after processing a[0..j], &quot;here&quot; is the largest sum of a // block ENDING at j, and &quot;best&quot; the largest sum anywhere in a[0..j]. // A block ending at j+1 either extends the best block ending at j, or // starts fresh. That one observation removes a whole dimension. static long long max_sub_linear(const std::vector&lt;int&gt;&amp; a) { long long best = std::numeric_limits&lt;long long&gt;::min(), here = 0; for (int x : a) { here = std::max((long long)x, here + x); best = std::max(best, here); } return best; }"/>
          <p:cNvSpPr txBox="1"/>
          <p:nvPr/>
        </p:nvSpPr>
        <p:spPr>
          <a:xfrm>
            <a:off x="1362456" y="2523744"/>
            <a:ext cx="9987991" cy="36758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--- 3. Kadane: a different idea, not a faster loop 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Invariant: after processing a[0..j], "here" is the largest sum of 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block ENDING at j, and "best" the largest sum anywhere in a[0..j].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A block ending at j+1 either extends the best block ending at j, 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starts fresh. That one observation removes a whole dimension.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5DADE2"/>
                </a:solidFill>
                <a:latin typeface="Consolas"/>
              </a:rPr>
              <a:t>static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long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long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C39BD3"/>
                </a:solidFill>
                <a:latin typeface="Consolas"/>
              </a:rPr>
              <a:t>max_sub_linear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5DADE2"/>
                </a:solidFill>
                <a:latin typeface="Consolas"/>
              </a:rPr>
              <a:t>const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std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  <a:r>
              <a:rPr sz="1800" i="0">
                <a:solidFill>
                  <a:srgbClr val="E8EDF2"/>
                </a:solidFill>
                <a:latin typeface="Consolas"/>
              </a:rPr>
              <a:t>vector</a:t>
            </a:r>
            <a:r>
              <a:rPr sz="1800" i="0">
                <a:solidFill>
                  <a:srgbClr val="AEB6BF"/>
                </a:solidFill>
                <a:latin typeface="Consolas"/>
              </a:rPr>
              <a:t>&lt;</a:t>
            </a:r>
            <a:r>
              <a:rPr sz="1800" i="0">
                <a:solidFill>
                  <a:srgbClr val="5DADE2"/>
                </a:solidFill>
                <a:latin typeface="Consolas"/>
              </a:rPr>
              <a:t>int</a:t>
            </a:r>
            <a:r>
              <a:rPr sz="1800" i="0">
                <a:solidFill>
                  <a:srgbClr val="AEB6BF"/>
                </a:solidFill>
                <a:latin typeface="Consolas"/>
              </a:rPr>
              <a:t>&gt;</a:t>
            </a:r>
            <a:r>
              <a:rPr sz="1800" i="0">
                <a:solidFill>
                  <a:srgbClr val="AEB6BF"/>
                </a:solidFill>
                <a:latin typeface="Consolas"/>
              </a:rPr>
              <a:t>&amp;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a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5DADE2"/>
                </a:solidFill>
                <a:latin typeface="Consolas"/>
              </a:rPr>
              <a:t>long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long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best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=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std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  <a:r>
              <a:rPr sz="1800" i="0">
                <a:solidFill>
                  <a:srgbClr val="E8EDF2"/>
                </a:solidFill>
                <a:latin typeface="Consolas"/>
              </a:rPr>
              <a:t>numeric_limits</a:t>
            </a:r>
            <a:r>
              <a:rPr sz="1800" i="0">
                <a:solidFill>
                  <a:srgbClr val="AEB6BF"/>
                </a:solidFill>
                <a:latin typeface="Consolas"/>
              </a:rPr>
              <a:t>&lt;</a:t>
            </a:r>
            <a:r>
              <a:rPr sz="1800" i="0">
                <a:solidFill>
                  <a:srgbClr val="5DADE2"/>
                </a:solidFill>
                <a:latin typeface="Consolas"/>
              </a:rPr>
              <a:t>long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long</a:t>
            </a:r>
            <a:r>
              <a:rPr sz="1800" i="0">
                <a:solidFill>
                  <a:srgbClr val="AEB6BF"/>
                </a:solidFill>
                <a:latin typeface="Consolas"/>
              </a:rPr>
              <a:t>&gt;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  <a:r>
              <a:rPr sz="1800" i="0">
                <a:solidFill>
                  <a:srgbClr val="E8EDF2"/>
                </a:solidFill>
                <a:latin typeface="Consolas"/>
              </a:rPr>
              <a:t>min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here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=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F7DC6F"/>
                </a:solidFill>
                <a:latin typeface="Consolas"/>
              </a:rPr>
              <a:t>0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5DADE2"/>
                </a:solidFill>
                <a:latin typeface="Consolas"/>
              </a:rPr>
              <a:t>for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5DADE2"/>
                </a:solidFill>
                <a:latin typeface="Consolas"/>
              </a:rPr>
              <a:t>int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x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a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800" i="0">
                <a:solidFill>
                  <a:srgbClr val="E8EDF2"/>
                </a:solidFill>
                <a:latin typeface="Consolas"/>
              </a:rPr>
              <a:t>here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=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std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  <a:r>
              <a:rPr sz="1800" i="0">
                <a:solidFill>
                  <a:srgbClr val="E8EDF2"/>
                </a:solidFill>
                <a:latin typeface="Consolas"/>
              </a:rPr>
              <a:t>max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5DADE2"/>
                </a:solidFill>
                <a:latin typeface="Consolas"/>
              </a:rPr>
              <a:t>long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long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E8EDF2"/>
                </a:solidFill>
                <a:latin typeface="Consolas"/>
              </a:rPr>
              <a:t>x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here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+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x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800" i="0">
                <a:solidFill>
                  <a:srgbClr val="E8EDF2"/>
                </a:solidFill>
                <a:latin typeface="Consolas"/>
              </a:rPr>
              <a:t>best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=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std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  <a:r>
              <a:rPr sz="1800" i="0">
                <a:solidFill>
                  <a:srgbClr val="E8EDF2"/>
                </a:solidFill>
                <a:latin typeface="Consolas"/>
              </a:rPr>
              <a:t>max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best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here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best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AEB6BF"/>
                </a:solidFill>
                <a:latin typeface="Consolas"/>
              </a:rPr>
              <a:t>}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6758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36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37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38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39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40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41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42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43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44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45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46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47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48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04133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Three Algorithms, One Problem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4 OF 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§7.5  ·  Handout p. 60     </a:t>
            </a:r>
            <a:fld id="{0D0078E8-68B6-4E69-803E-9E9B928A9EEB}" type="slidenum">
              <a:rPr lang="en-GB" sz="1000">
                <a:solidFill>
                  <a:srgbClr val="8795A1"/>
                </a:solidFill>
                <a:latin typeface="Segoe UI"/>
              </a:rPr>
              <a:t>32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All three agree, which is what makes the race fair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182624"/>
          </a:xfrm>
          <a:prstGeom prst="roundRect">
            <a:avLst>
              <a:gd name="adj" fmla="val 7731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code/ch07_brute.cpp</a:t>
            </a:r>
          </a:p>
        </p:txBody>
      </p:sp>
      <p:sp>
        <p:nvSpPr>
          <p:cNvPr id="14" name="!!code-text" descr="// --- 4. All three agree, which is what makes the race fair --------- // A faster algorithm that gets a different answer is not faster."/>
          <p:cNvSpPr txBox="1"/>
          <p:nvPr/>
        </p:nvSpPr>
        <p:spPr>
          <a:xfrm>
            <a:off x="1362456" y="2523744"/>
            <a:ext cx="9987991" cy="6888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--- 4. All three agree, which is what makes the race fair 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A faster algorithm that gets a different answer is not faster.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6888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50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51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300728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Three Algorithms, One Problem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5 OF 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§7.5  ·  Handout p. 60     </a:t>
            </a:r>
            <a:fld id="{4B4C8FD4-988D-478A-B363-839626A5BA70}" type="slidenum">
              <a:rPr lang="en-GB" sz="1000">
                <a:solidFill>
                  <a:srgbClr val="8795A1"/>
                </a:solidFill>
                <a:latin typeface="Segoe UI"/>
              </a:rPr>
              <a:t>33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ratios each order of growth predicts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182624"/>
          </a:xfrm>
          <a:prstGeom prst="roundRect">
            <a:avLst>
              <a:gd name="adj" fmla="val 7731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code/ch07_brute.cpp</a:t>
            </a:r>
          </a:p>
        </p:txBody>
      </p:sp>
      <p:sp>
        <p:nvSpPr>
          <p:cNvPr id="14" name="!!code-text" descr="// --- 5. The ratios each order of growth predicts ------------------- // Doubling n should multiply the times by 8, 4 and 2."/>
          <p:cNvSpPr txBox="1"/>
          <p:nvPr/>
        </p:nvSpPr>
        <p:spPr>
          <a:xfrm>
            <a:off x="1362456" y="2523744"/>
            <a:ext cx="9987991" cy="6888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--- 5. The ratios each order of growth predicts 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Doubling n should multiply the times by 8, 4 and 2.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6888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53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54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560126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Three Algorithms, One Problem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6 OF 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§7.5  ·  Handout p. 60     </a:t>
            </a:r>
            <a:fld id="{43841050-7133-414F-90ED-216CE1571A63}" type="slidenum">
              <a:rPr lang="en-GB" sz="1000">
                <a:solidFill>
                  <a:srgbClr val="8795A1"/>
                </a:solidFill>
                <a:latin typeface="Segoe UI"/>
              </a:rPr>
              <a:t>34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Where brute force is the right answer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761743"/>
          </a:xfrm>
          <a:prstGeom prst="roundRect">
            <a:avLst>
              <a:gd name="adj" fmla="val 5190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code/ch07_brute.cpp</a:t>
            </a:r>
          </a:p>
        </p:txBody>
      </p:sp>
      <p:sp>
        <p:nvSpPr>
          <p:cNvPr id="14" name="!!code-text" descr="// --- 6. Where brute force is the right answer ---------------------- // Report the ABSOLUTE cost, not a ratio against a linear time too // small to measure, and say where it crosses thresholds a person // would actually notice."/>
          <p:cNvSpPr txBox="1"/>
          <p:nvPr/>
        </p:nvSpPr>
        <p:spPr>
          <a:xfrm>
            <a:off x="1362456" y="2523744"/>
            <a:ext cx="9987991" cy="12679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--- 6. Where brute force is the right answer 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Report the ABSOLUTE cost, not a ratio against a linear time too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small to measure, and say where it crosses thresholds a person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would actually notice.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12679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56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57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58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59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819524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the lab shows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§7.5  ·  Handout p. 60     </a:t>
            </a:r>
            <a:fld id="{85C6C1CD-5D3E-49A2-90A7-0CA5D9AA593E}" type="slidenum">
              <a:rPr lang="en-GB" sz="1000">
                <a:solidFill>
                  <a:srgbClr val="8795A1"/>
                </a:solidFill>
                <a:latin typeface="Segoe UI"/>
              </a:rPr>
              <a:t>35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063314"/>
          </a:xfrm>
          <a:prstGeom prst="roundRect">
            <a:avLst>
              <a:gd name="adj" fmla="val 2250"/>
            </a:avLst>
          </a:prstGeom>
          <a:solidFill>
            <a:srgbClr val="EEF6F4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06331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6655"/>
                </a:solidFill>
                <a:latin typeface="Segoe UI"/>
              </a:rPr>
              <a:t>What to notice.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Part A costs almost nothing to run and is the most valuable part of the program. Delete it and the other two parts are a race between three functions you have not checked.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302533"/>
            <a:ext cx="10161727" cy="22329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6655"/>
                </a:solidFill>
                <a:latin typeface="Segoe UI"/>
              </a:rPr>
              <a:t>Then try to break it.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Change </a:t>
            </a:r>
            <a:r>
              <a:rPr sz="2150" b="0" i="0">
                <a:solidFill>
                  <a:srgbClr val="1F4E79"/>
                </a:solidFill>
                <a:latin typeface="Consolas"/>
              </a:rPr>
              <a:t>best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in </a:t>
            </a:r>
            <a:r>
              <a:rPr sz="2150" b="0" i="0">
                <a:solidFill>
                  <a:srgbClr val="1F4E79"/>
                </a:solidFill>
                <a:latin typeface="Consolas"/>
              </a:rPr>
              <a:t>max_sub_linear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from </a:t>
            </a:r>
            <a:r>
              <a:rPr sz="2150" b="0" i="0">
                <a:solidFill>
                  <a:srgbClr val="1F4E79"/>
                </a:solidFill>
                <a:latin typeface="Consolas"/>
              </a:rPr>
              <a:t>numeric_limits::min()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to </a:t>
            </a:r>
            <a:r>
              <a:rPr sz="2150" b="0" i="0">
                <a:solidFill>
                  <a:srgbClr val="1F4E79"/>
                </a:solidFill>
                <a:latin typeface="Consolas"/>
              </a:rPr>
              <a:t>0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and run part A again. Every row still agrees — because the random inputs all contain a positive block. Now generate an all-negative array and watch part A catch it. An oracle only tests the inputs you give it, which is Chapter 2’s point about distributions arriving again in a new costume.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078921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The cubic algorithm performs 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Σ</a:t>
            </a:r>
            <a:r>
              <a:rPr sz="2250" b="0" i="1" baseline="-25000">
                <a:solidFill>
                  <a:srgbClr val="FFFFFF"/>
                </a:solidFill>
                <a:latin typeface="Cambria"/>
              </a:rPr>
              <a:t>i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Σ</a:t>
            </a:r>
            <a:r>
              <a:rPr sz="2250" b="0" i="1" baseline="-25000">
                <a:solidFill>
                  <a:srgbClr val="FFFFFF"/>
                </a:solidFill>
                <a:latin typeface="Cambria"/>
              </a:rPr>
              <a:t>j</a:t>
            </a:r>
            <a:r>
              <a:rPr sz="2250" b="0" i="0" baseline="-25000">
                <a:solidFill>
                  <a:srgbClr val="FFFFFF"/>
                </a:solidFill>
                <a:latin typeface="Cambria"/>
              </a:rPr>
              <a:t>≥ </a:t>
            </a:r>
            <a:r>
              <a:rPr sz="2250" b="0" i="1" baseline="-25000">
                <a:solidFill>
                  <a:srgbClr val="FFFFFF"/>
                </a:solidFill>
                <a:latin typeface="Cambria"/>
              </a:rPr>
              <a:t>i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j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−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i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+1)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additions. Evaluate this sum for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 = 100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and check it against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2250" b="0" i="0" baseline="30000">
                <a:solidFill>
                  <a:srgbClr val="FFFFFF"/>
                </a:solidFill>
                <a:latin typeface="Cambria"/>
              </a:rPr>
              <a:t>3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/6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63  ·  answers in Appendix D     </a:t>
            </a:r>
            <a:fld id="{F0BDB509-10C3-4C85-8BB8-A1F5D298567D}" type="slidenum">
              <a:rPr lang="en-GB" sz="1000">
                <a:solidFill>
                  <a:srgbClr val="D5DEE5"/>
                </a:solidFill>
                <a:latin typeface="Segoe UI"/>
              </a:rPr>
              <a:t>36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The cubic algorithm performs 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Σ</a:t>
            </a:r>
            <a:r>
              <a:rPr sz="1600" b="0" i="1" baseline="-25000">
                <a:solidFill>
                  <a:srgbClr val="1A5276"/>
                </a:solidFill>
                <a:latin typeface="Cambria"/>
              </a:rPr>
              <a:t>i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Σ</a:t>
            </a:r>
            <a:r>
              <a:rPr sz="1600" b="0" i="1" baseline="-25000">
                <a:solidFill>
                  <a:srgbClr val="1A5276"/>
                </a:solidFill>
                <a:latin typeface="Cambria"/>
              </a:rPr>
              <a:t>j</a:t>
            </a:r>
            <a:r>
              <a:rPr sz="1600" b="0" i="0" baseline="-25000">
                <a:solidFill>
                  <a:srgbClr val="1A5276"/>
                </a:solidFill>
                <a:latin typeface="Cambria"/>
              </a:rPr>
              <a:t>≥ </a:t>
            </a:r>
            <a:r>
              <a:rPr sz="1600" b="0" i="1" baseline="-25000">
                <a:solidFill>
                  <a:srgbClr val="1A5276"/>
                </a:solidFill>
                <a:latin typeface="Cambria"/>
              </a:rPr>
              <a:t>i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j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−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i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+1)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additions. Evaluate this sum for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 = 100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and check it against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1600" b="0" i="0" baseline="30000">
                <a:solidFill>
                  <a:srgbClr val="1A5276"/>
                </a:solidFill>
                <a:latin typeface="Cambria"/>
              </a:rPr>
              <a:t>3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/6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1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1134313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6" name="!!ans-0" descr="The sum is Σp=1n p(p+1)/2. For n = 100 this is /12((100·101·201)/6 + (100·101)/2) = /12(338,350 + 5,050) = 171,700. Against n3/6 = 166,667 that is 3% high, as it should be — the leading term is n3/6 and the next is n2/2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7552" y="1762963"/>
            <a:ext cx="10509199" cy="1134313"/>
          </a:xfrm>
          <a:prstGeom prst="rect">
            <a:avLst/>
          </a:prstGeom>
        </p:spPr>
      </p:pic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63  ·  answers in Appendix D     </a:t>
            </a:r>
            <a:fld id="{95369CB1-4E54-4C41-86D8-AF0B138F16EB}" type="slidenum">
              <a:rPr lang="en-GB" sz="1000">
                <a:solidFill>
                  <a:srgbClr val="8795A1"/>
                </a:solidFill>
                <a:latin typeface="Segoe UI"/>
              </a:rPr>
              <a:t>37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597717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Explain why going from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2250" b="0" i="0" baseline="30000">
                <a:solidFill>
                  <a:srgbClr val="FFFFFF"/>
                </a:solidFill>
                <a:latin typeface="Cambria"/>
              </a:rPr>
              <a:t>3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to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2250" b="0" i="0" baseline="30000">
                <a:solidFill>
                  <a:srgbClr val="FFFFFF"/>
                </a:solidFill>
                <a:latin typeface="Cambria"/>
              </a:rPr>
              <a:t>2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did not require any insight into the maximum-subarray problem, while going from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2250" b="0" i="0" baseline="30000">
                <a:solidFill>
                  <a:srgbClr val="FFFFFF"/>
                </a:solidFill>
                <a:latin typeface="Cambria"/>
              </a:rPr>
              <a:t>2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to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did.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63  ·  answers in Appendix D     </a:t>
            </a:r>
            <a:fld id="{588A8EF1-2209-488D-81A6-885AEC371BA3}" type="slidenum">
              <a:rPr lang="en-GB" sz="1000">
                <a:solidFill>
                  <a:srgbClr val="D5DEE5"/>
                </a:solidFill>
                <a:latin typeface="Segoe UI"/>
              </a:rPr>
              <a:t>38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Explain why going from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1600" b="0" i="0" baseline="30000">
                <a:solidFill>
                  <a:srgbClr val="1A5276"/>
                </a:solidFill>
                <a:latin typeface="Cambria"/>
              </a:rPr>
              <a:t>3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to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1600" b="0" i="0" baseline="30000">
                <a:solidFill>
                  <a:srgbClr val="1A5276"/>
                </a:solidFill>
                <a:latin typeface="Cambria"/>
              </a:rPr>
              <a:t>2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did not require any insight into the maximum-subarray problem, while going from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1600" b="0" i="0" baseline="30000">
                <a:solidFill>
                  <a:srgbClr val="1A5276"/>
                </a:solidFill>
                <a:latin typeface="Cambria"/>
              </a:rPr>
              <a:t>2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to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did.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2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174376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6" name="!!ans-0" descr="The n3 → n2 step removed redundant arithmetic inside the search: the same set of n2 candidate blocks is still examined, each now in O(1) instead of O(n). The n2 → n step changed the search itself — Kadane’s observation about blocks ending at j means pairs are never enumerated at all. The first is careful programming; the second needs an idea about the problem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7552" y="1762963"/>
            <a:ext cx="10509199" cy="1743760"/>
          </a:xfrm>
          <a:prstGeom prst="rect">
            <a:avLst/>
          </a:prstGeom>
        </p:spPr>
      </p:pic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63  ·  answers in Appendix D     </a:t>
            </a:r>
            <a:fld id="{68965C50-E836-435F-88BE-A5B3E6186BB5}" type="slidenum">
              <a:rPr lang="en-GB" sz="1000">
                <a:solidFill>
                  <a:srgbClr val="8795A1"/>
                </a:solidFill>
                <a:latin typeface="Segoe UI"/>
              </a:rPr>
              <a:t>39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116513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Give a concrete situation in which you would ship the 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Θ(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2250" b="0" i="0" baseline="30000">
                <a:solidFill>
                  <a:srgbClr val="FFFFFF"/>
                </a:solidFill>
                <a:latin typeface="Cambria"/>
              </a:rPr>
              <a:t>3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)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version, and state the one fact that would change your mind.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63  ·  answers in Appendix D     </a:t>
            </a:r>
            <a:fld id="{3DD59AEB-F57A-490E-AE8B-3C20BC8DADFD}" type="slidenum">
              <a:rPr lang="en-GB" sz="1000">
                <a:solidFill>
                  <a:srgbClr val="D5DEE5"/>
                </a:solidFill>
                <a:latin typeface="Segoe UI"/>
              </a:rPr>
              <a:t>40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Give a concrete situation in which you would ship the 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Θ(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1600" b="0" i="0" baseline="30000">
                <a:solidFill>
                  <a:srgbClr val="1A5276"/>
                </a:solidFill>
                <a:latin typeface="Cambria"/>
              </a:rPr>
              <a:t>3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)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version, and state the one fact that would change your mind.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3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1743456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762963"/>
            <a:ext cx="10509199" cy="17891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Ship the cubic version when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is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bounded by something real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and small — a board of at most 64 squares, a form with at most 50 fields — and the routine is off the critical path. Measured, it costs 79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μ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s at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= 100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 </a:t>
            </a:r>
            <a:r>
              <a:rPr sz="2200" b="1" i="0">
                <a:solidFill>
                  <a:srgbClr val="1C252B"/>
                </a:solidFill>
                <a:latin typeface="Segoe UI"/>
              </a:rPr>
              <a:t>The fact that would change my mind: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that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is user-supplied or unbounded, because then the bound is a prediction rather than a fact.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63  ·  answers in Appendix D     </a:t>
            </a:r>
            <a:fld id="{90C1F980-F75D-4912-902D-6621DBE29C1C}" type="slidenum">
              <a:rPr lang="en-GB" sz="1000">
                <a:solidFill>
                  <a:srgbClr val="8795A1"/>
                </a:solidFill>
                <a:latin typeface="Segoe UI"/>
              </a:rPr>
              <a:t>41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635308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63     </a:t>
            </a:r>
            <a:fld id="{AF8CCEA2-3142-4CEF-8E4F-A3690FD08290}" type="slidenum">
              <a:rPr lang="en-GB" sz="1000">
                <a:solidFill>
                  <a:srgbClr val="8795A1"/>
                </a:solidFill>
                <a:latin typeface="Segoe UI"/>
              </a:rPr>
              <a:t>42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Brute force generates every candidate and tests it. It needs no insight into the problem, which is both its weakness and its value.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27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52313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459126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It earns its place as the </a:t>
            </a:r>
            <a:r>
              <a:rPr sz="1700" b="0" i="1">
                <a:solidFill>
                  <a:srgbClr val="1C252B"/>
                </a:solidFill>
                <a:latin typeface="Segoe UI"/>
              </a:rPr>
              <a:t>baseline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to improve on and the </a:t>
            </a:r>
            <a:r>
              <a:rPr sz="1700" b="0" i="1">
                <a:solidFill>
                  <a:srgbClr val="1C252B"/>
                </a:solidFill>
                <a:latin typeface="Segoe UI"/>
              </a:rPr>
              <a:t>oracle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to test against — and sometimes as the answer.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1900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324490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3180892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Maximum subarray has three solutions: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3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exhaustive,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with the redundant re-summation removed, and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by Kadane’s observation.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1180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3966667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3902659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Removing redundant work </a:t>
            </a:r>
            <a:r>
              <a:rPr sz="1700" b="0" i="1">
                <a:solidFill>
                  <a:srgbClr val="1C252B"/>
                </a:solidFill>
                <a:latin typeface="Segoe UI"/>
              </a:rPr>
              <a:t>within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 search is different from changing </a:t>
            </a:r>
            <a:r>
              <a:rPr sz="1700" b="0" i="1">
                <a:solidFill>
                  <a:srgbClr val="1C252B"/>
                </a:solidFill>
                <a:latin typeface="Segoe UI"/>
              </a:rPr>
              <a:t>the search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 Only the second needs an idea about the problem, and it is the one this book is mostly about.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633569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4688433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4624425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Measured ratios on doubling: 7.60, 3.97, 1.94 against predicted 8, 4, 2. At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4,000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the cubic version took 3.4 seconds and the linear one 3.5 microseconds.</a:t>
            </a:r>
          </a:p>
        </p:txBody>
      </p:sp>
      <p:sp>
        <p:nvSpPr>
          <p:cNvPr id="22" name="!!s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3553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sbn5"/>
          <p:cNvSpPr txBox="1"/>
          <p:nvPr/>
        </p:nvSpPr>
        <p:spPr>
          <a:xfrm>
            <a:off x="658368" y="541020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4" name="!!st5"/>
          <p:cNvSpPr txBox="1"/>
          <p:nvPr/>
        </p:nvSpPr>
        <p:spPr>
          <a:xfrm>
            <a:off x="1298448" y="5346192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Measured absolutely, the cubic version costs 79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μ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s at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100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and 1.5 s at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3,000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 For a bounded small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it is the right choice.</a:t>
            </a:r>
          </a:p>
        </p:txBody>
      </p:sp>
      <p:sp>
        <p:nvSpPr>
          <p:cNvPr id="7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894706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 (continued)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63     </a:t>
            </a:r>
            <a:fld id="{19BF92A4-554D-47EE-BDED-B9A44515F708}" type="slidenum">
              <a:rPr lang="en-GB" sz="1000">
                <a:solidFill>
                  <a:srgbClr val="8795A1"/>
                </a:solidFill>
                <a:latin typeface="Segoe UI"/>
              </a:rPr>
              <a:t>43</a:t>
            </a:fld>
          </a:p>
        </p:txBody>
      </p:sp>
      <p:sp>
        <p:nvSpPr>
          <p:cNvPr id="7" name="!!sb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6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9" name="!!st6"/>
          <p:cNvSpPr txBox="1"/>
          <p:nvPr/>
        </p:nvSpPr>
        <p:spPr>
          <a:xfrm>
            <a:off x="1298448" y="1737360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The first question about an algorithm is how big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gets, not what its exponent is.</a:t>
            </a:r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154104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1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63     </a:t>
            </a:r>
            <a:fld id="{25677317-6A30-41BA-98A5-8DE572F02FDC}" type="slidenum">
              <a:rPr lang="en-GB" sz="1000">
                <a:solidFill>
                  <a:srgbClr val="8795A1"/>
                </a:solidFill>
                <a:latin typeface="Segoe UI"/>
              </a:rPr>
              <a:t>44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The brute-force maximum-subarray algorithm runs in: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3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300" b="0" i="0" baseline="30000">
                <a:solidFill>
                  <a:srgbClr val="1C252B"/>
                </a:solidFill>
                <a:latin typeface="Cambria"/>
              </a:rPr>
              <a:t>3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413501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2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63     </a:t>
            </a:r>
            <a:fld id="{25502CBF-4163-4FAD-B46B-0FA9F0B11153}" type="slidenum">
              <a:rPr lang="en-GB" sz="1000">
                <a:solidFill>
                  <a:srgbClr val="8795A1"/>
                </a:solidFill>
                <a:latin typeface="Segoe UI"/>
              </a:rPr>
              <a:t>45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Kadane’s algorithm improves on the quadratic version by: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using a faster inner loop</a:t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examining fewer candidate blocks</a:t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using recursion</a:t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sorting the input first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672899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63     </a:t>
            </a:r>
            <a:fld id="{A601AC71-DB01-4EC1-A50F-D446E5D8B2B5}" type="slidenum">
              <a:rPr lang="en-GB" sz="1000">
                <a:solidFill>
                  <a:srgbClr val="8795A1"/>
                </a:solidFill>
                <a:latin typeface="Segoe UI"/>
              </a:rPr>
              <a:t>46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Define the brute-force strategy and give two reasons a course on algorithm design includes it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(CLO-6)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7738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61853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559100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State Kadane’s loop invariant and explain why only two cases need be considered in its maintenance step.</a:t>
            </a:r>
          </a:p>
        </p:txBody>
      </p:sp>
      <p:sp>
        <p:nvSpPr>
          <p:cNvPr id="13" name="!!r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399129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rtt2"/>
          <p:cNvSpPr txBox="1"/>
          <p:nvPr/>
        </p:nvSpPr>
        <p:spPr>
          <a:xfrm>
            <a:off x="658368" y="3440277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5" name="!!rq2"/>
          <p:cNvSpPr txBox="1"/>
          <p:nvPr/>
        </p:nvSpPr>
        <p:spPr>
          <a:xfrm>
            <a:off x="1892807" y="3380841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Explain the oracle use of a brute-force implementation, and its one limitation.</a:t>
            </a:r>
          </a:p>
        </p:txBody>
      </p:sp>
      <p:sp>
        <p:nvSpPr>
          <p:cNvPr id="16" name="!!r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19727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tt3"/>
          <p:cNvSpPr txBox="1"/>
          <p:nvPr/>
        </p:nvSpPr>
        <p:spPr>
          <a:xfrm>
            <a:off x="658368" y="396087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8" name="!!rq3"/>
          <p:cNvSpPr txBox="1"/>
          <p:nvPr/>
        </p:nvSpPr>
        <p:spPr>
          <a:xfrm>
            <a:off x="1892807" y="3901440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Give a brute-force algorithm for finding the closest pair among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points in the plane, state its running time with justification, and say what you would need to beat it.</a:t>
            </a:r>
          </a:p>
        </p:txBody>
      </p:sp>
      <p:sp>
        <p:nvSpPr>
          <p:cNvPr id="19" name="!!r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74146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rtt4"/>
          <p:cNvSpPr txBox="1"/>
          <p:nvPr/>
        </p:nvSpPr>
        <p:spPr>
          <a:xfrm>
            <a:off x="658368" y="478261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21" name="!!rq4"/>
          <p:cNvSpPr txBox="1"/>
          <p:nvPr/>
        </p:nvSpPr>
        <p:spPr>
          <a:xfrm>
            <a:off x="1892807" y="4723180"/>
            <a:ext cx="9549079" cy="9034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Your team has a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3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routine running on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≤ 80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taking about 40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μ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s. A colleague proposes replacing it with a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version, 60 lines long. Argue both sides, and state the single piece of information that should decide it.</a:t>
            </a:r>
          </a:p>
        </p:txBody>
      </p:sp>
      <p:sp>
        <p:nvSpPr>
          <p:cNvPr id="2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932297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7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35739D"/>
                </a:solidFill>
                <a:latin typeface="Segoe UI Black"/>
              </a:rPr>
              <a:t>07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7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B5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BC5D6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Chapter 8 — Divide and Conquer: Merge Sort and the Pattern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B5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BC5D6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7, pages 56–63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B5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BC5D6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Where n2 beats n lg n, and by how much</a:t>
            </a:r>
          </a:p>
        </p:txBody>
      </p:sp>
      <p:sp>
        <p:nvSpPr>
          <p:cNvPr id="1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7  ·  Brute Force, and When It Is the Right Answer</a:t>
            </a:r>
          </a:p>
        </p:txBody>
      </p:sp>
      <p:sp>
        <p:nvSpPr>
          <p:cNvPr id="1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F354B5D9-F3E4-48AC-A65D-04E34DD15DE3}" type="slidenum">
              <a:rPr lang="en-GB" sz="1000">
                <a:solidFill>
                  <a:srgbClr val="D5DEE5"/>
                </a:solidFill>
                <a:latin typeface="Segoe UI"/>
              </a:rPr>
              <a:t>47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nalysis of Algorithms Fall 2026">
  <a:themeElements>
    <a:clrScheme name="Analysis of Algorithms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Analysis of Algorithms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Brute Force, and When It Is the Right Answer</dc:title>
  <dc:subject>Analysis of Algorithms — Design, Proof and Measurement · BSIT · Fall 2026</dc:subject>
  <dc:creator>Dr. Mustafa Hameed</dc:creator>
  <cp:keywords>artificial intelligence; lecture slides; BSIT; HEC;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