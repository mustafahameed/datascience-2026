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9.svg" ContentType="image/svg+xml"/>
  <Override PartName="/ppt/media/image30.svg" ContentType="image/svg+xml"/>
  <Override PartName="/ppt/media/image31.svg" ContentType="image/svg+xml"/>
  <Override PartName="/ppt/media/image33.svg" ContentType="image/svg+xml"/>
  <Override PartName="/ppt/media/image34.svg" ContentType="image/svg+xml"/>
  <Override PartName="/ppt/media/image35.svg" ContentType="image/svg+xml"/>
  <Override PartName="/ppt/media/image36.svg" ContentType="image/svg+xml"/>
  <Override PartName="/ppt/media/image37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5.svg" ContentType="image/svg+xml"/>
  <Override PartName="/ppt/media/image46.svg" ContentType="image/svg+xml"/>
  <Override PartName="/ppt/media/image47.svg" ContentType="image/svg+xml"/>
  <Override PartName="/ppt/media/image48.svg" ContentType="image/svg+xml"/>
  <Override PartName="/ppt/media/image49.svg" ContentType="image/svg+xml"/>
  <Override PartName="/ppt/media/image50.svg" ContentType="image/svg+xml"/>
  <Override PartName="/ppt/media/image51.svg" ContentType="image/svg+xml"/>
  <Override PartName="/ppt/media/image52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8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2.svg" ContentType="image/svg+xml"/>
  <Override PartName="/ppt/media/image63.svg" ContentType="image/svg+xml"/>
  <Override PartName="/ppt/media/image65.svg" ContentType="image/svg+xml"/>
  <Override PartName="/ppt/media/image66.svg" ContentType="image/svg+xml"/>
  <Override PartName="/ppt/media/image68.svg" ContentType="image/svg+xml"/>
  <Override PartName="/ppt/media/image69.svg" ContentType="image/svg+xml"/>
  <Override PartName="/ppt/media/image70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EAA04B3-DAB4-4F3B-9E6E-798224D43E8F}">
          <p14:sldIdLst>
            <p14:sldId id="256"/>
            <p14:sldId id="257"/>
            <p14:sldId id="258"/>
            <p14:sldId id="259"/>
            <p14:sldId id="260"/>
          </p14:sldIdLst>
        </p14:section>
        <p14:section name="15.1 The Two Conditions" id="{EA8BF8E7-9469-4E07-99AC-F9C604BEDD2D}">
          <p14:sldIdLst>
            <p14:sldId id="261"/>
            <p14:sldId id="262"/>
            <p14:sldId id="263"/>
          </p14:sldIdLst>
        </p14:section>
        <p14:section name="15.2 Rod Cutting" id="{11E2C960-989E-4D63-845D-6AAE96A7E826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15.3 Two Ways to Collect the Saving" id="{C8EF2DA5-6DDE-4665-B546-C37393920568}">
          <p14:sldIdLst>
            <p14:sldId id="272"/>
            <p14:sldId id="273"/>
            <p14:sldId id="274"/>
            <p14:sldId id="275"/>
            <p14:sldId id="276"/>
          </p14:sldIdLst>
        </p14:section>
        <p14:section name="15.4 Measured" id="{EE6D2CA9-1F60-4906-8E86-DACAFDA68944}">
          <p14:sldIdLst>
            <p14:sldId id="277"/>
            <p14:sldId id="278"/>
            <p14:sldId id="279"/>
            <p14:sldId id="280"/>
          </p14:sldIdLst>
        </p14:section>
        <p14:section name="15.5 Greedy or Dynamic Programming?" id="{DE8B73F9-A45F-4383-9C3B-498BA7D910A4}">
          <p14:sldIdLst>
            <p14:sldId id="281"/>
            <p14:sldId id="282"/>
            <p14:sldId id="283"/>
            <p14:sldId id="284"/>
          </p14:sldIdLst>
        </p14:section>
        <p14:section name="Pitfalls" id="{71889880-498F-4AF2-826D-CC55E198E63A}">
          <p14:sldIdLst>
            <p14:sldId id="285"/>
          </p14:sldIdLst>
        </p14:section>
        <p14:section name="Lab" id="{642459BD-A8DE-40B9-94C4-CB3EE7E97ED0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Checkpoint" id="{42AA2D4B-900A-4211-8F8E-4FC205B35CD7}">
          <p14:sldIdLst>
            <p14:sldId id="296"/>
            <p14:sldId id="297"/>
            <p14:sldId id="298"/>
            <p14:sldId id="299"/>
            <p14:sldId id="300"/>
            <p14:sldId id="301"/>
          </p14:sldIdLst>
        </p14:section>
        <p14:section name="Wrap-up" id="{1B68F7D0-94CA-4988-9F5C-81F2332AAE27}">
          <p14:sldIdLst>
            <p14:sldId id="302"/>
            <p14:sldId id="303"/>
            <p14:sldId id="304"/>
            <p14:sldId id="305"/>
            <p14:sldId id="306"/>
            <p14:sldId id="30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15: Dynamic Programming I: The Elements. Part 4 — The Design Paradigms. Week 11: Dynamic programming: elements and classics. Handout pages 121–128.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 the chapter. Before you start: Chapter 5 for recursion trees, Chapter 14 for optimal substructure and the comparison that closes this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these out: they are the chapter's contract with the room. Each click adds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define these now; they arrive one at a time. This slide is for the students' notes. Terms: dynamic programming; optimal substructure; overlapping subproblems; memoisation; top-down; bottom-up; subproblem graph; rod cutting; reconstruction;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route through the chapter. Each row is a link: click it to jump to that section in the slide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Optimal substructure is easy to see: after the first cut of length i, the remaining rod of length n−i must itself be cut optimally, or the whole solution could be improved. So, writing rn for the best revenue,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15.1 (handout p. 122): Cut-Rod-Naive: a direct transcription of the recurrence. It is correct, and it takes Θ(2n) time, because line 5 re-solves subproblems that other branches have already solved.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Proof. Let T(n) be the number of calls, counting the top-level one. T(0) = 1, and for n ≥ 1 the body makes one call on each of n−1, n−2, …, 0: T(n) = 1 + Σⱼ₌₀ⁿ−¹ T(j). We show T(n) = 2ⁿ by induction. The base case holds, T(0) = 1 = 2⁰. Assuming it for all j &lt; n, T(n) = 1 + Σⱼ₌₀ⁿ−¹ 2ʲ = 1 + (2ⁿ − 1) = 2ⁿ.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15.2 (handout p. 124): Cut-Rod-DP, bottom-up. Two nested loops, so Θ(n2) — and the only change from the recurrence is that subproblems are visited in increasing order of size, so each is solved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Proof. The outer loop runs n times and the inner loop at most j ≤ n times, with an O(1) body, so the time is O(n²); it is Ω(n²) because the inner loop runs exactly j times, giving Σⱼ₌₁ⁿ j = n(n+1)/2 iterations. The array r gives Θ(n) space. Correctness is an induction on j: assuming r[0], …, r[j−1] hold the optimal revenues for those lengths, line 6 evaluates maxᵢ(pᵢ + rⱼ−ᵢ), which by the recurrence is rⱼ.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 pitfall, ask who has seen it happen. One real story beats five bullets.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Reproduces all five tables. Expect twenty-five minutes; the naive version at n = 32 takes about seventeen seconds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1: The naive recursion, instrumented.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2: The same recursion, with an answer cache.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3: Bottom-up: the same table, filled in dependency order.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4: How often is each subproblem solved?.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5: The explosion, and the collapse.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6: And in seconds.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7: All three agree, which is the point.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8: Bottom-up scales where the others cannot.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Optimal substructure and overlapping subproblems. A problem with the first and not the second: merge sort — sorting optimally requires sorting the halves, but the two halves are different subproblems and no subproblem ever recurs, so memoising it buys exactly nothing. Binary search is another.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T(0) = 1 and T(n) = 1 + Σj=0n−1 T(j). By induction, assuming T(j) = 2j for all j &lt; n: T(n) = 1 + Σj=0n−12j = 1 + (2n−1) = 2n. At n = 22 this is 4,194,304, which is what the program counted — exactly, not approximately.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Θ(mnk): (number of distinct subproblems) × (work per subproblem). For rod cutting there are n subproblems and the maximum is over at most n choices, giving Θ(n · n) = Θ(n2). Note the measured caveat: with a price table capped at 30 entries the inner loop runs at most 30 times, so the measured behaviour was Θ(30n) — linear. Check the parameters before quoting the bound.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say each takeaway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say each takeaway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a show of hands for each option before discussing. (The handout does not print MCQ answers.)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a show of hands for each option before discussing. (The handout does not print MCQ answers.)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these for independent study. Model answers are not printed in the handout.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NEXT: Chapter 16 — Dynamic Programming II: Classic Problems. READ: Handout Chapter 15, pages 121–128. THIS WEEK'S LAB: Memoised against bottom-up, timed and counted.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000" kern="1200" b="0">
          <a:solidFill>
            <a:srgbClr val="1A527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notesSlide" Target="../notesSlides/notesSlide5.xml"/><Relationship Id="rId5" Type="http://schemas.openxmlformats.org/officeDocument/2006/relationships/slide" Target="slide6.xml"/><Relationship Id="rId6" Type="http://schemas.openxmlformats.org/officeDocument/2006/relationships/slide" Target="slide9.xml"/><Relationship Id="rId7" Type="http://schemas.openxmlformats.org/officeDocument/2006/relationships/slide" Target="slide17.xml"/><Relationship Id="rId8" Type="http://schemas.openxmlformats.org/officeDocument/2006/relationships/slide" Target="slide22.xml"/><Relationship Id="rId9" Type="http://schemas.openxmlformats.org/officeDocument/2006/relationships/slide" Target="slide2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5.sv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20.sv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3" Type="http://schemas.openxmlformats.org/officeDocument/2006/relationships/image" Target="../media/image25.sv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3" Type="http://schemas.openxmlformats.org/officeDocument/2006/relationships/image" Target="../media/image26.sv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27.sv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30.sv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31.svg"/><Relationship Id="rId4" Type="http://schemas.openxmlformats.org/officeDocument/2006/relationships/image" Target="../media/image32.png"/><Relationship Id="rId5" Type="http://schemas.openxmlformats.org/officeDocument/2006/relationships/image" Target="../media/image33.svg"/><Relationship Id="rId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3" Type="http://schemas.openxmlformats.org/officeDocument/2006/relationships/image" Target="../media/image34.sv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3" Type="http://schemas.openxmlformats.org/officeDocument/2006/relationships/image" Target="../media/image35.sv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3" Type="http://schemas.openxmlformats.org/officeDocument/2006/relationships/image" Target="../media/image36.sv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37.sv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38.sv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40.sv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Relationship Id="rId3" Type="http://schemas.openxmlformats.org/officeDocument/2006/relationships/image" Target="../media/image42.sv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Relationship Id="rId3" Type="http://schemas.openxmlformats.org/officeDocument/2006/relationships/image" Target="../media/image44.svg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Relationship Id="rId3" Type="http://schemas.openxmlformats.org/officeDocument/2006/relationships/image" Target="../media/image45.sv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Relationship Id="rId3" Type="http://schemas.openxmlformats.org/officeDocument/2006/relationships/image" Target="../media/image46.sv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Relationship Id="rId3" Type="http://schemas.openxmlformats.org/officeDocument/2006/relationships/image" Target="../media/image47.sv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Relationship Id="rId3" Type="http://schemas.openxmlformats.org/officeDocument/2006/relationships/image" Target="../media/image48.svg"/><Relationship Id="rId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Relationship Id="rId3" Type="http://schemas.openxmlformats.org/officeDocument/2006/relationships/image" Target="../media/image49.svg"/><Relationship Id="rId4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Relationship Id="rId3" Type="http://schemas.openxmlformats.org/officeDocument/2006/relationships/image" Target="../media/image50.svg"/><Relationship Id="rId4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Relationship Id="rId3" Type="http://schemas.openxmlformats.org/officeDocument/2006/relationships/image" Target="../media/image51.svg"/><Relationship Id="rId4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Relationship Id="rId3" Type="http://schemas.openxmlformats.org/officeDocument/2006/relationships/image" Target="../media/image52.sv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Relationship Id="rId3" Type="http://schemas.openxmlformats.org/officeDocument/2006/relationships/image" Target="../media/image53.sv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4.png"/><Relationship Id="rId3" Type="http://schemas.openxmlformats.org/officeDocument/2006/relationships/image" Target="../media/image55.sv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6.png"/><Relationship Id="rId3" Type="http://schemas.openxmlformats.org/officeDocument/2006/relationships/image" Target="../media/image57.sv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4.png"/><Relationship Id="rId3" Type="http://schemas.openxmlformats.org/officeDocument/2006/relationships/image" Target="../media/image58.svg"/><Relationship Id="rId4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6.png"/><Relationship Id="rId3" Type="http://schemas.openxmlformats.org/officeDocument/2006/relationships/image" Target="../media/image59.svg"/><Relationship Id="rId4" Type="http://schemas.openxmlformats.org/officeDocument/2006/relationships/image" Target="../media/image60.png"/><Relationship Id="rId5" Type="http://schemas.openxmlformats.org/officeDocument/2006/relationships/image" Target="../media/image61.svg"/><Relationship Id="rId6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4.png"/><Relationship Id="rId3" Type="http://schemas.openxmlformats.org/officeDocument/2006/relationships/image" Target="../media/image62.sv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6.png"/><Relationship Id="rId3" Type="http://schemas.openxmlformats.org/officeDocument/2006/relationships/image" Target="../media/image63.svg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4.png"/><Relationship Id="rId3" Type="http://schemas.openxmlformats.org/officeDocument/2006/relationships/image" Target="../media/image65.sv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4.png"/><Relationship Id="rId3" Type="http://schemas.openxmlformats.org/officeDocument/2006/relationships/image" Target="../media/image66.sv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7.png"/><Relationship Id="rId3" Type="http://schemas.openxmlformats.org/officeDocument/2006/relationships/image" Target="../media/image68.svg"/><Relationship Id="rId4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7.png"/><Relationship Id="rId3" Type="http://schemas.openxmlformats.org/officeDocument/2006/relationships/image" Target="../media/image69.svg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7.png"/><Relationship Id="rId3" Type="http://schemas.openxmlformats.org/officeDocument/2006/relationships/image" Target="../media/image70.svg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3A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874EA0"/>
                </a:solidFill>
                <a:latin typeface="Segoe UI Black"/>
              </a:rPr>
              <a:t>15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2304288"/>
            <a:ext cx="8503920" cy="19202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600" b="0">
                <a:solidFill>
                  <a:srgbClr val="FFFFFF"/>
                </a:solidFill>
                <a:latin typeface="Segoe UI Semibold"/>
              </a:rPr>
              <a:t>Dynamic Programming I: The Elements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29844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tpart"/>
          <p:cNvSpPr txBox="1"/>
          <p:nvPr/>
        </p:nvSpPr>
        <p:spPr>
          <a:xfrm>
            <a:off x="658368" y="1517904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DAC8E1"/>
                </a:solidFill>
                <a:latin typeface="Segoe UI"/>
              </a:rPr>
              <a:t>PART IV  ·  THE DESIGN PARADIGMS</a:t>
            </a:r>
          </a:p>
        </p:txBody>
      </p:sp>
      <p:sp>
        <p:nvSpPr>
          <p:cNvPr id="6" name="!!tch"/>
          <p:cNvSpPr txBox="1"/>
          <p:nvPr/>
        </p:nvSpPr>
        <p:spPr>
          <a:xfrm>
            <a:off x="658368" y="186537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DAC8E1"/>
                </a:solidFill>
                <a:latin typeface="Segoe UI"/>
              </a:rPr>
              <a:t>CHAPTER 15  ·  WEEK 11</a:t>
            </a:r>
          </a:p>
        </p:txBody>
      </p:sp>
      <p:sp>
        <p:nvSpPr>
          <p:cNvPr id="7" name="!!tsub"/>
          <p:cNvSpPr txBox="1"/>
          <p:nvPr/>
        </p:nvSpPr>
        <p:spPr>
          <a:xfrm>
            <a:off x="658368" y="4315968"/>
            <a:ext cx="85039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4D8EA"/>
                </a:solidFill>
                <a:latin typeface="Segoe UI"/>
              </a:rPr>
              <a:t>Design, Proof and Measurement</a:t>
            </a:r>
          </a:p>
        </p:txBody>
      </p:sp>
      <p:sp>
        <p:nvSpPr>
          <p:cNvPr id="8" name="!!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285232"/>
            <a:ext cx="12191695" cy="1572767"/>
          </a:xfrm>
          <a:prstGeom prst="rect">
            <a:avLst/>
          </a:prstGeom>
          <a:solidFill>
            <a:srgbClr val="58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ab"/>
          <p:cNvSpPr txBox="1"/>
          <p:nvPr/>
        </p:nvSpPr>
        <p:spPr>
          <a:xfrm>
            <a:off x="658368" y="554126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C0AEC7"/>
                </a:solidFill>
                <a:latin typeface="Segoe UI"/>
              </a:rPr>
              <a:t>LECTURER</a:t>
            </a:r>
          </a:p>
        </p:txBody>
      </p:sp>
      <p:sp>
        <p:nvSpPr>
          <p:cNvPr id="10" name="!!author"/>
          <p:cNvSpPr txBox="1"/>
          <p:nvPr/>
        </p:nvSpPr>
        <p:spPr>
          <a:xfrm>
            <a:off x="658368" y="577900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Dr. Mustafa Hameed</a:t>
            </a:r>
          </a:p>
        </p:txBody>
      </p:sp>
      <p:sp>
        <p:nvSpPr>
          <p:cNvPr id="11" name="!!dept"/>
          <p:cNvSpPr txBox="1"/>
          <p:nvPr/>
        </p:nvSpPr>
        <p:spPr>
          <a:xfrm>
            <a:off x="658368" y="6181344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0C3D6"/>
                </a:solidFill>
                <a:latin typeface="Segoe UI"/>
              </a:rPr>
              <a:t>Department of Information Technology  ·  BSIT · Fall 2026</a:t>
            </a:r>
          </a:p>
        </p:txBody>
      </p:sp>
      <p:sp>
        <p:nvSpPr>
          <p:cNvPr id="12" name="!!uni"/>
          <p:cNvSpPr txBox="1"/>
          <p:nvPr/>
        </p:nvSpPr>
        <p:spPr>
          <a:xfrm>
            <a:off x="5205818" y="568756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60">
                <a:solidFill>
                  <a:srgbClr val="FFFFFF"/>
                </a:solidFill>
                <a:latin typeface="Segoe UI"/>
              </a:rPr>
              <a:t>THE ISLAMIA UNIVERSITY OF BAHAWALPUR</a:t>
            </a:r>
          </a:p>
        </p:txBody>
      </p:sp>
      <p:sp>
        <p:nvSpPr>
          <p:cNvPr id="13" name="!!uni2"/>
          <p:cNvSpPr txBox="1"/>
          <p:nvPr/>
        </p:nvSpPr>
        <p:spPr>
          <a:xfrm>
            <a:off x="5205818" y="596188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0AEC7"/>
                </a:solidFill>
                <a:latin typeface="Segoe UI"/>
              </a:rPr>
              <a:t>Bahawalpur, Pakistan</a:t>
            </a:r>
          </a:p>
        </p:txBody>
      </p:sp>
      <p:pic>
        <p:nvPicPr>
          <p:cNvPr id="14" name="!!logo-iub-logo-white" descr="The Islamia University of Bahawalp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498" y="5486400"/>
            <a:ext cx="904084" cy="896112"/>
          </a:xfrm>
          <a:prstGeom prst="rect">
            <a:avLst/>
          </a:prstGeom>
        </p:spPr>
      </p:pic>
      <p:pic>
        <p:nvPicPr>
          <p:cNvPr id="15" name="!!logo-dit-logo" descr="Department of Information Technolog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614" y="5486400"/>
            <a:ext cx="869712" cy="896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Where this chapter sits</a:t>
            </a:r>
          </a:p>
        </p:txBody>
      </p:sp>
      <p:pic>
        <p:nvPicPr>
          <p:cNvPr id="3" name="!!kicker-icon" descr="map-signs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 COURSE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121     </a:t>
            </a:r>
            <a:fld id="{01258D24-45FC-4999-ABF8-A9216672B0B7}" type="slidenum">
              <a:rPr lang="en-GB" sz="1000">
                <a:solidFill>
                  <a:srgbClr val="8795A1"/>
                </a:solidFill>
                <a:latin typeface="Segoe UI"/>
              </a:rPr>
              <a:t>2</a:t>
            </a:fld>
          </a:p>
        </p:txBody>
      </p:sp>
      <p:sp>
        <p:nvSpPr>
          <p:cNvPr id="7" name="!!rp1"/>
          <p:cNvSpPr txBox="1"/>
          <p:nvPr/>
        </p:nvSpPr>
        <p:spPr>
          <a:xfrm>
            <a:off x="777240" y="1755648"/>
            <a:ext cx="15120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</a:t>
            </a:r>
          </a:p>
        </p:txBody>
      </p:sp>
      <p:sp>
        <p:nvSpPr>
          <p:cNvPr id="8" name="!!rp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029967"/>
            <a:ext cx="1512020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rp2"/>
          <p:cNvSpPr txBox="1"/>
          <p:nvPr/>
        </p:nvSpPr>
        <p:spPr>
          <a:xfrm>
            <a:off x="2618444" y="1755648"/>
            <a:ext cx="190374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</a:t>
            </a:r>
          </a:p>
        </p:txBody>
      </p:sp>
      <p:sp>
        <p:nvSpPr>
          <p:cNvPr id="10" name="!!rp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18444" y="2029967"/>
            <a:ext cx="1903741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p3"/>
          <p:cNvSpPr txBox="1"/>
          <p:nvPr/>
        </p:nvSpPr>
        <p:spPr>
          <a:xfrm>
            <a:off x="4851369" y="1755648"/>
            <a:ext cx="15120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III</a:t>
            </a:r>
          </a:p>
        </p:txBody>
      </p:sp>
      <p:sp>
        <p:nvSpPr>
          <p:cNvPr id="12" name="!!rp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51369" y="2029967"/>
            <a:ext cx="1512020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rp4"/>
          <p:cNvSpPr txBox="1"/>
          <p:nvPr/>
        </p:nvSpPr>
        <p:spPr>
          <a:xfrm>
            <a:off x="6692573" y="1755648"/>
            <a:ext cx="182291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7A3A95"/>
                </a:solidFill>
                <a:latin typeface="Segoe UI"/>
              </a:rPr>
              <a:t>PART IV</a:t>
            </a:r>
          </a:p>
        </p:txBody>
      </p:sp>
      <p:sp>
        <p:nvSpPr>
          <p:cNvPr id="14" name="!!rpl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92573" y="2029967"/>
            <a:ext cx="1822916" cy="45720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rp5"/>
          <p:cNvSpPr txBox="1"/>
          <p:nvPr/>
        </p:nvSpPr>
        <p:spPr>
          <a:xfrm>
            <a:off x="8844673" y="1755648"/>
            <a:ext cx="112029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</a:t>
            </a:r>
          </a:p>
        </p:txBody>
      </p:sp>
      <p:sp>
        <p:nvSpPr>
          <p:cNvPr id="16" name="!!rpl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44673" y="2029967"/>
            <a:ext cx="1120299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p6"/>
          <p:cNvSpPr txBox="1"/>
          <p:nvPr/>
        </p:nvSpPr>
        <p:spPr>
          <a:xfrm>
            <a:off x="10294156" y="1755648"/>
            <a:ext cx="112029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VI</a:t>
            </a:r>
          </a:p>
        </p:txBody>
      </p:sp>
      <p:sp>
        <p:nvSpPr>
          <p:cNvPr id="18" name="!!rpl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94156" y="2029967"/>
            <a:ext cx="1120299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508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dotn1"/>
          <p:cNvSpPr txBox="1"/>
          <p:nvPr/>
        </p:nvSpPr>
        <p:spPr>
          <a:xfrm>
            <a:off x="71706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1" name="!!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00229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dotn2"/>
          <p:cNvSpPr txBox="1"/>
          <p:nvPr/>
        </p:nvSpPr>
        <p:spPr>
          <a:xfrm>
            <a:off x="110878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!!do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91950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dotn3"/>
          <p:cNvSpPr txBox="1"/>
          <p:nvPr/>
        </p:nvSpPr>
        <p:spPr>
          <a:xfrm>
            <a:off x="150051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!!do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83671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dotn4"/>
          <p:cNvSpPr txBox="1"/>
          <p:nvPr/>
        </p:nvSpPr>
        <p:spPr>
          <a:xfrm>
            <a:off x="189223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!!dot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49712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dotn5"/>
          <p:cNvSpPr txBox="1"/>
          <p:nvPr/>
        </p:nvSpPr>
        <p:spPr>
          <a:xfrm>
            <a:off x="255827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!!dot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1433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dotn6"/>
          <p:cNvSpPr txBox="1"/>
          <p:nvPr/>
        </p:nvSpPr>
        <p:spPr>
          <a:xfrm>
            <a:off x="294999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1" name="!!dot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3154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dotn7"/>
          <p:cNvSpPr txBox="1"/>
          <p:nvPr/>
        </p:nvSpPr>
        <p:spPr>
          <a:xfrm>
            <a:off x="334171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3" name="!!dot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24875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!!dotn8"/>
          <p:cNvSpPr txBox="1"/>
          <p:nvPr/>
        </p:nvSpPr>
        <p:spPr>
          <a:xfrm>
            <a:off x="373343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5" name="!!dot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16596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dotn9"/>
          <p:cNvSpPr txBox="1"/>
          <p:nvPr/>
        </p:nvSpPr>
        <p:spPr>
          <a:xfrm>
            <a:off x="412515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37" name="!!dot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82637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dotn10"/>
          <p:cNvSpPr txBox="1"/>
          <p:nvPr/>
        </p:nvSpPr>
        <p:spPr>
          <a:xfrm>
            <a:off x="47911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39" name="!!dot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74358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!!dotn11"/>
          <p:cNvSpPr txBox="1"/>
          <p:nvPr/>
        </p:nvSpPr>
        <p:spPr>
          <a:xfrm>
            <a:off x="518291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41" name="!!dot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6079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dotn12"/>
          <p:cNvSpPr txBox="1"/>
          <p:nvPr/>
        </p:nvSpPr>
        <p:spPr>
          <a:xfrm>
            <a:off x="557463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43" name="!!dot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57800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dotn13"/>
          <p:cNvSpPr txBox="1"/>
          <p:nvPr/>
        </p:nvSpPr>
        <p:spPr>
          <a:xfrm>
            <a:off x="596636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45" name="!!dot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3841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!!dotn14"/>
          <p:cNvSpPr txBox="1"/>
          <p:nvPr/>
        </p:nvSpPr>
        <p:spPr>
          <a:xfrm>
            <a:off x="663240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47" name="!!dot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24706" y="2112264"/>
            <a:ext cx="566928" cy="566928"/>
          </a:xfrm>
          <a:prstGeom prst="ellipse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dotn15"/>
          <p:cNvSpPr txBox="1"/>
          <p:nvPr/>
        </p:nvSpPr>
        <p:spPr>
          <a:xfrm>
            <a:off x="7124706" y="2240280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15</a:t>
            </a:r>
          </a:p>
        </p:txBody>
      </p:sp>
      <p:sp>
        <p:nvSpPr>
          <p:cNvPr id="49" name="!!dot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8179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!!dotn16"/>
          <p:cNvSpPr txBox="1"/>
          <p:nvPr/>
        </p:nvSpPr>
        <p:spPr>
          <a:xfrm>
            <a:off x="772673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16</a:t>
            </a:r>
          </a:p>
        </p:txBody>
      </p:sp>
      <p:sp>
        <p:nvSpPr>
          <p:cNvPr id="51" name="!!dot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09900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!!dotn17"/>
          <p:cNvSpPr txBox="1"/>
          <p:nvPr/>
        </p:nvSpPr>
        <p:spPr>
          <a:xfrm>
            <a:off x="811846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17</a:t>
            </a:r>
          </a:p>
        </p:txBody>
      </p:sp>
      <p:sp>
        <p:nvSpPr>
          <p:cNvPr id="53" name="!!dot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75941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!!dotn18"/>
          <p:cNvSpPr txBox="1"/>
          <p:nvPr/>
        </p:nvSpPr>
        <p:spPr>
          <a:xfrm>
            <a:off x="878450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18</a:t>
            </a:r>
          </a:p>
        </p:txBody>
      </p:sp>
      <p:sp>
        <p:nvSpPr>
          <p:cNvPr id="55" name="!!dot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67662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!!dotn19"/>
          <p:cNvSpPr txBox="1"/>
          <p:nvPr/>
        </p:nvSpPr>
        <p:spPr>
          <a:xfrm>
            <a:off x="917622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19</a:t>
            </a:r>
          </a:p>
        </p:txBody>
      </p:sp>
      <p:sp>
        <p:nvSpPr>
          <p:cNvPr id="57" name="!!dot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59383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!!dotn20"/>
          <p:cNvSpPr txBox="1"/>
          <p:nvPr/>
        </p:nvSpPr>
        <p:spPr>
          <a:xfrm>
            <a:off x="956794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20</a:t>
            </a:r>
          </a:p>
        </p:txBody>
      </p:sp>
      <p:sp>
        <p:nvSpPr>
          <p:cNvPr id="59" name="!!dot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2542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dotn21"/>
          <p:cNvSpPr txBox="1"/>
          <p:nvPr/>
        </p:nvSpPr>
        <p:spPr>
          <a:xfrm>
            <a:off x="1023398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21</a:t>
            </a:r>
          </a:p>
        </p:txBody>
      </p:sp>
      <p:sp>
        <p:nvSpPr>
          <p:cNvPr id="61" name="!!dot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17145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!!dotn22"/>
          <p:cNvSpPr txBox="1"/>
          <p:nvPr/>
        </p:nvSpPr>
        <p:spPr>
          <a:xfrm>
            <a:off x="1062570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22</a:t>
            </a:r>
          </a:p>
        </p:txBody>
      </p:sp>
      <p:sp>
        <p:nvSpPr>
          <p:cNvPr id="63" name="!!dot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08866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!!dotn23"/>
          <p:cNvSpPr txBox="1"/>
          <p:nvPr/>
        </p:nvSpPr>
        <p:spPr>
          <a:xfrm>
            <a:off x="1101742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23</a:t>
            </a:r>
          </a:p>
        </p:txBody>
      </p:sp>
      <p:sp>
        <p:nvSpPr>
          <p:cNvPr id="65" name="!!dotlabel"/>
          <p:cNvSpPr txBox="1"/>
          <p:nvPr/>
        </p:nvSpPr>
        <p:spPr>
          <a:xfrm>
            <a:off x="4482090" y="279806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A3A95"/>
                </a:solidFill>
                <a:latin typeface="Segoe UI"/>
              </a:rPr>
              <a:t>Dynamic Programming I: The Elements</a:t>
            </a:r>
          </a:p>
        </p:txBody>
      </p:sp>
      <p:sp>
        <p:nvSpPr>
          <p:cNvPr id="66" name="!!dep-BUILD"/>
          <p:cNvSpPr txBox="1"/>
          <p:nvPr/>
        </p:nvSpPr>
        <p:spPr>
          <a:xfrm>
            <a:off x="658368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BUILDS ON</a:t>
            </a:r>
          </a:p>
        </p:txBody>
      </p:sp>
      <p:sp>
        <p:nvSpPr>
          <p:cNvPr id="67" name="!!chipBU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9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8" name="!!chipbBU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64008" cy="420624"/>
          </a:xfrm>
          <a:prstGeom prst="rect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!!chiptBU5"/>
          <p:cNvSpPr txBox="1"/>
          <p:nvPr/>
        </p:nvSpPr>
        <p:spPr>
          <a:xfrm>
            <a:off x="859536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6794"/>
                </a:solidFill>
                <a:latin typeface="Segoe UI"/>
              </a:rPr>
              <a:t>Ch 5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Recurrences I: Substitution and Recursion Trees</a:t>
            </a:r>
          </a:p>
        </p:txBody>
      </p:sp>
      <p:sp>
        <p:nvSpPr>
          <p:cNvPr id="70" name="!!chipBU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2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!!chipbBU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64008" cy="420624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!!chiptBU14"/>
          <p:cNvSpPr txBox="1"/>
          <p:nvPr/>
        </p:nvSpPr>
        <p:spPr>
          <a:xfrm>
            <a:off x="859536" y="438912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3A95"/>
                </a:solidFill>
                <a:latin typeface="Segoe UI"/>
              </a:rPr>
              <a:t>Ch 14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Greedy Algorithms</a:t>
            </a:r>
          </a:p>
        </p:txBody>
      </p:sp>
      <p:sp>
        <p:nvSpPr>
          <p:cNvPr id="73" name="!!dep-USED "/>
          <p:cNvSpPr txBox="1"/>
          <p:nvPr/>
        </p:nvSpPr>
        <p:spPr>
          <a:xfrm>
            <a:off x="6324447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USED LATER IN</a:t>
            </a:r>
          </a:p>
        </p:txBody>
      </p:sp>
      <p:sp>
        <p:nvSpPr>
          <p:cNvPr id="74" name="!!chipUS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2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5" name="!!chipbUS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64008" cy="420624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!!chiptUS16"/>
          <p:cNvSpPr txBox="1"/>
          <p:nvPr/>
        </p:nvSpPr>
        <p:spPr>
          <a:xfrm>
            <a:off x="6525615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3A95"/>
                </a:solidFill>
                <a:latin typeface="Segoe UI"/>
              </a:rPr>
              <a:t>Ch 16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Dynamic Programming II: Classic Problems</a:t>
            </a:r>
          </a:p>
        </p:txBody>
      </p:sp>
      <p:sp>
        <p:nvSpPr>
          <p:cNvPr id="77" name="!!chipUS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297680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7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!!chipbUS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297680"/>
            <a:ext cx="64008" cy="420624"/>
          </a:xfrm>
          <a:prstGeom prst="rect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9" name="!!chiptUS20"/>
          <p:cNvSpPr txBox="1"/>
          <p:nvPr/>
        </p:nvSpPr>
        <p:spPr>
          <a:xfrm>
            <a:off x="6525615" y="438912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7964"/>
                </a:solidFill>
                <a:latin typeface="Segoe UI"/>
              </a:rPr>
              <a:t>Ch 20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Shortest Paths: Single-Source and All-Pairs</a:t>
            </a:r>
          </a:p>
        </p:txBody>
      </p:sp>
      <p:sp>
        <p:nvSpPr>
          <p:cNvPr id="8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68911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you will be able to do</a:t>
            </a:r>
          </a:p>
        </p:txBody>
      </p:sp>
      <p:pic>
        <p:nvPicPr>
          <p:cNvPr id="3" name="!!kicker-icon" descr="bullseye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LEARNING OUTCOMES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121     </a:t>
            </a:r>
            <a:fld id="{CB89023D-9FBE-4064-ABF3-D116352EB10E}" type="slidenum">
              <a:rPr lang="en-GB" sz="1000">
                <a:solidFill>
                  <a:srgbClr val="8795A1"/>
                </a:solidFill>
                <a:latin typeface="Segoe UI"/>
              </a:rPr>
              <a:t>3</a:t>
            </a:fld>
          </a:p>
        </p:txBody>
      </p:sp>
      <p:sp>
        <p:nvSpPr>
          <p:cNvPr id="7" name="!!olead"/>
          <p:cNvSpPr txBox="1"/>
          <p:nvPr/>
        </p:nvSpPr>
        <p:spPr>
          <a:xfrm>
            <a:off x="658368" y="1737360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F6F7B"/>
                </a:solidFill>
                <a:latin typeface="Segoe UI"/>
              </a:rPr>
              <a:t>By the end of this chapter you will be able to:</a:t>
            </a:r>
          </a:p>
        </p:txBody>
      </p:sp>
      <p:sp>
        <p:nvSpPr>
          <p:cNvPr id="8" name="!!o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21991"/>
            <a:ext cx="420624" cy="420624"/>
          </a:xfrm>
          <a:prstGeom prst="ellipse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obn0"/>
          <p:cNvSpPr txBox="1"/>
          <p:nvPr/>
        </p:nvSpPr>
        <p:spPr>
          <a:xfrm>
            <a:off x="658368" y="228142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!!ot0"/>
          <p:cNvSpPr txBox="1"/>
          <p:nvPr/>
        </p:nvSpPr>
        <p:spPr>
          <a:xfrm>
            <a:off x="1316736" y="2212848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A3A95"/>
                </a:solidFill>
                <a:latin typeface="Segoe UI"/>
              </a:rPr>
              <a:t>State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two properties a problem must have for dynamic programming to apply,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test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 given problem for them.</a:t>
            </a:r>
          </a:p>
        </p:txBody>
      </p:sp>
      <p:sp>
        <p:nvSpPr>
          <p:cNvPr id="11" name="!!o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70555"/>
            <a:ext cx="420624" cy="420624"/>
          </a:xfrm>
          <a:prstGeom prst="ellipse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obn1"/>
          <p:cNvSpPr txBox="1"/>
          <p:nvPr/>
        </p:nvSpPr>
        <p:spPr>
          <a:xfrm>
            <a:off x="658368" y="3129991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!!ot1"/>
          <p:cNvSpPr txBox="1"/>
          <p:nvPr/>
        </p:nvSpPr>
        <p:spPr>
          <a:xfrm>
            <a:off x="1316736" y="3061411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A3A95"/>
                </a:solidFill>
                <a:latin typeface="Segoe UI"/>
              </a:rPr>
              <a:t>Distinguish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overlapping subproblems from the independent subproblems of divide-and-conquer.</a:t>
            </a:r>
          </a:p>
        </p:txBody>
      </p:sp>
      <p:sp>
        <p:nvSpPr>
          <p:cNvPr id="14" name="!!o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919118"/>
            <a:ext cx="420624" cy="420624"/>
          </a:xfrm>
          <a:prstGeom prst="ellipse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obn2"/>
          <p:cNvSpPr txBox="1"/>
          <p:nvPr/>
        </p:nvSpPr>
        <p:spPr>
          <a:xfrm>
            <a:off x="658368" y="3978554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!!ot2"/>
          <p:cNvSpPr txBox="1"/>
          <p:nvPr/>
        </p:nvSpPr>
        <p:spPr>
          <a:xfrm>
            <a:off x="1316736" y="3909974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A3A95"/>
                </a:solidFill>
                <a:latin typeface="Segoe UI"/>
              </a:rPr>
              <a:t>Convert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 naive recursion into a memoised and then a bottom-up solution,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compare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three </a:t>
            </a:r>
            <a:r>
              <a:rPr sz="2100" b="0" i="1">
                <a:solidFill>
                  <a:srgbClr val="1C252B"/>
                </a:solidFill>
                <a:latin typeface="Segoe UI"/>
              </a:rPr>
              <a:t>(CLO-6)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7" name="!!o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767681"/>
            <a:ext cx="420624" cy="420624"/>
          </a:xfrm>
          <a:prstGeom prst="ellipse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obn3"/>
          <p:cNvSpPr txBox="1"/>
          <p:nvPr/>
        </p:nvSpPr>
        <p:spPr>
          <a:xfrm>
            <a:off x="658368" y="4827117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9" name="!!ot3"/>
          <p:cNvSpPr txBox="1"/>
          <p:nvPr/>
        </p:nvSpPr>
        <p:spPr>
          <a:xfrm>
            <a:off x="1316736" y="4758537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A3A95"/>
                </a:solidFill>
                <a:latin typeface="Segoe UI"/>
              </a:rPr>
              <a:t>Derive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running time of a dynamic program from the number of subproblems and the work per subproblem.</a:t>
            </a:r>
          </a:p>
        </p:txBody>
      </p:sp>
      <p:sp>
        <p:nvSpPr>
          <p:cNvPr id="20" name="!!o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16244"/>
            <a:ext cx="420624" cy="420624"/>
          </a:xfrm>
          <a:prstGeom prst="ellipse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obn4"/>
          <p:cNvSpPr txBox="1"/>
          <p:nvPr/>
        </p:nvSpPr>
        <p:spPr>
          <a:xfrm>
            <a:off x="658368" y="567568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2" name="!!ot4"/>
          <p:cNvSpPr txBox="1"/>
          <p:nvPr/>
        </p:nvSpPr>
        <p:spPr>
          <a:xfrm>
            <a:off x="1316736" y="5657392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A3A95"/>
                </a:solidFill>
                <a:latin typeface="Segoe UI"/>
              </a:rPr>
              <a:t>Decide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between greedy and dynamic programming for a stated problem.</a:t>
            </a:r>
          </a:p>
        </p:txBody>
      </p:sp>
      <p:sp>
        <p:nvSpPr>
          <p:cNvPr id="5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03367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Vocabulary for this chapter</a:t>
            </a:r>
          </a:p>
        </p:txBody>
      </p:sp>
      <p:pic>
        <p:nvPicPr>
          <p:cNvPr id="3" name="!!kicker-icon" descr="tags-8E44AD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7256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8E44AD"/>
                </a:solidFill>
                <a:latin typeface="Segoe UI"/>
              </a:rPr>
              <a:t>KEY TERMS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121     </a:t>
            </a:r>
            <a:fld id="{DA4A578A-F299-4C3A-A851-18046EC786AE}" type="slidenum">
              <a:rPr lang="en-GB" sz="1000">
                <a:solidFill>
                  <a:srgbClr val="8795A1"/>
                </a:solidFill>
                <a:latin typeface="Segoe UI"/>
              </a:rPr>
              <a:t>4</a:t>
            </a:fld>
          </a:p>
        </p:txBody>
      </p:sp>
      <p:sp>
        <p:nvSpPr>
          <p:cNvPr id="7" name="!!term-dynamic progr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847088"/>
            <a:ext cx="2657343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ermd-dynamic progr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termt-dynamic progra"/>
          <p:cNvSpPr txBox="1"/>
          <p:nvPr/>
        </p:nvSpPr>
        <p:spPr>
          <a:xfrm>
            <a:off x="950976" y="1955291"/>
            <a:ext cx="2474463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dynamic programming</a:t>
            </a:r>
          </a:p>
        </p:txBody>
      </p:sp>
      <p:sp>
        <p:nvSpPr>
          <p:cNvPr id="10" name="!!term-optimal subst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62015" y="1847088"/>
            <a:ext cx="2450338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termd-optimal subst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90031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termt-optimal substr"/>
          <p:cNvSpPr txBox="1"/>
          <p:nvPr/>
        </p:nvSpPr>
        <p:spPr>
          <a:xfrm>
            <a:off x="3754623" y="1955291"/>
            <a:ext cx="2267458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optimal substructure</a:t>
            </a:r>
          </a:p>
        </p:txBody>
      </p:sp>
      <p:sp>
        <p:nvSpPr>
          <p:cNvPr id="13" name="!!term-overlapping su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58657" y="1847088"/>
            <a:ext cx="2921143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termd-overlapping su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86673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termt-overlapping su"/>
          <p:cNvSpPr txBox="1"/>
          <p:nvPr/>
        </p:nvSpPr>
        <p:spPr>
          <a:xfrm>
            <a:off x="6351265" y="1955291"/>
            <a:ext cx="2738263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overlapping subproblems</a:t>
            </a:r>
          </a:p>
        </p:txBody>
      </p:sp>
      <p:sp>
        <p:nvSpPr>
          <p:cNvPr id="16" name="!!term-memoisa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26105" y="1847088"/>
            <a:ext cx="1702743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termd-memoisa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54121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termt-memoisation"/>
          <p:cNvSpPr txBox="1"/>
          <p:nvPr/>
        </p:nvSpPr>
        <p:spPr>
          <a:xfrm>
            <a:off x="9418713" y="1955291"/>
            <a:ext cx="1519863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memoisation</a:t>
            </a:r>
          </a:p>
        </p:txBody>
      </p:sp>
      <p:sp>
        <p:nvSpPr>
          <p:cNvPr id="19" name="!!term-top-dow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880"/>
            <a:ext cx="1402778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termd-top-dow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termt-top-down"/>
          <p:cNvSpPr txBox="1"/>
          <p:nvPr/>
        </p:nvSpPr>
        <p:spPr>
          <a:xfrm>
            <a:off x="950976" y="2577084"/>
            <a:ext cx="1219898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top-down</a:t>
            </a:r>
          </a:p>
        </p:txBody>
      </p:sp>
      <p:sp>
        <p:nvSpPr>
          <p:cNvPr id="22" name="!!term-bottom-u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07450" y="2468880"/>
            <a:ext cx="1507602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termd-bottom-u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35466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termt-bottom-up"/>
          <p:cNvSpPr txBox="1"/>
          <p:nvPr/>
        </p:nvSpPr>
        <p:spPr>
          <a:xfrm>
            <a:off x="2500058" y="2577084"/>
            <a:ext cx="1324722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bottom-up</a:t>
            </a:r>
          </a:p>
        </p:txBody>
      </p:sp>
      <p:sp>
        <p:nvSpPr>
          <p:cNvPr id="25" name="!!term-subproblem gr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61357" y="2468880"/>
            <a:ext cx="2242012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termd-subproblem gr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89373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!!termt-subproblem gra"/>
          <p:cNvSpPr txBox="1"/>
          <p:nvPr/>
        </p:nvSpPr>
        <p:spPr>
          <a:xfrm>
            <a:off x="4153965" y="2577084"/>
            <a:ext cx="2059132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subproblem graph</a:t>
            </a:r>
          </a:p>
        </p:txBody>
      </p:sp>
      <p:sp>
        <p:nvSpPr>
          <p:cNvPr id="28" name="!!term-rod cutt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673" y="2468880"/>
            <a:ext cx="1517935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termd-rod cutt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7689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termt-rod cutting"/>
          <p:cNvSpPr txBox="1"/>
          <p:nvPr/>
        </p:nvSpPr>
        <p:spPr>
          <a:xfrm>
            <a:off x="6542281" y="2577084"/>
            <a:ext cx="1335055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rod cutting</a:t>
            </a:r>
          </a:p>
        </p:txBody>
      </p:sp>
      <p:sp>
        <p:nvSpPr>
          <p:cNvPr id="31" name="!!term-reconstruc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13912" y="2468880"/>
            <a:ext cx="1838793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termd-reconstruc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1928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termt-reconstruction"/>
          <p:cNvSpPr txBox="1"/>
          <p:nvPr/>
        </p:nvSpPr>
        <p:spPr>
          <a:xfrm>
            <a:off x="8206520" y="2577084"/>
            <a:ext cx="1655913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reconstruction</a:t>
            </a:r>
          </a:p>
        </p:txBody>
      </p:sp>
      <p:sp>
        <p:nvSpPr>
          <p:cNvPr id="34" name="!!term-tab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99009" y="2468880"/>
            <a:ext cx="92361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!!termd-tab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27025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termt-table"/>
          <p:cNvSpPr txBox="1"/>
          <p:nvPr/>
        </p:nvSpPr>
        <p:spPr>
          <a:xfrm>
            <a:off x="10191617" y="2577084"/>
            <a:ext cx="74073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table</a:t>
            </a:r>
          </a:p>
        </p:txBody>
      </p:sp>
      <p:sp>
        <p:nvSpPr>
          <p:cNvPr id="37" name="!!termnote"/>
          <p:cNvSpPr txBox="1"/>
          <p:nvPr/>
        </p:nvSpPr>
        <p:spPr>
          <a:xfrm>
            <a:off x="658368" y="329184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F6F7B"/>
                </a:solidFill>
                <a:latin typeface="Segoe UI"/>
              </a:rPr>
              <a:t>Each term is defined where it first matters — not here.</a:t>
            </a:r>
          </a:p>
        </p:txBody>
      </p:sp>
      <p:sp>
        <p:nvSpPr>
          <p:cNvPr id="3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37822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In this chapter</a:t>
            </a:r>
          </a:p>
        </p:txBody>
      </p:sp>
      <p:pic>
        <p:nvPicPr>
          <p:cNvPr id="3" name="!!kicker-icon" descr="list-ul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6883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IN THIS CHAPTER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pp. 121–128     </a:t>
            </a:r>
            <a:fld id="{22DFF826-83A6-459A-A1A1-57673E337E4F}" type="slidenum">
              <a:rPr lang="en-GB" sz="1000">
                <a:solidFill>
                  <a:srgbClr val="8795A1"/>
                </a:solidFill>
                <a:latin typeface="Segoe UI"/>
              </a:rPr>
              <a:t>5</a:t>
            </a:fld>
          </a:p>
        </p:txBody>
      </p:sp>
      <p:sp>
        <p:nvSpPr>
          <p:cNvPr id="7" name="!!ag0" descr="Go to section 15.1 The Two Conditions">
            <a:hlinkClick action="ppaction://hlinksldjump" r:id="rId5"/>
          </p:cNvPr>
          <p:cNvSpPr/>
          <p:nvPr/>
        </p:nvSpPr>
        <p:spPr>
          <a:xfrm>
            <a:off x="658368" y="177393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ag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73936"/>
            <a:ext cx="64008" cy="56692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agn0"/>
          <p:cNvSpPr txBox="1"/>
          <p:nvPr/>
        </p:nvSpPr>
        <p:spPr>
          <a:xfrm>
            <a:off x="932688" y="192024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A3A95"/>
                </a:solidFill>
                <a:latin typeface="Segoe UI Semibold"/>
              </a:rPr>
              <a:t>15.1</a:t>
            </a:r>
          </a:p>
        </p:txBody>
      </p:sp>
      <p:sp>
        <p:nvSpPr>
          <p:cNvPr id="10" name="!!agt0"/>
          <p:cNvSpPr txBox="1"/>
          <p:nvPr/>
        </p:nvSpPr>
        <p:spPr>
          <a:xfrm>
            <a:off x="1847088" y="192024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The Two Conditions</a:t>
            </a:r>
          </a:p>
        </p:txBody>
      </p:sp>
      <p:sp>
        <p:nvSpPr>
          <p:cNvPr id="11" name="!!agp0"/>
          <p:cNvSpPr txBox="1"/>
          <p:nvPr/>
        </p:nvSpPr>
        <p:spPr>
          <a:xfrm>
            <a:off x="9795967" y="19476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121  ›</a:t>
            </a:r>
          </a:p>
        </p:txBody>
      </p:sp>
      <p:sp>
        <p:nvSpPr>
          <p:cNvPr id="12" name="!!ag1" descr="Go to section 15.2 Rod Cutting">
            <a:hlinkClick action="ppaction://hlinksldjump" r:id="rId6"/>
          </p:cNvPr>
          <p:cNvSpPr/>
          <p:nvPr/>
        </p:nvSpPr>
        <p:spPr>
          <a:xfrm>
            <a:off x="658368" y="2414015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ag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14015"/>
            <a:ext cx="64008" cy="56692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agn1"/>
          <p:cNvSpPr txBox="1"/>
          <p:nvPr/>
        </p:nvSpPr>
        <p:spPr>
          <a:xfrm>
            <a:off x="932688" y="256032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A3A95"/>
                </a:solidFill>
                <a:latin typeface="Segoe UI Semibold"/>
              </a:rPr>
              <a:t>15.2</a:t>
            </a:r>
          </a:p>
        </p:txBody>
      </p:sp>
      <p:sp>
        <p:nvSpPr>
          <p:cNvPr id="15" name="!!agt1"/>
          <p:cNvSpPr txBox="1"/>
          <p:nvPr/>
        </p:nvSpPr>
        <p:spPr>
          <a:xfrm>
            <a:off x="1847088" y="256032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Rod Cutting</a:t>
            </a:r>
          </a:p>
        </p:txBody>
      </p:sp>
      <p:sp>
        <p:nvSpPr>
          <p:cNvPr id="16" name="!!agp1"/>
          <p:cNvSpPr txBox="1"/>
          <p:nvPr/>
        </p:nvSpPr>
        <p:spPr>
          <a:xfrm>
            <a:off x="9795967" y="2587751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122  ›</a:t>
            </a:r>
          </a:p>
        </p:txBody>
      </p:sp>
      <p:sp>
        <p:nvSpPr>
          <p:cNvPr id="17" name="!!ag2" descr="Go to section 15.3 Two Ways to Collect the Saving">
            <a:hlinkClick action="ppaction://hlinksldjump" r:id="rId7"/>
          </p:cNvPr>
          <p:cNvSpPr/>
          <p:nvPr/>
        </p:nvSpPr>
        <p:spPr>
          <a:xfrm>
            <a:off x="658368" y="305409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ag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54096"/>
            <a:ext cx="64008" cy="56692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agn2"/>
          <p:cNvSpPr txBox="1"/>
          <p:nvPr/>
        </p:nvSpPr>
        <p:spPr>
          <a:xfrm>
            <a:off x="932688" y="320040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A3A95"/>
                </a:solidFill>
                <a:latin typeface="Segoe UI Semibold"/>
              </a:rPr>
              <a:t>15.3</a:t>
            </a:r>
          </a:p>
        </p:txBody>
      </p:sp>
      <p:sp>
        <p:nvSpPr>
          <p:cNvPr id="20" name="!!agt2"/>
          <p:cNvSpPr txBox="1"/>
          <p:nvPr/>
        </p:nvSpPr>
        <p:spPr>
          <a:xfrm>
            <a:off x="1847088" y="320040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Two Ways to Collect the Saving</a:t>
            </a:r>
          </a:p>
        </p:txBody>
      </p:sp>
      <p:sp>
        <p:nvSpPr>
          <p:cNvPr id="21" name="!!agp2"/>
          <p:cNvSpPr txBox="1"/>
          <p:nvPr/>
        </p:nvSpPr>
        <p:spPr>
          <a:xfrm>
            <a:off x="9795967" y="322783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123  ›</a:t>
            </a:r>
          </a:p>
        </p:txBody>
      </p:sp>
      <p:sp>
        <p:nvSpPr>
          <p:cNvPr id="22" name="!!ag3" descr="Go to section 15.4 Measured">
            <a:hlinkClick action="ppaction://hlinksldjump" r:id="rId8"/>
          </p:cNvPr>
          <p:cNvSpPr/>
          <p:nvPr/>
        </p:nvSpPr>
        <p:spPr>
          <a:xfrm>
            <a:off x="658368" y="369417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ag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94176"/>
            <a:ext cx="64008" cy="56692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agn3"/>
          <p:cNvSpPr txBox="1"/>
          <p:nvPr/>
        </p:nvSpPr>
        <p:spPr>
          <a:xfrm>
            <a:off x="932688" y="384048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A3A95"/>
                </a:solidFill>
                <a:latin typeface="Segoe UI Semibold"/>
              </a:rPr>
              <a:t>15.4</a:t>
            </a:r>
          </a:p>
        </p:txBody>
      </p:sp>
      <p:sp>
        <p:nvSpPr>
          <p:cNvPr id="25" name="!!agt3"/>
          <p:cNvSpPr txBox="1"/>
          <p:nvPr/>
        </p:nvSpPr>
        <p:spPr>
          <a:xfrm>
            <a:off x="1847088" y="384048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Measured</a:t>
            </a:r>
          </a:p>
        </p:txBody>
      </p:sp>
      <p:sp>
        <p:nvSpPr>
          <p:cNvPr id="26" name="!!agp3"/>
          <p:cNvSpPr txBox="1"/>
          <p:nvPr/>
        </p:nvSpPr>
        <p:spPr>
          <a:xfrm>
            <a:off x="9795967" y="386791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124  ›</a:t>
            </a:r>
          </a:p>
        </p:txBody>
      </p:sp>
      <p:sp>
        <p:nvSpPr>
          <p:cNvPr id="27" name="!!ag4" descr="Go to section 15.5 Greedy or Dynamic Programming?">
            <a:hlinkClick action="ppaction://hlinksldjump" r:id="rId9"/>
          </p:cNvPr>
          <p:cNvSpPr/>
          <p:nvPr/>
        </p:nvSpPr>
        <p:spPr>
          <a:xfrm>
            <a:off x="658368" y="433425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ag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334256"/>
            <a:ext cx="64008" cy="56692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agn4"/>
          <p:cNvSpPr txBox="1"/>
          <p:nvPr/>
        </p:nvSpPr>
        <p:spPr>
          <a:xfrm>
            <a:off x="932688" y="448056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A3A95"/>
                </a:solidFill>
                <a:latin typeface="Segoe UI Semibold"/>
              </a:rPr>
              <a:t>15.5</a:t>
            </a:r>
          </a:p>
        </p:txBody>
      </p:sp>
      <p:sp>
        <p:nvSpPr>
          <p:cNvPr id="30" name="!!agt4"/>
          <p:cNvSpPr txBox="1"/>
          <p:nvPr/>
        </p:nvSpPr>
        <p:spPr>
          <a:xfrm>
            <a:off x="1847088" y="448056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Greedy or Dynamic Programming?</a:t>
            </a:r>
          </a:p>
        </p:txBody>
      </p:sp>
      <p:sp>
        <p:nvSpPr>
          <p:cNvPr id="31" name="!!agp4"/>
          <p:cNvSpPr txBox="1"/>
          <p:nvPr/>
        </p:nvSpPr>
        <p:spPr>
          <a:xfrm>
            <a:off x="9795967" y="450799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125  ›</a:t>
            </a:r>
          </a:p>
        </p:txBody>
      </p:sp>
      <p:sp>
        <p:nvSpPr>
          <p:cNvPr id="3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72278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The Two Conditions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D7C4DF"/>
                </a:solidFill>
                <a:latin typeface="Segoe UI"/>
              </a:rPr>
              <a:t>SECTION 1 OF 5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15.1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A3A95"/>
                </a:solidFill>
                <a:latin typeface="Segoe UI"/>
              </a:rPr>
              <a:t>15.1   The Two Conditions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15.2   Rod Cutting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15.3   Two Ways to Collect the Saving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15.4   Measured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15.5   Greedy or Dynamic Programming?</a:t>
            </a:r>
          </a:p>
        </p:txBody>
      </p:sp>
      <p:sp>
        <p:nvSpPr>
          <p:cNvPr id="11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</a:t>
            </a:r>
          </a:p>
        </p:txBody>
      </p:sp>
      <p:sp>
        <p:nvSpPr>
          <p:cNvPr id="12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§15.1     </a:t>
            </a:r>
            <a:fld id="{7C7F3D22-6C36-4A38-9916-AFB9120A1594}" type="slidenum">
              <a:rPr lang="en-GB" sz="1000">
                <a:solidFill>
                  <a:srgbClr val="8795A1"/>
                </a:solidFill>
                <a:latin typeface="Segoe UI"/>
              </a:rPr>
              <a:t>6</a:t>
            </a:fld>
          </a:p>
        </p:txBody>
      </p:sp>
      <p:sp>
        <p:nvSpPr>
          <p:cNvPr id="1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406734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When Dynamic Programming Applies</a:t>
            </a:r>
          </a:p>
        </p:txBody>
      </p:sp>
      <p:pic>
        <p:nvPicPr>
          <p:cNvPr id="3" name="!!kicker-icon" descr="book-B35900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35900"/>
                </a:solidFill>
                <a:latin typeface="Segoe UI"/>
              </a:rPr>
              <a:t>DEFINITION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§15.1  ·  Handout p. 121     </a:t>
            </a:r>
            <a:fld id="{744C1F5E-EA3B-4990-8296-00BF2944F015}" type="slidenum">
              <a:rPr lang="en-GB" sz="1000">
                <a:solidFill>
                  <a:srgbClr val="8795A1"/>
                </a:solidFill>
                <a:latin typeface="Segoe UI"/>
              </a:rPr>
              <a:t>7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494887"/>
          </a:xfrm>
          <a:prstGeom prst="roundRect">
            <a:avLst>
              <a:gd name="adj" fmla="val 2616"/>
            </a:avLst>
          </a:prstGeom>
          <a:solidFill>
            <a:srgbClr val="FDF2E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494887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7748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8A4500"/>
                </a:solidFill>
                <a:latin typeface="Segoe UI"/>
              </a:rPr>
              <a:t>1. Optimal substructure.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An optimal solution to the problem contains optimal solutions to subproblems.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2937992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8A4500"/>
                </a:solidFill>
                <a:latin typeface="Segoe UI"/>
              </a:rPr>
              <a:t>2. Overlapping subproblems.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 recursive solution revisits the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same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subproblems repeatedly — the total number of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distinct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subproblems is small, while the number of recursive calls is large.</a:t>
            </a:r>
          </a:p>
        </p:txBody>
      </p:sp>
      <p:sp>
        <p:nvSpPr>
          <p:cNvPr id="11" name="body-2"/>
          <p:cNvSpPr txBox="1"/>
          <p:nvPr/>
        </p:nvSpPr>
        <p:spPr>
          <a:xfrm>
            <a:off x="1060704" y="4192270"/>
            <a:ext cx="10161727" cy="7748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A5276"/>
                </a:solidFill>
                <a:latin typeface="Segoe UI"/>
              </a:rPr>
              <a:t>Dynamic programming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solves each distinct subproblem once and stores the answer.</a:t>
            </a:r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641189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Condition 2 is what makes it a technique</a:t>
            </a:r>
          </a:p>
        </p:txBody>
      </p:sp>
      <p:pic>
        <p:nvPicPr>
          <p:cNvPr id="3" name="!!kicker-icon" descr="lightbulb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52915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CONCEPT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§15.1  ·  Handout p. 121     </a:t>
            </a:r>
            <a:fld id="{41DBA82B-046D-4D68-A903-D015DEB2B922}" type="slidenum">
              <a:rPr lang="en-GB" sz="1000">
                <a:solidFill>
                  <a:srgbClr val="8795A1"/>
                </a:solidFill>
                <a:latin typeface="Segoe UI"/>
              </a:rPr>
              <a:t>8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416958"/>
          </a:xfrm>
          <a:prstGeom prst="roundRect">
            <a:avLst>
              <a:gd name="adj" fmla="val 2070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41695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9491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Merge sort has optimal substructure: sorting an array optimally requires sorting its halves. Memoising merge sort would buy exactly nothing, because the two halves are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different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subproblems and no subproblem ever recurs.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3084398"/>
            <a:ext cx="10161727" cy="3468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That is the dividing line:</a:t>
            </a:r>
          </a:p>
        </p:txBody>
      </p:sp>
      <p:sp>
        <p:nvSpPr>
          <p:cNvPr id="11" name="body-2"/>
          <p:cNvSpPr txBox="1"/>
          <p:nvPr/>
        </p:nvSpPr>
        <p:spPr>
          <a:xfrm>
            <a:off x="1060704" y="3518255"/>
            <a:ext cx="10161727" cy="1334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12450" indent="-212450">
              <a:lnSpc>
                <a:spcPct val="104000"/>
              </a:lnSpc>
              <a:spcBef>
                <a:spcPts val="0"/>
              </a:spcBef>
              <a:spcAft>
                <a:spcPts val="665"/>
              </a:spcAft>
            </a:pPr>
            <a:r>
              <a:rPr sz="1900" b="1">
                <a:solidFill>
                  <a:srgbClr val="1F618D"/>
                </a:solidFill>
                <a:latin typeface="Segoe UI"/>
              </a:rPr>
              <a:t>•	</a:t>
            </a:r>
            <a:r>
              <a:rPr sz="1900" b="1" i="0">
                <a:solidFill>
                  <a:srgbClr val="1F618D"/>
                </a:solidFill>
                <a:latin typeface="Segoe UI"/>
              </a:rPr>
              <a:t>divide and conquer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— subproblems are independent and distinct, so recursion is the whole answer;</a:t>
            </a:r>
          </a:p>
          <a:p>
            <a:pPr algn="l" marL="212450" indent="-21245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618D"/>
                </a:solidFill>
                <a:latin typeface="Segoe UI"/>
              </a:rPr>
              <a:t>•	</a:t>
            </a:r>
            <a:r>
              <a:rPr sz="1900" b="1" i="0">
                <a:solidFill>
                  <a:srgbClr val="1F618D"/>
                </a:solidFill>
                <a:latin typeface="Segoe UI"/>
              </a:rPr>
              <a:t>dynamic programming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— subproblems overlap, so recursion alone does exponential redundant work.</a:t>
            </a:r>
          </a:p>
        </p:txBody>
      </p:sp>
      <p:sp>
        <p:nvSpPr>
          <p:cNvPr id="12" name="body-3"/>
          <p:cNvSpPr txBox="1"/>
          <p:nvPr/>
        </p:nvSpPr>
        <p:spPr>
          <a:xfrm>
            <a:off x="1060704" y="4939995"/>
            <a:ext cx="10161727" cy="9491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And unlike the greedy-choice property, overlap is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measurable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: instrument the recursion, count how many times each subproblem is solved, and look. That is what Section 15.3 does, and the numbers are startling.</a:t>
            </a:r>
          </a:p>
        </p:txBody>
      </p:sp>
      <p:sp>
        <p:nvSpPr>
          <p:cNvPr id="1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875645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8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Rod Cutting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D7C4DF"/>
                </a:solidFill>
                <a:latin typeface="Segoe UI"/>
              </a:rPr>
              <a:t>SECTION 2 OF 5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15.2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15.1   The Two Conditions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A3A95"/>
                </a:solidFill>
                <a:latin typeface="Segoe UI"/>
              </a:rPr>
              <a:t>15.2   Rod Cutting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15.3   Two Ways to Collect the Saving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15.4   Measured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15.5   Greedy or Dynamic Programming?</a:t>
            </a:r>
          </a:p>
        </p:txBody>
      </p:sp>
      <p:sp>
        <p:nvSpPr>
          <p:cNvPr id="11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</a:t>
            </a:r>
          </a:p>
        </p:txBody>
      </p:sp>
      <p:sp>
        <p:nvSpPr>
          <p:cNvPr id="12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§15.2     </a:t>
            </a:r>
            <a:fld id="{6FD445DC-EE2F-4702-8908-8276768D558D}" type="slidenum">
              <a:rPr lang="en-GB" sz="1000">
                <a:solidFill>
                  <a:srgbClr val="8795A1"/>
                </a:solidFill>
                <a:latin typeface="Segoe UI"/>
              </a:rPr>
              <a:t>9</a:t>
            </a:fld>
          </a:p>
        </p:txBody>
      </p:sp>
      <p:sp>
        <p:nvSpPr>
          <p:cNvPr id="1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110101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Rod Cutting</a:t>
            </a:r>
          </a:p>
        </p:txBody>
      </p:sp>
      <p:pic>
        <p:nvPicPr>
          <p:cNvPr id="3" name="!!kicker-icon" descr="book-B35900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35900"/>
                </a:solidFill>
                <a:latin typeface="Segoe UI"/>
              </a:rPr>
              <a:t>DEFINITION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§15.2  ·  Handout p. 122     </a:t>
            </a:r>
            <a:fld id="{FFB4AFDC-23E5-4165-AFD0-E920299259DF}" type="slidenum">
              <a:rPr lang="en-GB" sz="1000">
                <a:solidFill>
                  <a:srgbClr val="8795A1"/>
                </a:solidFill>
                <a:latin typeface="Segoe UI"/>
              </a:rPr>
              <a:t>10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1350873"/>
          </a:xfrm>
          <a:prstGeom prst="roundRect">
            <a:avLst>
              <a:gd name="adj" fmla="val 6768"/>
            </a:avLst>
          </a:prstGeom>
          <a:solidFill>
            <a:srgbClr val="FDF2E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1350873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7748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A rod of length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can be cut into integer pieces. A piece of length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i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sells for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p</a:t>
            </a:r>
            <a:r>
              <a:rPr sz="1500" b="0" i="1" baseline="-25000">
                <a:solidFill>
                  <a:srgbClr val="1C252B"/>
                </a:solidFill>
                <a:latin typeface="Cambria"/>
              </a:rPr>
              <a:t>i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 Cut the rod to maximise total revenue (cutting is free).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344556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Rod Cutting</a:t>
            </a:r>
          </a:p>
        </p:txBody>
      </p:sp>
      <p:pic>
        <p:nvPicPr>
          <p:cNvPr id="3" name="!!kicker-icon" descr="list-ul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6883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IN BRIEF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§15.2  ·  Handout p. 122     </a:t>
            </a:r>
            <a:fld id="{2C60E5DE-35CC-4A19-8543-D1776211FFFD}" type="slidenum">
              <a:rPr lang="en-GB" sz="1000">
                <a:solidFill>
                  <a:srgbClr val="8795A1"/>
                </a:solidFill>
                <a:latin typeface="Segoe UI"/>
              </a:rPr>
              <a:t>11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361432"/>
          </a:xfrm>
          <a:prstGeom prst="roundRect">
            <a:avLst>
              <a:gd name="adj" fmla="val 3872"/>
            </a:avLst>
          </a:prstGeom>
          <a:solidFill>
            <a:srgbClr val="F2F6F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361432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Optimal substructure is easy to see: after the first cut of length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i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the remaining rod of length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−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i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must itself be cut optimally, or the whole solution could be improved. So, writing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r</a:t>
            </a:r>
            <a:r>
              <a:rPr sz="1500" b="0" i="1" baseline="-25000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for the best revenue,</a:t>
            </a:r>
          </a:p>
        </p:txBody>
      </p:sp>
      <p:pic>
        <p:nvPicPr>
          <p:cNvPr id="10" name="body-1" descr="r_{n} = \max_{1 \le i \le n} \bigl(p_{i} + r_{n-i}\bigr), \qquad r_{0} = 0.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704" y="3302533"/>
            <a:ext cx="10161727" cy="485363"/>
          </a:xfrm>
          <a:prstGeom prst="rect">
            <a:avLst/>
          </a:prstGeom>
        </p:spPr>
      </p:pic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579012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Cut-Rod-Naive: a direct transcription of the recurrence</a:t>
            </a:r>
          </a:p>
        </p:txBody>
      </p:sp>
      <p:sp>
        <p:nvSpPr>
          <p:cNvPr id="3" name="!!kicker"/>
          <p:cNvSpPr txBox="1"/>
          <p:nvPr/>
        </p:nvSpPr>
        <p:spPr>
          <a:xfrm>
            <a:off x="658368" y="402336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7A3A95"/>
                </a:solidFill>
                <a:latin typeface="Segoe UI"/>
              </a:rPr>
              <a:t>FIGURE 15.1</a:t>
            </a:r>
          </a:p>
        </p:txBody>
      </p:sp>
      <p:sp>
        <p:nvSpPr>
          <p:cNvPr id="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§15.2  ·  Handout p. 122     </a:t>
            </a:r>
            <a:fld id="{5FFD1BB3-CC84-4AE6-88C8-89A60B6AF4E8}" type="slidenum">
              <a:rPr lang="en-GB" sz="1000">
                <a:solidFill>
                  <a:srgbClr val="8795A1"/>
                </a:solidFill>
                <a:latin typeface="Segoe UI"/>
              </a:rPr>
              <a:t>12</a:t>
            </a:fld>
          </a:p>
        </p:txBody>
      </p:sp>
      <p:pic>
        <p:nvPicPr>
          <p:cNvPr id="6" name="!!figure" descr="Figure 15.1. Cut-Rod-Naive: a direct transcription of the recurrence. It is correct, and it takes Θ(2n) time, because line 5 re-solves subproblems that other branches have already solved.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8779" y="1737360"/>
            <a:ext cx="9814135" cy="3740505"/>
          </a:xfrm>
          <a:prstGeom prst="rect">
            <a:avLst/>
          </a:prstGeom>
        </p:spPr>
      </p:pic>
      <p:sp>
        <p:nvSpPr>
          <p:cNvPr id="7" name="!!tak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60745"/>
            <a:ext cx="54864" cy="575462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ake"/>
          <p:cNvSpPr txBox="1"/>
          <p:nvPr/>
        </p:nvSpPr>
        <p:spPr>
          <a:xfrm>
            <a:off x="877824" y="5642457"/>
            <a:ext cx="10600639" cy="758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C57"/>
                </a:solidFill>
                <a:latin typeface="Segoe UI"/>
              </a:rPr>
              <a:t>It is correct, and it takes Θ(2n) time, because line 5 re-solves subproblems that other branches have already solved.</a:t>
            </a:r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813468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naive recursion is exponential</a:t>
            </a:r>
          </a:p>
        </p:txBody>
      </p:sp>
      <p:pic>
        <p:nvPicPr>
          <p:cNvPr id="3" name="!!kicker-icon" descr="award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THEOREM 15.1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§15.2  ·  Handout p. 122     </a:t>
            </a:r>
            <a:fld id="{4B0ECFFC-9998-4E9A-BFC5-47E658E78DEE}" type="slidenum">
              <a:rPr lang="en-GB" sz="1000">
                <a:solidFill>
                  <a:srgbClr val="8795A1"/>
                </a:solidFill>
                <a:latin typeface="Segoe UI"/>
              </a:rPr>
              <a:t>13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986332"/>
          </a:xfrm>
          <a:prstGeom prst="roundRect">
            <a:avLst>
              <a:gd name="adj" fmla="val 9270"/>
            </a:avLst>
          </a:prstGeom>
          <a:solidFill>
            <a:srgbClr val="F2F6F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986332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410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Cut-Rod-Naive makes exactly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2</a:t>
            </a:r>
            <a:r>
              <a:rPr sz="1500" b="0" i="1" baseline="30000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calls on an input of length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047923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Measured: How Often Is Each Subproblem Solved?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§15.2  ·  Handout p. 122     </a:t>
            </a:r>
            <a:fld id="{CF43BA67-586C-4F0E-B612-46E56C03D4B8}" type="slidenum">
              <a:rPr lang="en-GB" sz="1000">
                <a:solidFill>
                  <a:srgbClr val="8795A1"/>
                </a:solidFill>
                <a:latin typeface="Segoe UI"/>
              </a:rPr>
              <a:t>14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1150924"/>
          </a:xfrm>
          <a:prstGeom prst="roundRect">
            <a:avLst>
              <a:gd name="adj" fmla="val 7944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115092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F4E79"/>
                </a:solidFill>
                <a:latin typeface="Consolas"/>
              </a:rPr>
              <a:t>code/ch15_dp1.cpp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instruments the recursion and counts visits to each subproblem. At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22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: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282379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Measured: How Often Is Each Subproblem Solved? (continued)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§15.2  ·  Handout p. 122     </a:t>
            </a:r>
            <a:fld id="{AEE6BD59-8AB7-4980-95DD-78029E352463}" type="slidenum">
              <a:rPr lang="en-GB" sz="1000">
                <a:solidFill>
                  <a:srgbClr val="8795A1"/>
                </a:solidFill>
                <a:latin typeface="Segoe UI"/>
              </a:rPr>
              <a:t>15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828031"/>
          </a:xfrm>
          <a:prstGeom prst="roundRect">
            <a:avLst>
              <a:gd name="adj" fmla="val 1893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828031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graphicFrame>
        <p:nvGraphicFramePr>
          <p:cNvPr id="9" name="body-0"/>
          <p:cNvGraphicFramePr>
            <a:graphicFrameLocks noGrp="1"/>
          </p:cNvGraphicFramePr>
          <p:nvPr/>
        </p:nvGraphicFramePr>
        <p:xfrm>
          <a:off x="1042416" y="2011679"/>
          <a:ext cx="3746756" cy="4279392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576248"/>
                <a:gridCol w="1170508"/>
              </a:tblGrid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1A5276"/>
                          </a:solidFill>
                          <a:latin typeface="Segoe UI"/>
                        </a:rPr>
                        <a:t>subproblem </a:t>
                      </a:r>
                      <a:r>
                        <a:rPr sz="1200" b="1" i="1">
                          <a:solidFill>
                            <a:srgbClr val="1A5276"/>
                          </a:solidFill>
                          <a:latin typeface="Cambria"/>
                        </a:rPr>
                        <a:t>k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1A5276"/>
                          </a:solidFill>
                          <a:latin typeface="Segoe UI"/>
                        </a:rPr>
                        <a:t>times solved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22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1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21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1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20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2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19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4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18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8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17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16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2c</a:t>
                      </a:r>
                      <a:r>
                        <a:rPr sz="1200" b="0" i="0">
                          <a:solidFill>
                            <a:srgbClr val="1C252B"/>
                          </a:solidFill>
                          <a:latin typeface="Cambria"/>
                        </a:rPr>
                        <a:t>⋯</a:t>
                      </a:r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 doubling all the way down </a:t>
                      </a:r>
                      <a:r>
                        <a:rPr sz="1200" b="0" i="0">
                          <a:solidFill>
                            <a:srgbClr val="1C252B"/>
                          </a:solidFill>
                          <a:latin typeface="Cambria"/>
                        </a:rPr>
                        <a:t>⋯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3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262,144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2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524,288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1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1,048,576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1C252B"/>
                          </a:solidFill>
                          <a:latin typeface="Segoe UI"/>
                        </a:rPr>
                        <a:t>0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1C252B"/>
                          </a:solidFill>
                          <a:latin typeface="Segoe UI"/>
                        </a:rPr>
                        <a:t>2,097,152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1C252B"/>
                          </a:solidFill>
                          <a:latin typeface="Segoe UI"/>
                        </a:rPr>
                        <a:t>total calls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1C252B"/>
                          </a:solidFill>
                          <a:latin typeface="Segoe UI"/>
                        </a:rPr>
                        <a:t>4,194,304</a:t>
                      </a:r>
                      <a:endParaRPr sz="12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</a:tr>
            </a:tbl>
          </a:graphicData>
        </a:graphic>
      </p:graphicFrame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516835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Measured: How Often Is Each Subproblem Solved? (continued)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§15.2  ·  Handout p. 122     </a:t>
            </a:r>
            <a:fld id="{C217AD7F-6E0B-4070-B7E0-541925A1A038}" type="slidenum">
              <a:rPr lang="en-GB" sz="1000">
                <a:solidFill>
                  <a:srgbClr val="8795A1"/>
                </a:solidFill>
                <a:latin typeface="Segoe UI"/>
              </a:rPr>
              <a:t>16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922066"/>
          </a:xfrm>
          <a:prstGeom prst="roundRect">
            <a:avLst>
              <a:gd name="adj" fmla="val 3129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92206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The subproblem “a rod of length 0” was solved 2,097,152 times.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There is only one of it, and its answer is 0.</a:t>
            </a:r>
          </a:p>
        </p:txBody>
      </p:sp>
      <p:sp>
        <p:nvSpPr>
          <p:cNvPr id="10" name="body-0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2029967"/>
            <a:ext cx="54864" cy="58399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body-1"/>
          <p:cNvSpPr txBox="1"/>
          <p:nvPr/>
        </p:nvSpPr>
        <p:spPr>
          <a:xfrm>
            <a:off x="1042416" y="2746679"/>
            <a:ext cx="10234879" cy="3468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Total calls </a:t>
            </a:r>
            <a:r>
              <a:rPr sz="1900" b="1" i="0">
                <a:solidFill>
                  <a:srgbClr val="1C252B"/>
                </a:solidFill>
                <a:latin typeface="Cambria"/>
              </a:rPr>
              <a:t>4,194,304 = 2</a:t>
            </a:r>
            <a:r>
              <a:rPr sz="1250" b="1" i="0" baseline="30000">
                <a:solidFill>
                  <a:srgbClr val="1C252B"/>
                </a:solidFill>
                <a:latin typeface="Cambria"/>
              </a:rPr>
              <a:t>22</a:t>
            </a:r>
            <a:r>
              <a:rPr sz="1900" b="1" i="0">
                <a:solidFill>
                  <a:srgbClr val="1C252B"/>
                </a:solidFill>
                <a:latin typeface="Segoe UI"/>
              </a:rPr>
              <a:t> exactly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confirming Theorem 15.1 to the unit.</a:t>
            </a:r>
          </a:p>
        </p:txBody>
      </p:sp>
      <p:sp>
        <p:nvSpPr>
          <p:cNvPr id="12" name="body-1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2764967"/>
            <a:ext cx="54864" cy="28285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body-2"/>
          <p:cNvSpPr txBox="1"/>
          <p:nvPr/>
        </p:nvSpPr>
        <p:spPr>
          <a:xfrm>
            <a:off x="1042416" y="3180537"/>
            <a:ext cx="10234879" cy="125028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And there are only 23 distinct subproblems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— the rod lengths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to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22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Four million calls to solve twenty-three problems. That ratio is the saving dynamic programming is about to collect, and it is why “overlapping subproblems” is a measurable condition rather than an aesthetic judgement.</a:t>
            </a:r>
          </a:p>
        </p:txBody>
      </p:sp>
      <p:sp>
        <p:nvSpPr>
          <p:cNvPr id="14" name="body-2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3198825"/>
            <a:ext cx="54864" cy="1186281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751290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Two Ways to Collect the Saving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D7C4DF"/>
                </a:solidFill>
                <a:latin typeface="Segoe UI"/>
              </a:rPr>
              <a:t>SECTION 3 OF 5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15.3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15.1   The Two Conditions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15.2   Rod Cutting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A3A95"/>
                </a:solidFill>
                <a:latin typeface="Segoe UI"/>
              </a:rPr>
              <a:t>15.3   Two Ways to Collect the Saving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15.4   Measured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15.5   Greedy or Dynamic Programming?</a:t>
            </a:r>
          </a:p>
        </p:txBody>
      </p:sp>
      <p:sp>
        <p:nvSpPr>
          <p:cNvPr id="11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</a:t>
            </a:r>
          </a:p>
        </p:txBody>
      </p:sp>
      <p:sp>
        <p:nvSpPr>
          <p:cNvPr id="12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§15.3     </a:t>
            </a:r>
            <a:fld id="{0372B4CA-9ED8-408B-B84A-C01F5CE290AD}" type="slidenum">
              <a:rPr lang="en-GB" sz="1000">
                <a:solidFill>
                  <a:srgbClr val="8795A1"/>
                </a:solidFill>
                <a:latin typeface="Segoe UI"/>
              </a:rPr>
              <a:t>17</a:t>
            </a:fld>
          </a:p>
        </p:txBody>
      </p:sp>
      <p:sp>
        <p:nvSpPr>
          <p:cNvPr id="1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985746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Memoisation and bottom-up</a:t>
            </a:r>
          </a:p>
        </p:txBody>
      </p:sp>
      <p:pic>
        <p:nvPicPr>
          <p:cNvPr id="3" name="!!kicker-icon" descr="lightbulb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52915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CONCEPT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§15.3  ·  Handout p. 123     </a:t>
            </a:r>
            <a:fld id="{FFCE903F-249D-4E55-A9AD-BF284147EF9F}" type="slidenum">
              <a:rPr lang="en-GB" sz="1000">
                <a:solidFill>
                  <a:srgbClr val="8795A1"/>
                </a:solidFill>
                <a:latin typeface="Segoe UI"/>
              </a:rPr>
              <a:t>18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416958"/>
          </a:xfrm>
          <a:prstGeom prst="roundRect">
            <a:avLst>
              <a:gd name="adj" fmla="val 2070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41695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9491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F618D"/>
                </a:solidFill>
                <a:latin typeface="Segoe UI"/>
              </a:rPr>
              <a:t>Top-down with memoisation.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Keep the recursion exactly as written, and add a table. Before computing, check whether the answer is known; after computing, record it. One line of difference.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3084398"/>
            <a:ext cx="10161727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F618D"/>
                </a:solidFill>
                <a:latin typeface="Segoe UI"/>
              </a:rPr>
              <a:t>Bottom-up.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Sort the subproblems by size and solve them in that order, so every subproblem’s dependencies are already in the table when it is reached. No recursion at all.</a:t>
            </a:r>
          </a:p>
        </p:txBody>
      </p:sp>
      <p:sp>
        <p:nvSpPr>
          <p:cNvPr id="11" name="body-2"/>
          <p:cNvSpPr txBox="1"/>
          <p:nvPr/>
        </p:nvSpPr>
        <p:spPr>
          <a:xfrm>
            <a:off x="1060704" y="3819398"/>
            <a:ext cx="10161727" cy="3468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F618D"/>
                </a:solidFill>
                <a:latin typeface="Segoe UI"/>
              </a:rPr>
              <a:t>They have the same asymptotic running time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and in practice:</a:t>
            </a:r>
          </a:p>
        </p:txBody>
      </p:sp>
      <p:sp>
        <p:nvSpPr>
          <p:cNvPr id="12" name="body-3"/>
          <p:cNvSpPr txBox="1"/>
          <p:nvPr/>
        </p:nvSpPr>
        <p:spPr>
          <a:xfrm>
            <a:off x="1060704" y="4253255"/>
            <a:ext cx="10161727" cy="16358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12450" indent="-212450">
              <a:lnSpc>
                <a:spcPct val="104000"/>
              </a:lnSpc>
              <a:spcBef>
                <a:spcPts val="0"/>
              </a:spcBef>
              <a:spcAft>
                <a:spcPts val="665"/>
              </a:spcAft>
            </a:pPr>
            <a:r>
              <a:rPr sz="1900" b="1">
                <a:solidFill>
                  <a:srgbClr val="1F618D"/>
                </a:solidFill>
                <a:latin typeface="Segoe UI"/>
              </a:rPr>
              <a:t>•	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memoisation is a smaller edit to working code and only solves the subproblems actually needed — which matters when the table is sparse;</a:t>
            </a:r>
          </a:p>
          <a:p>
            <a:pPr algn="l" marL="212450" indent="-21245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618D"/>
                </a:solidFill>
                <a:latin typeface="Segoe UI"/>
              </a:rPr>
              <a:t>•	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bottom-up has a smaller constant (no call overhead, no cache checks), touches memory in order, and </a:t>
            </a:r>
            <a:r>
              <a:rPr sz="1900" b="1" i="0">
                <a:solidFill>
                  <a:srgbClr val="1C252B"/>
                </a:solidFill>
                <a:latin typeface="Segoe UI"/>
              </a:rPr>
              <a:t>cannot overflow the stack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— which for large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is the deciding argument, as Chapter 9 showed.</a:t>
            </a:r>
          </a:p>
        </p:txBody>
      </p:sp>
      <p:sp>
        <p:nvSpPr>
          <p:cNvPr id="1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220202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8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Cut-Rod-DP, bottom-up</a:t>
            </a:r>
          </a:p>
        </p:txBody>
      </p:sp>
      <p:sp>
        <p:nvSpPr>
          <p:cNvPr id="3" name="!!kicker"/>
          <p:cNvSpPr txBox="1"/>
          <p:nvPr/>
        </p:nvSpPr>
        <p:spPr>
          <a:xfrm>
            <a:off x="658368" y="402336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7A3A95"/>
                </a:solidFill>
                <a:latin typeface="Segoe UI"/>
              </a:rPr>
              <a:t>FIGURE 15.2</a:t>
            </a:r>
          </a:p>
        </p:txBody>
      </p:sp>
      <p:sp>
        <p:nvSpPr>
          <p:cNvPr id="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§15.3  ·  Handout p. 123     </a:t>
            </a:r>
            <a:fld id="{84A3DE25-4B0F-4DE0-8950-0A4492DBD4E3}" type="slidenum">
              <a:rPr lang="en-GB" sz="1000">
                <a:solidFill>
                  <a:srgbClr val="8795A1"/>
                </a:solidFill>
                <a:latin typeface="Segoe UI"/>
              </a:rPr>
              <a:t>19</a:t>
            </a:fld>
          </a:p>
        </p:txBody>
      </p:sp>
      <p:pic>
        <p:nvPicPr>
          <p:cNvPr id="6" name="!!figure" descr="Figure 15.2. Cut-Rod-DP, bottom-up. Two nested loops, so Θ(n2) — and the only change from the recurrence is that subproblems are visited in increasing order of size, so each is solved once.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95193" y="1737360"/>
            <a:ext cx="9001308" cy="3740505"/>
          </a:xfrm>
          <a:prstGeom prst="rect">
            <a:avLst/>
          </a:prstGeom>
        </p:spPr>
      </p:pic>
      <p:sp>
        <p:nvSpPr>
          <p:cNvPr id="7" name="!!tak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60745"/>
            <a:ext cx="54864" cy="575462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ake"/>
          <p:cNvSpPr txBox="1"/>
          <p:nvPr/>
        </p:nvSpPr>
        <p:spPr>
          <a:xfrm>
            <a:off x="877824" y="5642457"/>
            <a:ext cx="10600639" cy="758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C57"/>
                </a:solidFill>
                <a:latin typeface="Segoe UI"/>
              </a:rPr>
              <a:t>Two nested loops, so Θ(n2) — and the only change from the recurrence is that subproblems are visited in increasing order of size, so each is solved once.</a:t>
            </a:r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54657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dynamic program</a:t>
            </a:r>
          </a:p>
        </p:txBody>
      </p:sp>
      <p:pic>
        <p:nvPicPr>
          <p:cNvPr id="3" name="!!kicker-icon" descr="award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THEOREM 15.2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§15.3  ·  Handout p. 123     </a:t>
            </a:r>
            <a:fld id="{B0AB10FB-4D3C-4675-B391-FF57C5F1C8CF}" type="slidenum">
              <a:rPr lang="en-GB" sz="1000">
                <a:solidFill>
                  <a:srgbClr val="8795A1"/>
                </a:solidFill>
                <a:latin typeface="Segoe UI"/>
              </a:rPr>
              <a:t>20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986332"/>
          </a:xfrm>
          <a:prstGeom prst="roundRect">
            <a:avLst>
              <a:gd name="adj" fmla="val 9270"/>
            </a:avLst>
          </a:prstGeom>
          <a:solidFill>
            <a:srgbClr val="F2F6F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986332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410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Cut-Rod-DP computes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r</a:t>
            </a:r>
            <a:r>
              <a:rPr sz="1500" b="0" i="1" baseline="-25000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in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time and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space.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689113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running time formula worth memorising</a:t>
            </a:r>
          </a:p>
        </p:txBody>
      </p:sp>
      <p:pic>
        <p:nvPicPr>
          <p:cNvPr id="3" name="!!kicker-icon" descr="lightbulb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52915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CONCEPT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§15.3  ·  Handout p. 123     </a:t>
            </a:r>
            <a:fld id="{696BF852-C23D-4734-93E5-F446D433DEF7}" type="slidenum">
              <a:rPr lang="en-GB" sz="1000">
                <a:solidFill>
                  <a:srgbClr val="8795A1"/>
                </a:solidFill>
                <a:latin typeface="Segoe UI"/>
              </a:rPr>
              <a:t>21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268895"/>
          </a:xfrm>
          <a:prstGeom prst="roundRect">
            <a:avLst>
              <a:gd name="adj" fmla="val 4030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268895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9" name="body-0" descr="\text{time} \;=\; (\text{number of distinct subproblems}) \;\times\; (\text{work per subproblem}).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704" y="2048255"/>
            <a:ext cx="10161727" cy="392826"/>
          </a:xfrm>
          <a:prstGeom prst="rect">
            <a:avLst/>
          </a:prstGeom>
        </p:spPr>
      </p:pic>
      <p:sp>
        <p:nvSpPr>
          <p:cNvPr id="10" name="body-1"/>
          <p:cNvSpPr txBox="1"/>
          <p:nvPr/>
        </p:nvSpPr>
        <p:spPr>
          <a:xfrm>
            <a:off x="1060704" y="2601737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Rod cutting: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subproblems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×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O(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choices each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= Θ(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 This formula handles nearly every dynamic program in Chapter 16, and it is usually quicker than writing down a recurrence.</a:t>
            </a:r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923569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Measured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D7C4DF"/>
                </a:solidFill>
                <a:latin typeface="Segoe UI"/>
              </a:rPr>
              <a:t>SECTION 4 OF 5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15.4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15.1   The Two Conditions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15.2   Rod Cutting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15.3   Two Ways to Collect the Saving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A3A95"/>
                </a:solidFill>
                <a:latin typeface="Segoe UI"/>
              </a:rPr>
              <a:t>15.4   Measured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15.5   Greedy or Dynamic Programming?</a:t>
            </a:r>
          </a:p>
        </p:txBody>
      </p:sp>
      <p:sp>
        <p:nvSpPr>
          <p:cNvPr id="11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</a:t>
            </a:r>
          </a:p>
        </p:txBody>
      </p:sp>
      <p:sp>
        <p:nvSpPr>
          <p:cNvPr id="12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§15.4     </a:t>
            </a:r>
            <a:fld id="{602ABC1D-F5A7-4C6B-A0FC-B74CAF64C6DF}" type="slidenum">
              <a:rPr lang="en-GB" sz="1000">
                <a:solidFill>
                  <a:srgbClr val="8795A1"/>
                </a:solidFill>
                <a:latin typeface="Segoe UI"/>
              </a:rPr>
              <a:t>22</a:t>
            </a:fld>
          </a:p>
        </p:txBody>
      </p:sp>
      <p:sp>
        <p:nvSpPr>
          <p:cNvPr id="1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58024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Explosion and the Collapse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§15.4  ·  Handout p. 124     </a:t>
            </a:r>
            <a:fld id="{5DD4994A-AA34-46A2-A9F8-971528660303}" type="slidenum">
              <a:rPr lang="en-GB" sz="1000">
                <a:solidFill>
                  <a:srgbClr val="8795A1"/>
                </a:solidFill>
                <a:latin typeface="Segoe UI"/>
              </a:rPr>
              <a:t>23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364278"/>
          </a:xfrm>
          <a:prstGeom prst="roundRect">
            <a:avLst>
              <a:gd name="adj" fmla="val 2095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36427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3785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Calls made by each version:</a:t>
            </a:r>
          </a:p>
        </p:txBody>
      </p:sp>
      <p:graphicFrame>
        <p:nvGraphicFramePr>
          <p:cNvPr id="10" name="body-1"/>
          <p:cNvGraphicFramePr>
            <a:graphicFrameLocks noGrp="1"/>
          </p:cNvGraphicFramePr>
          <p:nvPr/>
        </p:nvGraphicFramePr>
        <p:xfrm>
          <a:off x="1042416" y="2491206"/>
          <a:ext cx="5157174" cy="252373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530352"/>
                <a:gridCol w="1378019"/>
                <a:gridCol w="1927875"/>
                <a:gridCol w="1320928"/>
              </a:tblGrid>
              <a:tr h="420623">
                <a:tc>
                  <a:txBody>
                    <a:bodyPr wrap="square"/>
                    <a:lstStyle/>
                    <a:p>
                      <a:pPr algn="r"/>
                      <a:r>
                        <a:rPr sz="18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1" i="0">
                          <a:solidFill>
                            <a:srgbClr val="1A5276"/>
                          </a:solidFill>
                          <a:latin typeface="Segoe UI"/>
                        </a:rPr>
                        <a:t>naive calls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1" i="0">
                          <a:solidFill>
                            <a:srgbClr val="1A5276"/>
                          </a:solidFill>
                          <a:latin typeface="Segoe UI"/>
                        </a:rPr>
                        <a:t>memoised calls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1" i="0">
                          <a:solidFill>
                            <a:srgbClr val="1A5276"/>
                          </a:solidFill>
                          <a:latin typeface="Segoe UI"/>
                        </a:rPr>
                        <a:t>ratio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10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1,024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56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18.3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14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16,384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106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154.6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18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262,144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172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1,524.1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22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4,194,304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254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16,513.0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26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67,108,864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352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1" i="0">
                          <a:solidFill>
                            <a:srgbClr val="1C252B"/>
                          </a:solidFill>
                          <a:latin typeface="Segoe UI"/>
                        </a:rPr>
                        <a:t>190,650.2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ody-2"/>
          <p:cNvSpPr txBox="1"/>
          <p:nvPr/>
        </p:nvSpPr>
        <p:spPr>
          <a:xfrm>
            <a:off x="1042416" y="5161635"/>
            <a:ext cx="10234879" cy="7114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The naive column is 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2</a:t>
            </a:r>
            <a:r>
              <a:rPr sz="1400" b="0" i="1" baseline="30000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; the memoised column grows like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. Their ratio therefore grows like 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2</a:t>
            </a:r>
            <a:r>
              <a:rPr sz="1400" b="0" i="1" baseline="30000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/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— and does, from 18 to 190,000 over sixteen units of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392480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In Seconds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§15.4  ·  Handout p. 124     </a:t>
            </a:r>
            <a:fld id="{E88DED3C-F01C-494B-9F83-87FC76D31FC1}" type="slidenum">
              <a:rPr lang="en-GB" sz="1000">
                <a:solidFill>
                  <a:srgbClr val="8795A1"/>
                </a:solidFill>
                <a:latin typeface="Segoe UI"/>
              </a:rPr>
              <a:t>24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512106"/>
          </a:xfrm>
          <a:prstGeom prst="roundRect">
            <a:avLst>
              <a:gd name="adj" fmla="val 2026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51210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graphicFrame>
        <p:nvGraphicFramePr>
          <p:cNvPr id="9" name="body-0"/>
          <p:cNvGraphicFramePr>
            <a:graphicFrameLocks noGrp="1"/>
          </p:cNvGraphicFramePr>
          <p:nvPr/>
        </p:nvGraphicFramePr>
        <p:xfrm>
          <a:off x="1042416" y="2011679"/>
          <a:ext cx="6950576" cy="187452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530352"/>
                <a:gridCol w="1204234"/>
                <a:gridCol w="1662447"/>
                <a:gridCol w="1720145"/>
                <a:gridCol w="1833398"/>
              </a:tblGrid>
              <a:tr h="374904">
                <a:tc>
                  <a:txBody>
                    <a:bodyPr wrap="square"/>
                    <a:lstStyle/>
                    <a:p>
                      <a:pPr algn="r"/>
                      <a:r>
                        <a:rPr sz="15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 i="0">
                          <a:solidFill>
                            <a:srgbClr val="1A5276"/>
                          </a:solidFill>
                          <a:latin typeface="Segoe UI"/>
                        </a:rPr>
                        <a:t>naive (ms)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 i="0">
                          <a:solidFill>
                            <a:srgbClr val="1A5276"/>
                          </a:solidFill>
                          <a:latin typeface="Segoe UI"/>
                        </a:rPr>
                        <a:t>memoised (ms)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 i="0">
                          <a:solidFill>
                            <a:srgbClr val="1A5276"/>
                          </a:solidFill>
                          <a:latin typeface="Segoe UI"/>
                        </a:rPr>
                        <a:t>bottom-up (ms)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 i="0">
                          <a:solidFill>
                            <a:srgbClr val="1A5276"/>
                          </a:solidFill>
                          <a:latin typeface="Segoe UI"/>
                        </a:rPr>
                        <a:t>naive/bottom-up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20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4.113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0.0009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0.0004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10,281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24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72.090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0.0012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0.0005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144,180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28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1,130.981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0.0015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0.0006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1,884,968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32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16,640.171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0.0017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0.0006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 i="0">
                          <a:solidFill>
                            <a:srgbClr val="1C252B"/>
                          </a:solidFill>
                          <a:latin typeface="Segoe UI"/>
                        </a:rPr>
                        <a:t>27,733,618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</a:tr>
            </a:tbl>
          </a:graphicData>
        </a:graphic>
      </p:graphicFrame>
      <p:sp>
        <p:nvSpPr>
          <p:cNvPr id="10" name="body-1"/>
          <p:cNvSpPr txBox="1"/>
          <p:nvPr/>
        </p:nvSpPr>
        <p:spPr>
          <a:xfrm>
            <a:off x="1042416" y="4011930"/>
            <a:ext cx="10234879" cy="61630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D6608"/>
                </a:solidFill>
                <a:latin typeface="Segoe UI"/>
              </a:rPr>
              <a:t>At </a:t>
            </a:r>
            <a:r>
              <a:rPr sz="18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800" b="1" i="0">
                <a:solidFill>
                  <a:srgbClr val="1C252B"/>
                </a:solidFill>
                <a:latin typeface="Cambria"/>
              </a:rPr>
              <a:t> = 32</a:t>
            </a:r>
            <a:r>
              <a:rPr sz="1800" b="1" i="0">
                <a:solidFill>
                  <a:srgbClr val="1C252B"/>
                </a:solidFill>
                <a:latin typeface="Segoe UI"/>
              </a:rPr>
              <a:t>: 16.6 seconds against 0.6 microseconds.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A factor of 27.7 million, for a change that adds one array and one </a:t>
            </a:r>
            <a:r>
              <a:rPr sz="1700" b="0" i="0">
                <a:solidFill>
                  <a:srgbClr val="1F4E79"/>
                </a:solidFill>
                <a:latin typeface="Consolas"/>
              </a:rPr>
              <a:t>if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1" name="body-1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030218"/>
            <a:ext cx="54864" cy="552297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body-2"/>
          <p:cNvSpPr txBox="1"/>
          <p:nvPr/>
        </p:nvSpPr>
        <p:spPr>
          <a:xfrm>
            <a:off x="1042416" y="4708245"/>
            <a:ext cx="10234879" cy="61630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D6608"/>
                </a:solidFill>
                <a:latin typeface="Segoe UI"/>
              </a:rPr>
              <a:t>Bottom-up beats memoised by about 2.5</a:t>
            </a:r>
            <a:r>
              <a:rPr sz="1800" b="1" i="0">
                <a:solidFill>
                  <a:srgbClr val="1C252B"/>
                </a:solidFill>
                <a:latin typeface="Cambria"/>
              </a:rPr>
              <a:t>×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at every size — the constant-factor advantage of no recursion and no cache checks, exactly as Section 15.3 claimed.</a:t>
            </a:r>
          </a:p>
        </p:txBody>
      </p:sp>
      <p:sp>
        <p:nvSpPr>
          <p:cNvPr id="13" name="body-2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726533"/>
            <a:ext cx="54864" cy="552297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body-3"/>
          <p:cNvSpPr txBox="1"/>
          <p:nvPr/>
        </p:nvSpPr>
        <p:spPr>
          <a:xfrm>
            <a:off x="1042416" y="5404561"/>
            <a:ext cx="10234879" cy="61630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D6608"/>
                </a:solidFill>
                <a:latin typeface="Segoe UI"/>
              </a:rPr>
              <a:t>And the naive column’s ratios are 17.5, 15.7, 14.7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per four units of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, against the predicted 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2</a:t>
            </a:r>
            <a:r>
              <a:rPr sz="1200" b="0" i="0" baseline="30000">
                <a:solidFill>
                  <a:srgbClr val="1C252B"/>
                </a:solidFill>
                <a:latin typeface="Cambria"/>
              </a:rPr>
              <a:t>4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 = 16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. The exponential is not a figure of speech.</a:t>
            </a:r>
          </a:p>
        </p:txBody>
      </p:sp>
      <p:sp>
        <p:nvSpPr>
          <p:cNvPr id="15" name="body-3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5422849"/>
            <a:ext cx="54864" cy="552297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626936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Where the Naive Version Cannot Go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§15.4  ·  Handout p. 124     </a:t>
            </a:r>
            <a:fld id="{0865D26F-DBC9-4B53-8F92-E0582B2A7C23}" type="slidenum">
              <a:rPr lang="en-GB" sz="1000">
                <a:solidFill>
                  <a:srgbClr val="8795A1"/>
                </a:solidFill>
                <a:latin typeface="Segoe UI"/>
              </a:rPr>
              <a:t>25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491228"/>
          </a:xfrm>
          <a:prstGeom prst="roundRect">
            <a:avLst>
              <a:gd name="adj" fmla="val 2035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49122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3627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Bottom-up alone, at sizes the recursion could not reach in the lifetime of the universe:</a:t>
            </a:r>
          </a:p>
        </p:txBody>
      </p:sp>
      <p:graphicFrame>
        <p:nvGraphicFramePr>
          <p:cNvPr id="10" name="body-1"/>
          <p:cNvGraphicFramePr>
            <a:graphicFrameLocks noGrp="1"/>
          </p:cNvGraphicFramePr>
          <p:nvPr/>
        </p:nvGraphicFramePr>
        <p:xfrm>
          <a:off x="1042416" y="2468371"/>
          <a:ext cx="2931364" cy="1621536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016004"/>
                <a:gridCol w="1915360"/>
              </a:tblGrid>
              <a:tr h="405384">
                <a:tc>
                  <a:txBody>
                    <a:bodyPr wrap="square"/>
                    <a:lstStyle/>
                    <a:p>
                      <a:pPr algn="r"/>
                      <a:r>
                        <a:rPr sz="17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 i="0">
                          <a:solidFill>
                            <a:srgbClr val="1A5276"/>
                          </a:solidFill>
                          <a:latin typeface="Segoe UI"/>
                        </a:rPr>
                        <a:t>bottom-up (ms)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10,000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0.263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40,000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1.054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160,000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4.802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ody-2"/>
          <p:cNvSpPr txBox="1"/>
          <p:nvPr/>
        </p:nvSpPr>
        <p:spPr>
          <a:xfrm>
            <a:off x="1042416" y="4229608"/>
            <a:ext cx="10234879" cy="13136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The times are </a:t>
            </a:r>
            <a:r>
              <a:rPr sz="2000" b="0" i="1">
                <a:solidFill>
                  <a:srgbClr val="1C252B"/>
                </a:solidFill>
                <a:latin typeface="Segoe UI"/>
              </a:rPr>
              <a:t>linear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in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not quadratic, because the price table here is capped at 30 entries — so the inner loop runs at most 30 times rather than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j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times, and 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3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becomes 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Θ(30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 A reminder to check what the parameters actually are before quoting a bound: the algorithm is 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 · min(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, |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p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|))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and which factor dominates depends on the instance.</a:t>
            </a:r>
          </a:p>
        </p:txBody>
      </p:sp>
      <p:sp>
        <p:nvSpPr>
          <p:cNvPr id="12" name="body-3"/>
          <p:cNvSpPr txBox="1"/>
          <p:nvPr/>
        </p:nvSpPr>
        <p:spPr>
          <a:xfrm>
            <a:off x="1042416" y="5637276"/>
            <a:ext cx="10234879" cy="3627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At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 = 160,000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the naive version would need about 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2</a:t>
            </a:r>
            <a:r>
              <a:rPr sz="1300" b="0" i="0" baseline="30000">
                <a:solidFill>
                  <a:srgbClr val="1C252B"/>
                </a:solidFill>
                <a:latin typeface="Cambria"/>
              </a:rPr>
              <a:t>160000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calls.</a:t>
            </a:r>
          </a:p>
        </p:txBody>
      </p:sp>
      <p:sp>
        <p:nvSpPr>
          <p:cNvPr id="1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861391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Greedy or Dynamic Programming?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D7C4DF"/>
                </a:solidFill>
                <a:latin typeface="Segoe UI"/>
              </a:rPr>
              <a:t>SECTION 5 OF 5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15.5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15.1   The Two Conditions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15.2   Rod Cutting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15.3   Two Ways to Collect the Saving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15.4   Measured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A3A95"/>
                </a:solidFill>
                <a:latin typeface="Segoe UI"/>
              </a:rPr>
              <a:t>15.5   Greedy or Dynamic Programming?</a:t>
            </a:r>
          </a:p>
        </p:txBody>
      </p:sp>
      <p:sp>
        <p:nvSpPr>
          <p:cNvPr id="11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</a:t>
            </a:r>
          </a:p>
        </p:txBody>
      </p:sp>
      <p:sp>
        <p:nvSpPr>
          <p:cNvPr id="12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§15.5     </a:t>
            </a:r>
            <a:fld id="{E0B031DF-3C37-434C-AFBD-FB933AFAFDC5}" type="slidenum">
              <a:rPr lang="en-GB" sz="1000">
                <a:solidFill>
                  <a:srgbClr val="8795A1"/>
                </a:solidFill>
                <a:latin typeface="Segoe UI"/>
              </a:rPr>
              <a:t>26</a:t>
            </a:fld>
          </a:p>
        </p:txBody>
      </p:sp>
      <p:sp>
        <p:nvSpPr>
          <p:cNvPr id="1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5847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comparison, finally</a:t>
            </a:r>
          </a:p>
        </p:txBody>
      </p:sp>
      <p:pic>
        <p:nvPicPr>
          <p:cNvPr id="3" name="!!kicker-icon" descr="lightbulb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52915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CONCEPT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§15.5  ·  Handout p. 125     </a:t>
            </a:r>
            <a:fld id="{A731A8CA-13BB-46F8-96C8-3FF8C11CACE6}" type="slidenum">
              <a:rPr lang="en-GB" sz="1000">
                <a:solidFill>
                  <a:srgbClr val="8795A1"/>
                </a:solidFill>
                <a:latin typeface="Segoe UI"/>
              </a:rPr>
              <a:t>27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968496"/>
          </a:xfrm>
          <a:prstGeom prst="roundRect">
            <a:avLst>
              <a:gd name="adj" fmla="val 2304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9684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graphicFrame>
        <p:nvGraphicFramePr>
          <p:cNvPr id="9" name="body-0"/>
          <p:cNvGraphicFramePr>
            <a:graphicFrameLocks noGrp="1"/>
          </p:cNvGraphicFramePr>
          <p:nvPr/>
        </p:nvGraphicFramePr>
        <p:xfrm>
          <a:off x="1060704" y="2048255"/>
          <a:ext cx="10161726" cy="3346701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467848"/>
                <a:gridCol w="3629188"/>
                <a:gridCol w="4064690"/>
              </a:tblGrid>
              <a:tr h="420623">
                <a:tc>
                  <a:txBody>
                    <a:bodyPr wrap="square"/>
                    <a:lstStyle/>
                    <a:p>
                      <a:pPr algn="l"/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1A5276"/>
                          </a:solidFill>
                          <a:latin typeface="Segoe UI"/>
                        </a:rPr>
                        <a:t>Greedy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1A5276"/>
                          </a:solidFill>
                          <a:latin typeface="Segoe UI"/>
                        </a:rPr>
                        <a:t>Dynamic programming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needs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greedy-choice property 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Segoe UI"/>
                        </a:rPr>
                        <a:t>and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 optimal substructure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optimal substructure 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Segoe UI"/>
                        </a:rPr>
                        <a:t>and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 overlapping subproblems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decides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commits to one choice, never reconsiders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considers all choices, keeps the best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cost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usually 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Θ(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 or 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Θ(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 lg 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usually 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Θ(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1200" b="0" i="0" baseline="30000">
                          <a:solidFill>
                            <a:srgbClr val="1C252B"/>
                          </a:solidFill>
                          <a:latin typeface="Cambria"/>
                        </a:rPr>
                        <a:t>2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 or worse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when it fails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silently returns a suboptimal answer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does not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proof obligation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an exchange argument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the recurrence is correct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330303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comparison, finally (continued)</a:t>
            </a:r>
          </a:p>
        </p:txBody>
      </p:sp>
      <p:pic>
        <p:nvPicPr>
          <p:cNvPr id="3" name="!!kicker-icon" descr="lightbulb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52915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CONCEPT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§15.5  ·  Handout p. 125     </a:t>
            </a:r>
            <a:fld id="{22B17982-9900-48D7-A0F4-5FC6E5FC057C}" type="slidenum">
              <a:rPr lang="en-GB" sz="1000">
                <a:solidFill>
                  <a:srgbClr val="8795A1"/>
                </a:solidFill>
                <a:latin typeface="Segoe UI"/>
              </a:rPr>
              <a:t>28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431209"/>
          </a:xfrm>
          <a:prstGeom prst="roundRect">
            <a:avLst>
              <a:gd name="adj" fmla="val 2664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431209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0442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618D"/>
                </a:solidFill>
                <a:latin typeface="Segoe UI"/>
              </a:rPr>
              <a:t>Both require optimal substructure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; that is the shared half. They differ in the second condition, and the second conditions are not opposites — a problem can have both, or neither.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3193465"/>
            <a:ext cx="10161727" cy="1709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618D"/>
                </a:solidFill>
                <a:latin typeface="Segoe UI"/>
              </a:rPr>
              <a:t>The practical rule: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try greedy first, because it is faster and simpler. Attempt the exchange argument. If it goes through, you are done; if it does not, the place it stuck usually hands you the counter-example, and dynamic programming is the fallback that always works. Coin change in Chapter 14 is exactly this story: greedy for 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{1,5,10,25}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, dynamic programming for 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{1,3,4}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564758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Reconstructing the solution, not just its value</a:t>
            </a:r>
          </a:p>
        </p:txBody>
      </p:sp>
      <p:pic>
        <p:nvPicPr>
          <p:cNvPr id="3" name="!!kicker-icon" descr="exclamation-triang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45688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WATCH OUT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§15.5  ·  Handout p. 125     </a:t>
            </a:r>
            <a:fld id="{4FB5EA52-8CE6-4DD8-BFAD-6418F8582BB8}" type="slidenum">
              <a:rPr lang="en-GB" sz="1000">
                <a:solidFill>
                  <a:srgbClr val="8795A1"/>
                </a:solidFill>
                <a:latin typeface="Segoe UI"/>
              </a:rPr>
              <a:t>29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223969"/>
          </a:xfrm>
          <a:prstGeom prst="roundRect">
            <a:avLst>
              <a:gd name="adj" fmla="val 2164"/>
            </a:avLst>
          </a:prstGeom>
          <a:solidFill>
            <a:srgbClr val="FDED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223969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7748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Every algorithm in this chapter returns a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number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— the best revenue — not the cuts that achieve it. That is almost never what is wanted.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2937992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The fix is to store, alongside each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r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[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j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]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the choice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i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that achieved the maximum. Walking back from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j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=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then produces the cuts. The cost is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extra space and no extra time.</a:t>
            </a:r>
          </a:p>
        </p:txBody>
      </p:sp>
      <p:sp>
        <p:nvSpPr>
          <p:cNvPr id="11" name="body-2"/>
          <p:cNvSpPr txBox="1"/>
          <p:nvPr/>
        </p:nvSpPr>
        <p:spPr>
          <a:xfrm>
            <a:off x="1060704" y="4192270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This matters more than it sounds, and Chapter 16 returns to it: the space-saving tricks that reduce a DP table from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mn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to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Θ(min(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m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,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work only if you do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not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need to reconstruct the solution, because reconstruction needs the whole table.</a:t>
            </a:r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799214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Common pitfalls</a:t>
            </a:r>
          </a:p>
        </p:txBody>
      </p:sp>
      <p:pic>
        <p:nvPicPr>
          <p:cNvPr id="3" name="!!kicker-icon" descr="exclamation-circ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2672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COMMON PITFALLS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§15.5  ·  Handout p. 125     </a:t>
            </a:r>
            <a:fld id="{73443B32-B53A-4630-AF38-0C76E7D0E30D}" type="slidenum">
              <a:rPr lang="en-GB" sz="1000">
                <a:solidFill>
                  <a:srgbClr val="8795A1"/>
                </a:solidFill>
                <a:latin typeface="Segoe UI"/>
              </a:rPr>
              <a:t>30</a:t>
            </a:fld>
          </a:p>
        </p:txBody>
      </p:sp>
      <p:sp>
        <p:nvSpPr>
          <p:cNvPr id="7" name="!!p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px0"/>
          <p:cNvSpPr txBox="1"/>
          <p:nvPr/>
        </p:nvSpPr>
        <p:spPr>
          <a:xfrm>
            <a:off x="658368" y="1778507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9" name="!!pt0"/>
          <p:cNvSpPr txBox="1"/>
          <p:nvPr/>
        </p:nvSpPr>
        <p:spPr>
          <a:xfrm>
            <a:off x="1261872" y="1737360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Memoising a problem with no overlap.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Merge sort gains nothing; the table is pure overhead.</a:t>
            </a:r>
          </a:p>
        </p:txBody>
      </p:sp>
      <p:sp>
        <p:nvSpPr>
          <p:cNvPr id="10" name="!!p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322576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x1"/>
          <p:cNvSpPr txBox="1"/>
          <p:nvPr/>
        </p:nvSpPr>
        <p:spPr>
          <a:xfrm>
            <a:off x="658368" y="234543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12" name="!!pt1"/>
          <p:cNvSpPr txBox="1"/>
          <p:nvPr/>
        </p:nvSpPr>
        <p:spPr>
          <a:xfrm>
            <a:off x="1261872" y="2304288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Assuming optimal substructure.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It must be argued. Longest </a:t>
            </a:r>
            <a:r>
              <a:rPr sz="1700" b="0" i="1">
                <a:solidFill>
                  <a:srgbClr val="1C252B"/>
                </a:solidFill>
                <a:latin typeface="Segoe UI"/>
              </a:rPr>
              <a:t>simple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path in a graph does not have it, and the usual DP recurrence for it is simply wrong.</a:t>
            </a:r>
          </a:p>
        </p:txBody>
      </p:sp>
      <p:sp>
        <p:nvSpPr>
          <p:cNvPr id="13" name="!!p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62630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x2"/>
          <p:cNvSpPr txBox="1"/>
          <p:nvPr/>
        </p:nvSpPr>
        <p:spPr>
          <a:xfrm>
            <a:off x="658368" y="308549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15" name="!!pt2"/>
          <p:cNvSpPr txBox="1"/>
          <p:nvPr/>
        </p:nvSpPr>
        <p:spPr>
          <a:xfrm>
            <a:off x="1261872" y="3044342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Forgetting the base case in the table.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r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[0] = 0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is load bearing.</a:t>
            </a:r>
          </a:p>
        </p:txBody>
      </p:sp>
      <p:sp>
        <p:nvSpPr>
          <p:cNvPr id="16" name="!!p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29558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x3"/>
          <p:cNvSpPr txBox="1"/>
          <p:nvPr/>
        </p:nvSpPr>
        <p:spPr>
          <a:xfrm>
            <a:off x="658368" y="365241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18" name="!!pt3"/>
          <p:cNvSpPr txBox="1"/>
          <p:nvPr/>
        </p:nvSpPr>
        <p:spPr>
          <a:xfrm>
            <a:off x="1261872" y="3611270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Recursing memoised at large 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The first call descends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frames deep before any memo is written — Chapter 9’s stack overflow, in a new costume. Bottom-up has no stack.</a:t>
            </a:r>
          </a:p>
        </p:txBody>
      </p:sp>
      <p:sp>
        <p:nvSpPr>
          <p:cNvPr id="19" name="!!p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369612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px4"/>
          <p:cNvSpPr txBox="1"/>
          <p:nvPr/>
        </p:nvSpPr>
        <p:spPr>
          <a:xfrm>
            <a:off x="658368" y="439247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21" name="!!pt4"/>
          <p:cNvSpPr txBox="1"/>
          <p:nvPr/>
        </p:nvSpPr>
        <p:spPr>
          <a:xfrm>
            <a:off x="1261872" y="4351324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Returning only the value.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Store the choices too, or the answer is unusable.</a:t>
            </a:r>
          </a:p>
        </p:txBody>
      </p:sp>
      <p:sp>
        <p:nvSpPr>
          <p:cNvPr id="22" name="!!p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936540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px5"/>
          <p:cNvSpPr txBox="1"/>
          <p:nvPr/>
        </p:nvSpPr>
        <p:spPr>
          <a:xfrm>
            <a:off x="658368" y="495940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24" name="!!pt5"/>
          <p:cNvSpPr txBox="1"/>
          <p:nvPr/>
        </p:nvSpPr>
        <p:spPr>
          <a:xfrm>
            <a:off x="1261872" y="4918252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Quoting 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Θ(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1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 without checking the parameters.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Measured, rod cutting with a 30-entry price table is linear.</a:t>
            </a:r>
          </a:p>
        </p:txBody>
      </p:sp>
      <p:sp>
        <p:nvSpPr>
          <p:cNvPr id="25" name="!!pb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76595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px6"/>
          <p:cNvSpPr txBox="1"/>
          <p:nvPr/>
        </p:nvSpPr>
        <p:spPr>
          <a:xfrm>
            <a:off x="658368" y="5699455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27" name="!!pt6"/>
          <p:cNvSpPr txBox="1"/>
          <p:nvPr/>
        </p:nvSpPr>
        <p:spPr>
          <a:xfrm>
            <a:off x="1261872" y="5658307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Reaching for DP before trying greedy.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Greedy is faster when it works, and the attempt to prove it tells you whether it does.</a:t>
            </a:r>
          </a:p>
        </p:txBody>
      </p:sp>
      <p:sp>
        <p:nvSpPr>
          <p:cNvPr id="8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033670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63" dur="2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74" dur="26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Try it yourself: Counting the Overlap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TRY IT YOURSELF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§15.5  ·  Handout p. 125     </a:t>
            </a:r>
            <a:fld id="{531038AB-E931-48A8-BBCC-AD671383F249}" type="slidenum">
              <a:rPr lang="en-GB" sz="1000">
                <a:solidFill>
                  <a:srgbClr val="8795A1"/>
                </a:solidFill>
                <a:latin typeface="Segoe UI"/>
              </a:rPr>
              <a:t>31</a:t>
            </a:fld>
          </a:p>
        </p:txBody>
      </p:sp>
      <p:sp>
        <p:nvSpPr>
          <p:cNvPr id="7" name="body-0"/>
          <p:cNvSpPr txBox="1"/>
          <p:nvPr/>
        </p:nvSpPr>
        <p:spPr>
          <a:xfrm>
            <a:off x="658368" y="1737360"/>
            <a:ext cx="10874959" cy="6797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Reproduces all five tables. Expect twenty-five minutes; the naive version at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 = 32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takes about seventeen seconds on its own.</a:t>
            </a:r>
          </a:p>
        </p:txBody>
      </p:sp>
      <p:sp>
        <p:nvSpPr>
          <p:cNvPr id="8" name="!!labsteps-h"/>
          <p:cNvSpPr txBox="1"/>
          <p:nvPr/>
        </p:nvSpPr>
        <p:spPr>
          <a:xfrm>
            <a:off x="658368" y="268224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E6655"/>
                </a:solidFill>
                <a:latin typeface="Segoe UI"/>
              </a:rPr>
              <a:t>WHAT YOU WILL DO</a:t>
            </a:r>
          </a:p>
        </p:txBody>
      </p:sp>
      <p:sp>
        <p:nvSpPr>
          <p:cNvPr id="9" name="!!labsteps"/>
          <p:cNvSpPr txBox="1"/>
          <p:nvPr/>
        </p:nvSpPr>
        <p:spPr>
          <a:xfrm>
            <a:off x="658368" y="3066288"/>
            <a:ext cx="10874959" cy="2171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67434" indent="-367434">
              <a:lnSpc>
                <a:spcPct val="100000"/>
              </a:lnSpc>
              <a:spcBef>
                <a:spcPts val="0"/>
              </a:spcBef>
              <a:spcAft>
                <a:spcPts val="420"/>
              </a:spcAft>
            </a:pPr>
            <a:r>
              <a:rPr sz="1400" b="1">
                <a:solidFill>
                  <a:srgbClr val="117A65"/>
                </a:solidFill>
                <a:latin typeface="Segoe UI"/>
              </a:rPr>
              <a:t>1.	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The naive recursion, instrumented</a:t>
            </a:r>
          </a:p>
          <a:p>
            <a:pPr algn="l" marL="367434" indent="-367434">
              <a:lnSpc>
                <a:spcPct val="100000"/>
              </a:lnSpc>
              <a:spcBef>
                <a:spcPts val="0"/>
              </a:spcBef>
              <a:spcAft>
                <a:spcPts val="420"/>
              </a:spcAft>
            </a:pPr>
            <a:r>
              <a:rPr sz="1400" b="1">
                <a:solidFill>
                  <a:srgbClr val="117A65"/>
                </a:solidFill>
                <a:latin typeface="Segoe UI"/>
              </a:rPr>
              <a:t>2.	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The same recursion, with an answer cache</a:t>
            </a:r>
          </a:p>
          <a:p>
            <a:pPr algn="l" marL="367434" indent="-367434">
              <a:lnSpc>
                <a:spcPct val="100000"/>
              </a:lnSpc>
              <a:spcBef>
                <a:spcPts val="0"/>
              </a:spcBef>
              <a:spcAft>
                <a:spcPts val="420"/>
              </a:spcAft>
            </a:pPr>
            <a:r>
              <a:rPr sz="1400" b="1">
                <a:solidFill>
                  <a:srgbClr val="117A65"/>
                </a:solidFill>
                <a:latin typeface="Segoe UI"/>
              </a:rPr>
              <a:t>3.	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Bottom-up: the same table, filled in dependency order</a:t>
            </a:r>
          </a:p>
          <a:p>
            <a:pPr algn="l" marL="367434" indent="-367434">
              <a:lnSpc>
                <a:spcPct val="100000"/>
              </a:lnSpc>
              <a:spcBef>
                <a:spcPts val="0"/>
              </a:spcBef>
              <a:spcAft>
                <a:spcPts val="420"/>
              </a:spcAft>
            </a:pPr>
            <a:r>
              <a:rPr sz="1400" b="1">
                <a:solidFill>
                  <a:srgbClr val="117A65"/>
                </a:solidFill>
                <a:latin typeface="Segoe UI"/>
              </a:rPr>
              <a:t>4.	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How often is each subproblem solved?</a:t>
            </a:r>
          </a:p>
          <a:p>
            <a:pPr algn="l" marL="367434" indent="-367434">
              <a:lnSpc>
                <a:spcPct val="100000"/>
              </a:lnSpc>
              <a:spcBef>
                <a:spcPts val="0"/>
              </a:spcBef>
              <a:spcAft>
                <a:spcPts val="420"/>
              </a:spcAft>
            </a:pPr>
            <a:r>
              <a:rPr sz="1400" b="1">
                <a:solidFill>
                  <a:srgbClr val="117A65"/>
                </a:solidFill>
                <a:latin typeface="Segoe UI"/>
              </a:rPr>
              <a:t>5.	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The explosion, and the collapse</a:t>
            </a:r>
          </a:p>
          <a:p>
            <a:pPr algn="l" marL="367434" indent="-367434">
              <a:lnSpc>
                <a:spcPct val="100000"/>
              </a:lnSpc>
              <a:spcBef>
                <a:spcPts val="0"/>
              </a:spcBef>
              <a:spcAft>
                <a:spcPts val="420"/>
              </a:spcAft>
            </a:pPr>
            <a:r>
              <a:rPr sz="1400" b="1">
                <a:solidFill>
                  <a:srgbClr val="117A65"/>
                </a:solidFill>
                <a:latin typeface="Segoe UI"/>
              </a:rPr>
              <a:t>6.	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And in seconds</a:t>
            </a:r>
          </a:p>
          <a:p>
            <a:pPr algn="l" marL="367434" indent="-367434">
              <a:lnSpc>
                <a:spcPct val="100000"/>
              </a:lnSpc>
              <a:spcBef>
                <a:spcPts val="0"/>
              </a:spcBef>
              <a:spcAft>
                <a:spcPts val="420"/>
              </a:spcAft>
            </a:pPr>
            <a:r>
              <a:rPr sz="1400" b="1">
                <a:solidFill>
                  <a:srgbClr val="117A65"/>
                </a:solidFill>
                <a:latin typeface="Segoe UI"/>
              </a:rPr>
              <a:t>7.	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All three agree, which is the point</a:t>
            </a:r>
          </a:p>
          <a:p>
            <a:pPr algn="l" marL="367434" indent="-367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7A65"/>
                </a:solidFill>
                <a:latin typeface="Segoe UI"/>
              </a:rPr>
              <a:t>8.	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Bottom-up scales where the others cannot</a:t>
            </a:r>
          </a:p>
        </p:txBody>
      </p:sp>
      <p:sp>
        <p:nvSpPr>
          <p:cNvPr id="44" name="!!lfTHI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230368"/>
            <a:ext cx="3442106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!!lfbTHI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230368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!!lflTHIS"/>
          <p:cNvSpPr txBox="1"/>
          <p:nvPr/>
        </p:nvSpPr>
        <p:spPr>
          <a:xfrm>
            <a:off x="932688" y="5394960"/>
            <a:ext cx="303062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THIS WEEK'S LAB</a:t>
            </a:r>
          </a:p>
        </p:txBody>
      </p:sp>
      <p:sp>
        <p:nvSpPr>
          <p:cNvPr id="47" name="!!lfvTHIS"/>
          <p:cNvSpPr txBox="1"/>
          <p:nvPr/>
        </p:nvSpPr>
        <p:spPr>
          <a:xfrm>
            <a:off x="932688" y="5687568"/>
            <a:ext cx="303062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Week 11: Memoised against bottom-up, timed and counted</a:t>
            </a:r>
          </a:p>
        </p:txBody>
      </p:sp>
      <p:sp>
        <p:nvSpPr>
          <p:cNvPr id="48" name="!!lfWHA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4794" y="5230368"/>
            <a:ext cx="3442106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!!lfbWHA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4794" y="5230368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!!lflWHAT"/>
          <p:cNvSpPr txBox="1"/>
          <p:nvPr/>
        </p:nvSpPr>
        <p:spPr>
          <a:xfrm>
            <a:off x="4649114" y="5394960"/>
            <a:ext cx="303062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WHAT YOU WILL RUN</a:t>
            </a:r>
          </a:p>
        </p:txBody>
      </p:sp>
      <p:sp>
        <p:nvSpPr>
          <p:cNvPr id="51" name="!!lfvWHAT"/>
          <p:cNvSpPr txBox="1"/>
          <p:nvPr/>
        </p:nvSpPr>
        <p:spPr>
          <a:xfrm>
            <a:off x="4649114" y="5687568"/>
            <a:ext cx="303062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1 listing, 55 lines of C++</a:t>
            </a:r>
          </a:p>
        </p:txBody>
      </p:sp>
      <p:sp>
        <p:nvSpPr>
          <p:cNvPr id="52" name="!!lfRUN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91220" y="5230368"/>
            <a:ext cx="3442106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!!lfbRUN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91220" y="5230368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!!lflRUNN"/>
          <p:cNvSpPr txBox="1"/>
          <p:nvPr/>
        </p:nvSpPr>
        <p:spPr>
          <a:xfrm>
            <a:off x="8365540" y="5394960"/>
            <a:ext cx="303062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RUNNABLE COPY</a:t>
            </a:r>
          </a:p>
        </p:txBody>
      </p:sp>
      <p:sp>
        <p:nvSpPr>
          <p:cNvPr id="55" name="!!lfvRUNN"/>
          <p:cNvSpPr txBox="1"/>
          <p:nvPr/>
        </p:nvSpPr>
        <p:spPr>
          <a:xfrm>
            <a:off x="8365540" y="5687568"/>
            <a:ext cx="303062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Consolas"/>
              </a:rPr>
              <a:t>code/ch15_dp1.cpp</a:t>
            </a:r>
          </a:p>
        </p:txBody>
      </p:sp>
      <p:sp>
        <p:nvSpPr>
          <p:cNvPr id="5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268125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Counting the Overlap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1 OF 8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§15.5  ·  Handout p. 125     </a:t>
            </a:r>
            <a:fld id="{926763A3-2EAA-4A14-982E-2A24B0474691}" type="slidenum">
              <a:rPr lang="en-GB" sz="1000">
                <a:solidFill>
                  <a:srgbClr val="8795A1"/>
                </a:solidFill>
                <a:latin typeface="Segoe UI"/>
              </a:rPr>
              <a:t>32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The naive recursion, instrumented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4017264"/>
          </a:xfrm>
          <a:prstGeom prst="roundRect">
            <a:avLst>
              <a:gd name="adj" fmla="val 2276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code/ch15_dp1.cpp</a:t>
            </a:r>
          </a:p>
        </p:txBody>
      </p:sp>
      <p:sp>
        <p:nvSpPr>
          <p:cNvPr id="14" name="!!code-text" descr="// ch15_dp1.cpp -- overlapping subproblems, counted. // Build: cl /O2 /EHsc /std:c++17 ch15_dp1.cpp (see Appendix A) // --- 1. The naive recursion, instrumented -------------------------- // Rod cutting: a rod of length n, a price p[i] for a piece of length // i. Cut it to maximise revenue. The obvious recursion tries every // first cut and recurses on the remainder. static long long rod_naive(const std::vector&lt;long long&gt;&amp; p, int n) { ++calls; if (n &lt; (int)visits.size()) ++visits[n]; if (n == 0) return 0; long long best = 0; for (int i = 1; i &lt;= n &amp;&amp; i &lt; (int)p.size(); ++i) best = std::max(best, p[i] + rod_naive(p, n - i)); return best; }"/>
          <p:cNvSpPr txBox="1"/>
          <p:nvPr/>
        </p:nvSpPr>
        <p:spPr>
          <a:xfrm>
            <a:off x="1362456" y="2523744"/>
            <a:ext cx="9987991" cy="35234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1">
                <a:solidFill>
                  <a:srgbClr val="8795A1"/>
                </a:solidFill>
                <a:latin typeface="Consolas"/>
              </a:rPr>
              <a:t>// ch15_dp1.cpp -- overlapping subproblems, counted.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1">
                <a:solidFill>
                  <a:srgbClr val="8795A1"/>
                </a:solidFill>
                <a:latin typeface="Consolas"/>
              </a:rPr>
              <a:t>// Build: cl /O2 /EHsc /std:c++17 ch15_dp1.cpp        (see Appendix A)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1">
                <a:solidFill>
                  <a:srgbClr val="8795A1"/>
                </a:solidFill>
                <a:latin typeface="Consolas"/>
              </a:rPr>
              <a:t>// --- 1. The naive recursion, instrumented --------------------------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1">
                <a:solidFill>
                  <a:srgbClr val="8795A1"/>
                </a:solidFill>
                <a:latin typeface="Consolas"/>
              </a:rPr>
              <a:t>// Rod cutting: a rod of length n, a price p[i] for a piece of length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1">
                <a:solidFill>
                  <a:srgbClr val="8795A1"/>
                </a:solidFill>
                <a:latin typeface="Consolas"/>
              </a:rPr>
              <a:t>// i. Cut it to maximise revenue. The obvious recursion tries every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1">
                <a:solidFill>
                  <a:srgbClr val="8795A1"/>
                </a:solidFill>
                <a:latin typeface="Consolas"/>
              </a:rPr>
              <a:t>// first cut and recurses on the remainder.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5DADE2"/>
                </a:solidFill>
                <a:latin typeface="Consolas"/>
              </a:rPr>
              <a:t>static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5DADE2"/>
                </a:solidFill>
                <a:latin typeface="Consolas"/>
              </a:rPr>
              <a:t>long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5DADE2"/>
                </a:solidFill>
                <a:latin typeface="Consolas"/>
              </a:rPr>
              <a:t>long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C39BD3"/>
                </a:solidFill>
                <a:latin typeface="Consolas"/>
              </a:rPr>
              <a:t>rod_naive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5DADE2"/>
                </a:solidFill>
                <a:latin typeface="Consolas"/>
              </a:rPr>
              <a:t>const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std</a:t>
            </a:r>
            <a:r>
              <a:rPr sz="1400" i="0">
                <a:solidFill>
                  <a:srgbClr val="AEB6BF"/>
                </a:solidFill>
                <a:latin typeface="Consolas"/>
              </a:rPr>
              <a:t>:</a:t>
            </a:r>
            <a:r>
              <a:rPr sz="1400" i="0">
                <a:solidFill>
                  <a:srgbClr val="AEB6BF"/>
                </a:solidFill>
                <a:latin typeface="Consolas"/>
              </a:rPr>
              <a:t>:</a:t>
            </a:r>
            <a:r>
              <a:rPr sz="1400" i="0">
                <a:solidFill>
                  <a:srgbClr val="E8EDF2"/>
                </a:solidFill>
                <a:latin typeface="Consolas"/>
              </a:rPr>
              <a:t>vector</a:t>
            </a:r>
            <a:r>
              <a:rPr sz="1400" i="0">
                <a:solidFill>
                  <a:srgbClr val="AEB6BF"/>
                </a:solidFill>
                <a:latin typeface="Consolas"/>
              </a:rPr>
              <a:t>&lt;</a:t>
            </a:r>
            <a:r>
              <a:rPr sz="1400" i="0">
                <a:solidFill>
                  <a:srgbClr val="5DADE2"/>
                </a:solidFill>
                <a:latin typeface="Consolas"/>
              </a:rPr>
              <a:t>long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5DADE2"/>
                </a:solidFill>
                <a:latin typeface="Consolas"/>
              </a:rPr>
              <a:t>long</a:t>
            </a:r>
            <a:r>
              <a:rPr sz="1400" i="0">
                <a:solidFill>
                  <a:srgbClr val="AEB6BF"/>
                </a:solidFill>
                <a:latin typeface="Consolas"/>
              </a:rPr>
              <a:t>&gt;</a:t>
            </a:r>
            <a:r>
              <a:rPr sz="14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p</a:t>
            </a:r>
            <a:r>
              <a:rPr sz="1400" i="0">
                <a:solidFill>
                  <a:srgbClr val="AEB6BF"/>
                </a:solidFill>
                <a:latin typeface="Consolas"/>
              </a:rPr>
              <a:t>,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5DADE2"/>
                </a:solidFill>
                <a:latin typeface="Consolas"/>
              </a:rPr>
              <a:t>int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n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</a:t>
            </a:r>
            <a:r>
              <a:rPr sz="1400" i="0">
                <a:solidFill>
                  <a:srgbClr val="AEB6BF"/>
                </a:solidFill>
                <a:latin typeface="Consolas"/>
              </a:rPr>
              <a:t>+</a:t>
            </a:r>
            <a:r>
              <a:rPr sz="1400" i="0">
                <a:solidFill>
                  <a:srgbClr val="AEB6BF"/>
                </a:solidFill>
                <a:latin typeface="Consolas"/>
              </a:rPr>
              <a:t>+</a:t>
            </a:r>
            <a:r>
              <a:rPr sz="1400" i="0">
                <a:solidFill>
                  <a:srgbClr val="E8EDF2"/>
                </a:solidFill>
                <a:latin typeface="Consolas"/>
              </a:rPr>
              <a:t>calls</a:t>
            </a:r>
            <a:r>
              <a:rPr sz="14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</a:t>
            </a:r>
            <a:r>
              <a:rPr sz="1400" i="0">
                <a:solidFill>
                  <a:srgbClr val="5DADE2"/>
                </a:solidFill>
                <a:latin typeface="Consolas"/>
              </a:rPr>
              <a:t>if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E8EDF2"/>
                </a:solidFill>
                <a:latin typeface="Consolas"/>
              </a:rPr>
              <a:t>n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&lt;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5DADE2"/>
                </a:solidFill>
                <a:latin typeface="Consolas"/>
              </a:rPr>
              <a:t>int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E8EDF2"/>
                </a:solidFill>
                <a:latin typeface="Consolas"/>
              </a:rPr>
              <a:t>visits</a:t>
            </a:r>
            <a:r>
              <a:rPr sz="1400" i="0">
                <a:solidFill>
                  <a:srgbClr val="AEB6BF"/>
                </a:solidFill>
                <a:latin typeface="Consolas"/>
              </a:rPr>
              <a:t>.</a:t>
            </a:r>
            <a:r>
              <a:rPr sz="1400" i="0">
                <a:solidFill>
                  <a:srgbClr val="E8EDF2"/>
                </a:solidFill>
                <a:latin typeface="Consolas"/>
              </a:rPr>
              <a:t>size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+</a:t>
            </a:r>
            <a:r>
              <a:rPr sz="1400" i="0">
                <a:solidFill>
                  <a:srgbClr val="AEB6BF"/>
                </a:solidFill>
                <a:latin typeface="Consolas"/>
              </a:rPr>
              <a:t>+</a:t>
            </a:r>
            <a:r>
              <a:rPr sz="1400" i="0">
                <a:solidFill>
                  <a:srgbClr val="E8EDF2"/>
                </a:solidFill>
                <a:latin typeface="Consolas"/>
              </a:rPr>
              <a:t>visits</a:t>
            </a:r>
            <a:r>
              <a:rPr sz="1400" i="0">
                <a:solidFill>
                  <a:srgbClr val="AEB6BF"/>
                </a:solidFill>
                <a:latin typeface="Consolas"/>
              </a:rPr>
              <a:t>[</a:t>
            </a:r>
            <a:r>
              <a:rPr sz="1400" i="0">
                <a:solidFill>
                  <a:srgbClr val="E8EDF2"/>
                </a:solidFill>
                <a:latin typeface="Consolas"/>
              </a:rPr>
              <a:t>n</a:t>
            </a:r>
            <a:r>
              <a:rPr sz="1400" i="0">
                <a:solidFill>
                  <a:srgbClr val="AEB6BF"/>
                </a:solidFill>
                <a:latin typeface="Consolas"/>
              </a:rPr>
              <a:t>]</a:t>
            </a:r>
            <a:r>
              <a:rPr sz="14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</a:t>
            </a:r>
            <a:r>
              <a:rPr sz="1400" i="0">
                <a:solidFill>
                  <a:srgbClr val="5DADE2"/>
                </a:solidFill>
                <a:latin typeface="Consolas"/>
              </a:rPr>
              <a:t>if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E8EDF2"/>
                </a:solidFill>
                <a:latin typeface="Consolas"/>
              </a:rPr>
              <a:t>n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=</a:t>
            </a:r>
            <a:r>
              <a:rPr sz="1400" i="0">
                <a:solidFill>
                  <a:srgbClr val="AEB6BF"/>
                </a:solidFill>
                <a:latin typeface="Consolas"/>
              </a:rPr>
              <a:t>=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F7DC6F"/>
                </a:solidFill>
                <a:latin typeface="Consolas"/>
              </a:rPr>
              <a:t>0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F7DC6F"/>
                </a:solidFill>
                <a:latin typeface="Consolas"/>
              </a:rPr>
              <a:t>0</a:t>
            </a:r>
            <a:r>
              <a:rPr sz="14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</a:t>
            </a:r>
            <a:r>
              <a:rPr sz="1400" i="0">
                <a:solidFill>
                  <a:srgbClr val="5DADE2"/>
                </a:solidFill>
                <a:latin typeface="Consolas"/>
              </a:rPr>
              <a:t>long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5DADE2"/>
                </a:solidFill>
                <a:latin typeface="Consolas"/>
              </a:rPr>
              <a:t>long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best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=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F7DC6F"/>
                </a:solidFill>
                <a:latin typeface="Consolas"/>
              </a:rPr>
              <a:t>0</a:t>
            </a:r>
            <a:r>
              <a:rPr sz="14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</a:t>
            </a:r>
            <a:r>
              <a:rPr sz="1400" i="0">
                <a:solidFill>
                  <a:srgbClr val="5DADE2"/>
                </a:solidFill>
                <a:latin typeface="Consolas"/>
              </a:rPr>
              <a:t>for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5DADE2"/>
                </a:solidFill>
                <a:latin typeface="Consolas"/>
              </a:rPr>
              <a:t>int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i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=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F7DC6F"/>
                </a:solidFill>
                <a:latin typeface="Consolas"/>
              </a:rPr>
              <a:t>1</a:t>
            </a:r>
            <a:r>
              <a:rPr sz="1400" i="0">
                <a:solidFill>
                  <a:srgbClr val="AEB6BF"/>
                </a:solidFill>
                <a:latin typeface="Consolas"/>
              </a:rPr>
              <a:t>;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i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&lt;</a:t>
            </a:r>
            <a:r>
              <a:rPr sz="1400" i="0">
                <a:solidFill>
                  <a:srgbClr val="AEB6BF"/>
                </a:solidFill>
                <a:latin typeface="Consolas"/>
              </a:rPr>
              <a:t>=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n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4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i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&lt;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5DADE2"/>
                </a:solidFill>
                <a:latin typeface="Consolas"/>
              </a:rPr>
              <a:t>int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E8EDF2"/>
                </a:solidFill>
                <a:latin typeface="Consolas"/>
              </a:rPr>
              <a:t>p</a:t>
            </a:r>
            <a:r>
              <a:rPr sz="1400" i="0">
                <a:solidFill>
                  <a:srgbClr val="AEB6BF"/>
                </a:solidFill>
                <a:latin typeface="Consolas"/>
              </a:rPr>
              <a:t>.</a:t>
            </a:r>
            <a:r>
              <a:rPr sz="1400" i="0">
                <a:solidFill>
                  <a:srgbClr val="E8EDF2"/>
                </a:solidFill>
                <a:latin typeface="Consolas"/>
              </a:rPr>
              <a:t>size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AEB6BF"/>
                </a:solidFill>
                <a:latin typeface="Consolas"/>
              </a:rPr>
              <a:t>;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+</a:t>
            </a:r>
            <a:r>
              <a:rPr sz="1400" i="0">
                <a:solidFill>
                  <a:srgbClr val="AEB6BF"/>
                </a:solidFill>
                <a:latin typeface="Consolas"/>
              </a:rPr>
              <a:t>+</a:t>
            </a:r>
            <a:r>
              <a:rPr sz="1400" i="0">
                <a:solidFill>
                  <a:srgbClr val="E8EDF2"/>
                </a:solidFill>
                <a:latin typeface="Consolas"/>
              </a:rPr>
              <a:t>i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400" i="0">
                <a:solidFill>
                  <a:srgbClr val="E8EDF2"/>
                </a:solidFill>
                <a:latin typeface="Consolas"/>
              </a:rPr>
              <a:t>best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=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std</a:t>
            </a:r>
            <a:r>
              <a:rPr sz="1400" i="0">
                <a:solidFill>
                  <a:srgbClr val="AEB6BF"/>
                </a:solidFill>
                <a:latin typeface="Consolas"/>
              </a:rPr>
              <a:t>:</a:t>
            </a:r>
            <a:r>
              <a:rPr sz="1400" i="0">
                <a:solidFill>
                  <a:srgbClr val="AEB6BF"/>
                </a:solidFill>
                <a:latin typeface="Consolas"/>
              </a:rPr>
              <a:t>:</a:t>
            </a:r>
            <a:r>
              <a:rPr sz="1400" i="0">
                <a:solidFill>
                  <a:srgbClr val="E8EDF2"/>
                </a:solidFill>
                <a:latin typeface="Consolas"/>
              </a:rPr>
              <a:t>max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E8EDF2"/>
                </a:solidFill>
                <a:latin typeface="Consolas"/>
              </a:rPr>
              <a:t>best</a:t>
            </a:r>
            <a:r>
              <a:rPr sz="1400" i="0">
                <a:solidFill>
                  <a:srgbClr val="AEB6BF"/>
                </a:solidFill>
                <a:latin typeface="Consolas"/>
              </a:rPr>
              <a:t>,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p</a:t>
            </a:r>
            <a:r>
              <a:rPr sz="1400" i="0">
                <a:solidFill>
                  <a:srgbClr val="AEB6BF"/>
                </a:solidFill>
                <a:latin typeface="Consolas"/>
              </a:rPr>
              <a:t>[</a:t>
            </a:r>
            <a:r>
              <a:rPr sz="1400" i="0">
                <a:solidFill>
                  <a:srgbClr val="E8EDF2"/>
                </a:solidFill>
                <a:latin typeface="Consolas"/>
              </a:rPr>
              <a:t>i</a:t>
            </a:r>
            <a:r>
              <a:rPr sz="1400" i="0">
                <a:solidFill>
                  <a:srgbClr val="AEB6BF"/>
                </a:solidFill>
                <a:latin typeface="Consolas"/>
              </a:rPr>
              <a:t>]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+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rod_naive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E8EDF2"/>
                </a:solidFill>
                <a:latin typeface="Consolas"/>
              </a:rPr>
              <a:t>p</a:t>
            </a:r>
            <a:r>
              <a:rPr sz="1400" i="0">
                <a:solidFill>
                  <a:srgbClr val="AEB6BF"/>
                </a:solidFill>
                <a:latin typeface="Consolas"/>
              </a:rPr>
              <a:t>,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n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-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i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</a:t>
            </a:r>
            <a:r>
              <a:rPr sz="14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best</a:t>
            </a:r>
            <a:r>
              <a:rPr sz="14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AEB6BF"/>
                </a:solidFill>
                <a:latin typeface="Consolas"/>
              </a:rPr>
              <a:t>}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5234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1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2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3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4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5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6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7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8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9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10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11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12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13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14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15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16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502581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Counting the Overlap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2 OF 8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§15.5  ·  Handout p. 125     </a:t>
            </a:r>
            <a:fld id="{E4756371-4AF9-43C5-B40A-ADF59F057328}" type="slidenum">
              <a:rPr lang="en-GB" sz="1000">
                <a:solidFill>
                  <a:srgbClr val="8795A1"/>
                </a:solidFill>
                <a:latin typeface="Segoe UI"/>
              </a:rPr>
              <a:t>33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The same recursion, with an answer cache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4017264"/>
          </a:xfrm>
          <a:prstGeom prst="roundRect">
            <a:avLst>
              <a:gd name="adj" fmla="val 2276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code/ch15_dp1.cpp</a:t>
            </a:r>
          </a:p>
        </p:txBody>
      </p:sp>
      <p:sp>
        <p:nvSpPr>
          <p:cNvPr id="14" name="!!code-text" descr="// --- 2. The same recursion, with an answer cache ------------------- // One line of difference. Each subproblem is now solved once and // looked up thereafter, which is why the running time collapses from // exponential to quadratic. static long long rod_memo(const std::vector&lt;long long&gt;&amp; p, int n, std::vector&lt;long long&gt;&amp; memo) { ++calls; if (memo[n] &gt;= 0) return memo[n]; long long best = 0; if (n &gt; 0) for (int i = 1; i &lt;= n &amp;&amp; i &lt; (int)p.size(); ++i) best = std::max(best, p[i] + rod_memo(p, n - i, memo)); return memo[n] = best; }"/>
          <p:cNvSpPr txBox="1"/>
          <p:nvPr/>
        </p:nvSpPr>
        <p:spPr>
          <a:xfrm>
            <a:off x="1362456" y="2523744"/>
            <a:ext cx="9987991" cy="35234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8795A1"/>
                </a:solidFill>
                <a:latin typeface="Consolas"/>
              </a:rPr>
              <a:t>// --- 2. The same recursion, with an answer cache 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8795A1"/>
                </a:solidFill>
                <a:latin typeface="Consolas"/>
              </a:rPr>
              <a:t>// One line of difference. Each subproblem is now solved once and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8795A1"/>
                </a:solidFill>
                <a:latin typeface="Consolas"/>
              </a:rPr>
              <a:t>// looked up thereafter, which is why the running time collapses from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8795A1"/>
                </a:solidFill>
                <a:latin typeface="Consolas"/>
              </a:rPr>
              <a:t>// exponential to quadratic.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5DADE2"/>
                </a:solidFill>
                <a:latin typeface="Consolas"/>
              </a:rPr>
              <a:t>static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5DADE2"/>
                </a:solidFill>
                <a:latin typeface="Consolas"/>
              </a:rPr>
              <a:t>long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5DADE2"/>
                </a:solidFill>
                <a:latin typeface="Consolas"/>
              </a:rPr>
              <a:t>long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C39BD3"/>
                </a:solidFill>
                <a:latin typeface="Consolas"/>
              </a:rPr>
              <a:t>rod_memo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5DADE2"/>
                </a:solidFill>
                <a:latin typeface="Consolas"/>
              </a:rPr>
              <a:t>const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std</a:t>
            </a:r>
            <a:r>
              <a:rPr sz="1600" i="0">
                <a:solidFill>
                  <a:srgbClr val="AEB6BF"/>
                </a:solidFill>
                <a:latin typeface="Consolas"/>
              </a:rPr>
              <a:t>:</a:t>
            </a:r>
            <a:r>
              <a:rPr sz="1600" i="0">
                <a:solidFill>
                  <a:srgbClr val="AEB6BF"/>
                </a:solidFill>
                <a:latin typeface="Consolas"/>
              </a:rPr>
              <a:t>:</a:t>
            </a:r>
            <a:r>
              <a:rPr sz="1600" i="0">
                <a:solidFill>
                  <a:srgbClr val="E8EDF2"/>
                </a:solidFill>
                <a:latin typeface="Consolas"/>
              </a:rPr>
              <a:t>vector</a:t>
            </a:r>
            <a:r>
              <a:rPr sz="1600" i="0">
                <a:solidFill>
                  <a:srgbClr val="AEB6BF"/>
                </a:solidFill>
                <a:latin typeface="Consolas"/>
              </a:rPr>
              <a:t>&lt;</a:t>
            </a:r>
            <a:r>
              <a:rPr sz="1600" i="0">
                <a:solidFill>
                  <a:srgbClr val="5DADE2"/>
                </a:solidFill>
                <a:latin typeface="Consolas"/>
              </a:rPr>
              <a:t>long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5DADE2"/>
                </a:solidFill>
                <a:latin typeface="Consolas"/>
              </a:rPr>
              <a:t>long</a:t>
            </a:r>
            <a:r>
              <a:rPr sz="1600" i="0">
                <a:solidFill>
                  <a:srgbClr val="AEB6BF"/>
                </a:solidFill>
                <a:latin typeface="Consolas"/>
              </a:rPr>
              <a:t>&gt;</a:t>
            </a:r>
            <a:r>
              <a:rPr sz="16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p</a:t>
            </a:r>
            <a:r>
              <a:rPr sz="1600" i="0">
                <a:solidFill>
                  <a:srgbClr val="AEB6BF"/>
                </a:solidFill>
                <a:latin typeface="Consolas"/>
              </a:rPr>
              <a:t>,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5DADE2"/>
                </a:solidFill>
                <a:latin typeface="Consolas"/>
              </a:rPr>
              <a:t>int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n</a:t>
            </a:r>
            <a:r>
              <a:rPr sz="1600" i="0">
                <a:solidFill>
                  <a:srgbClr val="AEB6B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                          </a:t>
            </a:r>
            <a:r>
              <a:rPr sz="1600" i="0">
                <a:solidFill>
                  <a:srgbClr val="E8EDF2"/>
                </a:solidFill>
                <a:latin typeface="Consolas"/>
              </a:rPr>
              <a:t>std</a:t>
            </a:r>
            <a:r>
              <a:rPr sz="1600" i="0">
                <a:solidFill>
                  <a:srgbClr val="AEB6BF"/>
                </a:solidFill>
                <a:latin typeface="Consolas"/>
              </a:rPr>
              <a:t>:</a:t>
            </a:r>
            <a:r>
              <a:rPr sz="1600" i="0">
                <a:solidFill>
                  <a:srgbClr val="AEB6BF"/>
                </a:solidFill>
                <a:latin typeface="Consolas"/>
              </a:rPr>
              <a:t>:</a:t>
            </a:r>
            <a:r>
              <a:rPr sz="1600" i="0">
                <a:solidFill>
                  <a:srgbClr val="E8EDF2"/>
                </a:solidFill>
                <a:latin typeface="Consolas"/>
              </a:rPr>
              <a:t>vector</a:t>
            </a:r>
            <a:r>
              <a:rPr sz="1600" i="0">
                <a:solidFill>
                  <a:srgbClr val="AEB6BF"/>
                </a:solidFill>
                <a:latin typeface="Consolas"/>
              </a:rPr>
              <a:t>&lt;</a:t>
            </a:r>
            <a:r>
              <a:rPr sz="1600" i="0">
                <a:solidFill>
                  <a:srgbClr val="5DADE2"/>
                </a:solidFill>
                <a:latin typeface="Consolas"/>
              </a:rPr>
              <a:t>long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5DADE2"/>
                </a:solidFill>
                <a:latin typeface="Consolas"/>
              </a:rPr>
              <a:t>long</a:t>
            </a:r>
            <a:r>
              <a:rPr sz="1600" i="0">
                <a:solidFill>
                  <a:srgbClr val="AEB6BF"/>
                </a:solidFill>
                <a:latin typeface="Consolas"/>
              </a:rPr>
              <a:t>&gt;</a:t>
            </a:r>
            <a:r>
              <a:rPr sz="16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memo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    </a:t>
            </a:r>
            <a:r>
              <a:rPr sz="1600" i="0">
                <a:solidFill>
                  <a:srgbClr val="AEB6BF"/>
                </a:solidFill>
                <a:latin typeface="Consolas"/>
              </a:rPr>
              <a:t>+</a:t>
            </a:r>
            <a:r>
              <a:rPr sz="1600" i="0">
                <a:solidFill>
                  <a:srgbClr val="AEB6BF"/>
                </a:solidFill>
                <a:latin typeface="Consolas"/>
              </a:rPr>
              <a:t>+</a:t>
            </a:r>
            <a:r>
              <a:rPr sz="1600" i="0">
                <a:solidFill>
                  <a:srgbClr val="E8EDF2"/>
                </a:solidFill>
                <a:latin typeface="Consolas"/>
              </a:rPr>
              <a:t>calls</a:t>
            </a:r>
            <a:r>
              <a:rPr sz="16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    </a:t>
            </a:r>
            <a:r>
              <a:rPr sz="1600" i="0">
                <a:solidFill>
                  <a:srgbClr val="5DADE2"/>
                </a:solidFill>
                <a:latin typeface="Consolas"/>
              </a:rPr>
              <a:t>if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E8EDF2"/>
                </a:solidFill>
                <a:latin typeface="Consolas"/>
              </a:rPr>
              <a:t>memo</a:t>
            </a:r>
            <a:r>
              <a:rPr sz="1600" i="0">
                <a:solidFill>
                  <a:srgbClr val="AEB6BF"/>
                </a:solidFill>
                <a:latin typeface="Consolas"/>
              </a:rPr>
              <a:t>[</a:t>
            </a:r>
            <a:r>
              <a:rPr sz="1600" i="0">
                <a:solidFill>
                  <a:srgbClr val="E8EDF2"/>
                </a:solidFill>
                <a:latin typeface="Consolas"/>
              </a:rPr>
              <a:t>n</a:t>
            </a:r>
            <a:r>
              <a:rPr sz="1600" i="0">
                <a:solidFill>
                  <a:srgbClr val="AEB6BF"/>
                </a:solidFill>
                <a:latin typeface="Consolas"/>
              </a:rPr>
              <a:t>]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&gt;</a:t>
            </a:r>
            <a:r>
              <a:rPr sz="1600" i="0">
                <a:solidFill>
                  <a:srgbClr val="AEB6BF"/>
                </a:solidFill>
                <a:latin typeface="Consolas"/>
              </a:rPr>
              <a:t>=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F7DC6F"/>
                </a:solidFill>
                <a:latin typeface="Consolas"/>
              </a:rPr>
              <a:t>0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memo</a:t>
            </a:r>
            <a:r>
              <a:rPr sz="1600" i="0">
                <a:solidFill>
                  <a:srgbClr val="AEB6BF"/>
                </a:solidFill>
                <a:latin typeface="Consolas"/>
              </a:rPr>
              <a:t>[</a:t>
            </a:r>
            <a:r>
              <a:rPr sz="1600" i="0">
                <a:solidFill>
                  <a:srgbClr val="E8EDF2"/>
                </a:solidFill>
                <a:latin typeface="Consolas"/>
              </a:rPr>
              <a:t>n</a:t>
            </a:r>
            <a:r>
              <a:rPr sz="1600" i="0">
                <a:solidFill>
                  <a:srgbClr val="AEB6BF"/>
                </a:solidFill>
                <a:latin typeface="Consolas"/>
              </a:rPr>
              <a:t>]</a:t>
            </a:r>
            <a:r>
              <a:rPr sz="16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    </a:t>
            </a:r>
            <a:r>
              <a:rPr sz="1600" i="0">
                <a:solidFill>
                  <a:srgbClr val="5DADE2"/>
                </a:solidFill>
                <a:latin typeface="Consolas"/>
              </a:rPr>
              <a:t>long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5DADE2"/>
                </a:solidFill>
                <a:latin typeface="Consolas"/>
              </a:rPr>
              <a:t>long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best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=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F7DC6F"/>
                </a:solidFill>
                <a:latin typeface="Consolas"/>
              </a:rPr>
              <a:t>0</a:t>
            </a:r>
            <a:r>
              <a:rPr sz="16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    </a:t>
            </a:r>
            <a:r>
              <a:rPr sz="1600" i="0">
                <a:solidFill>
                  <a:srgbClr val="5DADE2"/>
                </a:solidFill>
                <a:latin typeface="Consolas"/>
              </a:rPr>
              <a:t>if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E8EDF2"/>
                </a:solidFill>
                <a:latin typeface="Consolas"/>
              </a:rPr>
              <a:t>n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&gt;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F7DC6F"/>
                </a:solidFill>
                <a:latin typeface="Consolas"/>
              </a:rPr>
              <a:t>0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600" i="0">
                <a:solidFill>
                  <a:srgbClr val="5DADE2"/>
                </a:solidFill>
                <a:latin typeface="Consolas"/>
              </a:rPr>
              <a:t>for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5DADE2"/>
                </a:solidFill>
                <a:latin typeface="Consolas"/>
              </a:rPr>
              <a:t>int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i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=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F7DC6F"/>
                </a:solidFill>
                <a:latin typeface="Consolas"/>
              </a:rPr>
              <a:t>1</a:t>
            </a:r>
            <a:r>
              <a:rPr sz="1600" i="0">
                <a:solidFill>
                  <a:srgbClr val="AEB6BF"/>
                </a:solidFill>
                <a:latin typeface="Consolas"/>
              </a:rPr>
              <a:t>;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i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&lt;</a:t>
            </a:r>
            <a:r>
              <a:rPr sz="1600" i="0">
                <a:solidFill>
                  <a:srgbClr val="AEB6BF"/>
                </a:solidFill>
                <a:latin typeface="Consolas"/>
              </a:rPr>
              <a:t>=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n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6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i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&lt;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5DADE2"/>
                </a:solidFill>
                <a:latin typeface="Consolas"/>
              </a:rPr>
              <a:t>int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E8EDF2"/>
                </a:solidFill>
                <a:latin typeface="Consolas"/>
              </a:rPr>
              <a:t>p</a:t>
            </a:r>
            <a:r>
              <a:rPr sz="1600" i="0">
                <a:solidFill>
                  <a:srgbClr val="AEB6BF"/>
                </a:solidFill>
                <a:latin typeface="Consolas"/>
              </a:rPr>
              <a:t>.</a:t>
            </a:r>
            <a:r>
              <a:rPr sz="1600" i="0">
                <a:solidFill>
                  <a:srgbClr val="E8EDF2"/>
                </a:solidFill>
                <a:latin typeface="Consolas"/>
              </a:rPr>
              <a:t>size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AEB6BF"/>
                </a:solidFill>
                <a:latin typeface="Consolas"/>
              </a:rPr>
              <a:t>;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+</a:t>
            </a:r>
            <a:r>
              <a:rPr sz="1600" i="0">
                <a:solidFill>
                  <a:srgbClr val="AEB6BF"/>
                </a:solidFill>
                <a:latin typeface="Consolas"/>
              </a:rPr>
              <a:t>+</a:t>
            </a:r>
            <a:r>
              <a:rPr sz="1600" i="0">
                <a:solidFill>
                  <a:srgbClr val="E8EDF2"/>
                </a:solidFill>
                <a:latin typeface="Consolas"/>
              </a:rPr>
              <a:t>i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            </a:t>
            </a:r>
            <a:r>
              <a:rPr sz="1600" i="0">
                <a:solidFill>
                  <a:srgbClr val="E8EDF2"/>
                </a:solidFill>
                <a:latin typeface="Consolas"/>
              </a:rPr>
              <a:t>best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=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std</a:t>
            </a:r>
            <a:r>
              <a:rPr sz="1600" i="0">
                <a:solidFill>
                  <a:srgbClr val="AEB6BF"/>
                </a:solidFill>
                <a:latin typeface="Consolas"/>
              </a:rPr>
              <a:t>:</a:t>
            </a:r>
            <a:r>
              <a:rPr sz="1600" i="0">
                <a:solidFill>
                  <a:srgbClr val="AEB6BF"/>
                </a:solidFill>
                <a:latin typeface="Consolas"/>
              </a:rPr>
              <a:t>:</a:t>
            </a:r>
            <a:r>
              <a:rPr sz="1600" i="0">
                <a:solidFill>
                  <a:srgbClr val="E8EDF2"/>
                </a:solidFill>
                <a:latin typeface="Consolas"/>
              </a:rPr>
              <a:t>max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E8EDF2"/>
                </a:solidFill>
                <a:latin typeface="Consolas"/>
              </a:rPr>
              <a:t>best</a:t>
            </a:r>
            <a:r>
              <a:rPr sz="1600" i="0">
                <a:solidFill>
                  <a:srgbClr val="AEB6BF"/>
                </a:solidFill>
                <a:latin typeface="Consolas"/>
              </a:rPr>
              <a:t>,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p</a:t>
            </a:r>
            <a:r>
              <a:rPr sz="1600" i="0">
                <a:solidFill>
                  <a:srgbClr val="AEB6BF"/>
                </a:solidFill>
                <a:latin typeface="Consolas"/>
              </a:rPr>
              <a:t>[</a:t>
            </a:r>
            <a:r>
              <a:rPr sz="1600" i="0">
                <a:solidFill>
                  <a:srgbClr val="E8EDF2"/>
                </a:solidFill>
                <a:latin typeface="Consolas"/>
              </a:rPr>
              <a:t>i</a:t>
            </a:r>
            <a:r>
              <a:rPr sz="1600" i="0">
                <a:solidFill>
                  <a:srgbClr val="AEB6BF"/>
                </a:solidFill>
                <a:latin typeface="Consolas"/>
              </a:rPr>
              <a:t>]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+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rod_memo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E8EDF2"/>
                </a:solidFill>
                <a:latin typeface="Consolas"/>
              </a:rPr>
              <a:t>p</a:t>
            </a:r>
            <a:r>
              <a:rPr sz="1600" i="0">
                <a:solidFill>
                  <a:srgbClr val="AEB6BF"/>
                </a:solidFill>
                <a:latin typeface="Consolas"/>
              </a:rPr>
              <a:t>,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n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-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i</a:t>
            </a:r>
            <a:r>
              <a:rPr sz="1600" i="0">
                <a:solidFill>
                  <a:srgbClr val="AEB6BF"/>
                </a:solidFill>
                <a:latin typeface="Consolas"/>
              </a:rPr>
              <a:t>,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memo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    </a:t>
            </a:r>
            <a:r>
              <a:rPr sz="16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memo</a:t>
            </a:r>
            <a:r>
              <a:rPr sz="1600" i="0">
                <a:solidFill>
                  <a:srgbClr val="AEB6BF"/>
                </a:solidFill>
                <a:latin typeface="Consolas"/>
              </a:rPr>
              <a:t>[</a:t>
            </a:r>
            <a:r>
              <a:rPr sz="1600" i="0">
                <a:solidFill>
                  <a:srgbClr val="E8EDF2"/>
                </a:solidFill>
                <a:latin typeface="Consolas"/>
              </a:rPr>
              <a:t>n</a:t>
            </a:r>
            <a:r>
              <a:rPr sz="1600" i="0">
                <a:solidFill>
                  <a:srgbClr val="AEB6BF"/>
                </a:solidFill>
                <a:latin typeface="Consolas"/>
              </a:rPr>
              <a:t>]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=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best</a:t>
            </a:r>
            <a:r>
              <a:rPr sz="16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AEB6BF"/>
                </a:solidFill>
                <a:latin typeface="Consolas"/>
              </a:rPr>
              <a:t>}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5234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18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19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20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21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22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23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24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25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26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27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28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29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30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31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737037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Counting the Overlap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3 OF 8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§15.5  ·  Handout p. 125     </a:t>
            </a:r>
            <a:fld id="{7EA35CC9-8695-4C27-8B5F-25BFCF50E9DE}" type="slidenum">
              <a:rPr lang="en-GB" sz="1000">
                <a:solidFill>
                  <a:srgbClr val="8795A1"/>
                </a:solidFill>
                <a:latin typeface="Segoe UI"/>
              </a:rPr>
              <a:t>34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Bottom-up: the same table, filled in dependency order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4017264"/>
          </a:xfrm>
          <a:prstGeom prst="roundRect">
            <a:avLst>
              <a:gd name="adj" fmla="val 2276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code/ch15_dp1.cpp</a:t>
            </a:r>
          </a:p>
        </p:txBody>
      </p:sp>
      <p:sp>
        <p:nvSpPr>
          <p:cNvPr id="14" name="!!code-text" descr="// --- 3. Bottom-up: the same table, filled in dependency order ------ // No recursion and no cache lookups, just two loops. Identical // answers, identical asymptotics, smaller constant -- and it cannot // overflow the stack, which for large n matters (Chapter 9). static long long rod_bottom_up(const std::vector&lt;long long&gt;&amp; p, int n) { std::vector&lt;long long&gt; best(n + 1, 0); for (int j = 1; j &lt;= n; ++j) { long long b = 0; for (int i = 1; i &lt;= j &amp;&amp; i &lt; (int)p.size(); ++i) b = std::max(b, p[i] + best[j - i]); best[j] = b; } return best[n]; }"/>
          <p:cNvSpPr txBox="1"/>
          <p:nvPr/>
        </p:nvSpPr>
        <p:spPr>
          <a:xfrm>
            <a:off x="1362456" y="2523744"/>
            <a:ext cx="9987991" cy="35234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8795A1"/>
                </a:solidFill>
                <a:latin typeface="Consolas"/>
              </a:rPr>
              <a:t>// --- 3. Bottom-up: the same table, filled in dependency order 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8795A1"/>
                </a:solidFill>
                <a:latin typeface="Consolas"/>
              </a:rPr>
              <a:t>// No recursion and no cache lookups, just two loops. Identical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8795A1"/>
                </a:solidFill>
                <a:latin typeface="Consolas"/>
              </a:rPr>
              <a:t>// answers, identical asymptotics, smaller constant -- and it cannot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8795A1"/>
                </a:solidFill>
                <a:latin typeface="Consolas"/>
              </a:rPr>
              <a:t>// overflow the stack, which for large n matters (Chapter 9).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5DADE2"/>
                </a:solidFill>
                <a:latin typeface="Consolas"/>
              </a:rPr>
              <a:t>static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5DADE2"/>
                </a:solidFill>
                <a:latin typeface="Consolas"/>
              </a:rPr>
              <a:t>long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5DADE2"/>
                </a:solidFill>
                <a:latin typeface="Consolas"/>
              </a:rPr>
              <a:t>long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C39BD3"/>
                </a:solidFill>
                <a:latin typeface="Consolas"/>
              </a:rPr>
              <a:t>rod_bottom_up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5DADE2"/>
                </a:solidFill>
                <a:latin typeface="Consolas"/>
              </a:rPr>
              <a:t>const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std</a:t>
            </a:r>
            <a:r>
              <a:rPr sz="1600" i="0">
                <a:solidFill>
                  <a:srgbClr val="AEB6BF"/>
                </a:solidFill>
                <a:latin typeface="Consolas"/>
              </a:rPr>
              <a:t>:</a:t>
            </a:r>
            <a:r>
              <a:rPr sz="1600" i="0">
                <a:solidFill>
                  <a:srgbClr val="AEB6BF"/>
                </a:solidFill>
                <a:latin typeface="Consolas"/>
              </a:rPr>
              <a:t>:</a:t>
            </a:r>
            <a:r>
              <a:rPr sz="1600" i="0">
                <a:solidFill>
                  <a:srgbClr val="E8EDF2"/>
                </a:solidFill>
                <a:latin typeface="Consolas"/>
              </a:rPr>
              <a:t>vector</a:t>
            </a:r>
            <a:r>
              <a:rPr sz="1600" i="0">
                <a:solidFill>
                  <a:srgbClr val="AEB6BF"/>
                </a:solidFill>
                <a:latin typeface="Consolas"/>
              </a:rPr>
              <a:t>&lt;</a:t>
            </a:r>
            <a:r>
              <a:rPr sz="1600" i="0">
                <a:solidFill>
                  <a:srgbClr val="5DADE2"/>
                </a:solidFill>
                <a:latin typeface="Consolas"/>
              </a:rPr>
              <a:t>long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5DADE2"/>
                </a:solidFill>
                <a:latin typeface="Consolas"/>
              </a:rPr>
              <a:t>long</a:t>
            </a:r>
            <a:r>
              <a:rPr sz="1600" i="0">
                <a:solidFill>
                  <a:srgbClr val="AEB6BF"/>
                </a:solidFill>
                <a:latin typeface="Consolas"/>
              </a:rPr>
              <a:t>&gt;</a:t>
            </a:r>
            <a:r>
              <a:rPr sz="16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p</a:t>
            </a:r>
            <a:r>
              <a:rPr sz="1600" i="0">
                <a:solidFill>
                  <a:srgbClr val="AEB6BF"/>
                </a:solidFill>
                <a:latin typeface="Consolas"/>
              </a:rPr>
              <a:t>,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5DADE2"/>
                </a:solidFill>
                <a:latin typeface="Consolas"/>
              </a:rPr>
              <a:t>int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n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    </a:t>
            </a:r>
            <a:r>
              <a:rPr sz="1600" i="0">
                <a:solidFill>
                  <a:srgbClr val="E8EDF2"/>
                </a:solidFill>
                <a:latin typeface="Consolas"/>
              </a:rPr>
              <a:t>std</a:t>
            </a:r>
            <a:r>
              <a:rPr sz="1600" i="0">
                <a:solidFill>
                  <a:srgbClr val="AEB6BF"/>
                </a:solidFill>
                <a:latin typeface="Consolas"/>
              </a:rPr>
              <a:t>:</a:t>
            </a:r>
            <a:r>
              <a:rPr sz="1600" i="0">
                <a:solidFill>
                  <a:srgbClr val="AEB6BF"/>
                </a:solidFill>
                <a:latin typeface="Consolas"/>
              </a:rPr>
              <a:t>:</a:t>
            </a:r>
            <a:r>
              <a:rPr sz="1600" i="0">
                <a:solidFill>
                  <a:srgbClr val="E8EDF2"/>
                </a:solidFill>
                <a:latin typeface="Consolas"/>
              </a:rPr>
              <a:t>vector</a:t>
            </a:r>
            <a:r>
              <a:rPr sz="1600" i="0">
                <a:solidFill>
                  <a:srgbClr val="AEB6BF"/>
                </a:solidFill>
                <a:latin typeface="Consolas"/>
              </a:rPr>
              <a:t>&lt;</a:t>
            </a:r>
            <a:r>
              <a:rPr sz="1600" i="0">
                <a:solidFill>
                  <a:srgbClr val="5DADE2"/>
                </a:solidFill>
                <a:latin typeface="Consolas"/>
              </a:rPr>
              <a:t>long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5DADE2"/>
                </a:solidFill>
                <a:latin typeface="Consolas"/>
              </a:rPr>
              <a:t>long</a:t>
            </a:r>
            <a:r>
              <a:rPr sz="1600" i="0">
                <a:solidFill>
                  <a:srgbClr val="AEB6BF"/>
                </a:solidFill>
                <a:latin typeface="Consolas"/>
              </a:rPr>
              <a:t>&gt;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best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E8EDF2"/>
                </a:solidFill>
                <a:latin typeface="Consolas"/>
              </a:rPr>
              <a:t>n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+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F7DC6F"/>
                </a:solidFill>
                <a:latin typeface="Consolas"/>
              </a:rPr>
              <a:t>1</a:t>
            </a:r>
            <a:r>
              <a:rPr sz="1600" i="0">
                <a:solidFill>
                  <a:srgbClr val="AEB6BF"/>
                </a:solidFill>
                <a:latin typeface="Consolas"/>
              </a:rPr>
              <a:t>,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F7DC6F"/>
                </a:solidFill>
                <a:latin typeface="Consolas"/>
              </a:rPr>
              <a:t>0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    </a:t>
            </a:r>
            <a:r>
              <a:rPr sz="1600" i="0">
                <a:solidFill>
                  <a:srgbClr val="5DADE2"/>
                </a:solidFill>
                <a:latin typeface="Consolas"/>
              </a:rPr>
              <a:t>for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5DADE2"/>
                </a:solidFill>
                <a:latin typeface="Consolas"/>
              </a:rPr>
              <a:t>int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j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=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F7DC6F"/>
                </a:solidFill>
                <a:latin typeface="Consolas"/>
              </a:rPr>
              <a:t>1</a:t>
            </a:r>
            <a:r>
              <a:rPr sz="1600" i="0">
                <a:solidFill>
                  <a:srgbClr val="AEB6BF"/>
                </a:solidFill>
                <a:latin typeface="Consolas"/>
              </a:rPr>
              <a:t>;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j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&lt;</a:t>
            </a:r>
            <a:r>
              <a:rPr sz="1600" i="0">
                <a:solidFill>
                  <a:srgbClr val="AEB6BF"/>
                </a:solidFill>
                <a:latin typeface="Consolas"/>
              </a:rPr>
              <a:t>=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n</a:t>
            </a:r>
            <a:r>
              <a:rPr sz="1600" i="0">
                <a:solidFill>
                  <a:srgbClr val="AEB6BF"/>
                </a:solidFill>
                <a:latin typeface="Consolas"/>
              </a:rPr>
              <a:t>;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+</a:t>
            </a:r>
            <a:r>
              <a:rPr sz="1600" i="0">
                <a:solidFill>
                  <a:srgbClr val="AEB6BF"/>
                </a:solidFill>
                <a:latin typeface="Consolas"/>
              </a:rPr>
              <a:t>+</a:t>
            </a:r>
            <a:r>
              <a:rPr sz="1600" i="0">
                <a:solidFill>
                  <a:srgbClr val="E8EDF2"/>
                </a:solidFill>
                <a:latin typeface="Consolas"/>
              </a:rPr>
              <a:t>j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600" i="0">
                <a:solidFill>
                  <a:srgbClr val="5DADE2"/>
                </a:solidFill>
                <a:latin typeface="Consolas"/>
              </a:rPr>
              <a:t>long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5DADE2"/>
                </a:solidFill>
                <a:latin typeface="Consolas"/>
              </a:rPr>
              <a:t>long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b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=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F7DC6F"/>
                </a:solidFill>
                <a:latin typeface="Consolas"/>
              </a:rPr>
              <a:t>0</a:t>
            </a:r>
            <a:r>
              <a:rPr sz="16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600" i="0">
                <a:solidFill>
                  <a:srgbClr val="5DADE2"/>
                </a:solidFill>
                <a:latin typeface="Consolas"/>
              </a:rPr>
              <a:t>for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5DADE2"/>
                </a:solidFill>
                <a:latin typeface="Consolas"/>
              </a:rPr>
              <a:t>int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i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=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F7DC6F"/>
                </a:solidFill>
                <a:latin typeface="Consolas"/>
              </a:rPr>
              <a:t>1</a:t>
            </a:r>
            <a:r>
              <a:rPr sz="1600" i="0">
                <a:solidFill>
                  <a:srgbClr val="AEB6BF"/>
                </a:solidFill>
                <a:latin typeface="Consolas"/>
              </a:rPr>
              <a:t>;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i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&lt;</a:t>
            </a:r>
            <a:r>
              <a:rPr sz="1600" i="0">
                <a:solidFill>
                  <a:srgbClr val="AEB6BF"/>
                </a:solidFill>
                <a:latin typeface="Consolas"/>
              </a:rPr>
              <a:t>=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j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6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i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&lt;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5DADE2"/>
                </a:solidFill>
                <a:latin typeface="Consolas"/>
              </a:rPr>
              <a:t>int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E8EDF2"/>
                </a:solidFill>
                <a:latin typeface="Consolas"/>
              </a:rPr>
              <a:t>p</a:t>
            </a:r>
            <a:r>
              <a:rPr sz="1600" i="0">
                <a:solidFill>
                  <a:srgbClr val="AEB6BF"/>
                </a:solidFill>
                <a:latin typeface="Consolas"/>
              </a:rPr>
              <a:t>.</a:t>
            </a:r>
            <a:r>
              <a:rPr sz="1600" i="0">
                <a:solidFill>
                  <a:srgbClr val="E8EDF2"/>
                </a:solidFill>
                <a:latin typeface="Consolas"/>
              </a:rPr>
              <a:t>size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AEB6BF"/>
                </a:solidFill>
                <a:latin typeface="Consolas"/>
              </a:rPr>
              <a:t>;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+</a:t>
            </a:r>
            <a:r>
              <a:rPr sz="1600" i="0">
                <a:solidFill>
                  <a:srgbClr val="AEB6BF"/>
                </a:solidFill>
                <a:latin typeface="Consolas"/>
              </a:rPr>
              <a:t>+</a:t>
            </a:r>
            <a:r>
              <a:rPr sz="1600" i="0">
                <a:solidFill>
                  <a:srgbClr val="E8EDF2"/>
                </a:solidFill>
                <a:latin typeface="Consolas"/>
              </a:rPr>
              <a:t>i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            </a:t>
            </a:r>
            <a:r>
              <a:rPr sz="1600" i="0">
                <a:solidFill>
                  <a:srgbClr val="E8EDF2"/>
                </a:solidFill>
                <a:latin typeface="Consolas"/>
              </a:rPr>
              <a:t>b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=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std</a:t>
            </a:r>
            <a:r>
              <a:rPr sz="1600" i="0">
                <a:solidFill>
                  <a:srgbClr val="AEB6BF"/>
                </a:solidFill>
                <a:latin typeface="Consolas"/>
              </a:rPr>
              <a:t>:</a:t>
            </a:r>
            <a:r>
              <a:rPr sz="1600" i="0">
                <a:solidFill>
                  <a:srgbClr val="AEB6BF"/>
                </a:solidFill>
                <a:latin typeface="Consolas"/>
              </a:rPr>
              <a:t>:</a:t>
            </a:r>
            <a:r>
              <a:rPr sz="1600" i="0">
                <a:solidFill>
                  <a:srgbClr val="E8EDF2"/>
                </a:solidFill>
                <a:latin typeface="Consolas"/>
              </a:rPr>
              <a:t>max</a:t>
            </a:r>
            <a:r>
              <a:rPr sz="1600" i="0">
                <a:solidFill>
                  <a:srgbClr val="AEB6BF"/>
                </a:solidFill>
                <a:latin typeface="Consolas"/>
              </a:rPr>
              <a:t>(</a:t>
            </a:r>
            <a:r>
              <a:rPr sz="1600" i="0">
                <a:solidFill>
                  <a:srgbClr val="E8EDF2"/>
                </a:solidFill>
                <a:latin typeface="Consolas"/>
              </a:rPr>
              <a:t>b</a:t>
            </a:r>
            <a:r>
              <a:rPr sz="1600" i="0">
                <a:solidFill>
                  <a:srgbClr val="AEB6BF"/>
                </a:solidFill>
                <a:latin typeface="Consolas"/>
              </a:rPr>
              <a:t>,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p</a:t>
            </a:r>
            <a:r>
              <a:rPr sz="1600" i="0">
                <a:solidFill>
                  <a:srgbClr val="AEB6BF"/>
                </a:solidFill>
                <a:latin typeface="Consolas"/>
              </a:rPr>
              <a:t>[</a:t>
            </a:r>
            <a:r>
              <a:rPr sz="1600" i="0">
                <a:solidFill>
                  <a:srgbClr val="E8EDF2"/>
                </a:solidFill>
                <a:latin typeface="Consolas"/>
              </a:rPr>
              <a:t>i</a:t>
            </a:r>
            <a:r>
              <a:rPr sz="1600" i="0">
                <a:solidFill>
                  <a:srgbClr val="AEB6BF"/>
                </a:solidFill>
                <a:latin typeface="Consolas"/>
              </a:rPr>
              <a:t>]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+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best</a:t>
            </a:r>
            <a:r>
              <a:rPr sz="1600" i="0">
                <a:solidFill>
                  <a:srgbClr val="AEB6BF"/>
                </a:solidFill>
                <a:latin typeface="Consolas"/>
              </a:rPr>
              <a:t>[</a:t>
            </a:r>
            <a:r>
              <a:rPr sz="1600" i="0">
                <a:solidFill>
                  <a:srgbClr val="E8EDF2"/>
                </a:solidFill>
                <a:latin typeface="Consolas"/>
              </a:rPr>
              <a:t>j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-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i</a:t>
            </a:r>
            <a:r>
              <a:rPr sz="1600" i="0">
                <a:solidFill>
                  <a:srgbClr val="AEB6BF"/>
                </a:solidFill>
                <a:latin typeface="Consolas"/>
              </a:rPr>
              <a:t>]</a:t>
            </a:r>
            <a:r>
              <a:rPr sz="1600" i="0">
                <a:solidFill>
                  <a:srgbClr val="AEB6BF"/>
                </a:solidFill>
                <a:latin typeface="Consolas"/>
              </a:rPr>
              <a:t>)</a:t>
            </a:r>
            <a:r>
              <a:rPr sz="16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600" i="0">
                <a:solidFill>
                  <a:srgbClr val="E8EDF2"/>
                </a:solidFill>
                <a:latin typeface="Consolas"/>
              </a:rPr>
              <a:t>best</a:t>
            </a:r>
            <a:r>
              <a:rPr sz="1600" i="0">
                <a:solidFill>
                  <a:srgbClr val="AEB6BF"/>
                </a:solidFill>
                <a:latin typeface="Consolas"/>
              </a:rPr>
              <a:t>[</a:t>
            </a:r>
            <a:r>
              <a:rPr sz="1600" i="0">
                <a:solidFill>
                  <a:srgbClr val="E8EDF2"/>
                </a:solidFill>
                <a:latin typeface="Consolas"/>
              </a:rPr>
              <a:t>j</a:t>
            </a:r>
            <a:r>
              <a:rPr sz="1600" i="0">
                <a:solidFill>
                  <a:srgbClr val="AEB6BF"/>
                </a:solidFill>
                <a:latin typeface="Consolas"/>
              </a:rPr>
              <a:t>]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AEB6BF"/>
                </a:solidFill>
                <a:latin typeface="Consolas"/>
              </a:rPr>
              <a:t>=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b</a:t>
            </a:r>
            <a:r>
              <a:rPr sz="16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    </a:t>
            </a:r>
            <a:r>
              <a:rPr sz="1600" i="0">
                <a:solidFill>
                  <a:srgbClr val="AEB6BF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E8EDF2"/>
                </a:solidFill>
                <a:latin typeface="Consolas"/>
              </a:rPr>
              <a:t>    </a:t>
            </a:r>
            <a:r>
              <a:rPr sz="16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600" i="0">
                <a:solidFill>
                  <a:srgbClr val="E8EDF2"/>
                </a:solidFill>
                <a:latin typeface="Consolas"/>
              </a:rPr>
              <a:t> </a:t>
            </a:r>
            <a:r>
              <a:rPr sz="1600" i="0">
                <a:solidFill>
                  <a:srgbClr val="E8EDF2"/>
                </a:solidFill>
                <a:latin typeface="Consolas"/>
              </a:rPr>
              <a:t>best</a:t>
            </a:r>
            <a:r>
              <a:rPr sz="1600" i="0">
                <a:solidFill>
                  <a:srgbClr val="AEB6BF"/>
                </a:solidFill>
                <a:latin typeface="Consolas"/>
              </a:rPr>
              <a:t>[</a:t>
            </a:r>
            <a:r>
              <a:rPr sz="1600" i="0">
                <a:solidFill>
                  <a:srgbClr val="E8EDF2"/>
                </a:solidFill>
                <a:latin typeface="Consolas"/>
              </a:rPr>
              <a:t>n</a:t>
            </a:r>
            <a:r>
              <a:rPr sz="1600" i="0">
                <a:solidFill>
                  <a:srgbClr val="AEB6BF"/>
                </a:solidFill>
                <a:latin typeface="Consolas"/>
              </a:rPr>
              <a:t>]</a:t>
            </a:r>
            <a:r>
              <a:rPr sz="16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0">
                <a:solidFill>
                  <a:srgbClr val="AEB6BF"/>
                </a:solidFill>
                <a:latin typeface="Consolas"/>
              </a:rPr>
              <a:t>}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5234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33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34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35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36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37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38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39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40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41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42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43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44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45</a:t>
            </a:r>
          </a:p>
          <a:p>
            <a:pPr algn="r">
              <a:lnSpc>
                <a:spcPct val="100000"/>
              </a:lnSpc>
            </a:pPr>
            <a:r>
              <a:rPr sz="1600">
                <a:solidFill>
                  <a:srgbClr val="4F5D6A"/>
                </a:solidFill>
                <a:latin typeface="Consolas"/>
              </a:rPr>
              <a:t>46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971493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Counting the Overlap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4 OF 8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§15.5  ·  Handout p. 125     </a:t>
            </a:r>
            <a:fld id="{F9235BBD-9064-477D-B7F3-3D4C1C63E9DA}" type="slidenum">
              <a:rPr lang="en-GB" sz="1000">
                <a:solidFill>
                  <a:srgbClr val="8795A1"/>
                </a:solidFill>
                <a:latin typeface="Segoe UI"/>
              </a:rPr>
              <a:t>35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How often is each subproblem solved?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1472184"/>
          </a:xfrm>
          <a:prstGeom prst="roundRect">
            <a:avLst>
              <a:gd name="adj" fmla="val 6211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code/ch15_dp1.cpp</a:t>
            </a:r>
          </a:p>
        </p:txBody>
      </p:sp>
      <p:sp>
        <p:nvSpPr>
          <p:cNvPr id="14" name="!!code-text" descr="// --- 4. How often is each subproblem solved? ----------------------- // This is the measurement that DEFINES &quot;overlapping&quot;. If every // subproblem were solved once, DP would buy nothing."/>
          <p:cNvSpPr txBox="1"/>
          <p:nvPr/>
        </p:nvSpPr>
        <p:spPr>
          <a:xfrm>
            <a:off x="1362456" y="2523744"/>
            <a:ext cx="9987991" cy="9784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--- 4. How often is each subproblem solved? -----------------------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This is the measurement that DEFINES "overlapping". If every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subproblem were solved once, DP would buy nothing.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9784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48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49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50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205948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Counting the Overlap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5 OF 8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§15.5  ·  Handout p. 125     </a:t>
            </a:r>
            <a:fld id="{068A2B1D-EEC5-4543-84C1-37308FC0827F}" type="slidenum">
              <a:rPr lang="en-GB" sz="1000">
                <a:solidFill>
                  <a:srgbClr val="8795A1"/>
                </a:solidFill>
                <a:latin typeface="Segoe UI"/>
              </a:rPr>
              <a:t>36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The explosion, and the collapse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893063"/>
          </a:xfrm>
          <a:prstGeom prst="roundRect">
            <a:avLst>
              <a:gd name="adj" fmla="val 10238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code/ch15_dp1.cpp</a:t>
            </a:r>
          </a:p>
        </p:txBody>
      </p:sp>
      <p:sp>
        <p:nvSpPr>
          <p:cNvPr id="14" name="!!code-text" descr="// --- 5. The explosion, and the collapse ----------------------------"/>
          <p:cNvSpPr txBox="1"/>
          <p:nvPr/>
        </p:nvSpPr>
        <p:spPr>
          <a:xfrm>
            <a:off x="1362456" y="2523744"/>
            <a:ext cx="9987991" cy="3992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--- 5. The explosion, and the collapse ----------------------------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992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52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40404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Counting the Overlap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6 OF 8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§15.5  ·  Handout p. 125     </a:t>
            </a:r>
            <a:fld id="{C879B20E-4570-4F36-8DE8-05E221B651D0}" type="slidenum">
              <a:rPr lang="en-GB" sz="1000">
                <a:solidFill>
                  <a:srgbClr val="8795A1"/>
                </a:solidFill>
                <a:latin typeface="Segoe UI"/>
              </a:rPr>
              <a:t>37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And in seconds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893063"/>
          </a:xfrm>
          <a:prstGeom prst="roundRect">
            <a:avLst>
              <a:gd name="adj" fmla="val 10238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code/ch15_dp1.cpp</a:t>
            </a:r>
          </a:p>
        </p:txBody>
      </p:sp>
      <p:sp>
        <p:nvSpPr>
          <p:cNvPr id="14" name="!!code-text" descr="// --- 6. And in seconds ---------------------------------------------"/>
          <p:cNvSpPr txBox="1"/>
          <p:nvPr/>
        </p:nvSpPr>
        <p:spPr>
          <a:xfrm>
            <a:off x="1362456" y="2523744"/>
            <a:ext cx="9987991" cy="3992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--- 6. And in seconds ---------------------------------------------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992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53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674860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Counting the Overlap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7 OF 8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§15.5  ·  Handout p. 125     </a:t>
            </a:r>
            <a:fld id="{C9478221-A863-442B-AC77-D2A9661C04A3}" type="slidenum">
              <a:rPr lang="en-GB" sz="1000">
                <a:solidFill>
                  <a:srgbClr val="8795A1"/>
                </a:solidFill>
                <a:latin typeface="Segoe UI"/>
              </a:rPr>
              <a:t>38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All three agree, which is the point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893063"/>
          </a:xfrm>
          <a:prstGeom prst="roundRect">
            <a:avLst>
              <a:gd name="adj" fmla="val 10238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code/ch15_dp1.cpp</a:t>
            </a:r>
          </a:p>
        </p:txBody>
      </p:sp>
      <p:sp>
        <p:nvSpPr>
          <p:cNvPr id="14" name="!!code-text" descr="// --- 7. All three agree, which is the point ------------------------"/>
          <p:cNvSpPr txBox="1"/>
          <p:nvPr/>
        </p:nvSpPr>
        <p:spPr>
          <a:xfrm>
            <a:off x="1362456" y="2523744"/>
            <a:ext cx="9987991" cy="3992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--- 7. All three agree, which is the point ------------------------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992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54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909315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Counting the Overlap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8 OF 8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§15.5  ·  Handout p. 125     </a:t>
            </a:r>
            <a:fld id="{70E5208E-4E7D-44DB-B38B-83AAC5DCF271}" type="slidenum">
              <a:rPr lang="en-GB" sz="1000">
                <a:solidFill>
                  <a:srgbClr val="8795A1"/>
                </a:solidFill>
                <a:latin typeface="Segoe UI"/>
              </a:rPr>
              <a:t>39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Bottom-up scales where the others cannot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893063"/>
          </a:xfrm>
          <a:prstGeom prst="roundRect">
            <a:avLst>
              <a:gd name="adj" fmla="val 10238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code/ch15_dp1.cpp</a:t>
            </a:r>
          </a:p>
        </p:txBody>
      </p:sp>
      <p:sp>
        <p:nvSpPr>
          <p:cNvPr id="14" name="!!code-text" descr="// --- 8. Bottom-up scales where the others cannot -------------------"/>
          <p:cNvSpPr txBox="1"/>
          <p:nvPr/>
        </p:nvSpPr>
        <p:spPr>
          <a:xfrm>
            <a:off x="1362456" y="2523744"/>
            <a:ext cx="9987991" cy="3992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--- 8. Bottom-up scales where the others cannot -------------------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992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55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771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the lab shows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TRY IT YOURSELF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§15.5  ·  Handout p. 125     </a:t>
            </a:r>
            <a:fld id="{596F3FD7-79D9-4A96-8027-8E17393DC07E}" type="slidenum">
              <a:rPr lang="en-GB" sz="1000">
                <a:solidFill>
                  <a:srgbClr val="8795A1"/>
                </a:solidFill>
                <a:latin typeface="Segoe UI"/>
              </a:rPr>
              <a:t>40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698773"/>
          </a:xfrm>
          <a:prstGeom prst="roundRect">
            <a:avLst>
              <a:gd name="adj" fmla="val 2472"/>
            </a:avLst>
          </a:prstGeom>
          <a:solidFill>
            <a:srgbClr val="EEF6F4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698773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6655"/>
                </a:solidFill>
                <a:latin typeface="Segoe UI"/>
              </a:rPr>
              <a:t>What to notice.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Part 4’s last line: subproblem 0 solved 2,097,152 times. Every one of those calls returns 0 after doing nothing. The whole of dynamic programming is the observation that this is avoidable.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3302533"/>
            <a:ext cx="10161727" cy="1868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6655"/>
                </a:solidFill>
                <a:latin typeface="Segoe UI"/>
              </a:rPr>
              <a:t>Then try to break it.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Remove the memo check from </a:t>
            </a:r>
            <a:r>
              <a:rPr sz="2150" b="0" i="0">
                <a:solidFill>
                  <a:srgbClr val="1F4E79"/>
                </a:solidFill>
                <a:latin typeface="Consolas"/>
              </a:rPr>
              <a:t>rod_memo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but keep the memo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write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 Predict what happens to the call count before running it. The answer is that nothing improves at all — writing to a cache you never read is not memoisation, and the program will still be exponential. The lookup is the technique; the table is just where it keeps things.</a:t>
            </a:r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378227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State the two conditions for dynamic programming and give a problem satisfying the first but not the second.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1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128  ·  answers in Appendix D     </a:t>
            </a:r>
            <a:fld id="{4A9C0332-0926-4108-9B2E-81BBB98425FF}" type="slidenum">
              <a:rPr lang="en-GB" sz="1000">
                <a:solidFill>
                  <a:srgbClr val="D5DEE5"/>
                </a:solidFill>
                <a:latin typeface="Segoe UI"/>
              </a:rPr>
              <a:t>41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747979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State the two conditions for dynamic programming and give a problem satisfying the first but not the second.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1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62963"/>
            <a:ext cx="64008" cy="13947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762963"/>
            <a:ext cx="10509199" cy="14404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Optimal substructure and overlapping subproblems. </a:t>
            </a:r>
            <a:r>
              <a:rPr sz="2200" b="1" i="0">
                <a:solidFill>
                  <a:srgbClr val="1C252B"/>
                </a:solidFill>
                <a:latin typeface="Segoe UI"/>
              </a:rPr>
              <a:t>A problem with the first and not the second: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merge sort — sorting optimally requires sorting the halves, but the two halves are different subproblems and no subproblem ever recurs, so memoising it buys exactly nothing. Binary search is another.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128  ·  answers in Appendix D     </a:t>
            </a:r>
            <a:fld id="{07721A99-5D10-4AD9-9320-21DC80993038}" type="slidenum">
              <a:rPr lang="en-GB" sz="1000">
                <a:solidFill>
                  <a:srgbClr val="8795A1"/>
                </a:solidFill>
                <a:latin typeface="Segoe UI"/>
              </a:rPr>
              <a:t>42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847138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Cut-Rod-Naive made 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2</a:t>
            </a:r>
            <a:r>
              <a:rPr sz="2250" b="0" i="0" baseline="30000">
                <a:solidFill>
                  <a:srgbClr val="FFFFFF"/>
                </a:solidFill>
                <a:latin typeface="Cambria"/>
              </a:rPr>
              <a:t>22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 = 4,194,304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 calls to solve 23 distinct subproblems. Derive the 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2</a:t>
            </a:r>
            <a:r>
              <a:rPr sz="2250" b="0" i="1" baseline="30000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 from the recurrence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T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(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) = 1 + Σ</a:t>
            </a:r>
            <a:r>
              <a:rPr sz="2250" b="0" i="1" baseline="-25000">
                <a:solidFill>
                  <a:srgbClr val="FFFFFF"/>
                </a:solidFill>
                <a:latin typeface="Cambria"/>
              </a:rPr>
              <a:t>j</a:t>
            </a:r>
            <a:r>
              <a:rPr sz="2250" b="0" i="0" baseline="-25000">
                <a:solidFill>
                  <a:srgbClr val="FFFFFF"/>
                </a:solidFill>
                <a:latin typeface="Cambria"/>
              </a:rPr>
              <a:t>&lt;</a:t>
            </a:r>
            <a:r>
              <a:rPr sz="2250" b="0" i="1" baseline="-25000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T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(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j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)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2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128  ·  answers in Appendix D     </a:t>
            </a:r>
            <a:fld id="{A9304E45-ACBF-44B0-8F0A-95317DC2852C}" type="slidenum">
              <a:rPr lang="en-GB" sz="1000">
                <a:solidFill>
                  <a:srgbClr val="D5DEE5"/>
                </a:solidFill>
                <a:latin typeface="Segoe UI"/>
              </a:rPr>
              <a:t>43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747979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Cut-Rod-Naive made 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2</a:t>
            </a:r>
            <a:r>
              <a:rPr sz="1600" b="0" i="0" baseline="30000">
                <a:solidFill>
                  <a:srgbClr val="1A5276"/>
                </a:solidFill>
                <a:latin typeface="Cambria"/>
              </a:rPr>
              <a:t>22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 = 4,194,304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 calls to solve 23 distinct subproblems. Derive the 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2</a:t>
            </a:r>
            <a:r>
              <a:rPr sz="1600" b="0" i="1" baseline="30000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 from the recurrence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T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(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) = 1 + Σ</a:t>
            </a:r>
            <a:r>
              <a:rPr sz="1600" b="0" i="1" baseline="-25000">
                <a:solidFill>
                  <a:srgbClr val="1A5276"/>
                </a:solidFill>
                <a:latin typeface="Cambria"/>
              </a:rPr>
              <a:t>j</a:t>
            </a:r>
            <a:r>
              <a:rPr sz="1600" b="0" i="0" baseline="-25000">
                <a:solidFill>
                  <a:srgbClr val="1A5276"/>
                </a:solidFill>
                <a:latin typeface="Cambria"/>
              </a:rPr>
              <a:t>&lt;</a:t>
            </a:r>
            <a:r>
              <a:rPr sz="1600" b="0" i="1" baseline="-25000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T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(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j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)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2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62963"/>
            <a:ext cx="64008" cy="118890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6" name="!!ans-0" descr="T(0) = 1 and T(n) = 1 + Σj=0n−1 T(j). By induction, assuming T(j) = 2j for all j &lt; n: T(n) = 1 + Σj=0n−12j = 1 + (2n−1) = 2n. At n = 22 this is 4,194,304, which is what the program counted — exactly, not approximately.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7552" y="1762963"/>
            <a:ext cx="10509199" cy="1188902"/>
          </a:xfrm>
          <a:prstGeom prst="rect">
            <a:avLst/>
          </a:prstGeom>
        </p:spPr>
      </p:pic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128  ·  answers in Appendix D     </a:t>
            </a:r>
            <a:fld id="{D8A81CEA-B1E1-474A-87E7-819623581084}" type="slidenum">
              <a:rPr lang="en-GB" sz="1000">
                <a:solidFill>
                  <a:srgbClr val="8795A1"/>
                </a:solidFill>
                <a:latin typeface="Segoe UI"/>
              </a:rPr>
              <a:t>44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316049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Give the running time of a dynamic program with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mn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 subproblems each requiring a maximum over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k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 choices, and apply the formula to rod cutting.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3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128  ·  answers in Appendix D     </a:t>
            </a:r>
            <a:fld id="{9DD1C9F7-1FB7-4EEE-81D5-0228B2AD9630}" type="slidenum">
              <a:rPr lang="en-GB" sz="1000">
                <a:solidFill>
                  <a:srgbClr val="D5DEE5"/>
                </a:solidFill>
                <a:latin typeface="Segoe UI"/>
              </a:rPr>
              <a:t>45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747979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Give the running time of a dynamic program with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mn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 subproblems each requiring a maximum over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k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 choices, and apply the formula to rod cutting.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3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62963"/>
            <a:ext cx="64008" cy="1743456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762963"/>
            <a:ext cx="10509199" cy="17891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mnk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: (number of distinct subproblems)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×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(work per subproblem). For rod cutting there are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subproblems and the maximum is over at most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choices, giving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 ·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 = Θ(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5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. Note the measured caveat: with a price table capped at 30 entries the inner loop runs at most 30 times, so the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measured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behaviour was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Θ(30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— linear. Check the parameters before quoting the bound.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128  ·  answers in Appendix D     </a:t>
            </a:r>
            <a:fld id="{14E8CDD7-EA62-499F-B442-74B12B60BAC6}" type="slidenum">
              <a:rPr lang="en-GB" sz="1000">
                <a:solidFill>
                  <a:srgbClr val="8795A1"/>
                </a:solidFill>
                <a:latin typeface="Segoe UI"/>
              </a:rPr>
              <a:t>46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784961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to take away</a:t>
            </a:r>
          </a:p>
        </p:txBody>
      </p:sp>
      <p:pic>
        <p:nvPicPr>
          <p:cNvPr id="3" name="!!kicker-icon" descr="clipboard-check-15425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5425E"/>
                </a:solidFill>
                <a:latin typeface="Segoe UI"/>
              </a:rPr>
              <a:t>CHAPTER SUMMARY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128     </a:t>
            </a:r>
            <a:fld id="{8073AC95-B385-4150-82E0-B6F74BF07EF3}" type="slidenum">
              <a:rPr lang="en-GB" sz="1000">
                <a:solidFill>
                  <a:srgbClr val="8795A1"/>
                </a:solidFill>
                <a:latin typeface="Segoe UI"/>
              </a:rPr>
              <a:t>47</a:t>
            </a:fld>
          </a:p>
        </p:txBody>
      </p:sp>
      <p:sp>
        <p:nvSpPr>
          <p:cNvPr id="7" name="!!s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46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sbn0"/>
          <p:cNvSpPr txBox="1"/>
          <p:nvPr/>
        </p:nvSpPr>
        <p:spPr>
          <a:xfrm>
            <a:off x="658368" y="1801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!!st0"/>
          <p:cNvSpPr txBox="1"/>
          <p:nvPr/>
        </p:nvSpPr>
        <p:spPr>
          <a:xfrm>
            <a:off x="1298448" y="1737360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Dynamic programming needs optimal substructure </a:t>
            </a:r>
            <a:r>
              <a:rPr sz="1700" b="0" i="1">
                <a:solidFill>
                  <a:srgbClr val="1C252B"/>
                </a:solidFill>
                <a:latin typeface="Segoe UI"/>
              </a:rPr>
              <a:t>and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overlapping subproblems. The second distinguishes it from divide-and-conquer, where subproblems are distinct and memoising buys nothing.</a:t>
            </a:r>
          </a:p>
        </p:txBody>
      </p:sp>
      <p:sp>
        <p:nvSpPr>
          <p:cNvPr id="10" name="!!s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27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sbn1"/>
          <p:cNvSpPr txBox="1"/>
          <p:nvPr/>
        </p:nvSpPr>
        <p:spPr>
          <a:xfrm>
            <a:off x="658368" y="2523134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!!st1"/>
          <p:cNvSpPr txBox="1"/>
          <p:nvPr/>
        </p:nvSpPr>
        <p:spPr>
          <a:xfrm>
            <a:off x="1298448" y="2459126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Overlap is measurable. Measured for rod cutting at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= 22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: subproblem 0 was solved 2,097,152 times, total calls were exactly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2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22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, and there were 23 distinct subproblems.</a:t>
            </a:r>
          </a:p>
        </p:txBody>
      </p:sp>
      <p:sp>
        <p:nvSpPr>
          <p:cNvPr id="13" name="!!s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19003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sbn2"/>
          <p:cNvSpPr txBox="1"/>
          <p:nvPr/>
        </p:nvSpPr>
        <p:spPr>
          <a:xfrm>
            <a:off x="658368" y="3244900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5" name="!!st2"/>
          <p:cNvSpPr txBox="1"/>
          <p:nvPr/>
        </p:nvSpPr>
        <p:spPr>
          <a:xfrm>
            <a:off x="1298448" y="3180892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Memoisation keeps the recursion and adds a table; bottom-up sorts the subproblems by size and uses loops. Same asymptotics; bottom-up has the smaller constant and no stack.</a:t>
            </a:r>
          </a:p>
        </p:txBody>
      </p:sp>
      <p:sp>
        <p:nvSpPr>
          <p:cNvPr id="16" name="!!s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911803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sbn3"/>
          <p:cNvSpPr txBox="1"/>
          <p:nvPr/>
        </p:nvSpPr>
        <p:spPr>
          <a:xfrm>
            <a:off x="658368" y="3966667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8" name="!!st3"/>
          <p:cNvSpPr txBox="1"/>
          <p:nvPr/>
        </p:nvSpPr>
        <p:spPr>
          <a:xfrm>
            <a:off x="1298448" y="3902659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Time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=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(number of distinct subproblems)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×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(work per subproblem). Rod cutting: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× O(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 = Θ(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9" name="!!s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497019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sbn4"/>
          <p:cNvSpPr txBox="1"/>
          <p:nvPr/>
        </p:nvSpPr>
        <p:spPr>
          <a:xfrm>
            <a:off x="658368" y="4551883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1" name="!!st4"/>
          <p:cNvSpPr txBox="1"/>
          <p:nvPr/>
        </p:nvSpPr>
        <p:spPr>
          <a:xfrm>
            <a:off x="1298448" y="4487875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Measured: at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= 32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the naive version took 16.6 s and bottom-up 0.0006 ms — a factor of 27.7 million. Bottom-up beat memoised by about 2.5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×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throughout.</a:t>
            </a:r>
          </a:p>
        </p:txBody>
      </p:sp>
      <p:sp>
        <p:nvSpPr>
          <p:cNvPr id="22" name="!!s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218785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sbn5"/>
          <p:cNvSpPr txBox="1"/>
          <p:nvPr/>
        </p:nvSpPr>
        <p:spPr>
          <a:xfrm>
            <a:off x="658368" y="5273649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24" name="!!st5"/>
          <p:cNvSpPr txBox="1"/>
          <p:nvPr/>
        </p:nvSpPr>
        <p:spPr>
          <a:xfrm>
            <a:off x="1298448" y="5209641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Greedy and dynamic programming both need optimal substructure. Try greedy first and attempt the exchange argument; dynamic programming is the fallback that always works.</a:t>
            </a:r>
          </a:p>
        </p:txBody>
      </p:sp>
      <p:sp>
        <p:nvSpPr>
          <p:cNvPr id="7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019416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63" dur="2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to take away (continued)</a:t>
            </a:r>
          </a:p>
        </p:txBody>
      </p:sp>
      <p:pic>
        <p:nvPicPr>
          <p:cNvPr id="3" name="!!kicker-icon" descr="clipboard-check-15425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5425E"/>
                </a:solidFill>
                <a:latin typeface="Segoe UI"/>
              </a:rPr>
              <a:t>CHAPTER SUMMARY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128     </a:t>
            </a:r>
            <a:fld id="{02A915AE-0E6D-4237-9BFD-AF14EF811B6A}" type="slidenum">
              <a:rPr lang="en-GB" sz="1000">
                <a:solidFill>
                  <a:srgbClr val="8795A1"/>
                </a:solidFill>
                <a:latin typeface="Segoe UI"/>
              </a:rPr>
              <a:t>48</a:t>
            </a:fld>
          </a:p>
        </p:txBody>
      </p:sp>
      <p:sp>
        <p:nvSpPr>
          <p:cNvPr id="7" name="!!sb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46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sbn6"/>
          <p:cNvSpPr txBox="1"/>
          <p:nvPr/>
        </p:nvSpPr>
        <p:spPr>
          <a:xfrm>
            <a:off x="658368" y="1801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7</a:t>
            </a:r>
          </a:p>
        </p:txBody>
      </p:sp>
      <p:sp>
        <p:nvSpPr>
          <p:cNvPr id="9" name="!!st6"/>
          <p:cNvSpPr txBox="1"/>
          <p:nvPr/>
        </p:nvSpPr>
        <p:spPr>
          <a:xfrm>
            <a:off x="1298448" y="1737360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Store the choices, not only the values, or the answer cannot be reconstructed.</a:t>
            </a:r>
          </a:p>
        </p:txBody>
      </p:sp>
      <p:sp>
        <p:nvSpPr>
          <p:cNvPr id="1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253872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Quick check 1 of 2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 ·  MULTIPLE CHOICE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128     </a:t>
            </a:r>
            <a:fld id="{E03ABF80-4FA2-4F6D-9055-3C90A060275F}" type="slidenum">
              <a:rPr lang="en-GB" sz="1000">
                <a:solidFill>
                  <a:srgbClr val="8795A1"/>
                </a:solidFill>
                <a:latin typeface="Segoe UI"/>
              </a:rPr>
              <a:t>49</a:t>
            </a:fld>
          </a:p>
        </p:txBody>
      </p:sp>
      <p:sp>
        <p:nvSpPr>
          <p:cNvPr id="7" name="!!mstem"/>
          <p:cNvSpPr txBox="1"/>
          <p:nvPr/>
        </p:nvSpPr>
        <p:spPr>
          <a:xfrm>
            <a:off x="658368" y="1737360"/>
            <a:ext cx="10874959" cy="4578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252B"/>
                </a:solidFill>
                <a:latin typeface="Segoe UI"/>
              </a:rPr>
              <a:t>Dynamic programming requires:</a:t>
            </a:r>
          </a:p>
        </p:txBody>
      </p:sp>
      <p:sp>
        <p:nvSpPr>
          <p:cNvPr id="8" name="!!mo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mo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molt0"/>
          <p:cNvSpPr txBox="1"/>
          <p:nvPr/>
        </p:nvSpPr>
        <p:spPr>
          <a:xfrm>
            <a:off x="841247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1" name="!!mot0"/>
          <p:cNvSpPr txBox="1"/>
          <p:nvPr/>
        </p:nvSpPr>
        <p:spPr>
          <a:xfrm>
            <a:off x="1481328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optimal substructure only</a:t>
            </a:r>
          </a:p>
        </p:txBody>
      </p:sp>
      <p:sp>
        <p:nvSpPr>
          <p:cNvPr id="12" name="!!mo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mo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molt1"/>
          <p:cNvSpPr txBox="1"/>
          <p:nvPr/>
        </p:nvSpPr>
        <p:spPr>
          <a:xfrm>
            <a:off x="6397599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5" name="!!mot1"/>
          <p:cNvSpPr txBox="1"/>
          <p:nvPr/>
        </p:nvSpPr>
        <p:spPr>
          <a:xfrm>
            <a:off x="7037679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overlapping subproblems only</a:t>
            </a:r>
          </a:p>
        </p:txBody>
      </p:sp>
      <p:sp>
        <p:nvSpPr>
          <p:cNvPr id="16" name="!!mo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mo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molt2"/>
          <p:cNvSpPr txBox="1"/>
          <p:nvPr/>
        </p:nvSpPr>
        <p:spPr>
          <a:xfrm>
            <a:off x="841247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19" name="!!mot2"/>
          <p:cNvSpPr txBox="1"/>
          <p:nvPr/>
        </p:nvSpPr>
        <p:spPr>
          <a:xfrm>
            <a:off x="1481328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both</a:t>
            </a:r>
          </a:p>
        </p:txBody>
      </p:sp>
      <p:sp>
        <p:nvSpPr>
          <p:cNvPr id="20" name="!!mo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mo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molt3"/>
          <p:cNvSpPr txBox="1"/>
          <p:nvPr/>
        </p:nvSpPr>
        <p:spPr>
          <a:xfrm>
            <a:off x="6397599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3" name="!!mot3"/>
          <p:cNvSpPr txBox="1"/>
          <p:nvPr/>
        </p:nvSpPr>
        <p:spPr>
          <a:xfrm>
            <a:off x="7037679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the greedy-choice property</a:t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488328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Quick check 2 of 2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 ·  MULTIPLE CHOICE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128     </a:t>
            </a:r>
            <a:fld id="{8C0D1B5E-61F3-4188-B1D2-5A103C6CBB23}" type="slidenum">
              <a:rPr lang="en-GB" sz="1000">
                <a:solidFill>
                  <a:srgbClr val="8795A1"/>
                </a:solidFill>
                <a:latin typeface="Segoe UI"/>
              </a:rPr>
              <a:t>50</a:t>
            </a:fld>
          </a:p>
        </p:txBody>
      </p:sp>
      <p:sp>
        <p:nvSpPr>
          <p:cNvPr id="7" name="!!mstem"/>
          <p:cNvSpPr txBox="1"/>
          <p:nvPr/>
        </p:nvSpPr>
        <p:spPr>
          <a:xfrm>
            <a:off x="658368" y="1737360"/>
            <a:ext cx="10874959" cy="4578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252B"/>
                </a:solidFill>
                <a:latin typeface="Segoe UI"/>
              </a:rPr>
              <a:t>Memoising merge sort would:</a:t>
            </a:r>
          </a:p>
        </p:txBody>
      </p:sp>
      <p:sp>
        <p:nvSpPr>
          <p:cNvPr id="8" name="!!mo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mo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molt0"/>
          <p:cNvSpPr txBox="1"/>
          <p:nvPr/>
        </p:nvSpPr>
        <p:spPr>
          <a:xfrm>
            <a:off x="841247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1" name="!!mot0"/>
          <p:cNvSpPr txBox="1"/>
          <p:nvPr/>
        </p:nvSpPr>
        <p:spPr>
          <a:xfrm>
            <a:off x="1481328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make it 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12" name="!!mo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mo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molt1"/>
          <p:cNvSpPr txBox="1"/>
          <p:nvPr/>
        </p:nvSpPr>
        <p:spPr>
          <a:xfrm>
            <a:off x="6397599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5" name="!!mot1"/>
          <p:cNvSpPr txBox="1"/>
          <p:nvPr/>
        </p:nvSpPr>
        <p:spPr>
          <a:xfrm>
            <a:off x="7037679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make it 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Θ(lg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16" name="!!mo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mo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molt2"/>
          <p:cNvSpPr txBox="1"/>
          <p:nvPr/>
        </p:nvSpPr>
        <p:spPr>
          <a:xfrm>
            <a:off x="841247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19" name="!!mot2"/>
          <p:cNvSpPr txBox="1"/>
          <p:nvPr/>
        </p:nvSpPr>
        <p:spPr>
          <a:xfrm>
            <a:off x="1481328" y="39020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buy nothing, because its subproblems do not overlap</a:t>
            </a:r>
          </a:p>
        </p:txBody>
      </p:sp>
      <p:sp>
        <p:nvSpPr>
          <p:cNvPr id="20" name="!!mo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mo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molt3"/>
          <p:cNvSpPr txBox="1"/>
          <p:nvPr/>
        </p:nvSpPr>
        <p:spPr>
          <a:xfrm>
            <a:off x="6397599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3" name="!!mot3"/>
          <p:cNvSpPr txBox="1"/>
          <p:nvPr/>
        </p:nvSpPr>
        <p:spPr>
          <a:xfrm>
            <a:off x="7037679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make it exponential</a:t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722783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For your notebook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QUESTIONS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128     </a:t>
            </a:r>
            <a:fld id="{EB06C376-855B-4966-8E3C-B7A01215840C}" type="slidenum">
              <a:rPr lang="en-GB" sz="1000">
                <a:solidFill>
                  <a:srgbClr val="8795A1"/>
                </a:solidFill>
                <a:latin typeface="Segoe UI"/>
              </a:rPr>
              <a:t>51</a:t>
            </a:fld>
          </a:p>
        </p:txBody>
      </p:sp>
      <p:sp>
        <p:nvSpPr>
          <p:cNvPr id="7" name="!!r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rtt0"/>
          <p:cNvSpPr txBox="1"/>
          <p:nvPr/>
        </p:nvSpPr>
        <p:spPr>
          <a:xfrm>
            <a:off x="658368" y="1796795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9" name="!!rq0"/>
          <p:cNvSpPr txBox="1"/>
          <p:nvPr/>
        </p:nvSpPr>
        <p:spPr>
          <a:xfrm>
            <a:off x="1892807" y="1737360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Explain the difference between overlapping and independent subproblems, with an algorithm of each kind.</a:t>
            </a:r>
          </a:p>
        </p:txBody>
      </p:sp>
      <p:sp>
        <p:nvSpPr>
          <p:cNvPr id="10" name="!!r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7738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tt1"/>
          <p:cNvSpPr txBox="1"/>
          <p:nvPr/>
        </p:nvSpPr>
        <p:spPr>
          <a:xfrm>
            <a:off x="658368" y="2618536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12" name="!!rq1"/>
          <p:cNvSpPr txBox="1"/>
          <p:nvPr/>
        </p:nvSpPr>
        <p:spPr>
          <a:xfrm>
            <a:off x="1892807" y="2559100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Compare memoised top-down with bottom-up on three axes, and say when each is preferable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(CLO-6)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3" name="!!r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399129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rtt2"/>
          <p:cNvSpPr txBox="1"/>
          <p:nvPr/>
        </p:nvSpPr>
        <p:spPr>
          <a:xfrm>
            <a:off x="658368" y="3440277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15" name="!!rq2"/>
          <p:cNvSpPr txBox="1"/>
          <p:nvPr/>
        </p:nvSpPr>
        <p:spPr>
          <a:xfrm>
            <a:off x="1892807" y="3380841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Why does the space-saving trick of keeping only two rows of a DP table prevent reconstructing the solution?</a:t>
            </a:r>
          </a:p>
        </p:txBody>
      </p:sp>
      <p:sp>
        <p:nvSpPr>
          <p:cNvPr id="16" name="!!r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2087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tt3"/>
          <p:cNvSpPr txBox="1"/>
          <p:nvPr/>
        </p:nvSpPr>
        <p:spPr>
          <a:xfrm>
            <a:off x="658368" y="4262018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18" name="!!rq3"/>
          <p:cNvSpPr txBox="1"/>
          <p:nvPr/>
        </p:nvSpPr>
        <p:spPr>
          <a:xfrm>
            <a:off x="1892807" y="4202582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Write the recurrence for coin change with denominations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1250" b="0" i="0" baseline="-25000">
                <a:solidFill>
                  <a:srgbClr val="1C252B"/>
                </a:solidFill>
                <a:latin typeface="Cambria"/>
              </a:rPr>
              <a:t>1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,…,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1250" b="0" i="1" baseline="-25000">
                <a:solidFill>
                  <a:srgbClr val="1C252B"/>
                </a:solidFill>
                <a:latin typeface="Cambria"/>
              </a:rPr>
              <a:t>k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and amount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W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state the number of subproblems and the work per subproblem, and give the running time.</a:t>
            </a:r>
          </a:p>
        </p:txBody>
      </p:sp>
      <p:sp>
        <p:nvSpPr>
          <p:cNvPr id="19" name="!!r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042611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rtt4"/>
          <p:cNvSpPr txBox="1"/>
          <p:nvPr/>
        </p:nvSpPr>
        <p:spPr>
          <a:xfrm>
            <a:off x="658368" y="5083759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21" name="!!rq4"/>
          <p:cNvSpPr txBox="1"/>
          <p:nvPr/>
        </p:nvSpPr>
        <p:spPr>
          <a:xfrm>
            <a:off x="1892807" y="5024323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A colleague memoises a recursive function and reports no speed-up at all. Give three distinct explanations, and the measurement that would distinguish them.</a:t>
            </a:r>
          </a:p>
        </p:txBody>
      </p:sp>
      <p:sp>
        <p:nvSpPr>
          <p:cNvPr id="2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957239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3A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854A9D"/>
                </a:solidFill>
                <a:latin typeface="Segoe UI Black"/>
              </a:rPr>
              <a:t>15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1243584"/>
            <a:ext cx="8229600" cy="82296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000" b="0">
                <a:solidFill>
                  <a:srgbClr val="FFFFFF"/>
                </a:solidFill>
                <a:latin typeface="Segoe UI Semibold"/>
              </a:rPr>
              <a:t>End of Chapter 15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02412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F2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cll0"/>
          <p:cNvSpPr txBox="1"/>
          <p:nvPr/>
        </p:nvSpPr>
        <p:spPr>
          <a:xfrm>
            <a:off x="932688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CB4D7"/>
                </a:solidFill>
                <a:latin typeface="Segoe UI"/>
              </a:rPr>
              <a:t>NEXT</a:t>
            </a:r>
          </a:p>
        </p:txBody>
      </p:sp>
      <p:sp>
        <p:nvSpPr>
          <p:cNvPr id="7" name="!!clv0"/>
          <p:cNvSpPr txBox="1"/>
          <p:nvPr/>
        </p:nvSpPr>
        <p:spPr>
          <a:xfrm>
            <a:off x="932688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Chapter 16 — Dynamic Programming II: Classic Problems</a:t>
            </a:r>
          </a:p>
        </p:txBody>
      </p:sp>
      <p:sp>
        <p:nvSpPr>
          <p:cNvPr id="8" name="!!c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F2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ll1"/>
          <p:cNvSpPr txBox="1"/>
          <p:nvPr/>
        </p:nvSpPr>
        <p:spPr>
          <a:xfrm>
            <a:off x="6507327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CB4D7"/>
                </a:solidFill>
                <a:latin typeface="Segoe UI"/>
              </a:rPr>
              <a:t>READ</a:t>
            </a:r>
          </a:p>
        </p:txBody>
      </p:sp>
      <p:sp>
        <p:nvSpPr>
          <p:cNvPr id="10" name="!!clv1"/>
          <p:cNvSpPr txBox="1"/>
          <p:nvPr/>
        </p:nvSpPr>
        <p:spPr>
          <a:xfrm>
            <a:off x="6507327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Handout Chapter 15, pages 121–128</a:t>
            </a:r>
          </a:p>
        </p:txBody>
      </p:sp>
      <p:sp>
        <p:nvSpPr>
          <p:cNvPr id="11" name="!!c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F2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ll2"/>
          <p:cNvSpPr txBox="1"/>
          <p:nvPr/>
        </p:nvSpPr>
        <p:spPr>
          <a:xfrm>
            <a:off x="932688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CB4D7"/>
                </a:solidFill>
                <a:latin typeface="Segoe UI"/>
              </a:rPr>
              <a:t>THIS WEEK'S LAB</a:t>
            </a:r>
          </a:p>
        </p:txBody>
      </p:sp>
      <p:sp>
        <p:nvSpPr>
          <p:cNvPr id="13" name="!!clv2"/>
          <p:cNvSpPr txBox="1"/>
          <p:nvPr/>
        </p:nvSpPr>
        <p:spPr>
          <a:xfrm>
            <a:off x="932688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Memoised against bottom-up, timed and counted</a:t>
            </a:r>
          </a:p>
        </p:txBody>
      </p:sp>
      <p:sp>
        <p:nvSpPr>
          <p:cNvPr id="1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15  ·  Dynamic Programming I: The Elements</a:t>
            </a:r>
          </a:p>
        </p:txBody>
      </p:sp>
      <p:sp>
        <p:nvSpPr>
          <p:cNvPr id="1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fld id="{FE6DB65F-86C5-4CD1-A00F-E4BD3263C3A1}" type="slidenum">
              <a:rPr lang="en-GB" sz="1000">
                <a:solidFill>
                  <a:srgbClr val="D5DEE5"/>
                </a:solidFill>
                <a:latin typeface="Segoe UI"/>
              </a:rPr>
              <a:t>52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nalysis of Algorithms Fall 2026">
  <a:themeElements>
    <a:clrScheme name="Analysis of Algorithms Fall 2026">
      <a:dk1>
        <a:srgbClr val="1C252B"/>
      </a:dk1>
      <a:lt1>
        <a:srgbClr val="FFFFFF"/>
      </a:lt1>
      <a:dk2>
        <a:srgbClr val="1A5276"/>
      </a:dk2>
      <a:lt2>
        <a:srgbClr val="EBF5FB"/>
      </a:lt2>
      <a:accent1>
        <a:srgbClr val="1A5276"/>
      </a:accent1>
      <a:accent2>
        <a:srgbClr val="2E86C1"/>
      </a:accent2>
      <a:accent3>
        <a:srgbClr val="E74C3C"/>
      </a:accent3>
      <a:accent4>
        <a:srgbClr val="27AE60"/>
      </a:accent4>
      <a:accent5>
        <a:srgbClr val="8E44AD"/>
      </a:accent5>
      <a:accent6>
        <a:srgbClr val="B7950B"/>
      </a:accent6>
      <a:hlink>
        <a:srgbClr val="2E86C1"/>
      </a:hlink>
      <a:folHlink>
        <a:srgbClr val="8E44AD"/>
      </a:folHlink>
    </a:clrScheme>
    <a:fontScheme name="Analysis of Algorithms Fall 2026">
      <a:majorFont>
        <a:latin typeface="Segoe UI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15: Dynamic Programming I: The Elements</dc:title>
  <dc:subject>Analysis of Algorithms — Design, Proof and Measurement · BSIT · Fall 2026</dc:subject>
  <dc:creator>Dr. Mustafa Hameed</dc:creator>
  <cp:keywords>artificial intelligence; lecture slides; BSIT; HEC; Fall 2026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Lecture slides</cp:category>
</cp:coreProperties>
</file>