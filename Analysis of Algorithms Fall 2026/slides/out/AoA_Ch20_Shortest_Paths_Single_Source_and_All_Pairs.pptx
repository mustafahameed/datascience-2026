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61692D-761D-45A5-9537-17D0036D4E16}">
          <p14:sldIdLst>
            <p14:sldId id="256"/>
            <p14:sldId id="257"/>
            <p14:sldId id="258"/>
            <p14:sldId id="259"/>
            <p14:sldId id="260"/>
          </p14:sldIdLst>
        </p14:section>
        <p14:section name="20.1 Relaxation, the Common Operation" id="{84EA0B16-412A-42E4-8660-249F9B2D75F4}">
          <p14:sldIdLst>
            <p14:sldId id="261"/>
            <p14:sldId id="262"/>
            <p14:sldId id="263"/>
          </p14:sldIdLst>
        </p14:section>
        <p14:section name="20.2 Dijkstra" id="{2BEBE217-908B-4CB6-852C-FDAC971F779A}">
          <p14:sldIdLst>
            <p14:sldId id="264"/>
            <p14:sldId id="265"/>
            <p14:sldId id="266"/>
            <p14:sldId id="267"/>
            <p14:sldId id="268"/>
            <p14:sldId id="269"/>
          </p14:sldIdLst>
        </p14:section>
        <p14:section name="20.3 Bellman–Ford" id="{A488F12C-6BB8-425A-BBF7-63DB17A7E7FA}">
          <p14:sldIdLst>
            <p14:sldId id="270"/>
            <p14:sldId id="271"/>
            <p14:sldId id="272"/>
            <p14:sldId id="273"/>
            <p14:sldId id="274"/>
            <p14:sldId id="275"/>
          </p14:sldIdLst>
        </p14:section>
        <p14:section name="20.4 One Negative Edge" id="{314E930F-86B0-47C1-9373-562B8B214889}">
          <p14:sldIdLst>
            <p14:sldId id="276"/>
            <p14:sldId id="277"/>
            <p14:sldId id="278"/>
          </p14:sldIdLst>
        </p14:section>
        <p14:section name="20.5 All Pairs" id="{3BC82864-7512-4E57-8DD5-A67C65A15657}">
          <p14:sldIdLst>
            <p14:sldId id="279"/>
            <p14:sldId id="280"/>
            <p14:sldId id="281"/>
            <p14:sldId id="282"/>
            <p14:sldId id="283"/>
            <p14:sldId id="284"/>
          </p14:sldIdLst>
        </p14:section>
        <p14:section name="Pitfalls" id="{F6916A50-68AE-41D4-B7F2-3AA5AE0981A8}">
          <p14:sldIdLst>
            <p14:sldId id="285"/>
            <p14:sldId id="286"/>
          </p14:sldIdLst>
        </p14:section>
        <p14:section name="Lab" id="{AB8D7AE1-27A5-43F4-A286-B1A294045C35}">
          <p14:sldIdLst>
            <p14:sldId id="287"/>
            <p14:sldId id="288"/>
            <p14:sldId id="289"/>
            <p14:sldId id="290"/>
            <p14:sldId id="291"/>
            <p14:sldId id="292"/>
            <p14:sldId id="293"/>
            <p14:sldId id="294"/>
            <p14:sldId id="295"/>
            <p14:sldId id="296"/>
            <p14:sldId id="297"/>
          </p14:sldIdLst>
        </p14:section>
        <p14:section name="Checkpoint" id="{3E251626-8028-4B37-AC86-1F3C2A18C571}">
          <p14:sldIdLst>
            <p14:sldId id="298"/>
            <p14:sldId id="299"/>
            <p14:sldId id="300"/>
            <p14:sldId id="301"/>
            <p14:sldId id="302"/>
            <p14:sldId id="303"/>
          </p14:sldIdLst>
        </p14:section>
        <p14:section name="Wrap-up" id="{A202F679-A6A6-4FBF-9942-A17C880B5B99}">
          <p14:sldIdLst>
            <p14:sldId id="304"/>
            <p14:sldId id="305"/>
            <p14:sldId id="306"/>
            <p14:sldId id="307"/>
            <p14:sldId id="308"/>
            <p14:sldId id="30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Shortest Paths: Single-Source and All-Pairs. Part 5 — Graph Algorithms. Week 14: Shortest paths. Handout pages 162–172.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18 for representation and BFS — Dijkstra is BFS with a priority queue. Chapter 14 for the exchange argument. Chapter 15 for Floyd–Warshall, which is a dynamic program.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shortest path; relaxation; Dijkstra; Bellman–Ford; Floyd–Warshall; negative edge; negative cycle; single-source; all-pairs; optimal substructure; early termination.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20.1 (handout p. 163): Dijkstra. Line 7 is the greedy commitment: once a vertex is extracted its distance is declared final and never reconsidered. Theorem 20.1 is what justifies that, and Section 20.4 is what happens when its hypothesis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Suppose not, and let u be the first vertex added to S with d[u] ≠ δ(s,u). Then u ≠ s, and δ(s,u) &lt; ∞ (otherwise d[u] = ∞ = δ(s,u)). Consider a shortest path p from s to u. Since s ∈ S and u ∉ S at the moment before u is added, p must leave S at some point: let y be the first vertex on p not in S, and x ∈ S its predecessor. Because x was added to S earlier and u is the first mistake, d[x] = δ(s,x). The edge (x,y) was relaxed when x was added, so d[y]  =  δ(s,x) + w(x,y)  =  δ(s,y), the second equality because the prefix of a shortest path is a shortest path. Now y appears on a shortest path to u and all remaining edge weights are non-negative, so δ(s,y)  ≤  δ(s,u). But u was chosen by Extract-Min over y, so d[u] ≤ d[y]. Chain them: d[u]  ≤  d[y]  =  δ(s,y)  ≤  δ(s,u)  ≤  d[u], the last because d never underestimates. So all are equal and d[u] = δ(s,u) — contradicting the choice of 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20.2 (handout p. 164): Bellman-Ford. No priority queue and no assumption about signs: O(|V||E|). The final pass is not decoration — it is the only way to detect a negative cycle, which Dijkstra cannot do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A shortest path has at most |V|−1 edges: if it had more it would repeat a vertex, and the cycle so formed has non-negative weight (by hypothesis) and can be removed without lengthening the path. Now argue by induction that after i passes, d[v] = δ(s,v) for every v whose shortest path uses at most i edges. After 0 passes this holds for v = s. For the step: let v have a shortest path s u → v using i+1 edges; its prefix to u uses i edges and is shortest, so by hypothesis d[u] = δ(s,u) after i passes. Pass i+1 relaxes (u,v) and sets d[v] ≤ δ(s,u)+w(u,v) = δ(s,v); since d never underestimates, equality holds. After |V|−1 passes every shortest path is covered. If a further relaxation still improves some d[v], then some path uses |V| or more edges and is still improving, which requires a negative cycle.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20.3 (handout p. 166): Floyd-Warshall. Five lines, Θ(n3) regardless of density, and the smallest constant of any algorithm in this chapter — three nested loops over contiguous memory.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five tables.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Dijkstra with a binary heap.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Dijkstra with a linear scan.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Bellman-Ford: relax every edge, V-1 times.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Floyd-Warshall: all pairs, three nested loops.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Heap against array, across densities.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Dijkstra against Bellman-Ford.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6b. The graph that forces every pass.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One negative edge, and Dijkstra is wrong.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All pairs: Floyd-Warshall against V x Dijkstra.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inequality δ(s,y) ≤ δ(s,u), where y lies on a shortest path to u. It says extending a path cannot make it cheaper, which requires non-negative weights. Without it, the remaining portion from y to u may have negative total weight, so a vertex finalised early can later prove reachable more cheaply — and Dijkstra never revisits it. Measured in Section 20.4: d(3) = 4 where the answer is 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shortest path in a graph with no negative cycle uses at most |V|−1 edges (more would repeat a vertex, and the cycle so formed has non-negative weight and can be removed). Each pass propagates correct distances one more edge along every path, so |V|−1 passes suffice. The |V|-th pass detects a negative cycle: if any distance still improves, some path is using |V| or more edges and still getting shorter, which only a negative cycle permits.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That a worst-case bound describes the worst case and not the typical one, and that both facts matter. Bellman–Ford’s O(|V||E|) is real — the path graph attained it, 789× slower than Dijkstra — and on random graphs the early exit made it indistinguishable. A benchmark on random inputs alone would have reported them equal; the bound is what told us to go looking for the input where they are not.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21 — String Matching. READ: Handout Chapter 20, pages 162–172. THIS WEEK'S LAB: Dijkstra with and without a priority queue.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5.xml"/><Relationship Id="rId8" Type="http://schemas.openxmlformats.org/officeDocument/2006/relationships/slide" Target="slide21.xml"/><Relationship Id="rId9"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5.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1.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4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2.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3.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4.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5.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20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Shortest Paths: Single-Source and All-Pairs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GRAPH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20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F97F07FE-A76A-421C-9B24-1BCF23AB6189}"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533777" y="1755648"/>
            <a:ext cx="127574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533777" y="2029967"/>
            <a:ext cx="1275747"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0728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4158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789900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78075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357631"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35763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Shortest Paths: Single-Source and All-Pairs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Greedy Algorithms</a:t>
            </a:r>
          </a:p>
        </p:txBody>
      </p:sp>
      <p:sp>
        <p:nvSpPr>
          <p:cNvPr id="70" name="!!chipBU1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Dynamic Programming I: The Elements</a:t>
            </a:r>
          </a:p>
        </p:txBody>
      </p:sp>
      <p:sp>
        <p:nvSpPr>
          <p:cNvPr id="73" name="!!chipBU1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Graphs: Representation, Traversal and Sparsity</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chipUS2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pfill">
            <a:extLst>
              <a:ext uri="{C183D7F6-B498-43B3-948B-1728B52AA6E4}">
                <adec:decorative xmlns:adec="http://schemas.microsoft.com/office/drawing/2017/decorative" val="1"/>
              </a:ext>
            </a:extLst>
          </p:cNvPr>
          <p:cNvSpPr/>
          <p:nvPr/>
        </p:nvSpPr>
        <p:spPr>
          <a:xfrm>
            <a:off x="0" y="0"/>
            <a:ext cx="45154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A7F9D751-648B-4033-815D-5DAF3F84DFF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Solve</a:t>
            </a:r>
            <a:r>
              <a:rPr sz="2100" b="0" i="0">
                <a:solidFill>
                  <a:srgbClr val="1C252B"/>
                </a:solidFill>
                <a:latin typeface="Segoe UI"/>
              </a:rPr>
              <a:t> single-source shortest-path problems with Dijkstra’s and Bellman–Ford’s algorithms </a:t>
            </a:r>
            <a:r>
              <a:rPr sz="2100" b="0" i="1">
                <a:solidFill>
                  <a:srgbClr val="1C252B"/>
                </a:solidFill>
                <a:latin typeface="Segoe UI"/>
              </a:rPr>
              <a:t>(CLO-7)</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Prove</a:t>
            </a:r>
            <a:r>
              <a:rPr sz="2100" b="0" i="0">
                <a:solidFill>
                  <a:srgbClr val="1C252B"/>
                </a:solidFill>
                <a:latin typeface="Segoe UI"/>
              </a:rPr>
              <a:t> Dijkstra’s algorithm correct and </a:t>
            </a:r>
            <a:r>
              <a:rPr sz="2100" b="1" i="0">
                <a:solidFill>
                  <a:srgbClr val="1C252B"/>
                </a:solidFill>
                <a:latin typeface="Segoe UI"/>
              </a:rPr>
              <a:t>identify</a:t>
            </a:r>
            <a:r>
              <a:rPr sz="2100" b="0" i="0">
                <a:solidFill>
                  <a:srgbClr val="1C252B"/>
                </a:solidFill>
                <a:latin typeface="Segoe UI"/>
              </a:rPr>
              <a:t> the step that requires non-negative weights.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Construct</a:t>
            </a:r>
            <a:r>
              <a:rPr sz="2100" b="0" i="0">
                <a:solidFill>
                  <a:srgbClr val="1C252B"/>
                </a:solidFill>
                <a:latin typeface="Segoe UI"/>
              </a:rPr>
              <a:t> a graph on which Dijkstra’s algorithm returns a wrong answer, and </a:t>
            </a:r>
            <a:r>
              <a:rPr sz="2100" b="1" i="0">
                <a:solidFill>
                  <a:srgbClr val="1C252B"/>
                </a:solidFill>
                <a:latin typeface="Segoe UI"/>
              </a:rPr>
              <a:t>explain</a:t>
            </a:r>
            <a:r>
              <a:rPr sz="2100" b="0" i="0">
                <a:solidFill>
                  <a:srgbClr val="1C252B"/>
                </a:solidFill>
                <a:latin typeface="Segoe UI"/>
              </a:rPr>
              <a:t> why.</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Apply</a:t>
            </a:r>
            <a:r>
              <a:rPr sz="2100" b="0" i="0">
                <a:solidFill>
                  <a:srgbClr val="1C252B"/>
                </a:solidFill>
                <a:latin typeface="Segoe UI"/>
              </a:rPr>
              <a:t> Floyd–Warshall to the all-pairs problem and </a:t>
            </a:r>
            <a:r>
              <a:rPr sz="2100" b="1" i="0">
                <a:solidFill>
                  <a:srgbClr val="1C252B"/>
                </a:solidFill>
                <a:latin typeface="Segoe UI"/>
              </a:rPr>
              <a:t>justify</a:t>
            </a:r>
            <a:r>
              <a:rPr sz="2100" b="0" i="0">
                <a:solidFill>
                  <a:srgbClr val="1C252B"/>
                </a:solidFill>
                <a:latin typeface="Segoe UI"/>
              </a:rPr>
              <a:t> the loop order.</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Choose</a:t>
            </a:r>
            <a:r>
              <a:rPr sz="2100" b="0" i="0">
                <a:solidFill>
                  <a:srgbClr val="1C252B"/>
                </a:solidFill>
                <a:latin typeface="Segoe UI"/>
              </a:rPr>
              <a:t> among the three algorithms given density, weights and the number of sources required.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BA4FDE06-1DEC-454D-BC76-90EB967CA5E1}" type="slidenum">
              <a:rPr lang="en-GB" sz="1000">
                <a:solidFill>
                  <a:srgbClr val="8795A1"/>
                </a:solidFill>
                <a:latin typeface="Segoe UI"/>
              </a:rPr>
              <a:t>4</a:t>
            </a:fld>
          </a:p>
        </p:txBody>
      </p:sp>
      <p:sp>
        <p:nvSpPr>
          <p:cNvPr id="7" name="!!term-shortest path">
            <a:extLst>
              <a:ext uri="{C183D7F6-B498-43B3-948B-1728B52AA6E4}">
                <adec:decorative xmlns:adec="http://schemas.microsoft.com/office/drawing/2017/decorative" val="1"/>
              </a:ext>
            </a:extLst>
          </p:cNvPr>
          <p:cNvSpPr/>
          <p:nvPr/>
        </p:nvSpPr>
        <p:spPr>
          <a:xfrm>
            <a:off x="658368" y="1847088"/>
            <a:ext cx="17217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hortest path">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hortest path"/>
          <p:cNvSpPr txBox="1"/>
          <p:nvPr/>
        </p:nvSpPr>
        <p:spPr>
          <a:xfrm>
            <a:off x="950976" y="1955291"/>
            <a:ext cx="153882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shortest path</a:t>
            </a:r>
          </a:p>
        </p:txBody>
      </p:sp>
      <p:sp>
        <p:nvSpPr>
          <p:cNvPr id="10" name="!!term-relaxation">
            <a:extLst>
              <a:ext uri="{C183D7F6-B498-43B3-948B-1728B52AA6E4}">
                <adec:decorative xmlns:adec="http://schemas.microsoft.com/office/drawing/2017/decorative" val="1"/>
              </a:ext>
            </a:extLst>
          </p:cNvPr>
          <p:cNvSpPr/>
          <p:nvPr/>
        </p:nvSpPr>
        <p:spPr>
          <a:xfrm>
            <a:off x="2526381" y="1847088"/>
            <a:ext cx="13908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relaxation">
            <a:extLst>
              <a:ext uri="{C183D7F6-B498-43B3-948B-1728B52AA6E4}">
                <adec:decorative xmlns:adec="http://schemas.microsoft.com/office/drawing/2017/decorative" val="1"/>
              </a:ext>
            </a:extLst>
          </p:cNvPr>
          <p:cNvSpPr/>
          <p:nvPr/>
        </p:nvSpPr>
        <p:spPr>
          <a:xfrm>
            <a:off x="265439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relaxation"/>
          <p:cNvSpPr txBox="1"/>
          <p:nvPr/>
        </p:nvSpPr>
        <p:spPr>
          <a:xfrm>
            <a:off x="2818989" y="1955291"/>
            <a:ext cx="120798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relaxation</a:t>
            </a:r>
          </a:p>
        </p:txBody>
      </p:sp>
      <p:sp>
        <p:nvSpPr>
          <p:cNvPr id="13" name="!!term-Dijkstra">
            <a:extLst>
              <a:ext uri="{C183D7F6-B498-43B3-948B-1728B52AA6E4}">
                <adec:decorative xmlns:adec="http://schemas.microsoft.com/office/drawing/2017/decorative" val="1"/>
              </a:ext>
            </a:extLst>
          </p:cNvPr>
          <p:cNvSpPr/>
          <p:nvPr/>
        </p:nvSpPr>
        <p:spPr>
          <a:xfrm>
            <a:off x="4063555" y="1847088"/>
            <a:ext cx="11660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Dijkstra">
            <a:extLst>
              <a:ext uri="{C183D7F6-B498-43B3-948B-1728B52AA6E4}">
                <adec:decorative xmlns:adec="http://schemas.microsoft.com/office/drawing/2017/decorative" val="1"/>
              </a:ext>
            </a:extLst>
          </p:cNvPr>
          <p:cNvSpPr/>
          <p:nvPr/>
        </p:nvSpPr>
        <p:spPr>
          <a:xfrm>
            <a:off x="419157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Dijkstra"/>
          <p:cNvSpPr txBox="1"/>
          <p:nvPr/>
        </p:nvSpPr>
        <p:spPr>
          <a:xfrm>
            <a:off x="4356163" y="1955291"/>
            <a:ext cx="98319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Dijkstra</a:t>
            </a:r>
          </a:p>
        </p:txBody>
      </p:sp>
      <p:sp>
        <p:nvSpPr>
          <p:cNvPr id="16" name="!!term-Bellman–Ford">
            <a:extLst>
              <a:ext uri="{C183D7F6-B498-43B3-948B-1728B52AA6E4}">
                <adec:decorative xmlns:adec="http://schemas.microsoft.com/office/drawing/2017/decorative" val="1"/>
              </a:ext>
            </a:extLst>
          </p:cNvPr>
          <p:cNvSpPr/>
          <p:nvPr/>
        </p:nvSpPr>
        <p:spPr>
          <a:xfrm>
            <a:off x="5375930" y="1847088"/>
            <a:ext cx="17661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Bellman–Ford">
            <a:extLst>
              <a:ext uri="{C183D7F6-B498-43B3-948B-1728B52AA6E4}">
                <adec:decorative xmlns:adec="http://schemas.microsoft.com/office/drawing/2017/decorative" val="1"/>
              </a:ext>
            </a:extLst>
          </p:cNvPr>
          <p:cNvSpPr/>
          <p:nvPr/>
        </p:nvSpPr>
        <p:spPr>
          <a:xfrm>
            <a:off x="550394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Bellman–Ford"/>
          <p:cNvSpPr txBox="1"/>
          <p:nvPr/>
        </p:nvSpPr>
        <p:spPr>
          <a:xfrm>
            <a:off x="5668538" y="1955291"/>
            <a:ext cx="158324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Bellman–Ford</a:t>
            </a:r>
          </a:p>
        </p:txBody>
      </p:sp>
      <p:sp>
        <p:nvSpPr>
          <p:cNvPr id="19" name="!!term-Floyd–Warshall">
            <a:extLst>
              <a:ext uri="{C183D7F6-B498-43B3-948B-1728B52AA6E4}">
                <adec:decorative xmlns:adec="http://schemas.microsoft.com/office/drawing/2017/decorative" val="1"/>
              </a:ext>
            </a:extLst>
          </p:cNvPr>
          <p:cNvSpPr/>
          <p:nvPr/>
        </p:nvSpPr>
        <p:spPr>
          <a:xfrm>
            <a:off x="7288356" y="1847088"/>
            <a:ext cx="19061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Floyd–Warshall">
            <a:extLst>
              <a:ext uri="{C183D7F6-B498-43B3-948B-1728B52AA6E4}">
                <adec:decorative xmlns:adec="http://schemas.microsoft.com/office/drawing/2017/decorative" val="1"/>
              </a:ext>
            </a:extLst>
          </p:cNvPr>
          <p:cNvSpPr/>
          <p:nvPr/>
        </p:nvSpPr>
        <p:spPr>
          <a:xfrm>
            <a:off x="74163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Floyd–Warshall"/>
          <p:cNvSpPr txBox="1"/>
          <p:nvPr/>
        </p:nvSpPr>
        <p:spPr>
          <a:xfrm>
            <a:off x="7580964" y="1955291"/>
            <a:ext cx="172322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Floyd–Warshall</a:t>
            </a:r>
          </a:p>
        </p:txBody>
      </p:sp>
      <p:sp>
        <p:nvSpPr>
          <p:cNvPr id="22" name="!!term-negative edge">
            <a:extLst>
              <a:ext uri="{C183D7F6-B498-43B3-948B-1728B52AA6E4}">
                <adec:decorative xmlns:adec="http://schemas.microsoft.com/office/drawing/2017/decorative" val="1"/>
              </a:ext>
            </a:extLst>
          </p:cNvPr>
          <p:cNvSpPr/>
          <p:nvPr/>
        </p:nvSpPr>
        <p:spPr>
          <a:xfrm>
            <a:off x="9340764" y="1847088"/>
            <a:ext cx="18192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negative edge">
            <a:extLst>
              <a:ext uri="{C183D7F6-B498-43B3-948B-1728B52AA6E4}">
                <adec:decorative xmlns:adec="http://schemas.microsoft.com/office/drawing/2017/decorative" val="1"/>
              </a:ext>
            </a:extLst>
          </p:cNvPr>
          <p:cNvSpPr/>
          <p:nvPr/>
        </p:nvSpPr>
        <p:spPr>
          <a:xfrm>
            <a:off x="946878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negative edge"/>
          <p:cNvSpPr txBox="1"/>
          <p:nvPr/>
        </p:nvSpPr>
        <p:spPr>
          <a:xfrm>
            <a:off x="9633372" y="1955291"/>
            <a:ext cx="163633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negative edge</a:t>
            </a:r>
          </a:p>
        </p:txBody>
      </p:sp>
      <p:sp>
        <p:nvSpPr>
          <p:cNvPr id="25" name="!!term-negative cycle">
            <a:extLst>
              <a:ext uri="{C183D7F6-B498-43B3-948B-1728B52AA6E4}">
                <adec:decorative xmlns:adec="http://schemas.microsoft.com/office/drawing/2017/decorative" val="1"/>
              </a:ext>
            </a:extLst>
          </p:cNvPr>
          <p:cNvSpPr/>
          <p:nvPr/>
        </p:nvSpPr>
        <p:spPr>
          <a:xfrm>
            <a:off x="658368" y="2468880"/>
            <a:ext cx="18079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negative cycl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negative cycle"/>
          <p:cNvSpPr txBox="1"/>
          <p:nvPr/>
        </p:nvSpPr>
        <p:spPr>
          <a:xfrm>
            <a:off x="950976" y="2577084"/>
            <a:ext cx="162508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negative cycle</a:t>
            </a:r>
          </a:p>
        </p:txBody>
      </p:sp>
      <p:sp>
        <p:nvSpPr>
          <p:cNvPr id="28" name="!!term-single-source">
            <a:extLst>
              <a:ext uri="{C183D7F6-B498-43B3-948B-1728B52AA6E4}">
                <adec:decorative xmlns:adec="http://schemas.microsoft.com/office/drawing/2017/decorative" val="1"/>
              </a:ext>
            </a:extLst>
          </p:cNvPr>
          <p:cNvSpPr/>
          <p:nvPr/>
        </p:nvSpPr>
        <p:spPr>
          <a:xfrm>
            <a:off x="2612641" y="2468880"/>
            <a:ext cx="17370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ingle-source">
            <a:extLst>
              <a:ext uri="{C183D7F6-B498-43B3-948B-1728B52AA6E4}">
                <adec:decorative xmlns:adec="http://schemas.microsoft.com/office/drawing/2017/decorative" val="1"/>
              </a:ext>
            </a:extLst>
          </p:cNvPr>
          <p:cNvSpPr/>
          <p:nvPr/>
        </p:nvSpPr>
        <p:spPr>
          <a:xfrm>
            <a:off x="27406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ingle-source"/>
          <p:cNvSpPr txBox="1"/>
          <p:nvPr/>
        </p:nvSpPr>
        <p:spPr>
          <a:xfrm>
            <a:off x="2905249" y="2577084"/>
            <a:ext cx="155417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single-source</a:t>
            </a:r>
          </a:p>
        </p:txBody>
      </p:sp>
      <p:sp>
        <p:nvSpPr>
          <p:cNvPr id="31" name="!!term-all-pairs">
            <a:extLst>
              <a:ext uri="{C183D7F6-B498-43B3-948B-1728B52AA6E4}">
                <adec:decorative xmlns:adec="http://schemas.microsoft.com/office/drawing/2017/decorative" val="1"/>
              </a:ext>
            </a:extLst>
          </p:cNvPr>
          <p:cNvSpPr/>
          <p:nvPr/>
        </p:nvSpPr>
        <p:spPr>
          <a:xfrm>
            <a:off x="4495997" y="2468880"/>
            <a:ext cx="12105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ll-pairs">
            <a:extLst>
              <a:ext uri="{C183D7F6-B498-43B3-948B-1728B52AA6E4}">
                <adec:decorative xmlns:adec="http://schemas.microsoft.com/office/drawing/2017/decorative" val="1"/>
              </a:ext>
            </a:extLst>
          </p:cNvPr>
          <p:cNvSpPr/>
          <p:nvPr/>
        </p:nvSpPr>
        <p:spPr>
          <a:xfrm>
            <a:off x="46240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ll-pairs"/>
          <p:cNvSpPr txBox="1"/>
          <p:nvPr/>
        </p:nvSpPr>
        <p:spPr>
          <a:xfrm>
            <a:off x="4788605" y="2577084"/>
            <a:ext cx="102765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all-pairs</a:t>
            </a:r>
          </a:p>
        </p:txBody>
      </p:sp>
      <p:sp>
        <p:nvSpPr>
          <p:cNvPr id="34" name="!!term-optimal substr">
            <a:extLst>
              <a:ext uri="{C183D7F6-B498-43B3-948B-1728B52AA6E4}">
                <adec:decorative xmlns:adec="http://schemas.microsoft.com/office/drawing/2017/decorative" val="1"/>
              </a:ext>
            </a:extLst>
          </p:cNvPr>
          <p:cNvSpPr/>
          <p:nvPr/>
        </p:nvSpPr>
        <p:spPr>
          <a:xfrm>
            <a:off x="5852837" y="2468880"/>
            <a:ext cx="24503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optimal substr">
            <a:extLst>
              <a:ext uri="{C183D7F6-B498-43B3-948B-1728B52AA6E4}">
                <adec:decorative xmlns:adec="http://schemas.microsoft.com/office/drawing/2017/decorative" val="1"/>
              </a:ext>
            </a:extLst>
          </p:cNvPr>
          <p:cNvSpPr/>
          <p:nvPr/>
        </p:nvSpPr>
        <p:spPr>
          <a:xfrm>
            <a:off x="59808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optimal substr"/>
          <p:cNvSpPr txBox="1"/>
          <p:nvPr/>
        </p:nvSpPr>
        <p:spPr>
          <a:xfrm>
            <a:off x="6145445" y="2577084"/>
            <a:ext cx="226745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optimal substructure</a:t>
            </a:r>
          </a:p>
        </p:txBody>
      </p:sp>
      <p:sp>
        <p:nvSpPr>
          <p:cNvPr id="37" name="!!term-early terminat">
            <a:extLst>
              <a:ext uri="{C183D7F6-B498-43B3-948B-1728B52AA6E4}">
                <adec:decorative xmlns:adec="http://schemas.microsoft.com/office/drawing/2017/decorative" val="1"/>
              </a:ext>
            </a:extLst>
          </p:cNvPr>
          <p:cNvSpPr/>
          <p:nvPr/>
        </p:nvSpPr>
        <p:spPr>
          <a:xfrm>
            <a:off x="8449479" y="2468880"/>
            <a:ext cx="20907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early terminat">
            <a:extLst>
              <a:ext uri="{C183D7F6-B498-43B3-948B-1728B52AA6E4}">
                <adec:decorative xmlns:adec="http://schemas.microsoft.com/office/drawing/2017/decorative" val="1"/>
              </a:ext>
            </a:extLst>
          </p:cNvPr>
          <p:cNvSpPr/>
          <p:nvPr/>
        </p:nvSpPr>
        <p:spPr>
          <a:xfrm>
            <a:off x="85774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early terminat"/>
          <p:cNvSpPr txBox="1"/>
          <p:nvPr/>
        </p:nvSpPr>
        <p:spPr>
          <a:xfrm>
            <a:off x="8742087" y="2577084"/>
            <a:ext cx="190785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early termination</a:t>
            </a:r>
          </a:p>
        </p:txBody>
      </p:sp>
      <p:sp>
        <p:nvSpPr>
          <p:cNvPr id="40"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90308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162–172     </a:t>
            </a:r>
            <a:fld id="{8682E841-99B3-4674-9AB2-63D5E9B56EAA}" type="slidenum">
              <a:rPr lang="en-GB" sz="1000">
                <a:solidFill>
                  <a:srgbClr val="8795A1"/>
                </a:solidFill>
                <a:latin typeface="Segoe UI"/>
              </a:rPr>
              <a:t>5</a:t>
            </a:fld>
          </a:p>
        </p:txBody>
      </p:sp>
      <p:sp>
        <p:nvSpPr>
          <p:cNvPr id="7" name="!!ag0" descr="Go to section 20.1 Relaxation, the Common Operat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Relaxation, the Common Operation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12" name="!!ag1" descr="Go to section 20.2 Dijkstra">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Dijkstra</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163  ›</a:t>
            </a:r>
          </a:p>
        </p:txBody>
      </p:sp>
      <p:sp>
        <p:nvSpPr>
          <p:cNvPr id="17" name="!!ag2" descr="Go to section 20.3 Bellman–For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Bellman–Ford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164  ›</a:t>
            </a:r>
          </a:p>
        </p:txBody>
      </p:sp>
      <p:sp>
        <p:nvSpPr>
          <p:cNvPr id="22" name="!!ag3" descr="Go to section 20.4 One Negative Edg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One Negative Edge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166  ›</a:t>
            </a:r>
          </a:p>
        </p:txBody>
      </p:sp>
      <p:sp>
        <p:nvSpPr>
          <p:cNvPr id="27" name="!!ag4" descr="Go to section 20.5 All Pair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All Pairs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166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12886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Relaxation, the Common Operation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20.1   Relaxation, the Common Operation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Dijkstra</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Bellman–Ford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One Negative Edge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20.5   All Pairs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§20.1     </a:t>
            </a:r>
            <a:fld id="{0740A650-6C94-447F-A406-97046A406D8C}"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Relaxation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§20.1  ·  Handout p. 162     </a:t>
            </a:r>
            <a:fld id="{233A3DA7-7226-4D06-BF8E-A18093D8D93D}"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94091"/>
          </a:xfrm>
          <a:prstGeom prst="roundRect">
            <a:avLst>
              <a:gd name="adj" fmla="val 327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9409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algorithm here maintains an estimate </a:t>
            </a:r>
            <a:r>
              <a:rPr sz="2300" b="0" i="1">
                <a:solidFill>
                  <a:srgbClr val="1C252B"/>
                </a:solidFill>
                <a:latin typeface="Cambria"/>
              </a:rPr>
              <a:t>d</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 ≥ 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the true shortest distance. </a:t>
            </a:r>
            <a:r>
              <a:rPr sz="2300" b="1" i="0">
                <a:solidFill>
                  <a:srgbClr val="1A5276"/>
                </a:solidFill>
                <a:latin typeface="Segoe UI"/>
              </a:rPr>
              <a:t>Relaxing</a:t>
            </a:r>
            <a:r>
              <a:rPr sz="2300" b="0" i="0">
                <a:solidFill>
                  <a:srgbClr val="1C252B"/>
                </a:solidFill>
                <a:latin typeface="Segoe UI"/>
              </a:rPr>
              <a:t> an edge </a:t>
            </a:r>
            <a:r>
              <a:rPr sz="2300" b="0" i="0">
                <a:solidFill>
                  <a:srgbClr val="1C252B"/>
                </a:solidFill>
                <a:latin typeface="Cambria"/>
              </a:rPr>
              <a:t>(</a:t>
            </a:r>
            <a:r>
              <a:rPr sz="2300" b="0" i="1">
                <a:solidFill>
                  <a:srgbClr val="1C252B"/>
                </a:solidFill>
                <a:latin typeface="Cambria"/>
              </a:rPr>
              <a:t>u</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asks whether going via </a:t>
            </a:r>
            <a:r>
              <a:rPr sz="2300" b="0" i="1">
                <a:solidFill>
                  <a:srgbClr val="1C252B"/>
                </a:solidFill>
                <a:latin typeface="Cambria"/>
              </a:rPr>
              <a:t>u</a:t>
            </a:r>
            <a:r>
              <a:rPr sz="2300" b="0" i="0">
                <a:solidFill>
                  <a:srgbClr val="1C252B"/>
                </a:solidFill>
                <a:latin typeface="Segoe UI"/>
              </a:rPr>
              <a:t> improves it:</a:t>
            </a:r>
          </a:p>
        </p:txBody>
      </p:sp>
      <p:pic>
        <p:nvPicPr>
          <p:cNvPr id="10" name="body-1" descr="\textbf{if } d[u] + w(u,v) &lt; d[v] \textbf{ then } d[v] \gets d[u]+w(u,v)."/>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body-2"/>
          <p:cNvSpPr txBox="1"/>
          <p:nvPr/>
        </p:nvSpPr>
        <p:spPr>
          <a:xfrm>
            <a:off x="1060704" y="349147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All three algorithms do only this. They differ entirely in </a:t>
            </a:r>
            <a:r>
              <a:rPr sz="2300" b="0" i="1">
                <a:solidFill>
                  <a:srgbClr val="1C252B"/>
                </a:solidFill>
                <a:latin typeface="Segoe UI"/>
              </a:rPr>
              <a:t>the order</a:t>
            </a:r>
            <a:r>
              <a:rPr sz="2300" b="0" i="0">
                <a:solidFill>
                  <a:srgbClr val="1C252B"/>
                </a:solidFill>
                <a:latin typeface="Segoe UI"/>
              </a:rPr>
              <a:t> in which edges are relaxed, and that order is what buys or costs the running time.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58040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Optimal substructure, and where it comes from</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§20.1  ·  Handout p. 162     </a:t>
            </a:r>
            <a:fld id="{AF9B9050-15C6-4C83-B0CA-8A1644A8FDFD}"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Any subpath of a shortest path is itself a shortest path: if </a:t>
            </a:r>
            <a:r>
              <a:rPr sz="2300" b="0" i="1">
                <a:solidFill>
                  <a:srgbClr val="1C252B"/>
                </a:solidFill>
                <a:latin typeface="Cambria"/>
              </a:rPr>
              <a:t>p</a:t>
            </a:r>
            <a:r>
              <a:rPr sz="2300" b="0" i="0">
                <a:solidFill>
                  <a:srgbClr val="1C252B"/>
                </a:solidFill>
                <a:latin typeface="Segoe UI"/>
              </a:rPr>
              <a:t> is a shortest path from </a:t>
            </a:r>
            <a:r>
              <a:rPr sz="2300" b="0" i="1">
                <a:solidFill>
                  <a:srgbClr val="1C252B"/>
                </a:solidFill>
                <a:latin typeface="Cambria"/>
              </a:rPr>
              <a:t>s</a:t>
            </a:r>
            <a:r>
              <a:rPr sz="2300" b="0" i="0">
                <a:solidFill>
                  <a:srgbClr val="1C252B"/>
                </a:solidFill>
                <a:latin typeface="Segoe UI"/>
              </a:rPr>
              <a:t> to </a:t>
            </a:r>
            <a:r>
              <a:rPr sz="2300" b="0" i="1">
                <a:solidFill>
                  <a:srgbClr val="1C252B"/>
                </a:solidFill>
                <a:latin typeface="Cambria"/>
              </a:rPr>
              <a:t>v</a:t>
            </a:r>
            <a:r>
              <a:rPr sz="2300" b="0" i="0">
                <a:solidFill>
                  <a:srgbClr val="1C252B"/>
                </a:solidFill>
                <a:latin typeface="Segoe UI"/>
              </a:rPr>
              <a:t> passing through </a:t>
            </a:r>
            <a:r>
              <a:rPr sz="2300" b="0" i="1">
                <a:solidFill>
                  <a:srgbClr val="1C252B"/>
                </a:solidFill>
                <a:latin typeface="Cambria"/>
              </a:rPr>
              <a:t>u</a:t>
            </a:r>
            <a:r>
              <a:rPr sz="2300" b="0" i="0">
                <a:solidFill>
                  <a:srgbClr val="1C252B"/>
                </a:solidFill>
                <a:latin typeface="Segoe UI"/>
              </a:rPr>
              <a:t>, the portion from </a:t>
            </a:r>
            <a:r>
              <a:rPr sz="2300" b="0" i="1">
                <a:solidFill>
                  <a:srgbClr val="1C252B"/>
                </a:solidFill>
                <a:latin typeface="Cambria"/>
              </a:rPr>
              <a:t>s</a:t>
            </a:r>
            <a:r>
              <a:rPr sz="2300" b="0" i="0">
                <a:solidFill>
                  <a:srgbClr val="1C252B"/>
                </a:solidFill>
                <a:latin typeface="Segoe UI"/>
              </a:rPr>
              <a:t> to </a:t>
            </a:r>
            <a:r>
              <a:rPr sz="2300" b="0" i="1">
                <a:solidFill>
                  <a:srgbClr val="1C252B"/>
                </a:solidFill>
                <a:latin typeface="Cambria"/>
              </a:rPr>
              <a:t>u</a:t>
            </a:r>
            <a:r>
              <a:rPr sz="2300" b="0" i="0">
                <a:solidFill>
                  <a:srgbClr val="1C252B"/>
                </a:solidFill>
                <a:latin typeface="Segoe UI"/>
              </a:rPr>
              <a:t> must be shortest, or substituting a shorter one would improve </a:t>
            </a:r>
            <a:r>
              <a:rPr sz="2300" b="0" i="1">
                <a:solidFill>
                  <a:srgbClr val="1C252B"/>
                </a:solidFill>
                <a:latin typeface="Cambria"/>
              </a:rPr>
              <a:t>p</a:t>
            </a:r>
            <a:r>
              <a:rPr sz="2300" b="0" i="0">
                <a:solidFill>
                  <a:srgbClr val="1C252B"/>
                </a:solidFill>
                <a:latin typeface="Segoe UI"/>
              </a:rPr>
              <a:t>.</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is a cut-and-paste argument, and it is the optimal substructure of Chapter 15. It is why shortest paths yield to both greedy (Dijkstra) and dynamic programming (Floyd–Warshall) — and why </a:t>
            </a:r>
            <a:r>
              <a:rPr sz="2300" b="0" i="1">
                <a:solidFill>
                  <a:srgbClr val="1C252B"/>
                </a:solidFill>
                <a:latin typeface="Segoe UI"/>
              </a:rPr>
              <a:t>longest simple paths</a:t>
            </a:r>
            <a:r>
              <a:rPr sz="2300" b="0" i="0">
                <a:solidFill>
                  <a:srgbClr val="1C252B"/>
                </a:solidFill>
                <a:latin typeface="Segoe UI"/>
              </a:rPr>
              <a:t> do not, since a subpath of a longest simple path need not be a longest simple path.</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0617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Dijkstra</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Relaxation, the Common Operation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20.2   Dijkstra</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Bellman–Ford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One Negative Edge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20.5   All Pairs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§20.2     </a:t>
            </a:r>
            <a:fld id="{5D040736-D363-4849-8372-0234F52789F7}"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Dijkstra</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163     </a:t>
            </a:r>
            <a:fld id="{6ADA38A2-DDC9-46E4-87FD-399A9FC5C107}" type="slidenum">
              <a:rPr lang="en-GB" sz="1000">
                <a:solidFill>
                  <a:srgbClr val="8795A1"/>
                </a:solidFill>
                <a:latin typeface="Segoe UI"/>
              </a:rPr>
              <a:t>10</a:t>
            </a:fld>
          </a:p>
        </p:txBody>
      </p:sp>
      <p:pic>
        <p:nvPicPr>
          <p:cNvPr id="6" name="!!figure" descr="Figure 20.1. Dijkstra. Line 7 is the greedy commitment: once a vertex is extracted its distance is declared final and never reconsidered. Theorem 20.1 is what justifies that, and Section 20.4 is what happens when its hypothesis fail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36882" y="1737360"/>
            <a:ext cx="851792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Dijkstra. Line 7 is the greedy commitment: once a vertex is extracted its distance is declared final and never reconsidered. Theorem 20.1 is what justifies that, and Section 20.4 is what happens when its hypothesis fails.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5772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Dijkstra is correct</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20.1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163     </a:t>
            </a:r>
            <a:fld id="{DCBA5314-B0B1-4E3A-9508-2BBA85CF59DC}"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every edge weight is non-negative, then when Dijkstra adds </a:t>
            </a:r>
            <a:r>
              <a:rPr sz="2300" b="0" i="1">
                <a:solidFill>
                  <a:srgbClr val="1C252B"/>
                </a:solidFill>
                <a:latin typeface="Cambria"/>
              </a:rPr>
              <a:t>u</a:t>
            </a:r>
            <a:r>
              <a:rPr sz="2300" b="0" i="0">
                <a:solidFill>
                  <a:srgbClr val="1C252B"/>
                </a:solidFill>
                <a:latin typeface="Segoe UI"/>
              </a:rPr>
              <a:t> to </a:t>
            </a:r>
            <a:r>
              <a:rPr sz="2300" b="0" i="1">
                <a:solidFill>
                  <a:srgbClr val="1C252B"/>
                </a:solidFill>
                <a:latin typeface="Cambria"/>
              </a:rPr>
              <a:t>S</a:t>
            </a:r>
            <a:r>
              <a:rPr sz="2300" b="0" i="0">
                <a:solidFill>
                  <a:srgbClr val="1C252B"/>
                </a:solidFill>
                <a:latin typeface="Segoe UI"/>
              </a:rPr>
              <a:t>, </a:t>
            </a:r>
            <a:r>
              <a:rPr sz="2300" b="0" i="1">
                <a:solidFill>
                  <a:srgbClr val="1C252B"/>
                </a:solidFill>
                <a:latin typeface="Cambria"/>
              </a:rPr>
              <a:t>d</a:t>
            </a:r>
            <a:r>
              <a:rPr sz="2300" b="0" i="0">
                <a:solidFill>
                  <a:srgbClr val="1C252B"/>
                </a:solidFill>
                <a:latin typeface="Cambria"/>
              </a:rPr>
              <a:t>[</a:t>
            </a:r>
            <a:r>
              <a:rPr sz="2300" b="0" i="1">
                <a:solidFill>
                  <a:srgbClr val="1C252B"/>
                </a:solidFill>
                <a:latin typeface="Cambria"/>
              </a:rPr>
              <a:t>u</a:t>
            </a:r>
            <a:r>
              <a:rPr sz="2300" b="0" i="0">
                <a:solidFill>
                  <a:srgbClr val="1C252B"/>
                </a:solidFill>
                <a:latin typeface="Cambria"/>
              </a:rPr>
              <a:t>] = 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u</a:t>
            </a:r>
            <a:r>
              <a:rPr sz="2300" b="0" i="0">
                <a:solidFill>
                  <a:srgbClr val="1C252B"/>
                </a:solidFill>
                <a:latin typeface="Cambria"/>
              </a:rPr>
              <a:t>)</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8349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Exactly one step used non-negativity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163     </a:t>
            </a:r>
            <a:fld id="{484427D2-7082-406D-9125-32E3312A9509}"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94887"/>
          </a:xfrm>
          <a:prstGeom prst="roundRect">
            <a:avLst>
              <a:gd name="adj" fmla="val 261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9488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inequality </a:t>
            </a:r>
            <a:r>
              <a:rPr sz="2300" b="0" i="0">
                <a:solidFill>
                  <a:srgbClr val="1C252B"/>
                </a:solidFill>
                <a:latin typeface="Cambria"/>
              </a:rPr>
              <a:t>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y</a:t>
            </a:r>
            <a:r>
              <a:rPr sz="2300" b="0" i="0">
                <a:solidFill>
                  <a:srgbClr val="1C252B"/>
                </a:solidFill>
                <a:latin typeface="Cambria"/>
              </a:rPr>
              <a:t>) ≤ 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u</a:t>
            </a:r>
            <a:r>
              <a:rPr sz="2300" b="0" i="0">
                <a:solidFill>
                  <a:srgbClr val="1C252B"/>
                </a:solidFill>
                <a:latin typeface="Cambria"/>
              </a:rPr>
              <a:t>)</a:t>
            </a:r>
            <a:r>
              <a:rPr sz="2300" b="0" i="0">
                <a:solidFill>
                  <a:srgbClr val="1C252B"/>
                </a:solidFill>
                <a:latin typeface="Segoe UI"/>
              </a:rPr>
              <a:t>. It says that extending a path can never make it cheaper.</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 negative edge that is false: the rest of the path from </a:t>
            </a:r>
            <a:r>
              <a:rPr sz="2300" b="0" i="1">
                <a:solidFill>
                  <a:srgbClr val="1C252B"/>
                </a:solidFill>
                <a:latin typeface="Cambria"/>
              </a:rPr>
              <a:t>y</a:t>
            </a:r>
            <a:r>
              <a:rPr sz="2300" b="0" i="0">
                <a:solidFill>
                  <a:srgbClr val="1C252B"/>
                </a:solidFill>
                <a:latin typeface="Segoe UI"/>
              </a:rPr>
              <a:t> to </a:t>
            </a:r>
            <a:r>
              <a:rPr sz="2300" b="0" i="1">
                <a:solidFill>
                  <a:srgbClr val="1C252B"/>
                </a:solidFill>
                <a:latin typeface="Cambria"/>
              </a:rPr>
              <a:t>u</a:t>
            </a:r>
            <a:r>
              <a:rPr sz="2300" b="0" i="0">
                <a:solidFill>
                  <a:srgbClr val="1C252B"/>
                </a:solidFill>
                <a:latin typeface="Segoe UI"/>
              </a:rPr>
              <a:t> might have negative total weight, so </a:t>
            </a:r>
            <a:r>
              <a:rPr sz="2300" b="0" i="0">
                <a:solidFill>
                  <a:srgbClr val="1C252B"/>
                </a:solidFill>
                <a:latin typeface="Cambria"/>
              </a:rPr>
              <a:t>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u</a:t>
            </a:r>
            <a:r>
              <a:rPr sz="2300" b="0" i="0">
                <a:solidFill>
                  <a:srgbClr val="1C252B"/>
                </a:solidFill>
                <a:latin typeface="Cambria"/>
              </a:rPr>
              <a:t>)</a:t>
            </a:r>
            <a:r>
              <a:rPr sz="2300" b="0" i="0">
                <a:solidFill>
                  <a:srgbClr val="1C252B"/>
                </a:solidFill>
                <a:latin typeface="Segoe UI"/>
              </a:rPr>
              <a:t> could be </a:t>
            </a:r>
            <a:r>
              <a:rPr sz="2300" b="0" i="1">
                <a:solidFill>
                  <a:srgbClr val="1C252B"/>
                </a:solidFill>
                <a:latin typeface="Segoe UI"/>
              </a:rPr>
              <a:t>less</a:t>
            </a:r>
            <a:r>
              <a:rPr sz="2300" b="0" i="0">
                <a:solidFill>
                  <a:srgbClr val="1C252B"/>
                </a:solidFill>
                <a:latin typeface="Segoe UI"/>
              </a:rPr>
              <a:t> than </a:t>
            </a:r>
            <a:r>
              <a:rPr sz="2300" b="0" i="0">
                <a:solidFill>
                  <a:srgbClr val="1C252B"/>
                </a:solidFill>
                <a:latin typeface="Cambria"/>
              </a:rPr>
              <a:t>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y</a:t>
            </a:r>
            <a:r>
              <a:rPr sz="2300" b="0" i="0">
                <a:solidFill>
                  <a:srgbClr val="1C252B"/>
                </a:solidFill>
                <a:latin typeface="Cambria"/>
              </a:rPr>
              <a:t>)</a:t>
            </a:r>
            <a:r>
              <a:rPr sz="2300" b="0" i="0">
                <a:solidFill>
                  <a:srgbClr val="1C252B"/>
                </a:solidFill>
                <a:latin typeface="Segoe UI"/>
              </a:rPr>
              <a:t>, and a vertex finalised early may later turn out to have been reachable more cheaply. The greedy commitment on line 7 is then unjustified.</a:t>
            </a:r>
          </a:p>
        </p:txBody>
      </p:sp>
      <p:sp>
        <p:nvSpPr>
          <p:cNvPr id="11" name="body-2"/>
          <p:cNvSpPr txBox="1"/>
          <p:nvPr/>
        </p:nvSpPr>
        <p:spPr>
          <a:xfrm>
            <a:off x="1060704" y="4556810"/>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Section 20.4 builds the graph where this happens.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Priority Queue, Measured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163     </a:t>
            </a:r>
            <a:fld id="{1EAD0EF6-B983-46FE-AD1D-6818F49177DA}"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69359"/>
          </a:xfrm>
          <a:prstGeom prst="roundRect">
            <a:avLst>
              <a:gd name="adj" fmla="val 230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693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 = 4,000</a:t>
            </a:r>
            <a:r>
              <a:rPr sz="1900" b="0" i="0">
                <a:solidFill>
                  <a:srgbClr val="1C252B"/>
                </a:solidFill>
                <a:latin typeface="Segoe UI"/>
              </a:rPr>
              <a:t>, density varying. </a:t>
            </a:r>
            <a:r>
              <a:rPr sz="1800" b="0" i="0">
                <a:solidFill>
                  <a:srgbClr val="1F4E79"/>
                </a:solidFill>
                <a:latin typeface="Consolas"/>
              </a:rPr>
              <a:t>code/ch20_sp.cpp</a:t>
            </a:r>
            <a:r>
              <a:rPr sz="1900" b="0" i="0">
                <a:solidFill>
                  <a:srgbClr val="1C252B"/>
                </a:solidFill>
                <a:latin typeface="Segoe UI"/>
              </a:rPr>
              <a:t> compares a binary heap with an unsorted array (extract-min by linear scan):</a:t>
            </a:r>
          </a:p>
        </p:txBody>
      </p:sp>
      <p:graphicFrame>
        <p:nvGraphicFramePr>
          <p:cNvPr id="10" name="body-1"/>
          <p:cNvGraphicFramePr>
            <a:graphicFrameLocks noGrp="1"/>
          </p:cNvGraphicFramePr>
          <p:nvPr/>
        </p:nvGraphicFramePr>
        <p:xfrm>
          <a:off x="1042416" y="2746679"/>
          <a:ext cx="5865206" cy="1950720"/>
        </p:xfrm>
        <a:graphic>
          <a:graphicData uri="http://schemas.openxmlformats.org/drawingml/2006/table">
            <a:tbl>
              <a:tblPr firstRow="0" bandRow="0" firstCol="0" lastRow="0" lastCol="0" bandCol="0">
                <a:tableStyleId>{2D5ABB26-0587-4C30-8999-92F81FD0307C}</a:tableStyleId>
              </a:tblPr>
              <a:tblGrid>
                <a:gridCol w="1340806"/>
                <a:gridCol w="1127991"/>
                <a:gridCol w="1224162"/>
                <a:gridCol w="1246753"/>
                <a:gridCol w="925494"/>
              </a:tblGrid>
              <a:tr h="390144">
                <a:tc>
                  <a:txBody>
                    <a:bodyPr wrap="square"/>
                    <a:lstStyle/>
                    <a:p>
                      <a:pPr algn="r"/>
                      <a:r>
                        <a:rPr sz="1600" b="1" i="0">
                          <a:solidFill>
                            <a:srgbClr val="1A5276"/>
                          </a:solidFill>
                          <a:latin typeface="Segoe UI"/>
                        </a:rPr>
                        <a:t>avg degree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E</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heap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array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winner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7,998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0.36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46.77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heap</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127,970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53.39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heap</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512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2,047,499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62.63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heap</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7,998,035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15.32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63.47</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heap</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83011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array column is flat</a:t>
            </a:r>
            <a:r>
              <a:rPr sz="1900" b="0" i="0">
                <a:solidFill>
                  <a:srgbClr val="1C252B"/>
                </a:solidFill>
                <a:latin typeface="Segoe UI"/>
              </a:rPr>
              <a:t> — 47 to 63 ms while </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a:t>
            </a:r>
            <a:r>
              <a:rPr sz="1900" b="0" i="0">
                <a:solidFill>
                  <a:srgbClr val="1C252B"/>
                </a:solidFill>
                <a:latin typeface="Segoe UI"/>
              </a:rPr>
              <a:t> grows 1000-fold — which is </a:t>
            </a:r>
            <a:r>
              <a:rPr sz="1900" b="0" i="0">
                <a:solidFill>
                  <a:srgbClr val="1C252B"/>
                </a:solidFill>
                <a:latin typeface="Cambria"/>
              </a:rPr>
              <a:t>O(|</a:t>
            </a:r>
            <a:r>
              <a:rPr sz="1900" b="0" i="1">
                <a:solidFill>
                  <a:srgbClr val="1C252B"/>
                </a:solidFill>
                <a:latin typeface="Cambria"/>
              </a:rPr>
              <a:t>V</a:t>
            </a:r>
            <a:r>
              <a:rPr sz="1900" b="0" i="0">
                <a:solidFill>
                  <a:srgbClr val="1C252B"/>
                </a:solidFill>
                <a:latin typeface="Cambria"/>
              </a:rPr>
              <a:t>|</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behaving exactly as advertised, just as the adjacency matrix did in Chapter 18.</a:t>
            </a:r>
          </a:p>
        </p:txBody>
      </p:sp>
      <p:sp>
        <p:nvSpPr>
          <p:cNvPr id="12" name="body-2bar">
            <a:extLst>
              <a:ext uri="{C183D7F6-B498-43B3-948B-1728B52AA6E4}">
                <adec:decorative xmlns:adec="http://schemas.microsoft.com/office/drawing/2017/decorative" val="1"/>
              </a:ext>
            </a:extLst>
          </p:cNvPr>
          <p:cNvSpPr/>
          <p:nvPr/>
        </p:nvSpPr>
        <p:spPr>
          <a:xfrm>
            <a:off x="841248" y="484840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293503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Priority Queue,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163     </a:t>
            </a:r>
            <a:fld id="{C041AE7E-8781-4E7C-8D67-4B1AE598E160}"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But the textbook crossover does not appear.</a:t>
            </a:r>
            <a:r>
              <a:rPr sz="1900" b="0" i="0">
                <a:solidFill>
                  <a:srgbClr val="1C252B"/>
                </a:solidFill>
                <a:latin typeface="Segoe UI"/>
              </a:rPr>
              <a:t> The standard claim is that the </a:t>
            </a:r>
            <a:r>
              <a:rPr sz="1900" b="0" i="0">
                <a:solidFill>
                  <a:srgbClr val="1C252B"/>
                </a:solidFill>
                <a:latin typeface="Cambria"/>
              </a:rPr>
              <a:t>O(|</a:t>
            </a:r>
            <a:r>
              <a:rPr sz="1900" b="0" i="1">
                <a:solidFill>
                  <a:srgbClr val="1C252B"/>
                </a:solidFill>
                <a:latin typeface="Cambria"/>
              </a:rPr>
              <a:t>V</a:t>
            </a:r>
            <a:r>
              <a:rPr sz="1900" b="0" i="0">
                <a:solidFill>
                  <a:srgbClr val="1C252B"/>
                </a:solidFill>
                <a:latin typeface="Cambria"/>
              </a:rPr>
              <a:t>|</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array version wins on dense graphs, since </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 ≈ |</a:t>
            </a:r>
            <a:r>
              <a:rPr sz="1900" b="0" i="1">
                <a:solidFill>
                  <a:srgbClr val="1C252B"/>
                </a:solidFill>
                <a:latin typeface="Cambria"/>
              </a:rPr>
              <a:t>V</a:t>
            </a:r>
            <a:r>
              <a:rPr sz="1900" b="0" i="0">
                <a:solidFill>
                  <a:srgbClr val="1C252B"/>
                </a:solidFill>
                <a:latin typeface="Cambria"/>
              </a:rPr>
              <a:t>|</a:t>
            </a:r>
            <a:r>
              <a:rPr sz="1250" b="0" i="0" baseline="30000">
                <a:solidFill>
                  <a:srgbClr val="1C252B"/>
                </a:solidFill>
                <a:latin typeface="Cambria"/>
              </a:rPr>
              <a:t>2</a:t>
            </a:r>
            <a:r>
              <a:rPr sz="1900" b="0" i="0">
                <a:solidFill>
                  <a:srgbClr val="1C252B"/>
                </a:solidFill>
                <a:latin typeface="Segoe UI"/>
              </a:rPr>
              <a:t> makes the heap’s </a:t>
            </a:r>
            <a:r>
              <a:rPr sz="1900" b="0" i="0">
                <a:solidFill>
                  <a:srgbClr val="1C252B"/>
                </a:solidFill>
                <a:latin typeface="Cambria"/>
              </a:rPr>
              <a:t>lg|</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factor pure overhead. Here the heap won at every density, including </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 = 8 × 10</a:t>
            </a:r>
            <a:r>
              <a:rPr sz="1250" b="0" i="0" baseline="30000">
                <a:solidFill>
                  <a:srgbClr val="1C252B"/>
                </a:solidFill>
                <a:latin typeface="Cambria"/>
              </a:rPr>
              <a:t>6</a:t>
            </a:r>
            <a:r>
              <a:rPr sz="1900" b="0" i="0">
                <a:solidFill>
                  <a:srgbClr val="1C252B"/>
                </a:solidFill>
                <a:latin typeface="Segoe UI"/>
              </a:rPr>
              <a:t> — half of complete.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honest reading</a:t>
            </a:r>
            <a:r>
              <a:rPr sz="1900" b="0" i="0">
                <a:solidFill>
                  <a:srgbClr val="1C252B"/>
                </a:solidFill>
                <a:latin typeface="Segoe UI"/>
              </a:rPr>
              <a:t> is that at </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 = 4,000</a:t>
            </a:r>
            <a:r>
              <a:rPr sz="1900" b="0" i="0">
                <a:solidFill>
                  <a:srgbClr val="1C252B"/>
                </a:solidFill>
                <a:latin typeface="Segoe UI"/>
              </a:rPr>
              <a:t> the array’s </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a:t>
            </a:r>
            <a:r>
              <a:rPr sz="1250" b="0" i="0" baseline="30000">
                <a:solidFill>
                  <a:srgbClr val="1C252B"/>
                </a:solidFill>
                <a:latin typeface="Cambria"/>
              </a:rPr>
              <a:t>2</a:t>
            </a:r>
            <a:r>
              <a:rPr sz="1900" b="0" i="0">
                <a:solidFill>
                  <a:srgbClr val="1C252B"/>
                </a:solidFill>
                <a:latin typeface="Cambria"/>
              </a:rPr>
              <a:t> = 1.6×10</a:t>
            </a:r>
            <a:r>
              <a:rPr sz="1250" b="0" i="0" baseline="30000">
                <a:solidFill>
                  <a:srgbClr val="1C252B"/>
                </a:solidFill>
                <a:latin typeface="Cambria"/>
              </a:rPr>
              <a:t>7</a:t>
            </a:r>
            <a:r>
              <a:rPr sz="1900" b="0" i="0">
                <a:solidFill>
                  <a:srgbClr val="1C252B"/>
                </a:solidFill>
                <a:latin typeface="Segoe UI"/>
              </a:rPr>
              <a:t> branch-laden scans cost more than </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 lg|</a:t>
            </a:r>
            <a:r>
              <a:rPr sz="1900" b="0" i="1">
                <a:solidFill>
                  <a:srgbClr val="1C252B"/>
                </a:solidFill>
                <a:latin typeface="Cambria"/>
              </a:rPr>
              <a:t>V</a:t>
            </a:r>
            <a:r>
              <a:rPr sz="1900" b="0" i="0">
                <a:solidFill>
                  <a:srgbClr val="1C252B"/>
                </a:solidFill>
                <a:latin typeface="Cambria"/>
              </a:rPr>
              <a:t>| = 10</a:t>
            </a:r>
            <a:r>
              <a:rPr sz="1250" b="0" i="0" baseline="30000">
                <a:solidFill>
                  <a:srgbClr val="1C252B"/>
                </a:solidFill>
                <a:latin typeface="Cambria"/>
              </a:rPr>
              <a:t>8</a:t>
            </a:r>
            <a:r>
              <a:rPr sz="1900" b="0" i="0">
                <a:solidFill>
                  <a:srgbClr val="1C252B"/>
                </a:solidFill>
                <a:latin typeface="Segoe UI"/>
              </a:rPr>
              <a:t> well-predicted heap operations on this processor. Chapter 18 found the same thing and fixed it by bit-packing; there is no equivalent trick here, because the array version must examine real distances rather than single bits. The crossover is real asymptotically and did not arrive at any size tested.</a:t>
            </a:r>
          </a:p>
        </p:txBody>
      </p:sp>
      <p:sp>
        <p:nvSpPr>
          <p:cNvPr id="12" name="body-1bar">
            <a:extLst>
              <a:ext uri="{C183D7F6-B498-43B3-948B-1728B52AA6E4}">
                <adec:decorative xmlns:adec="http://schemas.microsoft.com/office/drawing/2017/decorative" val="1"/>
              </a:ext>
            </a:extLst>
          </p:cNvPr>
          <p:cNvSpPr/>
          <p:nvPr/>
        </p:nvSpPr>
        <p:spPr>
          <a:xfrm>
            <a:off x="841248" y="3066110"/>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16080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Bellman–Ford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Relaxation, the Common Operation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Dijkstra</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20.3   Bellman–Ford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One Negative Edge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20.5   All Pairs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§20.3     </a:t>
            </a:r>
            <a:fld id="{043BF823-7B17-4F79-AB7E-015CCE6800FA}" type="slidenum">
              <a:rPr lang="en-GB" sz="1000">
                <a:solidFill>
                  <a:srgbClr val="8795A1"/>
                </a:solidFill>
                <a:latin typeface="Segoe UI"/>
              </a:rPr>
              <a:t>15</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Bellman-Ford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20.2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164     </a:t>
            </a:r>
            <a:fld id="{D0D02BFC-CFC6-40C1-B4CA-8F89516E7094}" type="slidenum">
              <a:rPr lang="en-GB" sz="1000">
                <a:solidFill>
                  <a:srgbClr val="8795A1"/>
                </a:solidFill>
                <a:latin typeface="Segoe UI"/>
              </a:rPr>
              <a:t>16</a:t>
            </a:fld>
          </a:p>
        </p:txBody>
      </p:sp>
      <p:pic>
        <p:nvPicPr>
          <p:cNvPr id="6" name="!!figure" descr="Figure 20.2. Bellman-Ford. No priority queue and no assumption about signs: O(|V||E|). The final pass is not decoration — it is the only way to detect a negative cycle, which Dijkstra cannot do at al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95030" y="1737360"/>
            <a:ext cx="660163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No priority queue and no assumption about signs: O(|V||E|). The final pass is not decoration — it is the only way to detect a negative cycle, which Dijkstra cannot do at all.</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61235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Bellman–Ford</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20.2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164     </a:t>
            </a:r>
            <a:fld id="{C0FA4624-36BB-4570-AEEF-02831B3DA8A6}"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a:t>
            </a:r>
            <a:r>
              <a:rPr sz="2300" b="0" i="1">
                <a:solidFill>
                  <a:srgbClr val="1C252B"/>
                </a:solidFill>
                <a:latin typeface="Cambria"/>
              </a:rPr>
              <a:t>G</a:t>
            </a:r>
            <a:r>
              <a:rPr sz="2300" b="0" i="0">
                <a:solidFill>
                  <a:srgbClr val="1C252B"/>
                </a:solidFill>
                <a:latin typeface="Segoe UI"/>
              </a:rPr>
              <a:t> has no negative-weight cycle reachable from </a:t>
            </a:r>
            <a:r>
              <a:rPr sz="2300" b="0" i="1">
                <a:solidFill>
                  <a:srgbClr val="1C252B"/>
                </a:solidFill>
                <a:latin typeface="Cambria"/>
              </a:rPr>
              <a:t>s</a:t>
            </a:r>
            <a:r>
              <a:rPr sz="2300" b="0" i="0">
                <a:solidFill>
                  <a:srgbClr val="1C252B"/>
                </a:solidFill>
                <a:latin typeface="Segoe UI"/>
              </a:rPr>
              <a:t>, then after </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|−1</a:t>
            </a:r>
            <a:r>
              <a:rPr sz="2300" b="0" i="0">
                <a:solidFill>
                  <a:srgbClr val="1C252B"/>
                </a:solidFill>
                <a:latin typeface="Segoe UI"/>
              </a:rPr>
              <a:t> passes </a:t>
            </a:r>
            <a:r>
              <a:rPr sz="2300" b="0" i="1">
                <a:solidFill>
                  <a:srgbClr val="1C252B"/>
                </a:solidFill>
                <a:latin typeface="Cambria"/>
              </a:rPr>
              <a:t>d</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 = δ(</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for every </a:t>
            </a:r>
            <a:r>
              <a:rPr sz="2300" b="0" i="1">
                <a:solidFill>
                  <a:srgbClr val="1C252B"/>
                </a:solidFill>
                <a:latin typeface="Cambria"/>
              </a:rPr>
              <a:t>v</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8381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Bellman–Ford Is Faster Than Its Bound Suggests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164     </a:t>
            </a:r>
            <a:fld id="{C871D86E-FBBE-4090-A6ED-CD52FDE80F76}"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14215"/>
          </a:xfrm>
          <a:prstGeom prst="roundRect">
            <a:avLst>
              <a:gd name="adj" fmla="val 211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142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 random graphs with non-negative weights, average degree 8:</a:t>
            </a:r>
          </a:p>
        </p:txBody>
      </p:sp>
      <p:graphicFrame>
        <p:nvGraphicFramePr>
          <p:cNvPr id="10" name="body-1"/>
          <p:cNvGraphicFramePr>
            <a:graphicFrameLocks noGrp="1"/>
          </p:cNvGraphicFramePr>
          <p:nvPr/>
        </p:nvGraphicFramePr>
        <p:xfrm>
          <a:off x="1042416" y="2445537"/>
          <a:ext cx="6054043" cy="1560576"/>
        </p:xfrm>
        <a:graphic>
          <a:graphicData uri="http://schemas.openxmlformats.org/drawingml/2006/table">
            <a:tbl>
              <a:tblPr firstRow="0" bandRow="0" firstCol="0" lastRow="0" lastCol="0" bandCol="0">
                <a:tableStyleId>{2D5ABB26-0587-4C30-8999-92F81FD0307C}</a:tableStyleId>
              </a:tblPr>
              <a:tblGrid>
                <a:gridCol w="859584"/>
                <a:gridCol w="1499408"/>
                <a:gridCol w="2085538"/>
                <a:gridCol w="716158"/>
                <a:gridCol w="893355"/>
              </a:tblGrid>
              <a:tr h="390144">
                <a:tc>
                  <a:txBody>
                    <a:bodyPr wrap="square"/>
                    <a:lstStyle/>
                    <a:p>
                      <a:pPr algn="r"/>
                      <a:r>
                        <a:rPr sz="1600" b="1" i="0">
                          <a:solidFill>
                            <a:srgbClr val="1A5276"/>
                          </a:solidFill>
                          <a:latin typeface="Cambria"/>
                        </a:rPr>
                        <a:t>|</a:t>
                      </a:r>
                      <a:r>
                        <a:rPr sz="1600" b="1" i="1">
                          <a:solidFill>
                            <a:srgbClr val="1A5276"/>
                          </a:solidFill>
                          <a:latin typeface="Cambria"/>
                        </a:rPr>
                        <a:t>V</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Dijkstra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Bellman–Ford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agree?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yes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1.89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yes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32,000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11.21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11.0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yes</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138828"/>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Bellman–Ford matched Dijkstra</a:t>
            </a:r>
            <a:r>
              <a:rPr sz="1900" b="0" i="0">
                <a:solidFill>
                  <a:srgbClr val="1C252B"/>
                </a:solidFill>
                <a:latin typeface="Segoe UI"/>
              </a:rPr>
              <a:t>, despite a bound of </a:t>
            </a:r>
            <a:r>
              <a:rPr sz="1900" b="0" i="0">
                <a:solidFill>
                  <a:srgbClr val="1C252B"/>
                </a:solidFill>
                <a:latin typeface="Cambria"/>
              </a:rPr>
              <a:t>O(|</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a:t>
            </a:r>
            <a:r>
              <a:rPr sz="1900" b="0" i="0">
                <a:solidFill>
                  <a:srgbClr val="1C252B"/>
                </a:solidFill>
                <a:latin typeface="Segoe UI"/>
              </a:rPr>
              <a:t> against </a:t>
            </a:r>
            <a:r>
              <a:rPr sz="1900" b="0" i="0">
                <a:solidFill>
                  <a:srgbClr val="1C252B"/>
                </a:solidFill>
                <a:latin typeface="Cambria"/>
              </a:rPr>
              <a:t>O(|</a:t>
            </a:r>
            <a:r>
              <a:rPr sz="1900" b="0" i="1">
                <a:solidFill>
                  <a:srgbClr val="1C252B"/>
                </a:solidFill>
                <a:latin typeface="Cambria"/>
              </a:rPr>
              <a:t>E</a:t>
            </a:r>
            <a:r>
              <a:rPr sz="1900" b="0" i="0">
                <a:solidFill>
                  <a:srgbClr val="1C252B"/>
                </a:solidFill>
                <a:latin typeface="Cambria"/>
              </a:rPr>
              <a:t>| lg|</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 a predicted factor of </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|/lg|</a:t>
            </a:r>
            <a:r>
              <a:rPr sz="1900" b="0" i="1">
                <a:solidFill>
                  <a:srgbClr val="1C252B"/>
                </a:solidFill>
                <a:latin typeface="Cambria"/>
              </a:rPr>
              <a:t>V</a:t>
            </a:r>
            <a:r>
              <a:rPr sz="1900" b="0" i="0">
                <a:solidFill>
                  <a:srgbClr val="1C252B"/>
                </a:solidFill>
                <a:latin typeface="Cambria"/>
              </a:rPr>
              <a:t>| ≈ 2,000</a:t>
            </a:r>
            <a:r>
              <a:rPr sz="1900" b="0" i="0">
                <a:solidFill>
                  <a:srgbClr val="1C252B"/>
                </a:solidFill>
                <a:latin typeface="Segoe UI"/>
              </a:rPr>
              <a:t>.</a:t>
            </a:r>
          </a:p>
        </p:txBody>
      </p:sp>
      <p:sp>
        <p:nvSpPr>
          <p:cNvPr id="12" name="body-2bar">
            <a:extLst>
              <a:ext uri="{C183D7F6-B498-43B3-948B-1728B52AA6E4}">
                <adec:decorative xmlns:adec="http://schemas.microsoft.com/office/drawing/2017/decorative" val="1"/>
              </a:ext>
            </a:extLst>
          </p:cNvPr>
          <p:cNvSpPr/>
          <p:nvPr/>
        </p:nvSpPr>
        <p:spPr>
          <a:xfrm>
            <a:off x="841248" y="4157116"/>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873828"/>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reason is the early exit:</a:t>
            </a:r>
            <a:r>
              <a:rPr sz="1900" b="0" i="0">
                <a:solidFill>
                  <a:srgbClr val="1C252B"/>
                </a:solidFill>
                <a:latin typeface="Segoe UI"/>
              </a:rPr>
              <a:t> the implementation stops when a pass changes nothing, and on a random graph the distances settle after a handful of passes rather than </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|−1</a:t>
            </a:r>
            <a:r>
              <a:rPr sz="1900" b="0" i="0">
                <a:solidFill>
                  <a:srgbClr val="1C252B"/>
                </a:solidFill>
                <a:latin typeface="Segoe UI"/>
              </a:rPr>
              <a:t>. The </a:t>
            </a:r>
            <a:r>
              <a:rPr sz="1900" b="0" i="0">
                <a:solidFill>
                  <a:srgbClr val="1C252B"/>
                </a:solidFill>
                <a:latin typeface="Cambria"/>
              </a:rPr>
              <a:t>O(|</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a:t>
            </a:r>
            <a:r>
              <a:rPr sz="1900" b="0" i="0">
                <a:solidFill>
                  <a:srgbClr val="1C252B"/>
                </a:solidFill>
                <a:latin typeface="Segoe UI"/>
              </a:rPr>
              <a:t> bound is a worst case that random graphs do not come close to.</a:t>
            </a:r>
          </a:p>
        </p:txBody>
      </p:sp>
      <p:sp>
        <p:nvSpPr>
          <p:cNvPr id="14" name="body-3bar">
            <a:extLst>
              <a:ext uri="{C183D7F6-B498-43B3-948B-1728B52AA6E4}">
                <adec:decorative xmlns:adec="http://schemas.microsoft.com/office/drawing/2017/decorative" val="1"/>
              </a:ext>
            </a:extLst>
          </p:cNvPr>
          <p:cNvSpPr/>
          <p:nvPr/>
        </p:nvSpPr>
        <p:spPr>
          <a:xfrm>
            <a:off x="841248" y="4892116"/>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Bellman–Ford Is Faster Than Its Bound Suggests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164     </a:t>
            </a:r>
            <a:fld id="{203DAF6C-64F7-4BCE-B81E-92088502D95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69359"/>
          </a:xfrm>
          <a:prstGeom prst="roundRect">
            <a:avLst>
              <a:gd name="adj" fmla="val 230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693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So does the bound ever materialise?</a:t>
            </a:r>
            <a:r>
              <a:rPr sz="1900" b="0" i="0">
                <a:solidFill>
                  <a:srgbClr val="1C252B"/>
                </a:solidFill>
                <a:latin typeface="Segoe UI"/>
              </a:rPr>
              <a:t> It needs a graph that forces every pass — a long path whose edges are relaxed in the wrong order, so information advances one vertex per pass: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11" name="body-1"/>
          <p:cNvGraphicFramePr>
            <a:graphicFrameLocks noGrp="1"/>
          </p:cNvGraphicFramePr>
          <p:nvPr/>
        </p:nvGraphicFramePr>
        <p:xfrm>
          <a:off x="1042416" y="2746679"/>
          <a:ext cx="6517673" cy="1950720"/>
        </p:xfrm>
        <a:graphic>
          <a:graphicData uri="http://schemas.openxmlformats.org/drawingml/2006/table">
            <a:tbl>
              <a:tblPr firstRow="0" bandRow="0" firstCol="0" lastRow="0" lastCol="0" bandCol="0">
                <a:tableStyleId>{2D5ABB26-0587-4C30-8999-92F81FD0307C}</a:tableStyleId>
              </a:tblPr>
              <a:tblGrid>
                <a:gridCol w="747869"/>
                <a:gridCol w="1499408"/>
                <a:gridCol w="2085538"/>
                <a:gridCol w="788907"/>
                <a:gridCol w="1395951"/>
              </a:tblGrid>
              <a:tr h="390144">
                <a:tc>
                  <a:txBody>
                    <a:bodyPr wrap="square"/>
                    <a:lstStyle/>
                    <a:p>
                      <a:pPr algn="r"/>
                      <a:r>
                        <a:rPr sz="1600" b="1" i="0">
                          <a:solidFill>
                            <a:srgbClr val="1A5276"/>
                          </a:solidFill>
                          <a:latin typeface="Cambria"/>
                        </a:rPr>
                        <a:t>|</a:t>
                      </a:r>
                      <a:r>
                        <a:rPr sz="1600" b="1" i="1">
                          <a:solidFill>
                            <a:srgbClr val="1A5276"/>
                          </a:solidFill>
                          <a:latin typeface="Cambria"/>
                        </a:rPr>
                        <a:t>V</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Dijkstra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Bellman–Ford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passes used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44.9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999</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190.8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1,999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386.9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3,999</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0.11</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87.2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1" i="0">
                          <a:solidFill>
                            <a:srgbClr val="1C252B"/>
                          </a:solidFill>
                          <a:latin typeface="Segoe UI"/>
                        </a:rPr>
                        <a:t>789.5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7,999</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2" name="body-2"/>
          <p:cNvSpPr txBox="1"/>
          <p:nvPr/>
        </p:nvSpPr>
        <p:spPr>
          <a:xfrm>
            <a:off x="1042416" y="483011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There it is: 789</a:t>
            </a:r>
            <a:r>
              <a:rPr sz="1900" b="1" i="0">
                <a:solidFill>
                  <a:srgbClr val="1C252B"/>
                </a:solidFill>
                <a:latin typeface="Cambria"/>
              </a:rPr>
              <a:t>×</a:t>
            </a:r>
            <a:r>
              <a:rPr sz="1900" b="1" i="0">
                <a:solidFill>
                  <a:srgbClr val="1C252B"/>
                </a:solidFill>
                <a:latin typeface="Segoe UI"/>
              </a:rPr>
              <a:t> slower, and the ratio doubling with </a:t>
            </a:r>
            <a:r>
              <a:rPr sz="1900" b="1" i="0">
                <a:solidFill>
                  <a:srgbClr val="1C252B"/>
                </a:solidFill>
                <a:latin typeface="Cambria"/>
              </a:rPr>
              <a:t>|</a:t>
            </a:r>
            <a:r>
              <a:rPr sz="1900" b="1" i="1">
                <a:solidFill>
                  <a:srgbClr val="1C252B"/>
                </a:solidFill>
                <a:latin typeface="Cambria"/>
              </a:rPr>
              <a:t>V</a:t>
            </a:r>
            <a:r>
              <a:rPr sz="1900" b="1" i="0">
                <a:solidFill>
                  <a:srgbClr val="1C252B"/>
                </a:solidFill>
                <a:latin typeface="Cambria"/>
              </a:rPr>
              <a:t>|</a:t>
            </a:r>
            <a:r>
              <a:rPr sz="1900" b="1" i="0">
                <a:solidFill>
                  <a:srgbClr val="1C252B"/>
                </a:solidFill>
                <a:latin typeface="Segoe UI"/>
              </a:rPr>
              <a:t>.</a:t>
            </a:r>
            <a:r>
              <a:rPr sz="1900" b="0" i="0">
                <a:solidFill>
                  <a:srgbClr val="1C252B"/>
                </a:solidFill>
                <a:latin typeface="Segoe UI"/>
              </a:rPr>
              <a:t> The graph is not adversarial in its weights — every edge costs 1. Only the </a:t>
            </a:r>
            <a:r>
              <a:rPr sz="1900" b="0" i="1">
                <a:solidFill>
                  <a:srgbClr val="1C252B"/>
                </a:solidFill>
                <a:latin typeface="Segoe UI"/>
              </a:rPr>
              <a:t>order</a:t>
            </a:r>
            <a:r>
              <a:rPr sz="1900" b="0" i="0">
                <a:solidFill>
                  <a:srgbClr val="1C252B"/>
                </a:solidFill>
                <a:latin typeface="Segoe UI"/>
              </a:rPr>
              <a:t> the adjacency lists are visited in is unfavourable.</a:t>
            </a:r>
          </a:p>
        </p:txBody>
      </p:sp>
      <p:sp>
        <p:nvSpPr>
          <p:cNvPr id="13" name="body-2bar">
            <a:extLst>
              <a:ext uri="{C183D7F6-B498-43B3-948B-1728B52AA6E4}">
                <adec:decorative xmlns:adec="http://schemas.microsoft.com/office/drawing/2017/decorative" val="1"/>
              </a:ext>
            </a:extLst>
          </p:cNvPr>
          <p:cNvSpPr/>
          <p:nvPr/>
        </p:nvSpPr>
        <p:spPr>
          <a:xfrm>
            <a:off x="841248" y="484840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28967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Bellman–Ford Is Faster Than Its Bound Suggests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164     </a:t>
            </a:r>
            <a:fld id="{C76F40C8-2EED-468E-9233-B96AB2F8CB3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lesson is about benchmarking, not about Bellman–Ford.</a:t>
            </a:r>
            <a:r>
              <a:rPr sz="1900" b="0" i="0">
                <a:solidFill>
                  <a:srgbClr val="1C252B"/>
                </a:solidFill>
                <a:latin typeface="Segoe UI"/>
              </a:rPr>
              <a:t> Measuring only on random inputs would have shown the two algorithms as equals. It is the third time this book has made that point — Chapter 9’s sorted input, Chapter 12’s sorted insertions, Chapter 13’s structured keys — and it will not be the last.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5154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Dijkstra, Measurably Wrong</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166     </a:t>
            </a:r>
            <a:fld id="{6A4FD2C9-D7E3-4E2F-8D1F-86EECE0C89EE}"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501"/>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5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Four vertices. </a:t>
            </a:r>
            <a:r>
              <a:rPr sz="1900" b="0" i="0">
                <a:solidFill>
                  <a:srgbClr val="1C252B"/>
                </a:solidFill>
                <a:latin typeface="Cambria"/>
              </a:rPr>
              <a:t>0 → 1</a:t>
            </a:r>
            <a:r>
              <a:rPr sz="1900" b="0" i="0">
                <a:solidFill>
                  <a:srgbClr val="1C252B"/>
                </a:solidFill>
                <a:latin typeface="Segoe UI"/>
              </a:rPr>
              <a:t> costs 3, </a:t>
            </a:r>
            <a:r>
              <a:rPr sz="1900" b="0" i="0">
                <a:solidFill>
                  <a:srgbClr val="1C252B"/>
                </a:solidFill>
                <a:latin typeface="Cambria"/>
              </a:rPr>
              <a:t>0 → 2</a:t>
            </a:r>
            <a:r>
              <a:rPr sz="1900" b="0" i="0">
                <a:solidFill>
                  <a:srgbClr val="1C252B"/>
                </a:solidFill>
                <a:latin typeface="Segoe UI"/>
              </a:rPr>
              <a:t> costs 4, </a:t>
            </a:r>
            <a:r>
              <a:rPr sz="1900" b="0" i="0">
                <a:solidFill>
                  <a:srgbClr val="1C252B"/>
                </a:solidFill>
                <a:latin typeface="Cambria"/>
              </a:rPr>
              <a:t>2 → 1</a:t>
            </a:r>
            <a:r>
              <a:rPr sz="1900" b="0" i="0">
                <a:solidFill>
                  <a:srgbClr val="1C252B"/>
                </a:solidFill>
                <a:latin typeface="Segoe UI"/>
              </a:rPr>
              <a:t> costs </a:t>
            </a:r>
            <a:r>
              <a:rPr sz="1900" b="0" i="0">
                <a:solidFill>
                  <a:srgbClr val="1C252B"/>
                </a:solidFill>
                <a:latin typeface="Cambria"/>
              </a:rPr>
              <a:t>−2</a:t>
            </a:r>
            <a:r>
              <a:rPr sz="1900" b="0" i="0">
                <a:solidFill>
                  <a:srgbClr val="1C252B"/>
                </a:solidFill>
                <a:latin typeface="Segoe UI"/>
              </a:rPr>
              <a:t>, and </a:t>
            </a:r>
            <a:r>
              <a:rPr sz="1900" b="0" i="0">
                <a:solidFill>
                  <a:srgbClr val="1C252B"/>
                </a:solidFill>
                <a:latin typeface="Cambria"/>
              </a:rPr>
              <a:t>1 → 3</a:t>
            </a:r>
            <a:r>
              <a:rPr sz="1900" b="0" i="0">
                <a:solidFill>
                  <a:srgbClr val="1C252B"/>
                </a:solidFill>
                <a:latin typeface="Segoe UI"/>
              </a:rPr>
              <a:t> costs 1. The true distances are </a:t>
            </a:r>
            <a:r>
              <a:rPr sz="1900" b="0" i="1">
                <a:solidFill>
                  <a:srgbClr val="1C252B"/>
                </a:solidFill>
                <a:latin typeface="Cambria"/>
              </a:rPr>
              <a:t>d</a:t>
            </a:r>
            <a:r>
              <a:rPr sz="1900" b="0" i="0">
                <a:solidFill>
                  <a:srgbClr val="1C252B"/>
                </a:solidFill>
                <a:latin typeface="Cambria"/>
              </a:rPr>
              <a:t>(1) = 2</a:t>
            </a:r>
            <a:r>
              <a:rPr sz="1900" b="0" i="0">
                <a:solidFill>
                  <a:srgbClr val="1C252B"/>
                </a:solidFill>
                <a:latin typeface="Segoe UI"/>
              </a:rPr>
              <a:t> (via vertex 2) and therefore </a:t>
            </a:r>
            <a:r>
              <a:rPr sz="1900" b="0" i="1">
                <a:solidFill>
                  <a:srgbClr val="1C252B"/>
                </a:solidFill>
                <a:latin typeface="Cambria"/>
              </a:rPr>
              <a:t>d</a:t>
            </a:r>
            <a:r>
              <a:rPr sz="1900" b="0" i="0">
                <a:solidFill>
                  <a:srgbClr val="1C252B"/>
                </a:solidFill>
                <a:latin typeface="Cambria"/>
              </a:rPr>
              <a:t>(3) = 3</a:t>
            </a:r>
            <a:r>
              <a:rPr sz="1900" b="0" i="0">
                <a:solidFill>
                  <a:srgbClr val="1C252B"/>
                </a:solidFill>
                <a:latin typeface="Segoe UI"/>
              </a:rPr>
              <a:t>.</a:t>
            </a:r>
          </a:p>
        </p:txBody>
      </p:sp>
      <p:graphicFrame>
        <p:nvGraphicFramePr>
          <p:cNvPr id="10" name="body-1"/>
          <p:cNvGraphicFramePr>
            <a:graphicFrameLocks noGrp="1"/>
          </p:cNvGraphicFramePr>
          <p:nvPr/>
        </p:nvGraphicFramePr>
        <p:xfrm>
          <a:off x="1042416" y="2746679"/>
          <a:ext cx="7701058" cy="1950720"/>
        </p:xfrm>
        <a:graphic>
          <a:graphicData uri="http://schemas.openxmlformats.org/drawingml/2006/table">
            <a:tbl>
              <a:tblPr firstRow="0" bandRow="0" firstCol="0" lastRow="0" lastCol="0" bandCol="0">
                <a:tableStyleId>{2D5ABB26-0587-4C30-8999-92F81FD0307C}</a:tableStyleId>
              </a:tblPr>
              <a:tblGrid>
                <a:gridCol w="870203"/>
                <a:gridCol w="1717864"/>
                <a:gridCol w="1695273"/>
                <a:gridCol w="1594322"/>
                <a:gridCol w="939368"/>
                <a:gridCol w="884028"/>
              </a:tblGrid>
              <a:tr h="390144">
                <a:tc>
                  <a:txBody>
                    <a:bodyPr wrap="square"/>
                    <a:lstStyle/>
                    <a:p>
                      <a:pPr algn="r"/>
                      <a:r>
                        <a:rPr sz="1600" b="1" i="0">
                          <a:solidFill>
                            <a:srgbClr val="1A5276"/>
                          </a:solidFill>
                          <a:latin typeface="Segoe UI"/>
                        </a:rPr>
                        <a:t>vertex</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Dijkstra (array)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Dijkstra (heap)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Bellman–Ford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correct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1" i="0">
                          <a:solidFill>
                            <a:srgbClr val="1C252B"/>
                          </a:solidFill>
                          <a:latin typeface="Segoe UI"/>
                        </a:rPr>
                        <a:t>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1" i="0">
                          <a:solidFill>
                            <a:srgbClr val="1C252B"/>
                          </a:solidFill>
                          <a:latin typeface="Segoe UI"/>
                        </a:rPr>
                        <a:t>wrong</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83011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Trace it.</a:t>
            </a:r>
            <a:r>
              <a:rPr sz="1900" b="0" i="0">
                <a:solidFill>
                  <a:srgbClr val="1C252B"/>
                </a:solidFill>
                <a:latin typeface="Segoe UI"/>
              </a:rPr>
              <a:t> The array version pops vertex 1 at distance 3 and </a:t>
            </a:r>
            <a:r>
              <a:rPr sz="1900" b="0" i="1">
                <a:solidFill>
                  <a:srgbClr val="1C252B"/>
                </a:solidFill>
                <a:latin typeface="Segoe UI"/>
              </a:rPr>
              <a:t>finalises</a:t>
            </a:r>
            <a:r>
              <a:rPr sz="1900" b="0" i="0">
                <a:solidFill>
                  <a:srgbClr val="1C252B"/>
                </a:solidFill>
                <a:latin typeface="Segoe UI"/>
              </a:rPr>
              <a:t> it, relaxing </a:t>
            </a:r>
            <a:r>
              <a:rPr sz="1900" b="0" i="0">
                <a:solidFill>
                  <a:srgbClr val="1C252B"/>
                </a:solidFill>
                <a:latin typeface="Cambria"/>
              </a:rPr>
              <a:t>1 → 3</a:t>
            </a:r>
            <a:r>
              <a:rPr sz="1900" b="0" i="0">
                <a:solidFill>
                  <a:srgbClr val="1C252B"/>
                </a:solidFill>
                <a:latin typeface="Segoe UI"/>
              </a:rPr>
              <a:t> to give </a:t>
            </a:r>
            <a:r>
              <a:rPr sz="1900" b="0" i="1">
                <a:solidFill>
                  <a:srgbClr val="1C252B"/>
                </a:solidFill>
                <a:latin typeface="Cambria"/>
              </a:rPr>
              <a:t>d</a:t>
            </a:r>
            <a:r>
              <a:rPr sz="1900" b="0" i="0">
                <a:solidFill>
                  <a:srgbClr val="1C252B"/>
                </a:solidFill>
                <a:latin typeface="Cambria"/>
              </a:rPr>
              <a:t>(3) = 4</a:t>
            </a:r>
            <a:r>
              <a:rPr sz="1900" b="0" i="0">
                <a:solidFill>
                  <a:srgbClr val="1C252B"/>
                </a:solidFill>
                <a:latin typeface="Segoe UI"/>
              </a:rPr>
              <a:t>. It then pops vertex 2 and lowers </a:t>
            </a:r>
            <a:r>
              <a:rPr sz="1900" b="0" i="1">
                <a:solidFill>
                  <a:srgbClr val="1C252B"/>
                </a:solidFill>
                <a:latin typeface="Cambria"/>
              </a:rPr>
              <a:t>d</a:t>
            </a:r>
            <a:r>
              <a:rPr sz="1900" b="0" i="0">
                <a:solidFill>
                  <a:srgbClr val="1C252B"/>
                </a:solidFill>
                <a:latin typeface="Cambria"/>
              </a:rPr>
              <a:t>(1)</a:t>
            </a:r>
            <a:r>
              <a:rPr sz="1900" b="0" i="0">
                <a:solidFill>
                  <a:srgbClr val="1C252B"/>
                </a:solidFill>
                <a:latin typeface="Segoe UI"/>
              </a:rPr>
              <a:t> to 2 — but vertex 1 is already done, so its outgoing edge is never re-examined and </a:t>
            </a:r>
            <a:r>
              <a:rPr sz="1900" b="0" i="1">
                <a:solidFill>
                  <a:srgbClr val="1C252B"/>
                </a:solidFill>
                <a:latin typeface="Cambria"/>
              </a:rPr>
              <a:t>d</a:t>
            </a:r>
            <a:r>
              <a:rPr sz="1900" b="0" i="0">
                <a:solidFill>
                  <a:srgbClr val="1C252B"/>
                </a:solidFill>
                <a:latin typeface="Cambria"/>
              </a:rPr>
              <a:t>(3)</a:t>
            </a:r>
            <a:r>
              <a:rPr sz="1900" b="0" i="0">
                <a:solidFill>
                  <a:srgbClr val="1C252B"/>
                </a:solidFill>
                <a:latin typeface="Segoe UI"/>
              </a:rPr>
              <a:t> stays at 4.</a:t>
            </a:r>
          </a:p>
        </p:txBody>
      </p:sp>
      <p:sp>
        <p:nvSpPr>
          <p:cNvPr id="12" name="body-2bar">
            <a:extLst>
              <a:ext uri="{C183D7F6-B498-43B3-948B-1728B52AA6E4}">
                <adec:decorative xmlns:adec="http://schemas.microsoft.com/office/drawing/2017/decorative" val="1"/>
              </a:ext>
            </a:extLst>
          </p:cNvPr>
          <p:cNvSpPr/>
          <p:nvPr/>
        </p:nvSpPr>
        <p:spPr>
          <a:xfrm>
            <a:off x="841248" y="484840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Dijkstra, Measurably Wrong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166     </a:t>
            </a:r>
            <a:fld id="{1BE2AF93-67D5-4CE1-A4A7-F1F3B9A6BEB1}"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2779"/>
          </a:xfrm>
          <a:prstGeom prst="roundRect">
            <a:avLst>
              <a:gd name="adj" fmla="val 24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277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Notice that </a:t>
            </a:r>
            <a:r>
              <a:rPr sz="1900" b="1" i="1">
                <a:solidFill>
                  <a:srgbClr val="1C252B"/>
                </a:solidFill>
                <a:latin typeface="Cambria"/>
              </a:rPr>
              <a:t>d</a:t>
            </a:r>
            <a:r>
              <a:rPr sz="1900" b="1" i="0">
                <a:solidFill>
                  <a:srgbClr val="1C252B"/>
                </a:solidFill>
                <a:latin typeface="Cambria"/>
              </a:rPr>
              <a:t>(1)</a:t>
            </a:r>
            <a:r>
              <a:rPr sz="1900" b="1" i="0">
                <a:solidFill>
                  <a:srgbClr val="1C252B"/>
                </a:solidFill>
                <a:latin typeface="Segoe UI"/>
              </a:rPr>
              <a:t> itself ends up correct.</a:t>
            </a:r>
            <a:r>
              <a:rPr sz="1900" b="0" i="0">
                <a:solidFill>
                  <a:srgbClr val="1C252B"/>
                </a:solidFill>
                <a:latin typeface="Segoe UI"/>
              </a:rPr>
              <a:t> The error is only visible at vertex 3, because the wrong value had already </a:t>
            </a:r>
            <a:r>
              <a:rPr sz="1900" b="0" i="1">
                <a:solidFill>
                  <a:srgbClr val="1C252B"/>
                </a:solidFill>
                <a:latin typeface="Segoe UI"/>
              </a:rPr>
              <a:t>propagated</a:t>
            </a:r>
            <a:r>
              <a:rPr sz="1900" b="0" i="0">
                <a:solidFill>
                  <a:srgbClr val="1C252B"/>
                </a:solidFill>
                <a:latin typeface="Segoe UI"/>
              </a:rPr>
              <a:t>. The three-vertex example people usually reach for does not fail, for exactly this reason: the wrong value is overwritten before anything depends on it. A counter-example has to let the mistake escape.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185257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heap version got it right</a:t>
            </a:r>
            <a:r>
              <a:rPr sz="1900" b="0" i="0">
                <a:solidFill>
                  <a:srgbClr val="1C252B"/>
                </a:solidFill>
                <a:latin typeface="Segoe UI"/>
              </a:rPr>
              <a:t> — which is an accident worth understanding. The lazy heap implementation never marks anything final; it re-pushes whenever an estimate improves. On this graph that lets it recover. It is behaving like Bellman–Ford, not like Dijkstra, and on adversarial graphs with negative edges it can take exponential time. </a:t>
            </a:r>
            <a:r>
              <a:rPr sz="1900" b="1" i="0">
                <a:solidFill>
                  <a:srgbClr val="1C252B"/>
                </a:solidFill>
                <a:latin typeface="Segoe UI"/>
              </a:rPr>
              <a:t>“Dijkstra is wrong on negative edges” is a statement about the algorithm; whether your </a:t>
            </a:r>
            <a:r>
              <a:rPr sz="1900" b="1" i="1">
                <a:solidFill>
                  <a:srgbClr val="1C252B"/>
                </a:solidFill>
                <a:latin typeface="Segoe UI"/>
              </a:rPr>
              <a:t>program</a:t>
            </a:r>
            <a:r>
              <a:rPr sz="1900" b="1" i="0">
                <a:solidFill>
                  <a:srgbClr val="1C252B"/>
                </a:solidFill>
                <a:latin typeface="Segoe UI"/>
              </a:rPr>
              <a:t> visibly fails depends on which implementation you wrote.</a:t>
            </a:r>
          </a:p>
        </p:txBody>
      </p:sp>
      <p:sp>
        <p:nvSpPr>
          <p:cNvPr id="12" name="body-1bar">
            <a:extLst>
              <a:ext uri="{C183D7F6-B498-43B3-948B-1728B52AA6E4}">
                <adec:decorative xmlns:adec="http://schemas.microsoft.com/office/drawing/2017/decorative" val="1"/>
              </a:ext>
            </a:extLst>
          </p:cNvPr>
          <p:cNvSpPr/>
          <p:nvPr/>
        </p:nvSpPr>
        <p:spPr>
          <a:xfrm>
            <a:off x="841248" y="3367252"/>
            <a:ext cx="54864" cy="178856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96698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Dijkstra, Measurably Wrong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166     </a:t>
            </a:r>
            <a:fld id="{D6CF5611-AA30-4FEC-AA11-CA9F3C126AD2}"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Negative cycles.</a:t>
            </a:r>
            <a:r>
              <a:rPr sz="1900" b="0" i="0">
                <a:solidFill>
                  <a:srgbClr val="1C252B"/>
                </a:solidFill>
                <a:latin typeface="Segoe UI"/>
              </a:rPr>
              <a:t> On this graph Bellman–Ford reported none, correctly. Adding a cycle </a:t>
            </a:r>
            <a:r>
              <a:rPr sz="1900" b="0" i="0">
                <a:solidFill>
                  <a:srgbClr val="1C252B"/>
                </a:solidFill>
                <a:latin typeface="Cambria"/>
              </a:rPr>
              <a:t>0 → 1 → 2 → 0</a:t>
            </a:r>
            <a:r>
              <a:rPr sz="1900" b="0" i="0">
                <a:solidFill>
                  <a:srgbClr val="1C252B"/>
                </a:solidFill>
                <a:latin typeface="Segoe UI"/>
              </a:rPr>
              <a:t> of total weight </a:t>
            </a:r>
            <a:r>
              <a:rPr sz="1900" b="0" i="0">
                <a:solidFill>
                  <a:srgbClr val="1C252B"/>
                </a:solidFill>
                <a:latin typeface="Cambria"/>
              </a:rPr>
              <a:t>−1</a:t>
            </a:r>
            <a:r>
              <a:rPr sz="1900" b="0" i="0">
                <a:solidFill>
                  <a:srgbClr val="1C252B"/>
                </a:solidFill>
                <a:latin typeface="Segoe UI"/>
              </a:rPr>
              <a:t>, it reported one — also correctly. Dijkstra cannot detect a negative cycle at all, and with one present “shortest path” is undefined, since going round again is always cheaper.</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927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All Pairs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Relaxation, the Common Operation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Dijkstra</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Bellman–Ford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One Negative Edge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20.5   All Pairs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§20.5     </a:t>
            </a:r>
            <a:fld id="{98774B70-E3BB-40E7-9EA6-8C0F8EBD489C}" type="slidenum">
              <a:rPr lang="en-GB" sz="1000">
                <a:solidFill>
                  <a:srgbClr val="8795A1"/>
                </a:solidFill>
                <a:latin typeface="Segoe UI"/>
              </a:rPr>
              <a:t>24</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Floyd-Warshall</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20.3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F3EE10B5-1B36-4001-94D5-1C9EC9E13E82}" type="slidenum">
              <a:rPr lang="en-GB" sz="1000">
                <a:solidFill>
                  <a:srgbClr val="8795A1"/>
                </a:solidFill>
                <a:latin typeface="Segoe UI"/>
              </a:rPr>
              <a:t>25</a:t>
            </a:fld>
          </a:p>
        </p:txBody>
      </p:sp>
      <p:pic>
        <p:nvPicPr>
          <p:cNvPr id="6" name="!!figure" descr="Figure 20.3. Floyd-Warshall. Five lines, Θ(n3) regardless of density, and the smallest constant of any algorithm in this chapter — three nested loops over contiguous memor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798" y="1737360"/>
            <a:ext cx="996409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Five lines, Θ(n3) regardless of density, and the smallest constant of any algorithm in this chapter — three nested loops over contiguous memory.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6443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k must be outermost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B65C4F23-D433-4098-8326-754355F631FF}"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24009"/>
          </a:xfrm>
          <a:prstGeom prst="roundRect">
            <a:avLst>
              <a:gd name="adj" fmla="val 211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2400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This is a dynamic program, and </a:t>
            </a:r>
            <a:r>
              <a:rPr sz="1900" b="0" i="1">
                <a:solidFill>
                  <a:srgbClr val="1C252B"/>
                </a:solidFill>
                <a:latin typeface="Cambria"/>
              </a:rPr>
              <a:t>k</a:t>
            </a:r>
            <a:r>
              <a:rPr sz="1900" b="0" i="0">
                <a:solidFill>
                  <a:srgbClr val="1C252B"/>
                </a:solidFill>
                <a:latin typeface="Segoe UI"/>
              </a:rPr>
              <a:t> indexes the subproblem.</a:t>
            </a:r>
          </a:p>
        </p:txBody>
      </p:sp>
      <p:sp>
        <p:nvSpPr>
          <p:cNvPr id="10" name="body-1"/>
          <p:cNvSpPr txBox="1"/>
          <p:nvPr/>
        </p:nvSpPr>
        <p:spPr>
          <a:xfrm>
            <a:off x="1060704" y="2482113"/>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Let </a:t>
            </a:r>
            <a:r>
              <a:rPr sz="1900" b="0" i="1">
                <a:solidFill>
                  <a:srgbClr val="1C252B"/>
                </a:solidFill>
                <a:latin typeface="Cambria"/>
              </a:rPr>
              <a:t>d</a:t>
            </a:r>
            <a:r>
              <a:rPr sz="1250" b="0" i="0" baseline="30000">
                <a:solidFill>
                  <a:srgbClr val="1C252B"/>
                </a:solidFill>
                <a:latin typeface="Cambria"/>
              </a:rPr>
              <a:t>(</a:t>
            </a:r>
            <a:r>
              <a:rPr sz="1250" b="0" i="1" baseline="30000">
                <a:solidFill>
                  <a:srgbClr val="1C252B"/>
                </a:solidFill>
                <a:latin typeface="Cambria"/>
              </a:rPr>
              <a:t>k</a:t>
            </a:r>
            <a:r>
              <a:rPr sz="1250" b="0" i="0" baseline="30000">
                <a:solidFill>
                  <a:srgbClr val="1C252B"/>
                </a:solidFill>
                <a:latin typeface="Cambria"/>
              </a:rPr>
              <a:t>)</a:t>
            </a:r>
            <a:r>
              <a:rPr sz="1900" b="0" i="0">
                <a:solidFill>
                  <a:srgbClr val="1C252B"/>
                </a:solidFill>
                <a:latin typeface="Cambria"/>
              </a:rPr>
              <a:t>[</a:t>
            </a:r>
            <a:r>
              <a:rPr sz="1900" b="0" i="1">
                <a:solidFill>
                  <a:srgbClr val="1C252B"/>
                </a:solidFill>
                <a:latin typeface="Cambria"/>
              </a:rPr>
              <a:t>i</a:t>
            </a:r>
            <a:r>
              <a:rPr sz="1900" b="0" i="0">
                <a:solidFill>
                  <a:srgbClr val="1C252B"/>
                </a:solidFill>
                <a:latin typeface="Cambria"/>
              </a:rPr>
              <a:t>][</a:t>
            </a:r>
            <a:r>
              <a:rPr sz="1900" b="0" i="1">
                <a:solidFill>
                  <a:srgbClr val="1C252B"/>
                </a:solidFill>
                <a:latin typeface="Cambria"/>
              </a:rPr>
              <a:t>j</a:t>
            </a:r>
            <a:r>
              <a:rPr sz="1900" b="0" i="0">
                <a:solidFill>
                  <a:srgbClr val="1C252B"/>
                </a:solidFill>
                <a:latin typeface="Cambria"/>
              </a:rPr>
              <a:t>]</a:t>
            </a:r>
            <a:r>
              <a:rPr sz="1900" b="0" i="0">
                <a:solidFill>
                  <a:srgbClr val="1C252B"/>
                </a:solidFill>
                <a:latin typeface="Segoe UI"/>
              </a:rPr>
              <a:t> be the shortest distance from </a:t>
            </a:r>
            <a:r>
              <a:rPr sz="1900" b="0" i="1">
                <a:solidFill>
                  <a:srgbClr val="1C252B"/>
                </a:solidFill>
                <a:latin typeface="Cambria"/>
              </a:rPr>
              <a:t>i</a:t>
            </a:r>
            <a:r>
              <a:rPr sz="1900" b="0" i="0">
                <a:solidFill>
                  <a:srgbClr val="1C252B"/>
                </a:solidFill>
                <a:latin typeface="Segoe UI"/>
              </a:rPr>
              <a:t> to </a:t>
            </a:r>
            <a:r>
              <a:rPr sz="1900" b="0" i="1">
                <a:solidFill>
                  <a:srgbClr val="1C252B"/>
                </a:solidFill>
                <a:latin typeface="Cambria"/>
              </a:rPr>
              <a:t>j</a:t>
            </a:r>
            <a:r>
              <a:rPr sz="1900" b="0" i="0">
                <a:solidFill>
                  <a:srgbClr val="1C252B"/>
                </a:solidFill>
                <a:latin typeface="Segoe UI"/>
              </a:rPr>
              <a:t> using only vertices </a:t>
            </a:r>
            <a:r>
              <a:rPr sz="1900" b="0" i="0">
                <a:solidFill>
                  <a:srgbClr val="1C252B"/>
                </a:solidFill>
                <a:latin typeface="Cambria"/>
              </a:rPr>
              <a:t>1 … </a:t>
            </a:r>
            <a:r>
              <a:rPr sz="1900" b="0" i="1">
                <a:solidFill>
                  <a:srgbClr val="1C252B"/>
                </a:solidFill>
                <a:latin typeface="Cambria"/>
              </a:rPr>
              <a:t>k</a:t>
            </a:r>
            <a:r>
              <a:rPr sz="1900" b="0" i="0">
                <a:solidFill>
                  <a:srgbClr val="1C252B"/>
                </a:solidFill>
                <a:latin typeface="Segoe UI"/>
              </a:rPr>
              <a:t> as </a:t>
            </a:r>
            <a:r>
              <a:rPr sz="1900" b="0" i="1">
                <a:solidFill>
                  <a:srgbClr val="1C252B"/>
                </a:solidFill>
                <a:latin typeface="Segoe UI"/>
              </a:rPr>
              <a:t>intermediates</a:t>
            </a:r>
            <a:r>
              <a:rPr sz="1900" b="0" i="0">
                <a:solidFill>
                  <a:srgbClr val="1C252B"/>
                </a:solidFill>
                <a:latin typeface="Segoe UI"/>
              </a:rPr>
              <a:t>. Then</a:t>
            </a:r>
          </a:p>
        </p:txBody>
      </p:sp>
      <p:pic>
        <p:nvPicPr>
          <p:cNvPr id="11" name="body-2" descr="d^{(k)}[i][j] = \min\bigl(d^{(k-1)}[i][j],\; d^{(k-1)}[i][k] + d^{(k-1)}[k][j]\big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217113"/>
            <a:ext cx="10161727" cy="328361"/>
          </a:xfrm>
          <a:prstGeom prst="rect">
            <a:avLst/>
          </a:prstGeom>
        </p:spPr>
      </p:pic>
      <p:sp>
        <p:nvSpPr>
          <p:cNvPr id="12" name="body-3"/>
          <p:cNvSpPr txBox="1"/>
          <p:nvPr/>
        </p:nvSpPr>
        <p:spPr>
          <a:xfrm>
            <a:off x="1060704" y="3678189"/>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 either the best path avoids </a:t>
            </a:r>
            <a:r>
              <a:rPr sz="1900" b="0" i="1">
                <a:solidFill>
                  <a:srgbClr val="1C252B"/>
                </a:solidFill>
                <a:latin typeface="Cambria"/>
              </a:rPr>
              <a:t>k</a:t>
            </a:r>
            <a:r>
              <a:rPr sz="1900" b="0" i="0">
                <a:solidFill>
                  <a:srgbClr val="1C252B"/>
                </a:solidFill>
                <a:latin typeface="Segoe UI"/>
              </a:rPr>
              <a:t>, or it goes through </a:t>
            </a:r>
            <a:r>
              <a:rPr sz="1900" b="0" i="1">
                <a:solidFill>
                  <a:srgbClr val="1C252B"/>
                </a:solidFill>
                <a:latin typeface="Cambria"/>
              </a:rPr>
              <a:t>k</a:t>
            </a:r>
            <a:r>
              <a:rPr sz="1900" b="0" i="0">
                <a:solidFill>
                  <a:srgbClr val="1C252B"/>
                </a:solidFill>
                <a:latin typeface="Segoe UI"/>
              </a:rPr>
              <a:t> exactly once.</a:t>
            </a:r>
          </a:p>
        </p:txBody>
      </p:sp>
      <p:sp>
        <p:nvSpPr>
          <p:cNvPr id="13" name="body-4"/>
          <p:cNvSpPr txBox="1"/>
          <p:nvPr/>
        </p:nvSpPr>
        <p:spPr>
          <a:xfrm>
            <a:off x="1060704" y="4112046"/>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a:t>
            </a:r>
            <a:r>
              <a:rPr sz="1900" b="0" i="1">
                <a:solidFill>
                  <a:srgbClr val="1C252B"/>
                </a:solidFill>
                <a:latin typeface="Cambria"/>
              </a:rPr>
              <a:t>k</a:t>
            </a:r>
            <a:r>
              <a:rPr sz="1900" b="0" i="0">
                <a:solidFill>
                  <a:srgbClr val="1C252B"/>
                </a:solidFill>
                <a:latin typeface="Segoe UI"/>
              </a:rPr>
              <a:t> loop therefore advances the subproblem, and </a:t>
            </a:r>
            <a:r>
              <a:rPr sz="1900" b="0" i="1">
                <a:solidFill>
                  <a:srgbClr val="1C252B"/>
                </a:solidFill>
                <a:latin typeface="Cambria"/>
              </a:rPr>
              <a:t>i</a:t>
            </a:r>
            <a:r>
              <a:rPr sz="1900" b="0" i="0">
                <a:solidFill>
                  <a:srgbClr val="1C252B"/>
                </a:solidFill>
                <a:latin typeface="Segoe UI"/>
              </a:rPr>
              <a:t> and </a:t>
            </a:r>
            <a:r>
              <a:rPr sz="1900" b="0" i="1">
                <a:solidFill>
                  <a:srgbClr val="1C252B"/>
                </a:solidFill>
                <a:latin typeface="Cambria"/>
              </a:rPr>
              <a:t>j</a:t>
            </a:r>
            <a:r>
              <a:rPr sz="1900" b="0" i="0">
                <a:solidFill>
                  <a:srgbClr val="1C252B"/>
                </a:solidFill>
                <a:latin typeface="Segoe UI"/>
              </a:rPr>
              <a:t> merely fill in the table for the current one. Putting </a:t>
            </a:r>
            <a:r>
              <a:rPr sz="1900" b="0" i="1">
                <a:solidFill>
                  <a:srgbClr val="1C252B"/>
                </a:solidFill>
                <a:latin typeface="Cambria"/>
              </a:rPr>
              <a:t>k</a:t>
            </a:r>
            <a:r>
              <a:rPr sz="1900" b="0" i="0">
                <a:solidFill>
                  <a:srgbClr val="1C252B"/>
                </a:solidFill>
                <a:latin typeface="Segoe UI"/>
              </a:rPr>
              <a:t> inside would compute something that is not a shortest path for any well-defined subproblem.</a:t>
            </a:r>
          </a:p>
        </p:txBody>
      </p:sp>
      <p:sp>
        <p:nvSpPr>
          <p:cNvPr id="14" name="body-5"/>
          <p:cNvSpPr txBox="1"/>
          <p:nvPr/>
        </p:nvSpPr>
        <p:spPr>
          <a:xfrm>
            <a:off x="1060704" y="5148188"/>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single array works because </a:t>
            </a:r>
            <a:r>
              <a:rPr sz="1900" b="0" i="1">
                <a:solidFill>
                  <a:srgbClr val="1C252B"/>
                </a:solidFill>
                <a:latin typeface="Cambria"/>
              </a:rPr>
              <a:t>d</a:t>
            </a:r>
            <a:r>
              <a:rPr sz="1250" b="0" i="0" baseline="30000">
                <a:solidFill>
                  <a:srgbClr val="1C252B"/>
                </a:solidFill>
                <a:latin typeface="Cambria"/>
              </a:rPr>
              <a:t>(</a:t>
            </a:r>
            <a:r>
              <a:rPr sz="1250" b="0" i="1" baseline="30000">
                <a:solidFill>
                  <a:srgbClr val="1C252B"/>
                </a:solidFill>
                <a:latin typeface="Cambria"/>
              </a:rPr>
              <a:t>k</a:t>
            </a:r>
            <a:r>
              <a:rPr sz="1250" b="0" i="0" baseline="30000">
                <a:solidFill>
                  <a:srgbClr val="1C252B"/>
                </a:solidFill>
                <a:latin typeface="Cambria"/>
              </a:rPr>
              <a:t>)</a:t>
            </a:r>
            <a:r>
              <a:rPr sz="1900" b="0" i="0">
                <a:solidFill>
                  <a:srgbClr val="1C252B"/>
                </a:solidFill>
                <a:latin typeface="Cambria"/>
              </a:rPr>
              <a:t>[</a:t>
            </a:r>
            <a:r>
              <a:rPr sz="1900" b="0" i="1">
                <a:solidFill>
                  <a:srgbClr val="1C252B"/>
                </a:solidFill>
                <a:latin typeface="Cambria"/>
              </a:rPr>
              <a:t>i</a:t>
            </a:r>
            <a:r>
              <a:rPr sz="1900" b="0" i="0">
                <a:solidFill>
                  <a:srgbClr val="1C252B"/>
                </a:solidFill>
                <a:latin typeface="Cambria"/>
              </a:rPr>
              <a:t>][</a:t>
            </a:r>
            <a:r>
              <a:rPr sz="1900" b="0" i="1">
                <a:solidFill>
                  <a:srgbClr val="1C252B"/>
                </a:solidFill>
                <a:latin typeface="Cambria"/>
              </a:rPr>
              <a:t>k</a:t>
            </a:r>
            <a:r>
              <a:rPr sz="1900" b="0" i="0">
                <a:solidFill>
                  <a:srgbClr val="1C252B"/>
                </a:solidFill>
                <a:latin typeface="Cambria"/>
              </a:rPr>
              <a:t>] = </a:t>
            </a:r>
            <a:r>
              <a:rPr sz="1900" b="0" i="1">
                <a:solidFill>
                  <a:srgbClr val="1C252B"/>
                </a:solidFill>
                <a:latin typeface="Cambria"/>
              </a:rPr>
              <a:t>d</a:t>
            </a:r>
            <a:r>
              <a:rPr sz="1250" b="0" i="0" baseline="30000">
                <a:solidFill>
                  <a:srgbClr val="1C252B"/>
                </a:solidFill>
                <a:latin typeface="Cambria"/>
              </a:rPr>
              <a:t>(</a:t>
            </a:r>
            <a:r>
              <a:rPr sz="1250" b="0" i="1" baseline="30000">
                <a:solidFill>
                  <a:srgbClr val="1C252B"/>
                </a:solidFill>
                <a:latin typeface="Cambria"/>
              </a:rPr>
              <a:t>k</a:t>
            </a:r>
            <a:r>
              <a:rPr sz="1250" b="0" i="0" baseline="30000">
                <a:solidFill>
                  <a:srgbClr val="1C252B"/>
                </a:solidFill>
                <a:latin typeface="Cambria"/>
              </a:rPr>
              <a:t>−1)</a:t>
            </a:r>
            <a:r>
              <a:rPr sz="1900" b="0" i="0">
                <a:solidFill>
                  <a:srgbClr val="1C252B"/>
                </a:solidFill>
                <a:latin typeface="Cambria"/>
              </a:rPr>
              <a:t>[</a:t>
            </a:r>
            <a:r>
              <a:rPr sz="1900" b="0" i="1">
                <a:solidFill>
                  <a:srgbClr val="1C252B"/>
                </a:solidFill>
                <a:latin typeface="Cambria"/>
              </a:rPr>
              <a:t>i</a:t>
            </a:r>
            <a:r>
              <a:rPr sz="1900" b="0" i="0">
                <a:solidFill>
                  <a:srgbClr val="1C252B"/>
                </a:solidFill>
                <a:latin typeface="Cambria"/>
              </a:rPr>
              <a:t>][</a:t>
            </a:r>
            <a:r>
              <a:rPr sz="1900" b="0" i="1">
                <a:solidFill>
                  <a:srgbClr val="1C252B"/>
                </a:solidFill>
                <a:latin typeface="Cambria"/>
              </a:rPr>
              <a:t>k</a:t>
            </a:r>
            <a:r>
              <a:rPr sz="1900" b="0" i="0">
                <a:solidFill>
                  <a:srgbClr val="1C252B"/>
                </a:solidFill>
                <a:latin typeface="Cambria"/>
              </a:rPr>
              <a:t>]</a:t>
            </a:r>
            <a:r>
              <a:rPr sz="1900" b="0" i="0">
                <a:solidFill>
                  <a:srgbClr val="1C252B"/>
                </a:solidFill>
                <a:latin typeface="Segoe UI"/>
              </a:rPr>
              <a:t> — a path to </a:t>
            </a:r>
            <a:r>
              <a:rPr sz="1900" b="0" i="1">
                <a:solidFill>
                  <a:srgbClr val="1C252B"/>
                </a:solidFill>
                <a:latin typeface="Cambria"/>
              </a:rPr>
              <a:t>k</a:t>
            </a:r>
            <a:r>
              <a:rPr sz="1900" b="0" i="0">
                <a:solidFill>
                  <a:srgbClr val="1C252B"/>
                </a:solidFill>
                <a:latin typeface="Segoe UI"/>
              </a:rPr>
              <a:t> gains nothing by using </a:t>
            </a:r>
            <a:r>
              <a:rPr sz="1900" b="0" i="1">
                <a:solidFill>
                  <a:srgbClr val="1C252B"/>
                </a:solidFill>
                <a:latin typeface="Cambria"/>
              </a:rPr>
              <a:t>k</a:t>
            </a:r>
            <a:r>
              <a:rPr sz="1900" b="0" i="0">
                <a:solidFill>
                  <a:srgbClr val="1C252B"/>
                </a:solidFill>
                <a:latin typeface="Segoe UI"/>
              </a:rPr>
              <a:t> as an intermediate — so the row and column being read are unchanged by the current pass.)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8700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All Pairs, Measured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803DDB86-8E3D-4BC4-A0E8-AC5FC6CF34EC}"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57218"/>
          </a:xfrm>
          <a:prstGeom prst="roundRect">
            <a:avLst>
              <a:gd name="adj" fmla="val 243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572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 = 600</a:t>
            </a:r>
            <a:r>
              <a:rPr sz="1900" b="0" i="0">
                <a:solidFill>
                  <a:srgbClr val="1C252B"/>
                </a:solidFill>
                <a:latin typeface="Segoe UI"/>
              </a:rPr>
              <a:t>. Floyd–Warshall against running Dijkstra from every vertex:</a:t>
            </a:r>
          </a:p>
        </p:txBody>
      </p:sp>
      <p:graphicFrame>
        <p:nvGraphicFramePr>
          <p:cNvPr id="10" name="body-1"/>
          <p:cNvGraphicFramePr>
            <a:graphicFrameLocks noGrp="1"/>
          </p:cNvGraphicFramePr>
          <p:nvPr/>
        </p:nvGraphicFramePr>
        <p:xfrm>
          <a:off x="1042416" y="2445537"/>
          <a:ext cx="7464935" cy="2340864"/>
        </p:xfrm>
        <a:graphic>
          <a:graphicData uri="http://schemas.openxmlformats.org/drawingml/2006/table">
            <a:tbl>
              <a:tblPr firstRow="0" bandRow="0" firstCol="0" lastRow="0" lastCol="0" bandCol="0">
                <a:tableStyleId>{2D5ABB26-0587-4C30-8999-92F81FD0307C}</a:tableStyleId>
              </a:tblPr>
              <a:tblGrid>
                <a:gridCol w="1340806"/>
                <a:gridCol w="971300"/>
                <a:gridCol w="2231322"/>
                <a:gridCol w="1981090"/>
                <a:gridCol w="940417"/>
              </a:tblGrid>
              <a:tr h="390144">
                <a:tc>
                  <a:txBody>
                    <a:bodyPr wrap="square"/>
                    <a:lstStyle/>
                    <a:p>
                      <a:pPr algn="r"/>
                      <a:r>
                        <a:rPr sz="1600" b="1" i="0">
                          <a:solidFill>
                            <a:srgbClr val="1A5276"/>
                          </a:solidFill>
                          <a:latin typeface="Segoe UI"/>
                        </a:rPr>
                        <a:t>avg degree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E</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Floyd–Warshall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V</a:t>
                      </a:r>
                      <a:r>
                        <a:rPr sz="1600" b="1" i="0">
                          <a:solidFill>
                            <a:srgbClr val="1A5276"/>
                          </a:solidFill>
                          <a:latin typeface="Cambria"/>
                        </a:rPr>
                        <a:t>| ×</a:t>
                      </a:r>
                      <a:r>
                        <a:rPr sz="1600" b="1" i="0">
                          <a:solidFill>
                            <a:srgbClr val="1A5276"/>
                          </a:solidFill>
                          <a:latin typeface="Segoe UI"/>
                        </a:rPr>
                        <a:t> Dijkstra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winner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1,198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35.8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Dijkstra</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4,793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125.7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59.3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Dijkstra</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19,170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156.6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112.1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Dijkstra</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128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76,667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170.7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204.6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Floyd</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179,711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170.3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299.8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Floyd</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91911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crossover is near average degree 64</a:t>
            </a:r>
            <a:r>
              <a:rPr sz="1900" b="0" i="0">
                <a:solidFill>
                  <a:srgbClr val="1C252B"/>
                </a:solidFill>
                <a:latin typeface="Segoe UI"/>
              </a:rPr>
              <a:t>, or a density of about 0.1.</a:t>
            </a:r>
          </a:p>
        </p:txBody>
      </p:sp>
      <p:sp>
        <p:nvSpPr>
          <p:cNvPr id="12" name="body-2bar">
            <a:extLst>
              <a:ext uri="{C183D7F6-B498-43B3-948B-1728B52AA6E4}">
                <adec:decorative xmlns:adec="http://schemas.microsoft.com/office/drawing/2017/decorative" val="1"/>
              </a:ext>
            </a:extLst>
          </p:cNvPr>
          <p:cNvSpPr/>
          <p:nvPr/>
        </p:nvSpPr>
        <p:spPr>
          <a:xfrm>
            <a:off x="841248" y="493740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All Pairs,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674FE4DD-20F0-499C-AD25-2311A37252B5}"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223209"/>
          </a:xfrm>
          <a:prstGeom prst="roundRect">
            <a:avLst>
              <a:gd name="adj" fmla="val 283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22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Floyd–Warshall’s column is nearly flat</a:t>
            </a:r>
            <a:r>
              <a:rPr sz="1900" b="0" i="0">
                <a:solidFill>
                  <a:srgbClr val="1C252B"/>
                </a:solidFill>
                <a:latin typeface="Segoe UI"/>
              </a:rPr>
              <a:t> — 36 to 171 ms — because </a:t>
            </a:r>
            <a:r>
              <a:rPr sz="1900" b="0" i="0">
                <a:solidFill>
                  <a:srgbClr val="1C252B"/>
                </a:solidFill>
                <a:latin typeface="Cambria"/>
              </a:rPr>
              <a:t>Θ(|</a:t>
            </a:r>
            <a:r>
              <a:rPr sz="1900" b="0" i="1">
                <a:solidFill>
                  <a:srgbClr val="1C252B"/>
                </a:solidFill>
                <a:latin typeface="Cambria"/>
              </a:rPr>
              <a:t>V</a:t>
            </a:r>
            <a:r>
              <a:rPr sz="1900" b="0" i="0">
                <a:solidFill>
                  <a:srgbClr val="1C252B"/>
                </a:solidFill>
                <a:latin typeface="Cambria"/>
              </a:rPr>
              <a:t>|</a:t>
            </a:r>
            <a:r>
              <a:rPr sz="1250" b="0" i="0" baseline="30000">
                <a:solidFill>
                  <a:srgbClr val="1C252B"/>
                </a:solidFill>
                <a:latin typeface="Cambria"/>
              </a:rPr>
              <a:t>3</a:t>
            </a:r>
            <a:r>
              <a:rPr sz="1900" b="0" i="0">
                <a:solidFill>
                  <a:srgbClr val="1C252B"/>
                </a:solidFill>
                <a:latin typeface="Cambria"/>
              </a:rPr>
              <a:t>)</a:t>
            </a:r>
            <a:r>
              <a:rPr sz="1900" b="0" i="0">
                <a:solidFill>
                  <a:srgbClr val="1C252B"/>
                </a:solidFill>
                <a:latin typeface="Segoe UI"/>
              </a:rPr>
              <a:t> does not depend on </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a:t>
            </a:r>
            <a:r>
              <a:rPr sz="1900" b="0" i="0">
                <a:solidFill>
                  <a:srgbClr val="1C252B"/>
                </a:solidFill>
                <a:latin typeface="Segoe UI"/>
              </a:rPr>
              <a:t>. (It is not perfectly flat because the early rows have many </a:t>
            </a:r>
            <a:r>
              <a:rPr sz="1900" b="0" i="0">
                <a:solidFill>
                  <a:srgbClr val="1C252B"/>
                </a:solidFill>
                <a:latin typeface="Cambria"/>
              </a:rPr>
              <a:t>∞</a:t>
            </a:r>
            <a:r>
              <a:rPr sz="1900" b="0" i="0">
                <a:solidFill>
                  <a:srgbClr val="1C252B"/>
                </a:solidFill>
                <a:latin typeface="Segoe UI"/>
              </a:rPr>
              <a:t> entries, which the implementation skips.)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Repeated Dijkstra grows with </a:t>
            </a:r>
            <a:r>
              <a:rPr sz="1900" b="1" i="0">
                <a:solidFill>
                  <a:srgbClr val="1C252B"/>
                </a:solidFill>
                <a:latin typeface="Cambria"/>
              </a:rPr>
              <a:t>|</a:t>
            </a:r>
            <a:r>
              <a:rPr sz="1900" b="1" i="1">
                <a:solidFill>
                  <a:srgbClr val="1C252B"/>
                </a:solidFill>
                <a:latin typeface="Cambria"/>
              </a:rPr>
              <a:t>E</a:t>
            </a:r>
            <a:r>
              <a:rPr sz="1900" b="1" i="0">
                <a:solidFill>
                  <a:srgbClr val="1C252B"/>
                </a:solidFill>
                <a:latin typeface="Cambria"/>
              </a:rPr>
              <a:t>|</a:t>
            </a:r>
            <a:r>
              <a:rPr sz="1900" b="0" i="0">
                <a:solidFill>
                  <a:srgbClr val="1C252B"/>
                </a:solidFill>
                <a:latin typeface="Segoe UI"/>
              </a:rPr>
              <a:t>, as </a:t>
            </a:r>
            <a:r>
              <a:rPr sz="1900" b="0" i="0">
                <a:solidFill>
                  <a:srgbClr val="1C252B"/>
                </a:solidFill>
                <a:latin typeface="Cambria"/>
              </a:rPr>
              <a:t>O(|</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E</a:t>
            </a:r>
            <a:r>
              <a:rPr sz="1900" b="0" i="0">
                <a:solidFill>
                  <a:srgbClr val="1C252B"/>
                </a:solidFill>
                <a:latin typeface="Cambria"/>
              </a:rPr>
              <a:t>|) lg|</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requires.</a:t>
            </a:r>
          </a:p>
        </p:txBody>
      </p:sp>
      <p:sp>
        <p:nvSpPr>
          <p:cNvPr id="12" name="body-1bar">
            <a:extLst>
              <a:ext uri="{C183D7F6-B498-43B3-948B-1728B52AA6E4}">
                <adec:decorative xmlns:adec="http://schemas.microsoft.com/office/drawing/2017/decorative" val="1"/>
              </a:ext>
            </a:extLst>
          </p:cNvPr>
          <p:cNvSpPr/>
          <p:nvPr/>
        </p:nvSpPr>
        <p:spPr>
          <a:xfrm>
            <a:off x="841248" y="306611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348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practical point.</a:t>
            </a:r>
            <a:r>
              <a:rPr sz="1900" b="0" i="0">
                <a:solidFill>
                  <a:srgbClr val="1C252B"/>
                </a:solidFill>
                <a:latin typeface="Segoe UI"/>
              </a:rPr>
              <a:t> For a dense graph, five lines of Floyd–Warshall beat </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invocations of a far more sophisticated algorithm. Its constant is tiny: three nested loops over a contiguous array, perfectly predictable, perfectly prefetchable. This is the opposite of Chapter 12’s pointer-chasing penalty, and it is the same cause.</a:t>
            </a:r>
          </a:p>
        </p:txBody>
      </p:sp>
      <p:sp>
        <p:nvSpPr>
          <p:cNvPr id="14" name="body-2bar">
            <a:extLst>
              <a:ext uri="{C183D7F6-B498-43B3-948B-1728B52AA6E4}">
                <adec:decorative xmlns:adec="http://schemas.microsoft.com/office/drawing/2017/decorative" val="1"/>
              </a:ext>
            </a:extLst>
          </p:cNvPr>
          <p:cNvSpPr/>
          <p:nvPr/>
        </p:nvSpPr>
        <p:spPr>
          <a:xfrm>
            <a:off x="841248" y="349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3216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E1AE3D4B-C8BF-48AE-9A6F-B8092C7CEED3}"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8761"/>
          </a:xfrm>
          <a:prstGeom prst="roundRect">
            <a:avLst>
              <a:gd name="adj" fmla="val 206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876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5" cy="2651757"/>
        </p:xfrm>
        <a:graphic>
          <a:graphicData uri="http://schemas.openxmlformats.org/drawingml/2006/table">
            <a:tbl>
              <a:tblPr firstRow="0" bandRow="0" firstCol="0" lastRow="0" lastCol="0" bandCol="0">
                <a:tableStyleId>{2D5ABB26-0587-4C30-8999-92F81FD0307C}</a:tableStyleId>
              </a:tblPr>
              <a:tblGrid>
                <a:gridCol w="2503613"/>
                <a:gridCol w="2209071"/>
                <a:gridCol w="2209071"/>
                <a:gridCol w="3239970"/>
              </a:tblGrid>
              <a:tr h="420623">
                <a:tc>
                  <a:txBody>
                    <a:bodyPr wrap="square"/>
                    <a:lstStyle/>
                    <a:p>
                      <a:pPr algn="l"/>
                      <a:r>
                        <a:rPr sz="1800" b="1" i="0">
                          <a:solidFill>
                            <a:srgbClr val="1A5276"/>
                          </a:solidFill>
                          <a:latin typeface="Segoe UI"/>
                        </a:rPr>
                        <a:t>Algorithm</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Time</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Weights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Use when</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l"/>
                      <a:r>
                        <a:rPr sz="1800" b="0" i="0">
                          <a:solidFill>
                            <a:srgbClr val="1C252B"/>
                          </a:solidFill>
                          <a:latin typeface="Segoe UI"/>
                        </a:rPr>
                        <a:t>BFS</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Cambria"/>
                        </a:rPr>
                        <a:t>Θ(</a:t>
                      </a:r>
                      <a:r>
                        <a:rPr sz="1800" b="0" i="1">
                          <a:solidFill>
                            <a:srgbClr val="1C252B"/>
                          </a:solidFill>
                          <a:latin typeface="Cambria"/>
                        </a:rPr>
                        <a:t>V</a:t>
                      </a:r>
                      <a:r>
                        <a:rPr sz="1800" b="0" i="0">
                          <a:solidFill>
                            <a:srgbClr val="1C252B"/>
                          </a:solidFill>
                          <a:latin typeface="Cambria"/>
                        </a:rPr>
                        <a:t>+</a:t>
                      </a:r>
                      <a:r>
                        <a:rPr sz="1800" b="0" i="1">
                          <a:solidFill>
                            <a:srgbClr val="1C252B"/>
                          </a:solidFill>
                          <a:latin typeface="Cambria"/>
                        </a:rPr>
                        <a:t>E</a:t>
                      </a:r>
                      <a:r>
                        <a:rPr sz="1800" b="0" i="0">
                          <a:solidFill>
                            <a:srgbClr val="1C252B"/>
                          </a:solidFill>
                          <a:latin typeface="Cambria"/>
                        </a:rPr>
                        <a:t>)</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unweighted</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all weights equal</a:t>
                      </a:r>
                      <a:endParaRPr sz="18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800" b="0" i="0">
                          <a:solidFill>
                            <a:srgbClr val="1C252B"/>
                          </a:solidFill>
                          <a:latin typeface="Segoe UI"/>
                        </a:rPr>
                        <a:t>Dijkstra (heap)</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Cambria"/>
                        </a:rPr>
                        <a:t>O((</a:t>
                      </a:r>
                      <a:r>
                        <a:rPr sz="1800" b="0" i="1">
                          <a:solidFill>
                            <a:srgbClr val="1C252B"/>
                          </a:solidFill>
                          <a:latin typeface="Cambria"/>
                        </a:rPr>
                        <a:t>V</a:t>
                      </a:r>
                      <a:r>
                        <a:rPr sz="1800" b="0" i="0">
                          <a:solidFill>
                            <a:srgbClr val="1C252B"/>
                          </a:solidFill>
                          <a:latin typeface="Cambria"/>
                        </a:rPr>
                        <a:t>+</a:t>
                      </a:r>
                      <a:r>
                        <a:rPr sz="1800" b="0" i="1">
                          <a:solidFill>
                            <a:srgbClr val="1C252B"/>
                          </a:solidFill>
                          <a:latin typeface="Cambria"/>
                        </a:rPr>
                        <a:t>E</a:t>
                      </a:r>
                      <a:r>
                        <a:rPr sz="1800" b="0" i="0">
                          <a:solidFill>
                            <a:srgbClr val="1C252B"/>
                          </a:solidFill>
                          <a:latin typeface="Cambria"/>
                        </a:rPr>
                        <a:t>) lg </a:t>
                      </a:r>
                      <a:r>
                        <a:rPr sz="1800" b="0" i="1">
                          <a:solidFill>
                            <a:srgbClr val="1C252B"/>
                          </a:solidFill>
                          <a:latin typeface="Cambria"/>
                        </a:rPr>
                        <a:t>V</a:t>
                      </a:r>
                      <a:r>
                        <a:rPr sz="1800" b="0" i="0">
                          <a:solidFill>
                            <a:srgbClr val="1C252B"/>
                          </a:solidFill>
                          <a:latin typeface="Cambria"/>
                        </a:rPr>
                        <a:t>)</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non-negative</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one source, the common case</a:t>
                      </a:r>
                      <a:endParaRPr sz="18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800" b="0" i="0">
                          <a:solidFill>
                            <a:srgbClr val="1C252B"/>
                          </a:solidFill>
                          <a:latin typeface="Segoe UI"/>
                        </a:rPr>
                        <a:t>Bellman–Ford</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Cambria"/>
                        </a:rPr>
                        <a:t>O(</a:t>
                      </a:r>
                      <a:r>
                        <a:rPr sz="1800" b="0" i="1">
                          <a:solidFill>
                            <a:srgbClr val="1C252B"/>
                          </a:solidFill>
                          <a:latin typeface="Cambria"/>
                        </a:rPr>
                        <a:t>VE</a:t>
                      </a:r>
                      <a:r>
                        <a:rPr sz="1800" b="0" i="0">
                          <a:solidFill>
                            <a:srgbClr val="1C252B"/>
                          </a:solidFill>
                          <a:latin typeface="Cambria"/>
                        </a:rPr>
                        <a:t>)</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any</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negative edges, or you must detect a negative cycle</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Floyd–Warshall</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800" b="0" i="0">
                          <a:solidFill>
                            <a:srgbClr val="1C252B"/>
                          </a:solidFill>
                          <a:latin typeface="Cambria"/>
                        </a:rPr>
                        <a:t>Θ(</a:t>
                      </a:r>
                      <a:r>
                        <a:rPr sz="1800" b="0" i="1">
                          <a:solidFill>
                            <a:srgbClr val="1C252B"/>
                          </a:solidFill>
                          <a:latin typeface="Cambria"/>
                        </a:rPr>
                        <a:t>V</a:t>
                      </a:r>
                      <a:r>
                        <a:rPr sz="1200" b="0" i="0" baseline="30000">
                          <a:solidFill>
                            <a:srgbClr val="1C252B"/>
                          </a:solidFill>
                          <a:latin typeface="Cambria"/>
                        </a:rPr>
                        <a:t>3</a:t>
                      </a:r>
                      <a:r>
                        <a:rPr sz="1800" b="0" i="0">
                          <a:solidFill>
                            <a:srgbClr val="1C252B"/>
                          </a:solidFill>
                          <a:latin typeface="Cambria"/>
                        </a:rPr>
                        <a:t>)</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800" b="0" i="0">
                          <a:solidFill>
                            <a:srgbClr val="1C252B"/>
                          </a:solidFill>
                          <a:latin typeface="Segoe UI"/>
                        </a:rPr>
                        <a:t>any (no neg. cycle)</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800" b="0" i="0">
                          <a:solidFill>
                            <a:srgbClr val="1C252B"/>
                          </a:solidFill>
                          <a:latin typeface="Segoe UI"/>
                        </a:rPr>
                        <a:t>all pairs on a dense graph</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60704" y="4846701"/>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If all weights are equal, use BFS — a priority queue over identical keys is pure overhead, and Chapter 18’s measured 0.17 ms against Dijkstra’s 0.36 ms on the same sparse graph is the price of not noticing.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5473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F5215539-49EE-459B-99A2-34DAA086C8B5}" type="slidenum">
              <a:rPr lang="en-GB" sz="1000">
                <a:solidFill>
                  <a:srgbClr val="8795A1"/>
                </a:solidFill>
                <a:latin typeface="Segoe UI"/>
              </a:rPr>
              <a:t>30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Dijkstra with negative edges.</a:t>
            </a:r>
            <a:r>
              <a:rPr sz="1700" b="0" i="0">
                <a:solidFill>
                  <a:srgbClr val="1C252B"/>
                </a:solidFill>
                <a:latin typeface="Segoe UI"/>
              </a:rPr>
              <a:t> Measured wrong, and the failure can hide: </a:t>
            </a:r>
            <a:r>
              <a:rPr sz="1700" b="0" i="1">
                <a:solidFill>
                  <a:srgbClr val="1C252B"/>
                </a:solidFill>
                <a:latin typeface="Cambria"/>
              </a:rPr>
              <a:t>d</a:t>
            </a:r>
            <a:r>
              <a:rPr sz="1700" b="0" i="0">
                <a:solidFill>
                  <a:srgbClr val="1C252B"/>
                </a:solidFill>
                <a:latin typeface="Cambria"/>
              </a:rPr>
              <a:t>(1)</a:t>
            </a:r>
            <a:r>
              <a:rPr sz="1700" b="0" i="0">
                <a:solidFill>
                  <a:srgbClr val="1C252B"/>
                </a:solidFill>
                <a:latin typeface="Segoe UI"/>
              </a:rPr>
              <a:t> was right and </a:t>
            </a:r>
            <a:r>
              <a:rPr sz="1700" b="0" i="1">
                <a:solidFill>
                  <a:srgbClr val="1C252B"/>
                </a:solidFill>
                <a:latin typeface="Cambria"/>
              </a:rPr>
              <a:t>d</a:t>
            </a:r>
            <a:r>
              <a:rPr sz="1700" b="0" i="0">
                <a:solidFill>
                  <a:srgbClr val="1C252B"/>
                </a:solidFill>
                <a:latin typeface="Cambria"/>
              </a:rPr>
              <a:t>(3)</a:t>
            </a:r>
            <a:r>
              <a:rPr sz="1700" b="0" i="0">
                <a:solidFill>
                  <a:srgbClr val="1C252B"/>
                </a:solidFill>
                <a:latin typeface="Segoe UI"/>
              </a:rPr>
              <a:t> was not.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Testing for that bug on too small a graph.</a:t>
            </a:r>
            <a:r>
              <a:rPr sz="1700" b="0" i="0">
                <a:solidFill>
                  <a:srgbClr val="1C252B"/>
                </a:solidFill>
                <a:latin typeface="Segoe UI"/>
              </a:rPr>
              <a:t> The obvious three-vertex example self-corrects. The error must be allowed to propagate.</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your Dijkstra will visibly fail.</a:t>
            </a:r>
            <a:r>
              <a:rPr sz="1700" b="0" i="0">
                <a:solidFill>
                  <a:srgbClr val="1C252B"/>
                </a:solidFill>
                <a:latin typeface="Segoe UI"/>
              </a:rPr>
              <a:t> A lazy heap version may silently behave like Bellman–Ford — correct here, exponential elsewhere.</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Bellman–Ford only on random graphs.</a:t>
            </a:r>
            <a:r>
              <a:rPr sz="1700" b="0" i="0">
                <a:solidFill>
                  <a:srgbClr val="1C252B"/>
                </a:solidFill>
                <a:latin typeface="Segoe UI"/>
              </a:rPr>
              <a:t> Measured equal to Dijkstra there and 789</a:t>
            </a:r>
            <a:r>
              <a:rPr sz="1700" b="0" i="0">
                <a:solidFill>
                  <a:srgbClr val="1C252B"/>
                </a:solidFill>
                <a:latin typeface="Cambria"/>
              </a:rPr>
              <a:t>×</a:t>
            </a:r>
            <a:r>
              <a:rPr sz="1700" b="0" i="0">
                <a:solidFill>
                  <a:srgbClr val="1C252B"/>
                </a:solidFill>
                <a:latin typeface="Segoe UI"/>
              </a:rPr>
              <a:t> slower on a path.</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Putting </a:t>
            </a:r>
            <a:r>
              <a:rPr sz="1700" b="1" i="1">
                <a:solidFill>
                  <a:srgbClr val="1C252B"/>
                </a:solidFill>
                <a:latin typeface="Cambria"/>
              </a:rPr>
              <a:t>k</a:t>
            </a:r>
            <a:r>
              <a:rPr sz="1700" b="1" i="0">
                <a:solidFill>
                  <a:srgbClr val="1C252B"/>
                </a:solidFill>
                <a:latin typeface="Segoe UI"/>
              </a:rPr>
              <a:t> anywhere but outermost in Floyd–Warshall.</a:t>
            </a:r>
            <a:r>
              <a:rPr sz="1700" b="0" i="0">
                <a:solidFill>
                  <a:srgbClr val="1C252B"/>
                </a:solidFill>
                <a:latin typeface="Segoe UI"/>
              </a:rPr>
              <a:t> It indexes the subproblem; the result is not a shortest path.</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Dijkstra </a:t>
            </a:r>
            <a:r>
              <a:rPr sz="1700" b="1" i="0">
                <a:solidFill>
                  <a:srgbClr val="1C252B"/>
                </a:solidFill>
                <a:latin typeface="Cambria"/>
              </a:rPr>
              <a:t>|</a:t>
            </a:r>
            <a:r>
              <a:rPr sz="1700" b="1" i="1">
                <a:solidFill>
                  <a:srgbClr val="1C252B"/>
                </a:solidFill>
                <a:latin typeface="Cambria"/>
              </a:rPr>
              <a:t>V</a:t>
            </a:r>
            <a:r>
              <a:rPr sz="1700" b="1" i="0">
                <a:solidFill>
                  <a:srgbClr val="1C252B"/>
                </a:solidFill>
                <a:latin typeface="Cambria"/>
              </a:rPr>
              <a:t>|</a:t>
            </a:r>
            <a:r>
              <a:rPr sz="1700" b="1" i="0">
                <a:solidFill>
                  <a:srgbClr val="1C252B"/>
                </a:solidFill>
                <a:latin typeface="Segoe UI"/>
              </a:rPr>
              <a:t> times on a dense graph.</a:t>
            </a:r>
            <a:r>
              <a:rPr sz="1700" b="0" i="0">
                <a:solidFill>
                  <a:srgbClr val="1C252B"/>
                </a:solidFill>
                <a:latin typeface="Segoe UI"/>
              </a:rPr>
              <a:t> Measured 1.8</a:t>
            </a:r>
            <a:r>
              <a:rPr sz="1700" b="0" i="0">
                <a:solidFill>
                  <a:srgbClr val="1C252B"/>
                </a:solidFill>
                <a:latin typeface="Cambria"/>
              </a:rPr>
              <a:t>×</a:t>
            </a:r>
            <a:r>
              <a:rPr sz="1700" b="0" i="0">
                <a:solidFill>
                  <a:srgbClr val="1C252B"/>
                </a:solidFill>
                <a:latin typeface="Segoe UI"/>
              </a:rPr>
              <a:t> slower than five lines of Floyd–Warshall.</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808EC6F7-0088-4AE7-9928-E6041888029F}" type="slidenum">
              <a:rPr lang="en-GB" sz="1000">
                <a:solidFill>
                  <a:srgbClr val="8795A1"/>
                </a:solidFill>
                <a:latin typeface="Segoe UI"/>
              </a:rPr>
              <a:t>31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Dijkstra on an unweighted graph.</a:t>
            </a:r>
            <a:r>
              <a:rPr sz="1700" b="0" i="0">
                <a:solidFill>
                  <a:srgbClr val="1C252B"/>
                </a:solidFill>
                <a:latin typeface="Segoe UI"/>
              </a:rPr>
              <a:t> BFS is simpler and faster.</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Asking for shortest paths with a negative cycle present.</a:t>
            </a:r>
            <a:r>
              <a:rPr sz="1700" b="0" i="0">
                <a:solidFill>
                  <a:srgbClr val="1C252B"/>
                </a:solidFill>
                <a:latin typeface="Segoe UI"/>
              </a:rPr>
              <a:t> The question has no answer; detect it and say so.</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699893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6C09425E-B5ED-44EE-8A6F-A4E12ED024C1}" type="slidenum">
              <a:rPr lang="en-GB" sz="1000">
                <a:solidFill>
                  <a:srgbClr val="8795A1"/>
                </a:solidFill>
                <a:latin typeface="Segoe UI"/>
              </a:rPr>
              <a:t>32</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five tables. Expect thirty minutes.</a:t>
            </a:r>
          </a:p>
        </p:txBody>
      </p:sp>
      <p:sp>
        <p:nvSpPr>
          <p:cNvPr id="8" name="!!labsteps-h"/>
          <p:cNvSpPr txBox="1"/>
          <p:nvPr/>
        </p:nvSpPr>
        <p:spPr>
          <a:xfrm>
            <a:off x="658368" y="2365248"/>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2749296"/>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Dijkstra with a binary heap</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Dijkstra with a linear scan</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Bellman-Ford: relax every edge, V-1 times</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Floyd-Warshall: all pairs, three nested loops</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Heap against array, across densities</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Dijkstra against Bellman-Ford</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6b. The graph that forces every pass</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One negative edge, and Dijkstra is wrong</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All pairs: Floyd-Warshall against V x Dijkstra</a:t>
            </a:r>
          </a:p>
        </p:txBody>
      </p:sp>
      <p:sp>
        <p:nvSpPr>
          <p:cNvPr id="49" name="!!lfTHIS">
            <a:extLst>
              <a:ext uri="{C183D7F6-B498-43B3-948B-1728B52AA6E4}">
                <adec:decorative xmlns:adec="http://schemas.microsoft.com/office/drawing/2017/decorative" val="1"/>
              </a:ext>
            </a:extLst>
          </p:cNvPr>
          <p:cNvSpPr/>
          <p:nvPr/>
        </p:nvSpPr>
        <p:spPr>
          <a:xfrm>
            <a:off x="658368"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14: Dijkstra with and without a priority queue</a:t>
            </a:r>
          </a:p>
        </p:txBody>
      </p:sp>
      <p:sp>
        <p:nvSpPr>
          <p:cNvPr id="53" name="!!lfWHAT">
            <a:extLst>
              <a:ext uri="{C183D7F6-B498-43B3-948B-1728B52AA6E4}">
                <adec:decorative xmlns:adec="http://schemas.microsoft.com/office/drawing/2017/decorative" val="1"/>
              </a:ext>
            </a:extLst>
          </p:cNvPr>
          <p:cNvSpPr/>
          <p:nvPr/>
        </p:nvSpPr>
        <p:spPr>
          <a:xfrm>
            <a:off x="4374794"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4374794"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4649114"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4649114"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47 lines of C++</a:t>
            </a:r>
          </a:p>
        </p:txBody>
      </p:sp>
      <p:sp>
        <p:nvSpPr>
          <p:cNvPr id="57" name="!!lfRUNN">
            <a:extLst>
              <a:ext uri="{C183D7F6-B498-43B3-948B-1728B52AA6E4}">
                <adec:decorative xmlns:adec="http://schemas.microsoft.com/office/drawing/2017/decorative" val="1"/>
              </a:ext>
            </a:extLst>
          </p:cNvPr>
          <p:cNvSpPr/>
          <p:nvPr/>
        </p:nvSpPr>
        <p:spPr>
          <a:xfrm>
            <a:off x="8091220"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lfbRUNN">
            <a:extLst>
              <a:ext uri="{C183D7F6-B498-43B3-948B-1728B52AA6E4}">
                <adec:decorative xmlns:adec="http://schemas.microsoft.com/office/drawing/2017/decorative" val="1"/>
              </a:ext>
            </a:extLst>
          </p:cNvPr>
          <p:cNvSpPr/>
          <p:nvPr/>
        </p:nvSpPr>
        <p:spPr>
          <a:xfrm>
            <a:off x="8091220"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lflRUNN"/>
          <p:cNvSpPr txBox="1"/>
          <p:nvPr/>
        </p:nvSpPr>
        <p:spPr>
          <a:xfrm>
            <a:off x="8365540"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60" name="!!lfvRUNN"/>
          <p:cNvSpPr txBox="1"/>
          <p:nvPr/>
        </p:nvSpPr>
        <p:spPr>
          <a:xfrm>
            <a:off x="8365540"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code/ch20_sp.cpp</a:t>
            </a:r>
          </a:p>
        </p:txBody>
      </p:sp>
      <p:sp>
        <p:nvSpPr>
          <p:cNvPr id="6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pfill">
            <a:extLst>
              <a:ext uri="{C183D7F6-B498-43B3-948B-1728B52AA6E4}">
                <adec:decorative xmlns:adec="http://schemas.microsoft.com/office/drawing/2017/decorative" val="1"/>
              </a:ext>
            </a:extLst>
          </p:cNvPr>
          <p:cNvSpPr/>
          <p:nvPr/>
        </p:nvSpPr>
        <p:spPr>
          <a:xfrm>
            <a:off x="0" y="0"/>
            <a:ext cx="722470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948E55E2-0C5A-4235-A25C-771CE2AC3BF1}"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Dijkstra with a binary heap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ch20_sp.cpp -- three shortest-path algorithms, and when each wins. // Build: cl /O2 /EHsc /std:c++17 ch20_sp.cpp (see Appendix A) // --- 1. Dijkstra with a binary heap -------------------------------- // The &quot;lazy&quot; form: push a new entry on every improvement and skip // stale ones when popped. O((V+E) lg V), simpler than decrease-key. // // The invariant is the whole correctness argument: when a vertex is // popped with the smallest tentative distance, that distance is final. // It holds only because every edge weight is &gt;= 0."/>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ch20_sp.cpp -- three shortest-path algorithms, and when each wins.</a:t>
            </a:r>
          </a:p>
          <a:p>
            <a:pPr>
              <a:lnSpc>
                <a:spcPct val="100000"/>
              </a:lnSpc>
              <a:spcAft>
                <a:spcPts val="0"/>
              </a:spcAft>
            </a:pPr>
            <a:r>
              <a:rPr sz="1900" i="1">
                <a:solidFill>
                  <a:srgbClr val="8795A1"/>
                </a:solidFill>
                <a:latin typeface="Consolas"/>
              </a:rPr>
              <a:t>// Build: cl /O2 /EHsc /std:c++17 ch20_sp.cpp         (see Appendix A)</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Dijkstra with a binary heap --------------------------------</a:t>
            </a:r>
          </a:p>
          <a:p>
            <a:pPr>
              <a:lnSpc>
                <a:spcPct val="100000"/>
              </a:lnSpc>
              <a:spcAft>
                <a:spcPts val="0"/>
              </a:spcAft>
            </a:pPr>
            <a:r>
              <a:rPr sz="1900" i="1">
                <a:solidFill>
                  <a:srgbClr val="8795A1"/>
                </a:solidFill>
                <a:latin typeface="Consolas"/>
              </a:rPr>
              <a:t>// The "lazy" form: push a new entry on every improvement and skip</a:t>
            </a:r>
          </a:p>
          <a:p>
            <a:pPr>
              <a:lnSpc>
                <a:spcPct val="100000"/>
              </a:lnSpc>
              <a:spcAft>
                <a:spcPts val="0"/>
              </a:spcAft>
            </a:pPr>
            <a:r>
              <a:rPr sz="1900" i="1">
                <a:solidFill>
                  <a:srgbClr val="8795A1"/>
                </a:solidFill>
                <a:latin typeface="Consolas"/>
              </a:rPr>
              <a:t>// stale ones when popped. O((V+E) lg V), simpler than decrease-key.</a:t>
            </a:r>
          </a:p>
          <a:p>
            <a:pPr>
              <a:lnSpc>
                <a:spcPct val="100000"/>
              </a:lnSpc>
              <a:spcAft>
                <a:spcPts val="0"/>
              </a:spcAft>
            </a:pPr>
            <a:r>
              <a:rPr sz="1900" i="1">
                <a:solidFill>
                  <a:srgbClr val="8795A1"/>
                </a:solidFill>
                <a:latin typeface="Consolas"/>
              </a:rPr>
              <a:t>//</a:t>
            </a:r>
          </a:p>
          <a:p>
            <a:pPr>
              <a:lnSpc>
                <a:spcPct val="100000"/>
              </a:lnSpc>
              <a:spcAft>
                <a:spcPts val="0"/>
              </a:spcAft>
            </a:pPr>
            <a:r>
              <a:rPr sz="1900" i="1">
                <a:solidFill>
                  <a:srgbClr val="8795A1"/>
                </a:solidFill>
                <a:latin typeface="Consolas"/>
              </a:rPr>
              <a:t>// The invariant is the whole correctness argument: when a vertex is</a:t>
            </a:r>
          </a:p>
          <a:p>
            <a:pPr>
              <a:lnSpc>
                <a:spcPct val="100000"/>
              </a:lnSpc>
              <a:spcAft>
                <a:spcPts val="0"/>
              </a:spcAft>
            </a:pPr>
            <a:r>
              <a:rPr sz="1900" i="1">
                <a:solidFill>
                  <a:srgbClr val="8795A1"/>
                </a:solidFill>
                <a:latin typeface="Consolas"/>
              </a:rPr>
              <a:t>// popped with the smallest tentative distance, that distance is final.</a:t>
            </a:r>
          </a:p>
          <a:p>
            <a:pPr>
              <a:lnSpc>
                <a:spcPct val="100000"/>
              </a:lnSpc>
              <a:spcAft>
                <a:spcPts val="0"/>
              </a:spcAft>
            </a:pPr>
            <a:r>
              <a:rPr sz="1900" i="1">
                <a:solidFill>
                  <a:srgbClr val="8795A1"/>
                </a:solidFill>
                <a:latin typeface="Consolas"/>
              </a:rPr>
              <a:t>// It holds only because every edge weight is &gt;= 0.</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a:p>
            <a:pPr algn="r">
              <a:lnSpc>
                <a:spcPct val="100000"/>
              </a:lnSpc>
            </a:pPr>
            <a:r>
              <a:rPr sz="19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4745BE6E-920F-4892-8A8B-49B82AAB4488}"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Dijkstra with a linear scan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2. Dijkstra with a linear scan -------------------------------- // Same algorithm; the priority queue is an unsorted array, so // extract-min is O(V) and the total is O(V^2 + 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Dijkstra with a linear scan --------------------------------</a:t>
            </a:r>
          </a:p>
          <a:p>
            <a:pPr>
              <a:lnSpc>
                <a:spcPct val="100000"/>
              </a:lnSpc>
              <a:spcAft>
                <a:spcPts val="0"/>
              </a:spcAft>
            </a:pPr>
            <a:r>
              <a:rPr sz="1900" i="1">
                <a:solidFill>
                  <a:srgbClr val="8795A1"/>
                </a:solidFill>
                <a:latin typeface="Consolas"/>
              </a:rPr>
              <a:t>// Same algorithm; the priority queue is an unsorted array, so</a:t>
            </a:r>
          </a:p>
          <a:p>
            <a:pPr>
              <a:lnSpc>
                <a:spcPct val="100000"/>
              </a:lnSpc>
              <a:spcAft>
                <a:spcPts val="0"/>
              </a:spcAft>
            </a:pPr>
            <a:r>
              <a:rPr sz="1900" i="1">
                <a:solidFill>
                  <a:srgbClr val="8795A1"/>
                </a:solidFill>
                <a:latin typeface="Consolas"/>
              </a:rPr>
              <a:t>// extract-min is O(V) and the total is O(V^2 + 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a:p>
            <a:pPr algn="r">
              <a:lnSpc>
                <a:spcPct val="100000"/>
              </a:lnSpc>
            </a:pPr>
            <a:r>
              <a:rPr sz="19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7625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EBD3C8F8-D1A3-4D98-95BB-5FB34E12D870}"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Bellman-Ford: relax every edge, V-1 times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3. Bellman-Ford: relax every edge, V-1 times ------------------ // No priority queue and no assumption about signs. The bound is // O(VE) -- the price of handling negative edges and of being able to // DETECT a negative cycle, which Dijkstra cannot. if (!changed) break; // early exit: often much faster"/>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Bellman-Ford: relax every edge, V-1 times ------------------</a:t>
            </a:r>
          </a:p>
          <a:p>
            <a:pPr>
              <a:lnSpc>
                <a:spcPct val="100000"/>
              </a:lnSpc>
              <a:spcAft>
                <a:spcPts val="0"/>
              </a:spcAft>
            </a:pPr>
            <a:r>
              <a:rPr sz="1900" i="1">
                <a:solidFill>
                  <a:srgbClr val="8795A1"/>
                </a:solidFill>
                <a:latin typeface="Consolas"/>
              </a:rPr>
              <a:t>// No priority queue and no assumption about signs. The bound is</a:t>
            </a:r>
          </a:p>
          <a:p>
            <a:pPr>
              <a:lnSpc>
                <a:spcPct val="100000"/>
              </a:lnSpc>
              <a:spcAft>
                <a:spcPts val="0"/>
              </a:spcAft>
            </a:pPr>
            <a:r>
              <a:rPr sz="1900" i="1">
                <a:solidFill>
                  <a:srgbClr val="8795A1"/>
                </a:solidFill>
                <a:latin typeface="Consolas"/>
              </a:rPr>
              <a:t>// O(VE) -- the price of handling negative edges and of being able to</a:t>
            </a:r>
          </a:p>
          <a:p>
            <a:pPr>
              <a:lnSpc>
                <a:spcPct val="100000"/>
              </a:lnSpc>
              <a:spcAft>
                <a:spcPts val="0"/>
              </a:spcAft>
            </a:pPr>
            <a:r>
              <a:rPr sz="1900" i="1">
                <a:solidFill>
                  <a:srgbClr val="8795A1"/>
                </a:solidFill>
                <a:latin typeface="Consolas"/>
              </a:rPr>
              <a:t>// DETECT a negative cycle, which Dijkstra cannot.</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changed</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break</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early exit: often much faster</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0202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8D78059A-BF23-401B-BCFC-C48427695266}"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Floyd-Warshall: all pairs, three nested loops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4. Floyd-Warshall: all pairs, three nested loops -------------- // The k loop must be OUTERMOST. That is not a style choice: k indexes // the subproblem (&quot;paths using only intermediate vertices &lt; k&quot;), and // putting it inside would compute something that is not a shortest // path."/>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Floyd-Warshall: all pairs, three nested loops --------------</a:t>
            </a:r>
          </a:p>
          <a:p>
            <a:pPr>
              <a:lnSpc>
                <a:spcPct val="100000"/>
              </a:lnSpc>
              <a:spcAft>
                <a:spcPts val="0"/>
              </a:spcAft>
            </a:pPr>
            <a:r>
              <a:rPr sz="1900" i="1">
                <a:solidFill>
                  <a:srgbClr val="8795A1"/>
                </a:solidFill>
                <a:latin typeface="Consolas"/>
              </a:rPr>
              <a:t>// The k loop must be OUTERMOST. That is not a style choice: k indexes</a:t>
            </a:r>
          </a:p>
          <a:p>
            <a:pPr>
              <a:lnSpc>
                <a:spcPct val="100000"/>
              </a:lnSpc>
              <a:spcAft>
                <a:spcPts val="0"/>
              </a:spcAft>
            </a:pPr>
            <a:r>
              <a:rPr sz="1900" i="1">
                <a:solidFill>
                  <a:srgbClr val="8795A1"/>
                </a:solidFill>
                <a:latin typeface="Consolas"/>
              </a:rPr>
              <a:t>// the subproblem ("paths using only intermediate vertices &lt; k"), and</a:t>
            </a:r>
          </a:p>
          <a:p>
            <a:pPr>
              <a:lnSpc>
                <a:spcPct val="100000"/>
              </a:lnSpc>
              <a:spcAft>
                <a:spcPts val="0"/>
              </a:spcAft>
            </a:pPr>
            <a:r>
              <a:rPr sz="1900" i="1">
                <a:solidFill>
                  <a:srgbClr val="8795A1"/>
                </a:solidFill>
                <a:latin typeface="Consolas"/>
              </a:rPr>
              <a:t>// putting it inside would compute something that is not a shortest</a:t>
            </a:r>
          </a:p>
          <a:p>
            <a:pPr>
              <a:lnSpc>
                <a:spcPct val="100000"/>
              </a:lnSpc>
              <a:spcAft>
                <a:spcPts val="0"/>
              </a:spcAft>
            </a:pPr>
            <a:r>
              <a:rPr sz="1900" i="1">
                <a:solidFill>
                  <a:srgbClr val="8795A1"/>
                </a:solidFill>
                <a:latin typeface="Consolas"/>
              </a:rPr>
              <a:t>// path.</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6AC5E433-71CE-4896-B410-FB1FD8D0D0F2}"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Heap against array, across densities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5. Heap against array, across densities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Heap against array, across densities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535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64594879-7E5A-4230-9C32-80D019748331}"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Dijkstra against Bellman-Ford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6. Dijkstra against Bellman-Ford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Dijkstra against Bellman-Ford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7934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5B821ED6-DB50-4B52-A343-D74011D9EFD1}"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6b. The graph that forces every pass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6b. The graph that forces every pass -------------------------- // A single path, with the adjacency lists visited in an order that // propagates exactly one vertex per pass. Nothing adversarial about // the weights; only the ORDER matters."/>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--- 6b. The graph that forces every pass --------------------------</a:t>
            </a:r>
          </a:p>
          <a:p>
            <a:pPr>
              <a:lnSpc>
                <a:spcPct val="100000"/>
              </a:lnSpc>
              <a:spcAft>
                <a:spcPts val="0"/>
              </a:spcAft>
            </a:pPr>
            <a:r>
              <a:rPr sz="1900" i="1">
                <a:solidFill>
                  <a:srgbClr val="8795A1"/>
                </a:solidFill>
                <a:latin typeface="Consolas"/>
              </a:rPr>
              <a:t>// A single path, with the adjacency lists visited in an order that</a:t>
            </a:r>
          </a:p>
          <a:p>
            <a:pPr>
              <a:lnSpc>
                <a:spcPct val="100000"/>
              </a:lnSpc>
              <a:spcAft>
                <a:spcPts val="0"/>
              </a:spcAft>
            </a:pPr>
            <a:r>
              <a:rPr sz="1900" i="1">
                <a:solidFill>
                  <a:srgbClr val="8795A1"/>
                </a:solidFill>
                <a:latin typeface="Consolas"/>
              </a:rPr>
              <a:t>// propagates exactly one vertex per pass. Nothing adversarial about</a:t>
            </a:r>
          </a:p>
          <a:p>
            <a:pPr>
              <a:lnSpc>
                <a:spcPct val="100000"/>
              </a:lnSpc>
              <a:spcAft>
                <a:spcPts val="0"/>
              </a:spcAft>
            </a:pPr>
            <a:r>
              <a:rPr sz="1900" i="1">
                <a:solidFill>
                  <a:srgbClr val="8795A1"/>
                </a:solidFill>
                <a:latin typeface="Consolas"/>
              </a:rPr>
              <a:t>// the weights; only the ORDER matters.</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0511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39BF83D9-C5C9-4AE0-9CFE-CAB7973DE660}" type="slidenum">
              <a:rPr lang="en-GB" sz="1000">
                <a:solidFill>
                  <a:srgbClr val="8795A1"/>
                </a:solidFill>
                <a:latin typeface="Segoe UI"/>
              </a:rPr>
              <a:t>40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One negative edge, and Dijkstra is wrong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7. One negative edge, and Dijkstra is wrong ------------------- // 0 -&gt; 1 costs 3, 0 -&gt; 2 costs 4, 2 -&gt; 1 costs -2, 1 -&gt; 3 costs 1. // True distances: d(1) = 2 via vertex 2, so d(3) = 3. // // Array Dijkstra pops vertex 1 at distance 3 and finalises it, // relaxing 1 -&gt; 3 to give d(3) = 4. It then pops vertex 2 and lowers // d(1) to 2 -- but vertex 1 is done, so its edge to 3 is never // re-examined and d(3) stays at 4. The error has PROPAGATED, which is // why this graph fails where the obvious three-vertex example does // not: there the wrong value was overwritten before anything // depended on it."/>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One negative edge, and Dijkstra is wrong -------------------</a:t>
            </a:r>
          </a:p>
          <a:p>
            <a:pPr>
              <a:lnSpc>
                <a:spcPct val="100000"/>
              </a:lnSpc>
              <a:spcAft>
                <a:spcPts val="0"/>
              </a:spcAft>
            </a:pPr>
            <a:r>
              <a:rPr sz="1900" i="1">
                <a:solidFill>
                  <a:srgbClr val="8795A1"/>
                </a:solidFill>
                <a:latin typeface="Consolas"/>
              </a:rPr>
              <a:t>// 0 -&gt; 1 costs 3, 0 -&gt; 2 costs 4, 2 -&gt; 1 costs -2, 1 -&gt; 3 costs 1.</a:t>
            </a:r>
          </a:p>
          <a:p>
            <a:pPr>
              <a:lnSpc>
                <a:spcPct val="100000"/>
              </a:lnSpc>
              <a:spcAft>
                <a:spcPts val="0"/>
              </a:spcAft>
            </a:pPr>
            <a:r>
              <a:rPr sz="1900" i="1">
                <a:solidFill>
                  <a:srgbClr val="8795A1"/>
                </a:solidFill>
                <a:latin typeface="Consolas"/>
              </a:rPr>
              <a:t>// True distances: d(1) = 2 via vertex 2, so d(3) = 3.</a:t>
            </a:r>
          </a:p>
          <a:p>
            <a:pPr>
              <a:lnSpc>
                <a:spcPct val="100000"/>
              </a:lnSpc>
              <a:spcAft>
                <a:spcPts val="0"/>
              </a:spcAft>
            </a:pPr>
            <a:r>
              <a:rPr sz="1900" i="1">
                <a:solidFill>
                  <a:srgbClr val="8795A1"/>
                </a:solidFill>
                <a:latin typeface="Consolas"/>
              </a:rPr>
              <a:t>//</a:t>
            </a:r>
          </a:p>
          <a:p>
            <a:pPr>
              <a:lnSpc>
                <a:spcPct val="100000"/>
              </a:lnSpc>
              <a:spcAft>
                <a:spcPts val="0"/>
              </a:spcAft>
            </a:pPr>
            <a:r>
              <a:rPr sz="1900" i="1">
                <a:solidFill>
                  <a:srgbClr val="8795A1"/>
                </a:solidFill>
                <a:latin typeface="Consolas"/>
              </a:rPr>
              <a:t>// Array Dijkstra pops vertex 1 at distance 3 and finalises it,</a:t>
            </a:r>
          </a:p>
          <a:p>
            <a:pPr>
              <a:lnSpc>
                <a:spcPct val="100000"/>
              </a:lnSpc>
              <a:spcAft>
                <a:spcPts val="0"/>
              </a:spcAft>
            </a:pPr>
            <a:r>
              <a:rPr sz="1900" i="1">
                <a:solidFill>
                  <a:srgbClr val="8795A1"/>
                </a:solidFill>
                <a:latin typeface="Consolas"/>
              </a:rPr>
              <a:t>// relaxing 1 -&gt; 3 to give d(3) = 4. It then pops vertex 2 and lowers</a:t>
            </a:r>
          </a:p>
          <a:p>
            <a:pPr>
              <a:lnSpc>
                <a:spcPct val="100000"/>
              </a:lnSpc>
              <a:spcAft>
                <a:spcPts val="0"/>
              </a:spcAft>
            </a:pPr>
            <a:r>
              <a:rPr sz="1900" i="1">
                <a:solidFill>
                  <a:srgbClr val="8795A1"/>
                </a:solidFill>
                <a:latin typeface="Consolas"/>
              </a:rPr>
              <a:t>// d(1) to 2 -- but vertex 1 is done, so its edge to 3 is never</a:t>
            </a:r>
          </a:p>
          <a:p>
            <a:pPr>
              <a:lnSpc>
                <a:spcPct val="100000"/>
              </a:lnSpc>
              <a:spcAft>
                <a:spcPts val="0"/>
              </a:spcAft>
            </a:pPr>
            <a:r>
              <a:rPr sz="1900" i="1">
                <a:solidFill>
                  <a:srgbClr val="8795A1"/>
                </a:solidFill>
                <a:latin typeface="Consolas"/>
              </a:rPr>
              <a:t>// re-examined and d(3) stays at 4. The error has PROPAGATED, which is</a:t>
            </a:r>
          </a:p>
          <a:p>
            <a:pPr>
              <a:lnSpc>
                <a:spcPct val="100000"/>
              </a:lnSpc>
              <a:spcAft>
                <a:spcPts val="0"/>
              </a:spcAft>
            </a:pPr>
            <a:r>
              <a:rPr sz="1900" i="1">
                <a:solidFill>
                  <a:srgbClr val="8795A1"/>
                </a:solidFill>
                <a:latin typeface="Consolas"/>
              </a:rPr>
              <a:t>// why this graph fails where the obvious three-vertex example does</a:t>
            </a:r>
          </a:p>
          <a:p>
            <a:pPr>
              <a:lnSpc>
                <a:spcPct val="100000"/>
              </a:lnSpc>
              <a:spcAft>
                <a:spcPts val="0"/>
              </a:spcAft>
            </a:pPr>
            <a:r>
              <a:rPr sz="1900" i="1">
                <a:solidFill>
                  <a:srgbClr val="8795A1"/>
                </a:solidFill>
                <a:latin typeface="Consolas"/>
              </a:rPr>
              <a:t>// not: there the wrong value was overwritten before anything</a:t>
            </a:r>
          </a:p>
          <a:p>
            <a:pPr>
              <a:lnSpc>
                <a:spcPct val="100000"/>
              </a:lnSpc>
              <a:spcAft>
                <a:spcPts val="0"/>
              </a:spcAft>
            </a:pPr>
            <a:r>
              <a:rPr sz="1900" i="1">
                <a:solidFill>
                  <a:srgbClr val="8795A1"/>
                </a:solidFill>
                <a:latin typeface="Consolas"/>
              </a:rPr>
              <a:t>// depended on it.</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3088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One That Is Wrong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37381136-AF29-4B16-956C-1CED449D5F97}" type="slidenum">
              <a:rPr lang="en-GB" sz="1000">
                <a:solidFill>
                  <a:srgbClr val="8795A1"/>
                </a:solidFill>
                <a:latin typeface="Segoe UI"/>
              </a:rPr>
              <a:t>41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All pairs: Floyd-Warshall against V x Dijkstra</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code/ch20_sp.cpp</a:t>
            </a:r>
          </a:p>
        </p:txBody>
      </p:sp>
      <p:sp>
        <p:nvSpPr>
          <p:cNvPr id="14" name="!!code-text" descr="// --- 8. All pairs: Floyd-Warshall against V x Dijkstra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All pairs: Floyd-Warshall against V x Dijkstra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5665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166     </a:t>
            </a:r>
            <a:fld id="{4F93AB5F-311A-4EAF-AB57-8DD1F352C0F8}" type="slidenum">
              <a:rPr lang="en-GB" sz="1000">
                <a:solidFill>
                  <a:srgbClr val="8795A1"/>
                </a:solidFill>
                <a:latin typeface="Segoe UI"/>
              </a:rPr>
              <a:t>42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7 prints both Dijkstras. They disagree, and the one that agrees with Bellman–Ford is the one that is not really Dijkstra. An experiment that had shown only the heap version would have concluded, wrongly, that negative edges are harmless.</a:t>
            </a:r>
          </a:p>
        </p:txBody>
      </p:sp>
      <p:sp>
        <p:nvSpPr>
          <p:cNvPr id="10" name="body-1"/>
          <p:cNvSpPr txBox="1"/>
          <p:nvPr/>
        </p:nvSpPr>
        <p:spPr>
          <a:xfrm>
            <a:off x="1060704" y="3667074"/>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Add a negative cycle to the graph in part 7 and run the lazy heap Dijkstra on it. Predict first. It will not terminate in any reasonable time — each trip round the cycle lowers an estimate, so it re-pushes for ever. Bellman–Ford detects the cycle in one extra pass and says so. That is the practical difference between an algorithm that assumes something and one that checks.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Identify the single step in the proof of Theorem 20.1 that uses non-negativity, and state what goes wrong without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20  ·  Shortest Paths: Single-Source and All-Pairs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172  ·  answers in Appendix D     </a:t>
            </a:r>
            <a:fld id="{158D2140-723A-483A-BCE0-9955B49990D7}"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Identify the single step in the proof of Theorem 20.1 that uses non-negativity, and state what goes wrong without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inequality </a:t>
            </a:r>
            <a:r>
              <a:rPr sz="2200" b="0" i="0">
                <a:solidFill>
                  <a:srgbClr val="1C252B"/>
                </a:solidFill>
                <a:latin typeface="Cambria"/>
              </a:rPr>
              <a:t>δ(</a:t>
            </a:r>
            <a:r>
              <a:rPr sz="2200" b="0" i="1">
                <a:solidFill>
                  <a:srgbClr val="1C252B"/>
                </a:solidFill>
                <a:latin typeface="Cambria"/>
              </a:rPr>
              <a:t>s</a:t>
            </a:r>
            <a:r>
              <a:rPr sz="2200" b="0" i="0">
                <a:solidFill>
                  <a:srgbClr val="1C252B"/>
                </a:solidFill>
                <a:latin typeface="Cambria"/>
              </a:rPr>
              <a:t>,</a:t>
            </a:r>
            <a:r>
              <a:rPr sz="2200" b="0" i="1">
                <a:solidFill>
                  <a:srgbClr val="1C252B"/>
                </a:solidFill>
                <a:latin typeface="Cambria"/>
              </a:rPr>
              <a:t>y</a:t>
            </a:r>
            <a:r>
              <a:rPr sz="2200" b="0" i="0">
                <a:solidFill>
                  <a:srgbClr val="1C252B"/>
                </a:solidFill>
                <a:latin typeface="Cambria"/>
              </a:rPr>
              <a:t>) ≤ δ(</a:t>
            </a:r>
            <a:r>
              <a:rPr sz="2200" b="0" i="1">
                <a:solidFill>
                  <a:srgbClr val="1C252B"/>
                </a:solidFill>
                <a:latin typeface="Cambria"/>
              </a:rPr>
              <a:t>s</a:t>
            </a:r>
            <a:r>
              <a:rPr sz="2200" b="0" i="0">
                <a:solidFill>
                  <a:srgbClr val="1C252B"/>
                </a:solidFill>
                <a:latin typeface="Cambria"/>
              </a:rPr>
              <a:t>,</a:t>
            </a:r>
            <a:r>
              <a:rPr sz="2200" b="0" i="1">
                <a:solidFill>
                  <a:srgbClr val="1C252B"/>
                </a:solidFill>
                <a:latin typeface="Cambria"/>
              </a:rPr>
              <a:t>u</a:t>
            </a:r>
            <a:r>
              <a:rPr sz="2200" b="0" i="0">
                <a:solidFill>
                  <a:srgbClr val="1C252B"/>
                </a:solidFill>
                <a:latin typeface="Cambria"/>
              </a:rPr>
              <a:t>)</a:t>
            </a:r>
            <a:r>
              <a:rPr sz="2200" b="0" i="0">
                <a:solidFill>
                  <a:srgbClr val="1C252B"/>
                </a:solidFill>
                <a:latin typeface="Segoe UI"/>
              </a:rPr>
              <a:t>, where </a:t>
            </a:r>
            <a:r>
              <a:rPr sz="2200" b="0" i="1">
                <a:solidFill>
                  <a:srgbClr val="1C252B"/>
                </a:solidFill>
                <a:latin typeface="Cambria"/>
              </a:rPr>
              <a:t>y</a:t>
            </a:r>
            <a:r>
              <a:rPr sz="2200" b="0" i="0">
                <a:solidFill>
                  <a:srgbClr val="1C252B"/>
                </a:solidFill>
                <a:latin typeface="Segoe UI"/>
              </a:rPr>
              <a:t> lies on a shortest path to </a:t>
            </a:r>
            <a:r>
              <a:rPr sz="2200" b="0" i="1">
                <a:solidFill>
                  <a:srgbClr val="1C252B"/>
                </a:solidFill>
                <a:latin typeface="Cambria"/>
              </a:rPr>
              <a:t>u</a:t>
            </a:r>
            <a:r>
              <a:rPr sz="2200" b="0" i="0">
                <a:solidFill>
                  <a:srgbClr val="1C252B"/>
                </a:solidFill>
                <a:latin typeface="Segoe UI"/>
              </a:rPr>
              <a:t>. It says extending a path cannot make it cheaper, which requires non-negative weights. Without it, the remaining portion from </a:t>
            </a:r>
            <a:r>
              <a:rPr sz="2200" b="0" i="1">
                <a:solidFill>
                  <a:srgbClr val="1C252B"/>
                </a:solidFill>
                <a:latin typeface="Cambria"/>
              </a:rPr>
              <a:t>y</a:t>
            </a:r>
            <a:r>
              <a:rPr sz="2200" b="0" i="0">
                <a:solidFill>
                  <a:srgbClr val="1C252B"/>
                </a:solidFill>
                <a:latin typeface="Segoe UI"/>
              </a:rPr>
              <a:t> to </a:t>
            </a:r>
            <a:r>
              <a:rPr sz="2200" b="0" i="1">
                <a:solidFill>
                  <a:srgbClr val="1C252B"/>
                </a:solidFill>
                <a:latin typeface="Cambria"/>
              </a:rPr>
              <a:t>u</a:t>
            </a:r>
            <a:r>
              <a:rPr sz="2200" b="0" i="0">
                <a:solidFill>
                  <a:srgbClr val="1C252B"/>
                </a:solidFill>
                <a:latin typeface="Segoe UI"/>
              </a:rPr>
              <a:t> may have negative total weight, so a vertex finalised early can later prove reachable more cheaply — and Dijkstra never revisits it. Measured in Section 20.4: </a:t>
            </a:r>
            <a:r>
              <a:rPr sz="2200" b="0" i="1">
                <a:solidFill>
                  <a:srgbClr val="1C252B"/>
                </a:solidFill>
                <a:latin typeface="Cambria"/>
              </a:rPr>
              <a:t>d</a:t>
            </a:r>
            <a:r>
              <a:rPr sz="2200" b="0" i="0">
                <a:solidFill>
                  <a:srgbClr val="1C252B"/>
                </a:solidFill>
                <a:latin typeface="Cambria"/>
              </a:rPr>
              <a:t>(3) = 4</a:t>
            </a:r>
            <a:r>
              <a:rPr sz="2200" b="0" i="0">
                <a:solidFill>
                  <a:srgbClr val="1C252B"/>
                </a:solidFill>
                <a:latin typeface="Segoe UI"/>
              </a:rPr>
              <a:t> where the answer is 3.</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  answers in Appendix D     </a:t>
            </a:r>
            <a:fld id="{D953D3B0-9C21-4EBB-9D2C-CCAA80FF08BA}"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3397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Bellman–Ford need exactly </a:t>
            </a:r>
            <a:r>
              <a:rPr sz="3400" b="0" i="0">
                <a:solidFill>
                  <a:srgbClr val="FFFFFF"/>
                </a:solidFill>
                <a:latin typeface="Cambria"/>
              </a:rPr>
              <a:t>|</a:t>
            </a:r>
            <a:r>
              <a:rPr sz="3400" b="0" i="1">
                <a:solidFill>
                  <a:srgbClr val="FFFFFF"/>
                </a:solidFill>
                <a:latin typeface="Cambria"/>
              </a:rPr>
              <a:t>V</a:t>
            </a:r>
            <a:r>
              <a:rPr sz="3400" b="0" i="0">
                <a:solidFill>
                  <a:srgbClr val="FFFFFF"/>
                </a:solidFill>
                <a:latin typeface="Cambria"/>
              </a:rPr>
              <a:t>|−1</a:t>
            </a:r>
            <a:r>
              <a:rPr sz="3400" b="0" i="0">
                <a:solidFill>
                  <a:srgbClr val="FFFFFF"/>
                </a:solidFill>
                <a:latin typeface="Segoe UI Semibold"/>
              </a:rPr>
              <a:t> passes, and what does the </a:t>
            </a:r>
            <a:r>
              <a:rPr sz="3400" b="0" i="0">
                <a:solidFill>
                  <a:srgbClr val="FFFFFF"/>
                </a:solidFill>
                <a:latin typeface="Cambria"/>
              </a:rPr>
              <a:t>|</a:t>
            </a:r>
            <a:r>
              <a:rPr sz="3400" b="0" i="1">
                <a:solidFill>
                  <a:srgbClr val="FFFFFF"/>
                </a:solidFill>
                <a:latin typeface="Cambria"/>
              </a:rPr>
              <a:t>V</a:t>
            </a:r>
            <a:r>
              <a:rPr sz="3400" b="0" i="0">
                <a:solidFill>
                  <a:srgbClr val="FFFFFF"/>
                </a:solidFill>
                <a:latin typeface="Cambria"/>
              </a:rPr>
              <a:t>|</a:t>
            </a:r>
            <a:r>
              <a:rPr sz="3400" b="0" i="0">
                <a:solidFill>
                  <a:srgbClr val="FFFFFF"/>
                </a:solidFill>
                <a:latin typeface="Segoe UI Semibold"/>
              </a:rPr>
              <a:t>-th pass detect </a:t>
            </a:r>
            <a:r>
              <a:rPr sz="3400" b="0" i="1">
                <a:solidFill>
                  <a:srgbClr val="FFFFFF"/>
                </a:solidFill>
                <a:latin typeface="Segoe UI Semibold"/>
              </a:rPr>
              <a:t>(CLO-7)</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20  ·  Shortest Paths: Single-Source and All-Pairs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172  ·  answers in Appendix D     </a:t>
            </a:r>
            <a:fld id="{7323B3E9-0ED1-4721-9A20-748A9675A49E}"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Bellman–Ford need exactly </a:t>
            </a:r>
            <a:r>
              <a:rPr sz="2400" b="0" i="0">
                <a:solidFill>
                  <a:srgbClr val="1A5276"/>
                </a:solidFill>
                <a:latin typeface="Cambria"/>
              </a:rPr>
              <a:t>|</a:t>
            </a:r>
            <a:r>
              <a:rPr sz="2400" b="0" i="1">
                <a:solidFill>
                  <a:srgbClr val="1A5276"/>
                </a:solidFill>
                <a:latin typeface="Cambria"/>
              </a:rPr>
              <a:t>V</a:t>
            </a:r>
            <a:r>
              <a:rPr sz="2400" b="0" i="0">
                <a:solidFill>
                  <a:srgbClr val="1A5276"/>
                </a:solidFill>
                <a:latin typeface="Cambria"/>
              </a:rPr>
              <a:t>|−1</a:t>
            </a:r>
            <a:r>
              <a:rPr sz="2400" b="0" i="0">
                <a:solidFill>
                  <a:srgbClr val="1A5276"/>
                </a:solidFill>
                <a:latin typeface="Segoe UI Semibold"/>
              </a:rPr>
              <a:t> passes, and what does the </a:t>
            </a:r>
            <a:r>
              <a:rPr sz="2400" b="0" i="0">
                <a:solidFill>
                  <a:srgbClr val="1A5276"/>
                </a:solidFill>
                <a:latin typeface="Cambria"/>
              </a:rPr>
              <a:t>|</a:t>
            </a:r>
            <a:r>
              <a:rPr sz="2400" b="0" i="1">
                <a:solidFill>
                  <a:srgbClr val="1A5276"/>
                </a:solidFill>
                <a:latin typeface="Cambria"/>
              </a:rPr>
              <a:t>V</a:t>
            </a:r>
            <a:r>
              <a:rPr sz="2400" b="0" i="0">
                <a:solidFill>
                  <a:srgbClr val="1A5276"/>
                </a:solidFill>
                <a:latin typeface="Cambria"/>
              </a:rPr>
              <a:t>|</a:t>
            </a:r>
            <a:r>
              <a:rPr sz="2400" b="0" i="0">
                <a:solidFill>
                  <a:srgbClr val="1A5276"/>
                </a:solidFill>
                <a:latin typeface="Segoe UI Semibold"/>
              </a:rPr>
              <a:t>-th pass detect </a:t>
            </a:r>
            <a:r>
              <a:rPr sz="2400" b="0" i="1">
                <a:solidFill>
                  <a:srgbClr val="1A5276"/>
                </a:solidFill>
                <a:latin typeface="Segoe UI Semibold"/>
              </a:rPr>
              <a:t>(CLO-7)</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 shortest path in a graph with no negative cycle uses at most </a:t>
            </a:r>
            <a:r>
              <a:rPr sz="2200" b="0" i="0">
                <a:solidFill>
                  <a:srgbClr val="1C252B"/>
                </a:solidFill>
                <a:latin typeface="Cambria"/>
              </a:rPr>
              <a:t>|</a:t>
            </a:r>
            <a:r>
              <a:rPr sz="2200" b="0" i="1">
                <a:solidFill>
                  <a:srgbClr val="1C252B"/>
                </a:solidFill>
                <a:latin typeface="Cambria"/>
              </a:rPr>
              <a:t>V</a:t>
            </a:r>
            <a:r>
              <a:rPr sz="2200" b="0" i="0">
                <a:solidFill>
                  <a:srgbClr val="1C252B"/>
                </a:solidFill>
                <a:latin typeface="Cambria"/>
              </a:rPr>
              <a:t>|−1</a:t>
            </a:r>
            <a:r>
              <a:rPr sz="2200" b="0" i="0">
                <a:solidFill>
                  <a:srgbClr val="1C252B"/>
                </a:solidFill>
                <a:latin typeface="Segoe UI"/>
              </a:rPr>
              <a:t> edges (more would repeat a vertex, and the cycle so formed has non-negative weight and can be removed). Each pass propagates correct distances one more edge along every path, so </a:t>
            </a:r>
            <a:r>
              <a:rPr sz="2200" b="0" i="0">
                <a:solidFill>
                  <a:srgbClr val="1C252B"/>
                </a:solidFill>
                <a:latin typeface="Cambria"/>
              </a:rPr>
              <a:t>|</a:t>
            </a:r>
            <a:r>
              <a:rPr sz="2200" b="0" i="1">
                <a:solidFill>
                  <a:srgbClr val="1C252B"/>
                </a:solidFill>
                <a:latin typeface="Cambria"/>
              </a:rPr>
              <a:t>V</a:t>
            </a:r>
            <a:r>
              <a:rPr sz="2200" b="0" i="0">
                <a:solidFill>
                  <a:srgbClr val="1C252B"/>
                </a:solidFill>
                <a:latin typeface="Cambria"/>
              </a:rPr>
              <a:t>|−1</a:t>
            </a:r>
            <a:r>
              <a:rPr sz="2200" b="0" i="0">
                <a:solidFill>
                  <a:srgbClr val="1C252B"/>
                </a:solidFill>
                <a:latin typeface="Segoe UI"/>
              </a:rPr>
              <a:t> passes suffice. </a:t>
            </a:r>
            <a:r>
              <a:rPr sz="2200" b="1" i="0">
                <a:solidFill>
                  <a:srgbClr val="1C252B"/>
                </a:solidFill>
                <a:latin typeface="Segoe UI"/>
              </a:rPr>
              <a:t>The </a:t>
            </a:r>
            <a:r>
              <a:rPr sz="2200" b="1" i="0">
                <a:solidFill>
                  <a:srgbClr val="1C252B"/>
                </a:solidFill>
                <a:latin typeface="Cambria"/>
              </a:rPr>
              <a:t>|</a:t>
            </a:r>
            <a:r>
              <a:rPr sz="2200" b="1" i="1">
                <a:solidFill>
                  <a:srgbClr val="1C252B"/>
                </a:solidFill>
                <a:latin typeface="Cambria"/>
              </a:rPr>
              <a:t>V</a:t>
            </a:r>
            <a:r>
              <a:rPr sz="2200" b="1" i="0">
                <a:solidFill>
                  <a:srgbClr val="1C252B"/>
                </a:solidFill>
                <a:latin typeface="Cambria"/>
              </a:rPr>
              <a:t>|</a:t>
            </a:r>
            <a:r>
              <a:rPr sz="2200" b="1" i="0">
                <a:solidFill>
                  <a:srgbClr val="1C252B"/>
                </a:solidFill>
                <a:latin typeface="Segoe UI"/>
              </a:rPr>
              <a:t>-th pass detects a negative cycle</a:t>
            </a:r>
            <a:r>
              <a:rPr sz="2200" b="0" i="0">
                <a:solidFill>
                  <a:srgbClr val="1C252B"/>
                </a:solidFill>
                <a:latin typeface="Segoe UI"/>
              </a:rPr>
              <a:t>: if any distance still improves, some path is using </a:t>
            </a:r>
            <a:r>
              <a:rPr sz="2200" b="0" i="0">
                <a:solidFill>
                  <a:srgbClr val="1C252B"/>
                </a:solidFill>
                <a:latin typeface="Cambria"/>
              </a:rPr>
              <a:t>|</a:t>
            </a:r>
            <a:r>
              <a:rPr sz="2200" b="0" i="1">
                <a:solidFill>
                  <a:srgbClr val="1C252B"/>
                </a:solidFill>
                <a:latin typeface="Cambria"/>
              </a:rPr>
              <a:t>V</a:t>
            </a:r>
            <a:r>
              <a:rPr sz="2200" b="0" i="0">
                <a:solidFill>
                  <a:srgbClr val="1C252B"/>
                </a:solidFill>
                <a:latin typeface="Cambria"/>
              </a:rPr>
              <a:t>|</a:t>
            </a:r>
            <a:r>
              <a:rPr sz="2200" b="0" i="0">
                <a:solidFill>
                  <a:srgbClr val="1C252B"/>
                </a:solidFill>
                <a:latin typeface="Segoe UI"/>
              </a:rPr>
              <a:t> or more edges and still getting shorter, which only a negative cycle permits.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  answers in Appendix D     </a:t>
            </a:r>
            <a:fld id="{63169667-AD02-4B48-A406-9BB86089F986}" type="slidenum">
              <a:rPr lang="en-GB" sz="1000">
                <a:solidFill>
                  <a:srgbClr val="8795A1"/>
                </a:solidFill>
                <a:latin typeface="Segoe UI"/>
              </a:rPr>
              <a:t>46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8551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Measured, Bellman–Ford matched Dijkstra on random graphs and was 789</a:t>
            </a:r>
            <a:r>
              <a:rPr sz="3400" b="0" i="0">
                <a:solidFill>
                  <a:srgbClr val="FFFFFF"/>
                </a:solidFill>
                <a:latin typeface="Cambria"/>
              </a:rPr>
              <a:t>×</a:t>
            </a:r>
            <a:r>
              <a:rPr sz="3400" b="0" i="0">
                <a:solidFill>
                  <a:srgbClr val="FFFFFF"/>
                </a:solidFill>
                <a:latin typeface="Segoe UI Semibold"/>
              </a:rPr>
              <a:t> slower on a path. What does this say about the value of a worst-case bound?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20  ·  Shortest Paths: Single-Source and All-Pairs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172  ·  answers in Appendix D     </a:t>
            </a:r>
            <a:fld id="{36FF2452-2924-405B-AB17-1F42A004E2A9}"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Measured, Bellman–Ford matched Dijkstra on random graphs and was 789</a:t>
            </a:r>
            <a:r>
              <a:rPr sz="2400" b="0" i="0">
                <a:solidFill>
                  <a:srgbClr val="1A5276"/>
                </a:solidFill>
                <a:latin typeface="Cambria"/>
              </a:rPr>
              <a:t>×</a:t>
            </a:r>
            <a:r>
              <a:rPr sz="2400" b="0" i="0">
                <a:solidFill>
                  <a:srgbClr val="1A5276"/>
                </a:solidFill>
                <a:latin typeface="Segoe UI Semibold"/>
              </a:rPr>
              <a:t> slower on a path. What does this say about the value of a worst-case bound?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a worst-case bound describes the worst case and not the typical one, and that both facts matter. Bellman–Ford’s </a:t>
            </a:r>
            <a:r>
              <a:rPr sz="2200" b="0" i="0">
                <a:solidFill>
                  <a:srgbClr val="1C252B"/>
                </a:solidFill>
                <a:latin typeface="Cambria"/>
              </a:rPr>
              <a:t>O(|</a:t>
            </a:r>
            <a:r>
              <a:rPr sz="2200" b="0" i="1">
                <a:solidFill>
                  <a:srgbClr val="1C252B"/>
                </a:solidFill>
                <a:latin typeface="Cambria"/>
              </a:rPr>
              <a:t>V</a:t>
            </a:r>
            <a:r>
              <a:rPr sz="2200" b="0" i="0">
                <a:solidFill>
                  <a:srgbClr val="1C252B"/>
                </a:solidFill>
                <a:latin typeface="Cambria"/>
              </a:rPr>
              <a:t>||</a:t>
            </a:r>
            <a:r>
              <a:rPr sz="2200" b="0" i="1">
                <a:solidFill>
                  <a:srgbClr val="1C252B"/>
                </a:solidFill>
                <a:latin typeface="Cambria"/>
              </a:rPr>
              <a:t>E</a:t>
            </a:r>
            <a:r>
              <a:rPr sz="2200" b="0" i="0">
                <a:solidFill>
                  <a:srgbClr val="1C252B"/>
                </a:solidFill>
                <a:latin typeface="Cambria"/>
              </a:rPr>
              <a:t>|)</a:t>
            </a:r>
            <a:r>
              <a:rPr sz="2200" b="0" i="0">
                <a:solidFill>
                  <a:srgbClr val="1C252B"/>
                </a:solidFill>
                <a:latin typeface="Segoe UI"/>
              </a:rPr>
              <a:t> is real — the path graph attained it, 789</a:t>
            </a:r>
            <a:r>
              <a:rPr sz="2200" b="0" i="0">
                <a:solidFill>
                  <a:srgbClr val="1C252B"/>
                </a:solidFill>
                <a:latin typeface="Cambria"/>
              </a:rPr>
              <a:t>×</a:t>
            </a:r>
            <a:r>
              <a:rPr sz="2200" b="0" i="0">
                <a:solidFill>
                  <a:srgbClr val="1C252B"/>
                </a:solidFill>
                <a:latin typeface="Segoe UI"/>
              </a:rPr>
              <a:t> slower than Dijkstra — and on random graphs the early exit made it indistinguishable. A benchmark on random inputs alone would have reported them equal; the bound is what told us to go looking for the input where they are not.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  answers in Appendix D     </a:t>
            </a:r>
            <a:fld id="{9A531EE7-F020-476D-AC02-A1B0E0426DF4}" type="slidenum">
              <a:rPr lang="en-GB" sz="1000">
                <a:solidFill>
                  <a:srgbClr val="8795A1"/>
                </a:solidFill>
                <a:latin typeface="Segoe UI"/>
              </a:rPr>
              <a:t>48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6B3E06C6-9AE3-4D81-8175-2CDAFCE37781}" type="slidenum">
              <a:rPr lang="en-GB" sz="1000">
                <a:solidFill>
                  <a:srgbClr val="8795A1"/>
                </a:solidFill>
                <a:latin typeface="Segoe UI"/>
              </a:rPr>
              <a:t>49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All three algorithms do nothing but relax edges; they differ only in the order, and the order is what costs or saves.</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Dijkstra is greedy: the extracted minimum is declared final. The proof uses non-negativity at exactly one step — that extending a path cannot make it cheaper.</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 binary heap beat an unsorted array at every density tested, including half of complete. The array’s flat 47–63 ms is </a:t>
            </a:r>
            <a:r>
              <a:rPr sz="1700" b="0" i="0">
                <a:solidFill>
                  <a:srgbClr val="1C252B"/>
                </a:solidFill>
                <a:latin typeface="Cambria"/>
              </a:rPr>
              <a:t>O(|</a:t>
            </a:r>
            <a:r>
              <a:rPr sz="1700" b="0" i="1">
                <a:solidFill>
                  <a:srgbClr val="1C252B"/>
                </a:solidFill>
                <a:latin typeface="Cambria"/>
              </a:rPr>
              <a:t>V</a:t>
            </a:r>
            <a:r>
              <a:rPr sz="1700" b="0" i="0">
                <a:solidFill>
                  <a:srgbClr val="1C252B"/>
                </a:solidFill>
                <a:latin typeface="Cambria"/>
              </a:rPr>
              <a:t>|</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visible; the textbook crossover did not arrive.</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Bellman–Ford is </a:t>
            </a:r>
            <a:r>
              <a:rPr sz="1700" b="0" i="0">
                <a:solidFill>
                  <a:srgbClr val="1C252B"/>
                </a:solidFill>
                <a:latin typeface="Cambria"/>
              </a:rPr>
              <a:t>O(|</a:t>
            </a:r>
            <a:r>
              <a:rPr sz="1700" b="0" i="1">
                <a:solidFill>
                  <a:srgbClr val="1C252B"/>
                </a:solidFill>
                <a:latin typeface="Cambria"/>
              </a:rPr>
              <a:t>V</a:t>
            </a:r>
            <a:r>
              <a:rPr sz="1700" b="0" i="0">
                <a:solidFill>
                  <a:srgbClr val="1C252B"/>
                </a:solidFill>
                <a:latin typeface="Cambria"/>
              </a:rPr>
              <a:t>||</a:t>
            </a:r>
            <a:r>
              <a:rPr sz="1700" b="0" i="1">
                <a:solidFill>
                  <a:srgbClr val="1C252B"/>
                </a:solidFill>
                <a:latin typeface="Cambria"/>
              </a:rPr>
              <a:t>E</a:t>
            </a:r>
            <a:r>
              <a:rPr sz="1700" b="0" i="0">
                <a:solidFill>
                  <a:srgbClr val="1C252B"/>
                </a:solidFill>
                <a:latin typeface="Cambria"/>
              </a:rPr>
              <a:t>|)</a:t>
            </a:r>
            <a:r>
              <a:rPr sz="1700" b="0" i="0">
                <a:solidFill>
                  <a:srgbClr val="1C252B"/>
                </a:solidFill>
                <a:latin typeface="Segoe UI"/>
              </a:rPr>
              <a:t>, handles negative edges, and is the only one of the three that can detect a negative cycle.</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with early termination it matched Dijkstra on random graphs, and was 789</a:t>
            </a:r>
            <a:r>
              <a:rPr sz="1700" b="0" i="0">
                <a:solidFill>
                  <a:srgbClr val="1C252B"/>
                </a:solidFill>
                <a:latin typeface="Cambria"/>
              </a:rPr>
              <a:t>×</a:t>
            </a:r>
            <a:r>
              <a:rPr sz="1700" b="0" i="0">
                <a:solidFill>
                  <a:srgbClr val="1C252B"/>
                </a:solidFill>
                <a:latin typeface="Segoe UI"/>
              </a:rPr>
              <a:t> slower on a path that forces all </a:t>
            </a:r>
            <a:r>
              <a:rPr sz="1700" b="0" i="0">
                <a:solidFill>
                  <a:srgbClr val="1C252B"/>
                </a:solidFill>
                <a:latin typeface="Cambria"/>
              </a:rPr>
              <a:t>|</a:t>
            </a:r>
            <a:r>
              <a:rPr sz="1700" b="0" i="1">
                <a:solidFill>
                  <a:srgbClr val="1C252B"/>
                </a:solidFill>
                <a:latin typeface="Cambria"/>
              </a:rPr>
              <a:t>V</a:t>
            </a:r>
            <a:r>
              <a:rPr sz="1700" b="0" i="0">
                <a:solidFill>
                  <a:srgbClr val="1C252B"/>
                </a:solidFill>
                <a:latin typeface="Cambria"/>
              </a:rPr>
              <a:t>|−1</a:t>
            </a:r>
            <a:r>
              <a:rPr sz="1700" b="0" i="0">
                <a:solidFill>
                  <a:srgbClr val="1C252B"/>
                </a:solidFill>
                <a:latin typeface="Segoe UI"/>
              </a:rPr>
              <a:t> passes. Benchmarking only on random inputs would have missed this entirely.</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array Dijkstra returned </a:t>
            </a:r>
            <a:r>
              <a:rPr sz="1700" b="0" i="1">
                <a:solidFill>
                  <a:srgbClr val="1C252B"/>
                </a:solidFill>
                <a:latin typeface="Cambria"/>
              </a:rPr>
              <a:t>d</a:t>
            </a:r>
            <a:r>
              <a:rPr sz="1700" b="0" i="0">
                <a:solidFill>
                  <a:srgbClr val="1C252B"/>
                </a:solidFill>
                <a:latin typeface="Cambria"/>
              </a:rPr>
              <a:t>(3) = 4</a:t>
            </a:r>
            <a:r>
              <a:rPr sz="1700" b="0" i="0">
                <a:solidFill>
                  <a:srgbClr val="1C252B"/>
                </a:solidFill>
                <a:latin typeface="Segoe UI"/>
              </a:rPr>
              <a:t> where the answer is 3, on a four-vertex graph with one negative edge — and the error was visible only because it had propagated.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6283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CB55CDB4-1A1F-4510-9EEA-58A72D8D66BC}" type="slidenum">
              <a:rPr lang="en-GB" sz="1000">
                <a:solidFill>
                  <a:srgbClr val="8795A1"/>
                </a:solidFill>
                <a:latin typeface="Segoe UI"/>
              </a:rPr>
              <a:t>50</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Floyd–Warshall is </a:t>
            </a:r>
            <a:r>
              <a:rPr sz="1700" b="0" i="0">
                <a:solidFill>
                  <a:srgbClr val="1C252B"/>
                </a:solidFill>
                <a:latin typeface="Cambria"/>
              </a:rPr>
              <a:t>Θ(|</a:t>
            </a:r>
            <a:r>
              <a:rPr sz="1700" b="0" i="1">
                <a:solidFill>
                  <a:srgbClr val="1C252B"/>
                </a:solidFill>
                <a:latin typeface="Cambria"/>
              </a:rPr>
              <a:t>V</a:t>
            </a:r>
            <a:r>
              <a:rPr sz="1700" b="0" i="0">
                <a:solidFill>
                  <a:srgbClr val="1C252B"/>
                </a:solidFill>
                <a:latin typeface="Cambria"/>
              </a:rPr>
              <a:t>|</a:t>
            </a:r>
            <a:r>
              <a:rPr sz="1100" b="0" i="0" baseline="30000">
                <a:solidFill>
                  <a:srgbClr val="1C252B"/>
                </a:solidFill>
                <a:latin typeface="Cambria"/>
              </a:rPr>
              <a:t>3</a:t>
            </a:r>
            <a:r>
              <a:rPr sz="1700" b="0" i="0">
                <a:solidFill>
                  <a:srgbClr val="1C252B"/>
                </a:solidFill>
                <a:latin typeface="Cambria"/>
              </a:rPr>
              <a:t>)</a:t>
            </a:r>
            <a:r>
              <a:rPr sz="1700" b="0" i="0">
                <a:solidFill>
                  <a:srgbClr val="1C252B"/>
                </a:solidFill>
                <a:latin typeface="Segoe UI"/>
              </a:rPr>
              <a:t> with a tiny constant; </a:t>
            </a:r>
            <a:r>
              <a:rPr sz="1700" b="0" i="1">
                <a:solidFill>
                  <a:srgbClr val="1C252B"/>
                </a:solidFill>
                <a:latin typeface="Cambria"/>
              </a:rPr>
              <a:t>k</a:t>
            </a:r>
            <a:r>
              <a:rPr sz="1700" b="0" i="0">
                <a:solidFill>
                  <a:srgbClr val="1C252B"/>
                </a:solidFill>
                <a:latin typeface="Segoe UI"/>
              </a:rPr>
              <a:t> must be the outermost loop because it indexes the subproblem. Measured, it beat </a:t>
            </a:r>
            <a:r>
              <a:rPr sz="1700" b="0" i="0">
                <a:solidFill>
                  <a:srgbClr val="1C252B"/>
                </a:solidFill>
                <a:latin typeface="Cambria"/>
              </a:rPr>
              <a:t>|</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 runs of Dijkstra above a density of about 0.1.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2886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44AC50DC-26DE-41A6-8AD4-7F7C637FC304}"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Dijkstra’s algorithm requires: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connected graph</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non-negative edge weights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acyclic graph</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integer weights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9919B938-B801-478C-B787-E36BAB7FAF26}" type="slidenum">
              <a:rPr lang="en-GB" sz="1000">
                <a:solidFill>
                  <a:srgbClr val="8795A1"/>
                </a:solidFill>
                <a:latin typeface="Segoe UI"/>
              </a:rPr>
              <a:t>52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Floyd–Warshall runs in: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V</a:t>
            </a:r>
            <a:r>
              <a:rPr sz="1300" b="0" i="0" baseline="30000">
                <a:solidFill>
                  <a:srgbClr val="1C252B"/>
                </a:solidFill>
                <a:latin typeface="Cambria"/>
              </a:rPr>
              <a:t>2</a:t>
            </a:r>
            <a:r>
              <a:rPr sz="2000" b="0" i="0">
                <a:solidFill>
                  <a:srgbClr val="1C252B"/>
                </a:solidFill>
                <a:latin typeface="Cambria"/>
              </a:rPr>
              <a:t>)</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VE</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V</a:t>
            </a:r>
            <a:r>
              <a:rPr sz="1300" b="0" i="0" baseline="30000">
                <a:solidFill>
                  <a:srgbClr val="1C252B"/>
                </a:solidFill>
                <a:latin typeface="Cambria"/>
              </a:rPr>
              <a:t>3</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E</a:t>
            </a:r>
            <a:r>
              <a:rPr sz="2000" b="0" i="0">
                <a:solidFill>
                  <a:srgbClr val="1C252B"/>
                </a:solidFill>
                <a:latin typeface="Cambria"/>
              </a:rPr>
              <a:t> lg </a:t>
            </a:r>
            <a:r>
              <a:rPr sz="2000" b="0" i="1">
                <a:solidFill>
                  <a:srgbClr val="1C252B"/>
                </a:solidFill>
                <a:latin typeface="Cambria"/>
              </a:rPr>
              <a:t>V</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01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20  ·  Shortest Paths: Single-Source and All-Pairs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9E906508-E84C-410C-BED7-99D31AF28628}" type="slidenum">
              <a:rPr lang="en-GB" sz="1000">
                <a:solidFill>
                  <a:srgbClr val="8795A1"/>
                </a:solidFill>
                <a:latin typeface="Segoe UI"/>
              </a:rPr>
              <a:t>53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relaxation operation and explain why all three algorithms are built from it </a:t>
            </a:r>
            <a:r>
              <a:rPr sz="1900" b="0" i="1">
                <a:solidFill>
                  <a:srgbClr val="1C252B"/>
                </a:solidFill>
                <a:latin typeface="Segoe UI"/>
              </a:rPr>
              <a:t>(CLO-7)</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 four-vertex graph on which Dijkstra fails, and explain why a three-vertex one will not do.</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a:t>
            </a:r>
            <a:r>
              <a:rPr sz="1900" b="0" i="1">
                <a:solidFill>
                  <a:srgbClr val="1C252B"/>
                </a:solidFill>
                <a:latin typeface="Cambria"/>
              </a:rPr>
              <a:t>k</a:t>
            </a:r>
            <a:r>
              <a:rPr sz="1900" b="0" i="0">
                <a:solidFill>
                  <a:srgbClr val="1C252B"/>
                </a:solidFill>
                <a:latin typeface="Segoe UI"/>
              </a:rPr>
              <a:t> be the outermost loop in Floyd–Warshall?</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Prove that if a graph has no negative cycle, some shortest path between any two vertices uses at most </a:t>
            </a: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|−1</a:t>
            </a:r>
            <a:r>
              <a:rPr sz="1900" b="0" i="0">
                <a:solidFill>
                  <a:srgbClr val="1C252B"/>
                </a:solidFill>
                <a:latin typeface="Segoe UI"/>
              </a:rPr>
              <a:t> edges, and explain how Bellman–Ford’s final pass uses this.</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routing system has 2,000 nodes, 8,000 links, needs all-pairs distances, and some link costs are negative subsidies. Choose an algorithm, give the arithmetic from this chapter’s measurements, and state what you would check about the input first.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659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20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21 — String Matching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20, pages 162–172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Dijkstra with and without a priority queue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20  ·  Shortest Paths: Single-Source and All-Pairs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48EBB53E-FA61-448A-A02B-4FE98D35C732}" type="slidenum">
              <a:rPr lang="en-GB" sz="1000">
                <a:solidFill>
                  <a:srgbClr val="D5DEE5"/>
                </a:solidFill>
                <a:latin typeface="Segoe UI"/>
              </a:rPr>
              <a:t>54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Shortest Paths: Single-Source and All-Pairs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