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4.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DE1C63-9679-48A5-B103-B9788C4A110D}">
          <p14:sldIdLst>
            <p14:sldId id="256"/>
            <p14:sldId id="257"/>
            <p14:sldId id="258"/>
            <p14:sldId id="259"/>
            <p14:sldId id="260"/>
          </p14:sldIdLst>
        </p14:section>
        <p14:section name="23.1 What the Project Is" id="{32DD7728-ECCE-4F69-AE0D-3FB4EB186216}">
          <p14:sldIdLst>
            <p14:sldId id="261"/>
            <p14:sldId id="262"/>
            <p14:sldId id="263"/>
          </p14:sldIdLst>
        </p14:section>
        <p14:section name="23.2 Choosing" id="{87FC69CA-B086-4786-AA1D-859DB62706CB}">
          <p14:sldIdLst>
            <p14:sldId id="264"/>
            <p14:sldId id="265"/>
            <p14:sldId id="266"/>
          </p14:sldIdLst>
        </p14:section>
        <p14:section name="23.3 The Method, Collected" id="{ED7A4633-47AD-4E50-A97E-EBC7F16FAC27}">
          <p14:sldIdLst>
            <p14:sldId id="267"/>
            <p14:sldId id="268"/>
            <p14:sldId id="269"/>
            <p14:sldId id="270"/>
            <p14:sldId id="271"/>
            <p14:sldId id="272"/>
            <p14:sldId id="273"/>
          </p14:sldIdLst>
        </p14:section>
        <p14:section name="23.4 The Report" id="{D0FA9268-A2F5-4674-B2D4-61DE57126F5F}">
          <p14:sldIdLst>
            <p14:sldId id="274"/>
            <p14:sldId id="275"/>
            <p14:sldId id="276"/>
            <p14:sldId id="277"/>
          </p14:sldIdLst>
        </p14:section>
        <p14:section name="23.5 The Defence" id="{87FFADD3-F870-42AD-B09B-E6F1E89762D7}">
          <p14:sldIdLst>
            <p14:sldId id="278"/>
            <p14:sldId id="279"/>
            <p14:sldId id="280"/>
          </p14:sldIdLst>
        </p14:section>
        <p14:section name="Pitfalls" id="{58A55D72-27C5-46CF-B7F4-12B2AD98B38C}">
          <p14:sldIdLst>
            <p14:sldId id="281"/>
            <p14:sldId id="282"/>
          </p14:sldIdLst>
        </p14:section>
        <p14:section name="Lab" id="{F3C1BAA3-9F45-448F-B924-821CC479B376}">
          <p14:sldIdLst>
            <p14:sldId id="283"/>
            <p14:sldId id="284"/>
            <p14:sldId id="285"/>
            <p14:sldId id="286"/>
            <p14:sldId id="287"/>
            <p14:sldId id="288"/>
            <p14:sldId id="289"/>
            <p14:sldId id="290"/>
            <p14:sldId id="291"/>
            <p14:sldId id="292"/>
          </p14:sldIdLst>
        </p14:section>
        <p14:section name="Checkpoint" id="{95208D96-9A9B-47E8-92F0-C897C9FF8A18}">
          <p14:sldIdLst>
            <p14:sldId id="293"/>
            <p14:sldId id="294"/>
            <p14:sldId id="295"/>
            <p14:sldId id="296"/>
            <p14:sldId id="297"/>
            <p14:sldId id="298"/>
          </p14:sldIdLst>
        </p14:section>
        <p14:section name="Wrap-up" id="{7051FB82-F412-46F3-9051-F00D5EA6E014}">
          <p14:sldIdLst>
            <p14:sldId id="299"/>
            <p14:sldId id="300"/>
            <p14:sldId id="301"/>
            <p14:sldId id="302"/>
            <p14:sldId id="303"/>
            <p14:sldId id="30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23: The Semester Project. Part 6 — Strings, Limits and Practice. Week 16: The semester project. Handout pages 189–196.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All of it. The project is where the three strands of this course — analysis, proof and measurement — are used together on a problem nobody has worked out for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hypothesis; measurement harness; oracle; input shape; crossover; reproducibility; confound; negative result; defence.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measurement harness. Copy it, replace the two algorithms in part 3, and it produces the tables your report needs.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Timing: median, and honest about its own limits.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input shapes that catch things.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thing under test, and the thing it is checked against.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Correctness first, timing second.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Gate: do not report timings for a wrong algorithm.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The table: every shape, every size, with ratios.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The ratios, which is what the claim rests 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For example: “The best insertion-sort cutoff for 64-byte records is larger than the best cutoff for 4-byte integers, on the same machine.” It predicts a direction, it names the quantity to measure, and the result “it is smaller” or “there is no difference” would refute it. Compare with “I will compare sorting algorithms”, which no measurement could contradict.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Your noise level and your clock resolution. If repeated runs of the same measurement vary by ± 15%, then 3.6–4.4 is consistent with 4 and the answer is yes. If they vary by ± 1%, a spread of 3.6 to 4.4 is a real effect and something else is going on. Also check that the smallest time is well above the clock resolution. A ratio without a noise estimate is not evidence either way.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For example: (a) uniformly random keys, probing the ideal case the analysis assumes; (b) keys with a fixed stride, such as multiples of 64, probing whether the hash uses the whole key — Chapter 13 measured 31 probes instead of 1.5 here; (c) keys deliberately chosen to collide under your hash, probing the adversarial worst case. Several other answers are good: a realistic sample of your own data is often the most informative of all.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23 chapters  ·  six parts  ·  one project. READ: Handout Chapter 23, pages 189–196. THIS WEEK'S LAB: Implement, measure, defend. ASSESSMENT: Project due; Final (Ch 1–22).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9.xml"/><Relationship Id="rId9" Type="http://schemas.openxmlformats.org/officeDocument/2006/relationships/slide" Target="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5.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8.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9.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0.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3.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5.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26.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27.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8.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9.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2.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5.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6.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7.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8.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9.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40.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41.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4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43.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8.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9.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0.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1.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4.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7.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8.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Semester Project</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STRINGS, LIMITS AND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23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7D81A7C9-025A-4500-9F50-6B11483DA4C1}"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69257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69257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533777"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533777"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83260" y="1755648"/>
            <a:ext cx="1275747"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83260" y="2029967"/>
            <a:ext cx="1275747"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5780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59663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50728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4158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789900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78075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56766"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8653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348487"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2570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01452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992308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406249"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31480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0807114"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080711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The Semester Project</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49762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ECAC5A18-1E5E-4075-ACFE-40353DB3293C}"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Choose</a:t>
            </a:r>
            <a:r>
              <a:rPr sz="2100" b="0" i="0">
                <a:solidFill>
                  <a:srgbClr val="1C252B"/>
                </a:solidFill>
                <a:latin typeface="Segoe UI"/>
              </a:rPr>
              <a:t> a project whose claim can be settled by measurement.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Design</a:t>
            </a:r>
            <a:r>
              <a:rPr sz="2100" b="0" i="0">
                <a:solidFill>
                  <a:srgbClr val="1C252B"/>
                </a:solidFill>
                <a:latin typeface="Segoe UI"/>
              </a:rPr>
              <a:t> an experiment that tests an order of growth rather than a machine.</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19856"/>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Build</a:t>
            </a:r>
            <a:r>
              <a:rPr sz="2100" b="0" i="0">
                <a:solidFill>
                  <a:srgbClr val="1C252B"/>
                </a:solidFill>
                <a:latin typeface="Segoe UI"/>
              </a:rPr>
              <a:t> a measurement harness with a correctness oracle, median timing and multiple input shapes.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Report</a:t>
            </a:r>
            <a:r>
              <a:rPr sz="2100" b="0" i="0">
                <a:solidFill>
                  <a:srgbClr val="1C252B"/>
                </a:solidFill>
                <a:latin typeface="Segoe UI"/>
              </a:rPr>
              <a:t> results so that a reader can check them, including the ones that did not come out as predicted.</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Defend</a:t>
            </a:r>
            <a:r>
              <a:rPr sz="2100" b="0" i="0">
                <a:solidFill>
                  <a:srgbClr val="1C252B"/>
                </a:solidFill>
                <a:latin typeface="Segoe UI"/>
              </a:rPr>
              <a:t> your analysis orally against questions about method.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4643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189     </a:t>
            </a:r>
            <a:fld id="{29B6683F-408F-4FE0-8167-367E6B125D76}" type="slidenum">
              <a:rPr lang="en-GB" sz="1000">
                <a:solidFill>
                  <a:srgbClr val="8795A1"/>
                </a:solidFill>
                <a:latin typeface="Segoe UI"/>
              </a:rPr>
              <a:t>4</a:t>
            </a:fld>
          </a:p>
        </p:txBody>
      </p:sp>
      <p:sp>
        <p:nvSpPr>
          <p:cNvPr id="7" name="!!term-hypothesis">
            <a:extLst>
              <a:ext uri="{C183D7F6-B498-43B3-948B-1728B52AA6E4}">
                <adec:decorative xmlns:adec="http://schemas.microsoft.com/office/drawing/2017/decorative" val="1"/>
              </a:ext>
            </a:extLst>
          </p:cNvPr>
          <p:cNvSpPr/>
          <p:nvPr/>
        </p:nvSpPr>
        <p:spPr>
          <a:xfrm>
            <a:off x="658368" y="1847088"/>
            <a:ext cx="148318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hypothesis">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hypothesis"/>
          <p:cNvSpPr txBox="1"/>
          <p:nvPr/>
        </p:nvSpPr>
        <p:spPr>
          <a:xfrm>
            <a:off x="950976" y="1955291"/>
            <a:ext cx="130030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hypothesis</a:t>
            </a:r>
          </a:p>
        </p:txBody>
      </p:sp>
      <p:sp>
        <p:nvSpPr>
          <p:cNvPr id="10" name="!!term-measurement ha">
            <a:extLst>
              <a:ext uri="{C183D7F6-B498-43B3-948B-1728B52AA6E4}">
                <adec:decorative xmlns:adec="http://schemas.microsoft.com/office/drawing/2017/decorative" val="1"/>
              </a:ext>
            </a:extLst>
          </p:cNvPr>
          <p:cNvSpPr/>
          <p:nvPr/>
        </p:nvSpPr>
        <p:spPr>
          <a:xfrm>
            <a:off x="2287857" y="1847088"/>
            <a:ext cx="25699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measurement ha">
            <a:extLst>
              <a:ext uri="{C183D7F6-B498-43B3-948B-1728B52AA6E4}">
                <adec:decorative xmlns:adec="http://schemas.microsoft.com/office/drawing/2017/decorative" val="1"/>
              </a:ext>
            </a:extLst>
          </p:cNvPr>
          <p:cNvSpPr/>
          <p:nvPr/>
        </p:nvSpPr>
        <p:spPr>
          <a:xfrm>
            <a:off x="241587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measurement ha"/>
          <p:cNvSpPr txBox="1"/>
          <p:nvPr/>
        </p:nvSpPr>
        <p:spPr>
          <a:xfrm>
            <a:off x="2580465" y="1955291"/>
            <a:ext cx="238702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measurement harness</a:t>
            </a:r>
          </a:p>
        </p:txBody>
      </p:sp>
      <p:sp>
        <p:nvSpPr>
          <p:cNvPr id="13" name="!!term-oracle">
            <a:extLst>
              <a:ext uri="{C183D7F6-B498-43B3-948B-1728B52AA6E4}">
                <adec:decorative xmlns:adec="http://schemas.microsoft.com/office/drawing/2017/decorative" val="1"/>
              </a:ext>
            </a:extLst>
          </p:cNvPr>
          <p:cNvSpPr/>
          <p:nvPr/>
        </p:nvSpPr>
        <p:spPr>
          <a:xfrm>
            <a:off x="5004071" y="1847088"/>
            <a:ext cx="10268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oracle">
            <a:extLst>
              <a:ext uri="{C183D7F6-B498-43B3-948B-1728B52AA6E4}">
                <adec:decorative xmlns:adec="http://schemas.microsoft.com/office/drawing/2017/decorative" val="1"/>
              </a:ext>
            </a:extLst>
          </p:cNvPr>
          <p:cNvSpPr/>
          <p:nvPr/>
        </p:nvSpPr>
        <p:spPr>
          <a:xfrm>
            <a:off x="513208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oracle"/>
          <p:cNvSpPr txBox="1"/>
          <p:nvPr/>
        </p:nvSpPr>
        <p:spPr>
          <a:xfrm>
            <a:off x="5296679" y="1955291"/>
            <a:ext cx="84401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oracle</a:t>
            </a:r>
          </a:p>
        </p:txBody>
      </p:sp>
      <p:sp>
        <p:nvSpPr>
          <p:cNvPr id="16" name="!!term-input shape">
            <a:extLst>
              <a:ext uri="{C183D7F6-B498-43B3-948B-1728B52AA6E4}">
                <adec:decorative xmlns:adec="http://schemas.microsoft.com/office/drawing/2017/decorative" val="1"/>
              </a:ext>
            </a:extLst>
          </p:cNvPr>
          <p:cNvSpPr/>
          <p:nvPr/>
        </p:nvSpPr>
        <p:spPr>
          <a:xfrm>
            <a:off x="6177269" y="1847088"/>
            <a:ext cx="15807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input shape">
            <a:extLst>
              <a:ext uri="{C183D7F6-B498-43B3-948B-1728B52AA6E4}">
                <adec:decorative xmlns:adec="http://schemas.microsoft.com/office/drawing/2017/decorative" val="1"/>
              </a:ext>
            </a:extLst>
          </p:cNvPr>
          <p:cNvSpPr/>
          <p:nvPr/>
        </p:nvSpPr>
        <p:spPr>
          <a:xfrm>
            <a:off x="630528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input shape"/>
          <p:cNvSpPr txBox="1"/>
          <p:nvPr/>
        </p:nvSpPr>
        <p:spPr>
          <a:xfrm>
            <a:off x="6469877" y="1955291"/>
            <a:ext cx="139786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input shape</a:t>
            </a:r>
          </a:p>
        </p:txBody>
      </p:sp>
      <p:sp>
        <p:nvSpPr>
          <p:cNvPr id="19" name="!!term-crossover">
            <a:extLst>
              <a:ext uri="{C183D7F6-B498-43B3-948B-1728B52AA6E4}">
                <adec:decorative xmlns:adec="http://schemas.microsoft.com/office/drawing/2017/decorative" val="1"/>
              </a:ext>
            </a:extLst>
          </p:cNvPr>
          <p:cNvSpPr/>
          <p:nvPr/>
        </p:nvSpPr>
        <p:spPr>
          <a:xfrm>
            <a:off x="7904316" y="1847088"/>
            <a:ext cx="13593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crossover">
            <a:extLst>
              <a:ext uri="{C183D7F6-B498-43B3-948B-1728B52AA6E4}">
                <adec:decorative xmlns:adec="http://schemas.microsoft.com/office/drawing/2017/decorative" val="1"/>
              </a:ext>
            </a:extLst>
          </p:cNvPr>
          <p:cNvSpPr/>
          <p:nvPr/>
        </p:nvSpPr>
        <p:spPr>
          <a:xfrm>
            <a:off x="803233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crossover"/>
          <p:cNvSpPr txBox="1"/>
          <p:nvPr/>
        </p:nvSpPr>
        <p:spPr>
          <a:xfrm>
            <a:off x="8196924" y="1955291"/>
            <a:ext cx="117647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crossover</a:t>
            </a:r>
          </a:p>
        </p:txBody>
      </p:sp>
      <p:sp>
        <p:nvSpPr>
          <p:cNvPr id="22" name="!!term-reproducibilit">
            <a:extLst>
              <a:ext uri="{C183D7F6-B498-43B3-948B-1728B52AA6E4}">
                <adec:decorative xmlns:adec="http://schemas.microsoft.com/office/drawing/2017/decorative" val="1"/>
              </a:ext>
            </a:extLst>
          </p:cNvPr>
          <p:cNvSpPr/>
          <p:nvPr/>
        </p:nvSpPr>
        <p:spPr>
          <a:xfrm>
            <a:off x="9409977" y="1847088"/>
            <a:ext cx="18457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reproducibilit">
            <a:extLst>
              <a:ext uri="{C183D7F6-B498-43B3-948B-1728B52AA6E4}">
                <adec:decorative xmlns:adec="http://schemas.microsoft.com/office/drawing/2017/decorative" val="1"/>
              </a:ext>
            </a:extLst>
          </p:cNvPr>
          <p:cNvSpPr/>
          <p:nvPr/>
        </p:nvSpPr>
        <p:spPr>
          <a:xfrm>
            <a:off x="95379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reproducibilit"/>
          <p:cNvSpPr txBox="1"/>
          <p:nvPr/>
        </p:nvSpPr>
        <p:spPr>
          <a:xfrm>
            <a:off x="9702585" y="1955291"/>
            <a:ext cx="16629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reproducibility</a:t>
            </a:r>
          </a:p>
        </p:txBody>
      </p:sp>
      <p:sp>
        <p:nvSpPr>
          <p:cNvPr id="25" name="!!term-confound">
            <a:extLst>
              <a:ext uri="{C183D7F6-B498-43B3-948B-1728B52AA6E4}">
                <adec:decorative xmlns:adec="http://schemas.microsoft.com/office/drawing/2017/decorative" val="1"/>
              </a:ext>
            </a:extLst>
          </p:cNvPr>
          <p:cNvSpPr/>
          <p:nvPr/>
        </p:nvSpPr>
        <p:spPr>
          <a:xfrm>
            <a:off x="658368" y="2468880"/>
            <a:ext cx="13713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confound">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confound"/>
          <p:cNvSpPr txBox="1"/>
          <p:nvPr/>
        </p:nvSpPr>
        <p:spPr>
          <a:xfrm>
            <a:off x="950976" y="2577084"/>
            <a:ext cx="118843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confound</a:t>
            </a:r>
          </a:p>
        </p:txBody>
      </p:sp>
      <p:sp>
        <p:nvSpPr>
          <p:cNvPr id="28" name="!!term-negative resul">
            <a:extLst>
              <a:ext uri="{C183D7F6-B498-43B3-948B-1728B52AA6E4}">
                <adec:decorative xmlns:adec="http://schemas.microsoft.com/office/drawing/2017/decorative" val="1"/>
              </a:ext>
            </a:extLst>
          </p:cNvPr>
          <p:cNvSpPr/>
          <p:nvPr/>
        </p:nvSpPr>
        <p:spPr>
          <a:xfrm>
            <a:off x="2175987" y="2468880"/>
            <a:ext cx="18671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negative resul">
            <a:extLst>
              <a:ext uri="{C183D7F6-B498-43B3-948B-1728B52AA6E4}">
                <adec:decorative xmlns:adec="http://schemas.microsoft.com/office/drawing/2017/decorative" val="1"/>
              </a:ext>
            </a:extLst>
          </p:cNvPr>
          <p:cNvSpPr/>
          <p:nvPr/>
        </p:nvSpPr>
        <p:spPr>
          <a:xfrm>
            <a:off x="230400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negative resul"/>
          <p:cNvSpPr txBox="1"/>
          <p:nvPr/>
        </p:nvSpPr>
        <p:spPr>
          <a:xfrm>
            <a:off x="2468595" y="2577084"/>
            <a:ext cx="168430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negative result</a:t>
            </a:r>
          </a:p>
        </p:txBody>
      </p:sp>
      <p:sp>
        <p:nvSpPr>
          <p:cNvPr id="31" name="!!term-defence">
            <a:extLst>
              <a:ext uri="{C183D7F6-B498-43B3-948B-1728B52AA6E4}">
                <adec:decorative xmlns:adec="http://schemas.microsoft.com/office/drawing/2017/decorative" val="1"/>
              </a:ext>
            </a:extLst>
          </p:cNvPr>
          <p:cNvSpPr/>
          <p:nvPr/>
        </p:nvSpPr>
        <p:spPr>
          <a:xfrm>
            <a:off x="4189471" y="2468880"/>
            <a:ext cx="12094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efence">
            <a:extLst>
              <a:ext uri="{C183D7F6-B498-43B3-948B-1728B52AA6E4}">
                <adec:decorative xmlns:adec="http://schemas.microsoft.com/office/drawing/2017/decorative" val="1"/>
              </a:ext>
            </a:extLst>
          </p:cNvPr>
          <p:cNvSpPr/>
          <p:nvPr/>
        </p:nvSpPr>
        <p:spPr>
          <a:xfrm>
            <a:off x="431748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efence"/>
          <p:cNvSpPr txBox="1"/>
          <p:nvPr/>
        </p:nvSpPr>
        <p:spPr>
          <a:xfrm>
            <a:off x="4482079" y="2577084"/>
            <a:ext cx="102657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defence</a:t>
            </a:r>
          </a:p>
        </p:txBody>
      </p:sp>
      <p:sp>
        <p:nvSpPr>
          <p:cNvPr id="34"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99524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189–196     </a:t>
            </a:r>
            <a:fld id="{A8EB7420-6B46-42F5-8343-1077CC67DD84}" type="slidenum">
              <a:rPr lang="en-GB" sz="1000">
                <a:solidFill>
                  <a:srgbClr val="8795A1"/>
                </a:solidFill>
                <a:latin typeface="Segoe UI"/>
              </a:rPr>
              <a:t>5</a:t>
            </a:fld>
          </a:p>
        </p:txBody>
      </p:sp>
      <p:sp>
        <p:nvSpPr>
          <p:cNvPr id="7" name="!!ag0" descr="Go to section 23.1 What the Project I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the Project Is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189  ›</a:t>
            </a:r>
          </a:p>
        </p:txBody>
      </p:sp>
      <p:sp>
        <p:nvSpPr>
          <p:cNvPr id="12" name="!!ag1" descr="Go to section 23.2 Choosing">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190  ›</a:t>
            </a:r>
          </a:p>
        </p:txBody>
      </p:sp>
      <p:sp>
        <p:nvSpPr>
          <p:cNvPr id="17" name="!!ag2" descr="Go to section 23.3 The Method, Collecte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Method, Collected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190  ›</a:t>
            </a:r>
          </a:p>
        </p:txBody>
      </p:sp>
      <p:sp>
        <p:nvSpPr>
          <p:cNvPr id="22" name="!!ag3" descr="Go to section 23.4 The Repor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Report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192  ›</a:t>
            </a:r>
          </a:p>
        </p:txBody>
      </p:sp>
      <p:sp>
        <p:nvSpPr>
          <p:cNvPr id="27" name="!!ag4" descr="Go to section 23.5 The Defenc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23.5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Defence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192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2440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the Project Is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Choosing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The Method, Collected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Defence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§23.1     </a:t>
            </a:r>
            <a:fld id="{DCA14DEF-79C4-4B19-8CE9-C366831B2239}"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49286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Deliverable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§23.1  ·  Handout p. 189     </a:t>
            </a:r>
            <a:fld id="{8F53CD41-43E6-4C37-9708-6853F971AD6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66133"/>
          </a:xfrm>
          <a:prstGeom prst="roundRect">
            <a:avLst>
              <a:gd name="adj" fmla="val 219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6613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Choose two or more algorithms for one problem. </a:t>
            </a:r>
            <a:r>
              <a:rPr sz="2300" b="1" i="0">
                <a:solidFill>
                  <a:srgbClr val="1C252B"/>
                </a:solidFill>
                <a:latin typeface="Segoe UI"/>
              </a:rPr>
              <a:t>Implement</a:t>
            </a:r>
            <a:r>
              <a:rPr sz="2300" b="0" i="0">
                <a:solidFill>
                  <a:srgbClr val="1C252B"/>
                </a:solidFill>
                <a:latin typeface="Segoe UI"/>
              </a:rPr>
              <a:t> them, </a:t>
            </a:r>
            <a:r>
              <a:rPr sz="2300" b="1" i="0">
                <a:solidFill>
                  <a:srgbClr val="1C252B"/>
                </a:solidFill>
                <a:latin typeface="Segoe UI"/>
              </a:rPr>
              <a:t>analyse</a:t>
            </a:r>
            <a:r>
              <a:rPr sz="2300" b="0" i="0">
                <a:solidFill>
                  <a:srgbClr val="1C252B"/>
                </a:solidFill>
                <a:latin typeface="Segoe UI"/>
              </a:rPr>
              <a:t> them, </a:t>
            </a:r>
            <a:r>
              <a:rPr sz="2300" b="1" i="0">
                <a:solidFill>
                  <a:srgbClr val="1C252B"/>
                </a:solidFill>
                <a:latin typeface="Segoe UI"/>
              </a:rPr>
              <a:t>measure</a:t>
            </a:r>
            <a:r>
              <a:rPr sz="2300" b="0" i="0">
                <a:solidFill>
                  <a:srgbClr val="1C252B"/>
                </a:solidFill>
                <a:latin typeface="Segoe UI"/>
              </a:rPr>
              <a:t> them, and </a:t>
            </a:r>
            <a:r>
              <a:rPr sz="2300" b="1" i="0">
                <a:solidFill>
                  <a:srgbClr val="1C252B"/>
                </a:solidFill>
                <a:latin typeface="Segoe UI"/>
              </a:rPr>
              <a:t>defend</a:t>
            </a:r>
            <a:r>
              <a:rPr sz="2300" b="0" i="0">
                <a:solidFill>
                  <a:srgbClr val="1C252B"/>
                </a:solidFill>
                <a:latin typeface="Segoe UI"/>
              </a:rPr>
              <a:t> the result.</a:t>
            </a:r>
          </a:p>
        </p:txBody>
      </p:sp>
      <p:sp>
        <p:nvSpPr>
          <p:cNvPr id="10" name="body-1"/>
          <p:cNvSpPr txBox="1"/>
          <p:nvPr/>
        </p:nvSpPr>
        <p:spPr>
          <a:xfrm>
            <a:off x="1060704" y="2937992"/>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Four artefacts are submitted:</a:t>
            </a:r>
          </a:p>
        </p:txBody>
      </p:sp>
      <p:sp>
        <p:nvSpPr>
          <p:cNvPr id="11" name="body-2"/>
          <p:cNvSpPr txBox="1"/>
          <p:nvPr/>
        </p:nvSpPr>
        <p:spPr>
          <a:xfrm>
            <a:off x="1060704" y="3463188"/>
            <a:ext cx="10161727" cy="217512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1" i="0">
                <a:solidFill>
                  <a:srgbClr val="8A4500"/>
                </a:solidFill>
                <a:latin typeface="Segoe UI"/>
              </a:rPr>
              <a:t>Code</a:t>
            </a:r>
            <a:r>
              <a:rPr sz="2300" b="0" i="0">
                <a:solidFill>
                  <a:srgbClr val="1C252B"/>
                </a:solidFill>
                <a:latin typeface="Segoe UI"/>
              </a:rPr>
              <a:t> that compiles with the flags of Appendix A and runs unattended.</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8A4500"/>
                </a:solidFill>
                <a:latin typeface="Segoe UI"/>
              </a:rPr>
              <a:t>A report</a:t>
            </a:r>
            <a:r>
              <a:rPr sz="2300" b="0" i="0">
                <a:solidFill>
                  <a:srgbClr val="1C252B"/>
                </a:solidFill>
                <a:latin typeface="Segoe UI"/>
              </a:rPr>
              <a:t> of 8–12 pages: the analysis, the experiment, the tables, and the discussion.</a:t>
            </a:r>
          </a:p>
          <a:p>
            <a:pPr algn="l" marL="257176" indent="-257176">
              <a:lnSpc>
                <a:spcPct val="104000"/>
              </a:lnSpc>
              <a:spcBef>
                <a:spcPts val="0"/>
              </a:spcBef>
              <a:spcAft>
                <a:spcPts val="804"/>
              </a:spcAft>
            </a:pPr>
            <a:r>
              <a:rPr sz="2300" b="1">
                <a:solidFill>
                  <a:srgbClr val="8A4500"/>
                </a:solidFill>
                <a:latin typeface="Segoe UI"/>
              </a:rPr>
              <a:t>•	</a:t>
            </a:r>
            <a:r>
              <a:rPr sz="2300" b="1" i="0">
                <a:solidFill>
                  <a:srgbClr val="8A4500"/>
                </a:solidFill>
                <a:latin typeface="Segoe UI"/>
              </a:rPr>
              <a:t>The raw output</a:t>
            </a:r>
            <a:r>
              <a:rPr sz="2300" b="0" i="0">
                <a:solidFill>
                  <a:srgbClr val="1C252B"/>
                </a:solidFill>
                <a:latin typeface="Segoe UI"/>
              </a:rPr>
              <a:t> of every run quoted in the report.</a:t>
            </a:r>
          </a:p>
          <a:p>
            <a:pPr algn="l" marL="257176" indent="-257176">
              <a:lnSpc>
                <a:spcPct val="104000"/>
              </a:lnSpc>
              <a:spcBef>
                <a:spcPts val="0"/>
              </a:spcBef>
              <a:spcAft>
                <a:spcPts val="0"/>
              </a:spcAft>
            </a:pPr>
            <a:r>
              <a:rPr sz="2300" b="1">
                <a:solidFill>
                  <a:srgbClr val="8A4500"/>
                </a:solidFill>
                <a:latin typeface="Segoe UI"/>
              </a:rPr>
              <a:t>•	</a:t>
            </a:r>
            <a:r>
              <a:rPr sz="2300" b="1" i="0">
                <a:solidFill>
                  <a:srgbClr val="8A4500"/>
                </a:solidFill>
                <a:latin typeface="Segoe UI"/>
              </a:rPr>
              <a:t>A 15-minute defence</a:t>
            </a:r>
            <a:r>
              <a:rPr sz="2300" b="0" i="0">
                <a:solidFill>
                  <a:srgbClr val="1C252B"/>
                </a:solidFill>
                <a:latin typeface="Segoe UI"/>
              </a:rPr>
              <a:t>, in which the questions will be about method.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380"/>
                                        <p:tgtEl>
                                          <p:spTgt spid="1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Effect transition="in" filter="fade">
                                      <p:cBhvr>
                                        <p:cTn id="23" dur="38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one requirement that matters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§23.1  ·  Handout p. 189     </a:t>
            </a:r>
            <a:fld id="{085C00EC-1C5E-4975-A7EC-71024B172F5C}"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59428"/>
          </a:xfrm>
          <a:prstGeom prst="roundRect">
            <a:avLst>
              <a:gd name="adj" fmla="val 236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594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F618D"/>
                </a:solidFill>
                <a:latin typeface="Segoe UI"/>
              </a:rPr>
              <a:t>The project must make a claim that measurement can settle.</a:t>
            </a:r>
          </a:p>
        </p:txBody>
      </p:sp>
      <p:sp>
        <p:nvSpPr>
          <p:cNvPr id="10" name="body-1"/>
          <p:cNvSpPr txBox="1"/>
          <p:nvPr/>
        </p:nvSpPr>
        <p:spPr>
          <a:xfrm>
            <a:off x="1060704" y="2573451"/>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 implemented three sorting algorithms” is not a claim. “Introsort’s insertion-sort cutoff should be larger for 64-byte records than for 4-byte integers, and I measured where” is one: it predicts a direction, it can come out false, and a reader can check it.</a:t>
            </a:r>
          </a:p>
        </p:txBody>
      </p:sp>
      <p:sp>
        <p:nvSpPr>
          <p:cNvPr id="11" name="body-2"/>
          <p:cNvSpPr txBox="1"/>
          <p:nvPr/>
        </p:nvSpPr>
        <p:spPr>
          <a:xfrm>
            <a:off x="1060704" y="4192270"/>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 chapter of this book has done the same thing — predicted a ratio, measured it, and reported the result including the times it did not fit. That is the pattern to copy.</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99048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Choosing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23.2   Choosing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The Method, Collected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Defence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§23.2     </a:t>
            </a:r>
            <a:fld id="{9DB95B30-F05B-472E-837C-7D443CF5F78A}" type="slidenum">
              <a:rPr lang="en-GB" sz="1000">
                <a:solidFill>
                  <a:srgbClr val="8795A1"/>
                </a:solidFill>
                <a:latin typeface="Segoe UI"/>
              </a:rPr>
              <a:t>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23929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Projects that work</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§23.2  ·  Handout p. 190     </a:t>
            </a:r>
            <a:fld id="{6FA31D58-38AB-42A4-9E6E-40D20C2F7027}"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3201"/>
          </a:xfrm>
          <a:prstGeom prst="roundRect">
            <a:avLst>
              <a:gd name="adj" fmla="val 203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320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10161725" cy="3496056"/>
        </p:xfrm>
        <a:graphic>
          <a:graphicData uri="http://schemas.openxmlformats.org/drawingml/2006/table">
            <a:tbl>
              <a:tblPr firstRow="0" bandRow="0" firstCol="0" lastRow="0" lastCol="0" bandCol="0">
                <a:tableStyleId>{2D5ABB26-0587-4C30-8999-92F81FD0307C}</a:tableStyleId>
              </a:tblPr>
              <a:tblGrid>
                <a:gridCol w="2737623"/>
                <a:gridCol w="4448425"/>
                <a:gridCol w="2975677"/>
              </a:tblGrid>
              <a:tr h="344424">
                <a:tc>
                  <a:txBody>
                    <a:bodyPr wrap="square"/>
                    <a:lstStyle/>
                    <a:p>
                      <a:pPr algn="l"/>
                      <a:r>
                        <a:rPr sz="1300" b="1" i="0">
                          <a:solidFill>
                            <a:srgbClr val="1A5276"/>
                          </a:solidFill>
                          <a:latin typeface="Segoe UI"/>
                        </a:rPr>
                        <a:t>Project</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The claim</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Builds on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0" i="0">
                          <a:solidFill>
                            <a:srgbClr val="1C252B"/>
                          </a:solidFill>
                          <a:latin typeface="Segoe UI"/>
                        </a:rPr>
                        <a:t>Sorting cutoffs by record size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best cutoff grows with the record size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1, Chapter 8</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Hash function against real keys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structured keys defeat a division hash; mixing fixes it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Chapter 13</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BST shapes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height of a BST built from </a:t>
                      </a:r>
                      <a:r>
                        <a:rPr sz="1300" b="0" i="1">
                          <a:solidFill>
                            <a:srgbClr val="1C252B"/>
                          </a:solidFill>
                          <a:latin typeface="Segoe UI"/>
                        </a:rPr>
                        <a:t>your</a:t>
                      </a:r>
                      <a:r>
                        <a:rPr sz="1300" b="0" i="0">
                          <a:solidFill>
                            <a:srgbClr val="1C252B"/>
                          </a:solidFill>
                          <a:latin typeface="Segoe UI"/>
                        </a:rPr>
                        <a:t> data, against </a:t>
                      </a:r>
                      <a:r>
                        <a:rPr sz="1300" b="0" i="0">
                          <a:solidFill>
                            <a:srgbClr val="1C252B"/>
                          </a:solidFill>
                          <a:latin typeface="Cambria"/>
                        </a:rPr>
                        <a:t>2.99 lg </a:t>
                      </a:r>
                      <a:r>
                        <a:rPr sz="1300" b="0" i="1">
                          <a:solidFill>
                            <a:srgbClr val="1C252B"/>
                          </a:solidFill>
                          <a:latin typeface="Cambria"/>
                        </a:rPr>
                        <a:t>n</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12</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Graph representation crossover</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where the crossover is for </a:t>
                      </a:r>
                      <a:r>
                        <a:rPr sz="1300" b="0" i="1">
                          <a:solidFill>
                            <a:srgbClr val="1C252B"/>
                          </a:solidFill>
                          <a:latin typeface="Segoe UI"/>
                        </a:rPr>
                        <a:t>your</a:t>
                      </a:r>
                      <a:r>
                        <a:rPr sz="1300" b="0" i="0">
                          <a:solidFill>
                            <a:srgbClr val="1C252B"/>
                          </a:solidFill>
                          <a:latin typeface="Segoe UI"/>
                        </a:rPr>
                        <a:t> graphs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Chapter 18</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Dijkstra’s priority queue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heap against bucket queue against array, by density</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20</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Knapsack’s wall</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where </a:t>
                      </a:r>
                      <a:r>
                        <a:rPr sz="1300" b="0" i="0">
                          <a:solidFill>
                            <a:srgbClr val="1C252B"/>
                          </a:solidFill>
                          <a:latin typeface="Cambria"/>
                        </a:rPr>
                        <a:t>Θ(</a:t>
                      </a:r>
                      <a:r>
                        <a:rPr sz="1300" b="0" i="1">
                          <a:solidFill>
                            <a:srgbClr val="1C252B"/>
                          </a:solidFill>
                          <a:latin typeface="Cambria"/>
                        </a:rPr>
                        <a:t>nW</a:t>
                      </a:r>
                      <a:r>
                        <a:rPr sz="1300" b="0" i="0">
                          <a:solidFill>
                            <a:srgbClr val="1C252B"/>
                          </a:solidFill>
                          <a:latin typeface="Cambria"/>
                        </a:rPr>
                        <a:t>)</a:t>
                      </a:r>
                      <a:r>
                        <a:rPr sz="1300" b="0" i="0">
                          <a:solidFill>
                            <a:srgbClr val="1C252B"/>
                          </a:solidFill>
                          <a:latin typeface="Segoe UI"/>
                        </a:rPr>
                        <a:t> stops being usable</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Chapter 16</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String search for many patterns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Rabin–Karp’s one-pass multi-pattern trick against repeated KMP</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21</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0" i="0">
                          <a:solidFill>
                            <a:srgbClr val="1C252B"/>
                          </a:solidFill>
                          <a:latin typeface="Segoe UI"/>
                        </a:rPr>
                        <a:t>An NP-complete problem</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how far exact search reaches, and what an approximation costs</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Chapter 22</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60704" y="5656072"/>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1F618D"/>
                </a:solidFill>
                <a:latin typeface="Segoe UI"/>
              </a:rPr>
              <a:t>A project of your own is encouraged</a:t>
            </a:r>
            <a:r>
              <a:rPr sz="1600" b="0" i="0">
                <a:solidFill>
                  <a:srgbClr val="1C252B"/>
                </a:solidFill>
                <a:latin typeface="Segoe UI"/>
              </a:rPr>
              <a:t>, provided it states a claim and a way of being wrong.</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48810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Projects that do not work</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§23.2  ·  Handout p. 190     </a:t>
            </a:r>
            <a:fld id="{E67C0F35-9611-4538-A4A5-AB23598529E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11599"/>
          </a:xfrm>
          <a:prstGeom prst="roundRect">
            <a:avLst>
              <a:gd name="adj" fmla="val 212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11599"/>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35527"/>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A93226"/>
                </a:solidFill>
                <a:latin typeface="Segoe UI"/>
              </a:rPr>
              <a:t>•	</a:t>
            </a:r>
            <a:r>
              <a:rPr sz="2300" b="1" i="0">
                <a:solidFill>
                  <a:srgbClr val="A93226"/>
                </a:solidFill>
                <a:latin typeface="Segoe UI"/>
              </a:rPr>
              <a:t>“Compare all the sorting algorithms.”</a:t>
            </a:r>
            <a:r>
              <a:rPr sz="2300" b="0" i="0">
                <a:solidFill>
                  <a:srgbClr val="1C252B"/>
                </a:solidFill>
                <a:latin typeface="Segoe UI"/>
              </a:rPr>
              <a:t> No claim, no hypothesis, and the answer is in every textbook.</a:t>
            </a:r>
          </a:p>
          <a:p>
            <a:pPr algn="l" marL="257176" indent="-257176">
              <a:lnSpc>
                <a:spcPct val="104000"/>
              </a:lnSpc>
              <a:spcBef>
                <a:spcPts val="0"/>
              </a:spcBef>
              <a:spcAft>
                <a:spcPts val="804"/>
              </a:spcAft>
            </a:pPr>
            <a:r>
              <a:rPr sz="2300" b="1">
                <a:solidFill>
                  <a:srgbClr val="A93226"/>
                </a:solidFill>
                <a:latin typeface="Segoe UI"/>
              </a:rPr>
              <a:t>•	</a:t>
            </a:r>
            <a:r>
              <a:rPr sz="2300" b="1" i="0">
                <a:solidFill>
                  <a:srgbClr val="A93226"/>
                </a:solidFill>
                <a:latin typeface="Segoe UI"/>
              </a:rPr>
              <a:t>Reimplementing a chapter.</a:t>
            </a:r>
            <a:r>
              <a:rPr sz="2300" b="0" i="0">
                <a:solidFill>
                  <a:srgbClr val="1C252B"/>
                </a:solidFill>
                <a:latin typeface="Segoe UI"/>
              </a:rPr>
              <a:t> The labs are done; the project is for a question the labs did not answer.</a:t>
            </a:r>
          </a:p>
          <a:p>
            <a:pPr algn="l" marL="257176" indent="-257176">
              <a:lnSpc>
                <a:spcPct val="104000"/>
              </a:lnSpc>
              <a:spcBef>
                <a:spcPts val="0"/>
              </a:spcBef>
              <a:spcAft>
                <a:spcPts val="804"/>
              </a:spcAft>
            </a:pPr>
            <a:r>
              <a:rPr sz="2300" b="1">
                <a:solidFill>
                  <a:srgbClr val="A93226"/>
                </a:solidFill>
                <a:latin typeface="Segoe UI"/>
              </a:rPr>
              <a:t>•	</a:t>
            </a:r>
            <a:r>
              <a:rPr sz="2300" b="1" i="0">
                <a:solidFill>
                  <a:srgbClr val="A93226"/>
                </a:solidFill>
                <a:latin typeface="Segoe UI"/>
              </a:rPr>
              <a:t>A claim that cannot come out false.</a:t>
            </a:r>
            <a:r>
              <a:rPr sz="2300" b="0" i="0">
                <a:solidFill>
                  <a:srgbClr val="1C252B"/>
                </a:solidFill>
                <a:latin typeface="Segoe UI"/>
              </a:rPr>
              <a:t> “Quicksort is fast” is not refutable.</a:t>
            </a:r>
          </a:p>
          <a:p>
            <a:pPr algn="l" marL="257176" indent="-257176">
              <a:lnSpc>
                <a:spcPct val="104000"/>
              </a:lnSpc>
              <a:spcBef>
                <a:spcPts val="0"/>
              </a:spcBef>
              <a:spcAft>
                <a:spcPts val="804"/>
              </a:spcAft>
            </a:pPr>
            <a:r>
              <a:rPr sz="2300" b="1">
                <a:solidFill>
                  <a:srgbClr val="A93226"/>
                </a:solidFill>
                <a:latin typeface="Segoe UI"/>
              </a:rPr>
              <a:t>•	</a:t>
            </a:r>
            <a:r>
              <a:rPr sz="2300" b="1" i="0">
                <a:solidFill>
                  <a:srgbClr val="A93226"/>
                </a:solidFill>
                <a:latin typeface="Segoe UI"/>
              </a:rPr>
              <a:t>Anything needing hardware you do not have.</a:t>
            </a:r>
            <a:r>
              <a:rPr sz="2300" b="0" i="0">
                <a:solidFill>
                  <a:srgbClr val="1C252B"/>
                </a:solidFill>
                <a:latin typeface="Segoe UI"/>
              </a:rPr>
              <a:t> Measure what you can measure.</a:t>
            </a:r>
          </a:p>
          <a:p>
            <a:pPr algn="l" marL="257176" indent="-257176">
              <a:lnSpc>
                <a:spcPct val="104000"/>
              </a:lnSpc>
              <a:spcBef>
                <a:spcPts val="0"/>
              </a:spcBef>
              <a:spcAft>
                <a:spcPts val="0"/>
              </a:spcAft>
            </a:pPr>
            <a:r>
              <a:rPr sz="2300" b="1">
                <a:solidFill>
                  <a:srgbClr val="A93226"/>
                </a:solidFill>
                <a:latin typeface="Segoe UI"/>
              </a:rPr>
              <a:t>•	</a:t>
            </a:r>
            <a:r>
              <a:rPr sz="2300" b="1" i="0">
                <a:solidFill>
                  <a:srgbClr val="A93226"/>
                </a:solidFill>
                <a:latin typeface="Segoe UI"/>
              </a:rPr>
              <a:t>A claim settled by a single number.</a:t>
            </a:r>
            <a:r>
              <a:rPr sz="2300" b="0" i="0">
                <a:solidFill>
                  <a:srgbClr val="1C252B"/>
                </a:solidFill>
                <a:latin typeface="Segoe UI"/>
              </a:rPr>
              <a:t> One measurement is an anecdote; a project needs a </a:t>
            </a:r>
            <a:r>
              <a:rPr sz="2300" b="0" i="1">
                <a:solidFill>
                  <a:srgbClr val="1C252B"/>
                </a:solidFill>
                <a:latin typeface="Segoe UI"/>
              </a:rPr>
              <a:t>trend</a:t>
            </a:r>
            <a:r>
              <a:rPr sz="2300" b="0" i="0">
                <a:solidFill>
                  <a:srgbClr val="1C252B"/>
                </a:solidFill>
                <a:latin typeface="Segoe UI"/>
              </a:rPr>
              <a: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7369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Method, Collected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Choosing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23.3   The Method, Collected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Defence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§23.3     </a:t>
            </a:r>
            <a:fld id="{A8F571BD-5918-45D2-AF5C-22306CA87501}"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9857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Every rule this book arrived at the hard way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190     </a:t>
            </a:r>
            <a:fld id="{1CA65050-BB6B-4D43-BD42-14B6B65EEDC8}"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23588"/>
          </a:xfrm>
          <a:prstGeom prst="roundRect">
            <a:avLst>
              <a:gd name="adj" fmla="val 211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235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47516"/>
          </a:xfrm>
          <a:prstGeom prst="rect">
            <a:avLst/>
          </a:prstGeom>
          <a:noFill/>
        </p:spPr>
        <p:txBody>
          <a:bodyPr wrap="square" anchor="t" lIns="0" rIns="0" tIns="0" bIns="0">
            <a:noAutofit/>
          </a:bodyPr>
          <a:lstStyle/>
          <a:p>
            <a:pPr algn="l" marL="506575" indent="-506575">
              <a:lnSpc>
                <a:spcPct val="104000"/>
              </a:lnSpc>
              <a:spcBef>
                <a:spcPts val="0"/>
              </a:spcBef>
              <a:spcAft>
                <a:spcPts val="735"/>
              </a:spcAft>
            </a:pPr>
            <a:r>
              <a:rPr sz="2100" b="1">
                <a:solidFill>
                  <a:srgbClr val="1F618D"/>
                </a:solidFill>
                <a:latin typeface="Segoe UI"/>
              </a:rPr>
              <a:t>1.	</a:t>
            </a:r>
            <a:r>
              <a:rPr sz="2100" b="1" i="0">
                <a:solidFill>
                  <a:srgbClr val="1F618D"/>
                </a:solidFill>
                <a:latin typeface="Segoe UI"/>
              </a:rPr>
              <a:t>Build with optimisation on.</a:t>
            </a:r>
            <a:r>
              <a:rPr sz="2100" b="0" i="0">
                <a:solidFill>
                  <a:srgbClr val="1C252B"/>
                </a:solidFill>
                <a:latin typeface="Segoe UI"/>
              </a:rPr>
              <a:t> A debug build is slower by </a:t>
            </a:r>
            <a:r>
              <a:rPr sz="2100" b="0" i="1">
                <a:solidFill>
                  <a:srgbClr val="1C252B"/>
                </a:solidFill>
                <a:latin typeface="Segoe UI"/>
              </a:rPr>
              <a:t>different</a:t>
            </a:r>
            <a:r>
              <a:rPr sz="2100" b="0" i="0">
                <a:solidFill>
                  <a:srgbClr val="1C252B"/>
                </a:solidFill>
                <a:latin typeface="Segoe UI"/>
              </a:rPr>
              <a:t> factors for different code, so the comparison is meaningless (Chapter 1).</a:t>
            </a:r>
          </a:p>
          <a:p>
            <a:pPr algn="l" marL="506575" indent="-506575">
              <a:lnSpc>
                <a:spcPct val="104000"/>
              </a:lnSpc>
              <a:spcBef>
                <a:spcPts val="0"/>
              </a:spcBef>
              <a:spcAft>
                <a:spcPts val="735"/>
              </a:spcAft>
            </a:pPr>
            <a:r>
              <a:rPr sz="2100" b="1">
                <a:solidFill>
                  <a:srgbClr val="1F618D"/>
                </a:solidFill>
                <a:latin typeface="Segoe UI"/>
              </a:rPr>
              <a:t>2.	</a:t>
            </a:r>
            <a:r>
              <a:rPr sz="2100" b="1" i="0">
                <a:solidFill>
                  <a:srgbClr val="1F618D"/>
                </a:solidFill>
                <a:latin typeface="Segoe UI"/>
              </a:rPr>
              <a:t>Take the median of several runs.</a:t>
            </a:r>
            <a:r>
              <a:rPr sz="2100" b="0" i="0">
                <a:solidFill>
                  <a:srgbClr val="1C252B"/>
                </a:solidFill>
                <a:latin typeface="Segoe UI"/>
              </a:rPr>
              <a:t> A mean is dragged by one scheduler interruption; one run measures the weather (Chapter 1).</a:t>
            </a:r>
          </a:p>
          <a:p>
            <a:pPr algn="l" marL="506575" indent="-506575">
              <a:lnSpc>
                <a:spcPct val="104000"/>
              </a:lnSpc>
              <a:spcBef>
                <a:spcPts val="0"/>
              </a:spcBef>
              <a:spcAft>
                <a:spcPts val="735"/>
              </a:spcAft>
            </a:pPr>
            <a:r>
              <a:rPr sz="2100" b="1">
                <a:solidFill>
                  <a:srgbClr val="1F618D"/>
                </a:solidFill>
                <a:latin typeface="Segoe UI"/>
              </a:rPr>
              <a:t>3.	</a:t>
            </a:r>
            <a:r>
              <a:rPr sz="2100" b="1" i="0">
                <a:solidFill>
                  <a:srgbClr val="1F618D"/>
                </a:solidFill>
                <a:latin typeface="Segoe UI"/>
              </a:rPr>
              <a:t>Generate the input outside the timed region.</a:t>
            </a:r>
            <a:r>
              <a:rPr sz="2100" b="0" i="0">
                <a:solidFill>
                  <a:srgbClr val="1C252B"/>
                </a:solidFill>
                <a:latin typeface="Segoe UI"/>
              </a:rPr>
              <a:t> Chapter 3’s first draft allocated inside it and reported pure noise.</a:t>
            </a:r>
          </a:p>
          <a:p>
            <a:pPr algn="l" marL="506575" indent="-506575">
              <a:lnSpc>
                <a:spcPct val="104000"/>
              </a:lnSpc>
              <a:spcBef>
                <a:spcPts val="0"/>
              </a:spcBef>
              <a:spcAft>
                <a:spcPts val="735"/>
              </a:spcAft>
            </a:pPr>
            <a:r>
              <a:rPr sz="2100" b="1">
                <a:solidFill>
                  <a:srgbClr val="1F618D"/>
                </a:solidFill>
                <a:latin typeface="Segoe UI"/>
              </a:rPr>
              <a:t>4.	</a:t>
            </a:r>
            <a:r>
              <a:rPr sz="2100" b="1" i="0">
                <a:solidFill>
                  <a:srgbClr val="1F618D"/>
                </a:solidFill>
                <a:latin typeface="Segoe UI"/>
              </a:rPr>
              <a:t>Measure the setup separately and subtract it</a:t>
            </a:r>
            <a:r>
              <a:rPr sz="2100" b="0" i="0">
                <a:solidFill>
                  <a:srgbClr val="1C252B"/>
                </a:solidFill>
                <a:latin typeface="Segoe UI"/>
              </a:rPr>
              <a:t>, and print the setup cost so a reader can see the subtraction was small (Chapter 3).</a:t>
            </a:r>
          </a:p>
          <a:p>
            <a:pPr algn="l" marL="506575" indent="-506575">
              <a:lnSpc>
                <a:spcPct val="104000"/>
              </a:lnSpc>
              <a:spcBef>
                <a:spcPts val="0"/>
              </a:spcBef>
              <a:spcAft>
                <a:spcPts val="0"/>
              </a:spcAft>
            </a:pPr>
            <a:r>
              <a:rPr sz="2100" b="1">
                <a:solidFill>
                  <a:srgbClr val="1F618D"/>
                </a:solidFill>
                <a:latin typeface="Segoe UI"/>
              </a:rPr>
              <a:t>5.	</a:t>
            </a:r>
            <a:r>
              <a:rPr sz="2100" b="1" i="0">
                <a:solidFill>
                  <a:srgbClr val="1F618D"/>
                </a:solidFill>
                <a:latin typeface="Segoe UI"/>
              </a:rPr>
              <a:t>Check correctness against a slow obvious reference, first.</a:t>
            </a:r>
            <a:r>
              <a:rPr sz="2100" b="0" i="0">
                <a:solidFill>
                  <a:srgbClr val="1C252B"/>
                </a:solidFill>
                <a:latin typeface="Segoe UI"/>
              </a:rPr>
              <a:t> A faster algorithm that gets a different answer is not faster (Chapter 7).</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323453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Every rule this book arrived at the hard way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190     </a:t>
            </a:r>
            <a:fld id="{B3C09EAD-7770-431B-84CA-DA7B4E8904FA}"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97401"/>
          </a:xfrm>
          <a:prstGeom prst="roundRect">
            <a:avLst>
              <a:gd name="adj" fmla="val 234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9740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21329"/>
          </a:xfrm>
          <a:prstGeom prst="rect">
            <a:avLst/>
          </a:prstGeom>
          <a:noFill/>
        </p:spPr>
        <p:txBody>
          <a:bodyPr wrap="square" anchor="t" lIns="0" rIns="0" tIns="0" bIns="0">
            <a:noAutofit/>
          </a:bodyPr>
          <a:lstStyle/>
          <a:p>
            <a:pPr algn="l" marL="506575" indent="-506575">
              <a:lnSpc>
                <a:spcPct val="104000"/>
              </a:lnSpc>
              <a:spcBef>
                <a:spcPts val="0"/>
              </a:spcBef>
              <a:spcAft>
                <a:spcPts val="735"/>
              </a:spcAft>
            </a:pPr>
            <a:r>
              <a:rPr sz="2100" b="1">
                <a:solidFill>
                  <a:srgbClr val="1F618D"/>
                </a:solidFill>
                <a:latin typeface="Segoe UI"/>
              </a:rPr>
              <a:t>6.	</a:t>
            </a:r>
            <a:r>
              <a:rPr sz="2100" b="1" i="0">
                <a:solidFill>
                  <a:srgbClr val="1F618D"/>
                </a:solidFill>
                <a:latin typeface="Segoe UI"/>
              </a:rPr>
              <a:t>Report ratios, not absolute times.</a:t>
            </a:r>
            <a:r>
              <a:rPr sz="2100" b="0" i="0">
                <a:solidFill>
                  <a:srgbClr val="1C252B"/>
                </a:solidFill>
                <a:latin typeface="Segoe UI"/>
              </a:rPr>
              <a:t> The ratio cancels the machine-specific constant; it is the part that is about the algorithm (Chapter 3).</a:t>
            </a:r>
          </a:p>
          <a:p>
            <a:pPr algn="l" marL="506575" indent="-506575">
              <a:lnSpc>
                <a:spcPct val="104000"/>
              </a:lnSpc>
              <a:spcBef>
                <a:spcPts val="0"/>
              </a:spcBef>
              <a:spcAft>
                <a:spcPts val="735"/>
              </a:spcAft>
            </a:pPr>
            <a:r>
              <a:rPr sz="2100" b="1">
                <a:solidFill>
                  <a:srgbClr val="1F618D"/>
                </a:solidFill>
                <a:latin typeface="Segoe UI"/>
              </a:rPr>
              <a:t>7.	</a:t>
            </a:r>
            <a:r>
              <a:rPr sz="2100" b="1" i="0">
                <a:solidFill>
                  <a:srgbClr val="1F618D"/>
                </a:solidFill>
                <a:latin typeface="Segoe UI"/>
              </a:rPr>
              <a:t>Use more than one input shape.</a:t>
            </a:r>
            <a:r>
              <a:rPr sz="2100" b="0" i="0">
                <a:solidFill>
                  <a:srgbClr val="1C252B"/>
                </a:solidFill>
                <a:latin typeface="Segoe UI"/>
              </a:rPr>
              <a:t> Chapter 2 measured a 6,600</a:t>
            </a:r>
            <a:r>
              <a:rPr sz="2100" b="0" i="0">
                <a:solidFill>
                  <a:srgbClr val="1C252B"/>
                </a:solidFill>
                <a:latin typeface="Cambria"/>
              </a:rPr>
              <a:t>×</a:t>
            </a:r>
            <a:r>
              <a:rPr sz="2100" b="0" i="0">
                <a:solidFill>
                  <a:srgbClr val="1C252B"/>
                </a:solidFill>
                <a:latin typeface="Segoe UI"/>
              </a:rPr>
              <a:t> spread across three; Chapter 9 found a crash on one; Chapter 20 found a 789</a:t>
            </a:r>
            <a:r>
              <a:rPr sz="2100" b="0" i="0">
                <a:solidFill>
                  <a:srgbClr val="1C252B"/>
                </a:solidFill>
                <a:latin typeface="Cambria"/>
              </a:rPr>
              <a:t>×</a:t>
            </a:r>
            <a:r>
              <a:rPr sz="2100" b="0" i="0">
                <a:solidFill>
                  <a:srgbClr val="1C252B"/>
                </a:solidFill>
                <a:latin typeface="Segoe UI"/>
              </a:rPr>
              <a:t> slowdown on a shape nobody would generate at random.</a:t>
            </a:r>
          </a:p>
          <a:p>
            <a:pPr algn="l" marL="506575" indent="-506575">
              <a:lnSpc>
                <a:spcPct val="104000"/>
              </a:lnSpc>
              <a:spcBef>
                <a:spcPts val="0"/>
              </a:spcBef>
              <a:spcAft>
                <a:spcPts val="735"/>
              </a:spcAft>
            </a:pPr>
            <a:r>
              <a:rPr sz="2100" b="1">
                <a:solidFill>
                  <a:srgbClr val="1F618D"/>
                </a:solidFill>
                <a:latin typeface="Segoe UI"/>
              </a:rPr>
              <a:t>8.	</a:t>
            </a:r>
            <a:r>
              <a:rPr sz="2100" b="1" i="0">
                <a:solidFill>
                  <a:srgbClr val="1F618D"/>
                </a:solidFill>
                <a:latin typeface="Segoe UI"/>
              </a:rPr>
              <a:t>State what your clock can resolve</a:t>
            </a:r>
            <a:r>
              <a:rPr sz="2100" b="0" i="0">
                <a:solidFill>
                  <a:srgbClr val="1C252B"/>
                </a:solidFill>
                <a:latin typeface="Segoe UI"/>
              </a:rPr>
              <a:t>, and claim nothing within an order of magnitude of it (Chapter 3).</a:t>
            </a:r>
          </a:p>
          <a:p>
            <a:pPr algn="l" marL="506575" indent="-506575">
              <a:lnSpc>
                <a:spcPct val="104000"/>
              </a:lnSpc>
              <a:spcBef>
                <a:spcPts val="0"/>
              </a:spcBef>
              <a:spcAft>
                <a:spcPts val="0"/>
              </a:spcAft>
            </a:pPr>
            <a:r>
              <a:rPr sz="2100" b="1">
                <a:solidFill>
                  <a:srgbClr val="1F618D"/>
                </a:solidFill>
                <a:latin typeface="Segoe UI"/>
              </a:rPr>
              <a:t>9.	</a:t>
            </a:r>
            <a:r>
              <a:rPr sz="2100" b="1" i="0">
                <a:solidFill>
                  <a:srgbClr val="1F618D"/>
                </a:solidFill>
                <a:latin typeface="Segoe UI"/>
              </a:rPr>
              <a:t>Sample randomly, not in insertion order.</a:t>
            </a:r>
            <a:r>
              <a:rPr sz="2100" b="0" i="0">
                <a:solidFill>
                  <a:srgbClr val="1C252B"/>
                </a:solidFill>
                <a:latin typeface="Segoe UI"/>
              </a:rPr>
              <a:t> Chapter 13’s first draft probed the first-inserted keys and reported a flat column that looked like a result.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Every rule this book arrived at the hard way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190     </a:t>
            </a:r>
            <a:fld id="{B9DB96F3-4E11-43F9-B6EF-274E89D54363}"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287475"/>
          </a:xfrm>
          <a:prstGeom prst="roundRect">
            <a:avLst>
              <a:gd name="adj" fmla="val 710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28747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marL="506575" indent="-506575">
              <a:lnSpc>
                <a:spcPct val="104000"/>
              </a:lnSpc>
              <a:spcBef>
                <a:spcPts val="0"/>
              </a:spcBef>
              <a:spcAft>
                <a:spcPts val="0"/>
              </a:spcAft>
            </a:pPr>
            <a:r>
              <a:rPr sz="2100" b="1">
                <a:solidFill>
                  <a:srgbClr val="1F618D"/>
                </a:solidFill>
                <a:latin typeface="Segoe UI"/>
              </a:rPr>
              <a:t>10.	</a:t>
            </a:r>
            <a:r>
              <a:rPr sz="2100" b="1" i="0">
                <a:solidFill>
                  <a:srgbClr val="1F618D"/>
                </a:solidFill>
                <a:latin typeface="Segoe UI"/>
              </a:rPr>
              <a:t>Count as well as time, where you can.</a:t>
            </a:r>
            <a:r>
              <a:rPr sz="2100" b="0" i="0">
                <a:solidFill>
                  <a:srgbClr val="1C252B"/>
                </a:solidFill>
                <a:latin typeface="Segoe UI"/>
              </a:rPr>
              <a:t> Chapter 6 abandoned timing for counting and got four decimal places instead of 50% noise.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7321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Harness, Run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190     </a:t>
            </a:r>
            <a:fld id="{38525311-E140-4FB8-AF12-4262AFC8245B}"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47362"/>
          </a:xfrm>
          <a:prstGeom prst="roundRect">
            <a:avLst>
              <a:gd name="adj" fmla="val 220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473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code/ch23_harness.cpp</a:t>
            </a:r>
            <a:r>
              <a:rPr sz="1900" b="0" i="0">
                <a:solidFill>
                  <a:srgbClr val="1C252B"/>
                </a:solidFill>
                <a:latin typeface="Segoe UI"/>
              </a:rPr>
              <a:t> implements all ten rules. Run unmodified, with a bottom-up merge sort as the placeholder candidate:</a:t>
            </a:r>
          </a:p>
        </p:txBody>
      </p:sp>
      <p:graphicFrame>
        <p:nvGraphicFramePr>
          <p:cNvPr id="10" name="body-1"/>
          <p:cNvGraphicFramePr>
            <a:graphicFrameLocks noGrp="1"/>
          </p:cNvGraphicFramePr>
          <p:nvPr/>
        </p:nvGraphicFramePr>
        <p:xfrm>
          <a:off x="1042416" y="2746679"/>
          <a:ext cx="5671816" cy="1170432"/>
        </p:xfrm>
        <a:graphic>
          <a:graphicData uri="http://schemas.openxmlformats.org/drawingml/2006/table">
            <a:tbl>
              <a:tblPr firstRow="0" bandRow="0" firstCol="0" lastRow="0" lastCol="0" bandCol="0">
                <a:tableStyleId>{2D5ABB26-0587-4C30-8999-92F81FD0307C}</a:tableStyleId>
              </a:tblPr>
              <a:tblGrid>
                <a:gridCol w="4265677"/>
                <a:gridCol w="1406139"/>
              </a:tblGrid>
              <a:tr h="390144">
                <a:tc>
                  <a:txBody>
                    <a:bodyPr wrap="square"/>
                    <a:lstStyle/>
                    <a:p>
                      <a:pPr algn="l"/>
                      <a:r>
                        <a:rPr sz="1600" b="0" i="0">
                          <a:solidFill>
                            <a:srgbClr val="1C252B"/>
                          </a:solidFill>
                          <a:latin typeface="Segoe UI"/>
                        </a:rPr>
                        <a:t>clock resolution</a:t>
                      </a:r>
                      <a:endParaRPr sz="16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r"/>
                      <a:r>
                        <a:rPr sz="1600" b="0" i="0">
                          <a:solidFill>
                            <a:srgbClr val="1C252B"/>
                          </a:solidFill>
                          <a:latin typeface="Segoe UI"/>
                        </a:rPr>
                        <a:t>0.000100 ms</a:t>
                      </a:r>
                      <a:endParaRPr sz="16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r>
              <a:tr h="390144">
                <a:tc>
                  <a:txBody>
                    <a:bodyPr wrap="square"/>
                    <a:lstStyle/>
                    <a:p>
                      <a:pPr algn="l"/>
                      <a:r>
                        <a:rPr sz="1600" b="0" i="0">
                          <a:solidFill>
                            <a:srgbClr val="1C252B"/>
                          </a:solidFill>
                          <a:latin typeface="Segoe UI"/>
                        </a:rPr>
                        <a:t>smallest trustworthy measurement</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0.0100 ms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correctness, 2,000 instances across 5 shapes</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all agree</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graphicFrame>
        <p:nvGraphicFramePr>
          <p:cNvPr id="11" name="body-2"/>
          <p:cNvGraphicFramePr>
            <a:graphicFrameLocks noGrp="1"/>
          </p:cNvGraphicFramePr>
          <p:nvPr/>
        </p:nvGraphicFramePr>
        <p:xfrm>
          <a:off x="1042416" y="4049826"/>
          <a:ext cx="6860937" cy="1560576"/>
        </p:xfrm>
        <a:graphic>
          <a:graphicData uri="http://schemas.openxmlformats.org/drawingml/2006/table">
            <a:tbl>
              <a:tblPr firstRow="0" bandRow="0" firstCol="0" lastRow="0" lastCol="0" bandCol="0">
                <a:tableStyleId>{2D5ABB26-0587-4C30-8999-92F81FD0307C}</a:tableStyleId>
              </a:tblPr>
              <a:tblGrid>
                <a:gridCol w="1127991"/>
                <a:gridCol w="1020214"/>
                <a:gridCol w="877490"/>
                <a:gridCol w="1089207"/>
                <a:gridCol w="1352746"/>
                <a:gridCol w="1393289"/>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random</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sorted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reversed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99% sorted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few distinct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125,000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12.40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2.89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2.77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3.89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6.43</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500,000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59.74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16.14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14.09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17.28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27.61</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2,000,000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245.74</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65.78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58.11</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77.76</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119.45</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9809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Harness, Run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190     </a:t>
            </a:r>
            <a:fld id="{E496F37D-191D-47E5-8271-94C5EF0E7EEC}"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79215"/>
          </a:xfrm>
          <a:prstGeom prst="roundRect">
            <a:avLst>
              <a:gd name="adj" fmla="val 255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7921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And the ratios on doubling, which are what the claim rests on:</a:t>
            </a:r>
          </a:p>
        </p:txBody>
      </p:sp>
      <p:graphicFrame>
        <p:nvGraphicFramePr>
          <p:cNvPr id="10" name="body-1"/>
          <p:cNvGraphicFramePr>
            <a:graphicFrameLocks noGrp="1"/>
          </p:cNvGraphicFramePr>
          <p:nvPr/>
        </p:nvGraphicFramePr>
        <p:xfrm>
          <a:off x="1042416" y="2445537"/>
          <a:ext cx="8047765" cy="1560576"/>
        </p:xfrm>
        <a:graphic>
          <a:graphicData uri="http://schemas.openxmlformats.org/drawingml/2006/table">
            <a:tbl>
              <a:tblPr firstRow="0" bandRow="0" firstCol="0" lastRow="0" lastCol="0" bandCol="0">
                <a:tableStyleId>{2D5ABB26-0587-4C30-8999-92F81FD0307C}</a:tableStyleId>
              </a:tblPr>
              <a:tblGrid>
                <a:gridCol w="1127991"/>
                <a:gridCol w="1020214"/>
                <a:gridCol w="877490"/>
                <a:gridCol w="1089207"/>
                <a:gridCol w="1352746"/>
                <a:gridCol w="1393289"/>
                <a:gridCol w="1186828"/>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random</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sorted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reversed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99% sorted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few distinct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predicted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250,000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2.23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2.22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2.19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2.29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2.39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2.33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2.12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2.10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2,000,000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2.12</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2.37</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2.44</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2.33</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2.17</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2.10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138828"/>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 what this does and does not establish.</a:t>
            </a:r>
            <a:r>
              <a:rPr sz="1900" b="0" i="0">
                <a:solidFill>
                  <a:srgbClr val="1C252B"/>
                </a:solidFill>
                <a:latin typeface="Segoe UI"/>
              </a:rPr>
              <a:t> All five ratio columns sit near the predicted </a:t>
            </a:r>
            <a:r>
              <a:rPr sz="1900" b="0" i="0">
                <a:solidFill>
                  <a:srgbClr val="1C252B"/>
                </a:solidFill>
                <a:latin typeface="Cambria"/>
              </a:rPr>
              <a:t>2 + 2/lg </a:t>
            </a:r>
            <a:r>
              <a:rPr sz="1900" b="0" i="1">
                <a:solidFill>
                  <a:srgbClr val="1C252B"/>
                </a:solidFill>
                <a:latin typeface="Cambria"/>
              </a:rPr>
              <a:t>n</a:t>
            </a:r>
            <a:r>
              <a:rPr sz="1900" b="0" i="0">
                <a:solidFill>
                  <a:srgbClr val="1C252B"/>
                </a:solidFill>
                <a:latin typeface="Segoe UI"/>
              </a:rPr>
              <a:t>, so the implementation is </a:t>
            </a:r>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on all five shapes — which is the guarantee Chapter 8 proved.</a:t>
            </a:r>
          </a:p>
        </p:txBody>
      </p:sp>
      <p:sp>
        <p:nvSpPr>
          <p:cNvPr id="12" name="body-2bar">
            <a:extLst>
              <a:ext uri="{C183D7F6-B498-43B3-948B-1728B52AA6E4}">
                <adec:decorative xmlns:adec="http://schemas.microsoft.com/office/drawing/2017/decorative" val="1"/>
              </a:ext>
            </a:extLst>
          </p:cNvPr>
          <p:cNvSpPr/>
          <p:nvPr/>
        </p:nvSpPr>
        <p:spPr>
          <a:xfrm>
            <a:off x="841248" y="4157116"/>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422977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Harness, Run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§23.3  ·  Handout p. 190     </a:t>
            </a:r>
            <a:fld id="{B6E30394-813A-42A4-9216-18D66A09C950}"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But the absolute times differ by 4.2</a:t>
            </a:r>
            <a:r>
              <a:rPr sz="1900" b="1" i="0">
                <a:solidFill>
                  <a:srgbClr val="1C252B"/>
                </a:solidFill>
                <a:latin typeface="Cambria"/>
              </a:rPr>
              <a:t>×</a:t>
            </a:r>
            <a:r>
              <a:rPr sz="1900" b="0" i="0">
                <a:solidFill>
                  <a:srgbClr val="1C252B"/>
                </a:solidFill>
                <a:latin typeface="Segoe UI"/>
              </a:rPr>
              <a:t> between random and reversed input at </a:t>
            </a:r>
            <a:r>
              <a:rPr sz="1900" b="0" i="1">
                <a:solidFill>
                  <a:srgbClr val="1C252B"/>
                </a:solidFill>
                <a:latin typeface="Cambria"/>
              </a:rPr>
              <a:t>n</a:t>
            </a:r>
            <a:r>
              <a:rPr sz="1900" b="0" i="0">
                <a:solidFill>
                  <a:srgbClr val="1C252B"/>
                </a:solidFill>
                <a:latin typeface="Cambria"/>
              </a:rPr>
              <a:t> = 2,000,000</a:t>
            </a:r>
            <a:r>
              <a:rPr sz="1900" b="0" i="0">
                <a:solidFill>
                  <a:srgbClr val="1C252B"/>
                </a:solidFill>
                <a:latin typeface="Segoe UI"/>
              </a:rPr>
              <a:t>. Same order of growth, same algorithm, four-fold spread — and Chapter 8 identified the mechanism as branch misprediction. A report that gave only the first table would have missed it; a report that gave only the second would have claimed the shapes were equivalent.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Both tables, always.</a:t>
            </a:r>
            <a:r>
              <a:rPr sz="1900" b="0" i="0">
                <a:solidFill>
                  <a:srgbClr val="1C252B"/>
                </a:solidFill>
                <a:latin typeface="Segoe UI"/>
              </a:rPr>
              <a:t> The ratios test the analysis; the absolute times show what a user will experience.</a:t>
            </a:r>
          </a:p>
        </p:txBody>
      </p:sp>
      <p:sp>
        <p:nvSpPr>
          <p:cNvPr id="12" name="body-1bar">
            <a:extLst>
              <a:ext uri="{C183D7F6-B498-43B3-948B-1728B52AA6E4}">
                <adec:decorative xmlns:adec="http://schemas.microsoft.com/office/drawing/2017/decorative" val="1"/>
              </a:ext>
            </a:extLst>
          </p:cNvPr>
          <p:cNvSpPr/>
          <p:nvPr/>
        </p:nvSpPr>
        <p:spPr>
          <a:xfrm>
            <a:off x="841248" y="336725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47858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Report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Choosing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The Method, Collected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23.5   The Defence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§23.4     </a:t>
            </a:r>
            <a:fld id="{D88748CD-D03B-4872-96F5-E4636F469A10}" type="slidenum">
              <a:rPr lang="en-GB" sz="1000">
                <a:solidFill>
                  <a:srgbClr val="8795A1"/>
                </a:solidFill>
                <a:latin typeface="Segoe UI"/>
              </a:rPr>
              <a:t>19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72739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Structure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§23.4  ·  Handout p. 192     </a:t>
            </a:r>
            <a:fld id="{36219C40-CDA9-4207-8262-2AE135EAC7A4}"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95799"/>
          </a:xfrm>
          <a:prstGeom prst="roundRect">
            <a:avLst>
              <a:gd name="adj" fmla="val 203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9579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10161726" cy="3874008"/>
        </p:xfrm>
        <a:graphic>
          <a:graphicData uri="http://schemas.openxmlformats.org/drawingml/2006/table">
            <a:tbl>
              <a:tblPr firstRow="0" bandRow="0" firstCol="0" lastRow="0" lastCol="0" bandCol="0">
                <a:tableStyleId>{2D5ABB26-0587-4C30-8999-92F81FD0307C}</a:tableStyleId>
              </a:tblPr>
              <a:tblGrid>
                <a:gridCol w="2322680"/>
                <a:gridCol w="1161340"/>
                <a:gridCol w="6677706"/>
              </a:tblGrid>
              <a:tr h="405384">
                <a:tc>
                  <a:txBody>
                    <a:bodyPr wrap="square"/>
                    <a:lstStyle/>
                    <a:p>
                      <a:pPr algn="l"/>
                      <a:r>
                        <a:rPr sz="1700" b="1" i="0">
                          <a:solidFill>
                            <a:srgbClr val="1A5276"/>
                          </a:solidFill>
                          <a:latin typeface="Segoe UI"/>
                        </a:rPr>
                        <a:t>Section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Pages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Contains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Problem and claim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1</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what you are comparing and what you predict, stated so it could be false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Analysis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2–3</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the asymptotic argument for each algorithm, with the recurrence or the counting argument worked</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Method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1–2</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machine, compiler, flags, input generation, repetitions, what is timed and what is subtracted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Results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2–3</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tables with ratio columns; one figure if it helps</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Discussion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2</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where prediction and measurement agreed, where they did not, and what you think happened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Threats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0.5</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what could have confounded the result</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97620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Report what did not work</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§23.4  ·  Handout p. 192     </a:t>
            </a:r>
            <a:fld id="{E27EA29D-3D6A-4B94-BE50-C2BDE29C092F}"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0273"/>
          </a:xfrm>
          <a:prstGeom prst="roundRect">
            <a:avLst>
              <a:gd name="adj" fmla="val 204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02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strongest sections of this book are the ones where the first attempt failed:</a:t>
            </a:r>
          </a:p>
        </p:txBody>
      </p:sp>
      <p:sp>
        <p:nvSpPr>
          <p:cNvPr id="10" name="body-1"/>
          <p:cNvSpPr txBox="1"/>
          <p:nvPr/>
        </p:nvSpPr>
        <p:spPr>
          <a:xfrm>
            <a:off x="1060704" y="2527782"/>
            <a:ext cx="10161727" cy="3414674"/>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A93226"/>
                </a:solidFill>
                <a:latin typeface="Segoe UI"/>
              </a:rPr>
              <a:t>•	</a:t>
            </a:r>
            <a:r>
              <a:rPr sz="2100" b="0" i="0">
                <a:solidFill>
                  <a:srgbClr val="1C252B"/>
                </a:solidFill>
                <a:latin typeface="Segoe UI"/>
              </a:rPr>
              <a:t>Chapter 3: a benchmark that allocated inside the timed region and produced noise.</a:t>
            </a:r>
          </a:p>
          <a:p>
            <a:pPr algn="l" marL="234813" indent="-234813">
              <a:lnSpc>
                <a:spcPct val="104000"/>
              </a:lnSpc>
              <a:spcBef>
                <a:spcPts val="0"/>
              </a:spcBef>
              <a:spcAft>
                <a:spcPts val="735"/>
              </a:spcAft>
            </a:pPr>
            <a:r>
              <a:rPr sz="2100" b="1">
                <a:solidFill>
                  <a:srgbClr val="A93226"/>
                </a:solidFill>
                <a:latin typeface="Segoe UI"/>
              </a:rPr>
              <a:t>•	</a:t>
            </a:r>
            <a:r>
              <a:rPr sz="2100" b="0" i="0">
                <a:solidFill>
                  <a:srgbClr val="1C252B"/>
                </a:solidFill>
                <a:latin typeface="Segoe UI"/>
              </a:rPr>
              <a:t>Chapter 18: a bit-packed matrix that was </a:t>
            </a:r>
            <a:r>
              <a:rPr sz="2100" b="0" i="1">
                <a:solidFill>
                  <a:srgbClr val="1C252B"/>
                </a:solidFill>
                <a:latin typeface="Segoe UI"/>
              </a:rPr>
              <a:t>slower</a:t>
            </a:r>
            <a:r>
              <a:rPr sz="2100" b="0" i="0">
                <a:solidFill>
                  <a:srgbClr val="1C252B"/>
                </a:solidFill>
                <a:latin typeface="Segoe UI"/>
              </a:rPr>
              <a:t> than the byte version until its bit-scan was fixed.</a:t>
            </a:r>
          </a:p>
          <a:p>
            <a:pPr algn="l" marL="234813" indent="-234813">
              <a:lnSpc>
                <a:spcPct val="104000"/>
              </a:lnSpc>
              <a:spcBef>
                <a:spcPts val="0"/>
              </a:spcBef>
              <a:spcAft>
                <a:spcPts val="735"/>
              </a:spcAft>
            </a:pPr>
            <a:r>
              <a:rPr sz="2100" b="1">
                <a:solidFill>
                  <a:srgbClr val="A93226"/>
                </a:solidFill>
                <a:latin typeface="Segoe UI"/>
              </a:rPr>
              <a:t>•	</a:t>
            </a:r>
            <a:r>
              <a:rPr sz="2100" b="0" i="0">
                <a:solidFill>
                  <a:srgbClr val="1C252B"/>
                </a:solidFill>
                <a:latin typeface="Segoe UI"/>
              </a:rPr>
              <a:t>Chapter 13: a load-factor experiment that sampled keys in insertion order and reported a flat 1.096 at every load factor.</a:t>
            </a:r>
          </a:p>
          <a:p>
            <a:pPr algn="l" marL="234813" indent="-234813">
              <a:lnSpc>
                <a:spcPct val="104000"/>
              </a:lnSpc>
              <a:spcBef>
                <a:spcPts val="0"/>
              </a:spcBef>
              <a:spcAft>
                <a:spcPts val="735"/>
              </a:spcAft>
            </a:pPr>
            <a:r>
              <a:rPr sz="2100" b="1">
                <a:solidFill>
                  <a:srgbClr val="A93226"/>
                </a:solidFill>
                <a:latin typeface="Segoe UI"/>
              </a:rPr>
              <a:t>•	</a:t>
            </a:r>
            <a:r>
              <a:rPr sz="2100" b="0" i="0">
                <a:solidFill>
                  <a:srgbClr val="1C252B"/>
                </a:solidFill>
                <a:latin typeface="Segoe UI"/>
              </a:rPr>
              <a:t>Chapter 21: a worst case for Rabin–Karp that produced zero comparisons, because it was the </a:t>
            </a:r>
            <a:r>
              <a:rPr sz="2100" b="0" i="1">
                <a:solidFill>
                  <a:srgbClr val="1C252B"/>
                </a:solidFill>
                <a:latin typeface="Segoe UI"/>
              </a:rPr>
              <a:t>naive</a:t>
            </a:r>
            <a:r>
              <a:rPr sz="2100" b="0" i="0">
                <a:solidFill>
                  <a:srgbClr val="1C252B"/>
                </a:solidFill>
                <a:latin typeface="Segoe UI"/>
              </a:rPr>
              <a:t> algorithm’s worst case.</a:t>
            </a:r>
          </a:p>
          <a:p>
            <a:pPr algn="l" marL="234813" indent="-234813">
              <a:lnSpc>
                <a:spcPct val="104000"/>
              </a:lnSpc>
              <a:spcBef>
                <a:spcPts val="0"/>
              </a:spcBef>
              <a:spcAft>
                <a:spcPts val="0"/>
              </a:spcAft>
            </a:pPr>
            <a:r>
              <a:rPr sz="2100" b="1">
                <a:solidFill>
                  <a:srgbClr val="A93226"/>
                </a:solidFill>
                <a:latin typeface="Segoe UI"/>
              </a:rPr>
              <a:t>•	</a:t>
            </a:r>
            <a:r>
              <a:rPr sz="2100" b="0" i="0">
                <a:solidFill>
                  <a:srgbClr val="1C252B"/>
                </a:solidFill>
                <a:latin typeface="Segoe UI"/>
              </a:rPr>
              <a:t>Chapter 20: a counter-example for Dijkstra on which Dijkstra got the right answer.</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fade">
                                      <p:cBhvr>
                                        <p:cTn id="28" dur="38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Report what did not work (continued)</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§23.4  ·  Handout p. 192     </a:t>
            </a:r>
            <a:fld id="{8A794ABC-A7BC-4330-B4DD-529FFE6D4EFD}"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8368"/>
          </a:xfrm>
          <a:prstGeom prst="roundRect">
            <a:avLst>
              <a:gd name="adj" fmla="val 295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836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Every one of those is in the handout, with the failure described.</a:t>
            </a:r>
            <a:r>
              <a:rPr sz="2100" b="0" i="0">
                <a:solidFill>
                  <a:srgbClr val="1C252B"/>
                </a:solidFill>
                <a:latin typeface="Segoe UI"/>
              </a:rPr>
              <a:t> They are more instructive than the successes, and a report that admits one is more credible than one that does not — because the alternative hypothesis, that you had no failures, is not believable.</a:t>
            </a:r>
          </a:p>
        </p:txBody>
      </p:sp>
      <p:sp>
        <p:nvSpPr>
          <p:cNvPr id="10" name="body-1"/>
          <p:cNvSpPr txBox="1"/>
          <p:nvPr/>
        </p:nvSpPr>
        <p:spPr>
          <a:xfrm>
            <a:off x="1060704" y="3526307"/>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 negative result is a result.</a:t>
            </a:r>
            <a:r>
              <a:rPr sz="2100" b="0" i="0">
                <a:solidFill>
                  <a:srgbClr val="1C252B"/>
                </a:solidFill>
                <a:latin typeface="Segoe UI"/>
              </a:rPr>
              <a:t> “I predicted the crossover at </a:t>
            </a:r>
            <a:r>
              <a:rPr sz="2100" b="0" i="1">
                <a:solidFill>
                  <a:srgbClr val="1C252B"/>
                </a:solidFill>
                <a:latin typeface="Cambria"/>
              </a:rPr>
              <a:t>n</a:t>
            </a:r>
            <a:r>
              <a:rPr sz="2100" b="0" i="0">
                <a:solidFill>
                  <a:srgbClr val="1C252B"/>
                </a:solidFill>
                <a:latin typeface="Cambria"/>
              </a:rPr>
              <a:t> ≈ 1000</a:t>
            </a:r>
            <a:r>
              <a:rPr sz="2100" b="0" i="0">
                <a:solidFill>
                  <a:srgbClr val="1C252B"/>
                </a:solidFill>
                <a:latin typeface="Segoe UI"/>
              </a:rPr>
              <a:t> and did not find one up to </a:t>
            </a:r>
            <a:r>
              <a:rPr sz="2100" b="0" i="1">
                <a:solidFill>
                  <a:srgbClr val="1C252B"/>
                </a:solidFill>
                <a:latin typeface="Cambria"/>
              </a:rPr>
              <a:t>n</a:t>
            </a:r>
            <a:r>
              <a:rPr sz="2100" b="0" i="0">
                <a:solidFill>
                  <a:srgbClr val="1C252B"/>
                </a:solidFill>
                <a:latin typeface="Cambria"/>
              </a:rPr>
              <a:t> = 10</a:t>
            </a:r>
            <a:r>
              <a:rPr sz="1400" b="0" i="0" baseline="30000">
                <a:solidFill>
                  <a:srgbClr val="1C252B"/>
                </a:solidFill>
                <a:latin typeface="Cambria"/>
              </a:rPr>
              <a:t>6</a:t>
            </a:r>
            <a:r>
              <a:rPr sz="2100" b="0" i="0">
                <a:solidFill>
                  <a:srgbClr val="1C252B"/>
                </a:solidFill>
                <a:latin typeface="Segoe UI"/>
              </a:rPr>
              <a:t>” is a perfectly good project outcome, provided you say what you would conclude from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47382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Defence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23.1   What the Project Is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23.2   Choosing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23.3   The Method, Collected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23.4   The Report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23.5   The Defence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§23.5     </a:t>
            </a:r>
            <a:fld id="{1C749691-2A9D-4400-9FB8-C2882DBA7C96}" type="slidenum">
              <a:rPr lang="en-GB" sz="1000">
                <a:solidFill>
                  <a:srgbClr val="8795A1"/>
                </a:solidFill>
                <a:latin typeface="Segoe UI"/>
              </a:rPr>
              <a:t>23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72263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asked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10CC979B-10C6-4B60-8D55-563D415AFA63}"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2661"/>
          </a:xfrm>
          <a:prstGeom prst="roundRect">
            <a:avLst>
              <a:gd name="adj" fmla="val 21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266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Fifteen minutes. The questions are about method, not about whether you can recite a bound.</a:t>
            </a:r>
          </a:p>
        </p:txBody>
      </p:sp>
      <p:sp>
        <p:nvSpPr>
          <p:cNvPr id="10" name="body-1"/>
          <p:cNvSpPr txBox="1"/>
          <p:nvPr/>
        </p:nvSpPr>
        <p:spPr>
          <a:xfrm>
            <a:off x="1060704" y="2482113"/>
            <a:ext cx="10161727" cy="3262731"/>
          </a:xfrm>
          <a:prstGeom prst="rect">
            <a:avLst/>
          </a:prstGeom>
          <a:noFill/>
        </p:spPr>
        <p:txBody>
          <a:bodyPr wrap="square" anchor="t" lIns="0" rIns="0" tIns="0" bIns="0">
            <a:noAutofit/>
          </a:bodyPr>
          <a:lstStyle/>
          <a:p>
            <a:pPr algn="l" marL="458330" indent="-458330">
              <a:lnSpc>
                <a:spcPct val="104000"/>
              </a:lnSpc>
              <a:spcBef>
                <a:spcPts val="0"/>
              </a:spcBef>
              <a:spcAft>
                <a:spcPts val="665"/>
              </a:spcAft>
            </a:pPr>
            <a:r>
              <a:rPr sz="1900" b="1">
                <a:solidFill>
                  <a:srgbClr val="1F618D"/>
                </a:solidFill>
                <a:latin typeface="Segoe UI"/>
              </a:rPr>
              <a:t>1.	</a:t>
            </a:r>
            <a:r>
              <a:rPr sz="1900" b="0" i="1">
                <a:solidFill>
                  <a:srgbClr val="1C252B"/>
                </a:solidFill>
                <a:latin typeface="Segoe UI"/>
              </a:rPr>
              <a:t>What would have falsified your claim?</a:t>
            </a:r>
            <a:r>
              <a:rPr sz="1900" b="0" i="0">
                <a:solidFill>
                  <a:srgbClr val="1C252B"/>
                </a:solidFill>
                <a:latin typeface="Segoe UI"/>
              </a:rPr>
              <a:t> If nothing would, it was not a claim.</a:t>
            </a:r>
          </a:p>
          <a:p>
            <a:pPr algn="l" marL="458330" indent="-458330">
              <a:lnSpc>
                <a:spcPct val="104000"/>
              </a:lnSpc>
              <a:spcBef>
                <a:spcPts val="0"/>
              </a:spcBef>
              <a:spcAft>
                <a:spcPts val="665"/>
              </a:spcAft>
            </a:pPr>
            <a:r>
              <a:rPr sz="1900" b="1">
                <a:solidFill>
                  <a:srgbClr val="1F618D"/>
                </a:solidFill>
                <a:latin typeface="Segoe UI"/>
              </a:rPr>
              <a:t>2.	</a:t>
            </a:r>
            <a:r>
              <a:rPr sz="1900" b="0" i="1">
                <a:solidFill>
                  <a:srgbClr val="1C252B"/>
                </a:solidFill>
                <a:latin typeface="Segoe UI"/>
              </a:rPr>
              <a:t>Why those input shapes?</a:t>
            </a:r>
            <a:r>
              <a:rPr sz="1900" b="0" i="0">
                <a:solidFill>
                  <a:srgbClr val="1C252B"/>
                </a:solidFill>
                <a:latin typeface="Segoe UI"/>
              </a:rPr>
              <a:t> Name the case each one is probing.</a:t>
            </a:r>
          </a:p>
          <a:p>
            <a:pPr algn="l" marL="458330" indent="-458330">
              <a:lnSpc>
                <a:spcPct val="104000"/>
              </a:lnSpc>
              <a:spcBef>
                <a:spcPts val="0"/>
              </a:spcBef>
              <a:spcAft>
                <a:spcPts val="665"/>
              </a:spcAft>
            </a:pPr>
            <a:r>
              <a:rPr sz="1900" b="1">
                <a:solidFill>
                  <a:srgbClr val="1F618D"/>
                </a:solidFill>
                <a:latin typeface="Segoe UI"/>
              </a:rPr>
              <a:t>3.	</a:t>
            </a:r>
            <a:r>
              <a:rPr sz="1900" b="0" i="1">
                <a:solidFill>
                  <a:srgbClr val="1C252B"/>
                </a:solidFill>
                <a:latin typeface="Segoe UI"/>
              </a:rPr>
              <a:t>How do you know your implementation is correct?</a:t>
            </a:r>
            <a:r>
              <a:rPr sz="1900" b="0" i="0">
                <a:solidFill>
                  <a:srgbClr val="1C252B"/>
                </a:solidFill>
                <a:latin typeface="Segoe UI"/>
              </a:rPr>
              <a:t> Point at the oracle.</a:t>
            </a:r>
          </a:p>
          <a:p>
            <a:pPr algn="l" marL="458330" indent="-458330">
              <a:lnSpc>
                <a:spcPct val="104000"/>
              </a:lnSpc>
              <a:spcBef>
                <a:spcPts val="0"/>
              </a:spcBef>
              <a:spcAft>
                <a:spcPts val="665"/>
              </a:spcAft>
            </a:pPr>
            <a:r>
              <a:rPr sz="1900" b="1">
                <a:solidFill>
                  <a:srgbClr val="1F618D"/>
                </a:solidFill>
                <a:latin typeface="Segoe UI"/>
              </a:rPr>
              <a:t>4.	</a:t>
            </a:r>
            <a:r>
              <a:rPr sz="1900" b="0" i="1">
                <a:solidFill>
                  <a:srgbClr val="1C252B"/>
                </a:solidFill>
                <a:latin typeface="Segoe UI"/>
              </a:rPr>
              <a:t>Your ratio column reads 3.8 and you predicted 4. Is that agreement?</a:t>
            </a:r>
            <a:r>
              <a:rPr sz="1900" b="0" i="0">
                <a:solidFill>
                  <a:srgbClr val="1C252B"/>
                </a:solidFill>
                <a:latin typeface="Segoe UI"/>
              </a:rPr>
              <a:t> Know your noise level and your clock resolution.</a:t>
            </a:r>
          </a:p>
          <a:p>
            <a:pPr algn="l" marL="458330" indent="-458330">
              <a:lnSpc>
                <a:spcPct val="104000"/>
              </a:lnSpc>
              <a:spcBef>
                <a:spcPts val="0"/>
              </a:spcBef>
              <a:spcAft>
                <a:spcPts val="665"/>
              </a:spcAft>
            </a:pPr>
            <a:r>
              <a:rPr sz="1900" b="1">
                <a:solidFill>
                  <a:srgbClr val="1F618D"/>
                </a:solidFill>
                <a:latin typeface="Segoe UI"/>
              </a:rPr>
              <a:t>5.	</a:t>
            </a:r>
            <a:r>
              <a:rPr sz="1900" b="0" i="1">
                <a:solidFill>
                  <a:srgbClr val="1C252B"/>
                </a:solidFill>
                <a:latin typeface="Segoe UI"/>
              </a:rPr>
              <a:t>What is the slowest part, and is it the part you analysed?</a:t>
            </a:r>
            <a:r>
              <a:rPr sz="1900" b="0" i="0">
                <a:solidFill>
                  <a:srgbClr val="1C252B"/>
                </a:solidFill>
                <a:latin typeface="Segoe UI"/>
              </a:rPr>
              <a:t> Many projects measure their input generator.</a:t>
            </a:r>
          </a:p>
          <a:p>
            <a:pPr algn="l" marL="458330" indent="-458330">
              <a:lnSpc>
                <a:spcPct val="104000"/>
              </a:lnSpc>
              <a:spcBef>
                <a:spcPts val="0"/>
              </a:spcBef>
              <a:spcAft>
                <a:spcPts val="665"/>
              </a:spcAft>
            </a:pPr>
            <a:r>
              <a:rPr sz="1900" b="1">
                <a:solidFill>
                  <a:srgbClr val="1F618D"/>
                </a:solidFill>
                <a:latin typeface="Segoe UI"/>
              </a:rPr>
              <a:t>6.	</a:t>
            </a:r>
            <a:r>
              <a:rPr sz="1900" b="0" i="1">
                <a:solidFill>
                  <a:srgbClr val="1C252B"/>
                </a:solidFill>
                <a:latin typeface="Segoe UI"/>
              </a:rPr>
              <a:t>What did you expect that did not happen?</a:t>
            </a:r>
          </a:p>
          <a:p>
            <a:pPr algn="l" marL="458330" indent="-458330">
              <a:lnSpc>
                <a:spcPct val="104000"/>
              </a:lnSpc>
              <a:spcBef>
                <a:spcPts val="0"/>
              </a:spcBef>
              <a:spcAft>
                <a:spcPts val="0"/>
              </a:spcAft>
            </a:pPr>
            <a:r>
              <a:rPr sz="1900" b="1">
                <a:solidFill>
                  <a:srgbClr val="1F618D"/>
                </a:solidFill>
                <a:latin typeface="Segoe UI"/>
              </a:rPr>
              <a:t>7.	</a:t>
            </a:r>
            <a:r>
              <a:rPr sz="1900" b="0" i="1">
                <a:solidFill>
                  <a:srgbClr val="1C252B"/>
                </a:solidFill>
                <a:latin typeface="Segoe UI"/>
              </a:rPr>
              <a:t>What would you measure next, with another week?</a:t>
            </a:r>
          </a:p>
        </p:txBody>
      </p:sp>
      <p:sp>
        <p:nvSpPr>
          <p:cNvPr id="3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fill">
            <a:extLst>
              <a:ext uri="{C183D7F6-B498-43B3-948B-1728B52AA6E4}">
                <adec:decorative xmlns:adec="http://schemas.microsoft.com/office/drawing/2017/decorative" val="1"/>
              </a:ext>
            </a:extLst>
          </p:cNvPr>
          <p:cNvSpPr/>
          <p:nvPr/>
        </p:nvSpPr>
        <p:spPr>
          <a:xfrm>
            <a:off x="0" y="0"/>
            <a:ext cx="59714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fade">
                                      <p:cBhvr>
                                        <p:cTn id="28" dur="380"/>
                                        <p:tgtEl>
                                          <p:spTgt spid="10">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animEffect transition="in" filter="fade">
                                      <p:cBhvr>
                                        <p:cTn id="33" dur="380"/>
                                        <p:tgtEl>
                                          <p:spTgt spid="10">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xEl>
                                              <p:pRg st="6" end="6"/>
                                            </p:txEl>
                                          </p:spTgt>
                                        </p:tgtEl>
                                        <p:attrNameLst>
                                          <p:attrName>style.visibility</p:attrName>
                                        </p:attrNameLst>
                                      </p:cBhvr>
                                      <p:to>
                                        <p:strVal val="visible"/>
                                      </p:to>
                                    </p:set>
                                    <p:animEffect transition="in" filter="fade">
                                      <p:cBhvr>
                                        <p:cTn id="38" dur="38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Marking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4942C3B2-26AB-48B5-9F97-2A632EB1AF80}"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32224"/>
          </a:xfrm>
          <a:prstGeom prst="roundRect">
            <a:avLst>
              <a:gd name="adj" fmla="val 216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3222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10161726" cy="2798059"/>
        </p:xfrm>
        <a:graphic>
          <a:graphicData uri="http://schemas.openxmlformats.org/drawingml/2006/table">
            <a:tbl>
              <a:tblPr firstRow="0" bandRow="0" firstCol="0" lastRow="0" lastCol="0" bandCol="0">
                <a:tableStyleId>{2D5ABB26-0587-4C30-8999-92F81FD0307C}</a:tableStyleId>
              </a:tblPr>
              <a:tblGrid>
                <a:gridCol w="3730896"/>
                <a:gridCol w="1105450"/>
                <a:gridCol w="5325380"/>
              </a:tblGrid>
              <a:tr h="420623">
                <a:tc>
                  <a:txBody>
                    <a:bodyPr wrap="square"/>
                    <a:lstStyle/>
                    <a:p>
                      <a:pPr algn="l"/>
                      <a:r>
                        <a:rPr sz="1800" b="1" i="0">
                          <a:solidFill>
                            <a:srgbClr val="1A5276"/>
                          </a:solidFill>
                          <a:latin typeface="Segoe UI"/>
                        </a:rPr>
                        <a:t>Component</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Weight</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Looking for</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20623">
                <a:tc>
                  <a:txBody>
                    <a:bodyPr wrap="square"/>
                    <a:lstStyle/>
                    <a:p>
                      <a:pPr algn="l"/>
                      <a:r>
                        <a:rPr sz="1800" b="0" i="0">
                          <a:solidFill>
                            <a:srgbClr val="1C252B"/>
                          </a:solidFill>
                          <a:latin typeface="Segoe UI"/>
                        </a:rPr>
                        <a:t>Correctness of implementation</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20%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an oracle, and it passes</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Quality of the analysis</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25%</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recurrences solved, bounds justified, not quoted</a:t>
                      </a:r>
                      <a:endParaRPr sz="18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800" b="0" i="0">
                          <a:solidFill>
                            <a:srgbClr val="1C252B"/>
                          </a:solidFill>
                          <a:latin typeface="Segoe UI"/>
                        </a:rPr>
                        <a:t>Experimental design</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25%</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repetitions, shapes, setup excluded, ratios reported</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Honesty of reporting</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15%</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anomalies shown and discussed, not smoothed</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l"/>
                      <a:r>
                        <a:rPr sz="1800" b="0" i="0">
                          <a:solidFill>
                            <a:srgbClr val="1C252B"/>
                          </a:solidFill>
                          <a:latin typeface="Segoe UI"/>
                        </a:rPr>
                        <a:t>Defence</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800" b="0" i="0">
                          <a:solidFill>
                            <a:srgbClr val="1C252B"/>
                          </a:solidFill>
                          <a:latin typeface="Segoe UI"/>
                        </a:rPr>
                        <a:t>15%</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800" b="0" i="0">
                          <a:solidFill>
                            <a:srgbClr val="1C252B"/>
                          </a:solidFill>
                          <a:latin typeface="Segoe UI"/>
                        </a:rPr>
                        <a:t>answers about method</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body-1"/>
          <p:cNvSpPr txBox="1"/>
          <p:nvPr/>
        </p:nvSpPr>
        <p:spPr>
          <a:xfrm>
            <a:off x="1060704" y="499300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Note that honesty carries more weight than the result.</a:t>
            </a:r>
            <a:r>
              <a:rPr sz="2100" b="0" i="0">
                <a:solidFill>
                  <a:srgbClr val="1C252B"/>
                </a:solidFill>
                <a:latin typeface="Segoe UI"/>
              </a:rPr>
              <a:t> A careful negative result marks higher than a confident claim unsupported by its own tables.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2202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AF51691C-A2F8-466B-B50A-40C7759DE320}"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Timing a debug build.</a:t>
            </a:r>
            <a:r>
              <a:rPr sz="1700" b="0" i="0">
                <a:solidFill>
                  <a:srgbClr val="1C252B"/>
                </a:solidFill>
                <a:latin typeface="Segoe UI"/>
              </a:rPr>
              <a:t> The single commonest fatal error.</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Measuring your input generator.</a:t>
            </a:r>
            <a:r>
              <a:rPr sz="1700" b="0" i="0">
                <a:solidFill>
                  <a:srgbClr val="1C252B"/>
                </a:solidFill>
                <a:latin typeface="Segoe UI"/>
              </a:rPr>
              <a:t> Shuffling </a:t>
            </a:r>
            <a:r>
              <a:rPr sz="1700" b="0" i="0">
                <a:solidFill>
                  <a:srgbClr val="1C252B"/>
                </a:solidFill>
                <a:latin typeface="Cambria"/>
              </a:rPr>
              <a:t>10</a:t>
            </a:r>
            <a:r>
              <a:rPr sz="1100" b="0" i="0" baseline="30000">
                <a:solidFill>
                  <a:srgbClr val="1C252B"/>
                </a:solidFill>
                <a:latin typeface="Cambria"/>
              </a:rPr>
              <a:t>7</a:t>
            </a:r>
            <a:r>
              <a:rPr sz="1700" b="0" i="0">
                <a:solidFill>
                  <a:srgbClr val="1C252B"/>
                </a:solidFill>
                <a:latin typeface="Segoe UI"/>
              </a:rPr>
              <a:t> elements costs more than sorting them in some designs.</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Reporting absolute times only.</a:t>
            </a:r>
            <a:r>
              <a:rPr sz="1700" b="0" i="0">
                <a:solidFill>
                  <a:srgbClr val="1C252B"/>
                </a:solidFill>
                <a:latin typeface="Segoe UI"/>
              </a:rPr>
              <a:t> They are a fact about your laptop.</a:t>
            </a:r>
          </a:p>
        </p:txBody>
      </p:sp>
      <p:sp>
        <p:nvSpPr>
          <p:cNvPr id="16" name="!!pb3">
            <a:extLst>
              <a:ext uri="{C183D7F6-B498-43B3-948B-1728B52AA6E4}">
                <adec:decorative xmlns:adec="http://schemas.microsoft.com/office/drawing/2017/decorative" val="1"/>
              </a:ext>
            </a:extLst>
          </p:cNvPr>
          <p:cNvSpPr/>
          <p:nvPr/>
        </p:nvSpPr>
        <p:spPr>
          <a:xfrm>
            <a:off x="658368" y="345643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47929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43814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One input shape.</a:t>
            </a:r>
            <a:r>
              <a:rPr sz="1700" b="0" i="0">
                <a:solidFill>
                  <a:srgbClr val="1C252B"/>
                </a:solidFill>
                <a:latin typeface="Segoe UI"/>
              </a:rPr>
              <a:t> Usually “random”, which is the shape on which the interesting failures do not occur.</a:t>
            </a:r>
          </a:p>
        </p:txBody>
      </p:sp>
      <p:sp>
        <p:nvSpPr>
          <p:cNvPr id="19" name="!!pb4">
            <a:extLst>
              <a:ext uri="{C183D7F6-B498-43B3-948B-1728B52AA6E4}">
                <adec:decorative xmlns:adec="http://schemas.microsoft.com/office/drawing/2017/decorative" val="1"/>
              </a:ext>
            </a:extLst>
          </p:cNvPr>
          <p:cNvSpPr/>
          <p:nvPr/>
        </p:nvSpPr>
        <p:spPr>
          <a:xfrm>
            <a:off x="658368" y="402335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04622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005072"/>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Claiming a crossover from two points.</a:t>
            </a:r>
            <a:r>
              <a:rPr sz="1700" b="0" i="0">
                <a:solidFill>
                  <a:srgbClr val="1C252B"/>
                </a:solidFill>
                <a:latin typeface="Segoe UI"/>
              </a:rPr>
              <a:t> Two points determine a line and nothing else.</a:t>
            </a:r>
          </a:p>
        </p:txBody>
      </p:sp>
      <p:sp>
        <p:nvSpPr>
          <p:cNvPr id="22" name="!!pb5">
            <a:extLst>
              <a:ext uri="{C183D7F6-B498-43B3-948B-1728B52AA6E4}">
                <adec:decorative xmlns:adec="http://schemas.microsoft.com/office/drawing/2017/decorative" val="1"/>
              </a:ext>
            </a:extLst>
          </p:cNvPr>
          <p:cNvSpPr/>
          <p:nvPr/>
        </p:nvSpPr>
        <p:spPr>
          <a:xfrm>
            <a:off x="658368" y="459028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461314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457200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Smoothing an anomaly out of the table.</a:t>
            </a:r>
            <a:r>
              <a:rPr sz="1700" b="0" i="0">
                <a:solidFill>
                  <a:srgbClr val="1C252B"/>
                </a:solidFill>
                <a:latin typeface="Segoe UI"/>
              </a:rPr>
              <a:t> It is the most interesting thing you found.</a:t>
            </a:r>
          </a:p>
        </p:txBody>
      </p:sp>
      <p:sp>
        <p:nvSpPr>
          <p:cNvPr id="25" name="!!pb6">
            <a:extLst>
              <a:ext uri="{C183D7F6-B498-43B3-948B-1728B52AA6E4}">
                <adec:decorative xmlns:adec="http://schemas.microsoft.com/office/drawing/2017/decorative" val="1"/>
              </a:ext>
            </a:extLst>
          </p:cNvPr>
          <p:cNvSpPr/>
          <p:nvPr/>
        </p:nvSpPr>
        <p:spPr>
          <a:xfrm>
            <a:off x="658368" y="515721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x6"/>
          <p:cNvSpPr txBox="1"/>
          <p:nvPr/>
        </p:nvSpPr>
        <p:spPr>
          <a:xfrm>
            <a:off x="658368" y="518007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7" name="!!pt6"/>
          <p:cNvSpPr txBox="1"/>
          <p:nvPr/>
        </p:nvSpPr>
        <p:spPr>
          <a:xfrm>
            <a:off x="1261872" y="513892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Quoting an asymptotic constant from a textbook as though it applied at your </a:t>
            </a:r>
            <a:r>
              <a:rPr sz="1700" b="1" i="1">
                <a:solidFill>
                  <a:srgbClr val="1C252B"/>
                </a:solidFill>
                <a:latin typeface="Cambria"/>
              </a:rPr>
              <a:t>n</a:t>
            </a:r>
            <a:r>
              <a:rPr sz="1700" b="1" i="0">
                <a:solidFill>
                  <a:srgbClr val="1C252B"/>
                </a:solidFill>
                <a:latin typeface="Segoe UI"/>
              </a:rPr>
              <a:t>.</a:t>
            </a:r>
            <a:r>
              <a:rPr sz="1700" b="0" i="0">
                <a:solidFill>
                  <a:srgbClr val="1C252B"/>
                </a:solidFill>
                <a:latin typeface="Segoe UI"/>
              </a:rPr>
              <a:t> Chapter 12 measured 2.46 against an asymptote of 2.99, and the theory was right.</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646906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4CF5B94A-2EA8-4C07-993B-04A9781E0995}" type="slidenum">
              <a:rPr lang="en-GB" sz="1000">
                <a:solidFill>
                  <a:srgbClr val="8795A1"/>
                </a:solidFill>
                <a:latin typeface="Segoe UI"/>
              </a:rPr>
              <a:t>27</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Leaving the defence until the report is finished.</a:t>
            </a:r>
            <a:r>
              <a:rPr sz="1700" b="0" i="0">
                <a:solidFill>
                  <a:srgbClr val="1C252B"/>
                </a:solidFill>
                <a:latin typeface="Segoe UI"/>
              </a:rPr>
              <a:t> The questions above are better used as a checklist while you work.</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71787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CB0D83BD-52DB-459E-A268-59D4CB8B723E}" type="slidenum">
              <a:rPr lang="en-GB" sz="1000">
                <a:solidFill>
                  <a:srgbClr val="8795A1"/>
                </a:solidFill>
                <a:latin typeface="Segoe UI"/>
              </a:rPr>
              <a:t>28</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complete measurement harness. Copy it, replace the two algorithms in part 3, and it produces the tables your report needs.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9050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Timing: median, and honest about its own limits</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The input shapes that catch things</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The thing under test, and the thing it is checked against</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Correctness first, timing second</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Gate: do not report timings for a wrong algorithm</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The table: every shape, every size, with ratios</a:t>
            </a:r>
          </a:p>
          <a:p>
            <a:pPr algn="l" marL="367434" indent="-367434">
              <a:lnSpc>
                <a:spcPct val="100000"/>
              </a:lnSpc>
              <a:spcBef>
                <a:spcPts val="0"/>
              </a:spcBef>
              <a:spcAft>
                <a:spcPts val="0"/>
              </a:spcAft>
            </a:pPr>
            <a:r>
              <a:rPr sz="1400" b="1">
                <a:solidFill>
                  <a:srgbClr val="117A65"/>
                </a:solidFill>
                <a:latin typeface="Segoe UI"/>
              </a:rPr>
              <a:t>7.	</a:t>
            </a:r>
            <a:r>
              <a:rPr sz="1400" b="0" i="0">
                <a:solidFill>
                  <a:srgbClr val="1C252B"/>
                </a:solidFill>
                <a:latin typeface="Segoe UI"/>
              </a:rPr>
              <a:t>The ratios, which is what the claim rests on</a:t>
            </a:r>
          </a:p>
        </p:txBody>
      </p:sp>
      <p:sp>
        <p:nvSpPr>
          <p:cNvPr id="3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Implement, measure, defend</a:t>
            </a:r>
          </a:p>
        </p:txBody>
      </p:sp>
      <p:sp>
        <p:nvSpPr>
          <p:cNvPr id="4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62 lines of C++</a:t>
            </a:r>
          </a:p>
        </p:txBody>
      </p:sp>
      <p:sp>
        <p:nvSpPr>
          <p:cNvPr id="4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5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code/ch23_harness.cpp</a:t>
            </a:r>
          </a:p>
        </p:txBody>
      </p:sp>
      <p:sp>
        <p:nvSpPr>
          <p:cNvPr id="5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20BF614E-4418-4361-9BF6-DB0F054916D1}"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52143"/>
          </a:xfrm>
          <a:prstGeom prst="roundRect">
            <a:avLst>
              <a:gd name="adj" fmla="val 79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code/ch23_harness.cpp</a:t>
            </a:r>
          </a:p>
        </p:txBody>
      </p:sp>
      <p:sp>
        <p:nvSpPr>
          <p:cNvPr id="14" name="!!code-text" descr="// ch23_harness.cpp -- the measurement harness for your semester project. // Build: cl /O2 /EHsc /std:c++17 ch23_harness.cpp (see Appendix A)"/>
          <p:cNvSpPr txBox="1"/>
          <p:nvPr/>
        </p:nvSpPr>
        <p:spPr>
          <a:xfrm>
            <a:off x="1362456" y="2523744"/>
            <a:ext cx="9987991" cy="6583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ch23_harness.cpp -- the measurement harness for your semester project.</a:t>
            </a:r>
          </a:p>
          <a:p>
            <a:pPr>
              <a:lnSpc>
                <a:spcPct val="100000"/>
              </a:lnSpc>
              <a:spcAft>
                <a:spcPts val="0"/>
              </a:spcAft>
            </a:pPr>
            <a:r>
              <a:rPr sz="1800" i="1">
                <a:solidFill>
                  <a:srgbClr val="8795A1"/>
                </a:solidFill>
                <a:latin typeface="Consolas"/>
              </a:rPr>
              <a:t>// Build: cl /O2 /EHsc /std:c++17 ch23_harness.cpp    (see Appendix A)</a:t>
            </a:r>
          </a:p>
        </p:txBody>
      </p:sp>
      <p:sp>
        <p:nvSpPr>
          <p:cNvPr id="15" name="!!code-num"/>
          <p:cNvSpPr txBox="1"/>
          <p:nvPr/>
        </p:nvSpPr>
        <p:spPr>
          <a:xfrm>
            <a:off x="768096" y="2523744"/>
            <a:ext cx="393192" cy="6583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1549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08E419D4-6F85-4989-B63A-D1014CBAD702}"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Timing: median, and honest about its own limits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code/ch23_harness.cpp</a:t>
            </a:r>
          </a:p>
        </p:txBody>
      </p:sp>
      <p:sp>
        <p:nvSpPr>
          <p:cNvPr id="14" name="!!code-text" descr="// --- 1. Timing: median, and honest about its own limits ------------ // A mean is dragged by one scheduler interruption; a minimum flatters // the cache; one run measures the weather. The median of an odd // number of runs is the cheapest estimator that is not actively // misleading. // // And: what is the smallest interval this clock can resolve? Any // measurement within an order of magnitude of it is not evidence. static double clock_resolution_ms() { using C = std::chrono::steady_clock; double best = 1e9; for (int i = 0; i &lt; 1000; ++i) { auto a = C::now(), b = C::now(); while (b == a) b = C::now(); best = std::min(best, std::chrono::duration&lt;double, std::milli&gt;(b - a).count()); } return best; }"/>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1">
                <a:solidFill>
                  <a:srgbClr val="8795A1"/>
                </a:solidFill>
                <a:latin typeface="Consolas"/>
              </a:rPr>
              <a:t>// --- 1. Timing: median, and honest about its own limits ------------</a:t>
            </a:r>
          </a:p>
          <a:p>
            <a:pPr>
              <a:lnSpc>
                <a:spcPct val="100000"/>
              </a:lnSpc>
              <a:spcAft>
                <a:spcPts val="0"/>
              </a:spcAft>
            </a:pPr>
            <a:r>
              <a:rPr sz="1200" i="1">
                <a:solidFill>
                  <a:srgbClr val="8795A1"/>
                </a:solidFill>
                <a:latin typeface="Consolas"/>
              </a:rPr>
              <a:t>// A mean is dragged by one scheduler interruption; a minimum flatters</a:t>
            </a:r>
          </a:p>
          <a:p>
            <a:pPr>
              <a:lnSpc>
                <a:spcPct val="100000"/>
              </a:lnSpc>
              <a:spcAft>
                <a:spcPts val="0"/>
              </a:spcAft>
            </a:pPr>
            <a:r>
              <a:rPr sz="1200" i="1">
                <a:solidFill>
                  <a:srgbClr val="8795A1"/>
                </a:solidFill>
                <a:latin typeface="Consolas"/>
              </a:rPr>
              <a:t>// the cache; one run measures the weather. The median of an odd</a:t>
            </a:r>
          </a:p>
          <a:p>
            <a:pPr>
              <a:lnSpc>
                <a:spcPct val="100000"/>
              </a:lnSpc>
              <a:spcAft>
                <a:spcPts val="0"/>
              </a:spcAft>
            </a:pPr>
            <a:r>
              <a:rPr sz="1200" i="1">
                <a:solidFill>
                  <a:srgbClr val="8795A1"/>
                </a:solidFill>
                <a:latin typeface="Consolas"/>
              </a:rPr>
              <a:t>// number of runs is the cheapest estimator that is not actively</a:t>
            </a:r>
          </a:p>
          <a:p>
            <a:pPr>
              <a:lnSpc>
                <a:spcPct val="100000"/>
              </a:lnSpc>
              <a:spcAft>
                <a:spcPts val="0"/>
              </a:spcAft>
            </a:pPr>
            <a:r>
              <a:rPr sz="1200" i="1">
                <a:solidFill>
                  <a:srgbClr val="8795A1"/>
                </a:solidFill>
                <a:latin typeface="Consolas"/>
              </a:rPr>
              <a:t>// misleading.</a:t>
            </a:r>
          </a:p>
          <a:p>
            <a:pPr>
              <a:lnSpc>
                <a:spcPct val="100000"/>
              </a:lnSpc>
              <a:spcAft>
                <a:spcPts val="0"/>
              </a:spcAft>
            </a:pPr>
            <a:r>
              <a:rPr sz="1200" i="1">
                <a:solidFill>
                  <a:srgbClr val="8795A1"/>
                </a:solidFill>
                <a:latin typeface="Consolas"/>
              </a:rPr>
              <a:t>//</a:t>
            </a:r>
          </a:p>
          <a:p>
            <a:pPr>
              <a:lnSpc>
                <a:spcPct val="100000"/>
              </a:lnSpc>
              <a:spcAft>
                <a:spcPts val="0"/>
              </a:spcAft>
            </a:pPr>
            <a:r>
              <a:rPr sz="1200" i="1">
                <a:solidFill>
                  <a:srgbClr val="8795A1"/>
                </a:solidFill>
                <a:latin typeface="Consolas"/>
              </a:rPr>
              <a:t>// And: what is the smallest interval this clock can resolve? Any</a:t>
            </a:r>
          </a:p>
          <a:p>
            <a:pPr>
              <a:lnSpc>
                <a:spcPct val="100000"/>
              </a:lnSpc>
              <a:spcAft>
                <a:spcPts val="0"/>
              </a:spcAft>
            </a:pPr>
            <a:r>
              <a:rPr sz="1200" i="1">
                <a:solidFill>
                  <a:srgbClr val="8795A1"/>
                </a:solidFill>
                <a:latin typeface="Consolas"/>
              </a:rPr>
              <a:t>// measurement within an order of magnitude of it is not evidence.</a:t>
            </a:r>
          </a:p>
          <a:p>
            <a:pPr>
              <a:lnSpc>
                <a:spcPct val="100000"/>
              </a:lnSpc>
              <a:spcAft>
                <a:spcPts val="0"/>
              </a:spcAft>
            </a:pPr>
            <a:r>
              <a:rPr sz="1200" i="0">
                <a:solidFill>
                  <a:srgbClr val="5DADE2"/>
                </a:solidFill>
                <a:latin typeface="Consolas"/>
              </a:rPr>
              <a:t>static</a:t>
            </a:r>
            <a:r>
              <a:rPr sz="1200" i="0">
                <a:solidFill>
                  <a:srgbClr val="E8EDF2"/>
                </a:solidFill>
                <a:latin typeface="Consolas"/>
              </a:rPr>
              <a:t> </a:t>
            </a:r>
            <a:r>
              <a:rPr sz="1200" i="0">
                <a:solidFill>
                  <a:srgbClr val="5DADE2"/>
                </a:solidFill>
                <a:latin typeface="Consolas"/>
              </a:rPr>
              <a:t>double</a:t>
            </a:r>
            <a:r>
              <a:rPr sz="1200" i="0">
                <a:solidFill>
                  <a:srgbClr val="E8EDF2"/>
                </a:solidFill>
                <a:latin typeface="Consolas"/>
              </a:rPr>
              <a:t> </a:t>
            </a:r>
            <a:r>
              <a:rPr sz="1200" i="0">
                <a:solidFill>
                  <a:srgbClr val="C39BD3"/>
                </a:solidFill>
                <a:latin typeface="Consolas"/>
              </a:rPr>
              <a:t>clock_resolution_ms</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using</a:t>
            </a:r>
            <a:r>
              <a:rPr sz="1200" i="0">
                <a:solidFill>
                  <a:srgbClr val="E8EDF2"/>
                </a:solidFill>
                <a:latin typeface="Consolas"/>
              </a:rPr>
              <a:t> </a:t>
            </a:r>
            <a:r>
              <a:rPr sz="1200" i="0">
                <a:solidFill>
                  <a:srgbClr val="E8EDF2"/>
                </a:solidFill>
                <a:latin typeface="Consolas"/>
              </a:rPr>
              <a:t>C</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std</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chrono</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steady_clock</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double</a:t>
            </a:r>
            <a:r>
              <a:rPr sz="1200" i="0">
                <a:solidFill>
                  <a:srgbClr val="E8EDF2"/>
                </a:solidFill>
                <a:latin typeface="Consolas"/>
              </a:rPr>
              <a:t> </a:t>
            </a:r>
            <a:r>
              <a:rPr sz="1200" i="0">
                <a:solidFill>
                  <a:srgbClr val="E8EDF2"/>
                </a:solidFill>
                <a:latin typeface="Consolas"/>
              </a:rPr>
              <a:t>best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1e9</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AEB6BF"/>
                </a:solidFill>
                <a:latin typeface="Consolas"/>
              </a:rPr>
              <a:t>(</a:t>
            </a:r>
            <a:r>
              <a:rPr sz="1200" i="0">
                <a:solidFill>
                  <a:srgbClr val="5DADE2"/>
                </a:solidFill>
                <a:latin typeface="Consolas"/>
              </a:rPr>
              <a:t>int</a:t>
            </a:r>
            <a:r>
              <a:rPr sz="1200" i="0">
                <a:solidFill>
                  <a:srgbClr val="E8EDF2"/>
                </a:solidFill>
                <a:latin typeface="Consolas"/>
              </a:rPr>
              <a:t> </a:t>
            </a:r>
            <a:r>
              <a:rPr sz="1200" i="0">
                <a:solidFill>
                  <a:srgbClr val="E8EDF2"/>
                </a:solidFill>
                <a:latin typeface="Consolas"/>
              </a:rPr>
              <a:t>i</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i</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F7DC6F"/>
                </a:solidFill>
                <a:latin typeface="Consolas"/>
              </a:rPr>
              <a:t>1000</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i</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auto</a:t>
            </a:r>
            <a:r>
              <a:rPr sz="1200" i="0">
                <a:solidFill>
                  <a:srgbClr val="E8EDF2"/>
                </a:solidFill>
                <a:latin typeface="Consolas"/>
              </a:rPr>
              <a:t> </a:t>
            </a:r>
            <a:r>
              <a:rPr sz="1200" i="0">
                <a:solidFill>
                  <a:srgbClr val="E8EDF2"/>
                </a:solidFill>
                <a:latin typeface="Consolas"/>
              </a:rPr>
              <a:t>a</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C</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now</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b</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C</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now</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while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b</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b</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C</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now</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best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std</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min</a:t>
            </a:r>
            <a:r>
              <a:rPr sz="1200" i="0">
                <a:solidFill>
                  <a:srgbClr val="AEB6BF"/>
                </a:solidFill>
                <a:latin typeface="Consolas"/>
              </a:rPr>
              <a:t>(</a:t>
            </a:r>
            <a:r>
              <a:rPr sz="1200" i="0">
                <a:solidFill>
                  <a:srgbClr val="E8EDF2"/>
                </a:solidFill>
                <a:latin typeface="Consolas"/>
              </a:rPr>
              <a:t>best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std</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chrono</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duration</a:t>
            </a:r>
            <a:r>
              <a:rPr sz="1200" i="0">
                <a:solidFill>
                  <a:srgbClr val="AEB6BF"/>
                </a:solidFill>
                <a:latin typeface="Consolas"/>
              </a:rPr>
              <a:t>&lt;</a:t>
            </a:r>
            <a:r>
              <a:rPr sz="1200" i="0">
                <a:solidFill>
                  <a:srgbClr val="5DADE2"/>
                </a:solidFill>
                <a:latin typeface="Consolas"/>
              </a:rPr>
              <a:t>double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std</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milli</a:t>
            </a:r>
            <a:r>
              <a:rPr sz="1200" i="0">
                <a:solidFill>
                  <a:srgbClr val="AEB6BF"/>
                </a:solidFill>
                <a:latin typeface="Consolas"/>
              </a:rPr>
              <a:t>&gt;</a:t>
            </a:r>
            <a:r>
              <a:rPr sz="1200" i="0">
                <a:solidFill>
                  <a:srgbClr val="AEB6BF"/>
                </a:solidFill>
                <a:latin typeface="Consolas"/>
              </a:rPr>
              <a:t>(</a:t>
            </a:r>
            <a:r>
              <a:rPr sz="1200" i="0">
                <a:solidFill>
                  <a:srgbClr val="E8EDF2"/>
                </a:solidFill>
                <a:latin typeface="Consolas"/>
              </a:rPr>
              <a:t>b</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count</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E8EDF2"/>
                </a:solidFill>
                <a:latin typeface="Consolas"/>
              </a:rPr>
              <a:t>best</a:t>
            </a:r>
            <a:r>
              <a:rPr sz="1200" i="0">
                <a:solidFill>
                  <a:srgbClr val="AEB6BF"/>
                </a:solidFill>
                <a:latin typeface="Consolas"/>
              </a:rPr>
              <a:t>;</a:t>
            </a:r>
          </a:p>
          <a:p>
            <a:pPr>
              <a:lnSpc>
                <a:spcPct val="100000"/>
              </a:lnSpc>
              <a:spcAft>
                <a:spcPts val="0"/>
              </a:spcAft>
            </a:pPr>
            <a:r>
              <a:rPr sz="12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4</a:t>
            </a:r>
          </a:p>
          <a:p>
            <a:pPr algn="r">
              <a:lnSpc>
                <a:spcPct val="100000"/>
              </a:lnSpc>
            </a:pPr>
            <a:r>
              <a:rPr sz="1200">
                <a:solidFill>
                  <a:srgbClr val="4F5D6A"/>
                </a:solidFill>
                <a:latin typeface="Consolas"/>
              </a:rPr>
              <a:t>5</a:t>
            </a:r>
          </a:p>
          <a:p>
            <a:pPr algn="r">
              <a:lnSpc>
                <a:spcPct val="100000"/>
              </a:lnSpc>
            </a:pPr>
            <a:r>
              <a:rPr sz="1200">
                <a:solidFill>
                  <a:srgbClr val="4F5D6A"/>
                </a:solidFill>
                <a:latin typeface="Consolas"/>
              </a:rPr>
              <a:t>6</a:t>
            </a:r>
          </a:p>
          <a:p>
            <a:pPr algn="r">
              <a:lnSpc>
                <a:spcPct val="100000"/>
              </a:lnSpc>
            </a:pPr>
            <a:r>
              <a:rPr sz="1200">
                <a:solidFill>
                  <a:srgbClr val="4F5D6A"/>
                </a:solidFill>
                <a:latin typeface="Consolas"/>
              </a:rPr>
              <a:t>7</a:t>
            </a:r>
          </a:p>
          <a:p>
            <a:pPr algn="r">
              <a:lnSpc>
                <a:spcPct val="100000"/>
              </a:lnSpc>
            </a:pPr>
            <a:r>
              <a:rPr sz="1200">
                <a:solidFill>
                  <a:srgbClr val="4F5D6A"/>
                </a:solidFill>
                <a:latin typeface="Consolas"/>
              </a:rPr>
              <a:t>8</a:t>
            </a:r>
          </a:p>
          <a:p>
            <a:pPr algn="r">
              <a:lnSpc>
                <a:spcPct val="100000"/>
              </a:lnSpc>
            </a:pPr>
            <a:r>
              <a:rPr sz="1200">
                <a:solidFill>
                  <a:srgbClr val="4F5D6A"/>
                </a:solidFill>
                <a:latin typeface="Consolas"/>
              </a:rPr>
              <a:t>9</a:t>
            </a:r>
          </a:p>
          <a:p>
            <a:pPr algn="r">
              <a:lnSpc>
                <a:spcPct val="100000"/>
              </a:lnSpc>
            </a:pPr>
            <a:r>
              <a:rPr sz="1200">
                <a:solidFill>
                  <a:srgbClr val="4F5D6A"/>
                </a:solidFill>
                <a:latin typeface="Consolas"/>
              </a:rPr>
              <a:t>10</a:t>
            </a:r>
          </a:p>
          <a:p>
            <a:pPr algn="r">
              <a:lnSpc>
                <a:spcPct val="100000"/>
              </a:lnSpc>
            </a:pPr>
            <a:r>
              <a:rPr sz="1200">
                <a:solidFill>
                  <a:srgbClr val="4F5D6A"/>
                </a:solidFill>
                <a:latin typeface="Consolas"/>
              </a:rPr>
              <a:t>11</a:t>
            </a:r>
          </a:p>
          <a:p>
            <a:pPr algn="r">
              <a:lnSpc>
                <a:spcPct val="100000"/>
              </a:lnSpc>
            </a:pPr>
            <a:r>
              <a:rPr sz="1200">
                <a:solidFill>
                  <a:srgbClr val="4F5D6A"/>
                </a:solidFill>
                <a:latin typeface="Consolas"/>
              </a:rPr>
              <a:t>12</a:t>
            </a:r>
          </a:p>
          <a:p>
            <a:pPr algn="r">
              <a:lnSpc>
                <a:spcPct val="100000"/>
              </a:lnSpc>
            </a:pPr>
            <a:r>
              <a:rPr sz="1200">
                <a:solidFill>
                  <a:srgbClr val="4F5D6A"/>
                </a:solidFill>
                <a:latin typeface="Consolas"/>
              </a:rPr>
              <a:t>13</a:t>
            </a:r>
          </a:p>
          <a:p>
            <a:pPr algn="r">
              <a:lnSpc>
                <a:spcPct val="100000"/>
              </a:lnSpc>
            </a:pPr>
            <a:r>
              <a:rPr sz="1200">
                <a:solidFill>
                  <a:srgbClr val="4F5D6A"/>
                </a:solidFill>
                <a:latin typeface="Consolas"/>
              </a:rPr>
              <a:t>14</a:t>
            </a:r>
          </a:p>
          <a:p>
            <a:pPr algn="r">
              <a:lnSpc>
                <a:spcPct val="100000"/>
              </a:lnSpc>
            </a:pPr>
            <a:r>
              <a:rPr sz="1200">
                <a:solidFill>
                  <a:srgbClr val="4F5D6A"/>
                </a:solidFill>
                <a:latin typeface="Consolas"/>
              </a:rPr>
              <a:t>15</a:t>
            </a:r>
          </a:p>
          <a:p>
            <a:pPr algn="r">
              <a:lnSpc>
                <a:spcPct val="100000"/>
              </a:lnSpc>
            </a:pPr>
            <a:r>
              <a:rPr sz="1200">
                <a:solidFill>
                  <a:srgbClr val="4F5D6A"/>
                </a:solidFill>
                <a:latin typeface="Consolas"/>
              </a:rPr>
              <a:t>16</a:t>
            </a:r>
          </a:p>
          <a:p>
            <a:pPr algn="r">
              <a:lnSpc>
                <a:spcPct val="100000"/>
              </a:lnSpc>
            </a:pPr>
            <a:r>
              <a:rPr sz="1200">
                <a:solidFill>
                  <a:srgbClr val="4F5D6A"/>
                </a:solidFill>
                <a:latin typeface="Consolas"/>
              </a:rPr>
              <a:t>17</a:t>
            </a:r>
          </a:p>
          <a:p>
            <a:pPr algn="r">
              <a:lnSpc>
                <a:spcPct val="100000"/>
              </a:lnSpc>
            </a:pPr>
            <a:r>
              <a:rPr sz="1200">
                <a:solidFill>
                  <a:srgbClr val="4F5D6A"/>
                </a:solidFill>
                <a:latin typeface="Consolas"/>
              </a:rPr>
              <a:t>18</a:t>
            </a:r>
          </a:p>
          <a:p>
            <a:pPr algn="r">
              <a:lnSpc>
                <a:spcPct val="100000"/>
              </a:lnSpc>
            </a:pPr>
            <a:r>
              <a:rPr sz="1200">
                <a:solidFill>
                  <a:srgbClr val="4F5D6A"/>
                </a:solidFill>
                <a:latin typeface="Consolas"/>
              </a:rPr>
              <a:t>19</a:t>
            </a:r>
          </a:p>
          <a:p>
            <a:pPr algn="r">
              <a:lnSpc>
                <a:spcPct val="100000"/>
              </a:lnSpc>
            </a:pPr>
            <a:r>
              <a:rPr sz="1200">
                <a:solidFill>
                  <a:srgbClr val="4F5D6A"/>
                </a:solidFill>
                <a:latin typeface="Consolas"/>
              </a:rPr>
              <a:t>20</a:t>
            </a:r>
          </a:p>
          <a:p>
            <a:pPr algn="r">
              <a:lnSpc>
                <a:spcPct val="100000"/>
              </a:lnSpc>
            </a:pPr>
            <a:r>
              <a:rPr sz="1200">
                <a:solidFill>
                  <a:srgbClr val="4F5D6A"/>
                </a:solidFill>
                <a:latin typeface="Consolas"/>
              </a:rPr>
              <a:t>21</a:t>
            </a:r>
          </a:p>
          <a:p>
            <a:pPr algn="r">
              <a:lnSpc>
                <a:spcPct val="100000"/>
              </a:lnSpc>
            </a:pPr>
            <a:r>
              <a:rPr sz="12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6430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38176144-E8B6-4754-8BDF-3B09C7D727D5}"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input shapes that catch things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code/ch23_harness.cpp</a:t>
            </a:r>
          </a:p>
        </p:txBody>
      </p:sp>
      <p:sp>
        <p:nvSpPr>
          <p:cNvPr id="14" name="!!code-text" descr="// --- 2. The input shapes that catch things ------------------------- // Chapter 2 measured a 6,600x spread across these on one algorithm; // Chapter 9 found a crash on one of them; Chapter 20 found a 789x // slowdown on a shape nobody would have generated at random. Testing // only on &quot;random&quot; is how all of those get missed. enum Shape { RANDOM, SORTED, REVERSED, NEARLY_SORTED, FEW_DISTINCT };"/>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The input shapes that catch things -------------------------</a:t>
            </a:r>
          </a:p>
          <a:p>
            <a:pPr>
              <a:lnSpc>
                <a:spcPct val="100000"/>
              </a:lnSpc>
              <a:spcAft>
                <a:spcPts val="0"/>
              </a:spcAft>
            </a:pPr>
            <a:r>
              <a:rPr sz="1900" i="1">
                <a:solidFill>
                  <a:srgbClr val="8795A1"/>
                </a:solidFill>
                <a:latin typeface="Consolas"/>
              </a:rPr>
              <a:t>// Chapter 2 measured a 6,600x spread across these on one algorithm;</a:t>
            </a:r>
          </a:p>
          <a:p>
            <a:pPr>
              <a:lnSpc>
                <a:spcPct val="100000"/>
              </a:lnSpc>
              <a:spcAft>
                <a:spcPts val="0"/>
              </a:spcAft>
            </a:pPr>
            <a:r>
              <a:rPr sz="1900" i="1">
                <a:solidFill>
                  <a:srgbClr val="8795A1"/>
                </a:solidFill>
                <a:latin typeface="Consolas"/>
              </a:rPr>
              <a:t>// Chapter 9 found a crash on one of them; Chapter 20 found a 789x</a:t>
            </a:r>
          </a:p>
          <a:p>
            <a:pPr>
              <a:lnSpc>
                <a:spcPct val="100000"/>
              </a:lnSpc>
              <a:spcAft>
                <a:spcPts val="0"/>
              </a:spcAft>
            </a:pPr>
            <a:r>
              <a:rPr sz="1900" i="1">
                <a:solidFill>
                  <a:srgbClr val="8795A1"/>
                </a:solidFill>
                <a:latin typeface="Consolas"/>
              </a:rPr>
              <a:t>// slowdown on a shape nobody would have generated at random. Testing</a:t>
            </a:r>
          </a:p>
          <a:p>
            <a:pPr>
              <a:lnSpc>
                <a:spcPct val="100000"/>
              </a:lnSpc>
              <a:spcAft>
                <a:spcPts val="0"/>
              </a:spcAft>
            </a:pPr>
            <a:r>
              <a:rPr sz="1900" i="1">
                <a:solidFill>
                  <a:srgbClr val="8795A1"/>
                </a:solidFill>
                <a:latin typeface="Consolas"/>
              </a:rPr>
              <a:t>// only on "random" is how all of those get missed.</a:t>
            </a:r>
          </a:p>
          <a:p>
            <a:pPr>
              <a:lnSpc>
                <a:spcPct val="100000"/>
              </a:lnSpc>
              <a:spcAft>
                <a:spcPts val="0"/>
              </a:spcAft>
            </a:pPr>
            <a:r>
              <a:rPr sz="1900" i="0">
                <a:solidFill>
                  <a:srgbClr val="5DADE2"/>
                </a:solidFill>
                <a:latin typeface="Consolas"/>
              </a:rPr>
              <a:t>enum</a:t>
            </a:r>
            <a:r>
              <a:rPr sz="1900" i="0">
                <a:solidFill>
                  <a:srgbClr val="E8EDF2"/>
                </a:solidFill>
                <a:latin typeface="Consolas"/>
              </a:rPr>
              <a:t> </a:t>
            </a:r>
            <a:r>
              <a:rPr sz="1900" i="0">
                <a:solidFill>
                  <a:srgbClr val="76D7C4"/>
                </a:solidFill>
                <a:latin typeface="Consolas"/>
              </a:rPr>
              <a:t>Shape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RANDOM</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SORTED</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REVERSED</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NEARLY_SORTED</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FEW_DISTINCT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1311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DCA7463A-6C53-4016-80CA-52406342B5BA}"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thing under test, and the thing it is checked against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code/ch23_harness.cpp</a:t>
            </a:r>
          </a:p>
        </p:txBody>
      </p:sp>
      <p:sp>
        <p:nvSpPr>
          <p:cNvPr id="14" name="!!code-text" descr="// --- 3. The thing under test, and the thing it is checked against -- // REPLACE THESE TWO. The reference must be the version you can read // in one sitting and be sure of; the candidate is the one you are // claiming something about. Chapter 7 is why both exist. static void reference(std::vector&lt;int&gt;&amp; a) { // obviously correct std::sort(a.begin(), a.end()); } static void candidate(std::vector&lt;int&gt;&amp; a) { // under test /* your algorithm here */ }"/>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The thing under test, and the thing it is checked against --</a:t>
            </a:r>
          </a:p>
          <a:p>
            <a:pPr>
              <a:lnSpc>
                <a:spcPct val="100000"/>
              </a:lnSpc>
              <a:spcAft>
                <a:spcPts val="0"/>
              </a:spcAft>
            </a:pPr>
            <a:r>
              <a:rPr sz="1900" i="1">
                <a:solidFill>
                  <a:srgbClr val="8795A1"/>
                </a:solidFill>
                <a:latin typeface="Consolas"/>
              </a:rPr>
              <a:t>// REPLACE THESE TWO. The reference must be the version you can read</a:t>
            </a:r>
          </a:p>
          <a:p>
            <a:pPr>
              <a:lnSpc>
                <a:spcPct val="100000"/>
              </a:lnSpc>
              <a:spcAft>
                <a:spcPts val="0"/>
              </a:spcAft>
            </a:pPr>
            <a:r>
              <a:rPr sz="1900" i="1">
                <a:solidFill>
                  <a:srgbClr val="8795A1"/>
                </a:solidFill>
                <a:latin typeface="Consolas"/>
              </a:rPr>
              <a:t>// in one sitting and be sure of; the candidate is the one you are</a:t>
            </a:r>
          </a:p>
          <a:p>
            <a:pPr>
              <a:lnSpc>
                <a:spcPct val="100000"/>
              </a:lnSpc>
              <a:spcAft>
                <a:spcPts val="0"/>
              </a:spcAft>
            </a:pPr>
            <a:r>
              <a:rPr sz="1900" i="1">
                <a:solidFill>
                  <a:srgbClr val="8795A1"/>
                </a:solidFill>
                <a:latin typeface="Consolas"/>
              </a:rPr>
              <a:t>// claiming something about. Chapter 7 is why both exist.</a:t>
            </a:r>
          </a:p>
          <a:p>
            <a:pPr>
              <a:lnSpc>
                <a:spcPct val="100000"/>
              </a:lnSpc>
              <a:spcAft>
                <a:spcPts val="0"/>
              </a:spcAft>
            </a:pPr>
            <a:r>
              <a:rPr sz="1900" i="0">
                <a:solidFill>
                  <a:srgbClr val="5DADE2"/>
                </a:solidFill>
                <a:latin typeface="Consolas"/>
              </a:rPr>
              <a:t>static</a:t>
            </a:r>
            <a:r>
              <a:rPr sz="1900" i="0">
                <a:solidFill>
                  <a:srgbClr val="E8EDF2"/>
                </a:solidFill>
                <a:latin typeface="Consolas"/>
              </a:rPr>
              <a:t> </a:t>
            </a:r>
            <a:r>
              <a:rPr sz="1900" i="0">
                <a:solidFill>
                  <a:srgbClr val="5DADE2"/>
                </a:solidFill>
                <a:latin typeface="Consolas"/>
              </a:rPr>
              <a:t>void</a:t>
            </a:r>
            <a:r>
              <a:rPr sz="1900" i="0">
                <a:solidFill>
                  <a:srgbClr val="E8EDF2"/>
                </a:solidFill>
                <a:latin typeface="Consolas"/>
              </a:rPr>
              <a:t> </a:t>
            </a:r>
            <a:r>
              <a:rPr sz="1900" i="0">
                <a:solidFill>
                  <a:srgbClr val="C39BD3"/>
                </a:solidFill>
                <a:latin typeface="Consolas"/>
              </a:rPr>
              <a:t>reference</a:t>
            </a:r>
            <a:r>
              <a:rPr sz="1900" i="0">
                <a:solidFill>
                  <a:srgbClr val="AEB6BF"/>
                </a:solidFill>
                <a:latin typeface="Consolas"/>
              </a:rPr>
              <a:t>(</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vector</a:t>
            </a:r>
            <a:r>
              <a:rPr sz="1900" i="0">
                <a:solidFill>
                  <a:srgbClr val="AEB6BF"/>
                </a:solidFill>
                <a:latin typeface="Consolas"/>
              </a:rPr>
              <a:t>&lt;</a:t>
            </a:r>
            <a:r>
              <a:rPr sz="1900" i="0">
                <a:solidFill>
                  <a:srgbClr val="5DADE2"/>
                </a:solidFill>
                <a:latin typeface="Consolas"/>
              </a:rPr>
              <a:t>int</a:t>
            </a:r>
            <a:r>
              <a:rPr sz="1900" i="0">
                <a:solidFill>
                  <a:srgbClr val="AEB6BF"/>
                </a:solidFill>
                <a:latin typeface="Consolas"/>
              </a:rPr>
              <a:t>&gt;</a:t>
            </a:r>
            <a:r>
              <a:rPr sz="1900" i="0">
                <a:solidFill>
                  <a:srgbClr val="AEB6BF"/>
                </a:solidFill>
                <a:latin typeface="Consolas"/>
              </a:rPr>
              <a:t>&amp;</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obviously correct</a:t>
            </a:r>
          </a:p>
          <a:p>
            <a:pPr>
              <a:lnSpc>
                <a:spcPct val="100000"/>
              </a:lnSpc>
              <a:spcAft>
                <a:spcPts val="0"/>
              </a:spcAft>
            </a:pPr>
            <a:r>
              <a:rPr sz="1900" i="0">
                <a:solidFill>
                  <a:srgbClr val="E8EDF2"/>
                </a:solidFill>
                <a:latin typeface="Consolas"/>
              </a:rPr>
              <a:t>    </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sort</a:t>
            </a:r>
            <a:r>
              <a:rPr sz="1900" i="0">
                <a:solidFill>
                  <a:srgbClr val="AEB6BF"/>
                </a:solidFill>
                <a:latin typeface="Consolas"/>
              </a:rPr>
              <a:t>(</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begin</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end</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AEB6BF"/>
                </a:solidFill>
                <a:latin typeface="Consolas"/>
              </a:rPr>
              <a:t>}</a:t>
            </a:r>
          </a:p>
          <a:p>
            <a:pPr>
              <a:lnSpc>
                <a:spcPct val="100000"/>
              </a:lnSpc>
              <a:spcAft>
                <a:spcPts val="0"/>
              </a:spcAft>
            </a:pPr>
            <a:r>
              <a:rPr sz="1900" i="0">
                <a:solidFill>
                  <a:srgbClr val="5DADE2"/>
                </a:solidFill>
                <a:latin typeface="Consolas"/>
              </a:rPr>
              <a:t>static</a:t>
            </a:r>
            <a:r>
              <a:rPr sz="1900" i="0">
                <a:solidFill>
                  <a:srgbClr val="E8EDF2"/>
                </a:solidFill>
                <a:latin typeface="Consolas"/>
              </a:rPr>
              <a:t> </a:t>
            </a:r>
            <a:r>
              <a:rPr sz="1900" i="0">
                <a:solidFill>
                  <a:srgbClr val="5DADE2"/>
                </a:solidFill>
                <a:latin typeface="Consolas"/>
              </a:rPr>
              <a:t>void</a:t>
            </a:r>
            <a:r>
              <a:rPr sz="1900" i="0">
                <a:solidFill>
                  <a:srgbClr val="E8EDF2"/>
                </a:solidFill>
                <a:latin typeface="Consolas"/>
              </a:rPr>
              <a:t> </a:t>
            </a:r>
            <a:r>
              <a:rPr sz="1900" i="0">
                <a:solidFill>
                  <a:srgbClr val="C39BD3"/>
                </a:solidFill>
                <a:latin typeface="Consolas"/>
              </a:rPr>
              <a:t>candidate</a:t>
            </a:r>
            <a:r>
              <a:rPr sz="1900" i="0">
                <a:solidFill>
                  <a:srgbClr val="AEB6BF"/>
                </a:solidFill>
                <a:latin typeface="Consolas"/>
              </a:rPr>
              <a:t>(</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vector</a:t>
            </a:r>
            <a:r>
              <a:rPr sz="1900" i="0">
                <a:solidFill>
                  <a:srgbClr val="AEB6BF"/>
                </a:solidFill>
                <a:latin typeface="Consolas"/>
              </a:rPr>
              <a:t>&lt;</a:t>
            </a:r>
            <a:r>
              <a:rPr sz="1900" i="0">
                <a:solidFill>
                  <a:srgbClr val="5DADE2"/>
                </a:solidFill>
                <a:latin typeface="Consolas"/>
              </a:rPr>
              <a:t>int</a:t>
            </a:r>
            <a:r>
              <a:rPr sz="1900" i="0">
                <a:solidFill>
                  <a:srgbClr val="AEB6BF"/>
                </a:solidFill>
                <a:latin typeface="Consolas"/>
              </a:rPr>
              <a:t>&gt;</a:t>
            </a:r>
            <a:r>
              <a:rPr sz="1900" i="0">
                <a:solidFill>
                  <a:srgbClr val="AEB6BF"/>
                </a:solidFill>
                <a:latin typeface="Consolas"/>
              </a:rPr>
              <a:t>&amp;</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under test</a:t>
            </a:r>
          </a:p>
          <a:p>
            <a:pPr>
              <a:lnSpc>
                <a:spcPct val="100000"/>
              </a:lnSpc>
              <a:spcAft>
                <a:spcPts val="0"/>
              </a:spcAft>
            </a:pPr>
            <a:r>
              <a:rPr sz="1900" i="0">
                <a:solidFill>
                  <a:srgbClr val="E8EDF2"/>
                </a:solidFill>
                <a:latin typeface="Consolas"/>
              </a:rPr>
              <a:t>    </a:t>
            </a:r>
            <a:r>
              <a:rPr sz="1900" i="1">
                <a:solidFill>
                  <a:srgbClr val="8795A1"/>
                </a:solidFill>
                <a:latin typeface="Consolas"/>
              </a:rPr>
              <a:t>/* your algorithm here */</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6192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37A51399-6AF5-42CD-BC0E-02CD9054DDB3}"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Correctness first, timing second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code/ch23_harness.cpp</a:t>
            </a:r>
          </a:p>
        </p:txBody>
      </p:sp>
      <p:sp>
        <p:nvSpPr>
          <p:cNvPr id="14" name="!!code-text" descr="// --- 4. Correctness first, timing second --------------------------- // A faster algorithm that gets a different answer is not faster. This // runs before anything is timed, and a failure here stops the report."/>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Correctness first, timing second ---------------------------</a:t>
            </a:r>
          </a:p>
          <a:p>
            <a:pPr>
              <a:lnSpc>
                <a:spcPct val="100000"/>
              </a:lnSpc>
              <a:spcAft>
                <a:spcPts val="0"/>
              </a:spcAft>
            </a:pPr>
            <a:r>
              <a:rPr sz="1900" i="1">
                <a:solidFill>
                  <a:srgbClr val="8795A1"/>
                </a:solidFill>
                <a:latin typeface="Consolas"/>
              </a:rPr>
              <a:t>// A faster algorithm that gets a different answer is not faster. This</a:t>
            </a:r>
          </a:p>
          <a:p>
            <a:pPr>
              <a:lnSpc>
                <a:spcPct val="100000"/>
              </a:lnSpc>
              <a:spcAft>
                <a:spcPts val="0"/>
              </a:spcAft>
            </a:pPr>
            <a:r>
              <a:rPr sz="1900" i="1">
                <a:solidFill>
                  <a:srgbClr val="8795A1"/>
                </a:solidFill>
                <a:latin typeface="Consolas"/>
              </a:rPr>
              <a:t>// runs before anything is timed, and a failure here stops the report.</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07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8CBBCE7A-2807-4A82-8570-ABE3F8347AA3}"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Gate: do not report timings for a wrong algorithm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code/ch23_harness.cpp</a:t>
            </a:r>
          </a:p>
        </p:txBody>
      </p:sp>
      <p:sp>
        <p:nvSpPr>
          <p:cNvPr id="14" name="!!code-text" descr="// --- 5. Gate: do not report timings for a wrong algorithm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Gate: do not report timings for a wrong algorithm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595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05B2EB5D-56C3-4200-A2DC-8990B706A7F5}"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table: every shape, every size, with ratios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code/ch23_harness.cpp</a:t>
            </a:r>
          </a:p>
        </p:txBody>
      </p:sp>
      <p:sp>
        <p:nvSpPr>
          <p:cNvPr id="14" name="!!code-text" descr="// --- 6. The table: every shape, every size, with ratios ------------ // Setup (the copy) is measured separately and subtracted, so what is // reported is the algorithm and not the memcpy. double tc = time_ms([&amp;] { std::copy(base.begin(), base.end(), work.begin()); }, 7); double tt = time_ms([&amp;] { std::copy(base.begin(), base.end(), work.begin()); candidate(work); }, 7); double t = tt - tc;"/>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--- 6. The table: every shape, every size, with ratios ------------</a:t>
            </a:r>
          </a:p>
          <a:p>
            <a:pPr>
              <a:lnSpc>
                <a:spcPct val="100000"/>
              </a:lnSpc>
              <a:spcAft>
                <a:spcPts val="0"/>
              </a:spcAft>
            </a:pPr>
            <a:r>
              <a:rPr sz="1800" i="1">
                <a:solidFill>
                  <a:srgbClr val="8795A1"/>
                </a:solidFill>
                <a:latin typeface="Consolas"/>
              </a:rPr>
              <a:t>// Setup (the copy) is measured separately and subtracted, so what is</a:t>
            </a:r>
          </a:p>
          <a:p>
            <a:pPr>
              <a:lnSpc>
                <a:spcPct val="100000"/>
              </a:lnSpc>
              <a:spcAft>
                <a:spcPts val="0"/>
              </a:spcAft>
            </a:pPr>
            <a:r>
              <a:rPr sz="1800" i="1">
                <a:solidFill>
                  <a:srgbClr val="8795A1"/>
                </a:solidFill>
                <a:latin typeface="Consolas"/>
              </a:rPr>
              <a:t>// reported is the algorithm and not the memcpy.</a:t>
            </a:r>
          </a:p>
          <a:p>
            <a:pPr>
              <a:lnSpc>
                <a:spcPct val="100000"/>
              </a:lnSpc>
              <a:spcAft>
                <a:spcPts val="0"/>
              </a:spcAft>
            </a:pPr>
            <a:r>
              <a:rPr sz="1800" i="0">
                <a:solidFill>
                  <a:srgbClr val="E8EDF2"/>
                </a:solidFill>
                <a:latin typeface="Consolas"/>
              </a:rPr>
              <a:t>            </a:t>
            </a:r>
            <a:r>
              <a:rPr sz="1800" i="0">
                <a:solidFill>
                  <a:srgbClr val="5DADE2"/>
                </a:solidFill>
                <a:latin typeface="Consolas"/>
              </a:rPr>
              <a:t>double</a:t>
            </a:r>
            <a:r>
              <a:rPr sz="1800" i="0">
                <a:solidFill>
                  <a:srgbClr val="E8EDF2"/>
                </a:solidFill>
                <a:latin typeface="Consolas"/>
              </a:rPr>
              <a:t> </a:t>
            </a:r>
            <a:r>
              <a:rPr sz="1800" i="0">
                <a:solidFill>
                  <a:srgbClr val="E8EDF2"/>
                </a:solidFill>
                <a:latin typeface="Consolas"/>
              </a:rPr>
              <a:t>tc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time_ms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&amp;</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copy</a:t>
            </a:r>
            <a:r>
              <a:rPr sz="1800" i="0">
                <a:solidFill>
                  <a:srgbClr val="AEB6BF"/>
                </a:solidFill>
                <a:latin typeface="Consolas"/>
              </a:rPr>
              <a:t>(</a:t>
            </a:r>
            <a:r>
              <a:rPr sz="1800" i="0">
                <a:solidFill>
                  <a:srgbClr val="E8EDF2"/>
                </a:solidFill>
                <a:latin typeface="Consolas"/>
              </a:rPr>
              <a:t>base</a:t>
            </a:r>
            <a:r>
              <a:rPr sz="1800" i="0">
                <a:solidFill>
                  <a:srgbClr val="AEB6BF"/>
                </a:solidFill>
                <a:latin typeface="Consolas"/>
              </a:rPr>
              <a:t>.</a:t>
            </a:r>
            <a:r>
              <a:rPr sz="1800" i="0">
                <a:solidFill>
                  <a:srgbClr val="E8EDF2"/>
                </a:solidFill>
                <a:latin typeface="Consolas"/>
              </a:rPr>
              <a:t>begin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base</a:t>
            </a:r>
            <a:r>
              <a:rPr sz="1800" i="0">
                <a:solidFill>
                  <a:srgbClr val="AEB6BF"/>
                </a:solidFill>
                <a:latin typeface="Consolas"/>
              </a:rPr>
              <a:t>.</a:t>
            </a:r>
            <a:r>
              <a:rPr sz="1800" i="0">
                <a:solidFill>
                  <a:srgbClr val="E8EDF2"/>
                </a:solidFill>
                <a:latin typeface="Consolas"/>
              </a:rPr>
              <a:t>end</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work</a:t>
            </a:r>
            <a:r>
              <a:rPr sz="1800" i="0">
                <a:solidFill>
                  <a:srgbClr val="AEB6BF"/>
                </a:solidFill>
                <a:latin typeface="Consolas"/>
              </a:rPr>
              <a:t>.</a:t>
            </a:r>
            <a:r>
              <a:rPr sz="1800" i="0">
                <a:solidFill>
                  <a:srgbClr val="E8EDF2"/>
                </a:solidFill>
                <a:latin typeface="Consolas"/>
              </a:rPr>
              <a:t>begin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7</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double</a:t>
            </a:r>
            <a:r>
              <a:rPr sz="1800" i="0">
                <a:solidFill>
                  <a:srgbClr val="E8EDF2"/>
                </a:solidFill>
                <a:latin typeface="Consolas"/>
              </a:rPr>
              <a:t> </a:t>
            </a:r>
            <a:r>
              <a:rPr sz="1800" i="0">
                <a:solidFill>
                  <a:srgbClr val="E8EDF2"/>
                </a:solidFill>
                <a:latin typeface="Consolas"/>
              </a:rPr>
              <a:t>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time_ms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&amp;</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copy</a:t>
            </a:r>
            <a:r>
              <a:rPr sz="1800" i="0">
                <a:solidFill>
                  <a:srgbClr val="AEB6BF"/>
                </a:solidFill>
                <a:latin typeface="Consolas"/>
              </a:rPr>
              <a:t>(</a:t>
            </a:r>
            <a:r>
              <a:rPr sz="1800" i="0">
                <a:solidFill>
                  <a:srgbClr val="E8EDF2"/>
                </a:solidFill>
                <a:latin typeface="Consolas"/>
              </a:rPr>
              <a:t>base</a:t>
            </a:r>
            <a:r>
              <a:rPr sz="1800" i="0">
                <a:solidFill>
                  <a:srgbClr val="AEB6BF"/>
                </a:solidFill>
                <a:latin typeface="Consolas"/>
              </a:rPr>
              <a:t>.</a:t>
            </a:r>
            <a:r>
              <a:rPr sz="1800" i="0">
                <a:solidFill>
                  <a:srgbClr val="E8EDF2"/>
                </a:solidFill>
                <a:latin typeface="Consolas"/>
              </a:rPr>
              <a:t>begin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base</a:t>
            </a:r>
            <a:r>
              <a:rPr sz="1800" i="0">
                <a:solidFill>
                  <a:srgbClr val="AEB6BF"/>
                </a:solidFill>
                <a:latin typeface="Consolas"/>
              </a:rPr>
              <a:t>.</a:t>
            </a:r>
            <a:r>
              <a:rPr sz="1800" i="0">
                <a:solidFill>
                  <a:srgbClr val="E8EDF2"/>
                </a:solidFill>
                <a:latin typeface="Consolas"/>
              </a:rPr>
              <a:t>end</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work</a:t>
            </a:r>
            <a:r>
              <a:rPr sz="1800" i="0">
                <a:solidFill>
                  <a:srgbClr val="AEB6BF"/>
                </a:solidFill>
                <a:latin typeface="Consolas"/>
              </a:rPr>
              <a:t>.</a:t>
            </a:r>
            <a:r>
              <a:rPr sz="1800" i="0">
                <a:solidFill>
                  <a:srgbClr val="E8EDF2"/>
                </a:solidFill>
                <a:latin typeface="Consolas"/>
              </a:rPr>
              <a:t>begin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candidate</a:t>
            </a:r>
            <a:r>
              <a:rPr sz="1800" i="0">
                <a:solidFill>
                  <a:srgbClr val="AEB6BF"/>
                </a:solidFill>
                <a:latin typeface="Consolas"/>
              </a:rPr>
              <a:t>(</a:t>
            </a:r>
            <a:r>
              <a:rPr sz="1800" i="0">
                <a:solidFill>
                  <a:srgbClr val="E8EDF2"/>
                </a:solidFill>
                <a:latin typeface="Consolas"/>
              </a:rPr>
              <a:t>work</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7</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double</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tc</a:t>
            </a:r>
            <a:r>
              <a:rPr sz="1800" i="0">
                <a:solidFill>
                  <a:srgbClr val="AEB6BF"/>
                </a:solidFill>
                <a:latin typeface="Consolas"/>
              </a:rPr>
              <a:t>;</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a:p>
            <a:pPr algn="r">
              <a:lnSpc>
                <a:spcPct val="100000"/>
              </a:lnSpc>
            </a:pPr>
            <a:r>
              <a:rPr sz="1800">
                <a:solidFill>
                  <a:srgbClr val="4F5D6A"/>
                </a:solidFill>
                <a:latin typeface="Consolas"/>
              </a:rPr>
              <a:t>53</a:t>
            </a:r>
          </a:p>
          <a:p>
            <a:pPr algn="r">
              <a:lnSpc>
                <a:spcPct val="100000"/>
              </a:lnSpc>
            </a:pPr>
            <a:r>
              <a:rPr sz="1800">
                <a:solidFill>
                  <a:srgbClr val="4F5D6A"/>
                </a:solidFill>
                <a:latin typeface="Consolas"/>
              </a:rPr>
              <a:t>54</a:t>
            </a:r>
          </a:p>
          <a:p>
            <a:pPr algn="r">
              <a:lnSpc>
                <a:spcPct val="100000"/>
              </a:lnSpc>
            </a:pPr>
            <a:r>
              <a:rPr sz="1800">
                <a:solidFill>
                  <a:srgbClr val="4F5D6A"/>
                </a:solidFill>
                <a:latin typeface="Consolas"/>
              </a:rPr>
              <a:t>55</a:t>
            </a:r>
          </a:p>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Harness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B0FD192A-75F4-44F1-97F3-2C85FAF88D67}"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ratios, which is what the claim rests 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code/ch23_harness.cpp</a:t>
            </a:r>
          </a:p>
        </p:txBody>
      </p:sp>
      <p:sp>
        <p:nvSpPr>
          <p:cNvPr id="14" name="!!code-text" descr="// --- 7. The ratios, which is what the claim rests on --------------- // Report the ratio column, not the absolute times: the absolute times // are a fact about this laptop and the ratios are a fact about the // algorithm."/>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The ratios, which is what the claim rests on ---------------</a:t>
            </a:r>
          </a:p>
          <a:p>
            <a:pPr>
              <a:lnSpc>
                <a:spcPct val="100000"/>
              </a:lnSpc>
              <a:spcAft>
                <a:spcPts val="0"/>
              </a:spcAft>
            </a:pPr>
            <a:r>
              <a:rPr sz="1900" i="1">
                <a:solidFill>
                  <a:srgbClr val="8795A1"/>
                </a:solidFill>
                <a:latin typeface="Consolas"/>
              </a:rPr>
              <a:t>// Report the ratio column, not the absolute times: the absolute times</a:t>
            </a:r>
          </a:p>
          <a:p>
            <a:pPr>
              <a:lnSpc>
                <a:spcPct val="100000"/>
              </a:lnSpc>
              <a:spcAft>
                <a:spcPts val="0"/>
              </a:spcAft>
            </a:pPr>
            <a:r>
              <a:rPr sz="1900" i="1">
                <a:solidFill>
                  <a:srgbClr val="8795A1"/>
                </a:solidFill>
                <a:latin typeface="Consolas"/>
              </a:rPr>
              <a:t>// are a fact about this laptop and the ratios are a fact about the</a:t>
            </a:r>
          </a:p>
          <a:p>
            <a:pPr>
              <a:lnSpc>
                <a:spcPct val="100000"/>
              </a:lnSpc>
              <a:spcAft>
                <a:spcPts val="0"/>
              </a:spcAft>
            </a:pPr>
            <a:r>
              <a:rPr sz="1900" i="1">
                <a:solidFill>
                  <a:srgbClr val="8795A1"/>
                </a:solidFill>
                <a:latin typeface="Consolas"/>
              </a:rPr>
              <a:t>// algorithm.</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59</a:t>
            </a:r>
          </a:p>
          <a:p>
            <a:pPr algn="r">
              <a:lnSpc>
                <a:spcPct val="100000"/>
              </a:lnSpc>
            </a:pPr>
            <a:r>
              <a:rPr sz="1900">
                <a:solidFill>
                  <a:srgbClr val="4F5D6A"/>
                </a:solidFill>
                <a:latin typeface="Consolas"/>
              </a:rPr>
              <a:t>60</a:t>
            </a:r>
          </a:p>
          <a:p>
            <a:pPr algn="r">
              <a:lnSpc>
                <a:spcPct val="100000"/>
              </a:lnSpc>
            </a:pPr>
            <a:r>
              <a:rPr sz="1900">
                <a:solidFill>
                  <a:srgbClr val="4F5D6A"/>
                </a:solidFill>
                <a:latin typeface="Consolas"/>
              </a:rPr>
              <a:t>61</a:t>
            </a:r>
          </a:p>
          <a:p>
            <a:pPr algn="r">
              <a:lnSpc>
                <a:spcPct val="100000"/>
              </a:lnSpc>
            </a:pPr>
            <a:r>
              <a:rPr sz="1900">
                <a:solidFill>
                  <a:srgbClr val="4F5D6A"/>
                </a:solidFill>
                <a:latin typeface="Consolas"/>
              </a:rPr>
              <a:t>62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5716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§23.5  ·  Handout p. 192     </a:t>
            </a:r>
            <a:fld id="{6957FE09-BE48-4FCC-89F9-F6DB5256A2F2}" type="slidenum">
              <a:rPr lang="en-GB" sz="1000">
                <a:solidFill>
                  <a:srgbClr val="8795A1"/>
                </a:solidFill>
                <a:latin typeface="Segoe UI"/>
              </a:rPr>
              <a:t>37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harness refuses to print timings if the correctness check fails. That is deliberate, and it is the single most useful line in the file.</a:t>
            </a:r>
          </a:p>
        </p:txBody>
      </p:sp>
      <p:sp>
        <p:nvSpPr>
          <p:cNvPr id="10" name="body-1"/>
          <p:cNvSpPr txBox="1"/>
          <p:nvPr/>
        </p:nvSpPr>
        <p:spPr>
          <a:xfrm>
            <a:off x="1060704" y="2937992"/>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make it yours.</a:t>
            </a:r>
            <a:r>
              <a:rPr sz="2300" b="0" i="0">
                <a:solidFill>
                  <a:srgbClr val="1C252B"/>
                </a:solidFill>
                <a:latin typeface="Segoe UI"/>
              </a:rPr>
              <a:t> Replace </a:t>
            </a:r>
            <a:r>
              <a:rPr sz="2150" b="0" i="0">
                <a:solidFill>
                  <a:srgbClr val="1F4E79"/>
                </a:solidFill>
                <a:latin typeface="Consolas"/>
              </a:rPr>
              <a:t>candidate</a:t>
            </a:r>
            <a:r>
              <a:rPr sz="2300" b="0" i="0">
                <a:solidFill>
                  <a:srgbClr val="1C252B"/>
                </a:solidFill>
                <a:latin typeface="Segoe UI"/>
              </a:rPr>
              <a:t> with an algorithm you expect to be </a:t>
            </a:r>
            <a:r>
              <a:rPr sz="2300" b="0" i="0">
                <a:solidFill>
                  <a:srgbClr val="1C252B"/>
                </a:solidFill>
                <a:latin typeface="Cambria"/>
              </a:rPr>
              <a:t>Θ(</a:t>
            </a:r>
            <a:r>
              <a:rPr sz="2300" b="0" i="1">
                <a:solidFill>
                  <a:srgbClr val="1C252B"/>
                </a:solidFill>
                <a:latin typeface="Cambria"/>
              </a:rPr>
              <a:t>n</a:t>
            </a:r>
            <a:r>
              <a:rPr sz="1500" b="0" i="0" baseline="30000">
                <a:solidFill>
                  <a:srgbClr val="1C252B"/>
                </a:solidFill>
                <a:latin typeface="Cambria"/>
              </a:rPr>
              <a:t>2</a:t>
            </a:r>
            <a:r>
              <a:rPr sz="2300" b="0" i="0">
                <a:solidFill>
                  <a:srgbClr val="1C252B"/>
                </a:solidFill>
                <a:latin typeface="Cambria"/>
              </a:rPr>
              <a:t>)</a:t>
            </a:r>
            <a:r>
              <a:rPr sz="2300" b="0" i="0">
                <a:solidFill>
                  <a:srgbClr val="1C252B"/>
                </a:solidFill>
                <a:latin typeface="Segoe UI"/>
              </a:rPr>
              <a:t> and check that the predicted-ratio column, which still prints </a:t>
            </a:r>
            <a:r>
              <a:rPr sz="2300" b="0" i="0">
                <a:solidFill>
                  <a:srgbClr val="1C252B"/>
                </a:solidFill>
                <a:latin typeface="Cambria"/>
              </a:rPr>
              <a:t>2 + 2/lg </a:t>
            </a:r>
            <a:r>
              <a:rPr sz="2300" b="0" i="1">
                <a:solidFill>
                  <a:srgbClr val="1C252B"/>
                </a:solidFill>
                <a:latin typeface="Cambria"/>
              </a:rPr>
              <a:t>n</a:t>
            </a:r>
            <a:r>
              <a:rPr sz="2300" b="0" i="0">
                <a:solidFill>
                  <a:srgbClr val="1C252B"/>
                </a:solidFill>
                <a:latin typeface="Segoe UI"/>
              </a:rPr>
              <a:t>, now visibly disagrees with every measured column. A harness that cannot show you are wrong is not measuring anything.</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20597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Take one of the project ideas in Section 23.2 and state it as a claim that could come out false.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23  ·  The Semester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196  ·  answers in Appendix D     </a:t>
            </a:r>
            <a:fld id="{2C7D8580-5A48-4865-B67E-B694D232C1D9}"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Take one of the project ideas in Section 23.2 and state it as a claim that could come out false.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example: </a:t>
            </a:r>
            <a:r>
              <a:rPr sz="2200" b="0" i="1">
                <a:solidFill>
                  <a:srgbClr val="1C252B"/>
                </a:solidFill>
                <a:latin typeface="Segoe UI"/>
              </a:rPr>
              <a:t>“The best insertion-sort cutoff for 64-byte records is larger than the best cutoff for 4-byte integers, on the same machine.”</a:t>
            </a:r>
            <a:r>
              <a:rPr sz="2200" b="0" i="0">
                <a:solidFill>
                  <a:srgbClr val="1C252B"/>
                </a:solidFill>
                <a:latin typeface="Segoe UI"/>
              </a:rPr>
              <a:t> It predicts a direction, it names the quantity to measure, and the result “it is smaller” or “there is no difference” would refute it. Compare with “I will compare sorting algorithms”, which no measurement could contradict.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  answers in Appendix D     </a:t>
            </a:r>
            <a:fld id="{7FA369AC-7118-4ED9-9C88-CBD24172A1E2}"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035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ratio column reads 3.6, 4.4, 3.9, 4.1 and you predicted 4. What would you need to know before calling that agreement?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23  ·  The Semester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196  ·  answers in Appendix D     </a:t>
            </a:r>
            <a:fld id="{3D060C25-0BCD-4F90-80CD-757A492999B3}"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Your ratio column reads 3.6, 4.4, 3.9, 4.1 and you predicted 4. What would you need to know before calling that agreement?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Your noise level and your clock resolution.</a:t>
            </a:r>
            <a:r>
              <a:rPr sz="2200" b="0" i="0">
                <a:solidFill>
                  <a:srgbClr val="1C252B"/>
                </a:solidFill>
                <a:latin typeface="Segoe UI"/>
              </a:rPr>
              <a:t> If repeated runs of the </a:t>
            </a:r>
            <a:r>
              <a:rPr sz="2200" b="0" i="1">
                <a:solidFill>
                  <a:srgbClr val="1C252B"/>
                </a:solidFill>
                <a:latin typeface="Segoe UI"/>
              </a:rPr>
              <a:t>same</a:t>
            </a:r>
            <a:r>
              <a:rPr sz="2200" b="0" i="0">
                <a:solidFill>
                  <a:srgbClr val="1C252B"/>
                </a:solidFill>
                <a:latin typeface="Segoe UI"/>
              </a:rPr>
              <a:t> measurement vary by </a:t>
            </a:r>
            <a:r>
              <a:rPr sz="2200" b="0" i="0">
                <a:solidFill>
                  <a:srgbClr val="1C252B"/>
                </a:solidFill>
                <a:latin typeface="Cambria"/>
              </a:rPr>
              <a:t>± 15%</a:t>
            </a:r>
            <a:r>
              <a:rPr sz="2200" b="0" i="0">
                <a:solidFill>
                  <a:srgbClr val="1C252B"/>
                </a:solidFill>
                <a:latin typeface="Segoe UI"/>
              </a:rPr>
              <a:t>, then 3.6–4.4 is consistent with 4 and the answer is yes. If they vary by </a:t>
            </a:r>
            <a:r>
              <a:rPr sz="2200" b="0" i="0">
                <a:solidFill>
                  <a:srgbClr val="1C252B"/>
                </a:solidFill>
                <a:latin typeface="Cambria"/>
              </a:rPr>
              <a:t>± 1%</a:t>
            </a:r>
            <a:r>
              <a:rPr sz="2200" b="0" i="0">
                <a:solidFill>
                  <a:srgbClr val="1C252B"/>
                </a:solidFill>
                <a:latin typeface="Segoe UI"/>
              </a:rPr>
              <a:t>, a spread of 3.6 to 4.4 is a real effect and something else is going on. Also check that the smallest time is well above the clock resolution. A ratio without a noise estimate is not evidence either way.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  answers in Appendix D     </a:t>
            </a:r>
            <a:fld id="{28807E7A-BB2B-4451-8AAA-7172DB0AC4B2}"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0121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Name three input shapes you would test a hash table with, and say what each one is probing.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23  ·  The Semester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196  ·  answers in Appendix D     </a:t>
            </a:r>
            <a:fld id="{12ACB901-1DE5-4FAD-844D-841CFB137834}"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Name three input shapes you would test a hash table with, and say what each one is probing.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example: </a:t>
            </a:r>
            <a:r>
              <a:rPr sz="2200" b="1" i="0">
                <a:solidFill>
                  <a:srgbClr val="1C252B"/>
                </a:solidFill>
                <a:latin typeface="Segoe UI"/>
              </a:rPr>
              <a:t>(a)</a:t>
            </a:r>
            <a:r>
              <a:rPr sz="2200" b="0" i="0">
                <a:solidFill>
                  <a:srgbClr val="1C252B"/>
                </a:solidFill>
                <a:latin typeface="Segoe UI"/>
              </a:rPr>
              <a:t> uniformly random keys, probing the ideal case the analysis assumes; </a:t>
            </a:r>
            <a:r>
              <a:rPr sz="2200" b="1" i="0">
                <a:solidFill>
                  <a:srgbClr val="1C252B"/>
                </a:solidFill>
                <a:latin typeface="Segoe UI"/>
              </a:rPr>
              <a:t>(b)</a:t>
            </a:r>
            <a:r>
              <a:rPr sz="2200" b="0" i="0">
                <a:solidFill>
                  <a:srgbClr val="1C252B"/>
                </a:solidFill>
                <a:latin typeface="Segoe UI"/>
              </a:rPr>
              <a:t> keys with a fixed stride, such as multiples of 64, probing whether the hash uses the whole key — Chapter 13 measured 31 probes instead of 1.5 here; </a:t>
            </a:r>
            <a:r>
              <a:rPr sz="2200" b="1" i="0">
                <a:solidFill>
                  <a:srgbClr val="1C252B"/>
                </a:solidFill>
                <a:latin typeface="Segoe UI"/>
              </a:rPr>
              <a:t>(c)</a:t>
            </a:r>
            <a:r>
              <a:rPr sz="2200" b="0" i="0">
                <a:solidFill>
                  <a:srgbClr val="1C252B"/>
                </a:solidFill>
                <a:latin typeface="Segoe UI"/>
              </a:rPr>
              <a:t> keys deliberately chosen to collide under your hash, probing the adversarial worst case. Several other answers are good: a realistic sample of your own data is often the most informative of all.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  answers in Appendix D     </a:t>
            </a:r>
            <a:fld id="{F00227A7-55B5-433F-9D96-01E190C9B218}" type="slidenum">
              <a:rPr lang="en-GB" sz="1000">
                <a:solidFill>
                  <a:srgbClr val="8795A1"/>
                </a:solidFill>
                <a:latin typeface="Segoe UI"/>
              </a:rPr>
              <a:t>43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9883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a:t>
            </a:r>
            <a:fld id="{8DCA6760-8988-4A96-8B3B-E96B062DE787}" type="slidenum">
              <a:rPr lang="en-GB" sz="1000">
                <a:solidFill>
                  <a:srgbClr val="8795A1"/>
                </a:solidFill>
                <a:latin typeface="Segoe UI"/>
              </a:rPr>
              <a:t>44</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project implements, analyses, measures and defends. It must make a claim that measurement can settle and that could come out false.</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Ten rules of method, each one arrived at by a failure recorded in this book: optimise, take medians, generate input outside the timing, subtract setup, check against an oracle, report ratios, use several input shapes, state the clock resolution, sample randomly, and count rather than time where you can.</a:t>
            </a:r>
          </a:p>
        </p:txBody>
      </p:sp>
      <p:sp>
        <p:nvSpPr>
          <p:cNvPr id="13" name="!!sb2">
            <a:extLst>
              <a:ext uri="{C183D7F6-B498-43B3-948B-1728B52AA6E4}">
                <adec:decorative xmlns:adec="http://schemas.microsoft.com/office/drawing/2017/decorative" val="1"/>
              </a:ext>
            </a:extLst>
          </p:cNvPr>
          <p:cNvSpPr/>
          <p:nvPr/>
        </p:nvSpPr>
        <p:spPr>
          <a:xfrm>
            <a:off x="658368" y="345947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1434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033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F4E79"/>
                </a:solidFill>
                <a:latin typeface="Consolas"/>
              </a:rPr>
              <a:t>code/ch23_harness.cpp</a:t>
            </a:r>
            <a:r>
              <a:rPr sz="1700" b="0" i="0">
                <a:solidFill>
                  <a:srgbClr val="1C252B"/>
                </a:solidFill>
                <a:latin typeface="Segoe UI"/>
              </a:rPr>
              <a:t> implements all ten and refuses to report timings if the correctness check fails.</a:t>
            </a:r>
          </a:p>
        </p:txBody>
      </p:sp>
      <p:sp>
        <p:nvSpPr>
          <p:cNvPr id="16" name="!!sb3">
            <a:extLst>
              <a:ext uri="{C183D7F6-B498-43B3-948B-1728B52AA6E4}">
                <adec:decorative xmlns:adec="http://schemas.microsoft.com/office/drawing/2017/decorative" val="1"/>
              </a:ext>
            </a:extLst>
          </p:cNvPr>
          <p:cNvSpPr/>
          <p:nvPr/>
        </p:nvSpPr>
        <p:spPr>
          <a:xfrm>
            <a:off x="658368" y="404469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9955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35551"/>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with the harness: five input shapes all gave ratios near the predicted </a:t>
            </a:r>
            <a:r>
              <a:rPr sz="1700" b="0" i="0">
                <a:solidFill>
                  <a:srgbClr val="1C252B"/>
                </a:solidFill>
                <a:latin typeface="Cambria"/>
              </a:rPr>
              <a:t>2+2/lg </a:t>
            </a:r>
            <a:r>
              <a:rPr sz="1700" b="0" i="1">
                <a:solidFill>
                  <a:srgbClr val="1C252B"/>
                </a:solidFill>
                <a:latin typeface="Cambria"/>
              </a:rPr>
              <a:t>n</a:t>
            </a:r>
            <a:r>
              <a:rPr sz="1700" b="0" i="0">
                <a:solidFill>
                  <a:srgbClr val="1C252B"/>
                </a:solidFill>
                <a:latin typeface="Segoe UI"/>
              </a:rPr>
              <a:t>, and absolute times differing by 4.2</a:t>
            </a:r>
            <a:r>
              <a:rPr sz="1700" b="0" i="0">
                <a:solidFill>
                  <a:srgbClr val="1C252B"/>
                </a:solidFill>
                <a:latin typeface="Cambria"/>
              </a:rPr>
              <a:t>×</a:t>
            </a:r>
            <a:r>
              <a:rPr sz="1700" b="0" i="0">
                <a:solidFill>
                  <a:srgbClr val="1C252B"/>
                </a:solidFill>
                <a:latin typeface="Segoe UI"/>
              </a:rPr>
              <a:t>. Report both tables — the ratios test the analysis, the times show what a user experiences.</a:t>
            </a:r>
          </a:p>
        </p:txBody>
      </p:sp>
      <p:sp>
        <p:nvSpPr>
          <p:cNvPr id="19" name="!!sb4">
            <a:extLst>
              <a:ext uri="{C183D7F6-B498-43B3-948B-1728B52AA6E4}">
                <adec:decorative xmlns:adec="http://schemas.microsoft.com/office/drawing/2017/decorative" val="1"/>
              </a:ext>
            </a:extLst>
          </p:cNvPr>
          <p:cNvSpPr/>
          <p:nvPr/>
        </p:nvSpPr>
        <p:spPr>
          <a:xfrm>
            <a:off x="658368" y="503590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09076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02676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Report what did not work. Five first-attempt failures are described in this handout, and they are more instructive than the successes.</a:t>
            </a:r>
          </a:p>
        </p:txBody>
      </p:sp>
      <p:sp>
        <p:nvSpPr>
          <p:cNvPr id="22" name="!!sb5">
            <a:extLst>
              <a:ext uri="{C183D7F6-B498-43B3-948B-1728B52AA6E4}">
                <adec:decorative xmlns:adec="http://schemas.microsoft.com/office/drawing/2017/decorative" val="1"/>
              </a:ext>
            </a:extLst>
          </p:cNvPr>
          <p:cNvSpPr/>
          <p:nvPr/>
        </p:nvSpPr>
        <p:spPr>
          <a:xfrm>
            <a:off x="658368" y="575767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81253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748527"/>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negative result is a result, provided you say what follows from it.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4764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a:t>
            </a:r>
            <a:fld id="{5C2E2D53-8E40-4BF7-A60C-64904946F251}" type="slidenum">
              <a:rPr lang="en-GB" sz="1000">
                <a:solidFill>
                  <a:srgbClr val="8795A1"/>
                </a:solidFill>
                <a:latin typeface="Segoe UI"/>
              </a:rPr>
              <a:t>45</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defence asks about method: what would have falsified the claim, why those shapes, how you know the code is right.</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19645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a:t>
            </a:r>
            <a:fld id="{8600BD86-9D81-448F-9462-05D58DE5F47E}"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most important property of a project claim is that it: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true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could be shown false by measurement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novel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involves several algorithms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4526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a:t>
            </a:r>
            <a:fld id="{33174F9A-F16A-4289-8D09-2B77D3D0926D}"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Absolute running times should be reported:</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instead of ratios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alongside ratios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never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only for the fastest algorithm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9407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23  ·  The Semester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196     </a:t>
            </a:r>
            <a:fld id="{DEE3233D-6109-45F3-ABB3-8B3B1FE938CA}" type="slidenum">
              <a:rPr lang="en-GB" sz="1000">
                <a:solidFill>
                  <a:srgbClr val="8795A1"/>
                </a:solidFill>
                <a:latin typeface="Segoe UI"/>
              </a:rPr>
              <a:t>48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four rules of experimental method from this chapter and the failure each one prevents.</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the harness check correctness before timing?</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negative result can earn full marks.</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Design the experiment for one project in Section 23.2: state the claim, the input shapes, the sizes, the repetitions, what you would compute, and what result would refute you.</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classmate reports that algorithm A is 1.3</a:t>
            </a:r>
            <a:r>
              <a:rPr sz="1900" b="0" i="0">
                <a:solidFill>
                  <a:srgbClr val="1C252B"/>
                </a:solidFill>
                <a:latin typeface="Cambria"/>
              </a:rPr>
              <a:t>×</a:t>
            </a:r>
            <a:r>
              <a:rPr sz="1900" b="0" i="0">
                <a:solidFill>
                  <a:srgbClr val="1C252B"/>
                </a:solidFill>
                <a:latin typeface="Segoe UI"/>
              </a:rPr>
              <a:t> faster than B, from one run at one size on random input. List everything wrong with that, and write the two-sentence instruction that would fix it.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28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the course</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THE COURSE</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23 chapters  ·  six parts  ·  one project</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23, pages 189–196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Implement, measure, defend</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due; Final (Ch 1–22)</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23  ·  The Semester Project</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84694AEC-7719-4542-A0DD-9AB2CB3E5C1E}" type="slidenum">
              <a:rPr lang="en-GB" sz="1000">
                <a:solidFill>
                  <a:srgbClr val="D5DEE5"/>
                </a:solidFill>
                <a:latin typeface="Segoe UI"/>
              </a:rPr>
              <a:t>49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The Semester Project</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