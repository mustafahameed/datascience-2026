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E588C45-7759-495A-82CC-75F8E2E96639}">
          <p14:sldIdLst>
            <p14:sldId id="256"/>
            <p14:sldId id="257"/>
            <p14:sldId id="258"/>
            <p14:sldId id="259"/>
            <p14:sldId id="260"/>
            <p14:sldId id="261"/>
          </p14:sldIdLst>
        </p14:section>
        <p14:section name="19.1 The Cut Property" id="{55305247-1C63-44E7-BAB0-DC646F920BD2}">
          <p14:sldIdLst>
            <p14:sldId id="262"/>
            <p14:sldId id="263"/>
            <p14:sldId id="264"/>
            <p14:sldId id="265"/>
            <p14:sldId id="266"/>
          </p14:sldIdLst>
        </p14:section>
        <p14:section name="19.2 Kruskal, and the Structure It Needs" id="{737F50F0-8857-4503-B01E-1935AF3001BF}">
          <p14:sldIdLst>
            <p14:sldId id="267"/>
            <p14:sldId id="268"/>
            <p14:sldId id="269"/>
            <p14:sldId id="270"/>
            <p14:sldId id="271"/>
            <p14:sldId id="272"/>
          </p14:sldIdLst>
        </p14:section>
        <p14:section name="19.3 Prim" id="{434F0DFC-3360-43F6-8BCD-5ED9DFA3DCE3}">
          <p14:sldIdLst>
            <p14:sldId id="273"/>
            <p14:sldId id="274"/>
            <p14:sldId id="275"/>
          </p14:sldIdLst>
        </p14:section>
        <p14:section name="19.4 Measured" id="{D5F4DC38-424F-4210-B6AE-33D281F05177}">
          <p14:sldIdLst>
            <p14:sldId id="276"/>
            <p14:sldId id="277"/>
            <p14:sldId id="278"/>
            <p14:sldId id="279"/>
            <p14:sldId id="280"/>
            <p14:sldId id="281"/>
            <p14:sldId id="282"/>
            <p14:sldId id="283"/>
          </p14:sldIdLst>
        </p14:section>
        <p14:section name="Pitfalls" id="{B385E575-D273-424E-9D1B-98787DB2486E}">
          <p14:sldIdLst>
            <p14:sldId id="284"/>
            <p14:sldId id="285"/>
          </p14:sldIdLst>
        </p14:section>
        <p14:section name="Lab" id="{E488F481-9795-46C1-9F71-7235EAC97614}">
          <p14:sldIdLst>
            <p14:sldId id="286"/>
            <p14:sldId id="287"/>
            <p14:sldId id="288"/>
            <p14:sldId id="289"/>
            <p14:sldId id="290"/>
            <p14:sldId id="291"/>
            <p14:sldId id="292"/>
            <p14:sldId id="293"/>
            <p14:sldId id="294"/>
            <p14:sldId id="295"/>
            <p14:sldId id="296"/>
          </p14:sldIdLst>
        </p14:section>
        <p14:section name="Checkpoint" id="{CA575628-AB31-40B5-B12D-6D5C1170F191}">
          <p14:sldIdLst>
            <p14:sldId id="297"/>
            <p14:sldId id="298"/>
            <p14:sldId id="299"/>
            <p14:sldId id="300"/>
            <p14:sldId id="301"/>
            <p14:sldId id="302"/>
          </p14:sldIdLst>
        </p14:section>
        <p14:section name="Wrap-up" id="{ED2FF291-824B-4651-8913-E2C147ACE833}">
          <p14:sldIdLst>
            <p14:sldId id="303"/>
            <p14:sldId id="304"/>
            <p14:sldId id="305"/>
            <p14:sldId id="306"/>
            <p14:sldId id="307"/>
            <p14:sldId id="30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19: Minimum Spanning Trees. Part 5 — Graph Algorithms. Week 13: Graph representation, traversal and spanning trees. Handout pages 154–161.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14 for the exchange argument — the cut property is one. Chapter 17 for the union–find bound, which is meaningless without it. Chapter 18 for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spanning tree; minimum spanning tree; cut; crossing edge; light edge; cut property; safe edge; Kruskal; Prim; disjoint-set union; union by rank; path compression; inverse Ackermann.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An exchange argument, in the pattern of Chapter 14. Let T be an MST containing A. If e ∈ T there is nothing to prove, so assume e = (u,v) ∉ T. Adding e to T creates exactly one cycle, since T is a tree and e joins two vertices already connected by a unique path. That cycle contains the path in T from u to v, and since u and v lie on opposite sides of the cut, that path must cross the cut at least once — say at edge e′. Now e′ is a crossing edge and e is a light crossing edge, so w(e) ≤ w(e′). Form T′ = (T  {e′}) ∪ {e}. Removing e′ from the cycle leaves a tree spanning the same vertices, so T′ is a spanning tree, and w(T′) = w(T) − w(e′) + w(e) ≤ w(T). Since T was minimum, w(T′) = w(T) and T′ is also an MST. Finally A ⊆ T′: no edge of A crosses the cut, so e′ ∉ A, and removing e′ did not disturb A. Hence A ∪ {e} ⊆ T′, an MST.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19.1 (handout p. 156): Kruskal. The sort is Θ(|E| lg |E|) and dominates; the O(|E|) union–find operations cost O(|E| α(|V|)), which is why the amortised bound matters.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Sorting the edges is Θ(|E| lg|E|). There are |V| Make-Set operations and at most 2|E| Find plus |V|−1 Union operations, costing O((|E|+|V|) α(|V|)) in total. Since α(|V|) = O(lg |E|) trivially, the sort dominates, giving O(|E| lg|E|). Finally |E| ≤ |V|² gives lg|E| ≤ 2 lg|V|, so the bound is O(|E| lg|V|).</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19.2 (handout p. 157): Prim. With a binary heap this is O((|V|+|E|) lg|V|); the cut is always “tree so far” against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four tables. Expect forty minutes — the naive union–find at |V| = 100,000 takes 44 seconds per run, three times over.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Union-find, three ways.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Union-find, three ways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Union-find, three ways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Kruskal: sort, then add anything that is safe.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Prim: grow one tree from a root.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Do the two algorithms agree?.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The three union-find variants.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And the same thing in seconds.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Kruskal against Prim, by density.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Let A be a subset of some MST and let (S, V S) be a cut that no edge of A crosses. Then any light edge for that cut is safe. The hypothesis that makes the exchange safe is that no edge of A crosses the cut: it guarantees that the edge e′ removed from the cycle — which does cross the cut — is not in A, so A survives the exchange and remains inside the new MST.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Prim’s cut is (vertices in the tree so far) against the rest, so the light edge is the cheapest edge leaving the tree, and the structure needed is a priority queue. Kruskal’s cut is between the two components that the next edge would join, so what is needed is a test for “are these already connected?” — disjoint-set union. One theorem, two cuts, two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It is wrong because α(n) is not constant — it grows, and the measurement shows it growing, from 1.62 to 1.88. It does not matter because α grows so slowly that α(n) ≤ 4 for every n that can be written down; reaching 5 needs an n far larger than the number of atoms in the observable universe. It is also an amortised bound, so a single find can still cost Θ(lg|V|).</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20 — Shortest Paths: Single-Source and All-Pairs. READ: Handout Chapter 19, pages 154–161. THIS WEEK'S LAB: The matrix/list crossover as density falls. ASSESSMENT: Assignment 2 set; project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7.xml"/><Relationship Id="rId6" Type="http://schemas.openxmlformats.org/officeDocument/2006/relationships/slide" Target="slide12.xml"/><Relationship Id="rId7" Type="http://schemas.openxmlformats.org/officeDocument/2006/relationships/slide" Target="slide18.xml"/><Relationship Id="rId8"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5.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28.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1.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3.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5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51.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6.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7.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8.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9.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2.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Minimum Spanning Trees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GRAPH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19  ·  WEEK 13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154     </a:t>
            </a:r>
            <a:fld id="{00871D04-BC11-478E-B520-3EB1E1013272}"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8513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8513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69257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69257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533777" y="1755648"/>
            <a:ext cx="14311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533777" y="2029967"/>
            <a:ext cx="1431195"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1659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1251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66607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5746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05780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59663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50728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4158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789900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78075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65910"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96591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Minimum Spanning Trees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Greedy Algorithms</a:t>
            </a:r>
          </a:p>
        </p:txBody>
      </p:sp>
      <p:sp>
        <p:nvSpPr>
          <p:cNvPr id="70" name="!!chipBU1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Amortised Analysis</a:t>
            </a:r>
          </a:p>
        </p:txBody>
      </p:sp>
      <p:sp>
        <p:nvSpPr>
          <p:cNvPr id="73" name="!!chipBU1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Graphs: Representation, Traversal and Sparsity</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 later chapter depends on it</a:t>
            </a:r>
          </a:p>
        </p:txBody>
      </p:sp>
      <p:sp>
        <p:nvSpPr>
          <p:cNvPr id="7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pfill">
            <a:extLst>
              <a:ext uri="{C183D7F6-B498-43B3-948B-1728B52AA6E4}">
                <adec:decorative xmlns:adec="http://schemas.microsoft.com/office/drawing/2017/decorative" val="1"/>
              </a:ext>
            </a:extLst>
          </p:cNvPr>
          <p:cNvSpPr/>
          <p:nvPr/>
        </p:nvSpPr>
        <p:spPr>
          <a:xfrm>
            <a:off x="0" y="0"/>
            <a:ext cx="46006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154     </a:t>
            </a:r>
            <a:fld id="{3C73180E-5919-4335-ADEF-46FD84E3F751}"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State</a:t>
            </a:r>
            <a:r>
              <a:rPr sz="2100" b="0" i="0">
                <a:solidFill>
                  <a:srgbClr val="1C252B"/>
                </a:solidFill>
                <a:latin typeface="Segoe UI"/>
              </a:rPr>
              <a:t> and </a:t>
            </a:r>
            <a:r>
              <a:rPr sz="2100" b="1" i="0">
                <a:solidFill>
                  <a:srgbClr val="1C252B"/>
                </a:solidFill>
                <a:latin typeface="Segoe UI"/>
              </a:rPr>
              <a:t>prove</a:t>
            </a:r>
            <a:r>
              <a:rPr sz="2100" b="0" i="0">
                <a:solidFill>
                  <a:srgbClr val="1C252B"/>
                </a:solidFill>
                <a:latin typeface="Segoe UI"/>
              </a:rPr>
              <a:t> the cut property, and </a:t>
            </a:r>
            <a:r>
              <a:rPr sz="2100" b="1" i="0">
                <a:solidFill>
                  <a:srgbClr val="1C252B"/>
                </a:solidFill>
                <a:latin typeface="Segoe UI"/>
              </a:rPr>
              <a:t>explain</a:t>
            </a:r>
            <a:r>
              <a:rPr sz="2100" b="0" i="0">
                <a:solidFill>
                  <a:srgbClr val="1C252B"/>
                </a:solidFill>
                <a:latin typeface="Segoe UI"/>
              </a:rPr>
              <a:t> why it makes both MST algorithms greedy </a:t>
            </a:r>
            <a:r>
              <a:rPr sz="2100" b="0" i="1">
                <a:solidFill>
                  <a:srgbClr val="1C252B"/>
                </a:solidFill>
                <a:latin typeface="Segoe UI"/>
              </a:rPr>
              <a:t>(CLO-7)</a:t>
            </a:r>
            <a:r>
              <a:rPr sz="2100" b="0" i="0">
                <a:solidFill>
                  <a:srgbClr val="1C252B"/>
                </a:solidFill>
                <a:latin typeface="Segoe UI"/>
              </a:rPr>
              <a: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Trace</a:t>
            </a:r>
            <a:r>
              <a:rPr sz="2100" b="0" i="0">
                <a:solidFill>
                  <a:srgbClr val="1C252B"/>
                </a:solidFill>
                <a:latin typeface="Segoe UI"/>
              </a:rPr>
              <a:t> Kruskal’s and Prim’s algorithms and </a:t>
            </a:r>
            <a:r>
              <a:rPr sz="2100" b="1" i="0">
                <a:solidFill>
                  <a:srgbClr val="1C252B"/>
                </a:solidFill>
                <a:latin typeface="Segoe UI"/>
              </a:rPr>
              <a:t>derive</a:t>
            </a:r>
            <a:r>
              <a:rPr sz="2100" b="0" i="0">
                <a:solidFill>
                  <a:srgbClr val="1C252B"/>
                </a:solidFill>
                <a:latin typeface="Segoe UI"/>
              </a:rPr>
              <a:t> their running times.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union by rank and path compression, and </a:t>
            </a:r>
            <a:r>
              <a:rPr sz="2100" b="1" i="0">
                <a:solidFill>
                  <a:srgbClr val="1C252B"/>
                </a:solidFill>
                <a:latin typeface="Segoe UI"/>
              </a:rPr>
              <a:t>state</a:t>
            </a:r>
            <a:r>
              <a:rPr sz="2100" b="0" i="0">
                <a:solidFill>
                  <a:srgbClr val="1C252B"/>
                </a:solidFill>
                <a:latin typeface="Segoe UI"/>
              </a:rPr>
              <a:t> the amortised bound they give.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Measure</a:t>
            </a:r>
            <a:r>
              <a:rPr sz="2100" b="0" i="0">
                <a:solidFill>
                  <a:srgbClr val="1C252B"/>
                </a:solidFill>
                <a:latin typeface="Segoe UI"/>
              </a:rPr>
              <a:t> the effect of each union–find optimisation and </a:t>
            </a:r>
            <a:r>
              <a:rPr sz="2100" b="1" i="0">
                <a:solidFill>
                  <a:srgbClr val="1C252B"/>
                </a:solidFill>
                <a:latin typeface="Segoe UI"/>
              </a:rPr>
              <a:t>relate</a:t>
            </a:r>
            <a:r>
              <a:rPr sz="2100" b="0" i="0">
                <a:solidFill>
                  <a:srgbClr val="1C252B"/>
                </a:solidFill>
                <a:latin typeface="Segoe UI"/>
              </a:rPr>
              <a:t> it to Chapter 17.</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Choose</a:t>
            </a:r>
            <a:r>
              <a:rPr sz="2100" b="0" i="0">
                <a:solidFill>
                  <a:srgbClr val="1C252B"/>
                </a:solidFill>
                <a:latin typeface="Segoe UI"/>
              </a:rPr>
              <a:t> between Kruskal and Prim for a given density.</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9009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154     </a:t>
            </a:r>
            <a:fld id="{B74D094B-C1A2-4FE1-97A6-722793150E0D}" type="slidenum">
              <a:rPr lang="en-GB" sz="1000">
                <a:solidFill>
                  <a:srgbClr val="8795A1"/>
                </a:solidFill>
                <a:latin typeface="Segoe UI"/>
              </a:rPr>
              <a:t>4</a:t>
            </a:fld>
          </a:p>
        </p:txBody>
      </p:sp>
      <p:sp>
        <p:nvSpPr>
          <p:cNvPr id="7" name="!!term-spanning tree">
            <a:extLst>
              <a:ext uri="{C183D7F6-B498-43B3-948B-1728B52AA6E4}">
                <adec:decorative xmlns:adec="http://schemas.microsoft.com/office/drawing/2017/decorative" val="1"/>
              </a:ext>
            </a:extLst>
          </p:cNvPr>
          <p:cNvSpPr/>
          <p:nvPr/>
        </p:nvSpPr>
        <p:spPr>
          <a:xfrm>
            <a:off x="658368" y="1847088"/>
            <a:ext cx="16942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panning tre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panning tree"/>
          <p:cNvSpPr txBox="1"/>
          <p:nvPr/>
        </p:nvSpPr>
        <p:spPr>
          <a:xfrm>
            <a:off x="950976" y="1962911"/>
            <a:ext cx="15113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spanning tree</a:t>
            </a:r>
          </a:p>
        </p:txBody>
      </p:sp>
      <p:sp>
        <p:nvSpPr>
          <p:cNvPr id="10" name="!!term-minimum spanni">
            <a:extLst>
              <a:ext uri="{C183D7F6-B498-43B3-948B-1728B52AA6E4}">
                <adec:decorative xmlns:adec="http://schemas.microsoft.com/office/drawing/2017/decorative" val="1"/>
              </a:ext>
            </a:extLst>
          </p:cNvPr>
          <p:cNvSpPr/>
          <p:nvPr/>
        </p:nvSpPr>
        <p:spPr>
          <a:xfrm>
            <a:off x="2498897" y="1847088"/>
            <a:ext cx="26213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minimum spanni">
            <a:extLst>
              <a:ext uri="{C183D7F6-B498-43B3-948B-1728B52AA6E4}">
                <adec:decorative xmlns:adec="http://schemas.microsoft.com/office/drawing/2017/decorative" val="1"/>
              </a:ext>
            </a:extLst>
          </p:cNvPr>
          <p:cNvSpPr/>
          <p:nvPr/>
        </p:nvSpPr>
        <p:spPr>
          <a:xfrm>
            <a:off x="262691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minimum spanni"/>
          <p:cNvSpPr txBox="1"/>
          <p:nvPr/>
        </p:nvSpPr>
        <p:spPr>
          <a:xfrm>
            <a:off x="2791505" y="1962911"/>
            <a:ext cx="24384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minimum spanning tree</a:t>
            </a:r>
          </a:p>
        </p:txBody>
      </p:sp>
      <p:sp>
        <p:nvSpPr>
          <p:cNvPr id="13" name="!!term-cut">
            <a:extLst>
              <a:ext uri="{C183D7F6-B498-43B3-948B-1728B52AA6E4}">
                <adec:decorative xmlns:adec="http://schemas.microsoft.com/office/drawing/2017/decorative" val="1"/>
              </a:ext>
            </a:extLst>
          </p:cNvPr>
          <p:cNvSpPr/>
          <p:nvPr/>
        </p:nvSpPr>
        <p:spPr>
          <a:xfrm>
            <a:off x="5266519" y="1847088"/>
            <a:ext cx="7222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ut">
            <a:extLst>
              <a:ext uri="{C183D7F6-B498-43B3-948B-1728B52AA6E4}">
                <adec:decorative xmlns:adec="http://schemas.microsoft.com/office/drawing/2017/decorative" val="1"/>
              </a:ext>
            </a:extLst>
          </p:cNvPr>
          <p:cNvSpPr/>
          <p:nvPr/>
        </p:nvSpPr>
        <p:spPr>
          <a:xfrm>
            <a:off x="539453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ut"/>
          <p:cNvSpPr txBox="1"/>
          <p:nvPr/>
        </p:nvSpPr>
        <p:spPr>
          <a:xfrm>
            <a:off x="5559127" y="1962911"/>
            <a:ext cx="53936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cut</a:t>
            </a:r>
          </a:p>
        </p:txBody>
      </p:sp>
      <p:sp>
        <p:nvSpPr>
          <p:cNvPr id="16" name="!!term-crossing edge">
            <a:extLst>
              <a:ext uri="{C183D7F6-B498-43B3-948B-1728B52AA6E4}">
                <adec:decorative xmlns:adec="http://schemas.microsoft.com/office/drawing/2017/decorative" val="1"/>
              </a:ext>
            </a:extLst>
          </p:cNvPr>
          <p:cNvSpPr/>
          <p:nvPr/>
        </p:nvSpPr>
        <p:spPr>
          <a:xfrm>
            <a:off x="6135065" y="1847088"/>
            <a:ext cx="17112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rossing edge">
            <a:extLst>
              <a:ext uri="{C183D7F6-B498-43B3-948B-1728B52AA6E4}">
                <adec:decorative xmlns:adec="http://schemas.microsoft.com/office/drawing/2017/decorative" val="1"/>
              </a:ext>
            </a:extLst>
          </p:cNvPr>
          <p:cNvSpPr/>
          <p:nvPr/>
        </p:nvSpPr>
        <p:spPr>
          <a:xfrm>
            <a:off x="626308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rossing edge"/>
          <p:cNvSpPr txBox="1"/>
          <p:nvPr/>
        </p:nvSpPr>
        <p:spPr>
          <a:xfrm>
            <a:off x="6427673" y="1962911"/>
            <a:ext cx="152838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crossing edge</a:t>
            </a:r>
          </a:p>
        </p:txBody>
      </p:sp>
      <p:sp>
        <p:nvSpPr>
          <p:cNvPr id="19" name="!!term-light edge">
            <a:extLst>
              <a:ext uri="{C183D7F6-B498-43B3-948B-1728B52AA6E4}">
                <adec:decorative xmlns:adec="http://schemas.microsoft.com/office/drawing/2017/decorative" val="1"/>
              </a:ext>
            </a:extLst>
          </p:cNvPr>
          <p:cNvSpPr/>
          <p:nvPr/>
        </p:nvSpPr>
        <p:spPr>
          <a:xfrm>
            <a:off x="7992633" y="1847088"/>
            <a:ext cx="13666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light edge">
            <a:extLst>
              <a:ext uri="{C183D7F6-B498-43B3-948B-1728B52AA6E4}">
                <adec:decorative xmlns:adec="http://schemas.microsoft.com/office/drawing/2017/decorative" val="1"/>
              </a:ext>
            </a:extLst>
          </p:cNvPr>
          <p:cNvSpPr/>
          <p:nvPr/>
        </p:nvSpPr>
        <p:spPr>
          <a:xfrm>
            <a:off x="812064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light edge"/>
          <p:cNvSpPr txBox="1"/>
          <p:nvPr/>
        </p:nvSpPr>
        <p:spPr>
          <a:xfrm>
            <a:off x="8285241" y="1962911"/>
            <a:ext cx="11837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light edge</a:t>
            </a:r>
          </a:p>
        </p:txBody>
      </p:sp>
      <p:sp>
        <p:nvSpPr>
          <p:cNvPr id="22" name="!!term-cut property">
            <a:extLst>
              <a:ext uri="{C183D7F6-B498-43B3-948B-1728B52AA6E4}">
                <adec:decorative xmlns:adec="http://schemas.microsoft.com/office/drawing/2017/decorative" val="1"/>
              </a:ext>
            </a:extLst>
          </p:cNvPr>
          <p:cNvSpPr/>
          <p:nvPr/>
        </p:nvSpPr>
        <p:spPr>
          <a:xfrm>
            <a:off x="9505562" y="1847088"/>
            <a:ext cx="15675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ut property">
            <a:extLst>
              <a:ext uri="{C183D7F6-B498-43B3-948B-1728B52AA6E4}">
                <adec:decorative xmlns:adec="http://schemas.microsoft.com/office/drawing/2017/decorative" val="1"/>
              </a:ext>
            </a:extLst>
          </p:cNvPr>
          <p:cNvSpPr/>
          <p:nvPr/>
        </p:nvSpPr>
        <p:spPr>
          <a:xfrm>
            <a:off x="963357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ut property"/>
          <p:cNvSpPr txBox="1"/>
          <p:nvPr/>
        </p:nvSpPr>
        <p:spPr>
          <a:xfrm>
            <a:off x="9798170" y="1962911"/>
            <a:ext cx="138463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cut property</a:t>
            </a:r>
          </a:p>
        </p:txBody>
      </p:sp>
      <p:sp>
        <p:nvSpPr>
          <p:cNvPr id="25" name="!!term-safe edge">
            <a:extLst>
              <a:ext uri="{C183D7F6-B498-43B3-948B-1728B52AA6E4}">
                <adec:decorative xmlns:adec="http://schemas.microsoft.com/office/drawing/2017/decorative" val="1"/>
              </a:ext>
            </a:extLst>
          </p:cNvPr>
          <p:cNvSpPr/>
          <p:nvPr/>
        </p:nvSpPr>
        <p:spPr>
          <a:xfrm>
            <a:off x="658368" y="2468880"/>
            <a:ext cx="13233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afe edg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afe edge"/>
          <p:cNvSpPr txBox="1"/>
          <p:nvPr/>
        </p:nvSpPr>
        <p:spPr>
          <a:xfrm>
            <a:off x="950976" y="2584704"/>
            <a:ext cx="114042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safe edge</a:t>
            </a:r>
          </a:p>
        </p:txBody>
      </p:sp>
      <p:sp>
        <p:nvSpPr>
          <p:cNvPr id="28" name="!!term-Kruskal">
            <a:extLst>
              <a:ext uri="{C183D7F6-B498-43B3-948B-1728B52AA6E4}">
                <adec:decorative xmlns:adec="http://schemas.microsoft.com/office/drawing/2017/decorative" val="1"/>
              </a:ext>
            </a:extLst>
          </p:cNvPr>
          <p:cNvSpPr/>
          <p:nvPr/>
        </p:nvSpPr>
        <p:spPr>
          <a:xfrm>
            <a:off x="2127979" y="2468880"/>
            <a:ext cx="10951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Kruskal">
            <a:extLst>
              <a:ext uri="{C183D7F6-B498-43B3-948B-1728B52AA6E4}">
                <adec:decorative xmlns:adec="http://schemas.microsoft.com/office/drawing/2017/decorative" val="1"/>
              </a:ext>
            </a:extLst>
          </p:cNvPr>
          <p:cNvSpPr/>
          <p:nvPr/>
        </p:nvSpPr>
        <p:spPr>
          <a:xfrm>
            <a:off x="22559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Kruskal"/>
          <p:cNvSpPr txBox="1"/>
          <p:nvPr/>
        </p:nvSpPr>
        <p:spPr>
          <a:xfrm>
            <a:off x="2420587" y="2584704"/>
            <a:ext cx="91222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Kruskal</a:t>
            </a:r>
          </a:p>
        </p:txBody>
      </p:sp>
      <p:sp>
        <p:nvSpPr>
          <p:cNvPr id="31" name="!!term-Prim">
            <a:extLst>
              <a:ext uri="{C183D7F6-B498-43B3-948B-1728B52AA6E4}">
                <adec:decorative xmlns:adec="http://schemas.microsoft.com/office/drawing/2017/decorative" val="1"/>
              </a:ext>
            </a:extLst>
          </p:cNvPr>
          <p:cNvSpPr/>
          <p:nvPr/>
        </p:nvSpPr>
        <p:spPr>
          <a:xfrm>
            <a:off x="3369393" y="2468880"/>
            <a:ext cx="8557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rim">
            <a:extLst>
              <a:ext uri="{C183D7F6-B498-43B3-948B-1728B52AA6E4}">
                <adec:decorative xmlns:adec="http://schemas.microsoft.com/office/drawing/2017/decorative" val="1"/>
              </a:ext>
            </a:extLst>
          </p:cNvPr>
          <p:cNvSpPr/>
          <p:nvPr/>
        </p:nvSpPr>
        <p:spPr>
          <a:xfrm>
            <a:off x="349740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rim"/>
          <p:cNvSpPr txBox="1"/>
          <p:nvPr/>
        </p:nvSpPr>
        <p:spPr>
          <a:xfrm>
            <a:off x="3662001" y="2584704"/>
            <a:ext cx="67283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Prim</a:t>
            </a:r>
          </a:p>
        </p:txBody>
      </p:sp>
      <p:sp>
        <p:nvSpPr>
          <p:cNvPr id="34" name="!!term-disjoint-set u">
            <a:extLst>
              <a:ext uri="{C183D7F6-B498-43B3-948B-1728B52AA6E4}">
                <adec:decorative xmlns:adec="http://schemas.microsoft.com/office/drawing/2017/decorative" val="1"/>
              </a:ext>
            </a:extLst>
          </p:cNvPr>
          <p:cNvSpPr/>
          <p:nvPr/>
        </p:nvSpPr>
        <p:spPr>
          <a:xfrm>
            <a:off x="4371417" y="2468880"/>
            <a:ext cx="20379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disjoint-set u">
            <a:extLst>
              <a:ext uri="{C183D7F6-B498-43B3-948B-1728B52AA6E4}">
                <adec:decorative xmlns:adec="http://schemas.microsoft.com/office/drawing/2017/decorative" val="1"/>
              </a:ext>
            </a:extLst>
          </p:cNvPr>
          <p:cNvSpPr/>
          <p:nvPr/>
        </p:nvSpPr>
        <p:spPr>
          <a:xfrm>
            <a:off x="449943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disjoint-set u"/>
          <p:cNvSpPr txBox="1"/>
          <p:nvPr/>
        </p:nvSpPr>
        <p:spPr>
          <a:xfrm>
            <a:off x="4664025" y="2584704"/>
            <a:ext cx="185510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disjoint-set union</a:t>
            </a:r>
          </a:p>
        </p:txBody>
      </p:sp>
      <p:sp>
        <p:nvSpPr>
          <p:cNvPr id="37" name="!!term-union by rank">
            <a:extLst>
              <a:ext uri="{C183D7F6-B498-43B3-948B-1728B52AA6E4}">
                <adec:decorative xmlns:adec="http://schemas.microsoft.com/office/drawing/2017/decorative" val="1"/>
              </a:ext>
            </a:extLst>
          </p:cNvPr>
          <p:cNvSpPr/>
          <p:nvPr/>
        </p:nvSpPr>
        <p:spPr>
          <a:xfrm>
            <a:off x="6555704" y="2468880"/>
            <a:ext cx="16961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union by rank">
            <a:extLst>
              <a:ext uri="{C183D7F6-B498-43B3-948B-1728B52AA6E4}">
                <adec:decorative xmlns:adec="http://schemas.microsoft.com/office/drawing/2017/decorative" val="1"/>
              </a:ext>
            </a:extLst>
          </p:cNvPr>
          <p:cNvSpPr/>
          <p:nvPr/>
        </p:nvSpPr>
        <p:spPr>
          <a:xfrm>
            <a:off x="668372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union by rank"/>
          <p:cNvSpPr txBox="1"/>
          <p:nvPr/>
        </p:nvSpPr>
        <p:spPr>
          <a:xfrm>
            <a:off x="6848312" y="2584704"/>
            <a:ext cx="151329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union by rank</a:t>
            </a:r>
          </a:p>
        </p:txBody>
      </p:sp>
      <p:sp>
        <p:nvSpPr>
          <p:cNvPr id="40" name="!!term-path compressi">
            <a:extLst>
              <a:ext uri="{C183D7F6-B498-43B3-948B-1728B52AA6E4}">
                <adec:decorative xmlns:adec="http://schemas.microsoft.com/office/drawing/2017/decorative" val="1"/>
              </a:ext>
            </a:extLst>
          </p:cNvPr>
          <p:cNvSpPr/>
          <p:nvPr/>
        </p:nvSpPr>
        <p:spPr>
          <a:xfrm>
            <a:off x="8398183" y="2468880"/>
            <a:ext cx="20733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ath compressi">
            <a:extLst>
              <a:ext uri="{C183D7F6-B498-43B3-948B-1728B52AA6E4}">
                <adec:decorative xmlns:adec="http://schemas.microsoft.com/office/drawing/2017/decorative" val="1"/>
              </a:ext>
            </a:extLst>
          </p:cNvPr>
          <p:cNvSpPr/>
          <p:nvPr/>
        </p:nvSpPr>
        <p:spPr>
          <a:xfrm>
            <a:off x="852619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ath compressi"/>
          <p:cNvSpPr txBox="1"/>
          <p:nvPr/>
        </p:nvSpPr>
        <p:spPr>
          <a:xfrm>
            <a:off x="8690791" y="2584704"/>
            <a:ext cx="18904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path compression</a:t>
            </a:r>
          </a:p>
        </p:txBody>
      </p:sp>
      <p:sp>
        <p:nvSpPr>
          <p:cNvPr id="43" name="!!term-inverse Ackerm">
            <a:extLst>
              <a:ext uri="{C183D7F6-B498-43B3-948B-1728B52AA6E4}">
                <adec:decorative xmlns:adec="http://schemas.microsoft.com/office/drawing/2017/decorative" val="1"/>
              </a:ext>
            </a:extLst>
          </p:cNvPr>
          <p:cNvSpPr/>
          <p:nvPr/>
        </p:nvSpPr>
        <p:spPr>
          <a:xfrm>
            <a:off x="658368" y="3090672"/>
            <a:ext cx="21707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inverse Ackerm">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inverse Ackerm"/>
          <p:cNvSpPr txBox="1"/>
          <p:nvPr/>
        </p:nvSpPr>
        <p:spPr>
          <a:xfrm>
            <a:off x="950976" y="3206496"/>
            <a:ext cx="198786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inverse Ackermann</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9201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154–161     </a:t>
            </a:r>
            <a:fld id="{8B421A61-C21F-4F09-970E-09C7E461555B}" type="slidenum">
              <a:rPr lang="en-GB" sz="1000">
                <a:solidFill>
                  <a:srgbClr val="8795A1"/>
                </a:solidFill>
                <a:latin typeface="Segoe UI"/>
              </a:rPr>
              <a:t>5</a:t>
            </a:fld>
          </a:p>
        </p:txBody>
      </p:sp>
      <p:sp>
        <p:nvSpPr>
          <p:cNvPr id="7" name="!!ag0" descr="Go to section 19.1 The Cut Property">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Cut Property</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154  ›</a:t>
            </a:r>
          </a:p>
        </p:txBody>
      </p:sp>
      <p:sp>
        <p:nvSpPr>
          <p:cNvPr id="12" name="!!ag1" descr="Go to section 19.2 Kruskal, and the Structure It Need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Kruskal, and the Structure It Needs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155  ›</a:t>
            </a:r>
          </a:p>
        </p:txBody>
      </p:sp>
      <p:sp>
        <p:nvSpPr>
          <p:cNvPr id="17" name="!!ag2" descr="Go to section 19.3 Prim">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Prim</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157  ›</a:t>
            </a:r>
          </a:p>
        </p:txBody>
      </p:sp>
      <p:sp>
        <p:nvSpPr>
          <p:cNvPr id="22" name="!!ag3" descr="Go to section 19.4 Measured">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Measured</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157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1501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chapter exists although the outline omits it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154     </a:t>
            </a:r>
            <a:fld id="{273A450E-6B4B-47AF-B2E0-DA79E4C8AD10}"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05151"/>
          </a:xfrm>
          <a:prstGeom prst="roundRect">
            <a:avLst>
              <a:gd name="adj" fmla="val 350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0515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HEC 2023 outline’s graph clause names “graph algorithms, shortest paths, sparse graphs” and does not mention spanning trees. </a:t>
            </a:r>
            <a:r>
              <a:rPr sz="2300" b="1" i="0">
                <a:solidFill>
                  <a:srgbClr val="1C252B"/>
                </a:solidFill>
                <a:latin typeface="Segoe UI"/>
              </a:rPr>
              <a:t>CLO-7 requires them by name</a:t>
            </a:r>
            <a:r>
              <a:rPr sz="2300" b="0" i="0">
                <a:solidFill>
                  <a:srgbClr val="1C252B"/>
                </a:solidFill>
                <a:latin typeface="Segoe UI"/>
              </a:rPr>
              <a:t>, and the Course Specification records the discrepancy.</a:t>
            </a:r>
          </a:p>
        </p:txBody>
      </p:sp>
      <p:sp>
        <p:nvSpPr>
          <p:cNvPr id="10" name="body-1"/>
          <p:cNvSpPr txBox="1"/>
          <p:nvPr/>
        </p:nvSpPr>
        <p:spPr>
          <a:xfrm>
            <a:off x="1060704" y="330253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would earn its place regardless: the cut property is the cleanest exchange argument in the book, and union–find is where Chapter 17 is paid back.</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38019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Cut Property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19.1   The Cut Property</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Kruskal, and the Structure It Needs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Prim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§19.1     </a:t>
            </a:r>
            <a:fld id="{D3AC7C7A-2323-4154-A851-099D9C124A92}"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6102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Spanning Tree, MST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§19.1  ·  Handout p. 154     </a:t>
            </a:r>
            <a:fld id="{8252AFDB-5DF5-4F14-98F2-25E7D22F9206}"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76069"/>
          </a:xfrm>
          <a:prstGeom prst="roundRect">
            <a:avLst>
              <a:gd name="adj" fmla="val 487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7606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spanning tree</a:t>
            </a:r>
            <a:r>
              <a:rPr sz="2300" b="0" i="0">
                <a:solidFill>
                  <a:srgbClr val="1C252B"/>
                </a:solidFill>
                <a:latin typeface="Segoe UI"/>
              </a:rPr>
              <a:t> of a connected undirected graph is a subset of edges that connects every vertex and contains no cycle. It has exactly </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|−1</a:t>
            </a:r>
            <a:r>
              <a:rPr sz="2300" b="0" i="0">
                <a:solidFill>
                  <a:srgbClr val="1C252B"/>
                </a:solidFill>
                <a:latin typeface="Segoe UI"/>
              </a:rPr>
              <a:t> edges.</a:t>
            </a:r>
          </a:p>
        </p:txBody>
      </p:sp>
      <p:sp>
        <p:nvSpPr>
          <p:cNvPr id="10" name="body-1"/>
          <p:cNvSpPr txBox="1"/>
          <p:nvPr/>
        </p:nvSpPr>
        <p:spPr>
          <a:xfrm>
            <a:off x="1060704" y="2937992"/>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minimum spanning tree</a:t>
            </a:r>
            <a:r>
              <a:rPr sz="2300" b="0" i="0">
                <a:solidFill>
                  <a:srgbClr val="1C252B"/>
                </a:solidFill>
                <a:latin typeface="Segoe UI"/>
              </a:rPr>
              <a:t> is one of least total weight.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8402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Cut, Crossing, Light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§19.1  ·  Handout p. 154     </a:t>
            </a:r>
            <a:fld id="{1E19C1EA-DD9D-4EB8-9F16-FC694EDEE5ED}"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cut</a:t>
            </a:r>
            <a:r>
              <a:rPr sz="2300" b="0" i="0">
                <a:solidFill>
                  <a:srgbClr val="1C252B"/>
                </a:solidFill>
                <a:latin typeface="Segoe UI"/>
              </a:rPr>
              <a:t> </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V</a:t>
            </a:r>
            <a:r>
              <a:rPr sz="2300" b="0" i="0">
                <a:solidFill>
                  <a:srgbClr val="1C252B"/>
                </a:solidFill>
                <a:latin typeface="Cambria"/>
              </a:rPr>
              <a:t> </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is a partition of the vertices. An edge </a:t>
            </a:r>
            <a:r>
              <a:rPr sz="2300" b="1" i="0">
                <a:solidFill>
                  <a:srgbClr val="1A5276"/>
                </a:solidFill>
                <a:latin typeface="Segoe UI"/>
              </a:rPr>
              <a:t>crosses</a:t>
            </a:r>
            <a:r>
              <a:rPr sz="2300" b="0" i="0">
                <a:solidFill>
                  <a:srgbClr val="1C252B"/>
                </a:solidFill>
                <a:latin typeface="Segoe UI"/>
              </a:rPr>
              <a:t> the cut if its endpoints lie on opposite sides. A crossing edge of least weight is a </a:t>
            </a:r>
            <a:r>
              <a:rPr sz="2300" b="1" i="0">
                <a:solidFill>
                  <a:srgbClr val="1A5276"/>
                </a:solidFill>
                <a:latin typeface="Segoe UI"/>
              </a:rPr>
              <a:t>light</a:t>
            </a:r>
            <a:r>
              <a:rPr sz="2300" b="0" i="0">
                <a:solidFill>
                  <a:srgbClr val="1C252B"/>
                </a:solidFill>
                <a:latin typeface="Segoe UI"/>
              </a:rPr>
              <a:t> edge for that cut.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07028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cut property</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19.1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§19.1  ·  Handout p. 154     </a:t>
            </a:r>
            <a:fld id="{EC44962D-79A3-4E1D-8868-FB4F2CEDAC34}"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Let </a:t>
            </a:r>
            <a:r>
              <a:rPr sz="2300" b="0" i="1">
                <a:solidFill>
                  <a:srgbClr val="1C252B"/>
                </a:solidFill>
                <a:latin typeface="Cambria"/>
              </a:rPr>
              <a:t>A</a:t>
            </a:r>
            <a:r>
              <a:rPr sz="2300" b="0" i="0">
                <a:solidFill>
                  <a:srgbClr val="1C252B"/>
                </a:solidFill>
                <a:latin typeface="Segoe UI"/>
              </a:rPr>
              <a:t> be a subset of some minimum spanning tree, and let </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V</a:t>
            </a:r>
            <a:r>
              <a:rPr sz="2300" b="0" i="0">
                <a:solidFill>
                  <a:srgbClr val="1C252B"/>
                </a:solidFill>
                <a:latin typeface="Cambria"/>
              </a:rPr>
              <a:t> </a:t>
            </a:r>
            <a:r>
              <a:rPr sz="2300" b="0" i="1">
                <a:solidFill>
                  <a:srgbClr val="1C252B"/>
                </a:solidFill>
                <a:latin typeface="Cambria"/>
              </a:rPr>
              <a:t>S</a:t>
            </a:r>
            <a:r>
              <a:rPr sz="2300" b="0" i="0">
                <a:solidFill>
                  <a:srgbClr val="1C252B"/>
                </a:solidFill>
                <a:latin typeface="Cambria"/>
              </a:rPr>
              <a:t>)</a:t>
            </a:r>
            <a:r>
              <a:rPr sz="2300" b="0" i="0">
                <a:solidFill>
                  <a:srgbClr val="1C252B"/>
                </a:solidFill>
                <a:latin typeface="Segoe UI"/>
              </a:rPr>
              <a:t> be any cut that no edge of </a:t>
            </a:r>
            <a:r>
              <a:rPr sz="2300" b="0" i="1">
                <a:solidFill>
                  <a:srgbClr val="1C252B"/>
                </a:solidFill>
                <a:latin typeface="Cambria"/>
              </a:rPr>
              <a:t>A</a:t>
            </a:r>
            <a:r>
              <a:rPr sz="2300" b="0" i="0">
                <a:solidFill>
                  <a:srgbClr val="1C252B"/>
                </a:solidFill>
                <a:latin typeface="Segoe UI"/>
              </a:rPr>
              <a:t> crosses. Then any light edge for that cut is safe: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e</a:t>
            </a:r>
            <a:r>
              <a:rPr sz="2300" b="0" i="0">
                <a:solidFill>
                  <a:srgbClr val="1C252B"/>
                </a:solidFill>
                <a:latin typeface="Cambria"/>
              </a:rPr>
              <a:t>}</a:t>
            </a:r>
            <a:r>
              <a:rPr sz="2300" b="0" i="0">
                <a:solidFill>
                  <a:srgbClr val="1C252B"/>
                </a:solidFill>
                <a:latin typeface="Segoe UI"/>
              </a:rPr>
              <a:t> is still contained in some minimum spanning tree.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003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theorem, two algorithms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§19.1  ·  Handout p. 154     </a:t>
            </a:r>
            <a:fld id="{4972571B-3622-4406-A73F-0BB4F224C71F}"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0263"/>
          </a:xfrm>
          <a:prstGeom prst="roundRect">
            <a:avLst>
              <a:gd name="adj" fmla="val 208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026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Theorem 19.1 says a light crossing edge may always be taken. It does not say </a:t>
            </a:r>
            <a:r>
              <a:rPr sz="2100" b="0" i="1">
                <a:solidFill>
                  <a:srgbClr val="1C252B"/>
                </a:solidFill>
                <a:latin typeface="Segoe UI"/>
              </a:rPr>
              <a:t>which</a:t>
            </a:r>
            <a:r>
              <a:rPr sz="2100" b="0" i="0">
                <a:solidFill>
                  <a:srgbClr val="1C252B"/>
                </a:solidFill>
                <a:latin typeface="Segoe UI"/>
              </a:rPr>
              <a:t> cut to use, and the two classical algorithms are two answers.</a:t>
            </a:r>
          </a:p>
        </p:txBody>
      </p:sp>
      <p:sp>
        <p:nvSpPr>
          <p:cNvPr id="10" name="body-1"/>
          <p:cNvSpPr txBox="1"/>
          <p:nvPr/>
        </p:nvSpPr>
        <p:spPr>
          <a:xfrm>
            <a:off x="1060704" y="2860624"/>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Prim</a:t>
            </a:r>
            <a:r>
              <a:rPr sz="2100" b="0" i="0">
                <a:solidFill>
                  <a:srgbClr val="1C252B"/>
                </a:solidFill>
                <a:latin typeface="Segoe UI"/>
              </a:rPr>
              <a:t> takes </a:t>
            </a:r>
            <a:r>
              <a:rPr sz="2100" b="0" i="1">
                <a:solidFill>
                  <a:srgbClr val="1C252B"/>
                </a:solidFill>
                <a:latin typeface="Cambria"/>
              </a:rPr>
              <a:t>S</a:t>
            </a:r>
            <a:r>
              <a:rPr sz="2100" b="0" i="0">
                <a:solidFill>
                  <a:srgbClr val="1C252B"/>
                </a:solidFill>
                <a:latin typeface="Segoe UI"/>
              </a:rPr>
              <a:t> = the vertices of the tree built so far. The light edge is the cheapest edge leaving the tree, so the structure needed is a </a:t>
            </a:r>
            <a:r>
              <a:rPr sz="2100" b="1" i="0">
                <a:solidFill>
                  <a:srgbClr val="1C252B"/>
                </a:solidFill>
                <a:latin typeface="Segoe UI"/>
              </a:rPr>
              <a:t>priority queue</a:t>
            </a:r>
            <a:r>
              <a:rPr sz="2100" b="0" i="0">
                <a:solidFill>
                  <a:srgbClr val="1C252B"/>
                </a:solidFill>
                <a:latin typeface="Segoe UI"/>
              </a:rPr>
              <a:t>.</a:t>
            </a:r>
          </a:p>
        </p:txBody>
      </p:sp>
      <p:sp>
        <p:nvSpPr>
          <p:cNvPr id="11" name="body-2"/>
          <p:cNvSpPr txBox="1"/>
          <p:nvPr/>
        </p:nvSpPr>
        <p:spPr>
          <a:xfrm>
            <a:off x="1060704" y="3672992"/>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Kruskal</a:t>
            </a:r>
            <a:r>
              <a:rPr sz="2100" b="0" i="0">
                <a:solidFill>
                  <a:srgbClr val="1C252B"/>
                </a:solidFill>
                <a:latin typeface="Segoe UI"/>
              </a:rPr>
              <a:t> considers edges in increasing weight order; when an edge joins two different components, the cut separating those components is crossed by no chosen edge, and this edge is lightest among those remaining. The structure needed is one that answers </a:t>
            </a:r>
            <a:r>
              <a:rPr sz="2100" b="1" i="0">
                <a:solidFill>
                  <a:srgbClr val="1C252B"/>
                </a:solidFill>
                <a:latin typeface="Segoe UI"/>
              </a:rPr>
              <a:t>“are these two vertices already connected?”</a:t>
            </a:r>
            <a:r>
              <a:rPr sz="2100" b="0" i="0">
                <a:solidFill>
                  <a:srgbClr val="1C252B"/>
                </a:solidFill>
                <a:latin typeface="Segoe UI"/>
              </a:rPr>
              <a:t> — disjoint-set union.</a:t>
            </a:r>
          </a:p>
        </p:txBody>
      </p:sp>
      <p:sp>
        <p:nvSpPr>
          <p:cNvPr id="12" name="body-3"/>
          <p:cNvSpPr txBox="1"/>
          <p:nvPr/>
        </p:nvSpPr>
        <p:spPr>
          <a:xfrm>
            <a:off x="1060704" y="5151043"/>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Both are greedy, both are optimal, and both are optimal </a:t>
            </a:r>
            <a:r>
              <a:rPr sz="2100" b="0" i="1">
                <a:solidFill>
                  <a:srgbClr val="1C252B"/>
                </a:solidFill>
                <a:latin typeface="Segoe UI"/>
              </a:rPr>
              <a:t>for the same reason</a:t>
            </a:r>
            <a:r>
              <a:rPr sz="2100" b="0" i="0">
                <a:solidFill>
                  <a:srgbClr val="1C252B"/>
                </a:solidFill>
                <a:latin typeface="Segoe UI"/>
              </a:rPr>
              <a:t>. The difference is entirely which data structure the chosen cut requires.</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5303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Kruskal, and the Structure It Needs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The Cut Property</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19.2   Kruskal, and the Structure It Needs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Prim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§19.2     </a:t>
            </a:r>
            <a:fld id="{70E720A9-C073-4E8F-BC40-21A22EC02C89}" type="slidenum">
              <a:rPr lang="en-GB" sz="1000">
                <a:solidFill>
                  <a:srgbClr val="8795A1"/>
                </a:solidFill>
                <a:latin typeface="Segoe UI"/>
              </a:rPr>
              <a:t>12</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7603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Kruskal, and the Structure It Needs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155     </a:t>
            </a:r>
            <a:fld id="{AF98EB4D-28B0-4AFD-84BE-B74D7772C7C9}" type="slidenum">
              <a:rPr lang="en-GB" sz="1000">
                <a:solidFill>
                  <a:srgbClr val="8795A1"/>
                </a:solidFill>
                <a:latin typeface="Segoe UI"/>
              </a:rPr>
              <a:t>13</a:t>
            </a:fld>
          </a:p>
        </p:txBody>
      </p:sp>
      <p:pic>
        <p:nvPicPr>
          <p:cNvPr id="6" name="!!figure" descr="Figure 19.1. Kruskal. The sort is Θ(|E| lg |E|) and dominates; the O(|E|) union–find operations cost O(|E| α(|V|)), which is why the amortised bound matter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35757" y="1737360"/>
            <a:ext cx="792017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Kruskal. The sort is Θ(|E| lg |E|) and dominates; the O(|E|) union–find operations cost O(|E| α(|V|)), which is why the amortised bound matters.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904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Disjoint-Set Union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155     </a:t>
            </a:r>
            <a:fld id="{B1FA8FF2-397F-4464-AE01-095770B78202}"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05151"/>
          </a:xfrm>
          <a:prstGeom prst="roundRect">
            <a:avLst>
              <a:gd name="adj" fmla="val 350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0515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Maintains a partition of the vertices under three operations: Make-Set</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Find</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returning the representative of </a:t>
            </a:r>
            <a:r>
              <a:rPr sz="2300" b="0" i="1">
                <a:solidFill>
                  <a:srgbClr val="1C252B"/>
                </a:solidFill>
                <a:latin typeface="Cambria"/>
              </a:rPr>
              <a:t>v</a:t>
            </a:r>
            <a:r>
              <a:rPr sz="2300" b="0" i="0">
                <a:solidFill>
                  <a:srgbClr val="1C252B"/>
                </a:solidFill>
                <a:latin typeface="Segoe UI"/>
              </a:rPr>
              <a:t>’s set, and Union</a:t>
            </a:r>
            <a:r>
              <a:rPr sz="2300" b="0" i="0">
                <a:solidFill>
                  <a:srgbClr val="1C252B"/>
                </a:solidFill>
                <a:latin typeface="Cambria"/>
              </a:rPr>
              <a:t>(</a:t>
            </a:r>
            <a:r>
              <a:rPr sz="2300" b="0" i="1">
                <a:solidFill>
                  <a:srgbClr val="1C252B"/>
                </a:solidFill>
                <a:latin typeface="Cambria"/>
              </a:rPr>
              <a:t>u</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merging two sets.</a:t>
            </a:r>
          </a:p>
        </p:txBody>
      </p:sp>
      <p:sp>
        <p:nvSpPr>
          <p:cNvPr id="10" name="body-1"/>
          <p:cNvSpPr txBox="1"/>
          <p:nvPr/>
        </p:nvSpPr>
        <p:spPr>
          <a:xfrm>
            <a:off x="1060704" y="330253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set is a tree whose root is the representative. Find walks to the root, so its cost is the depth.</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2204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optimisations, both two lines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155     </a:t>
            </a:r>
            <a:fld id="{D63C0CAA-FD77-4F9E-B4AF-9111C5CF1F0B}"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2503"/>
          </a:xfrm>
          <a:prstGeom prst="roundRect">
            <a:avLst>
              <a:gd name="adj" fmla="val 211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250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Union by rank.</a:t>
            </a:r>
            <a:r>
              <a:rPr sz="1900" b="0" i="0">
                <a:solidFill>
                  <a:srgbClr val="1C252B"/>
                </a:solidFill>
                <a:latin typeface="Segoe UI"/>
              </a:rPr>
              <a:t> When merging, attach the shorter tree under the taller. This alone bounds the depth by </a:t>
            </a:r>
            <a:r>
              <a:rPr sz="1900" b="0" i="0">
                <a:solidFill>
                  <a:srgbClr val="1C252B"/>
                </a:solidFill>
                <a:latin typeface="Cambria"/>
              </a:rPr>
              <a:t>O(lg |</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since a tree of rank </a:t>
            </a:r>
            <a:r>
              <a:rPr sz="1900" b="0" i="1">
                <a:solidFill>
                  <a:srgbClr val="1C252B"/>
                </a:solidFill>
                <a:latin typeface="Cambria"/>
              </a:rPr>
              <a:t>r</a:t>
            </a:r>
            <a:r>
              <a:rPr sz="1900" b="0" i="0">
                <a:solidFill>
                  <a:srgbClr val="1C252B"/>
                </a:solidFill>
                <a:latin typeface="Segoe UI"/>
              </a:rPr>
              <a:t> has at least </a:t>
            </a:r>
            <a:r>
              <a:rPr sz="1900" b="0" i="0">
                <a:solidFill>
                  <a:srgbClr val="1C252B"/>
                </a:solidFill>
                <a:latin typeface="Cambria"/>
              </a:rPr>
              <a:t>2</a:t>
            </a:r>
            <a:r>
              <a:rPr sz="1250" b="0" i="1" baseline="30000">
                <a:solidFill>
                  <a:srgbClr val="1C252B"/>
                </a:solidFill>
                <a:latin typeface="Cambria"/>
              </a:rPr>
              <a:t>r</a:t>
            </a:r>
            <a:r>
              <a:rPr sz="1900" b="0" i="0">
                <a:solidFill>
                  <a:srgbClr val="1C252B"/>
                </a:solidFill>
                <a:latin typeface="Segoe UI"/>
              </a:rPr>
              <a:t> nodes.</a:t>
            </a:r>
          </a:p>
        </p:txBody>
      </p:sp>
      <p:sp>
        <p:nvSpPr>
          <p:cNvPr id="10" name="body-1"/>
          <p:cNvSpPr txBox="1"/>
          <p:nvPr/>
        </p:nvSpPr>
        <p:spPr>
          <a:xfrm>
            <a:off x="1060704" y="2783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Path compression.</a:t>
            </a:r>
            <a:r>
              <a:rPr sz="1900" b="0" i="0">
                <a:solidFill>
                  <a:srgbClr val="1C252B"/>
                </a:solidFill>
                <a:latin typeface="Segoe UI"/>
              </a:rPr>
              <a:t> After Find locates the root, make every node on the path point directly at it. The walk is done anyway; flattening costs one extra pass and makes all future finds on those nodes </a:t>
            </a:r>
            <a:r>
              <a:rPr sz="1900" b="0" i="0">
                <a:solidFill>
                  <a:srgbClr val="1C252B"/>
                </a:solidFill>
                <a:latin typeface="Cambria"/>
              </a:rPr>
              <a:t>O(1)</a:t>
            </a:r>
            <a:r>
              <a:rPr sz="1900" b="0" i="0">
                <a:solidFill>
                  <a:srgbClr val="1C252B"/>
                </a:solidFill>
                <a:latin typeface="Segoe UI"/>
              </a:rPr>
              <a:t>.</a:t>
            </a:r>
          </a:p>
        </p:txBody>
      </p:sp>
      <p:sp>
        <p:nvSpPr>
          <p:cNvPr id="11" name="body-2"/>
          <p:cNvSpPr txBox="1"/>
          <p:nvPr/>
        </p:nvSpPr>
        <p:spPr>
          <a:xfrm>
            <a:off x="1060704" y="3819398"/>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Together</a:t>
            </a:r>
            <a:r>
              <a:rPr sz="1900" b="0" i="0">
                <a:solidFill>
                  <a:srgbClr val="1C252B"/>
                </a:solidFill>
                <a:latin typeface="Segoe UI"/>
              </a:rPr>
              <a:t> they give an amortised cost of </a:t>
            </a:r>
            <a:r>
              <a:rPr sz="1900" b="0" i="0">
                <a:solidFill>
                  <a:srgbClr val="1C252B"/>
                </a:solidFill>
                <a:latin typeface="Cambria"/>
              </a:rPr>
              <a:t>O(α(|</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per operation, where </a:t>
            </a:r>
            <a:r>
              <a:rPr sz="1900" b="0" i="0">
                <a:solidFill>
                  <a:srgbClr val="1C252B"/>
                </a:solidFill>
                <a:latin typeface="Cambria"/>
              </a:rPr>
              <a:t>α</a:t>
            </a:r>
            <a:r>
              <a:rPr sz="1900" b="0" i="0">
                <a:solidFill>
                  <a:srgbClr val="1C252B"/>
                </a:solidFill>
                <a:latin typeface="Segoe UI"/>
              </a:rPr>
              <a:t> is the inverse Ackermann function. </a:t>
            </a:r>
            <a:r>
              <a:rPr sz="1900" b="0" i="0">
                <a:solidFill>
                  <a:srgbClr val="1C252B"/>
                </a:solidFill>
                <a:latin typeface="Cambria"/>
              </a:rPr>
              <a:t>α(</a:t>
            </a:r>
            <a:r>
              <a:rPr sz="1900" b="0" i="1">
                <a:solidFill>
                  <a:srgbClr val="1C252B"/>
                </a:solidFill>
                <a:latin typeface="Cambria"/>
              </a:rPr>
              <a:t>n</a:t>
            </a:r>
            <a:r>
              <a:rPr sz="1900" b="0" i="0">
                <a:solidFill>
                  <a:srgbClr val="1C252B"/>
                </a:solidFill>
                <a:latin typeface="Cambria"/>
              </a:rPr>
              <a:t>) ≤ 4</a:t>
            </a:r>
            <a:r>
              <a:rPr sz="1900" b="0" i="0">
                <a:solidFill>
                  <a:srgbClr val="1C252B"/>
                </a:solidFill>
                <a:latin typeface="Segoe UI"/>
              </a:rPr>
              <a:t> for every </a:t>
            </a:r>
            <a:r>
              <a:rPr sz="1900" b="0" i="1">
                <a:solidFill>
                  <a:srgbClr val="1C252B"/>
                </a:solidFill>
                <a:latin typeface="Cambria"/>
              </a:rPr>
              <a:t>n</a:t>
            </a:r>
            <a:r>
              <a:rPr sz="1900" b="0" i="0">
                <a:solidFill>
                  <a:srgbClr val="1C252B"/>
                </a:solidFill>
                <a:latin typeface="Segoe UI"/>
              </a:rPr>
              <a:t> that can be written down — </a:t>
            </a:r>
            <a:r>
              <a:rPr sz="1900" b="0" i="0">
                <a:solidFill>
                  <a:srgbClr val="1C252B"/>
                </a:solidFill>
                <a:latin typeface="Cambria"/>
              </a:rPr>
              <a:t>α(</a:t>
            </a:r>
            <a:r>
              <a:rPr sz="1900" b="0" i="1">
                <a:solidFill>
                  <a:srgbClr val="1C252B"/>
                </a:solidFill>
                <a:latin typeface="Cambria"/>
              </a:rPr>
              <a:t>n</a:t>
            </a:r>
            <a:r>
              <a:rPr sz="1900" b="0" i="0">
                <a:solidFill>
                  <a:srgbClr val="1C252B"/>
                </a:solidFill>
                <a:latin typeface="Cambria"/>
              </a:rPr>
              <a:t>) = 4</a:t>
            </a:r>
            <a:r>
              <a:rPr sz="1900" b="0" i="0">
                <a:solidFill>
                  <a:srgbClr val="1C252B"/>
                </a:solidFill>
                <a:latin typeface="Segoe UI"/>
              </a:rPr>
              <a:t> requires </a:t>
            </a:r>
            <a:r>
              <a:rPr sz="1900" b="0" i="1">
                <a:solidFill>
                  <a:srgbClr val="1C252B"/>
                </a:solidFill>
                <a:latin typeface="Cambria"/>
              </a:rPr>
              <a:t>n</a:t>
            </a:r>
            <a:r>
              <a:rPr sz="1900" b="0" i="0">
                <a:solidFill>
                  <a:srgbClr val="1C252B"/>
                </a:solidFill>
                <a:latin typeface="Segoe UI"/>
              </a:rPr>
              <a:t> larger than the number of atoms in the universe.</a:t>
            </a:r>
          </a:p>
        </p:txBody>
      </p:sp>
      <p:sp>
        <p:nvSpPr>
          <p:cNvPr id="12" name="body-3"/>
          <p:cNvSpPr txBox="1"/>
          <p:nvPr/>
        </p:nvSpPr>
        <p:spPr>
          <a:xfrm>
            <a:off x="1060704" y="4855540"/>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This bound is amortised and nothing else.</a:t>
            </a:r>
            <a:r>
              <a:rPr sz="1900" b="0" i="0">
                <a:solidFill>
                  <a:srgbClr val="1C252B"/>
                </a:solidFill>
                <a:latin typeface="Segoe UI"/>
              </a:rPr>
              <a:t> A single Find can cost </a:t>
            </a:r>
            <a:r>
              <a:rPr sz="1900" b="0" i="0">
                <a:solidFill>
                  <a:srgbClr val="1C252B"/>
                </a:solidFill>
                <a:latin typeface="Cambria"/>
              </a:rPr>
              <a:t>Θ(lg |</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it is only over a sequence that the average falls to </a:t>
            </a:r>
            <a:r>
              <a:rPr sz="1900" b="0" i="0">
                <a:solidFill>
                  <a:srgbClr val="1C252B"/>
                </a:solidFill>
                <a:latin typeface="Cambria"/>
              </a:rPr>
              <a:t>α</a:t>
            </a:r>
            <a:r>
              <a:rPr sz="1900" b="0" i="0">
                <a:solidFill>
                  <a:srgbClr val="1C252B"/>
                </a:solidFill>
                <a:latin typeface="Segoe UI"/>
              </a:rPr>
              <a:t>. It is proved by the potential method of Chapter 17, and it is the most dramatic amortised result in common use.</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4504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Kruskal’s running time</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19.2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155     </a:t>
            </a:r>
            <a:fld id="{B28F36D3-397E-46C4-B1D9-4D85F4D5E07C}"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union by rank and path compression, Kruskal runs in </a:t>
            </a:r>
            <a:r>
              <a:rPr sz="2300" b="0" i="0">
                <a:solidFill>
                  <a:srgbClr val="1C252B"/>
                </a:solidFill>
                <a:latin typeface="Cambria"/>
              </a:rPr>
              <a:t>O(|</a:t>
            </a:r>
            <a:r>
              <a:rPr sz="2300" b="0" i="1">
                <a:solidFill>
                  <a:srgbClr val="1C252B"/>
                </a:solidFill>
                <a:latin typeface="Cambria"/>
              </a:rPr>
              <a:t>E</a:t>
            </a:r>
            <a:r>
              <a:rPr sz="2300" b="0" i="0">
                <a:solidFill>
                  <a:srgbClr val="1C252B"/>
                </a:solidFill>
                <a:latin typeface="Cambria"/>
              </a:rPr>
              <a:t>| lg |</a:t>
            </a:r>
            <a:r>
              <a:rPr sz="2300" b="0" i="1">
                <a:solidFill>
                  <a:srgbClr val="1C252B"/>
                </a:solidFill>
                <a:latin typeface="Cambria"/>
              </a:rPr>
              <a:t>E</a:t>
            </a:r>
            <a:r>
              <a:rPr sz="2300" b="0" i="0">
                <a:solidFill>
                  <a:srgbClr val="1C252B"/>
                </a:solidFill>
                <a:latin typeface="Cambria"/>
              </a:rPr>
              <a:t>|)</a:t>
            </a:r>
            <a:r>
              <a:rPr sz="2300" b="0" i="0">
                <a:solidFill>
                  <a:srgbClr val="1C252B"/>
                </a:solidFill>
                <a:latin typeface="Segoe UI"/>
              </a:rPr>
              <a:t> time, which is </a:t>
            </a:r>
            <a:r>
              <a:rPr sz="2300" b="0" i="0">
                <a:solidFill>
                  <a:srgbClr val="1C252B"/>
                </a:solidFill>
                <a:latin typeface="Cambria"/>
              </a:rPr>
              <a:t>O(|</a:t>
            </a:r>
            <a:r>
              <a:rPr sz="2300" b="0" i="1">
                <a:solidFill>
                  <a:srgbClr val="1C252B"/>
                </a:solidFill>
                <a:latin typeface="Cambria"/>
              </a:rPr>
              <a:t>E</a:t>
            </a:r>
            <a:r>
              <a:rPr sz="2300" b="0" i="0">
                <a:solidFill>
                  <a:srgbClr val="1C252B"/>
                </a:solidFill>
                <a:latin typeface="Cambria"/>
              </a:rPr>
              <a:t>| lg |</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805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Note what the theorem says about the clever part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155     </a:t>
            </a:r>
            <a:fld id="{D5E1969E-B175-45C7-9A1C-F11A4CC62B99}"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union–find work is </a:t>
            </a:r>
            <a:r>
              <a:rPr sz="2300" b="0" i="1">
                <a:solidFill>
                  <a:srgbClr val="1C252B"/>
                </a:solidFill>
                <a:latin typeface="Segoe UI"/>
              </a:rPr>
              <a:t>not</a:t>
            </a:r>
            <a:r>
              <a:rPr sz="2300" b="0" i="0">
                <a:solidFill>
                  <a:srgbClr val="1C252B"/>
                </a:solidFill>
                <a:latin typeface="Segoe UI"/>
              </a:rPr>
              <a:t> the bottleneck — the sort is. So why bother with path compression at all?</a:t>
            </a:r>
          </a:p>
        </p:txBody>
      </p:sp>
      <p:sp>
        <p:nvSpPr>
          <p:cNvPr id="10" name="body-1"/>
          <p:cNvSpPr txBox="1"/>
          <p:nvPr/>
        </p:nvSpPr>
        <p:spPr>
          <a:xfrm>
            <a:off x="1060704" y="293799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Because without it the union–find work </a:t>
            </a:r>
            <a:r>
              <a:rPr sz="2300" b="0" i="1">
                <a:solidFill>
                  <a:srgbClr val="1C252B"/>
                </a:solidFill>
                <a:latin typeface="Segoe UI"/>
              </a:rPr>
              <a:t>becomes</a:t>
            </a:r>
            <a:r>
              <a:rPr sz="2300" b="0" i="0">
                <a:solidFill>
                  <a:srgbClr val="1C252B"/>
                </a:solidFill>
                <a:latin typeface="Segoe UI"/>
              </a:rPr>
              <a:t> the bottleneck, by a long way. Section 19.4 measures a naive implementation running 1,254</a:t>
            </a:r>
            <a:r>
              <a:rPr sz="2300" b="0" i="0">
                <a:solidFill>
                  <a:srgbClr val="1C252B"/>
                </a:solidFill>
                <a:latin typeface="Cambria"/>
              </a:rPr>
              <a:t>×</a:t>
            </a:r>
            <a:r>
              <a:rPr sz="2300" b="0" i="0">
                <a:solidFill>
                  <a:srgbClr val="1C252B"/>
                </a:solidFill>
                <a:latin typeface="Segoe UI"/>
              </a:rPr>
              <a:t> slower than the optimised one on the same graph. An optimisation that makes a non-dominant term stay non-dominant is still doing essential work.</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91054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Prim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The Cut Property</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Kruskal, and the Structure It Needs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19.3   Prim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§19.3     </a:t>
            </a:r>
            <a:fld id="{D03F8724-87B1-45A5-8E0F-A374F8EDC1F6}" type="slidenum">
              <a:rPr lang="en-GB" sz="1000">
                <a:solidFill>
                  <a:srgbClr val="8795A1"/>
                </a:solidFill>
                <a:latin typeface="Segoe UI"/>
              </a:rPr>
              <a:t>18</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405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Prim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157     </a:t>
            </a:r>
            <a:fld id="{101E3BF7-E48C-4178-83D1-64AFDFAE73DD}" type="slidenum">
              <a:rPr lang="en-GB" sz="1000">
                <a:solidFill>
                  <a:srgbClr val="8795A1"/>
                </a:solidFill>
                <a:latin typeface="Segoe UI"/>
              </a:rPr>
              <a:t>19</a:t>
            </a:fld>
          </a:p>
        </p:txBody>
      </p:sp>
      <p:pic>
        <p:nvPicPr>
          <p:cNvPr id="6" name="!!figure" descr="Figure 19.2. Prim. With a binary heap this is O((|V|+|E|) lg|V|); the cut is always “tree so far” against “everything els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08769" y="1737360"/>
            <a:ext cx="797415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Prim. With a binary heap this is O((|V|+|E|) lg|V|); the cut is always “tree so far” against “everything else”.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37060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heap, and what it is worth</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157     </a:t>
            </a:r>
            <a:fld id="{7C685245-A0C6-4612-A096-DF939CFBCD12}"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09566"/>
          </a:xfrm>
          <a:prstGeom prst="roundRect">
            <a:avLst>
              <a:gd name="adj" fmla="val 207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0956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7947346" cy="1804412"/>
        </p:xfrm>
        <a:graphic>
          <a:graphicData uri="http://schemas.openxmlformats.org/drawingml/2006/table">
            <a:tbl>
              <a:tblPr firstRow="0" bandRow="0" firstCol="0" lastRow="0" lastCol="0" bandCol="0">
                <a:tableStyleId>{2D5ABB26-0587-4C30-8999-92F81FD0307C}</a:tableStyleId>
              </a:tblPr>
              <a:tblGrid>
                <a:gridCol w="1992677"/>
                <a:gridCol w="1765108"/>
                <a:gridCol w="1983176"/>
                <a:gridCol w="2206385"/>
              </a:tblGrid>
              <a:tr h="451103">
                <a:tc>
                  <a:txBody>
                    <a:bodyPr wrap="square"/>
                    <a:lstStyle/>
                    <a:p>
                      <a:pPr algn="l"/>
                      <a:r>
                        <a:rPr sz="2000" b="1" i="0">
                          <a:solidFill>
                            <a:srgbClr val="1A5276"/>
                          </a:solidFill>
                          <a:latin typeface="Segoe UI"/>
                        </a:rPr>
                        <a:t>Priority queue</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2000" b="1" i="0">
                          <a:solidFill>
                            <a:srgbClr val="1A5276"/>
                          </a:solidFill>
                          <a:latin typeface="Segoe UI"/>
                        </a:rPr>
                        <a:t>Extract-Min</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2000" b="1" i="0">
                          <a:solidFill>
                            <a:srgbClr val="1A5276"/>
                          </a:solidFill>
                          <a:latin typeface="Segoe UI"/>
                        </a:rPr>
                        <a:t>Decrease-Key</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2000" b="1" i="0">
                          <a:solidFill>
                            <a:srgbClr val="1A5276"/>
                          </a:solidFill>
                          <a:latin typeface="Segoe UI"/>
                        </a:rPr>
                        <a:t>Prim total</a:t>
                      </a:r>
                      <a:endParaRPr sz="20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51103">
                <a:tc>
                  <a:txBody>
                    <a:bodyPr wrap="square"/>
                    <a:lstStyle/>
                    <a:p>
                      <a:pPr algn="l"/>
                      <a:r>
                        <a:rPr sz="2000" b="0" i="0">
                          <a:solidFill>
                            <a:srgbClr val="1C252B"/>
                          </a:solidFill>
                          <a:latin typeface="Segoe UI"/>
                        </a:rPr>
                        <a:t>unsorted array</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Cambria"/>
                        </a:rPr>
                        <a:t>O(|</a:t>
                      </a:r>
                      <a:r>
                        <a:rPr sz="2000" b="0" i="1">
                          <a:solidFill>
                            <a:srgbClr val="1C252B"/>
                          </a:solidFill>
                          <a:latin typeface="Cambria"/>
                        </a:rPr>
                        <a:t>V</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Cambria"/>
                        </a:rPr>
                        <a:t>O(1)</a:t>
                      </a:r>
                      <a:endParaRPr sz="20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2000" b="0" i="0">
                          <a:solidFill>
                            <a:srgbClr val="1C252B"/>
                          </a:solidFill>
                          <a:latin typeface="Cambria"/>
                        </a:rPr>
                        <a:t>O(|</a:t>
                      </a:r>
                      <a:r>
                        <a:rPr sz="2000" b="0" i="1">
                          <a:solidFill>
                            <a:srgbClr val="1C252B"/>
                          </a:solidFill>
                          <a:latin typeface="Cambria"/>
                        </a:rPr>
                        <a:t>V</a:t>
                      </a:r>
                      <a:r>
                        <a:rPr sz="2000" b="0" i="0">
                          <a:solidFill>
                            <a:srgbClr val="1C252B"/>
                          </a:solidFill>
                          <a:latin typeface="Cambria"/>
                        </a:rPr>
                        <a:t>|</a:t>
                      </a:r>
                      <a:r>
                        <a:rPr sz="1300" b="0" i="0" baseline="30000">
                          <a:solidFill>
                            <a:srgbClr val="1C252B"/>
                          </a:solidFill>
                          <a:latin typeface="Cambria"/>
                        </a:rPr>
                        <a:t>2</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FFFFF"/>
                    </a:solidFill>
                  </a:tcPr>
                </a:tc>
              </a:tr>
              <a:tr h="451103">
                <a:tc>
                  <a:txBody>
                    <a:bodyPr wrap="square"/>
                    <a:lstStyle/>
                    <a:p>
                      <a:pPr algn="l"/>
                      <a:r>
                        <a:rPr sz="2000" b="0" i="0">
                          <a:solidFill>
                            <a:srgbClr val="1C252B"/>
                          </a:solidFill>
                          <a:latin typeface="Segoe UI"/>
                        </a:rPr>
                        <a:t>binary heap</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2000" b="0" i="0">
                          <a:solidFill>
                            <a:srgbClr val="1C252B"/>
                          </a:solidFill>
                          <a:latin typeface="Cambria"/>
                        </a:rPr>
                        <a:t>O(lg|</a:t>
                      </a:r>
                      <a:r>
                        <a:rPr sz="2000" b="0" i="1">
                          <a:solidFill>
                            <a:srgbClr val="1C252B"/>
                          </a:solidFill>
                          <a:latin typeface="Cambria"/>
                        </a:rPr>
                        <a:t>V</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2000" b="0" i="0">
                          <a:solidFill>
                            <a:srgbClr val="1C252B"/>
                          </a:solidFill>
                          <a:latin typeface="Cambria"/>
                        </a:rPr>
                        <a:t>O(lg|</a:t>
                      </a:r>
                      <a:r>
                        <a:rPr sz="2000" b="0" i="1">
                          <a:solidFill>
                            <a:srgbClr val="1C252B"/>
                          </a:solidFill>
                          <a:latin typeface="Cambria"/>
                        </a:rPr>
                        <a:t>V</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2000" b="0" i="0">
                          <a:solidFill>
                            <a:srgbClr val="1C252B"/>
                          </a:solidFill>
                          <a:latin typeface="Cambria"/>
                        </a:rPr>
                        <a:t>O(|</a:t>
                      </a:r>
                      <a:r>
                        <a:rPr sz="2000" b="0" i="1">
                          <a:solidFill>
                            <a:srgbClr val="1C252B"/>
                          </a:solidFill>
                          <a:latin typeface="Cambria"/>
                        </a:rPr>
                        <a:t>E</a:t>
                      </a:r>
                      <a:r>
                        <a:rPr sz="2000" b="0" i="0">
                          <a:solidFill>
                            <a:srgbClr val="1C252B"/>
                          </a:solidFill>
                          <a:latin typeface="Cambria"/>
                        </a:rPr>
                        <a:t>| lg|</a:t>
                      </a:r>
                      <a:r>
                        <a:rPr sz="2000" b="0" i="1">
                          <a:solidFill>
                            <a:srgbClr val="1C252B"/>
                          </a:solidFill>
                          <a:latin typeface="Cambria"/>
                        </a:rPr>
                        <a:t>V</a:t>
                      </a:r>
                      <a:r>
                        <a:rPr sz="2000" b="0" i="0">
                          <a:solidFill>
                            <a:srgbClr val="1C252B"/>
                          </a:solidFill>
                          <a:latin typeface="Cambria"/>
                        </a:rPr>
                        <a:t>|)</a:t>
                      </a:r>
                      <a:endParaRPr sz="2000"/>
                    </a:p>
                  </a:txBody>
                  <a:tcPr marL="109728" marR="109728" marT="64008" marB="45720" anchor="t">
                    <a:lnL w="0" cmpd="sng">
                      <a:noFill/>
                    </a:lnL>
                    <a:lnR w="0" cmpd="sng">
                      <a:noFill/>
                    </a:lnR>
                    <a:lnT w="9525" cmpd="sng">
                      <a:noFill/>
                    </a:lnT>
                    <a:lnB w="9525" cmpd="sng">
                      <a:noFill/>
                    </a:lnB>
                    <a:solidFill>
                      <a:srgbClr val="F2F8FC"/>
                    </a:solidFill>
                  </a:tcPr>
                </a:tc>
              </a:tr>
              <a:tr h="451103">
                <a:tc>
                  <a:txBody>
                    <a:bodyPr wrap="square"/>
                    <a:lstStyle/>
                    <a:p>
                      <a:pPr algn="l"/>
                      <a:r>
                        <a:rPr sz="2000" b="0" i="0">
                          <a:solidFill>
                            <a:srgbClr val="1C252B"/>
                          </a:solidFill>
                          <a:latin typeface="Segoe UI"/>
                        </a:rPr>
                        <a:t>Fibonacci heap</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2000" b="0" i="0">
                          <a:solidFill>
                            <a:srgbClr val="1C252B"/>
                          </a:solidFill>
                          <a:latin typeface="Cambria"/>
                        </a:rPr>
                        <a:t>O(lg|</a:t>
                      </a:r>
                      <a:r>
                        <a:rPr sz="2000" b="0" i="1">
                          <a:solidFill>
                            <a:srgbClr val="1C252B"/>
                          </a:solidFill>
                          <a:latin typeface="Cambria"/>
                        </a:rPr>
                        <a:t>V</a:t>
                      </a:r>
                      <a:r>
                        <a:rPr sz="2000" b="0" i="0">
                          <a:solidFill>
                            <a:srgbClr val="1C252B"/>
                          </a:solidFill>
                          <a:latin typeface="Cambria"/>
                        </a:rPr>
                        <a:t>|)</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2000" b="0" i="0">
                          <a:solidFill>
                            <a:srgbClr val="1C252B"/>
                          </a:solidFill>
                          <a:latin typeface="Cambria"/>
                        </a:rPr>
                        <a:t>O(1)</a:t>
                      </a:r>
                      <a:r>
                        <a:rPr sz="2000" b="0" i="0">
                          <a:solidFill>
                            <a:srgbClr val="1C252B"/>
                          </a:solidFill>
                          <a:latin typeface="Segoe UI"/>
                        </a:rPr>
                        <a:t> amortised</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2000" b="0" i="0">
                          <a:solidFill>
                            <a:srgbClr val="1C252B"/>
                          </a:solidFill>
                          <a:latin typeface="Cambria"/>
                        </a:rPr>
                        <a:t>O(|</a:t>
                      </a:r>
                      <a:r>
                        <a:rPr sz="2000" b="0" i="1">
                          <a:solidFill>
                            <a:srgbClr val="1C252B"/>
                          </a:solidFill>
                          <a:latin typeface="Cambria"/>
                        </a:rPr>
                        <a:t>E</a:t>
                      </a:r>
                      <a:r>
                        <a:rPr sz="2000" b="0" i="0">
                          <a:solidFill>
                            <a:srgbClr val="1C252B"/>
                          </a:solidFill>
                          <a:latin typeface="Cambria"/>
                        </a:rPr>
                        <a:t>| + |</a:t>
                      </a:r>
                      <a:r>
                        <a:rPr sz="2000" b="0" i="1">
                          <a:solidFill>
                            <a:srgbClr val="1C252B"/>
                          </a:solidFill>
                          <a:latin typeface="Cambria"/>
                        </a:rPr>
                        <a:t>V</a:t>
                      </a:r>
                      <a:r>
                        <a:rPr sz="2000" b="0" i="0">
                          <a:solidFill>
                            <a:srgbClr val="1C252B"/>
                          </a:solidFill>
                          <a:latin typeface="Cambria"/>
                        </a:rPr>
                        <a:t>| lg|</a:t>
                      </a:r>
                      <a:r>
                        <a:rPr sz="2000" b="0" i="1">
                          <a:solidFill>
                            <a:srgbClr val="1C252B"/>
                          </a:solidFill>
                          <a:latin typeface="Cambria"/>
                        </a:rPr>
                        <a:t>V</a:t>
                      </a:r>
                      <a:r>
                        <a:rPr sz="2000" b="0" i="0">
                          <a:solidFill>
                            <a:srgbClr val="1C252B"/>
                          </a:solidFill>
                          <a:latin typeface="Cambria"/>
                        </a:rPr>
                        <a:t>|)</a:t>
                      </a:r>
                      <a:endParaRPr sz="20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60704" y="4013326"/>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Fibonacci heap’s </a:t>
            </a:r>
            <a:r>
              <a:rPr sz="2300" b="0" i="0">
                <a:solidFill>
                  <a:srgbClr val="1C252B"/>
                </a:solidFill>
                <a:latin typeface="Cambria"/>
              </a:rPr>
              <a:t>O(1)</a:t>
            </a:r>
            <a:r>
              <a:rPr sz="2300" b="0" i="0">
                <a:solidFill>
                  <a:srgbClr val="1C252B"/>
                </a:solidFill>
                <a:latin typeface="Segoe UI"/>
              </a:rPr>
              <a:t> Decrease-Key is amortised — another debt to Chapter 17 — and it gives the best known asymptotic bound. Its constants are poor enough that binary heaps win in practice for all but enormous dense graphs, which is a recurring theme: Chapter 11’s median-of-medians, Chapter 9’s heapsort fallback, and now this.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6006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The Cut Property</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Kruskal, and the Structure It Needs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Prim</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19.4   Measured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§19.4     </a:t>
            </a:r>
            <a:fld id="{F7108D5C-094E-4E30-A9D7-380FAEE8B400}" type="slidenum">
              <a:rPr lang="en-GB" sz="1000">
                <a:solidFill>
                  <a:srgbClr val="8795A1"/>
                </a:solidFill>
                <a:latin typeface="Segoe UI"/>
              </a:rPr>
              <a:t>21</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8306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First, Do They Agree?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21E1E079-292F-4A0B-AB15-58727DEC9882}"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506218"/>
          </a:xfrm>
          <a:prstGeom prst="roundRect">
            <a:avLst>
              <a:gd name="adj" fmla="val 36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50621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Two different greedy rules; the cut property says they must produce the same total weight.</a:t>
            </a:r>
          </a:p>
        </p:txBody>
      </p:sp>
      <p:sp>
        <p:nvSpPr>
          <p:cNvPr id="10" name="body-1"/>
          <p:cNvSpPr txBox="1"/>
          <p:nvPr/>
        </p:nvSpPr>
        <p:spPr>
          <a:xfrm>
            <a:off x="1042416" y="2824048"/>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2,000 random connected graphs. Disagreements: 0.</a:t>
            </a:r>
          </a:p>
        </p:txBody>
      </p:sp>
      <p:sp>
        <p:nvSpPr>
          <p:cNvPr id="11" name="body-2"/>
          <p:cNvSpPr txBox="1"/>
          <p:nvPr/>
        </p:nvSpPr>
        <p:spPr>
          <a:xfrm>
            <a:off x="1042416" y="3303574"/>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Cheap evidence that Theorem 19.1 is doing what it claims — and, more practically, that neither implementation has a bug.</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0607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Union–Find: the Optimisations, Counted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F45047EB-CA98-4FBC-9793-D9814BFD2F81}"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58361"/>
          </a:xfrm>
          <a:prstGeom prst="roundRect">
            <a:avLst>
              <a:gd name="adj" fmla="val 225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5836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code/ch19_mst.cpp</a:t>
            </a:r>
            <a:r>
              <a:rPr sz="1900" b="0" i="0">
                <a:solidFill>
                  <a:srgbClr val="1C252B"/>
                </a:solidFill>
                <a:latin typeface="Segoe UI"/>
              </a:rPr>
              <a:t> counts pointer hops inside Find, divided by the number of operations:</a:t>
            </a:r>
          </a:p>
        </p:txBody>
      </p:sp>
      <p:graphicFrame>
        <p:nvGraphicFramePr>
          <p:cNvPr id="10" name="body-1"/>
          <p:cNvGraphicFramePr>
            <a:graphicFrameLocks noGrp="1"/>
          </p:cNvGraphicFramePr>
          <p:nvPr/>
        </p:nvGraphicFramePr>
        <p:xfrm>
          <a:off x="1042416" y="2445537"/>
          <a:ext cx="6600993" cy="2340864"/>
        </p:xfrm>
        <a:graphic>
          <a:graphicData uri="http://schemas.openxmlformats.org/drawingml/2006/table">
            <a:tbl>
              <a:tblPr firstRow="0" bandRow="0" firstCol="0" lastRow="0" lastCol="0" bandCol="0">
                <a:tableStyleId>{2D5ABB26-0587-4C30-8999-92F81FD0307C}</a:tableStyleId>
              </a:tblPr>
              <a:tblGrid>
                <a:gridCol w="971300"/>
                <a:gridCol w="1127991"/>
                <a:gridCol w="988502"/>
                <a:gridCol w="2184610"/>
                <a:gridCol w="1328590"/>
              </a:tblGrid>
              <a:tr h="390144">
                <a:tc>
                  <a:txBody>
                    <a:bodyPr wrap="square"/>
                    <a:lstStyle/>
                    <a:p>
                      <a:pPr algn="r"/>
                      <a:r>
                        <a:rPr sz="1600" b="1" i="0">
                          <a:solidFill>
                            <a:srgbClr val="1A5276"/>
                          </a:solidFill>
                          <a:latin typeface="Cambria"/>
                        </a:rPr>
                        <a:t>|</a:t>
                      </a:r>
                      <a:r>
                        <a:rPr sz="1600" b="1" i="1">
                          <a:solidFill>
                            <a:srgbClr val="1A5276"/>
                          </a:solidFill>
                          <a:latin typeface="Cambria"/>
                        </a:rPr>
                        <a:t>V</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naive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by rank</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rank + compression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naive/both</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1,406.77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2.89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1.62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868.6</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2,880.47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3.05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1" i="0">
                          <a:solidFill>
                            <a:srgbClr val="1C252B"/>
                          </a:solidFill>
                          <a:latin typeface="Segoe UI"/>
                        </a:rPr>
                        <a:t>1.66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1,733.3</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6,044.05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3.28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1" i="0">
                          <a:solidFill>
                            <a:srgbClr val="1C252B"/>
                          </a:solidFill>
                          <a:latin typeface="Segoe UI"/>
                        </a:rPr>
                        <a:t>1.73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3,495.4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12,542.07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3.46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1" i="0">
                          <a:solidFill>
                            <a:srgbClr val="1C252B"/>
                          </a:solidFill>
                          <a:latin typeface="Segoe UI"/>
                        </a:rPr>
                        <a:t>1.79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7,025.0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160,000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25,469.42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3.44</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1" i="0">
                          <a:solidFill>
                            <a:srgbClr val="1C252B"/>
                          </a:solidFill>
                          <a:latin typeface="Segoe UI"/>
                        </a:rPr>
                        <a:t>1.82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14,008.8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919116"/>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naive column doubles when </a:t>
            </a:r>
            <a:r>
              <a:rPr sz="1900" b="1" i="0">
                <a:solidFill>
                  <a:srgbClr val="1C252B"/>
                </a:solidFill>
                <a:latin typeface="Cambria"/>
              </a:rPr>
              <a:t>|</a:t>
            </a:r>
            <a:r>
              <a:rPr sz="1900" b="1" i="1">
                <a:solidFill>
                  <a:srgbClr val="1C252B"/>
                </a:solidFill>
                <a:latin typeface="Cambria"/>
              </a:rPr>
              <a:t>V</a:t>
            </a:r>
            <a:r>
              <a:rPr sz="1900" b="1" i="0">
                <a:solidFill>
                  <a:srgbClr val="1C252B"/>
                </a:solidFill>
                <a:latin typeface="Cambria"/>
              </a:rPr>
              <a:t>|</a:t>
            </a:r>
            <a:r>
              <a:rPr sz="1900" b="1" i="0">
                <a:solidFill>
                  <a:srgbClr val="1C252B"/>
                </a:solidFill>
                <a:latin typeface="Segoe UI"/>
              </a:rPr>
              <a:t> doubles</a:t>
            </a:r>
            <a:r>
              <a:rPr sz="1900" b="0" i="0">
                <a:solidFill>
                  <a:srgbClr val="1C252B"/>
                </a:solidFill>
                <a:latin typeface="Segoe UI"/>
              </a:rPr>
              <a:t> — it is </a:t>
            </a:r>
            <a:r>
              <a:rPr sz="1900" b="0" i="0">
                <a:solidFill>
                  <a:srgbClr val="1C252B"/>
                </a:solidFill>
                <a:latin typeface="Cambria"/>
              </a:rPr>
              <a:t>Θ(|</a:t>
            </a:r>
            <a:r>
              <a:rPr sz="1900" b="0" i="1">
                <a:solidFill>
                  <a:srgbClr val="1C252B"/>
                </a:solidFill>
                <a:latin typeface="Cambria"/>
              </a:rPr>
              <a:t>V</a:t>
            </a:r>
            <a:r>
              <a:rPr sz="1900" b="0" i="0">
                <a:solidFill>
                  <a:srgbClr val="1C252B"/>
                </a:solidFill>
                <a:latin typeface="Cambria"/>
              </a:rPr>
              <a:t>|)</a:t>
            </a:r>
            <a:r>
              <a:rPr sz="1900" b="0" i="0">
                <a:solidFill>
                  <a:srgbClr val="1C252B"/>
                </a:solidFill>
                <a:latin typeface="Segoe UI"/>
              </a:rPr>
              <a:t> per find, because an unbalanced union can build a path. The ratio to the optimised version grows without limit: 869 to 14,009.</a:t>
            </a:r>
          </a:p>
        </p:txBody>
      </p:sp>
      <p:sp>
        <p:nvSpPr>
          <p:cNvPr id="12" name="body-2bar">
            <a:extLst>
              <a:ext uri="{C183D7F6-B498-43B3-948B-1728B52AA6E4}">
                <adec:decorative xmlns:adec="http://schemas.microsoft.com/office/drawing/2017/decorative" val="1"/>
              </a:ext>
            </a:extLst>
          </p:cNvPr>
          <p:cNvSpPr/>
          <p:nvPr/>
        </p:nvSpPr>
        <p:spPr>
          <a:xfrm>
            <a:off x="841248" y="4937404"/>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2907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Union–Find: the Optimisations, Counted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FE8854F8-6096-4DFF-94B4-98E84794D3C6}"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79215"/>
          </a:xfrm>
          <a:prstGeom prst="roundRect">
            <a:avLst>
              <a:gd name="adj" fmla="val 255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7921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Union by rank alone drops it to about 3</a:t>
            </a:r>
            <a:r>
              <a:rPr sz="1900" b="0" i="0">
                <a:solidFill>
                  <a:srgbClr val="1C252B"/>
                </a:solidFill>
                <a:latin typeface="Segoe UI"/>
              </a:rPr>
              <a:t>, an improvement of four orders of magnitude from two lines of code.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rank plus compression is essentially flat.</a:t>
            </a:r>
            <a:r>
              <a:rPr sz="1900" b="0" i="0">
                <a:solidFill>
                  <a:srgbClr val="1C252B"/>
                </a:solidFill>
                <a:latin typeface="Segoe UI"/>
              </a:rPr>
              <a:t> Carried further, with the naive variant omitted because it would not finish:</a:t>
            </a:r>
          </a:p>
        </p:txBody>
      </p:sp>
      <p:sp>
        <p:nvSpPr>
          <p:cNvPr id="12" name="body-1bar">
            <a:extLst>
              <a:ext uri="{C183D7F6-B498-43B3-948B-1728B52AA6E4}">
                <adec:decorative xmlns:adec="http://schemas.microsoft.com/office/drawing/2017/decorative" val="1"/>
              </a:ext>
            </a:extLst>
          </p:cNvPr>
          <p:cNvSpPr/>
          <p:nvPr/>
        </p:nvSpPr>
        <p:spPr>
          <a:xfrm>
            <a:off x="841248" y="2764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13" name="body-2"/>
          <p:cNvGraphicFramePr>
            <a:graphicFrameLocks noGrp="1"/>
          </p:cNvGraphicFramePr>
          <p:nvPr/>
        </p:nvGraphicFramePr>
        <p:xfrm>
          <a:off x="1042416" y="3481679"/>
          <a:ext cx="5279035" cy="1560576"/>
        </p:xfrm>
        <a:graphic>
          <a:graphicData uri="http://schemas.openxmlformats.org/drawingml/2006/table">
            <a:tbl>
              <a:tblPr firstRow="0" bandRow="0" firstCol="0" lastRow="0" lastCol="0" bandCol="0">
                <a:tableStyleId>{2D5ABB26-0587-4C30-8999-92F81FD0307C}</a:tableStyleId>
              </a:tblPr>
              <a:tblGrid>
                <a:gridCol w="1127991"/>
                <a:gridCol w="988502"/>
                <a:gridCol w="2184610"/>
                <a:gridCol w="977932"/>
              </a:tblGrid>
              <a:tr h="390144">
                <a:tc>
                  <a:txBody>
                    <a:bodyPr wrap="square"/>
                    <a:lstStyle/>
                    <a:p>
                      <a:pPr algn="r"/>
                      <a:r>
                        <a:rPr sz="1600" b="1" i="0">
                          <a:solidFill>
                            <a:srgbClr val="1A5276"/>
                          </a:solidFill>
                          <a:latin typeface="Cambria"/>
                        </a:rPr>
                        <a:t>|</a:t>
                      </a:r>
                      <a:r>
                        <a:rPr sz="1600" b="1" i="1">
                          <a:solidFill>
                            <a:srgbClr val="1A5276"/>
                          </a:solidFill>
                          <a:latin typeface="Cambria"/>
                        </a:rPr>
                        <a:t>V</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by rank</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rank + compression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α(|</a:t>
                      </a:r>
                      <a:r>
                        <a:rPr sz="1600" b="1" i="1">
                          <a:solidFill>
                            <a:srgbClr val="1A5276"/>
                          </a:solidFill>
                          <a:latin typeface="Cambria"/>
                        </a:rPr>
                        <a:t>V</a:t>
                      </a:r>
                      <a:r>
                        <a:rPr sz="1600" b="1" i="0">
                          <a:solidFill>
                            <a:srgbClr val="1A5276"/>
                          </a:solidFill>
                          <a:latin typeface="Cambria"/>
                        </a:rPr>
                        <a:t>|) ≤</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320,000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3.43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1.78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1,280,000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3.61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1.85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5,120,000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3.68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1" i="0">
                          <a:solidFill>
                            <a:srgbClr val="1C252B"/>
                          </a:solidFill>
                          <a:latin typeface="Segoe UI"/>
                        </a:rPr>
                        <a:t>1.88</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55207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right)">
                                      <p:cBhvr>
                                        <p:cTn id="24"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Union–Find: the Optimisations, Counted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913F2C13-AAFD-4CC6-A6DB-9980489CFA0F}"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From </a:t>
            </a:r>
            <a:r>
              <a:rPr sz="1900" b="1" i="0">
                <a:solidFill>
                  <a:srgbClr val="1C252B"/>
                </a:solidFill>
                <a:latin typeface="Cambria"/>
              </a:rPr>
              <a:t>|</a:t>
            </a:r>
            <a:r>
              <a:rPr sz="1900" b="1" i="1">
                <a:solidFill>
                  <a:srgbClr val="1C252B"/>
                </a:solidFill>
                <a:latin typeface="Cambria"/>
              </a:rPr>
              <a:t>V</a:t>
            </a:r>
            <a:r>
              <a:rPr sz="1900" b="1" i="0">
                <a:solidFill>
                  <a:srgbClr val="1C252B"/>
                </a:solidFill>
                <a:latin typeface="Cambria"/>
              </a:rPr>
              <a:t>| = 10,000</a:t>
            </a:r>
            <a:r>
              <a:rPr sz="1900" b="1" i="0">
                <a:solidFill>
                  <a:srgbClr val="1C252B"/>
                </a:solidFill>
                <a:latin typeface="Segoe UI"/>
              </a:rPr>
              <a:t> to </a:t>
            </a:r>
            <a:r>
              <a:rPr sz="1900" b="1" i="0">
                <a:solidFill>
                  <a:srgbClr val="1C252B"/>
                </a:solidFill>
                <a:latin typeface="Cambria"/>
              </a:rPr>
              <a:t>|</a:t>
            </a:r>
            <a:r>
              <a:rPr sz="1900" b="1" i="1">
                <a:solidFill>
                  <a:srgbClr val="1C252B"/>
                </a:solidFill>
                <a:latin typeface="Cambria"/>
              </a:rPr>
              <a:t>V</a:t>
            </a:r>
            <a:r>
              <a:rPr sz="1900" b="1" i="0">
                <a:solidFill>
                  <a:srgbClr val="1C252B"/>
                </a:solidFill>
                <a:latin typeface="Cambria"/>
              </a:rPr>
              <a:t>| = 5,120,000</a:t>
            </a:r>
            <a:r>
              <a:rPr sz="1900" b="1" i="0">
                <a:solidFill>
                  <a:srgbClr val="1C252B"/>
                </a:solidFill>
                <a:latin typeface="Segoe UI"/>
              </a:rPr>
              <a:t> — a 512-fold range — the cost per find went from 1.62 to 1.88.</a:t>
            </a:r>
            <a:r>
              <a:rPr sz="1900" b="0" i="0">
                <a:solidFill>
                  <a:srgbClr val="1C252B"/>
                </a:solidFill>
                <a:latin typeface="Segoe UI"/>
              </a:rPr>
              <a:t> That is the inverse Ackermann bound, made visible. It is not constant, and it is not distinguishable from constant by any measurement you can make.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75079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in Seconds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28E3C233-515E-4D87-B3F0-FA02D9F5BF91}"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21555"/>
          </a:xfrm>
          <a:prstGeom prst="roundRect">
            <a:avLst>
              <a:gd name="adj" fmla="val 202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2155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7727035" cy="1682492"/>
        </p:xfrm>
        <a:graphic>
          <a:graphicData uri="http://schemas.openxmlformats.org/drawingml/2006/table">
            <a:tbl>
              <a:tblPr firstRow="0" bandRow="0" firstCol="0" lastRow="0" lastCol="0" bandCol="0">
                <a:tableStyleId>{2D5ABB26-0587-4C30-8999-92F81FD0307C}</a:tableStyleId>
              </a:tblPr>
              <a:tblGrid>
                <a:gridCol w="1060708"/>
                <a:gridCol w="1393874"/>
                <a:gridCol w="1632679"/>
                <a:gridCol w="2360117"/>
                <a:gridCol w="1279657"/>
              </a:tblGrid>
              <a:tr h="420623">
                <a:tc>
                  <a:txBody>
                    <a:bodyPr wrap="square"/>
                    <a:lstStyle/>
                    <a:p>
                      <a:pPr algn="r"/>
                      <a:r>
                        <a:rPr sz="1800" b="1" i="0">
                          <a:solidFill>
                            <a:srgbClr val="1A5276"/>
                          </a:solidFill>
                          <a:latin typeface="Cambria"/>
                        </a:rPr>
                        <a:t>|</a:t>
                      </a:r>
                      <a:r>
                        <a:rPr sz="1800" b="1" i="1">
                          <a:solidFill>
                            <a:srgbClr val="1A5276"/>
                          </a:solidFill>
                          <a:latin typeface="Cambria"/>
                        </a:rPr>
                        <a:t>V</a:t>
                      </a:r>
                      <a:r>
                        <a:rPr sz="1800" b="1" i="0">
                          <a:solidFill>
                            <a:srgbClr val="1A5276"/>
                          </a:solidFill>
                          <a:latin typeface="Cambria"/>
                        </a:rPr>
                        <a:t>|</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800" b="1" i="0">
                          <a:solidFill>
                            <a:srgbClr val="1A5276"/>
                          </a:solidFill>
                          <a:latin typeface="Segoe UI"/>
                        </a:rPr>
                        <a:t>naive (ms)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800" b="1" i="0">
                          <a:solidFill>
                            <a:srgbClr val="1A5276"/>
                          </a:solidFill>
                          <a:latin typeface="Segoe UI"/>
                        </a:rPr>
                        <a:t>by rank (ms)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800" b="1" i="0">
                          <a:solidFill>
                            <a:srgbClr val="1A5276"/>
                          </a:solidFill>
                          <a:latin typeface="Segoe UI"/>
                        </a:rPr>
                        <a:t>rank + compr. (ms)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800" b="1" i="0">
                          <a:solidFill>
                            <a:srgbClr val="1A5276"/>
                          </a:solidFill>
                          <a:latin typeface="Segoe UI"/>
                        </a:rPr>
                        <a:t>speed-up</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20623">
                <a:tc>
                  <a:txBody>
                    <a:bodyPr wrap="square"/>
                    <a:lstStyle/>
                    <a:p>
                      <a:pPr algn="r"/>
                      <a:r>
                        <a:rPr sz="1800" b="0" i="0">
                          <a:solidFill>
                            <a:srgbClr val="1C252B"/>
                          </a:solidFill>
                          <a:latin typeface="Segoe UI"/>
                        </a:rPr>
                        <a:t>25,000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1,064.4</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8.9</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8.4</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127.2</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r"/>
                      <a:r>
                        <a:rPr sz="1800" b="0" i="0">
                          <a:solidFill>
                            <a:srgbClr val="1C252B"/>
                          </a:solidFill>
                          <a:latin typeface="Segoe UI"/>
                        </a:rPr>
                        <a:t>50,000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4,910.3</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19.5</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17.3</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283.5</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r"/>
                      <a:r>
                        <a:rPr sz="1800" b="0" i="0">
                          <a:solidFill>
                            <a:srgbClr val="1C252B"/>
                          </a:solidFill>
                          <a:latin typeface="Segoe UI"/>
                        </a:rPr>
                        <a:t>100,000</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800" b="0" i="0">
                          <a:solidFill>
                            <a:srgbClr val="1C252B"/>
                          </a:solidFill>
                          <a:latin typeface="Segoe UI"/>
                        </a:rPr>
                        <a:t>44,306.2</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800" b="0" i="0">
                          <a:solidFill>
                            <a:srgbClr val="1C252B"/>
                          </a:solidFill>
                          <a:latin typeface="Segoe UI"/>
                        </a:rPr>
                        <a:t>44.1</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800" b="0" i="0">
                          <a:solidFill>
                            <a:srgbClr val="1C252B"/>
                          </a:solidFill>
                          <a:latin typeface="Segoe UI"/>
                        </a:rPr>
                        <a:t>35.3</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800" b="1" i="0">
                          <a:solidFill>
                            <a:srgbClr val="1C252B"/>
                          </a:solidFill>
                          <a:latin typeface="Segoe UI"/>
                        </a:rPr>
                        <a:t>1,254.4</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42416" y="3840861"/>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44 seconds against 35 milliseconds.</a:t>
            </a:r>
            <a:r>
              <a:rPr sz="2100" b="0" i="0">
                <a:solidFill>
                  <a:srgbClr val="1C252B"/>
                </a:solidFill>
                <a:latin typeface="Segoe UI"/>
              </a:rPr>
              <a:t> The naive column is quadratic — each doubling of </a:t>
            </a:r>
            <a:r>
              <a:rPr sz="2100" b="0" i="0">
                <a:solidFill>
                  <a:srgbClr val="1C252B"/>
                </a:solidFill>
                <a:latin typeface="Cambria"/>
              </a:rPr>
              <a:t>|</a:t>
            </a:r>
            <a:r>
              <a:rPr sz="2100" b="0" i="1">
                <a:solidFill>
                  <a:srgbClr val="1C252B"/>
                </a:solidFill>
                <a:latin typeface="Cambria"/>
              </a:rPr>
              <a:t>V</a:t>
            </a:r>
            <a:r>
              <a:rPr sz="2100" b="0" i="0">
                <a:solidFill>
                  <a:srgbClr val="1C252B"/>
                </a:solidFill>
                <a:latin typeface="Cambria"/>
              </a:rPr>
              <a:t>|</a:t>
            </a:r>
            <a:r>
              <a:rPr sz="2100" b="0" i="0">
                <a:solidFill>
                  <a:srgbClr val="1C252B"/>
                </a:solidFill>
                <a:latin typeface="Segoe UI"/>
              </a:rPr>
              <a:t> multiplies it by about 9, not 2.</a:t>
            </a:r>
          </a:p>
        </p:txBody>
      </p:sp>
      <p:sp>
        <p:nvSpPr>
          <p:cNvPr id="11" name="body-1bar">
            <a:extLst>
              <a:ext uri="{C183D7F6-B498-43B3-948B-1728B52AA6E4}">
                <adec:decorative xmlns:adec="http://schemas.microsoft.com/office/drawing/2017/decorative" val="1"/>
              </a:ext>
            </a:extLst>
          </p:cNvPr>
          <p:cNvSpPr/>
          <p:nvPr/>
        </p:nvSpPr>
        <p:spPr>
          <a:xfrm>
            <a:off x="841248" y="3859148"/>
            <a:ext cx="54864" cy="64739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653229"/>
            <a:ext cx="1023487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Note also that rank alone gets most of the benefit</a:t>
            </a:r>
            <a:r>
              <a:rPr sz="2100" b="0" i="0">
                <a:solidFill>
                  <a:srgbClr val="1C252B"/>
                </a:solidFill>
                <a:latin typeface="Segoe UI"/>
              </a:rPr>
              <a:t> (44.1 ms against 35.3 ms). Path compression adds a further 20%. The first optimisation is transformative and the second is an improvement — worth knowing when you are deciding what to implement first.</a:t>
            </a:r>
          </a:p>
        </p:txBody>
      </p:sp>
      <p:sp>
        <p:nvSpPr>
          <p:cNvPr id="13" name="body-2bar">
            <a:extLst>
              <a:ext uri="{C183D7F6-B498-43B3-948B-1728B52AA6E4}">
                <adec:decorative xmlns:adec="http://schemas.microsoft.com/office/drawing/2017/decorative" val="1"/>
              </a:ext>
            </a:extLst>
          </p:cNvPr>
          <p:cNvSpPr/>
          <p:nvPr/>
        </p:nvSpPr>
        <p:spPr>
          <a:xfrm>
            <a:off x="841248" y="4671517"/>
            <a:ext cx="54864" cy="131307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59808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2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right)">
                                      <p:cBhvr>
                                        <p:cTn id="16" dur="42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Kruskal Against Prim</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C2A01CB2-12CF-4248-8E2B-742853D303BA}" type="slidenum">
              <a:rPr lang="en-GB" sz="1000">
                <a:solidFill>
                  <a:srgbClr val="8795A1"/>
                </a:solidFill>
                <a:latin typeface="Segoe UI"/>
              </a:rPr>
              <a:t>27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8505"/>
          </a:xfrm>
          <a:prstGeom prst="roundRect">
            <a:avLst>
              <a:gd name="adj" fmla="val 205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85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Cambria"/>
              </a:rPr>
              <a:t>|</a:t>
            </a:r>
            <a:r>
              <a:rPr sz="1900" b="0" i="1">
                <a:solidFill>
                  <a:srgbClr val="1C252B"/>
                </a:solidFill>
                <a:latin typeface="Cambria"/>
              </a:rPr>
              <a:t>V</a:t>
            </a:r>
            <a:r>
              <a:rPr sz="1900" b="0" i="0">
                <a:solidFill>
                  <a:srgbClr val="1C252B"/>
                </a:solidFill>
                <a:latin typeface="Cambria"/>
              </a:rPr>
              <a:t>| = 100,000</a:t>
            </a:r>
            <a:r>
              <a:rPr sz="1900" b="0" i="0">
                <a:solidFill>
                  <a:srgbClr val="1C252B"/>
                </a:solidFill>
                <a:latin typeface="Segoe UI"/>
              </a:rPr>
              <a:t>, density varying:</a:t>
            </a:r>
          </a:p>
        </p:txBody>
      </p:sp>
      <p:graphicFrame>
        <p:nvGraphicFramePr>
          <p:cNvPr id="10" name="body-1"/>
          <p:cNvGraphicFramePr>
            <a:graphicFrameLocks noGrp="1"/>
          </p:cNvGraphicFramePr>
          <p:nvPr/>
        </p:nvGraphicFramePr>
        <p:xfrm>
          <a:off x="1042416" y="2445537"/>
          <a:ext cx="6067104" cy="2731008"/>
        </p:xfrm>
        <a:graphic>
          <a:graphicData uri="http://schemas.openxmlformats.org/drawingml/2006/table">
            <a:tbl>
              <a:tblPr firstRow="0" bandRow="0" firstCol="0" lastRow="0" lastCol="0" bandCol="0">
                <a:tableStyleId>{2D5ABB26-0587-4C30-8999-92F81FD0307C}</a:tableStyleId>
              </a:tblPr>
              <a:tblGrid>
                <a:gridCol w="1340806"/>
                <a:gridCol w="1127991"/>
                <a:gridCol w="1467085"/>
                <a:gridCol w="1205728"/>
                <a:gridCol w="925494"/>
              </a:tblGrid>
              <a:tr h="390144">
                <a:tc>
                  <a:txBody>
                    <a:bodyPr wrap="square"/>
                    <a:lstStyle/>
                    <a:p>
                      <a:pPr algn="r"/>
                      <a:r>
                        <a:rPr sz="1600" b="1" i="0">
                          <a:solidFill>
                            <a:srgbClr val="1A5276"/>
                          </a:solidFill>
                          <a:latin typeface="Segoe UI"/>
                        </a:rPr>
                        <a:t>avg degree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E</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Kruskal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Prim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winner</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Prim</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200,000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36.2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Kruskal</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39.2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64.4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Kruskal</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16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800,000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76.2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109.6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Kruskal</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32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1,600,000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148.3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155.2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Kruskal</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64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3,200,000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303.1</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226.4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Prim</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530926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Neither wins everywhere, and the pattern is not monotonic.</a:t>
            </a:r>
            <a:r>
              <a:rPr sz="1900" b="0" i="0">
                <a:solidFill>
                  <a:srgbClr val="1C252B"/>
                </a:solidFill>
                <a:latin typeface="Segoe UI"/>
              </a:rPr>
              <a:t> Prim wins at the extreme sparse end and again when dense; Kruskal wins in the middle.</a:t>
            </a:r>
          </a:p>
        </p:txBody>
      </p:sp>
      <p:sp>
        <p:nvSpPr>
          <p:cNvPr id="12" name="body-2bar">
            <a:extLst>
              <a:ext uri="{C183D7F6-B498-43B3-948B-1728B52AA6E4}">
                <adec:decorative xmlns:adec="http://schemas.microsoft.com/office/drawing/2017/decorative" val="1"/>
              </a:ext>
            </a:extLst>
          </p:cNvPr>
          <p:cNvSpPr/>
          <p:nvPr/>
        </p:nvSpPr>
        <p:spPr>
          <a:xfrm>
            <a:off x="841248" y="532754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621086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Kruskal Against Prim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6F045217-DD2D-41D1-88F5-2708CD5AC46E}"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94404"/>
          </a:xfrm>
          <a:prstGeom prst="roundRect">
            <a:avLst>
              <a:gd name="adj" fmla="val 228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944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Both are </a:t>
            </a:r>
            <a:r>
              <a:rPr sz="1900" b="1" i="0">
                <a:solidFill>
                  <a:srgbClr val="1C252B"/>
                </a:solidFill>
                <a:latin typeface="Cambria"/>
              </a:rPr>
              <a:t>O(|</a:t>
            </a:r>
            <a:r>
              <a:rPr sz="1900" b="1" i="1">
                <a:solidFill>
                  <a:srgbClr val="1C252B"/>
                </a:solidFill>
                <a:latin typeface="Cambria"/>
              </a:rPr>
              <a:t>E</a:t>
            </a:r>
            <a:r>
              <a:rPr sz="1900" b="1" i="0">
                <a:solidFill>
                  <a:srgbClr val="1C252B"/>
                </a:solidFill>
                <a:latin typeface="Cambria"/>
              </a:rPr>
              <a:t>| lg|</a:t>
            </a:r>
            <a:r>
              <a:rPr sz="1900" b="1" i="1">
                <a:solidFill>
                  <a:srgbClr val="1C252B"/>
                </a:solidFill>
                <a:latin typeface="Cambria"/>
              </a:rPr>
              <a:t>V</a:t>
            </a:r>
            <a:r>
              <a:rPr sz="1900" b="1" i="0">
                <a:solidFill>
                  <a:srgbClr val="1C252B"/>
                </a:solidFill>
                <a:latin typeface="Cambria"/>
              </a:rPr>
              <a:t>|)</a:t>
            </a:r>
            <a:r>
              <a:rPr sz="1900" b="0" i="0">
                <a:solidFill>
                  <a:srgbClr val="1C252B"/>
                </a:solidFill>
                <a:latin typeface="Segoe UI"/>
              </a:rPr>
              <a:t>, so asymptotic analysis predicts no winner at all — and is right, in the sense that the measured ratio never exceeds about 2 in either direction. Everything in this table is constants.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practical rules that come out of it:</a:t>
            </a:r>
          </a:p>
        </p:txBody>
      </p:sp>
      <p:sp>
        <p:nvSpPr>
          <p:cNvPr id="12" name="body-1bar">
            <a:extLst>
              <a:ext uri="{C183D7F6-B498-43B3-948B-1728B52AA6E4}">
                <adec:decorative xmlns:adec="http://schemas.microsoft.com/office/drawing/2017/decorative" val="1"/>
              </a:ext>
            </a:extLst>
          </p:cNvPr>
          <p:cNvSpPr/>
          <p:nvPr/>
        </p:nvSpPr>
        <p:spPr>
          <a:xfrm>
            <a:off x="841248" y="306611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3481679"/>
            <a:ext cx="10234879" cy="202148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Kruskal</a:t>
            </a:r>
            <a:r>
              <a:rPr sz="1900" b="0" i="0">
                <a:solidFill>
                  <a:srgbClr val="1C252B"/>
                </a:solidFill>
                <a:latin typeface="Segoe UI"/>
              </a:rPr>
              <a:t> if the edges are </a:t>
            </a:r>
            <a:r>
              <a:rPr sz="1900" b="0" i="1">
                <a:solidFill>
                  <a:srgbClr val="1C252B"/>
                </a:solidFill>
                <a:latin typeface="Segoe UI"/>
              </a:rPr>
              <a:t>already sorted</a:t>
            </a:r>
            <a:r>
              <a:rPr sz="1900" b="0" i="0">
                <a:solidFill>
                  <a:srgbClr val="1C252B"/>
                </a:solidFill>
                <a:latin typeface="Segoe UI"/>
              </a:rPr>
              <a:t>, or can be sorted cheaply — then its dominant term vanishes;</a:t>
            </a:r>
          </a:p>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Prim</a:t>
            </a:r>
            <a:r>
              <a:rPr sz="1900" b="0" i="0">
                <a:solidFill>
                  <a:srgbClr val="1C252B"/>
                </a:solidFill>
                <a:latin typeface="Segoe UI"/>
              </a:rPr>
              <a:t> on dense graphs, where it never materialises an edge list at all and touches the adjacency structure in place;</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either</a:t>
            </a:r>
            <a:r>
              <a:rPr sz="1900" b="0" i="0">
                <a:solidFill>
                  <a:srgbClr val="1C252B"/>
                </a:solidFill>
                <a:latin typeface="Segoe UI"/>
              </a:rPr>
              <a:t>, in the broad middle, where the difference is under 2</a:t>
            </a:r>
            <a:r>
              <a:rPr sz="1900" b="0" i="0">
                <a:solidFill>
                  <a:srgbClr val="1C252B"/>
                </a:solidFill>
                <a:latin typeface="Cambria"/>
              </a:rPr>
              <a:t>×</a:t>
            </a:r>
            <a:r>
              <a:rPr sz="1900" b="0" i="0">
                <a:solidFill>
                  <a:srgbClr val="1C252B"/>
                </a:solidFill>
                <a:latin typeface="Segoe UI"/>
              </a:rPr>
              <a:t> and other considerations should decide.</a:t>
            </a: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644089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xEl>
                                              <p:pRg st="0" end="0"/>
                                            </p:txEl>
                                          </p:spTgt>
                                        </p:tgtEl>
                                        <p:attrNameLst>
                                          <p:attrName>style.visibility</p:attrName>
                                        </p:attrNameLst>
                                      </p:cBhvr>
                                      <p:to>
                                        <p:strVal val="visible"/>
                                      </p:to>
                                    </p:set>
                                    <p:animEffect transition="in" filter="fade">
                                      <p:cBhvr>
                                        <p:cTn id="24" dur="350"/>
                                        <p:tgtEl>
                                          <p:spTgt spid="1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xEl>
                                              <p:pRg st="1" end="1"/>
                                            </p:txEl>
                                          </p:spTgt>
                                        </p:tgtEl>
                                        <p:attrNameLst>
                                          <p:attrName>style.visibility</p:attrName>
                                        </p:attrNameLst>
                                      </p:cBhvr>
                                      <p:to>
                                        <p:strVal val="visible"/>
                                      </p:to>
                                    </p:set>
                                    <p:animEffect transition="in" filter="fade">
                                      <p:cBhvr>
                                        <p:cTn id="29" dur="350"/>
                                        <p:tgtEl>
                                          <p:spTgt spid="1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xEl>
                                              <p:pRg st="2" end="2"/>
                                            </p:txEl>
                                          </p:spTgt>
                                        </p:tgtEl>
                                        <p:attrNameLst>
                                          <p:attrName>style.visibility</p:attrName>
                                        </p:attrNameLst>
                                      </p:cBhvr>
                                      <p:to>
                                        <p:strVal val="visible"/>
                                      </p:to>
                                    </p:set>
                                    <p:animEffect transition="in" filter="fade">
                                      <p:cBhvr>
                                        <p:cTn id="34" dur="35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09CDB123-AF08-4010-BBD6-88CDA39D654D}" type="slidenum">
              <a:rPr lang="en-GB" sz="1000">
                <a:solidFill>
                  <a:srgbClr val="8795A1"/>
                </a:solidFill>
                <a:latin typeface="Segoe UI"/>
              </a:rPr>
              <a:t>29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Union–find without union by rank.</a:t>
            </a:r>
            <a:r>
              <a:rPr sz="1700" b="0" i="0">
                <a:solidFill>
                  <a:srgbClr val="1C252B"/>
                </a:solidFill>
                <a:latin typeface="Segoe UI"/>
              </a:rPr>
              <a:t> Measured 14,000</a:t>
            </a:r>
            <a:r>
              <a:rPr sz="1700" b="0" i="0">
                <a:solidFill>
                  <a:srgbClr val="1C252B"/>
                </a:solidFill>
                <a:latin typeface="Cambria"/>
              </a:rPr>
              <a:t>×</a:t>
            </a:r>
            <a:r>
              <a:rPr sz="1700" b="0" i="0">
                <a:solidFill>
                  <a:srgbClr val="1C252B"/>
                </a:solidFill>
                <a:latin typeface="Segoe UI"/>
              </a:rPr>
              <a:t> more pointer hops and 44 seconds against 35 milliseconds.</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Quoting </a:t>
            </a:r>
            <a:r>
              <a:rPr sz="1700" b="1" i="0">
                <a:solidFill>
                  <a:srgbClr val="1C252B"/>
                </a:solidFill>
                <a:latin typeface="Cambria"/>
              </a:rPr>
              <a:t>O(α(</a:t>
            </a:r>
            <a:r>
              <a:rPr sz="1700" b="1" i="1">
                <a:solidFill>
                  <a:srgbClr val="1C252B"/>
                </a:solidFill>
                <a:latin typeface="Cambria"/>
              </a:rPr>
              <a:t>n</a:t>
            </a:r>
            <a:r>
              <a:rPr sz="1700" b="1" i="0">
                <a:solidFill>
                  <a:srgbClr val="1C252B"/>
                </a:solidFill>
                <a:latin typeface="Cambria"/>
              </a:rPr>
              <a:t>))</a:t>
            </a:r>
            <a:r>
              <a:rPr sz="1700" b="1" i="0">
                <a:solidFill>
                  <a:srgbClr val="1C252B"/>
                </a:solidFill>
                <a:latin typeface="Segoe UI"/>
              </a:rPr>
              <a:t> as a worst case.</a:t>
            </a:r>
            <a:r>
              <a:rPr sz="1700" b="0" i="0">
                <a:solidFill>
                  <a:srgbClr val="1C252B"/>
                </a:solidFill>
                <a:latin typeface="Segoe UI"/>
              </a:rPr>
              <a:t> It is amortised; a single find can still be </a:t>
            </a:r>
            <a:r>
              <a:rPr sz="1700" b="0" i="0">
                <a:solidFill>
                  <a:srgbClr val="1C252B"/>
                </a:solidFill>
                <a:latin typeface="Cambria"/>
              </a:rPr>
              <a:t>Θ(lg|</a:t>
            </a:r>
            <a:r>
              <a:rPr sz="1700" b="0" i="1">
                <a:solidFill>
                  <a:srgbClr val="1C252B"/>
                </a:solidFill>
                <a:latin typeface="Cambria"/>
              </a:rPr>
              <a:t>V</a:t>
            </a:r>
            <a:r>
              <a:rPr sz="1700" b="0" i="0">
                <a:solidFill>
                  <a:srgbClr val="1C252B"/>
                </a:solidFill>
                <a:latin typeface="Cambria"/>
              </a:rPr>
              <a:t>|)</a:t>
            </a:r>
            <a:r>
              <a:rPr sz="1700" b="0" i="0">
                <a:solidFill>
                  <a:srgbClr val="1C252B"/>
                </a:solidFill>
                <a:latin typeface="Segoe UI"/>
              </a:rPr>
              <a:t>.</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the MST is unique.</a:t>
            </a:r>
            <a:r>
              <a:rPr sz="1700" b="0" i="0">
                <a:solidFill>
                  <a:srgbClr val="1C252B"/>
                </a:solidFill>
                <a:latin typeface="Segoe UI"/>
              </a:rPr>
              <a:t> It is unique only if all edge weights are distinct. With ties there may be many, and two correct algorithms may return different trees of the same weight.</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an MST algorithm on a disconnected graph.</a:t>
            </a:r>
            <a:r>
              <a:rPr sz="1700" b="0" i="0">
                <a:solidFill>
                  <a:srgbClr val="1C252B"/>
                </a:solidFill>
                <a:latin typeface="Segoe UI"/>
              </a:rPr>
              <a:t> There is no spanning tree; you get a spanning </a:t>
            </a:r>
            <a:r>
              <a:rPr sz="1700" b="0" i="1">
                <a:solidFill>
                  <a:srgbClr val="1C252B"/>
                </a:solidFill>
                <a:latin typeface="Segoe UI"/>
              </a:rPr>
              <a:t>forest</a:t>
            </a:r>
            <a:r>
              <a:rPr sz="1700" b="0" i="0">
                <a:solidFill>
                  <a:srgbClr val="1C252B"/>
                </a:solidFill>
                <a:latin typeface="Segoe UI"/>
              </a:rPr>
              <a:t>, and the code should say which it computed.</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Kruskal on a dense graph without thinking about the sort.</a:t>
            </a:r>
            <a:r>
              <a:rPr sz="1700" b="0" i="0">
                <a:solidFill>
                  <a:srgbClr val="1C252B"/>
                </a:solidFill>
                <a:latin typeface="Segoe UI"/>
              </a:rPr>
              <a:t> </a:t>
            </a:r>
            <a:r>
              <a:rPr sz="1700" b="0" i="0">
                <a:solidFill>
                  <a:srgbClr val="1C252B"/>
                </a:solidFill>
                <a:latin typeface="Cambria"/>
              </a:rPr>
              <a:t>Θ(|</a:t>
            </a:r>
            <a:r>
              <a:rPr sz="1700" b="0" i="1">
                <a:solidFill>
                  <a:srgbClr val="1C252B"/>
                </a:solidFill>
                <a:latin typeface="Cambria"/>
              </a:rPr>
              <a:t>E</a:t>
            </a:r>
            <a:r>
              <a:rPr sz="1700" b="0" i="0">
                <a:solidFill>
                  <a:srgbClr val="1C252B"/>
                </a:solidFill>
                <a:latin typeface="Cambria"/>
              </a:rPr>
              <a:t>| lg|</a:t>
            </a:r>
            <a:r>
              <a:rPr sz="1700" b="0" i="1">
                <a:solidFill>
                  <a:srgbClr val="1C252B"/>
                </a:solidFill>
                <a:latin typeface="Cambria"/>
              </a:rPr>
              <a:t>E</a:t>
            </a:r>
            <a:r>
              <a:rPr sz="1700" b="0" i="0">
                <a:solidFill>
                  <a:srgbClr val="1C252B"/>
                </a:solidFill>
                <a:latin typeface="Cambria"/>
              </a:rPr>
              <a:t>|)</a:t>
            </a:r>
            <a:r>
              <a:rPr sz="1700" b="0" i="0">
                <a:solidFill>
                  <a:srgbClr val="1C252B"/>
                </a:solidFill>
                <a:latin typeface="Segoe UI"/>
              </a:rPr>
              <a:t> with </a:t>
            </a:r>
            <a:r>
              <a:rPr sz="1700" b="0" i="0">
                <a:solidFill>
                  <a:srgbClr val="1C252B"/>
                </a:solidFill>
                <a:latin typeface="Cambria"/>
              </a:rPr>
              <a:t>|</a:t>
            </a:r>
            <a:r>
              <a:rPr sz="1700" b="0" i="1">
                <a:solidFill>
                  <a:srgbClr val="1C252B"/>
                </a:solidFill>
                <a:latin typeface="Cambria"/>
              </a:rPr>
              <a:t>E</a:t>
            </a:r>
            <a:r>
              <a:rPr sz="1700" b="0" i="0">
                <a:solidFill>
                  <a:srgbClr val="1C252B"/>
                </a:solidFill>
                <a:latin typeface="Cambria"/>
              </a:rPr>
              <a:t>| = Θ(|</a:t>
            </a:r>
            <a:r>
              <a:rPr sz="1700" b="0" i="1">
                <a:solidFill>
                  <a:srgbClr val="1C252B"/>
                </a:solidFill>
                <a:latin typeface="Cambria"/>
              </a:rPr>
              <a:t>V</a:t>
            </a:r>
            <a:r>
              <a:rPr sz="1700" b="0" i="0">
                <a:solidFill>
                  <a:srgbClr val="1C252B"/>
                </a:solidFill>
                <a:latin typeface="Cambria"/>
              </a:rPr>
              <a:t>|</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is </a:t>
            </a:r>
            <a:r>
              <a:rPr sz="1700" b="0" i="0">
                <a:solidFill>
                  <a:srgbClr val="1C252B"/>
                </a:solidFill>
                <a:latin typeface="Cambria"/>
              </a:rPr>
              <a:t>Θ(|</a:t>
            </a:r>
            <a:r>
              <a:rPr sz="1700" b="0" i="1">
                <a:solidFill>
                  <a:srgbClr val="1C252B"/>
                </a:solidFill>
                <a:latin typeface="Cambria"/>
              </a:rPr>
              <a:t>V</a:t>
            </a:r>
            <a:r>
              <a:rPr sz="1700" b="0" i="0">
                <a:solidFill>
                  <a:srgbClr val="1C252B"/>
                </a:solidFill>
                <a:latin typeface="Cambria"/>
              </a:rPr>
              <a:t>|</a:t>
            </a:r>
            <a:r>
              <a:rPr sz="1100" b="0" i="0" baseline="30000">
                <a:solidFill>
                  <a:srgbClr val="1C252B"/>
                </a:solidFill>
                <a:latin typeface="Cambria"/>
              </a:rPr>
              <a:t>2</a:t>
            </a:r>
            <a:r>
              <a:rPr sz="1700" b="0" i="0">
                <a:solidFill>
                  <a:srgbClr val="1C252B"/>
                </a:solidFill>
                <a:latin typeface="Cambria"/>
              </a:rPr>
              <a:t> lg|</a:t>
            </a:r>
            <a:r>
              <a:rPr sz="1700" b="0" i="1">
                <a:solidFill>
                  <a:srgbClr val="1C252B"/>
                </a:solidFill>
                <a:latin typeface="Cambria"/>
              </a:rPr>
              <a:t>V</a:t>
            </a:r>
            <a:r>
              <a:rPr sz="1700" b="0" i="0">
                <a:solidFill>
                  <a:srgbClr val="1C252B"/>
                </a:solidFill>
                <a:latin typeface="Cambria"/>
              </a:rPr>
              <a:t>|)</a:t>
            </a:r>
            <a:r>
              <a:rPr sz="1700" b="0" i="0">
                <a:solidFill>
                  <a:srgbClr val="1C252B"/>
                </a:solidFill>
                <a:latin typeface="Segoe UI"/>
              </a:rPr>
              <a:t>.</a:t>
            </a:r>
          </a:p>
        </p:txBody>
      </p:sp>
      <p:sp>
        <p:nvSpPr>
          <p:cNvPr id="22" name="!!pb5">
            <a:extLst>
              <a:ext uri="{C183D7F6-B498-43B3-948B-1728B52AA6E4}">
                <adec:decorative xmlns:adec="http://schemas.microsoft.com/office/drawing/2017/decorative" val="1"/>
              </a:ext>
            </a:extLst>
          </p:cNvPr>
          <p:cNvSpPr/>
          <p:nvPr/>
        </p:nvSpPr>
        <p:spPr>
          <a:xfrm>
            <a:off x="658368" y="528279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30565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264505"/>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Reaching for a Fibonacci heap.</a:t>
            </a:r>
            <a:r>
              <a:rPr sz="1700" b="0" i="0">
                <a:solidFill>
                  <a:srgbClr val="1C252B"/>
                </a:solidFill>
                <a:latin typeface="Segoe UI"/>
              </a:rPr>
              <a:t> Better asymptotically, worse in practice at every size you will meet — the same story as median-of-medians.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6709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841901E7-DDC8-4C2D-8C1C-354F2F8C6ECF}" type="slidenum">
              <a:rPr lang="en-GB" sz="1000">
                <a:solidFill>
                  <a:srgbClr val="8795A1"/>
                </a:solidFill>
                <a:latin typeface="Segoe UI"/>
              </a:rPr>
              <a:t>30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that the cut property needs </a:t>
            </a:r>
            <a:r>
              <a:rPr sz="1700" b="1" i="1">
                <a:solidFill>
                  <a:srgbClr val="1C252B"/>
                </a:solidFill>
                <a:latin typeface="Cambria"/>
              </a:rPr>
              <a:t>A</a:t>
            </a:r>
            <a:r>
              <a:rPr sz="1700" b="1" i="0">
                <a:solidFill>
                  <a:srgbClr val="1C252B"/>
                </a:solidFill>
                <a:latin typeface="Segoe UI"/>
              </a:rPr>
              <a:t> to cross no edge of the cut.</a:t>
            </a:r>
            <a:r>
              <a:rPr sz="1700" b="0" i="0">
                <a:solidFill>
                  <a:srgbClr val="1C252B"/>
                </a:solidFill>
                <a:latin typeface="Segoe UI"/>
              </a:rPr>
              <a:t> That hypothesis is what makes the exchange safe.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9009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B991B0AB-C249-41A3-87BB-EA010FC2E6B1}" type="slidenum">
              <a:rPr lang="en-GB" sz="1000">
                <a:solidFill>
                  <a:srgbClr val="8795A1"/>
                </a:solidFill>
                <a:latin typeface="Segoe UI"/>
              </a:rPr>
              <a:t>31</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four tables. Expect forty minutes — the naive union–find at </a:t>
            </a:r>
            <a:r>
              <a:rPr sz="2000" b="0" i="0">
                <a:solidFill>
                  <a:srgbClr val="1C252B"/>
                </a:solidFill>
                <a:latin typeface="Cambria"/>
              </a:rPr>
              <a:t>|</a:t>
            </a:r>
            <a:r>
              <a:rPr sz="2000" b="0" i="1">
                <a:solidFill>
                  <a:srgbClr val="1C252B"/>
                </a:solidFill>
                <a:latin typeface="Cambria"/>
              </a:rPr>
              <a:t>V</a:t>
            </a:r>
            <a:r>
              <a:rPr sz="2000" b="0" i="0">
                <a:solidFill>
                  <a:srgbClr val="1C252B"/>
                </a:solidFill>
                <a:latin typeface="Cambria"/>
              </a:rPr>
              <a:t>| = 100,000</a:t>
            </a:r>
            <a:r>
              <a:rPr sz="2000" b="0" i="0">
                <a:solidFill>
                  <a:srgbClr val="1C252B"/>
                </a:solidFill>
                <a:latin typeface="Segoe UI"/>
              </a:rPr>
              <a:t> takes 44 seconds per run, three times over.</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Union-find, three ways</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Kruskal: sort, then add anything that is safe</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Prim: grow one tree from a root</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Do the two algorithms agree?</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The three union-find variants</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And the same thing in seconds</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Kruskal against Prim, by density</a:t>
            </a:r>
          </a:p>
        </p:txBody>
      </p:sp>
      <p:sp>
        <p:nvSpPr>
          <p:cNvPr id="3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13: The matrix/list crossover as density falls</a:t>
            </a:r>
          </a:p>
        </p:txBody>
      </p:sp>
      <p:sp>
        <p:nvSpPr>
          <p:cNvPr id="4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56 lines of C++</a:t>
            </a:r>
          </a:p>
        </p:txBody>
      </p:sp>
      <p:sp>
        <p:nvSpPr>
          <p:cNvPr id="4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5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code/ch19_mst.cpp</a:t>
            </a:r>
          </a:p>
        </p:txBody>
      </p:sp>
      <p:sp>
        <p:nvSpPr>
          <p:cNvPr id="5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pfill">
            <a:extLst>
              <a:ext uri="{C183D7F6-B498-43B3-948B-1728B52AA6E4}">
                <adec:decorative xmlns:adec="http://schemas.microsoft.com/office/drawing/2017/decorative" val="1"/>
              </a:ext>
            </a:extLst>
          </p:cNvPr>
          <p:cNvSpPr/>
          <p:nvPr/>
        </p:nvSpPr>
        <p:spPr>
          <a:xfrm>
            <a:off x="0" y="0"/>
            <a:ext cx="713099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5895913E-8D54-4121-AC4B-8F3654170D70}"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Union-find, three ways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ch19_mst.cpp -- Kruskal, Prim, and where Chapter 17 pays off. // Build: cl /O2 /EHsc /std:c++17 ch19_mst.cpp (see Appendix A) // --- 1. Union-find, three ways ------------------------------------- // The only differences are whether union balances the trees and // whether find flattens the path behind it. Both are two lines, and"/>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ch19_mst.cpp -- Kruskal, Prim, and where Chapter 17 pays off.</a:t>
            </a:r>
          </a:p>
          <a:p>
            <a:pPr>
              <a:lnSpc>
                <a:spcPct val="100000"/>
              </a:lnSpc>
              <a:spcAft>
                <a:spcPts val="0"/>
              </a:spcAft>
            </a:pPr>
            <a:r>
              <a:rPr sz="1900" i="1">
                <a:solidFill>
                  <a:srgbClr val="8795A1"/>
                </a:solidFill>
                <a:latin typeface="Consolas"/>
              </a:rPr>
              <a:t>// Build: cl /O2 /EHsc /std:c++17 ch19_mst.cpp        (see Appendix A)</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--- 1. Union-find, three ways -------------------------------------</a:t>
            </a:r>
          </a:p>
          <a:p>
            <a:pPr>
              <a:lnSpc>
                <a:spcPct val="100000"/>
              </a:lnSpc>
              <a:spcAft>
                <a:spcPts val="0"/>
              </a:spcAft>
            </a:pPr>
            <a:r>
              <a:rPr sz="1900" i="1">
                <a:solidFill>
                  <a:srgbClr val="8795A1"/>
                </a:solidFill>
                <a:latin typeface="Consolas"/>
              </a:rPr>
              <a:t>// The only differences are whether union balances the trees and</a:t>
            </a:r>
          </a:p>
          <a:p>
            <a:pPr>
              <a:lnSpc>
                <a:spcPct val="100000"/>
              </a:lnSpc>
              <a:spcAft>
                <a:spcPts val="0"/>
              </a:spcAft>
            </a:pPr>
            <a:r>
              <a:rPr sz="1900" i="1">
                <a:solidFill>
                  <a:srgbClr val="8795A1"/>
                </a:solidFill>
                <a:latin typeface="Consolas"/>
              </a:rPr>
              <a:t>// whether find flattens the path behind it. Both are two lines, and</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610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5C806B7E-7E50-4817-88B0-373BD14D56C3}"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Union-find, three ways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together they take the amortised cost from O(lg n) to O(alpha(n)). int find(int x) { if (!compress) { while (parent[x] != x) { x = parent[x]; ++steps; } return x; } int root = x; while (parent[root] != root) { root = parent[root]; ++steps; } while (parent[x] != root) { // second pass: flatten int next = parent[x]; parent[x] = root; x = next; } return root; }"/>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together they take the amortised cost from O(lg n) to O(alpha(n)).</a:t>
            </a:r>
          </a:p>
          <a:p>
            <a:pPr>
              <a:lnSpc>
                <a:spcPct val="100000"/>
              </a:lnSpc>
              <a:spcAft>
                <a:spcPts val="0"/>
              </a:spcAft>
            </a:pPr>
            <a:r>
              <a:rPr sz="1500" i="0">
                <a:solidFill>
                  <a:srgbClr val="E8EDF2"/>
                </a:solidFill>
                <a:latin typeface="Consolas"/>
              </a:rPr>
              <a:t>    </a:t>
            </a:r>
            <a:r>
              <a:rPr sz="1500" i="0">
                <a:solidFill>
                  <a:srgbClr val="5DADE2"/>
                </a:solidFill>
                <a:latin typeface="Consolas"/>
              </a:rPr>
              <a:t>int</a:t>
            </a:r>
            <a:r>
              <a:rPr sz="1500" i="0">
                <a:solidFill>
                  <a:srgbClr val="E8EDF2"/>
                </a:solidFill>
                <a:latin typeface="Consolas"/>
              </a:rPr>
              <a:t> </a:t>
            </a:r>
            <a:r>
              <a:rPr sz="1500" i="0">
                <a:solidFill>
                  <a:srgbClr val="C39BD3"/>
                </a:solidFill>
                <a:latin typeface="Consolas"/>
              </a:rPr>
              <a:t>find</a:t>
            </a:r>
            <a:r>
              <a:rPr sz="1500" i="0">
                <a:solidFill>
                  <a:srgbClr val="AEB6BF"/>
                </a:solidFill>
                <a:latin typeface="Consolas"/>
              </a:rPr>
              <a:t>(</a:t>
            </a:r>
            <a:r>
              <a:rPr sz="1500" i="0">
                <a:solidFill>
                  <a:srgbClr val="5DADE2"/>
                </a:solidFill>
                <a:latin typeface="Consolas"/>
              </a:rPr>
              <a:t>int</a:t>
            </a:r>
            <a:r>
              <a:rPr sz="1500" i="0">
                <a:solidFill>
                  <a:srgbClr val="E8EDF2"/>
                </a:solidFill>
                <a:latin typeface="Consolas"/>
              </a:rPr>
              <a:t> </a:t>
            </a: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compress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while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parent</a:t>
            </a:r>
            <a:r>
              <a:rPr sz="1500" i="0">
                <a:solidFill>
                  <a:srgbClr val="AEB6BF"/>
                </a:solidFill>
                <a:latin typeface="Consolas"/>
              </a:rPr>
              <a:t>[</a:t>
            </a: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parent</a:t>
            </a:r>
            <a:r>
              <a:rPr sz="1500" i="0">
                <a:solidFill>
                  <a:srgbClr val="AEB6BF"/>
                </a:solidFill>
                <a:latin typeface="Consolas"/>
              </a:rPr>
              <a:t>[</a:t>
            </a:r>
            <a:r>
              <a:rPr sz="1500" i="0">
                <a:solidFill>
                  <a:srgbClr val="E8EDF2"/>
                </a:solidFill>
                <a:latin typeface="Consolas"/>
              </a:rPr>
              <a:t>x</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steps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x</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int</a:t>
            </a:r>
            <a:r>
              <a:rPr sz="1500" i="0">
                <a:solidFill>
                  <a:srgbClr val="E8EDF2"/>
                </a:solidFill>
                <a:latin typeface="Consolas"/>
              </a:rPr>
              <a:t> </a:t>
            </a:r>
            <a:r>
              <a:rPr sz="1500" i="0">
                <a:solidFill>
                  <a:srgbClr val="E8EDF2"/>
                </a:solidFill>
                <a:latin typeface="Consolas"/>
              </a:rPr>
              <a:t>root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x</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while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parent</a:t>
            </a:r>
            <a:r>
              <a:rPr sz="1500" i="0">
                <a:solidFill>
                  <a:srgbClr val="AEB6BF"/>
                </a:solidFill>
                <a:latin typeface="Consolas"/>
              </a:rPr>
              <a:t>[</a:t>
            </a:r>
            <a:r>
              <a:rPr sz="1500" i="0">
                <a:solidFill>
                  <a:srgbClr val="E8EDF2"/>
                </a:solidFill>
                <a:latin typeface="Consolas"/>
              </a:rPr>
              <a:t>root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root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root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parent</a:t>
            </a:r>
            <a:r>
              <a:rPr sz="1500" i="0">
                <a:solidFill>
                  <a:srgbClr val="AEB6BF"/>
                </a:solidFill>
                <a:latin typeface="Consolas"/>
              </a:rPr>
              <a:t>[</a:t>
            </a:r>
            <a:r>
              <a:rPr sz="1500" i="0">
                <a:solidFill>
                  <a:srgbClr val="E8EDF2"/>
                </a:solidFill>
                <a:latin typeface="Consolas"/>
              </a:rPr>
              <a:t>root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steps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while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parent</a:t>
            </a:r>
            <a:r>
              <a:rPr sz="1500" i="0">
                <a:solidFill>
                  <a:srgbClr val="AEB6BF"/>
                </a:solidFill>
                <a:latin typeface="Consolas"/>
              </a:rPr>
              <a:t>[</a:t>
            </a: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root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second pass: flatten</a:t>
            </a:r>
          </a:p>
          <a:p>
            <a:pPr>
              <a:lnSpc>
                <a:spcPct val="100000"/>
              </a:lnSpc>
              <a:spcAft>
                <a:spcPts val="0"/>
              </a:spcAft>
            </a:pPr>
            <a:r>
              <a:rPr sz="1500" i="0">
                <a:solidFill>
                  <a:srgbClr val="E8EDF2"/>
                </a:solidFill>
                <a:latin typeface="Consolas"/>
              </a:rPr>
              <a:t>            </a:t>
            </a:r>
            <a:r>
              <a:rPr sz="1500" i="0">
                <a:solidFill>
                  <a:srgbClr val="5DADE2"/>
                </a:solidFill>
                <a:latin typeface="Consolas"/>
              </a:rPr>
              <a:t>int</a:t>
            </a:r>
            <a:r>
              <a:rPr sz="1500" i="0">
                <a:solidFill>
                  <a:srgbClr val="E8EDF2"/>
                </a:solidFill>
                <a:latin typeface="Consolas"/>
              </a:rPr>
              <a:t> </a:t>
            </a:r>
            <a:r>
              <a:rPr sz="1500" i="0">
                <a:solidFill>
                  <a:srgbClr val="E8EDF2"/>
                </a:solidFill>
                <a:latin typeface="Consolas"/>
              </a:rPr>
              <a:t>next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parent</a:t>
            </a:r>
            <a:r>
              <a:rPr sz="1500" i="0">
                <a:solidFill>
                  <a:srgbClr val="AEB6BF"/>
                </a:solidFill>
                <a:latin typeface="Consolas"/>
              </a:rPr>
              <a:t>[</a:t>
            </a:r>
            <a:r>
              <a:rPr sz="1500" i="0">
                <a:solidFill>
                  <a:srgbClr val="E8EDF2"/>
                </a:solidFill>
                <a:latin typeface="Consolas"/>
              </a:rPr>
              <a:t>x</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parent</a:t>
            </a:r>
            <a:r>
              <a:rPr sz="1500" i="0">
                <a:solidFill>
                  <a:srgbClr val="AEB6BF"/>
                </a:solidFill>
                <a:latin typeface="Consolas"/>
              </a:rPr>
              <a:t>[</a:t>
            </a: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root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x</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next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root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a:p>
            <a:pPr algn="r">
              <a:lnSpc>
                <a:spcPct val="100000"/>
              </a:lnSpc>
            </a:pPr>
            <a:r>
              <a:rPr sz="1500">
                <a:solidFill>
                  <a:srgbClr val="4F5D6A"/>
                </a:solidFill>
                <a:latin typeface="Consolas"/>
              </a:rPr>
              <a:t>17</a:t>
            </a:r>
          </a:p>
          <a:p>
            <a:pPr algn="r">
              <a:lnSpc>
                <a:spcPct val="100000"/>
              </a:lnSpc>
            </a:pPr>
            <a:r>
              <a:rPr sz="1500">
                <a:solidFill>
                  <a:srgbClr val="4F5D6A"/>
                </a:solidFill>
                <a:latin typeface="Consolas"/>
              </a:rPr>
              <a:t>18</a:t>
            </a:r>
          </a:p>
          <a:p>
            <a:pPr algn="r">
              <a:lnSpc>
                <a:spcPct val="100000"/>
              </a:lnSpc>
            </a:pPr>
            <a:r>
              <a:rPr sz="1500">
                <a:solidFill>
                  <a:srgbClr val="4F5D6A"/>
                </a:solidFill>
                <a:latin typeface="Consolas"/>
              </a:rPr>
              <a:t>19</a:t>
            </a:r>
          </a:p>
          <a:p>
            <a:pPr algn="r">
              <a:lnSpc>
                <a:spcPct val="100000"/>
              </a:lnSpc>
            </a:pPr>
            <a:r>
              <a:rPr sz="1500">
                <a:solidFill>
                  <a:srgbClr val="4F5D6A"/>
                </a:solidFill>
                <a:latin typeface="Consolas"/>
              </a:rPr>
              <a:t>20</a:t>
            </a:r>
          </a:p>
          <a:p>
            <a:pPr algn="r">
              <a:lnSpc>
                <a:spcPct val="100000"/>
              </a:lnSpc>
            </a:pPr>
            <a:r>
              <a:rPr sz="1500">
                <a:solidFill>
                  <a:srgbClr val="4F5D6A"/>
                </a:solidFill>
                <a:latin typeface="Consolas"/>
              </a:rPr>
              <a:t>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910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6B317DEF-C7A2-4A79-857D-28683390E8F6}"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Union-find, three ways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bool unite(int a, int b) { a = find(a); b = find(b); if (a == b) return false; if (!by_rank) { parent[a] = b; return true; } if (rank_[a] &lt; rank_[b]) std::swap(a, b); parent[b] = a; if (rank_[a] == rank_[b]) ++rank_[a]; return true; }"/>
          <p:cNvSpPr txBox="1"/>
          <p:nvPr/>
        </p:nvSpPr>
        <p:spPr>
          <a:xfrm>
            <a:off x="1362456" y="2523744"/>
            <a:ext cx="9987991" cy="2852927"/>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5DADE2"/>
                </a:solidFill>
                <a:latin typeface="Consolas"/>
              </a:rPr>
              <a:t>bool</a:t>
            </a:r>
            <a:r>
              <a:rPr sz="2000" i="0">
                <a:solidFill>
                  <a:srgbClr val="E8EDF2"/>
                </a:solidFill>
                <a:latin typeface="Consolas"/>
              </a:rPr>
              <a:t> </a:t>
            </a:r>
            <a:r>
              <a:rPr sz="2000" i="0">
                <a:solidFill>
                  <a:srgbClr val="C39BD3"/>
                </a:solidFill>
                <a:latin typeface="Consolas"/>
              </a:rPr>
              <a:t>unite</a:t>
            </a:r>
            <a:r>
              <a:rPr sz="2000" i="0">
                <a:solidFill>
                  <a:srgbClr val="AEB6BF"/>
                </a:solidFill>
                <a:latin typeface="Consolas"/>
              </a:rPr>
              <a:t>(</a:t>
            </a:r>
            <a:r>
              <a:rPr sz="2000" i="0">
                <a:solidFill>
                  <a:srgbClr val="5DADE2"/>
                </a:solidFill>
                <a:latin typeface="Consolas"/>
              </a:rPr>
              <a:t>int</a:t>
            </a:r>
            <a:r>
              <a:rPr sz="2000" i="0">
                <a:solidFill>
                  <a:srgbClr val="E8EDF2"/>
                </a:solidFill>
                <a:latin typeface="Consolas"/>
              </a:rPr>
              <a:t> </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int</a:t>
            </a:r>
            <a:r>
              <a:rPr sz="2000" i="0">
                <a:solidFill>
                  <a:srgbClr val="E8EDF2"/>
                </a:solidFill>
                <a:latin typeface="Consolas"/>
              </a:rPr>
              <a:t> </a:t>
            </a:r>
            <a:r>
              <a:rPr sz="2000" i="0">
                <a:solidFill>
                  <a:srgbClr val="E8EDF2"/>
                </a:solidFill>
                <a:latin typeface="Consolas"/>
              </a:rPr>
              <a:t>b</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a</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find</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find</a:t>
            </a:r>
            <a:r>
              <a:rPr sz="2000" i="0">
                <a:solidFill>
                  <a:srgbClr val="AEB6BF"/>
                </a:solidFill>
                <a:latin typeface="Consolas"/>
              </a:rPr>
              <a:t>(</a:t>
            </a:r>
            <a:r>
              <a:rPr sz="2000" i="0">
                <a:solidFill>
                  <a:srgbClr val="E8EDF2"/>
                </a:solidFill>
                <a:latin typeface="Consolas"/>
              </a:rPr>
              <a:t>b</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a</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C39BD3"/>
                </a:solidFill>
                <a:latin typeface="Consolas"/>
              </a:rPr>
              <a:t>false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by_rank</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parent</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C39BD3"/>
                </a:solidFill>
                <a:latin typeface="Consolas"/>
              </a:rPr>
              <a:t>true</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rank_</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E8EDF2"/>
                </a:solidFill>
                <a:latin typeface="Consolas"/>
              </a:rPr>
              <a:t>rank_</a:t>
            </a:r>
            <a:r>
              <a:rPr sz="2000" i="0">
                <a:solidFill>
                  <a:srgbClr val="AEB6BF"/>
                </a:solidFill>
                <a:latin typeface="Consolas"/>
              </a:rPr>
              <a:t>[</a:t>
            </a:r>
            <a:r>
              <a:rPr sz="2000" i="0">
                <a:solidFill>
                  <a:srgbClr val="E8EDF2"/>
                </a:solidFill>
                <a:latin typeface="Consolas"/>
              </a:rPr>
              <a:t>b</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std</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swap</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parent</a:t>
            </a:r>
            <a:r>
              <a:rPr sz="2000" i="0">
                <a:solidFill>
                  <a:srgbClr val="AEB6BF"/>
                </a:solidFill>
                <a:latin typeface="Consolas"/>
              </a:rPr>
              <a:t>[</a:t>
            </a:r>
            <a:r>
              <a:rPr sz="2000" i="0">
                <a:solidFill>
                  <a:srgbClr val="E8EDF2"/>
                </a:solidFill>
                <a:latin typeface="Consolas"/>
              </a:rPr>
              <a:t>b</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a</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rank_</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rank_</a:t>
            </a:r>
            <a:r>
              <a:rPr sz="2000" i="0">
                <a:solidFill>
                  <a:srgbClr val="AEB6BF"/>
                </a:solidFill>
                <a:latin typeface="Consolas"/>
              </a:rPr>
              <a:t>[</a:t>
            </a:r>
            <a:r>
              <a:rPr sz="2000" i="0">
                <a:solidFill>
                  <a:srgbClr val="E8EDF2"/>
                </a:solidFill>
                <a:latin typeface="Consolas"/>
              </a:rPr>
              <a:t>b</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rank_</a:t>
            </a:r>
            <a:r>
              <a:rPr sz="2000" i="0">
                <a:solidFill>
                  <a:srgbClr val="AEB6BF"/>
                </a:solidFill>
                <a:latin typeface="Consolas"/>
              </a:rPr>
              <a:t>[</a:t>
            </a:r>
            <a:r>
              <a:rPr sz="2000" i="0">
                <a:solidFill>
                  <a:srgbClr val="E8EDF2"/>
                </a:solidFill>
                <a:latin typeface="Consolas"/>
              </a:rPr>
              <a:t>a</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C39BD3"/>
                </a:solidFill>
                <a:latin typeface="Consolas"/>
              </a:rPr>
              <a:t>true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AEB6BF"/>
                </a:solidFill>
                <a:latin typeface="Consolas"/>
              </a:rPr>
              <a:t>}</a:t>
            </a:r>
          </a:p>
        </p:txBody>
      </p:sp>
      <p:sp>
        <p:nvSpPr>
          <p:cNvPr id="15" name="!!code-num"/>
          <p:cNvSpPr txBox="1"/>
          <p:nvPr/>
        </p:nvSpPr>
        <p:spPr>
          <a:xfrm>
            <a:off x="768096" y="2523744"/>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22</a:t>
            </a:r>
          </a:p>
          <a:p>
            <a:pPr algn="r">
              <a:lnSpc>
                <a:spcPct val="100000"/>
              </a:lnSpc>
            </a:pPr>
            <a:r>
              <a:rPr sz="2000">
                <a:solidFill>
                  <a:srgbClr val="4F5D6A"/>
                </a:solidFill>
                <a:latin typeface="Consolas"/>
              </a:rPr>
              <a:t>23</a:t>
            </a:r>
          </a:p>
          <a:p>
            <a:pPr algn="r">
              <a:lnSpc>
                <a:spcPct val="100000"/>
              </a:lnSpc>
            </a:pPr>
            <a:r>
              <a:rPr sz="2000">
                <a:solidFill>
                  <a:srgbClr val="4F5D6A"/>
                </a:solidFill>
                <a:latin typeface="Consolas"/>
              </a:rPr>
              <a:t>24</a:t>
            </a:r>
          </a:p>
          <a:p>
            <a:pPr algn="r">
              <a:lnSpc>
                <a:spcPct val="100000"/>
              </a:lnSpc>
            </a:pPr>
            <a:r>
              <a:rPr sz="2000">
                <a:solidFill>
                  <a:srgbClr val="4F5D6A"/>
                </a:solidFill>
                <a:latin typeface="Consolas"/>
              </a:rPr>
              <a:t>25</a:t>
            </a:r>
          </a:p>
          <a:p>
            <a:pPr algn="r">
              <a:lnSpc>
                <a:spcPct val="100000"/>
              </a:lnSpc>
            </a:pPr>
            <a:r>
              <a:rPr sz="2000">
                <a:solidFill>
                  <a:srgbClr val="4F5D6A"/>
                </a:solidFill>
                <a:latin typeface="Consolas"/>
              </a:rPr>
              <a:t>26</a:t>
            </a:r>
          </a:p>
          <a:p>
            <a:pPr algn="r">
              <a:lnSpc>
                <a:spcPct val="100000"/>
              </a:lnSpc>
            </a:pPr>
            <a:r>
              <a:rPr sz="2000">
                <a:solidFill>
                  <a:srgbClr val="4F5D6A"/>
                </a:solidFill>
                <a:latin typeface="Consolas"/>
              </a:rPr>
              <a:t>27</a:t>
            </a:r>
          </a:p>
          <a:p>
            <a:pPr algn="r">
              <a:lnSpc>
                <a:spcPct val="100000"/>
              </a:lnSpc>
            </a:pPr>
            <a:r>
              <a:rPr sz="2000">
                <a:solidFill>
                  <a:srgbClr val="4F5D6A"/>
                </a:solidFill>
                <a:latin typeface="Consolas"/>
              </a:rPr>
              <a:t>28</a:t>
            </a:r>
          </a:p>
          <a:p>
            <a:pPr algn="r">
              <a:lnSpc>
                <a:spcPct val="100000"/>
              </a:lnSpc>
            </a:pPr>
            <a:r>
              <a:rPr sz="2000">
                <a:solidFill>
                  <a:srgbClr val="4F5D6A"/>
                </a:solidFill>
                <a:latin typeface="Consolas"/>
              </a:rPr>
              <a:t>29</a:t>
            </a:r>
          </a:p>
          <a:p>
            <a:pPr algn="r">
              <a:lnSpc>
                <a:spcPct val="100000"/>
              </a:lnSpc>
            </a:pPr>
            <a:r>
              <a:rPr sz="20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2108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BEE2A2F7-663B-4A1E-B8B5-9AE746EB679F}"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Kruskal: sort, then add anything that is safe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 2. Kruskal: sort, then add anything that is safe -------------- // The sort is Theta(E lg E) and dominates; the union-find work is // E * alpha(V), which is why the structure's amortised cost matters."/>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Kruskal: sort, then add anything that is safe --------------</a:t>
            </a:r>
          </a:p>
          <a:p>
            <a:pPr>
              <a:lnSpc>
                <a:spcPct val="100000"/>
              </a:lnSpc>
              <a:spcAft>
                <a:spcPts val="0"/>
              </a:spcAft>
            </a:pPr>
            <a:r>
              <a:rPr sz="1900" i="1">
                <a:solidFill>
                  <a:srgbClr val="8795A1"/>
                </a:solidFill>
                <a:latin typeface="Consolas"/>
              </a:rPr>
              <a:t>// The sort is Theta(E lg E) and dominates; the union-find work is</a:t>
            </a:r>
          </a:p>
          <a:p>
            <a:pPr>
              <a:lnSpc>
                <a:spcPct val="100000"/>
              </a:lnSpc>
              <a:spcAft>
                <a:spcPts val="0"/>
              </a:spcAft>
            </a:pPr>
            <a:r>
              <a:rPr sz="1900" i="1">
                <a:solidFill>
                  <a:srgbClr val="8795A1"/>
                </a:solidFill>
                <a:latin typeface="Consolas"/>
              </a:rPr>
              <a:t>// E * alpha(V), which is why the structure's amortised cost matters.</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511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D8F116CF-0908-4D1F-91F1-A7E7E1E7B0F4}"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Prim: grow one tree from a root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 3. Prim: grow one tree from a root ---------------------------- // The &quot;lazy&quot; form pushes every edge and discards stale entries when // popped, which is simpler than decrease-key and no worse // asymptotically."/>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Prim: grow one tree from a root ----------------------------</a:t>
            </a:r>
          </a:p>
          <a:p>
            <a:pPr>
              <a:lnSpc>
                <a:spcPct val="100000"/>
              </a:lnSpc>
              <a:spcAft>
                <a:spcPts val="0"/>
              </a:spcAft>
            </a:pPr>
            <a:r>
              <a:rPr sz="1900" i="1">
                <a:solidFill>
                  <a:srgbClr val="8795A1"/>
                </a:solidFill>
                <a:latin typeface="Consolas"/>
              </a:rPr>
              <a:t>// The "lazy" form pushes every edge and discards stale entries when</a:t>
            </a:r>
          </a:p>
          <a:p>
            <a:pPr>
              <a:lnSpc>
                <a:spcPct val="100000"/>
              </a:lnSpc>
              <a:spcAft>
                <a:spcPts val="0"/>
              </a:spcAft>
            </a:pPr>
            <a:r>
              <a:rPr sz="1900" i="1">
                <a:solidFill>
                  <a:srgbClr val="8795A1"/>
                </a:solidFill>
                <a:latin typeface="Consolas"/>
              </a:rPr>
              <a:t>// popped, which is simpler than decrease-key and no worse</a:t>
            </a:r>
          </a:p>
          <a:p>
            <a:pPr>
              <a:lnSpc>
                <a:spcPct val="100000"/>
              </a:lnSpc>
              <a:spcAft>
                <a:spcPts val="0"/>
              </a:spcAft>
            </a:pPr>
            <a:r>
              <a:rPr sz="1900" i="1">
                <a:solidFill>
                  <a:srgbClr val="8795A1"/>
                </a:solidFill>
                <a:latin typeface="Consolas"/>
              </a:rPr>
              <a:t>// asymptotically.</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811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5277A0A9-7177-4A60-8005-9E3F7F071007}"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Do the two algorithms agree?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 4. Do the two algorithms agree? ------------------------------- // They are different greedy rules. If the cut property is right, they // must produce the same total weight."/>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Do the two algorithms agree? -------------------------------</a:t>
            </a:r>
          </a:p>
          <a:p>
            <a:pPr>
              <a:lnSpc>
                <a:spcPct val="100000"/>
              </a:lnSpc>
              <a:spcAft>
                <a:spcPts val="0"/>
              </a:spcAft>
            </a:pPr>
            <a:r>
              <a:rPr sz="1900" i="1">
                <a:solidFill>
                  <a:srgbClr val="8795A1"/>
                </a:solidFill>
                <a:latin typeface="Consolas"/>
              </a:rPr>
              <a:t>// They are different greedy rules. If the cut property is right, they</a:t>
            </a:r>
          </a:p>
          <a:p>
            <a:pPr>
              <a:lnSpc>
                <a:spcPct val="100000"/>
              </a:lnSpc>
              <a:spcAft>
                <a:spcPts val="0"/>
              </a:spcAft>
            </a:pPr>
            <a:r>
              <a:rPr sz="1900" i="1">
                <a:solidFill>
                  <a:srgbClr val="8795A1"/>
                </a:solidFill>
                <a:latin typeface="Consolas"/>
              </a:rPr>
              <a:t>// must produce the same total weight.</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111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49610DBB-C333-4BD1-9F4E-22CFFF192332}"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three union-find variants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 5. The three union-find variants ------------------------------ // &quot;steps&quot; counts pointer hops inside find(). This is the measurement // Chapter 17 predicts: naive grows, rank alone is much better, and // rank + compression is essentially flat. // // The naive variant's find() is LINEAR in the component size, so the // whole run is quadratic and V = 320,000 does not finish in any // reasonable time. It stops at 160,000; the other two carry on, and // that asymmetry is itself the result."/>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The three union-find variants ------------------------------</a:t>
            </a:r>
          </a:p>
          <a:p>
            <a:pPr>
              <a:lnSpc>
                <a:spcPct val="100000"/>
              </a:lnSpc>
              <a:spcAft>
                <a:spcPts val="0"/>
              </a:spcAft>
            </a:pPr>
            <a:r>
              <a:rPr sz="1900" i="1">
                <a:solidFill>
                  <a:srgbClr val="8795A1"/>
                </a:solidFill>
                <a:latin typeface="Consolas"/>
              </a:rPr>
              <a:t>// "steps" counts pointer hops inside find(). This is the measurement</a:t>
            </a:r>
          </a:p>
          <a:p>
            <a:pPr>
              <a:lnSpc>
                <a:spcPct val="100000"/>
              </a:lnSpc>
              <a:spcAft>
                <a:spcPts val="0"/>
              </a:spcAft>
            </a:pPr>
            <a:r>
              <a:rPr sz="1900" i="1">
                <a:solidFill>
                  <a:srgbClr val="8795A1"/>
                </a:solidFill>
                <a:latin typeface="Consolas"/>
              </a:rPr>
              <a:t>// Chapter 17 predicts: naive grows, rank alone is much better, and</a:t>
            </a:r>
          </a:p>
          <a:p>
            <a:pPr>
              <a:lnSpc>
                <a:spcPct val="100000"/>
              </a:lnSpc>
              <a:spcAft>
                <a:spcPts val="0"/>
              </a:spcAft>
            </a:pPr>
            <a:r>
              <a:rPr sz="1900" i="1">
                <a:solidFill>
                  <a:srgbClr val="8795A1"/>
                </a:solidFill>
                <a:latin typeface="Consolas"/>
              </a:rPr>
              <a:t>// rank + compression is essentially flat.</a:t>
            </a:r>
          </a:p>
          <a:p>
            <a:pPr>
              <a:lnSpc>
                <a:spcPct val="100000"/>
              </a:lnSpc>
              <a:spcAft>
                <a:spcPts val="0"/>
              </a:spcAft>
            </a:pPr>
            <a:r>
              <a:rPr sz="1900" i="1">
                <a:solidFill>
                  <a:srgbClr val="8795A1"/>
                </a:solidFill>
                <a:latin typeface="Consolas"/>
              </a:rPr>
              <a:t>//</a:t>
            </a:r>
          </a:p>
          <a:p>
            <a:pPr>
              <a:lnSpc>
                <a:spcPct val="100000"/>
              </a:lnSpc>
              <a:spcAft>
                <a:spcPts val="0"/>
              </a:spcAft>
            </a:pPr>
            <a:r>
              <a:rPr sz="1900" i="1">
                <a:solidFill>
                  <a:srgbClr val="8795A1"/>
                </a:solidFill>
                <a:latin typeface="Consolas"/>
              </a:rPr>
              <a:t>// The naive variant's find() is LINEAR in the component size, so the</a:t>
            </a:r>
          </a:p>
          <a:p>
            <a:pPr>
              <a:lnSpc>
                <a:spcPct val="100000"/>
              </a:lnSpc>
              <a:spcAft>
                <a:spcPts val="0"/>
              </a:spcAft>
            </a:pPr>
            <a:r>
              <a:rPr sz="1900" i="1">
                <a:solidFill>
                  <a:srgbClr val="8795A1"/>
                </a:solidFill>
                <a:latin typeface="Consolas"/>
              </a:rPr>
              <a:t>// whole run is quadratic and V = 320,000 does not finish in any</a:t>
            </a:r>
          </a:p>
          <a:p>
            <a:pPr>
              <a:lnSpc>
                <a:spcPct val="100000"/>
              </a:lnSpc>
              <a:spcAft>
                <a:spcPts val="0"/>
              </a:spcAft>
            </a:pPr>
            <a:r>
              <a:rPr sz="1900" i="1">
                <a:solidFill>
                  <a:srgbClr val="8795A1"/>
                </a:solidFill>
                <a:latin typeface="Consolas"/>
              </a:rPr>
              <a:t>// reasonable time. It stops at 160,000; the other two carry on, and</a:t>
            </a:r>
          </a:p>
          <a:p>
            <a:pPr>
              <a:lnSpc>
                <a:spcPct val="100000"/>
              </a:lnSpc>
              <a:spcAft>
                <a:spcPts val="0"/>
              </a:spcAft>
            </a:pPr>
            <a:r>
              <a:rPr sz="1900" i="1">
                <a:solidFill>
                  <a:srgbClr val="8795A1"/>
                </a:solidFill>
                <a:latin typeface="Consolas"/>
              </a:rPr>
              <a:t>// that asymmetry is itself the result.</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412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AED1ED39-0AAF-416F-80A0-9402D2CB3DDD}"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the same thing in seconds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 6. And the same thing in seconds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And the same thing in seconds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712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Where Amortised Analysis Pays Off</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78834AF7-8CDD-4208-A083-5F006A29E652}" type="slidenum">
              <a:rPr lang="en-GB" sz="1000">
                <a:solidFill>
                  <a:srgbClr val="8795A1"/>
                </a:solidFill>
                <a:latin typeface="Segoe UI"/>
              </a:rPr>
              <a:t>40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Kruskal against Prim, by density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893063"/>
          </a:xfrm>
          <a:prstGeom prst="roundRect">
            <a:avLst>
              <a:gd name="adj" fmla="val 10238"/>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code/ch19_mst.cpp</a:t>
            </a:r>
          </a:p>
        </p:txBody>
      </p:sp>
      <p:sp>
        <p:nvSpPr>
          <p:cNvPr id="14" name="!!code-text" descr="// --- 7. Kruskal against Prim, by density ---------------------------"/>
          <p:cNvSpPr txBox="1"/>
          <p:nvPr/>
        </p:nvSpPr>
        <p:spPr>
          <a:xfrm>
            <a:off x="1362456" y="2523744"/>
            <a:ext cx="9987991" cy="3992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Kruskal against Prim, by density ---------------------------</a:t>
            </a:r>
          </a:p>
        </p:txBody>
      </p:sp>
      <p:sp>
        <p:nvSpPr>
          <p:cNvPr id="15" name="!!code-num"/>
          <p:cNvSpPr txBox="1"/>
          <p:nvPr/>
        </p:nvSpPr>
        <p:spPr>
          <a:xfrm>
            <a:off x="768096" y="2523744"/>
            <a:ext cx="393192" cy="3992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012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157     </a:t>
            </a:r>
            <a:fld id="{39B213D0-CAB3-41C9-A5A7-2F2E5992F349}" type="slidenum">
              <a:rPr lang="en-GB" sz="1000">
                <a:solidFill>
                  <a:srgbClr val="8795A1"/>
                </a:solidFill>
                <a:latin typeface="Segoe UI"/>
              </a:rPr>
              <a:t>41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a:t>
            </a:r>
            <a:r>
              <a:rPr sz="2150" b="0" i="0">
                <a:solidFill>
                  <a:srgbClr val="1F4E79"/>
                </a:solidFill>
                <a:latin typeface="Consolas"/>
              </a:rPr>
              <a:t>rank+compress</a:t>
            </a:r>
            <a:r>
              <a:rPr sz="2300" b="0" i="0">
                <a:solidFill>
                  <a:srgbClr val="1C252B"/>
                </a:solidFill>
                <a:latin typeface="Segoe UI"/>
              </a:rPr>
              <a:t> column in part 5 goes from 1.62 to 1.88 while </a:t>
            </a:r>
            <a:r>
              <a:rPr sz="2300" b="0" i="0">
                <a:solidFill>
                  <a:srgbClr val="1C252B"/>
                </a:solidFill>
                <a:latin typeface="Cambria"/>
              </a:rPr>
              <a:t>|</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multiplies by 512. If you plotted it you would draw a horizontal line, and the theory says it is growing — just slower than any function you can name.</a:t>
            </a:r>
          </a:p>
        </p:txBody>
      </p:sp>
      <p:sp>
        <p:nvSpPr>
          <p:cNvPr id="10" name="body-1"/>
          <p:cNvSpPr txBox="1"/>
          <p:nvPr/>
        </p:nvSpPr>
        <p:spPr>
          <a:xfrm>
            <a:off x="1060704" y="3667074"/>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Implement path compression </a:t>
            </a:r>
            <a:r>
              <a:rPr sz="2300" b="0" i="1">
                <a:solidFill>
                  <a:srgbClr val="1C252B"/>
                </a:solidFill>
                <a:latin typeface="Segoe UI"/>
              </a:rPr>
              <a:t>without</a:t>
            </a:r>
            <a:r>
              <a:rPr sz="2300" b="0" i="0">
                <a:solidFill>
                  <a:srgbClr val="1C252B"/>
                </a:solidFill>
                <a:latin typeface="Segoe UI"/>
              </a:rPr>
              <a:t> union by rank and measure it. Predict first. It is far better than naive and slightly worse than the pair — compression alone gives </a:t>
            </a:r>
            <a:r>
              <a:rPr sz="2300" b="0" i="0">
                <a:solidFill>
                  <a:srgbClr val="1C252B"/>
                </a:solidFill>
                <a:latin typeface="Cambria"/>
              </a:rPr>
              <a:t>O(lg </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amortised, and it is the combination that gives </a:t>
            </a:r>
            <a:r>
              <a:rPr sz="2300" b="0" i="0">
                <a:solidFill>
                  <a:srgbClr val="1C252B"/>
                </a:solidFill>
                <a:latin typeface="Cambria"/>
              </a:rPr>
              <a:t>α</a:t>
            </a:r>
            <a:r>
              <a:rPr sz="2300" b="0" i="0">
                <a:solidFill>
                  <a:srgbClr val="1C252B"/>
                </a:solidFill>
                <a:latin typeface="Segoe UI"/>
              </a:rPr>
              <a:t>. Two optimisations that each help and only together give the famous bound is an unusual and instructive situation.</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4313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State the cut property and identify the hypothesis that makes the exchange in its proof safe.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19  ·  Minimum Spanning Trees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161  ·  answers in Appendix D     </a:t>
            </a:r>
            <a:fld id="{A7CD479B-7846-48FE-B701-95F858363272}"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State the cut property and identify the hypothesis that makes the exchange in its proof safe.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Let </a:t>
            </a:r>
            <a:r>
              <a:rPr sz="2200" b="0" i="1">
                <a:solidFill>
                  <a:srgbClr val="1C252B"/>
                </a:solidFill>
                <a:latin typeface="Cambria"/>
              </a:rPr>
              <a:t>A</a:t>
            </a:r>
            <a:r>
              <a:rPr sz="2200" b="0" i="1">
                <a:solidFill>
                  <a:srgbClr val="1C252B"/>
                </a:solidFill>
                <a:latin typeface="Segoe UI"/>
              </a:rPr>
              <a:t> be a subset of some MST and let </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a:t>
            </a:r>
            <a:r>
              <a:rPr sz="2200" b="0" i="1">
                <a:solidFill>
                  <a:srgbClr val="1C252B"/>
                </a:solidFill>
                <a:latin typeface="Cambria"/>
              </a:rPr>
              <a:t>V</a:t>
            </a:r>
            <a:r>
              <a:rPr sz="2200" b="0" i="0">
                <a:solidFill>
                  <a:srgbClr val="1C252B"/>
                </a:solidFill>
                <a:latin typeface="Cambria"/>
              </a:rPr>
              <a:t> </a:t>
            </a:r>
            <a:r>
              <a:rPr sz="2200" b="0" i="1">
                <a:solidFill>
                  <a:srgbClr val="1C252B"/>
                </a:solidFill>
                <a:latin typeface="Cambria"/>
              </a:rPr>
              <a:t>S</a:t>
            </a:r>
            <a:r>
              <a:rPr sz="2200" b="0" i="0">
                <a:solidFill>
                  <a:srgbClr val="1C252B"/>
                </a:solidFill>
                <a:latin typeface="Cambria"/>
              </a:rPr>
              <a:t>)</a:t>
            </a:r>
            <a:r>
              <a:rPr sz="2200" b="0" i="1">
                <a:solidFill>
                  <a:srgbClr val="1C252B"/>
                </a:solidFill>
                <a:latin typeface="Segoe UI"/>
              </a:rPr>
              <a:t> be a cut that no edge of </a:t>
            </a:r>
            <a:r>
              <a:rPr sz="2200" b="0" i="1">
                <a:solidFill>
                  <a:srgbClr val="1C252B"/>
                </a:solidFill>
                <a:latin typeface="Cambria"/>
              </a:rPr>
              <a:t>A</a:t>
            </a:r>
            <a:r>
              <a:rPr sz="2200" b="0" i="1">
                <a:solidFill>
                  <a:srgbClr val="1C252B"/>
                </a:solidFill>
                <a:latin typeface="Segoe UI"/>
              </a:rPr>
              <a:t> crosses. Then any light edge for that cut is safe.</a:t>
            </a:r>
            <a:r>
              <a:rPr sz="2200" b="0" i="0">
                <a:solidFill>
                  <a:srgbClr val="1C252B"/>
                </a:solidFill>
                <a:latin typeface="Segoe UI"/>
              </a:rPr>
              <a:t> The hypothesis that makes the exchange safe is </a:t>
            </a:r>
            <a:r>
              <a:rPr sz="2200" b="1" i="0">
                <a:solidFill>
                  <a:srgbClr val="1C252B"/>
                </a:solidFill>
                <a:latin typeface="Segoe UI"/>
              </a:rPr>
              <a:t>that no edge of </a:t>
            </a:r>
            <a:r>
              <a:rPr sz="2200" b="1" i="1">
                <a:solidFill>
                  <a:srgbClr val="1C252B"/>
                </a:solidFill>
                <a:latin typeface="Cambria"/>
              </a:rPr>
              <a:t>A</a:t>
            </a:r>
            <a:r>
              <a:rPr sz="2200" b="1" i="0">
                <a:solidFill>
                  <a:srgbClr val="1C252B"/>
                </a:solidFill>
                <a:latin typeface="Segoe UI"/>
              </a:rPr>
              <a:t> crosses the cut</a:t>
            </a:r>
            <a:r>
              <a:rPr sz="2200" b="0" i="0">
                <a:solidFill>
                  <a:srgbClr val="1C252B"/>
                </a:solidFill>
                <a:latin typeface="Segoe UI"/>
              </a:rPr>
              <a:t>: it guarantees that the edge </a:t>
            </a:r>
            <a:r>
              <a:rPr sz="2200" b="0" i="1">
                <a:solidFill>
                  <a:srgbClr val="1C252B"/>
                </a:solidFill>
                <a:latin typeface="Cambria"/>
              </a:rPr>
              <a:t>e</a:t>
            </a:r>
            <a:r>
              <a:rPr sz="2200" b="0" i="0">
                <a:solidFill>
                  <a:srgbClr val="1C252B"/>
                </a:solidFill>
                <a:latin typeface="Cambria"/>
              </a:rPr>
              <a:t>′</a:t>
            </a:r>
            <a:r>
              <a:rPr sz="2200" b="0" i="0">
                <a:solidFill>
                  <a:srgbClr val="1C252B"/>
                </a:solidFill>
                <a:latin typeface="Segoe UI"/>
              </a:rPr>
              <a:t> removed from the cycle — which does cross the cut — is not in </a:t>
            </a:r>
            <a:r>
              <a:rPr sz="2200" b="0" i="1">
                <a:solidFill>
                  <a:srgbClr val="1C252B"/>
                </a:solidFill>
                <a:latin typeface="Cambria"/>
              </a:rPr>
              <a:t>A</a:t>
            </a:r>
            <a:r>
              <a:rPr sz="2200" b="0" i="0">
                <a:solidFill>
                  <a:srgbClr val="1C252B"/>
                </a:solidFill>
                <a:latin typeface="Segoe UI"/>
              </a:rPr>
              <a:t>, so </a:t>
            </a:r>
            <a:r>
              <a:rPr sz="2200" b="0" i="1">
                <a:solidFill>
                  <a:srgbClr val="1C252B"/>
                </a:solidFill>
                <a:latin typeface="Cambria"/>
              </a:rPr>
              <a:t>A</a:t>
            </a:r>
            <a:r>
              <a:rPr sz="2200" b="0" i="0">
                <a:solidFill>
                  <a:srgbClr val="1C252B"/>
                </a:solidFill>
                <a:latin typeface="Segoe UI"/>
              </a:rPr>
              <a:t> survives the exchange and remains inside the new MST.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  answers in Appendix D     </a:t>
            </a:r>
            <a:fld id="{646E396A-D46F-45B2-BF22-4258967E4A0E}" type="slidenum">
              <a:rPr lang="en-GB" sz="1000">
                <a:solidFill>
                  <a:srgbClr val="8795A1"/>
                </a:solidFill>
                <a:latin typeface="Segoe UI"/>
              </a:rPr>
              <a:t>43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913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Kruskal and Prim use the same theorem on different cuts. Describe each algorithm’s cut, and say which data structure it forces </a:t>
            </a:r>
            <a:r>
              <a:rPr sz="3400" b="0" i="1">
                <a:solidFill>
                  <a:srgbClr val="FFFFFF"/>
                </a:solidFill>
                <a:latin typeface="Segoe UI Semibold"/>
              </a:rPr>
              <a:t>(CLO-7)</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19  ·  Minimum Spanning Trees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161  ·  answers in Appendix D     </a:t>
            </a:r>
            <a:fld id="{086E042C-23F6-4D43-B5EC-39DF00B857C8}"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Kruskal and Prim use the same theorem on different cuts. Describe each algorithm’s cut, and say which data structure it forces </a:t>
            </a:r>
            <a:r>
              <a:rPr sz="2400" b="0" i="1">
                <a:solidFill>
                  <a:srgbClr val="1A5276"/>
                </a:solidFill>
                <a:latin typeface="Segoe UI Semibold"/>
              </a:rPr>
              <a:t>(CLO-7)</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Prim’s cut</a:t>
            </a:r>
            <a:r>
              <a:rPr sz="2200" b="0" i="0">
                <a:solidFill>
                  <a:srgbClr val="1C252B"/>
                </a:solidFill>
                <a:latin typeface="Segoe UI"/>
              </a:rPr>
              <a:t> is (vertices in the tree so far) against the rest, so the light edge is the cheapest edge leaving the tree, and the structure needed is a </a:t>
            </a:r>
            <a:r>
              <a:rPr sz="2200" b="1" i="0">
                <a:solidFill>
                  <a:srgbClr val="1C252B"/>
                </a:solidFill>
                <a:latin typeface="Segoe UI"/>
              </a:rPr>
              <a:t>priority queue</a:t>
            </a:r>
            <a:r>
              <a:rPr sz="2200" b="0" i="0">
                <a:solidFill>
                  <a:srgbClr val="1C252B"/>
                </a:solidFill>
                <a:latin typeface="Segoe UI"/>
              </a:rPr>
              <a:t>. </a:t>
            </a:r>
            <a:r>
              <a:rPr sz="2200" b="1" i="0">
                <a:solidFill>
                  <a:srgbClr val="1C252B"/>
                </a:solidFill>
                <a:latin typeface="Segoe UI"/>
              </a:rPr>
              <a:t>Kruskal’s cut</a:t>
            </a:r>
            <a:r>
              <a:rPr sz="2200" b="0" i="0">
                <a:solidFill>
                  <a:srgbClr val="1C252B"/>
                </a:solidFill>
                <a:latin typeface="Segoe UI"/>
              </a:rPr>
              <a:t> is between the two components that the next edge would join, so what is needed is a test for “are these already connected?” — </a:t>
            </a:r>
            <a:r>
              <a:rPr sz="2200" b="1" i="0">
                <a:solidFill>
                  <a:srgbClr val="1C252B"/>
                </a:solidFill>
                <a:latin typeface="Segoe UI"/>
              </a:rPr>
              <a:t>disjoint-set union</a:t>
            </a:r>
            <a:r>
              <a:rPr sz="2200" b="0" i="0">
                <a:solidFill>
                  <a:srgbClr val="1C252B"/>
                </a:solidFill>
                <a:latin typeface="Segoe UI"/>
              </a:rPr>
              <a:t>. One theorem, two cuts, two data structures.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  answers in Appendix D     </a:t>
            </a:r>
            <a:fld id="{6E4573CD-B518-4255-976C-F583443551C0}" type="slidenum">
              <a:rPr lang="en-GB" sz="1000">
                <a:solidFill>
                  <a:srgbClr val="8795A1"/>
                </a:solidFill>
                <a:latin typeface="Segoe UI"/>
              </a:rPr>
              <a:t>45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514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measured cost per find was 1.62 at </a:t>
            </a:r>
            <a:r>
              <a:rPr sz="3400" b="0" i="0">
                <a:solidFill>
                  <a:srgbClr val="FFFFFF"/>
                </a:solidFill>
                <a:latin typeface="Cambria"/>
              </a:rPr>
              <a:t>|</a:t>
            </a:r>
            <a:r>
              <a:rPr sz="3400" b="0" i="1">
                <a:solidFill>
                  <a:srgbClr val="FFFFFF"/>
                </a:solidFill>
                <a:latin typeface="Cambria"/>
              </a:rPr>
              <a:t>V</a:t>
            </a:r>
            <a:r>
              <a:rPr sz="3400" b="0" i="0">
                <a:solidFill>
                  <a:srgbClr val="FFFFFF"/>
                </a:solidFill>
                <a:latin typeface="Cambria"/>
              </a:rPr>
              <a:t>| = 10</a:t>
            </a:r>
            <a:r>
              <a:rPr sz="2250" b="0" i="0" baseline="30000">
                <a:solidFill>
                  <a:srgbClr val="FFFFFF"/>
                </a:solidFill>
                <a:latin typeface="Cambria"/>
              </a:rPr>
              <a:t>4</a:t>
            </a:r>
            <a:r>
              <a:rPr sz="3400" b="0" i="0">
                <a:solidFill>
                  <a:srgbClr val="FFFFFF"/>
                </a:solidFill>
                <a:latin typeface="Segoe UI Semibold"/>
              </a:rPr>
              <a:t> and 1.88 at </a:t>
            </a:r>
            <a:r>
              <a:rPr sz="3400" b="0" i="0">
                <a:solidFill>
                  <a:srgbClr val="FFFFFF"/>
                </a:solidFill>
                <a:latin typeface="Cambria"/>
              </a:rPr>
              <a:t>|</a:t>
            </a:r>
            <a:r>
              <a:rPr sz="3400" b="0" i="1">
                <a:solidFill>
                  <a:srgbClr val="FFFFFF"/>
                </a:solidFill>
                <a:latin typeface="Cambria"/>
              </a:rPr>
              <a:t>V</a:t>
            </a:r>
            <a:r>
              <a:rPr sz="3400" b="0" i="0">
                <a:solidFill>
                  <a:srgbClr val="FFFFFF"/>
                </a:solidFill>
                <a:latin typeface="Cambria"/>
              </a:rPr>
              <a:t>| = 5 × 10</a:t>
            </a:r>
            <a:r>
              <a:rPr sz="2250" b="0" i="0" baseline="30000">
                <a:solidFill>
                  <a:srgbClr val="FFFFFF"/>
                </a:solidFill>
                <a:latin typeface="Cambria"/>
              </a:rPr>
              <a:t>6</a:t>
            </a:r>
            <a:r>
              <a:rPr sz="3400" b="0" i="0">
                <a:solidFill>
                  <a:srgbClr val="FFFFFF"/>
                </a:solidFill>
                <a:latin typeface="Segoe UI Semibold"/>
              </a:rPr>
              <a:t>. Why is it wrong to call this </a:t>
            </a:r>
            <a:r>
              <a:rPr sz="3400" b="0" i="0">
                <a:solidFill>
                  <a:srgbClr val="FFFFFF"/>
                </a:solidFill>
                <a:latin typeface="Cambria"/>
              </a:rPr>
              <a:t>O(1)</a:t>
            </a:r>
            <a:r>
              <a:rPr sz="3400" b="0" i="0">
                <a:solidFill>
                  <a:srgbClr val="FFFFFF"/>
                </a:solidFill>
                <a:latin typeface="Segoe UI Semibold"/>
              </a:rPr>
              <a:t>, and why does it not matter in practice?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19  ·  Minimum Spanning Trees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161  ·  answers in Appendix D     </a:t>
            </a:r>
            <a:fld id="{F4EE571B-8173-43CE-B40C-2B925FF9E045}"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The measured cost per find was 1.62 at </a:t>
            </a:r>
            <a:r>
              <a:rPr sz="2400" b="0" i="0">
                <a:solidFill>
                  <a:srgbClr val="1A5276"/>
                </a:solidFill>
                <a:latin typeface="Cambria"/>
              </a:rPr>
              <a:t>|</a:t>
            </a:r>
            <a:r>
              <a:rPr sz="2400" b="0" i="1">
                <a:solidFill>
                  <a:srgbClr val="1A5276"/>
                </a:solidFill>
                <a:latin typeface="Cambria"/>
              </a:rPr>
              <a:t>V</a:t>
            </a:r>
            <a:r>
              <a:rPr sz="2400" b="0" i="0">
                <a:solidFill>
                  <a:srgbClr val="1A5276"/>
                </a:solidFill>
                <a:latin typeface="Cambria"/>
              </a:rPr>
              <a:t>| = 10</a:t>
            </a:r>
            <a:r>
              <a:rPr sz="1600" b="0" i="0" baseline="30000">
                <a:solidFill>
                  <a:srgbClr val="1A5276"/>
                </a:solidFill>
                <a:latin typeface="Cambria"/>
              </a:rPr>
              <a:t>4</a:t>
            </a:r>
            <a:r>
              <a:rPr sz="2400" b="0" i="0">
                <a:solidFill>
                  <a:srgbClr val="1A5276"/>
                </a:solidFill>
                <a:latin typeface="Segoe UI Semibold"/>
              </a:rPr>
              <a:t> and 1.88 at </a:t>
            </a:r>
            <a:r>
              <a:rPr sz="2400" b="0" i="0">
                <a:solidFill>
                  <a:srgbClr val="1A5276"/>
                </a:solidFill>
                <a:latin typeface="Cambria"/>
              </a:rPr>
              <a:t>|</a:t>
            </a:r>
            <a:r>
              <a:rPr sz="2400" b="0" i="1">
                <a:solidFill>
                  <a:srgbClr val="1A5276"/>
                </a:solidFill>
                <a:latin typeface="Cambria"/>
              </a:rPr>
              <a:t>V</a:t>
            </a:r>
            <a:r>
              <a:rPr sz="2400" b="0" i="0">
                <a:solidFill>
                  <a:srgbClr val="1A5276"/>
                </a:solidFill>
                <a:latin typeface="Cambria"/>
              </a:rPr>
              <a:t>| = 5 × 10</a:t>
            </a:r>
            <a:r>
              <a:rPr sz="1600" b="0" i="0" baseline="30000">
                <a:solidFill>
                  <a:srgbClr val="1A5276"/>
                </a:solidFill>
                <a:latin typeface="Cambria"/>
              </a:rPr>
              <a:t>6</a:t>
            </a:r>
            <a:r>
              <a:rPr sz="2400" b="0" i="0">
                <a:solidFill>
                  <a:srgbClr val="1A5276"/>
                </a:solidFill>
                <a:latin typeface="Segoe UI Semibold"/>
              </a:rPr>
              <a:t>. Why is it wrong to call this </a:t>
            </a:r>
            <a:r>
              <a:rPr sz="2400" b="0" i="0">
                <a:solidFill>
                  <a:srgbClr val="1A5276"/>
                </a:solidFill>
                <a:latin typeface="Cambria"/>
              </a:rPr>
              <a:t>O(1)</a:t>
            </a:r>
            <a:r>
              <a:rPr sz="2400" b="0" i="0">
                <a:solidFill>
                  <a:srgbClr val="1A5276"/>
                </a:solidFill>
                <a:latin typeface="Segoe UI Semibold"/>
              </a:rPr>
              <a:t>, and why does it not matter in practice?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is wrong because </a:t>
            </a:r>
            <a:r>
              <a:rPr sz="2200" b="0" i="0">
                <a:solidFill>
                  <a:srgbClr val="1C252B"/>
                </a:solidFill>
                <a:latin typeface="Cambria"/>
              </a:rPr>
              <a:t>α(</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is not constant — it grows, and the measurement shows it growing, from 1.62 to 1.88. It does not matter because </a:t>
            </a:r>
            <a:r>
              <a:rPr sz="2200" b="0" i="0">
                <a:solidFill>
                  <a:srgbClr val="1C252B"/>
                </a:solidFill>
                <a:latin typeface="Cambria"/>
              </a:rPr>
              <a:t>α</a:t>
            </a:r>
            <a:r>
              <a:rPr sz="2200" b="0" i="0">
                <a:solidFill>
                  <a:srgbClr val="1C252B"/>
                </a:solidFill>
                <a:latin typeface="Segoe UI"/>
              </a:rPr>
              <a:t> grows so slowly that </a:t>
            </a:r>
            <a:r>
              <a:rPr sz="2200" b="0" i="0">
                <a:solidFill>
                  <a:srgbClr val="1C252B"/>
                </a:solidFill>
                <a:latin typeface="Cambria"/>
              </a:rPr>
              <a:t>α(</a:t>
            </a:r>
            <a:r>
              <a:rPr sz="2200" b="0" i="1">
                <a:solidFill>
                  <a:srgbClr val="1C252B"/>
                </a:solidFill>
                <a:latin typeface="Cambria"/>
              </a:rPr>
              <a:t>n</a:t>
            </a:r>
            <a:r>
              <a:rPr sz="2200" b="0" i="0">
                <a:solidFill>
                  <a:srgbClr val="1C252B"/>
                </a:solidFill>
                <a:latin typeface="Cambria"/>
              </a:rPr>
              <a:t>) ≤ 4</a:t>
            </a:r>
            <a:r>
              <a:rPr sz="2200" b="0" i="0">
                <a:solidFill>
                  <a:srgbClr val="1C252B"/>
                </a:solidFill>
                <a:latin typeface="Segoe UI"/>
              </a:rPr>
              <a:t> for every </a:t>
            </a:r>
            <a:r>
              <a:rPr sz="2200" b="0" i="1">
                <a:solidFill>
                  <a:srgbClr val="1C252B"/>
                </a:solidFill>
                <a:latin typeface="Cambria"/>
              </a:rPr>
              <a:t>n</a:t>
            </a:r>
            <a:r>
              <a:rPr sz="2200" b="0" i="0">
                <a:solidFill>
                  <a:srgbClr val="1C252B"/>
                </a:solidFill>
                <a:latin typeface="Segoe UI"/>
              </a:rPr>
              <a:t> that can be written down; reaching 5 needs an </a:t>
            </a:r>
            <a:r>
              <a:rPr sz="2200" b="0" i="1">
                <a:solidFill>
                  <a:srgbClr val="1C252B"/>
                </a:solidFill>
                <a:latin typeface="Cambria"/>
              </a:rPr>
              <a:t>n</a:t>
            </a:r>
            <a:r>
              <a:rPr sz="2200" b="0" i="0">
                <a:solidFill>
                  <a:srgbClr val="1C252B"/>
                </a:solidFill>
                <a:latin typeface="Segoe UI"/>
              </a:rPr>
              <a:t> far larger than the number of atoms in the observable universe. It is also an </a:t>
            </a:r>
            <a:r>
              <a:rPr sz="2200" b="0" i="1">
                <a:solidFill>
                  <a:srgbClr val="1C252B"/>
                </a:solidFill>
                <a:latin typeface="Segoe UI"/>
              </a:rPr>
              <a:t>amortised</a:t>
            </a:r>
            <a:r>
              <a:rPr sz="2200" b="0" i="0">
                <a:solidFill>
                  <a:srgbClr val="1C252B"/>
                </a:solidFill>
                <a:latin typeface="Segoe UI"/>
              </a:rPr>
              <a:t> bound, so a single </a:t>
            </a:r>
            <a:r>
              <a:rPr sz="2050" b="0" i="0">
                <a:solidFill>
                  <a:srgbClr val="1F4E79"/>
                </a:solidFill>
                <a:latin typeface="Consolas"/>
              </a:rPr>
              <a:t>find</a:t>
            </a:r>
            <a:r>
              <a:rPr sz="2200" b="0" i="0">
                <a:solidFill>
                  <a:srgbClr val="1C252B"/>
                </a:solidFill>
                <a:latin typeface="Segoe UI"/>
              </a:rPr>
              <a:t> can still cost </a:t>
            </a:r>
            <a:r>
              <a:rPr sz="2200" b="0" i="0">
                <a:solidFill>
                  <a:srgbClr val="1C252B"/>
                </a:solidFill>
                <a:latin typeface="Cambria"/>
              </a:rPr>
              <a:t>Θ(lg|</a:t>
            </a:r>
            <a:r>
              <a:rPr sz="2200" b="0" i="1">
                <a:solidFill>
                  <a:srgbClr val="1C252B"/>
                </a:solidFill>
                <a:latin typeface="Cambria"/>
              </a:rPr>
              <a:t>V</a:t>
            </a:r>
            <a:r>
              <a:rPr sz="2200" b="0" i="0">
                <a:solidFill>
                  <a:srgbClr val="1C252B"/>
                </a:solidFill>
                <a:latin typeface="Cambria"/>
              </a:rPr>
              <a:t>|)</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  answers in Appendix D     </a:t>
            </a:r>
            <a:fld id="{3FA91F24-1C59-4FE9-A145-41D0D67C7535}" type="slidenum">
              <a:rPr lang="en-GB" sz="1000">
                <a:solidFill>
                  <a:srgbClr val="8795A1"/>
                </a:solidFill>
                <a:latin typeface="Segoe UI"/>
              </a:rPr>
              <a:t>47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115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a:t>
            </a:r>
            <a:fld id="{D27E1225-3339-4002-8342-F606F2151E20}" type="slidenum">
              <a:rPr lang="en-GB" sz="1000">
                <a:solidFill>
                  <a:srgbClr val="8795A1"/>
                </a:solidFill>
                <a:latin typeface="Segoe UI"/>
              </a:rPr>
              <a:t>48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cut property: a light edge crossing any cut uncrossed by the current partial tree is safe. It is proved by an exchange argument, and it is why both MST algorithms are greedy and optimal.</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Kruskal takes the cut between components (needing union–find); Prim takes the cut between the tree and the rest (needing a priority queue). One theorem, two data structures.</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Union by rank gives </a:t>
            </a:r>
            <a:r>
              <a:rPr sz="1700" b="0" i="0">
                <a:solidFill>
                  <a:srgbClr val="1C252B"/>
                </a:solidFill>
                <a:latin typeface="Cambria"/>
              </a:rPr>
              <a:t>O(lg|</a:t>
            </a:r>
            <a:r>
              <a:rPr sz="1700" b="0" i="1">
                <a:solidFill>
                  <a:srgbClr val="1C252B"/>
                </a:solidFill>
                <a:latin typeface="Cambria"/>
              </a:rPr>
              <a:t>V</a:t>
            </a:r>
            <a:r>
              <a:rPr sz="1700" b="0" i="0">
                <a:solidFill>
                  <a:srgbClr val="1C252B"/>
                </a:solidFill>
                <a:latin typeface="Cambria"/>
              </a:rPr>
              <a:t>|)</a:t>
            </a:r>
            <a:r>
              <a:rPr sz="1700" b="0" i="0">
                <a:solidFill>
                  <a:srgbClr val="1C252B"/>
                </a:solidFill>
                <a:latin typeface="Segoe UI"/>
              </a:rPr>
              <a:t> per find; adding path compression gives </a:t>
            </a:r>
            <a:r>
              <a:rPr sz="1700" b="0" i="0">
                <a:solidFill>
                  <a:srgbClr val="1C252B"/>
                </a:solidFill>
                <a:latin typeface="Cambria"/>
              </a:rPr>
              <a:t>O(α(|</a:t>
            </a:r>
            <a:r>
              <a:rPr sz="1700" b="0" i="1">
                <a:solidFill>
                  <a:srgbClr val="1C252B"/>
                </a:solidFill>
                <a:latin typeface="Cambria"/>
              </a:rPr>
              <a:t>V</a:t>
            </a:r>
            <a:r>
              <a:rPr sz="1700" b="0" i="0">
                <a:solidFill>
                  <a:srgbClr val="1C252B"/>
                </a:solidFill>
                <a:latin typeface="Cambria"/>
              </a:rPr>
              <a:t>|))</a:t>
            </a:r>
            <a:r>
              <a:rPr sz="1700" b="0" i="0">
                <a:solidFill>
                  <a:srgbClr val="1C252B"/>
                </a:solidFill>
                <a:latin typeface="Segoe UI"/>
              </a:rPr>
              <a:t> amortised, with </a:t>
            </a:r>
            <a:r>
              <a:rPr sz="1700" b="0" i="0">
                <a:solidFill>
                  <a:srgbClr val="1C252B"/>
                </a:solidFill>
                <a:latin typeface="Cambria"/>
              </a:rPr>
              <a:t>α ≤ 4</a:t>
            </a:r>
            <a:r>
              <a:rPr sz="1700" b="0" i="0">
                <a:solidFill>
                  <a:srgbClr val="1C252B"/>
                </a:solidFill>
                <a:latin typeface="Segoe UI"/>
              </a:rPr>
              <a:t> for any writable </a:t>
            </a:r>
            <a:r>
              <a:rPr sz="1700" b="0" i="1">
                <a:solidFill>
                  <a:srgbClr val="1C252B"/>
                </a:solidFill>
                <a:latin typeface="Cambria"/>
              </a:rPr>
              <a:t>n</a:t>
            </a:r>
            <a:r>
              <a:rPr sz="1700" b="0" i="0">
                <a:solidFill>
                  <a:srgbClr val="1C252B"/>
                </a:solidFill>
                <a:latin typeface="Segoe UI"/>
              </a:rPr>
              <a:t>.</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pointer hops per find were 25,469 (naive), 3.44 (rank) and 1.82 (rank + compression) at </a:t>
            </a:r>
            <a:r>
              <a:rPr sz="1700" b="0" i="0">
                <a:solidFill>
                  <a:srgbClr val="1C252B"/>
                </a:solidFill>
                <a:latin typeface="Cambria"/>
              </a:rPr>
              <a:t>|</a:t>
            </a:r>
            <a:r>
              <a:rPr sz="1700" b="0" i="1">
                <a:solidFill>
                  <a:srgbClr val="1C252B"/>
                </a:solidFill>
                <a:latin typeface="Cambria"/>
              </a:rPr>
              <a:t>V</a:t>
            </a:r>
            <a:r>
              <a:rPr sz="1700" b="0" i="0">
                <a:solidFill>
                  <a:srgbClr val="1C252B"/>
                </a:solidFill>
                <a:latin typeface="Cambria"/>
              </a:rPr>
              <a:t>| = 160,000</a:t>
            </a:r>
            <a:r>
              <a:rPr sz="1700" b="0" i="0">
                <a:solidFill>
                  <a:srgbClr val="1C252B"/>
                </a:solidFill>
                <a:latin typeface="Segoe UI"/>
              </a:rPr>
              <a:t> — a ratio of 14,009.</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from </a:t>
            </a:r>
            <a:r>
              <a:rPr sz="1700" b="0" i="0">
                <a:solidFill>
                  <a:srgbClr val="1C252B"/>
                </a:solidFill>
                <a:latin typeface="Cambria"/>
              </a:rPr>
              <a:t>|</a:t>
            </a:r>
            <a:r>
              <a:rPr sz="1700" b="0" i="1">
                <a:solidFill>
                  <a:srgbClr val="1C252B"/>
                </a:solidFill>
                <a:latin typeface="Cambria"/>
              </a:rPr>
              <a:t>V</a:t>
            </a:r>
            <a:r>
              <a:rPr sz="1700" b="0" i="0">
                <a:solidFill>
                  <a:srgbClr val="1C252B"/>
                </a:solidFill>
                <a:latin typeface="Cambria"/>
              </a:rPr>
              <a:t>| = 10</a:t>
            </a:r>
            <a:r>
              <a:rPr sz="1100" b="0" i="0" baseline="30000">
                <a:solidFill>
                  <a:srgbClr val="1C252B"/>
                </a:solidFill>
                <a:latin typeface="Cambria"/>
              </a:rPr>
              <a:t>4</a:t>
            </a:r>
            <a:r>
              <a:rPr sz="1700" b="0" i="0">
                <a:solidFill>
                  <a:srgbClr val="1C252B"/>
                </a:solidFill>
                <a:latin typeface="Segoe UI"/>
              </a:rPr>
              <a:t> to </a:t>
            </a:r>
            <a:r>
              <a:rPr sz="1700" b="0" i="0">
                <a:solidFill>
                  <a:srgbClr val="1C252B"/>
                </a:solidFill>
                <a:latin typeface="Cambria"/>
              </a:rPr>
              <a:t>5.12×10</a:t>
            </a:r>
            <a:r>
              <a:rPr sz="1100" b="0" i="0" baseline="30000">
                <a:solidFill>
                  <a:srgbClr val="1C252B"/>
                </a:solidFill>
                <a:latin typeface="Cambria"/>
              </a:rPr>
              <a:t>6</a:t>
            </a:r>
            <a:r>
              <a:rPr sz="1700" b="0" i="0">
                <a:solidFill>
                  <a:srgbClr val="1C252B"/>
                </a:solidFill>
                <a:latin typeface="Segoe UI"/>
              </a:rPr>
              <a:t>, the optimised cost per find rose only from 1.62 to 1.88.</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Kruskal took 44.3 seconds with naive union–find and 35 milliseconds with the optimisations, at </a:t>
            </a:r>
            <a:r>
              <a:rPr sz="1700" b="0" i="0">
                <a:solidFill>
                  <a:srgbClr val="1C252B"/>
                </a:solidFill>
                <a:latin typeface="Cambria"/>
              </a:rPr>
              <a:t>|</a:t>
            </a:r>
            <a:r>
              <a:rPr sz="1700" b="0" i="1">
                <a:solidFill>
                  <a:srgbClr val="1C252B"/>
                </a:solidFill>
                <a:latin typeface="Cambria"/>
              </a:rPr>
              <a:t>V</a:t>
            </a:r>
            <a:r>
              <a:rPr sz="1700" b="0" i="0">
                <a:solidFill>
                  <a:srgbClr val="1C252B"/>
                </a:solidFill>
                <a:latin typeface="Cambria"/>
              </a:rPr>
              <a:t>| = 100,000</a:t>
            </a:r>
            <a:r>
              <a:rPr sz="1700" b="0" i="0">
                <a:solidFill>
                  <a:srgbClr val="1C252B"/>
                </a:solidFill>
                <a:latin typeface="Segoe UI"/>
              </a:rPr>
              <a:t>. Rank alone got most of the way; compression added a further 20%.</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415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a:t>
            </a:r>
            <a:fld id="{BFE5B371-075B-4C9A-B36C-8D1BE9004A7E}" type="slidenum">
              <a:rPr lang="en-GB" sz="1000">
                <a:solidFill>
                  <a:srgbClr val="8795A1"/>
                </a:solidFill>
                <a:latin typeface="Segoe UI"/>
              </a:rPr>
              <a:t>49</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Kruskal and Prim never differed by more than about 2</a:t>
            </a:r>
            <a:r>
              <a:rPr sz="1700" b="0" i="0">
                <a:solidFill>
                  <a:srgbClr val="1C252B"/>
                </a:solidFill>
                <a:latin typeface="Cambria"/>
              </a:rPr>
              <a:t>×</a:t>
            </a:r>
            <a:r>
              <a:rPr sz="1700" b="0" i="0">
                <a:solidFill>
                  <a:srgbClr val="1C252B"/>
                </a:solidFill>
                <a:latin typeface="Segoe UI"/>
              </a:rPr>
              <a:t> across densities, and neither won everywhere. Both are </a:t>
            </a:r>
            <a:r>
              <a:rPr sz="1700" b="0" i="0">
                <a:solidFill>
                  <a:srgbClr val="1C252B"/>
                </a:solidFill>
                <a:latin typeface="Cambria"/>
              </a:rPr>
              <a:t>O(|</a:t>
            </a:r>
            <a:r>
              <a:rPr sz="1700" b="0" i="1">
                <a:solidFill>
                  <a:srgbClr val="1C252B"/>
                </a:solidFill>
                <a:latin typeface="Cambria"/>
              </a:rPr>
              <a:t>E</a:t>
            </a:r>
            <a:r>
              <a:rPr sz="1700" b="0" i="0">
                <a:solidFill>
                  <a:srgbClr val="1C252B"/>
                </a:solidFill>
                <a:latin typeface="Cambria"/>
              </a:rPr>
              <a:t>| lg|</a:t>
            </a:r>
            <a:r>
              <a:rPr sz="1700" b="0" i="1">
                <a:solidFill>
                  <a:srgbClr val="1C252B"/>
                </a:solidFill>
                <a:latin typeface="Cambria"/>
              </a:rPr>
              <a:t>V</a:t>
            </a:r>
            <a:r>
              <a:rPr sz="1700" b="0" i="0">
                <a:solidFill>
                  <a:srgbClr val="1C252B"/>
                </a:solidFill>
                <a:latin typeface="Cambria"/>
              </a:rPr>
              <a:t>|)</a:t>
            </a:r>
            <a:r>
              <a:rPr sz="1700" b="0" i="0">
                <a:solidFill>
                  <a:srgbClr val="1C252B"/>
                </a:solidFill>
                <a:latin typeface="Segoe UI"/>
              </a:rPr>
              <a:t>; the table is entirely constants.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2715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a:t>
            </a:r>
            <a:fld id="{9FBA88A6-700B-4909-B5F8-8C66A504A6DF}" type="slidenum">
              <a:rPr lang="en-GB" sz="1000">
                <a:solidFill>
                  <a:srgbClr val="8795A1"/>
                </a:solidFill>
                <a:latin typeface="Segoe UI"/>
              </a:rPr>
              <a:t>50</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With union by rank and path compression, the amortised cost of a disjoint-set operation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O(1)</a:t>
            </a:r>
            <a:r>
              <a:rPr sz="2000" b="0" i="0">
                <a:solidFill>
                  <a:srgbClr val="1C252B"/>
                </a:solidFill>
                <a:latin typeface="Segoe UI"/>
              </a:rPr>
              <a:t> worst case</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O(α(</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O(lg </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O(</a:t>
            </a:r>
            <a:r>
              <a:rPr sz="2000" b="0" i="1">
                <a:solidFill>
                  <a:srgbClr val="1C252B"/>
                </a:solidFill>
                <a:latin typeface="Cambria"/>
              </a:rPr>
              <a:t>n</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0159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a:t>
            </a:r>
            <a:fld id="{3AE56E49-936A-4B57-B341-BBDA43945B4D}" type="slidenum">
              <a:rPr lang="en-GB" sz="1000">
                <a:solidFill>
                  <a:srgbClr val="8795A1"/>
                </a:solidFill>
                <a:latin typeface="Segoe UI"/>
              </a:rPr>
              <a:t>51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Kruskal’s running time is dominated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union–find operations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sorting the edges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priority queue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initialisation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316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19  ·  Minimum Spanning Trees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161     </a:t>
            </a:r>
            <a:fld id="{5E3DCC83-9E42-4A1C-8744-4BAACFFF2E6B}" type="slidenum">
              <a:rPr lang="en-GB" sz="1000">
                <a:solidFill>
                  <a:srgbClr val="8795A1"/>
                </a:solidFill>
                <a:latin typeface="Segoe UI"/>
              </a:rPr>
              <a:t>52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and prove the cut property </a:t>
            </a:r>
            <a:r>
              <a:rPr sz="1900" b="0" i="1">
                <a:solidFill>
                  <a:srgbClr val="1C252B"/>
                </a:solidFill>
                <a:latin typeface="Segoe UI"/>
              </a:rPr>
              <a:t>(CLO-7)</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Kruskal needs union–find and Prim needs a priority queue, in terms of the cut each one uses.</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MST is unique under what condition? Give a graph with two distinct minimum spanning trees.</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Prove that a disjoint-set tree of rank </a:t>
            </a:r>
            <a:r>
              <a:rPr sz="1900" b="0" i="1">
                <a:solidFill>
                  <a:srgbClr val="1C252B"/>
                </a:solidFill>
                <a:latin typeface="Cambria"/>
              </a:rPr>
              <a:t>r</a:t>
            </a:r>
            <a:r>
              <a:rPr sz="1900" b="0" i="0">
                <a:solidFill>
                  <a:srgbClr val="1C252B"/>
                </a:solidFill>
                <a:latin typeface="Segoe UI"/>
              </a:rPr>
              <a:t> built with union by rank contains at least </a:t>
            </a:r>
            <a:r>
              <a:rPr sz="1900" b="0" i="0">
                <a:solidFill>
                  <a:srgbClr val="1C252B"/>
                </a:solidFill>
                <a:latin typeface="Cambria"/>
              </a:rPr>
              <a:t>2</a:t>
            </a:r>
            <a:r>
              <a:rPr sz="1250" b="0" i="1" baseline="30000">
                <a:solidFill>
                  <a:srgbClr val="1C252B"/>
                </a:solidFill>
                <a:latin typeface="Cambria"/>
              </a:rPr>
              <a:t>r</a:t>
            </a:r>
            <a:r>
              <a:rPr sz="1900" b="0" i="0">
                <a:solidFill>
                  <a:srgbClr val="1C252B"/>
                </a:solidFill>
                <a:latin typeface="Segoe UI"/>
              </a:rPr>
              <a:t> nodes, and deduce the </a:t>
            </a:r>
            <a:r>
              <a:rPr sz="1900" b="0" i="0">
                <a:solidFill>
                  <a:srgbClr val="1C252B"/>
                </a:solidFill>
                <a:latin typeface="Cambria"/>
              </a:rPr>
              <a:t>O(lg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depth bound.</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must build an MST on a graph of 10 million vertices and 60 million edges, already sorted by weight. Choose an algorithm, give the arithmetic, and say which measurement in this chapter most supports your choice.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6166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20 — Shortest Paths: Single-Source and All-Pairs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19, pages 154–161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The matrix/list crossover as density falls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set; project proposal</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19  ·  Minimum Spanning Trees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11D40CD8-1012-4583-8F00-9B2263B8BAB2}" type="slidenum">
              <a:rPr lang="en-GB" sz="1000">
                <a:solidFill>
                  <a:srgbClr val="D5DEE5"/>
                </a:solidFill>
                <a:latin typeface="Segoe UI"/>
              </a:rPr>
              <a:t>53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Minimum Spanning Trees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