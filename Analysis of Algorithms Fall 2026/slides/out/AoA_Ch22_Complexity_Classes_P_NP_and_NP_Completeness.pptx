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5.svg" ContentType="image/svg+xml"/>
  <Override PartName="/ppt/media/image17.svg" ContentType="image/svg+xml"/>
  <Override PartName="/ppt/media/image18.svg" ContentType="image/svg+xml"/>
  <Override PartName="/ppt/media/image20.svg" ContentType="image/svg+xml"/>
  <Override PartName="/ppt/media/image21.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6.svg" ContentType="image/svg+xml"/>
  <Override PartName="/ppt/media/image37.svg" ContentType="image/svg+xml"/>
  <Override PartName="/ppt/media/image38.svg" ContentType="image/svg+xml"/>
  <Override PartName="/ppt/media/image4.svg" ContentType="image/svg+xml"/>
  <Override PartName="/ppt/media/image40.svg" ContentType="image/svg+xml"/>
  <Override PartName="/ppt/media/image41.svg" ContentType="image/svg+xml"/>
  <Override PartName="/ppt/media/image43.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55.svg" ContentType="image/svg+xml"/>
  <Override PartName="/ppt/media/image57.svg" ContentType="image/svg+xml"/>
  <Override PartName="/ppt/media/image58.svg" ContentType="image/svg+xml"/>
  <Override PartName="/ppt/media/image59.svg" ContentType="image/svg+xml"/>
  <Override PartName="/ppt/media/image6.svg" ContentType="image/svg+xml"/>
  <Override PartName="/ppt/media/image60.svg" ContentType="image/svg+xml"/>
  <Override PartName="/ppt/media/image61.svg" ContentType="image/svg+xml"/>
  <Override PartName="/ppt/media/image63.svg" ContentType="image/svg+xml"/>
  <Override PartName="/ppt/media/image64.svg" ContentType="image/svg+xml"/>
  <Override PartName="/ppt/media/image66.svg" ContentType="image/svg+xml"/>
  <Override PartName="/ppt/media/image67.svg" ContentType="image/svg+xml"/>
  <Override PartName="/ppt/media/image68.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87D705F-A83A-427E-9C00-7CE3A59E71EB}">
          <p14:sldIdLst>
            <p14:sldId id="256"/>
            <p14:sldId id="257"/>
            <p14:sldId id="258"/>
            <p14:sldId id="259"/>
            <p14:sldId id="260"/>
            <p14:sldId id="261"/>
          </p14:sldIdLst>
        </p14:section>
        <p14:section name="22.1 Decision Problems, and Two Classes" id="{85DFECD6-4916-4640-B885-CE781E645B4A}">
          <p14:sldIdLst>
            <p14:sldId id="262"/>
            <p14:sldId id="263"/>
            <p14:sldId id="264"/>
            <p14:sldId id="265"/>
            <p14:sldId id="266"/>
          </p14:sldIdLst>
        </p14:section>
        <p14:section name="22.2 Measured: the Gap Between Checking and Finding" id="{3F243254-6348-49A2-88C3-7737F6827CAD}">
          <p14:sldIdLst>
            <p14:sldId id="267"/>
            <p14:sldId id="268"/>
            <p14:sldId id="269"/>
            <p14:sldId id="270"/>
            <p14:sldId id="271"/>
            <p14:sldId id="272"/>
            <p14:sldId id="273"/>
            <p14:sldId id="274"/>
          </p14:sldIdLst>
        </p14:section>
        <p14:section name="22.3 Reductions, and NP-Completeness" id="{E70EE9A3-FB01-4345-B85A-0952E76008DC}">
          <p14:sldIdLst>
            <p14:sldId id="275"/>
            <p14:sldId id="276"/>
            <p14:sldId id="277"/>
            <p14:sldId id="278"/>
            <p14:sldId id="279"/>
            <p14:sldId id="280"/>
            <p14:sldId id="281"/>
          </p14:sldIdLst>
        </p14:section>
        <p14:section name="22.4 Why Knapsack Does Not Settle It" id="{792BE56C-5434-4317-B4F1-9F0A69973AEE}">
          <p14:sldIdLst>
            <p14:sldId id="282"/>
            <p14:sldId id="283"/>
            <p14:sldId id="284"/>
          </p14:sldIdLst>
        </p14:section>
        <p14:section name="Pitfalls" id="{06678089-A266-4118-93E3-E65E9B97AE51}">
          <p14:sldIdLst>
            <p14:sldId id="285"/>
          </p14:sldIdLst>
        </p14:section>
        <p14:section name="Lab" id="{8CEB7EDF-F8B2-48E4-863F-527D747945F4}">
          <p14:sldIdLst>
            <p14:sldId id="286"/>
            <p14:sldId id="287"/>
            <p14:sldId id="288"/>
            <p14:sldId id="289"/>
            <p14:sldId id="290"/>
            <p14:sldId id="291"/>
            <p14:sldId id="292"/>
            <p14:sldId id="293"/>
            <p14:sldId id="294"/>
          </p14:sldIdLst>
        </p14:section>
        <p14:section name="Checkpoint" id="{B47FE508-FE9B-4C0F-8C56-42BA5957E794}">
          <p14:sldIdLst>
            <p14:sldId id="295"/>
            <p14:sldId id="296"/>
            <p14:sldId id="297"/>
            <p14:sldId id="298"/>
            <p14:sldId id="299"/>
            <p14:sldId id="300"/>
          </p14:sldIdLst>
        </p14:section>
        <p14:section name="Wrap-up" id="{3538E08F-FF56-4573-8F24-5DED96667BE1}">
          <p14:sldIdLst>
            <p14:sldId id="301"/>
            <p14:sldId id="302"/>
            <p14:sldId id="303"/>
            <p14:sldId id="304"/>
            <p14:sldId id="305"/>
            <p14:sldId id="30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22: Complexity Classes: P, NP and NP-Completeness. Part 6 — Strings, Limits and Practice. Week 15: String matching; P, NP and NP-completeness. Handout pages 181–188.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2 for input size as bit length, and Chapter 16 for the pseudo-polynomial knapsack — Section 22.5 depends on both. Chapter 10 for what a statement about a problem looks like.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decision problem; P; NP; certificate; verifier; polynomial-time reduction; NP-hard; NP-complete; SAT; Cook–Levin; pseudo-polynomial; approximation.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Proof. Let B be NP-complete and suppose B ∈ P, solvable in time O(nᵏ). Let A be any problem in NP. Since B is NP-hard there is a polynomial-time reduction f from A to B, computable in O(nʲ) for some j; note |f(x)| = O(nʲ) too, since a machine running for O(nʲ) steps cannot write more than that. To decide x ∈ A: compute f(x), then run B’s algorithm on it. The total is O(nʲ) + O((nʲ)ᵏ) = O(nʲᵏ) — polynomial. So A ∈ P, and since A was arbitrary, NP ⊆ P. With P ⊆ NP always, they are equal.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Reproduces all four tables. Expect thirty minutes; the brute-force column at n = 28 takes about five seconds per run.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Verifying a certificate: linear, and that is the point.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Finding a certificate by exhaustive search: 2^n.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Meet in the middle: 2^(n/2).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Checking against finding.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Where the wall is.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Exponential is not one speed.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A reduction, actually run.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P is the class of decision problems solvable in polynomial time. NP is the class whose yes-instances have a certificate verifiable in polynomial time. P ⊆ NP because if you can solve a problem in polynomial time you can verify any proposed certificate in polynomial time by ignoring it and solving the instance yourself.</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From a known hard problem to X: SAT ≤P X. That shows X is at least as hard as SAT, since a fast algorithm for X would give one for SAT. The other direction, X ≤P SAT, proves only that X is no harder than SAT — which is true of every problem in NP and says nothing about X’s difficulty.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Θ(nW) is polynomial in the value W and exponential in its length lg W, so it is pseudo-polynomial, not polynomial, and does not place knapsack in P. Chapter 16 measured this: with n fixed at 200, eight doublings of W — each adding exactly one bit of input — multiplied the running time by a mean factor of 2.02. An algorithm whose time doubles when the input grows by one bit is exponential in the input size.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23 — The Semester Project. READ: Handout Chapter 22, pages 181–188. THIS WEEK'S LAB: Naive, Rabin–Karp and KMP on the same corpus. ASSESSMENT: Assignment 2 due.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7.xml"/><Relationship Id="rId6" Type="http://schemas.openxmlformats.org/officeDocument/2006/relationships/slide" Target="slide12.xml"/><Relationship Id="rId7" Type="http://schemas.openxmlformats.org/officeDocument/2006/relationships/slide" Target="slide20.xml"/><Relationship Id="rId8" Type="http://schemas.openxmlformats.org/officeDocument/2006/relationships/slide" Target="slide2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5.svg"/><Relationship Id="rId4" Type="http://schemas.openxmlformats.org/officeDocument/2006/relationships/image" Target="../media/image16.png"/><Relationship Id="rId5" Type="http://schemas.openxmlformats.org/officeDocument/2006/relationships/image" Target="../media/image17.sv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8.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1.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4.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5.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6.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7.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8.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9.svg"/><Relationship Id="rId4" Type="http://schemas.openxmlformats.org/officeDocument/2006/relationships/image" Target="../media/image30.png"/><Relationship Id="rId5" Type="http://schemas.openxmlformats.org/officeDocument/2006/relationships/image" Target="../media/image31.svg"/><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32.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33.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34.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6.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37.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38.svg"/><Relationship Id="rId4" Type="http://schemas.openxmlformats.org/officeDocument/2006/relationships/image" Target="../media/image39.png"/><Relationship Id="rId5" Type="http://schemas.openxmlformats.org/officeDocument/2006/relationships/image" Target="../media/image40.svg"/><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41.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45.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46.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47.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48.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49.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50.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51.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52.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53.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55.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image" Target="../media/image57.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58.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image" Target="../media/image59.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60.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image" Target="../media/image61.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2.png"/><Relationship Id="rId3" Type="http://schemas.openxmlformats.org/officeDocument/2006/relationships/image" Target="../media/image64.sv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66.sv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67.sv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68.sv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05B0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7E6B1F"/>
                </a:solidFill>
                <a:latin typeface="Segoe UI Black"/>
              </a:rPr>
              <a:t>22</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Complexity Classes: P, NP and NP-Completeness</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7D1B9"/>
                </a:solidFill>
                <a:latin typeface="Segoe UI"/>
              </a:rPr>
              <a:t>PART VI  ·  STRINGS, LIMITS AND PRACTICE</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7D1B9"/>
                </a:solidFill>
                <a:latin typeface="Segoe UI"/>
              </a:rPr>
              <a:t>CHAPTER 22  ·  WEEK 15</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E2DECD"/>
                </a:solidFill>
                <a:latin typeface="Segoe UI"/>
              </a:rPr>
              <a:t>Design, Proof and Measurement</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5142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BDB7A0"/>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CECAB9"/>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BDB7A0"/>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  ·  Complexity Classes: P, NP and NP-Completeness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181     </a:t>
            </a:r>
            <a:fld id="{58282B2B-0135-4DCD-864C-B7ACF293609D}" type="slidenum">
              <a:rPr lang="en-GB" sz="1000">
                <a:solidFill>
                  <a:srgbClr val="8795A1"/>
                </a:solidFill>
                <a:latin typeface="Segoe UI"/>
              </a:rPr>
              <a:t>2</a:t>
            </a:fld>
          </a:p>
        </p:txBody>
      </p:sp>
      <p:sp>
        <p:nvSpPr>
          <p:cNvPr id="7" name="!!rp1"/>
          <p:cNvSpPr txBox="1"/>
          <p:nvPr/>
        </p:nvSpPr>
        <p:spPr>
          <a:xfrm>
            <a:off x="777240"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618444" y="1755648"/>
            <a:ext cx="1903741"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618444" y="2029967"/>
            <a:ext cx="1903741"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851369"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851369"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692573"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692573"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533777" y="1755648"/>
            <a:ext cx="112029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533777" y="2029967"/>
            <a:ext cx="112029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9983260" y="1755648"/>
            <a:ext cx="143119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705B06"/>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9983260" y="2029967"/>
            <a:ext cx="1431195" cy="4572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08508"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170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00229"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0878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59195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0051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198367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89223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649712"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5582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04143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9499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433154"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3417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3824875"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373343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216596"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12515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4882637"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47911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274358"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1829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5666079"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557463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057800"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596636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6723841"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6324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11556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0241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7507283"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741584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7899004"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780756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8565045"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847360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8956766"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88653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9348487"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25704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014528" y="2258568"/>
            <a:ext cx="274320" cy="274320"/>
          </a:xfrm>
          <a:prstGeom prst="ellipse">
            <a:avLst/>
          </a:prstGeom>
          <a:solidFill>
            <a:srgbClr val="C2A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992308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0415393" y="2112264"/>
            <a:ext cx="566928" cy="566928"/>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0415393"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22</a:t>
            </a:r>
          </a:p>
        </p:txBody>
      </p:sp>
      <p:sp>
        <p:nvSpPr>
          <p:cNvPr id="63" name="!!dot23">
            <a:extLst>
              <a:ext uri="{C183D7F6-B498-43B3-948B-1728B52AA6E4}">
                <adec:decorative xmlns:adec="http://schemas.microsoft.com/office/drawing/2017/decorative" val="1"/>
              </a:ext>
            </a:extLst>
          </p:cNvPr>
          <p:cNvSpPr/>
          <p:nvPr/>
        </p:nvSpPr>
        <p:spPr>
          <a:xfrm>
            <a:off x="11108866"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110174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23</a:t>
            </a:r>
          </a:p>
        </p:txBody>
      </p:sp>
      <p:sp>
        <p:nvSpPr>
          <p:cNvPr id="65" name="!!dotlabel"/>
          <p:cNvSpPr txBox="1"/>
          <p:nvPr/>
        </p:nvSpPr>
        <p:spPr>
          <a:xfrm>
            <a:off x="5681167"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705B06"/>
                </a:solidFill>
                <a:latin typeface="Segoe UI"/>
              </a:rPr>
              <a:t>Complexity Classes: P, NP and NP-Completeness</a:t>
            </a:r>
          </a:p>
        </p:txBody>
      </p:sp>
      <p:sp>
        <p:nvSpPr>
          <p:cNvPr id="66"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7" name="!!chipBU2">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chipbBU2">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tBU2"/>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2  </a:t>
            </a:r>
            <a:r>
              <a:rPr sz="1400" b="0" i="0">
                <a:solidFill>
                  <a:srgbClr val="1C252B"/>
                </a:solidFill>
                <a:latin typeface="Segoe UI"/>
              </a:rPr>
              <a:t>Input Size, Input Nature, and the Three Cases</a:t>
            </a:r>
          </a:p>
        </p:txBody>
      </p:sp>
      <p:sp>
        <p:nvSpPr>
          <p:cNvPr id="70" name="!!chipBU10">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chipbBU10">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tBU10"/>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10  </a:t>
            </a:r>
            <a:r>
              <a:rPr sz="1400" b="0" i="0">
                <a:solidFill>
                  <a:srgbClr val="1C252B"/>
                </a:solidFill>
                <a:latin typeface="Segoe UI"/>
              </a:rPr>
              <a:t>Lower Bounds and Sorting in Linear Time</a:t>
            </a:r>
          </a:p>
        </p:txBody>
      </p:sp>
      <p:sp>
        <p:nvSpPr>
          <p:cNvPr id="73" name="!!chipBU16">
            <a:extLst>
              <a:ext uri="{C183D7F6-B498-43B3-948B-1728B52AA6E4}">
                <adec:decorative xmlns:adec="http://schemas.microsoft.com/office/drawing/2017/decorative" val="1"/>
              </a:ext>
            </a:extLst>
          </p:cNvPr>
          <p:cNvSpPr/>
          <p:nvPr/>
        </p:nvSpPr>
        <p:spPr>
          <a:xfrm>
            <a:off x="658368" y="4809744"/>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chipbBU16">
            <a:extLst>
              <a:ext uri="{C183D7F6-B498-43B3-948B-1728B52AA6E4}">
                <adec:decorative xmlns:adec="http://schemas.microsoft.com/office/drawing/2017/decorative" val="1"/>
              </a:ext>
            </a:extLst>
          </p:cNvPr>
          <p:cNvSpPr/>
          <p:nvPr/>
        </p:nvSpPr>
        <p:spPr>
          <a:xfrm>
            <a:off x="658368" y="4809744"/>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chiptBU16"/>
          <p:cNvSpPr txBox="1"/>
          <p:nvPr/>
        </p:nvSpPr>
        <p:spPr>
          <a:xfrm>
            <a:off x="859536"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16  </a:t>
            </a:r>
            <a:r>
              <a:rPr sz="1400" b="0" i="0">
                <a:solidFill>
                  <a:srgbClr val="1C252B"/>
                </a:solidFill>
                <a:latin typeface="Segoe UI"/>
              </a:rPr>
              <a:t>Dynamic Programming II: Classic Problems</a:t>
            </a:r>
          </a:p>
        </p:txBody>
      </p:sp>
      <p:sp>
        <p:nvSpPr>
          <p:cNvPr id="76"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7" name="!!chipUS23">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chipbUS23">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tUS23"/>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23  </a:t>
            </a:r>
            <a:r>
              <a:rPr sz="1400" b="0" i="0">
                <a:solidFill>
                  <a:srgbClr val="1C252B"/>
                </a:solidFill>
                <a:latin typeface="Segoe UI"/>
              </a:rPr>
              <a:t>The Semester Project</a:t>
            </a:r>
          </a:p>
        </p:txBody>
      </p:sp>
      <p:sp>
        <p:nvSpPr>
          <p:cNvPr id="8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1" name="!!pfill">
            <a:extLst>
              <a:ext uri="{C183D7F6-B498-43B3-948B-1728B52AA6E4}">
                <adec:decorative xmlns:adec="http://schemas.microsoft.com/office/drawing/2017/decorative" val="1"/>
              </a:ext>
            </a:extLst>
          </p:cNvPr>
          <p:cNvSpPr/>
          <p:nvPr/>
        </p:nvSpPr>
        <p:spPr>
          <a:xfrm>
            <a:off x="0" y="0"/>
            <a:ext cx="47810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  ·  Complexity Classes: P, NP and NP-Completeness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181     </a:t>
            </a:r>
            <a:fld id="{5F96AEC5-F78A-4F87-BBC5-06B0243D7452}"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6314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Define</a:t>
            </a:r>
            <a:r>
              <a:rPr sz="2100" b="0" i="0">
                <a:solidFill>
                  <a:srgbClr val="1C252B"/>
                </a:solidFill>
                <a:latin typeface="Segoe UI"/>
              </a:rPr>
              <a:t> P, NP, NP-hard and NP-complete, and </a:t>
            </a:r>
            <a:r>
              <a:rPr sz="2100" b="1" i="0">
                <a:solidFill>
                  <a:srgbClr val="1C252B"/>
                </a:solidFill>
                <a:latin typeface="Segoe UI"/>
              </a:rPr>
              <a:t>contrast</a:t>
            </a:r>
            <a:r>
              <a:rPr sz="2100" b="0" i="0">
                <a:solidFill>
                  <a:srgbClr val="1C252B"/>
                </a:solidFill>
                <a:latin typeface="Segoe UI"/>
              </a:rPr>
              <a:t> them </a:t>
            </a:r>
            <a:r>
              <a:rPr sz="2100" b="0" i="1">
                <a:solidFill>
                  <a:srgbClr val="1C252B"/>
                </a:solidFill>
                <a:latin typeface="Segoe UI"/>
              </a:rPr>
              <a:t>(CLO-4)</a:t>
            </a:r>
            <a:r>
              <a:rPr sz="2100" b="0" i="0">
                <a:solidFill>
                  <a:srgbClr val="1C252B"/>
                </a:solidFill>
                <a:latin typeface="Segoe UI"/>
              </a:rPr>
              <a:t>.</a:t>
            </a:r>
          </a:p>
        </p:txBody>
      </p:sp>
      <p:sp>
        <p:nvSpPr>
          <p:cNvPr id="11" name="!!ob1">
            <a:extLst>
              <a:ext uri="{C183D7F6-B498-43B3-948B-1728B52AA6E4}">
                <adec:decorative xmlns:adec="http://schemas.microsoft.com/office/drawing/2017/decorative" val="1"/>
              </a:ext>
            </a:extLst>
          </p:cNvPr>
          <p:cNvSpPr/>
          <p:nvPr/>
        </p:nvSpPr>
        <p:spPr>
          <a:xfrm>
            <a:off x="658368" y="2825496"/>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288493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2816352"/>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Distinguish</a:t>
            </a:r>
            <a:r>
              <a:rPr sz="2100" b="0" i="0">
                <a:solidFill>
                  <a:srgbClr val="1C252B"/>
                </a:solidFill>
                <a:latin typeface="Segoe UI"/>
              </a:rPr>
              <a:t> verifying a solution from finding one, and </a:t>
            </a:r>
            <a:r>
              <a:rPr sz="2100" b="1" i="0">
                <a:solidFill>
                  <a:srgbClr val="1C252B"/>
                </a:solidFill>
                <a:latin typeface="Segoe UI"/>
              </a:rPr>
              <a:t>explain</a:t>
            </a:r>
            <a:r>
              <a:rPr sz="2100" b="0" i="0">
                <a:solidFill>
                  <a:srgbClr val="1C252B"/>
                </a:solidFill>
                <a:latin typeface="Segoe UI"/>
              </a:rPr>
              <a:t> why that distinction defines NP.</a:t>
            </a:r>
          </a:p>
        </p:txBody>
      </p:sp>
      <p:sp>
        <p:nvSpPr>
          <p:cNvPr id="14" name="!!ob2">
            <a:extLst>
              <a:ext uri="{C183D7F6-B498-43B3-948B-1728B52AA6E4}">
                <adec:decorative xmlns:adec="http://schemas.microsoft.com/office/drawing/2017/decorative" val="1"/>
              </a:ext>
            </a:extLst>
          </p:cNvPr>
          <p:cNvSpPr/>
          <p:nvPr/>
        </p:nvSpPr>
        <p:spPr>
          <a:xfrm>
            <a:off x="658368" y="3674059"/>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733495"/>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715207"/>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Explain</a:t>
            </a:r>
            <a:r>
              <a:rPr sz="2100" b="0" i="0">
                <a:solidFill>
                  <a:srgbClr val="1C252B"/>
                </a:solidFill>
                <a:latin typeface="Segoe UI"/>
              </a:rPr>
              <a:t> what a polynomial-time reduction is and what it proves.</a:t>
            </a:r>
          </a:p>
        </p:txBody>
      </p:sp>
      <p:sp>
        <p:nvSpPr>
          <p:cNvPr id="17" name="!!ob3">
            <a:extLst>
              <a:ext uri="{C183D7F6-B498-43B3-948B-1728B52AA6E4}">
                <adec:decorative xmlns:adec="http://schemas.microsoft.com/office/drawing/2017/decorative" val="1"/>
              </a:ext>
            </a:extLst>
          </p:cNvPr>
          <p:cNvSpPr/>
          <p:nvPr/>
        </p:nvSpPr>
        <p:spPr>
          <a:xfrm>
            <a:off x="658368" y="4277563"/>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336999"/>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318711"/>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Recognise</a:t>
            </a:r>
            <a:r>
              <a:rPr sz="2100" b="0" i="0">
                <a:solidFill>
                  <a:srgbClr val="1C252B"/>
                </a:solidFill>
                <a:latin typeface="Segoe UI"/>
              </a:rPr>
              <a:t> when a problem is likely NP-complete, and </a:t>
            </a:r>
            <a:r>
              <a:rPr sz="2100" b="1" i="0">
                <a:solidFill>
                  <a:srgbClr val="1C252B"/>
                </a:solidFill>
                <a:latin typeface="Segoe UI"/>
              </a:rPr>
              <a:t>state</a:t>
            </a:r>
            <a:r>
              <a:rPr sz="2100" b="0" i="0">
                <a:solidFill>
                  <a:srgbClr val="1C252B"/>
                </a:solidFill>
                <a:latin typeface="Segoe UI"/>
              </a:rPr>
              <a:t> what to do about it.</a:t>
            </a:r>
          </a:p>
        </p:txBody>
      </p:sp>
      <p:sp>
        <p:nvSpPr>
          <p:cNvPr id="20" name="!!ob4">
            <a:extLst>
              <a:ext uri="{C183D7F6-B498-43B3-948B-1728B52AA6E4}">
                <adec:decorative xmlns:adec="http://schemas.microsoft.com/office/drawing/2017/decorative" val="1"/>
              </a:ext>
            </a:extLst>
          </p:cNvPr>
          <p:cNvSpPr/>
          <p:nvPr/>
        </p:nvSpPr>
        <p:spPr>
          <a:xfrm>
            <a:off x="658368" y="4881067"/>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4940503"/>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4922215"/>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Explain</a:t>
            </a:r>
            <a:r>
              <a:rPr sz="2100" b="0" i="0">
                <a:solidFill>
                  <a:srgbClr val="1C252B"/>
                </a:solidFill>
                <a:latin typeface="Segoe UI"/>
              </a:rPr>
              <a:t> why a pseudo-polynomial algorithm does not settle P versus NP.</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71715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  ·  Complexity Classes: P, NP and NP-Completeness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181     </a:t>
            </a:r>
            <a:fld id="{0E4291C8-C6E9-4352-83BA-BFAEE5F5F7AE}" type="slidenum">
              <a:rPr lang="en-GB" sz="1000">
                <a:solidFill>
                  <a:srgbClr val="8795A1"/>
                </a:solidFill>
                <a:latin typeface="Segoe UI"/>
              </a:rPr>
              <a:t>4</a:t>
            </a:fld>
          </a:p>
        </p:txBody>
      </p:sp>
      <p:sp>
        <p:nvSpPr>
          <p:cNvPr id="7" name="!!term-decision probl">
            <a:extLst>
              <a:ext uri="{C183D7F6-B498-43B3-948B-1728B52AA6E4}">
                <adec:decorative xmlns:adec="http://schemas.microsoft.com/office/drawing/2017/decorative" val="1"/>
              </a:ext>
            </a:extLst>
          </p:cNvPr>
          <p:cNvSpPr/>
          <p:nvPr/>
        </p:nvSpPr>
        <p:spPr>
          <a:xfrm>
            <a:off x="658368" y="1847088"/>
            <a:ext cx="212221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decision probl">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decision probl"/>
          <p:cNvSpPr txBox="1"/>
          <p:nvPr/>
        </p:nvSpPr>
        <p:spPr>
          <a:xfrm>
            <a:off x="950976" y="1955291"/>
            <a:ext cx="1939333"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decision problem</a:t>
            </a:r>
          </a:p>
        </p:txBody>
      </p:sp>
      <p:sp>
        <p:nvSpPr>
          <p:cNvPr id="10" name="!!term-P">
            <a:extLst>
              <a:ext uri="{C183D7F6-B498-43B3-948B-1728B52AA6E4}">
                <adec:decorative xmlns:adec="http://schemas.microsoft.com/office/drawing/2017/decorative" val="1"/>
              </a:ext>
            </a:extLst>
          </p:cNvPr>
          <p:cNvSpPr/>
          <p:nvPr/>
        </p:nvSpPr>
        <p:spPr>
          <a:xfrm>
            <a:off x="2926885" y="1847088"/>
            <a:ext cx="56223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P">
            <a:extLst>
              <a:ext uri="{C183D7F6-B498-43B3-948B-1728B52AA6E4}">
                <adec:decorative xmlns:adec="http://schemas.microsoft.com/office/drawing/2017/decorative" val="1"/>
              </a:ext>
            </a:extLst>
          </p:cNvPr>
          <p:cNvSpPr/>
          <p:nvPr/>
        </p:nvSpPr>
        <p:spPr>
          <a:xfrm>
            <a:off x="305490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P"/>
          <p:cNvSpPr txBox="1"/>
          <p:nvPr/>
        </p:nvSpPr>
        <p:spPr>
          <a:xfrm>
            <a:off x="3219493" y="1955291"/>
            <a:ext cx="379354"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P</a:t>
            </a:r>
          </a:p>
        </p:txBody>
      </p:sp>
      <p:sp>
        <p:nvSpPr>
          <p:cNvPr id="13" name="!!term-NP">
            <a:extLst>
              <a:ext uri="{C183D7F6-B498-43B3-948B-1728B52AA6E4}">
                <adec:decorative xmlns:adec="http://schemas.microsoft.com/office/drawing/2017/decorative" val="1"/>
              </a:ext>
            </a:extLst>
          </p:cNvPr>
          <p:cNvSpPr/>
          <p:nvPr/>
        </p:nvSpPr>
        <p:spPr>
          <a:xfrm>
            <a:off x="3635423" y="1847088"/>
            <a:ext cx="72695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NP">
            <a:extLst>
              <a:ext uri="{C183D7F6-B498-43B3-948B-1728B52AA6E4}">
                <adec:decorative xmlns:adec="http://schemas.microsoft.com/office/drawing/2017/decorative" val="1"/>
              </a:ext>
            </a:extLst>
          </p:cNvPr>
          <p:cNvSpPr/>
          <p:nvPr/>
        </p:nvSpPr>
        <p:spPr>
          <a:xfrm>
            <a:off x="376343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NP"/>
          <p:cNvSpPr txBox="1"/>
          <p:nvPr/>
        </p:nvSpPr>
        <p:spPr>
          <a:xfrm>
            <a:off x="3928031" y="1955291"/>
            <a:ext cx="544077"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NP</a:t>
            </a:r>
          </a:p>
        </p:txBody>
      </p:sp>
      <p:sp>
        <p:nvSpPr>
          <p:cNvPr id="16" name="!!term-certificate">
            <a:extLst>
              <a:ext uri="{C183D7F6-B498-43B3-948B-1728B52AA6E4}">
                <adec:decorative xmlns:adec="http://schemas.microsoft.com/office/drawing/2017/decorative" val="1"/>
              </a:ext>
            </a:extLst>
          </p:cNvPr>
          <p:cNvSpPr/>
          <p:nvPr/>
        </p:nvSpPr>
        <p:spPr>
          <a:xfrm>
            <a:off x="4508684" y="1847088"/>
            <a:ext cx="138636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certificate">
            <a:extLst>
              <a:ext uri="{C183D7F6-B498-43B3-948B-1728B52AA6E4}">
                <adec:decorative xmlns:adec="http://schemas.microsoft.com/office/drawing/2017/decorative" val="1"/>
              </a:ext>
            </a:extLst>
          </p:cNvPr>
          <p:cNvSpPr/>
          <p:nvPr/>
        </p:nvSpPr>
        <p:spPr>
          <a:xfrm>
            <a:off x="4636700"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certificate"/>
          <p:cNvSpPr txBox="1"/>
          <p:nvPr/>
        </p:nvSpPr>
        <p:spPr>
          <a:xfrm>
            <a:off x="4801292" y="1955291"/>
            <a:ext cx="1203482"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certificate</a:t>
            </a:r>
          </a:p>
        </p:txBody>
      </p:sp>
      <p:sp>
        <p:nvSpPr>
          <p:cNvPr id="19" name="!!term-verifier">
            <a:extLst>
              <a:ext uri="{C183D7F6-B498-43B3-948B-1728B52AA6E4}">
                <adec:decorative xmlns:adec="http://schemas.microsoft.com/office/drawing/2017/decorative" val="1"/>
              </a:ext>
            </a:extLst>
          </p:cNvPr>
          <p:cNvSpPr/>
          <p:nvPr/>
        </p:nvSpPr>
        <p:spPr>
          <a:xfrm>
            <a:off x="6041350" y="1847088"/>
            <a:ext cx="110350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verifier">
            <a:extLst>
              <a:ext uri="{C183D7F6-B498-43B3-948B-1728B52AA6E4}">
                <adec:decorative xmlns:adec="http://schemas.microsoft.com/office/drawing/2017/decorative" val="1"/>
              </a:ext>
            </a:extLst>
          </p:cNvPr>
          <p:cNvSpPr/>
          <p:nvPr/>
        </p:nvSpPr>
        <p:spPr>
          <a:xfrm>
            <a:off x="616936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verifier"/>
          <p:cNvSpPr txBox="1"/>
          <p:nvPr/>
        </p:nvSpPr>
        <p:spPr>
          <a:xfrm>
            <a:off x="6333958" y="1955291"/>
            <a:ext cx="920629"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verifier</a:t>
            </a:r>
          </a:p>
        </p:txBody>
      </p:sp>
      <p:sp>
        <p:nvSpPr>
          <p:cNvPr id="22" name="!!term-polynomial-tim">
            <a:extLst>
              <a:ext uri="{C183D7F6-B498-43B3-948B-1728B52AA6E4}">
                <adec:decorative xmlns:adec="http://schemas.microsoft.com/office/drawing/2017/decorative" val="1"/>
              </a:ext>
            </a:extLst>
          </p:cNvPr>
          <p:cNvSpPr/>
          <p:nvPr/>
        </p:nvSpPr>
        <p:spPr>
          <a:xfrm>
            <a:off x="7291164" y="1847088"/>
            <a:ext cx="302995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polynomial-tim">
            <a:extLst>
              <a:ext uri="{C183D7F6-B498-43B3-948B-1728B52AA6E4}">
                <adec:decorative xmlns:adec="http://schemas.microsoft.com/office/drawing/2017/decorative" val="1"/>
              </a:ext>
            </a:extLst>
          </p:cNvPr>
          <p:cNvSpPr/>
          <p:nvPr/>
        </p:nvSpPr>
        <p:spPr>
          <a:xfrm>
            <a:off x="7419180"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polynomial-tim"/>
          <p:cNvSpPr txBox="1"/>
          <p:nvPr/>
        </p:nvSpPr>
        <p:spPr>
          <a:xfrm>
            <a:off x="7583772" y="1955291"/>
            <a:ext cx="2847072"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polynomial-time reduction</a:t>
            </a:r>
          </a:p>
        </p:txBody>
      </p:sp>
      <p:sp>
        <p:nvSpPr>
          <p:cNvPr id="25" name="!!term-NP-hard">
            <a:extLst>
              <a:ext uri="{C183D7F6-B498-43B3-948B-1728B52AA6E4}">
                <adec:decorative xmlns:adec="http://schemas.microsoft.com/office/drawing/2017/decorative" val="1"/>
              </a:ext>
            </a:extLst>
          </p:cNvPr>
          <p:cNvSpPr/>
          <p:nvPr/>
        </p:nvSpPr>
        <p:spPr>
          <a:xfrm>
            <a:off x="658368" y="2468880"/>
            <a:ext cx="125807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NP-hard">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NP-hard"/>
          <p:cNvSpPr txBox="1"/>
          <p:nvPr/>
        </p:nvSpPr>
        <p:spPr>
          <a:xfrm>
            <a:off x="950976" y="2577084"/>
            <a:ext cx="1075198"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NP-hard</a:t>
            </a:r>
          </a:p>
        </p:txBody>
      </p:sp>
      <p:sp>
        <p:nvSpPr>
          <p:cNvPr id="28" name="!!term-NP-complete">
            <a:extLst>
              <a:ext uri="{C183D7F6-B498-43B3-948B-1728B52AA6E4}">
                <adec:decorative xmlns:adec="http://schemas.microsoft.com/office/drawing/2017/decorative" val="1"/>
              </a:ext>
            </a:extLst>
          </p:cNvPr>
          <p:cNvSpPr/>
          <p:nvPr/>
        </p:nvSpPr>
        <p:spPr>
          <a:xfrm>
            <a:off x="2062750" y="2468880"/>
            <a:ext cx="172319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NP-complete">
            <a:extLst>
              <a:ext uri="{C183D7F6-B498-43B3-948B-1728B52AA6E4}">
                <adec:decorative xmlns:adec="http://schemas.microsoft.com/office/drawing/2017/decorative" val="1"/>
              </a:ext>
            </a:extLst>
          </p:cNvPr>
          <p:cNvSpPr/>
          <p:nvPr/>
        </p:nvSpPr>
        <p:spPr>
          <a:xfrm>
            <a:off x="2190766"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NP-complete"/>
          <p:cNvSpPr txBox="1"/>
          <p:nvPr/>
        </p:nvSpPr>
        <p:spPr>
          <a:xfrm>
            <a:off x="2355358" y="2577084"/>
            <a:ext cx="1540315"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NP-complete</a:t>
            </a:r>
          </a:p>
        </p:txBody>
      </p:sp>
      <p:sp>
        <p:nvSpPr>
          <p:cNvPr id="31" name="!!term-SAT">
            <a:extLst>
              <a:ext uri="{C183D7F6-B498-43B3-948B-1728B52AA6E4}">
                <adec:decorative xmlns:adec="http://schemas.microsoft.com/office/drawing/2017/decorative" val="1"/>
              </a:ext>
            </a:extLst>
          </p:cNvPr>
          <p:cNvSpPr/>
          <p:nvPr/>
        </p:nvSpPr>
        <p:spPr>
          <a:xfrm>
            <a:off x="3932250" y="2468880"/>
            <a:ext cx="81303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SAT">
            <a:extLst>
              <a:ext uri="{C183D7F6-B498-43B3-948B-1728B52AA6E4}">
                <adec:decorative xmlns:adec="http://schemas.microsoft.com/office/drawing/2017/decorative" val="1"/>
              </a:ext>
            </a:extLst>
          </p:cNvPr>
          <p:cNvSpPr/>
          <p:nvPr/>
        </p:nvSpPr>
        <p:spPr>
          <a:xfrm>
            <a:off x="4060266"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SAT"/>
          <p:cNvSpPr txBox="1"/>
          <p:nvPr/>
        </p:nvSpPr>
        <p:spPr>
          <a:xfrm>
            <a:off x="4224858" y="2577084"/>
            <a:ext cx="630154"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SAT</a:t>
            </a:r>
          </a:p>
        </p:txBody>
      </p:sp>
      <p:sp>
        <p:nvSpPr>
          <p:cNvPr id="34" name="!!term-Cook–Levin">
            <a:extLst>
              <a:ext uri="{C183D7F6-B498-43B3-948B-1728B52AA6E4}">
                <adec:decorative xmlns:adec="http://schemas.microsoft.com/office/drawing/2017/decorative" val="1"/>
              </a:ext>
            </a:extLst>
          </p:cNvPr>
          <p:cNvSpPr/>
          <p:nvPr/>
        </p:nvSpPr>
        <p:spPr>
          <a:xfrm>
            <a:off x="4891588" y="2468880"/>
            <a:ext cx="155519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Cook–Levin">
            <a:extLst>
              <a:ext uri="{C183D7F6-B498-43B3-948B-1728B52AA6E4}">
                <adec:decorative xmlns:adec="http://schemas.microsoft.com/office/drawing/2017/decorative" val="1"/>
              </a:ext>
            </a:extLst>
          </p:cNvPr>
          <p:cNvSpPr/>
          <p:nvPr/>
        </p:nvSpPr>
        <p:spPr>
          <a:xfrm>
            <a:off x="501960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Cook–Levin"/>
          <p:cNvSpPr txBox="1"/>
          <p:nvPr/>
        </p:nvSpPr>
        <p:spPr>
          <a:xfrm>
            <a:off x="5184196" y="2577084"/>
            <a:ext cx="1372317"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Cook–Levin</a:t>
            </a:r>
          </a:p>
        </p:txBody>
      </p:sp>
      <p:sp>
        <p:nvSpPr>
          <p:cNvPr id="37" name="!!term-pseudo-polynom">
            <a:extLst>
              <a:ext uri="{C183D7F6-B498-43B3-948B-1728B52AA6E4}">
                <adec:decorative xmlns:adec="http://schemas.microsoft.com/office/drawing/2017/decorative" val="1"/>
              </a:ext>
            </a:extLst>
          </p:cNvPr>
          <p:cNvSpPr/>
          <p:nvPr/>
        </p:nvSpPr>
        <p:spPr>
          <a:xfrm>
            <a:off x="6593089" y="2468880"/>
            <a:ext cx="232882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pseudo-polynom">
            <a:extLst>
              <a:ext uri="{C183D7F6-B498-43B3-948B-1728B52AA6E4}">
                <adec:decorative xmlns:adec="http://schemas.microsoft.com/office/drawing/2017/decorative" val="1"/>
              </a:ext>
            </a:extLst>
          </p:cNvPr>
          <p:cNvSpPr/>
          <p:nvPr/>
        </p:nvSpPr>
        <p:spPr>
          <a:xfrm>
            <a:off x="672110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pseudo-polynom"/>
          <p:cNvSpPr txBox="1"/>
          <p:nvPr/>
        </p:nvSpPr>
        <p:spPr>
          <a:xfrm>
            <a:off x="6885697" y="2577084"/>
            <a:ext cx="2145942"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pseudo-polynomial</a:t>
            </a:r>
          </a:p>
        </p:txBody>
      </p:sp>
      <p:sp>
        <p:nvSpPr>
          <p:cNvPr id="40" name="!!term-approximation">
            <a:extLst>
              <a:ext uri="{C183D7F6-B498-43B3-948B-1728B52AA6E4}">
                <adec:decorative xmlns:adec="http://schemas.microsoft.com/office/drawing/2017/decorative" val="1"/>
              </a:ext>
            </a:extLst>
          </p:cNvPr>
          <p:cNvSpPr/>
          <p:nvPr/>
        </p:nvSpPr>
        <p:spPr>
          <a:xfrm>
            <a:off x="9068216" y="2468880"/>
            <a:ext cx="185328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approximation">
            <a:extLst>
              <a:ext uri="{C183D7F6-B498-43B3-948B-1728B52AA6E4}">
                <adec:decorative xmlns:adec="http://schemas.microsoft.com/office/drawing/2017/decorative" val="1"/>
              </a:ext>
            </a:extLst>
          </p:cNvPr>
          <p:cNvSpPr/>
          <p:nvPr/>
        </p:nvSpPr>
        <p:spPr>
          <a:xfrm>
            <a:off x="9196232"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approximation"/>
          <p:cNvSpPr txBox="1"/>
          <p:nvPr/>
        </p:nvSpPr>
        <p:spPr>
          <a:xfrm>
            <a:off x="9360824" y="2577084"/>
            <a:ext cx="1670406"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approximation</a:t>
            </a:r>
          </a:p>
        </p:txBody>
      </p:sp>
      <p:sp>
        <p:nvSpPr>
          <p:cNvPr id="43" name="!!termnote"/>
          <p:cNvSpPr txBox="1"/>
          <p:nvPr/>
        </p:nvSpPr>
        <p:spPr>
          <a:xfrm>
            <a:off x="658368" y="32918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4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pfill">
            <a:extLst>
              <a:ext uri="{C183D7F6-B498-43B3-948B-1728B52AA6E4}">
                <adec:decorative xmlns:adec="http://schemas.microsoft.com/office/drawing/2017/decorative" val="1"/>
              </a:ext>
            </a:extLst>
          </p:cNvPr>
          <p:cNvSpPr/>
          <p:nvPr/>
        </p:nvSpPr>
        <p:spPr>
          <a:xfrm>
            <a:off x="0" y="0"/>
            <a:ext cx="95621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  ·  Complexity Classes: P, NP and NP-Completeness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181–188     </a:t>
            </a:r>
            <a:fld id="{03573D20-4727-47DD-992C-12AC546EFBE8}" type="slidenum">
              <a:rPr lang="en-GB" sz="1000">
                <a:solidFill>
                  <a:srgbClr val="8795A1"/>
                </a:solidFill>
                <a:latin typeface="Segoe UI"/>
              </a:rPr>
              <a:t>5</a:t>
            </a:fld>
          </a:p>
        </p:txBody>
      </p:sp>
      <p:sp>
        <p:nvSpPr>
          <p:cNvPr id="7" name="!!ag0" descr="Go to section 22.1 Decision Problems, and Two Classes">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22.1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Decision Problems, and Two Classes</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181  ›</a:t>
            </a:r>
          </a:p>
        </p:txBody>
      </p:sp>
      <p:sp>
        <p:nvSpPr>
          <p:cNvPr id="12" name="!!ag1" descr="Go to section 22.2 Measured: the Gap Between Checking and Finding">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22.2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Measured: the Gap Between Checking and Finding</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182  ›</a:t>
            </a:r>
          </a:p>
        </p:txBody>
      </p:sp>
      <p:sp>
        <p:nvSpPr>
          <p:cNvPr id="17" name="!!ag2" descr="Go to section 22.3 Reductions, and NP-Completeness">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22.3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Reductions, and NP-Completeness</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184  ›</a:t>
            </a:r>
          </a:p>
        </p:txBody>
      </p:sp>
      <p:sp>
        <p:nvSpPr>
          <p:cNvPr id="22" name="!!ag3" descr="Go to section 22.4 Why Knapsack Does Not Settle It">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22.4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Why Knapsack Does Not Settle It</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185  ›</a:t>
            </a:r>
          </a:p>
        </p:txBody>
      </p:sp>
      <p:sp>
        <p:nvSpPr>
          <p:cNvPr id="2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fill">
            <a:extLst>
              <a:ext uri="{C183D7F6-B498-43B3-948B-1728B52AA6E4}">
                <adec:decorative xmlns:adec="http://schemas.microsoft.com/office/drawing/2017/decorative" val="1"/>
              </a:ext>
            </a:extLst>
          </p:cNvPr>
          <p:cNvSpPr/>
          <p:nvPr/>
        </p:nvSpPr>
        <p:spPr>
          <a:xfrm>
            <a:off x="0" y="0"/>
            <a:ext cx="119526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stops, and why</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  ·  Complexity Classes: P, NP and NP-Completeness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181     </a:t>
            </a:r>
            <a:fld id="{D831AE9A-D498-4DB6-A565-713260B4C184}" type="slidenum">
              <a:rPr lang="en-GB" sz="1000">
                <a:solidFill>
                  <a:srgbClr val="8795A1"/>
                </a:solidFill>
                <a:latin typeface="Segoe UI"/>
              </a:rPr>
              <a:t>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334232"/>
          </a:xfrm>
          <a:prstGeom prst="roundRect">
            <a:avLst>
              <a:gd name="adj" fmla="val 2742"/>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334232"/>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Appendix F records the boundary. </a:t>
            </a:r>
            <a:r>
              <a:rPr sz="2300" b="1" i="0">
                <a:solidFill>
                  <a:srgbClr val="1C252B"/>
                </a:solidFill>
                <a:latin typeface="Segoe UI"/>
              </a:rPr>
              <a:t>Theory of Automata</a:t>
            </a:r>
            <a:r>
              <a:rPr sz="2300" b="0" i="0">
                <a:solidFill>
                  <a:srgbClr val="1C252B"/>
                </a:solidFill>
                <a:latin typeface="Segoe UI"/>
              </a:rPr>
              <a:t> owns computability — Turing machines, decidability, the halting problem. This course owns </a:t>
            </a:r>
            <a:r>
              <a:rPr sz="2300" b="0" i="1">
                <a:solidFill>
                  <a:srgbClr val="1C252B"/>
                </a:solidFill>
                <a:latin typeface="Segoe UI"/>
              </a:rPr>
              <a:t>complexity</a:t>
            </a:r>
            <a:r>
              <a:rPr sz="2300" b="0" i="0">
                <a:solidFill>
                  <a:srgbClr val="1C252B"/>
                </a:solidFill>
                <a:latin typeface="Segoe UI"/>
              </a:rPr>
              <a:t>: among the problems that </a:t>
            </a:r>
            <a:r>
              <a:rPr sz="2300" b="0" i="1">
                <a:solidFill>
                  <a:srgbClr val="1C252B"/>
                </a:solidFill>
                <a:latin typeface="Segoe UI"/>
              </a:rPr>
              <a:t>can</a:t>
            </a:r>
            <a:r>
              <a:rPr sz="2300" b="0" i="0">
                <a:solidFill>
                  <a:srgbClr val="1C252B"/>
                </a:solidFill>
                <a:latin typeface="Segoe UI"/>
              </a:rPr>
              <a:t> be solved, which can be solved </a:t>
            </a:r>
            <a:r>
              <a:rPr sz="2300" b="0" i="1">
                <a:solidFill>
                  <a:srgbClr val="1C252B"/>
                </a:solidFill>
                <a:latin typeface="Segoe UI"/>
              </a:rPr>
              <a:t>efficiently</a:t>
            </a:r>
            <a:r>
              <a:rPr sz="2300" b="0" i="0">
                <a:solidFill>
                  <a:srgbClr val="1C252B"/>
                </a:solidFill>
                <a:latin typeface="Segoe UI"/>
              </a:rPr>
              <a:t>.</a:t>
            </a:r>
          </a:p>
        </p:txBody>
      </p:sp>
      <p:sp>
        <p:nvSpPr>
          <p:cNvPr id="10" name="body-1"/>
          <p:cNvSpPr txBox="1"/>
          <p:nvPr/>
        </p:nvSpPr>
        <p:spPr>
          <a:xfrm>
            <a:off x="1060704" y="3667074"/>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distinction matters. The halting problem has no algorithm at all. NP-complete problems all have algorithms; the algorithms are just too slow, and nobody knows whether that is necessary.</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143431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Decision Problems, and Two Classes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1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22.1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22.1   Decision Problems, and Two Classes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22.2   Measured: the Gap Between Checking and Finding</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22.3   Reductions, and NP-Completeness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22.4   Why Knapsack Does Not Settle It</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§22.1     </a:t>
            </a:r>
            <a:fld id="{68F08756-92FB-484C-BB1D-E1DD09B0066F}" type="slidenum">
              <a:rPr lang="en-GB" sz="1000">
                <a:solidFill>
                  <a:srgbClr val="8795A1"/>
                </a:solidFill>
                <a:latin typeface="Segoe UI"/>
              </a:rPr>
              <a:t>7</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167336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Decision Problem</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  ·  Complexity Classes: P, NP and NP-Completeness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§22.1  ·  Handout p. 181     </a:t>
            </a:r>
            <a:fld id="{DD1AD616-2365-43BF-841F-9F1A092F81E9}"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969691"/>
          </a:xfrm>
          <a:prstGeom prst="roundRect">
            <a:avLst>
              <a:gd name="adj" fmla="val 3079"/>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969691"/>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a:t>
            </a:r>
            <a:r>
              <a:rPr sz="2300" b="1" i="0">
                <a:solidFill>
                  <a:srgbClr val="1A5276"/>
                </a:solidFill>
                <a:latin typeface="Segoe UI"/>
              </a:rPr>
              <a:t>decision problem</a:t>
            </a:r>
            <a:r>
              <a:rPr sz="2300" b="0" i="0">
                <a:solidFill>
                  <a:srgbClr val="1C252B"/>
                </a:solidFill>
                <a:latin typeface="Segoe UI"/>
              </a:rPr>
              <a:t> has a yes/no answer. “Is there a subset of these numbers summing to </a:t>
            </a:r>
            <a:r>
              <a:rPr sz="2300" b="0" i="1">
                <a:solidFill>
                  <a:srgbClr val="1C252B"/>
                </a:solidFill>
                <a:latin typeface="Cambria"/>
              </a:rPr>
              <a:t>t</a:t>
            </a:r>
            <a:r>
              <a:rPr sz="2300" b="0" i="0">
                <a:solidFill>
                  <a:srgbClr val="1C252B"/>
                </a:solidFill>
                <a:latin typeface="Segoe UI"/>
              </a:rPr>
              <a:t>?” is one; “what is the largest such subset?” is not.</a:t>
            </a:r>
          </a:p>
        </p:txBody>
      </p:sp>
      <p:sp>
        <p:nvSpPr>
          <p:cNvPr id="10" name="body-1"/>
          <p:cNvSpPr txBox="1"/>
          <p:nvPr/>
        </p:nvSpPr>
        <p:spPr>
          <a:xfrm>
            <a:off x="1060704" y="2937992"/>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theory is built on decision problems because they are the simplest form with the same essential difficulty: an efficient algorithm for the decision version almost always yields one for the optimisation version, by binary search on the answer.</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191242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 and NP</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  ·  Complexity Classes: P, NP and NP-Completeness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§22.1  ·  Handout p. 181     </a:t>
            </a:r>
            <a:fld id="{686F1A56-1381-4F0C-B0EC-FF8BAEBF0740}"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683828"/>
          </a:xfrm>
          <a:prstGeom prst="roundRect">
            <a:avLst>
              <a:gd name="adj" fmla="val 2482"/>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683828"/>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A5276"/>
                </a:solidFill>
                <a:latin typeface="Segoe UI"/>
              </a:rPr>
              <a:t>P</a:t>
            </a:r>
            <a:r>
              <a:rPr sz="2300" b="0" i="0">
                <a:solidFill>
                  <a:srgbClr val="1C252B"/>
                </a:solidFill>
                <a:latin typeface="Segoe UI"/>
              </a:rPr>
              <a:t> is the class of decision problems solvable by an algorithm running in time polynomial in the input size.</a:t>
            </a:r>
          </a:p>
        </p:txBody>
      </p:sp>
      <p:sp>
        <p:nvSpPr>
          <p:cNvPr id="10" name="body-1"/>
          <p:cNvSpPr txBox="1"/>
          <p:nvPr/>
        </p:nvSpPr>
        <p:spPr>
          <a:xfrm>
            <a:off x="1060704" y="2937992"/>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A5276"/>
                </a:solidFill>
                <a:latin typeface="Segoe UI"/>
              </a:rPr>
              <a:t>NP</a:t>
            </a:r>
            <a:r>
              <a:rPr sz="2300" b="0" i="0">
                <a:solidFill>
                  <a:srgbClr val="1C252B"/>
                </a:solidFill>
                <a:latin typeface="Segoe UI"/>
              </a:rPr>
              <a:t> is the class of decision problems for which a </a:t>
            </a:r>
            <a:r>
              <a:rPr sz="2300" b="0" i="1">
                <a:solidFill>
                  <a:srgbClr val="1C252B"/>
                </a:solidFill>
                <a:latin typeface="Segoe UI"/>
              </a:rPr>
              <a:t>yes</a:t>
            </a:r>
            <a:r>
              <a:rPr sz="2300" b="0" i="0">
                <a:solidFill>
                  <a:srgbClr val="1C252B"/>
                </a:solidFill>
                <a:latin typeface="Segoe UI"/>
              </a:rPr>
              <a:t> answer has a </a:t>
            </a:r>
            <a:r>
              <a:rPr sz="2300" b="1" i="0">
                <a:solidFill>
                  <a:srgbClr val="1A5276"/>
                </a:solidFill>
                <a:latin typeface="Segoe UI"/>
              </a:rPr>
              <a:t>certificate</a:t>
            </a:r>
            <a:r>
              <a:rPr sz="2300" b="0" i="0">
                <a:solidFill>
                  <a:srgbClr val="1C252B"/>
                </a:solidFill>
                <a:latin typeface="Segoe UI"/>
              </a:rPr>
              <a:t> that can be </a:t>
            </a:r>
            <a:r>
              <a:rPr sz="2300" b="0" i="1">
                <a:solidFill>
                  <a:srgbClr val="1C252B"/>
                </a:solidFill>
                <a:latin typeface="Segoe UI"/>
              </a:rPr>
              <a:t>verified</a:t>
            </a:r>
            <a:r>
              <a:rPr sz="2300" b="0" i="0">
                <a:solidFill>
                  <a:srgbClr val="1C252B"/>
                </a:solidFill>
                <a:latin typeface="Segoe UI"/>
              </a:rPr>
              <a:t> in polynomial time.</a:t>
            </a:r>
          </a:p>
        </p:txBody>
      </p:sp>
      <p:sp>
        <p:nvSpPr>
          <p:cNvPr id="11" name="body-2"/>
          <p:cNvSpPr txBox="1"/>
          <p:nvPr/>
        </p:nvSpPr>
        <p:spPr>
          <a:xfrm>
            <a:off x="1060704" y="3827729"/>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Formally, </a:t>
            </a:r>
            <a:r>
              <a:rPr sz="2300" b="0" i="1">
                <a:solidFill>
                  <a:srgbClr val="1C252B"/>
                </a:solidFill>
                <a:latin typeface="Cambria"/>
              </a:rPr>
              <a:t>L</a:t>
            </a:r>
            <a:r>
              <a:rPr sz="2300" b="0" i="0">
                <a:solidFill>
                  <a:srgbClr val="1C252B"/>
                </a:solidFill>
                <a:latin typeface="Cambria"/>
              </a:rPr>
              <a:t> ∈ </a:t>
            </a:r>
            <a:r>
              <a:rPr sz="2300" b="0" i="0">
                <a:solidFill>
                  <a:srgbClr val="1C252B"/>
                </a:solidFill>
                <a:latin typeface="Segoe UI"/>
              </a:rPr>
              <a:t>NP if there is a polynomial-time verifier </a:t>
            </a:r>
            <a:r>
              <a:rPr sz="2300" b="0" i="1">
                <a:solidFill>
                  <a:srgbClr val="1C252B"/>
                </a:solidFill>
                <a:latin typeface="Cambria"/>
              </a:rPr>
              <a:t>V</a:t>
            </a:r>
            <a:r>
              <a:rPr sz="2300" b="0" i="0">
                <a:solidFill>
                  <a:srgbClr val="1C252B"/>
                </a:solidFill>
                <a:latin typeface="Segoe UI"/>
              </a:rPr>
              <a:t> and a polynomial </a:t>
            </a:r>
            <a:r>
              <a:rPr sz="2300" b="0" i="1">
                <a:solidFill>
                  <a:srgbClr val="1C252B"/>
                </a:solidFill>
                <a:latin typeface="Cambria"/>
              </a:rPr>
              <a:t>p</a:t>
            </a:r>
            <a:r>
              <a:rPr sz="2300" b="0" i="0">
                <a:solidFill>
                  <a:srgbClr val="1C252B"/>
                </a:solidFill>
                <a:latin typeface="Segoe UI"/>
              </a:rPr>
              <a:t> such that</a:t>
            </a:r>
          </a:p>
        </p:txBody>
      </p:sp>
      <p:pic>
        <p:nvPicPr>
          <p:cNvPr id="12" name="body-3" descr="x \in L \iff \exists\, c,\ |c| \le p(|x|),\ V(x, c) = \textsc{ye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4717465"/>
            <a:ext cx="10161727" cy="392826"/>
          </a:xfrm>
          <a:prstGeom prst="rect">
            <a:avLst/>
          </a:prstGeom>
        </p:spPr>
      </p:pic>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215147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NP does not stand for “not polynomial”</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  ·  Complexity Classes: P, NP and NP-Completeness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§22.1  ·  Handout p. 181     </a:t>
            </a:r>
            <a:fld id="{B1258C92-9AAA-4919-85B1-390552D9E198}" type="slidenum">
              <a:rPr lang="en-GB" sz="1000">
                <a:solidFill>
                  <a:srgbClr val="8795A1"/>
                </a:solidFill>
                <a:latin typeface="Segoe UI"/>
              </a:rPr>
              <a:t>10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It stands for </a:t>
            </a:r>
            <a:r>
              <a:rPr sz="2300" b="1" i="0">
                <a:solidFill>
                  <a:srgbClr val="1A5276"/>
                </a:solidFill>
                <a:latin typeface="Segoe UI"/>
              </a:rPr>
              <a:t>nondeterministic polynomial</a:t>
            </a:r>
            <a:r>
              <a:rPr sz="2300" b="0" i="0">
                <a:solidFill>
                  <a:srgbClr val="1C252B"/>
                </a:solidFill>
                <a:latin typeface="Segoe UI"/>
              </a:rPr>
              <a:t>. Every problem in P is also in NP — if you can solve it quickly you can verify a certificate quickly by ignoring the certificate and solving it. So P</a:t>
            </a:r>
            <a:r>
              <a:rPr sz="2300" b="0" i="0">
                <a:solidFill>
                  <a:srgbClr val="1C252B"/>
                </a:solidFill>
                <a:latin typeface="Cambria"/>
              </a:rPr>
              <a:t> ⊆ </a:t>
            </a:r>
            <a:r>
              <a:rPr sz="2300" b="0" i="0">
                <a:solidFill>
                  <a:srgbClr val="1C252B"/>
                </a:solidFill>
                <a:latin typeface="Segoe UI"/>
              </a:rPr>
              <a:t>NP, and the open question is whether the inclusion is strict.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39052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Checking against finding</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  ·  Complexity Classes: P, NP and NP-Completeness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§22.1  ·  Handout p. 181     </a:t>
            </a:r>
            <a:fld id="{927B6603-87A1-46E4-9AAF-40DA0486EBA0}"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48912"/>
          </a:xfrm>
          <a:prstGeom prst="roundRect">
            <a:avLst>
              <a:gd name="adj" fmla="val 2152"/>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4891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This is the whole of NP in one sentence: </a:t>
            </a:r>
            <a:r>
              <a:rPr sz="2000" b="1" i="0">
                <a:solidFill>
                  <a:srgbClr val="1C252B"/>
                </a:solidFill>
                <a:latin typeface="Segoe UI"/>
              </a:rPr>
              <a:t>it is the class of problems where recognising a good answer is easy, even if producing one is not</a:t>
            </a:r>
            <a:r>
              <a:rPr sz="2000" b="0" i="0">
                <a:solidFill>
                  <a:srgbClr val="1C252B"/>
                </a:solidFill>
                <a:latin typeface="Segoe UI"/>
              </a:rPr>
              <a:t>.</a:t>
            </a:r>
          </a:p>
        </p:txBody>
      </p:sp>
      <p:sp>
        <p:nvSpPr>
          <p:cNvPr id="10" name="body-1"/>
          <p:cNvSpPr txBox="1"/>
          <p:nvPr/>
        </p:nvSpPr>
        <p:spPr>
          <a:xfrm>
            <a:off x="1060704" y="2821939"/>
            <a:ext cx="10161727" cy="1808480"/>
          </a:xfrm>
          <a:prstGeom prst="rect">
            <a:avLst/>
          </a:prstGeom>
          <a:noFill/>
        </p:spPr>
        <p:txBody>
          <a:bodyPr wrap="square" anchor="t" lIns="0" rIns="0" tIns="0" bIns="0">
            <a:noAutofit/>
          </a:bodyPr>
          <a:lstStyle/>
          <a:p>
            <a:pPr algn="l" marL="223631" indent="-223631">
              <a:lnSpc>
                <a:spcPct val="104000"/>
              </a:lnSpc>
              <a:spcBef>
                <a:spcPts val="0"/>
              </a:spcBef>
              <a:spcAft>
                <a:spcPts val="700"/>
              </a:spcAft>
            </a:pPr>
            <a:r>
              <a:rPr sz="2000" b="1">
                <a:solidFill>
                  <a:srgbClr val="1F618D"/>
                </a:solidFill>
                <a:latin typeface="Segoe UI"/>
              </a:rPr>
              <a:t>•	</a:t>
            </a:r>
            <a:r>
              <a:rPr sz="2000" b="0" i="0">
                <a:solidFill>
                  <a:srgbClr val="1C252B"/>
                </a:solidFill>
                <a:latin typeface="Segoe UI"/>
              </a:rPr>
              <a:t>A jigsaw: checking that a completed puzzle is correct takes a glance; completing it does not.</a:t>
            </a:r>
          </a:p>
          <a:p>
            <a:pPr algn="l" marL="223631" indent="-223631">
              <a:lnSpc>
                <a:spcPct val="104000"/>
              </a:lnSpc>
              <a:spcBef>
                <a:spcPts val="0"/>
              </a:spcBef>
              <a:spcAft>
                <a:spcPts val="700"/>
              </a:spcAft>
            </a:pPr>
            <a:r>
              <a:rPr sz="2000" b="1">
                <a:solidFill>
                  <a:srgbClr val="1F618D"/>
                </a:solidFill>
                <a:latin typeface="Segoe UI"/>
              </a:rPr>
              <a:t>•	</a:t>
            </a:r>
            <a:r>
              <a:rPr sz="2000" b="0" i="0">
                <a:solidFill>
                  <a:srgbClr val="1C252B"/>
                </a:solidFill>
                <a:latin typeface="Segoe UI"/>
              </a:rPr>
              <a:t>A sudoku: verifying a filled grid is a few hundred comparisons; solving one is a search.</a:t>
            </a:r>
          </a:p>
          <a:p>
            <a:pPr algn="l" marL="223631" indent="-223631">
              <a:lnSpc>
                <a:spcPct val="104000"/>
              </a:lnSpc>
              <a:spcBef>
                <a:spcPts val="0"/>
              </a:spcBef>
              <a:spcAft>
                <a:spcPts val="0"/>
              </a:spcAft>
            </a:pPr>
            <a:r>
              <a:rPr sz="2000" b="1">
                <a:solidFill>
                  <a:srgbClr val="1F618D"/>
                </a:solidFill>
                <a:latin typeface="Segoe UI"/>
              </a:rPr>
              <a:t>•	</a:t>
            </a:r>
            <a:r>
              <a:rPr sz="2000" b="0" i="0">
                <a:solidFill>
                  <a:srgbClr val="1C252B"/>
                </a:solidFill>
                <a:latin typeface="Segoe UI"/>
              </a:rPr>
              <a:t>A factorisation: checking </a:t>
            </a:r>
            <a:r>
              <a:rPr sz="2000" b="0" i="1">
                <a:solidFill>
                  <a:srgbClr val="1C252B"/>
                </a:solidFill>
                <a:latin typeface="Cambria"/>
              </a:rPr>
              <a:t>p</a:t>
            </a:r>
            <a:r>
              <a:rPr sz="2000" b="0" i="0">
                <a:solidFill>
                  <a:srgbClr val="1C252B"/>
                </a:solidFill>
                <a:latin typeface="Cambria"/>
              </a:rPr>
              <a:t> × </a:t>
            </a:r>
            <a:r>
              <a:rPr sz="2000" b="0" i="1">
                <a:solidFill>
                  <a:srgbClr val="1C252B"/>
                </a:solidFill>
                <a:latin typeface="Cambria"/>
              </a:rPr>
              <a:t>q</a:t>
            </a:r>
            <a:r>
              <a:rPr sz="2000" b="0" i="0">
                <a:solidFill>
                  <a:srgbClr val="1C252B"/>
                </a:solidFill>
                <a:latin typeface="Cambria"/>
              </a:rPr>
              <a:t> = </a:t>
            </a:r>
            <a:r>
              <a:rPr sz="2000" b="0" i="1">
                <a:solidFill>
                  <a:srgbClr val="1C252B"/>
                </a:solidFill>
                <a:latin typeface="Cambria"/>
              </a:rPr>
              <a:t>n</a:t>
            </a:r>
            <a:r>
              <a:rPr sz="2000" b="0" i="0">
                <a:solidFill>
                  <a:srgbClr val="1C252B"/>
                </a:solidFill>
                <a:latin typeface="Segoe UI"/>
              </a:rPr>
              <a:t> is one multiplication; finding </a:t>
            </a:r>
            <a:r>
              <a:rPr sz="2000" b="0" i="1">
                <a:solidFill>
                  <a:srgbClr val="1C252B"/>
                </a:solidFill>
                <a:latin typeface="Cambria"/>
              </a:rPr>
              <a:t>p</a:t>
            </a:r>
            <a:r>
              <a:rPr sz="2000" b="0" i="0">
                <a:solidFill>
                  <a:srgbClr val="1C252B"/>
                </a:solidFill>
                <a:latin typeface="Segoe UI"/>
              </a:rPr>
              <a:t> and </a:t>
            </a:r>
            <a:r>
              <a:rPr sz="2000" b="0" i="1">
                <a:solidFill>
                  <a:srgbClr val="1C252B"/>
                </a:solidFill>
                <a:latin typeface="Cambria"/>
              </a:rPr>
              <a:t>q</a:t>
            </a:r>
            <a:r>
              <a:rPr sz="2000" b="0" i="0">
                <a:solidFill>
                  <a:srgbClr val="1C252B"/>
                </a:solidFill>
                <a:latin typeface="Segoe UI"/>
              </a:rPr>
              <a:t> is what RSA’s security rests on.</a:t>
            </a:r>
          </a:p>
        </p:txBody>
      </p:sp>
      <p:sp>
        <p:nvSpPr>
          <p:cNvPr id="11" name="body-2"/>
          <p:cNvSpPr txBox="1"/>
          <p:nvPr/>
        </p:nvSpPr>
        <p:spPr>
          <a:xfrm>
            <a:off x="1060704" y="4724399"/>
            <a:ext cx="10161727"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P</a:t>
            </a:r>
            <a:r>
              <a:rPr sz="2000" b="0" i="0">
                <a:solidFill>
                  <a:srgbClr val="1C252B"/>
                </a:solidFill>
                <a:latin typeface="Cambria"/>
              </a:rPr>
              <a:t> = </a:t>
            </a:r>
            <a:r>
              <a:rPr sz="2000" b="0" i="0">
                <a:solidFill>
                  <a:srgbClr val="1C252B"/>
                </a:solidFill>
                <a:latin typeface="Segoe UI"/>
              </a:rPr>
              <a:t>NP would say that whenever a solution can be recognised quickly it can also be </a:t>
            </a:r>
            <a:r>
              <a:rPr sz="2000" b="0" i="1">
                <a:solidFill>
                  <a:srgbClr val="1C252B"/>
                </a:solidFill>
                <a:latin typeface="Segoe UI"/>
              </a:rPr>
              <a:t>found</a:t>
            </a:r>
            <a:r>
              <a:rPr sz="2000" b="0" i="0">
                <a:solidFill>
                  <a:srgbClr val="1C252B"/>
                </a:solidFill>
                <a:latin typeface="Segoe UI"/>
              </a:rPr>
              <a:t> quickly — that there is never any real difficulty in searching, only in knowing what you are looking for. Almost nobody believes it, and nobody can prove it either way.</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262958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Measured: the Gap Between Checking and Finding</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2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22.2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22.1   Decision Problems, and Two Classes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22.2   Measured: the Gap Between Checking and Finding</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22.3   Reductions, and NP-Completeness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22.4   Why Knapsack Does Not Settle It</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§22.2     </a:t>
            </a:r>
            <a:fld id="{475E2341-3A24-415E-849A-4B6BC06DBD4F}" type="slidenum">
              <a:rPr lang="en-GB" sz="1000">
                <a:solidFill>
                  <a:srgbClr val="8795A1"/>
                </a:solidFill>
                <a:latin typeface="Segoe UI"/>
              </a:rPr>
              <a:t>12</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86863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Subset Sum</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  ·  Complexity Classes: P, NP and NP-Completeness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§22.2  ·  Handout p. 182     </a:t>
            </a:r>
            <a:fld id="{D18496D5-E37A-4331-8F36-36EE4C7EBB9B}"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876069"/>
          </a:xfrm>
          <a:prstGeom prst="roundRect">
            <a:avLst>
              <a:gd name="adj" fmla="val 4874"/>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876069"/>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Given a set of integers </a:t>
            </a:r>
            <a:r>
              <a:rPr sz="2300" b="0" i="1">
                <a:solidFill>
                  <a:srgbClr val="1C252B"/>
                </a:solidFill>
                <a:latin typeface="Cambria"/>
              </a:rPr>
              <a:t>S</a:t>
            </a:r>
            <a:r>
              <a:rPr sz="2300" b="0" i="0">
                <a:solidFill>
                  <a:srgbClr val="1C252B"/>
                </a:solidFill>
                <a:latin typeface="Segoe UI"/>
              </a:rPr>
              <a:t> and a target </a:t>
            </a:r>
            <a:r>
              <a:rPr sz="2300" b="0" i="1">
                <a:solidFill>
                  <a:srgbClr val="1C252B"/>
                </a:solidFill>
                <a:latin typeface="Cambria"/>
              </a:rPr>
              <a:t>t</a:t>
            </a:r>
            <a:r>
              <a:rPr sz="2300" b="0" i="0">
                <a:solidFill>
                  <a:srgbClr val="1C252B"/>
                </a:solidFill>
                <a:latin typeface="Segoe UI"/>
              </a:rPr>
              <a:t>, is there a subset of </a:t>
            </a:r>
            <a:r>
              <a:rPr sz="2300" b="0" i="1">
                <a:solidFill>
                  <a:srgbClr val="1C252B"/>
                </a:solidFill>
                <a:latin typeface="Cambria"/>
              </a:rPr>
              <a:t>S</a:t>
            </a:r>
            <a:r>
              <a:rPr sz="2300" b="0" i="0">
                <a:solidFill>
                  <a:srgbClr val="1C252B"/>
                </a:solidFill>
                <a:latin typeface="Segoe UI"/>
              </a:rPr>
              <a:t> summing to exactly </a:t>
            </a:r>
            <a:r>
              <a:rPr sz="2300" b="0" i="1">
                <a:solidFill>
                  <a:srgbClr val="1C252B"/>
                </a:solidFill>
                <a:latin typeface="Cambria"/>
              </a:rPr>
              <a:t>t</a:t>
            </a:r>
            <a:r>
              <a:rPr sz="2300" b="0" i="0">
                <a:solidFill>
                  <a:srgbClr val="1C252B"/>
                </a:solidFill>
                <a:latin typeface="Segoe UI"/>
              </a:rPr>
              <a:t>?</a:t>
            </a:r>
          </a:p>
        </p:txBody>
      </p:sp>
      <p:sp>
        <p:nvSpPr>
          <p:cNvPr id="10" name="body-1"/>
          <p:cNvSpPr txBox="1"/>
          <p:nvPr/>
        </p:nvSpPr>
        <p:spPr>
          <a:xfrm>
            <a:off x="1060704" y="2937992"/>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certificate is the subset itself. Verifying it is one pass — </a:t>
            </a:r>
            <a:r>
              <a:rPr sz="2300" b="0" i="0">
                <a:solidFill>
                  <a:srgbClr val="1C252B"/>
                </a:solidFill>
                <a:latin typeface="Cambria"/>
              </a:rPr>
              <a:t>O(</a:t>
            </a:r>
            <a:r>
              <a:rPr sz="2300" b="0" i="1">
                <a:solidFill>
                  <a:srgbClr val="1C252B"/>
                </a:solidFill>
                <a:latin typeface="Cambria"/>
              </a:rPr>
              <a:t>n</a:t>
            </a:r>
            <a:r>
              <a:rPr sz="2300" b="0" i="0">
                <a:solidFill>
                  <a:srgbClr val="1C252B"/>
                </a:solidFill>
                <a:latin typeface="Cambria"/>
              </a:rPr>
              <a:t>)</a:t>
            </a:r>
            <a:r>
              <a:rPr sz="2300" b="0" i="0">
                <a:solidFill>
                  <a:srgbClr val="1C252B"/>
                </a:solidFill>
                <a:latin typeface="Segoe UI"/>
              </a:rPr>
              <a:t> additions.</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310768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Two Activities, Timed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  ·  Complexity Classes: P, NP and NP-Completeness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§22.2  ·  Handout p. 182     </a:t>
            </a:r>
            <a:fld id="{92EC7AA0-0825-452A-8B85-F0BA84543D1E}"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03217"/>
          </a:xfrm>
          <a:prstGeom prst="roundRect">
            <a:avLst>
              <a:gd name="adj" fmla="val 2076"/>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03217"/>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F4E79"/>
                </a:solidFill>
                <a:latin typeface="Consolas"/>
              </a:rPr>
              <a:t>code/ch22_complexity.cpp</a:t>
            </a:r>
            <a:r>
              <a:rPr sz="1900" b="0" i="0">
                <a:solidFill>
                  <a:srgbClr val="1C252B"/>
                </a:solidFill>
                <a:latin typeface="Segoe UI"/>
              </a:rPr>
              <a:t>, on instances with a planted solution so the answer is always </a:t>
            </a:r>
            <a:r>
              <a:rPr sz="1900" b="0" i="1">
                <a:solidFill>
                  <a:srgbClr val="1C252B"/>
                </a:solidFill>
                <a:latin typeface="Segoe UI"/>
              </a:rPr>
              <a:t>yes</a:t>
            </a:r>
            <a:r>
              <a:rPr sz="1900" b="0" i="0">
                <a:solidFill>
                  <a:srgbClr val="1C252B"/>
                </a:solidFill>
                <a:latin typeface="Segoe UI"/>
              </a:rPr>
              <a:t> and the search cannot exit early by luck:</a:t>
            </a:r>
          </a:p>
        </p:txBody>
      </p:sp>
      <p:graphicFrame>
        <p:nvGraphicFramePr>
          <p:cNvPr id="10" name="body-1"/>
          <p:cNvGraphicFramePr>
            <a:graphicFrameLocks noGrp="1"/>
          </p:cNvGraphicFramePr>
          <p:nvPr/>
        </p:nvGraphicFramePr>
        <p:xfrm>
          <a:off x="1042416" y="2746679"/>
          <a:ext cx="4974871" cy="1950720"/>
        </p:xfrm>
        <a:graphic>
          <a:graphicData uri="http://schemas.openxmlformats.org/drawingml/2006/table">
            <a:tbl>
              <a:tblPr firstRow="0" bandRow="0" firstCol="0" lastRow="0" lastCol="0" bandCol="0">
                <a:tableStyleId>{2D5ABB26-0587-4C30-8999-92F81FD0307C}</a:tableStyleId>
              </a:tblPr>
              <a:tblGrid>
                <a:gridCol w="530352"/>
                <a:gridCol w="1239545"/>
                <a:gridCol w="2115177"/>
                <a:gridCol w="1089797"/>
              </a:tblGrid>
              <a:tr h="390144">
                <a:tc>
                  <a:txBody>
                    <a:bodyPr wrap="square"/>
                    <a:lstStyle/>
                    <a:p>
                      <a:pPr algn="r"/>
                      <a:r>
                        <a:rPr sz="1600" b="1" i="1">
                          <a:solidFill>
                            <a:srgbClr val="1A5276"/>
                          </a:solidFill>
                          <a:latin typeface="Cambria"/>
                        </a:rPr>
                        <a:t>n</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verify (ns)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find by search (ms)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ratio</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r"/>
                      <a:r>
                        <a:rPr sz="1600" b="0" i="0">
                          <a:solidFill>
                            <a:srgbClr val="1C252B"/>
                          </a:solidFill>
                          <a:latin typeface="Segoe UI"/>
                        </a:rPr>
                        <a:t>16</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12.1</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0.78</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Cambria"/>
                        </a:rPr>
                        <a:t>6.4 × 10</a:t>
                      </a:r>
                      <a:r>
                        <a:rPr sz="1050" b="0" i="0" baseline="30000">
                          <a:solidFill>
                            <a:srgbClr val="1C252B"/>
                          </a:solidFill>
                          <a:latin typeface="Cambria"/>
                        </a:rPr>
                        <a:t>4</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20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13.4</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16.82</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Cambria"/>
                        </a:rPr>
                        <a:t>1.3 × 10</a:t>
                      </a:r>
                      <a:r>
                        <a:rPr sz="1050" b="0" i="0" baseline="30000">
                          <a:solidFill>
                            <a:srgbClr val="1C252B"/>
                          </a:solidFill>
                          <a:latin typeface="Cambria"/>
                        </a:rPr>
                        <a:t>6</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24</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20.7</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877.58</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Cambria"/>
                        </a:rPr>
                        <a:t>4.2 × 10</a:t>
                      </a:r>
                      <a:r>
                        <a:rPr sz="1050" b="0" i="0" baseline="30000">
                          <a:solidFill>
                            <a:srgbClr val="1C252B"/>
                          </a:solidFill>
                          <a:latin typeface="Cambria"/>
                        </a:rPr>
                        <a:t>7</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28</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18.9</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5221.69</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1" i="0">
                          <a:solidFill>
                            <a:srgbClr val="1C252B"/>
                          </a:solidFill>
                          <a:latin typeface="Cambria"/>
                        </a:rPr>
                        <a:t>2.8 × 10</a:t>
                      </a:r>
                      <a:r>
                        <a:rPr sz="1050" b="1" i="0" baseline="30000">
                          <a:solidFill>
                            <a:srgbClr val="1C252B"/>
                          </a:solidFill>
                          <a:latin typeface="Cambria"/>
                        </a:rPr>
                        <a:t>8</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11" name="body-2"/>
          <p:cNvSpPr txBox="1"/>
          <p:nvPr/>
        </p:nvSpPr>
        <p:spPr>
          <a:xfrm>
            <a:off x="1042416" y="4830114"/>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verify column is flat</a:t>
            </a:r>
            <a:r>
              <a:rPr sz="1900" b="0" i="0">
                <a:solidFill>
                  <a:srgbClr val="1C252B"/>
                </a:solidFill>
                <a:latin typeface="Segoe UI"/>
              </a:rPr>
              <a:t> — 12 to 21 nanoseconds — because verification is linear in </a:t>
            </a:r>
            <a:r>
              <a:rPr sz="1900" b="0" i="1">
                <a:solidFill>
                  <a:srgbClr val="1C252B"/>
                </a:solidFill>
                <a:latin typeface="Cambria"/>
              </a:rPr>
              <a:t>n</a:t>
            </a:r>
            <a:r>
              <a:rPr sz="1900" b="0" i="0">
                <a:solidFill>
                  <a:srgbClr val="1C252B"/>
                </a:solidFill>
                <a:latin typeface="Segoe UI"/>
              </a:rPr>
              <a:t> and </a:t>
            </a:r>
            <a:r>
              <a:rPr sz="1900" b="0" i="1">
                <a:solidFill>
                  <a:srgbClr val="1C252B"/>
                </a:solidFill>
                <a:latin typeface="Cambria"/>
              </a:rPr>
              <a:t>n</a:t>
            </a:r>
            <a:r>
              <a:rPr sz="1900" b="0" i="0">
                <a:solidFill>
                  <a:srgbClr val="1C252B"/>
                </a:solidFill>
                <a:latin typeface="Segoe UI"/>
              </a:rPr>
              <a:t> is under 30.</a:t>
            </a:r>
          </a:p>
        </p:txBody>
      </p:sp>
      <p:sp>
        <p:nvSpPr>
          <p:cNvPr id="12" name="body-2bar">
            <a:extLst>
              <a:ext uri="{C183D7F6-B498-43B3-948B-1728B52AA6E4}">
                <adec:decorative xmlns:adec="http://schemas.microsoft.com/office/drawing/2017/decorative" val="1"/>
              </a:ext>
            </a:extLst>
          </p:cNvPr>
          <p:cNvSpPr/>
          <p:nvPr/>
        </p:nvSpPr>
        <p:spPr>
          <a:xfrm>
            <a:off x="841248" y="4848402"/>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body-3"/>
          <p:cNvSpPr txBox="1"/>
          <p:nvPr/>
        </p:nvSpPr>
        <p:spPr>
          <a:xfrm>
            <a:off x="1042416" y="5565114"/>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find column doubles with every element added</a:t>
            </a:r>
            <a:r>
              <a:rPr sz="1900" b="0" i="0">
                <a:solidFill>
                  <a:srgbClr val="1C252B"/>
                </a:solidFill>
                <a:latin typeface="Segoe UI"/>
              </a:rPr>
              <a:t>, from 0.78 ms to 5.2 seconds.</a:t>
            </a:r>
          </a:p>
        </p:txBody>
      </p:sp>
      <p:sp>
        <p:nvSpPr>
          <p:cNvPr id="14" name="body-3bar">
            <a:extLst>
              <a:ext uri="{C183D7F6-B498-43B3-948B-1728B52AA6E4}">
                <adec:decorative xmlns:adec="http://schemas.microsoft.com/office/drawing/2017/decorative" val="1"/>
              </a:ext>
            </a:extLst>
          </p:cNvPr>
          <p:cNvSpPr/>
          <p:nvPr/>
        </p:nvSpPr>
        <p:spPr>
          <a:xfrm>
            <a:off x="841248" y="5583402"/>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pfill">
            <a:extLst>
              <a:ext uri="{C183D7F6-B498-43B3-948B-1728B52AA6E4}">
                <adec:decorative xmlns:adec="http://schemas.microsoft.com/office/drawing/2017/decorative" val="1"/>
              </a:ext>
            </a:extLst>
          </p:cNvPr>
          <p:cNvSpPr/>
          <p:nvPr/>
        </p:nvSpPr>
        <p:spPr>
          <a:xfrm>
            <a:off x="0" y="0"/>
            <a:ext cx="334673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right)">
                                      <p:cBhvr>
                                        <p:cTn id="13" dur="42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2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right)">
                                      <p:cBhvr>
                                        <p:cTn id="21" dur="420"/>
                                        <p:tgtEl>
                                          <p:spTgt spid="1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Two Activities, Timed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  ·  Complexity Classes: P, NP and NP-Completeness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§22.2  ·  Handout p. 182     </a:t>
            </a:r>
            <a:fld id="{0346B9E4-AEA5-47C0-B58F-2DCFDF5CF863}"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88209"/>
          </a:xfrm>
          <a:prstGeom prst="roundRect">
            <a:avLst>
              <a:gd name="adj" fmla="val 367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8820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And the ratio grows without limit</a:t>
            </a:r>
            <a:r>
              <a:rPr sz="1900" b="0" i="0">
                <a:solidFill>
                  <a:srgbClr val="1C252B"/>
                </a:solidFill>
                <a:latin typeface="Segoe UI"/>
              </a:rPr>
              <a:t>: 64 thousand at </a:t>
            </a:r>
            <a:r>
              <a:rPr sz="1900" b="0" i="1">
                <a:solidFill>
                  <a:srgbClr val="1C252B"/>
                </a:solidFill>
                <a:latin typeface="Cambria"/>
              </a:rPr>
              <a:t>n</a:t>
            </a:r>
            <a:r>
              <a:rPr sz="1900" b="0" i="0">
                <a:solidFill>
                  <a:srgbClr val="1C252B"/>
                </a:solidFill>
                <a:latin typeface="Cambria"/>
              </a:rPr>
              <a:t> = 16</a:t>
            </a:r>
            <a:r>
              <a:rPr sz="1900" b="0" i="0">
                <a:solidFill>
                  <a:srgbClr val="1C252B"/>
                </a:solidFill>
                <a:latin typeface="Segoe UI"/>
              </a:rPr>
              <a:t> and 280 million at </a:t>
            </a:r>
            <a:r>
              <a:rPr sz="1900" b="0" i="1">
                <a:solidFill>
                  <a:srgbClr val="1C252B"/>
                </a:solidFill>
                <a:latin typeface="Cambria"/>
              </a:rPr>
              <a:t>n</a:t>
            </a:r>
            <a:r>
              <a:rPr sz="1900" b="0" i="0">
                <a:solidFill>
                  <a:srgbClr val="1C252B"/>
                </a:solidFill>
                <a:latin typeface="Cambria"/>
              </a:rPr>
              <a:t> = 28</a:t>
            </a:r>
            <a:r>
              <a:rPr sz="1900" b="0" i="0">
                <a:solidFill>
                  <a:srgbClr val="1C252B"/>
                </a:solidFill>
                <a:latin typeface="Segoe UI"/>
              </a:rPr>
              <a:t>. That ratio </a:t>
            </a:r>
            <a:r>
              <a:rPr sz="1900" b="0" i="1">
                <a:solidFill>
                  <a:srgbClr val="1C252B"/>
                </a:solidFill>
                <a:latin typeface="Segoe UI"/>
              </a:rPr>
              <a:t>is</a:t>
            </a:r>
            <a:r>
              <a:rPr sz="1900" b="0" i="0">
                <a:solidFill>
                  <a:srgbClr val="1C252B"/>
                </a:solidFill>
                <a:latin typeface="Segoe UI"/>
              </a:rPr>
              <a:t> the P versus NP question, measured on one problem. Nobody knows whether it can be made to stop growing.</a:t>
            </a:r>
          </a:p>
        </p:txBody>
      </p:sp>
      <p:sp>
        <p:nvSpPr>
          <p:cNvPr id="10" name="body-0bar">
            <a:extLst>
              <a:ext uri="{C183D7F6-B498-43B3-948B-1728B52AA6E4}">
                <adec:decorative xmlns:adec="http://schemas.microsoft.com/office/drawing/2017/decorative" val="1"/>
              </a:ext>
            </a:extLst>
          </p:cNvPr>
          <p:cNvSpPr/>
          <p:nvPr/>
        </p:nvSpPr>
        <p:spPr>
          <a:xfrm>
            <a:off x="841248" y="2029967"/>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3047822"/>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1">
                <a:solidFill>
                  <a:srgbClr val="1C252B"/>
                </a:solidFill>
                <a:latin typeface="Segoe UI"/>
              </a:rPr>
              <a:t>(A note on method: verification takes tens of nanoseconds, below the clock’s resolution. Timing it one call at a time reported 0.0000 and a ratio of infinity, which is what the first version of this program printed. The table above times a million verifications and divides.)</a:t>
            </a:r>
          </a:p>
        </p:txBody>
      </p:sp>
      <p:sp>
        <p:nvSpPr>
          <p:cNvPr id="1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pfill">
            <a:extLst>
              <a:ext uri="{C183D7F6-B498-43B3-948B-1728B52AA6E4}">
                <adec:decorative xmlns:adec="http://schemas.microsoft.com/office/drawing/2017/decorative" val="1"/>
              </a:ext>
            </a:extLst>
          </p:cNvPr>
          <p:cNvSpPr/>
          <p:nvPr/>
        </p:nvSpPr>
        <p:spPr>
          <a:xfrm>
            <a:off x="0" y="0"/>
            <a:ext cx="358579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right)">
                                      <p:cBhvr>
                                        <p:cTn id="16"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the Wall Is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  ·  Complexity Classes: P, NP and NP-Completeness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§22.2  ·  Handout p. 182     </a:t>
            </a:r>
            <a:fld id="{87B08CB0-EFB1-41D7-9CE1-A4CE86B08FDB}"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48505"/>
          </a:xfrm>
          <a:prstGeom prst="roundRect">
            <a:avLst>
              <a:gd name="adj" fmla="val 205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48505"/>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Extrapolating the brute-force column:</a:t>
            </a:r>
          </a:p>
        </p:txBody>
      </p:sp>
      <p:graphicFrame>
        <p:nvGraphicFramePr>
          <p:cNvPr id="10" name="body-1"/>
          <p:cNvGraphicFramePr>
            <a:graphicFrameLocks noGrp="1"/>
          </p:cNvGraphicFramePr>
          <p:nvPr/>
        </p:nvGraphicFramePr>
        <p:xfrm>
          <a:off x="1042416" y="2445537"/>
          <a:ext cx="2311101" cy="2731008"/>
        </p:xfrm>
        <a:graphic>
          <a:graphicData uri="http://schemas.openxmlformats.org/drawingml/2006/table">
            <a:tbl>
              <a:tblPr firstRow="0" bandRow="0" firstCol="0" lastRow="0" lastCol="0" bandCol="0">
                <a:tableStyleId>{2D5ABB26-0587-4C30-8999-92F81FD0307C}</a:tableStyleId>
              </a:tblPr>
              <a:tblGrid>
                <a:gridCol w="591177"/>
                <a:gridCol w="1719924"/>
              </a:tblGrid>
              <a:tr h="390144">
                <a:tc>
                  <a:txBody>
                    <a:bodyPr wrap="square"/>
                    <a:lstStyle/>
                    <a:p>
                      <a:pPr algn="r"/>
                      <a:r>
                        <a:rPr sz="1600" b="1" i="1">
                          <a:solidFill>
                            <a:srgbClr val="1A5276"/>
                          </a:solidFill>
                          <a:latin typeface="Cambria"/>
                        </a:rPr>
                        <a:t>n</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estimated time</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r"/>
                      <a:r>
                        <a:rPr sz="1600" b="0" i="0">
                          <a:solidFill>
                            <a:srgbClr val="1C252B"/>
                          </a:solidFill>
                          <a:latin typeface="Segoe UI"/>
                        </a:rPr>
                        <a:t>30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65.7 seconds</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40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18.7 hours</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50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2.18 years</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60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2,240 years</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80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Cambria"/>
                        </a:rPr>
                        <a:t>2.4 × 10</a:t>
                      </a:r>
                      <a:r>
                        <a:rPr sz="1050" b="0" i="0" baseline="30000">
                          <a:solidFill>
                            <a:srgbClr val="1C252B"/>
                          </a:solidFill>
                          <a:latin typeface="Cambria"/>
                        </a:rPr>
                        <a:t>9</a:t>
                      </a:r>
                      <a:r>
                        <a:rPr sz="1600" b="0" i="0">
                          <a:solidFill>
                            <a:srgbClr val="1C252B"/>
                          </a:solidFill>
                          <a:latin typeface="Segoe UI"/>
                        </a:rPr>
                        <a:t> years</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100</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Cambria"/>
                        </a:rPr>
                        <a:t>2.5 × 10</a:t>
                      </a:r>
                      <a:r>
                        <a:rPr sz="1050" b="0" i="0" baseline="30000">
                          <a:solidFill>
                            <a:srgbClr val="1C252B"/>
                          </a:solidFill>
                          <a:latin typeface="Cambria"/>
                        </a:rPr>
                        <a:t>15</a:t>
                      </a:r>
                      <a:r>
                        <a:rPr sz="1600" b="0" i="0">
                          <a:solidFill>
                            <a:srgbClr val="1C252B"/>
                          </a:solidFill>
                          <a:latin typeface="Segoe UI"/>
                        </a:rPr>
                        <a:t> years</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11" name="body-2"/>
          <p:cNvSpPr txBox="1"/>
          <p:nvPr/>
        </p:nvSpPr>
        <p:spPr>
          <a:xfrm>
            <a:off x="1042416" y="5309260"/>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At </a:t>
            </a:r>
            <a:r>
              <a:rPr sz="1900" b="1" i="1">
                <a:solidFill>
                  <a:srgbClr val="1C252B"/>
                </a:solidFill>
                <a:latin typeface="Cambria"/>
              </a:rPr>
              <a:t>n</a:t>
            </a:r>
            <a:r>
              <a:rPr sz="1900" b="1" i="0">
                <a:solidFill>
                  <a:srgbClr val="1C252B"/>
                </a:solidFill>
                <a:latin typeface="Cambria"/>
              </a:rPr>
              <a:t> = 50</a:t>
            </a:r>
            <a:r>
              <a:rPr sz="1900" b="1" i="0">
                <a:solidFill>
                  <a:srgbClr val="1C252B"/>
                </a:solidFill>
                <a:latin typeface="Segoe UI"/>
              </a:rPr>
              <a:t> — fifty numbers — exhaustive search takes two years.</a:t>
            </a:r>
            <a:r>
              <a:rPr sz="1900" b="0" i="0">
                <a:solidFill>
                  <a:srgbClr val="1C252B"/>
                </a:solidFill>
                <a:latin typeface="Segoe UI"/>
              </a:rPr>
              <a:t> At </a:t>
            </a:r>
            <a:r>
              <a:rPr sz="1900" b="0" i="1">
                <a:solidFill>
                  <a:srgbClr val="1C252B"/>
                </a:solidFill>
                <a:latin typeface="Cambria"/>
              </a:rPr>
              <a:t>n</a:t>
            </a:r>
            <a:r>
              <a:rPr sz="1900" b="0" i="0">
                <a:solidFill>
                  <a:srgbClr val="1C252B"/>
                </a:solidFill>
                <a:latin typeface="Cambria"/>
              </a:rPr>
              <a:t> = 80</a:t>
            </a:r>
            <a:r>
              <a:rPr sz="1900" b="0" i="0">
                <a:solidFill>
                  <a:srgbClr val="1C252B"/>
                </a:solidFill>
                <a:latin typeface="Segoe UI"/>
              </a:rPr>
              <a:t> it takes longer than the age of the universe.</a:t>
            </a:r>
          </a:p>
        </p:txBody>
      </p:sp>
      <p:sp>
        <p:nvSpPr>
          <p:cNvPr id="12" name="body-2bar">
            <a:extLst>
              <a:ext uri="{C183D7F6-B498-43B3-948B-1728B52AA6E4}">
                <adec:decorative xmlns:adec="http://schemas.microsoft.com/office/drawing/2017/decorative" val="1"/>
              </a:ext>
            </a:extLst>
          </p:cNvPr>
          <p:cNvSpPr/>
          <p:nvPr/>
        </p:nvSpPr>
        <p:spPr>
          <a:xfrm>
            <a:off x="841248" y="5327548"/>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pfill">
            <a:extLst>
              <a:ext uri="{C183D7F6-B498-43B3-948B-1728B52AA6E4}">
                <adec:decorative xmlns:adec="http://schemas.microsoft.com/office/drawing/2017/decorative" val="1"/>
              </a:ext>
            </a:extLst>
          </p:cNvPr>
          <p:cNvSpPr/>
          <p:nvPr/>
        </p:nvSpPr>
        <p:spPr>
          <a:xfrm>
            <a:off x="0" y="0"/>
            <a:ext cx="382484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right)">
                                      <p:cBhvr>
                                        <p:cTn id="13" dur="42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the Wall Is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  ·  Complexity Classes: P, NP and NP-Completeness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§22.2  ·  Handout p. 182     </a:t>
            </a:r>
            <a:fld id="{BE223BC8-EA72-43BE-A692-5380E2476B32}"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452067"/>
          </a:xfrm>
          <a:prstGeom prst="roundRect">
            <a:avLst>
              <a:gd name="adj" fmla="val 6297"/>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452067"/>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And a faster computer barely helps.</a:t>
            </a:r>
            <a:r>
              <a:rPr sz="1900" b="0" i="0">
                <a:solidFill>
                  <a:srgbClr val="1C252B"/>
                </a:solidFill>
                <a:latin typeface="Segoe UI"/>
              </a:rPr>
              <a:t> A machine a thousand times faster moves the two-year mark from </a:t>
            </a:r>
            <a:r>
              <a:rPr sz="1900" b="0" i="1">
                <a:solidFill>
                  <a:srgbClr val="1C252B"/>
                </a:solidFill>
                <a:latin typeface="Cambria"/>
              </a:rPr>
              <a:t>n</a:t>
            </a:r>
            <a:r>
              <a:rPr sz="1900" b="0" i="0">
                <a:solidFill>
                  <a:srgbClr val="1C252B"/>
                </a:solidFill>
                <a:latin typeface="Cambria"/>
              </a:rPr>
              <a:t> = 50</a:t>
            </a:r>
            <a:r>
              <a:rPr sz="1900" b="0" i="0">
                <a:solidFill>
                  <a:srgbClr val="1C252B"/>
                </a:solidFill>
                <a:latin typeface="Segoe UI"/>
              </a:rPr>
              <a:t> to </a:t>
            </a:r>
            <a:r>
              <a:rPr sz="1900" b="0" i="1">
                <a:solidFill>
                  <a:srgbClr val="1C252B"/>
                </a:solidFill>
                <a:latin typeface="Cambria"/>
              </a:rPr>
              <a:t>n</a:t>
            </a:r>
            <a:r>
              <a:rPr sz="1900" b="0" i="0">
                <a:solidFill>
                  <a:srgbClr val="1C252B"/>
                </a:solidFill>
                <a:latin typeface="Cambria"/>
              </a:rPr>
              <a:t> = 60</a:t>
            </a:r>
            <a:r>
              <a:rPr sz="1900" b="0" i="0">
                <a:solidFill>
                  <a:srgbClr val="1C252B"/>
                </a:solidFill>
                <a:latin typeface="Segoe UI"/>
              </a:rPr>
              <a:t>. This is Chapter 1’s exponential alertbox, now attached to a problem thousands of people would like to solve.</a:t>
            </a:r>
          </a:p>
        </p:txBody>
      </p:sp>
      <p:sp>
        <p:nvSpPr>
          <p:cNvPr id="10" name="body-0bar">
            <a:extLst>
              <a:ext uri="{C183D7F6-B498-43B3-948B-1728B52AA6E4}">
                <adec:decorative xmlns:adec="http://schemas.microsoft.com/office/drawing/2017/decorative" val="1"/>
              </a:ext>
            </a:extLst>
          </p:cNvPr>
          <p:cNvSpPr/>
          <p:nvPr/>
        </p:nvSpPr>
        <p:spPr>
          <a:xfrm>
            <a:off x="841248" y="2029967"/>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406389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Exponential Is Not One Speed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  ·  Complexity Classes: P, NP and NP-Completeness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§22.2  ·  Handout p. 182     </a:t>
            </a:r>
            <a:fld id="{A89B238A-0481-425C-911B-B0E84F228BBD}"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03217"/>
          </a:xfrm>
          <a:prstGeom prst="roundRect">
            <a:avLst>
              <a:gd name="adj" fmla="val 2076"/>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03217"/>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Meet-in-the-middle splits the set in half, enumerates all subset sums of each, and looks for a complementary pair — </a:t>
            </a:r>
            <a:r>
              <a:rPr sz="1900" b="0" i="0">
                <a:solidFill>
                  <a:srgbClr val="1C252B"/>
                </a:solidFill>
                <a:latin typeface="Cambria"/>
              </a:rPr>
              <a:t>O(2</a:t>
            </a:r>
            <a:r>
              <a:rPr sz="1250" b="0" i="1" baseline="30000">
                <a:solidFill>
                  <a:srgbClr val="1C252B"/>
                </a:solidFill>
                <a:latin typeface="Cambria"/>
              </a:rPr>
              <a:t>n</a:t>
            </a:r>
            <a:r>
              <a:rPr sz="1250" b="0" i="0" baseline="30000">
                <a:solidFill>
                  <a:srgbClr val="1C252B"/>
                </a:solidFill>
                <a:latin typeface="Cambria"/>
              </a:rPr>
              <a:t>/2</a:t>
            </a:r>
            <a:r>
              <a:rPr sz="1900" b="0" i="0">
                <a:solidFill>
                  <a:srgbClr val="1C252B"/>
                </a:solidFill>
                <a:latin typeface="Cambria"/>
              </a:rPr>
              <a:t>)</a:t>
            </a:r>
            <a:r>
              <a:rPr sz="1900" b="0" i="0">
                <a:solidFill>
                  <a:srgbClr val="1C252B"/>
                </a:solidFill>
                <a:latin typeface="Segoe UI"/>
              </a:rPr>
              <a:t> time and space.</a:t>
            </a:r>
          </a:p>
        </p:txBody>
      </p:sp>
      <p:graphicFrame>
        <p:nvGraphicFramePr>
          <p:cNvPr id="10" name="body-1"/>
          <p:cNvGraphicFramePr>
            <a:graphicFrameLocks noGrp="1"/>
          </p:cNvGraphicFramePr>
          <p:nvPr/>
        </p:nvGraphicFramePr>
        <p:xfrm>
          <a:off x="1042416" y="2746679"/>
          <a:ext cx="6201114" cy="1950720"/>
        </p:xfrm>
        <a:graphic>
          <a:graphicData uri="http://schemas.openxmlformats.org/drawingml/2006/table">
            <a:tbl>
              <a:tblPr firstRow="0" bandRow="0" firstCol="0" lastRow="0" lastCol="0" bandCol="0">
                <a:tableStyleId>{2D5ABB26-0587-4C30-8999-92F81FD0307C}</a:tableStyleId>
              </a:tblPr>
              <a:tblGrid>
                <a:gridCol w="530352"/>
                <a:gridCol w="1833709"/>
                <a:gridCol w="2671133"/>
                <a:gridCol w="1165920"/>
              </a:tblGrid>
              <a:tr h="390144">
                <a:tc>
                  <a:txBody>
                    <a:bodyPr wrap="square"/>
                    <a:lstStyle/>
                    <a:p>
                      <a:pPr algn="r"/>
                      <a:r>
                        <a:rPr sz="1600" b="1" i="1">
                          <a:solidFill>
                            <a:srgbClr val="1A5276"/>
                          </a:solidFill>
                          <a:latin typeface="Cambria"/>
                        </a:rPr>
                        <a:t>n</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brute force (ms)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meet-in-the-middle (ms)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speed-up</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r"/>
                      <a:r>
                        <a:rPr sz="1600" b="0" i="0">
                          <a:solidFill>
                            <a:srgbClr val="1C252B"/>
                          </a:solidFill>
                          <a:latin typeface="Segoe UI"/>
                        </a:rPr>
                        <a:t>20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55.0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0.20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279</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24</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557.4</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0.64</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864</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28</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8,114.2</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3.04</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2,668</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32</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(too slow)</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12.80</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11" name="body-2"/>
          <p:cNvSpPr txBox="1"/>
          <p:nvPr/>
        </p:nvSpPr>
        <p:spPr>
          <a:xfrm>
            <a:off x="1042416" y="4830114"/>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Halving the exponent doubles the reachable </a:t>
            </a:r>
            <a:r>
              <a:rPr sz="1900" b="1" i="1">
                <a:solidFill>
                  <a:srgbClr val="1C252B"/>
                </a:solidFill>
                <a:latin typeface="Cambria"/>
              </a:rPr>
              <a:t>n</a:t>
            </a:r>
            <a:r>
              <a:rPr sz="1900" b="0" i="0">
                <a:solidFill>
                  <a:srgbClr val="1C252B"/>
                </a:solidFill>
                <a:latin typeface="Segoe UI"/>
              </a:rPr>
              <a:t>, and at </a:t>
            </a:r>
            <a:r>
              <a:rPr sz="1900" b="0" i="1">
                <a:solidFill>
                  <a:srgbClr val="1C252B"/>
                </a:solidFill>
                <a:latin typeface="Cambria"/>
              </a:rPr>
              <a:t>n</a:t>
            </a:r>
            <a:r>
              <a:rPr sz="1900" b="0" i="0">
                <a:solidFill>
                  <a:srgbClr val="1C252B"/>
                </a:solidFill>
                <a:latin typeface="Cambria"/>
              </a:rPr>
              <a:t> = 28</a:t>
            </a:r>
            <a:r>
              <a:rPr sz="1900" b="0" i="0">
                <a:solidFill>
                  <a:srgbClr val="1C252B"/>
                </a:solidFill>
                <a:latin typeface="Segoe UI"/>
              </a:rPr>
              <a:t> it is 2,668</a:t>
            </a:r>
            <a:r>
              <a:rPr sz="1900" b="0" i="0">
                <a:solidFill>
                  <a:srgbClr val="1C252B"/>
                </a:solidFill>
                <a:latin typeface="Cambria"/>
              </a:rPr>
              <a:t>×</a:t>
            </a:r>
            <a:r>
              <a:rPr sz="1900" b="0" i="0">
                <a:solidFill>
                  <a:srgbClr val="1C252B"/>
                </a:solidFill>
                <a:latin typeface="Segoe UI"/>
              </a:rPr>
              <a:t> faster.</a:t>
            </a:r>
          </a:p>
        </p:txBody>
      </p:sp>
      <p:sp>
        <p:nvSpPr>
          <p:cNvPr id="12" name="body-2bar">
            <a:extLst>
              <a:ext uri="{C183D7F6-B498-43B3-948B-1728B52AA6E4}">
                <adec:decorative xmlns:adec="http://schemas.microsoft.com/office/drawing/2017/decorative" val="1"/>
              </a:ext>
            </a:extLst>
          </p:cNvPr>
          <p:cNvSpPr/>
          <p:nvPr/>
        </p:nvSpPr>
        <p:spPr>
          <a:xfrm>
            <a:off x="841248" y="4848402"/>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body-3"/>
          <p:cNvSpPr txBox="1"/>
          <p:nvPr/>
        </p:nvSpPr>
        <p:spPr>
          <a:xfrm>
            <a:off x="1042416" y="5263972"/>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But it is still exponential.</a:t>
            </a:r>
            <a:r>
              <a:rPr sz="1900" b="0" i="0">
                <a:solidFill>
                  <a:srgbClr val="1C252B"/>
                </a:solidFill>
                <a:latin typeface="Segoe UI"/>
              </a:rPr>
              <a:t> </a:t>
            </a:r>
            <a:r>
              <a:rPr sz="1900" b="0" i="0">
                <a:solidFill>
                  <a:srgbClr val="1C252B"/>
                </a:solidFill>
                <a:latin typeface="Cambria"/>
              </a:rPr>
              <a:t>2</a:t>
            </a:r>
            <a:r>
              <a:rPr sz="1250" b="0" i="1" baseline="30000">
                <a:solidFill>
                  <a:srgbClr val="1C252B"/>
                </a:solidFill>
                <a:latin typeface="Cambria"/>
              </a:rPr>
              <a:t>n</a:t>
            </a:r>
            <a:r>
              <a:rPr sz="1250" b="0" i="0" baseline="30000">
                <a:solidFill>
                  <a:srgbClr val="1C252B"/>
                </a:solidFill>
                <a:latin typeface="Cambria"/>
              </a:rPr>
              <a:t>/2</a:t>
            </a:r>
            <a:r>
              <a:rPr sz="1900" b="0" i="0">
                <a:solidFill>
                  <a:srgbClr val="1C252B"/>
                </a:solidFill>
                <a:latin typeface="Segoe UI"/>
              </a:rPr>
              <a:t> at </a:t>
            </a:r>
            <a:r>
              <a:rPr sz="1900" b="0" i="1">
                <a:solidFill>
                  <a:srgbClr val="1C252B"/>
                </a:solidFill>
                <a:latin typeface="Cambria"/>
              </a:rPr>
              <a:t>n</a:t>
            </a:r>
            <a:r>
              <a:rPr sz="1900" b="0" i="0">
                <a:solidFill>
                  <a:srgbClr val="1C252B"/>
                </a:solidFill>
                <a:latin typeface="Cambria"/>
              </a:rPr>
              <a:t> = 100</a:t>
            </a:r>
            <a:r>
              <a:rPr sz="1900" b="0" i="0">
                <a:solidFill>
                  <a:srgbClr val="1C252B"/>
                </a:solidFill>
                <a:latin typeface="Segoe UI"/>
              </a:rPr>
              <a:t> is </a:t>
            </a:r>
            <a:r>
              <a:rPr sz="1900" b="0" i="0">
                <a:solidFill>
                  <a:srgbClr val="1C252B"/>
                </a:solidFill>
                <a:latin typeface="Cambria"/>
              </a:rPr>
              <a:t>2</a:t>
            </a:r>
            <a:r>
              <a:rPr sz="1250" b="0" i="0" baseline="30000">
                <a:solidFill>
                  <a:srgbClr val="1C252B"/>
                </a:solidFill>
                <a:latin typeface="Cambria"/>
              </a:rPr>
              <a:t>50</a:t>
            </a:r>
            <a:r>
              <a:rPr sz="1900" b="0" i="0">
                <a:solidFill>
                  <a:srgbClr val="1C252B"/>
                </a:solidFill>
                <a:latin typeface="Segoe UI"/>
              </a:rPr>
              <a:t> — the two-year row of the previous table. Meet-in-the-middle moves the wall; it does not remove it, and no known technique does.</a:t>
            </a:r>
          </a:p>
        </p:txBody>
      </p:sp>
      <p:sp>
        <p:nvSpPr>
          <p:cNvPr id="14" name="body-3bar">
            <a:extLst>
              <a:ext uri="{C183D7F6-B498-43B3-948B-1728B52AA6E4}">
                <adec:decorative xmlns:adec="http://schemas.microsoft.com/office/drawing/2017/decorative" val="1"/>
              </a:ext>
            </a:extLst>
          </p:cNvPr>
          <p:cNvSpPr/>
          <p:nvPr/>
        </p:nvSpPr>
        <p:spPr>
          <a:xfrm>
            <a:off x="841248" y="5282260"/>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pfill">
            <a:extLst>
              <a:ext uri="{C183D7F6-B498-43B3-948B-1728B52AA6E4}">
                <adec:decorative xmlns:adec="http://schemas.microsoft.com/office/drawing/2017/decorative" val="1"/>
              </a:ext>
            </a:extLst>
          </p:cNvPr>
          <p:cNvSpPr/>
          <p:nvPr/>
        </p:nvSpPr>
        <p:spPr>
          <a:xfrm>
            <a:off x="0" y="0"/>
            <a:ext cx="430295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right)">
                                      <p:cBhvr>
                                        <p:cTn id="13" dur="42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2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right)">
                                      <p:cBhvr>
                                        <p:cTn id="21" dur="420"/>
                                        <p:tgtEl>
                                          <p:spTgt spid="1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Exponential Is Not One Speed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  ·  Complexity Classes: P, NP and NP-Completeness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§22.2  ·  Handout p. 182     </a:t>
            </a:r>
            <a:fld id="{58193E1E-DB2B-4B44-B6B5-238D299778EE}"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53209"/>
          </a:xfrm>
          <a:prstGeom prst="roundRect">
            <a:avLst>
              <a:gd name="adj" fmla="val 521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5320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practical lesson is worth separating from the theoretical one.</a:t>
            </a:r>
            <a:r>
              <a:rPr sz="1900" b="0" i="0">
                <a:solidFill>
                  <a:srgbClr val="1C252B"/>
                </a:solidFill>
                <a:latin typeface="Segoe UI"/>
              </a:rPr>
              <a:t> “NP-complete” does not mean “give up”. It means no </a:t>
            </a:r>
            <a:r>
              <a:rPr sz="1900" b="0" i="1">
                <a:solidFill>
                  <a:srgbClr val="1C252B"/>
                </a:solidFill>
                <a:latin typeface="Segoe UI"/>
              </a:rPr>
              <a:t>polynomial</a:t>
            </a:r>
            <a:r>
              <a:rPr sz="1900" b="0" i="0">
                <a:solidFill>
                  <a:srgbClr val="1C252B"/>
                </a:solidFill>
                <a:latin typeface="Segoe UI"/>
              </a:rPr>
              <a:t> algorithm is known, and a better exponential algorithm can still be the difference between </a:t>
            </a:r>
            <a:r>
              <a:rPr sz="1900" b="0" i="1">
                <a:solidFill>
                  <a:srgbClr val="1C252B"/>
                </a:solidFill>
                <a:latin typeface="Cambria"/>
              </a:rPr>
              <a:t>n</a:t>
            </a:r>
            <a:r>
              <a:rPr sz="1900" b="0" i="0">
                <a:solidFill>
                  <a:srgbClr val="1C252B"/>
                </a:solidFill>
                <a:latin typeface="Cambria"/>
              </a:rPr>
              <a:t> = 28</a:t>
            </a:r>
            <a:r>
              <a:rPr sz="1900" b="0" i="0">
                <a:solidFill>
                  <a:srgbClr val="1C252B"/>
                </a:solidFill>
                <a:latin typeface="Segoe UI"/>
              </a:rPr>
              <a:t> and </a:t>
            </a:r>
            <a:r>
              <a:rPr sz="1900" b="0" i="1">
                <a:solidFill>
                  <a:srgbClr val="1C252B"/>
                </a:solidFill>
                <a:latin typeface="Cambria"/>
              </a:rPr>
              <a:t>n</a:t>
            </a:r>
            <a:r>
              <a:rPr sz="1900" b="0" i="0">
                <a:solidFill>
                  <a:srgbClr val="1C252B"/>
                </a:solidFill>
                <a:latin typeface="Cambria"/>
              </a:rPr>
              <a:t> = 56</a:t>
            </a:r>
            <a:r>
              <a:rPr sz="1900" b="0" i="0">
                <a:solidFill>
                  <a:srgbClr val="1C252B"/>
                </a:solidFill>
                <a:latin typeface="Segoe UI"/>
              </a:rPr>
              <a:t> — which may be the difference between useless and useful.</a:t>
            </a:r>
          </a:p>
        </p:txBody>
      </p:sp>
      <p:sp>
        <p:nvSpPr>
          <p:cNvPr id="10" name="body-0bar">
            <a:extLst>
              <a:ext uri="{C183D7F6-B498-43B3-948B-1728B52AA6E4}">
                <adec:decorative xmlns:adec="http://schemas.microsoft.com/office/drawing/2017/decorative" val="1"/>
              </a:ext>
            </a:extLst>
          </p:cNvPr>
          <p:cNvSpPr/>
          <p:nvPr/>
        </p:nvSpPr>
        <p:spPr>
          <a:xfrm>
            <a:off x="841248" y="2029967"/>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454200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Reductions, and NP-Completeness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3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22.3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22.1   Decision Problems, and Two Classes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22.2   Measured: the Gap Between Checking and Finding</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22.3   Reductions, and NP-Completeness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22.4   Why Knapsack Does Not Settle It</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§22.3     </a:t>
            </a:r>
            <a:fld id="{2094323F-3274-4115-AA1D-4A42962F795A}" type="slidenum">
              <a:rPr lang="en-GB" sz="1000">
                <a:solidFill>
                  <a:srgbClr val="8795A1"/>
                </a:solidFill>
                <a:latin typeface="Segoe UI"/>
              </a:rPr>
              <a:t>20</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478105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Polynomial-Time Reduction</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  ·  Complexity Classes: P, NP and NP-Completeness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§22.3  ·  Handout p. 184     </a:t>
            </a:r>
            <a:fld id="{7119A880-5B3C-4F6A-B161-3A45FFA48959}" type="slidenum">
              <a:rPr lang="en-GB" sz="1000">
                <a:solidFill>
                  <a:srgbClr val="8795A1"/>
                </a:solidFill>
                <a:latin typeface="Segoe UI"/>
              </a:rPr>
              <a:t>21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268895"/>
          </a:xfrm>
          <a:prstGeom prst="roundRect">
            <a:avLst>
              <a:gd name="adj" fmla="val 403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26889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Problem </a:t>
            </a:r>
            <a:r>
              <a:rPr sz="2300" b="0" i="1">
                <a:solidFill>
                  <a:srgbClr val="1C252B"/>
                </a:solidFill>
                <a:latin typeface="Cambria"/>
              </a:rPr>
              <a:t>A</a:t>
            </a:r>
            <a:r>
              <a:rPr sz="2300" b="0" i="0">
                <a:solidFill>
                  <a:srgbClr val="1C252B"/>
                </a:solidFill>
                <a:latin typeface="Segoe UI"/>
              </a:rPr>
              <a:t> </a:t>
            </a:r>
            <a:r>
              <a:rPr sz="2300" b="1" i="0">
                <a:solidFill>
                  <a:srgbClr val="1A5276"/>
                </a:solidFill>
                <a:latin typeface="Segoe UI"/>
              </a:rPr>
              <a:t>reduces</a:t>
            </a:r>
            <a:r>
              <a:rPr sz="2300" b="0" i="0">
                <a:solidFill>
                  <a:srgbClr val="1C252B"/>
                </a:solidFill>
                <a:latin typeface="Segoe UI"/>
              </a:rPr>
              <a:t> to problem </a:t>
            </a:r>
            <a:r>
              <a:rPr sz="2300" b="0" i="1">
                <a:solidFill>
                  <a:srgbClr val="1C252B"/>
                </a:solidFill>
                <a:latin typeface="Cambria"/>
              </a:rPr>
              <a:t>B</a:t>
            </a:r>
            <a:r>
              <a:rPr sz="2300" b="0" i="0">
                <a:solidFill>
                  <a:srgbClr val="1C252B"/>
                </a:solidFill>
                <a:latin typeface="Segoe UI"/>
              </a:rPr>
              <a:t> — written </a:t>
            </a:r>
            <a:r>
              <a:rPr sz="2300" b="0" i="1">
                <a:solidFill>
                  <a:srgbClr val="1C252B"/>
                </a:solidFill>
                <a:latin typeface="Cambria"/>
              </a:rPr>
              <a:t>A</a:t>
            </a:r>
            <a:r>
              <a:rPr sz="2300" b="0" i="0">
                <a:solidFill>
                  <a:srgbClr val="1C252B"/>
                </a:solidFill>
                <a:latin typeface="Cambria"/>
              </a:rPr>
              <a:t> ≤</a:t>
            </a:r>
            <a:r>
              <a:rPr sz="1500" b="0" i="1" baseline="-25000">
                <a:solidFill>
                  <a:srgbClr val="1C252B"/>
                </a:solidFill>
                <a:latin typeface="Cambria"/>
              </a:rPr>
              <a:t>P</a:t>
            </a:r>
            <a:r>
              <a:rPr sz="2300" b="0" i="0">
                <a:solidFill>
                  <a:srgbClr val="1C252B"/>
                </a:solidFill>
                <a:latin typeface="Cambria"/>
              </a:rPr>
              <a:t> </a:t>
            </a:r>
            <a:r>
              <a:rPr sz="2300" b="0" i="1">
                <a:solidFill>
                  <a:srgbClr val="1C252B"/>
                </a:solidFill>
                <a:latin typeface="Cambria"/>
              </a:rPr>
              <a:t>B</a:t>
            </a:r>
            <a:r>
              <a:rPr sz="2300" b="0" i="0">
                <a:solidFill>
                  <a:srgbClr val="1C252B"/>
                </a:solidFill>
                <a:latin typeface="Segoe UI"/>
              </a:rPr>
              <a:t> — if there is a polynomial-time function </a:t>
            </a:r>
            <a:r>
              <a:rPr sz="2300" b="0" i="1">
                <a:solidFill>
                  <a:srgbClr val="1C252B"/>
                </a:solidFill>
                <a:latin typeface="Cambria"/>
              </a:rPr>
              <a:t>f</a:t>
            </a:r>
            <a:r>
              <a:rPr sz="2300" b="0" i="0">
                <a:solidFill>
                  <a:srgbClr val="1C252B"/>
                </a:solidFill>
                <a:latin typeface="Segoe UI"/>
              </a:rPr>
              <a:t> transforming any instance </a:t>
            </a:r>
            <a:r>
              <a:rPr sz="2300" b="0" i="1">
                <a:solidFill>
                  <a:srgbClr val="1C252B"/>
                </a:solidFill>
                <a:latin typeface="Cambria"/>
              </a:rPr>
              <a:t>x</a:t>
            </a:r>
            <a:r>
              <a:rPr sz="2300" b="0" i="0">
                <a:solidFill>
                  <a:srgbClr val="1C252B"/>
                </a:solidFill>
                <a:latin typeface="Segoe UI"/>
              </a:rPr>
              <a:t> of </a:t>
            </a:r>
            <a:r>
              <a:rPr sz="2300" b="0" i="1">
                <a:solidFill>
                  <a:srgbClr val="1C252B"/>
                </a:solidFill>
                <a:latin typeface="Cambria"/>
              </a:rPr>
              <a:t>A</a:t>
            </a:r>
            <a:r>
              <a:rPr sz="2300" b="0" i="0">
                <a:solidFill>
                  <a:srgbClr val="1C252B"/>
                </a:solidFill>
                <a:latin typeface="Segoe UI"/>
              </a:rPr>
              <a:t> into an instance </a:t>
            </a:r>
            <a:r>
              <a:rPr sz="2300" b="0" i="1">
                <a:solidFill>
                  <a:srgbClr val="1C252B"/>
                </a:solidFill>
                <a:latin typeface="Cambria"/>
              </a:rPr>
              <a:t>f</a:t>
            </a:r>
            <a:r>
              <a:rPr sz="2300" b="0" i="0">
                <a:solidFill>
                  <a:srgbClr val="1C252B"/>
                </a:solidFill>
                <a:latin typeface="Cambria"/>
              </a:rPr>
              <a:t>(</a:t>
            </a:r>
            <a:r>
              <a:rPr sz="2300" b="0" i="1">
                <a:solidFill>
                  <a:srgbClr val="1C252B"/>
                </a:solidFill>
                <a:latin typeface="Cambria"/>
              </a:rPr>
              <a:t>x</a:t>
            </a:r>
            <a:r>
              <a:rPr sz="2300" b="0" i="0">
                <a:solidFill>
                  <a:srgbClr val="1C252B"/>
                </a:solidFill>
                <a:latin typeface="Cambria"/>
              </a:rPr>
              <a:t>)</a:t>
            </a:r>
            <a:r>
              <a:rPr sz="2300" b="0" i="0">
                <a:solidFill>
                  <a:srgbClr val="1C252B"/>
                </a:solidFill>
                <a:latin typeface="Segoe UI"/>
              </a:rPr>
              <a:t> of </a:t>
            </a:r>
            <a:r>
              <a:rPr sz="2300" b="0" i="1">
                <a:solidFill>
                  <a:srgbClr val="1C252B"/>
                </a:solidFill>
                <a:latin typeface="Cambria"/>
              </a:rPr>
              <a:t>B</a:t>
            </a:r>
            <a:r>
              <a:rPr sz="2300" b="0" i="0">
                <a:solidFill>
                  <a:srgbClr val="1C252B"/>
                </a:solidFill>
                <a:latin typeface="Segoe UI"/>
              </a:rPr>
              <a:t> such that</a:t>
            </a:r>
          </a:p>
        </p:txBody>
      </p:sp>
      <p:pic>
        <p:nvPicPr>
          <p:cNvPr id="10" name="body-1" descr="x \text{ is a yes-instance of } A \iff f(x) \text{ is a yes-instance of } B."/>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3302533"/>
            <a:ext cx="10161727" cy="392826"/>
          </a:xfrm>
          <a:prstGeom prst="rect">
            <a:avLst/>
          </a:prstGeom>
        </p:spPr>
      </p:pic>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502010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Which way round, and why it is easy to get backwards</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  ·  Complexity Classes: P, NP and NP-Completeness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§22.3  ·  Handout p. 184     </a:t>
            </a:r>
            <a:fld id="{A41FC1DE-CD33-4E8C-8034-63F254642052}" type="slidenum">
              <a:rPr lang="en-GB" sz="1000">
                <a:solidFill>
                  <a:srgbClr val="8795A1"/>
                </a:solidFill>
                <a:latin typeface="Segoe UI"/>
              </a:rPr>
              <a:t>22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494887"/>
          </a:xfrm>
          <a:prstGeom prst="roundRect">
            <a:avLst>
              <a:gd name="adj" fmla="val 2616"/>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494887"/>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1">
                <a:solidFill>
                  <a:srgbClr val="1C252B"/>
                </a:solidFill>
                <a:latin typeface="Cambria"/>
              </a:rPr>
              <a:t>A</a:t>
            </a:r>
            <a:r>
              <a:rPr sz="2300" b="0" i="0">
                <a:solidFill>
                  <a:srgbClr val="1C252B"/>
                </a:solidFill>
                <a:latin typeface="Cambria"/>
              </a:rPr>
              <a:t> ≤</a:t>
            </a:r>
            <a:r>
              <a:rPr sz="1500" b="0" i="1" baseline="-25000">
                <a:solidFill>
                  <a:srgbClr val="1C252B"/>
                </a:solidFill>
                <a:latin typeface="Cambria"/>
              </a:rPr>
              <a:t>P</a:t>
            </a:r>
            <a:r>
              <a:rPr sz="2300" b="0" i="0">
                <a:solidFill>
                  <a:srgbClr val="1C252B"/>
                </a:solidFill>
                <a:latin typeface="Cambria"/>
              </a:rPr>
              <a:t> </a:t>
            </a:r>
            <a:r>
              <a:rPr sz="2300" b="0" i="1">
                <a:solidFill>
                  <a:srgbClr val="1C252B"/>
                </a:solidFill>
                <a:latin typeface="Cambria"/>
              </a:rPr>
              <a:t>B</a:t>
            </a:r>
            <a:r>
              <a:rPr sz="2300" b="0" i="0">
                <a:solidFill>
                  <a:srgbClr val="1C252B"/>
                </a:solidFill>
                <a:latin typeface="Segoe UI"/>
              </a:rPr>
              <a:t> means </a:t>
            </a:r>
            <a:r>
              <a:rPr sz="2300" b="1" i="1">
                <a:solidFill>
                  <a:srgbClr val="1C252B"/>
                </a:solidFill>
                <a:latin typeface="Cambria"/>
              </a:rPr>
              <a:t>B</a:t>
            </a:r>
            <a:r>
              <a:rPr sz="2300" b="1" i="0">
                <a:solidFill>
                  <a:srgbClr val="1C252B"/>
                </a:solidFill>
                <a:latin typeface="Segoe UI"/>
              </a:rPr>
              <a:t> is at least as hard as </a:t>
            </a:r>
            <a:r>
              <a:rPr sz="2300" b="1" i="1">
                <a:solidFill>
                  <a:srgbClr val="1C252B"/>
                </a:solidFill>
                <a:latin typeface="Cambria"/>
              </a:rPr>
              <a:t>A</a:t>
            </a:r>
            <a:r>
              <a:rPr sz="2300" b="0" i="0">
                <a:solidFill>
                  <a:srgbClr val="1C252B"/>
                </a:solidFill>
                <a:latin typeface="Segoe UI"/>
              </a:rPr>
              <a:t>.</a:t>
            </a:r>
          </a:p>
        </p:txBody>
      </p:sp>
      <p:sp>
        <p:nvSpPr>
          <p:cNvPr id="10" name="body-1"/>
          <p:cNvSpPr txBox="1"/>
          <p:nvPr/>
        </p:nvSpPr>
        <p:spPr>
          <a:xfrm>
            <a:off x="1060704" y="2573451"/>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If you had a fast algorithm for </a:t>
            </a:r>
            <a:r>
              <a:rPr sz="2300" b="0" i="1">
                <a:solidFill>
                  <a:srgbClr val="1C252B"/>
                </a:solidFill>
                <a:latin typeface="Cambria"/>
              </a:rPr>
              <a:t>B</a:t>
            </a:r>
            <a:r>
              <a:rPr sz="2300" b="0" i="0">
                <a:solidFill>
                  <a:srgbClr val="1C252B"/>
                </a:solidFill>
                <a:latin typeface="Segoe UI"/>
              </a:rPr>
              <a:t> you could solve </a:t>
            </a:r>
            <a:r>
              <a:rPr sz="2300" b="0" i="1">
                <a:solidFill>
                  <a:srgbClr val="1C252B"/>
                </a:solidFill>
                <a:latin typeface="Cambria"/>
              </a:rPr>
              <a:t>A</a:t>
            </a:r>
            <a:r>
              <a:rPr sz="2300" b="0" i="0">
                <a:solidFill>
                  <a:srgbClr val="1C252B"/>
                </a:solidFill>
                <a:latin typeface="Segoe UI"/>
              </a:rPr>
              <a:t> fast: transform, then solve. So a fast </a:t>
            </a:r>
            <a:r>
              <a:rPr sz="2300" b="0" i="1">
                <a:solidFill>
                  <a:srgbClr val="1C252B"/>
                </a:solidFill>
                <a:latin typeface="Cambria"/>
              </a:rPr>
              <a:t>B</a:t>
            </a:r>
            <a:r>
              <a:rPr sz="2300" b="0" i="0">
                <a:solidFill>
                  <a:srgbClr val="1C252B"/>
                </a:solidFill>
                <a:latin typeface="Segoe UI"/>
              </a:rPr>
              <a:t> gives a fast </a:t>
            </a:r>
            <a:r>
              <a:rPr sz="2300" b="0" i="1">
                <a:solidFill>
                  <a:srgbClr val="1C252B"/>
                </a:solidFill>
                <a:latin typeface="Cambria"/>
              </a:rPr>
              <a:t>A</a:t>
            </a:r>
            <a:r>
              <a:rPr sz="2300" b="0" i="0">
                <a:solidFill>
                  <a:srgbClr val="1C252B"/>
                </a:solidFill>
                <a:latin typeface="Segoe UI"/>
              </a:rPr>
              <a:t> — meaning </a:t>
            </a:r>
            <a:r>
              <a:rPr sz="2300" b="0" i="1">
                <a:solidFill>
                  <a:srgbClr val="1C252B"/>
                </a:solidFill>
                <a:latin typeface="Cambria"/>
              </a:rPr>
              <a:t>B</a:t>
            </a:r>
            <a:r>
              <a:rPr sz="2300" b="0" i="0">
                <a:solidFill>
                  <a:srgbClr val="1C252B"/>
                </a:solidFill>
                <a:latin typeface="Segoe UI"/>
              </a:rPr>
              <a:t> cannot be easier than </a:t>
            </a:r>
            <a:r>
              <a:rPr sz="2300" b="0" i="1">
                <a:solidFill>
                  <a:srgbClr val="1C252B"/>
                </a:solidFill>
                <a:latin typeface="Cambria"/>
              </a:rPr>
              <a:t>A</a:t>
            </a:r>
            <a:r>
              <a:rPr sz="2300" b="0" i="0">
                <a:solidFill>
                  <a:srgbClr val="1C252B"/>
                </a:solidFill>
                <a:latin typeface="Segoe UI"/>
              </a:rPr>
              <a:t>.</a:t>
            </a:r>
          </a:p>
        </p:txBody>
      </p:sp>
      <p:sp>
        <p:nvSpPr>
          <p:cNvPr id="11" name="body-2"/>
          <p:cNvSpPr txBox="1"/>
          <p:nvPr/>
        </p:nvSpPr>
        <p:spPr>
          <a:xfrm>
            <a:off x="1060704" y="3463188"/>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F618D"/>
                </a:solidFill>
                <a:latin typeface="Segoe UI"/>
              </a:rPr>
              <a:t>The direction students reverse.</a:t>
            </a:r>
            <a:r>
              <a:rPr sz="2300" b="0" i="0">
                <a:solidFill>
                  <a:srgbClr val="1C252B"/>
                </a:solidFill>
                <a:latin typeface="Segoe UI"/>
              </a:rPr>
              <a:t> To prove your new problem </a:t>
            </a:r>
            <a:r>
              <a:rPr sz="2300" b="0" i="1">
                <a:solidFill>
                  <a:srgbClr val="1C252B"/>
                </a:solidFill>
                <a:latin typeface="Cambria"/>
              </a:rPr>
              <a:t>X</a:t>
            </a:r>
            <a:r>
              <a:rPr sz="2300" b="0" i="0">
                <a:solidFill>
                  <a:srgbClr val="1C252B"/>
                </a:solidFill>
                <a:latin typeface="Segoe UI"/>
              </a:rPr>
              <a:t> is hard, you reduce a </a:t>
            </a:r>
            <a:r>
              <a:rPr sz="2300" b="0" i="1">
                <a:solidFill>
                  <a:srgbClr val="1C252B"/>
                </a:solidFill>
                <a:latin typeface="Segoe UI"/>
              </a:rPr>
              <a:t>known hard</a:t>
            </a:r>
            <a:r>
              <a:rPr sz="2300" b="0" i="0">
                <a:solidFill>
                  <a:srgbClr val="1C252B"/>
                </a:solidFill>
                <a:latin typeface="Segoe UI"/>
              </a:rPr>
              <a:t> problem </a:t>
            </a:r>
            <a:r>
              <a:rPr sz="2300" b="0" i="1">
                <a:solidFill>
                  <a:srgbClr val="1C252B"/>
                </a:solidFill>
                <a:latin typeface="Segoe UI"/>
              </a:rPr>
              <a:t>to</a:t>
            </a:r>
            <a:r>
              <a:rPr sz="2300" b="0" i="0">
                <a:solidFill>
                  <a:srgbClr val="1C252B"/>
                </a:solidFill>
                <a:latin typeface="Segoe UI"/>
              </a:rPr>
              <a:t> </a:t>
            </a:r>
            <a:r>
              <a:rPr sz="2300" b="0" i="1">
                <a:solidFill>
                  <a:srgbClr val="1C252B"/>
                </a:solidFill>
                <a:latin typeface="Cambria"/>
              </a:rPr>
              <a:t>X</a:t>
            </a:r>
            <a:r>
              <a:rPr sz="2300" b="0" i="0">
                <a:solidFill>
                  <a:srgbClr val="1C252B"/>
                </a:solidFill>
                <a:latin typeface="Segoe UI"/>
              </a:rPr>
              <a:t> — that is, SAT</a:t>
            </a:r>
            <a:r>
              <a:rPr sz="2300" b="0" i="0">
                <a:solidFill>
                  <a:srgbClr val="1C252B"/>
                </a:solidFill>
                <a:latin typeface="Cambria"/>
              </a:rPr>
              <a:t> ≤</a:t>
            </a:r>
            <a:r>
              <a:rPr sz="1500" b="0" i="1" baseline="-25000">
                <a:solidFill>
                  <a:srgbClr val="1C252B"/>
                </a:solidFill>
                <a:latin typeface="Cambria"/>
              </a:rPr>
              <a:t>P</a:t>
            </a:r>
            <a:r>
              <a:rPr sz="2300" b="0" i="0">
                <a:solidFill>
                  <a:srgbClr val="1C252B"/>
                </a:solidFill>
                <a:latin typeface="Cambria"/>
              </a:rPr>
              <a:t> </a:t>
            </a:r>
            <a:r>
              <a:rPr sz="2300" b="0" i="1">
                <a:solidFill>
                  <a:srgbClr val="1C252B"/>
                </a:solidFill>
                <a:latin typeface="Cambria"/>
              </a:rPr>
              <a:t>X</a:t>
            </a:r>
            <a:r>
              <a:rPr sz="2300" b="0" i="0">
                <a:solidFill>
                  <a:srgbClr val="1C252B"/>
                </a:solidFill>
                <a:latin typeface="Segoe UI"/>
              </a:rPr>
              <a:t>. Reducing </a:t>
            </a:r>
            <a:r>
              <a:rPr sz="2300" b="0" i="1">
                <a:solidFill>
                  <a:srgbClr val="1C252B"/>
                </a:solidFill>
                <a:latin typeface="Cambria"/>
              </a:rPr>
              <a:t>X</a:t>
            </a:r>
            <a:r>
              <a:rPr sz="2300" b="0" i="0">
                <a:solidFill>
                  <a:srgbClr val="1C252B"/>
                </a:solidFill>
                <a:latin typeface="Segoe UI"/>
              </a:rPr>
              <a:t> to SAT proves only that </a:t>
            </a:r>
            <a:r>
              <a:rPr sz="2300" b="0" i="1">
                <a:solidFill>
                  <a:srgbClr val="1C252B"/>
                </a:solidFill>
                <a:latin typeface="Cambria"/>
              </a:rPr>
              <a:t>X</a:t>
            </a:r>
            <a:r>
              <a:rPr sz="2300" b="0" i="0">
                <a:solidFill>
                  <a:srgbClr val="1C252B"/>
                </a:solidFill>
                <a:latin typeface="Segoe UI"/>
              </a:rPr>
              <a:t> is no harder than SAT, which is true of every problem in NP and says nothing.</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525916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Reduction, Actually Run</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  ·  Complexity Classes: P, NP and NP-Completeness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§22.3  ·  Handout p. 184     </a:t>
            </a:r>
            <a:fld id="{4A43A390-6F4E-45C9-9DCD-FCB901BFEE39}" type="slidenum">
              <a:rPr lang="en-GB" sz="1000">
                <a:solidFill>
                  <a:srgbClr val="8795A1"/>
                </a:solidFill>
                <a:latin typeface="Segoe UI"/>
              </a:rPr>
              <a:t>23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90924"/>
          </a:xfrm>
          <a:prstGeom prst="roundRect">
            <a:avLst>
              <a:gd name="adj" fmla="val 223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909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Independent set and vertex cover are the same problem wearing different clothes: </a:t>
            </a:r>
            <a:r>
              <a:rPr sz="1900" b="0" i="1">
                <a:solidFill>
                  <a:srgbClr val="1C252B"/>
                </a:solidFill>
                <a:latin typeface="Cambria"/>
              </a:rPr>
              <a:t>S</a:t>
            </a:r>
            <a:r>
              <a:rPr sz="1900" b="0" i="0">
                <a:solidFill>
                  <a:srgbClr val="1C252B"/>
                </a:solidFill>
                <a:latin typeface="Segoe UI"/>
              </a:rPr>
              <a:t> is an independent set of </a:t>
            </a:r>
            <a:r>
              <a:rPr sz="1900" b="0" i="1">
                <a:solidFill>
                  <a:srgbClr val="1C252B"/>
                </a:solidFill>
                <a:latin typeface="Cambria"/>
              </a:rPr>
              <a:t>G</a:t>
            </a:r>
            <a:r>
              <a:rPr sz="1900" b="0" i="0">
                <a:solidFill>
                  <a:srgbClr val="1C252B"/>
                </a:solidFill>
                <a:latin typeface="Segoe UI"/>
              </a:rPr>
              <a:t> exactly when </a:t>
            </a:r>
            <a:r>
              <a:rPr sz="1900" b="0" i="1">
                <a:solidFill>
                  <a:srgbClr val="1C252B"/>
                </a:solidFill>
                <a:latin typeface="Cambria"/>
              </a:rPr>
              <a:t>V</a:t>
            </a:r>
            <a:r>
              <a:rPr sz="1900" b="0" i="0">
                <a:solidFill>
                  <a:srgbClr val="1C252B"/>
                </a:solidFill>
                <a:latin typeface="Cambria"/>
              </a:rPr>
              <a:t> </a:t>
            </a:r>
            <a:r>
              <a:rPr sz="1900" b="0" i="1">
                <a:solidFill>
                  <a:srgbClr val="1C252B"/>
                </a:solidFill>
                <a:latin typeface="Cambria"/>
              </a:rPr>
              <a:t>S</a:t>
            </a:r>
            <a:r>
              <a:rPr sz="1900" b="0" i="0">
                <a:solidFill>
                  <a:srgbClr val="1C252B"/>
                </a:solidFill>
                <a:latin typeface="Segoe UI"/>
              </a:rPr>
              <a:t> is a vertex cover.</a:t>
            </a:r>
          </a:p>
        </p:txBody>
      </p:sp>
      <p:sp>
        <p:nvSpPr>
          <p:cNvPr id="10" name="body-1"/>
          <p:cNvSpPr txBox="1"/>
          <p:nvPr/>
        </p:nvSpPr>
        <p:spPr>
          <a:xfrm>
            <a:off x="1042416" y="2746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Why.</a:t>
            </a:r>
            <a:r>
              <a:rPr sz="1900" b="0" i="0">
                <a:solidFill>
                  <a:srgbClr val="1C252B"/>
                </a:solidFill>
                <a:latin typeface="Segoe UI"/>
              </a:rPr>
              <a:t> </a:t>
            </a:r>
            <a:r>
              <a:rPr sz="1900" b="0" i="1">
                <a:solidFill>
                  <a:srgbClr val="1C252B"/>
                </a:solidFill>
                <a:latin typeface="Cambria"/>
              </a:rPr>
              <a:t>S</a:t>
            </a:r>
            <a:r>
              <a:rPr sz="1900" b="0" i="0">
                <a:solidFill>
                  <a:srgbClr val="1C252B"/>
                </a:solidFill>
                <a:latin typeface="Segoe UI"/>
              </a:rPr>
              <a:t> is independent iff no edge has both endpoints in </a:t>
            </a:r>
            <a:r>
              <a:rPr sz="1900" b="0" i="1">
                <a:solidFill>
                  <a:srgbClr val="1C252B"/>
                </a:solidFill>
                <a:latin typeface="Cambria"/>
              </a:rPr>
              <a:t>S</a:t>
            </a:r>
            <a:r>
              <a:rPr sz="1900" b="0" i="0">
                <a:solidFill>
                  <a:srgbClr val="1C252B"/>
                </a:solidFill>
                <a:latin typeface="Segoe UI"/>
              </a:rPr>
              <a:t>, iff every edge has at least one endpoint outside </a:t>
            </a:r>
            <a:r>
              <a:rPr sz="1900" b="0" i="1">
                <a:solidFill>
                  <a:srgbClr val="1C252B"/>
                </a:solidFill>
                <a:latin typeface="Cambria"/>
              </a:rPr>
              <a:t>S</a:t>
            </a:r>
            <a:r>
              <a:rPr sz="1900" b="0" i="0">
                <a:solidFill>
                  <a:srgbClr val="1C252B"/>
                </a:solidFill>
                <a:latin typeface="Segoe UI"/>
              </a:rPr>
              <a:t>, iff </a:t>
            </a:r>
            <a:r>
              <a:rPr sz="1900" b="0" i="1">
                <a:solidFill>
                  <a:srgbClr val="1C252B"/>
                </a:solidFill>
                <a:latin typeface="Cambria"/>
              </a:rPr>
              <a:t>V</a:t>
            </a:r>
            <a:r>
              <a:rPr sz="1900" b="0" i="0">
                <a:solidFill>
                  <a:srgbClr val="1C252B"/>
                </a:solidFill>
                <a:latin typeface="Cambria"/>
              </a:rPr>
              <a:t> </a:t>
            </a:r>
            <a:r>
              <a:rPr sz="1900" b="0" i="1">
                <a:solidFill>
                  <a:srgbClr val="1C252B"/>
                </a:solidFill>
                <a:latin typeface="Cambria"/>
              </a:rPr>
              <a:t>S</a:t>
            </a:r>
            <a:r>
              <a:rPr sz="1900" b="0" i="0">
                <a:solidFill>
                  <a:srgbClr val="1C252B"/>
                </a:solidFill>
                <a:latin typeface="Segoe UI"/>
              </a:rPr>
              <a:t> covers every edge.</a:t>
            </a:r>
          </a:p>
        </p:txBody>
      </p:sp>
      <p:sp>
        <p:nvSpPr>
          <p:cNvPr id="11" name="body-2"/>
          <p:cNvSpPr txBox="1"/>
          <p:nvPr/>
        </p:nvSpPr>
        <p:spPr>
          <a:xfrm>
            <a:off x="1042416" y="348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So “is there an independent set of size </a:t>
            </a:r>
            <a:r>
              <a:rPr sz="1900" b="0" i="0">
                <a:solidFill>
                  <a:srgbClr val="1C252B"/>
                </a:solidFill>
                <a:latin typeface="Cambria"/>
              </a:rPr>
              <a:t>≥ </a:t>
            </a:r>
            <a:r>
              <a:rPr sz="1900" b="0" i="1">
                <a:solidFill>
                  <a:srgbClr val="1C252B"/>
                </a:solidFill>
                <a:latin typeface="Cambria"/>
              </a:rPr>
              <a:t>k</a:t>
            </a:r>
            <a:r>
              <a:rPr sz="1900" b="0" i="0">
                <a:solidFill>
                  <a:srgbClr val="1C252B"/>
                </a:solidFill>
                <a:latin typeface="Segoe UI"/>
              </a:rPr>
              <a:t>?” and “is there a vertex cover of size </a:t>
            </a:r>
            <a:r>
              <a:rPr sz="1900" b="0" i="0">
                <a:solidFill>
                  <a:srgbClr val="1C252B"/>
                </a:solidFill>
                <a:latin typeface="Cambria"/>
              </a:rPr>
              <a:t>≤ |</a:t>
            </a:r>
            <a:r>
              <a:rPr sz="1900" b="0" i="1">
                <a:solidFill>
                  <a:srgbClr val="1C252B"/>
                </a:solidFill>
                <a:latin typeface="Cambria"/>
              </a:rPr>
              <a:t>V</a:t>
            </a:r>
            <a:r>
              <a:rPr sz="1900" b="0" i="0">
                <a:solidFill>
                  <a:srgbClr val="1C252B"/>
                </a:solidFill>
                <a:latin typeface="Cambria"/>
              </a:rPr>
              <a:t>|−</a:t>
            </a:r>
            <a:r>
              <a:rPr sz="1900" b="0" i="1">
                <a:solidFill>
                  <a:srgbClr val="1C252B"/>
                </a:solidFill>
                <a:latin typeface="Cambria"/>
              </a:rPr>
              <a:t>k</a:t>
            </a:r>
            <a:r>
              <a:rPr sz="1900" b="0" i="0">
                <a:solidFill>
                  <a:srgbClr val="1C252B"/>
                </a:solidFill>
                <a:latin typeface="Segoe UI"/>
              </a:rPr>
              <a:t>?” have the same answer, and the transformation </a:t>
            </a:r>
            <a:r>
              <a:rPr sz="1900" b="0" i="1">
                <a:solidFill>
                  <a:srgbClr val="1C252B"/>
                </a:solidFill>
                <a:latin typeface="Cambria"/>
              </a:rPr>
              <a:t>k</a:t>
            </a:r>
            <a:r>
              <a:rPr sz="1900" b="0" i="0">
                <a:solidFill>
                  <a:srgbClr val="1C252B"/>
                </a:solidFill>
                <a:latin typeface="Cambria"/>
              </a:rPr>
              <a:t> ↦ |</a:t>
            </a:r>
            <a:r>
              <a:rPr sz="1900" b="0" i="1">
                <a:solidFill>
                  <a:srgbClr val="1C252B"/>
                </a:solidFill>
                <a:latin typeface="Cambria"/>
              </a:rPr>
              <a:t>V</a:t>
            </a:r>
            <a:r>
              <a:rPr sz="1900" b="0" i="0">
                <a:solidFill>
                  <a:srgbClr val="1C252B"/>
                </a:solidFill>
                <a:latin typeface="Cambria"/>
              </a:rPr>
              <a:t>|−</a:t>
            </a:r>
            <a:r>
              <a:rPr sz="1900" b="0" i="1">
                <a:solidFill>
                  <a:srgbClr val="1C252B"/>
                </a:solidFill>
                <a:latin typeface="Cambria"/>
              </a:rPr>
              <a:t>k</a:t>
            </a:r>
            <a:r>
              <a:rPr sz="1900" b="0" i="0">
                <a:solidFill>
                  <a:srgbClr val="1C252B"/>
                </a:solidFill>
                <a:latin typeface="Segoe UI"/>
              </a:rPr>
              <a:t> takes constant time. A reduction is a translation, and a translation can be tested:</a:t>
            </a:r>
          </a:p>
        </p:txBody>
      </p:sp>
      <p:sp>
        <p:nvSpPr>
          <p:cNvPr id="12" name="body-3"/>
          <p:cNvSpPr txBox="1"/>
          <p:nvPr/>
        </p:nvSpPr>
        <p:spPr>
          <a:xfrm>
            <a:off x="1042416" y="4517821"/>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3,000 random graphs. Answers differ in 0.</a:t>
            </a:r>
          </a:p>
        </p:txBody>
      </p:sp>
      <p:sp>
        <p:nvSpPr>
          <p:cNvPr id="13" name="body-4"/>
          <p:cNvSpPr txBox="1"/>
          <p:nvPr/>
        </p:nvSpPr>
        <p:spPr>
          <a:xfrm>
            <a:off x="1042416" y="495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That is not a proof — the argument above is the proof — but it is the kind of check that catches a reduction stated with an off-by-one, which is the commonest way to get one wrong.</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549821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NP-hard, NP-complete</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  ·  Complexity Classes: P, NP and NP-Completeness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§22.3  ·  Handout p. 184     </a:t>
            </a:r>
            <a:fld id="{AB2BFF49-9AED-4CDC-A9FC-C78DFCC71C8F}" type="slidenum">
              <a:rPr lang="en-GB" sz="1000">
                <a:solidFill>
                  <a:srgbClr val="8795A1"/>
                </a:solidFill>
                <a:latin typeface="Segoe UI"/>
              </a:rPr>
              <a:t>24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240610"/>
          </a:xfrm>
          <a:prstGeom prst="roundRect">
            <a:avLst>
              <a:gd name="adj" fmla="val 4081"/>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240610"/>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problem </a:t>
            </a:r>
            <a:r>
              <a:rPr sz="2300" b="0" i="1">
                <a:solidFill>
                  <a:srgbClr val="1C252B"/>
                </a:solidFill>
                <a:latin typeface="Cambria"/>
              </a:rPr>
              <a:t>B</a:t>
            </a:r>
            <a:r>
              <a:rPr sz="2300" b="0" i="0">
                <a:solidFill>
                  <a:srgbClr val="1C252B"/>
                </a:solidFill>
                <a:latin typeface="Segoe UI"/>
              </a:rPr>
              <a:t> is </a:t>
            </a:r>
            <a:r>
              <a:rPr sz="2300" b="1" i="0">
                <a:solidFill>
                  <a:srgbClr val="1A5276"/>
                </a:solidFill>
                <a:latin typeface="Segoe UI"/>
              </a:rPr>
              <a:t>NP-hard</a:t>
            </a:r>
            <a:r>
              <a:rPr sz="2300" b="0" i="0">
                <a:solidFill>
                  <a:srgbClr val="1C252B"/>
                </a:solidFill>
                <a:latin typeface="Segoe UI"/>
              </a:rPr>
              <a:t> if </a:t>
            </a:r>
            <a:r>
              <a:rPr sz="2300" b="0" i="1">
                <a:solidFill>
                  <a:srgbClr val="1C252B"/>
                </a:solidFill>
                <a:latin typeface="Cambria"/>
              </a:rPr>
              <a:t>A</a:t>
            </a:r>
            <a:r>
              <a:rPr sz="2300" b="0" i="0">
                <a:solidFill>
                  <a:srgbClr val="1C252B"/>
                </a:solidFill>
                <a:latin typeface="Cambria"/>
              </a:rPr>
              <a:t> ≤</a:t>
            </a:r>
            <a:r>
              <a:rPr sz="1500" b="0" i="1" baseline="-25000">
                <a:solidFill>
                  <a:srgbClr val="1C252B"/>
                </a:solidFill>
                <a:latin typeface="Cambria"/>
              </a:rPr>
              <a:t>P</a:t>
            </a:r>
            <a:r>
              <a:rPr sz="2300" b="0" i="0">
                <a:solidFill>
                  <a:srgbClr val="1C252B"/>
                </a:solidFill>
                <a:latin typeface="Cambria"/>
              </a:rPr>
              <a:t> </a:t>
            </a:r>
            <a:r>
              <a:rPr sz="2300" b="0" i="1">
                <a:solidFill>
                  <a:srgbClr val="1C252B"/>
                </a:solidFill>
                <a:latin typeface="Cambria"/>
              </a:rPr>
              <a:t>B</a:t>
            </a:r>
            <a:r>
              <a:rPr sz="2300" b="0" i="0">
                <a:solidFill>
                  <a:srgbClr val="1C252B"/>
                </a:solidFill>
                <a:latin typeface="Segoe UI"/>
              </a:rPr>
              <a:t> for </a:t>
            </a:r>
            <a:r>
              <a:rPr sz="2300" b="0" i="1">
                <a:solidFill>
                  <a:srgbClr val="1C252B"/>
                </a:solidFill>
                <a:latin typeface="Segoe UI"/>
              </a:rPr>
              <a:t>every</a:t>
            </a:r>
            <a:r>
              <a:rPr sz="2300" b="0" i="0">
                <a:solidFill>
                  <a:srgbClr val="1C252B"/>
                </a:solidFill>
                <a:latin typeface="Segoe UI"/>
              </a:rPr>
              <a:t> </a:t>
            </a:r>
            <a:r>
              <a:rPr sz="2300" b="0" i="1">
                <a:solidFill>
                  <a:srgbClr val="1C252B"/>
                </a:solidFill>
                <a:latin typeface="Cambria"/>
              </a:rPr>
              <a:t>A</a:t>
            </a:r>
            <a:r>
              <a:rPr sz="2300" b="0" i="0">
                <a:solidFill>
                  <a:srgbClr val="1C252B"/>
                </a:solidFill>
                <a:latin typeface="Cambria"/>
              </a:rPr>
              <a:t> ∈ </a:t>
            </a:r>
            <a:r>
              <a:rPr sz="2300" b="0" i="0">
                <a:solidFill>
                  <a:srgbClr val="1C252B"/>
                </a:solidFill>
                <a:latin typeface="Segoe UI"/>
              </a:rPr>
              <a:t>NP. It is </a:t>
            </a:r>
            <a:r>
              <a:rPr sz="2300" b="1" i="0">
                <a:solidFill>
                  <a:srgbClr val="1A5276"/>
                </a:solidFill>
                <a:latin typeface="Segoe UI"/>
              </a:rPr>
              <a:t>NP-complete</a:t>
            </a:r>
            <a:r>
              <a:rPr sz="2300" b="0" i="0">
                <a:solidFill>
                  <a:srgbClr val="1C252B"/>
                </a:solidFill>
                <a:latin typeface="Segoe UI"/>
              </a:rPr>
              <a:t> if it is NP-hard </a:t>
            </a:r>
            <a:r>
              <a:rPr sz="2300" b="0" i="1">
                <a:solidFill>
                  <a:srgbClr val="1C252B"/>
                </a:solidFill>
                <a:latin typeface="Segoe UI"/>
              </a:rPr>
              <a:t>and</a:t>
            </a:r>
            <a:r>
              <a:rPr sz="2300" b="0" i="0">
                <a:solidFill>
                  <a:srgbClr val="1C252B"/>
                </a:solidFill>
                <a:latin typeface="Segoe UI"/>
              </a:rPr>
              <a:t> in NP.</a:t>
            </a:r>
          </a:p>
        </p:txBody>
      </p:sp>
      <p:sp>
        <p:nvSpPr>
          <p:cNvPr id="10" name="body-1"/>
          <p:cNvSpPr txBox="1"/>
          <p:nvPr/>
        </p:nvSpPr>
        <p:spPr>
          <a:xfrm>
            <a:off x="1060704" y="2937992"/>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NP-hard problems need not be in NP — the halting problem is NP-hard and is not in NP, since it is not decidable at all.</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573726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one NP-complete problem settles them all</a:t>
            </a:r>
          </a:p>
        </p:txBody>
      </p:sp>
      <p:pic>
        <p:nvPicPr>
          <p:cNvPr id="3" name="!!kicker-icon" descr="award-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THEOREM 22.1</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  ·  Complexity Classes: P, NP and NP-Completeness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§22.3  ·  Handout p. 184     </a:t>
            </a:r>
            <a:fld id="{72D84975-4E02-4481-9756-F938793F94F2}" type="slidenum">
              <a:rPr lang="en-GB" sz="1000">
                <a:solidFill>
                  <a:srgbClr val="8795A1"/>
                </a:solidFill>
                <a:latin typeface="Segoe UI"/>
              </a:rPr>
              <a:t>25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986332"/>
          </a:xfrm>
          <a:prstGeom prst="roundRect">
            <a:avLst>
              <a:gd name="adj" fmla="val 9270"/>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98633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If any NP-complete problem is in P, then P</a:t>
            </a:r>
            <a:r>
              <a:rPr sz="2300" b="0" i="0">
                <a:solidFill>
                  <a:srgbClr val="1C252B"/>
                </a:solidFill>
                <a:latin typeface="Cambria"/>
              </a:rPr>
              <a:t> = </a:t>
            </a:r>
            <a:r>
              <a:rPr sz="2300" b="0" i="0">
                <a:solidFill>
                  <a:srgbClr val="1C252B"/>
                </a:solidFill>
                <a:latin typeface="Segoe UI"/>
              </a:rPr>
              <a:t>NP.</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97632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Cook–Levin, and the chain since</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  ·  Complexity Classes: P, NP and NP-Completeness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§22.3  ·  Handout p. 184     </a:t>
            </a:r>
            <a:fld id="{35730B9F-D15F-431F-8BC1-7EDCEA6286AC}" type="slidenum">
              <a:rPr lang="en-GB" sz="1000">
                <a:solidFill>
                  <a:srgbClr val="8795A1"/>
                </a:solidFill>
                <a:latin typeface="Segoe UI"/>
              </a:rPr>
              <a:t>26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32503"/>
          </a:xfrm>
          <a:prstGeom prst="roundRect">
            <a:avLst>
              <a:gd name="adj" fmla="val 2110"/>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32503"/>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Theorem 22.1 needs at least one NP-complete problem to exist. </a:t>
            </a:r>
            <a:r>
              <a:rPr sz="1900" b="1" i="0">
                <a:solidFill>
                  <a:srgbClr val="1C252B"/>
                </a:solidFill>
                <a:latin typeface="Segoe UI"/>
              </a:rPr>
              <a:t>Cook and Levin</a:t>
            </a:r>
            <a:r>
              <a:rPr sz="1900" b="0" i="0">
                <a:solidFill>
                  <a:srgbClr val="1C252B"/>
                </a:solidFill>
                <a:latin typeface="Segoe UI"/>
              </a:rPr>
              <a:t> (1971) supplied it: </a:t>
            </a:r>
            <a:r>
              <a:rPr sz="1900" b="1" i="0">
                <a:solidFill>
                  <a:srgbClr val="1C252B"/>
                </a:solidFill>
                <a:latin typeface="Segoe UI"/>
              </a:rPr>
              <a:t>SAT</a:t>
            </a:r>
            <a:r>
              <a:rPr sz="1900" b="0" i="0">
                <a:solidFill>
                  <a:srgbClr val="1C252B"/>
                </a:solidFill>
                <a:latin typeface="Segoe UI"/>
              </a:rPr>
              <a:t> — given a Boolean formula, is there an assignment making it true? — is NP-complete. The proof encodes the computation of an arbitrary polynomial-time verifier as a formula.</a:t>
            </a:r>
          </a:p>
        </p:txBody>
      </p:sp>
      <p:sp>
        <p:nvSpPr>
          <p:cNvPr id="10" name="body-1"/>
          <p:cNvSpPr txBox="1"/>
          <p:nvPr/>
        </p:nvSpPr>
        <p:spPr>
          <a:xfrm>
            <a:off x="1060704" y="3385540"/>
            <a:ext cx="10161727"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After that, every further proof is a reduction from a problem already known to be complete. Karp’s 1972 paper gave 21, and the list now runs to thousands:</a:t>
            </a:r>
          </a:p>
        </p:txBody>
      </p:sp>
      <p:sp>
        <p:nvSpPr>
          <p:cNvPr id="11" name="body-2"/>
          <p:cNvSpPr txBox="1"/>
          <p:nvPr/>
        </p:nvSpPr>
        <p:spPr>
          <a:xfrm>
            <a:off x="1060704" y="4120540"/>
            <a:ext cx="10161727"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SAT </a:t>
            </a:r>
            <a:r>
              <a:rPr sz="1900" b="0" i="0">
                <a:solidFill>
                  <a:srgbClr val="1C252B"/>
                </a:solidFill>
                <a:latin typeface="Cambria"/>
              </a:rPr>
              <a:t>→</a:t>
            </a:r>
            <a:r>
              <a:rPr sz="1900" b="0" i="0">
                <a:solidFill>
                  <a:srgbClr val="1C252B"/>
                </a:solidFill>
                <a:latin typeface="Segoe UI"/>
              </a:rPr>
              <a:t> 3-SAT </a:t>
            </a:r>
            <a:r>
              <a:rPr sz="1900" b="0" i="0">
                <a:solidFill>
                  <a:srgbClr val="1C252B"/>
                </a:solidFill>
                <a:latin typeface="Cambria"/>
              </a:rPr>
              <a:t>→</a:t>
            </a:r>
            <a:r>
              <a:rPr sz="1900" b="0" i="0">
                <a:solidFill>
                  <a:srgbClr val="1C252B"/>
                </a:solidFill>
                <a:latin typeface="Segoe UI"/>
              </a:rPr>
              <a:t> clique </a:t>
            </a:r>
            <a:r>
              <a:rPr sz="1900" b="0" i="0">
                <a:solidFill>
                  <a:srgbClr val="1C252B"/>
                </a:solidFill>
                <a:latin typeface="Cambria"/>
              </a:rPr>
              <a:t>→</a:t>
            </a:r>
            <a:r>
              <a:rPr sz="1900" b="0" i="0">
                <a:solidFill>
                  <a:srgbClr val="1C252B"/>
                </a:solidFill>
                <a:latin typeface="Segoe UI"/>
              </a:rPr>
              <a:t> vertex cover </a:t>
            </a:r>
            <a:r>
              <a:rPr sz="1900" b="0" i="0">
                <a:solidFill>
                  <a:srgbClr val="1C252B"/>
                </a:solidFill>
                <a:latin typeface="Cambria"/>
              </a:rPr>
              <a:t>→</a:t>
            </a:r>
            <a:r>
              <a:rPr sz="1900" b="0" i="0">
                <a:solidFill>
                  <a:srgbClr val="1C252B"/>
                </a:solidFill>
                <a:latin typeface="Segoe UI"/>
              </a:rPr>
              <a:t> Hamiltonian cycle </a:t>
            </a:r>
            <a:r>
              <a:rPr sz="1900" b="0" i="0">
                <a:solidFill>
                  <a:srgbClr val="1C252B"/>
                </a:solidFill>
                <a:latin typeface="Cambria"/>
              </a:rPr>
              <a:t>→</a:t>
            </a:r>
            <a:r>
              <a:rPr sz="1900" b="0" i="0">
                <a:solidFill>
                  <a:srgbClr val="1C252B"/>
                </a:solidFill>
                <a:latin typeface="Segoe UI"/>
              </a:rPr>
              <a:t> TSP </a:t>
            </a:r>
            <a:r>
              <a:rPr sz="1900" b="0" i="0">
                <a:solidFill>
                  <a:srgbClr val="1C252B"/>
                </a:solidFill>
                <a:latin typeface="Cambria"/>
              </a:rPr>
              <a:t>→</a:t>
            </a:r>
            <a:r>
              <a:rPr sz="1900" b="0" i="0">
                <a:solidFill>
                  <a:srgbClr val="1C252B"/>
                </a:solidFill>
                <a:latin typeface="Segoe UI"/>
              </a:rPr>
              <a:t> subset sum </a:t>
            </a:r>
            <a:r>
              <a:rPr sz="1900" b="0" i="0">
                <a:solidFill>
                  <a:srgbClr val="1C252B"/>
                </a:solidFill>
                <a:latin typeface="Cambria"/>
              </a:rPr>
              <a:t>→</a:t>
            </a:r>
            <a:r>
              <a:rPr sz="1900" b="0" i="0">
                <a:solidFill>
                  <a:srgbClr val="1C252B"/>
                </a:solidFill>
                <a:latin typeface="Segoe UI"/>
              </a:rPr>
              <a:t> knapsack </a:t>
            </a:r>
            <a:r>
              <a:rPr sz="1900" b="0" i="0">
                <a:solidFill>
                  <a:srgbClr val="1C252B"/>
                </a:solidFill>
                <a:latin typeface="Cambria"/>
              </a:rPr>
              <a:t>…</a:t>
            </a:r>
          </a:p>
        </p:txBody>
      </p:sp>
      <p:sp>
        <p:nvSpPr>
          <p:cNvPr id="12" name="body-3"/>
          <p:cNvSpPr txBox="1"/>
          <p:nvPr/>
        </p:nvSpPr>
        <p:spPr>
          <a:xfrm>
            <a:off x="1060704" y="4855540"/>
            <a:ext cx="10161727"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1F618D"/>
                </a:solidFill>
                <a:latin typeface="Segoe UI"/>
              </a:rPr>
              <a:t>This is why the question is one question.</a:t>
            </a:r>
            <a:r>
              <a:rPr sz="1900" b="0" i="0">
                <a:solidFill>
                  <a:srgbClr val="1C252B"/>
                </a:solidFill>
                <a:latin typeface="Segoe UI"/>
              </a:rPr>
              <a:t> A polynomial algorithm for any single one of these thousands of problems would give one for all of them. Fifty years of distinguished failure on every one is the strongest evidence available that P</a:t>
            </a:r>
            <a:r>
              <a:rPr sz="1900" b="0" i="0">
                <a:solidFill>
                  <a:srgbClr val="1C252B"/>
                </a:solidFill>
                <a:latin typeface="Cambria"/>
              </a:rPr>
              <a:t> ≠ </a:t>
            </a:r>
            <a:r>
              <a:rPr sz="1900" b="0" i="0">
                <a:solidFill>
                  <a:srgbClr val="1C252B"/>
                </a:solidFill>
                <a:latin typeface="Segoe UI"/>
              </a:rPr>
              <a:t>NP — and it is not a proof.</a:t>
            </a:r>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621537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Why Knapsack Does Not Settle It</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4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22.4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22.1   Decision Problems, and Two Classes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22.2   Measured: the Gap Between Checking and Finding</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22.3   Reductions, and NP-Completeness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22.4   Why Knapsack Does Not Settle It</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§22.4     </a:t>
            </a:r>
            <a:fld id="{A0286D92-5CFE-44C3-83DE-34577924FC4A}" type="slidenum">
              <a:rPr lang="en-GB" sz="1000">
                <a:solidFill>
                  <a:srgbClr val="8795A1"/>
                </a:solidFill>
                <a:latin typeface="Segoe UI"/>
              </a:rPr>
              <a:t>27</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645442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Chapter 16’s algorithm is not a counter-example</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  ·  Complexity Classes: P, NP and NP-Completeness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§22.4  ·  Handout p. 185     </a:t>
            </a:r>
            <a:fld id="{1EB4E0B9-4A7A-4F18-A66D-4C4FAA29A4B3}" type="slidenum">
              <a:rPr lang="en-GB" sz="1000">
                <a:solidFill>
                  <a:srgbClr val="8795A1"/>
                </a:solidFill>
                <a:latin typeface="Segoe UI"/>
              </a:rPr>
              <a:t>28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87454"/>
          </a:xfrm>
          <a:prstGeom prst="roundRect">
            <a:avLst>
              <a:gd name="adj" fmla="val 2183"/>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87454"/>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Chapter 16 gave a </a:t>
            </a:r>
            <a:r>
              <a:rPr sz="1900" b="0" i="0">
                <a:solidFill>
                  <a:srgbClr val="1C252B"/>
                </a:solidFill>
                <a:latin typeface="Cambria"/>
              </a:rPr>
              <a:t>Θ(</a:t>
            </a:r>
            <a:r>
              <a:rPr sz="1900" b="0" i="1">
                <a:solidFill>
                  <a:srgbClr val="1C252B"/>
                </a:solidFill>
                <a:latin typeface="Cambria"/>
              </a:rPr>
              <a:t>nW</a:t>
            </a:r>
            <a:r>
              <a:rPr sz="1900" b="0" i="0">
                <a:solidFill>
                  <a:srgbClr val="1C252B"/>
                </a:solidFill>
                <a:latin typeface="Cambria"/>
              </a:rPr>
              <a:t>)</a:t>
            </a:r>
            <a:r>
              <a:rPr sz="1900" b="0" i="0">
                <a:solidFill>
                  <a:srgbClr val="1C252B"/>
                </a:solidFill>
                <a:latin typeface="Segoe UI"/>
              </a:rPr>
              <a:t> dynamic program for 0/1 knapsack, which is NP-complete. That looks like a polynomial algorithm for an NP-complete problem — and therefore like a proof that P</a:t>
            </a:r>
            <a:r>
              <a:rPr sz="1900" b="0" i="0">
                <a:solidFill>
                  <a:srgbClr val="1C252B"/>
                </a:solidFill>
                <a:latin typeface="Cambria"/>
              </a:rPr>
              <a:t> = </a:t>
            </a:r>
            <a:r>
              <a:rPr sz="1900" b="0" i="0">
                <a:solidFill>
                  <a:srgbClr val="1C252B"/>
                </a:solidFill>
                <a:latin typeface="Segoe UI"/>
              </a:rPr>
              <a:t>NP.</a:t>
            </a:r>
          </a:p>
        </p:txBody>
      </p:sp>
      <p:sp>
        <p:nvSpPr>
          <p:cNvPr id="10" name="body-1"/>
          <p:cNvSpPr txBox="1"/>
          <p:nvPr/>
        </p:nvSpPr>
        <p:spPr>
          <a:xfrm>
            <a:off x="1060704" y="3084398"/>
            <a:ext cx="10161727"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It is not, and Chapter 2 explains why. A running time is polynomial when it is polynomial in the </a:t>
            </a:r>
            <a:r>
              <a:rPr sz="1900" b="0" i="1">
                <a:solidFill>
                  <a:srgbClr val="1C252B"/>
                </a:solidFill>
                <a:latin typeface="Segoe UI"/>
              </a:rPr>
              <a:t>size of the input</a:t>
            </a:r>
            <a:r>
              <a:rPr sz="1900" b="0" i="0">
                <a:solidFill>
                  <a:srgbClr val="1C252B"/>
                </a:solidFill>
                <a:latin typeface="Segoe UI"/>
              </a:rPr>
              <a:t>, and a number’s size is its bit length. </a:t>
            </a:r>
            <a:r>
              <a:rPr sz="1900" b="0" i="1">
                <a:solidFill>
                  <a:srgbClr val="1C252B"/>
                </a:solidFill>
                <a:latin typeface="Cambria"/>
              </a:rPr>
              <a:t>W</a:t>
            </a:r>
            <a:r>
              <a:rPr sz="1900" b="0" i="0">
                <a:solidFill>
                  <a:srgbClr val="1C252B"/>
                </a:solidFill>
                <a:latin typeface="Segoe UI"/>
              </a:rPr>
              <a:t> is one number of </a:t>
            </a:r>
            <a:r>
              <a:rPr sz="1900" b="0" i="1">
                <a:solidFill>
                  <a:srgbClr val="1C252B"/>
                </a:solidFill>
                <a:latin typeface="Cambria"/>
              </a:rPr>
              <a:t>b</a:t>
            </a:r>
            <a:r>
              <a:rPr sz="1900" b="0" i="0">
                <a:solidFill>
                  <a:srgbClr val="1C252B"/>
                </a:solidFill>
                <a:latin typeface="Cambria"/>
              </a:rPr>
              <a:t> ≈ lg </a:t>
            </a:r>
            <a:r>
              <a:rPr sz="1900" b="0" i="1">
                <a:solidFill>
                  <a:srgbClr val="1C252B"/>
                </a:solidFill>
                <a:latin typeface="Cambria"/>
              </a:rPr>
              <a:t>W</a:t>
            </a:r>
            <a:r>
              <a:rPr sz="1900" b="0" i="0">
                <a:solidFill>
                  <a:srgbClr val="1C252B"/>
                </a:solidFill>
                <a:latin typeface="Segoe UI"/>
              </a:rPr>
              <a:t> bits, so</a:t>
            </a:r>
          </a:p>
        </p:txBody>
      </p:sp>
      <p:pic>
        <p:nvPicPr>
          <p:cNvPr id="11" name="body-2" descr="\bigTh{nW} = \bigTh{n \cdot 2^{b}},"/>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3819398"/>
            <a:ext cx="10161727" cy="324520"/>
          </a:xfrm>
          <a:prstGeom prst="rect">
            <a:avLst/>
          </a:prstGeom>
        </p:spPr>
      </p:pic>
      <p:sp>
        <p:nvSpPr>
          <p:cNvPr id="12" name="body-3"/>
          <p:cNvSpPr txBox="1"/>
          <p:nvPr/>
        </p:nvSpPr>
        <p:spPr>
          <a:xfrm>
            <a:off x="1060704" y="4276633"/>
            <a:ext cx="10161727"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exponential in the input size. The algorithm is </a:t>
            </a:r>
            <a:r>
              <a:rPr sz="1900" b="1" i="0">
                <a:solidFill>
                  <a:srgbClr val="1A5276"/>
                </a:solidFill>
                <a:latin typeface="Segoe UI"/>
              </a:rPr>
              <a:t>pseudo-polynomial</a:t>
            </a:r>
            <a:r>
              <a:rPr sz="1900" b="0" i="0">
                <a:solidFill>
                  <a:srgbClr val="1C252B"/>
                </a:solidFill>
                <a:latin typeface="Segoe UI"/>
              </a:rPr>
              <a:t>.</a:t>
            </a:r>
          </a:p>
        </p:txBody>
      </p:sp>
      <p:sp>
        <p:nvSpPr>
          <p:cNvPr id="13" name="body-4"/>
          <p:cNvSpPr txBox="1"/>
          <p:nvPr/>
        </p:nvSpPr>
        <p:spPr>
          <a:xfrm>
            <a:off x="1060704" y="4710490"/>
            <a:ext cx="10161727"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A93226"/>
                </a:solidFill>
                <a:latin typeface="Segoe UI"/>
              </a:rPr>
              <a:t>And Chapter 16 measured it.</a:t>
            </a:r>
            <a:r>
              <a:rPr sz="1900" b="0" i="0">
                <a:solidFill>
                  <a:srgbClr val="1C252B"/>
                </a:solidFill>
                <a:latin typeface="Segoe UI"/>
              </a:rPr>
              <a:t> With </a:t>
            </a:r>
            <a:r>
              <a:rPr sz="1900" b="0" i="1">
                <a:solidFill>
                  <a:srgbClr val="1C252B"/>
                </a:solidFill>
                <a:latin typeface="Cambria"/>
              </a:rPr>
              <a:t>n</a:t>
            </a:r>
            <a:r>
              <a:rPr sz="1900" b="0" i="0">
                <a:solidFill>
                  <a:srgbClr val="1C252B"/>
                </a:solidFill>
                <a:latin typeface="Segoe UI"/>
              </a:rPr>
              <a:t> fixed at 200, eight successive doublings of </a:t>
            </a:r>
            <a:r>
              <a:rPr sz="1900" b="0" i="1">
                <a:solidFill>
                  <a:srgbClr val="1C252B"/>
                </a:solidFill>
                <a:latin typeface="Cambria"/>
              </a:rPr>
              <a:t>W</a:t>
            </a:r>
            <a:r>
              <a:rPr sz="1900" b="0" i="0">
                <a:solidFill>
                  <a:srgbClr val="1C252B"/>
                </a:solidFill>
                <a:latin typeface="Segoe UI"/>
              </a:rPr>
              <a:t> — each adding exactly one bit of input — multiplied the running time by a mean factor of 2.02. That table is the proof that the algorithm is exponential, performed rather than argued.</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669347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Three things to do when a problem is NP-complete</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  ·  Complexity Classes: P, NP and NP-Completeness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§22.4  ·  Handout p. 185     </a:t>
            </a:r>
            <a:fld id="{52D605C1-1F7C-461C-9500-EB77C4E6270E}" type="slidenum">
              <a:rPr lang="en-GB" sz="1000">
                <a:solidFill>
                  <a:srgbClr val="8795A1"/>
                </a:solidFill>
                <a:latin typeface="Segoe UI"/>
              </a:rPr>
              <a:t>29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56785"/>
          </a:xfrm>
          <a:prstGeom prst="roundRect">
            <a:avLst>
              <a:gd name="adj" fmla="val 2051"/>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56785"/>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31012"/>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Recognising NP-completeness is not the end of the engineering; it is the start of a different kind.</a:t>
            </a:r>
          </a:p>
        </p:txBody>
      </p:sp>
      <p:sp>
        <p:nvSpPr>
          <p:cNvPr id="10" name="body-1"/>
          <p:cNvSpPr txBox="1"/>
          <p:nvPr/>
        </p:nvSpPr>
        <p:spPr>
          <a:xfrm>
            <a:off x="1060704" y="2459278"/>
            <a:ext cx="10161727" cy="2773375"/>
          </a:xfrm>
          <a:prstGeom prst="rect">
            <a:avLst/>
          </a:prstGeom>
          <a:noFill/>
        </p:spPr>
        <p:txBody>
          <a:bodyPr wrap="square" anchor="t" lIns="0" rIns="0" tIns="0" bIns="0">
            <a:noAutofit/>
          </a:bodyPr>
          <a:lstStyle/>
          <a:p>
            <a:pPr algn="l" marL="434207" indent="-434207">
              <a:lnSpc>
                <a:spcPct val="104000"/>
              </a:lnSpc>
              <a:spcBef>
                <a:spcPts val="0"/>
              </a:spcBef>
              <a:spcAft>
                <a:spcPts val="630"/>
              </a:spcAft>
            </a:pPr>
            <a:r>
              <a:rPr sz="1800" b="1">
                <a:solidFill>
                  <a:srgbClr val="1F618D"/>
                </a:solidFill>
                <a:latin typeface="Segoe UI"/>
              </a:rPr>
              <a:t>1.	</a:t>
            </a:r>
            <a:r>
              <a:rPr sz="1800" b="1" i="0">
                <a:solidFill>
                  <a:srgbClr val="1F618D"/>
                </a:solidFill>
                <a:latin typeface="Segoe UI"/>
              </a:rPr>
              <a:t>Approximate.</a:t>
            </a:r>
            <a:r>
              <a:rPr sz="1800" b="0" i="0">
                <a:solidFill>
                  <a:srgbClr val="1C252B"/>
                </a:solidFill>
                <a:latin typeface="Segoe UI"/>
              </a:rPr>
              <a:t> Accept a provably near-optimal answer. Vertex cover has a 2-approximation that is six lines long; metric TSP has a 1.5-approximation. These come with </a:t>
            </a:r>
            <a:r>
              <a:rPr sz="1800" b="0" i="1">
                <a:solidFill>
                  <a:srgbClr val="1C252B"/>
                </a:solidFill>
                <a:latin typeface="Segoe UI"/>
              </a:rPr>
              <a:t>guarantees</a:t>
            </a:r>
            <a:r>
              <a:rPr sz="1800" b="0" i="0">
                <a:solidFill>
                  <a:srgbClr val="1C252B"/>
                </a:solidFill>
                <a:latin typeface="Segoe UI"/>
              </a:rPr>
              <a:t>, which is what distinguishes them from the next item.</a:t>
            </a:r>
          </a:p>
          <a:p>
            <a:pPr algn="l" marL="434207" indent="-434207">
              <a:lnSpc>
                <a:spcPct val="104000"/>
              </a:lnSpc>
              <a:spcBef>
                <a:spcPts val="0"/>
              </a:spcBef>
              <a:spcAft>
                <a:spcPts val="630"/>
              </a:spcAft>
            </a:pPr>
            <a:r>
              <a:rPr sz="1800" b="1">
                <a:solidFill>
                  <a:srgbClr val="1F618D"/>
                </a:solidFill>
                <a:latin typeface="Segoe UI"/>
              </a:rPr>
              <a:t>2.	</a:t>
            </a:r>
            <a:r>
              <a:rPr sz="1800" b="1" i="0">
                <a:solidFill>
                  <a:srgbClr val="1F618D"/>
                </a:solidFill>
                <a:latin typeface="Segoe UI"/>
              </a:rPr>
              <a:t>Use a heuristic.</a:t>
            </a:r>
            <a:r>
              <a:rPr sz="1800" b="0" i="0">
                <a:solidFill>
                  <a:srgbClr val="1C252B"/>
                </a:solidFill>
                <a:latin typeface="Segoe UI"/>
              </a:rPr>
              <a:t> Simulated annealing, genetic algorithms, branch and bound, SAT solvers. No guarantee, often excellent in practice — modern SAT solvers routinely dispatch instances with millions of variables, which is a fact about real instances rather than about SAT.</a:t>
            </a:r>
          </a:p>
          <a:p>
            <a:pPr algn="l" marL="434207" indent="-434207">
              <a:lnSpc>
                <a:spcPct val="104000"/>
              </a:lnSpc>
              <a:spcBef>
                <a:spcPts val="0"/>
              </a:spcBef>
              <a:spcAft>
                <a:spcPts val="0"/>
              </a:spcAft>
            </a:pPr>
            <a:r>
              <a:rPr sz="1800" b="1">
                <a:solidFill>
                  <a:srgbClr val="1F618D"/>
                </a:solidFill>
                <a:latin typeface="Segoe UI"/>
              </a:rPr>
              <a:t>3.	</a:t>
            </a:r>
            <a:r>
              <a:rPr sz="1800" b="1" i="0">
                <a:solidFill>
                  <a:srgbClr val="1F618D"/>
                </a:solidFill>
                <a:latin typeface="Segoe UI"/>
              </a:rPr>
              <a:t>Restrict the problem.</a:t>
            </a:r>
            <a:r>
              <a:rPr sz="1800" b="0" i="0">
                <a:solidFill>
                  <a:srgbClr val="1C252B"/>
                </a:solidFill>
                <a:latin typeface="Segoe UI"/>
              </a:rPr>
              <a:t> Many NP-complete problems are polynomial on a restricted class: vertex cover is easy on trees, graph colouring is easy for two colours, knapsack is fine when </a:t>
            </a:r>
            <a:r>
              <a:rPr sz="1800" b="0" i="1">
                <a:solidFill>
                  <a:srgbClr val="1C252B"/>
                </a:solidFill>
                <a:latin typeface="Cambria"/>
              </a:rPr>
              <a:t>W</a:t>
            </a:r>
            <a:r>
              <a:rPr sz="1800" b="0" i="0">
                <a:solidFill>
                  <a:srgbClr val="1C252B"/>
                </a:solidFill>
                <a:latin typeface="Segoe UI"/>
              </a:rPr>
              <a:t> is small. The pseudo-polynomial algorithm is this third strategy, honestly labelled.</a:t>
            </a:r>
          </a:p>
        </p:txBody>
      </p:sp>
      <p:sp>
        <p:nvSpPr>
          <p:cNvPr id="11" name="body-2"/>
          <p:cNvSpPr txBox="1"/>
          <p:nvPr/>
        </p:nvSpPr>
        <p:spPr>
          <a:xfrm>
            <a:off x="1060704" y="5312664"/>
            <a:ext cx="10161727" cy="61630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1F618D"/>
                </a:solidFill>
                <a:latin typeface="Segoe UI"/>
              </a:rPr>
              <a:t>What you must not do is keep looking for the exact polynomial algorithm.</a:t>
            </a:r>
            <a:r>
              <a:rPr sz="1800" b="0" i="0">
                <a:solidFill>
                  <a:srgbClr val="1C252B"/>
                </a:solidFill>
                <a:latin typeface="Segoe UI"/>
              </a:rPr>
              <a:t> That is the practical value of this chapter: it tells you when to stop.</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693253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  ·  Complexity Classes: P, NP and NP-Completeness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§22.4  ·  Handout p. 185     </a:t>
            </a:r>
            <a:fld id="{CFBCC571-3A7D-45A4-8010-F616DB636D0A}" type="slidenum">
              <a:rPr lang="en-GB" sz="1000">
                <a:solidFill>
                  <a:srgbClr val="8795A1"/>
                </a:solidFill>
                <a:latin typeface="Segoe UI"/>
              </a:rPr>
              <a:t>30</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Reading NP as “not polynomial”.</a:t>
            </a:r>
            <a:r>
              <a:rPr sz="1700" b="0" i="0">
                <a:solidFill>
                  <a:srgbClr val="1C252B"/>
                </a:solidFill>
                <a:latin typeface="Segoe UI"/>
              </a:rPr>
              <a:t> It is </a:t>
            </a:r>
            <a:r>
              <a:rPr sz="1700" b="0" i="1">
                <a:solidFill>
                  <a:srgbClr val="1C252B"/>
                </a:solidFill>
                <a:latin typeface="Segoe UI"/>
              </a:rPr>
              <a:t>nondeterministic</a:t>
            </a:r>
            <a:r>
              <a:rPr sz="1700" b="0" i="0">
                <a:solidFill>
                  <a:srgbClr val="1C252B"/>
                </a:solidFill>
                <a:latin typeface="Segoe UI"/>
              </a:rPr>
              <a:t> polynomial, and P</a:t>
            </a:r>
            <a:r>
              <a:rPr sz="1700" b="0" i="0">
                <a:solidFill>
                  <a:srgbClr val="1C252B"/>
                </a:solidFill>
                <a:latin typeface="Cambria"/>
              </a:rPr>
              <a:t> ⊆ </a:t>
            </a:r>
            <a:r>
              <a:rPr sz="1700" b="0" i="0">
                <a:solidFill>
                  <a:srgbClr val="1C252B"/>
                </a:solidFill>
                <a:latin typeface="Segoe UI"/>
              </a:rPr>
              <a:t>NP.</a:t>
            </a:r>
          </a:p>
        </p:txBody>
      </p:sp>
      <p:sp>
        <p:nvSpPr>
          <p:cNvPr id="10" name="!!pb1">
            <a:extLst>
              <a:ext uri="{C183D7F6-B498-43B3-948B-1728B52AA6E4}">
                <adec:decorative xmlns:adec="http://schemas.microsoft.com/office/drawing/2017/decorative" val="1"/>
              </a:ext>
            </a:extLst>
          </p:cNvPr>
          <p:cNvSpPr/>
          <p:nvPr/>
        </p:nvSpPr>
        <p:spPr>
          <a:xfrm>
            <a:off x="658368" y="232257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34543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304288"/>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Reducing in the wrong direction.</a:t>
            </a:r>
            <a:r>
              <a:rPr sz="1700" b="0" i="0">
                <a:solidFill>
                  <a:srgbClr val="1C252B"/>
                </a:solidFill>
                <a:latin typeface="Segoe UI"/>
              </a:rPr>
              <a:t> To show </a:t>
            </a:r>
            <a:r>
              <a:rPr sz="1700" b="0" i="1">
                <a:solidFill>
                  <a:srgbClr val="1C252B"/>
                </a:solidFill>
                <a:latin typeface="Cambria"/>
              </a:rPr>
              <a:t>X</a:t>
            </a:r>
            <a:r>
              <a:rPr sz="1700" b="0" i="0">
                <a:solidFill>
                  <a:srgbClr val="1C252B"/>
                </a:solidFill>
                <a:latin typeface="Segoe UI"/>
              </a:rPr>
              <a:t> is hard, reduce a known hard problem </a:t>
            </a:r>
            <a:r>
              <a:rPr sz="1700" b="0" i="1">
                <a:solidFill>
                  <a:srgbClr val="1C252B"/>
                </a:solidFill>
                <a:latin typeface="Segoe UI"/>
              </a:rPr>
              <a:t>to</a:t>
            </a:r>
            <a:r>
              <a:rPr sz="1700" b="0" i="0">
                <a:solidFill>
                  <a:srgbClr val="1C252B"/>
                </a:solidFill>
                <a:latin typeface="Segoe UI"/>
              </a:rPr>
              <a:t> </a:t>
            </a:r>
            <a:r>
              <a:rPr sz="1700" b="0" i="1">
                <a:solidFill>
                  <a:srgbClr val="1C252B"/>
                </a:solidFill>
                <a:latin typeface="Cambria"/>
              </a:rPr>
              <a:t>X</a:t>
            </a:r>
            <a:r>
              <a:rPr sz="1700" b="0" i="0">
                <a:solidFill>
                  <a:srgbClr val="1C252B"/>
                </a:solidFill>
                <a:latin typeface="Segoe UI"/>
              </a:rPr>
              <a:t>.</a:t>
            </a:r>
          </a:p>
        </p:txBody>
      </p:sp>
      <p:sp>
        <p:nvSpPr>
          <p:cNvPr id="13" name="!!pb2">
            <a:extLst>
              <a:ext uri="{C183D7F6-B498-43B3-948B-1728B52AA6E4}">
                <adec:decorative xmlns:adec="http://schemas.microsoft.com/office/drawing/2017/decorative" val="1"/>
              </a:ext>
            </a:extLst>
          </p:cNvPr>
          <p:cNvSpPr/>
          <p:nvPr/>
        </p:nvSpPr>
        <p:spPr>
          <a:xfrm>
            <a:off x="658368" y="2889504"/>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2912364"/>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2871216"/>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Calling a problem NP-complete without checking it is in NP.</a:t>
            </a:r>
            <a:r>
              <a:rPr sz="1700" b="0" i="0">
                <a:solidFill>
                  <a:srgbClr val="1C252B"/>
                </a:solidFill>
                <a:latin typeface="Segoe UI"/>
              </a:rPr>
              <a:t> Without that it is merely NP-hard, and the halting problem shows the difference matters.</a:t>
            </a:r>
          </a:p>
        </p:txBody>
      </p:sp>
      <p:sp>
        <p:nvSpPr>
          <p:cNvPr id="16" name="!!pb3">
            <a:extLst>
              <a:ext uri="{C183D7F6-B498-43B3-948B-1728B52AA6E4}">
                <adec:decorative xmlns:adec="http://schemas.microsoft.com/office/drawing/2017/decorative" val="1"/>
              </a:ext>
            </a:extLst>
          </p:cNvPr>
          <p:cNvSpPr/>
          <p:nvPr/>
        </p:nvSpPr>
        <p:spPr>
          <a:xfrm>
            <a:off x="658368" y="362955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3652418"/>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361127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Treating a pseudo-polynomial algorithm as polynomial.</a:t>
            </a:r>
            <a:r>
              <a:rPr sz="1700" b="0" i="0">
                <a:solidFill>
                  <a:srgbClr val="1C252B"/>
                </a:solidFill>
                <a:latin typeface="Segoe UI"/>
              </a:rPr>
              <a:t> Measured in Chapter 16: one extra bit of </a:t>
            </a:r>
            <a:r>
              <a:rPr sz="1700" b="0" i="1">
                <a:solidFill>
                  <a:srgbClr val="1C252B"/>
                </a:solidFill>
                <a:latin typeface="Cambria"/>
              </a:rPr>
              <a:t>W</a:t>
            </a:r>
            <a:r>
              <a:rPr sz="1700" b="0" i="0">
                <a:solidFill>
                  <a:srgbClr val="1C252B"/>
                </a:solidFill>
                <a:latin typeface="Segoe UI"/>
              </a:rPr>
              <a:t> doubles the time.</a:t>
            </a:r>
          </a:p>
        </p:txBody>
      </p:sp>
      <p:sp>
        <p:nvSpPr>
          <p:cNvPr id="19" name="!!pb4">
            <a:extLst>
              <a:ext uri="{C183D7F6-B498-43B3-948B-1728B52AA6E4}">
                <adec:decorative xmlns:adec="http://schemas.microsoft.com/office/drawing/2017/decorative" val="1"/>
              </a:ext>
            </a:extLst>
          </p:cNvPr>
          <p:cNvSpPr/>
          <p:nvPr/>
        </p:nvSpPr>
        <p:spPr>
          <a:xfrm>
            <a:off x="658368" y="436961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39247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351324"/>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Concluding that NP-complete means hopeless.</a:t>
            </a:r>
            <a:r>
              <a:rPr sz="1700" b="0" i="0">
                <a:solidFill>
                  <a:srgbClr val="1C252B"/>
                </a:solidFill>
                <a:latin typeface="Segoe UI"/>
              </a:rPr>
              <a:t> Measured here, meet-in-the-middle was 2,668</a:t>
            </a:r>
            <a:r>
              <a:rPr sz="1700" b="0" i="0">
                <a:solidFill>
                  <a:srgbClr val="1C252B"/>
                </a:solidFill>
                <a:latin typeface="Cambria"/>
              </a:rPr>
              <a:t>×</a:t>
            </a:r>
            <a:r>
              <a:rPr sz="1700" b="0" i="0">
                <a:solidFill>
                  <a:srgbClr val="1C252B"/>
                </a:solidFill>
                <a:latin typeface="Segoe UI"/>
              </a:rPr>
              <a:t> faster than brute force and still exponential — and that factor is often the whole engineering problem.</a:t>
            </a:r>
          </a:p>
        </p:txBody>
      </p:sp>
      <p:sp>
        <p:nvSpPr>
          <p:cNvPr id="22" name="!!pb5">
            <a:extLst>
              <a:ext uri="{C183D7F6-B498-43B3-948B-1728B52AA6E4}">
                <adec:decorative xmlns:adec="http://schemas.microsoft.com/office/drawing/2017/decorative" val="1"/>
              </a:ext>
            </a:extLst>
          </p:cNvPr>
          <p:cNvSpPr/>
          <p:nvPr/>
        </p:nvSpPr>
        <p:spPr>
          <a:xfrm>
            <a:off x="658368" y="5109667"/>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x5"/>
          <p:cNvSpPr txBox="1"/>
          <p:nvPr/>
        </p:nvSpPr>
        <p:spPr>
          <a:xfrm>
            <a:off x="658368" y="513252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4" name="!!pt5"/>
          <p:cNvSpPr txBox="1"/>
          <p:nvPr/>
        </p:nvSpPr>
        <p:spPr>
          <a:xfrm>
            <a:off x="1261872" y="5091379"/>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Confusing undecidable with intractable.</a:t>
            </a:r>
            <a:r>
              <a:rPr sz="1700" b="0" i="0">
                <a:solidFill>
                  <a:srgbClr val="1C252B"/>
                </a:solidFill>
                <a:latin typeface="Segoe UI"/>
              </a:rPr>
              <a:t> The halting problem has no algorithm; SAT has many, all slow in the worst case.</a:t>
            </a:r>
          </a:p>
        </p:txBody>
      </p:sp>
      <p:sp>
        <p:nvSpPr>
          <p:cNvPr id="25" name="!!pb6">
            <a:extLst>
              <a:ext uri="{C183D7F6-B498-43B3-948B-1728B52AA6E4}">
                <adec:decorative xmlns:adec="http://schemas.microsoft.com/office/drawing/2017/decorative" val="1"/>
              </a:ext>
            </a:extLst>
          </p:cNvPr>
          <p:cNvSpPr/>
          <p:nvPr/>
        </p:nvSpPr>
        <p:spPr>
          <a:xfrm>
            <a:off x="658368" y="5849721"/>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px6"/>
          <p:cNvSpPr txBox="1"/>
          <p:nvPr/>
        </p:nvSpPr>
        <p:spPr>
          <a:xfrm>
            <a:off x="658368" y="5872581"/>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7" name="!!pt6"/>
          <p:cNvSpPr txBox="1"/>
          <p:nvPr/>
        </p:nvSpPr>
        <p:spPr>
          <a:xfrm>
            <a:off x="1261872" y="5831433"/>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Proving your problem is in NP and thinking you have shown it is hard.</a:t>
            </a:r>
            <a:r>
              <a:rPr sz="1700" b="0" i="0">
                <a:solidFill>
                  <a:srgbClr val="1C252B"/>
                </a:solidFill>
                <a:latin typeface="Segoe UI"/>
              </a:rPr>
              <a:t> Every problem in P is in NP.</a:t>
            </a:r>
          </a:p>
        </p:txBody>
      </p:sp>
      <p:sp>
        <p:nvSpPr>
          <p:cNvPr id="8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pfill">
            <a:extLst>
              <a:ext uri="{C183D7F6-B498-43B3-948B-1728B52AA6E4}">
                <adec:decorative xmlns:adec="http://schemas.microsoft.com/office/drawing/2017/decorative" val="1"/>
              </a:ext>
            </a:extLst>
          </p:cNvPr>
          <p:cNvSpPr/>
          <p:nvPr/>
        </p:nvSpPr>
        <p:spPr>
          <a:xfrm>
            <a:off x="0" y="0"/>
            <a:ext cx="717158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par>
                    <p:cTn id="70" fill="hold">
                      <p:stCondLst>
                        <p:cond delay="indefinite"/>
                      </p:stCondLst>
                      <p:childTnLst>
                        <p:par>
                          <p:cTn id="71" fill="hold">
                            <p:stCondLst>
                              <p:cond delay="0"/>
                            </p:stCondLst>
                            <p:childTnLst>
                              <p:par>
                                <p:cTn id="72" presetID="23" presetClass="entr" presetSubtype="16" fill="hold" grpId="0" nodeType="click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zoom(in)">
                                      <p:cBhvr>
                                        <p:cTn id="74" dur="260"/>
                                        <p:tgtEl>
                                          <p:spTgt spid="2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260"/>
                                        <p:tgtEl>
                                          <p:spTgt spid="26"/>
                                        </p:tgtEl>
                                      </p:cBhvr>
                                    </p:animEffect>
                                  </p:childTnLst>
                                </p:cTn>
                              </p:par>
                              <p:par>
                                <p:cTn id="78" presetID="22" presetClass="entr" presetSubtype="8" fill="hold" grpId="0"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wipe(right)">
                                      <p:cBhvr>
                                        <p:cTn id="80"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Checking Against Finding</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  ·  Complexity Classes: P, NP and NP-Completeness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§22.4  ·  Handout p. 185     </a:t>
            </a:r>
            <a:fld id="{4D8F7913-DC71-4FEE-AAE2-D51CD7F7CE38}" type="slidenum">
              <a:rPr lang="en-GB" sz="1000">
                <a:solidFill>
                  <a:srgbClr val="8795A1"/>
                </a:solidFill>
                <a:latin typeface="Segoe UI"/>
              </a:rPr>
              <a:t>31</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Reproduces all four tables. Expect thirty minutes; the brute-force column at </a:t>
            </a:r>
            <a:r>
              <a:rPr sz="2000" b="0" i="1">
                <a:solidFill>
                  <a:srgbClr val="1C252B"/>
                </a:solidFill>
                <a:latin typeface="Cambria"/>
              </a:rPr>
              <a:t>n</a:t>
            </a:r>
            <a:r>
              <a:rPr sz="2000" b="0" i="0">
                <a:solidFill>
                  <a:srgbClr val="1C252B"/>
                </a:solidFill>
                <a:latin typeface="Cambria"/>
              </a:rPr>
              <a:t> = 28</a:t>
            </a:r>
            <a:r>
              <a:rPr sz="2000" b="0" i="0">
                <a:solidFill>
                  <a:srgbClr val="1C252B"/>
                </a:solidFill>
                <a:latin typeface="Segoe UI"/>
              </a:rPr>
              <a:t> takes about five seconds per run.</a:t>
            </a:r>
          </a:p>
        </p:txBody>
      </p:sp>
      <p:sp>
        <p:nvSpPr>
          <p:cNvPr id="8" name="!!labsteps-h"/>
          <p:cNvSpPr txBox="1"/>
          <p:nvPr/>
        </p:nvSpPr>
        <p:spPr>
          <a:xfrm>
            <a:off x="658368" y="26822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066288"/>
            <a:ext cx="10874959" cy="1905000"/>
          </a:xfrm>
          <a:prstGeom prst="rect">
            <a:avLst/>
          </a:prstGeom>
          <a:noFill/>
        </p:spPr>
        <p:txBody>
          <a:bodyPr wrap="square" anchor="t" lIns="0" rIns="0" tIns="0" bIns="0">
            <a:noAutofit/>
          </a:bodyPr>
          <a:lstStyle/>
          <a:p>
            <a:pPr algn="l" marL="367434" indent="-367434">
              <a:lnSpc>
                <a:spcPct val="100000"/>
              </a:lnSpc>
              <a:spcBef>
                <a:spcPts val="0"/>
              </a:spcBef>
              <a:spcAft>
                <a:spcPts val="420"/>
              </a:spcAft>
            </a:pPr>
            <a:r>
              <a:rPr sz="1400" b="1">
                <a:solidFill>
                  <a:srgbClr val="117A65"/>
                </a:solidFill>
                <a:latin typeface="Segoe UI"/>
              </a:rPr>
              <a:t>1.	</a:t>
            </a:r>
            <a:r>
              <a:rPr sz="1400" b="0" i="0">
                <a:solidFill>
                  <a:srgbClr val="1C252B"/>
                </a:solidFill>
                <a:latin typeface="Segoe UI"/>
              </a:rPr>
              <a:t>Verifying a certificate: linear, and that is the point</a:t>
            </a:r>
          </a:p>
          <a:p>
            <a:pPr algn="l" marL="367434" indent="-367434">
              <a:lnSpc>
                <a:spcPct val="100000"/>
              </a:lnSpc>
              <a:spcBef>
                <a:spcPts val="0"/>
              </a:spcBef>
              <a:spcAft>
                <a:spcPts val="420"/>
              </a:spcAft>
            </a:pPr>
            <a:r>
              <a:rPr sz="1400" b="1">
                <a:solidFill>
                  <a:srgbClr val="117A65"/>
                </a:solidFill>
                <a:latin typeface="Segoe UI"/>
              </a:rPr>
              <a:t>2.	</a:t>
            </a:r>
            <a:r>
              <a:rPr sz="1400" b="0" i="0">
                <a:solidFill>
                  <a:srgbClr val="1C252B"/>
                </a:solidFill>
                <a:latin typeface="Segoe UI"/>
              </a:rPr>
              <a:t>Finding a certificate by exhaustive search: 2^n</a:t>
            </a:r>
          </a:p>
          <a:p>
            <a:pPr algn="l" marL="367434" indent="-367434">
              <a:lnSpc>
                <a:spcPct val="100000"/>
              </a:lnSpc>
              <a:spcBef>
                <a:spcPts val="0"/>
              </a:spcBef>
              <a:spcAft>
                <a:spcPts val="420"/>
              </a:spcAft>
            </a:pPr>
            <a:r>
              <a:rPr sz="1400" b="1">
                <a:solidFill>
                  <a:srgbClr val="117A65"/>
                </a:solidFill>
                <a:latin typeface="Segoe UI"/>
              </a:rPr>
              <a:t>3.	</a:t>
            </a:r>
            <a:r>
              <a:rPr sz="1400" b="0" i="0">
                <a:solidFill>
                  <a:srgbClr val="1C252B"/>
                </a:solidFill>
                <a:latin typeface="Segoe UI"/>
              </a:rPr>
              <a:t>Meet in the middle: 2^(n/2)</a:t>
            </a:r>
          </a:p>
          <a:p>
            <a:pPr algn="l" marL="367434" indent="-367434">
              <a:lnSpc>
                <a:spcPct val="100000"/>
              </a:lnSpc>
              <a:spcBef>
                <a:spcPts val="0"/>
              </a:spcBef>
              <a:spcAft>
                <a:spcPts val="420"/>
              </a:spcAft>
            </a:pPr>
            <a:r>
              <a:rPr sz="1400" b="1">
                <a:solidFill>
                  <a:srgbClr val="117A65"/>
                </a:solidFill>
                <a:latin typeface="Segoe UI"/>
              </a:rPr>
              <a:t>4.	</a:t>
            </a:r>
            <a:r>
              <a:rPr sz="1400" b="0" i="0">
                <a:solidFill>
                  <a:srgbClr val="1C252B"/>
                </a:solidFill>
                <a:latin typeface="Segoe UI"/>
              </a:rPr>
              <a:t>Checking against finding</a:t>
            </a:r>
          </a:p>
          <a:p>
            <a:pPr algn="l" marL="367434" indent="-367434">
              <a:lnSpc>
                <a:spcPct val="100000"/>
              </a:lnSpc>
              <a:spcBef>
                <a:spcPts val="0"/>
              </a:spcBef>
              <a:spcAft>
                <a:spcPts val="420"/>
              </a:spcAft>
            </a:pPr>
            <a:r>
              <a:rPr sz="1400" b="1">
                <a:solidFill>
                  <a:srgbClr val="117A65"/>
                </a:solidFill>
                <a:latin typeface="Segoe UI"/>
              </a:rPr>
              <a:t>5.	</a:t>
            </a:r>
            <a:r>
              <a:rPr sz="1400" b="0" i="0">
                <a:solidFill>
                  <a:srgbClr val="1C252B"/>
                </a:solidFill>
                <a:latin typeface="Segoe UI"/>
              </a:rPr>
              <a:t>Where the wall is</a:t>
            </a:r>
          </a:p>
          <a:p>
            <a:pPr algn="l" marL="367434" indent="-367434">
              <a:lnSpc>
                <a:spcPct val="100000"/>
              </a:lnSpc>
              <a:spcBef>
                <a:spcPts val="0"/>
              </a:spcBef>
              <a:spcAft>
                <a:spcPts val="420"/>
              </a:spcAft>
            </a:pPr>
            <a:r>
              <a:rPr sz="1400" b="1">
                <a:solidFill>
                  <a:srgbClr val="117A65"/>
                </a:solidFill>
                <a:latin typeface="Segoe UI"/>
              </a:rPr>
              <a:t>6.	</a:t>
            </a:r>
            <a:r>
              <a:rPr sz="1400" b="0" i="0">
                <a:solidFill>
                  <a:srgbClr val="1C252B"/>
                </a:solidFill>
                <a:latin typeface="Segoe UI"/>
              </a:rPr>
              <a:t>Exponential is not one speed</a:t>
            </a:r>
          </a:p>
          <a:p>
            <a:pPr algn="l" marL="367434" indent="-367434">
              <a:lnSpc>
                <a:spcPct val="100000"/>
              </a:lnSpc>
              <a:spcBef>
                <a:spcPts val="0"/>
              </a:spcBef>
              <a:spcAft>
                <a:spcPts val="0"/>
              </a:spcAft>
            </a:pPr>
            <a:r>
              <a:rPr sz="1400" b="1">
                <a:solidFill>
                  <a:srgbClr val="117A65"/>
                </a:solidFill>
                <a:latin typeface="Segoe UI"/>
              </a:rPr>
              <a:t>7.	</a:t>
            </a:r>
            <a:r>
              <a:rPr sz="1400" b="0" i="0">
                <a:solidFill>
                  <a:srgbClr val="1C252B"/>
                </a:solidFill>
                <a:latin typeface="Segoe UI"/>
              </a:rPr>
              <a:t>A reduction, actually run</a:t>
            </a:r>
          </a:p>
        </p:txBody>
      </p:sp>
      <p:sp>
        <p:nvSpPr>
          <p:cNvPr id="39" name="!!lfTHIS">
            <a:extLst>
              <a:ext uri="{C183D7F6-B498-43B3-948B-1728B52AA6E4}">
                <adec:decorative xmlns:adec="http://schemas.microsoft.com/office/drawing/2017/decorative" val="1"/>
              </a:ext>
            </a:extLst>
          </p:cNvPr>
          <p:cNvSpPr/>
          <p:nvPr/>
        </p:nvSpPr>
        <p:spPr>
          <a:xfrm>
            <a:off x="658368"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lflTHIS"/>
          <p:cNvSpPr txBox="1"/>
          <p:nvPr/>
        </p:nvSpPr>
        <p:spPr>
          <a:xfrm>
            <a:off x="932688"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42" name="!!lfvTHIS"/>
          <p:cNvSpPr txBox="1"/>
          <p:nvPr/>
        </p:nvSpPr>
        <p:spPr>
          <a:xfrm>
            <a:off x="932688"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15: Naive, Rabin–Karp and KMP on the same corpus</a:t>
            </a:r>
          </a:p>
        </p:txBody>
      </p:sp>
      <p:sp>
        <p:nvSpPr>
          <p:cNvPr id="43" name="!!lfWHAT">
            <a:extLst>
              <a:ext uri="{C183D7F6-B498-43B3-948B-1728B52AA6E4}">
                <adec:decorative xmlns:adec="http://schemas.microsoft.com/office/drawing/2017/decorative" val="1"/>
              </a:ext>
            </a:extLst>
          </p:cNvPr>
          <p:cNvSpPr/>
          <p:nvPr/>
        </p:nvSpPr>
        <p:spPr>
          <a:xfrm>
            <a:off x="4374794"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lfbWHAT">
            <a:extLst>
              <a:ext uri="{C183D7F6-B498-43B3-948B-1728B52AA6E4}">
                <adec:decorative xmlns:adec="http://schemas.microsoft.com/office/drawing/2017/decorative" val="1"/>
              </a:ext>
            </a:extLst>
          </p:cNvPr>
          <p:cNvSpPr/>
          <p:nvPr/>
        </p:nvSpPr>
        <p:spPr>
          <a:xfrm>
            <a:off x="4374794"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lflWHAT"/>
          <p:cNvSpPr txBox="1"/>
          <p:nvPr/>
        </p:nvSpPr>
        <p:spPr>
          <a:xfrm>
            <a:off x="4649114"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46" name="!!lfvWHAT"/>
          <p:cNvSpPr txBox="1"/>
          <p:nvPr/>
        </p:nvSpPr>
        <p:spPr>
          <a:xfrm>
            <a:off x="4649114"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47 lines of C++</a:t>
            </a:r>
          </a:p>
        </p:txBody>
      </p:sp>
      <p:sp>
        <p:nvSpPr>
          <p:cNvPr id="47" name="!!lfRUNN">
            <a:extLst>
              <a:ext uri="{C183D7F6-B498-43B3-948B-1728B52AA6E4}">
                <adec:decorative xmlns:adec="http://schemas.microsoft.com/office/drawing/2017/decorative" val="1"/>
              </a:ext>
            </a:extLst>
          </p:cNvPr>
          <p:cNvSpPr/>
          <p:nvPr/>
        </p:nvSpPr>
        <p:spPr>
          <a:xfrm>
            <a:off x="8091220"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lfbRUNN">
            <a:extLst>
              <a:ext uri="{C183D7F6-B498-43B3-948B-1728B52AA6E4}">
                <adec:decorative xmlns:adec="http://schemas.microsoft.com/office/drawing/2017/decorative" val="1"/>
              </a:ext>
            </a:extLst>
          </p:cNvPr>
          <p:cNvSpPr/>
          <p:nvPr/>
        </p:nvSpPr>
        <p:spPr>
          <a:xfrm>
            <a:off x="8091220"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lflRUNN"/>
          <p:cNvSpPr txBox="1"/>
          <p:nvPr/>
        </p:nvSpPr>
        <p:spPr>
          <a:xfrm>
            <a:off x="8365540"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50" name="!!lfvRUNN"/>
          <p:cNvSpPr txBox="1"/>
          <p:nvPr/>
        </p:nvSpPr>
        <p:spPr>
          <a:xfrm>
            <a:off x="8365540"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code/ch22_complexity.cpp</a:t>
            </a:r>
          </a:p>
        </p:txBody>
      </p:sp>
      <p:sp>
        <p:nvSpPr>
          <p:cNvPr id="5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pfill">
            <a:extLst>
              <a:ext uri="{C183D7F6-B498-43B3-948B-1728B52AA6E4}">
                <adec:decorative xmlns:adec="http://schemas.microsoft.com/office/drawing/2017/decorative" val="1"/>
              </a:ext>
            </a:extLst>
          </p:cNvPr>
          <p:cNvSpPr/>
          <p:nvPr/>
        </p:nvSpPr>
        <p:spPr>
          <a:xfrm>
            <a:off x="0" y="0"/>
            <a:ext cx="741063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0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00"/>
                                        <p:tgtEl>
                                          <p:spTgt spid="9">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xEl>
                                              <p:pRg st="5" end="5"/>
                                            </p:txEl>
                                          </p:spTgt>
                                        </p:tgtEl>
                                        <p:attrNameLst>
                                          <p:attrName>style.visibility</p:attrName>
                                        </p:attrNameLst>
                                      </p:cBhvr>
                                      <p:to>
                                        <p:strVal val="visible"/>
                                      </p:to>
                                    </p:set>
                                    <p:animEffect transition="in" filter="fade">
                                      <p:cBhvr>
                                        <p:cTn id="33" dur="300"/>
                                        <p:tgtEl>
                                          <p:spTgt spid="9">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9">
                                            <p:txEl>
                                              <p:pRg st="6" end="6"/>
                                            </p:txEl>
                                          </p:spTgt>
                                        </p:tgtEl>
                                        <p:attrNameLst>
                                          <p:attrName>style.visibility</p:attrName>
                                        </p:attrNameLst>
                                      </p:cBhvr>
                                      <p:to>
                                        <p:strVal val="visible"/>
                                      </p:to>
                                    </p:set>
                                    <p:animEffect transition="in" filter="fade">
                                      <p:cBhvr>
                                        <p:cTn id="38" dur="300"/>
                                        <p:tgtEl>
                                          <p:spTgt spid="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Checking Against Finding</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  ·  Complexity Classes: P, NP and NP-Completeness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§22.4  ·  Handout p. 185     </a:t>
            </a:r>
            <a:fld id="{313226CC-6904-4C23-95A6-50826B258D8A}" type="slidenum">
              <a:rPr lang="en-GB" sz="1000">
                <a:solidFill>
                  <a:srgbClr val="8795A1"/>
                </a:solidFill>
                <a:latin typeface="Segoe UI"/>
              </a:rPr>
              <a:t>32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Verifying a certificate: linear, and that is the point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169664"/>
          </a:xfrm>
          <a:prstGeom prst="roundRect">
            <a:avLst>
              <a:gd name="adj" fmla="val 219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code/ch22_complexity.cpp</a:t>
            </a:r>
          </a:p>
        </p:txBody>
      </p:sp>
      <p:sp>
        <p:nvSpPr>
          <p:cNvPr id="14" name="!!code-text" descr="// ch22_complexity.cpp -- checking against finding, measured. // Build: cl /O2 /EHsc /std:c++17 ch22_complexity.cpp (see Appendix A) // --- 1. Verifying a certificate: linear, and that is the point ----- // Given a claimed subset (as a bitmask), check it sums to the target. // No search, no cleverness: one pass. This is what &quot;in NP&quot; means. static bool verify(const std::vector&lt;long long&gt;&amp; a, unsigned long long cert, long long target) { long long s = 0; for (size_t i = 0; i &lt; a.size(); ++i) if (cert &gt;&gt; i &amp; 1ULL) s += a[i]; return s == target; }"/>
          <p:cNvSpPr txBox="1"/>
          <p:nvPr/>
        </p:nvSpPr>
        <p:spPr>
          <a:xfrm>
            <a:off x="1362456" y="2523744"/>
            <a:ext cx="9987991" cy="367588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ch22_complexity.cpp -- checking against finding, measured.</a:t>
            </a:r>
          </a:p>
          <a:p>
            <a:pPr>
              <a:lnSpc>
                <a:spcPct val="100000"/>
              </a:lnSpc>
              <a:spcAft>
                <a:spcPts val="0"/>
              </a:spcAft>
            </a:pPr>
            <a:r>
              <a:rPr sz="1800" i="1">
                <a:solidFill>
                  <a:srgbClr val="8795A1"/>
                </a:solidFill>
                <a:latin typeface="Consolas"/>
              </a:rPr>
              <a:t>// Build: cl /O2 /EHsc /std:c++17 ch22_complexity.cpp (see Appendix A)</a:t>
            </a:r>
          </a:p>
          <a:p>
            <a:pPr>
              <a:lnSpc>
                <a:spcPct val="100000"/>
              </a:lnSpc>
              <a:spcAft>
                <a:spcPts val="0"/>
              </a:spcAft>
            </a:pPr>
            <a:r>
              <a:rPr sz="1800">
                <a:latin typeface="Consolas"/>
              </a:rPr>
              <a:t> </a:t>
            </a:r>
          </a:p>
          <a:p>
            <a:pPr>
              <a:lnSpc>
                <a:spcPct val="100000"/>
              </a:lnSpc>
              <a:spcAft>
                <a:spcPts val="0"/>
              </a:spcAft>
            </a:pPr>
            <a:r>
              <a:rPr sz="1800" i="1">
                <a:solidFill>
                  <a:srgbClr val="8795A1"/>
                </a:solidFill>
                <a:latin typeface="Consolas"/>
              </a:rPr>
              <a:t>// --- 1. Verifying a certificate: linear, and that is the point -----</a:t>
            </a:r>
          </a:p>
          <a:p>
            <a:pPr>
              <a:lnSpc>
                <a:spcPct val="100000"/>
              </a:lnSpc>
              <a:spcAft>
                <a:spcPts val="0"/>
              </a:spcAft>
            </a:pPr>
            <a:r>
              <a:rPr sz="1800" i="1">
                <a:solidFill>
                  <a:srgbClr val="8795A1"/>
                </a:solidFill>
                <a:latin typeface="Consolas"/>
              </a:rPr>
              <a:t>// Given a claimed subset (as a bitmask), check it sums to the target.</a:t>
            </a:r>
          </a:p>
          <a:p>
            <a:pPr>
              <a:lnSpc>
                <a:spcPct val="100000"/>
              </a:lnSpc>
              <a:spcAft>
                <a:spcPts val="0"/>
              </a:spcAft>
            </a:pPr>
            <a:r>
              <a:rPr sz="1800" i="1">
                <a:solidFill>
                  <a:srgbClr val="8795A1"/>
                </a:solidFill>
                <a:latin typeface="Consolas"/>
              </a:rPr>
              <a:t>// No search, no cleverness: one pass. This is what "in NP" means.</a:t>
            </a:r>
          </a:p>
          <a:p>
            <a:pPr>
              <a:lnSpc>
                <a:spcPct val="100000"/>
              </a:lnSpc>
              <a:spcAft>
                <a:spcPts val="0"/>
              </a:spcAft>
            </a:pPr>
            <a:r>
              <a:rPr sz="1800" i="0">
                <a:solidFill>
                  <a:srgbClr val="5DADE2"/>
                </a:solidFill>
                <a:latin typeface="Consolas"/>
              </a:rPr>
              <a:t>static</a:t>
            </a:r>
            <a:r>
              <a:rPr sz="1800" i="0">
                <a:solidFill>
                  <a:srgbClr val="E8EDF2"/>
                </a:solidFill>
                <a:latin typeface="Consolas"/>
              </a:rPr>
              <a:t> </a:t>
            </a:r>
            <a:r>
              <a:rPr sz="1800" i="0">
                <a:solidFill>
                  <a:srgbClr val="5DADE2"/>
                </a:solidFill>
                <a:latin typeface="Consolas"/>
              </a:rPr>
              <a:t>bool</a:t>
            </a:r>
            <a:r>
              <a:rPr sz="1800" i="0">
                <a:solidFill>
                  <a:srgbClr val="E8EDF2"/>
                </a:solidFill>
                <a:latin typeface="Consolas"/>
              </a:rPr>
              <a:t> </a:t>
            </a:r>
            <a:r>
              <a:rPr sz="1800" i="0">
                <a:solidFill>
                  <a:srgbClr val="C39BD3"/>
                </a:solidFill>
                <a:latin typeface="Consolas"/>
              </a:rPr>
              <a:t>verify</a:t>
            </a:r>
            <a:r>
              <a:rPr sz="1800" i="0">
                <a:solidFill>
                  <a:srgbClr val="AEB6BF"/>
                </a:solidFill>
                <a:latin typeface="Consolas"/>
              </a:rPr>
              <a:t>(</a:t>
            </a:r>
            <a:r>
              <a:rPr sz="1800" i="0">
                <a:solidFill>
                  <a:srgbClr val="5DADE2"/>
                </a:solidFill>
                <a:latin typeface="Consolas"/>
              </a:rPr>
              <a:t>const</a:t>
            </a:r>
            <a:r>
              <a:rPr sz="1800" i="0">
                <a:solidFill>
                  <a:srgbClr val="E8EDF2"/>
                </a:solidFill>
                <a:latin typeface="Consolas"/>
              </a:rPr>
              <a:t> </a:t>
            </a:r>
            <a:r>
              <a:rPr sz="1800" i="0">
                <a:solidFill>
                  <a:srgbClr val="E8EDF2"/>
                </a:solidFill>
                <a:latin typeface="Consolas"/>
              </a:rPr>
              <a:t>std</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vector</a:t>
            </a:r>
            <a:r>
              <a:rPr sz="1800" i="0">
                <a:solidFill>
                  <a:srgbClr val="AEB6BF"/>
                </a:solidFill>
                <a:latin typeface="Consolas"/>
              </a:rPr>
              <a:t>&lt;</a:t>
            </a:r>
            <a:r>
              <a:rPr sz="1800" i="0">
                <a:solidFill>
                  <a:srgbClr val="5DADE2"/>
                </a:solidFill>
                <a:latin typeface="Consolas"/>
              </a:rPr>
              <a:t>long</a:t>
            </a:r>
            <a:r>
              <a:rPr sz="1800" i="0">
                <a:solidFill>
                  <a:srgbClr val="E8EDF2"/>
                </a:solidFill>
                <a:latin typeface="Consolas"/>
              </a:rPr>
              <a:t> </a:t>
            </a:r>
            <a:r>
              <a:rPr sz="1800" i="0">
                <a:solidFill>
                  <a:srgbClr val="5DADE2"/>
                </a:solidFill>
                <a:latin typeface="Consolas"/>
              </a:rPr>
              <a:t>long</a:t>
            </a:r>
            <a:r>
              <a:rPr sz="1800" i="0">
                <a:solidFill>
                  <a:srgbClr val="AEB6BF"/>
                </a:solidFill>
                <a:latin typeface="Consolas"/>
              </a:rPr>
              <a:t>&gt;</a:t>
            </a:r>
            <a:r>
              <a:rPr sz="1800" i="0">
                <a:solidFill>
                  <a:srgbClr val="AEB6BF"/>
                </a:solidFill>
                <a:latin typeface="Consolas"/>
              </a:rPr>
              <a:t>&amp;</a:t>
            </a:r>
            <a:r>
              <a:rPr sz="1800" i="0">
                <a:solidFill>
                  <a:srgbClr val="E8EDF2"/>
                </a:solidFill>
                <a:latin typeface="Consolas"/>
              </a:rPr>
              <a:t> </a:t>
            </a:r>
            <a:r>
              <a:rPr sz="1800" i="0">
                <a:solidFill>
                  <a:srgbClr val="E8EDF2"/>
                </a:solidFill>
                <a:latin typeface="Consolas"/>
              </a:rPr>
              <a:t>a</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unsigned</a:t>
            </a:r>
            <a:r>
              <a:rPr sz="1800" i="0">
                <a:solidFill>
                  <a:srgbClr val="E8EDF2"/>
                </a:solidFill>
                <a:latin typeface="Consolas"/>
              </a:rPr>
              <a:t> </a:t>
            </a:r>
            <a:r>
              <a:rPr sz="1800" i="0">
                <a:solidFill>
                  <a:srgbClr val="5DADE2"/>
                </a:solidFill>
                <a:latin typeface="Consolas"/>
              </a:rPr>
              <a:t>long</a:t>
            </a:r>
            <a:r>
              <a:rPr sz="1800" i="0">
                <a:solidFill>
                  <a:srgbClr val="E8EDF2"/>
                </a:solidFill>
                <a:latin typeface="Consolas"/>
              </a:rPr>
              <a:t> </a:t>
            </a:r>
            <a:r>
              <a:rPr sz="1800" i="0">
                <a:solidFill>
                  <a:srgbClr val="5DADE2"/>
                </a:solidFill>
                <a:latin typeface="Consolas"/>
              </a:rPr>
              <a:t>long</a:t>
            </a:r>
            <a:r>
              <a:rPr sz="1800" i="0">
                <a:solidFill>
                  <a:srgbClr val="E8EDF2"/>
                </a:solidFill>
                <a:latin typeface="Consolas"/>
              </a:rPr>
              <a:t> </a:t>
            </a:r>
            <a:r>
              <a:rPr sz="1800" i="0">
                <a:solidFill>
                  <a:srgbClr val="E8EDF2"/>
                </a:solidFill>
                <a:latin typeface="Consolas"/>
              </a:rPr>
              <a:t>cert</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long</a:t>
            </a:r>
            <a:r>
              <a:rPr sz="1800" i="0">
                <a:solidFill>
                  <a:srgbClr val="E8EDF2"/>
                </a:solidFill>
                <a:latin typeface="Consolas"/>
              </a:rPr>
              <a:t> </a:t>
            </a:r>
            <a:r>
              <a:rPr sz="1800" i="0">
                <a:solidFill>
                  <a:srgbClr val="5DADE2"/>
                </a:solidFill>
                <a:latin typeface="Consolas"/>
              </a:rPr>
              <a:t>long</a:t>
            </a:r>
            <a:r>
              <a:rPr sz="1800" i="0">
                <a:solidFill>
                  <a:srgbClr val="E8EDF2"/>
                </a:solidFill>
                <a:latin typeface="Consolas"/>
              </a:rPr>
              <a:t> </a:t>
            </a:r>
            <a:r>
              <a:rPr sz="1800" i="0">
                <a:solidFill>
                  <a:srgbClr val="E8EDF2"/>
                </a:solidFill>
                <a:latin typeface="Consolas"/>
              </a:rPr>
              <a:t>target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long</a:t>
            </a:r>
            <a:r>
              <a:rPr sz="1800" i="0">
                <a:solidFill>
                  <a:srgbClr val="E8EDF2"/>
                </a:solidFill>
                <a:latin typeface="Consolas"/>
              </a:rPr>
              <a:t> </a:t>
            </a:r>
            <a:r>
              <a:rPr sz="1800" i="0">
                <a:solidFill>
                  <a:srgbClr val="5DADE2"/>
                </a:solidFill>
                <a:latin typeface="Consolas"/>
              </a:rPr>
              <a:t>long</a:t>
            </a:r>
            <a:r>
              <a:rPr sz="1800" i="0">
                <a:solidFill>
                  <a:srgbClr val="E8EDF2"/>
                </a:solidFill>
                <a:latin typeface="Consolas"/>
              </a:rPr>
              <a:t> </a:t>
            </a:r>
            <a:r>
              <a:rPr sz="1800" i="0">
                <a:solidFill>
                  <a:srgbClr val="E8EDF2"/>
                </a:solidFill>
                <a:latin typeface="Consolas"/>
              </a:rPr>
              <a:t>s</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for</a:t>
            </a:r>
            <a:r>
              <a:rPr sz="1800" i="0">
                <a:solidFill>
                  <a:srgbClr val="E8EDF2"/>
                </a:solidFill>
                <a:latin typeface="Consolas"/>
              </a:rPr>
              <a:t> </a:t>
            </a:r>
            <a:r>
              <a:rPr sz="1800" i="0">
                <a:solidFill>
                  <a:srgbClr val="AEB6BF"/>
                </a:solidFill>
                <a:latin typeface="Consolas"/>
              </a:rPr>
              <a:t>(</a:t>
            </a:r>
            <a:r>
              <a:rPr sz="1800" i="0">
                <a:solidFill>
                  <a:srgbClr val="5DADE2"/>
                </a:solidFill>
                <a:latin typeface="Consolas"/>
              </a:rPr>
              <a:t>size_t</a:t>
            </a:r>
            <a:r>
              <a:rPr sz="1800" i="0">
                <a:solidFill>
                  <a:srgbClr val="E8EDF2"/>
                </a:solidFill>
                <a:latin typeface="Consolas"/>
              </a:rPr>
              <a:t> </a:t>
            </a:r>
            <a:r>
              <a:rPr sz="1800" i="0">
                <a:solidFill>
                  <a:srgbClr val="E8EDF2"/>
                </a:solidFill>
                <a:latin typeface="Consolas"/>
              </a:rPr>
              <a:t>i</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i</a:t>
            </a:r>
            <a:r>
              <a:rPr sz="1800" i="0">
                <a:solidFill>
                  <a:srgbClr val="E8EDF2"/>
                </a:solidFill>
                <a:latin typeface="Consolas"/>
              </a:rPr>
              <a:t> </a:t>
            </a:r>
            <a:r>
              <a:rPr sz="1800" i="0">
                <a:solidFill>
                  <a:srgbClr val="AEB6BF"/>
                </a:solidFill>
                <a:latin typeface="Consolas"/>
              </a:rPr>
              <a:t>&lt;</a:t>
            </a:r>
            <a:r>
              <a:rPr sz="1800" i="0">
                <a:solidFill>
                  <a:srgbClr val="E8EDF2"/>
                </a:solidFill>
                <a:latin typeface="Consolas"/>
              </a:rPr>
              <a:t> </a:t>
            </a:r>
            <a:r>
              <a:rPr sz="1800" i="0">
                <a:solidFill>
                  <a:srgbClr val="E8EDF2"/>
                </a:solidFill>
                <a:latin typeface="Consolas"/>
              </a:rPr>
              <a:t>a</a:t>
            </a:r>
            <a:r>
              <a:rPr sz="1800" i="0">
                <a:solidFill>
                  <a:srgbClr val="AEB6BF"/>
                </a:solidFill>
                <a:latin typeface="Consolas"/>
              </a:rPr>
              <a:t>.</a:t>
            </a:r>
            <a:r>
              <a:rPr sz="1800" i="0">
                <a:solidFill>
                  <a:srgbClr val="E8EDF2"/>
                </a:solidFill>
                <a:latin typeface="Consolas"/>
              </a:rPr>
              <a:t>size</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i</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if</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cert</a:t>
            </a:r>
            <a:r>
              <a:rPr sz="1800" i="0">
                <a:solidFill>
                  <a:srgbClr val="E8EDF2"/>
                </a:solidFill>
                <a:latin typeface="Consolas"/>
              </a:rPr>
              <a:t> </a:t>
            </a:r>
            <a:r>
              <a:rPr sz="1800" i="0">
                <a:solidFill>
                  <a:srgbClr val="AEB6BF"/>
                </a:solidFill>
                <a:latin typeface="Consolas"/>
              </a:rPr>
              <a:t>&gt;</a:t>
            </a:r>
            <a:r>
              <a:rPr sz="1800" i="0">
                <a:solidFill>
                  <a:srgbClr val="AEB6BF"/>
                </a:solidFill>
                <a:latin typeface="Consolas"/>
              </a:rPr>
              <a:t>&gt;</a:t>
            </a:r>
            <a:r>
              <a:rPr sz="1800" i="0">
                <a:solidFill>
                  <a:srgbClr val="E8EDF2"/>
                </a:solidFill>
                <a:latin typeface="Consolas"/>
              </a:rPr>
              <a:t> </a:t>
            </a:r>
            <a:r>
              <a:rPr sz="1800" i="0">
                <a:solidFill>
                  <a:srgbClr val="E8EDF2"/>
                </a:solidFill>
                <a:latin typeface="Consolas"/>
              </a:rPr>
              <a:t>i</a:t>
            </a:r>
            <a:r>
              <a:rPr sz="1800" i="0">
                <a:solidFill>
                  <a:srgbClr val="E8EDF2"/>
                </a:solidFill>
                <a:latin typeface="Consolas"/>
              </a:rPr>
              <a:t> </a:t>
            </a:r>
            <a:r>
              <a:rPr sz="1800" i="0">
                <a:solidFill>
                  <a:srgbClr val="AEB6BF"/>
                </a:solidFill>
                <a:latin typeface="Consolas"/>
              </a:rPr>
              <a:t>&amp;</a:t>
            </a:r>
            <a:r>
              <a:rPr sz="1800" i="0">
                <a:solidFill>
                  <a:srgbClr val="E8EDF2"/>
                </a:solidFill>
                <a:latin typeface="Consolas"/>
              </a:rPr>
              <a:t> </a:t>
            </a:r>
            <a:r>
              <a:rPr sz="1800" i="0">
                <a:solidFill>
                  <a:srgbClr val="F7DC6F"/>
                </a:solidFill>
                <a:latin typeface="Consolas"/>
              </a:rPr>
              <a:t>1ULL</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a:t>
            </a:r>
            <a:r>
              <a:rPr sz="1800" i="0">
                <a:solidFill>
                  <a:srgbClr val="AEB6BF"/>
                </a:solidFill>
                <a:latin typeface="Consolas"/>
              </a:rPr>
              <a:t>[</a:t>
            </a:r>
            <a:r>
              <a:rPr sz="1800" i="0">
                <a:solidFill>
                  <a:srgbClr val="E8EDF2"/>
                </a:solidFill>
                <a:latin typeface="Consolas"/>
              </a:rPr>
              <a:t>i</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return</a:t>
            </a:r>
            <a:r>
              <a:rPr sz="1800" i="0">
                <a:solidFill>
                  <a:srgbClr val="E8EDF2"/>
                </a:solidFill>
                <a:latin typeface="Consolas"/>
              </a:rPr>
              <a:t> </a:t>
            </a:r>
            <a:r>
              <a:rPr sz="1800" i="0">
                <a:solidFill>
                  <a:srgbClr val="E8EDF2"/>
                </a:solidFill>
                <a:latin typeface="Consolas"/>
              </a:rPr>
              <a:t>s</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target</a:t>
            </a:r>
            <a:r>
              <a:rPr sz="1800" i="0">
                <a:solidFill>
                  <a:srgbClr val="AEB6BF"/>
                </a:solidFill>
                <a:latin typeface="Consolas"/>
              </a:rPr>
              <a:t>;</a:t>
            </a:r>
          </a:p>
          <a:p>
            <a:pPr>
              <a:lnSpc>
                <a:spcPct val="100000"/>
              </a:lnSpc>
              <a:spcAft>
                <a:spcPts val="0"/>
              </a:spcAft>
            </a:pPr>
            <a:r>
              <a:rPr sz="1800" i="0">
                <a:solidFill>
                  <a:srgbClr val="AEB6BF"/>
                </a:solidFill>
                <a:latin typeface="Consolas"/>
              </a:rPr>
              <a:t>}</a:t>
            </a:r>
          </a:p>
        </p:txBody>
      </p:sp>
      <p:sp>
        <p:nvSpPr>
          <p:cNvPr id="15" name="!!code-num"/>
          <p:cNvSpPr txBox="1"/>
          <p:nvPr/>
        </p:nvSpPr>
        <p:spPr>
          <a:xfrm>
            <a:off x="768096" y="2523744"/>
            <a:ext cx="393192" cy="367588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a:t>
            </a:r>
          </a:p>
          <a:p>
            <a:pPr algn="r">
              <a:lnSpc>
                <a:spcPct val="100000"/>
              </a:lnSpc>
            </a:pPr>
            <a:r>
              <a:rPr sz="1800">
                <a:solidFill>
                  <a:srgbClr val="4F5D6A"/>
                </a:solidFill>
                <a:latin typeface="Consolas"/>
              </a:rPr>
              <a:t>2</a:t>
            </a:r>
          </a:p>
          <a:p>
            <a:pPr algn="r">
              <a:lnSpc>
                <a:spcPct val="100000"/>
              </a:lnSpc>
            </a:pPr>
            <a:r>
              <a:rPr sz="1800">
                <a:solidFill>
                  <a:srgbClr val="4F5D6A"/>
                </a:solidFill>
                <a:latin typeface="Consolas"/>
              </a:rPr>
              <a:t>3</a:t>
            </a:r>
          </a:p>
          <a:p>
            <a:pPr algn="r">
              <a:lnSpc>
                <a:spcPct val="100000"/>
              </a:lnSpc>
            </a:pPr>
            <a:r>
              <a:rPr sz="1800">
                <a:solidFill>
                  <a:srgbClr val="4F5D6A"/>
                </a:solidFill>
                <a:latin typeface="Consolas"/>
              </a:rPr>
              <a:t>4</a:t>
            </a:r>
          </a:p>
          <a:p>
            <a:pPr algn="r">
              <a:lnSpc>
                <a:spcPct val="100000"/>
              </a:lnSpc>
            </a:pPr>
            <a:r>
              <a:rPr sz="1800">
                <a:solidFill>
                  <a:srgbClr val="4F5D6A"/>
                </a:solidFill>
                <a:latin typeface="Consolas"/>
              </a:rPr>
              <a:t>5</a:t>
            </a:r>
          </a:p>
          <a:p>
            <a:pPr algn="r">
              <a:lnSpc>
                <a:spcPct val="100000"/>
              </a:lnSpc>
            </a:pPr>
            <a:r>
              <a:rPr sz="1800">
                <a:solidFill>
                  <a:srgbClr val="4F5D6A"/>
                </a:solidFill>
                <a:latin typeface="Consolas"/>
              </a:rPr>
              <a:t>6</a:t>
            </a:r>
          </a:p>
          <a:p>
            <a:pPr algn="r">
              <a:lnSpc>
                <a:spcPct val="100000"/>
              </a:lnSpc>
            </a:pPr>
            <a:r>
              <a:rPr sz="1800">
                <a:solidFill>
                  <a:srgbClr val="4F5D6A"/>
                </a:solidFill>
                <a:latin typeface="Consolas"/>
              </a:rPr>
              <a:t>7</a:t>
            </a:r>
          </a:p>
          <a:p>
            <a:pPr algn="r">
              <a:lnSpc>
                <a:spcPct val="100000"/>
              </a:lnSpc>
            </a:pPr>
            <a:r>
              <a:rPr sz="1800">
                <a:solidFill>
                  <a:srgbClr val="4F5D6A"/>
                </a:solidFill>
                <a:latin typeface="Consolas"/>
              </a:rPr>
              <a:t>8</a:t>
            </a:r>
          </a:p>
          <a:p>
            <a:pPr algn="r">
              <a:lnSpc>
                <a:spcPct val="100000"/>
              </a:lnSpc>
            </a:pPr>
            <a:r>
              <a:rPr sz="1800">
                <a:solidFill>
                  <a:srgbClr val="4F5D6A"/>
                </a:solidFill>
                <a:latin typeface="Consolas"/>
              </a:rPr>
              <a:t>9</a:t>
            </a:r>
          </a:p>
          <a:p>
            <a:pPr algn="r">
              <a:lnSpc>
                <a:spcPct val="100000"/>
              </a:lnSpc>
            </a:pPr>
            <a:r>
              <a:rPr sz="1800">
                <a:solidFill>
                  <a:srgbClr val="4F5D6A"/>
                </a:solidFill>
                <a:latin typeface="Consolas"/>
              </a:rPr>
              <a:t>10</a:t>
            </a:r>
          </a:p>
          <a:p>
            <a:pPr algn="r">
              <a:lnSpc>
                <a:spcPct val="100000"/>
              </a:lnSpc>
            </a:pPr>
            <a:r>
              <a:rPr sz="1800">
                <a:solidFill>
                  <a:srgbClr val="4F5D6A"/>
                </a:solidFill>
                <a:latin typeface="Consolas"/>
              </a:rPr>
              <a:t>11</a:t>
            </a:r>
          </a:p>
          <a:p>
            <a:pPr algn="r">
              <a:lnSpc>
                <a:spcPct val="100000"/>
              </a:lnSpc>
            </a:pPr>
            <a:r>
              <a:rPr sz="1800">
                <a:solidFill>
                  <a:srgbClr val="4F5D6A"/>
                </a:solidFill>
                <a:latin typeface="Consolas"/>
              </a:rPr>
              <a:t>12</a:t>
            </a:r>
          </a:p>
          <a:p>
            <a:pPr algn="r">
              <a:lnSpc>
                <a:spcPct val="100000"/>
              </a:lnSpc>
            </a:pPr>
            <a:r>
              <a:rPr sz="1800">
                <a:solidFill>
                  <a:srgbClr val="4F5D6A"/>
                </a:solidFill>
                <a:latin typeface="Consolas"/>
              </a:rPr>
              <a:t>13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64969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Checking Against Finding</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  ·  Complexity Classes: P, NP and NP-Completeness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§22.4  ·  Handout p. 185     </a:t>
            </a:r>
            <a:fld id="{76B12354-C53F-441C-A71E-77F11A596E05}" type="slidenum">
              <a:rPr lang="en-GB" sz="1000">
                <a:solidFill>
                  <a:srgbClr val="8795A1"/>
                </a:solidFill>
                <a:latin typeface="Segoe UI"/>
              </a:rPr>
              <a:t>33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Finding a certificate by exhaustive search: 2^n</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472184"/>
          </a:xfrm>
          <a:prstGeom prst="roundRect">
            <a:avLst>
              <a:gd name="adj" fmla="val 62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code/ch22_complexity.cpp</a:t>
            </a:r>
          </a:p>
        </p:txBody>
      </p:sp>
      <p:sp>
        <p:nvSpPr>
          <p:cNvPr id="14" name="!!code-text" descr="// --- 2. Finding a certificate by exhaustive search: 2^n ------------ // Every subset. Nothing is wasted and nothing is clever; this is the // only method known that works for every instance."/>
          <p:cNvSpPr txBox="1"/>
          <p:nvPr/>
        </p:nvSpPr>
        <p:spPr>
          <a:xfrm>
            <a:off x="1362456" y="2523744"/>
            <a:ext cx="9987991" cy="97840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--- 2. Finding a certificate by exhaustive search: 2^n ------------</a:t>
            </a:r>
          </a:p>
          <a:p>
            <a:pPr>
              <a:lnSpc>
                <a:spcPct val="100000"/>
              </a:lnSpc>
              <a:spcAft>
                <a:spcPts val="0"/>
              </a:spcAft>
            </a:pPr>
            <a:r>
              <a:rPr sz="1900" i="1">
                <a:solidFill>
                  <a:srgbClr val="8795A1"/>
                </a:solidFill>
                <a:latin typeface="Consolas"/>
              </a:rPr>
              <a:t>// Every subset. Nothing is wasted and nothing is clever; this is the</a:t>
            </a:r>
          </a:p>
          <a:p>
            <a:pPr>
              <a:lnSpc>
                <a:spcPct val="100000"/>
              </a:lnSpc>
              <a:spcAft>
                <a:spcPts val="0"/>
              </a:spcAft>
            </a:pPr>
            <a:r>
              <a:rPr sz="1900" i="1">
                <a:solidFill>
                  <a:srgbClr val="8795A1"/>
                </a:solidFill>
                <a:latin typeface="Consolas"/>
              </a:rPr>
              <a:t>// only method known that works for every instance.</a:t>
            </a:r>
          </a:p>
        </p:txBody>
      </p:sp>
      <p:sp>
        <p:nvSpPr>
          <p:cNvPr id="15" name="!!code-num"/>
          <p:cNvSpPr txBox="1"/>
          <p:nvPr/>
        </p:nvSpPr>
        <p:spPr>
          <a:xfrm>
            <a:off x="768096" y="2523744"/>
            <a:ext cx="393192" cy="97840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15</a:t>
            </a:r>
          </a:p>
          <a:p>
            <a:pPr algn="r">
              <a:lnSpc>
                <a:spcPct val="100000"/>
              </a:lnSpc>
            </a:pPr>
            <a:r>
              <a:rPr sz="1900">
                <a:solidFill>
                  <a:srgbClr val="4F5D6A"/>
                </a:solidFill>
                <a:latin typeface="Consolas"/>
              </a:rPr>
              <a:t>16</a:t>
            </a:r>
          </a:p>
          <a:p>
            <a:pPr algn="r">
              <a:lnSpc>
                <a:spcPct val="100000"/>
              </a:lnSpc>
            </a:pPr>
            <a:r>
              <a:rPr sz="1900">
                <a:solidFill>
                  <a:srgbClr val="4F5D6A"/>
                </a:solidFill>
                <a:latin typeface="Consolas"/>
              </a:rPr>
              <a:t>17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88874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Checking Against Finding</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  ·  Complexity Classes: P, NP and NP-Completeness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§22.4  ·  Handout p. 185     </a:t>
            </a:r>
            <a:fld id="{76718667-7D9D-4097-B594-8ABA468810EF}" type="slidenum">
              <a:rPr lang="en-GB" sz="1000">
                <a:solidFill>
                  <a:srgbClr val="8795A1"/>
                </a:solidFill>
                <a:latin typeface="Segoe UI"/>
              </a:rPr>
              <a:t>34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Meet in the middle: 2^(n/2)</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051303"/>
          </a:xfrm>
          <a:prstGeom prst="roundRect">
            <a:avLst>
              <a:gd name="adj" fmla="val 445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code/ch22_complexity.cpp</a:t>
            </a:r>
          </a:p>
        </p:txBody>
      </p:sp>
      <p:sp>
        <p:nvSpPr>
          <p:cNvPr id="14" name="!!code-text" descr="// --- 3. Meet in the middle: 2^(n/2) -------------------------------- // Split the set in half, enumerate all subset sums of each half, and // look for a pair that adds to the target. Still exponential -- but // the exponent is halved, which doubles the largest n you can handle. // A reminder that &quot;exponential&quot; is not a single speed."/>
          <p:cNvSpPr txBox="1"/>
          <p:nvPr/>
        </p:nvSpPr>
        <p:spPr>
          <a:xfrm>
            <a:off x="1362456" y="2523744"/>
            <a:ext cx="9987991" cy="155752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--- 3. Meet in the middle: 2^(n/2) --------------------------------</a:t>
            </a:r>
          </a:p>
          <a:p>
            <a:pPr>
              <a:lnSpc>
                <a:spcPct val="100000"/>
              </a:lnSpc>
              <a:spcAft>
                <a:spcPts val="0"/>
              </a:spcAft>
            </a:pPr>
            <a:r>
              <a:rPr sz="1900" i="1">
                <a:solidFill>
                  <a:srgbClr val="8795A1"/>
                </a:solidFill>
                <a:latin typeface="Consolas"/>
              </a:rPr>
              <a:t>// Split the set in half, enumerate all subset sums of each half, and</a:t>
            </a:r>
          </a:p>
          <a:p>
            <a:pPr>
              <a:lnSpc>
                <a:spcPct val="100000"/>
              </a:lnSpc>
              <a:spcAft>
                <a:spcPts val="0"/>
              </a:spcAft>
            </a:pPr>
            <a:r>
              <a:rPr sz="1900" i="1">
                <a:solidFill>
                  <a:srgbClr val="8795A1"/>
                </a:solidFill>
                <a:latin typeface="Consolas"/>
              </a:rPr>
              <a:t>// look for a pair that adds to the target. Still exponential -- but</a:t>
            </a:r>
          </a:p>
          <a:p>
            <a:pPr>
              <a:lnSpc>
                <a:spcPct val="100000"/>
              </a:lnSpc>
              <a:spcAft>
                <a:spcPts val="0"/>
              </a:spcAft>
            </a:pPr>
            <a:r>
              <a:rPr sz="1900" i="1">
                <a:solidFill>
                  <a:srgbClr val="8795A1"/>
                </a:solidFill>
                <a:latin typeface="Consolas"/>
              </a:rPr>
              <a:t>// the exponent is halved, which doubles the largest n you can handle.</a:t>
            </a:r>
          </a:p>
          <a:p>
            <a:pPr>
              <a:lnSpc>
                <a:spcPct val="100000"/>
              </a:lnSpc>
              <a:spcAft>
                <a:spcPts val="0"/>
              </a:spcAft>
            </a:pPr>
            <a:r>
              <a:rPr sz="1900" i="1">
                <a:solidFill>
                  <a:srgbClr val="8795A1"/>
                </a:solidFill>
                <a:latin typeface="Consolas"/>
              </a:rPr>
              <a:t>// A reminder that "exponential" is not a single speed.</a:t>
            </a:r>
          </a:p>
        </p:txBody>
      </p:sp>
      <p:sp>
        <p:nvSpPr>
          <p:cNvPr id="15" name="!!code-num"/>
          <p:cNvSpPr txBox="1"/>
          <p:nvPr/>
        </p:nvSpPr>
        <p:spPr>
          <a:xfrm>
            <a:off x="768096" y="2523744"/>
            <a:ext cx="393192" cy="155752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19</a:t>
            </a:r>
          </a:p>
          <a:p>
            <a:pPr algn="r">
              <a:lnSpc>
                <a:spcPct val="100000"/>
              </a:lnSpc>
            </a:pPr>
            <a:r>
              <a:rPr sz="1900">
                <a:solidFill>
                  <a:srgbClr val="4F5D6A"/>
                </a:solidFill>
                <a:latin typeface="Consolas"/>
              </a:rPr>
              <a:t>20</a:t>
            </a:r>
          </a:p>
          <a:p>
            <a:pPr algn="r">
              <a:lnSpc>
                <a:spcPct val="100000"/>
              </a:lnSpc>
            </a:pPr>
            <a:r>
              <a:rPr sz="1900">
                <a:solidFill>
                  <a:srgbClr val="4F5D6A"/>
                </a:solidFill>
                <a:latin typeface="Consolas"/>
              </a:rPr>
              <a:t>21</a:t>
            </a:r>
          </a:p>
          <a:p>
            <a:pPr algn="r">
              <a:lnSpc>
                <a:spcPct val="100000"/>
              </a:lnSpc>
            </a:pPr>
            <a:r>
              <a:rPr sz="1900">
                <a:solidFill>
                  <a:srgbClr val="4F5D6A"/>
                </a:solidFill>
                <a:latin typeface="Consolas"/>
              </a:rPr>
              <a:t>22</a:t>
            </a:r>
          </a:p>
          <a:p>
            <a:pPr algn="r">
              <a:lnSpc>
                <a:spcPct val="100000"/>
              </a:lnSpc>
            </a:pPr>
            <a:r>
              <a:rPr sz="1900">
                <a:solidFill>
                  <a:srgbClr val="4F5D6A"/>
                </a:solidFill>
                <a:latin typeface="Consolas"/>
              </a:rPr>
              <a:t>23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12779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Checking Against Finding</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  ·  Complexity Classes: P, NP and NP-Completeness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§22.4  ·  Handout p. 185     </a:t>
            </a:r>
            <a:fld id="{BA474995-C9E3-45A0-8F40-F34BB71D2761}" type="slidenum">
              <a:rPr lang="en-GB" sz="1000">
                <a:solidFill>
                  <a:srgbClr val="8795A1"/>
                </a:solidFill>
                <a:latin typeface="Segoe UI"/>
              </a:rPr>
              <a:t>35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Checking against finding</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621024"/>
          </a:xfrm>
          <a:prstGeom prst="roundRect">
            <a:avLst>
              <a:gd name="adj" fmla="val 2525"/>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code/ch22_complexity.cpp</a:t>
            </a:r>
          </a:p>
        </p:txBody>
      </p:sp>
      <p:sp>
        <p:nvSpPr>
          <p:cNvPr id="14" name="!!code-text" descr="// --- 4. Checking against finding ----------------------------------- // Verification takes tens of NANOseconds, below the clock's // resolution -- timing it one call at a time reports 0.0000 and a // ratio of infinity, which is what the first version printed. Time a // million verifications and divide. const int REPS = 1000000; double tv_ns = time_ms([&amp;] { int ok = 0; for (int r = 0; r &lt; REPS; ++r) ok += verify(a, plant, target); return ok; }, 3) * 1e6 / REPS; // ms for REPS -&gt; ns per call"/>
          <p:cNvSpPr txBox="1"/>
          <p:nvPr/>
        </p:nvSpPr>
        <p:spPr>
          <a:xfrm>
            <a:off x="1362456" y="2523744"/>
            <a:ext cx="9987991" cy="312724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--- 4. Checking against finding -----------------------------------</a:t>
            </a:r>
          </a:p>
          <a:p>
            <a:pPr>
              <a:lnSpc>
                <a:spcPct val="100000"/>
              </a:lnSpc>
              <a:spcAft>
                <a:spcPts val="0"/>
              </a:spcAft>
            </a:pPr>
            <a:r>
              <a:rPr sz="1800" i="1">
                <a:solidFill>
                  <a:srgbClr val="8795A1"/>
                </a:solidFill>
                <a:latin typeface="Consolas"/>
              </a:rPr>
              <a:t>// Verification takes tens of NANOseconds, below the clock's</a:t>
            </a:r>
          </a:p>
          <a:p>
            <a:pPr>
              <a:lnSpc>
                <a:spcPct val="100000"/>
              </a:lnSpc>
              <a:spcAft>
                <a:spcPts val="0"/>
              </a:spcAft>
            </a:pPr>
            <a:r>
              <a:rPr sz="1800" i="1">
                <a:solidFill>
                  <a:srgbClr val="8795A1"/>
                </a:solidFill>
                <a:latin typeface="Consolas"/>
              </a:rPr>
              <a:t>// resolution -- timing it one call at a time reports 0.0000 and a</a:t>
            </a:r>
          </a:p>
          <a:p>
            <a:pPr>
              <a:lnSpc>
                <a:spcPct val="100000"/>
              </a:lnSpc>
              <a:spcAft>
                <a:spcPts val="0"/>
              </a:spcAft>
            </a:pPr>
            <a:r>
              <a:rPr sz="1800" i="1">
                <a:solidFill>
                  <a:srgbClr val="8795A1"/>
                </a:solidFill>
                <a:latin typeface="Consolas"/>
              </a:rPr>
              <a:t>// ratio of infinity, which is what the first version printed. Time a</a:t>
            </a:r>
          </a:p>
          <a:p>
            <a:pPr>
              <a:lnSpc>
                <a:spcPct val="100000"/>
              </a:lnSpc>
              <a:spcAft>
                <a:spcPts val="0"/>
              </a:spcAft>
            </a:pPr>
            <a:r>
              <a:rPr sz="1800" i="1">
                <a:solidFill>
                  <a:srgbClr val="8795A1"/>
                </a:solidFill>
                <a:latin typeface="Consolas"/>
              </a:rPr>
              <a:t>// million verifications and divide.</a:t>
            </a:r>
          </a:p>
          <a:p>
            <a:pPr>
              <a:lnSpc>
                <a:spcPct val="100000"/>
              </a:lnSpc>
              <a:spcAft>
                <a:spcPts val="0"/>
              </a:spcAft>
            </a:pPr>
            <a:r>
              <a:rPr sz="1800" i="0">
                <a:solidFill>
                  <a:srgbClr val="E8EDF2"/>
                </a:solidFill>
                <a:latin typeface="Consolas"/>
              </a:rPr>
              <a:t>        </a:t>
            </a:r>
            <a:r>
              <a:rPr sz="1800" i="0">
                <a:solidFill>
                  <a:srgbClr val="5DADE2"/>
                </a:solidFill>
                <a:latin typeface="Consolas"/>
              </a:rPr>
              <a:t>const</a:t>
            </a:r>
            <a:r>
              <a:rPr sz="1800" i="0">
                <a:solidFill>
                  <a:srgbClr val="E8EDF2"/>
                </a:solidFill>
                <a:latin typeface="Consolas"/>
              </a:rPr>
              <a:t> </a:t>
            </a:r>
            <a:r>
              <a:rPr sz="1800" i="0">
                <a:solidFill>
                  <a:srgbClr val="5DADE2"/>
                </a:solidFill>
                <a:latin typeface="Consolas"/>
              </a:rPr>
              <a:t>int</a:t>
            </a:r>
            <a:r>
              <a:rPr sz="1800" i="0">
                <a:solidFill>
                  <a:srgbClr val="E8EDF2"/>
                </a:solidFill>
                <a:latin typeface="Consolas"/>
              </a:rPr>
              <a:t> </a:t>
            </a:r>
            <a:r>
              <a:rPr sz="1800" i="0">
                <a:solidFill>
                  <a:srgbClr val="E8EDF2"/>
                </a:solidFill>
                <a:latin typeface="Consolas"/>
              </a:rPr>
              <a:t>REPS</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1000000</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double</a:t>
            </a:r>
            <a:r>
              <a:rPr sz="1800" i="0">
                <a:solidFill>
                  <a:srgbClr val="E8EDF2"/>
                </a:solidFill>
                <a:latin typeface="Consolas"/>
              </a:rPr>
              <a:t> </a:t>
            </a:r>
            <a:r>
              <a:rPr sz="1800" i="0">
                <a:solidFill>
                  <a:srgbClr val="E8EDF2"/>
                </a:solidFill>
                <a:latin typeface="Consolas"/>
              </a:rPr>
              <a:t>tv_ns</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time_ms</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&amp;</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int</a:t>
            </a:r>
            <a:r>
              <a:rPr sz="1800" i="0">
                <a:solidFill>
                  <a:srgbClr val="E8EDF2"/>
                </a:solidFill>
                <a:latin typeface="Consolas"/>
              </a:rPr>
              <a:t> </a:t>
            </a:r>
            <a:r>
              <a:rPr sz="1800" i="0">
                <a:solidFill>
                  <a:srgbClr val="E8EDF2"/>
                </a:solidFill>
                <a:latin typeface="Consolas"/>
              </a:rPr>
              <a:t>ok</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for</a:t>
            </a:r>
            <a:r>
              <a:rPr sz="1800" i="0">
                <a:solidFill>
                  <a:srgbClr val="E8EDF2"/>
                </a:solidFill>
                <a:latin typeface="Consolas"/>
              </a:rPr>
              <a:t> </a:t>
            </a:r>
            <a:r>
              <a:rPr sz="1800" i="0">
                <a:solidFill>
                  <a:srgbClr val="AEB6BF"/>
                </a:solidFill>
                <a:latin typeface="Consolas"/>
              </a:rPr>
              <a:t>(</a:t>
            </a:r>
            <a:r>
              <a:rPr sz="1800" i="0">
                <a:solidFill>
                  <a:srgbClr val="5DADE2"/>
                </a:solidFill>
                <a:latin typeface="Consolas"/>
              </a:rPr>
              <a:t>int</a:t>
            </a:r>
            <a:r>
              <a:rPr sz="1800" i="0">
                <a:solidFill>
                  <a:srgbClr val="E8EDF2"/>
                </a:solidFill>
                <a:latin typeface="Consolas"/>
              </a:rPr>
              <a:t> </a:t>
            </a:r>
            <a:r>
              <a:rPr sz="1800" i="0">
                <a:solidFill>
                  <a:srgbClr val="E8EDF2"/>
                </a:solidFill>
                <a:latin typeface="Consolas"/>
              </a:rPr>
              <a:t>r</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a:t>
            </a:r>
            <a:r>
              <a:rPr sz="1800" i="0">
                <a:solidFill>
                  <a:srgbClr val="E8EDF2"/>
                </a:solidFill>
                <a:latin typeface="Consolas"/>
              </a:rPr>
              <a:t> </a:t>
            </a:r>
            <a:r>
              <a:rPr sz="1800" i="0">
                <a:solidFill>
                  <a:srgbClr val="AEB6BF"/>
                </a:solidFill>
                <a:latin typeface="Consolas"/>
              </a:rPr>
              <a:t>&lt;</a:t>
            </a:r>
            <a:r>
              <a:rPr sz="1800" i="0">
                <a:solidFill>
                  <a:srgbClr val="E8EDF2"/>
                </a:solidFill>
                <a:latin typeface="Consolas"/>
              </a:rPr>
              <a:t> </a:t>
            </a:r>
            <a:r>
              <a:rPr sz="1800" i="0">
                <a:solidFill>
                  <a:srgbClr val="E8EDF2"/>
                </a:solidFill>
                <a:latin typeface="Consolas"/>
              </a:rPr>
              <a:t>REPS</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r</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ok</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verify</a:t>
            </a:r>
            <a:r>
              <a:rPr sz="1800" i="0">
                <a:solidFill>
                  <a:srgbClr val="AEB6BF"/>
                </a:solidFill>
                <a:latin typeface="Consolas"/>
              </a:rPr>
              <a:t>(</a:t>
            </a:r>
            <a:r>
              <a:rPr sz="1800" i="0">
                <a:solidFill>
                  <a:srgbClr val="E8EDF2"/>
                </a:solidFill>
                <a:latin typeface="Consolas"/>
              </a:rPr>
              <a:t>a</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plant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target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return</a:t>
            </a:r>
            <a:r>
              <a:rPr sz="1800" i="0">
                <a:solidFill>
                  <a:srgbClr val="E8EDF2"/>
                </a:solidFill>
                <a:latin typeface="Consolas"/>
              </a:rPr>
              <a:t> </a:t>
            </a:r>
            <a:r>
              <a:rPr sz="1800" i="0">
                <a:solidFill>
                  <a:srgbClr val="E8EDF2"/>
                </a:solidFill>
                <a:latin typeface="Consolas"/>
              </a:rPr>
              <a:t>ok</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3</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1e6</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REPS</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ms for REPS -&gt; ns per call</a:t>
            </a:r>
          </a:p>
        </p:txBody>
      </p:sp>
      <p:sp>
        <p:nvSpPr>
          <p:cNvPr id="15" name="!!code-num"/>
          <p:cNvSpPr txBox="1"/>
          <p:nvPr/>
        </p:nvSpPr>
        <p:spPr>
          <a:xfrm>
            <a:off x="768096" y="2523744"/>
            <a:ext cx="393192" cy="312724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25</a:t>
            </a:r>
          </a:p>
          <a:p>
            <a:pPr algn="r">
              <a:lnSpc>
                <a:spcPct val="100000"/>
              </a:lnSpc>
            </a:pPr>
            <a:r>
              <a:rPr sz="1800">
                <a:solidFill>
                  <a:srgbClr val="4F5D6A"/>
                </a:solidFill>
                <a:latin typeface="Consolas"/>
              </a:rPr>
              <a:t>26</a:t>
            </a:r>
          </a:p>
          <a:p>
            <a:pPr algn="r">
              <a:lnSpc>
                <a:spcPct val="100000"/>
              </a:lnSpc>
            </a:pPr>
            <a:r>
              <a:rPr sz="1800">
                <a:solidFill>
                  <a:srgbClr val="4F5D6A"/>
                </a:solidFill>
                <a:latin typeface="Consolas"/>
              </a:rPr>
              <a:t>27</a:t>
            </a:r>
          </a:p>
          <a:p>
            <a:pPr algn="r">
              <a:lnSpc>
                <a:spcPct val="100000"/>
              </a:lnSpc>
            </a:pPr>
            <a:r>
              <a:rPr sz="1800">
                <a:solidFill>
                  <a:srgbClr val="4F5D6A"/>
                </a:solidFill>
                <a:latin typeface="Consolas"/>
              </a:rPr>
              <a:t>28</a:t>
            </a:r>
          </a:p>
          <a:p>
            <a:pPr algn="r">
              <a:lnSpc>
                <a:spcPct val="100000"/>
              </a:lnSpc>
            </a:pPr>
            <a:r>
              <a:rPr sz="1800">
                <a:solidFill>
                  <a:srgbClr val="4F5D6A"/>
                </a:solidFill>
                <a:latin typeface="Consolas"/>
              </a:rPr>
              <a:t>29</a:t>
            </a:r>
          </a:p>
          <a:p>
            <a:pPr algn="r">
              <a:lnSpc>
                <a:spcPct val="100000"/>
              </a:lnSpc>
            </a:pPr>
            <a:r>
              <a:rPr sz="1800">
                <a:solidFill>
                  <a:srgbClr val="4F5D6A"/>
                </a:solidFill>
                <a:latin typeface="Consolas"/>
              </a:rPr>
              <a:t>30</a:t>
            </a:r>
          </a:p>
          <a:p>
            <a:pPr algn="r">
              <a:lnSpc>
                <a:spcPct val="100000"/>
              </a:lnSpc>
            </a:pPr>
            <a:r>
              <a:rPr sz="1800">
                <a:solidFill>
                  <a:srgbClr val="4F5D6A"/>
                </a:solidFill>
                <a:latin typeface="Consolas"/>
              </a:rPr>
              <a:t>31</a:t>
            </a:r>
          </a:p>
          <a:p>
            <a:pPr algn="r">
              <a:lnSpc>
                <a:spcPct val="100000"/>
              </a:lnSpc>
            </a:pPr>
            <a:r>
              <a:rPr sz="1800">
                <a:solidFill>
                  <a:srgbClr val="4F5D6A"/>
                </a:solidFill>
                <a:latin typeface="Consolas"/>
              </a:rPr>
              <a:t>32</a:t>
            </a:r>
          </a:p>
          <a:p>
            <a:pPr algn="r">
              <a:lnSpc>
                <a:spcPct val="100000"/>
              </a:lnSpc>
            </a:pPr>
            <a:r>
              <a:rPr sz="1800">
                <a:solidFill>
                  <a:srgbClr val="4F5D6A"/>
                </a:solidFill>
                <a:latin typeface="Consolas"/>
              </a:rPr>
              <a:t>33</a:t>
            </a:r>
          </a:p>
          <a:p>
            <a:pPr algn="r">
              <a:lnSpc>
                <a:spcPct val="100000"/>
              </a:lnSpc>
            </a:pPr>
            <a:r>
              <a:rPr sz="1800">
                <a:solidFill>
                  <a:srgbClr val="4F5D6A"/>
                </a:solidFill>
                <a:latin typeface="Consolas"/>
              </a:rPr>
              <a:t>34</a:t>
            </a:r>
          </a:p>
          <a:p>
            <a:pPr algn="r">
              <a:lnSpc>
                <a:spcPct val="100000"/>
              </a:lnSpc>
            </a:pPr>
            <a:r>
              <a:rPr sz="1800">
                <a:solidFill>
                  <a:srgbClr val="4F5D6A"/>
                </a:solidFill>
                <a:latin typeface="Consolas"/>
              </a:rPr>
              <a:t>35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36684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Checking Against Finding</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  ·  Complexity Classes: P, NP and NP-Completeness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§22.4  ·  Handout p. 185     </a:t>
            </a:r>
            <a:fld id="{A59FEDB4-126A-48AA-A1DF-C897CEFE2B5A}" type="slidenum">
              <a:rPr lang="en-GB" sz="1000">
                <a:solidFill>
                  <a:srgbClr val="8795A1"/>
                </a:solidFill>
                <a:latin typeface="Segoe UI"/>
              </a:rPr>
              <a:t>36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Where the wall is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472184"/>
          </a:xfrm>
          <a:prstGeom prst="roundRect">
            <a:avLst>
              <a:gd name="adj" fmla="val 62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code/ch22_complexity.cpp</a:t>
            </a:r>
          </a:p>
        </p:txBody>
      </p:sp>
      <p:sp>
        <p:nvSpPr>
          <p:cNvPr id="14" name="!!code-text" descr="// --- 5. Where the wall is ------------------------------------------ // The point is not that the numbers are large; it is how FAST they // become large."/>
          <p:cNvSpPr txBox="1"/>
          <p:nvPr/>
        </p:nvSpPr>
        <p:spPr>
          <a:xfrm>
            <a:off x="1362456" y="2523744"/>
            <a:ext cx="9987991" cy="97840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--- 5. Where the wall is ------------------------------------------</a:t>
            </a:r>
          </a:p>
          <a:p>
            <a:pPr>
              <a:lnSpc>
                <a:spcPct val="100000"/>
              </a:lnSpc>
              <a:spcAft>
                <a:spcPts val="0"/>
              </a:spcAft>
            </a:pPr>
            <a:r>
              <a:rPr sz="1900" i="1">
                <a:solidFill>
                  <a:srgbClr val="8795A1"/>
                </a:solidFill>
                <a:latin typeface="Consolas"/>
              </a:rPr>
              <a:t>// The point is not that the numbers are large; it is how FAST they</a:t>
            </a:r>
          </a:p>
          <a:p>
            <a:pPr>
              <a:lnSpc>
                <a:spcPct val="100000"/>
              </a:lnSpc>
              <a:spcAft>
                <a:spcPts val="0"/>
              </a:spcAft>
            </a:pPr>
            <a:r>
              <a:rPr sz="1900" i="1">
                <a:solidFill>
                  <a:srgbClr val="8795A1"/>
                </a:solidFill>
                <a:latin typeface="Consolas"/>
              </a:rPr>
              <a:t>// become large.</a:t>
            </a:r>
          </a:p>
        </p:txBody>
      </p:sp>
      <p:sp>
        <p:nvSpPr>
          <p:cNvPr id="15" name="!!code-num"/>
          <p:cNvSpPr txBox="1"/>
          <p:nvPr/>
        </p:nvSpPr>
        <p:spPr>
          <a:xfrm>
            <a:off x="768096" y="2523744"/>
            <a:ext cx="393192" cy="97840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37</a:t>
            </a:r>
          </a:p>
          <a:p>
            <a:pPr algn="r">
              <a:lnSpc>
                <a:spcPct val="100000"/>
              </a:lnSpc>
            </a:pPr>
            <a:r>
              <a:rPr sz="1900">
                <a:solidFill>
                  <a:srgbClr val="4F5D6A"/>
                </a:solidFill>
                <a:latin typeface="Consolas"/>
              </a:rPr>
              <a:t>38</a:t>
            </a:r>
          </a:p>
          <a:p>
            <a:pPr algn="r">
              <a:lnSpc>
                <a:spcPct val="100000"/>
              </a:lnSpc>
            </a:pPr>
            <a:r>
              <a:rPr sz="1900">
                <a:solidFill>
                  <a:srgbClr val="4F5D6A"/>
                </a:solidFill>
                <a:latin typeface="Consolas"/>
              </a:rPr>
              <a:t>39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60590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Checking Against Finding</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  ·  Complexity Classes: P, NP and NP-Completeness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§22.4  ·  Handout p. 185     </a:t>
            </a:r>
            <a:fld id="{EDD2E3C9-AE6D-4612-ABE6-71CA906B1D96}" type="slidenum">
              <a:rPr lang="en-GB" sz="1000">
                <a:solidFill>
                  <a:srgbClr val="8795A1"/>
                </a:solidFill>
                <a:latin typeface="Segoe UI"/>
              </a:rPr>
              <a:t>37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Exponential is not one speed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893063"/>
          </a:xfrm>
          <a:prstGeom prst="roundRect">
            <a:avLst>
              <a:gd name="adj" fmla="val 10238"/>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code/ch22_complexity.cpp</a:t>
            </a:r>
          </a:p>
        </p:txBody>
      </p:sp>
      <p:sp>
        <p:nvSpPr>
          <p:cNvPr id="14" name="!!code-text" descr="// --- 6. Exponential is not one speed -------------------------------"/>
          <p:cNvSpPr txBox="1"/>
          <p:nvPr/>
        </p:nvSpPr>
        <p:spPr>
          <a:xfrm>
            <a:off x="1362456" y="2523744"/>
            <a:ext cx="9987991" cy="3992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--- 6. Exponential is not one speed -------------------------------</a:t>
            </a:r>
          </a:p>
        </p:txBody>
      </p:sp>
      <p:sp>
        <p:nvSpPr>
          <p:cNvPr id="15" name="!!code-num"/>
          <p:cNvSpPr txBox="1"/>
          <p:nvPr/>
        </p:nvSpPr>
        <p:spPr>
          <a:xfrm>
            <a:off x="768096" y="2523744"/>
            <a:ext cx="393192" cy="3992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41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84495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Checking Against Finding</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7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  ·  Complexity Classes: P, NP and NP-Completeness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§22.4  ·  Handout p. 185     </a:t>
            </a:r>
            <a:fld id="{81C0170B-824C-445A-993A-AF4C0341FA55}" type="slidenum">
              <a:rPr lang="en-GB" sz="1000">
                <a:solidFill>
                  <a:srgbClr val="8795A1"/>
                </a:solidFill>
                <a:latin typeface="Segoe UI"/>
              </a:rPr>
              <a:t>38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 reduction, actually run</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051303"/>
          </a:xfrm>
          <a:prstGeom prst="roundRect">
            <a:avLst>
              <a:gd name="adj" fmla="val 445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code/ch22_complexity.cpp</a:t>
            </a:r>
          </a:p>
        </p:txBody>
      </p:sp>
      <p:sp>
        <p:nvSpPr>
          <p:cNvPr id="14" name="!!code-text" descr="// --- 7. A reduction, actually run ---------------------------------- // S is an independent set of G exactly when V \ S is a vertex cover. // So &quot;is there an independent set of size k?&quot; and &quot;is there a vertex // cover of size |V| - k?&quot; are the same question. A reduction is a // translation, and translations can be tested."/>
          <p:cNvSpPr txBox="1"/>
          <p:nvPr/>
        </p:nvSpPr>
        <p:spPr>
          <a:xfrm>
            <a:off x="1362456" y="2523744"/>
            <a:ext cx="9987991" cy="155752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--- 7. A reduction, actually run ----------------------------------</a:t>
            </a:r>
          </a:p>
          <a:p>
            <a:pPr>
              <a:lnSpc>
                <a:spcPct val="100000"/>
              </a:lnSpc>
              <a:spcAft>
                <a:spcPts val="0"/>
              </a:spcAft>
            </a:pPr>
            <a:r>
              <a:rPr sz="1900" i="1">
                <a:solidFill>
                  <a:srgbClr val="8795A1"/>
                </a:solidFill>
                <a:latin typeface="Consolas"/>
              </a:rPr>
              <a:t>// S is an independent set of G exactly when V \ S is a vertex cover.</a:t>
            </a:r>
          </a:p>
          <a:p>
            <a:pPr>
              <a:lnSpc>
                <a:spcPct val="100000"/>
              </a:lnSpc>
              <a:spcAft>
                <a:spcPts val="0"/>
              </a:spcAft>
            </a:pPr>
            <a:r>
              <a:rPr sz="1900" i="1">
                <a:solidFill>
                  <a:srgbClr val="8795A1"/>
                </a:solidFill>
                <a:latin typeface="Consolas"/>
              </a:rPr>
              <a:t>// So "is there an independent set of size k?" and "is there a vertex</a:t>
            </a:r>
          </a:p>
          <a:p>
            <a:pPr>
              <a:lnSpc>
                <a:spcPct val="100000"/>
              </a:lnSpc>
              <a:spcAft>
                <a:spcPts val="0"/>
              </a:spcAft>
            </a:pPr>
            <a:r>
              <a:rPr sz="1900" i="1">
                <a:solidFill>
                  <a:srgbClr val="8795A1"/>
                </a:solidFill>
                <a:latin typeface="Consolas"/>
              </a:rPr>
              <a:t>// cover of size |V| - k?" are the same question. A reduction is a</a:t>
            </a:r>
          </a:p>
          <a:p>
            <a:pPr>
              <a:lnSpc>
                <a:spcPct val="100000"/>
              </a:lnSpc>
              <a:spcAft>
                <a:spcPts val="0"/>
              </a:spcAft>
            </a:pPr>
            <a:r>
              <a:rPr sz="1900" i="1">
                <a:solidFill>
                  <a:srgbClr val="8795A1"/>
                </a:solidFill>
                <a:latin typeface="Consolas"/>
              </a:rPr>
              <a:t>// translation, and translations can be tested.</a:t>
            </a:r>
          </a:p>
        </p:txBody>
      </p:sp>
      <p:sp>
        <p:nvSpPr>
          <p:cNvPr id="15" name="!!code-num"/>
          <p:cNvSpPr txBox="1"/>
          <p:nvPr/>
        </p:nvSpPr>
        <p:spPr>
          <a:xfrm>
            <a:off x="768096" y="2523744"/>
            <a:ext cx="393192" cy="155752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43</a:t>
            </a:r>
          </a:p>
          <a:p>
            <a:pPr algn="r">
              <a:lnSpc>
                <a:spcPct val="100000"/>
              </a:lnSpc>
            </a:pPr>
            <a:r>
              <a:rPr sz="1900">
                <a:solidFill>
                  <a:srgbClr val="4F5D6A"/>
                </a:solidFill>
                <a:latin typeface="Consolas"/>
              </a:rPr>
              <a:t>44</a:t>
            </a:r>
          </a:p>
          <a:p>
            <a:pPr algn="r">
              <a:lnSpc>
                <a:spcPct val="100000"/>
              </a:lnSpc>
            </a:pPr>
            <a:r>
              <a:rPr sz="1900">
                <a:solidFill>
                  <a:srgbClr val="4F5D6A"/>
                </a:solidFill>
                <a:latin typeface="Consolas"/>
              </a:rPr>
              <a:t>45</a:t>
            </a:r>
          </a:p>
          <a:p>
            <a:pPr algn="r">
              <a:lnSpc>
                <a:spcPct val="100000"/>
              </a:lnSpc>
            </a:pPr>
            <a:r>
              <a:rPr sz="1900">
                <a:solidFill>
                  <a:srgbClr val="4F5D6A"/>
                </a:solidFill>
                <a:latin typeface="Consolas"/>
              </a:rPr>
              <a:t>46</a:t>
            </a:r>
          </a:p>
          <a:p>
            <a:pPr algn="r">
              <a:lnSpc>
                <a:spcPct val="100000"/>
              </a:lnSpc>
            </a:pPr>
            <a:r>
              <a:rPr sz="1900">
                <a:solidFill>
                  <a:srgbClr val="4F5D6A"/>
                </a:solidFill>
                <a:latin typeface="Consolas"/>
              </a:rPr>
              <a:t>47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908400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  ·  Complexity Classes: P, NP and NP-Completeness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§22.4  ·  Handout p. 185     </a:t>
            </a:r>
            <a:fld id="{D75AB428-EBA3-4C50-B148-A70DDF91A0BE}" type="slidenum">
              <a:rPr lang="en-GB" sz="1000">
                <a:solidFill>
                  <a:srgbClr val="8795A1"/>
                </a:solidFill>
                <a:latin typeface="Segoe UI"/>
              </a:rPr>
              <a:t>39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27855"/>
          </a:xfrm>
          <a:prstGeom prst="roundRect">
            <a:avLst>
              <a:gd name="adj" fmla="val 2065"/>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27855"/>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What to notice.</a:t>
            </a:r>
            <a:r>
              <a:rPr sz="2300" b="0" i="0">
                <a:solidFill>
                  <a:srgbClr val="1C252B"/>
                </a:solidFill>
                <a:latin typeface="Segoe UI"/>
              </a:rPr>
              <a:t> Part 4’s ratio column is the P versus NP question in numerical form. It grows from </a:t>
            </a:r>
            <a:r>
              <a:rPr sz="2300" b="0" i="0">
                <a:solidFill>
                  <a:srgbClr val="1C252B"/>
                </a:solidFill>
                <a:latin typeface="Cambria"/>
              </a:rPr>
              <a:t>6 × 10</a:t>
            </a:r>
            <a:r>
              <a:rPr sz="1500" b="0" i="0" baseline="30000">
                <a:solidFill>
                  <a:srgbClr val="1C252B"/>
                </a:solidFill>
                <a:latin typeface="Cambria"/>
              </a:rPr>
              <a:t>4</a:t>
            </a:r>
            <a:r>
              <a:rPr sz="2300" b="0" i="0">
                <a:solidFill>
                  <a:srgbClr val="1C252B"/>
                </a:solidFill>
                <a:latin typeface="Segoe UI"/>
              </a:rPr>
              <a:t> to </a:t>
            </a:r>
            <a:r>
              <a:rPr sz="2300" b="0" i="0">
                <a:solidFill>
                  <a:srgbClr val="1C252B"/>
                </a:solidFill>
                <a:latin typeface="Cambria"/>
              </a:rPr>
              <a:t>3 × 10</a:t>
            </a:r>
            <a:r>
              <a:rPr sz="1500" b="0" i="0" baseline="30000">
                <a:solidFill>
                  <a:srgbClr val="1C252B"/>
                </a:solidFill>
                <a:latin typeface="Cambria"/>
              </a:rPr>
              <a:t>8</a:t>
            </a:r>
            <a:r>
              <a:rPr sz="2300" b="0" i="0">
                <a:solidFill>
                  <a:srgbClr val="1C252B"/>
                </a:solidFill>
                <a:latin typeface="Segoe UI"/>
              </a:rPr>
              <a:t> over twelve values of </a:t>
            </a:r>
            <a:r>
              <a:rPr sz="2300" b="0" i="1">
                <a:solidFill>
                  <a:srgbClr val="1C252B"/>
                </a:solidFill>
                <a:latin typeface="Cambria"/>
              </a:rPr>
              <a:t>n</a:t>
            </a:r>
            <a:r>
              <a:rPr sz="2300" b="0" i="0">
                <a:solidFill>
                  <a:srgbClr val="1C252B"/>
                </a:solidFill>
                <a:latin typeface="Segoe UI"/>
              </a:rPr>
              <a:t>, and the open problem is whether any algorithm can stop it growing.</a:t>
            </a:r>
          </a:p>
        </p:txBody>
      </p:sp>
      <p:sp>
        <p:nvSpPr>
          <p:cNvPr id="10" name="body-1"/>
          <p:cNvSpPr txBox="1"/>
          <p:nvPr/>
        </p:nvSpPr>
        <p:spPr>
          <a:xfrm>
            <a:off x="1060704" y="3302533"/>
            <a:ext cx="10161727" cy="2597505"/>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Then try to break it.</a:t>
            </a:r>
            <a:r>
              <a:rPr sz="2300" b="0" i="0">
                <a:solidFill>
                  <a:srgbClr val="1C252B"/>
                </a:solidFill>
                <a:latin typeface="Segoe UI"/>
              </a:rPr>
              <a:t> Make the instances </a:t>
            </a:r>
            <a:r>
              <a:rPr sz="2300" b="0" i="1">
                <a:solidFill>
                  <a:srgbClr val="1C252B"/>
                </a:solidFill>
                <a:latin typeface="Segoe UI"/>
              </a:rPr>
              <a:t>unsatisfiable</a:t>
            </a:r>
            <a:r>
              <a:rPr sz="2300" b="0" i="0">
                <a:solidFill>
                  <a:srgbClr val="1C252B"/>
                </a:solidFill>
                <a:latin typeface="Segoe UI"/>
              </a:rPr>
              <a:t> — pick a target no subset can reach — and re-run part 4. Predict first. The brute force gets </a:t>
            </a:r>
            <a:r>
              <a:rPr sz="2300" b="0" i="1">
                <a:solidFill>
                  <a:srgbClr val="1C252B"/>
                </a:solidFill>
                <a:latin typeface="Segoe UI"/>
              </a:rPr>
              <a:t>slower</a:t>
            </a:r>
            <a:r>
              <a:rPr sz="2300" b="0" i="0">
                <a:solidFill>
                  <a:srgbClr val="1C252B"/>
                </a:solidFill>
                <a:latin typeface="Segoe UI"/>
              </a:rPr>
              <a:t>, because it can no longer stop when it finds a solution and must examine all </a:t>
            </a:r>
            <a:r>
              <a:rPr sz="2300" b="0" i="0">
                <a:solidFill>
                  <a:srgbClr val="1C252B"/>
                </a:solidFill>
                <a:latin typeface="Cambria"/>
              </a:rPr>
              <a:t>2</a:t>
            </a:r>
            <a:r>
              <a:rPr sz="1500" b="0" i="1" baseline="30000">
                <a:solidFill>
                  <a:srgbClr val="1C252B"/>
                </a:solidFill>
                <a:latin typeface="Cambria"/>
              </a:rPr>
              <a:t>n</a:t>
            </a:r>
            <a:r>
              <a:rPr sz="2300" b="0" i="0">
                <a:solidFill>
                  <a:srgbClr val="1C252B"/>
                </a:solidFill>
                <a:latin typeface="Segoe UI"/>
              </a:rPr>
              <a:t> subsets. And verification of a </a:t>
            </a:r>
            <a:r>
              <a:rPr sz="2300" b="0" i="1">
                <a:solidFill>
                  <a:srgbClr val="1C252B"/>
                </a:solidFill>
                <a:latin typeface="Segoe UI"/>
              </a:rPr>
              <a:t>no</a:t>
            </a:r>
            <a:r>
              <a:rPr sz="2300" b="0" i="0">
                <a:solidFill>
                  <a:srgbClr val="1C252B"/>
                </a:solidFill>
                <a:latin typeface="Segoe UI"/>
              </a:rPr>
              <a:t> answer has no certificate at all: there is nothing short to check. That asymmetry between yes and no is why NP has a mirror class, co-NP, and why “verify in polynomial time” is always stated for one answer only.</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932306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Define P and NP, and explain why P</a:t>
            </a:r>
            <a:r>
              <a:rPr sz="3400" b="0" i="0">
                <a:solidFill>
                  <a:srgbClr val="FFFFFF"/>
                </a:solidFill>
                <a:latin typeface="Cambria"/>
              </a:rPr>
              <a:t> ⊆ </a:t>
            </a:r>
            <a:r>
              <a:rPr sz="3400" b="0" i="0">
                <a:solidFill>
                  <a:srgbClr val="FFFFFF"/>
                </a:solidFill>
                <a:latin typeface="Segoe UI Semibold"/>
              </a:rPr>
              <a:t>NP </a:t>
            </a:r>
            <a:r>
              <a:rPr sz="3400" b="0" i="1">
                <a:solidFill>
                  <a:srgbClr val="FFFFFF"/>
                </a:solidFill>
                <a:latin typeface="Segoe UI Semibold"/>
              </a:rPr>
              <a:t>(CLO-4)</a:t>
            </a:r>
            <a:r>
              <a:rPr sz="3400" b="0" i="0">
                <a:solidFill>
                  <a:srgbClr val="FFFFFF"/>
                </a:solidFill>
                <a:latin typeface="Segoe UI Semibold"/>
              </a:rPr>
              <a: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22  ·  Complexity Classes: P, NP and NP-Completeness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188  ·  answers in Appendix D     </a:t>
            </a:r>
            <a:fld id="{E49FF562-4367-4AC0-AD85-34FBD20BFEBD}" type="slidenum">
              <a:rPr lang="en-GB" sz="1000">
                <a:solidFill>
                  <a:srgbClr val="D5DEE5"/>
                </a:solidFill>
                <a:latin typeface="Segoe UI"/>
              </a:rPr>
              <a:t>40</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457200"/>
          </a:xfrm>
        </p:spPr>
        <p:txBody>
          <a:bodyPr wrap="square" lIns="0" rIns="0" tIns="0" bIns="0" anchor="t">
            <a:noAutofit/>
          </a:bodyPr>
          <a:lstStyle/>
          <a:p>
            <a:pPr algn="l">
              <a:lnSpc>
                <a:spcPct val="96000"/>
              </a:lnSpc>
            </a:pPr>
            <a:r>
              <a:rPr sz="2400" b="0" i="0">
                <a:solidFill>
                  <a:srgbClr val="1A5276"/>
                </a:solidFill>
                <a:latin typeface="Segoe UI Semibold"/>
              </a:rPr>
              <a:t>Define P and NP, and explain why P</a:t>
            </a:r>
            <a:r>
              <a:rPr sz="2400" b="0" i="0">
                <a:solidFill>
                  <a:srgbClr val="1A5276"/>
                </a:solidFill>
                <a:latin typeface="Cambria"/>
              </a:rPr>
              <a:t> ⊆ </a:t>
            </a:r>
            <a:r>
              <a:rPr sz="2400" b="0" i="0">
                <a:solidFill>
                  <a:srgbClr val="1A5276"/>
                </a:solidFill>
                <a:latin typeface="Segoe UI Semibold"/>
              </a:rPr>
              <a:t>NP </a:t>
            </a:r>
            <a:r>
              <a:rPr sz="2400" b="0" i="1">
                <a:solidFill>
                  <a:srgbClr val="1A5276"/>
                </a:solidFill>
                <a:latin typeface="Segoe UI Semibold"/>
              </a:rPr>
              <a:t>(CLO-4)</a:t>
            </a:r>
            <a:r>
              <a:rPr sz="2400" b="0" i="0">
                <a:solidFill>
                  <a:srgbClr val="1A5276"/>
                </a:solidFill>
                <a:latin typeface="Segoe UI Semibold"/>
              </a:rPr>
              <a: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411833"/>
            <a:ext cx="64008" cy="13947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411833"/>
            <a:ext cx="10509199"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256B9A"/>
                </a:solidFill>
                <a:latin typeface="Segoe UI"/>
              </a:rPr>
              <a:t>P</a:t>
            </a:r>
            <a:r>
              <a:rPr sz="2200" b="0" i="0">
                <a:solidFill>
                  <a:srgbClr val="1C252B"/>
                </a:solidFill>
                <a:latin typeface="Segoe UI"/>
              </a:rPr>
              <a:t> is the class of decision problems solvable in polynomial time. </a:t>
            </a:r>
            <a:r>
              <a:rPr sz="2200" b="1" i="0">
                <a:solidFill>
                  <a:srgbClr val="1C252B"/>
                </a:solidFill>
                <a:latin typeface="Segoe UI"/>
              </a:rPr>
              <a:t>NP</a:t>
            </a:r>
            <a:r>
              <a:rPr sz="2200" b="0" i="0">
                <a:solidFill>
                  <a:srgbClr val="1C252B"/>
                </a:solidFill>
                <a:latin typeface="Segoe UI"/>
              </a:rPr>
              <a:t> is the class whose yes-instances have a certificate verifiable in polynomial time. P</a:t>
            </a:r>
            <a:r>
              <a:rPr sz="2200" b="0" i="0">
                <a:solidFill>
                  <a:srgbClr val="1C252B"/>
                </a:solidFill>
                <a:latin typeface="Cambria"/>
              </a:rPr>
              <a:t> ⊆ </a:t>
            </a:r>
            <a:r>
              <a:rPr sz="2200" b="0" i="0">
                <a:solidFill>
                  <a:srgbClr val="1C252B"/>
                </a:solidFill>
                <a:latin typeface="Segoe UI"/>
              </a:rPr>
              <a:t>NP because if you can </a:t>
            </a:r>
            <a:r>
              <a:rPr sz="2200" b="0" i="1">
                <a:solidFill>
                  <a:srgbClr val="1C252B"/>
                </a:solidFill>
                <a:latin typeface="Segoe UI"/>
              </a:rPr>
              <a:t>solve</a:t>
            </a:r>
            <a:r>
              <a:rPr sz="2200" b="0" i="0">
                <a:solidFill>
                  <a:srgbClr val="1C252B"/>
                </a:solidFill>
                <a:latin typeface="Segoe UI"/>
              </a:rPr>
              <a:t> a problem in polynomial time you can verify any proposed certificate in polynomial time by ignoring it and solving the instance yourself.</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  ·  Complexity Classes: P, NP and NP-Completeness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188  ·  answers in Appendix D     </a:t>
            </a:r>
            <a:fld id="{E61F9622-5FAE-4955-898C-59A1154F6AB7}" type="slidenum">
              <a:rPr lang="en-GB" sz="1000">
                <a:solidFill>
                  <a:srgbClr val="8795A1"/>
                </a:solidFill>
                <a:latin typeface="Segoe UI"/>
              </a:rPr>
              <a:t>41</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80116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To prove a new problem </a:t>
            </a:r>
            <a:r>
              <a:rPr sz="3400" b="0" i="1">
                <a:solidFill>
                  <a:srgbClr val="FFFFFF"/>
                </a:solidFill>
                <a:latin typeface="Cambria"/>
              </a:rPr>
              <a:t>X</a:t>
            </a:r>
            <a:r>
              <a:rPr sz="3400" b="0" i="0">
                <a:solidFill>
                  <a:srgbClr val="FFFFFF"/>
                </a:solidFill>
                <a:latin typeface="Segoe UI Semibold"/>
              </a:rPr>
              <a:t> is NP-hard, which direction must the reduction go? Explain what the other direction would prove instead.</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22  ·  Complexity Classes: P, NP and NP-Completeness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188  ·  answers in Appendix D     </a:t>
            </a:r>
            <a:fld id="{07A97FA6-0761-49B1-962A-F18E736E7578}" type="slidenum">
              <a:rPr lang="en-GB" sz="1000">
                <a:solidFill>
                  <a:srgbClr val="D5DEE5"/>
                </a:solidFill>
                <a:latin typeface="Segoe UI"/>
              </a:rPr>
              <a:t>42</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To prove a new problem </a:t>
            </a:r>
            <a:r>
              <a:rPr sz="2400" b="0" i="1">
                <a:solidFill>
                  <a:srgbClr val="1A5276"/>
                </a:solidFill>
                <a:latin typeface="Cambria"/>
              </a:rPr>
              <a:t>X</a:t>
            </a:r>
            <a:r>
              <a:rPr sz="2400" b="0" i="0">
                <a:solidFill>
                  <a:srgbClr val="1A5276"/>
                </a:solidFill>
                <a:latin typeface="Segoe UI Semibold"/>
              </a:rPr>
              <a:t> is NP-hard, which direction must the reduction go? Explain what the other direction would prove instead.</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3947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From a </a:t>
            </a:r>
            <a:r>
              <a:rPr sz="2200" b="1" i="0">
                <a:solidFill>
                  <a:srgbClr val="1C252B"/>
                </a:solidFill>
                <a:latin typeface="Segoe UI"/>
              </a:rPr>
              <a:t>known hard problem to </a:t>
            </a:r>
            <a:r>
              <a:rPr sz="2200" b="1" i="1">
                <a:solidFill>
                  <a:srgbClr val="1C252B"/>
                </a:solidFill>
                <a:latin typeface="Cambria"/>
              </a:rPr>
              <a:t>X</a:t>
            </a:r>
            <a:r>
              <a:rPr sz="2200" b="0" i="0">
                <a:solidFill>
                  <a:srgbClr val="1C252B"/>
                </a:solidFill>
                <a:latin typeface="Segoe UI"/>
              </a:rPr>
              <a:t>: SAT</a:t>
            </a:r>
            <a:r>
              <a:rPr sz="2200" b="0" i="0">
                <a:solidFill>
                  <a:srgbClr val="1C252B"/>
                </a:solidFill>
                <a:latin typeface="Cambria"/>
              </a:rPr>
              <a:t> ≤</a:t>
            </a:r>
            <a:r>
              <a:rPr sz="1450" b="0" i="1" baseline="-25000">
                <a:solidFill>
                  <a:srgbClr val="1C252B"/>
                </a:solidFill>
                <a:latin typeface="Cambria"/>
              </a:rPr>
              <a:t>P</a:t>
            </a:r>
            <a:r>
              <a:rPr sz="2200" b="0" i="0">
                <a:solidFill>
                  <a:srgbClr val="1C252B"/>
                </a:solidFill>
                <a:latin typeface="Cambria"/>
              </a:rPr>
              <a:t> </a:t>
            </a:r>
            <a:r>
              <a:rPr sz="2200" b="0" i="1">
                <a:solidFill>
                  <a:srgbClr val="1C252B"/>
                </a:solidFill>
                <a:latin typeface="Cambria"/>
              </a:rPr>
              <a:t>X</a:t>
            </a:r>
            <a:r>
              <a:rPr sz="2200" b="0" i="0">
                <a:solidFill>
                  <a:srgbClr val="1C252B"/>
                </a:solidFill>
                <a:latin typeface="Segoe UI"/>
              </a:rPr>
              <a:t>. That shows </a:t>
            </a:r>
            <a:r>
              <a:rPr sz="2200" b="0" i="1">
                <a:solidFill>
                  <a:srgbClr val="1C252B"/>
                </a:solidFill>
                <a:latin typeface="Cambria"/>
              </a:rPr>
              <a:t>X</a:t>
            </a:r>
            <a:r>
              <a:rPr sz="2200" b="0" i="0">
                <a:solidFill>
                  <a:srgbClr val="1C252B"/>
                </a:solidFill>
                <a:latin typeface="Segoe UI"/>
              </a:rPr>
              <a:t> is at least as hard as SAT, since a fast algorithm for </a:t>
            </a:r>
            <a:r>
              <a:rPr sz="2200" b="0" i="1">
                <a:solidFill>
                  <a:srgbClr val="1C252B"/>
                </a:solidFill>
                <a:latin typeface="Cambria"/>
              </a:rPr>
              <a:t>X</a:t>
            </a:r>
            <a:r>
              <a:rPr sz="2200" b="0" i="0">
                <a:solidFill>
                  <a:srgbClr val="1C252B"/>
                </a:solidFill>
                <a:latin typeface="Segoe UI"/>
              </a:rPr>
              <a:t> would give one for SAT. The other direction, </a:t>
            </a:r>
            <a:r>
              <a:rPr sz="2200" b="0" i="1">
                <a:solidFill>
                  <a:srgbClr val="1C252B"/>
                </a:solidFill>
                <a:latin typeface="Cambria"/>
              </a:rPr>
              <a:t>X</a:t>
            </a:r>
            <a:r>
              <a:rPr sz="2200" b="0" i="0">
                <a:solidFill>
                  <a:srgbClr val="1C252B"/>
                </a:solidFill>
                <a:latin typeface="Cambria"/>
              </a:rPr>
              <a:t> ≤</a:t>
            </a:r>
            <a:r>
              <a:rPr sz="1450" b="0" i="1" baseline="-25000">
                <a:solidFill>
                  <a:srgbClr val="1C252B"/>
                </a:solidFill>
                <a:latin typeface="Cambria"/>
              </a:rPr>
              <a:t>P</a:t>
            </a:r>
            <a:r>
              <a:rPr sz="2200" b="0" i="0">
                <a:solidFill>
                  <a:srgbClr val="1C252B"/>
                </a:solidFill>
                <a:latin typeface="Cambria"/>
              </a:rPr>
              <a:t> </a:t>
            </a:r>
            <a:r>
              <a:rPr sz="2200" b="0" i="0">
                <a:solidFill>
                  <a:srgbClr val="1C252B"/>
                </a:solidFill>
                <a:latin typeface="Segoe UI"/>
              </a:rPr>
              <a:t>SAT, proves only that </a:t>
            </a:r>
            <a:r>
              <a:rPr sz="2200" b="0" i="1">
                <a:solidFill>
                  <a:srgbClr val="1C252B"/>
                </a:solidFill>
                <a:latin typeface="Cambria"/>
              </a:rPr>
              <a:t>X</a:t>
            </a:r>
            <a:r>
              <a:rPr sz="2200" b="0" i="0">
                <a:solidFill>
                  <a:srgbClr val="1C252B"/>
                </a:solidFill>
                <a:latin typeface="Segoe UI"/>
              </a:rPr>
              <a:t> is no </a:t>
            </a:r>
            <a:r>
              <a:rPr sz="2200" b="0" i="1">
                <a:solidFill>
                  <a:srgbClr val="1C252B"/>
                </a:solidFill>
                <a:latin typeface="Segoe UI"/>
              </a:rPr>
              <a:t>harder</a:t>
            </a:r>
            <a:r>
              <a:rPr sz="2200" b="0" i="0">
                <a:solidFill>
                  <a:srgbClr val="1C252B"/>
                </a:solidFill>
                <a:latin typeface="Segoe UI"/>
              </a:rPr>
              <a:t> than SAT — which is true of every problem in NP and says nothing about </a:t>
            </a:r>
            <a:r>
              <a:rPr sz="2200" b="0" i="1">
                <a:solidFill>
                  <a:srgbClr val="1C252B"/>
                </a:solidFill>
                <a:latin typeface="Cambria"/>
              </a:rPr>
              <a:t>X</a:t>
            </a:r>
            <a:r>
              <a:rPr sz="2200" b="0" i="0">
                <a:solidFill>
                  <a:srgbClr val="1C252B"/>
                </a:solidFill>
                <a:latin typeface="Segoe UI"/>
              </a:rPr>
              <a:t>’s difficulty.</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  ·  Complexity Classes: P, NP and NP-Completeness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188  ·  answers in Appendix D     </a:t>
            </a:r>
            <a:fld id="{A40A75D3-D9F6-437E-8B85-8DB0EB8A1AEA}" type="slidenum">
              <a:rPr lang="en-GB" sz="1000">
                <a:solidFill>
                  <a:srgbClr val="8795A1"/>
                </a:solidFill>
                <a:latin typeface="Segoe UI"/>
              </a:rPr>
              <a:t>43</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27927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Chapter 16’s knapsack algorithm runs in </a:t>
            </a:r>
            <a:r>
              <a:rPr sz="3400" b="0" i="0">
                <a:solidFill>
                  <a:srgbClr val="FFFFFF"/>
                </a:solidFill>
                <a:latin typeface="Cambria"/>
              </a:rPr>
              <a:t>Θ(</a:t>
            </a:r>
            <a:r>
              <a:rPr sz="3400" b="0" i="1">
                <a:solidFill>
                  <a:srgbClr val="FFFFFF"/>
                </a:solidFill>
                <a:latin typeface="Cambria"/>
              </a:rPr>
              <a:t>nW</a:t>
            </a:r>
            <a:r>
              <a:rPr sz="3400" b="0" i="0">
                <a:solidFill>
                  <a:srgbClr val="FFFFFF"/>
                </a:solidFill>
                <a:latin typeface="Cambria"/>
              </a:rPr>
              <a:t>)</a:t>
            </a:r>
            <a:r>
              <a:rPr sz="3400" b="0" i="0">
                <a:solidFill>
                  <a:srgbClr val="FFFFFF"/>
                </a:solidFill>
                <a:latin typeface="Segoe UI Semibold"/>
              </a:rPr>
              <a:t> and knapsack is NP-complete. Reconcile these, citing the measured doubling table.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22  ·  Complexity Classes: P, NP and NP-Completeness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188  ·  answers in Appendix D     </a:t>
            </a:r>
            <a:fld id="{CF314D04-79F7-4D99-86BF-CC027F8A49B7}" type="slidenum">
              <a:rPr lang="en-GB" sz="1000">
                <a:solidFill>
                  <a:srgbClr val="D5DEE5"/>
                </a:solidFill>
                <a:latin typeface="Segoe UI"/>
              </a:rPr>
              <a:t>44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Chapter 16’s knapsack algorithm runs in </a:t>
            </a:r>
            <a:r>
              <a:rPr sz="2400" b="0" i="0">
                <a:solidFill>
                  <a:srgbClr val="1A5276"/>
                </a:solidFill>
                <a:latin typeface="Cambria"/>
              </a:rPr>
              <a:t>Θ(</a:t>
            </a:r>
            <a:r>
              <a:rPr sz="2400" b="0" i="1">
                <a:solidFill>
                  <a:srgbClr val="1A5276"/>
                </a:solidFill>
                <a:latin typeface="Cambria"/>
              </a:rPr>
              <a:t>nW</a:t>
            </a:r>
            <a:r>
              <a:rPr sz="2400" b="0" i="0">
                <a:solidFill>
                  <a:srgbClr val="1A5276"/>
                </a:solidFill>
                <a:latin typeface="Cambria"/>
              </a:rPr>
              <a:t>)</a:t>
            </a:r>
            <a:r>
              <a:rPr sz="2400" b="0" i="0">
                <a:solidFill>
                  <a:srgbClr val="1A5276"/>
                </a:solidFill>
                <a:latin typeface="Segoe UI Semibold"/>
              </a:rPr>
              <a:t> and knapsack is NP-complete. Reconcile these, citing the measured doubling table.</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Cambria"/>
              </a:rPr>
              <a:t>Θ(</a:t>
            </a:r>
            <a:r>
              <a:rPr sz="2200" b="0" i="1">
                <a:solidFill>
                  <a:srgbClr val="1C252B"/>
                </a:solidFill>
                <a:latin typeface="Cambria"/>
              </a:rPr>
              <a:t>nW</a:t>
            </a:r>
            <a:r>
              <a:rPr sz="2200" b="0" i="0">
                <a:solidFill>
                  <a:srgbClr val="1C252B"/>
                </a:solidFill>
                <a:latin typeface="Cambria"/>
              </a:rPr>
              <a:t>)</a:t>
            </a:r>
            <a:r>
              <a:rPr sz="2200" b="0" i="0">
                <a:solidFill>
                  <a:srgbClr val="1C252B"/>
                </a:solidFill>
                <a:latin typeface="Segoe UI"/>
              </a:rPr>
              <a:t> is polynomial in the </a:t>
            </a:r>
            <a:r>
              <a:rPr sz="2200" b="0" i="1">
                <a:solidFill>
                  <a:srgbClr val="1C252B"/>
                </a:solidFill>
                <a:latin typeface="Segoe UI"/>
              </a:rPr>
              <a:t>value</a:t>
            </a:r>
            <a:r>
              <a:rPr sz="2200" b="0" i="0">
                <a:solidFill>
                  <a:srgbClr val="1C252B"/>
                </a:solidFill>
                <a:latin typeface="Segoe UI"/>
              </a:rPr>
              <a:t> </a:t>
            </a:r>
            <a:r>
              <a:rPr sz="2200" b="0" i="1">
                <a:solidFill>
                  <a:srgbClr val="1C252B"/>
                </a:solidFill>
                <a:latin typeface="Cambria"/>
              </a:rPr>
              <a:t>W</a:t>
            </a:r>
            <a:r>
              <a:rPr sz="2200" b="0" i="0">
                <a:solidFill>
                  <a:srgbClr val="1C252B"/>
                </a:solidFill>
                <a:latin typeface="Segoe UI"/>
              </a:rPr>
              <a:t> and exponential in its </a:t>
            </a:r>
            <a:r>
              <a:rPr sz="2200" b="0" i="1">
                <a:solidFill>
                  <a:srgbClr val="1C252B"/>
                </a:solidFill>
                <a:latin typeface="Segoe UI"/>
              </a:rPr>
              <a:t>length</a:t>
            </a:r>
            <a:r>
              <a:rPr sz="2200" b="0" i="0">
                <a:solidFill>
                  <a:srgbClr val="1C252B"/>
                </a:solidFill>
                <a:latin typeface="Segoe UI"/>
              </a:rPr>
              <a:t> </a:t>
            </a:r>
            <a:r>
              <a:rPr sz="2200" b="0" i="0">
                <a:solidFill>
                  <a:srgbClr val="1C252B"/>
                </a:solidFill>
                <a:latin typeface="Cambria"/>
              </a:rPr>
              <a:t>lg </a:t>
            </a:r>
            <a:r>
              <a:rPr sz="2200" b="0" i="1">
                <a:solidFill>
                  <a:srgbClr val="1C252B"/>
                </a:solidFill>
                <a:latin typeface="Cambria"/>
              </a:rPr>
              <a:t>W</a:t>
            </a:r>
            <a:r>
              <a:rPr sz="2200" b="0" i="0">
                <a:solidFill>
                  <a:srgbClr val="1C252B"/>
                </a:solidFill>
                <a:latin typeface="Segoe UI"/>
              </a:rPr>
              <a:t>, so it is pseudo-polynomial, not polynomial, and does not place knapsack in P. Chapter 16 measured this: with </a:t>
            </a:r>
            <a:r>
              <a:rPr sz="2200" b="0" i="1">
                <a:solidFill>
                  <a:srgbClr val="1C252B"/>
                </a:solidFill>
                <a:latin typeface="Cambria"/>
              </a:rPr>
              <a:t>n</a:t>
            </a:r>
            <a:r>
              <a:rPr sz="2200" b="0" i="0">
                <a:solidFill>
                  <a:srgbClr val="1C252B"/>
                </a:solidFill>
                <a:latin typeface="Segoe UI"/>
              </a:rPr>
              <a:t> fixed at 200, eight doublings of </a:t>
            </a:r>
            <a:r>
              <a:rPr sz="2200" b="0" i="1">
                <a:solidFill>
                  <a:srgbClr val="1C252B"/>
                </a:solidFill>
                <a:latin typeface="Cambria"/>
              </a:rPr>
              <a:t>W</a:t>
            </a:r>
            <a:r>
              <a:rPr sz="2200" b="0" i="0">
                <a:solidFill>
                  <a:srgbClr val="1C252B"/>
                </a:solidFill>
                <a:latin typeface="Segoe UI"/>
              </a:rPr>
              <a:t> — each adding exactly one bit of input — multiplied the running time by a mean factor of 2.02. An algorithm whose time doubles when the input grows by one bit is exponential in the input size.</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  ·  Complexity Classes: P, NP and NP-Completeness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188  ·  answers in Appendix D     </a:t>
            </a:r>
            <a:fld id="{C74C4B81-4868-4D0D-8FE4-DAEF7F55AA18}" type="slidenum">
              <a:rPr lang="en-GB" sz="1000">
                <a:solidFill>
                  <a:srgbClr val="8795A1"/>
                </a:solidFill>
                <a:latin typeface="Segoe UI"/>
              </a:rPr>
              <a:t>45</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75737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  ·  Complexity Classes: P, NP and NP-Completeness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188     </a:t>
            </a:r>
            <a:fld id="{D74E9D14-CC10-4607-A632-515A454CCD27}" type="slidenum">
              <a:rPr lang="en-GB" sz="1000">
                <a:solidFill>
                  <a:srgbClr val="8795A1"/>
                </a:solidFill>
                <a:latin typeface="Segoe UI"/>
              </a:rPr>
              <a:t>46</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P is what can be </a:t>
            </a:r>
            <a:r>
              <a:rPr sz="1700" b="0" i="1">
                <a:solidFill>
                  <a:srgbClr val="1C252B"/>
                </a:solidFill>
                <a:latin typeface="Segoe UI"/>
              </a:rPr>
              <a:t>solved</a:t>
            </a:r>
            <a:r>
              <a:rPr sz="1700" b="0" i="0">
                <a:solidFill>
                  <a:srgbClr val="1C252B"/>
                </a:solidFill>
                <a:latin typeface="Segoe UI"/>
              </a:rPr>
              <a:t> in polynomial time; NP is what can be </a:t>
            </a:r>
            <a:r>
              <a:rPr sz="1700" b="0" i="1">
                <a:solidFill>
                  <a:srgbClr val="1C252B"/>
                </a:solidFill>
                <a:latin typeface="Segoe UI"/>
              </a:rPr>
              <a:t>verified</a:t>
            </a:r>
            <a:r>
              <a:rPr sz="1700" b="0" i="0">
                <a:solidFill>
                  <a:srgbClr val="1C252B"/>
                </a:solidFill>
                <a:latin typeface="Segoe UI"/>
              </a:rPr>
              <a:t> in polynomial time given a certificate. NP means nondeterministic polynomial, and P</a:t>
            </a:r>
            <a:r>
              <a:rPr sz="1700" b="0" i="0">
                <a:solidFill>
                  <a:srgbClr val="1C252B"/>
                </a:solidFill>
                <a:latin typeface="Cambria"/>
              </a:rPr>
              <a:t> ⊆ </a:t>
            </a:r>
            <a:r>
              <a:rPr sz="1700" b="0" i="0">
                <a:solidFill>
                  <a:srgbClr val="1C252B"/>
                </a:solidFill>
                <a:latin typeface="Segoe UI"/>
              </a:rPr>
              <a:t>NP.</a:t>
            </a:r>
          </a:p>
        </p:txBody>
      </p:sp>
      <p:sp>
        <p:nvSpPr>
          <p:cNvPr id="10" name="!!sb1">
            <a:extLst>
              <a:ext uri="{C183D7F6-B498-43B3-948B-1728B52AA6E4}">
                <adec:decorative xmlns:adec="http://schemas.microsoft.com/office/drawing/2017/decorative" val="1"/>
              </a:ext>
            </a:extLst>
          </p:cNvPr>
          <p:cNvSpPr/>
          <p:nvPr/>
        </p:nvSpPr>
        <p:spPr>
          <a:xfrm>
            <a:off x="658368" y="246827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2313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59126"/>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Measured on subset sum: verification was flat at 12–21 ns while exhaustive search went from 0.78 ms to 5.2 s, a ratio growing from </a:t>
            </a:r>
            <a:r>
              <a:rPr sz="1700" b="0" i="0">
                <a:solidFill>
                  <a:srgbClr val="1C252B"/>
                </a:solidFill>
                <a:latin typeface="Cambria"/>
              </a:rPr>
              <a:t>6×10</a:t>
            </a:r>
            <a:r>
              <a:rPr sz="1100" b="0" i="0" baseline="30000">
                <a:solidFill>
                  <a:srgbClr val="1C252B"/>
                </a:solidFill>
                <a:latin typeface="Cambria"/>
              </a:rPr>
              <a:t>4</a:t>
            </a:r>
            <a:r>
              <a:rPr sz="1700" b="0" i="0">
                <a:solidFill>
                  <a:srgbClr val="1C252B"/>
                </a:solidFill>
                <a:latin typeface="Segoe UI"/>
              </a:rPr>
              <a:t> to </a:t>
            </a:r>
            <a:r>
              <a:rPr sz="1700" b="0" i="0">
                <a:solidFill>
                  <a:srgbClr val="1C252B"/>
                </a:solidFill>
                <a:latin typeface="Cambria"/>
              </a:rPr>
              <a:t>2.8×10</a:t>
            </a:r>
            <a:r>
              <a:rPr sz="1100" b="0" i="0" baseline="30000">
                <a:solidFill>
                  <a:srgbClr val="1C252B"/>
                </a:solidFill>
                <a:latin typeface="Cambria"/>
              </a:rPr>
              <a:t>8</a:t>
            </a:r>
            <a:r>
              <a:rPr sz="1700" b="0" i="0">
                <a:solidFill>
                  <a:srgbClr val="1C252B"/>
                </a:solidFill>
                <a:latin typeface="Segoe UI"/>
              </a:rPr>
              <a:t>. That growing ratio is the open question.</a:t>
            </a:r>
          </a:p>
        </p:txBody>
      </p:sp>
      <p:sp>
        <p:nvSpPr>
          <p:cNvPr id="13" name="!!sb2">
            <a:extLst>
              <a:ext uri="{C183D7F6-B498-43B3-948B-1728B52AA6E4}">
                <adec:decorative xmlns:adec="http://schemas.microsoft.com/office/drawing/2017/decorative" val="1"/>
              </a:ext>
            </a:extLst>
          </p:cNvPr>
          <p:cNvSpPr/>
          <p:nvPr/>
        </p:nvSpPr>
        <p:spPr>
          <a:xfrm>
            <a:off x="658368" y="319003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24490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180892"/>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Measured: exhaustive search reaches </a:t>
            </a:r>
            <a:r>
              <a:rPr sz="1700" b="0" i="1">
                <a:solidFill>
                  <a:srgbClr val="1C252B"/>
                </a:solidFill>
                <a:latin typeface="Cambria"/>
              </a:rPr>
              <a:t>n</a:t>
            </a:r>
            <a:r>
              <a:rPr sz="1700" b="0" i="0">
                <a:solidFill>
                  <a:srgbClr val="1C252B"/>
                </a:solidFill>
                <a:latin typeface="Cambria"/>
              </a:rPr>
              <a:t> = 50</a:t>
            </a:r>
            <a:r>
              <a:rPr sz="1700" b="0" i="0">
                <a:solidFill>
                  <a:srgbClr val="1C252B"/>
                </a:solidFill>
                <a:latin typeface="Segoe UI"/>
              </a:rPr>
              <a:t> in two years and </a:t>
            </a:r>
            <a:r>
              <a:rPr sz="1700" b="0" i="1">
                <a:solidFill>
                  <a:srgbClr val="1C252B"/>
                </a:solidFill>
                <a:latin typeface="Cambria"/>
              </a:rPr>
              <a:t>n</a:t>
            </a:r>
            <a:r>
              <a:rPr sz="1700" b="0" i="0">
                <a:solidFill>
                  <a:srgbClr val="1C252B"/>
                </a:solidFill>
                <a:latin typeface="Cambria"/>
              </a:rPr>
              <a:t> = 80</a:t>
            </a:r>
            <a:r>
              <a:rPr sz="1700" b="0" i="0">
                <a:solidFill>
                  <a:srgbClr val="1C252B"/>
                </a:solidFill>
                <a:latin typeface="Segoe UI"/>
              </a:rPr>
              <a:t> in longer than the age of the universe. A thousandfold faster machine buys ten more elements.</a:t>
            </a:r>
          </a:p>
        </p:txBody>
      </p:sp>
      <p:sp>
        <p:nvSpPr>
          <p:cNvPr id="16" name="!!sb3">
            <a:extLst>
              <a:ext uri="{C183D7F6-B498-43B3-948B-1728B52AA6E4}">
                <adec:decorative xmlns:adec="http://schemas.microsoft.com/office/drawing/2017/decorative" val="1"/>
              </a:ext>
            </a:extLst>
          </p:cNvPr>
          <p:cNvSpPr/>
          <p:nvPr/>
        </p:nvSpPr>
        <p:spPr>
          <a:xfrm>
            <a:off x="658368" y="391180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396666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902659"/>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Measured: meet-in-the-middle was 2,668</a:t>
            </a:r>
            <a:r>
              <a:rPr sz="1700" b="0" i="0">
                <a:solidFill>
                  <a:srgbClr val="1C252B"/>
                </a:solidFill>
                <a:latin typeface="Cambria"/>
              </a:rPr>
              <a:t>×</a:t>
            </a:r>
            <a:r>
              <a:rPr sz="1700" b="0" i="0">
                <a:solidFill>
                  <a:srgbClr val="1C252B"/>
                </a:solidFill>
                <a:latin typeface="Segoe UI"/>
              </a:rPr>
              <a:t> faster at </a:t>
            </a:r>
            <a:r>
              <a:rPr sz="1700" b="0" i="1">
                <a:solidFill>
                  <a:srgbClr val="1C252B"/>
                </a:solidFill>
                <a:latin typeface="Cambria"/>
              </a:rPr>
              <a:t>n</a:t>
            </a:r>
            <a:r>
              <a:rPr sz="1700" b="0" i="0">
                <a:solidFill>
                  <a:srgbClr val="1C252B"/>
                </a:solidFill>
                <a:latin typeface="Cambria"/>
              </a:rPr>
              <a:t> = 28</a:t>
            </a:r>
            <a:r>
              <a:rPr sz="1700" b="0" i="0">
                <a:solidFill>
                  <a:srgbClr val="1C252B"/>
                </a:solidFill>
                <a:latin typeface="Segoe UI"/>
              </a:rPr>
              <a:t> and is still exponential. NP-complete does not mean hopeless.</a:t>
            </a:r>
          </a:p>
        </p:txBody>
      </p:sp>
      <p:sp>
        <p:nvSpPr>
          <p:cNvPr id="19" name="!!sb4">
            <a:extLst>
              <a:ext uri="{C183D7F6-B498-43B3-948B-1728B52AA6E4}">
                <adec:decorative xmlns:adec="http://schemas.microsoft.com/office/drawing/2017/decorative" val="1"/>
              </a:ext>
            </a:extLst>
          </p:cNvPr>
          <p:cNvSpPr/>
          <p:nvPr/>
        </p:nvSpPr>
        <p:spPr>
          <a:xfrm>
            <a:off x="658368" y="463356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68843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624425"/>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1">
                <a:solidFill>
                  <a:srgbClr val="1C252B"/>
                </a:solidFill>
                <a:latin typeface="Cambria"/>
              </a:rPr>
              <a:t>A</a:t>
            </a:r>
            <a:r>
              <a:rPr sz="1700" b="0" i="0">
                <a:solidFill>
                  <a:srgbClr val="1C252B"/>
                </a:solidFill>
                <a:latin typeface="Cambria"/>
              </a:rPr>
              <a:t> ≤</a:t>
            </a:r>
            <a:r>
              <a:rPr sz="1100" b="0" i="1" baseline="-25000">
                <a:solidFill>
                  <a:srgbClr val="1C252B"/>
                </a:solidFill>
                <a:latin typeface="Cambria"/>
              </a:rPr>
              <a:t>P</a:t>
            </a:r>
            <a:r>
              <a:rPr sz="1700" b="0" i="0">
                <a:solidFill>
                  <a:srgbClr val="1C252B"/>
                </a:solidFill>
                <a:latin typeface="Cambria"/>
              </a:rPr>
              <a:t> </a:t>
            </a:r>
            <a:r>
              <a:rPr sz="1700" b="0" i="1">
                <a:solidFill>
                  <a:srgbClr val="1C252B"/>
                </a:solidFill>
                <a:latin typeface="Cambria"/>
              </a:rPr>
              <a:t>B</a:t>
            </a:r>
            <a:r>
              <a:rPr sz="1700" b="0" i="0">
                <a:solidFill>
                  <a:srgbClr val="1C252B"/>
                </a:solidFill>
                <a:latin typeface="Segoe UI"/>
              </a:rPr>
              <a:t> means </a:t>
            </a:r>
            <a:r>
              <a:rPr sz="1700" b="0" i="1">
                <a:solidFill>
                  <a:srgbClr val="1C252B"/>
                </a:solidFill>
                <a:latin typeface="Cambria"/>
              </a:rPr>
              <a:t>B</a:t>
            </a:r>
            <a:r>
              <a:rPr sz="1700" b="0" i="0">
                <a:solidFill>
                  <a:srgbClr val="1C252B"/>
                </a:solidFill>
                <a:latin typeface="Segoe UI"/>
              </a:rPr>
              <a:t> is at least as hard as </a:t>
            </a:r>
            <a:r>
              <a:rPr sz="1700" b="0" i="1">
                <a:solidFill>
                  <a:srgbClr val="1C252B"/>
                </a:solidFill>
                <a:latin typeface="Cambria"/>
              </a:rPr>
              <a:t>A</a:t>
            </a:r>
            <a:r>
              <a:rPr sz="1700" b="0" i="0">
                <a:solidFill>
                  <a:srgbClr val="1C252B"/>
                </a:solidFill>
                <a:latin typeface="Segoe UI"/>
              </a:rPr>
              <a:t>. To show </a:t>
            </a:r>
            <a:r>
              <a:rPr sz="1700" b="0" i="1">
                <a:solidFill>
                  <a:srgbClr val="1C252B"/>
                </a:solidFill>
                <a:latin typeface="Cambria"/>
              </a:rPr>
              <a:t>X</a:t>
            </a:r>
            <a:r>
              <a:rPr sz="1700" b="0" i="0">
                <a:solidFill>
                  <a:srgbClr val="1C252B"/>
                </a:solidFill>
                <a:latin typeface="Segoe UI"/>
              </a:rPr>
              <a:t> is hard, reduce a known hard problem </a:t>
            </a:r>
            <a:r>
              <a:rPr sz="1700" b="0" i="1">
                <a:solidFill>
                  <a:srgbClr val="1C252B"/>
                </a:solidFill>
                <a:latin typeface="Segoe UI"/>
              </a:rPr>
              <a:t>to</a:t>
            </a:r>
            <a:r>
              <a:rPr sz="1700" b="0" i="0">
                <a:solidFill>
                  <a:srgbClr val="1C252B"/>
                </a:solidFill>
                <a:latin typeface="Segoe UI"/>
              </a:rPr>
              <a:t> </a:t>
            </a:r>
            <a:r>
              <a:rPr sz="1700" b="0" i="1">
                <a:solidFill>
                  <a:srgbClr val="1C252B"/>
                </a:solidFill>
                <a:latin typeface="Cambria"/>
              </a:rPr>
              <a:t>X</a:t>
            </a:r>
            <a:r>
              <a:rPr sz="1700" b="0" i="0">
                <a:solidFill>
                  <a:srgbClr val="1C252B"/>
                </a:solidFill>
                <a:latin typeface="Segoe UI"/>
              </a:rPr>
              <a:t>.</a:t>
            </a:r>
          </a:p>
        </p:txBody>
      </p:sp>
      <p:sp>
        <p:nvSpPr>
          <p:cNvPr id="22" name="!!sb5">
            <a:extLst>
              <a:ext uri="{C183D7F6-B498-43B3-948B-1728B52AA6E4}">
                <adec:decorative xmlns:adec="http://schemas.microsoft.com/office/drawing/2017/decorative" val="1"/>
              </a:ext>
            </a:extLst>
          </p:cNvPr>
          <p:cNvSpPr/>
          <p:nvPr/>
        </p:nvSpPr>
        <p:spPr>
          <a:xfrm>
            <a:off x="658368" y="5218785"/>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273649"/>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209641"/>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NP-complete = NP-hard + in NP. By Theorem 22.1 a polynomial algorithm for any one NP-complete problem gives one for all of NP. Cook–Levin supplied the first; thousands follow by reduction.</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099643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 (continued)</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  ·  Complexity Classes: P, NP and NP-Completeness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188     </a:t>
            </a:r>
            <a:fld id="{B6889004-36A1-464D-9DE2-78449D883D0C}" type="slidenum">
              <a:rPr lang="en-GB" sz="1000">
                <a:solidFill>
                  <a:srgbClr val="8795A1"/>
                </a:solidFill>
                <a:latin typeface="Segoe UI"/>
              </a:rPr>
              <a:t>47</a:t>
            </a:fld>
          </a:p>
        </p:txBody>
      </p:sp>
      <p:sp>
        <p:nvSpPr>
          <p:cNvPr id="7" name="!!sb6">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6"/>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7</a:t>
            </a:r>
          </a:p>
        </p:txBody>
      </p:sp>
      <p:sp>
        <p:nvSpPr>
          <p:cNvPr id="9" name="!!st6"/>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Cambria"/>
              </a:rPr>
              <a:t>Θ(</a:t>
            </a:r>
            <a:r>
              <a:rPr sz="1700" b="0" i="1">
                <a:solidFill>
                  <a:srgbClr val="1C252B"/>
                </a:solidFill>
                <a:latin typeface="Cambria"/>
              </a:rPr>
              <a:t>nW</a:t>
            </a:r>
            <a:r>
              <a:rPr sz="1700" b="0" i="0">
                <a:solidFill>
                  <a:srgbClr val="1C252B"/>
                </a:solidFill>
                <a:latin typeface="Cambria"/>
              </a:rPr>
              <a:t>)</a:t>
            </a:r>
            <a:r>
              <a:rPr sz="1700" b="0" i="0">
                <a:solidFill>
                  <a:srgbClr val="1C252B"/>
                </a:solidFill>
                <a:latin typeface="Segoe UI"/>
              </a:rPr>
              <a:t> knapsack is pseudo-polynomial, not polynomial, because </a:t>
            </a:r>
            <a:r>
              <a:rPr sz="1700" b="0" i="1">
                <a:solidFill>
                  <a:srgbClr val="1C252B"/>
                </a:solidFill>
                <a:latin typeface="Cambria"/>
              </a:rPr>
              <a:t>W</a:t>
            </a:r>
            <a:r>
              <a:rPr sz="1700" b="0" i="0">
                <a:solidFill>
                  <a:srgbClr val="1C252B"/>
                </a:solidFill>
                <a:latin typeface="Segoe UI"/>
              </a:rPr>
              <a:t>’s input size is </a:t>
            </a:r>
            <a:r>
              <a:rPr sz="1700" b="0" i="0">
                <a:solidFill>
                  <a:srgbClr val="1C252B"/>
                </a:solidFill>
                <a:latin typeface="Cambria"/>
              </a:rPr>
              <a:t>lg </a:t>
            </a:r>
            <a:r>
              <a:rPr sz="1700" b="0" i="1">
                <a:solidFill>
                  <a:srgbClr val="1C252B"/>
                </a:solidFill>
                <a:latin typeface="Cambria"/>
              </a:rPr>
              <a:t>W</a:t>
            </a:r>
            <a:r>
              <a:rPr sz="1700" b="0" i="0">
                <a:solidFill>
                  <a:srgbClr val="1C252B"/>
                </a:solidFill>
                <a:latin typeface="Segoe UI"/>
              </a:rPr>
              <a:t> bits. It settles nothing.</a:t>
            </a:r>
          </a:p>
        </p:txBody>
      </p:sp>
      <p:sp>
        <p:nvSpPr>
          <p:cNvPr id="10" name="!!sb7">
            <a:extLst>
              <a:ext uri="{C183D7F6-B498-43B3-948B-1728B52AA6E4}">
                <adec:decorative xmlns:adec="http://schemas.microsoft.com/office/drawing/2017/decorative" val="1"/>
              </a:ext>
            </a:extLst>
          </p:cNvPr>
          <p:cNvSpPr/>
          <p:nvPr/>
        </p:nvSpPr>
        <p:spPr>
          <a:xfrm>
            <a:off x="658368" y="246827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7"/>
          <p:cNvSpPr txBox="1"/>
          <p:nvPr/>
        </p:nvSpPr>
        <p:spPr>
          <a:xfrm>
            <a:off x="658368" y="252313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8</a:t>
            </a:r>
          </a:p>
        </p:txBody>
      </p:sp>
      <p:sp>
        <p:nvSpPr>
          <p:cNvPr id="12" name="!!st7"/>
          <p:cNvSpPr txBox="1"/>
          <p:nvPr/>
        </p:nvSpPr>
        <p:spPr>
          <a:xfrm>
            <a:off x="1298448" y="2459126"/>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When a problem is NP-complete: approximate with a guarantee, use a heuristic without one, or restrict the problem — and stop looking for the exact polynomial algorithm.</a:t>
            </a:r>
          </a:p>
        </p:txBody>
      </p:sp>
      <p:sp>
        <p:nvSpPr>
          <p:cNvPr id="2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pfill">
            <a:extLst>
              <a:ext uri="{C183D7F6-B498-43B3-948B-1728B52AA6E4}">
                <adec:decorative xmlns:adec="http://schemas.microsoft.com/office/drawing/2017/decorative" val="1"/>
              </a:ext>
            </a:extLst>
          </p:cNvPr>
          <p:cNvSpPr/>
          <p:nvPr/>
        </p:nvSpPr>
        <p:spPr>
          <a:xfrm>
            <a:off x="0" y="0"/>
            <a:ext cx="1123548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  ·  Complexity Classes: P, NP and NP-Completeness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188     </a:t>
            </a:r>
            <a:fld id="{3F9EE61F-D160-4C20-B6F6-57936DA32ED1}" type="slidenum">
              <a:rPr lang="en-GB" sz="1000">
                <a:solidFill>
                  <a:srgbClr val="8795A1"/>
                </a:solidFill>
                <a:latin typeface="Segoe UI"/>
              </a:rPr>
              <a:t>48</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NP is the class of problems that can be:</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solved in polynomial time</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verified in polynomial time</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not solved in polynomial time</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solved in exponential time only</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47453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  ·  Complexity Classes: P, NP and NP-Completeness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188     </a:t>
            </a:r>
            <a:fld id="{33B211A5-05AA-478C-86C2-F2A00AE919C3}" type="slidenum">
              <a:rPr lang="en-GB" sz="1000">
                <a:solidFill>
                  <a:srgbClr val="8795A1"/>
                </a:solidFill>
                <a:latin typeface="Segoe UI"/>
              </a:rPr>
              <a:t>49</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If an NP-complete problem were shown to be in P, then:</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nothing would follow</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P</a:t>
            </a:r>
            <a:r>
              <a:rPr sz="2000" b="0" i="0">
                <a:solidFill>
                  <a:srgbClr val="1C252B"/>
                </a:solidFill>
                <a:latin typeface="Cambria"/>
              </a:rPr>
              <a:t>=</a:t>
            </a:r>
            <a:r>
              <a:rPr sz="2000" b="0" i="0">
                <a:solidFill>
                  <a:srgbClr val="1C252B"/>
                </a:solidFill>
                <a:latin typeface="Segoe UI"/>
              </a:rPr>
              <a:t>NP</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P</a:t>
            </a:r>
            <a:r>
              <a:rPr sz="2000" b="0" i="0">
                <a:solidFill>
                  <a:srgbClr val="1C252B"/>
                </a:solidFill>
                <a:latin typeface="Cambria"/>
              </a:rPr>
              <a:t>≠</a:t>
            </a:r>
            <a:r>
              <a:rPr sz="2000" b="0" i="0">
                <a:solidFill>
                  <a:srgbClr val="1C252B"/>
                </a:solidFill>
                <a:latin typeface="Segoe UI"/>
              </a:rPr>
              <a:t>NP</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39020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halting problem would be decidable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71358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22  ·  Complexity Classes: P, NP and NP-Completeness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188     </a:t>
            </a:r>
            <a:fld id="{479E0987-B756-41B5-B2A6-C6DF4DE8A161}" type="slidenum">
              <a:rPr lang="en-GB" sz="1000">
                <a:solidFill>
                  <a:srgbClr val="8795A1"/>
                </a:solidFill>
                <a:latin typeface="Segoe UI"/>
              </a:rPr>
              <a:t>50</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Contrast P, NP, NP-hard and NP-complete, giving an example of a problem that is NP-hard but not in NP </a:t>
            </a:r>
            <a:r>
              <a:rPr sz="1900" b="0" i="1">
                <a:solidFill>
                  <a:srgbClr val="1C252B"/>
                </a:solidFill>
                <a:latin typeface="Segoe UI"/>
              </a:rPr>
              <a:t>(CLO-4)</a:t>
            </a:r>
            <a:r>
              <a:rPr sz="1900" b="0" i="0">
                <a:solidFill>
                  <a:srgbClr val="1C252B"/>
                </a:solidFill>
                <a:latin typeface="Segoe UI"/>
              </a:rPr>
              <a:t>.</a:t>
            </a:r>
          </a:p>
        </p:txBody>
      </p:sp>
      <p:sp>
        <p:nvSpPr>
          <p:cNvPr id="10" name="!!rt1">
            <a:extLst>
              <a:ext uri="{C183D7F6-B498-43B3-948B-1728B52AA6E4}">
                <adec:decorative xmlns:adec="http://schemas.microsoft.com/office/drawing/2017/decorative" val="1"/>
              </a:ext>
            </a:extLst>
          </p:cNvPr>
          <p:cNvSpPr/>
          <p:nvPr/>
        </p:nvSpPr>
        <p:spPr>
          <a:xfrm>
            <a:off x="658368" y="257738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61853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5910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what a polynomial-time reduction proves, and which direction it must go to establish hardness.</a:t>
            </a:r>
          </a:p>
        </p:txBody>
      </p:sp>
      <p:sp>
        <p:nvSpPr>
          <p:cNvPr id="13" name="!!rt2">
            <a:extLst>
              <a:ext uri="{C183D7F6-B498-43B3-948B-1728B52AA6E4}">
                <adec:decorative xmlns:adec="http://schemas.microsoft.com/office/drawing/2017/decorative" val="1"/>
              </a:ext>
            </a:extLst>
          </p:cNvPr>
          <p:cNvSpPr/>
          <p:nvPr/>
        </p:nvSpPr>
        <p:spPr>
          <a:xfrm>
            <a:off x="658368" y="3399129"/>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440277"/>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380841"/>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does a pseudo-polynomial algorithm for an NP-complete problem not prove P</a:t>
            </a:r>
            <a:r>
              <a:rPr sz="1900" b="0" i="0">
                <a:solidFill>
                  <a:srgbClr val="1C252B"/>
                </a:solidFill>
                <a:latin typeface="Cambria"/>
              </a:rPr>
              <a:t>=</a:t>
            </a:r>
            <a:r>
              <a:rPr sz="1900" b="0" i="0">
                <a:solidFill>
                  <a:srgbClr val="1C252B"/>
                </a:solidFill>
                <a:latin typeface="Segoe UI"/>
              </a:rPr>
              <a:t>NP?</a:t>
            </a:r>
          </a:p>
        </p:txBody>
      </p:sp>
      <p:sp>
        <p:nvSpPr>
          <p:cNvPr id="16" name="!!rt3">
            <a:extLst>
              <a:ext uri="{C183D7F6-B498-43B3-948B-1728B52AA6E4}">
                <adec:decorative xmlns:adec="http://schemas.microsoft.com/office/drawing/2017/decorative" val="1"/>
              </a:ext>
            </a:extLst>
          </p:cNvPr>
          <p:cNvSpPr/>
          <p:nvPr/>
        </p:nvSpPr>
        <p:spPr>
          <a:xfrm>
            <a:off x="658368" y="4220870"/>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4262018"/>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4202582"/>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Show that </a:t>
            </a:r>
            <a:r>
              <a:rPr sz="1900" b="0" i="1">
                <a:solidFill>
                  <a:srgbClr val="1C252B"/>
                </a:solidFill>
                <a:latin typeface="Cambria"/>
              </a:rPr>
              <a:t>S</a:t>
            </a:r>
            <a:r>
              <a:rPr sz="1900" b="0" i="0">
                <a:solidFill>
                  <a:srgbClr val="1C252B"/>
                </a:solidFill>
                <a:latin typeface="Segoe UI"/>
              </a:rPr>
              <a:t> is an independent set of </a:t>
            </a:r>
            <a:r>
              <a:rPr sz="1900" b="0" i="1">
                <a:solidFill>
                  <a:srgbClr val="1C252B"/>
                </a:solidFill>
                <a:latin typeface="Cambria"/>
              </a:rPr>
              <a:t>G</a:t>
            </a:r>
            <a:r>
              <a:rPr sz="1900" b="0" i="0">
                <a:solidFill>
                  <a:srgbClr val="1C252B"/>
                </a:solidFill>
                <a:latin typeface="Segoe UI"/>
              </a:rPr>
              <a:t> if and only if </a:t>
            </a:r>
            <a:r>
              <a:rPr sz="1900" b="0" i="1">
                <a:solidFill>
                  <a:srgbClr val="1C252B"/>
                </a:solidFill>
                <a:latin typeface="Cambria"/>
              </a:rPr>
              <a:t>V</a:t>
            </a:r>
            <a:r>
              <a:rPr sz="1900" b="0" i="0">
                <a:solidFill>
                  <a:srgbClr val="1C252B"/>
                </a:solidFill>
                <a:latin typeface="Cambria"/>
              </a:rPr>
              <a:t> </a:t>
            </a:r>
            <a:r>
              <a:rPr sz="1900" b="0" i="1">
                <a:solidFill>
                  <a:srgbClr val="1C252B"/>
                </a:solidFill>
                <a:latin typeface="Cambria"/>
              </a:rPr>
              <a:t>S</a:t>
            </a:r>
            <a:r>
              <a:rPr sz="1900" b="0" i="0">
                <a:solidFill>
                  <a:srgbClr val="1C252B"/>
                </a:solidFill>
                <a:latin typeface="Segoe UI"/>
              </a:rPr>
              <a:t> is a vertex cover, and use it to give a reduction in both directions.</a:t>
            </a:r>
          </a:p>
        </p:txBody>
      </p:sp>
      <p:sp>
        <p:nvSpPr>
          <p:cNvPr id="19" name="!!rt4">
            <a:extLst>
              <a:ext uri="{C183D7F6-B498-43B3-948B-1728B52AA6E4}">
                <adec:decorative xmlns:adec="http://schemas.microsoft.com/office/drawing/2017/decorative" val="1"/>
              </a:ext>
            </a:extLst>
          </p:cNvPr>
          <p:cNvSpPr/>
          <p:nvPr/>
        </p:nvSpPr>
        <p:spPr>
          <a:xfrm>
            <a:off x="658368" y="5042611"/>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5083759"/>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5024323"/>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Your team must schedule 300 exams with no clashes and suspects the problem is NP-complete. Describe how you would confirm that suspicion, and set out the three strategies you would then consider, with what each would guarantee.</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5264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705B0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7B681A"/>
                </a:solidFill>
                <a:latin typeface="Segoe UI Black"/>
              </a:rPr>
              <a:t>22</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22</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Chapter 23 — The Semester Project</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22, pages 181–188</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Naive, Rabin–Karp and KMP on the same corpus</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Assignment 2 due</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22  ·  Complexity Classes: P, NP and NP-Completeness</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9EA009D0-05EF-4395-A923-98149B7CFA7B}" type="slidenum">
              <a:rPr lang="en-GB" sz="1000">
                <a:solidFill>
                  <a:srgbClr val="D5DEE5"/>
                </a:solidFill>
                <a:latin typeface="Segoe UI"/>
              </a:rPr>
              <a:t>51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Analysis of Algorithms Fall 2026">
  <a:themeElements>
    <a:clrScheme name="Analysis of Algorithms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Analysis of Algorithms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22: Complexity Classes: P, NP and NP-Completeness</dc:title>
  <dc:subject>Analysis of Algorithms — Design, Proof and Measurement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