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ED4D051-1290-4080-B1EF-C90672BD25A6}">
          <p14:sldIdLst>
            <p14:sldId id="256"/>
            <p14:sldId id="257"/>
            <p14:sldId id="258"/>
            <p14:sldId id="259"/>
            <p14:sldId id="260"/>
          </p14:sldIdLst>
        </p14:section>
        <p14:section name="11.1 Asking for Less" id="{A1C8D8CA-AF09-4565-841E-353AC48577E6}">
          <p14:sldIdLst>
            <p14:sldId id="261"/>
            <p14:sldId id="262"/>
            <p14:sldId id="263"/>
          </p14:sldIdLst>
        </p14:section>
        <p14:section name="11.2 Quickselect" id="{ACE0F7CE-8A63-4F72-A5DF-081830FF788E}">
          <p14:sldIdLst>
            <p14:sldId id="264"/>
            <p14:sldId id="265"/>
            <p14:sldId id="266"/>
            <p14:sldId id="267"/>
          </p14:sldIdLst>
        </p14:section>
        <p14:section name="11.3 Measured" id="{E7D66FF3-9CA2-46CA-A80A-D57F3F8FB8AB}">
          <p14:sldIdLst>
            <p14:sldId id="268"/>
            <p14:sldId id="269"/>
            <p14:sldId id="270"/>
            <p14:sldId id="271"/>
            <p14:sldId id="272"/>
            <p14:sldId id="273"/>
            <p14:sldId id="274"/>
            <p14:sldId id="275"/>
          </p14:sldIdLst>
        </p14:section>
        <p14:section name="11.4 Linear in the Worst Case" id="{8197D18D-CD46-4EA1-8CF0-0B8071DA97DD}">
          <p14:sldIdLst>
            <p14:sldId id="276"/>
            <p14:sldId id="277"/>
            <p14:sldId id="278"/>
            <p14:sldId id="279"/>
            <p14:sldId id="280"/>
          </p14:sldIdLst>
        </p14:section>
        <p14:section name="Pitfalls" id="{0361E349-D884-42EA-8D40-4F8FD5640801}">
          <p14:sldIdLst>
            <p14:sldId id="281"/>
          </p14:sldIdLst>
        </p14:section>
        <p14:section name="Lab" id="{BD9BCE69-57AA-460B-A855-5CA9B2722D5A}">
          <p14:sldIdLst>
            <p14:sldId id="282"/>
            <p14:sldId id="283"/>
            <p14:sldId id="284"/>
            <p14:sldId id="285"/>
            <p14:sldId id="286"/>
            <p14:sldId id="287"/>
            <p14:sldId id="288"/>
            <p14:sldId id="289"/>
          </p14:sldIdLst>
        </p14:section>
        <p14:section name="Checkpoint" id="{F6507925-61E8-4E79-9B27-BB8702CCB229}">
          <p14:sldIdLst>
            <p14:sldId id="290"/>
            <p14:sldId id="291"/>
            <p14:sldId id="292"/>
            <p14:sldId id="293"/>
            <p14:sldId id="294"/>
            <p14:sldId id="295"/>
          </p14:sldIdLst>
        </p14:section>
        <p14:section name="Wrap-up" id="{8A44430B-B5AE-40F7-9188-C01366538C92}">
          <p14:sldIdLst>
            <p14:sldId id="296"/>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Selection and Order Statistics. Part 3 — Sorting, Selection and the Structures Beneath. Week 8: Selection and order statistics. Handout pages 90–96.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9 — quickselect is quicksort with one recursive call deleted, and the randomisation argument is the same one. Chapter 6 for the recurrence.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order statistic; selection; median; quickselect; prune and search; median of medians; introselect; worst-case linear; tail call.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11.1 (handout p. 91): Quickselect. Identical to Quicksort except that one of the two recursive calls is deleted rather than made. Written as a loop because the remaining call is in tail position — which also removes Chapter 9’s stack-overflow failure.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Worst case. If every partition is maximally unbalanced, the range shrinks by one each iteration and the partitions cost n, n−1, n−2, …, summing to Θ(n²). Expected case. Call a pivot good if it falls in the middle half of the range, that is between the 25th and 75th percentiles. A uniformly random pivot is good with probability 1/2, and a good pivot leaves a subproblem of size at most /34 of the range. Hence the expected number of partitions needed to reduce the range by a factor of /34 is at most 2, and if T(n) denotes the expected cost, T(n)  ≤  T(/34 n) + Θ(n), where the Θ(n) absorbs the expected two partitions. By Chapter 6 with a = 1, b = 4/3, f(n) = n: the watershed is nˡᵒᵍ₄/₃ ¹ = n⁰ = 1, and f(n) = n = Ω(n⁰⁺ε) with ε = 1, so case 3 applies provided regularity holds — 1 · f(3n/4) = /34 n ≤ c n with c = /34 &lt; 1, which it does. Therefore T(n) = Θ(f(n)) = Θ(n).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Quickselect’s expected bound is excellent and its worst case is quadratic. A deterministic algorithm achieves Θ(n) in the worst case.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four tables. Expect twenty-five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Partition, exactly as in Chapter 9.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Quickselect: recurse into ONE side, not both.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Comparisons: selection against sorting.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same thing in seconds.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worst case, for Chapter 9's reason.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Does k matter?.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Quicksort: a = 2, b = 2, watershed nlog22 = n = f(n), so case 2, giving Θ(n lg n). Quickselect: a = 1, b = 2, watershed nlog21 = n0 = 1, far below f(n) = n, so case 3, giving Θ(n). The lg n was the number of levels; discarding one branch collapses the tree to a path whose work halves each step, and n + n/2 + n/4 + ⋯ &lt; 2n.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last-element pivot on sorted input is always the largest, so the range shrinks from the top by one each iteration. To reach the median the range must fall from n to n/2, costing n + (n−1) + ⋯ + n/2 = ((n + n/2))/2·n/2 = 3n2/8. Measured 0.7500 × n2/2, which is the same number.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With groups of 5, the pivot exceeds at least 3 · /12 · n/5 = 3n/10 elements, so the recursion is on at most 7n/10 and the recurrence is T(n/5) + T(7n/10) + Θ(n) with /15 + 7/10 = 9/10 &lt; 1. With groups of 3 the pivot exceeds only 2·/12·n/3 = n/3, so the recurrence is T(n/3) + T(2n/3) + Θ(n) and /13 + /23 = 1. The substitution T(n) ≤ cn then gives cn + an ≤ cn, which is false for every c, and the true bound is Θ(n lg 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12 — Heaps and Search Trees, Revisited for Analysis. READ: Handout Chapter 11, pages 90–96. THIS WEEK'S LAB: Midterm, then quickselect against a full sort. ASSESSMENT: Midterm (Ch 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3.xml"/><Relationship Id="rId8"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3.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8.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Selection and Order Statistics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SORTING, SELECTION AND THE STRUCTURES BENEATH</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11  ·  WEEK 8</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DDC7AA4C-5BC7-403A-B566-981AE8122111}"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822916"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0034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0034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83502"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28350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11</a:t>
            </a:r>
          </a:p>
        </p:txBody>
      </p:sp>
      <p:sp>
        <p:nvSpPr>
          <p:cNvPr id="41" name="!!dot12">
            <a:extLst>
              <a:ext uri="{C183D7F6-B498-43B3-948B-1728B52AA6E4}">
                <adec:decorative xmlns:adec="http://schemas.microsoft.com/office/drawing/2017/decorative" val="1"/>
              </a:ext>
            </a:extLst>
          </p:cNvPr>
          <p:cNvSpPr/>
          <p:nvPr/>
        </p:nvSpPr>
        <p:spPr>
          <a:xfrm>
            <a:off x="597697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855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6869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772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81817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267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2640886"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Selection and Order Statistics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Recurrences II: The Master Theorem</a:t>
            </a:r>
          </a:p>
        </p:txBody>
      </p:sp>
      <p:sp>
        <p:nvSpPr>
          <p:cNvPr id="70" name="!!chipBU9">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9">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9"/>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9  </a:t>
            </a:r>
            <a:r>
              <a:rPr sz="1400" b="0" i="0">
                <a:solidFill>
                  <a:srgbClr val="1C252B"/>
                </a:solidFill>
                <a:latin typeface="Segoe UI"/>
              </a:rPr>
              <a:t>Quicksort, Randomisation and the Average Case</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Minimum Spanning Trees</a:t>
            </a:r>
          </a:p>
        </p:txBody>
      </p:sp>
      <p:sp>
        <p:nvSpPr>
          <p:cNvPr id="7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FF39AE61-9803-4B16-A1FA-4A6B04DCD6AC}"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Define</a:t>
            </a:r>
            <a:r>
              <a:rPr sz="2100" b="0" i="0">
                <a:solidFill>
                  <a:srgbClr val="1C252B"/>
                </a:solidFill>
                <a:latin typeface="Segoe UI"/>
              </a:rPr>
              <a:t> the </a:t>
            </a:r>
            <a:r>
              <a:rPr sz="2100" b="0" i="1">
                <a:solidFill>
                  <a:srgbClr val="1C252B"/>
                </a:solidFill>
                <a:latin typeface="Cambria"/>
              </a:rPr>
              <a:t>i</a:t>
            </a:r>
            <a:r>
              <a:rPr sz="2100" b="0" i="0">
                <a:solidFill>
                  <a:srgbClr val="1C252B"/>
                </a:solidFill>
                <a:latin typeface="Segoe UI"/>
              </a:rPr>
              <a:t>-th order statistic and </a:t>
            </a:r>
            <a:r>
              <a:rPr sz="2100" b="1" i="0">
                <a:solidFill>
                  <a:srgbClr val="1C252B"/>
                </a:solidFill>
                <a:latin typeface="Segoe UI"/>
              </a:rPr>
              <a:t>distinguish</a:t>
            </a:r>
            <a:r>
              <a:rPr sz="2100" b="0" i="0">
                <a:solidFill>
                  <a:srgbClr val="1C252B"/>
                </a:solidFill>
                <a:latin typeface="Segoe UI"/>
              </a:rPr>
              <a:t> selection from sorting.</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9985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Derive</a:t>
            </a:r>
            <a:r>
              <a:rPr sz="2100" b="0" i="0">
                <a:solidFill>
                  <a:srgbClr val="1C252B"/>
                </a:solidFill>
                <a:latin typeface="Segoe UI"/>
              </a:rPr>
              <a:t> quickselect’s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expected and </a:t>
            </a:r>
            <a:r>
              <a:rPr sz="2100" b="0" i="0">
                <a:solidFill>
                  <a:srgbClr val="1C252B"/>
                </a:solidFill>
                <a:latin typeface="Cambria"/>
              </a:rPr>
              <a:t>Θ(</a:t>
            </a:r>
            <a:r>
              <a:rPr sz="2100" b="0" i="1">
                <a:solidFill>
                  <a:srgbClr val="1C252B"/>
                </a:solidFill>
                <a:latin typeface="Cambria"/>
              </a:rPr>
              <a:t>n</a:t>
            </a:r>
            <a:r>
              <a:rPr sz="1400" b="0" i="0" baseline="30000">
                <a:solidFill>
                  <a:srgbClr val="1C252B"/>
                </a:solidFill>
                <a:latin typeface="Cambria"/>
              </a:rPr>
              <a:t>2</a:t>
            </a:r>
            <a:r>
              <a:rPr sz="2100" b="0" i="0">
                <a:solidFill>
                  <a:srgbClr val="1C252B"/>
                </a:solidFill>
                <a:latin typeface="Cambria"/>
              </a:rPr>
              <a:t>)</a:t>
            </a:r>
            <a:r>
              <a:rPr sz="2100" b="0" i="0">
                <a:solidFill>
                  <a:srgbClr val="1C252B"/>
                </a:solidFill>
                <a:latin typeface="Segoe UI"/>
              </a:rPr>
              <a:t> worst-case running times from the recurrences, and </a:t>
            </a:r>
            <a:r>
              <a:rPr sz="2100" b="1" i="0">
                <a:solidFill>
                  <a:srgbClr val="1C252B"/>
                </a:solidFill>
                <a:latin typeface="Segoe UI"/>
              </a:rPr>
              <a:t>explain</a:t>
            </a:r>
            <a:r>
              <a:rPr sz="2100" b="0" i="0">
                <a:solidFill>
                  <a:srgbClr val="1C252B"/>
                </a:solidFill>
                <a:latin typeface="Segoe UI"/>
              </a:rPr>
              <a:t> why recursing on one side changes the master-theorem case.</a:t>
            </a:r>
          </a:p>
        </p:txBody>
      </p:sp>
      <p:sp>
        <p:nvSpPr>
          <p:cNvPr id="14" name="!!ob2">
            <a:extLst>
              <a:ext uri="{C183D7F6-B498-43B3-948B-1728B52AA6E4}">
                <adec:decorative xmlns:adec="http://schemas.microsoft.com/office/drawing/2017/decorative" val="1"/>
              </a:ext>
            </a:extLst>
          </p:cNvPr>
          <p:cNvSpPr/>
          <p:nvPr/>
        </p:nvSpPr>
        <p:spPr>
          <a:xfrm>
            <a:off x="658368" y="4006900"/>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40663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97756"/>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the median-of-medians algorithm and </a:t>
            </a:r>
            <a:r>
              <a:rPr sz="2100" b="1" i="0">
                <a:solidFill>
                  <a:srgbClr val="1C252B"/>
                </a:solidFill>
                <a:latin typeface="Segoe UI"/>
              </a:rPr>
              <a:t>state</a:t>
            </a:r>
            <a:r>
              <a:rPr sz="2100" b="0" i="0">
                <a:solidFill>
                  <a:srgbClr val="1C252B"/>
                </a:solidFill>
                <a:latin typeface="Segoe UI"/>
              </a:rPr>
              <a:t> why it gives a worst-case linear bound.</a:t>
            </a:r>
          </a:p>
        </p:txBody>
      </p:sp>
      <p:sp>
        <p:nvSpPr>
          <p:cNvPr id="17" name="!!ob3">
            <a:extLst>
              <a:ext uri="{C183D7F6-B498-43B3-948B-1728B52AA6E4}">
                <adec:decorative xmlns:adec="http://schemas.microsoft.com/office/drawing/2017/decorative" val="1"/>
              </a:ext>
            </a:extLst>
          </p:cNvPr>
          <p:cNvSpPr/>
          <p:nvPr/>
        </p:nvSpPr>
        <p:spPr>
          <a:xfrm>
            <a:off x="658368" y="4855464"/>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91490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9661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Judge</a:t>
            </a:r>
            <a:r>
              <a:rPr sz="2100" b="0" i="0">
                <a:solidFill>
                  <a:srgbClr val="1C252B"/>
                </a:solidFill>
                <a:latin typeface="Segoe UI"/>
              </a:rPr>
              <a:t> when the deterministic algorithm is worth its constant.</a:t>
            </a:r>
          </a:p>
        </p:txBody>
      </p:sp>
      <p:sp>
        <p:nvSpPr>
          <p:cNvPr id="20" name="!!ob4">
            <a:extLst>
              <a:ext uri="{C183D7F6-B498-43B3-948B-1728B52AA6E4}">
                <adec:decorative xmlns:adec="http://schemas.microsoft.com/office/drawing/2017/decorative" val="1"/>
              </a:ext>
            </a:extLst>
          </p:cNvPr>
          <p:cNvSpPr/>
          <p:nvPr/>
        </p:nvSpPr>
        <p:spPr>
          <a:xfrm>
            <a:off x="658368" y="545896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51840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50011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Predict</a:t>
            </a:r>
            <a:r>
              <a:rPr sz="2100" b="0" i="0">
                <a:solidFill>
                  <a:srgbClr val="1C252B"/>
                </a:solidFill>
                <a:latin typeface="Segoe UI"/>
              </a:rPr>
              <a:t> how selection’s cost varies with </a:t>
            </a:r>
            <a:r>
              <a:rPr sz="2100" b="0" i="1">
                <a:solidFill>
                  <a:srgbClr val="1C252B"/>
                </a:solidFill>
                <a:latin typeface="Cambria"/>
              </a:rPr>
              <a:t>k</a:t>
            </a:r>
            <a:r>
              <a:rPr sz="2100" b="0" i="0">
                <a:solidFill>
                  <a:srgbClr val="1C252B"/>
                </a:solidFill>
                <a:latin typeface="Segoe UI"/>
              </a:rPr>
              <a: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979B52C8-6D50-42A3-B523-49F7C2ED2DC8}" type="slidenum">
              <a:rPr lang="en-GB" sz="1000">
                <a:solidFill>
                  <a:srgbClr val="8795A1"/>
                </a:solidFill>
                <a:latin typeface="Segoe UI"/>
              </a:rPr>
              <a:t>4</a:t>
            </a:fld>
          </a:p>
        </p:txBody>
      </p:sp>
      <p:sp>
        <p:nvSpPr>
          <p:cNvPr id="7" name="!!term-order statisti">
            <a:extLst>
              <a:ext uri="{C183D7F6-B498-43B3-948B-1728B52AA6E4}">
                <adec:decorative xmlns:adec="http://schemas.microsoft.com/office/drawing/2017/decorative" val="1"/>
              </a:ext>
            </a:extLst>
          </p:cNvPr>
          <p:cNvSpPr/>
          <p:nvPr/>
        </p:nvSpPr>
        <p:spPr>
          <a:xfrm>
            <a:off x="658368" y="1847088"/>
            <a:ext cx="17575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order statist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order statisti"/>
          <p:cNvSpPr txBox="1"/>
          <p:nvPr/>
        </p:nvSpPr>
        <p:spPr>
          <a:xfrm>
            <a:off x="950976" y="1955291"/>
            <a:ext cx="157465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order statistic</a:t>
            </a:r>
          </a:p>
        </p:txBody>
      </p:sp>
      <p:sp>
        <p:nvSpPr>
          <p:cNvPr id="10" name="!!term-selection">
            <a:extLst>
              <a:ext uri="{C183D7F6-B498-43B3-948B-1728B52AA6E4}">
                <adec:decorative xmlns:adec="http://schemas.microsoft.com/office/drawing/2017/decorative" val="1"/>
              </a:ext>
            </a:extLst>
          </p:cNvPr>
          <p:cNvSpPr/>
          <p:nvPr/>
        </p:nvSpPr>
        <p:spPr>
          <a:xfrm>
            <a:off x="2562204" y="1847088"/>
            <a:ext cx="12993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election">
            <a:extLst>
              <a:ext uri="{C183D7F6-B498-43B3-948B-1728B52AA6E4}">
                <adec:decorative xmlns:adec="http://schemas.microsoft.com/office/drawing/2017/decorative" val="1"/>
              </a:ext>
            </a:extLst>
          </p:cNvPr>
          <p:cNvSpPr/>
          <p:nvPr/>
        </p:nvSpPr>
        <p:spPr>
          <a:xfrm>
            <a:off x="269022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election"/>
          <p:cNvSpPr txBox="1"/>
          <p:nvPr/>
        </p:nvSpPr>
        <p:spPr>
          <a:xfrm>
            <a:off x="2854812" y="1955291"/>
            <a:ext cx="111642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selection</a:t>
            </a:r>
          </a:p>
        </p:txBody>
      </p:sp>
      <p:sp>
        <p:nvSpPr>
          <p:cNvPr id="13" name="!!term-median">
            <a:extLst>
              <a:ext uri="{C183D7F6-B498-43B3-948B-1728B52AA6E4}">
                <adec:decorative xmlns:adec="http://schemas.microsoft.com/office/drawing/2017/decorative" val="1"/>
              </a:ext>
            </a:extLst>
          </p:cNvPr>
          <p:cNvSpPr/>
          <p:nvPr/>
        </p:nvSpPr>
        <p:spPr>
          <a:xfrm>
            <a:off x="4007812" y="1847088"/>
            <a:ext cx="11634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edian">
            <a:extLst>
              <a:ext uri="{C183D7F6-B498-43B3-948B-1728B52AA6E4}">
                <adec:decorative xmlns:adec="http://schemas.microsoft.com/office/drawing/2017/decorative" val="1"/>
              </a:ext>
            </a:extLst>
          </p:cNvPr>
          <p:cNvSpPr/>
          <p:nvPr/>
        </p:nvSpPr>
        <p:spPr>
          <a:xfrm>
            <a:off x="41358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edian"/>
          <p:cNvSpPr txBox="1"/>
          <p:nvPr/>
        </p:nvSpPr>
        <p:spPr>
          <a:xfrm>
            <a:off x="4300420" y="1955291"/>
            <a:ext cx="98054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median</a:t>
            </a:r>
          </a:p>
        </p:txBody>
      </p:sp>
      <p:sp>
        <p:nvSpPr>
          <p:cNvPr id="16" name="!!term-quickselect">
            <a:extLst>
              <a:ext uri="{C183D7F6-B498-43B3-948B-1728B52AA6E4}">
                <adec:decorative xmlns:adec="http://schemas.microsoft.com/office/drawing/2017/decorative" val="1"/>
              </a:ext>
            </a:extLst>
          </p:cNvPr>
          <p:cNvSpPr/>
          <p:nvPr/>
        </p:nvSpPr>
        <p:spPr>
          <a:xfrm>
            <a:off x="5317545" y="1847088"/>
            <a:ext cx="15111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quickselect">
            <a:extLst>
              <a:ext uri="{C183D7F6-B498-43B3-948B-1728B52AA6E4}">
                <adec:decorative xmlns:adec="http://schemas.microsoft.com/office/drawing/2017/decorative" val="1"/>
              </a:ext>
            </a:extLst>
          </p:cNvPr>
          <p:cNvSpPr/>
          <p:nvPr/>
        </p:nvSpPr>
        <p:spPr>
          <a:xfrm>
            <a:off x="544556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quickselect"/>
          <p:cNvSpPr txBox="1"/>
          <p:nvPr/>
        </p:nvSpPr>
        <p:spPr>
          <a:xfrm>
            <a:off x="5610153" y="1955291"/>
            <a:ext cx="132827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quickselect</a:t>
            </a:r>
          </a:p>
        </p:txBody>
      </p:sp>
      <p:sp>
        <p:nvSpPr>
          <p:cNvPr id="19" name="!!term-prune and sear">
            <a:extLst>
              <a:ext uri="{C183D7F6-B498-43B3-948B-1728B52AA6E4}">
                <adec:decorative xmlns:adec="http://schemas.microsoft.com/office/drawing/2017/decorative" val="1"/>
              </a:ext>
            </a:extLst>
          </p:cNvPr>
          <p:cNvSpPr/>
          <p:nvPr/>
        </p:nvSpPr>
        <p:spPr>
          <a:xfrm>
            <a:off x="6975003" y="1847088"/>
            <a:ext cx="21202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prune and sear">
            <a:extLst>
              <a:ext uri="{C183D7F6-B498-43B3-948B-1728B52AA6E4}">
                <adec:decorative xmlns:adec="http://schemas.microsoft.com/office/drawing/2017/decorative" val="1"/>
              </a:ext>
            </a:extLst>
          </p:cNvPr>
          <p:cNvSpPr/>
          <p:nvPr/>
        </p:nvSpPr>
        <p:spPr>
          <a:xfrm>
            <a:off x="710301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prune and sear"/>
          <p:cNvSpPr txBox="1"/>
          <p:nvPr/>
        </p:nvSpPr>
        <p:spPr>
          <a:xfrm>
            <a:off x="7267611" y="1955291"/>
            <a:ext cx="193735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prune and search</a:t>
            </a:r>
          </a:p>
        </p:txBody>
      </p:sp>
      <p:sp>
        <p:nvSpPr>
          <p:cNvPr id="22" name="!!term-median of medi">
            <a:extLst>
              <a:ext uri="{C183D7F6-B498-43B3-948B-1728B52AA6E4}">
                <adec:decorative xmlns:adec="http://schemas.microsoft.com/office/drawing/2017/decorative" val="1"/>
              </a:ext>
            </a:extLst>
          </p:cNvPr>
          <p:cNvSpPr/>
          <p:nvPr/>
        </p:nvSpPr>
        <p:spPr>
          <a:xfrm>
            <a:off x="658368" y="2468880"/>
            <a:ext cx="22999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edian of med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edian of medi"/>
          <p:cNvSpPr txBox="1"/>
          <p:nvPr/>
        </p:nvSpPr>
        <p:spPr>
          <a:xfrm>
            <a:off x="950976" y="2577084"/>
            <a:ext cx="211703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median of medians</a:t>
            </a:r>
          </a:p>
        </p:txBody>
      </p:sp>
      <p:sp>
        <p:nvSpPr>
          <p:cNvPr id="25" name="!!term-introselect">
            <a:extLst>
              <a:ext uri="{C183D7F6-B498-43B3-948B-1728B52AA6E4}">
                <adec:decorative xmlns:adec="http://schemas.microsoft.com/office/drawing/2017/decorative" val="1"/>
              </a:ext>
            </a:extLst>
          </p:cNvPr>
          <p:cNvSpPr/>
          <p:nvPr/>
        </p:nvSpPr>
        <p:spPr>
          <a:xfrm>
            <a:off x="3104584" y="2468880"/>
            <a:ext cx="14505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introselect">
            <a:extLst>
              <a:ext uri="{C183D7F6-B498-43B3-948B-1728B52AA6E4}">
                <adec:decorative xmlns:adec="http://schemas.microsoft.com/office/drawing/2017/decorative" val="1"/>
              </a:ext>
            </a:extLst>
          </p:cNvPr>
          <p:cNvSpPr/>
          <p:nvPr/>
        </p:nvSpPr>
        <p:spPr>
          <a:xfrm>
            <a:off x="323260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introselect"/>
          <p:cNvSpPr txBox="1"/>
          <p:nvPr/>
        </p:nvSpPr>
        <p:spPr>
          <a:xfrm>
            <a:off x="3397192" y="2577084"/>
            <a:ext cx="126766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introselect</a:t>
            </a:r>
          </a:p>
        </p:txBody>
      </p:sp>
      <p:sp>
        <p:nvSpPr>
          <p:cNvPr id="28" name="!!term-worst-case lin">
            <a:extLst>
              <a:ext uri="{C183D7F6-B498-43B3-948B-1728B52AA6E4}">
                <adec:decorative xmlns:adec="http://schemas.microsoft.com/office/drawing/2017/decorative" val="1"/>
              </a:ext>
            </a:extLst>
          </p:cNvPr>
          <p:cNvSpPr/>
          <p:nvPr/>
        </p:nvSpPr>
        <p:spPr>
          <a:xfrm>
            <a:off x="4701437" y="2468880"/>
            <a:ext cx="20775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worst-case lin">
            <a:extLst>
              <a:ext uri="{C183D7F6-B498-43B3-948B-1728B52AA6E4}">
                <adec:decorative xmlns:adec="http://schemas.microsoft.com/office/drawing/2017/decorative" val="1"/>
              </a:ext>
            </a:extLst>
          </p:cNvPr>
          <p:cNvSpPr/>
          <p:nvPr/>
        </p:nvSpPr>
        <p:spPr>
          <a:xfrm>
            <a:off x="482945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worst-case lin"/>
          <p:cNvSpPr txBox="1"/>
          <p:nvPr/>
        </p:nvSpPr>
        <p:spPr>
          <a:xfrm>
            <a:off x="4994045" y="2577084"/>
            <a:ext cx="189471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worst-case linear</a:t>
            </a:r>
          </a:p>
        </p:txBody>
      </p:sp>
      <p:sp>
        <p:nvSpPr>
          <p:cNvPr id="31" name="!!term-tail call">
            <a:extLst>
              <a:ext uri="{C183D7F6-B498-43B3-948B-1728B52AA6E4}">
                <adec:decorative xmlns:adec="http://schemas.microsoft.com/office/drawing/2017/decorative" val="1"/>
              </a:ext>
            </a:extLst>
          </p:cNvPr>
          <p:cNvSpPr/>
          <p:nvPr/>
        </p:nvSpPr>
        <p:spPr>
          <a:xfrm>
            <a:off x="6925340" y="2468880"/>
            <a:ext cx="11129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tail call">
            <a:extLst>
              <a:ext uri="{C183D7F6-B498-43B3-948B-1728B52AA6E4}">
                <adec:decorative xmlns:adec="http://schemas.microsoft.com/office/drawing/2017/decorative" val="1"/>
              </a:ext>
            </a:extLst>
          </p:cNvPr>
          <p:cNvSpPr/>
          <p:nvPr/>
        </p:nvSpPr>
        <p:spPr>
          <a:xfrm>
            <a:off x="705335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tail call"/>
          <p:cNvSpPr txBox="1"/>
          <p:nvPr/>
        </p:nvSpPr>
        <p:spPr>
          <a:xfrm>
            <a:off x="7217948" y="2577084"/>
            <a:ext cx="93011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tail call</a:t>
            </a:r>
          </a:p>
        </p:txBody>
      </p:sp>
      <p:sp>
        <p:nvSpPr>
          <p:cNvPr id="34"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90–96     </a:t>
            </a:r>
            <a:fld id="{67E822F4-83BB-4041-BA41-BD356ADCFBAD}" type="slidenum">
              <a:rPr lang="en-GB" sz="1000">
                <a:solidFill>
                  <a:srgbClr val="8795A1"/>
                </a:solidFill>
                <a:latin typeface="Segoe UI"/>
              </a:rPr>
              <a:t>5</a:t>
            </a:fld>
          </a:p>
        </p:txBody>
      </p:sp>
      <p:sp>
        <p:nvSpPr>
          <p:cNvPr id="7" name="!!ag0" descr="Go to section 11.1 Asking for Les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Asking for Less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90  ›</a:t>
            </a:r>
          </a:p>
        </p:txBody>
      </p:sp>
      <p:sp>
        <p:nvSpPr>
          <p:cNvPr id="12" name="!!ag1" descr="Go to section 11.2 Quickselect">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Quickselect</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91  ›</a:t>
            </a:r>
          </a:p>
        </p:txBody>
      </p:sp>
      <p:sp>
        <p:nvSpPr>
          <p:cNvPr id="17" name="!!ag2" descr="Go to section 11.3 Measure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92  ›</a:t>
            </a:r>
          </a:p>
        </p:txBody>
      </p:sp>
      <p:sp>
        <p:nvSpPr>
          <p:cNvPr id="22" name="!!ag3" descr="Go to section 11.4 Linear in the Worst Cas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Linear in the Worst Case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93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Asking for Less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11.1   Asking for Less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Quickselect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Measured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Linear in the Worst Case</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§11.1     </a:t>
            </a:r>
            <a:fld id="{F96FCA90-82BB-4330-882A-91E91406DB58}"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Order Statistic, Selection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§11.1  ·  Handout p. 90     </a:t>
            </a:r>
            <a:fld id="{FD2538FB-A6C2-44B6-A87D-C657A00BE79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40610"/>
          </a:xfrm>
          <a:prstGeom prst="roundRect">
            <a:avLst>
              <a:gd name="adj" fmla="val 408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4061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1">
                <a:solidFill>
                  <a:srgbClr val="1C252B"/>
                </a:solidFill>
                <a:latin typeface="Cambria"/>
              </a:rPr>
              <a:t>i</a:t>
            </a:r>
            <a:r>
              <a:rPr sz="2300" b="1" i="0">
                <a:solidFill>
                  <a:srgbClr val="1A5276"/>
                </a:solidFill>
                <a:latin typeface="Segoe UI"/>
              </a:rPr>
              <a:t>-th order statistic</a:t>
            </a:r>
            <a:r>
              <a:rPr sz="2300" b="0" i="0">
                <a:solidFill>
                  <a:srgbClr val="1C252B"/>
                </a:solidFill>
                <a:latin typeface="Segoe UI"/>
              </a:rPr>
              <a:t> of a set of </a:t>
            </a:r>
            <a:r>
              <a:rPr sz="2300" b="0" i="1">
                <a:solidFill>
                  <a:srgbClr val="1C252B"/>
                </a:solidFill>
                <a:latin typeface="Cambria"/>
              </a:rPr>
              <a:t>n</a:t>
            </a:r>
            <a:r>
              <a:rPr sz="2300" b="0" i="0">
                <a:solidFill>
                  <a:srgbClr val="1C252B"/>
                </a:solidFill>
                <a:latin typeface="Segoe UI"/>
              </a:rPr>
              <a:t> elements is the </a:t>
            </a:r>
            <a:r>
              <a:rPr sz="2300" b="0" i="1">
                <a:solidFill>
                  <a:srgbClr val="1C252B"/>
                </a:solidFill>
                <a:latin typeface="Cambria"/>
              </a:rPr>
              <a:t>i</a:t>
            </a:r>
            <a:r>
              <a:rPr sz="2300" b="0" i="0">
                <a:solidFill>
                  <a:srgbClr val="1C252B"/>
                </a:solidFill>
                <a:latin typeface="Segoe UI"/>
              </a:rPr>
              <a:t>-th smallest. The 1st is the minimum, the </a:t>
            </a:r>
            <a:r>
              <a:rPr sz="2300" b="0" i="1">
                <a:solidFill>
                  <a:srgbClr val="1C252B"/>
                </a:solidFill>
                <a:latin typeface="Cambria"/>
              </a:rPr>
              <a:t>n</a:t>
            </a:r>
            <a:r>
              <a:rPr sz="2300" b="0" i="0">
                <a:solidFill>
                  <a:srgbClr val="1C252B"/>
                </a:solidFill>
                <a:latin typeface="Segoe UI"/>
              </a:rPr>
              <a:t>-th the maximum, and the </a:t>
            </a:r>
            <a:r>
              <a:rPr sz="2300" b="0" i="0">
                <a:solidFill>
                  <a:srgbClr val="1C252B"/>
                </a:solidFill>
                <a:latin typeface="Cambria"/>
              </a:rPr>
              <a:t>⌊ (</a:t>
            </a:r>
            <a:r>
              <a:rPr sz="2300" b="0" i="1">
                <a:solidFill>
                  <a:srgbClr val="1C252B"/>
                </a:solidFill>
                <a:latin typeface="Cambria"/>
              </a:rPr>
              <a:t>n</a:t>
            </a:r>
            <a:r>
              <a:rPr sz="2300" b="0" i="0">
                <a:solidFill>
                  <a:srgbClr val="1C252B"/>
                </a:solidFill>
                <a:latin typeface="Cambria"/>
              </a:rPr>
              <a:t>+1)/2 ⌋</a:t>
            </a:r>
            <a:r>
              <a:rPr sz="2300" b="0" i="0">
                <a:solidFill>
                  <a:srgbClr val="1C252B"/>
                </a:solidFill>
                <a:latin typeface="Segoe UI"/>
              </a:rPr>
              <a:t>-th the </a:t>
            </a:r>
            <a:r>
              <a:rPr sz="2300" b="1" i="0">
                <a:solidFill>
                  <a:srgbClr val="1A5276"/>
                </a:solidFill>
                <a:latin typeface="Segoe UI"/>
              </a:rPr>
              <a:t>median</a:t>
            </a:r>
            <a:r>
              <a:rPr sz="2300" b="0" i="0">
                <a:solidFill>
                  <a:srgbClr val="1C252B"/>
                </a:solidFill>
                <a:latin typeface="Segoe UI"/>
              </a:rPr>
              <a:t>.</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selection problem</a:t>
            </a:r>
            <a:r>
              <a:rPr sz="2300" b="0" i="0">
                <a:solidFill>
                  <a:srgbClr val="1C252B"/>
                </a:solidFill>
                <a:latin typeface="Segoe UI"/>
              </a:rPr>
              <a:t> is: given an array and an index </a:t>
            </a:r>
            <a:r>
              <a:rPr sz="2300" b="0" i="1">
                <a:solidFill>
                  <a:srgbClr val="1C252B"/>
                </a:solidFill>
                <a:latin typeface="Cambria"/>
              </a:rPr>
              <a:t>i</a:t>
            </a:r>
            <a:r>
              <a:rPr sz="2300" b="0" i="0">
                <a:solidFill>
                  <a:srgbClr val="1C252B"/>
                </a:solidFill>
                <a:latin typeface="Segoe UI"/>
              </a:rPr>
              <a:t>, return the </a:t>
            </a:r>
            <a:r>
              <a:rPr sz="2300" b="0" i="1">
                <a:solidFill>
                  <a:srgbClr val="1C252B"/>
                </a:solidFill>
                <a:latin typeface="Cambria"/>
              </a:rPr>
              <a:t>i</a:t>
            </a:r>
            <a:r>
              <a:rPr sz="2300" b="0" i="0">
                <a:solidFill>
                  <a:srgbClr val="1C252B"/>
                </a:solidFill>
                <a:latin typeface="Segoe UI"/>
              </a:rPr>
              <a:t>-th order statistic.</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Sorting answers more than was asked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§11.1  ·  Handout p. 90     </a:t>
            </a:r>
            <a:fld id="{DB29D68A-603C-4A91-B1E2-28374B510C48}"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Selection is obviously solvable in </a:t>
            </a:r>
            <a:r>
              <a:rPr sz="2200" b="0" i="0">
                <a:solidFill>
                  <a:srgbClr val="1C252B"/>
                </a:solidFill>
                <a:latin typeface="Cambria"/>
              </a:rPr>
              <a:t>Θ(</a:t>
            </a:r>
            <a:r>
              <a:rPr sz="2200" b="0" i="1">
                <a:solidFill>
                  <a:srgbClr val="1C252B"/>
                </a:solidFill>
                <a:latin typeface="Cambria"/>
              </a:rPr>
              <a:t>n</a:t>
            </a:r>
            <a:r>
              <a:rPr sz="2200" b="0" i="0">
                <a:solidFill>
                  <a:srgbClr val="1C252B"/>
                </a:solidFill>
                <a:latin typeface="Cambria"/>
              </a:rPr>
              <a:t> lg </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sort, then index. The question is whether that is wasteful, and it plainly is — sorting also determines the relative order of every </a:t>
            </a:r>
            <a:r>
              <a:rPr sz="2200" b="0" i="1">
                <a:solidFill>
                  <a:srgbClr val="1C252B"/>
                </a:solidFill>
                <a:latin typeface="Segoe UI"/>
              </a:rPr>
              <a:t>other</a:t>
            </a:r>
            <a:r>
              <a:rPr sz="2200" b="0" i="0">
                <a:solidFill>
                  <a:srgbClr val="1C252B"/>
                </a:solidFill>
                <a:latin typeface="Segoe UI"/>
              </a:rPr>
              <a:t> pair, which nobody requested.</a:t>
            </a:r>
          </a:p>
        </p:txBody>
      </p:sp>
      <p:sp>
        <p:nvSpPr>
          <p:cNvPr id="10" name="body-1"/>
          <p:cNvSpPr txBox="1"/>
          <p:nvPr/>
        </p:nvSpPr>
        <p:spPr>
          <a:xfrm>
            <a:off x="1060704" y="3247999"/>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Chapter 10 proved that </a:t>
            </a:r>
            <a:r>
              <a:rPr sz="2200" b="0" i="1">
                <a:solidFill>
                  <a:srgbClr val="1C252B"/>
                </a:solidFill>
                <a:latin typeface="Segoe UI"/>
              </a:rPr>
              <a:t>sorting</a:t>
            </a:r>
            <a:r>
              <a:rPr sz="2200" b="0" i="0">
                <a:solidFill>
                  <a:srgbClr val="1C252B"/>
                </a:solidFill>
                <a:latin typeface="Segoe UI"/>
              </a:rPr>
              <a:t> cannot be done in less than </a:t>
            </a:r>
            <a:r>
              <a:rPr sz="2200" b="0" i="0">
                <a:solidFill>
                  <a:srgbClr val="1C252B"/>
                </a:solidFill>
                <a:latin typeface="Cambria"/>
              </a:rPr>
              <a:t>lg(</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comparisons. That theorem says nothing about selection, because selection has only </a:t>
            </a:r>
            <a:r>
              <a:rPr sz="2200" b="0" i="1">
                <a:solidFill>
                  <a:srgbClr val="1C252B"/>
                </a:solidFill>
                <a:latin typeface="Cambria"/>
              </a:rPr>
              <a:t>n</a:t>
            </a:r>
            <a:r>
              <a:rPr sz="2200" b="0" i="0">
                <a:solidFill>
                  <a:srgbClr val="1C252B"/>
                </a:solidFill>
                <a:latin typeface="Segoe UI"/>
              </a:rPr>
              <a:t> possible answers rather than </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so its decision tree needs only </a:t>
            </a:r>
            <a:r>
              <a:rPr sz="2200" b="0" i="0">
                <a:solidFill>
                  <a:srgbClr val="1C252B"/>
                </a:solidFill>
                <a:latin typeface="Cambria"/>
              </a:rPr>
              <a:t>lg </a:t>
            </a:r>
            <a:r>
              <a:rPr sz="2200" b="0" i="1">
                <a:solidFill>
                  <a:srgbClr val="1C252B"/>
                </a:solidFill>
                <a:latin typeface="Cambria"/>
              </a:rPr>
              <a:t>n</a:t>
            </a:r>
            <a:r>
              <a:rPr sz="2200" b="0" i="0">
                <a:solidFill>
                  <a:srgbClr val="1C252B"/>
                </a:solidFill>
                <a:latin typeface="Segoe UI"/>
              </a:rPr>
              <a:t> leaves’ worth of height from the counting argument — a useless bound, but an honest sign that the problem is easier.</a:t>
            </a:r>
          </a:p>
        </p:txBody>
      </p:sp>
      <p:sp>
        <p:nvSpPr>
          <p:cNvPr id="11" name="body-2"/>
          <p:cNvSpPr txBox="1"/>
          <p:nvPr/>
        </p:nvSpPr>
        <p:spPr>
          <a:xfrm>
            <a:off x="1060704" y="514512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And it is: selection is </a:t>
            </a:r>
            <a:r>
              <a:rPr sz="2200" b="0" i="0">
                <a:solidFill>
                  <a:srgbClr val="1C252B"/>
                </a:solidFill>
                <a:latin typeface="Cambria"/>
              </a:rPr>
              <a:t>Θ(</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in the worst case, deterministically. Doing </a:t>
            </a:r>
            <a:r>
              <a:rPr sz="2200" b="0" i="1">
                <a:solidFill>
                  <a:srgbClr val="1C252B"/>
                </a:solidFill>
                <a:latin typeface="Segoe UI"/>
              </a:rPr>
              <a:t>less</a:t>
            </a:r>
            <a:r>
              <a:rPr sz="2200" b="0" i="0">
                <a:solidFill>
                  <a:srgbClr val="1C252B"/>
                </a:solidFill>
                <a:latin typeface="Segoe UI"/>
              </a:rPr>
              <a:t> than sorting turns out to cost asymptotically less.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Quickselect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Asking for Less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11.2   Quickselect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Measured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Linear in the Worst Case</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§11.2     </a:t>
            </a:r>
            <a:fld id="{1F9177B3-FC7B-4508-A90A-A46417F00C4E}" type="slidenum">
              <a:rPr lang="en-GB" sz="1000">
                <a:solidFill>
                  <a:srgbClr val="8795A1"/>
                </a:solidFill>
                <a:latin typeface="Segoe UI"/>
              </a:rPr>
              <a:t>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Quickselect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91     </a:t>
            </a:r>
            <a:fld id="{9A618291-85DD-4189-835E-73E3A1E3B95F}" type="slidenum">
              <a:rPr lang="en-GB" sz="1000">
                <a:solidFill>
                  <a:srgbClr val="8795A1"/>
                </a:solidFill>
                <a:latin typeface="Segoe UI"/>
              </a:rPr>
              <a:t>10</a:t>
            </a:fld>
          </a:p>
        </p:txBody>
      </p:sp>
      <p:pic>
        <p:nvPicPr>
          <p:cNvPr id="6" name="!!figure" descr="Figure 11.1. Quickselect. Identical to Quicksort except that one of the two recursive calls is deleted rather than made. Written as a loop because the remaining call is in tail position — which also removes Chapter 9’s stack-overflow failur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44582" y="1737360"/>
            <a:ext cx="6902530"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Quickselect. Identical to Quicksort except that one of the two recursive calls is deleted rather than made. Written as a loop because the remaining call is in tail position — which also removes Chapter 9’s stack-overflow failure.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Quickselect’s expected time</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11.1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91     </a:t>
            </a:r>
            <a:fld id="{E06528DC-5146-4CA1-9A61-4521B1EA6A8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 uniformly random pivot, Quickselect runs in </a:t>
            </a:r>
            <a:r>
              <a:rPr sz="2300" b="0" i="0">
                <a:solidFill>
                  <a:srgbClr val="1C252B"/>
                </a:solidFill>
                <a:latin typeface="Cambria"/>
              </a:rPr>
              <a:t>Θ(</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expected time on every input, and </a:t>
            </a:r>
            <a:r>
              <a:rPr sz="2300" b="0" i="0">
                <a:solidFill>
                  <a:srgbClr val="1C252B"/>
                </a:solidFill>
                <a:latin typeface="Cambria"/>
              </a:rPr>
              <a:t>Θ(</a:t>
            </a:r>
            <a:r>
              <a:rPr sz="2300" b="0" i="1">
                <a:solidFill>
                  <a:srgbClr val="1C252B"/>
                </a:solidFill>
                <a:latin typeface="Cambria"/>
              </a:rPr>
              <a:t>n</a:t>
            </a:r>
            <a:r>
              <a:rPr sz="1500" b="0" i="0" baseline="30000">
                <a:solidFill>
                  <a:srgbClr val="1C252B"/>
                </a:solidFill>
                <a:latin typeface="Cambria"/>
              </a:rPr>
              <a:t>2</a:t>
            </a:r>
            <a:r>
              <a:rPr sz="2300" b="0" i="0">
                <a:solidFill>
                  <a:srgbClr val="1C252B"/>
                </a:solidFill>
                <a:latin typeface="Cambria"/>
              </a:rPr>
              <a:t>)</a:t>
            </a:r>
            <a:r>
              <a:rPr sz="2300" b="0" i="0">
                <a:solidFill>
                  <a:srgbClr val="1C252B"/>
                </a:solidFill>
                <a:latin typeface="Segoe UI"/>
              </a:rPr>
              <a:t> in the worst case.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deleted line, one changed case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91     </a:t>
            </a:r>
            <a:fld id="{2C2B3DB7-3313-446C-8D37-89FC00AD2109}"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4624"/>
          </a:xfrm>
          <a:prstGeom prst="roundRect">
            <a:avLst>
              <a:gd name="adj" fmla="val 208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462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is worth stating plainly, because it is the whole idea.</a:t>
            </a:r>
          </a:p>
        </p:txBody>
      </p:sp>
      <p:sp>
        <p:nvSpPr>
          <p:cNvPr id="10" name="body-1"/>
          <p:cNvSpPr txBox="1"/>
          <p:nvPr/>
        </p:nvSpPr>
        <p:spPr>
          <a:xfrm>
            <a:off x="1060704" y="2573451"/>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Quicksort</a:t>
            </a:r>
            <a:r>
              <a:rPr sz="2300" b="0" i="0">
                <a:solidFill>
                  <a:srgbClr val="1C252B"/>
                </a:solidFill>
                <a:latin typeface="Segoe UI"/>
              </a:rPr>
              <a:t> solves both subproblems: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Cambria"/>
              </a:rPr>
              <a:t>) = 2</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Cambria"/>
              </a:rPr>
              <a:t>/2) + </a:t>
            </a:r>
            <a:r>
              <a:rPr sz="2300" b="0" i="1">
                <a:solidFill>
                  <a:srgbClr val="1C252B"/>
                </a:solidFill>
                <a:latin typeface="Cambria"/>
              </a:rPr>
              <a:t>n</a:t>
            </a:r>
            <a:r>
              <a:rPr sz="2300" b="0" i="0">
                <a:solidFill>
                  <a:srgbClr val="1C252B"/>
                </a:solidFill>
                <a:latin typeface="Segoe UI"/>
              </a:rPr>
              <a:t>. Watershed </a:t>
            </a:r>
            <a:r>
              <a:rPr sz="2300" b="0" i="1">
                <a:solidFill>
                  <a:srgbClr val="1C252B"/>
                </a:solidFill>
                <a:latin typeface="Cambria"/>
              </a:rPr>
              <a:t>n</a:t>
            </a:r>
            <a:r>
              <a:rPr sz="1500" b="0" i="0" baseline="30000">
                <a:solidFill>
                  <a:srgbClr val="1C252B"/>
                </a:solidFill>
                <a:latin typeface="Cambria"/>
              </a:rPr>
              <a:t>log</a:t>
            </a:r>
            <a:r>
              <a:rPr sz="1500" b="0" i="0" baseline="-25000">
                <a:solidFill>
                  <a:srgbClr val="1C252B"/>
                </a:solidFill>
                <a:latin typeface="Cambria"/>
              </a:rPr>
              <a:t>2</a:t>
            </a:r>
            <a:r>
              <a:rPr sz="1500" b="0" i="0" baseline="30000">
                <a:solidFill>
                  <a:srgbClr val="1C252B"/>
                </a:solidFill>
                <a:latin typeface="Cambria"/>
              </a:rPr>
              <a:t>2</a:t>
            </a:r>
            <a:r>
              <a:rPr sz="2300" b="0" i="0">
                <a:solidFill>
                  <a:srgbClr val="1C252B"/>
                </a:solidFill>
                <a:latin typeface="Cambria"/>
              </a:rPr>
              <a:t> = </a:t>
            </a:r>
            <a:r>
              <a:rPr sz="2300" b="0" i="1">
                <a:solidFill>
                  <a:srgbClr val="1C252B"/>
                </a:solidFill>
                <a:latin typeface="Cambria"/>
              </a:rPr>
              <a:t>n</a:t>
            </a:r>
            <a:r>
              <a:rPr sz="2300" b="0" i="0">
                <a:solidFill>
                  <a:srgbClr val="1C252B"/>
                </a:solidFill>
                <a:latin typeface="Segoe UI"/>
              </a:rPr>
              <a:t>, equal to </a:t>
            </a:r>
            <a:r>
              <a:rPr sz="2300" b="0" i="1">
                <a:solidFill>
                  <a:srgbClr val="1C252B"/>
                </a:solidFill>
                <a:latin typeface="Cambria"/>
              </a:rPr>
              <a:t>f</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so </a:t>
            </a:r>
            <a:r>
              <a:rPr sz="2300" b="1" i="0">
                <a:solidFill>
                  <a:srgbClr val="1C252B"/>
                </a:solidFill>
                <a:latin typeface="Segoe UI"/>
              </a:rPr>
              <a:t>case 2</a:t>
            </a:r>
            <a:r>
              <a:rPr sz="2300" b="0" i="0">
                <a:solidFill>
                  <a:srgbClr val="1C252B"/>
                </a:solidFill>
                <a:latin typeface="Segoe UI"/>
              </a:rPr>
              <a:t> — and case 2 is the one that produces a logarithm. Result </a:t>
            </a:r>
            <a:r>
              <a:rPr sz="2300" b="0" i="0">
                <a:solidFill>
                  <a:srgbClr val="1C252B"/>
                </a:solidFill>
                <a:latin typeface="Cambria"/>
              </a:rPr>
              <a:t>Θ(</a:t>
            </a:r>
            <a:r>
              <a:rPr sz="2300" b="0" i="1">
                <a:solidFill>
                  <a:srgbClr val="1C252B"/>
                </a:solidFill>
                <a:latin typeface="Cambria"/>
              </a:rPr>
              <a:t>n</a:t>
            </a:r>
            <a:r>
              <a:rPr sz="2300" b="0" i="0">
                <a:solidFill>
                  <a:srgbClr val="1C252B"/>
                </a:solidFill>
                <a:latin typeface="Cambria"/>
              </a:rPr>
              <a:t> lg </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a:t>
            </a:r>
          </a:p>
        </p:txBody>
      </p:sp>
      <p:sp>
        <p:nvSpPr>
          <p:cNvPr id="11" name="body-2"/>
          <p:cNvSpPr txBox="1"/>
          <p:nvPr/>
        </p:nvSpPr>
        <p:spPr>
          <a:xfrm>
            <a:off x="1060704" y="3827729"/>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Quickselect</a:t>
            </a:r>
            <a:r>
              <a:rPr sz="2300" b="0" i="0">
                <a:solidFill>
                  <a:srgbClr val="1C252B"/>
                </a:solidFill>
                <a:latin typeface="Segoe UI"/>
              </a:rPr>
              <a:t> solves one: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Cambria"/>
              </a:rPr>
              <a:t>) =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Cambria"/>
              </a:rPr>
              <a:t>/2) + </a:t>
            </a:r>
            <a:r>
              <a:rPr sz="2300" b="0" i="1">
                <a:solidFill>
                  <a:srgbClr val="1C252B"/>
                </a:solidFill>
                <a:latin typeface="Cambria"/>
              </a:rPr>
              <a:t>n</a:t>
            </a:r>
            <a:r>
              <a:rPr sz="2300" b="0" i="0">
                <a:solidFill>
                  <a:srgbClr val="1C252B"/>
                </a:solidFill>
                <a:latin typeface="Segoe UI"/>
              </a:rPr>
              <a:t>. Watershed </a:t>
            </a:r>
            <a:r>
              <a:rPr sz="2300" b="0" i="1">
                <a:solidFill>
                  <a:srgbClr val="1C252B"/>
                </a:solidFill>
                <a:latin typeface="Cambria"/>
              </a:rPr>
              <a:t>n</a:t>
            </a:r>
            <a:r>
              <a:rPr sz="1500" b="0" i="0" baseline="30000">
                <a:solidFill>
                  <a:srgbClr val="1C252B"/>
                </a:solidFill>
                <a:latin typeface="Cambria"/>
              </a:rPr>
              <a:t>log</a:t>
            </a:r>
            <a:r>
              <a:rPr sz="1500" b="0" i="0" baseline="-25000">
                <a:solidFill>
                  <a:srgbClr val="1C252B"/>
                </a:solidFill>
                <a:latin typeface="Cambria"/>
              </a:rPr>
              <a:t>2</a:t>
            </a:r>
            <a:r>
              <a:rPr sz="1500" b="0" i="0" baseline="30000">
                <a:solidFill>
                  <a:srgbClr val="1C252B"/>
                </a:solidFill>
                <a:latin typeface="Cambria"/>
              </a:rPr>
              <a:t>1</a:t>
            </a:r>
            <a:r>
              <a:rPr sz="2300" b="0" i="0">
                <a:solidFill>
                  <a:srgbClr val="1C252B"/>
                </a:solidFill>
                <a:latin typeface="Cambria"/>
              </a:rPr>
              <a:t> = 1</a:t>
            </a:r>
            <a:r>
              <a:rPr sz="2300" b="0" i="0">
                <a:solidFill>
                  <a:srgbClr val="1C252B"/>
                </a:solidFill>
                <a:latin typeface="Segoe UI"/>
              </a:rPr>
              <a:t>, far below </a:t>
            </a:r>
            <a:r>
              <a:rPr sz="2300" b="0" i="1">
                <a:solidFill>
                  <a:srgbClr val="1C252B"/>
                </a:solidFill>
                <a:latin typeface="Cambria"/>
              </a:rPr>
              <a:t>f</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Cambria"/>
              </a:rPr>
              <a:t>) = </a:t>
            </a:r>
            <a:r>
              <a:rPr sz="2300" b="0" i="1">
                <a:solidFill>
                  <a:srgbClr val="1C252B"/>
                </a:solidFill>
                <a:latin typeface="Cambria"/>
              </a:rPr>
              <a:t>n</a:t>
            </a:r>
            <a:r>
              <a:rPr sz="2300" b="0" i="0">
                <a:solidFill>
                  <a:srgbClr val="1C252B"/>
                </a:solidFill>
                <a:latin typeface="Segoe UI"/>
              </a:rPr>
              <a:t>, so </a:t>
            </a:r>
            <a:r>
              <a:rPr sz="2300" b="1" i="0">
                <a:solidFill>
                  <a:srgbClr val="1C252B"/>
                </a:solidFill>
                <a:latin typeface="Segoe UI"/>
              </a:rPr>
              <a:t>case 3</a:t>
            </a:r>
            <a:r>
              <a:rPr sz="2300" b="0" i="0">
                <a:solidFill>
                  <a:srgbClr val="1C252B"/>
                </a:solidFill>
                <a:latin typeface="Segoe UI"/>
              </a:rPr>
              <a:t> — the root dominates and the sum is geometric. Result </a:t>
            </a:r>
            <a:r>
              <a:rPr sz="2300" b="0" i="0">
                <a:solidFill>
                  <a:srgbClr val="1C252B"/>
                </a:solidFill>
                <a:latin typeface="Cambria"/>
              </a:rPr>
              <a:t>Θ(</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a:t>
            </a:r>
          </a:p>
        </p:txBody>
      </p:sp>
      <p:sp>
        <p:nvSpPr>
          <p:cNvPr id="12" name="body-3"/>
          <p:cNvSpPr txBox="1"/>
          <p:nvPr/>
        </p:nvSpPr>
        <p:spPr>
          <a:xfrm>
            <a:off x="1060704" y="471746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0" i="0">
                <a:solidFill>
                  <a:srgbClr val="1C252B"/>
                </a:solidFill>
                <a:latin typeface="Cambria"/>
              </a:rPr>
              <a:t>lg </a:t>
            </a:r>
            <a:r>
              <a:rPr sz="2300" b="0" i="1">
                <a:solidFill>
                  <a:srgbClr val="1C252B"/>
                </a:solidFill>
                <a:latin typeface="Cambria"/>
              </a:rPr>
              <a:t>n</a:t>
            </a:r>
            <a:r>
              <a:rPr sz="2300" b="0" i="0">
                <a:solidFill>
                  <a:srgbClr val="1C252B"/>
                </a:solidFill>
                <a:latin typeface="Segoe UI"/>
              </a:rPr>
              <a:t> factor is not saved by cleverness. It is the number of levels in the tree, and discarding one branch collapses the tree to a path whose work halves each step: </a:t>
            </a:r>
            <a:r>
              <a:rPr sz="2300" b="0" i="1">
                <a:solidFill>
                  <a:srgbClr val="1C252B"/>
                </a:solidFill>
                <a:latin typeface="Cambria"/>
              </a:rPr>
              <a:t>n</a:t>
            </a:r>
            <a:r>
              <a:rPr sz="2300" b="0" i="0">
                <a:solidFill>
                  <a:srgbClr val="1C252B"/>
                </a:solidFill>
                <a:latin typeface="Cambria"/>
              </a:rPr>
              <a:t> + </a:t>
            </a:r>
            <a:r>
              <a:rPr sz="2300" b="0" i="1">
                <a:solidFill>
                  <a:srgbClr val="1C252B"/>
                </a:solidFill>
                <a:latin typeface="Cambria"/>
              </a:rPr>
              <a:t>n</a:t>
            </a:r>
            <a:r>
              <a:rPr sz="2300" b="0" i="0">
                <a:solidFill>
                  <a:srgbClr val="1C252B"/>
                </a:solidFill>
                <a:latin typeface="Cambria"/>
              </a:rPr>
              <a:t>/2 + </a:t>
            </a:r>
            <a:r>
              <a:rPr sz="2300" b="0" i="1">
                <a:solidFill>
                  <a:srgbClr val="1C252B"/>
                </a:solidFill>
                <a:latin typeface="Cambria"/>
              </a:rPr>
              <a:t>n</a:t>
            </a:r>
            <a:r>
              <a:rPr sz="2300" b="0" i="0">
                <a:solidFill>
                  <a:srgbClr val="1C252B"/>
                </a:solidFill>
                <a:latin typeface="Cambria"/>
              </a:rPr>
              <a:t>/4 + ⋯ &lt; 2</a:t>
            </a:r>
            <a:r>
              <a:rPr sz="2300" b="0" i="1">
                <a:solidFill>
                  <a:srgbClr val="1C252B"/>
                </a:solidFill>
                <a:latin typeface="Cambria"/>
              </a:rPr>
              <a:t>n</a:t>
            </a:r>
            <a:r>
              <a:rPr sz="2300" b="0" i="0">
                <a:solidFill>
                  <a:srgbClr val="1C252B"/>
                </a:solidFill>
                <a:latin typeface="Segoe UI"/>
              </a:rPr>
              <a:t>.</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Asking for Less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Quickselect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11.3   Measured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Linear in the Worst Case</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§11.3     </a:t>
            </a:r>
            <a:fld id="{DDE65D90-4DD7-4A58-AD44-53B41A2EF0FA}" type="slidenum">
              <a:rPr lang="en-GB" sz="1000">
                <a:solidFill>
                  <a:srgbClr val="8795A1"/>
                </a:solidFill>
                <a:latin typeface="Segoe UI"/>
              </a:rPr>
              <a:t>13</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Comparisons to Find the Median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92     </a:t>
            </a:r>
            <a:fld id="{3F50C096-360D-456B-9A04-A1282484971B}"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71644"/>
          </a:xfrm>
          <a:prstGeom prst="roundRect">
            <a:avLst>
              <a:gd name="adj" fmla="val 200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716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code/ch11_select.cpp</a:t>
            </a:r>
            <a:r>
              <a:rPr sz="1900" b="0" i="0">
                <a:solidFill>
                  <a:srgbClr val="1C252B"/>
                </a:solidFill>
                <a:latin typeface="Segoe UI"/>
              </a:rPr>
              <a:t>, mean of 25 independent runs — an </a:t>
            </a:r>
            <a:r>
              <a:rPr sz="1900" b="0" i="1">
                <a:solidFill>
                  <a:srgbClr val="1C252B"/>
                </a:solidFill>
                <a:latin typeface="Segoe UI"/>
              </a:rPr>
              <a:t>expected</a:t>
            </a:r>
            <a:r>
              <a:rPr sz="1900" b="0" i="0">
                <a:solidFill>
                  <a:srgbClr val="1C252B"/>
                </a:solidFill>
                <a:latin typeface="Segoe UI"/>
              </a:rPr>
              <a:t> value is being measured, and a single run of a randomised algorithm is not an answer.</a:t>
            </a:r>
          </a:p>
        </p:txBody>
      </p:sp>
      <p:graphicFrame>
        <p:nvGraphicFramePr>
          <p:cNvPr id="10" name="body-1"/>
          <p:cNvGraphicFramePr>
            <a:graphicFrameLocks noGrp="1"/>
          </p:cNvGraphicFramePr>
          <p:nvPr/>
        </p:nvGraphicFramePr>
        <p:xfrm>
          <a:off x="1042416" y="2746679"/>
          <a:ext cx="6270398" cy="1950720"/>
        </p:xfrm>
        <a:graphic>
          <a:graphicData uri="http://schemas.openxmlformats.org/drawingml/2006/table">
            <a:tbl>
              <a:tblPr firstRow="0" bandRow="0" firstCol="0" lastRow="0" lastCol="0" bandCol="0">
                <a:tableStyleId>{2D5ABB26-0587-4C30-8999-92F81FD0307C}</a:tableStyleId>
              </a:tblPr>
              <a:tblGrid>
                <a:gridCol w="1239706"/>
                <a:gridCol w="1487782"/>
                <a:gridCol w="636154"/>
                <a:gridCol w="1882604"/>
                <a:gridCol w="1024152"/>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comparisons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spread over runs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a:t>
                      </a:r>
                      <a:r>
                        <a:rPr sz="1600" b="1" i="0">
                          <a:solidFill>
                            <a:srgbClr val="1A5276"/>
                          </a:solidFill>
                          <a:latin typeface="Cambria"/>
                        </a:rPr>
                        <a:t> lg </a:t>
                      </a:r>
                      <a:r>
                        <a:rPr sz="1600" b="1" i="1">
                          <a:solidFill>
                            <a:srgbClr val="1A5276"/>
                          </a:solidFill>
                          <a:latin typeface="Cambria"/>
                        </a:rPr>
                        <a:t>n</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33,640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3.36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1.80–5.84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0.2532</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318,800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3.19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1.78–5.09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0.1919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1,000,000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3,344,844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3.34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2.01–5.67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0.1678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10,000,000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32,623,584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3.26</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1.91–5.60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0.1403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83011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cost per element is flat at about 3.3</a:t>
            </a:r>
            <a:r>
              <a:rPr sz="1900" b="0" i="0">
                <a:solidFill>
                  <a:srgbClr val="1C252B"/>
                </a:solidFill>
                <a:latin typeface="Segoe UI"/>
              </a:rPr>
              <a:t> across three orders of magnitude of </a:t>
            </a:r>
            <a:r>
              <a:rPr sz="1900" b="0" i="1">
                <a:solidFill>
                  <a:srgbClr val="1C252B"/>
                </a:solidFill>
                <a:latin typeface="Cambria"/>
              </a:rPr>
              <a:t>n</a:t>
            </a:r>
            <a:r>
              <a:rPr sz="1900" b="0" i="0">
                <a:solidFill>
                  <a:srgbClr val="1C252B"/>
                </a:solidFill>
                <a:latin typeface="Segoe UI"/>
              </a:rPr>
              <a:t>. That flatness </a:t>
            </a:r>
            <a:r>
              <a:rPr sz="1900" b="0" i="1">
                <a:solidFill>
                  <a:srgbClr val="1C252B"/>
                </a:solidFill>
                <a:latin typeface="Segoe UI"/>
              </a:rPr>
              <a:t>is</a:t>
            </a:r>
            <a:r>
              <a:rPr sz="1900" b="0" i="0">
                <a:solidFill>
                  <a:srgbClr val="1C252B"/>
                </a:solidFill>
                <a:latin typeface="Segoe UI"/>
              </a:rPr>
              <a:t> linearity: </a:t>
            </a:r>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means comparisons</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Segoe UI"/>
              </a:rPr>
              <a:t> is bounded, and a column that neither rises nor falls over a thousandfold range of </a:t>
            </a:r>
            <a:r>
              <a:rPr sz="1900" b="0" i="1">
                <a:solidFill>
                  <a:srgbClr val="1C252B"/>
                </a:solidFill>
                <a:latin typeface="Cambria"/>
              </a:rPr>
              <a:t>n</a:t>
            </a:r>
            <a:r>
              <a:rPr sz="1900" b="0" i="0">
                <a:solidFill>
                  <a:srgbClr val="1C252B"/>
                </a:solidFill>
                <a:latin typeface="Segoe UI"/>
              </a:rPr>
              <a:t> is the evidence. The classical expected value for median selection is </a:t>
            </a:r>
            <a:r>
              <a:rPr sz="1900" b="0" i="0">
                <a:solidFill>
                  <a:srgbClr val="1C252B"/>
                </a:solidFill>
                <a:latin typeface="Cambria"/>
              </a:rPr>
              <a:t>3.39</a:t>
            </a:r>
            <a:r>
              <a:rPr sz="1900" b="0" i="1">
                <a:solidFill>
                  <a:srgbClr val="1C252B"/>
                </a:solidFill>
                <a:latin typeface="Cambria"/>
              </a:rPr>
              <a:t>n</a:t>
            </a:r>
            <a:r>
              <a:rPr sz="1900" b="0" i="0">
                <a:solidFill>
                  <a:srgbClr val="1C252B"/>
                </a:solidFill>
                <a:latin typeface="Segoe UI"/>
              </a:rPr>
              <a:t>.</a:t>
            </a:r>
          </a:p>
        </p:txBody>
      </p:sp>
      <p:sp>
        <p:nvSpPr>
          <p:cNvPr id="12" name="body-2bar">
            <a:extLst>
              <a:ext uri="{C183D7F6-B498-43B3-948B-1728B52AA6E4}">
                <adec:decorative xmlns:adec="http://schemas.microsoft.com/office/drawing/2017/decorative" val="1"/>
              </a:ext>
            </a:extLst>
          </p:cNvPr>
          <p:cNvSpPr/>
          <p:nvPr/>
        </p:nvSpPr>
        <p:spPr>
          <a:xfrm>
            <a:off x="841248" y="484840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Comparisons to Find the Median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92     </a:t>
            </a:r>
            <a:fld id="{0BB9D62E-314A-4A1C-A8FA-941CE3E6E686}"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87067"/>
          </a:xfrm>
          <a:prstGeom prst="roundRect">
            <a:avLst>
              <a:gd name="adj" fmla="val 418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87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Meanwhile </a:t>
            </a:r>
            <a:r>
              <a:rPr sz="1900" b="1" i="0">
                <a:solidFill>
                  <a:srgbClr val="1C252B"/>
                </a:solidFill>
                <a:latin typeface="Cambria"/>
              </a:rPr>
              <a:t>/(</a:t>
            </a:r>
            <a:r>
              <a:rPr sz="1900" b="1" i="1">
                <a:solidFill>
                  <a:srgbClr val="1C252B"/>
                </a:solidFill>
                <a:latin typeface="Cambria"/>
              </a:rPr>
              <a:t>n</a:t>
            </a:r>
            <a:r>
              <a:rPr sz="1900" b="1" i="0">
                <a:solidFill>
                  <a:srgbClr val="1C252B"/>
                </a:solidFill>
                <a:latin typeface="Cambria"/>
              </a:rPr>
              <a:t> lg </a:t>
            </a:r>
            <a:r>
              <a:rPr sz="1900" b="1" i="1">
                <a:solidFill>
                  <a:srgbClr val="1C252B"/>
                </a:solidFill>
                <a:latin typeface="Cambria"/>
              </a:rPr>
              <a:t>n</a:t>
            </a:r>
            <a:r>
              <a:rPr sz="1900" b="1" i="0">
                <a:solidFill>
                  <a:srgbClr val="1C252B"/>
                </a:solidFill>
                <a:latin typeface="Cambria"/>
              </a:rPr>
              <a:t>)</a:t>
            </a:r>
            <a:r>
              <a:rPr sz="1900" b="1" i="0">
                <a:solidFill>
                  <a:srgbClr val="1C252B"/>
                </a:solidFill>
                <a:latin typeface="Segoe UI"/>
              </a:rPr>
              <a:t> falls steadily</a:t>
            </a:r>
            <a:r>
              <a:rPr sz="1900" b="0" i="0">
                <a:solidFill>
                  <a:srgbClr val="1C252B"/>
                </a:solidFill>
                <a:latin typeface="Segoe UI"/>
              </a:rPr>
              <a:t> — 0.2532 to 0.1403 — which is what a linear quantity does when divided by an </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Segoe UI"/>
              </a:rPr>
              <a:t> one.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 the spread column too.</a:t>
            </a:r>
            <a:r>
              <a:rPr sz="1900" b="0" i="0">
                <a:solidFill>
                  <a:srgbClr val="1C252B"/>
                </a:solidFill>
                <a:latin typeface="Segoe UI"/>
              </a:rPr>
              <a:t> Individual runs ranged from </a:t>
            </a:r>
            <a:r>
              <a:rPr sz="1900" b="0" i="0">
                <a:solidFill>
                  <a:srgbClr val="1C252B"/>
                </a:solidFill>
                <a:latin typeface="Cambria"/>
              </a:rPr>
              <a:t>1.8</a:t>
            </a:r>
            <a:r>
              <a:rPr sz="1900" b="0" i="1">
                <a:solidFill>
                  <a:srgbClr val="1C252B"/>
                </a:solidFill>
                <a:latin typeface="Cambria"/>
              </a:rPr>
              <a:t>n</a:t>
            </a:r>
            <a:r>
              <a:rPr sz="1900" b="0" i="0">
                <a:solidFill>
                  <a:srgbClr val="1C252B"/>
                </a:solidFill>
                <a:latin typeface="Segoe UI"/>
              </a:rPr>
              <a:t> to </a:t>
            </a:r>
            <a:r>
              <a:rPr sz="1900" b="0" i="0">
                <a:solidFill>
                  <a:srgbClr val="1C252B"/>
                </a:solidFill>
                <a:latin typeface="Cambria"/>
              </a:rPr>
              <a:t>5.8</a:t>
            </a:r>
            <a:r>
              <a:rPr sz="1900" b="0" i="1">
                <a:solidFill>
                  <a:srgbClr val="1C252B"/>
                </a:solidFill>
                <a:latin typeface="Cambria"/>
              </a:rPr>
              <a:t>n</a:t>
            </a:r>
            <a:r>
              <a:rPr sz="1900" b="0" i="0">
                <a:solidFill>
                  <a:srgbClr val="1C252B"/>
                </a:solidFill>
                <a:latin typeface="Segoe UI"/>
              </a:rPr>
              <a:t> comparisons. The expectation is 3.3; the variance is real, and a single unlucky run costs three times a lucky one. Expected-time guarantees are about the average of many runs, not about the next one.</a:t>
            </a:r>
          </a:p>
        </p:txBody>
      </p:sp>
      <p:sp>
        <p:nvSpPr>
          <p:cNvPr id="12" name="body-1bar">
            <a:extLst>
              <a:ext uri="{C183D7F6-B498-43B3-948B-1728B52AA6E4}">
                <adec:decorative xmlns:adec="http://schemas.microsoft.com/office/drawing/2017/decorative" val="1"/>
              </a:ext>
            </a:extLst>
          </p:cNvPr>
          <p:cNvSpPr/>
          <p:nvPr/>
        </p:nvSpPr>
        <p:spPr>
          <a:xfrm>
            <a:off x="841248" y="2764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Selecting Against Sorting, in Seconds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92     </a:t>
            </a:r>
            <a:fld id="{4A7B1C99-8187-459C-89AE-703EB2AE13C1}"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501"/>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5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6083801" cy="1950720"/>
        </p:xfrm>
        <a:graphic>
          <a:graphicData uri="http://schemas.openxmlformats.org/drawingml/2006/table">
            <a:tbl>
              <a:tblPr firstRow="0" bandRow="0" firstCol="0" lastRow="0" lastCol="0" bandCol="0">
                <a:tableStyleId>{2D5ABB26-0587-4C30-8999-92F81FD0307C}</a:tableStyleId>
              </a:tblPr>
              <a:tblGrid>
                <a:gridCol w="1127991"/>
                <a:gridCol w="1338364"/>
                <a:gridCol w="1434742"/>
                <a:gridCol w="1016784"/>
                <a:gridCol w="1165920"/>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quickselect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500" b="1" i="0">
                          <a:solidFill>
                            <a:srgbClr val="1A5276"/>
                          </a:solidFill>
                          <a:latin typeface="Consolas"/>
                        </a:rPr>
                        <a:t>nth_element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full sort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speed-up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0.95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6.79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6.84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7.76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6.12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61.26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7.89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3,200,000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29.94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29.76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284.57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9.50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6,400,000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62.83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64.42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584.80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9.31</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42416" y="409511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Selection beats sorting by 7–9.5</a:t>
            </a:r>
            <a:r>
              <a:rPr sz="1900" b="1" i="0">
                <a:solidFill>
                  <a:srgbClr val="1C252B"/>
                </a:solidFill>
                <a:latin typeface="Cambria"/>
              </a:rPr>
              <a:t>×</a:t>
            </a:r>
            <a:r>
              <a:rPr sz="1900" b="1" i="0">
                <a:solidFill>
                  <a:srgbClr val="1C252B"/>
                </a:solidFill>
                <a:latin typeface="Segoe UI"/>
              </a:rPr>
              <a:t>, and the factor grows</a:t>
            </a:r>
            <a:r>
              <a:rPr sz="1900" b="0" i="0">
                <a:solidFill>
                  <a:srgbClr val="1C252B"/>
                </a:solidFill>
                <a:latin typeface="Segoe UI"/>
              </a:rPr>
              <a:t> with </a:t>
            </a:r>
            <a:r>
              <a:rPr sz="1900" b="0" i="1">
                <a:solidFill>
                  <a:srgbClr val="1C252B"/>
                </a:solidFill>
                <a:latin typeface="Cambria"/>
              </a:rPr>
              <a:t>n</a:t>
            </a:r>
            <a:r>
              <a:rPr sz="1900" b="0" i="0">
                <a:solidFill>
                  <a:srgbClr val="1C252B"/>
                </a:solidFill>
                <a:latin typeface="Segoe UI"/>
              </a:rPr>
              <a:t>, because it is essentially </a:t>
            </a:r>
            <a:r>
              <a:rPr sz="1900" b="0" i="0">
                <a:solidFill>
                  <a:srgbClr val="1C252B"/>
                </a:solidFill>
                <a:latin typeface="Cambria"/>
              </a:rPr>
              <a:t>lg </a:t>
            </a:r>
            <a:r>
              <a:rPr sz="1900" b="0" i="1">
                <a:solidFill>
                  <a:srgbClr val="1C252B"/>
                </a:solidFill>
                <a:latin typeface="Cambria"/>
              </a:rPr>
              <a:t>n</a:t>
            </a:r>
            <a:r>
              <a:rPr sz="1900" b="0" i="0">
                <a:solidFill>
                  <a:srgbClr val="1C252B"/>
                </a:solidFill>
                <a:latin typeface="Segoe UI"/>
              </a:rPr>
              <a:t> divided by a constant.</a:t>
            </a:r>
          </a:p>
        </p:txBody>
      </p:sp>
      <p:sp>
        <p:nvSpPr>
          <p:cNvPr id="11" name="body-1bar">
            <a:extLst>
              <a:ext uri="{C183D7F6-B498-43B3-948B-1728B52AA6E4}">
                <adec:decorative xmlns:adec="http://schemas.microsoft.com/office/drawing/2017/decorative" val="1"/>
              </a:ext>
            </a:extLst>
          </p:cNvPr>
          <p:cNvSpPr/>
          <p:nvPr/>
        </p:nvSpPr>
        <p:spPr>
          <a:xfrm>
            <a:off x="841248" y="411340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83011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hand-written quickselect matches </a:t>
            </a:r>
            <a:r>
              <a:rPr sz="1800" b="1" i="0">
                <a:solidFill>
                  <a:srgbClr val="1F4E79"/>
                </a:solidFill>
                <a:latin typeface="Consolas"/>
              </a:rPr>
              <a:t>std::nth_element</a:t>
            </a:r>
            <a:r>
              <a:rPr sz="1900" b="0" i="0">
                <a:solidFill>
                  <a:srgbClr val="1C252B"/>
                </a:solidFill>
                <a:latin typeface="Segoe UI"/>
              </a:rPr>
              <a:t> — within a few per cent either way. The library version is introselect, which adds a median-of-medians fallback for the worst case; on random data that fallback never fires, so the two are doing the same work.</a:t>
            </a:r>
          </a:p>
        </p:txBody>
      </p:sp>
      <p:sp>
        <p:nvSpPr>
          <p:cNvPr id="13" name="body-2bar">
            <a:extLst>
              <a:ext uri="{C183D7F6-B498-43B3-948B-1728B52AA6E4}">
                <adec:decorative xmlns:adec="http://schemas.microsoft.com/office/drawing/2017/decorative" val="1"/>
              </a:ext>
            </a:extLst>
          </p:cNvPr>
          <p:cNvSpPr/>
          <p:nvPr/>
        </p:nvSpPr>
        <p:spPr>
          <a:xfrm>
            <a:off x="841248" y="484840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2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right)">
                                      <p:cBhvr>
                                        <p:cTn id="16" dur="42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Worst Case, and What It Costs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92     </a:t>
            </a:r>
            <a:fld id="{6B2BC742-74E9-448E-A213-CD97F1562493}"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69359"/>
          </a:xfrm>
          <a:prstGeom prst="roundRect">
            <a:avLst>
              <a:gd name="adj" fmla="val 230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693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last-element pivot on already-sorted input, selecting the median:</a:t>
            </a:r>
          </a:p>
        </p:txBody>
      </p:sp>
      <p:graphicFrame>
        <p:nvGraphicFramePr>
          <p:cNvPr id="10" name="body-1"/>
          <p:cNvGraphicFramePr>
            <a:graphicFrameLocks noGrp="1"/>
          </p:cNvGraphicFramePr>
          <p:nvPr/>
        </p:nvGraphicFramePr>
        <p:xfrm>
          <a:off x="1042416" y="2445537"/>
          <a:ext cx="6104706" cy="1950720"/>
        </p:xfrm>
        <a:graphic>
          <a:graphicData uri="http://schemas.openxmlformats.org/drawingml/2006/table">
            <a:tbl>
              <a:tblPr firstRow="0" bandRow="0" firstCol="0" lastRow="0" lastCol="0" bandCol="0">
                <a:tableStyleId>{2D5ABB26-0587-4C30-8999-92F81FD0307C}</a:tableStyleId>
              </a:tblPr>
              <a:tblGrid>
                <a:gridCol w="859584"/>
                <a:gridCol w="2065187"/>
                <a:gridCol w="959427"/>
                <a:gridCol w="1584354"/>
                <a:gridCol w="636154"/>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naive comparisons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a:t>
                      </a:r>
                      <a:r>
                        <a:rPr sz="1050" b="1" i="0" baseline="30000">
                          <a:solidFill>
                            <a:srgbClr val="1A5276"/>
                          </a:solidFill>
                          <a:latin typeface="Cambria"/>
                        </a:rPr>
                        <a:t>2</a:t>
                      </a:r>
                      <a:r>
                        <a:rPr sz="1600" b="1" i="0">
                          <a:solidFill>
                            <a:srgbClr val="1A5276"/>
                          </a:solidFill>
                          <a:latin typeface="Cambria"/>
                        </a:rPr>
                        <a:t>/2)</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random pivot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1,499,500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0.7498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9,402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4.70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23,998,000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0.7499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18,914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2.36</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95,996,000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0.7500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67,744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4.23</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32,000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383,992,000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0.7500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137,461</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4.30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52897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naive count is </a:t>
            </a:r>
            <a:r>
              <a:rPr sz="1900" b="1" i="0">
                <a:solidFill>
                  <a:srgbClr val="1C252B"/>
                </a:solidFill>
                <a:latin typeface="Cambria"/>
              </a:rPr>
              <a:t>0.7500 × </a:t>
            </a:r>
            <a:r>
              <a:rPr sz="1900" b="1" i="1">
                <a:solidFill>
                  <a:srgbClr val="1C252B"/>
                </a:solidFill>
                <a:latin typeface="Cambria"/>
              </a:rPr>
              <a:t>n</a:t>
            </a:r>
            <a:r>
              <a:rPr sz="1250" b="1" i="0" baseline="30000">
                <a:solidFill>
                  <a:srgbClr val="1C252B"/>
                </a:solidFill>
                <a:latin typeface="Cambria"/>
              </a:rPr>
              <a:t>2</a:t>
            </a:r>
            <a:r>
              <a:rPr sz="1900" b="1" i="0">
                <a:solidFill>
                  <a:srgbClr val="1C252B"/>
                </a:solidFill>
                <a:latin typeface="Cambria"/>
              </a:rPr>
              <a:t>/2 = 3</a:t>
            </a:r>
            <a:r>
              <a:rPr sz="1900" b="1" i="1">
                <a:solidFill>
                  <a:srgbClr val="1C252B"/>
                </a:solidFill>
                <a:latin typeface="Cambria"/>
              </a:rPr>
              <a:t>n</a:t>
            </a:r>
            <a:r>
              <a:rPr sz="1250" b="1" i="0" baseline="30000">
                <a:solidFill>
                  <a:srgbClr val="1C252B"/>
                </a:solidFill>
                <a:latin typeface="Cambria"/>
              </a:rPr>
              <a:t>2</a:t>
            </a:r>
            <a:r>
              <a:rPr sz="1900" b="1" i="0">
                <a:solidFill>
                  <a:srgbClr val="1C252B"/>
                </a:solidFill>
                <a:latin typeface="Cambria"/>
              </a:rPr>
              <a:t>/8</a:t>
            </a:r>
            <a:r>
              <a:rPr sz="1900" b="1" i="0">
                <a:solidFill>
                  <a:srgbClr val="1C252B"/>
                </a:solidFill>
                <a:latin typeface="Segoe UI"/>
              </a:rPr>
              <a:t> exactly</a:t>
            </a:r>
            <a:r>
              <a:rPr sz="1900" b="0" i="0">
                <a:solidFill>
                  <a:srgbClr val="1C252B"/>
                </a:solidFill>
                <a:latin typeface="Segoe UI"/>
              </a:rPr>
              <a:t>, and that number can be derived. On sorted input the last-element pivot is always the largest, so the range shrinks from the top by one each time. To reach the median the range must fall from </a:t>
            </a:r>
            <a:r>
              <a:rPr sz="1900" b="0" i="1">
                <a:solidFill>
                  <a:srgbClr val="1C252B"/>
                </a:solidFill>
                <a:latin typeface="Cambria"/>
              </a:rPr>
              <a:t>n</a:t>
            </a:r>
            <a:r>
              <a:rPr sz="1900" b="0" i="0">
                <a:solidFill>
                  <a:srgbClr val="1C252B"/>
                </a:solidFill>
                <a:latin typeface="Segoe UI"/>
              </a:rPr>
              <a:t> to </a:t>
            </a:r>
            <a:r>
              <a:rPr sz="1900" b="0" i="1">
                <a:solidFill>
                  <a:srgbClr val="1C252B"/>
                </a:solidFill>
                <a:latin typeface="Cambria"/>
              </a:rPr>
              <a:t>n</a:t>
            </a:r>
            <a:r>
              <a:rPr sz="1900" b="0" i="0">
                <a:solidFill>
                  <a:srgbClr val="1C252B"/>
                </a:solidFill>
                <a:latin typeface="Cambria"/>
              </a:rPr>
              <a:t>/2</a:t>
            </a:r>
            <a:r>
              <a:rPr sz="1900" b="0" i="0">
                <a:solidFill>
                  <a:srgbClr val="1C252B"/>
                </a:solidFill>
                <a:latin typeface="Segoe UI"/>
              </a:rPr>
              <a:t>, costing</a:t>
            </a:r>
          </a:p>
        </p:txBody>
      </p:sp>
      <p:sp>
        <p:nvSpPr>
          <p:cNvPr id="12" name="body-2bar">
            <a:extLst>
              <a:ext uri="{C183D7F6-B498-43B3-948B-1728B52AA6E4}">
                <adec:decorative xmlns:adec="http://schemas.microsoft.com/office/drawing/2017/decorative" val="1"/>
              </a:ext>
            </a:extLst>
          </p:cNvPr>
          <p:cNvSpPr/>
          <p:nvPr/>
        </p:nvSpPr>
        <p:spPr>
          <a:xfrm>
            <a:off x="841248" y="454726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Worst Case, and What It Costs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92     </a:t>
            </a:r>
            <a:fld id="{35877F73-2D66-422E-8088-636D6DFBCBFF}"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09661"/>
          </a:xfrm>
          <a:prstGeom prst="roundRect">
            <a:avLst>
              <a:gd name="adj" fmla="val 314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0966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n + (n-1) + \cdots + \frac{n}{2} \;=\; \frac{(n + n/2)}{2}\cdot\frac{n}{2} \;=\; \frac{3n^{2}}{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89879"/>
          </a:xfrm>
          <a:prstGeom prst="rect">
            <a:avLst/>
          </a:prstGeom>
        </p:spPr>
      </p:pic>
      <p:sp>
        <p:nvSpPr>
          <p:cNvPr id="10" name="body-1"/>
          <p:cNvSpPr txBox="1"/>
          <p:nvPr/>
        </p:nvSpPr>
        <p:spPr>
          <a:xfrm>
            <a:off x="1042416" y="273427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Measured </a:t>
            </a:r>
            <a:r>
              <a:rPr sz="1900" b="0" i="0">
                <a:solidFill>
                  <a:srgbClr val="1C252B"/>
                </a:solidFill>
                <a:latin typeface="Cambria"/>
              </a:rPr>
              <a:t>0.7500</a:t>
            </a:r>
            <a:r>
              <a:rPr sz="1900" b="0" i="0">
                <a:solidFill>
                  <a:srgbClr val="1C252B"/>
                </a:solidFill>
                <a:latin typeface="Segoe UI"/>
              </a:rPr>
              <a:t>, predicted </a:t>
            </a:r>
            <a:r>
              <a:rPr sz="1900" b="0" i="0">
                <a:solidFill>
                  <a:srgbClr val="1C252B"/>
                </a:solidFill>
                <a:latin typeface="Cambria"/>
              </a:rPr>
              <a:t>0.75</a:t>
            </a:r>
            <a:r>
              <a:rPr sz="1900" b="0" i="0">
                <a:solidFill>
                  <a:srgbClr val="1C252B"/>
                </a:solidFill>
                <a:latin typeface="Segoe UI"/>
              </a:rPr>
              <a:t>. The analysis is not approximately right; it is right.</a:t>
            </a:r>
          </a:p>
        </p:txBody>
      </p:sp>
      <p:sp>
        <p:nvSpPr>
          <p:cNvPr id="11" name="body-2"/>
          <p:cNvSpPr txBox="1"/>
          <p:nvPr/>
        </p:nvSpPr>
        <p:spPr>
          <a:xfrm>
            <a:off x="1042416" y="3168131"/>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One difference from Chapter 9 worth noting.</a:t>
            </a:r>
            <a:r>
              <a:rPr sz="1900" b="0" i="0">
                <a:solidFill>
                  <a:srgbClr val="1C252B"/>
                </a:solidFill>
                <a:latin typeface="Segoe UI"/>
              </a:rPr>
              <a:t> There the same input caused a </a:t>
            </a:r>
            <a:r>
              <a:rPr sz="1900" b="0" i="1">
                <a:solidFill>
                  <a:srgbClr val="1C252B"/>
                </a:solidFill>
                <a:latin typeface="Segoe UI"/>
              </a:rPr>
              <a:t>crash</a:t>
            </a:r>
            <a:r>
              <a:rPr sz="1900" b="0" i="0">
                <a:solidFill>
                  <a:srgbClr val="1C252B"/>
                </a:solidFill>
                <a:latin typeface="Segoe UI"/>
              </a:rPr>
              <a:t>, because the recursion was </a:t>
            </a:r>
            <a:r>
              <a:rPr sz="1900" b="0" i="1">
                <a:solidFill>
                  <a:srgbClr val="1C252B"/>
                </a:solidFill>
                <a:latin typeface="Cambria"/>
              </a:rPr>
              <a:t>n</a:t>
            </a:r>
            <a:r>
              <a:rPr sz="1900" b="0" i="0">
                <a:solidFill>
                  <a:srgbClr val="1C252B"/>
                </a:solidFill>
                <a:latin typeface="Segoe UI"/>
              </a:rPr>
              <a:t> deep. Here Quickselect is written as a loop, so the worst case is merely slow. Writing a tail call as a loop did not fix the algorithm — it is still quadratic — but it converted a crash into a performance problem, which is a real improvement in its own right.</a:t>
            </a:r>
          </a:p>
        </p:txBody>
      </p:sp>
      <p:sp>
        <p:nvSpPr>
          <p:cNvPr id="12" name="body-2bar">
            <a:extLst>
              <a:ext uri="{C183D7F6-B498-43B3-948B-1728B52AA6E4}">
                <adec:decorative xmlns:adec="http://schemas.microsoft.com/office/drawing/2017/decorative" val="1"/>
              </a:ext>
            </a:extLst>
          </p:cNvPr>
          <p:cNvSpPr/>
          <p:nvPr/>
        </p:nvSpPr>
        <p:spPr>
          <a:xfrm>
            <a:off x="841248" y="3186419"/>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k Matter?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92     </a:t>
            </a:r>
            <a:fld id="{8B030091-7B3E-4913-AB4C-0D1C11242619}"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13505"/>
          </a:xfrm>
          <a:prstGeom prst="roundRect">
            <a:avLst>
              <a:gd name="adj" fmla="val 246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135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Mean of 25 runs, </a:t>
            </a:r>
            <a:r>
              <a:rPr sz="1900" b="0" i="1">
                <a:solidFill>
                  <a:srgbClr val="1C252B"/>
                </a:solidFill>
                <a:latin typeface="Cambria"/>
              </a:rPr>
              <a:t>n</a:t>
            </a:r>
            <a:r>
              <a:rPr sz="1900" b="0" i="0">
                <a:solidFill>
                  <a:srgbClr val="1C252B"/>
                </a:solidFill>
                <a:latin typeface="Cambria"/>
              </a:rPr>
              <a:t> = 1,000,000</a:t>
            </a:r>
            <a:r>
              <a:rPr sz="1900" b="0" i="0">
                <a:solidFill>
                  <a:srgbClr val="1C252B"/>
                </a:solidFill>
                <a:latin typeface="Segoe UI"/>
              </a:rPr>
              <a:t>:</a:t>
            </a:r>
          </a:p>
        </p:txBody>
      </p:sp>
      <p:graphicFrame>
        <p:nvGraphicFramePr>
          <p:cNvPr id="10" name="body-1"/>
          <p:cNvGraphicFramePr>
            <a:graphicFrameLocks noGrp="1"/>
          </p:cNvGraphicFramePr>
          <p:nvPr/>
        </p:nvGraphicFramePr>
        <p:xfrm>
          <a:off x="1042416" y="2445537"/>
          <a:ext cx="2760090" cy="2731008"/>
        </p:xfrm>
        <a:graphic>
          <a:graphicData uri="http://schemas.openxmlformats.org/drawingml/2006/table">
            <a:tbl>
              <a:tblPr firstRow="0" bandRow="0" firstCol="0" lastRow="0" lastCol="0" bandCol="0">
                <a:tableStyleId>{2D5ABB26-0587-4C30-8999-92F81FD0307C}</a:tableStyleId>
              </a:tblPr>
              <a:tblGrid>
                <a:gridCol w="636154"/>
                <a:gridCol w="1487782"/>
                <a:gridCol w="636154"/>
              </a:tblGrid>
              <a:tr h="390144">
                <a:tc>
                  <a:txBody>
                    <a:bodyPr wrap="square"/>
                    <a:lstStyle/>
                    <a:p>
                      <a:pPr algn="r"/>
                      <a:r>
                        <a:rPr sz="1600" b="1" i="1">
                          <a:solidFill>
                            <a:srgbClr val="1A5276"/>
                          </a:solidFill>
                          <a:latin typeface="Cambria"/>
                        </a:rPr>
                        <a:t>k</a:t>
                      </a:r>
                      <a:r>
                        <a:rPr sz="1600" b="1" i="0">
                          <a:solidFill>
                            <a:srgbClr val="1A5276"/>
                          </a:solidFill>
                          <a:latin typeface="Cambria"/>
                        </a:rPr>
                        <a:t>/</a:t>
                      </a: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comparisons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2,124,066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2.12</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0.10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2,615,691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2.62</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0.25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3,622,715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3.62</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0.50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2,992,344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2.99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0.99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1,911,099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1,945,088</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1.95</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k Matter?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92     </a:t>
            </a:r>
            <a:fld id="{4F8B9EC0-7E5C-41DD-B381-E308B2F74D86}"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5494"/>
          </a:xfrm>
          <a:prstGeom prst="roundRect">
            <a:avLst>
              <a:gd name="adj" fmla="val 23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5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ends are cheaper than the middle</a:t>
            </a:r>
            <a:r>
              <a:rPr sz="1900" b="0" i="0">
                <a:solidFill>
                  <a:srgbClr val="1C252B"/>
                </a:solidFill>
                <a:latin typeface="Segoe UI"/>
              </a:rPr>
              <a:t> — about </a:t>
            </a:r>
            <a:r>
              <a:rPr sz="1900" b="0" i="0">
                <a:solidFill>
                  <a:srgbClr val="1C252B"/>
                </a:solidFill>
                <a:latin typeface="Cambria"/>
              </a:rPr>
              <a:t>2</a:t>
            </a:r>
            <a:r>
              <a:rPr sz="1900" b="0" i="1">
                <a:solidFill>
                  <a:srgbClr val="1C252B"/>
                </a:solidFill>
                <a:latin typeface="Cambria"/>
              </a:rPr>
              <a:t>n</a:t>
            </a:r>
            <a:r>
              <a:rPr sz="1900" b="0" i="0">
                <a:solidFill>
                  <a:srgbClr val="1C252B"/>
                </a:solidFill>
                <a:latin typeface="Segoe UI"/>
              </a:rPr>
              <a:t> for the minimum or maximum against about </a:t>
            </a:r>
            <a:r>
              <a:rPr sz="1900" b="0" i="0">
                <a:solidFill>
                  <a:srgbClr val="1C252B"/>
                </a:solidFill>
                <a:latin typeface="Cambria"/>
              </a:rPr>
              <a:t>3</a:t>
            </a:r>
            <a:r>
              <a:rPr sz="1900" b="0" i="1">
                <a:solidFill>
                  <a:srgbClr val="1C252B"/>
                </a:solidFill>
                <a:latin typeface="Cambria"/>
              </a:rPr>
              <a:t>n</a:t>
            </a:r>
            <a:r>
              <a:rPr sz="1900" b="0" i="0">
                <a:solidFill>
                  <a:srgbClr val="1C252B"/>
                </a:solidFill>
                <a:latin typeface="Segoe UI"/>
              </a:rPr>
              <a:t> for the median — but not dramatically so, and the variation is less than a factor of two.</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reason is a floor nothing can remove:</a:t>
            </a:r>
            <a:r>
              <a:rPr sz="1900" b="0" i="0">
                <a:solidFill>
                  <a:srgbClr val="1C252B"/>
                </a:solidFill>
                <a:latin typeface="Segoe UI"/>
              </a:rPr>
              <a:t> the </a:t>
            </a:r>
            <a:r>
              <a:rPr sz="1900" b="0" i="1">
                <a:solidFill>
                  <a:srgbClr val="1C252B"/>
                </a:solidFill>
                <a:latin typeface="Segoe UI"/>
              </a:rPr>
              <a:t>first</a:t>
            </a:r>
            <a:r>
              <a:rPr sz="1900" b="0" i="0">
                <a:solidFill>
                  <a:srgbClr val="1C252B"/>
                </a:solidFill>
                <a:latin typeface="Segoe UI"/>
              </a:rPr>
              <a:t> partition examines all </a:t>
            </a:r>
            <a:r>
              <a:rPr sz="1900" b="0" i="1">
                <a:solidFill>
                  <a:srgbClr val="1C252B"/>
                </a:solidFill>
                <a:latin typeface="Cambria"/>
              </a:rPr>
              <a:t>n</a:t>
            </a:r>
            <a:r>
              <a:rPr sz="1900" b="0" i="0">
                <a:solidFill>
                  <a:srgbClr val="1C252B"/>
                </a:solidFill>
                <a:latin typeface="Segoe UI"/>
              </a:rPr>
              <a:t> elements whatever </a:t>
            </a:r>
            <a:r>
              <a:rPr sz="1900" b="0" i="1">
                <a:solidFill>
                  <a:srgbClr val="1C252B"/>
                </a:solidFill>
                <a:latin typeface="Cambria"/>
              </a:rPr>
              <a:t>k</a:t>
            </a:r>
            <a:r>
              <a:rPr sz="1900" b="0" i="0">
                <a:solidFill>
                  <a:srgbClr val="1C252B"/>
                </a:solidFill>
                <a:latin typeface="Segoe UI"/>
              </a:rPr>
              <a:t> is. Even finding the minimum by quickselect costs at least </a:t>
            </a:r>
            <a:r>
              <a:rPr sz="1900" b="0" i="1">
                <a:solidFill>
                  <a:srgbClr val="1C252B"/>
                </a:solidFill>
                <a:latin typeface="Cambria"/>
              </a:rPr>
              <a:t>n</a:t>
            </a:r>
            <a:r>
              <a:rPr sz="1900" b="0" i="0">
                <a:solidFill>
                  <a:srgbClr val="1C252B"/>
                </a:solidFill>
                <a:latin typeface="Segoe UI"/>
              </a:rPr>
              <a:t> comparisons in that first pass, and the remaining passes add about another </a:t>
            </a:r>
            <a:r>
              <a:rPr sz="1900" b="0" i="1">
                <a:solidFill>
                  <a:srgbClr val="1C252B"/>
                </a:solidFill>
                <a:latin typeface="Cambria"/>
              </a:rPr>
              <a:t>n</a:t>
            </a:r>
            <a:r>
              <a:rPr sz="1900" b="0" i="0">
                <a:solidFill>
                  <a:srgbClr val="1C252B"/>
                </a:solidFill>
                <a:latin typeface="Segoe UI"/>
              </a:rPr>
              <a:t>. So the answer to “is it cheaper to find the 10th smallest than the median?” is yes, by about a third — not by the factor people expect.</a:t>
            </a:r>
          </a:p>
        </p:txBody>
      </p:sp>
      <p:sp>
        <p:nvSpPr>
          <p:cNvPr id="12" name="body-1bar">
            <a:extLst>
              <a:ext uri="{C183D7F6-B498-43B3-948B-1728B52AA6E4}">
                <adec:decorative xmlns:adec="http://schemas.microsoft.com/office/drawing/2017/decorative" val="1"/>
              </a:ext>
            </a:extLst>
          </p:cNvPr>
          <p:cNvSpPr/>
          <p:nvPr/>
        </p:nvSpPr>
        <p:spPr>
          <a:xfrm>
            <a:off x="841248" y="3066110"/>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68624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minimum specifically, a single sweep costs exactly </a:t>
            </a:r>
            <a:r>
              <a:rPr sz="1900" b="0" i="1">
                <a:solidFill>
                  <a:srgbClr val="1C252B"/>
                </a:solidFill>
                <a:latin typeface="Cambria"/>
              </a:rPr>
              <a:t>n</a:t>
            </a:r>
            <a:r>
              <a:rPr sz="1900" b="0" i="0">
                <a:solidFill>
                  <a:srgbClr val="1C252B"/>
                </a:solidFill>
                <a:latin typeface="Cambria"/>
              </a:rPr>
              <a:t>−1</a:t>
            </a:r>
            <a:r>
              <a:rPr sz="1900" b="0" i="0">
                <a:solidFill>
                  <a:srgbClr val="1C252B"/>
                </a:solidFill>
                <a:latin typeface="Segoe UI"/>
              </a:rPr>
              <a:t> comparisons and is the obvious choice. Quickselect is for the cases a sweep cannot do.)</a:t>
            </a: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right)">
                                      <p:cBhvr>
                                        <p:cTn id="2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Linear in the Worst Case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Asking for Less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Quickselect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Measured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11.4   Linear in the Worst Case</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§11.4     </a:t>
            </a:r>
            <a:fld id="{9AB44A3F-46AF-45F5-AAFC-DBEEE3ACB626}" type="slidenum">
              <a:rPr lang="en-GB" sz="1000">
                <a:solidFill>
                  <a:srgbClr val="8795A1"/>
                </a:solidFill>
                <a:latin typeface="Segoe UI"/>
              </a:rPr>
              <a:t>21</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Median of medians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7B54C8FB-75A2-434B-9CCE-A57653AE0C9A}"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78403"/>
          </a:xfrm>
          <a:prstGeom prst="roundRect">
            <a:avLst>
              <a:gd name="adj" fmla="val 270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7840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To partition well you need a good pivot. To find a good pivot you could find the median — but that is the problem you are trying to solve. The way out is to find a pivot that is merely </a:t>
            </a:r>
            <a:r>
              <a:rPr sz="2100" b="0" i="1">
                <a:solidFill>
                  <a:srgbClr val="1C252B"/>
                </a:solidFill>
                <a:latin typeface="Segoe UI"/>
              </a:rPr>
              <a:t>guaranteed decent</a:t>
            </a:r>
            <a:r>
              <a:rPr sz="2100" b="0" i="0">
                <a:solidFill>
                  <a:srgbClr val="1C252B"/>
                </a:solidFill>
                <a:latin typeface="Segoe UI"/>
              </a:rPr>
              <a:t>, recursively.</a:t>
            </a:r>
          </a:p>
        </p:txBody>
      </p:sp>
      <p:sp>
        <p:nvSpPr>
          <p:cNvPr id="10" name="body-1"/>
          <p:cNvSpPr txBox="1"/>
          <p:nvPr/>
        </p:nvSpPr>
        <p:spPr>
          <a:xfrm>
            <a:off x="1060704" y="3193465"/>
            <a:ext cx="10161727" cy="1657121"/>
          </a:xfrm>
          <a:prstGeom prst="rect">
            <a:avLst/>
          </a:prstGeom>
          <a:noFill/>
        </p:spPr>
        <p:txBody>
          <a:bodyPr wrap="square" anchor="t" lIns="0" rIns="0" tIns="0" bIns="0">
            <a:noAutofit/>
          </a:bodyPr>
          <a:lstStyle/>
          <a:p>
            <a:pPr algn="l" marL="506575" indent="-506575">
              <a:lnSpc>
                <a:spcPct val="104000"/>
              </a:lnSpc>
              <a:spcBef>
                <a:spcPts val="0"/>
              </a:spcBef>
              <a:spcAft>
                <a:spcPts val="735"/>
              </a:spcAft>
            </a:pPr>
            <a:r>
              <a:rPr sz="2100" b="1">
                <a:solidFill>
                  <a:srgbClr val="1F618D"/>
                </a:solidFill>
                <a:latin typeface="Segoe UI"/>
              </a:rPr>
              <a:t>1.	</a:t>
            </a:r>
            <a:r>
              <a:rPr sz="2100" b="0" i="0">
                <a:solidFill>
                  <a:srgbClr val="1C252B"/>
                </a:solidFill>
                <a:latin typeface="Segoe UI"/>
              </a:rPr>
              <a:t>Divide the </a:t>
            </a:r>
            <a:r>
              <a:rPr sz="2100" b="0" i="1">
                <a:solidFill>
                  <a:srgbClr val="1C252B"/>
                </a:solidFill>
                <a:latin typeface="Cambria"/>
              </a:rPr>
              <a:t>n</a:t>
            </a:r>
            <a:r>
              <a:rPr sz="2100" b="0" i="0">
                <a:solidFill>
                  <a:srgbClr val="1C252B"/>
                </a:solidFill>
                <a:latin typeface="Segoe UI"/>
              </a:rPr>
              <a:t> elements into </a:t>
            </a:r>
            <a:r>
              <a:rPr sz="2100" b="0" i="0">
                <a:solidFill>
                  <a:srgbClr val="1C252B"/>
                </a:solidFill>
                <a:latin typeface="Cambria"/>
              </a:rPr>
              <a:t>⌈ </a:t>
            </a:r>
            <a:r>
              <a:rPr sz="2100" b="0" i="1">
                <a:solidFill>
                  <a:srgbClr val="1C252B"/>
                </a:solidFill>
                <a:latin typeface="Cambria"/>
              </a:rPr>
              <a:t>n</a:t>
            </a:r>
            <a:r>
              <a:rPr sz="2100" b="0" i="0">
                <a:solidFill>
                  <a:srgbClr val="1C252B"/>
                </a:solidFill>
                <a:latin typeface="Cambria"/>
              </a:rPr>
              <a:t>/5 ⌉</a:t>
            </a:r>
            <a:r>
              <a:rPr sz="2100" b="0" i="0">
                <a:solidFill>
                  <a:srgbClr val="1C252B"/>
                </a:solidFill>
                <a:latin typeface="Segoe UI"/>
              </a:rPr>
              <a:t> groups of 5.</a:t>
            </a:r>
          </a:p>
          <a:p>
            <a:pPr algn="l" marL="506575" indent="-506575">
              <a:lnSpc>
                <a:spcPct val="104000"/>
              </a:lnSpc>
              <a:spcBef>
                <a:spcPts val="0"/>
              </a:spcBef>
              <a:spcAft>
                <a:spcPts val="735"/>
              </a:spcAft>
            </a:pPr>
            <a:r>
              <a:rPr sz="2100" b="1">
                <a:solidFill>
                  <a:srgbClr val="1F618D"/>
                </a:solidFill>
                <a:latin typeface="Segoe UI"/>
              </a:rPr>
              <a:t>2.	</a:t>
            </a:r>
            <a:r>
              <a:rPr sz="2100" b="0" i="0">
                <a:solidFill>
                  <a:srgbClr val="1C252B"/>
                </a:solidFill>
                <a:latin typeface="Segoe UI"/>
              </a:rPr>
              <a:t>Find each group’s median by sorting 5 elements — </a:t>
            </a:r>
            <a:r>
              <a:rPr sz="2100" b="0" i="0">
                <a:solidFill>
                  <a:srgbClr val="1C252B"/>
                </a:solidFill>
                <a:latin typeface="Cambria"/>
              </a:rPr>
              <a:t>O(1)</a:t>
            </a:r>
            <a:r>
              <a:rPr sz="2100" b="0" i="0">
                <a:solidFill>
                  <a:srgbClr val="1C252B"/>
                </a:solidFill>
                <a:latin typeface="Segoe UI"/>
              </a:rPr>
              <a:t> each, </a:t>
            </a:r>
            <a:r>
              <a:rPr sz="2100" b="0" i="0">
                <a:solidFill>
                  <a:srgbClr val="1C252B"/>
                </a:solidFill>
                <a:latin typeface="Cambria"/>
              </a:rPr>
              <a:t>O(</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in total.</a:t>
            </a:r>
          </a:p>
          <a:p>
            <a:pPr algn="l" marL="506575" indent="-506575">
              <a:lnSpc>
                <a:spcPct val="104000"/>
              </a:lnSpc>
              <a:spcBef>
                <a:spcPts val="0"/>
              </a:spcBef>
              <a:spcAft>
                <a:spcPts val="735"/>
              </a:spcAft>
            </a:pPr>
            <a:r>
              <a:rPr sz="2100" b="1">
                <a:solidFill>
                  <a:srgbClr val="1F618D"/>
                </a:solidFill>
                <a:latin typeface="Segoe UI"/>
              </a:rPr>
              <a:t>3.	</a:t>
            </a:r>
            <a:r>
              <a:rPr sz="2100" b="1" i="0">
                <a:solidFill>
                  <a:srgbClr val="1F618D"/>
                </a:solidFill>
                <a:latin typeface="Segoe UI"/>
              </a:rPr>
              <a:t>Recursively select</a:t>
            </a:r>
            <a:r>
              <a:rPr sz="2100" b="0" i="0">
                <a:solidFill>
                  <a:srgbClr val="1C252B"/>
                </a:solidFill>
                <a:latin typeface="Segoe UI"/>
              </a:rPr>
              <a:t> the median of those </a:t>
            </a:r>
            <a:r>
              <a:rPr sz="2100" b="0" i="0">
                <a:solidFill>
                  <a:srgbClr val="1C252B"/>
                </a:solidFill>
                <a:latin typeface="Cambria"/>
              </a:rPr>
              <a:t>⌈ </a:t>
            </a:r>
            <a:r>
              <a:rPr sz="2100" b="0" i="1">
                <a:solidFill>
                  <a:srgbClr val="1C252B"/>
                </a:solidFill>
                <a:latin typeface="Cambria"/>
              </a:rPr>
              <a:t>n</a:t>
            </a:r>
            <a:r>
              <a:rPr sz="2100" b="0" i="0">
                <a:solidFill>
                  <a:srgbClr val="1C252B"/>
                </a:solidFill>
                <a:latin typeface="Cambria"/>
              </a:rPr>
              <a:t>/5 ⌉</a:t>
            </a:r>
            <a:r>
              <a:rPr sz="2100" b="0" i="0">
                <a:solidFill>
                  <a:srgbClr val="1C252B"/>
                </a:solidFill>
                <a:latin typeface="Segoe UI"/>
              </a:rPr>
              <a:t> medians. Call it </a:t>
            </a:r>
            <a:r>
              <a:rPr sz="2100" b="0" i="1">
                <a:solidFill>
                  <a:srgbClr val="1C252B"/>
                </a:solidFill>
                <a:latin typeface="Cambria"/>
              </a:rPr>
              <a:t>x</a:t>
            </a:r>
            <a:r>
              <a:rPr sz="2100" b="0" i="0">
                <a:solidFill>
                  <a:srgbClr val="1C252B"/>
                </a:solidFill>
                <a:latin typeface="Segoe UI"/>
              </a:rPr>
              <a:t>.</a:t>
            </a:r>
          </a:p>
          <a:p>
            <a:pPr algn="l" marL="506575" indent="-506575">
              <a:lnSpc>
                <a:spcPct val="104000"/>
              </a:lnSpc>
              <a:spcBef>
                <a:spcPts val="0"/>
              </a:spcBef>
              <a:spcAft>
                <a:spcPts val="0"/>
              </a:spcAft>
            </a:pPr>
            <a:r>
              <a:rPr sz="2100" b="1">
                <a:solidFill>
                  <a:srgbClr val="1F618D"/>
                </a:solidFill>
                <a:latin typeface="Segoe UI"/>
              </a:rPr>
              <a:t>4.	</a:t>
            </a:r>
            <a:r>
              <a:rPr sz="2100" b="0" i="0">
                <a:solidFill>
                  <a:srgbClr val="1C252B"/>
                </a:solidFill>
                <a:latin typeface="Segoe UI"/>
              </a:rPr>
              <a:t>Partition around </a:t>
            </a:r>
            <a:r>
              <a:rPr sz="2100" b="0" i="1">
                <a:solidFill>
                  <a:srgbClr val="1C252B"/>
                </a:solidFill>
                <a:latin typeface="Cambria"/>
              </a:rPr>
              <a:t>x</a:t>
            </a:r>
            <a:r>
              <a:rPr sz="2100" b="0" i="0">
                <a:solidFill>
                  <a:srgbClr val="1C252B"/>
                </a:solidFill>
                <a:latin typeface="Segoe UI"/>
              </a:rPr>
              <a:t> and recurse into the side containing the answer.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Median of medians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4ED02CA2-A91B-453A-9761-F4E4E0553C63}"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6938"/>
          </a:xfrm>
          <a:prstGeom prst="roundRect">
            <a:avLst>
              <a:gd name="adj" fmla="val 207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693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Why </a:t>
            </a:r>
            <a:r>
              <a:rPr sz="2100" b="1" i="1">
                <a:solidFill>
                  <a:srgbClr val="1C252B"/>
                </a:solidFill>
                <a:latin typeface="Cambria"/>
              </a:rPr>
              <a:t>x</a:t>
            </a:r>
            <a:r>
              <a:rPr sz="2100" b="1" i="0">
                <a:solidFill>
                  <a:srgbClr val="1C252B"/>
                </a:solidFill>
                <a:latin typeface="Segoe UI"/>
              </a:rPr>
              <a:t> is a decent pivot.</a:t>
            </a:r>
            <a:r>
              <a:rPr sz="2100" b="0" i="0">
                <a:solidFill>
                  <a:srgbClr val="1C252B"/>
                </a:solidFill>
                <a:latin typeface="Segoe UI"/>
              </a:rPr>
              <a:t> At least half the groups have their median </a:t>
            </a:r>
            <a:r>
              <a:rPr sz="2100" b="0" i="0">
                <a:solidFill>
                  <a:srgbClr val="1C252B"/>
                </a:solidFill>
                <a:latin typeface="Cambria"/>
              </a:rPr>
              <a:t>≤ </a:t>
            </a:r>
            <a:r>
              <a:rPr sz="2100" b="0" i="1">
                <a:solidFill>
                  <a:srgbClr val="1C252B"/>
                </a:solidFill>
                <a:latin typeface="Cambria"/>
              </a:rPr>
              <a:t>x</a:t>
            </a:r>
            <a:r>
              <a:rPr sz="2100" b="0" i="0">
                <a:solidFill>
                  <a:srgbClr val="1C252B"/>
                </a:solidFill>
                <a:latin typeface="Segoe UI"/>
              </a:rPr>
              <a:t>, and in each such group at least 3 of the 5 elements are </a:t>
            </a:r>
            <a:r>
              <a:rPr sz="2100" b="0" i="0">
                <a:solidFill>
                  <a:srgbClr val="1C252B"/>
                </a:solidFill>
                <a:latin typeface="Cambria"/>
              </a:rPr>
              <a:t>≤</a:t>
            </a:r>
            <a:r>
              <a:rPr sz="2100" b="0" i="0">
                <a:solidFill>
                  <a:srgbClr val="1C252B"/>
                </a:solidFill>
                <a:latin typeface="Segoe UI"/>
              </a:rPr>
              <a:t> that median. So at least </a:t>
            </a:r>
            <a:r>
              <a:rPr sz="2100" b="0" i="0">
                <a:solidFill>
                  <a:srgbClr val="1C252B"/>
                </a:solidFill>
                <a:latin typeface="Cambria"/>
              </a:rPr>
              <a:t>3 · /12 · </a:t>
            </a:r>
            <a:r>
              <a:rPr sz="2100" b="0" i="1">
                <a:solidFill>
                  <a:srgbClr val="1C252B"/>
                </a:solidFill>
                <a:latin typeface="Cambria"/>
              </a:rPr>
              <a:t>n</a:t>
            </a:r>
            <a:r>
              <a:rPr sz="2100" b="0" i="0">
                <a:solidFill>
                  <a:srgbClr val="1C252B"/>
                </a:solidFill>
                <a:latin typeface="Cambria"/>
              </a:rPr>
              <a:t>/5 = 3</a:t>
            </a:r>
            <a:r>
              <a:rPr sz="2100" b="0" i="1">
                <a:solidFill>
                  <a:srgbClr val="1C252B"/>
                </a:solidFill>
                <a:latin typeface="Cambria"/>
              </a:rPr>
              <a:t>n</a:t>
            </a:r>
            <a:r>
              <a:rPr sz="2100" b="0" i="0">
                <a:solidFill>
                  <a:srgbClr val="1C252B"/>
                </a:solidFill>
                <a:latin typeface="Cambria"/>
              </a:rPr>
              <a:t>/10</a:t>
            </a:r>
            <a:r>
              <a:rPr sz="2100" b="0" i="0">
                <a:solidFill>
                  <a:srgbClr val="1C252B"/>
                </a:solidFill>
                <a:latin typeface="Segoe UI"/>
              </a:rPr>
              <a:t> elements are </a:t>
            </a:r>
            <a:r>
              <a:rPr sz="2100" b="0" i="0">
                <a:solidFill>
                  <a:srgbClr val="1C252B"/>
                </a:solidFill>
                <a:latin typeface="Cambria"/>
              </a:rPr>
              <a:t>≤ </a:t>
            </a:r>
            <a:r>
              <a:rPr sz="2100" b="0" i="1">
                <a:solidFill>
                  <a:srgbClr val="1C252B"/>
                </a:solidFill>
                <a:latin typeface="Cambria"/>
              </a:rPr>
              <a:t>x</a:t>
            </a:r>
            <a:r>
              <a:rPr sz="2100" b="0" i="0">
                <a:solidFill>
                  <a:srgbClr val="1C252B"/>
                </a:solidFill>
                <a:latin typeface="Segoe UI"/>
              </a:rPr>
              <a:t>, and symmetrically </a:t>
            </a:r>
            <a:r>
              <a:rPr sz="2100" b="0" i="0">
                <a:solidFill>
                  <a:srgbClr val="1C252B"/>
                </a:solidFill>
                <a:latin typeface="Cambria"/>
              </a:rPr>
              <a:t>3</a:t>
            </a:r>
            <a:r>
              <a:rPr sz="2100" b="0" i="1">
                <a:solidFill>
                  <a:srgbClr val="1C252B"/>
                </a:solidFill>
                <a:latin typeface="Cambria"/>
              </a:rPr>
              <a:t>n</a:t>
            </a:r>
            <a:r>
              <a:rPr sz="2100" b="0" i="0">
                <a:solidFill>
                  <a:srgbClr val="1C252B"/>
                </a:solidFill>
                <a:latin typeface="Cambria"/>
              </a:rPr>
              <a:t>/10</a:t>
            </a:r>
            <a:r>
              <a:rPr sz="2100" b="0" i="0">
                <a:solidFill>
                  <a:srgbClr val="1C252B"/>
                </a:solidFill>
                <a:latin typeface="Segoe UI"/>
              </a:rPr>
              <a:t> are </a:t>
            </a:r>
            <a:r>
              <a:rPr sz="2100" b="0" i="0">
                <a:solidFill>
                  <a:srgbClr val="1C252B"/>
                </a:solidFill>
                <a:latin typeface="Cambria"/>
              </a:rPr>
              <a:t>≥ </a:t>
            </a:r>
            <a:r>
              <a:rPr sz="2100" b="0" i="1">
                <a:solidFill>
                  <a:srgbClr val="1C252B"/>
                </a:solidFill>
                <a:latin typeface="Cambria"/>
              </a:rPr>
              <a:t>x</a:t>
            </a:r>
            <a:r>
              <a:rPr sz="2100" b="0" i="0">
                <a:solidFill>
                  <a:srgbClr val="1C252B"/>
                </a:solidFill>
                <a:latin typeface="Segoe UI"/>
              </a:rPr>
              <a:t>. Therefore the recursive call in step 4 is on at most </a:t>
            </a:r>
            <a:r>
              <a:rPr sz="2100" b="0" i="0">
                <a:solidFill>
                  <a:srgbClr val="1C252B"/>
                </a:solidFill>
                <a:latin typeface="Cambria"/>
              </a:rPr>
              <a:t>7</a:t>
            </a:r>
            <a:r>
              <a:rPr sz="2100" b="0" i="1">
                <a:solidFill>
                  <a:srgbClr val="1C252B"/>
                </a:solidFill>
                <a:latin typeface="Cambria"/>
              </a:rPr>
              <a:t>n</a:t>
            </a:r>
            <a:r>
              <a:rPr sz="2100" b="0" i="0">
                <a:solidFill>
                  <a:srgbClr val="1C252B"/>
                </a:solidFill>
                <a:latin typeface="Cambria"/>
              </a:rPr>
              <a:t>/10</a:t>
            </a:r>
            <a:r>
              <a:rPr sz="2100" b="0" i="0">
                <a:solidFill>
                  <a:srgbClr val="1C252B"/>
                </a:solidFill>
                <a:latin typeface="Segoe UI"/>
              </a:rPr>
              <a:t> elements — always, with no probability involved.</a:t>
            </a:r>
          </a:p>
        </p:txBody>
      </p:sp>
      <p:sp>
        <p:nvSpPr>
          <p:cNvPr id="10" name="body-1"/>
          <p:cNvSpPr txBox="1"/>
          <p:nvPr/>
        </p:nvSpPr>
        <p:spPr>
          <a:xfrm>
            <a:off x="1060704" y="3526307"/>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The recurrence</a:t>
            </a:r>
            <a:r>
              <a:rPr sz="2100" b="0" i="0">
                <a:solidFill>
                  <a:srgbClr val="1C252B"/>
                </a:solidFill>
                <a:latin typeface="Segoe UI"/>
              </a:rPr>
              <a:t> is then</a:t>
            </a:r>
          </a:p>
        </p:txBody>
      </p:sp>
      <p:pic>
        <p:nvPicPr>
          <p:cNvPr id="11" name="body-2" descr="T(n) \;\le\; \underbrace{T(n/5)}_{\text{step 3}} + \underbrace{T(7n/10)}_{\text{step 4}} + \bigTh{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005833"/>
            <a:ext cx="10161727" cy="672358"/>
          </a:xfrm>
          <a:prstGeom prst="rect">
            <a:avLst/>
          </a:prstGeom>
        </p:spPr>
      </p:pic>
      <p:sp>
        <p:nvSpPr>
          <p:cNvPr id="12" name="body-3"/>
          <p:cNvSpPr txBox="1"/>
          <p:nvPr/>
        </p:nvSpPr>
        <p:spPr>
          <a:xfrm>
            <a:off x="1060704" y="4824877"/>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which the master theorem cannot touch (two different subproblem sizes). But </a:t>
            </a:r>
            <a:r>
              <a:rPr sz="2100" b="0" i="0">
                <a:solidFill>
                  <a:srgbClr val="1C252B"/>
                </a:solidFill>
                <a:latin typeface="Cambria"/>
              </a:rPr>
              <a:t>/15 + 7/10 = 9/10 &lt; 1</a:t>
            </a:r>
            <a:r>
              <a:rPr sz="2100" b="0" i="0">
                <a:solidFill>
                  <a:srgbClr val="1C252B"/>
                </a:solidFill>
                <a:latin typeface="Segoe UI"/>
              </a:rPr>
              <a:t>, and substitution with the guess </a:t>
            </a:r>
            <a:r>
              <a:rPr sz="2100" b="0" i="1">
                <a:solidFill>
                  <a:srgbClr val="1C252B"/>
                </a:solidFill>
                <a:latin typeface="Cambria"/>
              </a:rPr>
              <a:t>T</a:t>
            </a:r>
            <a:r>
              <a:rPr sz="2100" b="0" i="0">
                <a:solidFill>
                  <a:srgbClr val="1C252B"/>
                </a:solidFill>
                <a:latin typeface="Cambria"/>
              </a:rPr>
              <a:t>(</a:t>
            </a:r>
            <a:r>
              <a:rPr sz="2100" b="0" i="1">
                <a:solidFill>
                  <a:srgbClr val="1C252B"/>
                </a:solidFill>
                <a:latin typeface="Cambria"/>
              </a:rPr>
              <a:t>n</a:t>
            </a:r>
            <a:r>
              <a:rPr sz="2100" b="0" i="0">
                <a:solidFill>
                  <a:srgbClr val="1C252B"/>
                </a:solidFill>
                <a:latin typeface="Cambria"/>
              </a:rPr>
              <a:t>) ≤ </a:t>
            </a:r>
            <a:r>
              <a:rPr sz="2100" b="0" i="1">
                <a:solidFill>
                  <a:srgbClr val="1C252B"/>
                </a:solidFill>
                <a:latin typeface="Cambria"/>
              </a:rPr>
              <a:t>cn</a:t>
            </a:r>
            <a:r>
              <a:rPr sz="2100" b="0" i="0">
                <a:solidFill>
                  <a:srgbClr val="1C252B"/>
                </a:solidFill>
                <a:latin typeface="Segoe UI"/>
              </a:rPr>
              <a:t> gives </a:t>
            </a:r>
            <a:r>
              <a:rPr sz="2100" b="0" i="1">
                <a:solidFill>
                  <a:srgbClr val="1C252B"/>
                </a:solidFill>
                <a:latin typeface="Cambria"/>
              </a:rPr>
              <a:t>T</a:t>
            </a:r>
            <a:r>
              <a:rPr sz="2100" b="0" i="0">
                <a:solidFill>
                  <a:srgbClr val="1C252B"/>
                </a:solidFill>
                <a:latin typeface="Cambria"/>
              </a:rPr>
              <a:t>(</a:t>
            </a:r>
            <a:r>
              <a:rPr sz="2100" b="0" i="1">
                <a:solidFill>
                  <a:srgbClr val="1C252B"/>
                </a:solidFill>
                <a:latin typeface="Cambria"/>
              </a:rPr>
              <a:t>n</a:t>
            </a:r>
            <a:r>
              <a:rPr sz="2100" b="0" i="0">
                <a:solidFill>
                  <a:srgbClr val="1C252B"/>
                </a:solidFill>
                <a:latin typeface="Cambria"/>
              </a:rPr>
              <a:t>) ≤ (</a:t>
            </a:r>
            <a:r>
              <a:rPr sz="2100" b="0" i="1">
                <a:solidFill>
                  <a:srgbClr val="1C252B"/>
                </a:solidFill>
                <a:latin typeface="Cambria"/>
              </a:rPr>
              <a:t>c</a:t>
            </a:r>
            <a:r>
              <a:rPr sz="2100" b="0" i="0">
                <a:solidFill>
                  <a:srgbClr val="1C252B"/>
                </a:solidFill>
                <a:latin typeface="Cambria"/>
              </a:rPr>
              <a:t> </a:t>
            </a:r>
            <a:r>
              <a:rPr sz="2100" b="0" i="1">
                <a:solidFill>
                  <a:srgbClr val="1C252B"/>
                </a:solidFill>
                <a:latin typeface="Cambria"/>
              </a:rPr>
              <a:t>n</a:t>
            </a:r>
            <a:r>
              <a:rPr sz="2100" b="0" i="0">
                <a:solidFill>
                  <a:srgbClr val="1C252B"/>
                </a:solidFill>
                <a:latin typeface="Cambria"/>
              </a:rPr>
              <a:t>)/5 + 7</a:t>
            </a:r>
            <a:r>
              <a:rPr sz="2100" b="0" i="1">
                <a:solidFill>
                  <a:srgbClr val="1C252B"/>
                </a:solidFill>
                <a:latin typeface="Cambria"/>
              </a:rPr>
              <a:t>cn</a:t>
            </a:r>
            <a:r>
              <a:rPr sz="2100" b="0" i="0">
                <a:solidFill>
                  <a:srgbClr val="1C252B"/>
                </a:solidFill>
                <a:latin typeface="Cambria"/>
              </a:rPr>
              <a:t>/10 + </a:t>
            </a:r>
            <a:r>
              <a:rPr sz="2100" b="0" i="1">
                <a:solidFill>
                  <a:srgbClr val="1C252B"/>
                </a:solidFill>
                <a:latin typeface="Cambria"/>
              </a:rPr>
              <a:t>an</a:t>
            </a:r>
            <a:r>
              <a:rPr sz="2100" b="0" i="0">
                <a:solidFill>
                  <a:srgbClr val="1C252B"/>
                </a:solidFill>
                <a:latin typeface="Cambria"/>
              </a:rPr>
              <a:t> = 9</a:t>
            </a:r>
            <a:r>
              <a:rPr sz="2100" b="0" i="1">
                <a:solidFill>
                  <a:srgbClr val="1C252B"/>
                </a:solidFill>
                <a:latin typeface="Cambria"/>
              </a:rPr>
              <a:t>cn</a:t>
            </a:r>
            <a:r>
              <a:rPr sz="2100" b="0" i="0">
                <a:solidFill>
                  <a:srgbClr val="1C252B"/>
                </a:solidFill>
                <a:latin typeface="Cambria"/>
              </a:rPr>
              <a:t>/10 + </a:t>
            </a:r>
            <a:r>
              <a:rPr sz="2100" b="0" i="1">
                <a:solidFill>
                  <a:srgbClr val="1C252B"/>
                </a:solidFill>
                <a:latin typeface="Cambria"/>
              </a:rPr>
              <a:t>an</a:t>
            </a:r>
            <a:r>
              <a:rPr sz="2100" b="0" i="0">
                <a:solidFill>
                  <a:srgbClr val="1C252B"/>
                </a:solidFill>
                <a:latin typeface="Cambria"/>
              </a:rPr>
              <a:t> ≤ </a:t>
            </a:r>
            <a:r>
              <a:rPr sz="2100" b="0" i="1">
                <a:solidFill>
                  <a:srgbClr val="1C252B"/>
                </a:solidFill>
                <a:latin typeface="Cambria"/>
              </a:rPr>
              <a:t>cn</a:t>
            </a:r>
            <a:r>
              <a:rPr sz="2100" b="0" i="0">
                <a:solidFill>
                  <a:srgbClr val="1C252B"/>
                </a:solidFill>
                <a:latin typeface="Segoe UI"/>
              </a:rPr>
              <a:t> whenever </a:t>
            </a:r>
            <a:r>
              <a:rPr sz="2100" b="0" i="1">
                <a:solidFill>
                  <a:srgbClr val="1C252B"/>
                </a:solidFill>
                <a:latin typeface="Cambria"/>
              </a:rPr>
              <a:t>c</a:t>
            </a:r>
            <a:r>
              <a:rPr sz="2100" b="0" i="0">
                <a:solidFill>
                  <a:srgbClr val="1C252B"/>
                </a:solidFill>
                <a:latin typeface="Cambria"/>
              </a:rPr>
              <a:t> ≥ 10</a:t>
            </a:r>
            <a:r>
              <a:rPr sz="2100" b="0" i="1">
                <a:solidFill>
                  <a:srgbClr val="1C252B"/>
                </a:solidFill>
                <a:latin typeface="Cambria"/>
              </a:rPr>
              <a:t>a</a:t>
            </a:r>
            <a:r>
              <a:rPr sz="2100" b="0" i="0">
                <a:solidFill>
                  <a:srgbClr val="1C252B"/>
                </a:solidFill>
                <a:latin typeface="Segoe UI"/>
              </a:rPr>
              <a:t>. So </a:t>
            </a:r>
            <a:r>
              <a:rPr sz="2100" b="0" i="1">
                <a:solidFill>
                  <a:srgbClr val="1C252B"/>
                </a:solidFill>
                <a:latin typeface="Cambria"/>
              </a:rPr>
              <a:t>T</a:t>
            </a:r>
            <a:r>
              <a:rPr sz="2100" b="0" i="0">
                <a:solidFill>
                  <a:srgbClr val="1C252B"/>
                </a:solidFill>
                <a:latin typeface="Cambria"/>
              </a:rPr>
              <a:t>(</a:t>
            </a:r>
            <a:r>
              <a:rPr sz="2100" b="0" i="1">
                <a:solidFill>
                  <a:srgbClr val="1C252B"/>
                </a:solidFill>
                <a:latin typeface="Cambria"/>
              </a:rPr>
              <a:t>n</a:t>
            </a:r>
            <a:r>
              <a:rPr sz="2100" b="0" i="0">
                <a:solidFill>
                  <a:srgbClr val="1C252B"/>
                </a:solidFill>
                <a:latin typeface="Cambria"/>
              </a:rPr>
              <a:t>) = O(</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Median of medians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76DBBDE7-4005-412F-8E9B-2C38E21915F5}"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620316"/>
          </a:xfrm>
          <a:prstGeom prst="roundRect">
            <a:avLst>
              <a:gd name="adj" fmla="val 564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62031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The groups of 5 are not arbitrary.</a:t>
            </a:r>
            <a:r>
              <a:rPr sz="2100" b="0" i="0">
                <a:solidFill>
                  <a:srgbClr val="1C252B"/>
                </a:solidFill>
                <a:latin typeface="Segoe UI"/>
              </a:rPr>
              <a:t> With groups of 3 the sum becomes </a:t>
            </a:r>
            <a:r>
              <a:rPr sz="2100" b="0" i="0">
                <a:solidFill>
                  <a:srgbClr val="1C252B"/>
                </a:solidFill>
                <a:latin typeface="Cambria"/>
              </a:rPr>
              <a:t>/13 + /23 = 1</a:t>
            </a:r>
            <a:r>
              <a:rPr sz="2100" b="0" i="0">
                <a:solidFill>
                  <a:srgbClr val="1C252B"/>
                </a:solidFill>
                <a:latin typeface="Segoe UI"/>
              </a:rPr>
              <a:t>, the substitution fails, and the bound is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The constant 5 is the smallest odd group size that makes the fractions sum to less than 1.</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yet almost nobody uses it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1046E42E-6003-45B3-9A50-C2E68C8C8413}"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958"/>
          </a:xfrm>
          <a:prstGeom prst="roundRect">
            <a:avLst>
              <a:gd name="adj" fmla="val 207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95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Median-of-medians is </a:t>
            </a:r>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worst case, which is strictly better than quickselect’s guarantee. Its constant is roughly 5–10</a:t>
            </a:r>
            <a:r>
              <a:rPr sz="1900" b="0" i="0">
                <a:solidFill>
                  <a:srgbClr val="1C252B"/>
                </a:solidFill>
                <a:latin typeface="Cambria"/>
              </a:rPr>
              <a:t>×</a:t>
            </a:r>
            <a:r>
              <a:rPr sz="1900" b="0" i="0">
                <a:solidFill>
                  <a:srgbClr val="1C252B"/>
                </a:solidFill>
                <a:latin typeface="Segoe UI"/>
              </a:rPr>
              <a:t> larger: it sorts every group of five, makes a second recursive call, and touches memory in a scattered pattern.</a:t>
            </a:r>
          </a:p>
        </p:txBody>
      </p:sp>
      <p:sp>
        <p:nvSpPr>
          <p:cNvPr id="10" name="body-1"/>
          <p:cNvSpPr txBox="1"/>
          <p:nvPr/>
        </p:nvSpPr>
        <p:spPr>
          <a:xfrm>
            <a:off x="1060704" y="3084398"/>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So in practice:</a:t>
            </a:r>
          </a:p>
        </p:txBody>
      </p:sp>
      <p:sp>
        <p:nvSpPr>
          <p:cNvPr id="11" name="body-2"/>
          <p:cNvSpPr txBox="1"/>
          <p:nvPr/>
        </p:nvSpPr>
        <p:spPr>
          <a:xfrm>
            <a:off x="1060704" y="3518255"/>
            <a:ext cx="10161727" cy="133474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A93226"/>
                </a:solidFill>
                <a:latin typeface="Segoe UI"/>
              </a:rPr>
              <a:t>•	</a:t>
            </a:r>
            <a:r>
              <a:rPr sz="1900" b="1" i="0">
                <a:solidFill>
                  <a:srgbClr val="A93226"/>
                </a:solidFill>
                <a:latin typeface="Segoe UI"/>
              </a:rPr>
              <a:t>randomised quickselect</a:t>
            </a:r>
            <a:r>
              <a:rPr sz="1900" b="0" i="0">
                <a:solidFill>
                  <a:srgbClr val="1C252B"/>
                </a:solidFill>
                <a:latin typeface="Segoe UI"/>
              </a:rPr>
              <a:t> for ordinary work, at about </a:t>
            </a:r>
            <a:r>
              <a:rPr sz="1900" b="0" i="0">
                <a:solidFill>
                  <a:srgbClr val="1C252B"/>
                </a:solidFill>
                <a:latin typeface="Cambria"/>
              </a:rPr>
              <a:t>3.3</a:t>
            </a:r>
            <a:r>
              <a:rPr sz="1900" b="0" i="1">
                <a:solidFill>
                  <a:srgbClr val="1C252B"/>
                </a:solidFill>
                <a:latin typeface="Cambria"/>
              </a:rPr>
              <a:t>n</a:t>
            </a:r>
            <a:r>
              <a:rPr sz="1900" b="0" i="0">
                <a:solidFill>
                  <a:srgbClr val="1C252B"/>
                </a:solidFill>
                <a:latin typeface="Segoe UI"/>
              </a:rPr>
              <a:t> comparisons measured;</a:t>
            </a:r>
          </a:p>
          <a:p>
            <a:pPr algn="l" marL="212450" indent="-212450">
              <a:lnSpc>
                <a:spcPct val="104000"/>
              </a:lnSpc>
              <a:spcBef>
                <a:spcPts val="0"/>
              </a:spcBef>
              <a:spcAft>
                <a:spcPts val="0"/>
              </a:spcAft>
            </a:pPr>
            <a:r>
              <a:rPr sz="1900" b="1">
                <a:solidFill>
                  <a:srgbClr val="A93226"/>
                </a:solidFill>
                <a:latin typeface="Segoe UI"/>
              </a:rPr>
              <a:t>•	</a:t>
            </a:r>
            <a:r>
              <a:rPr sz="1900" b="1" i="0">
                <a:solidFill>
                  <a:srgbClr val="A93226"/>
                </a:solidFill>
                <a:latin typeface="Segoe UI"/>
              </a:rPr>
              <a:t>introselect</a:t>
            </a:r>
            <a:r>
              <a:rPr sz="1900" b="0" i="0">
                <a:solidFill>
                  <a:srgbClr val="1C252B"/>
                </a:solidFill>
                <a:latin typeface="Segoe UI"/>
              </a:rPr>
              <a:t> — quickselect that counts its iterations and switches to median-of-medians if progress is too slow — for library code. This is what </a:t>
            </a:r>
            <a:r>
              <a:rPr sz="1800" b="0" i="0">
                <a:solidFill>
                  <a:srgbClr val="1F4E79"/>
                </a:solidFill>
                <a:latin typeface="Consolas"/>
              </a:rPr>
              <a:t>std::nth_element</a:t>
            </a:r>
            <a:r>
              <a:rPr sz="1900" b="0" i="0">
                <a:solidFill>
                  <a:srgbClr val="1C252B"/>
                </a:solidFill>
                <a:latin typeface="Segoe UI"/>
              </a:rPr>
              <a:t> does, and it is the same design as </a:t>
            </a:r>
            <a:r>
              <a:rPr sz="1800" b="0" i="0">
                <a:solidFill>
                  <a:srgbClr val="1F4E79"/>
                </a:solidFill>
                <a:latin typeface="Consolas"/>
              </a:rPr>
              <a:t>std::sort</a:t>
            </a:r>
            <a:r>
              <a:rPr sz="1900" b="0" i="0">
                <a:solidFill>
                  <a:srgbClr val="1C252B"/>
                </a:solidFill>
                <a:latin typeface="Segoe UI"/>
              </a:rPr>
              <a:t>’s heapsort fallback in Chapter 9.</a:t>
            </a:r>
          </a:p>
        </p:txBody>
      </p:sp>
      <p:sp>
        <p:nvSpPr>
          <p:cNvPr id="12" name="body-3"/>
          <p:cNvSpPr txBox="1"/>
          <p:nvPr/>
        </p:nvSpPr>
        <p:spPr>
          <a:xfrm>
            <a:off x="1060704" y="493999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pattern is worth naming, because it recurs: </a:t>
            </a:r>
            <a:r>
              <a:rPr sz="1900" b="1" i="0">
                <a:solidFill>
                  <a:srgbClr val="1C252B"/>
                </a:solidFill>
                <a:latin typeface="Segoe UI"/>
              </a:rPr>
              <a:t>use the algorithm with the better constant, and keep the one with the better guarantee as a fallback.</a:t>
            </a:r>
            <a:r>
              <a:rPr sz="1900" b="0" i="0">
                <a:solidFill>
                  <a:srgbClr val="1C252B"/>
                </a:solidFill>
                <a:latin typeface="Segoe UI"/>
              </a:rPr>
              <a:t> You get the common case fast and the worst case bounded.</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58C21306-D975-433A-B672-7E2C826EB0F6}"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Sorting to find one element.</a:t>
            </a:r>
            <a:r>
              <a:rPr sz="2000" b="0" i="0">
                <a:solidFill>
                  <a:srgbClr val="1C252B"/>
                </a:solidFill>
                <a:latin typeface="Segoe UI"/>
              </a:rPr>
              <a:t> Measured, 7–9.5</a:t>
            </a:r>
            <a:r>
              <a:rPr sz="2000" b="0" i="0">
                <a:solidFill>
                  <a:srgbClr val="1C252B"/>
                </a:solidFill>
                <a:latin typeface="Cambria"/>
              </a:rPr>
              <a:t>×</a:t>
            </a:r>
            <a:r>
              <a:rPr sz="2000" b="0" i="0">
                <a:solidFill>
                  <a:srgbClr val="1C252B"/>
                </a:solidFill>
                <a:latin typeface="Segoe UI"/>
              </a:rPr>
              <a:t> more expensive, growing with </a:t>
            </a:r>
            <a:r>
              <a:rPr sz="2000" b="0" i="1">
                <a:solidFill>
                  <a:srgbClr val="1C252B"/>
                </a:solidFill>
                <a:latin typeface="Cambria"/>
              </a:rPr>
              <a:t>n</a:t>
            </a:r>
            <a:r>
              <a:rPr sz="2000" b="0" i="0">
                <a:solidFill>
                  <a:srgbClr val="1C252B"/>
                </a:solidFill>
                <a:latin typeface="Segoe UI"/>
              </a:rPr>
              <a:t>.</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Recursing into both sides.</a:t>
            </a:r>
            <a:r>
              <a:rPr sz="2000" b="0" i="0">
                <a:solidFill>
                  <a:srgbClr val="1C252B"/>
                </a:solidFill>
                <a:latin typeface="Segoe UI"/>
              </a:rPr>
              <a:t> That is quicksort. The deleted call is the entire algorithm.</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Judging an expected bound from one run.</a:t>
            </a:r>
            <a:r>
              <a:rPr sz="2000" b="0" i="0">
                <a:solidFill>
                  <a:srgbClr val="1C252B"/>
                </a:solidFill>
                <a:latin typeface="Segoe UI"/>
              </a:rPr>
              <a:t> Measured runs ranged from </a:t>
            </a:r>
            <a:r>
              <a:rPr sz="2000" b="0" i="0">
                <a:solidFill>
                  <a:srgbClr val="1C252B"/>
                </a:solidFill>
                <a:latin typeface="Cambria"/>
              </a:rPr>
              <a:t>1.8</a:t>
            </a:r>
            <a:r>
              <a:rPr sz="2000" b="0" i="1">
                <a:solidFill>
                  <a:srgbClr val="1C252B"/>
                </a:solidFill>
                <a:latin typeface="Cambria"/>
              </a:rPr>
              <a:t>n</a:t>
            </a:r>
            <a:r>
              <a:rPr sz="2000" b="0" i="0">
                <a:solidFill>
                  <a:srgbClr val="1C252B"/>
                </a:solidFill>
                <a:latin typeface="Segoe UI"/>
              </a:rPr>
              <a:t> to </a:t>
            </a:r>
            <a:r>
              <a:rPr sz="2000" b="0" i="0">
                <a:solidFill>
                  <a:srgbClr val="1C252B"/>
                </a:solidFill>
                <a:latin typeface="Cambria"/>
              </a:rPr>
              <a:t>5.8</a:t>
            </a:r>
            <a:r>
              <a:rPr sz="2000" b="0" i="1">
                <a:solidFill>
                  <a:srgbClr val="1C252B"/>
                </a:solidFill>
                <a:latin typeface="Cambria"/>
              </a:rPr>
              <a:t>n</a:t>
            </a:r>
            <a:r>
              <a:rPr sz="2000" b="0" i="0">
                <a:solidFill>
                  <a:srgbClr val="1C252B"/>
                </a:solidFill>
                <a:latin typeface="Segoe UI"/>
              </a:rPr>
              <a:t> for a mean of </a:t>
            </a:r>
            <a:r>
              <a:rPr sz="2000" b="0" i="0">
                <a:solidFill>
                  <a:srgbClr val="1C252B"/>
                </a:solidFill>
                <a:latin typeface="Cambria"/>
              </a:rPr>
              <a:t>3.3</a:t>
            </a:r>
            <a:r>
              <a:rPr sz="2000" b="0" i="1">
                <a:solidFill>
                  <a:srgbClr val="1C252B"/>
                </a:solidFill>
                <a:latin typeface="Cambria"/>
              </a:rPr>
              <a:t>n</a:t>
            </a:r>
            <a:r>
              <a:rPr sz="2000" b="0" i="0">
                <a:solidFill>
                  <a:srgbClr val="1C252B"/>
                </a:solidFill>
                <a:latin typeface="Segoe UI"/>
              </a:rPr>
              <a:t>.</a:t>
            </a:r>
          </a:p>
        </p:txBody>
      </p:sp>
      <p:sp>
        <p:nvSpPr>
          <p:cNvPr id="16" name="!!pb3">
            <a:extLst>
              <a:ext uri="{C183D7F6-B498-43B3-948B-1728B52AA6E4}">
                <adec:decorative xmlns:adec="http://schemas.microsoft.com/office/drawing/2017/decorative" val="1"/>
              </a:ext>
            </a:extLst>
          </p:cNvPr>
          <p:cNvSpPr/>
          <p:nvPr/>
        </p:nvSpPr>
        <p:spPr>
          <a:xfrm>
            <a:off x="658368" y="37246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475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0636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Using a fixed pivot.</a:t>
            </a:r>
            <a:r>
              <a:rPr sz="2000" b="0" i="0">
                <a:solidFill>
                  <a:srgbClr val="1C252B"/>
                </a:solidFill>
                <a:latin typeface="Segoe UI"/>
              </a:rPr>
              <a:t> Sorted input then gives </a:t>
            </a:r>
            <a:r>
              <a:rPr sz="2000" b="0" i="0">
                <a:solidFill>
                  <a:srgbClr val="1C252B"/>
                </a:solidFill>
                <a:latin typeface="Cambria"/>
              </a:rPr>
              <a:t>3</a:t>
            </a:r>
            <a:r>
              <a:rPr sz="2000" b="0" i="1">
                <a:solidFill>
                  <a:srgbClr val="1C252B"/>
                </a:solidFill>
                <a:latin typeface="Cambria"/>
              </a:rPr>
              <a:t>n</a:t>
            </a:r>
            <a:r>
              <a:rPr sz="1300" b="0" i="0" baseline="30000">
                <a:solidFill>
                  <a:srgbClr val="1C252B"/>
                </a:solidFill>
                <a:latin typeface="Cambria"/>
              </a:rPr>
              <a:t>2</a:t>
            </a:r>
            <a:r>
              <a:rPr sz="2000" b="0" i="0">
                <a:solidFill>
                  <a:srgbClr val="1C252B"/>
                </a:solidFill>
                <a:latin typeface="Cambria"/>
              </a:rPr>
              <a:t>/8</a:t>
            </a:r>
            <a:r>
              <a:rPr sz="2000" b="0" i="0">
                <a:solidFill>
                  <a:srgbClr val="1C252B"/>
                </a:solidFill>
                <a:latin typeface="Segoe UI"/>
              </a:rPr>
              <a:t> comparisons, measured exactly.</a:t>
            </a:r>
          </a:p>
        </p:txBody>
      </p:sp>
      <p:sp>
        <p:nvSpPr>
          <p:cNvPr id="19" name="!!pb4">
            <a:extLst>
              <a:ext uri="{C183D7F6-B498-43B3-948B-1728B52AA6E4}">
                <adec:decorative xmlns:adec="http://schemas.microsoft.com/office/drawing/2017/decorative" val="1"/>
              </a:ext>
            </a:extLst>
          </p:cNvPr>
          <p:cNvSpPr/>
          <p:nvPr/>
        </p:nvSpPr>
        <p:spPr>
          <a:xfrm>
            <a:off x="658368" y="42915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144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273296"/>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Reaching for median-of-medians by default.</a:t>
            </a:r>
            <a:r>
              <a:rPr sz="2000" b="0" i="0">
                <a:solidFill>
                  <a:srgbClr val="1C252B"/>
                </a:solidFill>
                <a:latin typeface="Segoe UI"/>
              </a:rPr>
              <a:t> Its constant is 5–10</a:t>
            </a:r>
            <a:r>
              <a:rPr sz="2000" b="0" i="0">
                <a:solidFill>
                  <a:srgbClr val="1C252B"/>
                </a:solidFill>
                <a:latin typeface="Cambria"/>
              </a:rPr>
              <a:t>×</a:t>
            </a:r>
            <a:r>
              <a:rPr sz="2000" b="0" i="0">
                <a:solidFill>
                  <a:srgbClr val="1C252B"/>
                </a:solidFill>
                <a:latin typeface="Segoe UI"/>
              </a:rPr>
              <a:t> worse; it is a fallback, not a first choice.</a:t>
            </a:r>
          </a:p>
        </p:txBody>
      </p:sp>
      <p:sp>
        <p:nvSpPr>
          <p:cNvPr id="22" name="!!pb5">
            <a:extLst>
              <a:ext uri="{C183D7F6-B498-43B3-948B-1728B52AA6E4}">
                <adec:decorative xmlns:adec="http://schemas.microsoft.com/office/drawing/2017/decorative" val="1"/>
              </a:ext>
            </a:extLst>
          </p:cNvPr>
          <p:cNvSpPr/>
          <p:nvPr/>
        </p:nvSpPr>
        <p:spPr>
          <a:xfrm>
            <a:off x="658368" y="512673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4959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10844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Using groups of 3.</a:t>
            </a:r>
            <a:r>
              <a:rPr sz="2000" b="0" i="0">
                <a:solidFill>
                  <a:srgbClr val="1C252B"/>
                </a:solidFill>
                <a:latin typeface="Segoe UI"/>
              </a:rPr>
              <a:t> The fractions sum to 1 and the bound degrades to </a:t>
            </a: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 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a:t>
            </a:r>
          </a:p>
        </p:txBody>
      </p:sp>
      <p:sp>
        <p:nvSpPr>
          <p:cNvPr id="25" name="!!pb6">
            <a:extLst>
              <a:ext uri="{C183D7F6-B498-43B3-948B-1728B52AA6E4}">
                <adec:decorative xmlns:adec="http://schemas.microsoft.com/office/drawing/2017/decorative" val="1"/>
              </a:ext>
            </a:extLst>
          </p:cNvPr>
          <p:cNvSpPr/>
          <p:nvPr/>
        </p:nvSpPr>
        <p:spPr>
          <a:xfrm>
            <a:off x="658368" y="569366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x6"/>
          <p:cNvSpPr txBox="1"/>
          <p:nvPr/>
        </p:nvSpPr>
        <p:spPr>
          <a:xfrm>
            <a:off x="658368" y="571652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7" name="!!pt6"/>
          <p:cNvSpPr txBox="1"/>
          <p:nvPr/>
        </p:nvSpPr>
        <p:spPr>
          <a:xfrm>
            <a:off x="1261872" y="5675376"/>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Expecting selection to be much cheaper near the ends.</a:t>
            </a:r>
            <a:r>
              <a:rPr sz="2000" b="0" i="0">
                <a:solidFill>
                  <a:srgbClr val="1C252B"/>
                </a:solidFill>
                <a:latin typeface="Segoe UI"/>
              </a:rPr>
              <a:t> Measured </a:t>
            </a:r>
            <a:r>
              <a:rPr sz="2000" b="0" i="0">
                <a:solidFill>
                  <a:srgbClr val="1C252B"/>
                </a:solidFill>
                <a:latin typeface="Cambria"/>
              </a:rPr>
              <a:t>2.1</a:t>
            </a:r>
            <a:r>
              <a:rPr sz="2000" b="0" i="1">
                <a:solidFill>
                  <a:srgbClr val="1C252B"/>
                </a:solidFill>
                <a:latin typeface="Cambria"/>
              </a:rPr>
              <a:t>n</a:t>
            </a:r>
            <a:r>
              <a:rPr sz="2000" b="0" i="0">
                <a:solidFill>
                  <a:srgbClr val="1C252B"/>
                </a:solidFill>
                <a:latin typeface="Segoe UI"/>
              </a:rPr>
              <a:t> at </a:t>
            </a:r>
            <a:r>
              <a:rPr sz="2000" b="0" i="1">
                <a:solidFill>
                  <a:srgbClr val="1C252B"/>
                </a:solidFill>
                <a:latin typeface="Cambria"/>
              </a:rPr>
              <a:t>k</a:t>
            </a:r>
            <a:r>
              <a:rPr sz="2000" b="0" i="0">
                <a:solidFill>
                  <a:srgbClr val="1C252B"/>
                </a:solidFill>
                <a:latin typeface="Cambria"/>
              </a:rPr>
              <a:t>=0</a:t>
            </a:r>
            <a:r>
              <a:rPr sz="2000" b="0" i="0">
                <a:solidFill>
                  <a:srgbClr val="1C252B"/>
                </a:solidFill>
                <a:latin typeface="Segoe UI"/>
              </a:rPr>
              <a:t> against </a:t>
            </a:r>
            <a:r>
              <a:rPr sz="2000" b="0" i="0">
                <a:solidFill>
                  <a:srgbClr val="1C252B"/>
                </a:solidFill>
                <a:latin typeface="Cambria"/>
              </a:rPr>
              <a:t>3.0</a:t>
            </a:r>
            <a:r>
              <a:rPr sz="2000" b="0" i="1">
                <a:solidFill>
                  <a:srgbClr val="1C252B"/>
                </a:solidFill>
                <a:latin typeface="Cambria"/>
              </a:rPr>
              <a:t>n</a:t>
            </a:r>
            <a:r>
              <a:rPr sz="2000" b="0" i="0">
                <a:solidFill>
                  <a:srgbClr val="1C252B"/>
                </a:solidFill>
                <a:latin typeface="Segoe UI"/>
              </a:rPr>
              <a:t> at the median — the first partition costs </a:t>
            </a:r>
            <a:r>
              <a:rPr sz="2000" b="0" i="1">
                <a:solidFill>
                  <a:srgbClr val="1C252B"/>
                </a:solidFill>
                <a:latin typeface="Cambria"/>
              </a:rPr>
              <a:t>n</a:t>
            </a:r>
            <a:r>
              <a:rPr sz="2000" b="0" i="0">
                <a:solidFill>
                  <a:srgbClr val="1C252B"/>
                </a:solidFill>
                <a:latin typeface="Segoe UI"/>
              </a:rPr>
              <a:t> regardless.</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Selection Against Sorting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220B8469-DE20-4F0D-A079-11CC04237837}" type="slidenum">
              <a:rPr lang="en-GB" sz="1000">
                <a:solidFill>
                  <a:srgbClr val="8795A1"/>
                </a:solidFill>
                <a:latin typeface="Segoe UI"/>
              </a:rPr>
              <a:t>27</a:t>
            </a:fld>
          </a:p>
        </p:txBody>
      </p:sp>
      <p:sp>
        <p:nvSpPr>
          <p:cNvPr id="7" name="body-0"/>
          <p:cNvSpPr txBox="1"/>
          <p:nvPr/>
        </p:nvSpPr>
        <p:spPr>
          <a:xfrm>
            <a:off x="658368" y="1737360"/>
            <a:ext cx="1087495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four tables. Expect twenty-five minutes.</a:t>
            </a:r>
          </a:p>
        </p:txBody>
      </p:sp>
      <p:sp>
        <p:nvSpPr>
          <p:cNvPr id="8" name="!!labsteps-h"/>
          <p:cNvSpPr txBox="1"/>
          <p:nvPr/>
        </p:nvSpPr>
        <p:spPr>
          <a:xfrm>
            <a:off x="658368" y="2365248"/>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2749296"/>
            <a:ext cx="10874959" cy="21907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Partition, exactly as in Chapter 9</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Quickselect: recurse into ONE side, not both</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Comparisons: selection against sorting</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The same thing in seconds</a:t>
            </a:r>
          </a:p>
          <a:p>
            <a:pPr algn="l" marL="459473" indent="-459473">
              <a:lnSpc>
                <a:spcPct val="100000"/>
              </a:lnSpc>
              <a:spcBef>
                <a:spcPts val="0"/>
              </a:spcBef>
              <a:spcAft>
                <a:spcPts val="570"/>
              </a:spcAft>
            </a:pPr>
            <a:r>
              <a:rPr sz="1900" b="1">
                <a:solidFill>
                  <a:srgbClr val="117A65"/>
                </a:solidFill>
                <a:latin typeface="Segoe UI"/>
              </a:rPr>
              <a:t>5.	</a:t>
            </a:r>
            <a:r>
              <a:rPr sz="1900" b="0" i="0">
                <a:solidFill>
                  <a:srgbClr val="1C252B"/>
                </a:solidFill>
                <a:latin typeface="Segoe UI"/>
              </a:rPr>
              <a:t>The worst case, for Chapter 9's reason</a:t>
            </a:r>
          </a:p>
          <a:p>
            <a:pPr algn="l" marL="459473" indent="-459473">
              <a:lnSpc>
                <a:spcPct val="100000"/>
              </a:lnSpc>
              <a:spcBef>
                <a:spcPts val="0"/>
              </a:spcBef>
              <a:spcAft>
                <a:spcPts val="0"/>
              </a:spcAft>
            </a:pPr>
            <a:r>
              <a:rPr sz="1900" b="1">
                <a:solidFill>
                  <a:srgbClr val="117A65"/>
                </a:solidFill>
                <a:latin typeface="Segoe UI"/>
              </a:rPr>
              <a:t>6.	</a:t>
            </a:r>
            <a:r>
              <a:rPr sz="1900" b="0" i="0">
                <a:solidFill>
                  <a:srgbClr val="1C252B"/>
                </a:solidFill>
                <a:latin typeface="Segoe UI"/>
              </a:rPr>
              <a:t>Does k matter?</a:t>
            </a:r>
          </a:p>
        </p:txBody>
      </p:sp>
      <p:sp>
        <p:nvSpPr>
          <p:cNvPr id="3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8: Midterm, then quickselect against a full sort</a:t>
            </a:r>
          </a:p>
        </p:txBody>
      </p:sp>
      <p:sp>
        <p:nvSpPr>
          <p:cNvPr id="3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46 lines of C++</a:t>
            </a:r>
          </a:p>
        </p:txBody>
      </p:sp>
      <p:sp>
        <p:nvSpPr>
          <p:cNvPr id="4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code/ch11_select.cpp</a:t>
            </a:r>
          </a:p>
        </p:txBody>
      </p:sp>
      <p:sp>
        <p:nvSpPr>
          <p:cNvPr id="4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Selection Against Sorting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D484085E-95DE-4E9B-8CA0-DF9BB8597D88}"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Partition, exactly as in Chapter 9</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code/ch11_select.cpp</a:t>
            </a:r>
          </a:p>
        </p:txBody>
      </p:sp>
      <p:sp>
        <p:nvSpPr>
          <p:cNvPr id="14" name="!!code-text" descr="// ch11_select.cpp -- finding the k-th smallest without sorting. // Build: cl /O2 /EHsc /std:c++17 ch11_select.cpp (see Appendix A) // --- 1. Partition, exactly as in Chapter 9 -------------------------"/>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ch11_select.cpp -- finding the k-th smallest without sorting.</a:t>
            </a:r>
          </a:p>
          <a:p>
            <a:pPr>
              <a:lnSpc>
                <a:spcPct val="100000"/>
              </a:lnSpc>
              <a:spcAft>
                <a:spcPts val="0"/>
              </a:spcAft>
            </a:pPr>
            <a:r>
              <a:rPr sz="1900" i="1">
                <a:solidFill>
                  <a:srgbClr val="8795A1"/>
                </a:solidFill>
                <a:latin typeface="Consolas"/>
              </a:rPr>
              <a:t>// Build: cl /O2 /EHsc /std:c++17 ch11_select.cpp     (see Appendix A)</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--- 1. Partition, exactly as in Chapter 9 -------------------------</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Selection Against Sorting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64DF515C-DD62-4EFF-86EF-DC894185DD9F}"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Quickselect: recurse into ONE side, not both</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code/ch11_select.cpp</a:t>
            </a:r>
          </a:p>
        </p:txBody>
      </p:sp>
      <p:sp>
        <p:nvSpPr>
          <p:cNvPr id="14" name="!!code-text" descr="// --- 2. Quickselect: recurse into ONE side, not both --------------- // This single change is the whole algorithm. Quicksort solves both // subproblems and gets T(n) = 2T(n/2) + n = Theta(n lg n). // Quickselect discards one and gets T(n) = T(n/2) + n, which the // master theorem settles as Theta(n) -- case 3, the root dominating. // // Written as a loop rather than a recursion, because the recursive // call is in tail position and there is no reason to spend a stack // frame on it. That also removes Chapter 9's stack-overflow failure. static int quickselect(std::vector&lt;int&gt;&amp; a, size_t k, bool randomised) { size_t lo = 0, hi = a.size(); for (;;) { if (hi - lo == 1) return a[lo]; size_t p = randomised ? partition_random(a, lo, hi) : partition_last(a, lo, hi); if (p == k) return a[p]; if (k &lt; p) hi = p; // the k-th is on the left else lo = p + 1; // ... or on the right } }"/>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1">
                <a:solidFill>
                  <a:srgbClr val="8795A1"/>
                </a:solidFill>
                <a:latin typeface="Consolas"/>
              </a:rPr>
              <a:t>// --- 2. Quickselect: recurse into ONE side, not both ---------------</a:t>
            </a:r>
          </a:p>
          <a:p>
            <a:pPr>
              <a:lnSpc>
                <a:spcPct val="100000"/>
              </a:lnSpc>
              <a:spcAft>
                <a:spcPts val="0"/>
              </a:spcAft>
            </a:pPr>
            <a:r>
              <a:rPr sz="1100" i="1">
                <a:solidFill>
                  <a:srgbClr val="8795A1"/>
                </a:solidFill>
                <a:latin typeface="Consolas"/>
              </a:rPr>
              <a:t>// This single change is the whole algorithm. Quicksort solves both</a:t>
            </a:r>
          </a:p>
          <a:p>
            <a:pPr>
              <a:lnSpc>
                <a:spcPct val="100000"/>
              </a:lnSpc>
              <a:spcAft>
                <a:spcPts val="0"/>
              </a:spcAft>
            </a:pPr>
            <a:r>
              <a:rPr sz="1100" i="1">
                <a:solidFill>
                  <a:srgbClr val="8795A1"/>
                </a:solidFill>
                <a:latin typeface="Consolas"/>
              </a:rPr>
              <a:t>// subproblems and gets T(n) = 2T(n/2) + n = Theta(n lg n).</a:t>
            </a:r>
          </a:p>
          <a:p>
            <a:pPr>
              <a:lnSpc>
                <a:spcPct val="100000"/>
              </a:lnSpc>
              <a:spcAft>
                <a:spcPts val="0"/>
              </a:spcAft>
            </a:pPr>
            <a:r>
              <a:rPr sz="1100" i="1">
                <a:solidFill>
                  <a:srgbClr val="8795A1"/>
                </a:solidFill>
                <a:latin typeface="Consolas"/>
              </a:rPr>
              <a:t>// Quickselect discards one and gets T(n) = T(n/2) + n, which the</a:t>
            </a:r>
          </a:p>
          <a:p>
            <a:pPr>
              <a:lnSpc>
                <a:spcPct val="100000"/>
              </a:lnSpc>
              <a:spcAft>
                <a:spcPts val="0"/>
              </a:spcAft>
            </a:pPr>
            <a:r>
              <a:rPr sz="1100" i="1">
                <a:solidFill>
                  <a:srgbClr val="8795A1"/>
                </a:solidFill>
                <a:latin typeface="Consolas"/>
              </a:rPr>
              <a:t>// master theorem settles as Theta(n) -- case 3, the root dominating.</a:t>
            </a:r>
          </a:p>
          <a:p>
            <a:pPr>
              <a:lnSpc>
                <a:spcPct val="100000"/>
              </a:lnSpc>
              <a:spcAft>
                <a:spcPts val="0"/>
              </a:spcAft>
            </a:pPr>
            <a:r>
              <a:rPr sz="1100" i="1">
                <a:solidFill>
                  <a:srgbClr val="8795A1"/>
                </a:solidFill>
                <a:latin typeface="Consolas"/>
              </a:rPr>
              <a:t>//</a:t>
            </a:r>
          </a:p>
          <a:p>
            <a:pPr>
              <a:lnSpc>
                <a:spcPct val="100000"/>
              </a:lnSpc>
              <a:spcAft>
                <a:spcPts val="0"/>
              </a:spcAft>
            </a:pPr>
            <a:r>
              <a:rPr sz="1100" i="1">
                <a:solidFill>
                  <a:srgbClr val="8795A1"/>
                </a:solidFill>
                <a:latin typeface="Consolas"/>
              </a:rPr>
              <a:t>// Written as a loop rather than a recursion, because the recursive</a:t>
            </a:r>
          </a:p>
          <a:p>
            <a:pPr>
              <a:lnSpc>
                <a:spcPct val="100000"/>
              </a:lnSpc>
              <a:spcAft>
                <a:spcPts val="0"/>
              </a:spcAft>
            </a:pPr>
            <a:r>
              <a:rPr sz="1100" i="1">
                <a:solidFill>
                  <a:srgbClr val="8795A1"/>
                </a:solidFill>
                <a:latin typeface="Consolas"/>
              </a:rPr>
              <a:t>// call is in tail position and there is no reason to spend a stack</a:t>
            </a:r>
          </a:p>
          <a:p>
            <a:pPr>
              <a:lnSpc>
                <a:spcPct val="100000"/>
              </a:lnSpc>
              <a:spcAft>
                <a:spcPts val="0"/>
              </a:spcAft>
            </a:pPr>
            <a:r>
              <a:rPr sz="1100" i="1">
                <a:solidFill>
                  <a:srgbClr val="8795A1"/>
                </a:solidFill>
                <a:latin typeface="Consolas"/>
              </a:rPr>
              <a:t>// frame on it. That also removes Chapter 9's stack-overflow failure.</a:t>
            </a:r>
          </a:p>
          <a:p>
            <a:pPr>
              <a:lnSpc>
                <a:spcPct val="100000"/>
              </a:lnSpc>
              <a:spcAft>
                <a:spcPts val="0"/>
              </a:spcAft>
            </a:pPr>
            <a:r>
              <a:rPr sz="1100" i="0">
                <a:solidFill>
                  <a:srgbClr val="5DADE2"/>
                </a:solidFill>
                <a:latin typeface="Consolas"/>
              </a:rPr>
              <a:t>static</a:t>
            </a:r>
            <a:r>
              <a:rPr sz="1100" i="0">
                <a:solidFill>
                  <a:srgbClr val="E8EDF2"/>
                </a:solidFill>
                <a:latin typeface="Consolas"/>
              </a:rPr>
              <a:t> </a:t>
            </a:r>
            <a:r>
              <a:rPr sz="1100" i="0">
                <a:solidFill>
                  <a:srgbClr val="5DADE2"/>
                </a:solidFill>
                <a:latin typeface="Consolas"/>
              </a:rPr>
              <a:t>int</a:t>
            </a:r>
            <a:r>
              <a:rPr sz="1100" i="0">
                <a:solidFill>
                  <a:srgbClr val="E8EDF2"/>
                </a:solidFill>
                <a:latin typeface="Consolas"/>
              </a:rPr>
              <a:t> </a:t>
            </a:r>
            <a:r>
              <a:rPr sz="1100" i="0">
                <a:solidFill>
                  <a:srgbClr val="C39BD3"/>
                </a:solidFill>
                <a:latin typeface="Consolas"/>
              </a:rPr>
              <a:t>quickselect</a:t>
            </a:r>
            <a:r>
              <a:rPr sz="1100" i="0">
                <a:solidFill>
                  <a:srgbClr val="AEB6BF"/>
                </a:solidFill>
                <a:latin typeface="Consolas"/>
              </a:rPr>
              <a:t>(</a:t>
            </a:r>
            <a:r>
              <a:rPr sz="1100" i="0">
                <a:solidFill>
                  <a:srgbClr val="E8EDF2"/>
                </a:solidFill>
                <a:latin typeface="Consolas"/>
              </a:rPr>
              <a:t>std</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vector</a:t>
            </a:r>
            <a:r>
              <a:rPr sz="1100" i="0">
                <a:solidFill>
                  <a:srgbClr val="AEB6BF"/>
                </a:solidFill>
                <a:latin typeface="Consolas"/>
              </a:rPr>
              <a:t>&lt;</a:t>
            </a:r>
            <a:r>
              <a:rPr sz="1100" i="0">
                <a:solidFill>
                  <a:srgbClr val="5DADE2"/>
                </a:solidFill>
                <a:latin typeface="Consolas"/>
              </a:rPr>
              <a:t>int</a:t>
            </a:r>
            <a:r>
              <a:rPr sz="1100" i="0">
                <a:solidFill>
                  <a:srgbClr val="AEB6BF"/>
                </a:solidFill>
                <a:latin typeface="Consolas"/>
              </a:rPr>
              <a:t>&gt;</a:t>
            </a:r>
            <a:r>
              <a:rPr sz="1100" i="0">
                <a:solidFill>
                  <a:srgbClr val="AEB6BF"/>
                </a:solidFill>
                <a:latin typeface="Consolas"/>
              </a:rPr>
              <a:t>&amp;</a:t>
            </a:r>
            <a:r>
              <a:rPr sz="1100" i="0">
                <a:solidFill>
                  <a:srgbClr val="E8EDF2"/>
                </a:solidFill>
                <a:latin typeface="Consolas"/>
              </a:rPr>
              <a:t> </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size_t</a:t>
            </a:r>
            <a:r>
              <a:rPr sz="1100" i="0">
                <a:solidFill>
                  <a:srgbClr val="E8EDF2"/>
                </a:solidFill>
                <a:latin typeface="Consolas"/>
              </a:rPr>
              <a:t> </a:t>
            </a:r>
            <a:r>
              <a:rPr sz="1100" i="0">
                <a:solidFill>
                  <a:srgbClr val="E8EDF2"/>
                </a:solidFill>
                <a:latin typeface="Consolas"/>
              </a:rPr>
              <a:t>k</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bool</a:t>
            </a:r>
            <a:r>
              <a:rPr sz="1100" i="0">
                <a:solidFill>
                  <a:srgbClr val="E8EDF2"/>
                </a:solidFill>
                <a:latin typeface="Consolas"/>
              </a:rPr>
              <a:t> </a:t>
            </a:r>
            <a:r>
              <a:rPr sz="1100" i="0">
                <a:solidFill>
                  <a:srgbClr val="E8EDF2"/>
                </a:solidFill>
                <a:latin typeface="Consolas"/>
              </a:rPr>
              <a:t>randomised</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size_t</a:t>
            </a:r>
            <a:r>
              <a:rPr sz="1100" i="0">
                <a:solidFill>
                  <a:srgbClr val="E8EDF2"/>
                </a:solidFill>
                <a:latin typeface="Consolas"/>
              </a:rPr>
              <a:t> </a:t>
            </a:r>
            <a:r>
              <a:rPr sz="1100" i="0">
                <a:solidFill>
                  <a:srgbClr val="E8EDF2"/>
                </a:solidFill>
                <a:latin typeface="Consolas"/>
              </a:rPr>
              <a:t>lo</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hi</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size</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hi</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lo</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size_t</a:t>
            </a:r>
            <a:r>
              <a:rPr sz="1100" i="0">
                <a:solidFill>
                  <a:srgbClr val="E8EDF2"/>
                </a:solidFill>
                <a:latin typeface="Consolas"/>
              </a:rPr>
              <a:t> </a:t>
            </a:r>
            <a:r>
              <a:rPr sz="1100" i="0">
                <a:solidFill>
                  <a:srgbClr val="E8EDF2"/>
                </a:solidFill>
                <a:latin typeface="Consolas"/>
              </a:rPr>
              <a:t>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randomised</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partition_random</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hi</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partition_last</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hi</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p</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k</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p</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k</a:t>
            </a:r>
            <a:r>
              <a:rPr sz="1100" i="0">
                <a:solidFill>
                  <a:srgbClr val="E8EDF2"/>
                </a:solidFill>
                <a:latin typeface="Consolas"/>
              </a:rPr>
              <a:t> </a:t>
            </a:r>
            <a:r>
              <a:rPr sz="1100" i="0">
                <a:solidFill>
                  <a:srgbClr val="AEB6BF"/>
                </a:solidFill>
                <a:latin typeface="Consolas"/>
              </a:rPr>
              <a:t>&lt;</a:t>
            </a:r>
            <a:r>
              <a:rPr sz="1100" i="0">
                <a:solidFill>
                  <a:srgbClr val="E8EDF2"/>
                </a:solidFill>
                <a:latin typeface="Consolas"/>
              </a:rPr>
              <a:t> </a:t>
            </a:r>
            <a:r>
              <a:rPr sz="1100" i="0">
                <a:solidFill>
                  <a:srgbClr val="E8EDF2"/>
                </a:solidFill>
                <a:latin typeface="Consolas"/>
              </a:rPr>
              <a:t>p</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hi</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the k-th is on the left</a:t>
            </a:r>
          </a:p>
          <a:p>
            <a:pPr>
              <a:lnSpc>
                <a:spcPct val="100000"/>
              </a:lnSpc>
              <a:spcAft>
                <a:spcPts val="0"/>
              </a:spcAft>
            </a:pPr>
            <a:r>
              <a:rPr sz="1100" i="0">
                <a:solidFill>
                  <a:srgbClr val="E8EDF2"/>
                </a:solidFill>
                <a:latin typeface="Consolas"/>
              </a:rPr>
              <a:t>        </a:t>
            </a:r>
            <a:r>
              <a:rPr sz="1100" i="0">
                <a:solidFill>
                  <a:srgbClr val="5DADE2"/>
                </a:solidFill>
                <a:latin typeface="Consolas"/>
              </a:rPr>
              <a:t>else</a:t>
            </a:r>
            <a:r>
              <a:rPr sz="1100" i="0">
                <a:solidFill>
                  <a:srgbClr val="E8EDF2"/>
                </a:solidFill>
                <a:latin typeface="Consolas"/>
              </a:rPr>
              <a:t>       </a:t>
            </a:r>
            <a:r>
              <a:rPr sz="1100" i="0">
                <a:solidFill>
                  <a:srgbClr val="E8EDF2"/>
                </a:solidFill>
                <a:latin typeface="Consolas"/>
              </a:rPr>
              <a:t>lo</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p</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 or on the right</a:t>
            </a:r>
          </a:p>
          <a:p>
            <a:pPr>
              <a:lnSpc>
                <a:spcPct val="100000"/>
              </a:lnSpc>
              <a:spcAft>
                <a:spcPts val="0"/>
              </a:spcAft>
            </a:pP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6</a:t>
            </a:r>
          </a:p>
          <a:p>
            <a:pPr algn="r">
              <a:lnSpc>
                <a:spcPct val="100000"/>
              </a:lnSpc>
            </a:pPr>
            <a:r>
              <a:rPr sz="1100">
                <a:solidFill>
                  <a:srgbClr val="4F5D6A"/>
                </a:solidFill>
                <a:latin typeface="Consolas"/>
              </a:rPr>
              <a:t>7</a:t>
            </a:r>
          </a:p>
          <a:p>
            <a:pPr algn="r">
              <a:lnSpc>
                <a:spcPct val="100000"/>
              </a:lnSpc>
            </a:pPr>
            <a:r>
              <a:rPr sz="1100">
                <a:solidFill>
                  <a:srgbClr val="4F5D6A"/>
                </a:solidFill>
                <a:latin typeface="Consolas"/>
              </a:rPr>
              <a:t>8</a:t>
            </a:r>
          </a:p>
          <a:p>
            <a:pPr algn="r">
              <a:lnSpc>
                <a:spcPct val="100000"/>
              </a:lnSpc>
            </a:pPr>
            <a:r>
              <a:rPr sz="1100">
                <a:solidFill>
                  <a:srgbClr val="4F5D6A"/>
                </a:solidFill>
                <a:latin typeface="Consolas"/>
              </a:rPr>
              <a:t>9</a:t>
            </a:r>
          </a:p>
          <a:p>
            <a:pPr algn="r">
              <a:lnSpc>
                <a:spcPct val="100000"/>
              </a:lnSpc>
            </a:pPr>
            <a:r>
              <a:rPr sz="1100">
                <a:solidFill>
                  <a:srgbClr val="4F5D6A"/>
                </a:solidFill>
                <a:latin typeface="Consolas"/>
              </a:rPr>
              <a:t>10</a:t>
            </a:r>
          </a:p>
          <a:p>
            <a:pPr algn="r">
              <a:lnSpc>
                <a:spcPct val="100000"/>
              </a:lnSpc>
            </a:pPr>
            <a:r>
              <a:rPr sz="1100">
                <a:solidFill>
                  <a:srgbClr val="4F5D6A"/>
                </a:solidFill>
                <a:latin typeface="Consolas"/>
              </a:rPr>
              <a:t>11</a:t>
            </a:r>
          </a:p>
          <a:p>
            <a:pPr algn="r">
              <a:lnSpc>
                <a:spcPct val="100000"/>
              </a:lnSpc>
            </a:pPr>
            <a:r>
              <a:rPr sz="1100">
                <a:solidFill>
                  <a:srgbClr val="4F5D6A"/>
                </a:solidFill>
                <a:latin typeface="Consolas"/>
              </a:rPr>
              <a:t>12</a:t>
            </a:r>
          </a:p>
          <a:p>
            <a:pPr algn="r">
              <a:lnSpc>
                <a:spcPct val="100000"/>
              </a:lnSpc>
            </a:pPr>
            <a:r>
              <a:rPr sz="1100">
                <a:solidFill>
                  <a:srgbClr val="4F5D6A"/>
                </a:solidFill>
                <a:latin typeface="Consolas"/>
              </a:rPr>
              <a:t>13</a:t>
            </a:r>
          </a:p>
          <a:p>
            <a:pPr algn="r">
              <a:lnSpc>
                <a:spcPct val="100000"/>
              </a:lnSpc>
            </a:pPr>
            <a:r>
              <a:rPr sz="1100">
                <a:solidFill>
                  <a:srgbClr val="4F5D6A"/>
                </a:solidFill>
                <a:latin typeface="Consolas"/>
              </a:rPr>
              <a:t>14</a:t>
            </a:r>
          </a:p>
          <a:p>
            <a:pPr algn="r">
              <a:lnSpc>
                <a:spcPct val="100000"/>
              </a:lnSpc>
            </a:pPr>
            <a:r>
              <a:rPr sz="1100">
                <a:solidFill>
                  <a:srgbClr val="4F5D6A"/>
                </a:solidFill>
                <a:latin typeface="Consolas"/>
              </a:rPr>
              <a:t>15</a:t>
            </a:r>
          </a:p>
          <a:p>
            <a:pPr algn="r">
              <a:lnSpc>
                <a:spcPct val="100000"/>
              </a:lnSpc>
            </a:pPr>
            <a:r>
              <a:rPr sz="1100">
                <a:solidFill>
                  <a:srgbClr val="4F5D6A"/>
                </a:solidFill>
                <a:latin typeface="Consolas"/>
              </a:rPr>
              <a:t>16</a:t>
            </a:r>
          </a:p>
          <a:p>
            <a:pPr algn="r">
              <a:lnSpc>
                <a:spcPct val="100000"/>
              </a:lnSpc>
            </a:pPr>
            <a:r>
              <a:rPr sz="1100">
                <a:solidFill>
                  <a:srgbClr val="4F5D6A"/>
                </a:solidFill>
                <a:latin typeface="Consolas"/>
              </a:rPr>
              <a:t>17</a:t>
            </a:r>
          </a:p>
          <a:p>
            <a:pPr algn="r">
              <a:lnSpc>
                <a:spcPct val="100000"/>
              </a:lnSpc>
            </a:pPr>
            <a:r>
              <a:rPr sz="1100">
                <a:solidFill>
                  <a:srgbClr val="4F5D6A"/>
                </a:solidFill>
                <a:latin typeface="Consolas"/>
              </a:rPr>
              <a:t>18</a:t>
            </a:r>
          </a:p>
          <a:p>
            <a:pPr algn="r">
              <a:lnSpc>
                <a:spcPct val="100000"/>
              </a:lnSpc>
            </a:pPr>
            <a:r>
              <a:rPr sz="1100">
                <a:solidFill>
                  <a:srgbClr val="4F5D6A"/>
                </a:solidFill>
                <a:latin typeface="Consolas"/>
              </a:rPr>
              <a:t>19</a:t>
            </a:r>
          </a:p>
          <a:p>
            <a:pPr algn="r">
              <a:lnSpc>
                <a:spcPct val="100000"/>
              </a:lnSpc>
            </a:pPr>
            <a:r>
              <a:rPr sz="1100">
                <a:solidFill>
                  <a:srgbClr val="4F5D6A"/>
                </a:solidFill>
                <a:latin typeface="Consolas"/>
              </a:rPr>
              <a:t>20</a:t>
            </a:r>
          </a:p>
          <a:p>
            <a:pPr algn="r">
              <a:lnSpc>
                <a:spcPct val="100000"/>
              </a:lnSpc>
            </a:pPr>
            <a:r>
              <a:rPr sz="1100">
                <a:solidFill>
                  <a:srgbClr val="4F5D6A"/>
                </a:solidFill>
                <a:latin typeface="Consolas"/>
              </a:rPr>
              <a:t>21</a:t>
            </a:r>
          </a:p>
          <a:p>
            <a:pPr algn="r">
              <a:lnSpc>
                <a:spcPct val="100000"/>
              </a:lnSpc>
            </a:pPr>
            <a:r>
              <a:rPr sz="1100">
                <a:solidFill>
                  <a:srgbClr val="4F5D6A"/>
                </a:solidFill>
                <a:latin typeface="Consolas"/>
              </a:rPr>
              <a:t>22</a:t>
            </a:r>
          </a:p>
          <a:p>
            <a:pPr algn="r">
              <a:lnSpc>
                <a:spcPct val="100000"/>
              </a:lnSpc>
            </a:pPr>
            <a:r>
              <a:rPr sz="1100">
                <a:solidFill>
                  <a:srgbClr val="4F5D6A"/>
                </a:solidFill>
                <a:latin typeface="Consolas"/>
              </a:rPr>
              <a:t>23</a:t>
            </a:r>
          </a:p>
          <a:p>
            <a:pPr algn="r">
              <a:lnSpc>
                <a:spcPct val="100000"/>
              </a:lnSpc>
            </a:pPr>
            <a:r>
              <a:rPr sz="1100">
                <a:solidFill>
                  <a:srgbClr val="4F5D6A"/>
                </a:solidFill>
                <a:latin typeface="Consolas"/>
              </a:rPr>
              <a:t>24</a:t>
            </a:r>
          </a:p>
          <a:p>
            <a:pPr algn="r">
              <a:lnSpc>
                <a:spcPct val="100000"/>
              </a:lnSpc>
            </a:pPr>
            <a:r>
              <a:rPr sz="11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Selection Against Sorting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5457BE6F-227B-4C12-A447-14A7BB181E5F}"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Comparisons: selection against sorting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code/ch11_select.cpp</a:t>
            </a:r>
          </a:p>
        </p:txBody>
      </p:sp>
      <p:sp>
        <p:nvSpPr>
          <p:cNvPr id="14" name="!!code-text" descr="// --- 3. Comparisons: selection against sorting --------------------- // An EXPECTED value is being measured, so one run of a randomised // algorithm is not an answer: single runs of this gave 2.52, 3.92, // 3.73 and 2.73 comparisons per element, which says only that the // answer is somewhere near 3. Average over 25 independent runs."/>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Comparisons: selection against sorting ---------------------</a:t>
            </a:r>
          </a:p>
          <a:p>
            <a:pPr>
              <a:lnSpc>
                <a:spcPct val="100000"/>
              </a:lnSpc>
              <a:spcAft>
                <a:spcPts val="0"/>
              </a:spcAft>
            </a:pPr>
            <a:r>
              <a:rPr sz="1900" i="1">
                <a:solidFill>
                  <a:srgbClr val="8795A1"/>
                </a:solidFill>
                <a:latin typeface="Consolas"/>
              </a:rPr>
              <a:t>// An EXPECTED value is being measured, so one run of a randomised</a:t>
            </a:r>
          </a:p>
          <a:p>
            <a:pPr>
              <a:lnSpc>
                <a:spcPct val="100000"/>
              </a:lnSpc>
              <a:spcAft>
                <a:spcPts val="0"/>
              </a:spcAft>
            </a:pPr>
            <a:r>
              <a:rPr sz="1900" i="1">
                <a:solidFill>
                  <a:srgbClr val="8795A1"/>
                </a:solidFill>
                <a:latin typeface="Consolas"/>
              </a:rPr>
              <a:t>// algorithm is not an answer: single runs of this gave 2.52, 3.92,</a:t>
            </a:r>
          </a:p>
          <a:p>
            <a:pPr>
              <a:lnSpc>
                <a:spcPct val="100000"/>
              </a:lnSpc>
              <a:spcAft>
                <a:spcPts val="0"/>
              </a:spcAft>
            </a:pPr>
            <a:r>
              <a:rPr sz="1900" i="1">
                <a:solidFill>
                  <a:srgbClr val="8795A1"/>
                </a:solidFill>
                <a:latin typeface="Consolas"/>
              </a:rPr>
              <a:t>// 3.73 and 2.73 comparisons per element, which says only that the</a:t>
            </a:r>
          </a:p>
          <a:p>
            <a:pPr>
              <a:lnSpc>
                <a:spcPct val="100000"/>
              </a:lnSpc>
              <a:spcAft>
                <a:spcPts val="0"/>
              </a:spcAft>
            </a:pPr>
            <a:r>
              <a:rPr sz="1900" i="1">
                <a:solidFill>
                  <a:srgbClr val="8795A1"/>
                </a:solidFill>
                <a:latin typeface="Consolas"/>
              </a:rPr>
              <a:t>// answer is somewhere near 3. Average over 25 independent runs.</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Selection Against Sorting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D935E379-CE57-439D-8B51-1A1F6AC8E1F2}"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thing in seconds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code/ch11_select.cpp</a:t>
            </a:r>
          </a:p>
        </p:txBody>
      </p:sp>
      <p:sp>
        <p:nvSpPr>
          <p:cNvPr id="14" name="!!code-text" descr="// --- 4. The same thing in seconds ---------------------------------- // std::nth_element is the library's version: introselect, which is // quickselect with a median-of-medians fallback, exactly as // std::sort is quicksort with a heapsort fallback."/>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The same thing in seconds ----------------------------------</a:t>
            </a:r>
          </a:p>
          <a:p>
            <a:pPr>
              <a:lnSpc>
                <a:spcPct val="100000"/>
              </a:lnSpc>
              <a:spcAft>
                <a:spcPts val="0"/>
              </a:spcAft>
            </a:pPr>
            <a:r>
              <a:rPr sz="1900" i="1">
                <a:solidFill>
                  <a:srgbClr val="8795A1"/>
                </a:solidFill>
                <a:latin typeface="Consolas"/>
              </a:rPr>
              <a:t>// std::nth_element is the library's version: introselect, which is</a:t>
            </a:r>
          </a:p>
          <a:p>
            <a:pPr>
              <a:lnSpc>
                <a:spcPct val="100000"/>
              </a:lnSpc>
              <a:spcAft>
                <a:spcPts val="0"/>
              </a:spcAft>
            </a:pPr>
            <a:r>
              <a:rPr sz="1900" i="1">
                <a:solidFill>
                  <a:srgbClr val="8795A1"/>
                </a:solidFill>
                <a:latin typeface="Consolas"/>
              </a:rPr>
              <a:t>// quickselect with a median-of-medians fallback, exactly as</a:t>
            </a:r>
          </a:p>
          <a:p>
            <a:pPr>
              <a:lnSpc>
                <a:spcPct val="100000"/>
              </a:lnSpc>
              <a:spcAft>
                <a:spcPts val="0"/>
              </a:spcAft>
            </a:pPr>
            <a:r>
              <a:rPr sz="1900" i="1">
                <a:solidFill>
                  <a:srgbClr val="8795A1"/>
                </a:solidFill>
                <a:latin typeface="Consolas"/>
              </a:rPr>
              <a:t>// std::sort is quicksort with a heapsort fallback.</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Selection Against Sorting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0327D5A7-823F-431C-BFB2-2E1B825EF993}"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worst case, for Chapter 9's reason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code/ch11_select.cpp</a:t>
            </a:r>
          </a:p>
        </p:txBody>
      </p:sp>
      <p:sp>
        <p:nvSpPr>
          <p:cNvPr id="14" name="!!code-text" descr="// --- 5. The worst case, for Chapter 9's reason --------------------- // A last-element pivot on sorted input shrinks the range by one each // time: T(n) = T(n-1) + n = Theta(n^2). The loop form means it is // slow rather than a crash, which is an improvement but not a fix."/>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The worst case, for Chapter 9's reason ---------------------</a:t>
            </a:r>
          </a:p>
          <a:p>
            <a:pPr>
              <a:lnSpc>
                <a:spcPct val="100000"/>
              </a:lnSpc>
              <a:spcAft>
                <a:spcPts val="0"/>
              </a:spcAft>
            </a:pPr>
            <a:r>
              <a:rPr sz="1900" i="1">
                <a:solidFill>
                  <a:srgbClr val="8795A1"/>
                </a:solidFill>
                <a:latin typeface="Consolas"/>
              </a:rPr>
              <a:t>// A last-element pivot on sorted input shrinks the range by one each</a:t>
            </a:r>
          </a:p>
          <a:p>
            <a:pPr>
              <a:lnSpc>
                <a:spcPct val="100000"/>
              </a:lnSpc>
              <a:spcAft>
                <a:spcPts val="0"/>
              </a:spcAft>
            </a:pPr>
            <a:r>
              <a:rPr sz="1900" i="1">
                <a:solidFill>
                  <a:srgbClr val="8795A1"/>
                </a:solidFill>
                <a:latin typeface="Consolas"/>
              </a:rPr>
              <a:t>// time: T(n) = T(n-1) + n = Theta(n^2). The loop form means it is</a:t>
            </a:r>
          </a:p>
          <a:p>
            <a:pPr>
              <a:lnSpc>
                <a:spcPct val="100000"/>
              </a:lnSpc>
              <a:spcAft>
                <a:spcPts val="0"/>
              </a:spcAft>
            </a:pPr>
            <a:r>
              <a:rPr sz="1900" i="1">
                <a:solidFill>
                  <a:srgbClr val="8795A1"/>
                </a:solidFill>
                <a:latin typeface="Consolas"/>
              </a:rPr>
              <a:t>// slow rather than a crash, which is an improvement but not a fix.</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Selection Against Sorting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BF74BEE9-754C-4376-AE55-1460910A5CE4}"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Does k matter?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code/ch11_select.cpp</a:t>
            </a:r>
          </a:p>
        </p:txBody>
      </p:sp>
      <p:sp>
        <p:nvSpPr>
          <p:cNvPr id="14" name="!!code-text" descr="// --- 6. Does k matter? --------------------------------------------- // The expected cost is smaller towards the ends -- but not // dramatically, because the first partition costs n whatever k is. // That first n is a floor nothing removes."/>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Does k matter? ---------------------------------------------</a:t>
            </a:r>
          </a:p>
          <a:p>
            <a:pPr>
              <a:lnSpc>
                <a:spcPct val="100000"/>
              </a:lnSpc>
              <a:spcAft>
                <a:spcPts val="0"/>
              </a:spcAft>
            </a:pPr>
            <a:r>
              <a:rPr sz="1900" i="1">
                <a:solidFill>
                  <a:srgbClr val="8795A1"/>
                </a:solidFill>
                <a:latin typeface="Consolas"/>
              </a:rPr>
              <a:t>// The expected cost is smaller towards the ends -- but not</a:t>
            </a:r>
          </a:p>
          <a:p>
            <a:pPr>
              <a:lnSpc>
                <a:spcPct val="100000"/>
              </a:lnSpc>
              <a:spcAft>
                <a:spcPts val="0"/>
              </a:spcAft>
            </a:pPr>
            <a:r>
              <a:rPr sz="1900" i="1">
                <a:solidFill>
                  <a:srgbClr val="8795A1"/>
                </a:solidFill>
                <a:latin typeface="Consolas"/>
              </a:rPr>
              <a:t>// dramatically, because the first partition costs n whatever k is.</a:t>
            </a:r>
          </a:p>
          <a:p>
            <a:pPr>
              <a:lnSpc>
                <a:spcPct val="100000"/>
              </a:lnSpc>
              <a:spcAft>
                <a:spcPts val="0"/>
              </a:spcAft>
            </a:pPr>
            <a:r>
              <a:rPr sz="1900" i="1">
                <a:solidFill>
                  <a:srgbClr val="8795A1"/>
                </a:solidFill>
                <a:latin typeface="Consolas"/>
              </a:rPr>
              <a:t>// That first n is a floor nothing removes.</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4621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93     </a:t>
            </a:r>
            <a:fld id="{C80F93AA-A757-46F9-A680-389EF2CC9655}"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spread column in part 3. The mean is a stable 3.3 across four orders of magnitude, and individual runs vary by a factor of three. Both facts are properties of the algorithm, and quoting only the first would be misleading.</a:t>
            </a:r>
          </a:p>
        </p:txBody>
      </p:sp>
      <p:sp>
        <p:nvSpPr>
          <p:cNvPr id="10" name="body-1"/>
          <p:cNvSpPr txBox="1"/>
          <p:nvPr/>
        </p:nvSpPr>
        <p:spPr>
          <a:xfrm>
            <a:off x="1060704" y="3667074"/>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Implement median-of-medians and race it against randomised quickselect on random input. Predict first which wins and by how much. Then build the input that makes quickselect quadratic and race them again. The crossover between “better constant” and “better guarantee” is the entire argument for introselect, and you will have measured both ends of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Quicksort’s recurrence is </a:t>
            </a:r>
            <a:r>
              <a:rPr sz="3400" b="0" i="1">
                <a:solidFill>
                  <a:srgbClr val="FFFFFF"/>
                </a:solidFill>
                <a:latin typeface="Cambria"/>
              </a:rPr>
              <a:t>T</a:t>
            </a:r>
            <a:r>
              <a:rPr sz="3400" b="0" i="0">
                <a:solidFill>
                  <a:srgbClr val="FFFFFF"/>
                </a:solidFill>
                <a:latin typeface="Cambria"/>
              </a:rPr>
              <a:t>(</a:t>
            </a:r>
            <a:r>
              <a:rPr sz="3400" b="0" i="1">
                <a:solidFill>
                  <a:srgbClr val="FFFFFF"/>
                </a:solidFill>
                <a:latin typeface="Cambria"/>
              </a:rPr>
              <a:t>n</a:t>
            </a:r>
            <a:r>
              <a:rPr sz="3400" b="0" i="0">
                <a:solidFill>
                  <a:srgbClr val="FFFFFF"/>
                </a:solidFill>
                <a:latin typeface="Cambria"/>
              </a:rPr>
              <a:t>)=2</a:t>
            </a:r>
            <a:r>
              <a:rPr sz="3400" b="0" i="1">
                <a:solidFill>
                  <a:srgbClr val="FFFFFF"/>
                </a:solidFill>
                <a:latin typeface="Cambria"/>
              </a:rPr>
              <a:t>T</a:t>
            </a:r>
            <a:r>
              <a:rPr sz="3400" b="0" i="0">
                <a:solidFill>
                  <a:srgbClr val="FFFFFF"/>
                </a:solidFill>
                <a:latin typeface="Cambria"/>
              </a:rPr>
              <a:t>(</a:t>
            </a:r>
            <a:r>
              <a:rPr sz="3400" b="0" i="1">
                <a:solidFill>
                  <a:srgbClr val="FFFFFF"/>
                </a:solidFill>
                <a:latin typeface="Cambria"/>
              </a:rPr>
              <a:t>n</a:t>
            </a:r>
            <a:r>
              <a:rPr sz="3400" b="0" i="0">
                <a:solidFill>
                  <a:srgbClr val="FFFFFF"/>
                </a:solidFill>
                <a:latin typeface="Cambria"/>
              </a:rPr>
              <a:t>/2)+</a:t>
            </a:r>
            <a:r>
              <a:rPr sz="3400" b="0" i="1">
                <a:solidFill>
                  <a:srgbClr val="FFFFFF"/>
                </a:solidFill>
                <a:latin typeface="Cambria"/>
              </a:rPr>
              <a:t>n</a:t>
            </a:r>
            <a:r>
              <a:rPr sz="3400" b="0" i="0">
                <a:solidFill>
                  <a:srgbClr val="FFFFFF"/>
                </a:solidFill>
                <a:latin typeface="Segoe UI Semibold"/>
              </a:rPr>
              <a:t> and quickselect’s is </a:t>
            </a:r>
            <a:r>
              <a:rPr sz="3400" b="0" i="1">
                <a:solidFill>
                  <a:srgbClr val="FFFFFF"/>
                </a:solidFill>
                <a:latin typeface="Cambria"/>
              </a:rPr>
              <a:t>T</a:t>
            </a:r>
            <a:r>
              <a:rPr sz="3400" b="0" i="0">
                <a:solidFill>
                  <a:srgbClr val="FFFFFF"/>
                </a:solidFill>
                <a:latin typeface="Cambria"/>
              </a:rPr>
              <a:t>(</a:t>
            </a:r>
            <a:r>
              <a:rPr sz="3400" b="0" i="1">
                <a:solidFill>
                  <a:srgbClr val="FFFFFF"/>
                </a:solidFill>
                <a:latin typeface="Cambria"/>
              </a:rPr>
              <a:t>n</a:t>
            </a:r>
            <a:r>
              <a:rPr sz="3400" b="0" i="0">
                <a:solidFill>
                  <a:srgbClr val="FFFFFF"/>
                </a:solidFill>
                <a:latin typeface="Cambria"/>
              </a:rPr>
              <a:t>)=</a:t>
            </a:r>
            <a:r>
              <a:rPr sz="3400" b="0" i="1">
                <a:solidFill>
                  <a:srgbClr val="FFFFFF"/>
                </a:solidFill>
                <a:latin typeface="Cambria"/>
              </a:rPr>
              <a:t>T</a:t>
            </a:r>
            <a:r>
              <a:rPr sz="3400" b="0" i="0">
                <a:solidFill>
                  <a:srgbClr val="FFFFFF"/>
                </a:solidFill>
                <a:latin typeface="Cambria"/>
              </a:rPr>
              <a:t>(</a:t>
            </a:r>
            <a:r>
              <a:rPr sz="3400" b="0" i="1">
                <a:solidFill>
                  <a:srgbClr val="FFFFFF"/>
                </a:solidFill>
                <a:latin typeface="Cambria"/>
              </a:rPr>
              <a:t>n</a:t>
            </a:r>
            <a:r>
              <a:rPr sz="3400" b="0" i="0">
                <a:solidFill>
                  <a:srgbClr val="FFFFFF"/>
                </a:solidFill>
                <a:latin typeface="Cambria"/>
              </a:rPr>
              <a:t>/2)+</a:t>
            </a:r>
            <a:r>
              <a:rPr sz="3400" b="0" i="1">
                <a:solidFill>
                  <a:srgbClr val="FFFFFF"/>
                </a:solidFill>
                <a:latin typeface="Cambria"/>
              </a:rPr>
              <a:t>n</a:t>
            </a:r>
            <a:r>
              <a:rPr sz="3400" b="0" i="0">
                <a:solidFill>
                  <a:srgbClr val="FFFFFF"/>
                </a:solidFill>
                <a:latin typeface="Segoe UI Semibold"/>
              </a:rPr>
              <a:t>. Identify the master-theorem case for each and explain where the </a:t>
            </a:r>
            <a:r>
              <a:rPr sz="3400" b="0" i="0">
                <a:solidFill>
                  <a:srgbClr val="FFFFFF"/>
                </a:solidFill>
                <a:latin typeface="Cambria"/>
              </a:rPr>
              <a:t>lg </a:t>
            </a:r>
            <a:r>
              <a:rPr sz="3400" b="0" i="1">
                <a:solidFill>
                  <a:srgbClr val="FFFFFF"/>
                </a:solidFill>
                <a:latin typeface="Cambria"/>
              </a:rPr>
              <a:t>n</a:t>
            </a:r>
            <a:r>
              <a:rPr sz="3400" b="0" i="0">
                <a:solidFill>
                  <a:srgbClr val="FFFFFF"/>
                </a:solidFill>
                <a:latin typeface="Segoe UI Semibold"/>
              </a:rPr>
              <a:t> went.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11  ·  Selection and Order Statistics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96  ·  answers in Appendix D     </a:t>
            </a:r>
            <a:fld id="{72003597-D8E2-47A1-A809-689B86AD9337}"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Quicksort’s recurrence is </a:t>
            </a:r>
            <a:r>
              <a:rPr sz="2400" b="0" i="1">
                <a:solidFill>
                  <a:srgbClr val="1A5276"/>
                </a:solidFill>
                <a:latin typeface="Cambria"/>
              </a:rPr>
              <a:t>T</a:t>
            </a:r>
            <a:r>
              <a:rPr sz="2400" b="0" i="0">
                <a:solidFill>
                  <a:srgbClr val="1A5276"/>
                </a:solidFill>
                <a:latin typeface="Cambria"/>
              </a:rPr>
              <a:t>(</a:t>
            </a:r>
            <a:r>
              <a:rPr sz="2400" b="0" i="1">
                <a:solidFill>
                  <a:srgbClr val="1A5276"/>
                </a:solidFill>
                <a:latin typeface="Cambria"/>
              </a:rPr>
              <a:t>n</a:t>
            </a:r>
            <a:r>
              <a:rPr sz="2400" b="0" i="0">
                <a:solidFill>
                  <a:srgbClr val="1A5276"/>
                </a:solidFill>
                <a:latin typeface="Cambria"/>
              </a:rPr>
              <a:t>)=2</a:t>
            </a:r>
            <a:r>
              <a:rPr sz="2400" b="0" i="1">
                <a:solidFill>
                  <a:srgbClr val="1A5276"/>
                </a:solidFill>
                <a:latin typeface="Cambria"/>
              </a:rPr>
              <a:t>T</a:t>
            </a:r>
            <a:r>
              <a:rPr sz="2400" b="0" i="0">
                <a:solidFill>
                  <a:srgbClr val="1A5276"/>
                </a:solidFill>
                <a:latin typeface="Cambria"/>
              </a:rPr>
              <a:t>(</a:t>
            </a:r>
            <a:r>
              <a:rPr sz="2400" b="0" i="1">
                <a:solidFill>
                  <a:srgbClr val="1A5276"/>
                </a:solidFill>
                <a:latin typeface="Cambria"/>
              </a:rPr>
              <a:t>n</a:t>
            </a:r>
            <a:r>
              <a:rPr sz="2400" b="0" i="0">
                <a:solidFill>
                  <a:srgbClr val="1A5276"/>
                </a:solidFill>
                <a:latin typeface="Cambria"/>
              </a:rPr>
              <a:t>/2)+</a:t>
            </a:r>
            <a:r>
              <a:rPr sz="2400" b="0" i="1">
                <a:solidFill>
                  <a:srgbClr val="1A5276"/>
                </a:solidFill>
                <a:latin typeface="Cambria"/>
              </a:rPr>
              <a:t>n</a:t>
            </a:r>
            <a:r>
              <a:rPr sz="2400" b="0" i="0">
                <a:solidFill>
                  <a:srgbClr val="1A5276"/>
                </a:solidFill>
                <a:latin typeface="Segoe UI Semibold"/>
              </a:rPr>
              <a:t> and quickselect’s is </a:t>
            </a:r>
            <a:r>
              <a:rPr sz="2400" b="0" i="1">
                <a:solidFill>
                  <a:srgbClr val="1A5276"/>
                </a:solidFill>
                <a:latin typeface="Cambria"/>
              </a:rPr>
              <a:t>T</a:t>
            </a:r>
            <a:r>
              <a:rPr sz="2400" b="0" i="0">
                <a:solidFill>
                  <a:srgbClr val="1A5276"/>
                </a:solidFill>
                <a:latin typeface="Cambria"/>
              </a:rPr>
              <a:t>(</a:t>
            </a:r>
            <a:r>
              <a:rPr sz="2400" b="0" i="1">
                <a:solidFill>
                  <a:srgbClr val="1A5276"/>
                </a:solidFill>
                <a:latin typeface="Cambria"/>
              </a:rPr>
              <a:t>n</a:t>
            </a:r>
            <a:r>
              <a:rPr sz="2400" b="0" i="0">
                <a:solidFill>
                  <a:srgbClr val="1A5276"/>
                </a:solidFill>
                <a:latin typeface="Cambria"/>
              </a:rPr>
              <a:t>)=</a:t>
            </a:r>
            <a:r>
              <a:rPr sz="2400" b="0" i="1">
                <a:solidFill>
                  <a:srgbClr val="1A5276"/>
                </a:solidFill>
                <a:latin typeface="Cambria"/>
              </a:rPr>
              <a:t>T</a:t>
            </a:r>
            <a:r>
              <a:rPr sz="2400" b="0" i="0">
                <a:solidFill>
                  <a:srgbClr val="1A5276"/>
                </a:solidFill>
                <a:latin typeface="Cambria"/>
              </a:rPr>
              <a:t>(</a:t>
            </a:r>
            <a:r>
              <a:rPr sz="2400" b="0" i="1">
                <a:solidFill>
                  <a:srgbClr val="1A5276"/>
                </a:solidFill>
                <a:latin typeface="Cambria"/>
              </a:rPr>
              <a:t>n</a:t>
            </a:r>
            <a:r>
              <a:rPr sz="2400" b="0" i="0">
                <a:solidFill>
                  <a:srgbClr val="1A5276"/>
                </a:solidFill>
                <a:latin typeface="Cambria"/>
              </a:rPr>
              <a:t>/2)+</a:t>
            </a:r>
            <a:r>
              <a:rPr sz="2400" b="0" i="1">
                <a:solidFill>
                  <a:srgbClr val="1A5276"/>
                </a:solidFill>
                <a:latin typeface="Cambria"/>
              </a:rPr>
              <a:t>n</a:t>
            </a:r>
            <a:r>
              <a:rPr sz="2400" b="0" i="0">
                <a:solidFill>
                  <a:srgbClr val="1A5276"/>
                </a:solidFill>
                <a:latin typeface="Segoe UI Semibold"/>
              </a:rPr>
              <a:t>. Identify the master-theorem case for each and explain where the </a:t>
            </a:r>
            <a:r>
              <a:rPr sz="2400" b="0" i="0">
                <a:solidFill>
                  <a:srgbClr val="1A5276"/>
                </a:solidFill>
                <a:latin typeface="Cambria"/>
              </a:rPr>
              <a:t>lg </a:t>
            </a:r>
            <a:r>
              <a:rPr sz="2400" b="0" i="1">
                <a:solidFill>
                  <a:srgbClr val="1A5276"/>
                </a:solidFill>
                <a:latin typeface="Cambria"/>
              </a:rPr>
              <a:t>n</a:t>
            </a:r>
            <a:r>
              <a:rPr sz="2400" b="0" i="0">
                <a:solidFill>
                  <a:srgbClr val="1A5276"/>
                </a:solidFill>
                <a:latin typeface="Segoe UI Semibold"/>
              </a:rPr>
              <a:t> went.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Quicksort: </a:t>
            </a:r>
            <a:r>
              <a:rPr sz="2200" b="0" i="1">
                <a:solidFill>
                  <a:srgbClr val="1C252B"/>
                </a:solidFill>
                <a:latin typeface="Cambria"/>
              </a:rPr>
              <a:t>a</a:t>
            </a:r>
            <a:r>
              <a:rPr sz="2200" b="0" i="0">
                <a:solidFill>
                  <a:srgbClr val="1C252B"/>
                </a:solidFill>
                <a:latin typeface="Cambria"/>
              </a:rPr>
              <a:t> = 2</a:t>
            </a:r>
            <a:r>
              <a:rPr sz="2200" b="0" i="0">
                <a:solidFill>
                  <a:srgbClr val="1C252B"/>
                </a:solidFill>
                <a:latin typeface="Segoe UI"/>
              </a:rPr>
              <a:t>, </a:t>
            </a:r>
            <a:r>
              <a:rPr sz="2200" b="0" i="1">
                <a:solidFill>
                  <a:srgbClr val="1C252B"/>
                </a:solidFill>
                <a:latin typeface="Cambria"/>
              </a:rPr>
              <a:t>b</a:t>
            </a:r>
            <a:r>
              <a:rPr sz="2200" b="0" i="0">
                <a:solidFill>
                  <a:srgbClr val="1C252B"/>
                </a:solidFill>
                <a:latin typeface="Cambria"/>
              </a:rPr>
              <a:t> = 2</a:t>
            </a:r>
            <a:r>
              <a:rPr sz="2200" b="0" i="0">
                <a:solidFill>
                  <a:srgbClr val="1C252B"/>
                </a:solidFill>
                <a:latin typeface="Segoe UI"/>
              </a:rPr>
              <a:t>, watershed </a:t>
            </a:r>
            <a:r>
              <a:rPr sz="2200" b="0" i="1">
                <a:solidFill>
                  <a:srgbClr val="1C252B"/>
                </a:solidFill>
                <a:latin typeface="Cambria"/>
              </a:rPr>
              <a:t>n</a:t>
            </a:r>
            <a:r>
              <a:rPr sz="1450" b="0" i="0" baseline="30000">
                <a:solidFill>
                  <a:srgbClr val="1C252B"/>
                </a:solidFill>
                <a:latin typeface="Cambria"/>
              </a:rPr>
              <a:t>log</a:t>
            </a:r>
            <a:r>
              <a:rPr sz="1450" b="0" i="0" baseline="-25000">
                <a:solidFill>
                  <a:srgbClr val="1C252B"/>
                </a:solidFill>
                <a:latin typeface="Cambria"/>
              </a:rPr>
              <a:t>2</a:t>
            </a:r>
            <a:r>
              <a:rPr sz="1450" b="0" i="0" baseline="30000">
                <a:solidFill>
                  <a:srgbClr val="1C252B"/>
                </a:solidFill>
                <a:latin typeface="Cambria"/>
              </a:rPr>
              <a:t>2</a:t>
            </a:r>
            <a:r>
              <a:rPr sz="2200" b="0" i="0">
                <a:solidFill>
                  <a:srgbClr val="1C252B"/>
                </a:solidFill>
                <a:latin typeface="Cambria"/>
              </a:rPr>
              <a:t> = </a:t>
            </a:r>
            <a:r>
              <a:rPr sz="2200" b="0" i="1">
                <a:solidFill>
                  <a:srgbClr val="1C252B"/>
                </a:solidFill>
                <a:latin typeface="Cambria"/>
              </a:rPr>
              <a:t>n</a:t>
            </a:r>
            <a:r>
              <a:rPr sz="2200" b="0" i="0">
                <a:solidFill>
                  <a:srgbClr val="1C252B"/>
                </a:solidFill>
                <a:latin typeface="Cambria"/>
              </a:rPr>
              <a:t> = </a:t>
            </a:r>
            <a:r>
              <a:rPr sz="2200" b="0" i="1">
                <a:solidFill>
                  <a:srgbClr val="1C252B"/>
                </a:solidFill>
                <a:latin typeface="Cambria"/>
              </a:rPr>
              <a:t>f</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so </a:t>
            </a:r>
            <a:r>
              <a:rPr sz="2200" b="1" i="0">
                <a:solidFill>
                  <a:srgbClr val="1C252B"/>
                </a:solidFill>
                <a:latin typeface="Segoe UI"/>
              </a:rPr>
              <a:t>case 2</a:t>
            </a:r>
            <a:r>
              <a:rPr sz="2200" b="0" i="0">
                <a:solidFill>
                  <a:srgbClr val="1C252B"/>
                </a:solidFill>
                <a:latin typeface="Segoe UI"/>
              </a:rPr>
              <a:t>, giving </a:t>
            </a:r>
            <a:r>
              <a:rPr sz="2200" b="0" i="0">
                <a:solidFill>
                  <a:srgbClr val="1C252B"/>
                </a:solidFill>
                <a:latin typeface="Cambria"/>
              </a:rPr>
              <a:t>Θ(</a:t>
            </a:r>
            <a:r>
              <a:rPr sz="2200" b="0" i="1">
                <a:solidFill>
                  <a:srgbClr val="1C252B"/>
                </a:solidFill>
                <a:latin typeface="Cambria"/>
              </a:rPr>
              <a:t>n</a:t>
            </a:r>
            <a:r>
              <a:rPr sz="2200" b="0" i="0">
                <a:solidFill>
                  <a:srgbClr val="1C252B"/>
                </a:solidFill>
                <a:latin typeface="Cambria"/>
              </a:rPr>
              <a:t> lg </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Quickselect: </a:t>
            </a:r>
            <a:r>
              <a:rPr sz="2200" b="0" i="1">
                <a:solidFill>
                  <a:srgbClr val="1C252B"/>
                </a:solidFill>
                <a:latin typeface="Cambria"/>
              </a:rPr>
              <a:t>a</a:t>
            </a:r>
            <a:r>
              <a:rPr sz="2200" b="0" i="0">
                <a:solidFill>
                  <a:srgbClr val="1C252B"/>
                </a:solidFill>
                <a:latin typeface="Cambria"/>
              </a:rPr>
              <a:t> = 1</a:t>
            </a:r>
            <a:r>
              <a:rPr sz="2200" b="0" i="0">
                <a:solidFill>
                  <a:srgbClr val="1C252B"/>
                </a:solidFill>
                <a:latin typeface="Segoe UI"/>
              </a:rPr>
              <a:t>, </a:t>
            </a:r>
            <a:r>
              <a:rPr sz="2200" b="0" i="1">
                <a:solidFill>
                  <a:srgbClr val="1C252B"/>
                </a:solidFill>
                <a:latin typeface="Cambria"/>
              </a:rPr>
              <a:t>b</a:t>
            </a:r>
            <a:r>
              <a:rPr sz="2200" b="0" i="0">
                <a:solidFill>
                  <a:srgbClr val="1C252B"/>
                </a:solidFill>
                <a:latin typeface="Cambria"/>
              </a:rPr>
              <a:t> = 2</a:t>
            </a:r>
            <a:r>
              <a:rPr sz="2200" b="0" i="0">
                <a:solidFill>
                  <a:srgbClr val="1C252B"/>
                </a:solidFill>
                <a:latin typeface="Segoe UI"/>
              </a:rPr>
              <a:t>, watershed </a:t>
            </a:r>
            <a:r>
              <a:rPr sz="2200" b="0" i="1">
                <a:solidFill>
                  <a:srgbClr val="1C252B"/>
                </a:solidFill>
                <a:latin typeface="Cambria"/>
              </a:rPr>
              <a:t>n</a:t>
            </a:r>
            <a:r>
              <a:rPr sz="1450" b="0" i="0" baseline="30000">
                <a:solidFill>
                  <a:srgbClr val="1C252B"/>
                </a:solidFill>
                <a:latin typeface="Cambria"/>
              </a:rPr>
              <a:t>log</a:t>
            </a:r>
            <a:r>
              <a:rPr sz="1450" b="0" i="0" baseline="-25000">
                <a:solidFill>
                  <a:srgbClr val="1C252B"/>
                </a:solidFill>
                <a:latin typeface="Cambria"/>
              </a:rPr>
              <a:t>2</a:t>
            </a:r>
            <a:r>
              <a:rPr sz="1450" b="0" i="0" baseline="30000">
                <a:solidFill>
                  <a:srgbClr val="1C252B"/>
                </a:solidFill>
                <a:latin typeface="Cambria"/>
              </a:rPr>
              <a:t>1</a:t>
            </a:r>
            <a:r>
              <a:rPr sz="2200" b="0" i="0">
                <a:solidFill>
                  <a:srgbClr val="1C252B"/>
                </a:solidFill>
                <a:latin typeface="Cambria"/>
              </a:rPr>
              <a:t> = </a:t>
            </a:r>
            <a:r>
              <a:rPr sz="2200" b="0" i="1">
                <a:solidFill>
                  <a:srgbClr val="1C252B"/>
                </a:solidFill>
                <a:latin typeface="Cambria"/>
              </a:rPr>
              <a:t>n</a:t>
            </a:r>
            <a:r>
              <a:rPr sz="1450" b="0" i="0" baseline="30000">
                <a:solidFill>
                  <a:srgbClr val="1C252B"/>
                </a:solidFill>
                <a:latin typeface="Cambria"/>
              </a:rPr>
              <a:t>0</a:t>
            </a:r>
            <a:r>
              <a:rPr sz="2200" b="0" i="0">
                <a:solidFill>
                  <a:srgbClr val="1C252B"/>
                </a:solidFill>
                <a:latin typeface="Cambria"/>
              </a:rPr>
              <a:t> = 1</a:t>
            </a:r>
            <a:r>
              <a:rPr sz="2200" b="0" i="0">
                <a:solidFill>
                  <a:srgbClr val="1C252B"/>
                </a:solidFill>
                <a:latin typeface="Segoe UI"/>
              </a:rPr>
              <a:t>, far below </a:t>
            </a:r>
            <a:r>
              <a:rPr sz="2200" b="0" i="1">
                <a:solidFill>
                  <a:srgbClr val="1C252B"/>
                </a:solidFill>
                <a:latin typeface="Cambria"/>
              </a:rPr>
              <a:t>f</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 = </a:t>
            </a:r>
            <a:r>
              <a:rPr sz="2200" b="0" i="1">
                <a:solidFill>
                  <a:srgbClr val="1C252B"/>
                </a:solidFill>
                <a:latin typeface="Cambria"/>
              </a:rPr>
              <a:t>n</a:t>
            </a:r>
            <a:r>
              <a:rPr sz="2200" b="0" i="0">
                <a:solidFill>
                  <a:srgbClr val="1C252B"/>
                </a:solidFill>
                <a:latin typeface="Segoe UI"/>
              </a:rPr>
              <a:t>, so </a:t>
            </a:r>
            <a:r>
              <a:rPr sz="2200" b="1" i="0">
                <a:solidFill>
                  <a:srgbClr val="1C252B"/>
                </a:solidFill>
                <a:latin typeface="Segoe UI"/>
              </a:rPr>
              <a:t>case 3</a:t>
            </a:r>
            <a:r>
              <a:rPr sz="2200" b="0" i="0">
                <a:solidFill>
                  <a:srgbClr val="1C252B"/>
                </a:solidFill>
                <a:latin typeface="Segoe UI"/>
              </a:rPr>
              <a:t>, giving </a:t>
            </a:r>
            <a:r>
              <a:rPr sz="2200" b="0" i="0">
                <a:solidFill>
                  <a:srgbClr val="1C252B"/>
                </a:solidFill>
                <a:latin typeface="Cambria"/>
              </a:rPr>
              <a:t>Θ(</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The </a:t>
            </a:r>
            <a:r>
              <a:rPr sz="2200" b="0" i="0">
                <a:solidFill>
                  <a:srgbClr val="1C252B"/>
                </a:solidFill>
                <a:latin typeface="Cambria"/>
              </a:rPr>
              <a:t>lg </a:t>
            </a:r>
            <a:r>
              <a:rPr sz="2200" b="0" i="1">
                <a:solidFill>
                  <a:srgbClr val="1C252B"/>
                </a:solidFill>
                <a:latin typeface="Cambria"/>
              </a:rPr>
              <a:t>n</a:t>
            </a:r>
            <a:r>
              <a:rPr sz="2200" b="0" i="0">
                <a:solidFill>
                  <a:srgbClr val="1C252B"/>
                </a:solidFill>
                <a:latin typeface="Segoe UI"/>
              </a:rPr>
              <a:t> was the number of </a:t>
            </a:r>
            <a:r>
              <a:rPr sz="2200" b="0" i="1">
                <a:solidFill>
                  <a:srgbClr val="1C252B"/>
                </a:solidFill>
                <a:latin typeface="Segoe UI"/>
              </a:rPr>
              <a:t>levels</a:t>
            </a:r>
            <a:r>
              <a:rPr sz="2200" b="0" i="0">
                <a:solidFill>
                  <a:srgbClr val="1C252B"/>
                </a:solidFill>
                <a:latin typeface="Segoe UI"/>
              </a:rPr>
              <a:t>; discarding one branch collapses the tree to a path whose work halves each step, and </a:t>
            </a:r>
            <a:r>
              <a:rPr sz="2200" b="0" i="1">
                <a:solidFill>
                  <a:srgbClr val="1C252B"/>
                </a:solidFill>
                <a:latin typeface="Cambria"/>
              </a:rPr>
              <a:t>n</a:t>
            </a:r>
            <a:r>
              <a:rPr sz="2200" b="0" i="0">
                <a:solidFill>
                  <a:srgbClr val="1C252B"/>
                </a:solidFill>
                <a:latin typeface="Cambria"/>
              </a:rPr>
              <a:t> + </a:t>
            </a:r>
            <a:r>
              <a:rPr sz="2200" b="0" i="1">
                <a:solidFill>
                  <a:srgbClr val="1C252B"/>
                </a:solidFill>
                <a:latin typeface="Cambria"/>
              </a:rPr>
              <a:t>n</a:t>
            </a:r>
            <a:r>
              <a:rPr sz="2200" b="0" i="0">
                <a:solidFill>
                  <a:srgbClr val="1C252B"/>
                </a:solidFill>
                <a:latin typeface="Cambria"/>
              </a:rPr>
              <a:t>/2 + </a:t>
            </a:r>
            <a:r>
              <a:rPr sz="2200" b="0" i="1">
                <a:solidFill>
                  <a:srgbClr val="1C252B"/>
                </a:solidFill>
                <a:latin typeface="Cambria"/>
              </a:rPr>
              <a:t>n</a:t>
            </a:r>
            <a:r>
              <a:rPr sz="2200" b="0" i="0">
                <a:solidFill>
                  <a:srgbClr val="1C252B"/>
                </a:solidFill>
                <a:latin typeface="Cambria"/>
              </a:rPr>
              <a:t>/4 + ⋯ &lt; 2</a:t>
            </a:r>
            <a:r>
              <a:rPr sz="2200" b="0" i="1">
                <a:solidFill>
                  <a:srgbClr val="1C252B"/>
                </a:solidFill>
                <a:latin typeface="Cambria"/>
              </a:rPr>
              <a:t>n</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  answers in Appendix D     </a:t>
            </a:r>
            <a:fld id="{0535E02F-FCB8-48A1-8637-BF0AA59734C8}"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413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Derive the </a:t>
            </a:r>
            <a:r>
              <a:rPr sz="3400" b="0" i="0">
                <a:solidFill>
                  <a:srgbClr val="FFFFFF"/>
                </a:solidFill>
                <a:latin typeface="Cambria"/>
              </a:rPr>
              <a:t>3</a:t>
            </a:r>
            <a:r>
              <a:rPr sz="3400" b="0" i="1">
                <a:solidFill>
                  <a:srgbClr val="FFFFFF"/>
                </a:solidFill>
                <a:latin typeface="Cambria"/>
              </a:rPr>
              <a:t>n</a:t>
            </a:r>
            <a:r>
              <a:rPr sz="2250" b="0" i="0" baseline="30000">
                <a:solidFill>
                  <a:srgbClr val="FFFFFF"/>
                </a:solidFill>
                <a:latin typeface="Cambria"/>
              </a:rPr>
              <a:t>2</a:t>
            </a:r>
            <a:r>
              <a:rPr sz="3400" b="0" i="0">
                <a:solidFill>
                  <a:srgbClr val="FFFFFF"/>
                </a:solidFill>
                <a:latin typeface="Cambria"/>
              </a:rPr>
              <a:t>/8</a:t>
            </a:r>
            <a:r>
              <a:rPr sz="3400" b="0" i="0">
                <a:solidFill>
                  <a:srgbClr val="FFFFFF"/>
                </a:solidFill>
                <a:latin typeface="Segoe UI Semibold"/>
              </a:rPr>
              <a:t> comparison count for a last-element pivot selecting the median of sorted input.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11  ·  Selection and Order Statistics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96  ·  answers in Appendix D     </a:t>
            </a:r>
            <a:fld id="{0E859F6C-A0B0-4536-8C5E-4B560311FDCA}"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Derive the </a:t>
            </a:r>
            <a:r>
              <a:rPr sz="2400" b="0" i="0">
                <a:solidFill>
                  <a:srgbClr val="1A5276"/>
                </a:solidFill>
                <a:latin typeface="Cambria"/>
              </a:rPr>
              <a:t>3</a:t>
            </a:r>
            <a:r>
              <a:rPr sz="2400" b="0" i="1">
                <a:solidFill>
                  <a:srgbClr val="1A5276"/>
                </a:solidFill>
                <a:latin typeface="Cambria"/>
              </a:rPr>
              <a:t>n</a:t>
            </a:r>
            <a:r>
              <a:rPr sz="1600" b="0" i="0" baseline="30000">
                <a:solidFill>
                  <a:srgbClr val="1A5276"/>
                </a:solidFill>
                <a:latin typeface="Cambria"/>
              </a:rPr>
              <a:t>2</a:t>
            </a:r>
            <a:r>
              <a:rPr sz="2400" b="0" i="0">
                <a:solidFill>
                  <a:srgbClr val="1A5276"/>
                </a:solidFill>
                <a:latin typeface="Cambria"/>
              </a:rPr>
              <a:t>/8</a:t>
            </a:r>
            <a:r>
              <a:rPr sz="2400" b="0" i="0">
                <a:solidFill>
                  <a:srgbClr val="1A5276"/>
                </a:solidFill>
                <a:latin typeface="Segoe UI Semibold"/>
              </a:rPr>
              <a:t> comparison count for a last-element pivot selecting the median of sorted input.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last-element pivot on sorted input is always the largest, so the range shrinks from the top by one each iteration. To reach the median the range must fall from </a:t>
            </a:r>
            <a:r>
              <a:rPr sz="2200" b="0" i="1">
                <a:solidFill>
                  <a:srgbClr val="1C252B"/>
                </a:solidFill>
                <a:latin typeface="Cambria"/>
              </a:rPr>
              <a:t>n</a:t>
            </a:r>
            <a:r>
              <a:rPr sz="2200" b="0" i="0">
                <a:solidFill>
                  <a:srgbClr val="1C252B"/>
                </a:solidFill>
                <a:latin typeface="Segoe UI"/>
              </a:rPr>
              <a:t> to </a:t>
            </a:r>
            <a:r>
              <a:rPr sz="2200" b="0" i="1">
                <a:solidFill>
                  <a:srgbClr val="1C252B"/>
                </a:solidFill>
                <a:latin typeface="Cambria"/>
              </a:rPr>
              <a:t>n</a:t>
            </a:r>
            <a:r>
              <a:rPr sz="2200" b="0" i="0">
                <a:solidFill>
                  <a:srgbClr val="1C252B"/>
                </a:solidFill>
                <a:latin typeface="Cambria"/>
              </a:rPr>
              <a:t>/2</a:t>
            </a:r>
            <a:r>
              <a:rPr sz="2200" b="0" i="0">
                <a:solidFill>
                  <a:srgbClr val="1C252B"/>
                </a:solidFill>
                <a:latin typeface="Segoe UI"/>
              </a:rPr>
              <a:t>, costing </a:t>
            </a:r>
            <a:r>
              <a:rPr sz="2200" b="0" i="1">
                <a:solidFill>
                  <a:srgbClr val="1C252B"/>
                </a:solidFill>
                <a:latin typeface="Cambria"/>
              </a:rPr>
              <a:t>n</a:t>
            </a:r>
            <a:r>
              <a:rPr sz="2200" b="0" i="0">
                <a:solidFill>
                  <a:srgbClr val="1C252B"/>
                </a:solidFill>
                <a:latin typeface="Cambria"/>
              </a:rPr>
              <a:t> + (</a:t>
            </a:r>
            <a:r>
              <a:rPr sz="2200" b="0" i="1">
                <a:solidFill>
                  <a:srgbClr val="1C252B"/>
                </a:solidFill>
                <a:latin typeface="Cambria"/>
              </a:rPr>
              <a:t>n</a:t>
            </a:r>
            <a:r>
              <a:rPr sz="2200" b="0" i="0">
                <a:solidFill>
                  <a:srgbClr val="1C252B"/>
                </a:solidFill>
                <a:latin typeface="Cambria"/>
              </a:rPr>
              <a:t>−1) + ⋯ + </a:t>
            </a:r>
            <a:r>
              <a:rPr sz="2200" b="0" i="1">
                <a:solidFill>
                  <a:srgbClr val="1C252B"/>
                </a:solidFill>
                <a:latin typeface="Cambria"/>
              </a:rPr>
              <a:t>n</a:t>
            </a:r>
            <a:r>
              <a:rPr sz="2200" b="0" i="0">
                <a:solidFill>
                  <a:srgbClr val="1C252B"/>
                </a:solidFill>
                <a:latin typeface="Cambria"/>
              </a:rPr>
              <a:t>/2 = ((</a:t>
            </a:r>
            <a:r>
              <a:rPr sz="2200" b="0" i="1">
                <a:solidFill>
                  <a:srgbClr val="1C252B"/>
                </a:solidFill>
                <a:latin typeface="Cambria"/>
              </a:rPr>
              <a:t>n</a:t>
            </a:r>
            <a:r>
              <a:rPr sz="2200" b="0" i="0">
                <a:solidFill>
                  <a:srgbClr val="1C252B"/>
                </a:solidFill>
                <a:latin typeface="Cambria"/>
              </a:rPr>
              <a:t> + </a:t>
            </a:r>
            <a:r>
              <a:rPr sz="2200" b="0" i="1">
                <a:solidFill>
                  <a:srgbClr val="1C252B"/>
                </a:solidFill>
                <a:latin typeface="Cambria"/>
              </a:rPr>
              <a:t>n</a:t>
            </a:r>
            <a:r>
              <a:rPr sz="2200" b="0" i="0">
                <a:solidFill>
                  <a:srgbClr val="1C252B"/>
                </a:solidFill>
                <a:latin typeface="Cambria"/>
              </a:rPr>
              <a:t>/2))/2·</a:t>
            </a:r>
            <a:r>
              <a:rPr sz="2200" b="0" i="1">
                <a:solidFill>
                  <a:srgbClr val="1C252B"/>
                </a:solidFill>
                <a:latin typeface="Cambria"/>
              </a:rPr>
              <a:t>n</a:t>
            </a:r>
            <a:r>
              <a:rPr sz="2200" b="0" i="0">
                <a:solidFill>
                  <a:srgbClr val="1C252B"/>
                </a:solidFill>
                <a:latin typeface="Cambria"/>
              </a:rPr>
              <a:t>/2 = 3</a:t>
            </a:r>
            <a:r>
              <a:rPr sz="2200" b="0" i="1">
                <a:solidFill>
                  <a:srgbClr val="1C252B"/>
                </a:solidFill>
                <a:latin typeface="Cambria"/>
              </a:rPr>
              <a:t>n</a:t>
            </a:r>
            <a:r>
              <a:rPr sz="1450" b="0" i="0" baseline="30000">
                <a:solidFill>
                  <a:srgbClr val="1C252B"/>
                </a:solidFill>
                <a:latin typeface="Cambria"/>
              </a:rPr>
              <a:t>2</a:t>
            </a:r>
            <a:r>
              <a:rPr sz="2200" b="0" i="0">
                <a:solidFill>
                  <a:srgbClr val="1C252B"/>
                </a:solidFill>
                <a:latin typeface="Cambria"/>
              </a:rPr>
              <a:t>/8</a:t>
            </a:r>
            <a:r>
              <a:rPr sz="2200" b="0" i="0">
                <a:solidFill>
                  <a:srgbClr val="1C252B"/>
                </a:solidFill>
                <a:latin typeface="Segoe UI"/>
              </a:rPr>
              <a:t>. Measured </a:t>
            </a:r>
            <a:r>
              <a:rPr sz="2200" b="0" i="0">
                <a:solidFill>
                  <a:srgbClr val="1C252B"/>
                </a:solidFill>
                <a:latin typeface="Cambria"/>
              </a:rPr>
              <a:t>0.7500 × </a:t>
            </a:r>
            <a:r>
              <a:rPr sz="2200" b="0" i="1">
                <a:solidFill>
                  <a:srgbClr val="1C252B"/>
                </a:solidFill>
                <a:latin typeface="Cambria"/>
              </a:rPr>
              <a:t>n</a:t>
            </a:r>
            <a:r>
              <a:rPr sz="1450" b="0" i="0" baseline="30000">
                <a:solidFill>
                  <a:srgbClr val="1C252B"/>
                </a:solidFill>
                <a:latin typeface="Cambria"/>
              </a:rPr>
              <a:t>2</a:t>
            </a:r>
            <a:r>
              <a:rPr sz="2200" b="0" i="0">
                <a:solidFill>
                  <a:srgbClr val="1C252B"/>
                </a:solidFill>
                <a:latin typeface="Cambria"/>
              </a:rPr>
              <a:t>/2</a:t>
            </a:r>
            <a:r>
              <a:rPr sz="2200" b="0" i="0">
                <a:solidFill>
                  <a:srgbClr val="1C252B"/>
                </a:solidFill>
                <a:latin typeface="Segoe UI"/>
              </a:rPr>
              <a:t>, which is the same number.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  answers in Appendix D     </a:t>
            </a:r>
            <a:fld id="{5CA399D5-C2C7-48D9-B51D-34BFA43A5C87}"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714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median-of-medians use groups of 5 rather than 3? Show the arithmetic that fails.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11  ·  Selection and Order Statistics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96  ·  answers in Appendix D     </a:t>
            </a:r>
            <a:fld id="{EDC274C7-3920-4356-B244-F9C69DC0AC5A}"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median-of-medians use groups of 5 rather than 3? Show the arithmetic that fails.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With groups of 5, the pivot exceeds at least </a:t>
            </a:r>
            <a:r>
              <a:rPr sz="2200" b="0" i="0">
                <a:solidFill>
                  <a:srgbClr val="1C252B"/>
                </a:solidFill>
                <a:latin typeface="Cambria"/>
              </a:rPr>
              <a:t>3 · /12 · </a:t>
            </a:r>
            <a:r>
              <a:rPr sz="2200" b="0" i="1">
                <a:solidFill>
                  <a:srgbClr val="1C252B"/>
                </a:solidFill>
                <a:latin typeface="Cambria"/>
              </a:rPr>
              <a:t>n</a:t>
            </a:r>
            <a:r>
              <a:rPr sz="2200" b="0" i="0">
                <a:solidFill>
                  <a:srgbClr val="1C252B"/>
                </a:solidFill>
                <a:latin typeface="Cambria"/>
              </a:rPr>
              <a:t>/5 = 3</a:t>
            </a:r>
            <a:r>
              <a:rPr sz="2200" b="0" i="1">
                <a:solidFill>
                  <a:srgbClr val="1C252B"/>
                </a:solidFill>
                <a:latin typeface="Cambria"/>
              </a:rPr>
              <a:t>n</a:t>
            </a:r>
            <a:r>
              <a:rPr sz="2200" b="0" i="0">
                <a:solidFill>
                  <a:srgbClr val="1C252B"/>
                </a:solidFill>
                <a:latin typeface="Cambria"/>
              </a:rPr>
              <a:t>/10</a:t>
            </a:r>
            <a:r>
              <a:rPr sz="2200" b="0" i="0">
                <a:solidFill>
                  <a:srgbClr val="1C252B"/>
                </a:solidFill>
                <a:latin typeface="Segoe UI"/>
              </a:rPr>
              <a:t> elements, so the recursion is on at most </a:t>
            </a:r>
            <a:r>
              <a:rPr sz="2200" b="0" i="0">
                <a:solidFill>
                  <a:srgbClr val="1C252B"/>
                </a:solidFill>
                <a:latin typeface="Cambria"/>
              </a:rPr>
              <a:t>7</a:t>
            </a:r>
            <a:r>
              <a:rPr sz="2200" b="0" i="1">
                <a:solidFill>
                  <a:srgbClr val="1C252B"/>
                </a:solidFill>
                <a:latin typeface="Cambria"/>
              </a:rPr>
              <a:t>n</a:t>
            </a:r>
            <a:r>
              <a:rPr sz="2200" b="0" i="0">
                <a:solidFill>
                  <a:srgbClr val="1C252B"/>
                </a:solidFill>
                <a:latin typeface="Cambria"/>
              </a:rPr>
              <a:t>/10</a:t>
            </a:r>
            <a:r>
              <a:rPr sz="2200" b="0" i="0">
                <a:solidFill>
                  <a:srgbClr val="1C252B"/>
                </a:solidFill>
                <a:latin typeface="Segoe UI"/>
              </a:rPr>
              <a:t> and the recurrence is </a:t>
            </a:r>
            <a:r>
              <a:rPr sz="2200" b="0" i="1">
                <a:solidFill>
                  <a:srgbClr val="1C252B"/>
                </a:solidFill>
                <a:latin typeface="Cambria"/>
              </a:rPr>
              <a:t>T</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/5) + </a:t>
            </a:r>
            <a:r>
              <a:rPr sz="2200" b="0" i="1">
                <a:solidFill>
                  <a:srgbClr val="1C252B"/>
                </a:solidFill>
                <a:latin typeface="Cambria"/>
              </a:rPr>
              <a:t>T</a:t>
            </a:r>
            <a:r>
              <a:rPr sz="2200" b="0" i="0">
                <a:solidFill>
                  <a:srgbClr val="1C252B"/>
                </a:solidFill>
                <a:latin typeface="Cambria"/>
              </a:rPr>
              <a:t>(7</a:t>
            </a:r>
            <a:r>
              <a:rPr sz="2200" b="0" i="1">
                <a:solidFill>
                  <a:srgbClr val="1C252B"/>
                </a:solidFill>
                <a:latin typeface="Cambria"/>
              </a:rPr>
              <a:t>n</a:t>
            </a:r>
            <a:r>
              <a:rPr sz="2200" b="0" i="0">
                <a:solidFill>
                  <a:srgbClr val="1C252B"/>
                </a:solidFill>
                <a:latin typeface="Cambria"/>
              </a:rPr>
              <a:t>/10) + Θ(</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with </a:t>
            </a:r>
            <a:r>
              <a:rPr sz="2200" b="0" i="0">
                <a:solidFill>
                  <a:srgbClr val="1C252B"/>
                </a:solidFill>
                <a:latin typeface="Cambria"/>
              </a:rPr>
              <a:t>/15 + 7/10 = 9/10 &lt; 1</a:t>
            </a:r>
            <a:r>
              <a:rPr sz="2200" b="0" i="0">
                <a:solidFill>
                  <a:srgbClr val="1C252B"/>
                </a:solidFill>
                <a:latin typeface="Segoe UI"/>
              </a:rPr>
              <a:t>. With groups of 3 the pivot exceeds only </a:t>
            </a:r>
            <a:r>
              <a:rPr sz="2200" b="0" i="0">
                <a:solidFill>
                  <a:srgbClr val="1C252B"/>
                </a:solidFill>
                <a:latin typeface="Cambria"/>
              </a:rPr>
              <a:t>2·/12·</a:t>
            </a:r>
            <a:r>
              <a:rPr sz="2200" b="0" i="1">
                <a:solidFill>
                  <a:srgbClr val="1C252B"/>
                </a:solidFill>
                <a:latin typeface="Cambria"/>
              </a:rPr>
              <a:t>n</a:t>
            </a:r>
            <a:r>
              <a:rPr sz="2200" b="0" i="0">
                <a:solidFill>
                  <a:srgbClr val="1C252B"/>
                </a:solidFill>
                <a:latin typeface="Cambria"/>
              </a:rPr>
              <a:t>/3 = </a:t>
            </a:r>
            <a:r>
              <a:rPr sz="2200" b="0" i="1">
                <a:solidFill>
                  <a:srgbClr val="1C252B"/>
                </a:solidFill>
                <a:latin typeface="Cambria"/>
              </a:rPr>
              <a:t>n</a:t>
            </a:r>
            <a:r>
              <a:rPr sz="2200" b="0" i="0">
                <a:solidFill>
                  <a:srgbClr val="1C252B"/>
                </a:solidFill>
                <a:latin typeface="Cambria"/>
              </a:rPr>
              <a:t>/3</a:t>
            </a:r>
            <a:r>
              <a:rPr sz="2200" b="0" i="0">
                <a:solidFill>
                  <a:srgbClr val="1C252B"/>
                </a:solidFill>
                <a:latin typeface="Segoe UI"/>
              </a:rPr>
              <a:t>, so the recurrence is </a:t>
            </a:r>
            <a:r>
              <a:rPr sz="2200" b="0" i="1">
                <a:solidFill>
                  <a:srgbClr val="1C252B"/>
                </a:solidFill>
                <a:latin typeface="Cambria"/>
              </a:rPr>
              <a:t>T</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/3) + </a:t>
            </a:r>
            <a:r>
              <a:rPr sz="2200" b="0" i="1">
                <a:solidFill>
                  <a:srgbClr val="1C252B"/>
                </a:solidFill>
                <a:latin typeface="Cambria"/>
              </a:rPr>
              <a:t>T</a:t>
            </a:r>
            <a:r>
              <a:rPr sz="2200" b="0" i="0">
                <a:solidFill>
                  <a:srgbClr val="1C252B"/>
                </a:solidFill>
                <a:latin typeface="Cambria"/>
              </a:rPr>
              <a:t>(2</a:t>
            </a:r>
            <a:r>
              <a:rPr sz="2200" b="0" i="1">
                <a:solidFill>
                  <a:srgbClr val="1C252B"/>
                </a:solidFill>
                <a:latin typeface="Cambria"/>
              </a:rPr>
              <a:t>n</a:t>
            </a:r>
            <a:r>
              <a:rPr sz="2200" b="0" i="0">
                <a:solidFill>
                  <a:srgbClr val="1C252B"/>
                </a:solidFill>
                <a:latin typeface="Cambria"/>
              </a:rPr>
              <a:t>/3) + Θ(</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and </a:t>
            </a:r>
            <a:r>
              <a:rPr sz="2200" b="0" i="0">
                <a:solidFill>
                  <a:srgbClr val="1C252B"/>
                </a:solidFill>
                <a:latin typeface="Cambria"/>
              </a:rPr>
              <a:t>/13 + /23 = 1</a:t>
            </a:r>
            <a:r>
              <a:rPr sz="2200" b="0" i="0">
                <a:solidFill>
                  <a:srgbClr val="1C252B"/>
                </a:solidFill>
                <a:latin typeface="Segoe UI"/>
              </a:rPr>
              <a:t>. The substitution </a:t>
            </a:r>
            <a:r>
              <a:rPr sz="2200" b="0" i="1">
                <a:solidFill>
                  <a:srgbClr val="1C252B"/>
                </a:solidFill>
                <a:latin typeface="Cambria"/>
              </a:rPr>
              <a:t>T</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 ≤ </a:t>
            </a:r>
            <a:r>
              <a:rPr sz="2200" b="0" i="1">
                <a:solidFill>
                  <a:srgbClr val="1C252B"/>
                </a:solidFill>
                <a:latin typeface="Cambria"/>
              </a:rPr>
              <a:t>cn</a:t>
            </a:r>
            <a:r>
              <a:rPr sz="2200" b="0" i="0">
                <a:solidFill>
                  <a:srgbClr val="1C252B"/>
                </a:solidFill>
                <a:latin typeface="Segoe UI"/>
              </a:rPr>
              <a:t> then gives </a:t>
            </a:r>
            <a:r>
              <a:rPr sz="2200" b="0" i="1">
                <a:solidFill>
                  <a:srgbClr val="1C252B"/>
                </a:solidFill>
                <a:latin typeface="Cambria"/>
              </a:rPr>
              <a:t>cn</a:t>
            </a:r>
            <a:r>
              <a:rPr sz="2200" b="0" i="0">
                <a:solidFill>
                  <a:srgbClr val="1C252B"/>
                </a:solidFill>
                <a:latin typeface="Cambria"/>
              </a:rPr>
              <a:t> + </a:t>
            </a:r>
            <a:r>
              <a:rPr sz="2200" b="0" i="1">
                <a:solidFill>
                  <a:srgbClr val="1C252B"/>
                </a:solidFill>
                <a:latin typeface="Cambria"/>
              </a:rPr>
              <a:t>an</a:t>
            </a:r>
            <a:r>
              <a:rPr sz="2200" b="0" i="0">
                <a:solidFill>
                  <a:srgbClr val="1C252B"/>
                </a:solidFill>
                <a:latin typeface="Cambria"/>
              </a:rPr>
              <a:t> ≤ </a:t>
            </a:r>
            <a:r>
              <a:rPr sz="2200" b="0" i="1">
                <a:solidFill>
                  <a:srgbClr val="1C252B"/>
                </a:solidFill>
                <a:latin typeface="Cambria"/>
              </a:rPr>
              <a:t>cn</a:t>
            </a:r>
            <a:r>
              <a:rPr sz="2200" b="0" i="0">
                <a:solidFill>
                  <a:srgbClr val="1C252B"/>
                </a:solidFill>
                <a:latin typeface="Segoe UI"/>
              </a:rPr>
              <a:t>, which is false for every </a:t>
            </a:r>
            <a:r>
              <a:rPr sz="2200" b="0" i="1">
                <a:solidFill>
                  <a:srgbClr val="1C252B"/>
                </a:solidFill>
                <a:latin typeface="Cambria"/>
              </a:rPr>
              <a:t>c</a:t>
            </a:r>
            <a:r>
              <a:rPr sz="2200" b="0" i="0">
                <a:solidFill>
                  <a:srgbClr val="1C252B"/>
                </a:solidFill>
                <a:latin typeface="Segoe UI"/>
              </a:rPr>
              <a:t>, and the true bound is </a:t>
            </a:r>
            <a:r>
              <a:rPr sz="2200" b="0" i="0">
                <a:solidFill>
                  <a:srgbClr val="1C252B"/>
                </a:solidFill>
                <a:latin typeface="Cambria"/>
              </a:rPr>
              <a:t>Θ(</a:t>
            </a:r>
            <a:r>
              <a:rPr sz="2200" b="0" i="1">
                <a:solidFill>
                  <a:srgbClr val="1C252B"/>
                </a:solidFill>
                <a:latin typeface="Cambria"/>
              </a:rPr>
              <a:t>n</a:t>
            </a:r>
            <a:r>
              <a:rPr sz="2200" b="0" i="0">
                <a:solidFill>
                  <a:srgbClr val="1C252B"/>
                </a:solidFill>
                <a:latin typeface="Cambria"/>
              </a:rPr>
              <a:t> lg </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  answers in Appendix D     </a:t>
            </a:r>
            <a:fld id="{EDE4B6C4-F68E-4699-97B6-656BBA891B5C}"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0147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a:t>
            </a:r>
            <a:fld id="{537070FC-CEFB-402D-8DE3-0AFD19B642D3}"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a:t>
            </a:r>
            <a:r>
              <a:rPr sz="1700" b="0" i="1">
                <a:solidFill>
                  <a:srgbClr val="1C252B"/>
                </a:solidFill>
                <a:latin typeface="Cambria"/>
              </a:rPr>
              <a:t>i</a:t>
            </a:r>
            <a:r>
              <a:rPr sz="1700" b="0" i="0">
                <a:solidFill>
                  <a:srgbClr val="1C252B"/>
                </a:solidFill>
                <a:latin typeface="Segoe UI"/>
              </a:rPr>
              <a:t>-th order statistic is the </a:t>
            </a:r>
            <a:r>
              <a:rPr sz="1700" b="0" i="1">
                <a:solidFill>
                  <a:srgbClr val="1C252B"/>
                </a:solidFill>
                <a:latin typeface="Cambria"/>
              </a:rPr>
              <a:t>i</a:t>
            </a:r>
            <a:r>
              <a:rPr sz="1700" b="0" i="0">
                <a:solidFill>
                  <a:srgbClr val="1C252B"/>
                </a:solidFill>
                <a:latin typeface="Segoe UI"/>
              </a:rPr>
              <a:t>-th smallest. Selection asks for one of them; sorting computes all of them and is asymptotically more expensive.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Quickselect is quicksort with one recursive call deleted. That moves the recurrence from master-theorem case 2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 lg </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to case 3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the tree collapses to a path and the work is geometric.</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Expected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on every input with a random pivot; </a:t>
            </a:r>
            <a:r>
              <a:rPr sz="1700" b="0" i="0">
                <a:solidFill>
                  <a:srgbClr val="1C252B"/>
                </a:solidFill>
                <a:latin typeface="Cambria"/>
              </a:rPr>
              <a:t>Θ(</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worst case.</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a:t>
            </a:r>
            <a:r>
              <a:rPr sz="1700" b="0" i="0">
                <a:solidFill>
                  <a:srgbClr val="1C252B"/>
                </a:solidFill>
                <a:latin typeface="Cambria"/>
              </a:rPr>
              <a:t>3.3</a:t>
            </a:r>
            <a:r>
              <a:rPr sz="1700" b="0" i="0">
                <a:solidFill>
                  <a:srgbClr val="1C252B"/>
                </a:solidFill>
                <a:latin typeface="Segoe UI"/>
              </a:rPr>
              <a:t> comparisons per element for the median, flat across </a:t>
            </a:r>
            <a:r>
              <a:rPr sz="1700" b="0" i="1">
                <a:solidFill>
                  <a:srgbClr val="1C252B"/>
                </a:solidFill>
                <a:latin typeface="Cambria"/>
              </a:rPr>
              <a:t>n</a:t>
            </a:r>
            <a:r>
              <a:rPr sz="1700" b="0" i="0">
                <a:solidFill>
                  <a:srgbClr val="1C252B"/>
                </a:solidFill>
                <a:latin typeface="Cambria"/>
              </a:rPr>
              <a:t> = 10</a:t>
            </a:r>
            <a:r>
              <a:rPr sz="1100" b="0" i="0" baseline="30000">
                <a:solidFill>
                  <a:srgbClr val="1C252B"/>
                </a:solidFill>
                <a:latin typeface="Cambria"/>
              </a:rPr>
              <a:t>4</a:t>
            </a:r>
            <a:r>
              <a:rPr sz="1700" b="0" i="0">
                <a:solidFill>
                  <a:srgbClr val="1C252B"/>
                </a:solidFill>
                <a:latin typeface="Segoe UI"/>
              </a:rPr>
              <a:t> to </a:t>
            </a:r>
            <a:r>
              <a:rPr sz="1700" b="0" i="0">
                <a:solidFill>
                  <a:srgbClr val="1C252B"/>
                </a:solidFill>
                <a:latin typeface="Cambria"/>
              </a:rPr>
              <a:t>10</a:t>
            </a:r>
            <a:r>
              <a:rPr sz="1100" b="0" i="0" baseline="30000">
                <a:solidFill>
                  <a:srgbClr val="1C252B"/>
                </a:solidFill>
                <a:latin typeface="Cambria"/>
              </a:rPr>
              <a:t>7</a:t>
            </a:r>
            <a:r>
              <a:rPr sz="1700" b="0" i="0">
                <a:solidFill>
                  <a:srgbClr val="1C252B"/>
                </a:solidFill>
                <a:latin typeface="Segoe UI"/>
              </a:rPr>
              <a:t> — and individual runs ranged from </a:t>
            </a:r>
            <a:r>
              <a:rPr sz="1700" b="0" i="0">
                <a:solidFill>
                  <a:srgbClr val="1C252B"/>
                </a:solidFill>
                <a:latin typeface="Cambria"/>
              </a:rPr>
              <a:t>1.8</a:t>
            </a:r>
            <a:r>
              <a:rPr sz="1700" b="0" i="1">
                <a:solidFill>
                  <a:srgbClr val="1C252B"/>
                </a:solidFill>
                <a:latin typeface="Cambria"/>
              </a:rPr>
              <a:t>n</a:t>
            </a:r>
            <a:r>
              <a:rPr sz="1700" b="0" i="0">
                <a:solidFill>
                  <a:srgbClr val="1C252B"/>
                </a:solidFill>
                <a:latin typeface="Segoe UI"/>
              </a:rPr>
              <a:t> to </a:t>
            </a:r>
            <a:r>
              <a:rPr sz="1700" b="0" i="0">
                <a:solidFill>
                  <a:srgbClr val="1C252B"/>
                </a:solidFill>
                <a:latin typeface="Cambria"/>
              </a:rPr>
              <a:t>5.8</a:t>
            </a:r>
            <a:r>
              <a:rPr sz="1700" b="0" i="1">
                <a:solidFill>
                  <a:srgbClr val="1C252B"/>
                </a:solidFill>
                <a:latin typeface="Cambria"/>
              </a:rPr>
              <a:t>n</a:t>
            </a:r>
            <a:r>
              <a:rPr sz="1700" b="0" i="0">
                <a:solidFill>
                  <a:srgbClr val="1C252B"/>
                </a:solidFill>
                <a:latin typeface="Segoe UI"/>
              </a:rPr>
              <a:t>.</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7–9.5</a:t>
            </a:r>
            <a:r>
              <a:rPr sz="1700" b="0" i="0">
                <a:solidFill>
                  <a:srgbClr val="1C252B"/>
                </a:solidFill>
                <a:latin typeface="Cambria"/>
              </a:rPr>
              <a:t>×</a:t>
            </a:r>
            <a:r>
              <a:rPr sz="1700" b="0" i="0">
                <a:solidFill>
                  <a:srgbClr val="1C252B"/>
                </a:solidFill>
                <a:latin typeface="Segoe UI"/>
              </a:rPr>
              <a:t> faster than a full sort, a factor that grows with </a:t>
            </a:r>
            <a:r>
              <a:rPr sz="1700" b="0" i="1">
                <a:solidFill>
                  <a:srgbClr val="1C252B"/>
                </a:solidFill>
                <a:latin typeface="Cambria"/>
              </a:rPr>
              <a:t>n</a:t>
            </a:r>
            <a:r>
              <a:rPr sz="1700" b="0" i="0">
                <a:solidFill>
                  <a:srgbClr val="1C252B"/>
                </a:solidFill>
                <a:latin typeface="Segoe UI"/>
              </a:rPr>
              <a:t>; and indistinguishable from </a:t>
            </a:r>
            <a:r>
              <a:rPr sz="1600" b="0" i="0">
                <a:solidFill>
                  <a:srgbClr val="1F4E79"/>
                </a:solidFill>
                <a:latin typeface="Consolas"/>
              </a:rPr>
              <a:t>std::nth_element</a:t>
            </a:r>
            <a:r>
              <a:rPr sz="1700" b="0" i="0">
                <a:solidFill>
                  <a:srgbClr val="1C252B"/>
                </a:solidFill>
                <a:latin typeface="Segoe UI"/>
              </a:rPr>
              <a: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the naive pivot on sorted input used exactly </a:t>
            </a:r>
            <a:r>
              <a:rPr sz="1700" b="0" i="0">
                <a:solidFill>
                  <a:srgbClr val="1C252B"/>
                </a:solidFill>
                <a:latin typeface="Cambria"/>
              </a:rPr>
              <a:t>3</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/8</a:t>
            </a:r>
            <a:r>
              <a:rPr sz="1700" b="0" i="0">
                <a:solidFill>
                  <a:srgbClr val="1C252B"/>
                </a:solidFill>
                <a:latin typeface="Segoe UI"/>
              </a:rPr>
              <a:t> comparisons, matching the derivation to four decimal places.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a:t>
            </a:r>
            <a:fld id="{1031141D-81D8-4B25-8429-1C93E00093B6}" type="slidenum">
              <a:rPr lang="en-GB" sz="1000">
                <a:solidFill>
                  <a:srgbClr val="8795A1"/>
                </a:solidFill>
                <a:latin typeface="Segoe UI"/>
              </a:rPr>
              <a:t>42</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Median-of-medians is worst-case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via </a:t>
            </a:r>
            <a:r>
              <a:rPr sz="1700" b="0" i="1">
                <a:solidFill>
                  <a:srgbClr val="1C252B"/>
                </a:solidFill>
                <a:latin typeface="Cambria"/>
              </a:rPr>
              <a:t>T</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 ≤ </a:t>
            </a:r>
            <a:r>
              <a:rPr sz="1700" b="0" i="1">
                <a:solidFill>
                  <a:srgbClr val="1C252B"/>
                </a:solidFill>
                <a:latin typeface="Cambria"/>
              </a:rPr>
              <a:t>T</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/5) + </a:t>
            </a:r>
            <a:r>
              <a:rPr sz="1700" b="0" i="1">
                <a:solidFill>
                  <a:srgbClr val="1C252B"/>
                </a:solidFill>
                <a:latin typeface="Cambria"/>
              </a:rPr>
              <a:t>T</a:t>
            </a:r>
            <a:r>
              <a:rPr sz="1700" b="0" i="0">
                <a:solidFill>
                  <a:srgbClr val="1C252B"/>
                </a:solidFill>
                <a:latin typeface="Cambria"/>
              </a:rPr>
              <a:t>(7</a:t>
            </a:r>
            <a:r>
              <a:rPr sz="1700" b="0" i="1">
                <a:solidFill>
                  <a:srgbClr val="1C252B"/>
                </a:solidFill>
                <a:latin typeface="Cambria"/>
              </a:rPr>
              <a:t>n</a:t>
            </a:r>
            <a:r>
              <a:rPr sz="1700" b="0" i="0">
                <a:solidFill>
                  <a:srgbClr val="1C252B"/>
                </a:solidFill>
                <a:latin typeface="Cambria"/>
              </a:rPr>
              <a:t>/10) + 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where </a:t>
            </a:r>
            <a:r>
              <a:rPr sz="1700" b="0" i="0">
                <a:solidFill>
                  <a:srgbClr val="1C252B"/>
                </a:solidFill>
                <a:latin typeface="Cambria"/>
              </a:rPr>
              <a:t>/15+7/10&lt;1</a:t>
            </a:r>
            <a:r>
              <a:rPr sz="1700" b="0" i="0">
                <a:solidFill>
                  <a:srgbClr val="1C252B"/>
                </a:solidFill>
                <a:latin typeface="Segoe UI"/>
              </a:rPr>
              <a:t> is what makes the substitution close. Its constant is 5–10</a:t>
            </a:r>
            <a:r>
              <a:rPr sz="1700" b="0" i="0">
                <a:solidFill>
                  <a:srgbClr val="1C252B"/>
                </a:solidFill>
                <a:latin typeface="Cambria"/>
              </a:rPr>
              <a:t>×</a:t>
            </a:r>
            <a:r>
              <a:rPr sz="1700" b="0" i="0">
                <a:solidFill>
                  <a:srgbClr val="1C252B"/>
                </a:solidFill>
                <a:latin typeface="Segoe UI"/>
              </a:rPr>
              <a:t> worse, so it is used as a fallback, not a default.</a:t>
            </a:r>
          </a:p>
        </p:txBody>
      </p:sp>
      <p:sp>
        <p:nvSpPr>
          <p:cNvPr id="10" name="!!sb7">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7"/>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8</a:t>
            </a:r>
          </a:p>
        </p:txBody>
      </p:sp>
      <p:sp>
        <p:nvSpPr>
          <p:cNvPr id="12" name="!!st7"/>
          <p:cNvSpPr txBox="1"/>
          <p:nvPr/>
        </p:nvSpPr>
        <p:spPr>
          <a:xfrm>
            <a:off x="1298448" y="245912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Cost varies with </a:t>
            </a:r>
            <a:r>
              <a:rPr sz="1700" b="0" i="1">
                <a:solidFill>
                  <a:srgbClr val="1C252B"/>
                </a:solidFill>
                <a:latin typeface="Cambria"/>
              </a:rPr>
              <a:t>k</a:t>
            </a:r>
            <a:r>
              <a:rPr sz="1700" b="0" i="0">
                <a:solidFill>
                  <a:srgbClr val="1C252B"/>
                </a:solidFill>
                <a:latin typeface="Segoe UI"/>
              </a:rPr>
              <a:t> by less than a factor of two, because the first partition costs </a:t>
            </a:r>
            <a:r>
              <a:rPr sz="1700" b="0" i="1">
                <a:solidFill>
                  <a:srgbClr val="1C252B"/>
                </a:solidFill>
                <a:latin typeface="Cambria"/>
              </a:rPr>
              <a:t>n</a:t>
            </a:r>
            <a:r>
              <a:rPr sz="1700" b="0" i="0">
                <a:solidFill>
                  <a:srgbClr val="1C252B"/>
                </a:solidFill>
                <a:latin typeface="Segoe UI"/>
              </a:rPr>
              <a:t> whatever </a:t>
            </a:r>
            <a:r>
              <a:rPr sz="1700" b="0" i="1">
                <a:solidFill>
                  <a:srgbClr val="1C252B"/>
                </a:solidFill>
                <a:latin typeface="Cambria"/>
              </a:rPr>
              <a:t>k</a:t>
            </a:r>
            <a:r>
              <a:rPr sz="1700" b="0" i="0">
                <a:solidFill>
                  <a:srgbClr val="1C252B"/>
                </a:solidFill>
                <a:latin typeface="Segoe UI"/>
              </a:rPr>
              <a:t> is.</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a:t>
            </a:r>
            <a:fld id="{34F52801-662E-45A9-B676-B84220E10D12}"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Randomised quickselect’s expected running time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2000" b="0" i="0">
                <a:solidFill>
                  <a:srgbClr val="1C252B"/>
                </a:solidFill>
                <a:latin typeface="Cambria"/>
              </a:rPr>
              <a:t> 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n</a:t>
            </a:r>
            <a:r>
              <a:rPr sz="1300" b="0" i="0" baseline="30000">
                <a:solidFill>
                  <a:srgbClr val="1C252B"/>
                </a:solidFill>
                <a:latin typeface="Cambria"/>
              </a:rPr>
              <a:t>2</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a:t>
            </a:r>
            <a:fld id="{1900A42D-20C6-4A46-8B8F-905B219BEFE9}" type="slidenum">
              <a:rPr lang="en-GB" sz="1000">
                <a:solidFill>
                  <a:srgbClr val="8795A1"/>
                </a:solidFill>
                <a:latin typeface="Segoe UI"/>
              </a:rPr>
              <a:t>44</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Median-of-medians partitions around an element guaranteed to exceed at least:</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n</a:t>
            </a:r>
            <a:r>
              <a:rPr sz="2000" b="0" i="0">
                <a:solidFill>
                  <a:srgbClr val="1C252B"/>
                </a:solidFill>
                <a:latin typeface="Cambria"/>
              </a:rPr>
              <a:t>/5</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3</a:t>
            </a:r>
            <a:r>
              <a:rPr sz="2000" b="0" i="1">
                <a:solidFill>
                  <a:srgbClr val="1C252B"/>
                </a:solidFill>
                <a:latin typeface="Cambria"/>
              </a:rPr>
              <a:t>n</a:t>
            </a:r>
            <a:r>
              <a:rPr sz="2000" b="0" i="0">
                <a:solidFill>
                  <a:srgbClr val="1C252B"/>
                </a:solidFill>
                <a:latin typeface="Cambria"/>
              </a:rPr>
              <a:t>/10</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n</a:t>
            </a:r>
            <a:r>
              <a:rPr sz="2000" b="0" i="0">
                <a:solidFill>
                  <a:srgbClr val="1C252B"/>
                </a:solidFill>
                <a:latin typeface="Cambria"/>
              </a:rPr>
              <a:t>/2</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7</a:t>
            </a:r>
            <a:r>
              <a:rPr sz="2000" b="0" i="1">
                <a:solidFill>
                  <a:srgbClr val="1C252B"/>
                </a:solidFill>
                <a:latin typeface="Cambria"/>
              </a:rPr>
              <a:t>n</a:t>
            </a:r>
            <a:r>
              <a:rPr sz="2000" b="0" i="0">
                <a:solidFill>
                  <a:srgbClr val="1C252B"/>
                </a:solidFill>
                <a:latin typeface="Cambria"/>
              </a:rPr>
              <a:t>/10</a:t>
            </a:r>
            <a:r>
              <a:rPr sz="2000" b="0" i="0">
                <a:solidFill>
                  <a:srgbClr val="1C252B"/>
                </a:solidFill>
                <a:latin typeface="Segoe UI"/>
              </a:rPr>
              <a:t> of the elements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11  ·  Selection and Order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96     </a:t>
            </a:r>
            <a:fld id="{A306F2E3-9644-46CC-AB63-D0B5261F0E1E}"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deleting one recursive call changes the master-theorem case, and hence removes the logarithm.</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trade-off between randomised quickselect and median-of-medians, and say what introselect does about it.</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measured spread was </a:t>
            </a:r>
            <a:r>
              <a:rPr sz="1900" b="0" i="0">
                <a:solidFill>
                  <a:srgbClr val="1C252B"/>
                </a:solidFill>
                <a:latin typeface="Cambria"/>
              </a:rPr>
              <a:t>1.8</a:t>
            </a:r>
            <a:r>
              <a:rPr sz="1900" b="0" i="1">
                <a:solidFill>
                  <a:srgbClr val="1C252B"/>
                </a:solidFill>
                <a:latin typeface="Cambria"/>
              </a:rPr>
              <a:t>n</a:t>
            </a:r>
            <a:r>
              <a:rPr sz="1900" b="0" i="0">
                <a:solidFill>
                  <a:srgbClr val="1C252B"/>
                </a:solidFill>
                <a:latin typeface="Segoe UI"/>
              </a:rPr>
              <a:t> to </a:t>
            </a:r>
            <a:r>
              <a:rPr sz="1900" b="0" i="0">
                <a:solidFill>
                  <a:srgbClr val="1C252B"/>
                </a:solidFill>
                <a:latin typeface="Cambria"/>
              </a:rPr>
              <a:t>5.8</a:t>
            </a:r>
            <a:r>
              <a:rPr sz="1900" b="0" i="1">
                <a:solidFill>
                  <a:srgbClr val="1C252B"/>
                </a:solidFill>
                <a:latin typeface="Cambria"/>
              </a:rPr>
              <a:t>n</a:t>
            </a:r>
            <a:r>
              <a:rPr sz="1900" b="0" i="0">
                <a:solidFill>
                  <a:srgbClr val="1C252B"/>
                </a:solidFill>
                <a:latin typeface="Segoe UI"/>
              </a:rPr>
              <a:t> for a mean of </a:t>
            </a:r>
            <a:r>
              <a:rPr sz="1900" b="0" i="0">
                <a:solidFill>
                  <a:srgbClr val="1C252B"/>
                </a:solidFill>
                <a:latin typeface="Cambria"/>
              </a:rPr>
              <a:t>3.3</a:t>
            </a:r>
            <a:r>
              <a:rPr sz="1900" b="0" i="1">
                <a:solidFill>
                  <a:srgbClr val="1C252B"/>
                </a:solidFill>
                <a:latin typeface="Cambria"/>
              </a:rPr>
              <a:t>n</a:t>
            </a:r>
            <a:r>
              <a:rPr sz="1900" b="0" i="0">
                <a:solidFill>
                  <a:srgbClr val="1C252B"/>
                </a:solidFill>
                <a:latin typeface="Segoe UI"/>
              </a:rPr>
              <a:t>. What does that tell you about relying on an expected-time bound for a single latency-critical request?</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Prove that at least </a:t>
            </a:r>
            <a:r>
              <a:rPr sz="1900" b="0" i="1">
                <a:solidFill>
                  <a:srgbClr val="1C252B"/>
                </a:solidFill>
                <a:latin typeface="Cambria"/>
              </a:rPr>
              <a:t>n</a:t>
            </a:r>
            <a:r>
              <a:rPr sz="1900" b="0" i="0">
                <a:solidFill>
                  <a:srgbClr val="1C252B"/>
                </a:solidFill>
                <a:latin typeface="Cambria"/>
              </a:rPr>
              <a:t>−1</a:t>
            </a:r>
            <a:r>
              <a:rPr sz="1900" b="0" i="0">
                <a:solidFill>
                  <a:srgbClr val="1C252B"/>
                </a:solidFill>
                <a:latin typeface="Segoe UI"/>
              </a:rPr>
              <a:t> comparisons are needed to find the minimum of </a:t>
            </a:r>
            <a:r>
              <a:rPr sz="1900" b="0" i="1">
                <a:solidFill>
                  <a:srgbClr val="1C252B"/>
                </a:solidFill>
                <a:latin typeface="Cambria"/>
              </a:rPr>
              <a:t>n</a:t>
            </a:r>
            <a:r>
              <a:rPr sz="1900" b="0" i="0">
                <a:solidFill>
                  <a:srgbClr val="1C252B"/>
                </a:solidFill>
                <a:latin typeface="Segoe UI"/>
              </a:rPr>
              <a:t> elements, and explain why you would use a single sweep rather than quickselect for </a:t>
            </a:r>
            <a:r>
              <a:rPr sz="1900" b="0" i="1">
                <a:solidFill>
                  <a:srgbClr val="1C252B"/>
                </a:solidFill>
                <a:latin typeface="Cambria"/>
              </a:rPr>
              <a:t>k</a:t>
            </a:r>
            <a:r>
              <a:rPr sz="1900" b="0" i="0">
                <a:solidFill>
                  <a:srgbClr val="1C252B"/>
                </a:solidFill>
                <a:latin typeface="Cambria"/>
              </a:rPr>
              <a:t> = 1</a:t>
            </a:r>
            <a:r>
              <a:rPr sz="19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need the 99th percentile latency from 50 million recorded request times, once per minute. Choose an algorithm, justify it with the measurements in this chapter, and say what would change your choice.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12 — Heaps and Search Trees, Revisited for Analysis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11, pages 90–96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Midterm, then quickselect against a full sort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Midterm (Ch 1–9)</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11  ·  Selection and Order Statistics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FEE56174-CCD9-4575-9456-5825521A71FC}"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Selection and Order Statistics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