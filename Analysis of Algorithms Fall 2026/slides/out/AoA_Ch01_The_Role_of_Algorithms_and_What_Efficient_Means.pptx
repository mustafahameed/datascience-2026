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8.svg" ContentType="image/svg+xml"/>
  <Override PartName="/ppt/media/image30.svg" ContentType="image/svg+xml"/>
  <Override PartName="/ppt/media/image32.svg" ContentType="image/svg+xml"/>
  <Override PartName="/ppt/media/image33.svg" ContentType="image/svg+xml"/>
  <Override PartName="/ppt/media/image34.svg" ContentType="image/svg+xml"/>
  <Override PartName="/ppt/media/image36.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5.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84C2431-2ADA-4239-884E-672708DF14CE}">
          <p14:sldIdLst>
            <p14:sldId id="256"/>
            <p14:sldId id="257"/>
            <p14:sldId id="258"/>
            <p14:sldId id="259"/>
            <p14:sldId id="260"/>
          </p14:sldIdLst>
        </p14:section>
        <p14:section name="1.1 Two Programs That Agree on Every Answer" id="{48431EB9-0324-410E-BD59-FFFD8353DD91}">
          <p14:sldIdLst>
            <p14:sldId id="261"/>
          </p14:sldIdLst>
        </p14:section>
        <p14:section name="1.2 The Model: What Counts as One Step" id="{800958A4-F967-418A-809F-8E70A8DE7D5B}">
          <p14:sldIdLst>
            <p14:sldId id="262"/>
            <p14:sldId id="263"/>
            <p14:sldId id="264"/>
          </p14:sldIdLst>
        </p14:section>
        <p14:section name="1.3 Why the Question Is Asymptotic" id="{28EB3892-F622-43B5-876B-F0F264B6DB69}">
          <p14:sldIdLst>
            <p14:sldId id="265"/>
            <p14:sldId id="266"/>
            <p14:sldId id="267"/>
            <p14:sldId id="268"/>
            <p14:sldId id="269"/>
            <p14:sldId id="270"/>
          </p14:sldIdLst>
        </p14:section>
        <p14:section name="1.4 The Claim, Measured" id="{21B08C8D-AC1E-41C5-BF89-3EE6BCF428DA}">
          <p14:sldIdLst>
            <p14:sldId id="271"/>
            <p14:sldId id="272"/>
            <p14:sldId id="273"/>
            <p14:sldId id="274"/>
            <p14:sldId id="275"/>
            <p14:sldId id="276"/>
          </p14:sldIdLst>
        </p14:section>
        <p14:section name="1.5 Space, and the Trade Against Time" id="{12D086EE-D500-4A68-9A18-E6AB982F5B4A}">
          <p14:sldIdLst>
            <p14:sldId id="277"/>
          </p14:sldIdLst>
        </p14:section>
        <p14:section name="Pitfalls" id="{3B1D4D21-9375-40A5-AEAB-A2F1F967BAD2}">
          <p14:sldIdLst>
            <p14:sldId id="278"/>
          </p14:sldIdLst>
        </p14:section>
        <p14:section name="Lab" id="{511552EB-2F26-43DA-917C-CA259AF4E9F2}">
          <p14:sldIdLst>
            <p14:sldId id="279"/>
            <p14:sldId id="280"/>
            <p14:sldId id="281"/>
            <p14:sldId id="282"/>
            <p14:sldId id="283"/>
            <p14:sldId id="284"/>
            <p14:sldId id="285"/>
          </p14:sldIdLst>
        </p14:section>
        <p14:section name="Checkpoint" id="{396F0B11-8C2C-4CE9-8AE3-8772DDBA6B39}">
          <p14:sldIdLst>
            <p14:sldId id="286"/>
            <p14:sldId id="287"/>
            <p14:sldId id="288"/>
          </p14:sldIdLst>
        </p14:section>
        <p14:section name="Wrap-up" id="{44918ED8-72FA-4FB4-818E-3B829CE0799F}">
          <p14:sldIdLst>
            <p14:sldId id="289"/>
            <p14:sldId id="290"/>
            <p14:sldId id="291"/>
            <p14:sldId id="292"/>
            <p14:sldId id="293"/>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The Role of Algorithms, and What Efficient Means. Part 1 — Analysing an Algorithm. Week 1: What an algorithm is; input size and the three cases. Handout pages 3–10.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Nothing in this book. You need to be able to read a loop and to have written programs that sort or search — Data Structures is the published prerequisite and this chapter assumes only its first fortnight. Appendix A sets up the compiler, and you will want it from Section 1.4 onward.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algorithm; problem; instance; correctness; random-access machine; RAM model; primitive operation; running time; input size; order of growth; asymptotic analysis; constant factor; space complexity; time–space trade-off.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two ways to decide whether a sorted array of a million names contains one particular name. The first walks the array from the start, comparing as it goes, and stops when it finds the name or runs off the end. The second looks at the middle element, discards the half that cannot contain the name, and repeats. Both are correct. Both return the same answer for every input. Run them on the same machine with the same compiler and the first takes, on a million names, about half a million comparisons; the second takes twenty. Not twenty thousand — twenty. That gap is the subject of this course, and the first thing to notice about it is that it has nothing to do with programming. It is not a faster loop, a better compiler or a tighter data structure. It is a different idea, and the difference between the two ideas survives every change of language, machine and decade.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say an algorithm takes “half a million comparisons” we need to agree what a step is. Real machines make that awkward: an addition and a division cost differently, memory access costs differently depending on the cache, and the processor may be executing four instructions at once. So we measure against an idealisation.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 not ask how long an algorithm takes. We ask how the time grows with the input, and we answer with the dominant term, discarding constants. That sounds like giving up information. It is the opposite: it is the only way to say something that stays true.</a:t>
            </a:r>
          </a:p>
          <a:p/>
          <a:p>
            <a:r>
              <a:t>Figure 1.1 (handout p. 5): The six orders of growth this book is mostly about, on a logarithmic vertical axis — note that each gridline is a factor of a hundred. At n = 100 the gap between n lg n and n2 is already a factor of fifteen, and the gap between n2 and 2n does not fit on the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worked example is arithmetic about a hypothetical machine. The claim it rests on — that a quadratic algorithm’s time quadruples when the input doubles, and an n lg n one’s roughly doubles — is testable on the machine in front of you, and ought to be tested.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is not the only resource. Space complexity counts the memory an algorithm needs beyond its input, and the two are often tradeable: a lookup table turns a computation into a memory access, and Chapter 15’s whole technique is spending memory to avoid recomputation.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both tables above on your own machine. Appendix A sets up the compiler. Expect twenty minutes, most of it reading the output.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The two algorithms, written plainly.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two algorithms, written plainly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Timing that is honest.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Double n each time, and watch the ratios.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Now find where they cross.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 — Input Size, Input Nature, and the Three Cases. READ: Handout Chapter 1, pages 3–10. THIS WEEK'S LAB: Growth measured: the ratio test, and the crossover at n ≈ 65.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0.xml"/><Relationship Id="rId8" Type="http://schemas.openxmlformats.org/officeDocument/2006/relationships/slide" Target="slide16.xml"/><Relationship Id="rId9" Type="http://schemas.openxmlformats.org/officeDocument/2006/relationships/slide" Target="slide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3.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8.sv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image" Target="../media/image31.png"/><Relationship Id="rId7" Type="http://schemas.openxmlformats.org/officeDocument/2006/relationships/image" Target="../media/image32.sv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34.svg"/><Relationship Id="rId4" Type="http://schemas.openxmlformats.org/officeDocument/2006/relationships/image" Target="../media/image35.png"/><Relationship Id="rId5" Type="http://schemas.openxmlformats.org/officeDocument/2006/relationships/image" Target="../media/image36.svg"/><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39.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4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41.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42.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43.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8.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9.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0.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1.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2.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3.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6.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7.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0.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3.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4.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The Role of Algorithms, and What Efficient Means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ANALYSING AN ALGORITHM</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1  ·  WEEK 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599AC220-D602-4A84-9239-8F60EA4A7440}" type="slidenum">
              <a:rPr lang="en-GB" sz="1000">
                <a:solidFill>
                  <a:srgbClr val="8795A1"/>
                </a:solidFill>
                <a:latin typeface="Segoe UI"/>
              </a:rPr>
              <a:t>2</a:t>
            </a:fld>
          </a:p>
        </p:txBody>
      </p:sp>
      <p:sp>
        <p:nvSpPr>
          <p:cNvPr id="7" name="!!rp1"/>
          <p:cNvSpPr txBox="1"/>
          <p:nvPr/>
        </p:nvSpPr>
        <p:spPr>
          <a:xfrm>
            <a:off x="932688"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932688" y="2029967"/>
            <a:ext cx="1667468"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929340" y="1755648"/>
            <a:ext cx="190374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929340" y="2029967"/>
            <a:ext cx="1903741"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516226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516226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0034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0034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44673"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44673"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294156"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294156"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652"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81765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21" name="!!dot2">
            <a:extLst>
              <a:ext uri="{C183D7F6-B498-43B3-948B-1728B52AA6E4}">
                <adec:decorative xmlns:adec="http://schemas.microsoft.com/office/drawing/2017/decorative" val="1"/>
              </a:ext>
            </a:extLst>
          </p:cNvPr>
          <p:cNvSpPr/>
          <p:nvPr/>
        </p:nvSpPr>
        <p:spPr>
          <a:xfrm>
            <a:off x="1511125"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41968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90284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81140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94567"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0312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960608"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8691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35232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2608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744050"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6526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135771"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443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527492"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43605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7697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855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68696"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772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81817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7267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20990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184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59383"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679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The Role of Algorithms, and What Efficient Means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dep-none-BUILD"/>
          <p:cNvSpPr txBox="1"/>
          <p:nvPr/>
        </p:nvSpPr>
        <p:spPr>
          <a:xfrm>
            <a:off x="658368"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nothing earlier in the course</a:t>
            </a:r>
          </a:p>
        </p:txBody>
      </p:sp>
      <p:sp>
        <p:nvSpPr>
          <p:cNvPr id="6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69" name="!!chipUS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bUS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tUS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Input Size, Input Nature, and the Three Cases</a:t>
            </a:r>
          </a:p>
        </p:txBody>
      </p:sp>
      <p:sp>
        <p:nvSpPr>
          <p:cNvPr id="72" name="!!chipUS3">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3">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3"/>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Asymptotic Notation</a:t>
            </a:r>
          </a:p>
        </p:txBody>
      </p:sp>
      <p:sp>
        <p:nvSpPr>
          <p:cNvPr id="75" name="!!chipUS4">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4">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4"/>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4  </a:t>
            </a:r>
            <a:r>
              <a:rPr sz="1400" b="0" i="0">
                <a:solidFill>
                  <a:srgbClr val="1C252B"/>
                </a:solidFill>
                <a:latin typeface="Segoe UI"/>
              </a:rPr>
              <a:t>Correctness: Loop Invariants</a:t>
            </a:r>
          </a:p>
        </p:txBody>
      </p:sp>
      <p:sp>
        <p:nvSpPr>
          <p:cNvPr id="7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pfill">
            <a:extLst>
              <a:ext uri="{C183D7F6-B498-43B3-948B-1728B52AA6E4}">
                <adec:decorative xmlns:adec="http://schemas.microsoft.com/office/drawing/2017/decorative" val="1"/>
              </a:ext>
            </a:extLst>
          </p:cNvPr>
          <p:cNvSpPr/>
          <p:nvPr/>
        </p:nvSpPr>
        <p:spPr>
          <a:xfrm>
            <a:off x="0" y="0"/>
            <a:ext cx="62521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27217C48-3F26-4C06-920C-201D659C45FD}"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State</a:t>
            </a:r>
            <a:r>
              <a:rPr sz="2100" b="0" i="0">
                <a:solidFill>
                  <a:srgbClr val="1C252B"/>
                </a:solidFill>
                <a:latin typeface="Segoe UI"/>
              </a:rPr>
              <a:t> what an algorithm is, and </a:t>
            </a:r>
            <a:r>
              <a:rPr sz="2100" b="1" i="0">
                <a:solidFill>
                  <a:srgbClr val="1C252B"/>
                </a:solidFill>
                <a:latin typeface="Segoe UI"/>
              </a:rPr>
              <a:t>distinguish</a:t>
            </a:r>
            <a:r>
              <a:rPr sz="2100" b="0" i="0">
                <a:solidFill>
                  <a:srgbClr val="1C252B"/>
                </a:solidFill>
                <a:latin typeface="Segoe UI"/>
              </a:rPr>
              <a:t> it from a program that implements it.</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Describe</a:t>
            </a:r>
            <a:r>
              <a:rPr sz="2100" b="0" i="0">
                <a:solidFill>
                  <a:srgbClr val="1C252B"/>
                </a:solidFill>
                <a:latin typeface="Segoe UI"/>
              </a:rPr>
              <a:t> the random-access machine model this course measures against, and </a:t>
            </a:r>
            <a:r>
              <a:rPr sz="2100" b="1" i="0">
                <a:solidFill>
                  <a:srgbClr val="1C252B"/>
                </a:solidFill>
                <a:latin typeface="Segoe UI"/>
              </a:rPr>
              <a:t>name</a:t>
            </a:r>
            <a:r>
              <a:rPr sz="2100" b="0" i="0">
                <a:solidFill>
                  <a:srgbClr val="1C252B"/>
                </a:solidFill>
                <a:latin typeface="Segoe UI"/>
              </a:rPr>
              <a:t> three things it deliberately ignores.</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Explain</a:t>
            </a:r>
            <a:r>
              <a:rPr sz="2100" b="0" i="0">
                <a:solidFill>
                  <a:srgbClr val="1C252B"/>
                </a:solidFill>
                <a:latin typeface="Segoe UI"/>
              </a:rPr>
              <a:t> why the interesting question about an algorithm is asymptotic, and </a:t>
            </a:r>
            <a:r>
              <a:rPr sz="2100" b="1" i="0">
                <a:solidFill>
                  <a:srgbClr val="1C252B"/>
                </a:solidFill>
                <a:latin typeface="Segoe UI"/>
              </a:rPr>
              <a:t>compute</a:t>
            </a:r>
            <a:r>
              <a:rPr sz="2100" b="0" i="0">
                <a:solidFill>
                  <a:srgbClr val="1C252B"/>
                </a:solidFill>
                <a:latin typeface="Segoe UI"/>
              </a:rPr>
              <a:t> how long a given algorithm takes at a given input size.</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Predict</a:t>
            </a:r>
            <a:r>
              <a:rPr sz="2100" b="0" i="0">
                <a:solidFill>
                  <a:srgbClr val="1C252B"/>
                </a:solidFill>
                <a:latin typeface="Segoe UI"/>
              </a:rPr>
              <a:t> the ratio by which a running time grows when the input doubles, from the algorithm’s order of growth, and </a:t>
            </a:r>
            <a:r>
              <a:rPr sz="2100" b="1" i="0">
                <a:solidFill>
                  <a:srgbClr val="1C252B"/>
                </a:solidFill>
                <a:latin typeface="Segoe UI"/>
              </a:rPr>
              <a:t>check</a:t>
            </a:r>
            <a:r>
              <a:rPr sz="2100" b="0" i="0">
                <a:solidFill>
                  <a:srgbClr val="1C252B"/>
                </a:solidFill>
                <a:latin typeface="Segoe UI"/>
              </a:rPr>
              <a:t> the prediction by measurement.</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Explain</a:t>
            </a:r>
            <a:r>
              <a:rPr sz="2100" b="0" i="0">
                <a:solidFill>
                  <a:srgbClr val="1C252B"/>
                </a:solidFill>
                <a:latin typeface="Segoe UI"/>
              </a:rPr>
              <a:t> why a faster computer running a worse algorithm loses, and </a:t>
            </a:r>
            <a:r>
              <a:rPr sz="2100" b="1" i="0">
                <a:solidFill>
                  <a:srgbClr val="1C252B"/>
                </a:solidFill>
                <a:latin typeface="Segoe UI"/>
              </a:rPr>
              <a:t>find</a:t>
            </a:r>
            <a:r>
              <a:rPr sz="2100" b="0" i="0">
                <a:solidFill>
                  <a:srgbClr val="1C252B"/>
                </a:solidFill>
                <a:latin typeface="Segoe UI"/>
              </a:rPr>
              <a:t> the input size at which it starts losing.</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378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     </a:t>
            </a:r>
            <a:fld id="{1B12CF5C-862E-401E-A80C-51FEAAA52C23}" type="slidenum">
              <a:rPr lang="en-GB" sz="1000">
                <a:solidFill>
                  <a:srgbClr val="8795A1"/>
                </a:solidFill>
                <a:latin typeface="Segoe UI"/>
              </a:rPr>
              <a:t>4</a:t>
            </a:fld>
          </a:p>
        </p:txBody>
      </p:sp>
      <p:sp>
        <p:nvSpPr>
          <p:cNvPr id="7" name="!!term-algorithm">
            <a:extLst>
              <a:ext uri="{C183D7F6-B498-43B3-948B-1728B52AA6E4}">
                <adec:decorative xmlns:adec="http://schemas.microsoft.com/office/drawing/2017/decorative" val="1"/>
              </a:ext>
            </a:extLst>
          </p:cNvPr>
          <p:cNvSpPr/>
          <p:nvPr/>
        </p:nvSpPr>
        <p:spPr>
          <a:xfrm>
            <a:off x="658368" y="1847088"/>
            <a:ext cx="13264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algorithm">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algorithm"/>
          <p:cNvSpPr txBox="1"/>
          <p:nvPr/>
        </p:nvSpPr>
        <p:spPr>
          <a:xfrm>
            <a:off x="950976" y="1962911"/>
            <a:ext cx="114353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algorithm</a:t>
            </a:r>
          </a:p>
        </p:txBody>
      </p:sp>
      <p:sp>
        <p:nvSpPr>
          <p:cNvPr id="10" name="!!term-problem">
            <a:extLst>
              <a:ext uri="{C183D7F6-B498-43B3-948B-1728B52AA6E4}">
                <adec:decorative xmlns:adec="http://schemas.microsoft.com/office/drawing/2017/decorative" val="1"/>
              </a:ext>
            </a:extLst>
          </p:cNvPr>
          <p:cNvSpPr/>
          <p:nvPr/>
        </p:nvSpPr>
        <p:spPr>
          <a:xfrm>
            <a:off x="2131088" y="1847088"/>
            <a:ext cx="12132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roblem">
            <a:extLst>
              <a:ext uri="{C183D7F6-B498-43B3-948B-1728B52AA6E4}">
                <adec:decorative xmlns:adec="http://schemas.microsoft.com/office/drawing/2017/decorative" val="1"/>
              </a:ext>
            </a:extLst>
          </p:cNvPr>
          <p:cNvSpPr/>
          <p:nvPr/>
        </p:nvSpPr>
        <p:spPr>
          <a:xfrm>
            <a:off x="225910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roblem"/>
          <p:cNvSpPr txBox="1"/>
          <p:nvPr/>
        </p:nvSpPr>
        <p:spPr>
          <a:xfrm>
            <a:off x="2423696" y="1962911"/>
            <a:ext cx="103032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problem</a:t>
            </a:r>
          </a:p>
        </p:txBody>
      </p:sp>
      <p:sp>
        <p:nvSpPr>
          <p:cNvPr id="13" name="!!term-instance">
            <a:extLst>
              <a:ext uri="{C183D7F6-B498-43B3-948B-1728B52AA6E4}">
                <adec:decorative xmlns:adec="http://schemas.microsoft.com/office/drawing/2017/decorative" val="1"/>
              </a:ext>
            </a:extLst>
          </p:cNvPr>
          <p:cNvSpPr/>
          <p:nvPr/>
        </p:nvSpPr>
        <p:spPr>
          <a:xfrm>
            <a:off x="3490600" y="1847088"/>
            <a:ext cx="11914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instance">
            <a:extLst>
              <a:ext uri="{C183D7F6-B498-43B3-948B-1728B52AA6E4}">
                <adec:decorative xmlns:adec="http://schemas.microsoft.com/office/drawing/2017/decorative" val="1"/>
              </a:ext>
            </a:extLst>
          </p:cNvPr>
          <p:cNvSpPr/>
          <p:nvPr/>
        </p:nvSpPr>
        <p:spPr>
          <a:xfrm>
            <a:off x="361861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instance"/>
          <p:cNvSpPr txBox="1"/>
          <p:nvPr/>
        </p:nvSpPr>
        <p:spPr>
          <a:xfrm>
            <a:off x="3783208" y="1962911"/>
            <a:ext cx="100860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instance</a:t>
            </a:r>
          </a:p>
        </p:txBody>
      </p:sp>
      <p:sp>
        <p:nvSpPr>
          <p:cNvPr id="16" name="!!term-correctness">
            <a:extLst>
              <a:ext uri="{C183D7F6-B498-43B3-948B-1728B52AA6E4}">
                <adec:decorative xmlns:adec="http://schemas.microsoft.com/office/drawing/2017/decorative" val="1"/>
              </a:ext>
            </a:extLst>
          </p:cNvPr>
          <p:cNvSpPr/>
          <p:nvPr/>
        </p:nvSpPr>
        <p:spPr>
          <a:xfrm>
            <a:off x="4828392" y="1847088"/>
            <a:ext cx="14762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correctness">
            <a:extLst>
              <a:ext uri="{C183D7F6-B498-43B3-948B-1728B52AA6E4}">
                <adec:decorative xmlns:adec="http://schemas.microsoft.com/office/drawing/2017/decorative" val="1"/>
              </a:ext>
            </a:extLst>
          </p:cNvPr>
          <p:cNvSpPr/>
          <p:nvPr/>
        </p:nvSpPr>
        <p:spPr>
          <a:xfrm>
            <a:off x="495640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correctness"/>
          <p:cNvSpPr txBox="1"/>
          <p:nvPr/>
        </p:nvSpPr>
        <p:spPr>
          <a:xfrm>
            <a:off x="5121000" y="1962911"/>
            <a:ext cx="129334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correctness</a:t>
            </a:r>
          </a:p>
        </p:txBody>
      </p:sp>
      <p:sp>
        <p:nvSpPr>
          <p:cNvPr id="19" name="!!term-random-access ">
            <a:extLst>
              <a:ext uri="{C183D7F6-B498-43B3-948B-1728B52AA6E4}">
                <adec:decorative xmlns:adec="http://schemas.microsoft.com/office/drawing/2017/decorative" val="1"/>
              </a:ext>
            </a:extLst>
          </p:cNvPr>
          <p:cNvSpPr/>
          <p:nvPr/>
        </p:nvSpPr>
        <p:spPr>
          <a:xfrm>
            <a:off x="6450922" y="1847088"/>
            <a:ext cx="26495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random-access ">
            <a:extLst>
              <a:ext uri="{C183D7F6-B498-43B3-948B-1728B52AA6E4}">
                <adec:decorative xmlns:adec="http://schemas.microsoft.com/office/drawing/2017/decorative" val="1"/>
              </a:ext>
            </a:extLst>
          </p:cNvPr>
          <p:cNvSpPr/>
          <p:nvPr/>
        </p:nvSpPr>
        <p:spPr>
          <a:xfrm>
            <a:off x="657893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random-access "/>
          <p:cNvSpPr txBox="1"/>
          <p:nvPr/>
        </p:nvSpPr>
        <p:spPr>
          <a:xfrm>
            <a:off x="6743530" y="1962911"/>
            <a:ext cx="246670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random-access machine</a:t>
            </a:r>
          </a:p>
        </p:txBody>
      </p:sp>
      <p:sp>
        <p:nvSpPr>
          <p:cNvPr id="22" name="!!term-RAM model">
            <a:extLst>
              <a:ext uri="{C183D7F6-B498-43B3-948B-1728B52AA6E4}">
                <adec:decorative xmlns:adec="http://schemas.microsoft.com/office/drawing/2017/decorative" val="1"/>
              </a:ext>
            </a:extLst>
          </p:cNvPr>
          <p:cNvSpPr/>
          <p:nvPr/>
        </p:nvSpPr>
        <p:spPr>
          <a:xfrm>
            <a:off x="9246816" y="1847088"/>
            <a:ext cx="15200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RAM model">
            <a:extLst>
              <a:ext uri="{C183D7F6-B498-43B3-948B-1728B52AA6E4}">
                <adec:decorative xmlns:adec="http://schemas.microsoft.com/office/drawing/2017/decorative" val="1"/>
              </a:ext>
            </a:extLst>
          </p:cNvPr>
          <p:cNvSpPr/>
          <p:nvPr/>
        </p:nvSpPr>
        <p:spPr>
          <a:xfrm>
            <a:off x="937483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RAM model"/>
          <p:cNvSpPr txBox="1"/>
          <p:nvPr/>
        </p:nvSpPr>
        <p:spPr>
          <a:xfrm>
            <a:off x="9539424" y="1962911"/>
            <a:ext cx="133712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RAM model</a:t>
            </a:r>
          </a:p>
        </p:txBody>
      </p:sp>
      <p:sp>
        <p:nvSpPr>
          <p:cNvPr id="25" name="!!term-primitive oper">
            <a:extLst>
              <a:ext uri="{C183D7F6-B498-43B3-948B-1728B52AA6E4}">
                <adec:decorative xmlns:adec="http://schemas.microsoft.com/office/drawing/2017/decorative" val="1"/>
              </a:ext>
            </a:extLst>
          </p:cNvPr>
          <p:cNvSpPr/>
          <p:nvPr/>
        </p:nvSpPr>
        <p:spPr>
          <a:xfrm>
            <a:off x="658368" y="2468880"/>
            <a:ext cx="21850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primitive oper">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primitive oper"/>
          <p:cNvSpPr txBox="1"/>
          <p:nvPr/>
        </p:nvSpPr>
        <p:spPr>
          <a:xfrm>
            <a:off x="950976" y="2584704"/>
            <a:ext cx="200221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primitive operation</a:t>
            </a:r>
          </a:p>
        </p:txBody>
      </p:sp>
      <p:sp>
        <p:nvSpPr>
          <p:cNvPr id="28" name="!!term-running time">
            <a:extLst>
              <a:ext uri="{C183D7F6-B498-43B3-948B-1728B52AA6E4}">
                <adec:decorative xmlns:adec="http://schemas.microsoft.com/office/drawing/2017/decorative" val="1"/>
              </a:ext>
            </a:extLst>
          </p:cNvPr>
          <p:cNvSpPr/>
          <p:nvPr/>
        </p:nvSpPr>
        <p:spPr>
          <a:xfrm>
            <a:off x="2989763" y="2468880"/>
            <a:ext cx="16165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running time">
            <a:extLst>
              <a:ext uri="{C183D7F6-B498-43B3-948B-1728B52AA6E4}">
                <adec:decorative xmlns:adec="http://schemas.microsoft.com/office/drawing/2017/decorative" val="1"/>
              </a:ext>
            </a:extLst>
          </p:cNvPr>
          <p:cNvSpPr/>
          <p:nvPr/>
        </p:nvSpPr>
        <p:spPr>
          <a:xfrm>
            <a:off x="311777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running time"/>
          <p:cNvSpPr txBox="1"/>
          <p:nvPr/>
        </p:nvSpPr>
        <p:spPr>
          <a:xfrm>
            <a:off x="3282371" y="2584704"/>
            <a:ext cx="143370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running time</a:t>
            </a:r>
          </a:p>
        </p:txBody>
      </p:sp>
      <p:sp>
        <p:nvSpPr>
          <p:cNvPr id="31" name="!!term-input size">
            <a:extLst>
              <a:ext uri="{C183D7F6-B498-43B3-948B-1728B52AA6E4}">
                <adec:decorative xmlns:adec="http://schemas.microsoft.com/office/drawing/2017/decorative" val="1"/>
              </a:ext>
            </a:extLst>
          </p:cNvPr>
          <p:cNvSpPr/>
          <p:nvPr/>
        </p:nvSpPr>
        <p:spPr>
          <a:xfrm>
            <a:off x="4752653" y="2468880"/>
            <a:ext cx="13127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input size">
            <a:extLst>
              <a:ext uri="{C183D7F6-B498-43B3-948B-1728B52AA6E4}">
                <adec:decorative xmlns:adec="http://schemas.microsoft.com/office/drawing/2017/decorative" val="1"/>
              </a:ext>
            </a:extLst>
          </p:cNvPr>
          <p:cNvSpPr/>
          <p:nvPr/>
        </p:nvSpPr>
        <p:spPr>
          <a:xfrm>
            <a:off x="488066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input size"/>
          <p:cNvSpPr txBox="1"/>
          <p:nvPr/>
        </p:nvSpPr>
        <p:spPr>
          <a:xfrm>
            <a:off x="5045261" y="2584704"/>
            <a:ext cx="112985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input size</a:t>
            </a:r>
          </a:p>
        </p:txBody>
      </p:sp>
      <p:sp>
        <p:nvSpPr>
          <p:cNvPr id="34" name="!!term-order of growt">
            <a:extLst>
              <a:ext uri="{C183D7F6-B498-43B3-948B-1728B52AA6E4}">
                <adec:decorative xmlns:adec="http://schemas.microsoft.com/office/drawing/2017/decorative" val="1"/>
              </a:ext>
            </a:extLst>
          </p:cNvPr>
          <p:cNvSpPr/>
          <p:nvPr/>
        </p:nvSpPr>
        <p:spPr>
          <a:xfrm>
            <a:off x="6211694" y="2468880"/>
            <a:ext cx="18879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order of growt">
            <a:extLst>
              <a:ext uri="{C183D7F6-B498-43B3-948B-1728B52AA6E4}">
                <adec:decorative xmlns:adec="http://schemas.microsoft.com/office/drawing/2017/decorative" val="1"/>
              </a:ext>
            </a:extLst>
          </p:cNvPr>
          <p:cNvSpPr/>
          <p:nvPr/>
        </p:nvSpPr>
        <p:spPr>
          <a:xfrm>
            <a:off x="633971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order of growt"/>
          <p:cNvSpPr txBox="1"/>
          <p:nvPr/>
        </p:nvSpPr>
        <p:spPr>
          <a:xfrm>
            <a:off x="6504302" y="2584704"/>
            <a:ext cx="170507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order of growth</a:t>
            </a:r>
          </a:p>
        </p:txBody>
      </p:sp>
      <p:sp>
        <p:nvSpPr>
          <p:cNvPr id="37" name="!!term-asymptotic ana">
            <a:extLst>
              <a:ext uri="{C183D7F6-B498-43B3-948B-1728B52AA6E4}">
                <adec:decorative xmlns:adec="http://schemas.microsoft.com/office/drawing/2017/decorative" val="1"/>
              </a:ext>
            </a:extLst>
          </p:cNvPr>
          <p:cNvSpPr/>
          <p:nvPr/>
        </p:nvSpPr>
        <p:spPr>
          <a:xfrm>
            <a:off x="8245958" y="2468880"/>
            <a:ext cx="22022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asymptotic ana">
            <a:extLst>
              <a:ext uri="{C183D7F6-B498-43B3-948B-1728B52AA6E4}">
                <adec:decorative xmlns:adec="http://schemas.microsoft.com/office/drawing/2017/decorative" val="1"/>
              </a:ext>
            </a:extLst>
          </p:cNvPr>
          <p:cNvSpPr/>
          <p:nvPr/>
        </p:nvSpPr>
        <p:spPr>
          <a:xfrm>
            <a:off x="837397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asymptotic ana"/>
          <p:cNvSpPr txBox="1"/>
          <p:nvPr/>
        </p:nvSpPr>
        <p:spPr>
          <a:xfrm>
            <a:off x="8538566" y="2584704"/>
            <a:ext cx="201940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asymptotic analysis</a:t>
            </a:r>
          </a:p>
        </p:txBody>
      </p:sp>
      <p:sp>
        <p:nvSpPr>
          <p:cNvPr id="40" name="!!term-constant facto">
            <a:extLst>
              <a:ext uri="{C183D7F6-B498-43B3-948B-1728B52AA6E4}">
                <adec:decorative xmlns:adec="http://schemas.microsoft.com/office/drawing/2017/decorative" val="1"/>
              </a:ext>
            </a:extLst>
          </p:cNvPr>
          <p:cNvSpPr/>
          <p:nvPr/>
        </p:nvSpPr>
        <p:spPr>
          <a:xfrm>
            <a:off x="658368" y="3090672"/>
            <a:ext cx="18113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constant facto">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constant facto"/>
          <p:cNvSpPr txBox="1"/>
          <p:nvPr/>
        </p:nvSpPr>
        <p:spPr>
          <a:xfrm>
            <a:off x="950976" y="3206496"/>
            <a:ext cx="162850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constant factor</a:t>
            </a:r>
          </a:p>
        </p:txBody>
      </p:sp>
      <p:sp>
        <p:nvSpPr>
          <p:cNvPr id="43" name="!!term-space complexi">
            <a:extLst>
              <a:ext uri="{C183D7F6-B498-43B3-948B-1728B52AA6E4}">
                <adec:decorative xmlns:adec="http://schemas.microsoft.com/office/drawing/2017/decorative" val="1"/>
              </a:ext>
            </a:extLst>
          </p:cNvPr>
          <p:cNvSpPr/>
          <p:nvPr/>
        </p:nvSpPr>
        <p:spPr>
          <a:xfrm>
            <a:off x="2616060" y="3090672"/>
            <a:ext cx="20070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space complexi">
            <a:extLst>
              <a:ext uri="{C183D7F6-B498-43B3-948B-1728B52AA6E4}">
                <adec:decorative xmlns:adec="http://schemas.microsoft.com/office/drawing/2017/decorative" val="1"/>
              </a:ext>
            </a:extLst>
          </p:cNvPr>
          <p:cNvSpPr/>
          <p:nvPr/>
        </p:nvSpPr>
        <p:spPr>
          <a:xfrm>
            <a:off x="274407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space complexi"/>
          <p:cNvSpPr txBox="1"/>
          <p:nvPr/>
        </p:nvSpPr>
        <p:spPr>
          <a:xfrm>
            <a:off x="2908668" y="3206496"/>
            <a:ext cx="182414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space complexity</a:t>
            </a:r>
          </a:p>
        </p:txBody>
      </p:sp>
      <p:sp>
        <p:nvSpPr>
          <p:cNvPr id="46" name="!!term-time–space tra">
            <a:extLst>
              <a:ext uri="{C183D7F6-B498-43B3-948B-1728B52AA6E4}">
                <adec:decorative xmlns:adec="http://schemas.microsoft.com/office/drawing/2017/decorative" val="1"/>
              </a:ext>
            </a:extLst>
          </p:cNvPr>
          <p:cNvSpPr/>
          <p:nvPr/>
        </p:nvSpPr>
        <p:spPr>
          <a:xfrm>
            <a:off x="4769393" y="3090672"/>
            <a:ext cx="23383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time–space tra">
            <a:extLst>
              <a:ext uri="{C183D7F6-B498-43B3-948B-1728B52AA6E4}">
                <adec:decorative xmlns:adec="http://schemas.microsoft.com/office/drawing/2017/decorative" val="1"/>
              </a:ext>
            </a:extLst>
          </p:cNvPr>
          <p:cNvSpPr/>
          <p:nvPr/>
        </p:nvSpPr>
        <p:spPr>
          <a:xfrm>
            <a:off x="489740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time–space tra"/>
          <p:cNvSpPr txBox="1"/>
          <p:nvPr/>
        </p:nvSpPr>
        <p:spPr>
          <a:xfrm>
            <a:off x="5062001" y="3206496"/>
            <a:ext cx="215550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time–space trade-off</a:t>
            </a:r>
          </a:p>
        </p:txBody>
      </p:sp>
      <p:sp>
        <p:nvSpPr>
          <p:cNvPr id="49"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pfill">
            <a:extLst>
              <a:ext uri="{C183D7F6-B498-43B3-948B-1728B52AA6E4}">
                <adec:decorative xmlns:adec="http://schemas.microsoft.com/office/drawing/2017/decorative" val="1"/>
              </a:ext>
            </a:extLst>
          </p:cNvPr>
          <p:cNvSpPr/>
          <p:nvPr/>
        </p:nvSpPr>
        <p:spPr>
          <a:xfrm>
            <a:off x="0" y="0"/>
            <a:ext cx="125043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3–10     </a:t>
            </a:r>
            <a:fld id="{6E30FF50-8CB2-4E59-90E1-F5FF274F2904}" type="slidenum">
              <a:rPr lang="en-GB" sz="1000">
                <a:solidFill>
                  <a:srgbClr val="8795A1"/>
                </a:solidFill>
                <a:latin typeface="Segoe UI"/>
              </a:rPr>
              <a:t>5</a:t>
            </a:fld>
          </a:p>
        </p:txBody>
      </p:sp>
      <p:sp>
        <p:nvSpPr>
          <p:cNvPr id="7" name="!!ag0" descr="Go to section 1.1 Two Programs That Agree on Every Answer">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Two Programs That Agree on Every Answer</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  ›</a:t>
            </a:r>
          </a:p>
        </p:txBody>
      </p:sp>
      <p:sp>
        <p:nvSpPr>
          <p:cNvPr id="12" name="!!ag1" descr="Go to section 1.2 The Model: What Counts as One Step">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Model: What Counts as One Step</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  ›</a:t>
            </a:r>
          </a:p>
        </p:txBody>
      </p:sp>
      <p:sp>
        <p:nvSpPr>
          <p:cNvPr id="17" name="!!ag2" descr="Go to section 1.3 Why the Question Is Asymptotic">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the Question Is Asymptotic</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  ›</a:t>
            </a:r>
          </a:p>
        </p:txBody>
      </p:sp>
      <p:sp>
        <p:nvSpPr>
          <p:cNvPr id="22" name="!!ag3" descr="Go to section 1.4 The Claim, Measured">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Claim, Measured</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  ›</a:t>
            </a:r>
          </a:p>
        </p:txBody>
      </p:sp>
      <p:sp>
        <p:nvSpPr>
          <p:cNvPr id="27" name="!!ag4" descr="Go to section 1.5 Space, and the Trade Against Time">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1.5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Space, and the Trade Against Time</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56303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Problem, Instance, Algorithm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  ·  Handout p. 3     </a:t>
            </a:r>
            <a:fld id="{F387CF40-9A3F-42B2-8F9A-62CBCE1517DF}"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57421"/>
          </a:xfrm>
          <a:prstGeom prst="roundRect">
            <a:avLst>
              <a:gd name="adj" fmla="val 2253"/>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5742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a:t>
            </a:r>
            <a:r>
              <a:rPr sz="2100" b="1" i="0">
                <a:solidFill>
                  <a:srgbClr val="1A5276"/>
                </a:solidFill>
                <a:latin typeface="Segoe UI"/>
              </a:rPr>
              <a:t>problem</a:t>
            </a:r>
            <a:r>
              <a:rPr sz="2100" b="0" i="0">
                <a:solidFill>
                  <a:srgbClr val="1C252B"/>
                </a:solidFill>
                <a:latin typeface="Segoe UI"/>
              </a:rPr>
              <a:t> is a specification: a description of the input it accepts and the output it must produce. “Sorting” is a problem — given a sequence of </a:t>
            </a:r>
            <a:r>
              <a:rPr sz="2100" b="0" i="1">
                <a:solidFill>
                  <a:srgbClr val="1C252B"/>
                </a:solidFill>
                <a:latin typeface="Cambria"/>
              </a:rPr>
              <a:t>n</a:t>
            </a:r>
            <a:r>
              <a:rPr sz="2100" b="0" i="0">
                <a:solidFill>
                  <a:srgbClr val="1C252B"/>
                </a:solidFill>
                <a:latin typeface="Segoe UI"/>
              </a:rPr>
              <a:t> numbers, produce a permutation of them in non-decreasing order.</a:t>
            </a:r>
          </a:p>
        </p:txBody>
      </p:sp>
      <p:sp>
        <p:nvSpPr>
          <p:cNvPr id="10" name="body-1"/>
          <p:cNvSpPr txBox="1"/>
          <p:nvPr/>
        </p:nvSpPr>
        <p:spPr>
          <a:xfrm>
            <a:off x="1060704" y="3193465"/>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An </a:t>
            </a:r>
            <a:r>
              <a:rPr sz="2100" b="1" i="0">
                <a:solidFill>
                  <a:srgbClr val="1A5276"/>
                </a:solidFill>
                <a:latin typeface="Segoe UI"/>
              </a:rPr>
              <a:t>instance</a:t>
            </a:r>
            <a:r>
              <a:rPr sz="2100" b="0" i="0">
                <a:solidFill>
                  <a:srgbClr val="1C252B"/>
                </a:solidFill>
                <a:latin typeface="Segoe UI"/>
              </a:rPr>
              <a:t> is one particular input: </a:t>
            </a:r>
            <a:r>
              <a:rPr sz="2100" b="0" i="0">
                <a:solidFill>
                  <a:srgbClr val="1C252B"/>
                </a:solidFill>
                <a:latin typeface="Cambria"/>
              </a:rPr>
              <a:t>⟨ 31, 41, 59, 26 ⟩</a:t>
            </a:r>
            <a:r>
              <a:rPr sz="2100" b="0" i="0">
                <a:solidFill>
                  <a:srgbClr val="1C252B"/>
                </a:solidFill>
                <a:latin typeface="Segoe UI"/>
              </a:rPr>
              <a:t>.</a:t>
            </a:r>
          </a:p>
        </p:txBody>
      </p:sp>
      <p:sp>
        <p:nvSpPr>
          <p:cNvPr id="11" name="body-2"/>
          <p:cNvSpPr txBox="1"/>
          <p:nvPr/>
        </p:nvSpPr>
        <p:spPr>
          <a:xfrm>
            <a:off x="1060704" y="3672992"/>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An </a:t>
            </a:r>
            <a:r>
              <a:rPr sz="2100" b="1" i="0">
                <a:solidFill>
                  <a:srgbClr val="1A5276"/>
                </a:solidFill>
                <a:latin typeface="Segoe UI"/>
              </a:rPr>
              <a:t>algorithm</a:t>
            </a:r>
            <a:r>
              <a:rPr sz="2100" b="0" i="0">
                <a:solidFill>
                  <a:srgbClr val="1C252B"/>
                </a:solidFill>
                <a:latin typeface="Segoe UI"/>
              </a:rPr>
              <a:t> is a finite, unambiguous procedure that produces the correct output for </a:t>
            </a:r>
            <a:r>
              <a:rPr sz="2100" b="0" i="1">
                <a:solidFill>
                  <a:srgbClr val="1C252B"/>
                </a:solidFill>
                <a:latin typeface="Segoe UI"/>
              </a:rPr>
              <a:t>every</a:t>
            </a:r>
            <a:r>
              <a:rPr sz="2100" b="0" i="0">
                <a:solidFill>
                  <a:srgbClr val="1C252B"/>
                </a:solidFill>
                <a:latin typeface="Segoe UI"/>
              </a:rPr>
              <a:t> instance. It is </a:t>
            </a:r>
            <a:r>
              <a:rPr sz="2100" b="1" i="0">
                <a:solidFill>
                  <a:srgbClr val="1A5276"/>
                </a:solidFill>
                <a:latin typeface="Segoe UI"/>
              </a:rPr>
              <a:t>correct</a:t>
            </a:r>
            <a:r>
              <a:rPr sz="2100" b="0" i="0">
                <a:solidFill>
                  <a:srgbClr val="1C252B"/>
                </a:solidFill>
                <a:latin typeface="Segoe UI"/>
              </a:rPr>
              <a:t> if it halts on every instance with the right answer — and “every” is doing real work in that sentence, which is why Chapter 4 exists.</a:t>
            </a:r>
          </a:p>
        </p:txBody>
      </p:sp>
      <p:sp>
        <p:nvSpPr>
          <p:cNvPr id="12" name="body-3"/>
          <p:cNvSpPr txBox="1"/>
          <p:nvPr/>
        </p:nvSpPr>
        <p:spPr>
          <a:xfrm>
            <a:off x="1060704" y="4818202"/>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a:t>
            </a:r>
            <a:r>
              <a:rPr sz="2100" b="0" i="1">
                <a:solidFill>
                  <a:srgbClr val="1C252B"/>
                </a:solidFill>
                <a:latin typeface="Segoe UI"/>
              </a:rPr>
              <a:t>program</a:t>
            </a:r>
            <a:r>
              <a:rPr sz="2100" b="0" i="0">
                <a:solidFill>
                  <a:srgbClr val="1C252B"/>
                </a:solidFill>
                <a:latin typeface="Segoe UI"/>
              </a:rPr>
              <a:t> is an algorithm written in a language, for a machine. This book analyses algorithms and measures programs, and is careful about which it is doing.</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87564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Model: What Counts as One Step</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Two Programs That Agree on Every Answer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1.2   The Model: What Counts as One Step</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Why the Question Is Asymptotic</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The Claim, Measured</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Space, and the Trade Against Time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     </a:t>
            </a:r>
            <a:fld id="{C2283A0C-45C7-4082-B496-F54A515BA993}" type="slidenum">
              <a:rPr lang="en-GB" sz="1000">
                <a:solidFill>
                  <a:srgbClr val="8795A1"/>
                </a:solidFill>
                <a:latin typeface="Segoe UI"/>
              </a:rPr>
              <a:t>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18825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Random-Access Machine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  ·  Handout p. 4     </a:t>
            </a:r>
            <a:fld id="{4C761C76-5F09-43B3-A14F-73A209C3AA74}"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3898"/>
          </a:xfrm>
          <a:prstGeom prst="roundRect">
            <a:avLst>
              <a:gd name="adj" fmla="val 225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389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RAM model</a:t>
            </a:r>
            <a:r>
              <a:rPr sz="2300" b="0" i="0">
                <a:solidFill>
                  <a:srgbClr val="1C252B"/>
                </a:solidFill>
                <a:latin typeface="Segoe UI"/>
              </a:rPr>
              <a:t> assumes:</a:t>
            </a:r>
          </a:p>
        </p:txBody>
      </p:sp>
      <p:sp>
        <p:nvSpPr>
          <p:cNvPr id="10" name="body-1"/>
          <p:cNvSpPr txBox="1"/>
          <p:nvPr/>
        </p:nvSpPr>
        <p:spPr>
          <a:xfrm>
            <a:off x="1060704" y="2573451"/>
            <a:ext cx="10161727" cy="2072893"/>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Segoe UI"/>
              </a:rPr>
              <a:t>instructions execute one at a time, with no concurrency;</a:t>
            </a:r>
          </a:p>
          <a:p>
            <a:pPr algn="l" marL="257176" indent="-257176">
              <a:lnSpc>
                <a:spcPct val="104000"/>
              </a:lnSpc>
              <a:spcBef>
                <a:spcPts val="0"/>
              </a:spcBef>
              <a:spcAft>
                <a:spcPts val="804"/>
              </a:spcAft>
            </a:pPr>
            <a:r>
              <a:rPr sz="2300" b="1">
                <a:solidFill>
                  <a:srgbClr val="8A4500"/>
                </a:solidFill>
                <a:latin typeface="Segoe UI"/>
              </a:rPr>
              <a:t>•	</a:t>
            </a:r>
            <a:r>
              <a:rPr sz="2300" b="0" i="0">
                <a:solidFill>
                  <a:srgbClr val="1C252B"/>
                </a:solidFill>
                <a:latin typeface="Segoe UI"/>
              </a:rPr>
              <a:t>each </a:t>
            </a:r>
            <a:r>
              <a:rPr sz="2300" b="1" i="0">
                <a:solidFill>
                  <a:srgbClr val="1A5276"/>
                </a:solidFill>
                <a:latin typeface="Segoe UI"/>
              </a:rPr>
              <a:t>primitive operation</a:t>
            </a:r>
            <a:r>
              <a:rPr sz="2300" b="0" i="0">
                <a:solidFill>
                  <a:srgbClr val="1C252B"/>
                </a:solidFill>
                <a:latin typeface="Segoe UI"/>
              </a:rPr>
              <a:t> — arithmetic, comparison, assignment, reading or writing one memory cell, following one array index — costs one unit of time;</a:t>
            </a:r>
          </a:p>
          <a:p>
            <a:pPr algn="l" marL="257176" indent="-257176">
              <a:lnSpc>
                <a:spcPct val="104000"/>
              </a:lnSpc>
              <a:spcBef>
                <a:spcPts val="0"/>
              </a:spcBef>
              <a:spcAft>
                <a:spcPts val="0"/>
              </a:spcAft>
            </a:pPr>
            <a:r>
              <a:rPr sz="2300" b="1">
                <a:solidFill>
                  <a:srgbClr val="8A4500"/>
                </a:solidFill>
                <a:latin typeface="Segoe UI"/>
              </a:rPr>
              <a:t>•	</a:t>
            </a:r>
            <a:r>
              <a:rPr sz="2300" b="0" i="0">
                <a:solidFill>
                  <a:srgbClr val="1C252B"/>
                </a:solidFill>
                <a:latin typeface="Segoe UI"/>
              </a:rPr>
              <a:t>memory is unlimited and every cell costs the same to reach.</a:t>
            </a:r>
          </a:p>
        </p:txBody>
      </p:sp>
      <p:sp>
        <p:nvSpPr>
          <p:cNvPr id="11" name="body-2"/>
          <p:cNvSpPr txBox="1"/>
          <p:nvPr/>
        </p:nvSpPr>
        <p:spPr>
          <a:xfrm>
            <a:off x="1060704" y="4761280"/>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running time</a:t>
            </a:r>
            <a:r>
              <a:rPr sz="2300" b="0" i="0">
                <a:solidFill>
                  <a:srgbClr val="1C252B"/>
                </a:solidFill>
                <a:latin typeface="Segoe UI"/>
              </a:rPr>
              <a:t> </a:t>
            </a:r>
            <a:r>
              <a:rPr sz="2300" b="0" i="1">
                <a:solidFill>
                  <a:srgbClr val="1C252B"/>
                </a:solidFill>
                <a:latin typeface="Cambria"/>
              </a:rPr>
              <a:t>T</a:t>
            </a:r>
            <a:r>
              <a:rPr sz="2300" b="0" i="0">
                <a:solidFill>
                  <a:srgbClr val="1C252B"/>
                </a:solidFill>
                <a:latin typeface="Cambria"/>
              </a:rPr>
              <a:t>(</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 of an algorithm is then the number of primitive operations it performs on an input of size </a:t>
            </a:r>
            <a:r>
              <a:rPr sz="2300" b="0" i="1">
                <a:solidFill>
                  <a:srgbClr val="1C252B"/>
                </a:solidFill>
                <a:latin typeface="Cambria"/>
              </a:rPr>
              <a:t>n</a:t>
            </a:r>
            <a:r>
              <a:rPr sz="2300" b="0" i="0">
                <a:solidFill>
                  <a:srgbClr val="1C252B"/>
                </a:solidFill>
                <a:latin typeface="Segoe UI"/>
              </a:rPr>
              <a:t>.</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50086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Lies in That Model, and Why They Are Worth Telling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  ·  Handout p. 4     </a:t>
            </a:r>
            <a:fld id="{2394FC07-710D-425B-ADB3-093140B19C05}"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30090"/>
          </a:xfrm>
          <a:prstGeom prst="roundRect">
            <a:avLst>
              <a:gd name="adj" fmla="val 211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3009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15163"/>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Every clause of the definition is false of a real machine, deliberately.</a:t>
            </a:r>
          </a:p>
        </p:txBody>
      </p:sp>
      <p:sp>
        <p:nvSpPr>
          <p:cNvPr id="10" name="body-1"/>
          <p:cNvSpPr txBox="1"/>
          <p:nvPr/>
        </p:nvSpPr>
        <p:spPr>
          <a:xfrm>
            <a:off x="1060704" y="2436444"/>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618D"/>
                </a:solidFill>
                <a:latin typeface="Segoe UI"/>
              </a:rPr>
              <a:t>Not all operations cost the same.</a:t>
            </a:r>
            <a:r>
              <a:rPr sz="1700" b="0" i="0">
                <a:solidFill>
                  <a:srgbClr val="1C252B"/>
                </a:solidFill>
                <a:latin typeface="Segoe UI"/>
              </a:rPr>
              <a:t> On a current processor an integer addition takes about one cycle and an integer division about twenty. The model prices them equally.</a:t>
            </a:r>
          </a:p>
        </p:txBody>
      </p:sp>
      <p:sp>
        <p:nvSpPr>
          <p:cNvPr id="11" name="body-2"/>
          <p:cNvSpPr txBox="1"/>
          <p:nvPr/>
        </p:nvSpPr>
        <p:spPr>
          <a:xfrm>
            <a:off x="1060704" y="3094075"/>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618D"/>
                </a:solidFill>
                <a:latin typeface="Segoe UI"/>
              </a:rPr>
              <a:t>Not all memory costs the same.</a:t>
            </a:r>
            <a:r>
              <a:rPr sz="1700" b="0" i="0">
                <a:solidFill>
                  <a:srgbClr val="1C252B"/>
                </a:solidFill>
                <a:latin typeface="Segoe UI"/>
              </a:rPr>
              <a:t> A read served by the level-1 cache takes about four cycles; one that goes to main memory takes a few hundred — a factor of fifty, which the model ignores entirely. Chapter 18 is where this starts to be visible in the measurements.</a:t>
            </a:r>
          </a:p>
        </p:txBody>
      </p:sp>
      <p:sp>
        <p:nvSpPr>
          <p:cNvPr id="12" name="body-3"/>
          <p:cNvSpPr txBox="1"/>
          <p:nvPr/>
        </p:nvSpPr>
        <p:spPr>
          <a:xfrm>
            <a:off x="1060704" y="4021150"/>
            <a:ext cx="10161727" cy="315163"/>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618D"/>
                </a:solidFill>
                <a:latin typeface="Segoe UI"/>
              </a:rPr>
              <a:t>Instructions do not execute one at a time.</a:t>
            </a:r>
            <a:r>
              <a:rPr sz="1700" b="0" i="0">
                <a:solidFill>
                  <a:srgbClr val="1C252B"/>
                </a:solidFill>
                <a:latin typeface="Segoe UI"/>
              </a:rPr>
              <a:t> Processors reorder, pipeline and predict branches.</a:t>
            </a:r>
          </a:p>
        </p:txBody>
      </p:sp>
      <p:sp>
        <p:nvSpPr>
          <p:cNvPr id="13" name="body-4"/>
          <p:cNvSpPr txBox="1"/>
          <p:nvPr/>
        </p:nvSpPr>
        <p:spPr>
          <a:xfrm>
            <a:off x="1060704" y="4409338"/>
            <a:ext cx="10161727" cy="13929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model is nevertheless the right one, for the reason the next section gives: every one of those lies is a </a:t>
            </a:r>
            <a:r>
              <a:rPr sz="1700" b="0" i="1">
                <a:solidFill>
                  <a:srgbClr val="1C252B"/>
                </a:solidFill>
                <a:latin typeface="Segoe UI"/>
              </a:rPr>
              <a:t>constant factor</a:t>
            </a:r>
            <a:r>
              <a:rPr sz="1700" b="0" i="0">
                <a:solidFill>
                  <a:srgbClr val="1C252B"/>
                </a:solidFill>
                <a:latin typeface="Segoe UI"/>
              </a:rPr>
              <a:t>, and the differences this course is about are not. A fifty-fold cache penalty is swamped by the difference between </a:t>
            </a:r>
            <a:r>
              <a:rPr sz="1700" b="0" i="1">
                <a:solidFill>
                  <a:srgbClr val="1C252B"/>
                </a:solidFill>
                <a:latin typeface="Cambria"/>
              </a:rPr>
              <a:t>n</a:t>
            </a:r>
            <a:r>
              <a:rPr sz="1700" b="0" i="0">
                <a:solidFill>
                  <a:srgbClr val="1C252B"/>
                </a:solidFill>
                <a:latin typeface="Segoe UI"/>
              </a:rPr>
              <a:t> and </a:t>
            </a:r>
            <a:r>
              <a:rPr sz="1700" b="0" i="1">
                <a:solidFill>
                  <a:srgbClr val="1C252B"/>
                </a:solidFill>
                <a:latin typeface="Cambria"/>
              </a:rPr>
              <a:t>n</a:t>
            </a:r>
            <a:r>
              <a:rPr sz="1100" b="0" i="0" baseline="30000">
                <a:solidFill>
                  <a:srgbClr val="1C252B"/>
                </a:solidFill>
                <a:latin typeface="Cambria"/>
              </a:rPr>
              <a:t>2</a:t>
            </a:r>
            <a:r>
              <a:rPr sz="1700" b="0" i="0">
                <a:solidFill>
                  <a:srgbClr val="1C252B"/>
                </a:solidFill>
                <a:latin typeface="Segoe UI"/>
              </a:rPr>
              <a:t> before </a:t>
            </a:r>
            <a:r>
              <a:rPr sz="1700" b="0" i="1">
                <a:solidFill>
                  <a:srgbClr val="1C252B"/>
                </a:solidFill>
                <a:latin typeface="Cambria"/>
              </a:rPr>
              <a:t>n</a:t>
            </a:r>
            <a:r>
              <a:rPr sz="1700" b="0" i="0">
                <a:solidFill>
                  <a:srgbClr val="1C252B"/>
                </a:solidFill>
                <a:latin typeface="Segoe UI"/>
              </a:rPr>
              <a:t> reaches a thousand. Where the constant factors do matter — and they sometimes do — this book measures rather than models, which is what the </a:t>
            </a:r>
            <a:r>
              <a:rPr sz="1700" b="0" i="1">
                <a:solidFill>
                  <a:srgbClr val="1C252B"/>
                </a:solidFill>
                <a:latin typeface="Segoe UI"/>
              </a:rPr>
              <a:t>Try it yourself</a:t>
            </a:r>
            <a:r>
              <a:rPr sz="1700" b="0" i="0">
                <a:solidFill>
                  <a:srgbClr val="1C252B"/>
                </a:solidFill>
                <a:latin typeface="Segoe UI"/>
              </a:rPr>
              <a:t> boxes are for.</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8134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Why the Question Is Asymptotic</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Two Programs That Agree on Every Answer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The Model: What Counts as One Step</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1.3   Why the Question Is Asymptotic</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1.4   The Claim, Measured</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Space, and the Trade Against Time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§1.3     </a:t>
            </a:r>
            <a:fld id="{F1A2E5E6-6D7E-4FFB-B4B2-994957A40B18}"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12607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the Question Is Asymptotic</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F5E5C5DA-3B76-4392-8BF7-51FE6901F501}" type="slidenum">
              <a:rPr lang="en-GB" sz="1000">
                <a:solidFill>
                  <a:srgbClr val="8795A1"/>
                </a:solidFill>
                <a:latin typeface="Segoe UI"/>
              </a:rPr>
              <a:t>11</a:t>
            </a:fld>
          </a:p>
        </p:txBody>
      </p:sp>
      <p:pic>
        <p:nvPicPr>
          <p:cNvPr id="6" name="!!figure" descr="Figure 1.1. The six orders of growth this book is mostly about, on a logarithmic vertical axis — note that each gridline is a factor of a hundred. At n = 100 the gap between n lg n and n2 is already a factor of fifteen, and the gap between n2 and 2n does not fit on the pag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6941" y="1737360"/>
            <a:ext cx="7677812"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six orders of growth this book is mostly about, on a logarithmic vertical axis — note that each gridline is a factor of a hundred. At n = 100 the gap between n lg n and n2 is already a factor of fifteen, and the gap between n2 and 2n does not fit on the page.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43868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an exponential actually means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2D7C5DF7-24C8-4848-A9D8-7327DD3FAD54}"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95236"/>
          </a:xfrm>
          <a:prstGeom prst="roundRect">
            <a:avLst>
              <a:gd name="adj" fmla="val 2179"/>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952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Cambria"/>
              </a:rPr>
              <a:t>2</a:t>
            </a:r>
            <a:r>
              <a:rPr sz="1400" b="0" i="1" baseline="30000">
                <a:solidFill>
                  <a:srgbClr val="1C252B"/>
                </a:solidFill>
                <a:latin typeface="Cambria"/>
              </a:rPr>
              <a:t>n</a:t>
            </a:r>
            <a:r>
              <a:rPr sz="2100" b="0" i="0">
                <a:solidFill>
                  <a:srgbClr val="1C252B"/>
                </a:solidFill>
                <a:latin typeface="Segoe UI"/>
              </a:rPr>
              <a:t> is not “slow”. It is a wall.</a:t>
            </a:r>
          </a:p>
        </p:txBody>
      </p:sp>
      <p:sp>
        <p:nvSpPr>
          <p:cNvPr id="10" name="body-1"/>
          <p:cNvSpPr txBox="1"/>
          <p:nvPr/>
        </p:nvSpPr>
        <p:spPr>
          <a:xfrm>
            <a:off x="1060704" y="2527782"/>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At </a:t>
            </a:r>
            <a:r>
              <a:rPr sz="2100" b="0" i="1">
                <a:solidFill>
                  <a:srgbClr val="1C252B"/>
                </a:solidFill>
                <a:latin typeface="Cambria"/>
              </a:rPr>
              <a:t>n</a:t>
            </a:r>
            <a:r>
              <a:rPr sz="2100" b="0" i="0">
                <a:solidFill>
                  <a:srgbClr val="1C252B"/>
                </a:solidFill>
                <a:latin typeface="Cambria"/>
              </a:rPr>
              <a:t> = 50</a:t>
            </a:r>
            <a:r>
              <a:rPr sz="2100" b="0" i="0">
                <a:solidFill>
                  <a:srgbClr val="1C252B"/>
                </a:solidFill>
                <a:latin typeface="Segoe UI"/>
              </a:rPr>
              <a:t>, an algorithm doing </a:t>
            </a:r>
            <a:r>
              <a:rPr sz="2100" b="0" i="0">
                <a:solidFill>
                  <a:srgbClr val="1C252B"/>
                </a:solidFill>
                <a:latin typeface="Cambria"/>
              </a:rPr>
              <a:t>2</a:t>
            </a:r>
            <a:r>
              <a:rPr sz="1400" b="0" i="1" baseline="30000">
                <a:solidFill>
                  <a:srgbClr val="1C252B"/>
                </a:solidFill>
                <a:latin typeface="Cambria"/>
              </a:rPr>
              <a:t>n</a:t>
            </a:r>
            <a:r>
              <a:rPr sz="2100" b="0" i="0">
                <a:solidFill>
                  <a:srgbClr val="1C252B"/>
                </a:solidFill>
                <a:latin typeface="Segoe UI"/>
              </a:rPr>
              <a:t> operations on a machine executing </a:t>
            </a:r>
            <a:r>
              <a:rPr sz="2100" b="0" i="0">
                <a:solidFill>
                  <a:srgbClr val="1C252B"/>
                </a:solidFill>
                <a:latin typeface="Cambria"/>
              </a:rPr>
              <a:t>10</a:t>
            </a:r>
            <a:r>
              <a:rPr sz="1400" b="0" i="0" baseline="30000">
                <a:solidFill>
                  <a:srgbClr val="1C252B"/>
                </a:solidFill>
                <a:latin typeface="Cambria"/>
              </a:rPr>
              <a:t>10</a:t>
            </a:r>
            <a:r>
              <a:rPr sz="2100" b="0" i="0">
                <a:solidFill>
                  <a:srgbClr val="1C252B"/>
                </a:solidFill>
                <a:latin typeface="Segoe UI"/>
              </a:rPr>
              <a:t> of them a second takes</a:t>
            </a:r>
          </a:p>
        </p:txBody>
      </p:sp>
      <p:pic>
        <p:nvPicPr>
          <p:cNvPr id="11" name="body-2" descr="\frac{2^{50}}{10^{10}} = \frac{1.13 \times 10^{15}}{10^{10}} \approx 1.1 \times 10^{5}\ \text{s} \approx 31\ \text{hou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340150"/>
            <a:ext cx="10161727" cy="656813"/>
          </a:xfrm>
          <a:prstGeom prst="rect">
            <a:avLst/>
          </a:prstGeom>
        </p:spPr>
      </p:pic>
      <p:sp>
        <p:nvSpPr>
          <p:cNvPr id="12" name="body-3"/>
          <p:cNvSpPr txBox="1"/>
          <p:nvPr/>
        </p:nvSpPr>
        <p:spPr>
          <a:xfrm>
            <a:off x="1060704" y="4143649"/>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At </a:t>
            </a:r>
            <a:r>
              <a:rPr sz="2100" b="0" i="1">
                <a:solidFill>
                  <a:srgbClr val="1C252B"/>
                </a:solidFill>
                <a:latin typeface="Cambria"/>
              </a:rPr>
              <a:t>n</a:t>
            </a:r>
            <a:r>
              <a:rPr sz="2100" b="0" i="0">
                <a:solidFill>
                  <a:srgbClr val="1C252B"/>
                </a:solidFill>
                <a:latin typeface="Cambria"/>
              </a:rPr>
              <a:t> = 60</a:t>
            </a:r>
            <a:r>
              <a:rPr sz="2100" b="0" i="0">
                <a:solidFill>
                  <a:srgbClr val="1C252B"/>
                </a:solidFill>
                <a:latin typeface="Segoe UI"/>
              </a:rPr>
              <a:t> it takes about </a:t>
            </a:r>
            <a:r>
              <a:rPr sz="2100" b="1" i="0">
                <a:solidFill>
                  <a:srgbClr val="1C252B"/>
                </a:solidFill>
                <a:latin typeface="Segoe UI"/>
              </a:rPr>
              <a:t>36 days</a:t>
            </a:r>
            <a:r>
              <a:rPr sz="2100" b="0" i="0">
                <a:solidFill>
                  <a:srgbClr val="1C252B"/>
                </a:solidFill>
                <a:latin typeface="Segoe UI"/>
              </a:rPr>
              <a:t>; at </a:t>
            </a:r>
            <a:r>
              <a:rPr sz="2100" b="0" i="1">
                <a:solidFill>
                  <a:srgbClr val="1C252B"/>
                </a:solidFill>
                <a:latin typeface="Cambria"/>
              </a:rPr>
              <a:t>n</a:t>
            </a:r>
            <a:r>
              <a:rPr sz="2100" b="0" i="0">
                <a:solidFill>
                  <a:srgbClr val="1C252B"/>
                </a:solidFill>
                <a:latin typeface="Cambria"/>
              </a:rPr>
              <a:t> = 80</a:t>
            </a:r>
            <a:r>
              <a:rPr sz="2100" b="0" i="0">
                <a:solidFill>
                  <a:srgbClr val="1C252B"/>
                </a:solidFill>
                <a:latin typeface="Segoe UI"/>
              </a:rPr>
              <a:t>, about a hundred thousand years. Buying a computer a thousand times faster moves </a:t>
            </a:r>
            <a:r>
              <a:rPr sz="2100" b="0" i="1">
                <a:solidFill>
                  <a:srgbClr val="1C252B"/>
                </a:solidFill>
                <a:latin typeface="Cambria"/>
              </a:rPr>
              <a:t>n</a:t>
            </a:r>
            <a:r>
              <a:rPr sz="2100" b="0" i="0">
                <a:solidFill>
                  <a:srgbClr val="1C252B"/>
                </a:solidFill>
                <a:latin typeface="Cambria"/>
              </a:rPr>
              <a:t> = 50</a:t>
            </a:r>
            <a:r>
              <a:rPr sz="2100" b="0" i="0">
                <a:solidFill>
                  <a:srgbClr val="1C252B"/>
                </a:solidFill>
                <a:latin typeface="Segoe UI"/>
              </a:rPr>
              <a:t> to </a:t>
            </a:r>
            <a:r>
              <a:rPr sz="2100" b="0" i="1">
                <a:solidFill>
                  <a:srgbClr val="1C252B"/>
                </a:solidFill>
                <a:latin typeface="Cambria"/>
              </a:rPr>
              <a:t>n</a:t>
            </a:r>
            <a:r>
              <a:rPr sz="2100" b="0" i="0">
                <a:solidFill>
                  <a:srgbClr val="1C252B"/>
                </a:solidFill>
                <a:latin typeface="Cambria"/>
              </a:rPr>
              <a:t> ≈ 60</a:t>
            </a:r>
            <a:r>
              <a:rPr sz="2100" b="0" i="0">
                <a:solidFill>
                  <a:srgbClr val="1C252B"/>
                </a:solidFill>
                <a:latin typeface="Segoe UI"/>
              </a:rPr>
              <a:t> and no further.</a:t>
            </a:r>
          </a:p>
        </p:txBody>
      </p:sp>
      <p:sp>
        <p:nvSpPr>
          <p:cNvPr id="13" name="body-4"/>
          <p:cNvSpPr txBox="1"/>
          <p:nvPr/>
        </p:nvSpPr>
        <p:spPr>
          <a:xfrm>
            <a:off x="1060704" y="4956017"/>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That is why Chapter 22 matters, and why “we will just use a faster machine” is not an answer to it.</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75129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Faster Computer Loses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B20AC184-C496-4CC9-8032-59361E207DCF}"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63507"/>
          </a:xfrm>
          <a:prstGeom prst="roundRect">
            <a:avLst>
              <a:gd name="adj" fmla="val 242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6350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Computer A executes </a:t>
            </a:r>
            <a:r>
              <a:rPr sz="1900" b="0" i="0">
                <a:solidFill>
                  <a:srgbClr val="1C252B"/>
                </a:solidFill>
                <a:latin typeface="Cambria"/>
              </a:rPr>
              <a:t>10</a:t>
            </a:r>
            <a:r>
              <a:rPr sz="1250" b="0" i="0" baseline="30000">
                <a:solidFill>
                  <a:srgbClr val="1C252B"/>
                </a:solidFill>
                <a:latin typeface="Cambria"/>
              </a:rPr>
              <a:t>10</a:t>
            </a:r>
            <a:r>
              <a:rPr sz="1900" b="0" i="0">
                <a:solidFill>
                  <a:srgbClr val="1C252B"/>
                </a:solidFill>
                <a:latin typeface="Segoe UI"/>
              </a:rPr>
              <a:t> primitive operations a second and runs insertion sort, which takes about </a:t>
            </a:r>
            <a:r>
              <a:rPr sz="1900" b="0" i="0">
                <a:solidFill>
                  <a:srgbClr val="1C252B"/>
                </a:solidFill>
                <a:latin typeface="Cambria"/>
              </a:rPr>
              <a:t>2</a:t>
            </a:r>
            <a:r>
              <a:rPr sz="1900" b="0" i="1">
                <a:solidFill>
                  <a:srgbClr val="1C252B"/>
                </a:solidFill>
                <a:latin typeface="Cambria"/>
              </a:rPr>
              <a:t>n</a:t>
            </a:r>
            <a:r>
              <a:rPr sz="1250" b="0" i="0" baseline="30000">
                <a:solidFill>
                  <a:srgbClr val="1C252B"/>
                </a:solidFill>
                <a:latin typeface="Cambria"/>
              </a:rPr>
              <a:t>2</a:t>
            </a:r>
            <a:r>
              <a:rPr sz="1900" b="0" i="0">
                <a:solidFill>
                  <a:srgbClr val="1C252B"/>
                </a:solidFill>
                <a:latin typeface="Segoe UI"/>
              </a:rPr>
              <a:t> operations. Computer B executes </a:t>
            </a:r>
            <a:r>
              <a:rPr sz="1900" b="0" i="0">
                <a:solidFill>
                  <a:srgbClr val="1C252B"/>
                </a:solidFill>
                <a:latin typeface="Cambria"/>
              </a:rPr>
              <a:t>10</a:t>
            </a:r>
            <a:r>
              <a:rPr sz="1250" b="0" i="0" baseline="30000">
                <a:solidFill>
                  <a:srgbClr val="1C252B"/>
                </a:solidFill>
                <a:latin typeface="Cambria"/>
              </a:rPr>
              <a:t>7</a:t>
            </a:r>
            <a:r>
              <a:rPr sz="1900" b="0" i="0">
                <a:solidFill>
                  <a:srgbClr val="1C252B"/>
                </a:solidFill>
                <a:latin typeface="Segoe UI"/>
              </a:rPr>
              <a:t> a second — a thousand times slower — and runs merge sort, which takes about </a:t>
            </a:r>
            <a:r>
              <a:rPr sz="1900" b="0" i="0">
                <a:solidFill>
                  <a:srgbClr val="1C252B"/>
                </a:solidFill>
                <a:latin typeface="Cambria"/>
              </a:rPr>
              <a:t>50 </a:t>
            </a:r>
            <a:r>
              <a:rPr sz="1900" b="0" i="1">
                <a:solidFill>
                  <a:srgbClr val="1C252B"/>
                </a:solidFill>
                <a:latin typeface="Cambria"/>
              </a:rPr>
              <a:t>n</a:t>
            </a:r>
            <a:r>
              <a:rPr sz="1900" b="0" i="0">
                <a:solidFill>
                  <a:srgbClr val="1C252B"/>
                </a:solidFill>
                <a:latin typeface="Cambria"/>
              </a:rPr>
              <a:t> lg </a:t>
            </a:r>
            <a:r>
              <a:rPr sz="1900" b="0" i="1">
                <a:solidFill>
                  <a:srgbClr val="1C252B"/>
                </a:solidFill>
                <a:latin typeface="Cambria"/>
              </a:rPr>
              <a:t>n</a:t>
            </a:r>
            <a:r>
              <a:rPr sz="1900" b="0" i="0">
                <a:solidFill>
                  <a:srgbClr val="1C252B"/>
                </a:solidFill>
                <a:latin typeface="Segoe UI"/>
              </a:rPr>
              <a:t>. Sort ten million numbers on each.</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Computer A.</a:t>
            </a:r>
          </a:p>
        </p:txBody>
      </p:sp>
      <p:pic>
        <p:nvPicPr>
          <p:cNvPr id="11" name="body-2" descr="\frac{2 \times (10^{7})^{2}}{10^{10}} = \frac{2 \times 10^{14}}{10^{10}} = 2 \times 10^{4}\ \text{s} = \mathbf{5\ \text{hours}\ 33\ \text{minut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81679"/>
            <a:ext cx="10234879" cy="589879"/>
          </a:xfrm>
          <a:prstGeom prst="rect">
            <a:avLst/>
          </a:prstGeom>
        </p:spPr>
      </p:pic>
      <p:sp>
        <p:nvSpPr>
          <p:cNvPr id="12" name="body-3"/>
          <p:cNvSpPr txBox="1"/>
          <p:nvPr/>
        </p:nvSpPr>
        <p:spPr>
          <a:xfrm>
            <a:off x="1042416" y="420427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Computer B.</a:t>
            </a:r>
            <a:r>
              <a:rPr sz="1900" b="0" i="0">
                <a:solidFill>
                  <a:srgbClr val="1C252B"/>
                </a:solidFill>
                <a:latin typeface="Segoe UI"/>
              </a:rPr>
              <a:t> First </a:t>
            </a:r>
            <a:r>
              <a:rPr sz="1900" b="0" i="0">
                <a:solidFill>
                  <a:srgbClr val="1C252B"/>
                </a:solidFill>
                <a:latin typeface="Cambria"/>
              </a:rPr>
              <a:t>lg(10</a:t>
            </a:r>
            <a:r>
              <a:rPr sz="1250" b="0" i="0" baseline="30000">
                <a:solidFill>
                  <a:srgbClr val="1C252B"/>
                </a:solidFill>
                <a:latin typeface="Cambria"/>
              </a:rPr>
              <a:t>7</a:t>
            </a:r>
            <a:r>
              <a:rPr sz="1900" b="0" i="0">
                <a:solidFill>
                  <a:srgbClr val="1C252B"/>
                </a:solidFill>
                <a:latin typeface="Cambria"/>
              </a:rPr>
              <a:t>) = 7 lg 10 = 7 × 3.322 = 23.25</a:t>
            </a:r>
            <a:r>
              <a:rPr sz="1900" b="0" i="0">
                <a:solidFill>
                  <a:srgbClr val="1C252B"/>
                </a:solidFill>
                <a:latin typeface="Segoe UI"/>
              </a:rPr>
              <a:t>.</a:t>
            </a:r>
          </a:p>
        </p:txBody>
      </p:sp>
      <p:sp>
        <p:nvSpPr>
          <p:cNvPr id="13" name="body-3bar">
            <a:extLst>
              <a:ext uri="{C183D7F6-B498-43B3-948B-1728B52AA6E4}">
                <adec:decorative xmlns:adec="http://schemas.microsoft.com/office/drawing/2017/decorative" val="1"/>
              </a:ext>
            </a:extLst>
          </p:cNvPr>
          <p:cNvSpPr/>
          <p:nvPr/>
        </p:nvSpPr>
        <p:spPr>
          <a:xfrm>
            <a:off x="841248" y="4222562"/>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4" name="body-4" descr="\frac{50 \times 10^{7} \times 23.25}{10^{7}} = 50 \times 23.25 = 1{,}163\ \text{s} = \mathbf{19\ \text{minutes}\ 23\ \text{second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638131"/>
            <a:ext cx="10234879" cy="588416"/>
          </a:xfrm>
          <a:prstGeom prst="rect">
            <a:avLst/>
          </a:prstGeom>
        </p:spPr>
      </p:pic>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Faster Computer Loses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C42C6C81-B07E-4EC0-840E-9E0273B7882E}"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34611"/>
          </a:xfrm>
          <a:prstGeom prst="roundRect">
            <a:avLst>
              <a:gd name="adj" fmla="val 215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3461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the comparison.</a:t>
            </a:r>
            <a:r>
              <a:rPr sz="1900" b="0" i="0">
                <a:solidFill>
                  <a:srgbClr val="1C252B"/>
                </a:solidFill>
                <a:latin typeface="Segoe UI"/>
              </a:rPr>
              <a:t> The machine that is </a:t>
            </a:r>
            <a:r>
              <a:rPr sz="1900" b="0" i="1">
                <a:solidFill>
                  <a:srgbClr val="1C252B"/>
                </a:solidFill>
                <a:latin typeface="Segoe UI"/>
              </a:rPr>
              <a:t>a thousand times slower</a:t>
            </a:r>
            <a:r>
              <a:rPr sz="1900" b="0" i="0">
                <a:solidFill>
                  <a:srgbClr val="1C252B"/>
                </a:solidFill>
                <a:latin typeface="Segoe UI"/>
              </a:rPr>
              <a:t> finishes </a:t>
            </a:r>
            <a:r>
              <a:rPr sz="1900" b="1" i="0">
                <a:solidFill>
                  <a:srgbClr val="1C252B"/>
                </a:solidFill>
                <a:latin typeface="Segoe UI"/>
              </a:rPr>
              <a:t>17 times sooner</a:t>
            </a:r>
            <a:r>
              <a:rPr sz="1900" b="0" i="0">
                <a:solidFill>
                  <a:srgbClr val="1C252B"/>
                </a:solidFill>
                <a:latin typeface="Segoe UI"/>
              </a:rPr>
              <a:t>, because its algorithm is better. The hardware advantage is not small and it is not enough.</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where does B overtake A?</a:t>
            </a:r>
            <a:r>
              <a:rPr sz="1900" b="0" i="0">
                <a:solidFill>
                  <a:srgbClr val="1C252B"/>
                </a:solidFill>
                <a:latin typeface="Segoe UI"/>
              </a:rPr>
              <a:t> Set the two times equal:</a:t>
            </a:r>
          </a:p>
        </p:txBody>
      </p:sp>
      <p:sp>
        <p:nvSpPr>
          <p:cNvPr id="12" name="body-1bar">
            <a:extLst>
              <a:ext uri="{C183D7F6-B498-43B3-948B-1728B52AA6E4}">
                <adec:decorative xmlns:adec="http://schemas.microsoft.com/office/drawing/2017/decorative" val="1"/>
              </a:ext>
            </a:extLst>
          </p:cNvPr>
          <p:cNvSpPr/>
          <p:nvPr/>
        </p:nvSpPr>
        <p:spPr>
          <a:xfrm>
            <a:off x="841248" y="306611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 name="body-2" descr="\frac{2n^{2}}{10^{10}} = \frac{50 n \lg n}{10^{7}} \quad\Longrightarrow\quad 2n = 5 \times 10^{4} \lg n \quad\Longrightarrow\quad n = 2.5 \times 10^{4} \lg 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81679"/>
            <a:ext cx="10234879" cy="589879"/>
          </a:xfrm>
          <a:prstGeom prst="rect">
            <a:avLst/>
          </a:prstGeom>
        </p:spPr>
      </p:pic>
      <p:sp>
        <p:nvSpPr>
          <p:cNvPr id="14" name="body-3"/>
          <p:cNvSpPr txBox="1"/>
          <p:nvPr/>
        </p:nvSpPr>
        <p:spPr>
          <a:xfrm>
            <a:off x="1042416" y="420427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There is no closed form, so iterate from </a:t>
            </a:r>
            <a:r>
              <a:rPr sz="1900" b="0" i="1">
                <a:solidFill>
                  <a:srgbClr val="1C252B"/>
                </a:solidFill>
                <a:latin typeface="Cambria"/>
              </a:rPr>
              <a:t>n</a:t>
            </a:r>
            <a:r>
              <a:rPr sz="1900" b="0" i="0">
                <a:solidFill>
                  <a:srgbClr val="1C252B"/>
                </a:solidFill>
                <a:latin typeface="Cambria"/>
              </a:rPr>
              <a:t> = 10</a:t>
            </a:r>
            <a:r>
              <a:rPr sz="1250" b="0" i="0" baseline="30000">
                <a:solidFill>
                  <a:srgbClr val="1C252B"/>
                </a:solidFill>
                <a:latin typeface="Cambria"/>
              </a:rPr>
              <a:t>5</a:t>
            </a:r>
            <a:r>
              <a:rPr sz="1900" b="0" i="0">
                <a:solidFill>
                  <a:srgbClr val="1C252B"/>
                </a:solidFill>
                <a:latin typeface="Segoe UI"/>
              </a:rPr>
              <a:t>:</a:t>
            </a:r>
          </a:p>
        </p:txBody>
      </p:sp>
      <p:pic>
        <p:nvPicPr>
          <p:cNvPr id="15" name="body-4" descr="2.5\!\times\!10^{4}\!\times\!16.6 = 4.15\!\times\!10^{5} \;\to\; 4.66\!\times\!10^{5} \;\to\; 4.71\!\times\!10^{5} \;\to\; 4.71\!\times\!10^{5}."/>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638131"/>
            <a:ext cx="10234879" cy="324520"/>
          </a:xfrm>
          <a:prstGeom prst="rect">
            <a:avLst/>
          </a:prstGeom>
        </p:spPr>
      </p:pic>
      <p:sp>
        <p:nvSpPr>
          <p:cNvPr id="16" name="body-5"/>
          <p:cNvSpPr txBox="1"/>
          <p:nvPr/>
        </p:nvSpPr>
        <p:spPr>
          <a:xfrm>
            <a:off x="1042416" y="509536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So A wins below about </a:t>
            </a:r>
            <a:r>
              <a:rPr sz="1900" b="0" i="1">
                <a:solidFill>
                  <a:srgbClr val="1C252B"/>
                </a:solidFill>
                <a:latin typeface="Cambria"/>
              </a:rPr>
              <a:t>n</a:t>
            </a:r>
            <a:r>
              <a:rPr sz="1900" b="0" i="0">
                <a:solidFill>
                  <a:srgbClr val="1C252B"/>
                </a:solidFill>
                <a:latin typeface="Cambria"/>
              </a:rPr>
              <a:t> = </a:t>
            </a:r>
            <a:r>
              <a:rPr sz="1900" b="1" i="0">
                <a:solidFill>
                  <a:srgbClr val="1C252B"/>
                </a:solidFill>
                <a:latin typeface="Cambria"/>
              </a:rPr>
              <a:t>471,000</a:t>
            </a:r>
            <a:r>
              <a:rPr sz="1900" b="0" i="0">
                <a:solidFill>
                  <a:srgbClr val="1C252B"/>
                </a:solidFill>
                <a:latin typeface="Segoe UI"/>
              </a:rPr>
              <a:t> and loses above it — and loses by more, the larger the input gets.</a:t>
            </a:r>
          </a:p>
        </p:txBody>
      </p:sp>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437650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right)">
                                      <p:cBhvr>
                                        <p:cTn id="24" dur="42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right)">
                                      <p:cBhvr>
                                        <p:cTn id="29" dur="42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right)">
                                      <p:cBhvr>
                                        <p:cTn id="34" dur="42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Faster Computer Loses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§1.3  ·  Handout p. 5     </a:t>
            </a:r>
            <a:fld id="{0C02074D-2325-44F0-AC31-A60C619AC1DD}"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54352"/>
          </a:xfrm>
          <a:prstGeom prst="roundRect">
            <a:avLst>
              <a:gd name="adj" fmla="val 445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5435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what the arithmetic is really saying.</a:t>
            </a:r>
            <a:r>
              <a:rPr sz="1900" b="0" i="0">
                <a:solidFill>
                  <a:srgbClr val="1C252B"/>
                </a:solidFill>
                <a:latin typeface="Segoe UI"/>
              </a:rPr>
              <a:t> Not that constant factors are unimportant. A constant of 25 between the two algorithms bought A nearly half a million elements’ worth of advantage, which for many real problems is the whole range of interest. It is saying that constants buy a </a:t>
            </a:r>
            <a:r>
              <a:rPr sz="1900" b="0" i="1">
                <a:solidFill>
                  <a:srgbClr val="1C252B"/>
                </a:solidFill>
                <a:latin typeface="Segoe UI"/>
              </a:rPr>
              <a:t>bounded</a:t>
            </a:r>
            <a:r>
              <a:rPr sz="1900" b="0" i="0">
                <a:solidFill>
                  <a:srgbClr val="1C252B"/>
                </a:solidFill>
                <a:latin typeface="Segoe UI"/>
              </a:rPr>
              <a:t> advantage and a better order of growth buys an unbounded one, and that you should know which regime you are in.</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68911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Claim, Measured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   Two Programs That Agree on Every Answer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   The Model: What Counts as One Step</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1.3   Why the Question Is Asymptotic</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1.4   The Claim, Measured</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1.5   Space, and the Trade Against Time</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§1.4     </a:t>
            </a:r>
            <a:fld id="{DE8078BC-7761-4038-A6E0-1B52734C436E}" type="slidenum">
              <a:rPr lang="en-GB" sz="1000">
                <a:solidFill>
                  <a:srgbClr val="8795A1"/>
                </a:solidFill>
                <a:latin typeface="Segoe UI"/>
              </a:rPr>
              <a:t>16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00172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ratios should be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6     </a:t>
            </a:r>
            <a:fld id="{F98A079E-49C4-440E-8735-EDD05CEE1526}"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0768"/>
          </a:xfrm>
          <a:prstGeom prst="roundRect">
            <a:avLst>
              <a:gd name="adj" fmla="val 20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076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a:t>
            </a:r>
            <a:r>
              <a:rPr sz="1900" b="0" i="1">
                <a:solidFill>
                  <a:srgbClr val="1C252B"/>
                </a:solidFill>
                <a:latin typeface="Cambria"/>
              </a:rPr>
              <a:t>T</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 = </a:t>
            </a:r>
            <a:r>
              <a:rPr sz="1900" b="0" i="1">
                <a:solidFill>
                  <a:srgbClr val="1C252B"/>
                </a:solidFill>
                <a:latin typeface="Cambria"/>
              </a:rPr>
              <a:t>cn</a:t>
            </a:r>
            <a:r>
              <a:rPr sz="1250" b="0" i="0" baseline="30000">
                <a:solidFill>
                  <a:srgbClr val="1C252B"/>
                </a:solidFill>
                <a:latin typeface="Cambria"/>
              </a:rPr>
              <a:t>2</a:t>
            </a:r>
            <a:r>
              <a:rPr sz="1900" b="0" i="0">
                <a:solidFill>
                  <a:srgbClr val="1C252B"/>
                </a:solidFill>
                <a:latin typeface="Segoe UI"/>
              </a:rPr>
              <a:t>,</a:t>
            </a:r>
          </a:p>
        </p:txBody>
      </p:sp>
      <p:pic>
        <p:nvPicPr>
          <p:cNvPr id="10" name="body-1" descr="\frac{T(2n)}{T(n)} = \frac{c(2n)^{2}}{cn^{2}} = 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482113"/>
            <a:ext cx="10161727" cy="645109"/>
          </a:xfrm>
          <a:prstGeom prst="rect">
            <a:avLst/>
          </a:prstGeom>
        </p:spPr>
      </p:pic>
      <p:sp>
        <p:nvSpPr>
          <p:cNvPr id="11" name="body-2"/>
          <p:cNvSpPr txBox="1"/>
          <p:nvPr/>
        </p:nvSpPr>
        <p:spPr>
          <a:xfrm>
            <a:off x="1060704" y="3259937"/>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independent of </a:t>
            </a:r>
            <a:r>
              <a:rPr sz="1900" b="0" i="1">
                <a:solidFill>
                  <a:srgbClr val="1C252B"/>
                </a:solidFill>
                <a:latin typeface="Cambria"/>
              </a:rPr>
              <a:t>c</a:t>
            </a:r>
            <a:r>
              <a:rPr sz="1900" b="0" i="0">
                <a:solidFill>
                  <a:srgbClr val="1C252B"/>
                </a:solidFill>
                <a:latin typeface="Segoe UI"/>
              </a:rPr>
              <a:t> and of </a:t>
            </a:r>
            <a:r>
              <a:rPr sz="1900" b="0" i="1">
                <a:solidFill>
                  <a:srgbClr val="1C252B"/>
                </a:solidFill>
                <a:latin typeface="Cambria"/>
              </a:rPr>
              <a:t>n</a:t>
            </a:r>
            <a:r>
              <a:rPr sz="1900" b="0" i="0">
                <a:solidFill>
                  <a:srgbClr val="1C252B"/>
                </a:solidFill>
                <a:latin typeface="Segoe UI"/>
              </a:rPr>
              <a:t>. The constant cancels, which is exactly why the ratio is worth measuring: it tests the </a:t>
            </a:r>
            <a:r>
              <a:rPr sz="1900" b="0" i="1">
                <a:solidFill>
                  <a:srgbClr val="1C252B"/>
                </a:solidFill>
                <a:latin typeface="Segoe UI"/>
              </a:rPr>
              <a:t>order of growth</a:t>
            </a:r>
            <a:r>
              <a:rPr sz="1900" b="0" i="0">
                <a:solidFill>
                  <a:srgbClr val="1C252B"/>
                </a:solidFill>
                <a:latin typeface="Segoe UI"/>
              </a:rPr>
              <a:t> without needing to know anything about the machine.</a:t>
            </a:r>
          </a:p>
        </p:txBody>
      </p:sp>
      <p:sp>
        <p:nvSpPr>
          <p:cNvPr id="12" name="body-3"/>
          <p:cNvSpPr txBox="1"/>
          <p:nvPr/>
        </p:nvSpPr>
        <p:spPr>
          <a:xfrm>
            <a:off x="1060704" y="3994937"/>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a:t>
            </a:r>
            <a:r>
              <a:rPr sz="1900" b="0" i="1">
                <a:solidFill>
                  <a:srgbClr val="1C252B"/>
                </a:solidFill>
                <a:latin typeface="Cambria"/>
              </a:rPr>
              <a:t>T</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 = </a:t>
            </a:r>
            <a:r>
              <a:rPr sz="1900" b="0" i="1">
                <a:solidFill>
                  <a:srgbClr val="1C252B"/>
                </a:solidFill>
                <a:latin typeface="Cambria"/>
              </a:rPr>
              <a:t>cn</a:t>
            </a:r>
            <a:r>
              <a:rPr sz="1900" b="0" i="0">
                <a:solidFill>
                  <a:srgbClr val="1C252B"/>
                </a:solidFill>
                <a:latin typeface="Cambria"/>
              </a:rPr>
              <a:t> lg </a:t>
            </a:r>
            <a:r>
              <a:rPr sz="1900" b="0" i="1">
                <a:solidFill>
                  <a:srgbClr val="1C252B"/>
                </a:solidFill>
                <a:latin typeface="Cambria"/>
              </a:rPr>
              <a:t>n</a:t>
            </a:r>
            <a:r>
              <a:rPr sz="1900" b="0" i="0">
                <a:solidFill>
                  <a:srgbClr val="1C252B"/>
                </a:solidFill>
                <a:latin typeface="Segoe UI"/>
              </a:rPr>
              <a:t>,</a:t>
            </a:r>
          </a:p>
        </p:txBody>
      </p:sp>
      <p:pic>
        <p:nvPicPr>
          <p:cNvPr id="13" name="body-4" descr="\frac{T(2n)}{T(n)} = \frac{2n(\lg n + 1)}{n \lg n} = 2 + \frac{2}{\lg 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4428794"/>
            <a:ext cx="10161727" cy="623437"/>
          </a:xfrm>
          <a:prstGeom prst="rect">
            <a:avLst/>
          </a:prstGeom>
        </p:spPr>
      </p:pic>
      <p:sp>
        <p:nvSpPr>
          <p:cNvPr id="14" name="body-5"/>
          <p:cNvSpPr txBox="1"/>
          <p:nvPr/>
        </p:nvSpPr>
        <p:spPr>
          <a:xfrm>
            <a:off x="1060704" y="5184947"/>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which is a little above 2 and drifts </a:t>
            </a:r>
            <a:r>
              <a:rPr sz="1900" b="0" i="1">
                <a:solidFill>
                  <a:srgbClr val="1C252B"/>
                </a:solidFill>
                <a:latin typeface="Segoe UI"/>
              </a:rPr>
              <a:t>down</a:t>
            </a:r>
            <a:r>
              <a:rPr sz="1900" b="0" i="0">
                <a:solidFill>
                  <a:srgbClr val="1C252B"/>
                </a:solidFill>
                <a:latin typeface="Segoe UI"/>
              </a:rPr>
              <a:t> towards 2 as </a:t>
            </a:r>
            <a:r>
              <a:rPr sz="1900" b="0" i="1">
                <a:solidFill>
                  <a:srgbClr val="1C252B"/>
                </a:solidFill>
                <a:latin typeface="Cambria"/>
              </a:rPr>
              <a:t>n</a:t>
            </a:r>
            <a:r>
              <a:rPr sz="1900" b="0" i="0">
                <a:solidFill>
                  <a:srgbClr val="1C252B"/>
                </a:solidFill>
                <a:latin typeface="Segoe UI"/>
              </a:rPr>
              <a:t> grows. At </a:t>
            </a:r>
            <a:r>
              <a:rPr sz="1900" b="0" i="1">
                <a:solidFill>
                  <a:srgbClr val="1C252B"/>
                </a:solidFill>
                <a:latin typeface="Cambria"/>
              </a:rPr>
              <a:t>n</a:t>
            </a:r>
            <a:r>
              <a:rPr sz="1900" b="0" i="0">
                <a:solidFill>
                  <a:srgbClr val="1C252B"/>
                </a:solidFill>
                <a:latin typeface="Cambria"/>
              </a:rPr>
              <a:t> = 1000</a:t>
            </a:r>
            <a:r>
              <a:rPr sz="1900" b="0" i="0">
                <a:solidFill>
                  <a:srgbClr val="1C252B"/>
                </a:solidFill>
                <a:latin typeface="Segoe UI"/>
              </a:rPr>
              <a:t> it predicts </a:t>
            </a:r>
            <a:r>
              <a:rPr sz="1900" b="0" i="0">
                <a:solidFill>
                  <a:srgbClr val="1C252B"/>
                </a:solidFill>
                <a:latin typeface="Cambria"/>
              </a:rPr>
              <a:t>2 + 2/9.97 = 2.20</a:t>
            </a:r>
            <a:r>
              <a:rPr sz="1900" b="0" i="0">
                <a:solidFill>
                  <a:srgbClr val="1C252B"/>
                </a:solidFill>
                <a:latin typeface="Segoe UI"/>
              </a:rPr>
              <a:t>.</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31432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Prediction Against the Measurement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6     </a:t>
            </a:r>
            <a:fld id="{8EAE1161-C001-4CD3-BBF6-1D44193F4471}"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48505"/>
          </a:xfrm>
          <a:prstGeom prst="roundRect">
            <a:avLst>
              <a:gd name="adj" fmla="val 205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4850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Running </a:t>
            </a:r>
            <a:r>
              <a:rPr sz="1800" b="0" i="0">
                <a:solidFill>
                  <a:srgbClr val="1F4E79"/>
                </a:solidFill>
                <a:latin typeface="Consolas"/>
              </a:rPr>
              <a:t>code/ch01_growth.cpp</a:t>
            </a:r>
            <a:r>
              <a:rPr sz="1900" b="0" i="0">
                <a:solidFill>
                  <a:srgbClr val="1C252B"/>
                </a:solidFill>
                <a:latin typeface="Segoe UI"/>
              </a:rPr>
              <a:t> on the machine described in Appendix A (MSVC 19.44, </a:t>
            </a:r>
            <a:r>
              <a:rPr sz="1800" b="0" i="0">
                <a:solidFill>
                  <a:srgbClr val="1F4E79"/>
                </a:solidFill>
                <a:latin typeface="Consolas"/>
              </a:rPr>
              <a:t>/O2</a:t>
            </a:r>
            <a:r>
              <a:rPr sz="1900" b="0" i="0">
                <a:solidFill>
                  <a:srgbClr val="1C252B"/>
                </a:solidFill>
                <a:latin typeface="Segoe UI"/>
              </a:rPr>
              <a:t>), median of five runs, random permutations:</a:t>
            </a:r>
          </a:p>
        </p:txBody>
      </p:sp>
      <p:graphicFrame>
        <p:nvGraphicFramePr>
          <p:cNvPr id="10" name="body-1"/>
          <p:cNvGraphicFramePr>
            <a:graphicFrameLocks noGrp="1"/>
          </p:cNvGraphicFramePr>
          <p:nvPr/>
        </p:nvGraphicFramePr>
        <p:xfrm>
          <a:off x="1042416" y="2746679"/>
          <a:ext cx="5272973" cy="2731008"/>
        </p:xfrm>
        <a:graphic>
          <a:graphicData uri="http://schemas.openxmlformats.org/drawingml/2006/table">
            <a:tbl>
              <a:tblPr firstRow="0" bandRow="0" firstCol="0" lastRow="0" lastCol="0" bandCol="0">
                <a:tableStyleId>{2D5ABB26-0587-4C30-8999-92F81FD0307C}</a:tableStyleId>
              </a:tblPr>
              <a:tblGrid>
                <a:gridCol w="859584"/>
                <a:gridCol w="1608938"/>
                <a:gridCol w="716158"/>
                <a:gridCol w="1372135"/>
                <a:gridCol w="716158"/>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insertion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merge (ms)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ratio</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0.15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0.06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0.58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3.87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0.14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2.22</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4,000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2.41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4.13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0.30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2.20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9.35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3.88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0.65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2.14</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16,000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37.08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3.97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1.51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2.32</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32,000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145.86</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3.93</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2.94</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600" b="0" i="0">
                          <a:solidFill>
                            <a:srgbClr val="1C252B"/>
                          </a:solidFill>
                          <a:latin typeface="Segoe UI"/>
                        </a:rPr>
                        <a:t>1.96</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561040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Insertion sort.</a:t>
            </a:r>
            <a:r>
              <a:rPr sz="1900" b="0" i="0">
                <a:solidFill>
                  <a:srgbClr val="1C252B"/>
                </a:solidFill>
                <a:latin typeface="Segoe UI"/>
              </a:rPr>
              <a:t> Predicted 4; measured 3.87, 4.13, 3.88, 3.97, 3.93. Mean 3.96.</a:t>
            </a:r>
          </a:p>
        </p:txBody>
      </p:sp>
      <p:sp>
        <p:nvSpPr>
          <p:cNvPr id="12" name="body-2bar">
            <a:extLst>
              <a:ext uri="{C183D7F6-B498-43B3-948B-1728B52AA6E4}">
                <adec:decorative xmlns:adec="http://schemas.microsoft.com/office/drawing/2017/decorative" val="1"/>
              </a:ext>
            </a:extLst>
          </p:cNvPr>
          <p:cNvSpPr/>
          <p:nvPr/>
        </p:nvSpPr>
        <p:spPr>
          <a:xfrm>
            <a:off x="841248" y="562869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62693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Prediction Against the Measurement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6     </a:t>
            </a:r>
            <a:fld id="{102A4CBE-7D78-4B29-BC71-C5B38A997377}"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25494"/>
          </a:xfrm>
          <a:prstGeom prst="roundRect">
            <a:avLst>
              <a:gd name="adj" fmla="val 239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25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Merge sort.</a:t>
            </a:r>
            <a:r>
              <a:rPr sz="1900" b="0" i="0">
                <a:solidFill>
                  <a:srgbClr val="1C252B"/>
                </a:solidFill>
                <a:latin typeface="Segoe UI"/>
              </a:rPr>
              <a:t> Predicted </a:t>
            </a:r>
            <a:r>
              <a:rPr sz="1900" b="0" i="0">
                <a:solidFill>
                  <a:srgbClr val="1C252B"/>
                </a:solidFill>
                <a:latin typeface="Cambria"/>
              </a:rPr>
              <a:t>2 + 2/lg </a:t>
            </a:r>
            <a:r>
              <a:rPr sz="1900" b="0" i="1">
                <a:solidFill>
                  <a:srgbClr val="1C252B"/>
                </a:solidFill>
                <a:latin typeface="Cambria"/>
              </a:rPr>
              <a:t>n</a:t>
            </a:r>
            <a:r>
              <a:rPr sz="1900" b="0" i="0">
                <a:solidFill>
                  <a:srgbClr val="1C252B"/>
                </a:solidFill>
                <a:latin typeface="Segoe UI"/>
              </a:rPr>
              <a:t> — 2.20 at </a:t>
            </a:r>
            <a:r>
              <a:rPr sz="1900" b="0" i="1">
                <a:solidFill>
                  <a:srgbClr val="1C252B"/>
                </a:solidFill>
                <a:latin typeface="Cambria"/>
              </a:rPr>
              <a:t>n</a:t>
            </a:r>
            <a:r>
              <a:rPr sz="1900" b="0" i="0">
                <a:solidFill>
                  <a:srgbClr val="1C252B"/>
                </a:solidFill>
                <a:latin typeface="Cambria"/>
              </a:rPr>
              <a:t> = 1000</a:t>
            </a:r>
            <a:r>
              <a:rPr sz="1900" b="0" i="0">
                <a:solidFill>
                  <a:srgbClr val="1C252B"/>
                </a:solidFill>
                <a:latin typeface="Segoe UI"/>
              </a:rPr>
              <a:t>, falling to 2.14 by </a:t>
            </a:r>
            <a:r>
              <a:rPr sz="1900" b="0" i="1">
                <a:solidFill>
                  <a:srgbClr val="1C252B"/>
                </a:solidFill>
                <a:latin typeface="Cambria"/>
              </a:rPr>
              <a:t>n</a:t>
            </a:r>
            <a:r>
              <a:rPr sz="1900" b="0" i="0">
                <a:solidFill>
                  <a:srgbClr val="1C252B"/>
                </a:solidFill>
                <a:latin typeface="Cambria"/>
              </a:rPr>
              <a:t> = 8000</a:t>
            </a:r>
            <a:r>
              <a:rPr sz="1900" b="0" i="0">
                <a:solidFill>
                  <a:srgbClr val="1C252B"/>
                </a:solidFill>
                <a:latin typeface="Segoe UI"/>
              </a:rPr>
              <a:t>. Measured 2.22, 2.20, 2.14, 2.32, 1.96. The first three agree to within a per cent; the last two straddle the prediction.</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 the last column honestly.</a:t>
            </a:r>
            <a:r>
              <a:rPr sz="1900" b="0" i="0">
                <a:solidFill>
                  <a:srgbClr val="1C252B"/>
                </a:solidFill>
                <a:latin typeface="Segoe UI"/>
              </a:rPr>
              <a:t> The 2.32 and the 1.96 are not the theory failing. They are two measurements of a quantity near 2.15 with a few per cent of noise, and a ratio magnifies noise in both terms. The way to tell noise from a real effect is to look at the </a:t>
            </a:r>
            <a:r>
              <a:rPr sz="1900" b="0" i="1">
                <a:solidFill>
                  <a:srgbClr val="1C252B"/>
                </a:solidFill>
                <a:latin typeface="Segoe UI"/>
              </a:rPr>
              <a:t>pattern</a:t>
            </a:r>
            <a:r>
              <a:rPr sz="1900" b="0" i="0">
                <a:solidFill>
                  <a:srgbClr val="1C252B"/>
                </a:solidFill>
                <a:latin typeface="Segoe UI"/>
              </a:rPr>
              <a:t>: insertion’s five ratios scatter about 4 and merge’s about 2.2, and neither drifts.</a:t>
            </a:r>
          </a:p>
        </p:txBody>
      </p:sp>
      <p:sp>
        <p:nvSpPr>
          <p:cNvPr id="12" name="body-1bar">
            <a:extLst>
              <a:ext uri="{C183D7F6-B498-43B3-948B-1728B52AA6E4}">
                <adec:decorative xmlns:adec="http://schemas.microsoft.com/office/drawing/2017/decorative" val="1"/>
              </a:ext>
            </a:extLst>
          </p:cNvPr>
          <p:cNvSpPr/>
          <p:nvPr/>
        </p:nvSpPr>
        <p:spPr>
          <a:xfrm>
            <a:off x="841248" y="3066110"/>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4385106"/>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notice what the measurement cost.</a:t>
            </a:r>
            <a:r>
              <a:rPr sz="1900" b="0" i="0">
                <a:solidFill>
                  <a:srgbClr val="1C252B"/>
                </a:solidFill>
                <a:latin typeface="Segoe UI"/>
              </a:rPr>
              <a:t> At </a:t>
            </a:r>
            <a:r>
              <a:rPr sz="1900" b="0" i="1">
                <a:solidFill>
                  <a:srgbClr val="1C252B"/>
                </a:solidFill>
                <a:latin typeface="Cambria"/>
              </a:rPr>
              <a:t>n</a:t>
            </a:r>
            <a:r>
              <a:rPr sz="1900" b="0" i="0">
                <a:solidFill>
                  <a:srgbClr val="1C252B"/>
                </a:solidFill>
                <a:latin typeface="Cambria"/>
              </a:rPr>
              <a:t> = 32,000</a:t>
            </a:r>
            <a:r>
              <a:rPr sz="1900" b="0" i="0">
                <a:solidFill>
                  <a:srgbClr val="1C252B"/>
                </a:solidFill>
                <a:latin typeface="Segoe UI"/>
              </a:rPr>
              <a:t> insertion sort took 146 ms and merge sort 2.9 ms — a factor of 50. At </a:t>
            </a:r>
            <a:r>
              <a:rPr sz="1900" b="0" i="1">
                <a:solidFill>
                  <a:srgbClr val="1C252B"/>
                </a:solidFill>
                <a:latin typeface="Cambria"/>
              </a:rPr>
              <a:t>n</a:t>
            </a:r>
            <a:r>
              <a:rPr sz="1900" b="0" i="0">
                <a:solidFill>
                  <a:srgbClr val="1C252B"/>
                </a:solidFill>
                <a:latin typeface="Cambria"/>
              </a:rPr>
              <a:t> = 1,000</a:t>
            </a:r>
            <a:r>
              <a:rPr sz="1900" b="0" i="0">
                <a:solidFill>
                  <a:srgbClr val="1C252B"/>
                </a:solidFill>
                <a:latin typeface="Segoe UI"/>
              </a:rPr>
              <a:t> the factor was 2.5. The gap is not fixed; it widens with every doubling, and that is the whole content of “asymptotically faster”.</a:t>
            </a:r>
          </a:p>
        </p:txBody>
      </p:sp>
      <p:sp>
        <p:nvSpPr>
          <p:cNvPr id="14" name="body-2bar">
            <a:extLst>
              <a:ext uri="{C183D7F6-B498-43B3-948B-1728B52AA6E4}">
                <adec:decorative xmlns:adec="http://schemas.microsoft.com/office/drawing/2017/decorative" val="1"/>
              </a:ext>
            </a:extLst>
          </p:cNvPr>
          <p:cNvSpPr/>
          <p:nvPr/>
        </p:nvSpPr>
        <p:spPr>
          <a:xfrm>
            <a:off x="841248" y="4403394"/>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593954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asymptotics are not the whole story, and this book says so twice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6     </a:t>
            </a:r>
            <a:fld id="{E496E478-59B3-447D-BC86-23A62EFC9603}"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45686"/>
          </a:xfrm>
          <a:prstGeom prst="roundRect">
            <a:avLst>
              <a:gd name="adj" fmla="val 226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4568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same program, run on small inputs, gives this:</a:t>
            </a:r>
          </a:p>
        </p:txBody>
      </p:sp>
      <p:graphicFrame>
        <p:nvGraphicFramePr>
          <p:cNvPr id="10" name="body-1"/>
          <p:cNvGraphicFramePr>
            <a:graphicFrameLocks noGrp="1"/>
          </p:cNvGraphicFramePr>
          <p:nvPr/>
        </p:nvGraphicFramePr>
        <p:xfrm>
          <a:off x="1060704" y="2527782"/>
          <a:ext cx="5449461" cy="2944361"/>
        </p:xfrm>
        <a:graphic>
          <a:graphicData uri="http://schemas.openxmlformats.org/drawingml/2006/table">
            <a:tbl>
              <a:tblPr firstRow="0" bandRow="0" firstCol="0" lastRow="0" lastCol="0" bandCol="0">
                <a:tableStyleId>{2D5ABB26-0587-4C30-8999-92F81FD0307C}</a:tableStyleId>
              </a:tblPr>
              <a:tblGrid>
                <a:gridCol w="633071"/>
                <a:gridCol w="1706234"/>
                <a:gridCol w="1439831"/>
                <a:gridCol w="1670325"/>
              </a:tblGrid>
              <a:tr h="420623">
                <a:tc>
                  <a:txBody>
                    <a:bodyPr wrap="square"/>
                    <a:lstStyle/>
                    <a:p>
                      <a:pPr algn="r"/>
                      <a:r>
                        <a:rPr sz="1800" b="1" i="1">
                          <a:solidFill>
                            <a:srgbClr val="1A5276"/>
                          </a:solidFill>
                          <a:latin typeface="Cambria"/>
                        </a:rPr>
                        <a:t>n</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800" b="1" i="0">
                          <a:solidFill>
                            <a:srgbClr val="1A5276"/>
                          </a:solidFill>
                          <a:latin typeface="Segoe UI"/>
                        </a:rPr>
                        <a:t>insertion (</a:t>
                      </a:r>
                      <a:r>
                        <a:rPr sz="1800" b="1" i="0">
                          <a:solidFill>
                            <a:srgbClr val="1A5276"/>
                          </a:solidFill>
                          <a:latin typeface="Cambria"/>
                        </a:rPr>
                        <a:t>μ</a:t>
                      </a:r>
                      <a:r>
                        <a:rPr sz="1800" b="1" i="0">
                          <a:solidFill>
                            <a:srgbClr val="1A5276"/>
                          </a:solidFill>
                          <a:latin typeface="Segoe UI"/>
                        </a:rPr>
                        <a:t>s)</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800" b="1" i="0">
                          <a:solidFill>
                            <a:srgbClr val="1A5276"/>
                          </a:solidFill>
                          <a:latin typeface="Segoe UI"/>
                        </a:rPr>
                        <a:t>merge (</a:t>
                      </a:r>
                      <a:r>
                        <a:rPr sz="1800" b="1" i="0">
                          <a:solidFill>
                            <a:srgbClr val="1A5276"/>
                          </a:solidFill>
                          <a:latin typeface="Cambria"/>
                        </a:rPr>
                        <a:t>μ</a:t>
                      </a:r>
                      <a:r>
                        <a:rPr sz="1800" b="1" i="0">
                          <a:solidFill>
                            <a:srgbClr val="1A5276"/>
                          </a:solidFill>
                          <a:latin typeface="Segoe UI"/>
                        </a:rPr>
                        <a:t>s)</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20623">
                <a:tc>
                  <a:txBody>
                    <a:bodyPr wrap="square"/>
                    <a:lstStyle/>
                    <a:p>
                      <a:pPr algn="r"/>
                      <a:r>
                        <a:rPr sz="1800" b="0" i="0">
                          <a:solidFill>
                            <a:srgbClr val="1C252B"/>
                          </a:solidFill>
                          <a:latin typeface="Segoe UI"/>
                        </a:rPr>
                        <a:t>20</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800" b="0" i="0">
                          <a:solidFill>
                            <a:srgbClr val="1C252B"/>
                          </a:solidFill>
                          <a:latin typeface="Segoe UI"/>
                        </a:rPr>
                        <a:t>0.20</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800" b="0" i="0">
                          <a:solidFill>
                            <a:srgbClr val="1C252B"/>
                          </a:solidFill>
                          <a:latin typeface="Segoe UI"/>
                        </a:rPr>
                        <a:t>0.30</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insertion wins</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r"/>
                      <a:r>
                        <a:rPr sz="1800" b="0" i="0">
                          <a:solidFill>
                            <a:srgbClr val="1C252B"/>
                          </a:solidFill>
                          <a:latin typeface="Segoe UI"/>
                        </a:rPr>
                        <a:t>40</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800" b="0" i="0">
                          <a:solidFill>
                            <a:srgbClr val="1C252B"/>
                          </a:solidFill>
                          <a:latin typeface="Segoe UI"/>
                        </a:rPr>
                        <a:t>0.50</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800" b="0" i="0">
                          <a:solidFill>
                            <a:srgbClr val="1C252B"/>
                          </a:solidFill>
                          <a:latin typeface="Segoe UI"/>
                        </a:rPr>
                        <a:t>0.60</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insertion wins</a:t>
                      </a:r>
                      <a:endParaRPr sz="1800"/>
                    </a:p>
                  </a:txBody>
                  <a:tcPr marL="109728" marR="109728" marT="64008" marB="45720" anchor="t">
                    <a:lnL w="0" cmpd="sng">
                      <a:noFill/>
                    </a:lnL>
                    <a:lnR w="0" cmpd="sng">
                      <a:noFill/>
                    </a:lnR>
                    <a:lnT w="9525" cmpd="sng">
                      <a:noFill/>
                    </a:lnT>
                    <a:lnB w="9525" cmpd="sng">
                      <a:noFill/>
                    </a:lnB>
                    <a:solidFill>
                      <a:srgbClr val="F2F8FC"/>
                    </a:solidFill>
                  </a:tcPr>
                </a:tc>
              </a:tr>
              <a:tr h="420623">
                <a:tc>
                  <a:txBody>
                    <a:bodyPr wrap="square"/>
                    <a:lstStyle/>
                    <a:p>
                      <a:pPr algn="r"/>
                      <a:r>
                        <a:rPr sz="1800" b="0" i="0">
                          <a:solidFill>
                            <a:srgbClr val="1C252B"/>
                          </a:solidFill>
                          <a:latin typeface="Segoe UI"/>
                        </a:rPr>
                        <a:t>60</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800" b="0" i="0">
                          <a:solidFill>
                            <a:srgbClr val="1C252B"/>
                          </a:solidFill>
                          <a:latin typeface="Segoe UI"/>
                        </a:rPr>
                        <a:t>0.70</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800" b="0" i="0">
                          <a:solidFill>
                            <a:srgbClr val="1C252B"/>
                          </a:solidFill>
                          <a:latin typeface="Segoe UI"/>
                        </a:rPr>
                        <a:t>1.00</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insertion wins</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r"/>
                      <a:r>
                        <a:rPr sz="1800" b="0" i="0">
                          <a:solidFill>
                            <a:srgbClr val="1C252B"/>
                          </a:solidFill>
                          <a:latin typeface="Segoe UI"/>
                        </a:rPr>
                        <a:t>70</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800" b="0" i="0">
                          <a:solidFill>
                            <a:srgbClr val="1C252B"/>
                          </a:solidFill>
                          <a:latin typeface="Segoe UI"/>
                        </a:rPr>
                        <a:t>1.20</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800" b="0" i="0">
                          <a:solidFill>
                            <a:srgbClr val="1C252B"/>
                          </a:solidFill>
                          <a:latin typeface="Segoe UI"/>
                        </a:rPr>
                        <a:t>1.10</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merge wins</a:t>
                      </a:r>
                      <a:endParaRPr sz="1800"/>
                    </a:p>
                  </a:txBody>
                  <a:tcPr marL="109728" marR="109728" marT="64008" marB="45720" anchor="t">
                    <a:lnL w="0" cmpd="sng">
                      <a:noFill/>
                    </a:lnL>
                    <a:lnR w="0" cmpd="sng">
                      <a:noFill/>
                    </a:lnR>
                    <a:lnT w="9525" cmpd="sng">
                      <a:noFill/>
                    </a:lnT>
                    <a:lnB w="9525" cmpd="sng">
                      <a:noFill/>
                    </a:lnB>
                    <a:solidFill>
                      <a:srgbClr val="F2F8FC"/>
                    </a:solidFill>
                  </a:tcPr>
                </a:tc>
              </a:tr>
              <a:tr h="420623">
                <a:tc>
                  <a:txBody>
                    <a:bodyPr wrap="square"/>
                    <a:lstStyle/>
                    <a:p>
                      <a:pPr algn="r"/>
                      <a:r>
                        <a:rPr sz="1800" b="0" i="0">
                          <a:solidFill>
                            <a:srgbClr val="1C252B"/>
                          </a:solidFill>
                          <a:latin typeface="Segoe UI"/>
                        </a:rPr>
                        <a:t>100</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800" b="0" i="0">
                          <a:solidFill>
                            <a:srgbClr val="1C252B"/>
                          </a:solidFill>
                          <a:latin typeface="Segoe UI"/>
                        </a:rPr>
                        <a:t>2.20</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800" b="0" i="0">
                          <a:solidFill>
                            <a:srgbClr val="1C252B"/>
                          </a:solidFill>
                          <a:latin typeface="Segoe UI"/>
                        </a:rPr>
                        <a:t>1.60</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merge wins</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r"/>
                      <a:r>
                        <a:rPr sz="1800" b="0" i="0">
                          <a:solidFill>
                            <a:srgbClr val="1C252B"/>
                          </a:solidFill>
                          <a:latin typeface="Segoe UI"/>
                        </a:rPr>
                        <a:t>200</a:t>
                      </a:r>
                      <a:endParaRPr sz="18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800" b="0" i="0">
                          <a:solidFill>
                            <a:srgbClr val="1C252B"/>
                          </a:solidFill>
                          <a:latin typeface="Segoe UI"/>
                        </a:rPr>
                        <a:t>7.40</a:t>
                      </a:r>
                      <a:endParaRPr sz="18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800" b="0" i="0">
                          <a:solidFill>
                            <a:srgbClr val="1C252B"/>
                          </a:solidFill>
                          <a:latin typeface="Segoe UI"/>
                        </a:rPr>
                        <a:t>4.60</a:t>
                      </a:r>
                      <a:endParaRPr sz="18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800" b="0" i="0">
                          <a:solidFill>
                            <a:srgbClr val="1C252B"/>
                          </a:solidFill>
                          <a:latin typeface="Segoe UI"/>
                        </a:rPr>
                        <a:t>merge wins</a:t>
                      </a:r>
                      <a:endParaRPr sz="18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25215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asymptotics are not the whole story, and this book says so twice (continued)</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§1.4  ·  Handout p. 6     </a:t>
            </a:r>
            <a:fld id="{8AF0FFF5-998B-4B24-AFBF-F1EC5EB0DACE}"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765526"/>
          </a:xfrm>
          <a:prstGeom prst="roundRect">
            <a:avLst>
              <a:gd name="adj" fmla="val 330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76552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crossover is at about </a:t>
            </a:r>
            <a:r>
              <a:rPr sz="2100" b="0" i="1">
                <a:solidFill>
                  <a:srgbClr val="1C252B"/>
                </a:solidFill>
                <a:latin typeface="Cambria"/>
              </a:rPr>
              <a:t>n</a:t>
            </a:r>
            <a:r>
              <a:rPr sz="2100" b="0" i="0">
                <a:solidFill>
                  <a:srgbClr val="1C252B"/>
                </a:solidFill>
                <a:latin typeface="Cambria"/>
              </a:rPr>
              <a:t> = 65</a:t>
            </a:r>
            <a:r>
              <a:rPr sz="2100" b="0" i="0">
                <a:solidFill>
                  <a:srgbClr val="1C252B"/>
                </a:solidFill>
                <a:latin typeface="Segoe UI"/>
              </a:rPr>
              <a:t> on this machine. Below it the “worse” algorithm is faster, every time, because merge sort’s recursion and its auxiliary array cost more than insertion sort’s whole quadratic loop on sixty elements.</a:t>
            </a:r>
          </a:p>
        </p:txBody>
      </p:sp>
      <p:sp>
        <p:nvSpPr>
          <p:cNvPr id="10" name="body-1"/>
          <p:cNvSpPr txBox="1"/>
          <p:nvPr/>
        </p:nvSpPr>
        <p:spPr>
          <a:xfrm>
            <a:off x="1060704" y="3193465"/>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This is not a curiosity. It is why every production sort in the world — the C++ standard library’s included — switches to insertion sort below a threshold of roughly this size. Chapter 9 returns to it.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56475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Which Resource Binds?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7     </a:t>
            </a:r>
            <a:fld id="{5AA231C3-5ABF-44E0-B0AD-C2E658297839}"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3"/>
          </a:xfrm>
          <a:prstGeom prst="roundRect">
            <a:avLst>
              <a:gd name="adj" fmla="val 207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For most of the twentieth century, memory was the scarce one. It is now usually not: a machine with 32 GB can hold an array of four billion integers, and most problems that fit in a lecture do not come close.</a:t>
            </a:r>
          </a:p>
        </p:txBody>
      </p:sp>
      <p:sp>
        <p:nvSpPr>
          <p:cNvPr id="10" name="body-1"/>
          <p:cNvSpPr txBox="1"/>
          <p:nvPr/>
        </p:nvSpPr>
        <p:spPr>
          <a:xfrm>
            <a:off x="1060704" y="3247999"/>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What has replaced it is </a:t>
            </a:r>
            <a:r>
              <a:rPr sz="2200" b="0" i="1">
                <a:solidFill>
                  <a:srgbClr val="1C252B"/>
                </a:solidFill>
                <a:latin typeface="Segoe UI"/>
              </a:rPr>
              <a:t>memory locality</a:t>
            </a:r>
            <a:r>
              <a:rPr sz="2200" b="0" i="0">
                <a:solidFill>
                  <a:srgbClr val="1C252B"/>
                </a:solidFill>
                <a:latin typeface="Segoe UI"/>
              </a:rPr>
              <a:t>. An algorithm using twice the memory but touching it in order can comfortably beat one using half as much in a scattered pattern, because of the cache the RAM model promised to ignore. Chapter 18 measures exactly this.</a:t>
            </a:r>
          </a:p>
        </p:txBody>
      </p:sp>
      <p:sp>
        <p:nvSpPr>
          <p:cNvPr id="11" name="body-2"/>
          <p:cNvSpPr txBox="1"/>
          <p:nvPr/>
        </p:nvSpPr>
        <p:spPr>
          <a:xfrm>
            <a:off x="1060704" y="4796434"/>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So: analyse space because the exam asks and because occasionally it binds; but when two algorithms have the same order of growth and different speeds, look at the access pattern before the byte count.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87736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7     </a:t>
            </a:r>
            <a:fld id="{C24A20B0-C2E7-441A-9AD3-D552746382D2}" type="slidenum">
              <a:rPr lang="en-GB" sz="1000">
                <a:solidFill>
                  <a:srgbClr val="8795A1"/>
                </a:solidFill>
                <a:latin typeface="Segoe UI"/>
              </a:rPr>
              <a:t>23</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Confusing the algorithm with the program.</a:t>
            </a:r>
            <a:r>
              <a:rPr sz="1700" b="0" i="0">
                <a:solidFill>
                  <a:srgbClr val="1C252B"/>
                </a:solidFill>
                <a:latin typeface="Segoe UI"/>
              </a:rPr>
              <a:t> “My sort is slow” is usually a statement about an implementation; “insertion sort is quadratic” is a statement about an idea. Fixing the first will not change the second.</a:t>
            </a:r>
          </a:p>
        </p:txBody>
      </p:sp>
      <p:sp>
        <p:nvSpPr>
          <p:cNvPr id="10" name="!!pb1">
            <a:extLst>
              <a:ext uri="{C183D7F6-B498-43B3-948B-1728B52AA6E4}">
                <adec:decorative xmlns:adec="http://schemas.microsoft.com/office/drawing/2017/decorative" val="1"/>
              </a:ext>
            </a:extLst>
          </p:cNvPr>
          <p:cNvSpPr/>
          <p:nvPr/>
        </p:nvSpPr>
        <p:spPr>
          <a:xfrm>
            <a:off x="658368" y="276514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78800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74685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Timing an unoptimised build.</a:t>
            </a:r>
            <a:r>
              <a:rPr sz="1700" b="0" i="0">
                <a:solidFill>
                  <a:srgbClr val="1C252B"/>
                </a:solidFill>
                <a:latin typeface="Segoe UI"/>
              </a:rPr>
              <a:t> A debug build can be five to ten times slower and — worse — slower by </a:t>
            </a:r>
            <a:r>
              <a:rPr sz="1700" b="0" i="1">
                <a:solidFill>
                  <a:srgbClr val="1C252B"/>
                </a:solidFill>
                <a:latin typeface="Segoe UI"/>
              </a:rPr>
              <a:t>different</a:t>
            </a:r>
            <a:r>
              <a:rPr sz="1700" b="0" i="0">
                <a:solidFill>
                  <a:srgbClr val="1C252B"/>
                </a:solidFill>
                <a:latin typeface="Segoe UI"/>
              </a:rPr>
              <a:t> factors for different code, so the comparison is meaningless. Appendix A insists on </a:t>
            </a:r>
            <a:r>
              <a:rPr sz="1600" b="0" i="0">
                <a:solidFill>
                  <a:srgbClr val="1F4E79"/>
                </a:solidFill>
                <a:latin typeface="Consolas"/>
              </a:rPr>
              <a:t>/O2</a:t>
            </a:r>
            <a:r>
              <a:rPr sz="1700" b="0" i="0">
                <a:solidFill>
                  <a:srgbClr val="1C252B"/>
                </a:solidFill>
                <a:latin typeface="Segoe UI"/>
              </a:rPr>
              <a:t>.</a:t>
            </a:r>
          </a:p>
        </p:txBody>
      </p:sp>
      <p:sp>
        <p:nvSpPr>
          <p:cNvPr id="13" name="!!pb2">
            <a:extLst>
              <a:ext uri="{C183D7F6-B498-43B3-948B-1728B52AA6E4}">
                <adec:decorative xmlns:adec="http://schemas.microsoft.com/office/drawing/2017/decorative" val="1"/>
              </a:ext>
            </a:extLst>
          </p:cNvPr>
          <p:cNvSpPr/>
          <p:nvPr/>
        </p:nvSpPr>
        <p:spPr>
          <a:xfrm>
            <a:off x="658368" y="35051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280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8691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Timing once.</a:t>
            </a:r>
            <a:r>
              <a:rPr sz="1700" b="0" i="0">
                <a:solidFill>
                  <a:srgbClr val="1C252B"/>
                </a:solidFill>
                <a:latin typeface="Segoe UI"/>
              </a:rPr>
              <a:t> A single run contains whatever else the machine was doing. Every measurement in this book is the median of several.</a:t>
            </a:r>
          </a:p>
        </p:txBody>
      </p:sp>
      <p:sp>
        <p:nvSpPr>
          <p:cNvPr id="16" name="!!pb3">
            <a:extLst>
              <a:ext uri="{C183D7F6-B498-43B3-948B-1728B52AA6E4}">
                <adec:decorative xmlns:adec="http://schemas.microsoft.com/office/drawing/2017/decorative" val="1"/>
              </a:ext>
            </a:extLst>
          </p:cNvPr>
          <p:cNvSpPr/>
          <p:nvPr/>
        </p:nvSpPr>
        <p:spPr>
          <a:xfrm>
            <a:off x="658368" y="424525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26811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22696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Believing the asymptotics at small </a:t>
            </a:r>
            <a:r>
              <a:rPr sz="1700" b="1" i="1">
                <a:solidFill>
                  <a:srgbClr val="1C252B"/>
                </a:solidFill>
                <a:latin typeface="Cambria"/>
              </a:rPr>
              <a:t>n</a:t>
            </a:r>
            <a:r>
              <a:rPr sz="1700" b="1" i="0">
                <a:solidFill>
                  <a:srgbClr val="1C252B"/>
                </a:solidFill>
                <a:latin typeface="Segoe UI"/>
              </a:rPr>
              <a:t>.</a:t>
            </a:r>
            <a:r>
              <a:rPr sz="1700" b="0" i="0">
                <a:solidFill>
                  <a:srgbClr val="1C252B"/>
                </a:solidFill>
                <a:latin typeface="Segoe UI"/>
              </a:rPr>
              <a:t> The crossover above is at </a:t>
            </a:r>
            <a:r>
              <a:rPr sz="1700" b="0" i="1">
                <a:solidFill>
                  <a:srgbClr val="1C252B"/>
                </a:solidFill>
                <a:latin typeface="Cambria"/>
              </a:rPr>
              <a:t>n</a:t>
            </a:r>
            <a:r>
              <a:rPr sz="1700" b="0" i="0">
                <a:solidFill>
                  <a:srgbClr val="1C252B"/>
                </a:solidFill>
                <a:latin typeface="Cambria"/>
              </a:rPr>
              <a:t> = 65</a:t>
            </a:r>
            <a:r>
              <a:rPr sz="1700" b="0" i="0">
                <a:solidFill>
                  <a:srgbClr val="1C252B"/>
                </a:solidFill>
                <a:latin typeface="Segoe UI"/>
              </a:rPr>
              <a:t>. If your inputs are always smaller than that, the better order of growth is buying you nothing.</a:t>
            </a:r>
          </a:p>
        </p:txBody>
      </p:sp>
      <p:sp>
        <p:nvSpPr>
          <p:cNvPr id="19" name="!!pb4">
            <a:extLst>
              <a:ext uri="{C183D7F6-B498-43B3-948B-1728B52AA6E4}">
                <adec:decorative xmlns:adec="http://schemas.microsoft.com/office/drawing/2017/decorative" val="1"/>
              </a:ext>
            </a:extLst>
          </p:cNvPr>
          <p:cNvSpPr/>
          <p:nvPr/>
        </p:nvSpPr>
        <p:spPr>
          <a:xfrm>
            <a:off x="658368" y="498530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00816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96702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Believing the constants matter at large </a:t>
            </a:r>
            <a:r>
              <a:rPr sz="1700" b="1" i="1">
                <a:solidFill>
                  <a:srgbClr val="1C252B"/>
                </a:solidFill>
                <a:latin typeface="Cambria"/>
              </a:rPr>
              <a:t>n</a:t>
            </a:r>
            <a:r>
              <a:rPr sz="1700" b="1" i="0">
                <a:solidFill>
                  <a:srgbClr val="1C252B"/>
                </a:solidFill>
                <a:latin typeface="Segoe UI"/>
              </a:rPr>
              <a:t>.</a:t>
            </a:r>
            <a:r>
              <a:rPr sz="1700" b="0" i="0">
                <a:solidFill>
                  <a:srgbClr val="1C252B"/>
                </a:solidFill>
                <a:latin typeface="Segoe UI"/>
              </a:rPr>
              <a:t> The symmetric error. At </a:t>
            </a:r>
            <a:r>
              <a:rPr sz="1700" b="0" i="1">
                <a:solidFill>
                  <a:srgbClr val="1C252B"/>
                </a:solidFill>
                <a:latin typeface="Cambria"/>
              </a:rPr>
              <a:t>n</a:t>
            </a:r>
            <a:r>
              <a:rPr sz="1700" b="0" i="0">
                <a:solidFill>
                  <a:srgbClr val="1C252B"/>
                </a:solidFill>
                <a:latin typeface="Cambria"/>
              </a:rPr>
              <a:t> = 32,000</a:t>
            </a:r>
            <a:r>
              <a:rPr sz="1700" b="0" i="0">
                <a:solidFill>
                  <a:srgbClr val="1C252B"/>
                </a:solidFill>
                <a:latin typeface="Segoe UI"/>
              </a:rPr>
              <a:t> the “unimportant” factor of 50 was entirely due to the order of growth.</a:t>
            </a:r>
          </a:p>
        </p:txBody>
      </p:sp>
      <p:sp>
        <p:nvSpPr>
          <p:cNvPr id="22" name="!!pb5">
            <a:extLst>
              <a:ext uri="{C183D7F6-B498-43B3-948B-1728B52AA6E4}">
                <adec:decorative xmlns:adec="http://schemas.microsoft.com/office/drawing/2017/decorative" val="1"/>
              </a:ext>
            </a:extLst>
          </p:cNvPr>
          <p:cNvSpPr/>
          <p:nvPr/>
        </p:nvSpPr>
        <p:spPr>
          <a:xfrm>
            <a:off x="658368" y="572536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74822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707075"/>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Reporting a mean of timings.</a:t>
            </a:r>
            <a:r>
              <a:rPr sz="1700" b="0" i="0">
                <a:solidFill>
                  <a:srgbClr val="1C252B"/>
                </a:solidFill>
                <a:latin typeface="Segoe UI"/>
              </a:rPr>
              <a:t> One scheduler interruption drags a mean a long way. Use the median, and say how many runs.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718997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Growth, Measured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7     </a:t>
            </a:r>
            <a:fld id="{72D07638-3C4A-49D0-BBBD-6DD58A63DAF9}" type="slidenum">
              <a:rPr lang="en-GB" sz="1000">
                <a:solidFill>
                  <a:srgbClr val="8795A1"/>
                </a:solidFill>
                <a:latin typeface="Segoe UI"/>
              </a:rPr>
              <a:t>24</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both tables above on your own machine. Appendix A sets up the compiler. Expect twenty minutes, most of it reading the output.</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4668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The two algorithms, written plainly</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Timing that is honest</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Double n each time, and watch the ratios</a:t>
            </a:r>
          </a:p>
          <a:p>
            <a:pPr algn="l" marL="459473" indent="-459473">
              <a:lnSpc>
                <a:spcPct val="100000"/>
              </a:lnSpc>
              <a:spcBef>
                <a:spcPts val="0"/>
              </a:spcBef>
              <a:spcAft>
                <a:spcPts val="0"/>
              </a:spcAft>
            </a:pPr>
            <a:r>
              <a:rPr sz="1900" b="1">
                <a:solidFill>
                  <a:srgbClr val="117A65"/>
                </a:solidFill>
                <a:latin typeface="Segoe UI"/>
              </a:rPr>
              <a:t>4.	</a:t>
            </a:r>
            <a:r>
              <a:rPr sz="1900" b="0" i="0">
                <a:solidFill>
                  <a:srgbClr val="1C252B"/>
                </a:solidFill>
                <a:latin typeface="Segoe UI"/>
              </a:rPr>
              <a:t>Now find where they cross</a:t>
            </a:r>
          </a:p>
        </p:txBody>
      </p:sp>
      <p:sp>
        <p:nvSpPr>
          <p:cNvPr id="2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1C252B"/>
                </a:solidFill>
                <a:latin typeface="Segoe UI"/>
              </a:rPr>
              <a:t>Week 1: Growth measured: the ratio test, and the crossover at n ≈ 65</a:t>
            </a:r>
          </a:p>
        </p:txBody>
      </p:sp>
      <p:sp>
        <p:nvSpPr>
          <p:cNvPr id="2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63 lines of C++</a:t>
            </a:r>
          </a:p>
        </p:txBody>
      </p:sp>
      <p:sp>
        <p:nvSpPr>
          <p:cNvPr id="3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code/ch01_growth.cpp</a:t>
            </a:r>
          </a:p>
        </p:txBody>
      </p:sp>
      <p:sp>
        <p:nvSpPr>
          <p:cNvPr id="3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pfill">
            <a:extLst>
              <a:ext uri="{C183D7F6-B498-43B3-948B-1728B52AA6E4}">
                <adec:decorative xmlns:adec="http://schemas.microsoft.com/office/drawing/2017/decorative" val="1"/>
              </a:ext>
            </a:extLst>
          </p:cNvPr>
          <p:cNvSpPr/>
          <p:nvPr/>
        </p:nvSpPr>
        <p:spPr>
          <a:xfrm>
            <a:off x="0" y="0"/>
            <a:ext cx="750258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Growth, Measured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7     </a:t>
            </a:r>
            <a:fld id="{E386B41F-8BD3-4C6A-A30C-DC6DB4F15243}"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two algorithms, written plainly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code/ch01_growth.cpp</a:t>
            </a:r>
          </a:p>
        </p:txBody>
      </p:sp>
      <p:sp>
        <p:nvSpPr>
          <p:cNvPr id="14" name="!!code-text" descr="// ch01_growth.cpp -- what &quot;the question is asymptotic&quot; looks like. // Build: cl /O2 /EHsc /std:c++17 ch01_growth.cpp (see Appendix A) // --- 1. The two algorithms, written plainly ------------------------- static void insertion_sort(std::vector&lt;int&gt;&amp; a) { for (size_t j = 1; j &lt; a.size(); ++j) { int key = a[j]; size_t i = j; while (i &gt; 0 &amp;&amp; a[i - 1] &gt; key) { a[i] = a[i - 1]; --i; } a[i] = key; } }"/>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ch01_growth.cpp -- what "the question is asymptotic" looks like.</a:t>
            </a:r>
          </a:p>
          <a:p>
            <a:pPr>
              <a:lnSpc>
                <a:spcPct val="100000"/>
              </a:lnSpc>
              <a:spcAft>
                <a:spcPts val="0"/>
              </a:spcAft>
            </a:pPr>
            <a:r>
              <a:rPr sz="1900" i="1">
                <a:solidFill>
                  <a:srgbClr val="8795A1"/>
                </a:solidFill>
                <a:latin typeface="Consolas"/>
              </a:rPr>
              <a:t>// Build: cl /O2 /EHsc /std:c++17 ch01_growth.cpp      (see Appendix A)</a:t>
            </a:r>
          </a:p>
          <a:p>
            <a:pPr>
              <a:lnSpc>
                <a:spcPct val="100000"/>
              </a:lnSpc>
              <a:spcAft>
                <a:spcPts val="0"/>
              </a:spcAft>
            </a:pPr>
            <a:r>
              <a:rPr sz="1900">
                <a:latin typeface="Consolas"/>
              </a:rPr>
              <a:t> </a:t>
            </a:r>
          </a:p>
          <a:p>
            <a:pPr>
              <a:lnSpc>
                <a:spcPct val="100000"/>
              </a:lnSpc>
              <a:spcAft>
                <a:spcPts val="0"/>
              </a:spcAft>
            </a:pPr>
            <a:r>
              <a:rPr sz="1900" i="1">
                <a:solidFill>
                  <a:srgbClr val="8795A1"/>
                </a:solidFill>
                <a:latin typeface="Consolas"/>
              </a:rPr>
              <a:t>// --- 1. The two algorithms, written plainly -------------------------</a:t>
            </a:r>
          </a:p>
          <a:p>
            <a:pPr>
              <a:lnSpc>
                <a:spcPct val="100000"/>
              </a:lnSpc>
              <a:spcAft>
                <a:spcPts val="0"/>
              </a:spcAft>
            </a:pPr>
            <a:r>
              <a:rPr sz="1900" i="0">
                <a:solidFill>
                  <a:srgbClr val="5DADE2"/>
                </a:solidFill>
                <a:latin typeface="Consolas"/>
              </a:rPr>
              <a:t>static</a:t>
            </a:r>
            <a:r>
              <a:rPr sz="1900" i="0">
                <a:solidFill>
                  <a:srgbClr val="E8EDF2"/>
                </a:solidFill>
                <a:latin typeface="Consolas"/>
              </a:rPr>
              <a:t> </a:t>
            </a:r>
            <a:r>
              <a:rPr sz="1900" i="0">
                <a:solidFill>
                  <a:srgbClr val="5DADE2"/>
                </a:solidFill>
                <a:latin typeface="Consolas"/>
              </a:rPr>
              <a:t>void</a:t>
            </a:r>
            <a:r>
              <a:rPr sz="1900" i="0">
                <a:solidFill>
                  <a:srgbClr val="E8EDF2"/>
                </a:solidFill>
                <a:latin typeface="Consolas"/>
              </a:rPr>
              <a:t> </a:t>
            </a:r>
            <a:r>
              <a:rPr sz="1900" i="0">
                <a:solidFill>
                  <a:srgbClr val="C39BD3"/>
                </a:solidFill>
                <a:latin typeface="Consolas"/>
              </a:rPr>
              <a:t>insertion_sort</a:t>
            </a:r>
            <a:r>
              <a:rPr sz="1900" i="0">
                <a:solidFill>
                  <a:srgbClr val="AEB6BF"/>
                </a:solidFill>
                <a:latin typeface="Consolas"/>
              </a:rPr>
              <a:t>(</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vector</a:t>
            </a:r>
            <a:r>
              <a:rPr sz="1900" i="0">
                <a:solidFill>
                  <a:srgbClr val="AEB6BF"/>
                </a:solidFill>
                <a:latin typeface="Consolas"/>
              </a:rPr>
              <a:t>&lt;</a:t>
            </a:r>
            <a:r>
              <a:rPr sz="1900" i="0">
                <a:solidFill>
                  <a:srgbClr val="5DADE2"/>
                </a:solidFill>
                <a:latin typeface="Consolas"/>
              </a:rPr>
              <a:t>int</a:t>
            </a:r>
            <a:r>
              <a:rPr sz="1900" i="0">
                <a:solidFill>
                  <a:srgbClr val="AEB6BF"/>
                </a:solidFill>
                <a:latin typeface="Consolas"/>
              </a:rPr>
              <a:t>&gt;</a:t>
            </a:r>
            <a:r>
              <a:rPr sz="1900" i="0">
                <a:solidFill>
                  <a:srgbClr val="AEB6BF"/>
                </a:solidFill>
                <a:latin typeface="Consolas"/>
              </a:rPr>
              <a:t>&amp;</a:t>
            </a:r>
            <a:r>
              <a:rPr sz="1900" i="0">
                <a:solidFill>
                  <a:srgbClr val="E8EDF2"/>
                </a:solidFill>
                <a:latin typeface="Consolas"/>
              </a:rPr>
              <a:t> </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size_t</a:t>
            </a:r>
            <a:r>
              <a:rPr sz="1900" i="0">
                <a:solidFill>
                  <a:srgbClr val="E8EDF2"/>
                </a:solidFill>
                <a:latin typeface="Consolas"/>
              </a:rPr>
              <a:t> </a:t>
            </a:r>
            <a:r>
              <a:rPr sz="1900" i="0">
                <a:solidFill>
                  <a:srgbClr val="E8EDF2"/>
                </a:solidFill>
                <a:latin typeface="Consolas"/>
              </a:rPr>
              <a:t>j</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j</a:t>
            </a:r>
            <a:r>
              <a:rPr sz="1900" i="0">
                <a:solidFill>
                  <a:srgbClr val="E8EDF2"/>
                </a:solidFill>
                <a:latin typeface="Consolas"/>
              </a:rPr>
              <a:t> </a:t>
            </a:r>
            <a:r>
              <a:rPr sz="1900" i="0">
                <a:solidFill>
                  <a:srgbClr val="AEB6BF"/>
                </a:solidFill>
                <a:latin typeface="Consolas"/>
              </a:rPr>
              <a:t>&lt;</a:t>
            </a:r>
            <a:r>
              <a:rPr sz="1900" i="0">
                <a:solidFill>
                  <a:srgbClr val="E8EDF2"/>
                </a:solidFill>
                <a:latin typeface="Consolas"/>
              </a:rPr>
              <a:t> </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size</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j</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int</a:t>
            </a:r>
            <a:r>
              <a:rPr sz="1900" i="0">
                <a:solidFill>
                  <a:srgbClr val="E8EDF2"/>
                </a:solidFill>
                <a:latin typeface="Consolas"/>
              </a:rPr>
              <a:t> </a:t>
            </a:r>
            <a:r>
              <a:rPr sz="1900" i="0">
                <a:solidFill>
                  <a:srgbClr val="E8EDF2"/>
                </a:solidFill>
                <a:latin typeface="Consolas"/>
              </a:rPr>
              <a:t>key</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j</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size_t</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j</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while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&gt;</a:t>
            </a:r>
            <a:r>
              <a:rPr sz="1900" i="0">
                <a:solidFill>
                  <a:srgbClr val="E8EDF2"/>
                </a:solidFill>
                <a:latin typeface="Consolas"/>
              </a:rPr>
              <a:t> </a:t>
            </a:r>
            <a:r>
              <a:rPr sz="1900" i="0">
                <a:solidFill>
                  <a:srgbClr val="F7DC6F"/>
                </a:solidFill>
                <a:latin typeface="Consolas"/>
              </a:rPr>
              <a:t>0</a:t>
            </a:r>
            <a:r>
              <a:rPr sz="1900" i="0">
                <a:solidFill>
                  <a:srgbClr val="E8EDF2"/>
                </a:solidFill>
                <a:latin typeface="Consolas"/>
              </a:rPr>
              <a:t> </a:t>
            </a:r>
            <a:r>
              <a:rPr sz="1900" i="0">
                <a:solidFill>
                  <a:srgbClr val="AEB6BF"/>
                </a:solidFill>
                <a:latin typeface="Consolas"/>
              </a:rPr>
              <a:t>&amp;</a:t>
            </a:r>
            <a:r>
              <a:rPr sz="1900" i="0">
                <a:solidFill>
                  <a:srgbClr val="AEB6BF"/>
                </a:solidFill>
                <a:latin typeface="Consolas"/>
              </a:rPr>
              <a:t>&amp;</a:t>
            </a:r>
            <a:r>
              <a:rPr sz="1900" i="0">
                <a:solidFill>
                  <a:srgbClr val="E8EDF2"/>
                </a:solidFill>
                <a:latin typeface="Consolas"/>
              </a:rPr>
              <a:t> </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&gt;</a:t>
            </a:r>
            <a:r>
              <a:rPr sz="1900" i="0">
                <a:solidFill>
                  <a:srgbClr val="E8EDF2"/>
                </a:solidFill>
                <a:latin typeface="Consolas"/>
              </a:rPr>
              <a:t> </a:t>
            </a:r>
            <a:r>
              <a:rPr sz="1900" i="0">
                <a:solidFill>
                  <a:srgbClr val="E8EDF2"/>
                </a:solidFill>
                <a:latin typeface="Consolas"/>
              </a:rPr>
              <a:t>key</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key</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a:t>
            </a:r>
          </a:p>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a:p>
            <a:pPr algn="r">
              <a:lnSpc>
                <a:spcPct val="100000"/>
              </a:lnSpc>
            </a:pPr>
            <a:r>
              <a:rPr sz="1900">
                <a:solidFill>
                  <a:srgbClr val="4F5D6A"/>
                </a:solidFill>
                <a:latin typeface="Consolas"/>
              </a:rPr>
              <a:t>5</a:t>
            </a:r>
          </a:p>
          <a:p>
            <a:pPr algn="r">
              <a:lnSpc>
                <a:spcPct val="100000"/>
              </a:lnSpc>
            </a:pPr>
            <a:r>
              <a:rPr sz="1900">
                <a:solidFill>
                  <a:srgbClr val="4F5D6A"/>
                </a:solidFill>
                <a:latin typeface="Consolas"/>
              </a:rPr>
              <a:t>6</a:t>
            </a:r>
          </a:p>
          <a:p>
            <a:pPr algn="r">
              <a:lnSpc>
                <a:spcPct val="100000"/>
              </a:lnSpc>
            </a:pPr>
            <a:r>
              <a:rPr sz="1900">
                <a:solidFill>
                  <a:srgbClr val="4F5D6A"/>
                </a:solidFill>
                <a:latin typeface="Consolas"/>
              </a:rPr>
              <a:t>7</a:t>
            </a:r>
          </a:p>
          <a:p>
            <a:pPr algn="r">
              <a:lnSpc>
                <a:spcPct val="100000"/>
              </a:lnSpc>
            </a:pPr>
            <a:r>
              <a:rPr sz="1900">
                <a:solidFill>
                  <a:srgbClr val="4F5D6A"/>
                </a:solidFill>
                <a:latin typeface="Consolas"/>
              </a:rPr>
              <a:t>8</a:t>
            </a:r>
          </a:p>
          <a:p>
            <a:pPr algn="r">
              <a:lnSpc>
                <a:spcPct val="100000"/>
              </a:lnSpc>
            </a:pPr>
            <a:r>
              <a:rPr sz="1900">
                <a:solidFill>
                  <a:srgbClr val="4F5D6A"/>
                </a:solidFill>
                <a:latin typeface="Consolas"/>
              </a:rPr>
              <a:t>9</a:t>
            </a:r>
          </a:p>
          <a:p>
            <a:pPr algn="r">
              <a:lnSpc>
                <a:spcPct val="100000"/>
              </a:lnSpc>
            </a:pPr>
            <a:r>
              <a:rPr sz="1900">
                <a:solidFill>
                  <a:srgbClr val="4F5D6A"/>
                </a:solidFill>
                <a:latin typeface="Consolas"/>
              </a:rPr>
              <a:t>10</a:t>
            </a:r>
          </a:p>
          <a:p>
            <a:pPr algn="r">
              <a:lnSpc>
                <a:spcPct val="100000"/>
              </a:lnSpc>
            </a:pPr>
            <a:r>
              <a:rPr sz="1900">
                <a:solidFill>
                  <a:srgbClr val="4F5D6A"/>
                </a:solidFill>
                <a:latin typeface="Consolas"/>
              </a:rPr>
              <a:t>11</a:t>
            </a:r>
          </a:p>
          <a:p>
            <a:pPr algn="r">
              <a:lnSpc>
                <a:spcPct val="100000"/>
              </a:lnSpc>
            </a:pPr>
            <a:r>
              <a:rPr sz="1900">
                <a:solidFill>
                  <a:srgbClr val="4F5D6A"/>
                </a:solidFill>
                <a:latin typeface="Consolas"/>
              </a:rPr>
              <a:t>12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1518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Growth, Measured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7     </a:t>
            </a:r>
            <a:fld id="{47463372-A7B1-4EDE-8CB6-FAF9472AA50A}"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two algorithms, written plainly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code/ch01_growth.cpp</a:t>
            </a:r>
          </a:p>
        </p:txBody>
      </p:sp>
      <p:sp>
        <p:nvSpPr>
          <p:cNvPr id="14" name="!!code-text" descr="static void merge_sort(std::vector&lt;int&gt;&amp; a, std::vector&lt;int&gt;&amp; buf, size_t lo, size_t hi) { if (hi - lo &lt; 2) return; size_t mid = lo + (hi - lo) / 2; merge_sort(a, buf, lo, mid); merge_sort(a, buf, mid, hi); size_t i = lo, j = mid, k = lo; while (i &lt; mid &amp;&amp; j &lt; hi) buf[k++] = (a[i] &lt;= a[j]) ? a[i++] : a[j++]; while (i &lt; mid) buf[k++] = a[i++]; while (j &lt; hi) buf[k++] = a[j++]; std::copy(buf.begin() + lo, buf.begin() + hi, a.begin() + lo); }"/>
          <p:cNvSpPr txBox="1"/>
          <p:nvPr/>
        </p:nvSpPr>
        <p:spPr>
          <a:xfrm>
            <a:off x="1362456" y="2523744"/>
            <a:ext cx="9987991" cy="3401568"/>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static</a:t>
            </a:r>
            <a:r>
              <a:rPr sz="1800" i="0">
                <a:solidFill>
                  <a:srgbClr val="E8EDF2"/>
                </a:solidFill>
                <a:latin typeface="Consolas"/>
              </a:rPr>
              <a:t> </a:t>
            </a:r>
            <a:r>
              <a:rPr sz="1800" i="0">
                <a:solidFill>
                  <a:srgbClr val="5DADE2"/>
                </a:solidFill>
                <a:latin typeface="Consolas"/>
              </a:rPr>
              <a:t>void</a:t>
            </a:r>
            <a:r>
              <a:rPr sz="1800" i="0">
                <a:solidFill>
                  <a:srgbClr val="E8EDF2"/>
                </a:solidFill>
                <a:latin typeface="Consolas"/>
              </a:rPr>
              <a:t> </a:t>
            </a:r>
            <a:r>
              <a:rPr sz="1800" i="0">
                <a:solidFill>
                  <a:srgbClr val="C39BD3"/>
                </a:solidFill>
                <a:latin typeface="Consolas"/>
              </a:rPr>
              <a:t>merge_sort</a:t>
            </a:r>
            <a:r>
              <a:rPr sz="1800" i="0">
                <a:solidFill>
                  <a:srgbClr val="AEB6BF"/>
                </a:solidFill>
                <a:latin typeface="Consolas"/>
              </a:rPr>
              <a:t>(</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vector</a:t>
            </a:r>
            <a:r>
              <a:rPr sz="1800" i="0">
                <a:solidFill>
                  <a:srgbClr val="AEB6BF"/>
                </a:solidFill>
                <a:latin typeface="Consolas"/>
              </a:rPr>
              <a:t>&lt;</a:t>
            </a:r>
            <a:r>
              <a:rPr sz="1800" i="0">
                <a:solidFill>
                  <a:srgbClr val="5DADE2"/>
                </a:solidFill>
                <a:latin typeface="Consolas"/>
              </a:rPr>
              <a:t>int</a:t>
            </a:r>
            <a:r>
              <a:rPr sz="1800" i="0">
                <a:solidFill>
                  <a:srgbClr val="AEB6BF"/>
                </a:solidFill>
                <a:latin typeface="Consolas"/>
              </a:rPr>
              <a:t>&gt;</a:t>
            </a:r>
            <a:r>
              <a:rPr sz="1800" i="0">
                <a:solidFill>
                  <a:srgbClr val="AEB6BF"/>
                </a:solidFill>
                <a:latin typeface="Consolas"/>
              </a:rPr>
              <a:t>&amp;</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vector</a:t>
            </a:r>
            <a:r>
              <a:rPr sz="1800" i="0">
                <a:solidFill>
                  <a:srgbClr val="AEB6BF"/>
                </a:solidFill>
                <a:latin typeface="Consolas"/>
              </a:rPr>
              <a:t>&lt;</a:t>
            </a:r>
            <a:r>
              <a:rPr sz="1800" i="0">
                <a:solidFill>
                  <a:srgbClr val="5DADE2"/>
                </a:solidFill>
                <a:latin typeface="Consolas"/>
              </a:rPr>
              <a:t>int</a:t>
            </a:r>
            <a:r>
              <a:rPr sz="1800" i="0">
                <a:solidFill>
                  <a:srgbClr val="AEB6BF"/>
                </a:solidFill>
                <a:latin typeface="Consolas"/>
              </a:rPr>
              <a:t>&gt;</a:t>
            </a:r>
            <a:r>
              <a:rPr sz="1800" i="0">
                <a:solidFill>
                  <a:srgbClr val="AEB6BF"/>
                </a:solidFill>
                <a:latin typeface="Consolas"/>
              </a:rPr>
              <a:t>&amp;</a:t>
            </a:r>
            <a:r>
              <a:rPr sz="1800" i="0">
                <a:solidFill>
                  <a:srgbClr val="E8EDF2"/>
                </a:solidFill>
                <a:latin typeface="Consolas"/>
              </a:rPr>
              <a:t> </a:t>
            </a:r>
            <a:r>
              <a:rPr sz="1800" i="0">
                <a:solidFill>
                  <a:srgbClr val="E8EDF2"/>
                </a:solidFill>
                <a:latin typeface="Consolas"/>
              </a:rPr>
              <a:t>buf</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size_t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size_t</a:t>
            </a:r>
            <a:r>
              <a:rPr sz="1800" i="0">
                <a:solidFill>
                  <a:srgbClr val="E8EDF2"/>
                </a:solidFill>
                <a:latin typeface="Consolas"/>
              </a:rPr>
              <a:t> </a:t>
            </a:r>
            <a:r>
              <a:rPr sz="1800" i="0">
                <a:solidFill>
                  <a:srgbClr val="E8EDF2"/>
                </a:solidFill>
                <a:latin typeface="Consolas"/>
              </a:rPr>
              <a:t>hi</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hi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return</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size_t</a:t>
            </a:r>
            <a:r>
              <a:rPr sz="1800" i="0">
                <a:solidFill>
                  <a:srgbClr val="E8EDF2"/>
                </a:solidFill>
                <a:latin typeface="Consolas"/>
              </a:rPr>
              <a:t> </a:t>
            </a:r>
            <a:r>
              <a:rPr sz="1800" i="0">
                <a:solidFill>
                  <a:srgbClr val="E8EDF2"/>
                </a:solidFill>
                <a:latin typeface="Consolas"/>
              </a:rPr>
              <a:t>mid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hi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merge_sort</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buf</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mid</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merge_sort</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buf</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mid</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hi</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size_t</a:t>
            </a:r>
            <a:r>
              <a:rPr sz="1800" i="0">
                <a:solidFill>
                  <a:srgbClr val="E8EDF2"/>
                </a:solidFill>
                <a:latin typeface="Consolas"/>
              </a:rPr>
              <a:t> </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j</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mid</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while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E8EDF2"/>
                </a:solidFill>
                <a:latin typeface="Consolas"/>
              </a:rPr>
              <a:t>mid</a:t>
            </a:r>
            <a:r>
              <a:rPr sz="1800" i="0">
                <a:solidFill>
                  <a:srgbClr val="E8EDF2"/>
                </a:solidFill>
                <a:latin typeface="Consolas"/>
              </a:rPr>
              <a:t> </a:t>
            </a:r>
            <a:r>
              <a:rPr sz="1800" i="0">
                <a:solidFill>
                  <a:srgbClr val="AEB6BF"/>
                </a:solidFill>
                <a:latin typeface="Consolas"/>
              </a:rPr>
              <a:t>&amp;</a:t>
            </a:r>
            <a:r>
              <a:rPr sz="1800" i="0">
                <a:solidFill>
                  <a:srgbClr val="AEB6BF"/>
                </a:solidFill>
                <a:latin typeface="Consolas"/>
              </a:rPr>
              <a:t>&amp;</a:t>
            </a:r>
            <a:r>
              <a:rPr sz="1800" i="0">
                <a:solidFill>
                  <a:srgbClr val="E8EDF2"/>
                </a:solidFill>
                <a:latin typeface="Consolas"/>
              </a:rPr>
              <a:t> </a:t>
            </a:r>
            <a:r>
              <a:rPr sz="1800" i="0">
                <a:solidFill>
                  <a:srgbClr val="E8EDF2"/>
                </a:solidFill>
                <a:latin typeface="Consolas"/>
              </a:rPr>
              <a:t>j</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E8EDF2"/>
                </a:solidFill>
                <a:latin typeface="Consolas"/>
              </a:rPr>
              <a:t>hi</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buf</a:t>
            </a:r>
            <a:r>
              <a:rPr sz="1800" i="0">
                <a:solidFill>
                  <a:srgbClr val="AEB6BF"/>
                </a:solidFill>
                <a:latin typeface="Consolas"/>
              </a:rPr>
              <a:t>[</a:t>
            </a:r>
            <a:r>
              <a:rPr sz="1800" i="0">
                <a:solidFill>
                  <a:srgbClr val="E8EDF2"/>
                </a:solidFill>
                <a:latin typeface="Consolas"/>
              </a:rPr>
              <a:t>k</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&lt;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j</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j</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while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i</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E8EDF2"/>
                </a:solidFill>
                <a:latin typeface="Consolas"/>
              </a:rPr>
              <a:t>mid</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buf</a:t>
            </a:r>
            <a:r>
              <a:rPr sz="1800" i="0">
                <a:solidFill>
                  <a:srgbClr val="AEB6BF"/>
                </a:solidFill>
                <a:latin typeface="Consolas"/>
              </a:rPr>
              <a:t>[</a:t>
            </a:r>
            <a:r>
              <a:rPr sz="1800" i="0">
                <a:solidFill>
                  <a:srgbClr val="E8EDF2"/>
                </a:solidFill>
                <a:latin typeface="Consolas"/>
              </a:rPr>
              <a:t>k</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i</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while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j</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E8EDF2"/>
                </a:solidFill>
                <a:latin typeface="Consolas"/>
              </a:rPr>
              <a:t>hi</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buf</a:t>
            </a:r>
            <a:r>
              <a:rPr sz="1800" i="0">
                <a:solidFill>
                  <a:srgbClr val="AEB6BF"/>
                </a:solidFill>
                <a:latin typeface="Consolas"/>
              </a:rPr>
              <a:t>[</a:t>
            </a:r>
            <a:r>
              <a:rPr sz="1800" i="0">
                <a:solidFill>
                  <a:srgbClr val="E8EDF2"/>
                </a:solidFill>
                <a:latin typeface="Consolas"/>
              </a:rPr>
              <a:t>k</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j</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copy</a:t>
            </a:r>
            <a:r>
              <a:rPr sz="1800" i="0">
                <a:solidFill>
                  <a:srgbClr val="AEB6BF"/>
                </a:solidFill>
                <a:latin typeface="Consolas"/>
              </a:rPr>
              <a:t>(</a:t>
            </a:r>
            <a:r>
              <a:rPr sz="1800" i="0">
                <a:solidFill>
                  <a:srgbClr val="E8EDF2"/>
                </a:solidFill>
                <a:latin typeface="Consolas"/>
              </a:rPr>
              <a:t>buf</a:t>
            </a:r>
            <a:r>
              <a:rPr sz="1800" i="0">
                <a:solidFill>
                  <a:srgbClr val="AEB6BF"/>
                </a:solidFill>
                <a:latin typeface="Consolas"/>
              </a:rPr>
              <a:t>.</a:t>
            </a:r>
            <a:r>
              <a:rPr sz="1800" i="0">
                <a:solidFill>
                  <a:srgbClr val="E8EDF2"/>
                </a:solidFill>
                <a:latin typeface="Consolas"/>
              </a:rPr>
              <a:t>begin</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buf</a:t>
            </a:r>
            <a:r>
              <a:rPr sz="1800" i="0">
                <a:solidFill>
                  <a:srgbClr val="AEB6BF"/>
                </a:solidFill>
                <a:latin typeface="Consolas"/>
              </a:rPr>
              <a:t>.</a:t>
            </a:r>
            <a:r>
              <a:rPr sz="1800" i="0">
                <a:solidFill>
                  <a:srgbClr val="E8EDF2"/>
                </a:solidFill>
                <a:latin typeface="Consolas"/>
              </a:rPr>
              <a:t>begin</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hi</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begin</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AEB6BF"/>
                </a:solidFill>
                <a:latin typeface="Consolas"/>
              </a:rPr>
              <a:t>}</a:t>
            </a:r>
          </a:p>
        </p:txBody>
      </p:sp>
      <p:sp>
        <p:nvSpPr>
          <p:cNvPr id="15" name="!!code-num"/>
          <p:cNvSpPr txBox="1"/>
          <p:nvPr/>
        </p:nvSpPr>
        <p:spPr>
          <a:xfrm>
            <a:off x="768096" y="2523744"/>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Growth, Measured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7     </a:t>
            </a:r>
            <a:fld id="{8F057546-162E-4E5C-B2EE-AC95B2DF9626}"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Timing that is honest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code/ch01_growth.cpp</a:t>
            </a:r>
          </a:p>
        </p:txBody>
      </p:sp>
      <p:sp>
        <p:nvSpPr>
          <p:cNvPr id="14" name="!!code-text" descr="// --- 2. Timing that is honest --------------------------------------- // The MEDIAN of several runs: a mean is dragged by one scheduler // hiccup, and the minimum flatters the cache. template &lt;class F&gt; static double time_ms(F&amp;&amp; f, int reps) { std::vector&lt;double&gt; t; for (int r = 0; r &lt; reps; ++r) { auto t0 = std::chrono::steady_clock::now(); f(); auto t1 = std::chrono::steady_clock::now(); t.push_back( std::chrono::duration&lt;double, std::milli&gt;(t1 - t0).count()); } std::sort(t.begin(), t.end()); return t[t.size() / 2]; }"/>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--- 2. Timing that is honest ---------------------------------------</a:t>
            </a:r>
          </a:p>
          <a:p>
            <a:pPr>
              <a:lnSpc>
                <a:spcPct val="100000"/>
              </a:lnSpc>
              <a:spcAft>
                <a:spcPts val="0"/>
              </a:spcAft>
            </a:pPr>
            <a:r>
              <a:rPr sz="1400" i="1">
                <a:solidFill>
                  <a:srgbClr val="8795A1"/>
                </a:solidFill>
                <a:latin typeface="Consolas"/>
              </a:rPr>
              <a:t>// The MEDIAN of several runs: a mean is dragged by one scheduler</a:t>
            </a:r>
          </a:p>
          <a:p>
            <a:pPr>
              <a:lnSpc>
                <a:spcPct val="100000"/>
              </a:lnSpc>
              <a:spcAft>
                <a:spcPts val="0"/>
              </a:spcAft>
            </a:pPr>
            <a:r>
              <a:rPr sz="1400" i="1">
                <a:solidFill>
                  <a:srgbClr val="8795A1"/>
                </a:solidFill>
                <a:latin typeface="Consolas"/>
              </a:rPr>
              <a:t>// hiccup, and the minimum flatters the cache.</a:t>
            </a:r>
          </a:p>
          <a:p>
            <a:pPr>
              <a:lnSpc>
                <a:spcPct val="100000"/>
              </a:lnSpc>
              <a:spcAft>
                <a:spcPts val="0"/>
              </a:spcAft>
            </a:pPr>
            <a:r>
              <a:rPr sz="1400" i="0">
                <a:solidFill>
                  <a:srgbClr val="5DADE2"/>
                </a:solidFill>
                <a:latin typeface="Consolas"/>
              </a:rPr>
              <a:t>template</a:t>
            </a:r>
            <a:r>
              <a:rPr sz="1400" i="0">
                <a:solidFill>
                  <a:srgbClr val="E8EDF2"/>
                </a:solidFill>
                <a:latin typeface="Consolas"/>
              </a:rPr>
              <a:t> </a:t>
            </a:r>
            <a:r>
              <a:rPr sz="1400" i="0">
                <a:solidFill>
                  <a:srgbClr val="AEB6BF"/>
                </a:solidFill>
                <a:latin typeface="Consolas"/>
              </a:rPr>
              <a:t>&lt;</a:t>
            </a:r>
            <a:r>
              <a:rPr sz="1400" i="0">
                <a:solidFill>
                  <a:srgbClr val="5DADE2"/>
                </a:solidFill>
                <a:latin typeface="Consolas"/>
              </a:rPr>
              <a:t>class</a:t>
            </a:r>
            <a:r>
              <a:rPr sz="1400" i="0">
                <a:solidFill>
                  <a:srgbClr val="E8EDF2"/>
                </a:solidFill>
                <a:latin typeface="Consolas"/>
              </a:rPr>
              <a:t> </a:t>
            </a:r>
            <a:r>
              <a:rPr sz="1400" i="0">
                <a:solidFill>
                  <a:srgbClr val="76D7C4"/>
                </a:solidFill>
                <a:latin typeface="Consolas"/>
              </a:rPr>
              <a:t>F</a:t>
            </a:r>
            <a:r>
              <a:rPr sz="1400" i="0">
                <a:solidFill>
                  <a:srgbClr val="AEB6BF"/>
                </a:solidFill>
                <a:latin typeface="Consolas"/>
              </a:rPr>
              <a:t>&gt;</a:t>
            </a:r>
          </a:p>
          <a:p>
            <a:pPr>
              <a:lnSpc>
                <a:spcPct val="100000"/>
              </a:lnSpc>
              <a:spcAft>
                <a:spcPts val="0"/>
              </a:spcAft>
            </a:pPr>
            <a:r>
              <a:rPr sz="1400" i="0">
                <a:solidFill>
                  <a:srgbClr val="5DADE2"/>
                </a:solidFill>
                <a:latin typeface="Consolas"/>
              </a:rPr>
              <a:t>static</a:t>
            </a:r>
            <a:r>
              <a:rPr sz="1400" i="0">
                <a:solidFill>
                  <a:srgbClr val="E8EDF2"/>
                </a:solidFill>
                <a:latin typeface="Consolas"/>
              </a:rPr>
              <a:t> </a:t>
            </a:r>
            <a:r>
              <a:rPr sz="1400" i="0">
                <a:solidFill>
                  <a:srgbClr val="5DADE2"/>
                </a:solidFill>
                <a:latin typeface="Consolas"/>
              </a:rPr>
              <a:t>double</a:t>
            </a:r>
            <a:r>
              <a:rPr sz="1400" i="0">
                <a:solidFill>
                  <a:srgbClr val="E8EDF2"/>
                </a:solidFill>
                <a:latin typeface="Consolas"/>
              </a:rPr>
              <a:t> </a:t>
            </a:r>
            <a:r>
              <a:rPr sz="1400" i="0">
                <a:solidFill>
                  <a:srgbClr val="E8EDF2"/>
                </a:solidFill>
                <a:latin typeface="Consolas"/>
              </a:rPr>
              <a:t>time_ms</a:t>
            </a:r>
            <a:r>
              <a:rPr sz="1400" i="0">
                <a:solidFill>
                  <a:srgbClr val="AEB6BF"/>
                </a:solidFill>
                <a:latin typeface="Consolas"/>
              </a:rPr>
              <a:t>(</a:t>
            </a:r>
            <a:r>
              <a:rPr sz="1400" i="0">
                <a:solidFill>
                  <a:srgbClr val="E8EDF2"/>
                </a:solidFill>
                <a:latin typeface="Consolas"/>
              </a:rPr>
              <a:t>F</a:t>
            </a:r>
            <a:r>
              <a:rPr sz="1400" i="0">
                <a:solidFill>
                  <a:srgbClr val="AEB6BF"/>
                </a:solidFill>
                <a:latin typeface="Consolas"/>
              </a:rPr>
              <a:t>&amp;</a:t>
            </a:r>
            <a:r>
              <a:rPr sz="1400" i="0">
                <a:solidFill>
                  <a:srgbClr val="AEB6BF"/>
                </a:solidFill>
                <a:latin typeface="Consolas"/>
              </a:rPr>
              <a:t>&amp;</a:t>
            </a:r>
            <a:r>
              <a:rPr sz="1400" i="0">
                <a:solidFill>
                  <a:srgbClr val="E8EDF2"/>
                </a:solidFill>
                <a:latin typeface="Consolas"/>
              </a:rPr>
              <a:t> </a:t>
            </a:r>
            <a:r>
              <a:rPr sz="1400" i="0">
                <a:solidFill>
                  <a:srgbClr val="E8EDF2"/>
                </a:solidFill>
                <a:latin typeface="Consolas"/>
              </a:rPr>
              <a:t>f</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int</a:t>
            </a:r>
            <a:r>
              <a:rPr sz="1400" i="0">
                <a:solidFill>
                  <a:srgbClr val="E8EDF2"/>
                </a:solidFill>
                <a:latin typeface="Consolas"/>
              </a:rPr>
              <a:t> </a:t>
            </a:r>
            <a:r>
              <a:rPr sz="1400" i="0">
                <a:solidFill>
                  <a:srgbClr val="E8EDF2"/>
                </a:solidFill>
                <a:latin typeface="Consolas"/>
              </a:rPr>
              <a:t>reps</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vector</a:t>
            </a:r>
            <a:r>
              <a:rPr sz="1400" i="0">
                <a:solidFill>
                  <a:srgbClr val="AEB6BF"/>
                </a:solidFill>
                <a:latin typeface="Consolas"/>
              </a:rPr>
              <a:t>&lt;</a:t>
            </a:r>
            <a:r>
              <a:rPr sz="1400" i="0">
                <a:solidFill>
                  <a:srgbClr val="5DADE2"/>
                </a:solidFill>
                <a:latin typeface="Consolas"/>
              </a:rPr>
              <a:t>double</a:t>
            </a:r>
            <a:r>
              <a:rPr sz="1400" i="0">
                <a:solidFill>
                  <a:srgbClr val="AEB6BF"/>
                </a:solidFill>
                <a:latin typeface="Consolas"/>
              </a:rPr>
              <a:t>&gt;</a:t>
            </a:r>
            <a:r>
              <a:rPr sz="1400" i="0">
                <a:solidFill>
                  <a:srgbClr val="E8EDF2"/>
                </a:solidFill>
                <a:latin typeface="Consolas"/>
              </a:rPr>
              <a:t> </a:t>
            </a:r>
            <a:r>
              <a:rPr sz="1400" i="0">
                <a:solidFill>
                  <a:srgbClr val="E8EDF2"/>
                </a:solidFill>
                <a:latin typeface="Consolas"/>
              </a:rPr>
              <a:t>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AEB6BF"/>
                </a:solidFill>
                <a:latin typeface="Consolas"/>
              </a:rPr>
              <a:t>(</a:t>
            </a:r>
            <a:r>
              <a:rPr sz="1400" i="0">
                <a:solidFill>
                  <a:srgbClr val="5DADE2"/>
                </a:solidFill>
                <a:latin typeface="Consolas"/>
              </a:rPr>
              <a:t>int</a:t>
            </a:r>
            <a:r>
              <a:rPr sz="1400" i="0">
                <a:solidFill>
                  <a:srgbClr val="E8EDF2"/>
                </a:solidFill>
                <a:latin typeface="Consolas"/>
              </a:rPr>
              <a:t> </a:t>
            </a:r>
            <a:r>
              <a:rPr sz="1400" i="0">
                <a:solidFill>
                  <a:srgbClr val="E8EDF2"/>
                </a:solidFill>
                <a:latin typeface="Consolas"/>
              </a:rPr>
              <a:t>r</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a:t>
            </a:r>
            <a:r>
              <a:rPr sz="1400" i="0">
                <a:solidFill>
                  <a:srgbClr val="E8EDF2"/>
                </a:solidFill>
                <a:latin typeface="Consolas"/>
              </a:rPr>
              <a:t> </a:t>
            </a:r>
            <a:r>
              <a:rPr sz="1400" i="0">
                <a:solidFill>
                  <a:srgbClr val="AEB6BF"/>
                </a:solidFill>
                <a:latin typeface="Consolas"/>
              </a:rPr>
              <a:t>&lt;</a:t>
            </a:r>
            <a:r>
              <a:rPr sz="1400" i="0">
                <a:solidFill>
                  <a:srgbClr val="E8EDF2"/>
                </a:solidFill>
                <a:latin typeface="Consolas"/>
              </a:rPr>
              <a:t> </a:t>
            </a:r>
            <a:r>
              <a:rPr sz="1400" i="0">
                <a:solidFill>
                  <a:srgbClr val="E8EDF2"/>
                </a:solidFill>
                <a:latin typeface="Consolas"/>
              </a:rPr>
              <a:t>reps</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r</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auto</a:t>
            </a:r>
            <a:r>
              <a:rPr sz="1400" i="0">
                <a:solidFill>
                  <a:srgbClr val="E8EDF2"/>
                </a:solidFill>
                <a:latin typeface="Consolas"/>
              </a:rPr>
              <a:t> </a:t>
            </a:r>
            <a:r>
              <a:rPr sz="1400" i="0">
                <a:solidFill>
                  <a:srgbClr val="E8EDF2"/>
                </a:solidFill>
                <a:latin typeface="Consolas"/>
              </a:rPr>
              <a:t>t0</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chrono</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steady_clock</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now</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f</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auto</a:t>
            </a:r>
            <a:r>
              <a:rPr sz="1400" i="0">
                <a:solidFill>
                  <a:srgbClr val="E8EDF2"/>
                </a:solidFill>
                <a:latin typeface="Consolas"/>
              </a:rPr>
              <a:t> </a:t>
            </a:r>
            <a:r>
              <a:rPr sz="1400" i="0">
                <a:solidFill>
                  <a:srgbClr val="E8EDF2"/>
                </a:solidFill>
                <a:latin typeface="Consolas"/>
              </a:rPr>
              <a:t>t1</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chrono</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steady_clock</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now</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t</a:t>
            </a:r>
            <a:r>
              <a:rPr sz="1400" i="0">
                <a:solidFill>
                  <a:srgbClr val="AEB6BF"/>
                </a:solidFill>
                <a:latin typeface="Consolas"/>
              </a:rPr>
              <a:t>.</a:t>
            </a:r>
            <a:r>
              <a:rPr sz="1400" i="0">
                <a:solidFill>
                  <a:srgbClr val="E8EDF2"/>
                </a:solidFill>
                <a:latin typeface="Consolas"/>
              </a:rPr>
              <a:t>push_back</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chrono</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duration</a:t>
            </a:r>
            <a:r>
              <a:rPr sz="1400" i="0">
                <a:solidFill>
                  <a:srgbClr val="AEB6BF"/>
                </a:solidFill>
                <a:latin typeface="Consolas"/>
              </a:rPr>
              <a:t>&lt;</a:t>
            </a:r>
            <a:r>
              <a:rPr sz="1400" i="0">
                <a:solidFill>
                  <a:srgbClr val="5DADE2"/>
                </a:solidFill>
                <a:latin typeface="Consolas"/>
              </a:rPr>
              <a:t>double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milli</a:t>
            </a:r>
            <a:r>
              <a:rPr sz="1400" i="0">
                <a:solidFill>
                  <a:srgbClr val="AEB6BF"/>
                </a:solidFill>
                <a:latin typeface="Consolas"/>
              </a:rPr>
              <a:t>&gt;</a:t>
            </a:r>
            <a:r>
              <a:rPr sz="1400" i="0">
                <a:solidFill>
                  <a:srgbClr val="AEB6BF"/>
                </a:solidFill>
                <a:latin typeface="Consolas"/>
              </a:rPr>
              <a:t>(</a:t>
            </a:r>
            <a:r>
              <a:rPr sz="1400" i="0">
                <a:solidFill>
                  <a:srgbClr val="E8EDF2"/>
                </a:solidFill>
                <a:latin typeface="Consolas"/>
              </a:rPr>
              <a:t>t1</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t0</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count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sort</a:t>
            </a:r>
            <a:r>
              <a:rPr sz="1400" i="0">
                <a:solidFill>
                  <a:srgbClr val="AEB6BF"/>
                </a:solidFill>
                <a:latin typeface="Consolas"/>
              </a:rPr>
              <a:t>(</a:t>
            </a:r>
            <a:r>
              <a:rPr sz="1400" i="0">
                <a:solidFill>
                  <a:srgbClr val="E8EDF2"/>
                </a:solidFill>
                <a:latin typeface="Consolas"/>
              </a:rPr>
              <a:t>t</a:t>
            </a:r>
            <a:r>
              <a:rPr sz="1400" i="0">
                <a:solidFill>
                  <a:srgbClr val="AEB6BF"/>
                </a:solidFill>
                <a:latin typeface="Consolas"/>
              </a:rPr>
              <a:t>.</a:t>
            </a:r>
            <a:r>
              <a:rPr sz="1400" i="0">
                <a:solidFill>
                  <a:srgbClr val="E8EDF2"/>
                </a:solidFill>
                <a:latin typeface="Consolas"/>
              </a:rPr>
              <a:t>begin</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t</a:t>
            </a:r>
            <a:r>
              <a:rPr sz="1400" i="0">
                <a:solidFill>
                  <a:srgbClr val="AEB6BF"/>
                </a:solidFill>
                <a:latin typeface="Consolas"/>
              </a:rPr>
              <a:t>.</a:t>
            </a:r>
            <a:r>
              <a:rPr sz="1400" i="0">
                <a:solidFill>
                  <a:srgbClr val="E8EDF2"/>
                </a:solidFill>
                <a:latin typeface="Consolas"/>
              </a:rPr>
              <a:t>end</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t</a:t>
            </a:r>
            <a:r>
              <a:rPr sz="1400" i="0">
                <a:solidFill>
                  <a:srgbClr val="AEB6BF"/>
                </a:solidFill>
                <a:latin typeface="Consolas"/>
              </a:rPr>
              <a:t>[</a:t>
            </a:r>
            <a:r>
              <a:rPr sz="1400" i="0">
                <a:solidFill>
                  <a:srgbClr val="E8EDF2"/>
                </a:solidFill>
                <a:latin typeface="Consolas"/>
              </a:rPr>
              <a:t>t</a:t>
            </a:r>
            <a:r>
              <a:rPr sz="1400" i="0">
                <a:solidFill>
                  <a:srgbClr val="AEB6BF"/>
                </a:solidFill>
                <a:latin typeface="Consolas"/>
              </a:rPr>
              <a:t>.</a:t>
            </a:r>
            <a:r>
              <a:rPr sz="1400" i="0">
                <a:solidFill>
                  <a:srgbClr val="E8EDF2"/>
                </a:solidFill>
                <a:latin typeface="Consolas"/>
              </a:rPr>
              <a:t>size</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27</a:t>
            </a:r>
          </a:p>
          <a:p>
            <a:pPr algn="r">
              <a:lnSpc>
                <a:spcPct val="100000"/>
              </a:lnSpc>
            </a:pPr>
            <a:r>
              <a:rPr sz="1400">
                <a:solidFill>
                  <a:srgbClr val="4F5D6A"/>
                </a:solidFill>
                <a:latin typeface="Consolas"/>
              </a:rPr>
              <a:t>28</a:t>
            </a:r>
          </a:p>
          <a:p>
            <a:pPr algn="r">
              <a:lnSpc>
                <a:spcPct val="100000"/>
              </a:lnSpc>
            </a:pPr>
            <a:r>
              <a:rPr sz="1400">
                <a:solidFill>
                  <a:srgbClr val="4F5D6A"/>
                </a:solidFill>
                <a:latin typeface="Consolas"/>
              </a:rPr>
              <a:t>29</a:t>
            </a:r>
          </a:p>
          <a:p>
            <a:pPr algn="r">
              <a:lnSpc>
                <a:spcPct val="100000"/>
              </a:lnSpc>
            </a:pPr>
            <a:r>
              <a:rPr sz="1400">
                <a:solidFill>
                  <a:srgbClr val="4F5D6A"/>
                </a:solidFill>
                <a:latin typeface="Consolas"/>
              </a:rPr>
              <a:t>30</a:t>
            </a:r>
          </a:p>
          <a:p>
            <a:pPr algn="r">
              <a:lnSpc>
                <a:spcPct val="100000"/>
              </a:lnSpc>
            </a:pPr>
            <a:r>
              <a:rPr sz="1400">
                <a:solidFill>
                  <a:srgbClr val="4F5D6A"/>
                </a:solidFill>
                <a:latin typeface="Consolas"/>
              </a:rPr>
              <a:t>31</a:t>
            </a:r>
          </a:p>
          <a:p>
            <a:pPr algn="r">
              <a:lnSpc>
                <a:spcPct val="100000"/>
              </a:lnSpc>
            </a:pPr>
            <a:r>
              <a:rPr sz="1400">
                <a:solidFill>
                  <a:srgbClr val="4F5D6A"/>
                </a:solidFill>
                <a:latin typeface="Consolas"/>
              </a:rPr>
              <a:t>32</a:t>
            </a:r>
          </a:p>
          <a:p>
            <a:pPr algn="r">
              <a:lnSpc>
                <a:spcPct val="100000"/>
              </a:lnSpc>
            </a:pPr>
            <a:r>
              <a:rPr sz="1400">
                <a:solidFill>
                  <a:srgbClr val="4F5D6A"/>
                </a:solidFill>
                <a:latin typeface="Consolas"/>
              </a:rPr>
              <a:t>33</a:t>
            </a:r>
          </a:p>
          <a:p>
            <a:pPr algn="r">
              <a:lnSpc>
                <a:spcPct val="100000"/>
              </a:lnSpc>
            </a:pPr>
            <a:r>
              <a:rPr sz="1400">
                <a:solidFill>
                  <a:srgbClr val="4F5D6A"/>
                </a:solidFill>
                <a:latin typeface="Consolas"/>
              </a:rPr>
              <a:t>34</a:t>
            </a:r>
          </a:p>
          <a:p>
            <a:pPr algn="r">
              <a:lnSpc>
                <a:spcPct val="100000"/>
              </a:lnSpc>
            </a:pPr>
            <a:r>
              <a:rPr sz="1400">
                <a:solidFill>
                  <a:srgbClr val="4F5D6A"/>
                </a:solidFill>
                <a:latin typeface="Consolas"/>
              </a:rPr>
              <a:t>35</a:t>
            </a:r>
          </a:p>
          <a:p>
            <a:pPr algn="r">
              <a:lnSpc>
                <a:spcPct val="100000"/>
              </a:lnSpc>
            </a:pPr>
            <a:r>
              <a:rPr sz="1400">
                <a:solidFill>
                  <a:srgbClr val="4F5D6A"/>
                </a:solidFill>
                <a:latin typeface="Consolas"/>
              </a:rPr>
              <a:t>36</a:t>
            </a:r>
          </a:p>
          <a:p>
            <a:pPr algn="r">
              <a:lnSpc>
                <a:spcPct val="100000"/>
              </a:lnSpc>
            </a:pPr>
            <a:r>
              <a:rPr sz="1400">
                <a:solidFill>
                  <a:srgbClr val="4F5D6A"/>
                </a:solidFill>
                <a:latin typeface="Consolas"/>
              </a:rPr>
              <a:t>37</a:t>
            </a:r>
          </a:p>
          <a:p>
            <a:pPr algn="r">
              <a:lnSpc>
                <a:spcPct val="100000"/>
              </a:lnSpc>
            </a:pPr>
            <a:r>
              <a:rPr sz="1400">
                <a:solidFill>
                  <a:srgbClr val="4F5D6A"/>
                </a:solidFill>
                <a:latin typeface="Consolas"/>
              </a:rPr>
              <a:t>38</a:t>
            </a:r>
          </a:p>
          <a:p>
            <a:pPr algn="r">
              <a:lnSpc>
                <a:spcPct val="100000"/>
              </a:lnSpc>
            </a:pPr>
            <a:r>
              <a:rPr sz="1400">
                <a:solidFill>
                  <a:srgbClr val="4F5D6A"/>
                </a:solidFill>
                <a:latin typeface="Consolas"/>
              </a:rPr>
              <a:t>39</a:t>
            </a:r>
          </a:p>
          <a:p>
            <a:pPr algn="r">
              <a:lnSpc>
                <a:spcPct val="100000"/>
              </a:lnSpc>
            </a:pPr>
            <a:r>
              <a:rPr sz="1400">
                <a:solidFill>
                  <a:srgbClr val="4F5D6A"/>
                </a:solidFill>
                <a:latin typeface="Consolas"/>
              </a:rPr>
              <a:t>40</a:t>
            </a:r>
          </a:p>
          <a:p>
            <a:pPr algn="r">
              <a:lnSpc>
                <a:spcPct val="100000"/>
              </a:lnSpc>
            </a:pPr>
            <a:r>
              <a:rPr sz="1400">
                <a:solidFill>
                  <a:srgbClr val="4F5D6A"/>
                </a:solidFill>
                <a:latin typeface="Consolas"/>
              </a:rPr>
              <a:t>41</a:t>
            </a:r>
          </a:p>
          <a:p>
            <a:pPr algn="r">
              <a:lnSpc>
                <a:spcPct val="100000"/>
              </a:lnSpc>
            </a:pPr>
            <a:r>
              <a:rPr sz="1400">
                <a:solidFill>
                  <a:srgbClr val="4F5D6A"/>
                </a:solidFill>
                <a:latin typeface="Consolas"/>
              </a:rPr>
              <a:t>42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4040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Growth, Measured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7     </a:t>
            </a:r>
            <a:fld id="{1BAA2D34-2E7F-41D8-B364-20D2909E0905}"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Double n each time, and watch the ratios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code/ch01_growth.cpp</a:t>
            </a:r>
          </a:p>
        </p:txBody>
      </p:sp>
      <p:sp>
        <p:nvSpPr>
          <p:cNvPr id="14" name="!!code-text" descr="// --- 3. Double n each time, and watch the ratios -------------------- // Predicted: 4 for insertion sort, 2 + 2/lg(n) for merge sort. for (size_t n = 1000; n &lt;= 32000; n *= 2) { auto base = random_input(n, 12345); std::vector&lt;int&gt; buf(n); double ti = time_ms([&amp;]{ auto a = base; insertion_sort(a); }, 5); double tm = time_ms([&amp;]{ auto a = base; merge_sort(a, buf, 0, n); }, 5); printf(&quot;%8zu %12.2f %7.2f %12.2f %7.2f\n&quot;, n, ti, ti / prev_i, tm, tm / prev_m); prev_i = ti; prev_m = tm; }"/>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Double n each time, and watch the ratios --------------------</a:t>
            </a:r>
          </a:p>
          <a:p>
            <a:pPr>
              <a:lnSpc>
                <a:spcPct val="100000"/>
              </a:lnSpc>
              <a:spcAft>
                <a:spcPts val="0"/>
              </a:spcAft>
            </a:pPr>
            <a:r>
              <a:rPr sz="1900" i="1">
                <a:solidFill>
                  <a:srgbClr val="8795A1"/>
                </a:solidFill>
                <a:latin typeface="Consolas"/>
              </a:rPr>
              <a:t>// Predicted: 4 for insertion sort, 2 + 2/lg(n) for merge sort.</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size_t</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1000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&lt;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32000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auto</a:t>
            </a:r>
            <a:r>
              <a:rPr sz="1900" i="0">
                <a:solidFill>
                  <a:srgbClr val="E8EDF2"/>
                </a:solidFill>
                <a:latin typeface="Consolas"/>
              </a:rPr>
              <a:t> </a:t>
            </a:r>
            <a:r>
              <a:rPr sz="1900" i="0">
                <a:solidFill>
                  <a:srgbClr val="E8EDF2"/>
                </a:solidFill>
                <a:latin typeface="Consolas"/>
              </a:rPr>
              <a:t>base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random_input</a:t>
            </a:r>
            <a:r>
              <a:rPr sz="1900" i="0">
                <a:solidFill>
                  <a:srgbClr val="AEB6BF"/>
                </a:solidFill>
                <a:latin typeface="Consolas"/>
              </a:rPr>
              <a:t>(</a:t>
            </a:r>
            <a:r>
              <a:rPr sz="1900" i="0">
                <a:solidFill>
                  <a:srgbClr val="E8EDF2"/>
                </a:solidFill>
                <a:latin typeface="Consolas"/>
              </a:rPr>
              <a:t>n</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12345</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std</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vector</a:t>
            </a:r>
            <a:r>
              <a:rPr sz="1900" i="0">
                <a:solidFill>
                  <a:srgbClr val="AEB6BF"/>
                </a:solidFill>
                <a:latin typeface="Consolas"/>
              </a:rPr>
              <a:t>&lt;</a:t>
            </a:r>
            <a:r>
              <a:rPr sz="1900" i="0">
                <a:solidFill>
                  <a:srgbClr val="5DADE2"/>
                </a:solidFill>
                <a:latin typeface="Consolas"/>
              </a:rPr>
              <a:t>int</a:t>
            </a:r>
            <a:r>
              <a:rPr sz="1900" i="0">
                <a:solidFill>
                  <a:srgbClr val="AEB6BF"/>
                </a:solidFill>
                <a:latin typeface="Consolas"/>
              </a:rPr>
              <a:t>&gt;</a:t>
            </a:r>
            <a:r>
              <a:rPr sz="1900" i="0">
                <a:solidFill>
                  <a:srgbClr val="E8EDF2"/>
                </a:solidFill>
                <a:latin typeface="Consolas"/>
              </a:rPr>
              <a:t> </a:t>
            </a:r>
            <a:r>
              <a:rPr sz="1900" i="0">
                <a:solidFill>
                  <a:srgbClr val="E8EDF2"/>
                </a:solidFill>
                <a:latin typeface="Consolas"/>
              </a:rPr>
              <a:t>buf</a:t>
            </a:r>
            <a:r>
              <a:rPr sz="1900" i="0">
                <a:solidFill>
                  <a:srgbClr val="AEB6BF"/>
                </a:solidFill>
                <a:latin typeface="Consolas"/>
              </a:rPr>
              <a:t>(</a:t>
            </a:r>
            <a:r>
              <a:rPr sz="1900" i="0">
                <a:solidFill>
                  <a:srgbClr val="E8EDF2"/>
                </a:solidFill>
                <a:latin typeface="Consolas"/>
              </a:rPr>
              <a:t>n</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double</a:t>
            </a:r>
            <a:r>
              <a:rPr sz="1900" i="0">
                <a:solidFill>
                  <a:srgbClr val="E8EDF2"/>
                </a:solidFill>
                <a:latin typeface="Consolas"/>
              </a:rPr>
              <a:t> </a:t>
            </a:r>
            <a:r>
              <a:rPr sz="1900" i="0">
                <a:solidFill>
                  <a:srgbClr val="E8EDF2"/>
                </a:solidFill>
                <a:latin typeface="Consolas"/>
              </a:rPr>
              <a:t>ti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time_ms</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&amp;</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auto</a:t>
            </a:r>
            <a:r>
              <a:rPr sz="1900" i="0">
                <a:solidFill>
                  <a:srgbClr val="E8EDF2"/>
                </a:solidFill>
                <a:latin typeface="Consolas"/>
              </a:rPr>
              <a:t> </a:t>
            </a:r>
            <a:r>
              <a:rPr sz="1900" i="0">
                <a:solidFill>
                  <a:srgbClr val="E8EDF2"/>
                </a:solidFill>
                <a:latin typeface="Consolas"/>
              </a:rPr>
              <a:t>a</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base</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insertion_sort</a:t>
            </a:r>
            <a:r>
              <a:rPr sz="1900" i="0">
                <a:solidFill>
                  <a:srgbClr val="AEB6BF"/>
                </a:solidFill>
                <a:latin typeface="Consolas"/>
              </a:rPr>
              <a:t>(</a:t>
            </a:r>
            <a:r>
              <a:rPr sz="1900" i="0">
                <a:solidFill>
                  <a:srgbClr val="E8EDF2"/>
                </a:solidFill>
                <a:latin typeface="Consolas"/>
              </a:rPr>
              <a:t>a</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5</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double</a:t>
            </a:r>
            <a:r>
              <a:rPr sz="1900" i="0">
                <a:solidFill>
                  <a:srgbClr val="E8EDF2"/>
                </a:solidFill>
                <a:latin typeface="Consolas"/>
              </a:rPr>
              <a:t> </a:t>
            </a:r>
            <a:r>
              <a:rPr sz="1900" i="0">
                <a:solidFill>
                  <a:srgbClr val="E8EDF2"/>
                </a:solidFill>
                <a:latin typeface="Consolas"/>
              </a:rPr>
              <a:t>tm</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time_ms</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&amp;</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auto</a:t>
            </a:r>
            <a:r>
              <a:rPr sz="1900" i="0">
                <a:solidFill>
                  <a:srgbClr val="E8EDF2"/>
                </a:solidFill>
                <a:latin typeface="Consolas"/>
              </a:rPr>
              <a:t> </a:t>
            </a:r>
            <a:r>
              <a:rPr sz="1900" i="0">
                <a:solidFill>
                  <a:srgbClr val="E8EDF2"/>
                </a:solidFill>
                <a:latin typeface="Consolas"/>
              </a:rPr>
              <a:t>a</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base</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merge_sort</a:t>
            </a:r>
            <a:r>
              <a:rPr sz="1900" i="0">
                <a:solidFill>
                  <a:srgbClr val="AEB6BF"/>
                </a:solidFill>
                <a:latin typeface="Consolas"/>
              </a:rPr>
              <a:t>(</a:t>
            </a:r>
            <a:r>
              <a:rPr sz="1900" i="0">
                <a:solidFill>
                  <a:srgbClr val="E8EDF2"/>
                </a:solidFill>
                <a:latin typeface="Consolas"/>
              </a:rPr>
              <a:t>a</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buf</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5</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printf</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%8zu %12.2f %7.2f %12.2f %7.2f</a:t>
            </a:r>
            <a:r>
              <a:rPr sz="1900" i="0">
                <a:solidFill>
                  <a:srgbClr val="7DCEA0"/>
                </a:solidFill>
                <a:latin typeface="Consolas"/>
              </a:rPr>
              <a:t>\n</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n</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ti</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prev_i</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tm</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tm</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prev_m</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prev_i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ti</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prev_m</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tm</a:t>
            </a:r>
            <a:r>
              <a:rPr sz="1900" i="0">
                <a:solidFill>
                  <a:srgbClr val="AEB6BF"/>
                </a:solidFill>
                <a:latin typeface="Consolas"/>
              </a:rPr>
              <a:t>;</a:t>
            </a:r>
          </a:p>
          <a:p>
            <a:pPr>
              <a:lnSpc>
                <a:spcPct val="100000"/>
              </a:lnSpc>
              <a:spcAft>
                <a:spcPts val="0"/>
              </a:spcAft>
            </a:pPr>
            <a:r>
              <a:rPr sz="19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a:p>
            <a:pPr algn="r">
              <a:lnSpc>
                <a:spcPct val="100000"/>
              </a:lnSpc>
            </a:pPr>
            <a:r>
              <a:rPr sz="1900">
                <a:solidFill>
                  <a:srgbClr val="4F5D6A"/>
                </a:solidFill>
                <a:latin typeface="Consolas"/>
              </a:rPr>
              <a:t>51</a:t>
            </a:r>
          </a:p>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a:p>
            <a:pPr algn="r">
              <a:lnSpc>
                <a:spcPct val="100000"/>
              </a:lnSpc>
            </a:pPr>
            <a:r>
              <a:rPr sz="1900">
                <a:solidFill>
                  <a:srgbClr val="4F5D6A"/>
                </a:solidFill>
                <a:latin typeface="Consolas"/>
              </a:rPr>
              <a:t>54</a:t>
            </a:r>
          </a:p>
          <a:p>
            <a:pPr algn="r">
              <a:lnSpc>
                <a:spcPct val="100000"/>
              </a:lnSpc>
            </a:pPr>
            <a:r>
              <a:rPr sz="1900">
                <a:solidFill>
                  <a:srgbClr val="4F5D6A"/>
                </a:solidFill>
                <a:latin typeface="Consolas"/>
              </a:rPr>
              <a:t>55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530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Growth, Measured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7     </a:t>
            </a:r>
            <a:fld id="{2758C9F7-84C3-4224-AC91-DA35AB314A8F}"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Now find where they cross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code/ch01_growth.cpp</a:t>
            </a:r>
          </a:p>
        </p:txBody>
      </p:sp>
      <p:sp>
        <p:nvSpPr>
          <p:cNvPr id="14" name="!!code-text" descr="// --- 4. Now find where they cross ----------------------------------- // The other half of the point: below the crossover the &quot;worse&quot; // algorithm is faster, and every production sort knows it. for (size_t n = 10; n &lt;= 200; n += 10) { /* same two timings, many more repetitions because the times are microseconds; print both and mark which one won */ }"/>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Now find where they cross -----------------------------------</a:t>
            </a:r>
          </a:p>
          <a:p>
            <a:pPr>
              <a:lnSpc>
                <a:spcPct val="100000"/>
              </a:lnSpc>
              <a:spcAft>
                <a:spcPts val="0"/>
              </a:spcAft>
            </a:pPr>
            <a:r>
              <a:rPr sz="1900" i="1">
                <a:solidFill>
                  <a:srgbClr val="8795A1"/>
                </a:solidFill>
                <a:latin typeface="Consolas"/>
              </a:rPr>
              <a:t>// The other half of the point: below the crossover the "worse"</a:t>
            </a:r>
          </a:p>
          <a:p>
            <a:pPr>
              <a:lnSpc>
                <a:spcPct val="100000"/>
              </a:lnSpc>
              <a:spcAft>
                <a:spcPts val="0"/>
              </a:spcAft>
            </a:pPr>
            <a:r>
              <a:rPr sz="1900" i="1">
                <a:solidFill>
                  <a:srgbClr val="8795A1"/>
                </a:solidFill>
                <a:latin typeface="Consolas"/>
              </a:rPr>
              <a:t>// algorithm is faster, and every production sort knows it.</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size_t</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&lt;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200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10</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1">
                <a:solidFill>
                  <a:srgbClr val="8795A1"/>
                </a:solidFill>
                <a:latin typeface="Consolas"/>
              </a:rPr>
              <a:t>/* same two timings, many more repetitions because the times</a:t>
            </a:r>
          </a:p>
          <a:p>
            <a:pPr>
              <a:lnSpc>
                <a:spcPct val="100000"/>
              </a:lnSpc>
              <a:spcAft>
                <a:spcPts val="0"/>
              </a:spcAft>
            </a:pPr>
            <a:r>
              <a:rPr sz="1900" i="1">
                <a:solidFill>
                  <a:srgbClr val="8795A1"/>
                </a:solidFill>
                <a:latin typeface="Consolas"/>
              </a:rPr>
              <a:t>       are microseconds; print both and mark which one won */</a:t>
            </a:r>
          </a:p>
          <a:p>
            <a:pPr>
              <a:lnSpc>
                <a:spcPct val="100000"/>
              </a:lnSpc>
              <a:spcAft>
                <a:spcPts val="0"/>
              </a:spcAft>
            </a:pPr>
            <a:r>
              <a:rPr sz="1900" i="0">
                <a:solidFill>
                  <a:srgbClr val="AEB6BF"/>
                </a:solidFill>
                <a:latin typeface="Consolas"/>
              </a:rPr>
              <a:t>}</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57</a:t>
            </a:r>
          </a:p>
          <a:p>
            <a:pPr algn="r">
              <a:lnSpc>
                <a:spcPct val="100000"/>
              </a:lnSpc>
            </a:pPr>
            <a:r>
              <a:rPr sz="1900">
                <a:solidFill>
                  <a:srgbClr val="4F5D6A"/>
                </a:solidFill>
                <a:latin typeface="Consolas"/>
              </a:rPr>
              <a:t>58</a:t>
            </a:r>
          </a:p>
          <a:p>
            <a:pPr algn="r">
              <a:lnSpc>
                <a:spcPct val="100000"/>
              </a:lnSpc>
            </a:pPr>
            <a:r>
              <a:rPr sz="1900">
                <a:solidFill>
                  <a:srgbClr val="4F5D6A"/>
                </a:solidFill>
                <a:latin typeface="Consolas"/>
              </a:rPr>
              <a:t>59</a:t>
            </a:r>
          </a:p>
          <a:p>
            <a:pPr algn="r">
              <a:lnSpc>
                <a:spcPct val="100000"/>
              </a:lnSpc>
            </a:pPr>
            <a:r>
              <a:rPr sz="1900">
                <a:solidFill>
                  <a:srgbClr val="4F5D6A"/>
                </a:solidFill>
                <a:latin typeface="Consolas"/>
              </a:rPr>
              <a:t>60</a:t>
            </a:r>
          </a:p>
          <a:p>
            <a:pPr algn="r">
              <a:lnSpc>
                <a:spcPct val="100000"/>
              </a:lnSpc>
            </a:pPr>
            <a:r>
              <a:rPr sz="1900">
                <a:solidFill>
                  <a:srgbClr val="4F5D6A"/>
                </a:solidFill>
                <a:latin typeface="Consolas"/>
              </a:rPr>
              <a:t>61</a:t>
            </a:r>
          </a:p>
          <a:p>
            <a:pPr algn="r">
              <a:lnSpc>
                <a:spcPct val="100000"/>
              </a:lnSpc>
            </a:pPr>
            <a:r>
              <a:rPr sz="1900">
                <a:solidFill>
                  <a:srgbClr val="4F5D6A"/>
                </a:solidFill>
                <a:latin typeface="Consolas"/>
              </a:rPr>
              <a:t>62</a:t>
            </a:r>
          </a:p>
          <a:p>
            <a:pPr algn="r">
              <a:lnSpc>
                <a:spcPct val="100000"/>
              </a:lnSpc>
            </a:pPr>
            <a:r>
              <a:rPr sz="1900">
                <a:solidFill>
                  <a:srgbClr val="4F5D6A"/>
                </a:solidFill>
                <a:latin typeface="Consolas"/>
              </a:rPr>
              <a:t>63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6561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§1.5  ·  Handout p. 7     </a:t>
            </a:r>
            <a:fld id="{5FD48BF6-B7A0-43A0-93C7-885D06BCD823}" type="slidenum">
              <a:rPr lang="en-GB" sz="1000">
                <a:solidFill>
                  <a:srgbClr val="8795A1"/>
                </a:solidFill>
                <a:latin typeface="Segoe UI"/>
              </a:rPr>
              <a:t>30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Your absolute times will differ from the book’s — a different processor, a different compiler, a different afternoon. The </a:t>
            </a:r>
            <a:r>
              <a:rPr sz="2300" b="0" i="1">
                <a:solidFill>
                  <a:srgbClr val="1C252B"/>
                </a:solidFill>
                <a:latin typeface="Segoe UI"/>
              </a:rPr>
              <a:t>ratios</a:t>
            </a:r>
            <a:r>
              <a:rPr sz="2300" b="0" i="0">
                <a:solidFill>
                  <a:srgbClr val="1C252B"/>
                </a:solidFill>
                <a:latin typeface="Segoe UI"/>
              </a:rPr>
              <a:t> should not. If your insertion-sort column is not near 4, something is wrong with the measurement, not with the theory: check that you built with optimisation on, and that nothing else was running.</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37822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An algorithm takes 3 seconds on an input of size 1,000 and 48 seconds on an input of size 4,000. What is its order of growth, and how did you decide?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  ·  The Role of Algorithms, and What Efficient Means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  ·  answers in Appendix D     </a:t>
            </a:r>
            <a:fld id="{712DC611-688B-4A1C-A6EA-0376A5071537}"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Computer A runs </a:t>
            </a:r>
            <a:r>
              <a:rPr sz="3400" b="0" i="1">
                <a:solidFill>
                  <a:srgbClr val="FFFFFF"/>
                </a:solidFill>
                <a:latin typeface="Cambria"/>
              </a:rPr>
              <a:t>n</a:t>
            </a:r>
            <a:r>
              <a:rPr sz="2250" b="0" i="0" baseline="30000">
                <a:solidFill>
                  <a:srgbClr val="FFFFFF"/>
                </a:solidFill>
                <a:latin typeface="Cambria"/>
              </a:rPr>
              <a:t>3</a:t>
            </a:r>
            <a:r>
              <a:rPr sz="3400" b="0" i="0">
                <a:solidFill>
                  <a:srgbClr val="FFFFFF"/>
                </a:solidFill>
                <a:latin typeface="Segoe UI Semibold"/>
              </a:rPr>
              <a:t> operations at </a:t>
            </a:r>
            <a:r>
              <a:rPr sz="3400" b="0" i="0">
                <a:solidFill>
                  <a:srgbClr val="FFFFFF"/>
                </a:solidFill>
                <a:latin typeface="Cambria"/>
              </a:rPr>
              <a:t>10</a:t>
            </a:r>
            <a:r>
              <a:rPr sz="2250" b="0" i="0" baseline="30000">
                <a:solidFill>
                  <a:srgbClr val="FFFFFF"/>
                </a:solidFill>
                <a:latin typeface="Cambria"/>
              </a:rPr>
              <a:t>9</a:t>
            </a:r>
            <a:r>
              <a:rPr sz="3400" b="0" i="0">
                <a:solidFill>
                  <a:srgbClr val="FFFFFF"/>
                </a:solidFill>
                <a:latin typeface="Segoe UI Semibold"/>
              </a:rPr>
              <a:t> per second; computer B runs </a:t>
            </a:r>
            <a:r>
              <a:rPr sz="3400" b="0" i="0">
                <a:solidFill>
                  <a:srgbClr val="FFFFFF"/>
                </a:solidFill>
                <a:latin typeface="Cambria"/>
              </a:rPr>
              <a:t>100 </a:t>
            </a:r>
            <a:r>
              <a:rPr sz="3400" b="0" i="1">
                <a:solidFill>
                  <a:srgbClr val="FFFFFF"/>
                </a:solidFill>
                <a:latin typeface="Cambria"/>
              </a:rPr>
              <a:t>n</a:t>
            </a:r>
            <a:r>
              <a:rPr sz="2250" b="0" i="0" baseline="30000">
                <a:solidFill>
                  <a:srgbClr val="FFFFFF"/>
                </a:solidFill>
                <a:latin typeface="Cambria"/>
              </a:rPr>
              <a:t>2</a:t>
            </a:r>
            <a:r>
              <a:rPr sz="3400" b="0" i="0">
                <a:solidFill>
                  <a:srgbClr val="FFFFFF"/>
                </a:solidFill>
                <a:latin typeface="Segoe UI Semibold"/>
              </a:rPr>
              <a:t> at </a:t>
            </a:r>
            <a:r>
              <a:rPr sz="3400" b="0" i="0">
                <a:solidFill>
                  <a:srgbClr val="FFFFFF"/>
                </a:solidFill>
                <a:latin typeface="Cambria"/>
              </a:rPr>
              <a:t>10</a:t>
            </a:r>
            <a:r>
              <a:rPr sz="2250" b="0" i="0" baseline="30000">
                <a:solidFill>
                  <a:srgbClr val="FFFFFF"/>
                </a:solidFill>
                <a:latin typeface="Cambria"/>
              </a:rPr>
              <a:t>7</a:t>
            </a:r>
            <a:r>
              <a:rPr sz="3400" b="0" i="0">
                <a:solidFill>
                  <a:srgbClr val="FFFFFF"/>
                </a:solidFill>
                <a:latin typeface="Segoe UI Semibold"/>
              </a:rPr>
              <a:t> per second. At </a:t>
            </a:r>
            <a:r>
              <a:rPr sz="3400" b="0" i="1">
                <a:solidFill>
                  <a:srgbClr val="FFFFFF"/>
                </a:solidFill>
                <a:latin typeface="Cambria"/>
              </a:rPr>
              <a:t>n</a:t>
            </a:r>
            <a:r>
              <a:rPr sz="3400" b="0" i="0">
                <a:solidFill>
                  <a:srgbClr val="FFFFFF"/>
                </a:solidFill>
                <a:latin typeface="Cambria"/>
              </a:rPr>
              <a:t> = 10</a:t>
            </a:r>
            <a:r>
              <a:rPr sz="2250" b="0" i="0" baseline="30000">
                <a:solidFill>
                  <a:srgbClr val="FFFFFF"/>
                </a:solidFill>
                <a:latin typeface="Cambria"/>
              </a:rPr>
              <a:t>4</a:t>
            </a:r>
            <a:r>
              <a:rPr sz="3400" b="0" i="0">
                <a:solidFill>
                  <a:srgbClr val="FFFFFF"/>
                </a:solidFill>
                <a:latin typeface="Segoe UI Semibold"/>
              </a:rPr>
              <a:t>, which finishes first, and by what factor?</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  ·  The Role of Algorithms, and What Efficient Means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  ·  answers in Appendix D     </a:t>
            </a:r>
            <a:fld id="{9CE39E06-0982-4BDE-83D0-1156F300F370}"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The RAM model prices a cache hit and a main-memory access the same, although they differ by a factor of about fifty. Give one situation in which that lie is harmless and one in which it is not.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  ·  The Role of Algorithms, and What Efficient Means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10  ·  answers in Appendix D     </a:t>
            </a:r>
            <a:fld id="{26B14C40-0F5C-468C-9506-16DA1EFCD91F}"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4C98A6E0-C14E-4C11-93C9-259588E995E2}" type="slidenum">
              <a:rPr lang="en-GB" sz="1000">
                <a:solidFill>
                  <a:srgbClr val="8795A1"/>
                </a:solidFill>
                <a:latin typeface="Segoe UI"/>
              </a:rPr>
              <a:t>34</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problem is a specification, an instance is one input, an algorithm is a procedure correct on </a:t>
            </a:r>
            <a:r>
              <a:rPr sz="1700" b="0" i="1">
                <a:solidFill>
                  <a:srgbClr val="1C252B"/>
                </a:solidFill>
                <a:latin typeface="Segoe UI"/>
              </a:rPr>
              <a:t>every</a:t>
            </a:r>
            <a:r>
              <a:rPr sz="1700" b="0" i="0">
                <a:solidFill>
                  <a:srgbClr val="1C252B"/>
                </a:solidFill>
                <a:latin typeface="Segoe UI"/>
              </a:rPr>
              <a:t> instance. A program implements an algorithm; this book analyses the second and measures the first.</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RAM model costs every primitive operation at one unit. All three of its assumptions are false of real hardware, and all three are constant factors — which is why the model is still the right one.</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We ask how running time </a:t>
            </a:r>
            <a:r>
              <a:rPr sz="1700" b="0" i="1">
                <a:solidFill>
                  <a:srgbClr val="1C252B"/>
                </a:solidFill>
                <a:latin typeface="Segoe UI"/>
              </a:rPr>
              <a:t>grows</a:t>
            </a:r>
            <a:r>
              <a:rPr sz="1700" b="0" i="0">
                <a:solidFill>
                  <a:srgbClr val="1C252B"/>
                </a:solidFill>
                <a:latin typeface="Segoe UI"/>
              </a:rPr>
              <a:t>, not what it is, because the growth is the part that survives a change of machine.</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Constants buy a bounded advantage; a better order of growth buys an unbounded one. A computer 1,000 times faster still lost by a factor of 17, and the crossover was at </a:t>
            </a:r>
            <a:r>
              <a:rPr sz="1700" b="0" i="1">
                <a:solidFill>
                  <a:srgbClr val="1C252B"/>
                </a:solidFill>
                <a:latin typeface="Cambria"/>
              </a:rPr>
              <a:t>n</a:t>
            </a:r>
            <a:r>
              <a:rPr sz="1700" b="0" i="0">
                <a:solidFill>
                  <a:srgbClr val="1C252B"/>
                </a:solidFill>
                <a:latin typeface="Cambria"/>
              </a:rPr>
              <a:t> ≈ 471,000</a:t>
            </a:r>
            <a:r>
              <a:rPr sz="1700" b="0" i="0">
                <a:solidFill>
                  <a:srgbClr val="1C252B"/>
                </a:solidFill>
                <a:latin typeface="Segoe UI"/>
              </a:rPr>
              <a:t>.</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Doubling the input multiplies a quadratic time by 4 and an </a:t>
            </a:r>
            <a:r>
              <a:rPr sz="1700" b="0" i="1">
                <a:solidFill>
                  <a:srgbClr val="1C252B"/>
                </a:solidFill>
                <a:latin typeface="Cambria"/>
              </a:rPr>
              <a:t>n</a:t>
            </a:r>
            <a:r>
              <a:rPr sz="1700" b="0" i="0">
                <a:solidFill>
                  <a:srgbClr val="1C252B"/>
                </a:solidFill>
                <a:latin typeface="Cambria"/>
              </a:rPr>
              <a:t> lg </a:t>
            </a:r>
            <a:r>
              <a:rPr sz="1700" b="0" i="1">
                <a:solidFill>
                  <a:srgbClr val="1C252B"/>
                </a:solidFill>
                <a:latin typeface="Cambria"/>
              </a:rPr>
              <a:t>n</a:t>
            </a:r>
            <a:r>
              <a:rPr sz="1700" b="0" i="0">
                <a:solidFill>
                  <a:srgbClr val="1C252B"/>
                </a:solidFill>
                <a:latin typeface="Segoe UI"/>
              </a:rPr>
              <a:t> time by </a:t>
            </a:r>
            <a:r>
              <a:rPr sz="1700" b="0" i="0">
                <a:solidFill>
                  <a:srgbClr val="1C252B"/>
                </a:solidFill>
                <a:latin typeface="Cambria"/>
              </a:rPr>
              <a:t>2 + 2/lg </a:t>
            </a:r>
            <a:r>
              <a:rPr sz="1700" b="0" i="1">
                <a:solidFill>
                  <a:srgbClr val="1C252B"/>
                </a:solidFill>
                <a:latin typeface="Cambria"/>
              </a:rPr>
              <a:t>n</a:t>
            </a:r>
            <a:r>
              <a:rPr sz="1700" b="0" i="0">
                <a:solidFill>
                  <a:srgbClr val="1C252B"/>
                </a:solidFill>
                <a:latin typeface="Segoe UI"/>
              </a:rPr>
              <a:t>. Measured on this machine: 3.96 and 2.17.</a:t>
            </a:r>
          </a:p>
        </p:txBody>
      </p:sp>
      <p:sp>
        <p:nvSpPr>
          <p:cNvPr id="22" name="!!sb5">
            <a:extLst>
              <a:ext uri="{C183D7F6-B498-43B3-948B-1728B52AA6E4}">
                <adec:decorative xmlns:adec="http://schemas.microsoft.com/office/drawing/2017/decorative" val="1"/>
              </a:ext>
            </a:extLst>
          </p:cNvPr>
          <p:cNvSpPr/>
          <p:nvPr/>
        </p:nvSpPr>
        <p:spPr>
          <a:xfrm>
            <a:off x="658368" y="53553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102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461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Below </a:t>
            </a:r>
            <a:r>
              <a:rPr sz="1700" b="0" i="1">
                <a:solidFill>
                  <a:srgbClr val="1C252B"/>
                </a:solidFill>
                <a:latin typeface="Cambria"/>
              </a:rPr>
              <a:t>n</a:t>
            </a:r>
            <a:r>
              <a:rPr sz="1700" b="0" i="0">
                <a:solidFill>
                  <a:srgbClr val="1C252B"/>
                </a:solidFill>
                <a:latin typeface="Cambria"/>
              </a:rPr>
              <a:t> ≈ 65</a:t>
            </a:r>
            <a:r>
              <a:rPr sz="1700" b="0" i="0">
                <a:solidFill>
                  <a:srgbClr val="1C252B"/>
                </a:solidFill>
                <a:latin typeface="Segoe UI"/>
              </a:rPr>
              <a:t> insertion sort beat merge sort on the same machine. Asymptotics describe the limit, and the limit is not everywhere.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62865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8F2F9C95-61C1-4364-A59E-DDBEA3D6C9AD}" type="slidenum">
              <a:rPr lang="en-GB" sz="1000">
                <a:solidFill>
                  <a:srgbClr val="8795A1"/>
                </a:solidFill>
                <a:latin typeface="Segoe UI"/>
              </a:rPr>
              <a:t>35</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 with optimisation on, several times, and report the median.</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094126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F42DE3CD-4444-46C9-A891-F22FE2ED400A}" type="slidenum">
              <a:rPr lang="en-GB" sz="1000">
                <a:solidFill>
                  <a:srgbClr val="8795A1"/>
                </a:solidFill>
                <a:latin typeface="Segoe UI"/>
              </a:rPr>
              <a:t>36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RAM model assumes: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memory access is free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every primitive operation costs one unit of time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instructions execute in parallel</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arithmetic is exact to arbitrary precision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5387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CEE88CD1-3AC9-4014-97BB-1626C94D2A80}"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If </a:t>
            </a:r>
            <a:r>
              <a:rPr sz="2600" b="0" i="1">
                <a:solidFill>
                  <a:srgbClr val="1C252B"/>
                </a:solidFill>
                <a:latin typeface="Cambria"/>
              </a:rPr>
              <a:t>T</a:t>
            </a:r>
            <a:r>
              <a:rPr sz="2600" b="0" i="0">
                <a:solidFill>
                  <a:srgbClr val="1C252B"/>
                </a:solidFill>
                <a:latin typeface="Cambria"/>
              </a:rPr>
              <a:t>(</a:t>
            </a:r>
            <a:r>
              <a:rPr sz="2600" b="0" i="1">
                <a:solidFill>
                  <a:srgbClr val="1C252B"/>
                </a:solidFill>
                <a:latin typeface="Cambria"/>
              </a:rPr>
              <a:t>n</a:t>
            </a:r>
            <a:r>
              <a:rPr sz="2600" b="0" i="0">
                <a:solidFill>
                  <a:srgbClr val="1C252B"/>
                </a:solidFill>
                <a:latin typeface="Cambria"/>
              </a:rPr>
              <a:t>) = </a:t>
            </a:r>
            <a:r>
              <a:rPr sz="2600" b="0" i="1">
                <a:solidFill>
                  <a:srgbClr val="1C252B"/>
                </a:solidFill>
                <a:latin typeface="Cambria"/>
              </a:rPr>
              <a:t>cn</a:t>
            </a:r>
            <a:r>
              <a:rPr sz="1700" b="0" i="0" baseline="30000">
                <a:solidFill>
                  <a:srgbClr val="1C252B"/>
                </a:solidFill>
                <a:latin typeface="Cambria"/>
              </a:rPr>
              <a:t>2</a:t>
            </a:r>
            <a:r>
              <a:rPr sz="2600" b="0" i="0">
                <a:solidFill>
                  <a:srgbClr val="1C252B"/>
                </a:solidFill>
                <a:latin typeface="Segoe UI"/>
              </a:rPr>
              <a:t>, then </a:t>
            </a:r>
            <a:r>
              <a:rPr sz="2600" b="0" i="1">
                <a:solidFill>
                  <a:srgbClr val="1C252B"/>
                </a:solidFill>
                <a:latin typeface="Cambria"/>
              </a:rPr>
              <a:t>T</a:t>
            </a:r>
            <a:r>
              <a:rPr sz="2600" b="0" i="0">
                <a:solidFill>
                  <a:srgbClr val="1C252B"/>
                </a:solidFill>
                <a:latin typeface="Cambria"/>
              </a:rPr>
              <a:t>(2</a:t>
            </a:r>
            <a:r>
              <a:rPr sz="2600" b="0" i="1">
                <a:solidFill>
                  <a:srgbClr val="1C252B"/>
                </a:solidFill>
                <a:latin typeface="Cambria"/>
              </a:rPr>
              <a:t>n</a:t>
            </a:r>
            <a:r>
              <a:rPr sz="2600" b="0" i="0">
                <a:solidFill>
                  <a:srgbClr val="1C252B"/>
                </a:solidFill>
                <a:latin typeface="Cambria"/>
              </a:rPr>
              <a:t>)/</a:t>
            </a:r>
            <a:r>
              <a:rPr sz="2600" b="0" i="1">
                <a:solidFill>
                  <a:srgbClr val="1C252B"/>
                </a:solidFill>
                <a:latin typeface="Cambria"/>
              </a:rPr>
              <a:t>T</a:t>
            </a:r>
            <a:r>
              <a:rPr sz="2600" b="0" i="0">
                <a:solidFill>
                  <a:srgbClr val="1C252B"/>
                </a:solidFill>
                <a:latin typeface="Cambria"/>
              </a:rPr>
              <a:t>(</a:t>
            </a:r>
            <a:r>
              <a:rPr sz="2600" b="0" i="1">
                <a:solidFill>
                  <a:srgbClr val="1C252B"/>
                </a:solidFill>
                <a:latin typeface="Cambria"/>
              </a:rPr>
              <a:t>n</a:t>
            </a:r>
            <a:r>
              <a:rPr sz="2600" b="0" i="0">
                <a:solidFill>
                  <a:srgbClr val="1C252B"/>
                </a:solidFill>
                <a:latin typeface="Cambria"/>
              </a:rPr>
              <a:t>)</a:t>
            </a:r>
            <a:r>
              <a:rPr sz="2600" b="0" i="0">
                <a:solidFill>
                  <a:srgbClr val="1C252B"/>
                </a:solidFill>
                <a:latin typeface="Segoe UI"/>
              </a:rPr>
              <a:t> equals: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2</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2 + 2/lg </a:t>
            </a:r>
            <a:r>
              <a:rPr sz="2000" b="0" i="1">
                <a:solidFill>
                  <a:srgbClr val="1C252B"/>
                </a:solidFill>
                <a:latin typeface="Cambria"/>
              </a:rPr>
              <a:t>n</a:t>
            </a:r>
            <a:r>
              <a:rPr sz="2000" b="0" i="0">
                <a:solidFill>
                  <a:srgbClr val="1C252B"/>
                </a:solidFill>
                <a:latin typeface="Segoe UI"/>
              </a:rPr>
              <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4</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depends on </a:t>
            </a:r>
            <a:r>
              <a:rPr sz="2000" b="0" i="1">
                <a:solidFill>
                  <a:srgbClr val="1C252B"/>
                </a:solidFill>
                <a:latin typeface="Cambria"/>
              </a:rPr>
              <a:t>c</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6648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1  ·  The Role of Algorithms, and What Efficient Means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10     </a:t>
            </a:r>
            <a:fld id="{5DC155E4-054C-48CA-A707-EEF5544909CA}" type="slidenum">
              <a:rPr lang="en-GB" sz="1000">
                <a:solidFill>
                  <a:srgbClr val="8795A1"/>
                </a:solidFill>
                <a:latin typeface="Segoe UI"/>
              </a:rPr>
              <a:t>38</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28529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Explain why discarding constant factors makes an analysis </a:t>
            </a:r>
            <a:r>
              <a:rPr sz="1800" b="0" i="1">
                <a:solidFill>
                  <a:srgbClr val="1C252B"/>
                </a:solidFill>
                <a:latin typeface="Segoe UI"/>
              </a:rPr>
              <a:t>more</a:t>
            </a:r>
            <a:r>
              <a:rPr sz="1800" b="0" i="0">
                <a:solidFill>
                  <a:srgbClr val="1C252B"/>
                </a:solidFill>
                <a:latin typeface="Segoe UI"/>
              </a:rPr>
              <a:t> useful rather than less.</a:t>
            </a:r>
          </a:p>
        </p:txBody>
      </p:sp>
      <p:sp>
        <p:nvSpPr>
          <p:cNvPr id="10" name="!!rt1">
            <a:extLst>
              <a:ext uri="{C183D7F6-B498-43B3-948B-1728B52AA6E4}">
                <adec:decorative xmlns:adec="http://schemas.microsoft.com/office/drawing/2017/decorative" val="1"/>
              </a:ext>
            </a:extLst>
          </p:cNvPr>
          <p:cNvSpPr/>
          <p:nvPr/>
        </p:nvSpPr>
        <p:spPr>
          <a:xfrm>
            <a:off x="658368" y="226039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0154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42108"/>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Give the three assumptions of the RAM model and, for each, one way real hardware violates it.</a:t>
            </a:r>
          </a:p>
        </p:txBody>
      </p:sp>
      <p:sp>
        <p:nvSpPr>
          <p:cNvPr id="13" name="!!rt2">
            <a:extLst>
              <a:ext uri="{C183D7F6-B498-43B3-948B-1728B52AA6E4}">
                <adec:decorative xmlns:adec="http://schemas.microsoft.com/office/drawing/2017/decorative" val="1"/>
              </a:ext>
            </a:extLst>
          </p:cNvPr>
          <p:cNvSpPr/>
          <p:nvPr/>
        </p:nvSpPr>
        <p:spPr>
          <a:xfrm>
            <a:off x="658368" y="305043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09158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32150"/>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colleague says “we do not need a better algorithm, we will buy a faster server”. Give the shortest argument that settles the question, and say what information you would need first.</a:t>
            </a:r>
          </a:p>
        </p:txBody>
      </p:sp>
      <p:sp>
        <p:nvSpPr>
          <p:cNvPr id="16" name="!!rt3">
            <a:extLst>
              <a:ext uri="{C183D7F6-B498-43B3-948B-1728B52AA6E4}">
                <adec:decorative xmlns:adec="http://schemas.microsoft.com/office/drawing/2017/decorative" val="1"/>
              </a:ext>
            </a:extLst>
          </p:cNvPr>
          <p:cNvSpPr/>
          <p:nvPr/>
        </p:nvSpPr>
        <p:spPr>
          <a:xfrm>
            <a:off x="658368" y="3840479"/>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88162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822191"/>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Algorithm P takes </a:t>
            </a:r>
            <a:r>
              <a:rPr sz="1800" b="0" i="0">
                <a:solidFill>
                  <a:srgbClr val="1C252B"/>
                </a:solidFill>
                <a:latin typeface="Cambria"/>
              </a:rPr>
              <a:t>0.5 </a:t>
            </a:r>
            <a:r>
              <a:rPr sz="1800" b="0" i="1">
                <a:solidFill>
                  <a:srgbClr val="1C252B"/>
                </a:solidFill>
                <a:latin typeface="Cambria"/>
              </a:rPr>
              <a:t>n</a:t>
            </a:r>
            <a:r>
              <a:rPr sz="1200" b="0" i="0" baseline="30000">
                <a:solidFill>
                  <a:srgbClr val="1C252B"/>
                </a:solidFill>
                <a:latin typeface="Cambria"/>
              </a:rPr>
              <a:t>2</a:t>
            </a:r>
            <a:r>
              <a:rPr sz="1800" b="0" i="0">
                <a:solidFill>
                  <a:srgbClr val="1C252B"/>
                </a:solidFill>
                <a:latin typeface="Segoe UI"/>
              </a:rPr>
              <a:t> operations and algorithm Q takes </a:t>
            </a:r>
            <a:r>
              <a:rPr sz="1800" b="0" i="0">
                <a:solidFill>
                  <a:srgbClr val="1C252B"/>
                </a:solidFill>
                <a:latin typeface="Cambria"/>
              </a:rPr>
              <a:t>200 </a:t>
            </a:r>
            <a:r>
              <a:rPr sz="1800" b="0" i="1">
                <a:solidFill>
                  <a:srgbClr val="1C252B"/>
                </a:solidFill>
                <a:latin typeface="Cambria"/>
              </a:rPr>
              <a:t>n</a:t>
            </a:r>
            <a:r>
              <a:rPr sz="1800" b="0" i="0">
                <a:solidFill>
                  <a:srgbClr val="1C252B"/>
                </a:solidFill>
                <a:latin typeface="Cambria"/>
              </a:rPr>
              <a:t> lg </a:t>
            </a:r>
            <a:r>
              <a:rPr sz="1800" b="0" i="1">
                <a:solidFill>
                  <a:srgbClr val="1C252B"/>
                </a:solidFill>
                <a:latin typeface="Cambria"/>
              </a:rPr>
              <a:t>n</a:t>
            </a:r>
            <a:r>
              <a:rPr sz="1800" b="0" i="0">
                <a:solidFill>
                  <a:srgbClr val="1C252B"/>
                </a:solidFill>
                <a:latin typeface="Segoe UI"/>
              </a:rPr>
              <a:t>. Find the input size at which Q overtakes P, showing the iteration. Then say what you would recommend to a team whose inputs never exceed 2,000.</a:t>
            </a:r>
          </a:p>
        </p:txBody>
      </p:sp>
      <p:sp>
        <p:nvSpPr>
          <p:cNvPr id="19" name="!!rt4">
            <a:extLst>
              <a:ext uri="{C183D7F6-B498-43B3-948B-1728B52AA6E4}">
                <adec:decorative xmlns:adec="http://schemas.microsoft.com/office/drawing/2017/decorative" val="1"/>
              </a:ext>
            </a:extLst>
          </p:cNvPr>
          <p:cNvSpPr/>
          <p:nvPr/>
        </p:nvSpPr>
        <p:spPr>
          <a:xfrm>
            <a:off x="658368" y="4915814"/>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95696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897526"/>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Design a measurement that would distinguish an </a:t>
            </a:r>
            <a:r>
              <a:rPr sz="1800" b="0" i="0">
                <a:solidFill>
                  <a:srgbClr val="1C252B"/>
                </a:solidFill>
                <a:latin typeface="Cambria"/>
              </a:rPr>
              <a:t>O(</a:t>
            </a:r>
            <a:r>
              <a:rPr sz="1800" b="0" i="1">
                <a:solidFill>
                  <a:srgbClr val="1C252B"/>
                </a:solidFill>
                <a:latin typeface="Cambria"/>
              </a:rPr>
              <a:t>n</a:t>
            </a:r>
            <a:r>
              <a:rPr sz="1800" b="0" i="0">
                <a:solidFill>
                  <a:srgbClr val="1C252B"/>
                </a:solidFill>
                <a:latin typeface="Cambria"/>
              </a:rPr>
              <a:t> lg </a:t>
            </a:r>
            <a:r>
              <a:rPr sz="1800" b="0" i="1">
                <a:solidFill>
                  <a:srgbClr val="1C252B"/>
                </a:solidFill>
                <a:latin typeface="Cambria"/>
              </a:rPr>
              <a:t>n</a:t>
            </a:r>
            <a:r>
              <a:rPr sz="1800" b="0" i="0">
                <a:solidFill>
                  <a:srgbClr val="1C252B"/>
                </a:solidFill>
                <a:latin typeface="Cambria"/>
              </a:rPr>
              <a:t>)</a:t>
            </a:r>
            <a:r>
              <a:rPr sz="1800" b="0" i="0">
                <a:solidFill>
                  <a:srgbClr val="1C252B"/>
                </a:solidFill>
                <a:latin typeface="Segoe UI"/>
              </a:rPr>
              <a:t> algorithm from an </a:t>
            </a:r>
            <a:r>
              <a:rPr sz="1800" b="0" i="0">
                <a:solidFill>
                  <a:srgbClr val="1C252B"/>
                </a:solidFill>
                <a:latin typeface="Cambria"/>
              </a:rPr>
              <a:t>O(</a:t>
            </a:r>
            <a:r>
              <a:rPr sz="1800" b="0" i="1">
                <a:solidFill>
                  <a:srgbClr val="1C252B"/>
                </a:solidFill>
                <a:latin typeface="Cambria"/>
              </a:rPr>
              <a:t>n</a:t>
            </a:r>
            <a:r>
              <a:rPr sz="1800" b="0" i="0">
                <a:solidFill>
                  <a:srgbClr val="1C252B"/>
                </a:solidFill>
                <a:latin typeface="Cambria"/>
              </a:rPr>
              <a:t>)</a:t>
            </a:r>
            <a:r>
              <a:rPr sz="1800" b="0" i="0">
                <a:solidFill>
                  <a:srgbClr val="1C252B"/>
                </a:solidFill>
                <a:latin typeface="Segoe UI"/>
              </a:rPr>
              <a:t> one, given only a compiled binary you can time. State the sizes you would use, how many repetitions, what you would compute, and what result would make you say the evidence is inconclusive.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7908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 — Input Size, Input Nature, and the Three Cases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 pages 3–10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Growth measured: the ratio test, and the crossover at n ≈ 65</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1  ·  The Role of Algorithms, and What Efficient Means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D174457A-7187-4A8C-9D51-27C25E0B90A6}"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The Role of Algorithms, and What Efficient Means</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