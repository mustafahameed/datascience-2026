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4.svg" ContentType="image/svg+xml"/>
  <Override PartName="/ppt/media/image35.svg" ContentType="image/svg+xml"/>
  <Override PartName="/ppt/media/image37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094C2EE-199E-41DF-AFF0-AA8A161919C0}">
          <p14:sldIdLst>
            <p14:sldId id="256"/>
            <p14:sldId id="257"/>
            <p14:sldId id="258"/>
            <p14:sldId id="259"/>
            <p14:sldId id="260"/>
          </p14:sldIdLst>
        </p14:section>
        <p14:section name="8.1 The Pattern" id="{87C422AC-DA18-41AA-860C-4A5866C3E178}">
          <p14:sldIdLst>
            <p14:sldId id="261"/>
            <p14:sldId id="262"/>
            <p14:sldId id="263"/>
          </p14:sldIdLst>
        </p14:section>
        <p14:section name="8.2 Merge Sort" id="{083AFFC9-A9D8-4F1E-BD55-A24FF984FD12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8.3 Measured: the Bound Holds, the Clock Does Not" id="{5DDC67E7-4E15-4A93-90B8-787A13119956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8.4 Where the Missing Factor of Two Went" id="{B6BA492E-3374-47B5-9B60-3D225FFE2882}">
          <p14:sldIdLst>
            <p14:sldId id="277"/>
            <p14:sldId id="278"/>
            <p14:sldId id="279"/>
            <p14:sldId id="280"/>
          </p14:sldIdLst>
        </p14:section>
        <p14:section name="Pitfalls" id="{2321A35A-D3CF-43B0-BC77-1FA8B9F1F0DE}">
          <p14:sldIdLst>
            <p14:sldId id="281"/>
            <p14:sldId id="282"/>
          </p14:sldIdLst>
        </p14:section>
        <p14:section name="Lab" id="{49B3478C-4BEA-46A3-8BC6-6E295CDC686E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Checkpoint" id="{6ED90738-6734-41ED-9DA7-C832ED444FAB}">
          <p14:sldIdLst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Wrap-up" id="{A50978F4-B230-47AA-8F35-C0118BF185D6}">
          <p14:sldIdLst>
            <p14:sldId id="298"/>
            <p14:sldId id="299"/>
            <p14:sldId id="300"/>
            <p14:sldId id="301"/>
            <p14:sldId id="302"/>
            <p14:sldId id="30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8: Divide and Conquer: Merge Sort and the Pattern. Part 2 — Recursion and Divide-and-Conquer. Week 5: Brute force; divide and conquer. Handout pages 64–71.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5 and Chapter 6 — the bound here is case 2 of the master theorem. Chapter 4 for the correctness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divide and conquer; divide; conquer; combine; merge; stability; in-place; auxiliary space; cutoff; hybrid sort; top-down; bottom-up; branch misprediction.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8.1 (handout p. 65): Merge-Sort. The divide is one line of arithmetic; all the work is in 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8.2 (handout p. 65): Merge: two sorted runs become one in a single pass. Line 3’s ≤ rather than &lt; is what makes merge sort stable, and it is the only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Invariant for the first loop: B[lok] holds the k − lo smallest elements of the two runs, in sorted order; and A[i] and A[j] are the smallest remaining elements of their respective runs. Initialisation. k = lo, so B[lo lo] is empty and holds the 0 smallest elements vacuously. i and j point at the fronts of two sorted runs, so they are the smallest remaining in each. Maintenance. The smallest remaining element overall is min(A[i], A[j]), since each run is sorted and A[i], A[j] are their minima. The body copies exactly that element into B[k] and advances the corresponding index, so B gains the next-smallest element and the two pointers again indicate their runs’ minima. Termination. The loop ends when one run is exhausted. The measure (mid−i) + (hi−j) strictly decreases each iteration and is bounded below, so the loop is finite. The two tail loops append the remainder of whichever run is left — already sorted, and all of it ≥ everything in B by the invariant. Every element is copied exactly once and none is overwritten before being copied, so the multiset is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Merge performs between min(n₁,n₂) and n₁+n₂−1 comparisons and exactly n₁+n₂ moves, so it is Θ(n) regardless of the data. The divide is O(1) and the two subproblems have sizes ⌊ n/2 ⌋ and ⌈ n/2 ⌉. Hence T(n) = 2T(n/2) + Θ(n) for every input, with no case distinction. By Chapter 6 with a = b = 2 and f(n) = n, the watershed is nˡᵒᵍ₂² = n = Θ(f(n)), so case 2 applies and T(n) = Θ(n lg n). Since the recurrence holds for every input, the bound is simultaneously best-, worst- and average-case. The buffer B holds at most n elements, giving Θ(n) auxiliary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in Section 8.4 was 3.91 in time and 1.89 in comparisons. Something costs time without being a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Reproduces all four tables. Expect thirty minutes; it sorts two million elements many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The merge, which is the whole idea.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Top-down: the recurrence written out as code.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The same merge with the branch removed.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The bound does not care what the input looks like.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What is the cutoff worth, and where is it?.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Top-down against bottom-up, and against the library.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7: Why is random input 4x slower than sorted input?.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Because merge sort’s control flow does not depend on the data. The split is always into halves and Merge always performs Θ(n1+n2) work, whatever the values. Insertion sort’s inner loop runs a number of times that depends on the number of inversions, which is 0, ≈ n2/4 or ≈ n2/2 depending on the input — so it has three analyses and merge sort has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The minimum min(n1,n2) is attained when one run is entirely smaller than the other, as on already-sorted input, where the loop exhausts the left run first. The maximum n1+n2−1 is attained when the runs interleave, as on random input, so that both are nearly exhausted together. Measured: 0.496 n lg n against 0.940 n lg n — almost exactly the predicted factor of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They measure different things. Chapter 1’s 65 is where insertion sort beats merge sort on a whole array, timed from cold. The cutoff of 32 is where insertion sort beats continued recursion on a subarray that is already in cache and already part of a larger sort. The second has less overhead to beat, so it turns over sooner. Either is a plausible answer; the point is that they are not the same quantity.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9 — Quicksort, Randomisation and the Average Case. READ: Handout Chapter 8, pages 64–71. THIS WEEK'S LAB: Where n2 beats n lg n, and by how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5.xml"/><Relationship Id="rId8" Type="http://schemas.openxmlformats.org/officeDocument/2006/relationships/slide" Target="slide2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1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6.sv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7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8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9.sv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30.sv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31.sv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32.svg"/><Relationship Id="rId4" Type="http://schemas.openxmlformats.org/officeDocument/2006/relationships/image" Target="../media/image33.png"/><Relationship Id="rId5" Type="http://schemas.openxmlformats.org/officeDocument/2006/relationships/image" Target="../media/image34.svg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35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Relationship Id="rId3" Type="http://schemas.openxmlformats.org/officeDocument/2006/relationships/image" Target="../media/image38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0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1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2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3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4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5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6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7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8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50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Relationship Id="rId3" Type="http://schemas.openxmlformats.org/officeDocument/2006/relationships/image" Target="../media/image52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53.sv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Relationship Id="rId3" Type="http://schemas.openxmlformats.org/officeDocument/2006/relationships/image" Target="../media/image54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55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Relationship Id="rId3" Type="http://schemas.openxmlformats.org/officeDocument/2006/relationships/image" Target="../media/image56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Relationship Id="rId3" Type="http://schemas.openxmlformats.org/officeDocument/2006/relationships/image" Target="../media/image58.sv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Relationship Id="rId3" Type="http://schemas.openxmlformats.org/officeDocument/2006/relationships/image" Target="../media/image59.sv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Relationship Id="rId3" Type="http://schemas.openxmlformats.org/officeDocument/2006/relationships/image" Target="../media/image61.sv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Relationship Id="rId3" Type="http://schemas.openxmlformats.org/officeDocument/2006/relationships/image" Target="../media/image62.sv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Relationship Id="rId3" Type="http://schemas.openxmlformats.org/officeDocument/2006/relationships/image" Target="../media/image63.sv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7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9769F"/>
                </a:solidFill>
                <a:latin typeface="Segoe UI Black"/>
              </a:rPr>
              <a:t>08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Divide and Conquer: Merge Sort and the Pattern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C1D4E1"/>
                </a:solidFill>
                <a:latin typeface="Segoe UI"/>
              </a:rPr>
              <a:t>PART II  ·  RECURSION AND DIVIDE-AND-CONQUER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C1D4E1"/>
                </a:solidFill>
                <a:latin typeface="Segoe UI"/>
              </a:rPr>
              <a:t>CHAPTER 8  ·  WEEK 5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3E1EA"/>
                </a:solidFill>
                <a:latin typeface="Segoe UI"/>
              </a:rPr>
              <a:t>Design, Proof and Measurement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19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8BAC7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CCD6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BAC7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64     </a:t>
            </a:r>
            <a:fld id="{661BF191-A247-4E81-AD4E-E491C3964840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618444" y="1755648"/>
            <a:ext cx="221463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8444" y="2029967"/>
            <a:ext cx="2214637" cy="4572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5162265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2265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7003469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3469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844673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4673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294156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94156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508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1706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229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0878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195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0051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8367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8922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9712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55827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143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294999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3154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3417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34019" y="2112264"/>
            <a:ext cx="566928" cy="566928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3834019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749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43605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53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10209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8525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4938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697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588553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869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27725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347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69432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64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3350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7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72673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990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1184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7594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878450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6766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1762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938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956794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542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23398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1714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062570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0886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1101742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23</a:t>
            </a:r>
          </a:p>
        </p:txBody>
      </p:sp>
      <p:sp>
        <p:nvSpPr>
          <p:cNvPr id="65" name="!!dotlabel"/>
          <p:cNvSpPr txBox="1"/>
          <p:nvPr/>
        </p:nvSpPr>
        <p:spPr>
          <a:xfrm>
            <a:off x="1191403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6794"/>
                </a:solidFill>
                <a:latin typeface="Segoe UI"/>
              </a:rPr>
              <a:t>Divide and Conquer: Merge Sort and the Pattern</a:t>
            </a:r>
          </a:p>
        </p:txBody>
      </p:sp>
      <p:sp>
        <p:nvSpPr>
          <p:cNvPr id="66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7" name="!!chipBU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chipbBU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tBU4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Correctness: Loop Invariants</a:t>
            </a:r>
          </a:p>
        </p:txBody>
      </p:sp>
      <p:sp>
        <p:nvSpPr>
          <p:cNvPr id="70" name="!!chipBU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chipbBU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tBU5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Recurrences I: Substitution and Recursion Trees</a:t>
            </a:r>
          </a:p>
        </p:txBody>
      </p:sp>
      <p:sp>
        <p:nvSpPr>
          <p:cNvPr id="73" name="!!chipBU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!!chipbBU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!!chiptBU6"/>
          <p:cNvSpPr txBox="1"/>
          <p:nvPr/>
        </p:nvSpPr>
        <p:spPr>
          <a:xfrm>
            <a:off x="859536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6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Recurrences II: The Master Theorem</a:t>
            </a:r>
          </a:p>
        </p:txBody>
      </p:sp>
      <p:sp>
        <p:nvSpPr>
          <p:cNvPr id="76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7" name="!!chipUS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chipbUS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!!chiptUS9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9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Quicksort, Randomisation and the Average Case</a:t>
            </a:r>
          </a:p>
        </p:txBody>
      </p:sp>
      <p:sp>
        <p:nvSpPr>
          <p:cNvPr id="80" name="!!chipUS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!!chipbUS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chiptUS10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10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Lower Bounds and Sorting in Linear Time</a:t>
            </a:r>
          </a:p>
        </p:txBody>
      </p:sp>
      <p:sp>
        <p:nvSpPr>
          <p:cNvPr id="83" name="!!chip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!!chipb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!!chiptUS23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Semester Project</a:t>
            </a:r>
          </a:p>
        </p:txBody>
      </p:sp>
      <p:sp>
        <p:nvSpPr>
          <p:cNvPr id="8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0798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64     </a:t>
            </a:r>
            <a:fld id="{FD2D515F-45A5-42E5-8BDE-690EADDB9517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three steps of the divide-and-conquer pattern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apply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 to a stated problem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(CLO-6)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061411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Prove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merge sort correct from the merge step’s invariant,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derive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its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bound in all three cases.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118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978554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909974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merge sort’s bound is case-independent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contrast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 with insertion sort’s.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67681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827117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808829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Measure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effect of an insertion-sort cutoff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choose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one for a given machine.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71185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43062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362041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Account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for a measured gap between two runs of the same algorithm in terms of work done and hardware behaviour.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6198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64     </a:t>
            </a:r>
            <a:fld id="{EED30690-83E4-4DAE-B37B-342DA0708300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divide and c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220397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divide and c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divide and con"/>
          <p:cNvSpPr txBox="1"/>
          <p:nvPr/>
        </p:nvSpPr>
        <p:spPr>
          <a:xfrm>
            <a:off x="950976" y="1962911"/>
            <a:ext cx="202109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divide and conquer</a:t>
            </a:r>
          </a:p>
        </p:txBody>
      </p:sp>
      <p:sp>
        <p:nvSpPr>
          <p:cNvPr id="10" name="!!term-divi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08644" y="1847088"/>
            <a:ext cx="99106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divi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6660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divide"/>
          <p:cNvSpPr txBox="1"/>
          <p:nvPr/>
        </p:nvSpPr>
        <p:spPr>
          <a:xfrm>
            <a:off x="3301252" y="1962911"/>
            <a:ext cx="80818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divide</a:t>
            </a:r>
          </a:p>
        </p:txBody>
      </p:sp>
      <p:sp>
        <p:nvSpPr>
          <p:cNvPr id="13" name="!!term-conqu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46011" y="1847088"/>
            <a:ext cx="119335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conqu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4027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conquer"/>
          <p:cNvSpPr txBox="1"/>
          <p:nvPr/>
        </p:nvSpPr>
        <p:spPr>
          <a:xfrm>
            <a:off x="4438619" y="1962911"/>
            <a:ext cx="101047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conquer</a:t>
            </a:r>
          </a:p>
        </p:txBody>
      </p:sp>
      <p:sp>
        <p:nvSpPr>
          <p:cNvPr id="16" name="!!term-comb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5668" y="1847088"/>
            <a:ext cx="123231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comb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136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combine"/>
          <p:cNvSpPr txBox="1"/>
          <p:nvPr/>
        </p:nvSpPr>
        <p:spPr>
          <a:xfrm>
            <a:off x="5778276" y="1962911"/>
            <a:ext cx="104943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combine</a:t>
            </a:r>
          </a:p>
        </p:txBody>
      </p:sp>
      <p:sp>
        <p:nvSpPr>
          <p:cNvPr id="19" name="!!term-mer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4291" y="1847088"/>
            <a:ext cx="102832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mer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2307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merge"/>
          <p:cNvSpPr txBox="1"/>
          <p:nvPr/>
        </p:nvSpPr>
        <p:spPr>
          <a:xfrm>
            <a:off x="7156899" y="1962911"/>
            <a:ext cx="84544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merge</a:t>
            </a:r>
          </a:p>
        </p:txBody>
      </p:sp>
      <p:sp>
        <p:nvSpPr>
          <p:cNvPr id="22" name="!!term-stab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38923" y="1847088"/>
            <a:ext cx="114547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stabil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66939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stability"/>
          <p:cNvSpPr txBox="1"/>
          <p:nvPr/>
        </p:nvSpPr>
        <p:spPr>
          <a:xfrm>
            <a:off x="8331531" y="1962911"/>
            <a:ext cx="96259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stability</a:t>
            </a:r>
          </a:p>
        </p:txBody>
      </p:sp>
      <p:sp>
        <p:nvSpPr>
          <p:cNvPr id="25" name="!!term-in-pla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0702" y="1847088"/>
            <a:ext cx="117096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in-pla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58718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in-place"/>
          <p:cNvSpPr txBox="1"/>
          <p:nvPr/>
        </p:nvSpPr>
        <p:spPr>
          <a:xfrm>
            <a:off x="9623310" y="1962911"/>
            <a:ext cx="98808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in-place</a:t>
            </a:r>
          </a:p>
        </p:txBody>
      </p:sp>
      <p:sp>
        <p:nvSpPr>
          <p:cNvPr id="28" name="!!term-auxiliary spa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76155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auxiliary spa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auxiliary spac"/>
          <p:cNvSpPr txBox="1"/>
          <p:nvPr/>
        </p:nvSpPr>
        <p:spPr>
          <a:xfrm>
            <a:off x="950976" y="2584704"/>
            <a:ext cx="157867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auxiliary space</a:t>
            </a:r>
          </a:p>
        </p:txBody>
      </p:sp>
      <p:sp>
        <p:nvSpPr>
          <p:cNvPr id="31" name="!!term-cutof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6223" y="2468880"/>
            <a:ext cx="97336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cutof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9423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cutoff"/>
          <p:cNvSpPr txBox="1"/>
          <p:nvPr/>
        </p:nvSpPr>
        <p:spPr>
          <a:xfrm>
            <a:off x="2858831" y="2584704"/>
            <a:ext cx="79048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cutoff</a:t>
            </a:r>
          </a:p>
        </p:txBody>
      </p:sp>
      <p:sp>
        <p:nvSpPr>
          <p:cNvPr id="34" name="!!term-hybrid s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85888" y="2468880"/>
            <a:ext cx="143138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hybrid sor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90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hybrid sort"/>
          <p:cNvSpPr txBox="1"/>
          <p:nvPr/>
        </p:nvSpPr>
        <p:spPr>
          <a:xfrm>
            <a:off x="3978496" y="2584704"/>
            <a:ext cx="124850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hybrid sort</a:t>
            </a:r>
          </a:p>
        </p:txBody>
      </p:sp>
      <p:sp>
        <p:nvSpPr>
          <p:cNvPr id="37" name="!!term-top-dow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63578" y="2468880"/>
            <a:ext cx="134608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top-dow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159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top-down"/>
          <p:cNvSpPr txBox="1"/>
          <p:nvPr/>
        </p:nvSpPr>
        <p:spPr>
          <a:xfrm>
            <a:off x="5556186" y="2584704"/>
            <a:ext cx="116320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top-down</a:t>
            </a:r>
          </a:p>
        </p:txBody>
      </p:sp>
      <p:sp>
        <p:nvSpPr>
          <p:cNvPr id="40" name="!!term-bottom-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5963" y="2468880"/>
            <a:ext cx="144473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bottom-u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8397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bottom-up"/>
          <p:cNvSpPr txBox="1"/>
          <p:nvPr/>
        </p:nvSpPr>
        <p:spPr>
          <a:xfrm>
            <a:off x="7048571" y="2584704"/>
            <a:ext cx="126185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bottom-up</a:t>
            </a:r>
          </a:p>
        </p:txBody>
      </p:sp>
      <p:sp>
        <p:nvSpPr>
          <p:cNvPr id="43" name="!!term-branch mispr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47005" y="2468880"/>
            <a:ext cx="237160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termd-branch mispr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7502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termt-branch mispred"/>
          <p:cNvSpPr txBox="1"/>
          <p:nvPr/>
        </p:nvSpPr>
        <p:spPr>
          <a:xfrm>
            <a:off x="8639613" y="2584704"/>
            <a:ext cx="218872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branch misprediction</a:t>
            </a:r>
          </a:p>
        </p:txBody>
      </p:sp>
      <p:sp>
        <p:nvSpPr>
          <p:cNvPr id="46" name="!!termnote"/>
          <p:cNvSpPr txBox="1"/>
          <p:nvPr/>
        </p:nvSpPr>
        <p:spPr>
          <a:xfrm>
            <a:off x="658368" y="32918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4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1597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64–71     </a:t>
            </a:r>
            <a:fld id="{9E7D7994-CF25-4E5C-9BFD-E90C89EE5718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8.1 The Pattern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8.1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Pattern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64  ›</a:t>
            </a:r>
          </a:p>
        </p:txBody>
      </p:sp>
      <p:sp>
        <p:nvSpPr>
          <p:cNvPr id="12" name="!!ag1" descr="Go to section 8.2 Merge Sort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8.2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Merge Sort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65  ›</a:t>
            </a:r>
          </a:p>
        </p:txBody>
      </p:sp>
      <p:sp>
        <p:nvSpPr>
          <p:cNvPr id="17" name="!!ag2" descr="Go to section 8.3 Measured: the Bound Holds, the Clock Does Not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8.3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Measured: the Bound Holds, the Clock Does Not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66  ›</a:t>
            </a:r>
          </a:p>
        </p:txBody>
      </p:sp>
      <p:sp>
        <p:nvSpPr>
          <p:cNvPr id="22" name="!!ag3" descr="Go to section 8.4 Where the Missing Factor of Two Went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8.4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Where the Missing Factor of Two Went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68  ›</a:t>
            </a:r>
          </a:p>
        </p:txBody>
      </p:sp>
      <p:sp>
        <p:nvSpPr>
          <p:cNvPr id="2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6996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Pattern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1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8.1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8.1   The Pattern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8.2   Merge Sort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8.3   Measured: the Bound Holds, the Clock Does Not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8.4   Where the Missing Factor of Two Went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§8.1     </a:t>
            </a:r>
            <a:fld id="{775CB6A1-1C79-4E3E-A77D-2059EB36A38D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52396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Divide and Conquer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§8.1  ·  Handout p. 64     </a:t>
            </a:r>
            <a:fld id="{32DD1115-09FE-40D8-AE6E-BA37B68F3122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063898"/>
          </a:xfrm>
          <a:prstGeom prst="roundRect">
            <a:avLst>
              <a:gd name="adj" fmla="val 2250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063898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divide-and-conquer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algorithm has three steps: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573451"/>
            <a:ext cx="10161727" cy="20728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8A4500"/>
                </a:solidFill>
                <a:latin typeface="Segoe UI"/>
              </a:rPr>
              <a:t>1.	</a:t>
            </a:r>
            <a:r>
              <a:rPr sz="2300" b="1" i="0">
                <a:solidFill>
                  <a:srgbClr val="8A4500"/>
                </a:solidFill>
                <a:latin typeface="Segoe UI"/>
              </a:rPr>
              <a:t>Divide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the problem into subproblems that are smaller instances of the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same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problem.</a:t>
            </a:r>
          </a:p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8A4500"/>
                </a:solidFill>
                <a:latin typeface="Segoe UI"/>
              </a:rPr>
              <a:t>2.	</a:t>
            </a:r>
            <a:r>
              <a:rPr sz="2300" b="1" i="0">
                <a:solidFill>
                  <a:srgbClr val="8A4500"/>
                </a:solidFill>
                <a:latin typeface="Segoe UI"/>
              </a:rPr>
              <a:t>Conquer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the subproblems by solving them recursively; when they are small enough, solve them directly.</a:t>
            </a:r>
          </a:p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8A4500"/>
                </a:solidFill>
                <a:latin typeface="Segoe UI"/>
              </a:rPr>
              <a:t>3.	</a:t>
            </a:r>
            <a:r>
              <a:rPr sz="2300" b="1" i="0">
                <a:solidFill>
                  <a:srgbClr val="8A4500"/>
                </a:solidFill>
                <a:latin typeface="Segoe UI"/>
              </a:rPr>
              <a:t>Combine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the subproblem solutions into a solution for the original.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761280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running time is then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+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D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+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with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D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the cost of dividing and combining — which is exactly the form Chapter 6 solves.</a:t>
            </a:r>
          </a:p>
        </p:txBody>
      </p:sp>
      <p:sp>
        <p:nvSpPr>
          <p:cNvPr id="1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77795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the work goes, and why it matters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§8.1  ·  Handout p. 64     </a:t>
            </a:r>
            <a:fld id="{54FA1ED5-29A3-41B5-B428-980EE4F16B6B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21022"/>
          </a:xfrm>
          <a:prstGeom prst="roundRect">
            <a:avLst>
              <a:gd name="adj" fmla="val 2166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2102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431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The three steps are not equally expensive, and which one carries the weight distinguishes the two great sorting algorithms.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899308"/>
            <a:ext cx="10161727" cy="7431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618D"/>
                </a:solidFill>
                <a:latin typeface="Segoe UI"/>
              </a:rPr>
              <a:t>Merge sort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divides trivially (compute the midpoint,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O(1)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) and combines expensively (merge two runs,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).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Easy split, hard join.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3750360"/>
            <a:ext cx="10161727" cy="7431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618D"/>
                </a:solidFill>
                <a:latin typeface="Segoe UI"/>
              </a:rPr>
              <a:t>Quicksort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(Chapter 9) divides expensively (partition around a pivot,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) and combines trivially (the pieces are already in place,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O(1)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).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Hard split, easy join.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60704" y="4601413"/>
            <a:ext cx="10161727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Both give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= 2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/2) + 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when the split is even. The difference is that merge sort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guarantees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the even split and quicksort only hopes for it — which is the whole of Chapter 9.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3194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Merge Sort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2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8.2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8.1   The Pattern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8.2   Merge Sort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8.3   Measured: the Bound Holds, the Clock Does Not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8.4   Where the Missing Factor of Two Went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§8.2     </a:t>
            </a:r>
            <a:fld id="{6B9021D8-445F-4B9A-BA1E-61435E95D6DC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594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Merge Sort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36794"/>
                </a:solidFill>
                <a:latin typeface="Segoe UI"/>
              </a:rPr>
              <a:t>FIGURE 8.1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§8.2  ·  Handout p. 65     </a:t>
            </a:r>
            <a:fld id="{59AFD00A-6E3F-498B-BB8F-20A8E11F2696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pic>
        <p:nvPicPr>
          <p:cNvPr id="6" name="!!figure" descr="Figure 8.1. Merge-Sort. The divide is one line of arithmetic; all the work is in Merge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832626"/>
            <a:ext cx="10874959" cy="3465570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930188"/>
            <a:ext cx="54864" cy="306019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911900"/>
            <a:ext cx="10600639" cy="4888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Merge-Sort. The divide is one line of arithmetic; all the work is in Merge.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53993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Merge: two sorted runs become one in a single pass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36794"/>
                </a:solidFill>
                <a:latin typeface="Segoe UI"/>
              </a:rPr>
              <a:t>FIGURE 8.2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§8.2  ·  Handout p. 65     </a:t>
            </a:r>
            <a:fld id="{D4E98106-3D9C-4048-B050-A9E705D861EB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pic>
        <p:nvPicPr>
          <p:cNvPr id="6" name="!!figure" descr="Figure 8.2. Merge: two sorted runs become one in a single pass. Line 3’s ≤ rather than &lt; is what makes merge sort stable, and it is the only difference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0984" y="1737360"/>
            <a:ext cx="6629725" cy="4009948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930188"/>
            <a:ext cx="54864" cy="306019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911900"/>
            <a:ext cx="10600639" cy="4888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Line 3’s ≤ rather than &lt; is what makes merge sort stable, and it is the only difference.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79393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Merge is correct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8.1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§8.2  ·  Handout p. 65     </a:t>
            </a:r>
            <a:fld id="{22894E09-73E4-43F3-9F8B-C260FB29615C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350873"/>
          </a:xfrm>
          <a:prstGeom prst="roundRect">
            <a:avLst>
              <a:gd name="adj" fmla="val 6768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350873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If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[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lomid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]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[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midhi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]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are each sorted, then after Merge the range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[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lohi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]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sorted and holds the same multiset of values.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Merge sort’s running time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8.2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§8.2  ·  Handout p. 65     </a:t>
            </a:r>
            <a:fld id="{18C7E030-6B58-4C35-B2ED-A9B0C64E3584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350873"/>
          </a:xfrm>
          <a:prstGeom prst="roundRect">
            <a:avLst>
              <a:gd name="adj" fmla="val 6768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350873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Merge-Sort runs in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 the best, worst and average cases, and uses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auxiliary space.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30191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bound is case-independent, the running time is not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§8.2  ·  Handout p. 65     </a:t>
            </a:r>
            <a:fld id="{A5A73680-4103-4929-99D3-E0ED6CD92202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605151"/>
          </a:xfrm>
          <a:prstGeom prst="roundRect">
            <a:avLst>
              <a:gd name="adj" fmla="val 3509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605151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Theorem 8.2 says the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order of growth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does not depend on the input. It does not say the running time is the same for every input, and Section 8.4 measures a factor of 3.9 between two inputs of the same size.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Keeping those two statements apart is the main intellectual work of this chapter.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55591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Measured: the Bound Holds, the Clock Does Not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3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8.3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8.1   The Pattern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8.2   Merge Sort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8.3   Measured: the Bound Holds, the Clock Does Not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8.4   Where the Missing Factor of Two Went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§8.3     </a:t>
            </a:r>
            <a:fld id="{00371614-0AE4-463F-BC14-4D73CA966CA1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80990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Three Input Shapes, n = 2,000,000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§8.3  ·  Handout p. 66     </a:t>
            </a:r>
            <a:fld id="{D8752951-16AF-41AE-89E3-D4825BB3A0EA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14215"/>
          </a:xfrm>
          <a:prstGeom prst="roundRect">
            <a:avLst>
              <a:gd name="adj" fmla="val 2119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1421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4E79"/>
                </a:solidFill>
                <a:latin typeface="Consolas"/>
              </a:rPr>
              <a:t>code/ch08_merge.cpp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sorts the same two million elements arranged three ways, counting comparisons exactly and timing the sort.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746679"/>
          <a:ext cx="5739051" cy="156057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34683"/>
                <a:gridCol w="1188720"/>
                <a:gridCol w="1487782"/>
                <a:gridCol w="889638"/>
                <a:gridCol w="1138228"/>
              </a:tblGrid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shape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time (ms)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comparisons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/ </a:t>
                      </a:r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 lg </a:t>
                      </a:r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vs sorted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sorted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73.1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20,769,984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0.496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reversed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73.5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21,132,864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0.505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× 1.006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random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285.7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39,348,350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0.940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× 3.910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439970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41,863,137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.)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42416" y="4873828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First, the good news.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Compare this with Chapter 2, where insertion sort on these same three shapes varied by a factor of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6,600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Merge sort’s comparison count varies by a factor of 1.9 and its time by 3.9. The guarantee is real.</a:t>
            </a:r>
          </a:p>
        </p:txBody>
      </p:sp>
      <p:sp>
        <p:nvSpPr>
          <p:cNvPr id="13" name="body-3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892116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Three Input Shapes, n = 2,000,000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§8.3  ·  Handout p. 66     </a:t>
            </a:r>
            <a:fld id="{937C6030-79A5-4933-A2C9-B7727957E898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789351"/>
          </a:xfrm>
          <a:prstGeom prst="roundRect">
            <a:avLst>
              <a:gd name="adj" fmla="val 3278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78935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Second, the comparison counts are exactly what theory says.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On sorted input every merge exhausts its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left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run first — every element of the left run is smaller than every element of the right — so the comparison loop performs exactly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comparisons instead of about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+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Half as many. Measured: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0.496 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against random input’s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0.940 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 ratio of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1.89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3348964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Third, the time ratio is 3.91 and the comparison ratio is 1.89.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Those do not match. Roughly half the slowdown is not accounted for by work done, and Section 8.5 is about finding out what it is.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367252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31789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Cutoff, Tuned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§8.3  ·  Handout p. 66     </a:t>
            </a:r>
            <a:fld id="{2FA26EEF-72F5-4FE2-812E-4F533C87CB0F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452067"/>
          </a:xfrm>
          <a:prstGeom prst="roundRect">
            <a:avLst>
              <a:gd name="adj" fmla="val 6297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452067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Merge sort’s recursion bottoms out 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which means a great many calls doing almost nothing. Chapter 1 measured insertion sort beating merge sort below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≈ 65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; so stop recursing at some cutoff and insertion-sort the piece instead.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7188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Cutoff, Tuned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§8.3  ·  Handout p. 66     </a:t>
            </a:r>
            <a:fld id="{70B8F2DD-8B55-4D45-9E37-2FDF43C51779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059935"/>
          </a:xfrm>
          <a:prstGeom prst="roundRect">
            <a:avLst>
              <a:gd name="adj" fmla="val 2252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05993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42416" y="2011679"/>
          <a:ext cx="3041927" cy="351129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846880"/>
                <a:gridCol w="1188720"/>
                <a:gridCol w="1006327"/>
              </a:tblGrid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cutoff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time (ms)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vs none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275.5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257.1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0.933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243.1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0.882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232.5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0.844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32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226.4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0.822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231.0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0.838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128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257.0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0.933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256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247.7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0.899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2587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Cutoff, Tuned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§8.3  ·  Handout p. 66     </a:t>
            </a:r>
            <a:fld id="{068A63C3-F70C-4BD9-BE09-C2B898479E89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524351"/>
          </a:xfrm>
          <a:prstGeom prst="roundRect">
            <a:avLst>
              <a:gd name="adj" fmla="val 259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52435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 best cutoff on this machine is 32, and it is worth 18%.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curve is shallow between 16 and 64 — anything in that range gets most of the benefit — and turns back upward beyond it, as insertion sort’s quadratic term begins to bite.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3047822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Note what this is and is not.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It is a constant-factor improvement: the algorithm is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before and after, and Chapter 3’s notation cannot see the difference. It is also the reason every production sort in the world does it.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066110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body-2"/>
          <p:cNvSpPr txBox="1"/>
          <p:nvPr/>
        </p:nvSpPr>
        <p:spPr>
          <a:xfrm>
            <a:off x="1042416" y="4083964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And note that 32 is a fact about this laptop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not about merge sort. A different cache, a different element size or a different compiler moves it. That is why the lab measures it rather than quoting it.</a:t>
            </a:r>
          </a:p>
        </p:txBody>
      </p:sp>
      <p:sp>
        <p:nvSpPr>
          <p:cNvPr id="14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102252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07987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Four Implementations of One Bound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§8.3  ·  Handout p. 66     </a:t>
            </a:r>
            <a:fld id="{58BB8412-AE31-4F0C-9B96-22A361138CCB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70552"/>
          </a:xfrm>
          <a:prstGeom prst="roundRect">
            <a:avLst>
              <a:gd name="adj" fmla="val 2045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7055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42416" y="2011679"/>
          <a:ext cx="3831062" cy="17983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65107"/>
                <a:gridCol w="1072134"/>
                <a:gridCol w="893821"/>
              </a:tblGrid>
              <a:tr h="35966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A5276"/>
                          </a:solidFill>
                          <a:latin typeface="Segoe UI"/>
                        </a:rPr>
                        <a:t>implementation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0">
                          <a:solidFill>
                            <a:srgbClr val="1A5276"/>
                          </a:solidFill>
                          <a:latin typeface="Segoe UI"/>
                        </a:rPr>
                        <a:t>time (ms)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0">
                          <a:solidFill>
                            <a:srgbClr val="1A5276"/>
                          </a:solidFill>
                          <a:latin typeface="Segoe UI"/>
                        </a:rPr>
                        <a:t>relative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top-down, no cutoff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279.2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1.00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top-down, cutoff 32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225.1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0.81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bottom-up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263.3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0.94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4E79"/>
                          </a:solidFill>
                          <a:latin typeface="Consolas"/>
                        </a:rPr>
                        <a:t>std::sort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169.1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0.61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0" name="body-1"/>
          <p:cNvSpPr txBox="1"/>
          <p:nvPr/>
        </p:nvSpPr>
        <p:spPr>
          <a:xfrm>
            <a:off x="1042416" y="3928744"/>
            <a:ext cx="10234879" cy="8540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All four are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they span a factor of 1.65. Bottom-up merge sort — same recurrence, no call stack — is 6% faster than top-down, which is less than most people expect; the recursion was never the expensive part.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42416" y="4855819"/>
            <a:ext cx="10234879" cy="11234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4E79"/>
                </a:solidFill>
                <a:latin typeface="Consolas"/>
              </a:rPr>
              <a:t>std::sort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wins by 39% because it is not merge sort at all. It is introsort: quicksort (Chapter 9) with an insertion-sort cutoff and a heapsort fallback, sorting in place and so touching half as much memory. The comparison is here to make a point that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Θ(·)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cannot: 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within one order of growth there is still a factor of nearly two to be had, and it is won by caring about memory.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3386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Where the Missing Factor of Two Went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4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8.4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8.1   The Pattern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8.2   Merge Sort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8.3   Measured: the Bound Holds, the Clock Does Not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8.4   Where the Missing Factor of Two Went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§8.4     </a:t>
            </a:r>
            <a:fld id="{8D44763C-930E-4AA2-9327-5A95BE75A23E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5878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hypothesis, and how to test it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6B7B6B33-BB2D-4CF7-8015-26567AC65F88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179392"/>
          </a:xfrm>
          <a:prstGeom prst="roundRect">
            <a:avLst>
              <a:gd name="adj" fmla="val 2187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1793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8540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18D"/>
                </a:solidFill>
                <a:latin typeface="Segoe UI"/>
              </a:rPr>
              <a:t>Hypothesis.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culprit is the branch </a:t>
            </a:r>
            <a:r>
              <a:rPr sz="1600" b="0" i="0">
                <a:solidFill>
                  <a:srgbClr val="1F4E79"/>
                </a:solidFill>
                <a:latin typeface="Consolas"/>
              </a:rPr>
              <a:t>if (A[i] &lt;= A[j])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in the merge loop. On sorted input it goes the same way for an entire run and the processor’s branch predictor gets it right every time. On random input it is a coin flip, mispredicted about half the time, at a cost of roughly fifteen cycles each.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975330"/>
            <a:ext cx="10161727" cy="584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18D"/>
                </a:solidFill>
                <a:latin typeface="Segoe UI"/>
              </a:rPr>
              <a:t>This is exactly the third lie of Chapter 1’s RAM model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— the one that says instructions execute one at a time — coming back to charge for itself.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3632962"/>
            <a:ext cx="10161727" cy="3151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18D"/>
                </a:solidFill>
                <a:latin typeface="Segoe UI"/>
              </a:rPr>
              <a:t>The test.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Rewrite the merge loop so that the choice is arithmetic rather than a branch: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60704" y="4021150"/>
            <a:ext cx="10161727" cy="3151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4E79"/>
                </a:solidFill>
                <a:latin typeface="Consolas"/>
              </a:rPr>
              <a:t>bool left = A[i] &lt;= A[j];</a:t>
            </a:r>
          </a:p>
        </p:txBody>
      </p:sp>
      <p:sp>
        <p:nvSpPr>
          <p:cNvPr id="13" name="body-4"/>
          <p:cNvSpPr txBox="1"/>
          <p:nvPr/>
        </p:nvSpPr>
        <p:spPr>
          <a:xfrm>
            <a:off x="1060704" y="4409338"/>
            <a:ext cx="10161727" cy="3151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4E79"/>
                </a:solidFill>
                <a:latin typeface="Consolas"/>
              </a:rPr>
              <a:t>B[k++] = left ? A[i] : A[j]; i += left; j += !left;</a:t>
            </a:r>
          </a:p>
        </p:txBody>
      </p:sp>
      <p:sp>
        <p:nvSpPr>
          <p:cNvPr id="14" name="body-5"/>
          <p:cNvSpPr txBox="1"/>
          <p:nvPr/>
        </p:nvSpPr>
        <p:spPr>
          <a:xfrm>
            <a:off x="1060704" y="4797526"/>
            <a:ext cx="10161727" cy="8540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This compiles to a conditional move.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Same comparisons, same output, no branch to mispredict.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If the hypothesis is right, the gap should close. If it is wrong, nothing will change and we will have learnt that too.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4185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Test, Run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53A9CA20-07C7-4090-B0C2-0B31C0331893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667978"/>
          </a:xfrm>
          <a:prstGeom prst="roundRect">
            <a:avLst>
              <a:gd name="adj" fmla="val 2492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66797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42416" y="2011679"/>
          <a:ext cx="5883163" cy="156057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572621"/>
                <a:gridCol w="1188720"/>
                <a:gridCol w="2121822"/>
              </a:tblGrid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merge variant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time (ms)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vs branchy random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branchy, random input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272.9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branchless, random input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152.0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0.557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branchy, sorted input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72.1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0.264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body-1"/>
          <p:cNvSpPr txBox="1"/>
          <p:nvPr/>
        </p:nvSpPr>
        <p:spPr>
          <a:xfrm>
            <a:off x="1042416" y="3704970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Removing the branch cut the time on random input by 44%.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hypothesis is confirmed.</a:t>
            </a:r>
          </a:p>
        </p:txBody>
      </p:sp>
      <p:sp>
        <p:nvSpPr>
          <p:cNvPr id="11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723258"/>
            <a:ext cx="54864" cy="28285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body-2"/>
          <p:cNvSpPr txBox="1"/>
          <p:nvPr/>
        </p:nvSpPr>
        <p:spPr>
          <a:xfrm>
            <a:off x="1042416" y="4138828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And now the gap decomposes cleanly:</a:t>
            </a:r>
          </a:p>
        </p:txBody>
      </p:sp>
      <p:sp>
        <p:nvSpPr>
          <p:cNvPr id="13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157116"/>
            <a:ext cx="54864" cy="28285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body-3" descr="\underbrace{3.78}_{\text{random/sorted, branchy}} \;=\; \underbrace{1.89}_{\text{more comparisons}} \;\times\; \underbrace{2.00}_{\text{branch misprediction}}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4572685"/>
            <a:ext cx="10234879" cy="558332"/>
          </a:xfrm>
          <a:prstGeom prst="rect">
            <a:avLst/>
          </a:prstGeom>
        </p:spPr>
      </p:pic>
      <p:sp>
        <p:nvSpPr>
          <p:cNvPr id="2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Test, Run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DC7157C7-0E8E-42FD-AEFB-0D5ED9CE608B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391636"/>
          </a:xfrm>
          <a:prstGeom prst="roundRect">
            <a:avLst>
              <a:gd name="adj" fmla="val 2696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39163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Measured: random/sorted was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3.78×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with the branch and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2.11×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without it. So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3.78 / 2.11 = 1.79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attributable to the branch, and the residual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2.11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matches the comparison-count ratio of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1.89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to within 12%.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3047822"/>
            <a:ext cx="10234879" cy="18525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Two lessons.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First, a factor of two was hiding in a line of code that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Θ(·)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cannot see and that no amount of algorithm analysis would have revealed — only measurement found it, and only a designed experiment explained it. Second, the branchless version is not simply better: it does the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same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comparisons, so on sorted input it is slower than the branchy one, which gets its branches free. Which version wins depends on the data, and that is a sentence this book has now written in four different chapters.</a:t>
            </a:r>
          </a:p>
        </p:txBody>
      </p:sp>
      <p:sp>
        <p:nvSpPr>
          <p:cNvPr id="11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066110"/>
            <a:ext cx="54864" cy="178856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34984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9445EE57-12D2-4740-B4EF-E2DB11265CF8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Reading “case-independent bound” as “case-independent time”.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Measured, the same sort on the same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varied by 3.9.</a:t>
            </a:r>
          </a:p>
        </p:txBody>
      </p:sp>
      <p:sp>
        <p:nvSpPr>
          <p:cNvPr id="10" name="!!p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95702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x1"/>
          <p:cNvSpPr txBox="1"/>
          <p:nvPr/>
        </p:nvSpPr>
        <p:spPr>
          <a:xfrm>
            <a:off x="658368" y="251856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2" name="!!pt1"/>
          <p:cNvSpPr txBox="1"/>
          <p:nvPr/>
        </p:nvSpPr>
        <p:spPr>
          <a:xfrm>
            <a:off x="1261872" y="2477414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Allocating the buffer inside the recursion.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One buffer for the whole sort, allocated once. Chapter 3’s lab nearly reported nonsense for exactly this reason.</a:t>
            </a:r>
          </a:p>
        </p:txBody>
      </p:sp>
      <p:sp>
        <p:nvSpPr>
          <p:cNvPr id="13" name="!!p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235756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x2"/>
          <p:cNvSpPr txBox="1"/>
          <p:nvPr/>
        </p:nvSpPr>
        <p:spPr>
          <a:xfrm>
            <a:off x="658368" y="32586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5" name="!!pt2"/>
          <p:cNvSpPr txBox="1"/>
          <p:nvPr/>
        </p:nvSpPr>
        <p:spPr>
          <a:xfrm>
            <a:off x="1261872" y="3217468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Using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&lt;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instead of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≤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in the merge.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still sorts; it is no longer stable, and stability is often why merge sort was chosen.</a:t>
            </a:r>
          </a:p>
        </p:txBody>
      </p:sp>
      <p:sp>
        <p:nvSpPr>
          <p:cNvPr id="16" name="!!p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75811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x3"/>
          <p:cNvSpPr txBox="1"/>
          <p:nvPr/>
        </p:nvSpPr>
        <p:spPr>
          <a:xfrm>
            <a:off x="658368" y="3998671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8" name="!!pt3"/>
          <p:cNvSpPr txBox="1"/>
          <p:nvPr/>
        </p:nvSpPr>
        <p:spPr>
          <a:xfrm>
            <a:off x="1261872" y="3957523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Claiming merge sort is in-place.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needs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auxiliary space. In-place merging exists and is slower and much harder.</a:t>
            </a:r>
          </a:p>
        </p:txBody>
      </p:sp>
      <p:sp>
        <p:nvSpPr>
          <p:cNvPr id="19" name="!!p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15865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x4"/>
          <p:cNvSpPr txBox="1"/>
          <p:nvPr/>
        </p:nvSpPr>
        <p:spPr>
          <a:xfrm>
            <a:off x="658368" y="473872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1" name="!!pt4"/>
          <p:cNvSpPr txBox="1"/>
          <p:nvPr/>
        </p:nvSpPr>
        <p:spPr>
          <a:xfrm>
            <a:off x="1261872" y="4697577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Quoting a cutoff from a book.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best value here was 32, on this machine, for 4-byte elements. Measure your own.</a:t>
            </a:r>
          </a:p>
        </p:txBody>
      </p:sp>
      <p:sp>
        <p:nvSpPr>
          <p:cNvPr id="22" name="!!p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455919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x5"/>
          <p:cNvSpPr txBox="1"/>
          <p:nvPr/>
        </p:nvSpPr>
        <p:spPr>
          <a:xfrm>
            <a:off x="658368" y="5478779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4" name="!!pt5"/>
          <p:cNvSpPr txBox="1"/>
          <p:nvPr/>
        </p:nvSpPr>
        <p:spPr>
          <a:xfrm>
            <a:off x="1261872" y="5437631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Tuning the cutoff before fixing the algorithm.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18% from a cutoff is worth having; it is not worth having instead of a better order of growth.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60383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 (continued)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1B29D802-C3AE-483C-A0E1-808D9DD86D06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Assuming recursion is the overhead.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Bottom-up was only 6% faster. The memory traffic is the cost, not the call stack.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5782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Merge Sort, Tuned and Explained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A516E50A-1F5F-4445-A59D-0102368960A4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body-0"/>
          <p:cNvSpPr txBox="1"/>
          <p:nvPr/>
        </p:nvSpPr>
        <p:spPr>
          <a:xfrm>
            <a:off x="658368" y="1737360"/>
            <a:ext cx="10874959" cy="3627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Reproduces all four tables. Expect thirty minutes; it sorts two million elements many times.</a:t>
            </a:r>
          </a:p>
        </p:txBody>
      </p:sp>
      <p:sp>
        <p:nvSpPr>
          <p:cNvPr id="8" name="!!labsteps-h"/>
          <p:cNvSpPr txBox="1"/>
          <p:nvPr/>
        </p:nvSpPr>
        <p:spPr>
          <a:xfrm>
            <a:off x="658368" y="23652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9" name="!!labsteps"/>
          <p:cNvSpPr txBox="1"/>
          <p:nvPr/>
        </p:nvSpPr>
        <p:spPr>
          <a:xfrm>
            <a:off x="658368" y="2749296"/>
            <a:ext cx="10874959" cy="2164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1.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The merge, which is the whole idea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2.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Top-down: the recurrence written out as code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3.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The same merge with the branch removed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4.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The bound does not care what the input looks like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5.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What is the cutoff worth, and where is it?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6.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Top-down against bottom-up, and against the library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7.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Why is random input 4x slower than sorted input?</a:t>
            </a:r>
          </a:p>
        </p:txBody>
      </p:sp>
      <p:sp>
        <p:nvSpPr>
          <p:cNvPr id="39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lflTHIS"/>
          <p:cNvSpPr txBox="1"/>
          <p:nvPr/>
        </p:nvSpPr>
        <p:spPr>
          <a:xfrm>
            <a:off x="932688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42" name="!!lfvTHIS"/>
          <p:cNvSpPr txBox="1"/>
          <p:nvPr/>
        </p:nvSpPr>
        <p:spPr>
          <a:xfrm>
            <a:off x="932688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Week 5: Where n2 beats n lg n, and by how much</a:t>
            </a:r>
          </a:p>
        </p:txBody>
      </p:sp>
      <p:sp>
        <p:nvSpPr>
          <p:cNvPr id="43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lflWHAT"/>
          <p:cNvSpPr txBox="1"/>
          <p:nvPr/>
        </p:nvSpPr>
        <p:spPr>
          <a:xfrm>
            <a:off x="4649114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46" name="!!lfvWHAT"/>
          <p:cNvSpPr txBox="1"/>
          <p:nvPr/>
        </p:nvSpPr>
        <p:spPr>
          <a:xfrm>
            <a:off x="4649114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69 lines of C++</a:t>
            </a:r>
          </a:p>
        </p:txBody>
      </p:sp>
      <p:sp>
        <p:nvSpPr>
          <p:cNvPr id="47" name="!!lf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lfb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lflRUNN"/>
          <p:cNvSpPr txBox="1"/>
          <p:nvPr/>
        </p:nvSpPr>
        <p:spPr>
          <a:xfrm>
            <a:off x="8365540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RUNNABLE COPY</a:t>
            </a:r>
          </a:p>
        </p:txBody>
      </p:sp>
      <p:sp>
        <p:nvSpPr>
          <p:cNvPr id="50" name="!!lfvRUNN"/>
          <p:cNvSpPr txBox="1"/>
          <p:nvPr/>
        </p:nvSpPr>
        <p:spPr>
          <a:xfrm>
            <a:off x="8365540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Consolas"/>
              </a:rPr>
              <a:t>code/ch08_merge.cpp</a:t>
            </a:r>
          </a:p>
        </p:txBody>
      </p:sp>
      <p:sp>
        <p:nvSpPr>
          <p:cNvPr id="5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11182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Merge Sort, Tuned and Explained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5B89A37D-C20F-49D0-A2EB-D53E749F59EE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merge, which is the whole idea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169663"/>
          </a:xfrm>
          <a:prstGeom prst="roundRect">
            <a:avLst>
              <a:gd name="adj" fmla="val 219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code/ch08_merge.cpp</a:t>
            </a:r>
          </a:p>
        </p:txBody>
      </p:sp>
      <p:sp>
        <p:nvSpPr>
          <p:cNvPr id="14" name="!!code-text" descr="// ch08_merge.cpp -- the divide-and-conquer pattern, and what tuning buys. // Build: cl /O2 /EHsc /std:c++17 ch08_merge.cpp (see Appendix A) // --- 1. The merge, which is the whole idea ------------------------- // Two sorted runs become one in a single pass: look at both fronts, // take the smaller. Linear in the total length, and the only place // the algorithm compares anything. static void merge(std::vector&lt;int&gt;&amp; a, std::vector&lt;int&gt;&amp; buf, size_t lo, size_t mid, size_t hi, bool count) { size_t i = lo, j = mid, k = lo; while (i &lt; mid &amp;&amp; j &lt; hi) { if (count) ++comparisons; buf[k++] = (a[i] &lt;= a[j]) ? a[i++] : a[j++]; } while (i &lt; mid) buf[k++] = a[i++]; while (j &lt; hi) buf[k++] = a[j++]; std::copy(buf.begin() + lo, buf.begin() + hi, a.begin() + lo); }"/>
          <p:cNvSpPr txBox="1"/>
          <p:nvPr/>
        </p:nvSpPr>
        <p:spPr>
          <a:xfrm>
            <a:off x="1362456" y="2523744"/>
            <a:ext cx="9987991" cy="3675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ch08_merge.cpp -- the divide-and-conquer pattern, and what tuning buys.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Build: cl /O2 /EHsc /std:c++17 ch08_merge.cpp     (see Appendix 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--- 1. The merge, which is the whole idea 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Two sorted runs become one in a single pass: look at both fronts,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take the smaller. Linear in the total length, and the only place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the algorithm compares anything.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void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merge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5DADE2"/>
                </a:solidFill>
                <a:latin typeface="Consolas"/>
              </a:rPr>
              <a:t>int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5DADE2"/>
                </a:solidFill>
                <a:latin typeface="Consolas"/>
              </a:rPr>
              <a:t>int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lo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mid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hi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bool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count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lo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mid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lo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while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mid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hi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count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comparisons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?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while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mid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while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hi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 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copy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lo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hi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lo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675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36581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Merge Sort, Tuned and Explained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BDC3C798-DA62-4257-8DAD-0368159859A0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Top-down: the recurrence written out as code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169664"/>
          </a:xfrm>
          <a:prstGeom prst="roundRect">
            <a:avLst>
              <a:gd name="adj" fmla="val 219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code/ch08_merge.cpp</a:t>
            </a:r>
          </a:p>
        </p:txBody>
      </p:sp>
      <p:sp>
        <p:nvSpPr>
          <p:cNvPr id="14" name="!!code-text" descr="// --- 2. Top-down: the recurrence written out as code --------------- // T(n) = 2T(n/2) + Theta(n), which Chapter 6 settles as Theta(n lg n). // The cutoff is the one tuning knob: below it, insertion sort's // smaller constant wins, exactly as Chapter 1 measured. static void msort(std::vector&lt;int&gt;&amp; a, std::vector&lt;int&gt;&amp; buf, size_t lo, size_t hi, size_t cutoff, bool count) { if (hi - lo &lt; 2) return; if (hi - lo &lt;= cutoff) { insertion(a, lo, hi); return; } size_t mid = lo + (hi - lo) / 2; msort(a, buf, lo, mid, cutoff, count); msort(a, buf, mid, hi, cutoff, count); merge(a, buf, lo, mid, hi, count); }"/>
          <p:cNvSpPr txBox="1"/>
          <p:nvPr/>
        </p:nvSpPr>
        <p:spPr>
          <a:xfrm>
            <a:off x="1362456" y="2523744"/>
            <a:ext cx="9987991" cy="3675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--- 2. Top-down: the recurrence written out as code 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T(n) = 2T(n/2) + Theta(n), which Chapter 6 settles as Theta(n lg n).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The cutoff is the one tuning knob: below it, insertion sort's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smaller constant wins, exactly as Chapter 1 measured.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void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C39BD3"/>
                </a:solidFill>
                <a:latin typeface="Consolas"/>
              </a:rPr>
              <a:t>msort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std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5DADE2"/>
                </a:solidFill>
                <a:latin typeface="Consolas"/>
              </a:rPr>
              <a:t>int</a:t>
            </a:r>
            <a:r>
              <a:rPr sz="1800" i="0">
                <a:solidFill>
                  <a:srgbClr val="AEB6BF"/>
                </a:solidFill>
                <a:latin typeface="Consolas"/>
              </a:rPr>
              <a:t>&gt;</a:t>
            </a:r>
            <a:r>
              <a:rPr sz="18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std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5DADE2"/>
                </a:solidFill>
                <a:latin typeface="Consolas"/>
              </a:rPr>
              <a:t>int</a:t>
            </a:r>
            <a:r>
              <a:rPr sz="1800" i="0">
                <a:solidFill>
                  <a:srgbClr val="AEB6BF"/>
                </a:solidFill>
                <a:latin typeface="Consolas"/>
              </a:rPr>
              <a:t>&gt;</a:t>
            </a:r>
            <a:r>
              <a:rPr sz="18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buf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          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lo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hi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cutoff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bool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count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if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hi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-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lo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2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if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hi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-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lo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cutoff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{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insertion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lo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hi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mid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lo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hi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-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lo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/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2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msort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buf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lo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mid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cutoff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count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msort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buf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mid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hi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cutoff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count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merge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buf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lo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mid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hi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count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675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20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21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22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23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24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26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27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28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29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30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31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32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61980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Merge Sort, Tuned and Explained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6EFA9B38-74D6-460D-9528-C7495F9117C2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same merge with the branch removed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971543"/>
          </a:xfrm>
          <a:prstGeom prst="roundRect">
            <a:avLst>
              <a:gd name="adj" fmla="val 230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code/ch08_merge.cpp</a:t>
            </a:r>
          </a:p>
        </p:txBody>
      </p:sp>
      <p:sp>
        <p:nvSpPr>
          <p:cNvPr id="14" name="!!code-text" descr="// --- 3. The same merge with the branch removed --------------------- // Same comparisons and same output; the choice becomes arithmetic // that compiles to a conditional move, so there is no branch to // mispredict. Used only by part 7, to test what the gap is made of. static void merge_bl(std::vector&lt;int&gt;&amp; a, std::vector&lt;int&gt;&amp; buf, size_t lo, size_t mid, size_t hi) { size_t i = lo, j = mid, k = lo; while (i &lt; mid &amp;&amp; j &lt; hi) { bool take_left = a[i] &lt;= a[j]; buf[k++] = take_left ? a[i] : a[j]; i += take_left ? 1 : 0; j += take_left ? 0 : 1; } while (i &lt; mid) buf[k++] = a[i++]; while (j &lt; hi) buf[k++] = a[j++]; std::copy(buf.begin() + lo, buf.begin() + hi, a.begin() + lo); }"/>
          <p:cNvSpPr txBox="1"/>
          <p:nvPr/>
        </p:nvSpPr>
        <p:spPr>
          <a:xfrm>
            <a:off x="1362456" y="2523744"/>
            <a:ext cx="9987991" cy="34777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--- 3. The same merge with the branch removed 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Same comparisons and same output; the choice becomes arithmetic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that compiles to a conditional move, so there is no branch to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mispredict. Used only by part 7, to test what the gap is made of.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void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merge_bl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5DADE2"/>
                </a:solidFill>
                <a:latin typeface="Consolas"/>
              </a:rPr>
              <a:t>int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5DADE2"/>
                </a:solidFill>
                <a:latin typeface="Consolas"/>
              </a:rPr>
              <a:t>int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lo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mid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hi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lo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mid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lo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while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mid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hi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bool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take_left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take_left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?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take_left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?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take_left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?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while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mid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while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hi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 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copy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lo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buf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hi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begin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lo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4777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50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87380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Merge Sort, Tuned and Explained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0FE4203D-F2AA-49E0-AFC8-52D27743821B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bound does not care what the input looks like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472184"/>
          </a:xfrm>
          <a:prstGeom prst="roundRect">
            <a:avLst>
              <a:gd name="adj" fmla="val 62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code/ch08_merge.cpp</a:t>
            </a:r>
          </a:p>
        </p:txBody>
      </p:sp>
      <p:sp>
        <p:nvSpPr>
          <p:cNvPr id="14" name="!!code-text" descr="// --- 4. The bound does not care what the input looks like ---------- // Chapter 2 found insertion sort varying by 6,600x across these same // three shapes. Merge sort should vary by almost nothing."/>
          <p:cNvSpPr txBox="1"/>
          <p:nvPr/>
        </p:nvSpPr>
        <p:spPr>
          <a:xfrm>
            <a:off x="1362456" y="2523744"/>
            <a:ext cx="9987991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--- 4. The bound does not care what the input looks like 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Chapter 2 found insertion sort varying by 6,600x across these same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three shapes. Merge sort should vary by almost nothing.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54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Merge Sort, Tuned and Explained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5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555F2E5D-0EFA-4908-A79A-4C976A807DD6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What is the cutoff worth, and where is it?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472184"/>
          </a:xfrm>
          <a:prstGeom prst="roundRect">
            <a:avLst>
              <a:gd name="adj" fmla="val 62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code/ch08_merge.cpp</a:t>
            </a:r>
          </a:p>
        </p:txBody>
      </p:sp>
      <p:sp>
        <p:nvSpPr>
          <p:cNvPr id="14" name="!!code-text" descr="// --- 5. What is the cutoff worth, and where is it? ----------------- // The best value is a property of this machine, not of the algorithm, // which is exactly why it has to be measured rather than looked up."/>
          <p:cNvSpPr txBox="1"/>
          <p:nvPr/>
        </p:nvSpPr>
        <p:spPr>
          <a:xfrm>
            <a:off x="1362456" y="2523744"/>
            <a:ext cx="9987991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--- 5. What is the cutoff worth, and where is it? 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 best value is a property of this machine, not of the algorithm,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which is exactly why it has to be measured rather than looked up.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8179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Merge Sort, Tuned and Explained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6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135F1394-69FE-4699-B4C5-0DDA4865C139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Top-down against bottom-up, and against the library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761743"/>
          </a:xfrm>
          <a:prstGeom prst="roundRect">
            <a:avLst>
              <a:gd name="adj" fmla="val 5190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code/ch08_merge.cpp</a:t>
            </a:r>
          </a:p>
        </p:txBody>
      </p:sp>
      <p:sp>
        <p:nvSpPr>
          <p:cNvPr id="14" name="!!code-text" descr="// --- 6. Top-down against bottom-up, and against the library -------- // Same recurrence, same Theta. Everything that differs is constant // factors -- recursion overhead, memory order, and in std::sort's // case a different algorithm entirely (Chapter 9)."/>
          <p:cNvSpPr txBox="1"/>
          <p:nvPr/>
        </p:nvSpPr>
        <p:spPr>
          <a:xfrm>
            <a:off x="1362456" y="2523744"/>
            <a:ext cx="9987991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--- 6. Top-down against bottom-up, and against the library 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Same recurrence, same Theta. Everything that differs is constant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factors -- recursion overhead, memory order, and in std::sort's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case a different algorithm entirely (Chapter 9).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63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63578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Merge Sort, Tuned and Explained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7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8905FE21-8C50-40B6-9303-15FCC00773DD}" type="slidenum">
              <a:rPr lang="en-GB" sz="1000">
                <a:solidFill>
                  <a:srgbClr val="8795A1"/>
                </a:solidFill>
                <a:latin typeface="Segoe UI"/>
              </a:rPr>
              <a:t>35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Why is random input 4x slower than sorted input?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2051303"/>
          </a:xfrm>
          <a:prstGeom prst="roundRect">
            <a:avLst>
              <a:gd name="adj" fmla="val 4457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code/ch08_merge.cpp</a:t>
            </a:r>
          </a:p>
        </p:txBody>
      </p:sp>
      <p:sp>
        <p:nvSpPr>
          <p:cNvPr id="14" name="!!code-text" descr="// --- 7. Why is random input 4x slower than sorted input? ----------- // Part 4 found 3.9x in time but only 1.9x in comparisons, so half the // slowdown is NOT work done. Hypothesis: the branch in the merge // loop, perfectly predicted on sorted input and a coin flip on // random. Replace it with arithmetic and see whether the gap closes."/>
          <p:cNvSpPr txBox="1"/>
          <p:nvPr/>
        </p:nvSpPr>
        <p:spPr>
          <a:xfrm>
            <a:off x="1362456" y="2523744"/>
            <a:ext cx="9987991" cy="1557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--- 7. Why is random input 4x slower than sorted input? 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Part 4 found 3.9x in time but only 1.9x in comparisons, so half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slowdown is NOT work done. Hypothesis: the branch in the merge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loop, perfectly predicted on sorted input and a coin flip 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random. Replace it with arithmetic and see whether the gap closes.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557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69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88977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lab shows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§8.4  ·  Handout p. 68     </a:t>
            </a:r>
            <a:fld id="{4A359F19-2C70-45C8-8281-5DAB8E8E6963}" type="slidenum">
              <a:rPr lang="en-GB" sz="1000">
                <a:solidFill>
                  <a:srgbClr val="8795A1"/>
                </a:solidFill>
                <a:latin typeface="Segoe UI"/>
              </a:rPr>
              <a:t>36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063314"/>
          </a:xfrm>
          <a:prstGeom prst="roundRect">
            <a:avLst>
              <a:gd name="adj" fmla="val 2250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06331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What to notice.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Part 7 is the shape of a real investigation: a measurement that does not fit, a hypothesis that names a mechanism, and an experiment whose two possible outcomes would tell you different things. The answer — 0.557 — was not knowable in advance.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667074"/>
            <a:ext cx="10161727" cy="1868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Then try to break it.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Run the branchless merge on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sorted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input and predict the result first. It should be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slower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than the branchy one, because a perfectly predicted branch costs almost nothing while a conditional move always costs something. If your prediction was “faster”, the thing to revise is the belief that branchless code is simply better.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77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Why is merge sort’s recurrence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 = 2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/2) + Θ(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valid for every input, while insertion sort needs three separate analyses?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71  ·  answers in Appendix D     </a:t>
            </a:r>
            <a:fld id="{8FDCDDBC-A626-46EC-8D29-F26EA7335717}" type="slidenum">
              <a:rPr lang="en-GB" sz="1000">
                <a:solidFill>
                  <a:srgbClr val="D5DEE5"/>
                </a:solidFill>
                <a:latin typeface="Segoe UI"/>
              </a:rPr>
              <a:t>37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Why is merge sort’s recurrence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 = 2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/2) + Θ(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valid for every input, while insertion sort needs three separate analyses?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743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789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Because merge sort’s control flow does not depend on the data. The split is always into halves and Merge always performs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+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work, whatever the values. Insertion sort’s inner loop runs a number of times that depends on the number of inversions, which is 0,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≈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/4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or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≈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depending on the input — so it has three analyses and merge sort has one.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71  ·  answers in Appendix D     </a:t>
            </a:r>
            <a:fld id="{84801850-D350-428A-A4F1-073673595400}" type="slidenum">
              <a:rPr lang="en-GB" sz="1000">
                <a:solidFill>
                  <a:srgbClr val="8795A1"/>
                </a:solidFill>
                <a:latin typeface="Segoe UI"/>
              </a:rPr>
              <a:t>38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65175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Merge performs between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min(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,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and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+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−1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comparisons. Describe an input achieving each bound, and relate your answer to the measured 0.496 and 0.940.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71  ·  answers in Appendix D     </a:t>
            </a:r>
            <a:fld id="{83614856-5F13-44AD-A9AB-8D3549E21A2E}" type="slidenum">
              <a:rPr lang="en-GB" sz="1000">
                <a:solidFill>
                  <a:srgbClr val="D5DEE5"/>
                </a:solidFill>
                <a:latin typeface="Segoe UI"/>
              </a:rPr>
              <a:t>39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109910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Merge performs between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min(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1600" b="0" i="0" baseline="-25000">
                <a:solidFill>
                  <a:srgbClr val="1A5276"/>
                </a:solidFill>
                <a:latin typeface="Cambria"/>
              </a:rPr>
              <a:t>1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,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1600" b="0" i="0" baseline="-25000">
                <a:solidFill>
                  <a:srgbClr val="1A5276"/>
                </a:solidFill>
                <a:latin typeface="Cambria"/>
              </a:rPr>
              <a:t>2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and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1600" b="0" i="0" baseline="-25000">
                <a:solidFill>
                  <a:srgbClr val="1A5276"/>
                </a:solidFill>
                <a:latin typeface="Cambria"/>
              </a:rPr>
              <a:t>1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+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1600" b="0" i="0" baseline="-25000">
                <a:solidFill>
                  <a:srgbClr val="1A5276"/>
                </a:solidFill>
                <a:latin typeface="Cambria"/>
              </a:rPr>
              <a:t>2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−1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comparisons. Describe an input achieving each bound, and relate your answer to the measured 0.496 and 0.940.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14092"/>
            <a:ext cx="64008" cy="1743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2114092"/>
            <a:ext cx="10509199" cy="1789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The minimum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min(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,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is attained when one run is entirely smaller than the other, as on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already-sorted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input, where the loop exhausts the left run first. The maximum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1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+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−1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is attained when the runs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interleave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as on random input, so that both are nearly exhausted together. Measured: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0.496 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against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0.940 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— almost exactly the predicted factor of 2.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71  ·  answers in Appendix D     </a:t>
            </a:r>
            <a:fld id="{2FD56B5D-E7A1-4510-9A18-ECF6D5E22190}" type="slidenum">
              <a:rPr lang="en-GB" sz="1000">
                <a:solidFill>
                  <a:srgbClr val="8795A1"/>
                </a:solidFill>
                <a:latin typeface="Segoe UI"/>
              </a:rPr>
              <a:t>40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15974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The measured best cutoff was 32 and Chapter 1’s measured crossover was 65. Give a reason the two numbers differ.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71  ·  answers in Appendix D     </a:t>
            </a:r>
            <a:fld id="{29E8CE96-FEB0-4249-99FF-933F6EC24AB2}" type="slidenum">
              <a:rPr lang="en-GB" sz="1000">
                <a:solidFill>
                  <a:srgbClr val="D5DEE5"/>
                </a:solidFill>
                <a:latin typeface="Segoe UI"/>
              </a:rPr>
              <a:t>41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The measured best cutoff was 32 and Chapter 1’s measured crossover was 65. Give a reason the two numbers differ.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743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789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They measure different things. Chapter 1’s 65 is where insertion sort beats merge sort on a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whole array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timed from cold. The cutoff of 32 is where insertion sort beats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continued recursion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on a subarray that is already in cache and already part of a larger sort. The second has less overhead to beat, so it turns over sooner. Either is a plausible answer; the point is that they are not the same quantity.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71  ·  answers in Appendix D     </a:t>
            </a:r>
            <a:fld id="{269142A5-0BE2-4D4C-9617-4B3E7155AFF4}" type="slidenum">
              <a:rPr lang="en-GB" sz="1000">
                <a:solidFill>
                  <a:srgbClr val="8795A1"/>
                </a:solidFill>
                <a:latin typeface="Segoe UI"/>
              </a:rPr>
              <a:t>42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66773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71     </a:t>
            </a:r>
            <a:fld id="{04C84D70-E1C5-4B44-9F10-7289C3BF1461}" type="slidenum">
              <a:rPr lang="en-GB" sz="1000">
                <a:solidFill>
                  <a:srgbClr val="8795A1"/>
                </a:solidFill>
                <a:latin typeface="Segoe UI"/>
              </a:rPr>
              <a:t>43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Divide and conquer: divide into smaller instances of the same problem, conquer recursively, combine. The cost is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aT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+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D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+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59126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Merge sort has an easy split and a hard join; quicksort the reverse. Merge sort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guarantees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even split, which is why its bound holds in every case.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1900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2449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180892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= 2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/2) + 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for every input, so by case 2 of the master theorem merge sort is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best, worst and average, with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auxiliary space.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180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966667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902659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2,000,000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: comparisons were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0.496 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on sorted input and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0.940 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on random, and times were 73 ms and 286 ms. The bound is case-independent; the clock is not.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63356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68843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624425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An insertion-sort cutoff of 32 was worth 18% on this machine. The best value is a property of the machine and must be measured.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553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4102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346192"/>
            <a:ext cx="10234879" cy="80832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3.78×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sorted-to-random time gap decomposes as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1.89×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(more comparisons)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2.0×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(branch misprediction). Replacing the branch with a conditional move cut random-input time by 44%, which confirmed the mechanism.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2172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 (continued)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71     </a:t>
            </a:r>
            <a:fld id="{84DFB3D5-F004-4BDD-9012-1735CFDD194A}" type="slidenum">
              <a:rPr lang="en-GB" sz="1000">
                <a:solidFill>
                  <a:srgbClr val="8795A1"/>
                </a:solidFill>
                <a:latin typeface="Segoe UI"/>
              </a:rPr>
              <a:t>44</a:t>
            </a:fld>
          </a:p>
        </p:txBody>
      </p:sp>
      <p:sp>
        <p:nvSpPr>
          <p:cNvPr id="7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6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9" name="!!st6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4E79"/>
                </a:solidFill>
                <a:latin typeface="Consolas"/>
              </a:rPr>
              <a:t>std::sort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beat all four merge sorts by 39% — the same order of growth, won back by sorting in place.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17572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71     </a:t>
            </a:r>
            <a:fld id="{B7B43537-BF28-4958-AAA3-1ACCE771C6DC}" type="slidenum">
              <a:rPr lang="en-GB" sz="1000">
                <a:solidFill>
                  <a:srgbClr val="8795A1"/>
                </a:solidFill>
                <a:latin typeface="Segoe UI"/>
              </a:rPr>
              <a:t>45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Merge sort’s auxiliary space requirement is: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Θ(1)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42971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71     </a:t>
            </a:r>
            <a:fld id="{177DD049-A6F8-4F53-8925-3AA740C7EC4B}" type="slidenum">
              <a:rPr lang="en-GB" sz="1000">
                <a:solidFill>
                  <a:srgbClr val="8795A1"/>
                </a:solidFill>
                <a:latin typeface="Segoe UI"/>
              </a:rPr>
              <a:t>46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Merge sort’s worst-case running time is: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dependent on the input order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68370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71     </a:t>
            </a:r>
            <a:fld id="{0DF4E018-39D1-41C5-880C-7569D76E9B65}" type="slidenum">
              <a:rPr lang="en-GB" sz="1000">
                <a:solidFill>
                  <a:srgbClr val="8795A1"/>
                </a:solidFill>
                <a:latin typeface="Segoe UI"/>
              </a:rPr>
              <a:t>47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State the three steps of divide and conquer and apply them to merge sort, naming the cost of each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(CLO-6)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773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61853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55910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Explain why merge sort is stable, and which single character in Merge is responsible.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798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13913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079699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colleague reports that their merge sort is twice as slow on one dataset as on another of the same size, and concludes the implementation is buggy. Give two innocent explanations.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2087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426201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4202582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Derive the number of comparisons Merge performs on already-sorted input, and use it to predict the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0.496 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measured above.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04261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5083759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5024323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Design an experiment to find the best insertion-sort cutoff for sorting 64-byte records rather than 4-byte integers. Predict whether the best cutoff will be larger or smaller than 32, and say why.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3770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7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5739D"/>
                </a:solidFill>
                <a:latin typeface="Segoe UI Black"/>
              </a:rPr>
              <a:t>08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8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9 — Quicksort, Randomisation and the Average Case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8, pages 64–71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Where n2 beats n lg n, and by how much</a:t>
            </a:r>
          </a:p>
        </p:txBody>
      </p:sp>
      <p:sp>
        <p:nvSpPr>
          <p:cNvPr id="1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8  ·  Divide and Conquer: Merge Sort and the Pattern</a:t>
            </a:r>
          </a:p>
        </p:txBody>
      </p:sp>
      <p:sp>
        <p:nvSpPr>
          <p:cNvPr id="1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553317EC-32F6-4859-9540-2D32950E433C}" type="slidenum">
              <a:rPr lang="en-GB" sz="1000">
                <a:solidFill>
                  <a:srgbClr val="D5DEE5"/>
                </a:solidFill>
                <a:latin typeface="Segoe UI"/>
              </a:rPr>
              <a:t>48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nalysis of Algorithms Fall 2026">
  <a:themeElements>
    <a:clrScheme name="Analysis of Algorithms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nalysis of Algorithms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8: Divide and Conquer: Merge Sort and the Pattern</dc:title>
  <dc:subject>Analysis of Algorithms — Design, Proof and Measurement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