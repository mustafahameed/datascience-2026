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7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7.svg" ContentType="image/svg+xml"/>
  <Override PartName="/ppt/media/image68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ECB8482-B632-4E5B-9209-CB84606293EC}">
          <p14:sldIdLst>
            <p14:sldId id="256"/>
            <p14:sldId id="257"/>
            <p14:sldId id="258"/>
            <p14:sldId id="259"/>
            <p14:sldId id="260"/>
          </p14:sldIdLst>
        </p14:section>
        <p14:section name="5.1 What a Recurrence Is" id="{57651445-1807-473C-A12D-E51CE9893646}">
          <p14:sldIdLst>
            <p14:sldId id="261"/>
            <p14:sldId id="262"/>
            <p14:sldId id="263"/>
          </p14:sldIdLst>
        </p14:section>
        <p14:section name="5.2 The Substitution Method" id="{02EA7B08-B38D-42B4-AF6B-4F8D95C8B79E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5.3 Recursion Trees: a Way to Guess" id="{54017786-2CC3-49EA-ACD8-A420DED8C9C4}">
          <p14:sldIdLst>
            <p14:sldId id="270"/>
            <p14:sldId id="271"/>
            <p14:sldId id="272"/>
            <p14:sldId id="273"/>
            <p14:sldId id="274"/>
          </p14:sldIdLst>
        </p14:section>
        <p14:section name="5.4 An Unbalanced Split" id="{A76AAE7C-488E-4569-8CD9-DE706768B9E9}">
          <p14:sldIdLst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5.5 Floors, Ceilings and Boundaries" id="{05FF5DCF-9938-420B-AD51-1BA6011026B0}">
          <p14:sldIdLst>
            <p14:sldId id="282"/>
          </p14:sldIdLst>
        </p14:section>
        <p14:section name="Pitfalls" id="{CCE41ED3-BC6D-49DC-8B87-B8A50A2C6452}">
          <p14:sldIdLst>
            <p14:sldId id="283"/>
            <p14:sldId id="284"/>
          </p14:sldIdLst>
        </p14:section>
        <p14:section name="Lab" id="{313D97A9-FAFB-4D17-8ACA-05DAAE1B5C62}">
          <p14:sldIdLst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Checkpoint" id="{CAA336D9-3137-4E71-992B-0F3E561F3820}">
          <p14:sldIdLst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Wrap-up" id="{6BE59B9F-B66B-4375-AAD8-57CC12F3575E}">
          <p14:sldIdLst>
            <p14:sldId id="298"/>
            <p14:sldId id="299"/>
            <p14:sldId id="300"/>
            <p14:sldId id="301"/>
            <p14:sldId id="302"/>
            <p14:sldId id="30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5: Recurrences I: Substitution and Recursion Trees. Part 2 — Recursion and Divide-and-Conquer. Week 4: Recurrences; the master theorem. Handout pages 41–48.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3 for O, Ω and Θ, and Chapter 4 for induction — a substitution proof is an induction proof, and the three obligations are the same ones. Appendix B has the summation identities.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recurrence; base case; substitution method; inductive hypothesis; strengthening the hypothesis; recursion tree; level; internal node; leaf; balanced split; unbalanced split; boundary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recursive algorithm’s cost is defined in terms of itself, so its running time is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guess is where the work is; Section 5.3 is a machine for producing guesses.</a:t>
            </a:r>
          </a:p>
          <a:p/>
          <a:p>
            <a:r>
              <a:t>Proof. Guess T(n) ≤ cn lg n for a constant c &gt; 0 to be chosen, and all n ≥ n₀. Inductive step. Assume the bound holds for n/2, that is T(n/2) ≤ c (n/2) lg(n/2). Then alignedT(n) &amp;= 2T(n/2) + n       &amp;≤ 2 ( c n/2 lgn/2 ) + n       = cn lgn/2 + n       &amp;= cn lg n − cn lg 2 + n       = cn lg n − cn + n.aligned This is at most cn lg n provided −cn + n ≤ 0, that is c ≥ 1. Base case. The induction needs some n at which the bound holds outright. At n = 1 it does not: T(1) = 1 but c · 1 · lg 1 = 0. This is not a flaw in the result — asymptotic bounds need hold only for n ≥ n₀, so take n₀ = 2. Then T(2) = 2T(1) + 2 = 4, and c · 2 lg 2 = 2c ≥ 4 whenever c ≥ 2. Taking c = 2 and n₀ = 2 satisfies both conditions, so T(n) ≤ 2n lg n for all n ≥ 2, and T(n) = O(n lg 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recursion tree makes the sum visible. Each node is one call, labelled with the work that call does excluding its recursive calls; the total is the sum over all nodes, which is easiest taken level by level.</a:t>
            </a:r>
          </a:p>
          <a:p/>
          <a:p>
            <a:r>
              <a:t>Figure 5.1 (handout p. 43): The recursion tree for T(n) = 2T(n/2) + n. Each level holds twice as many nodes, each doing half as much work, so every level totals n. The depth is lg n because the argument halves, and the product is the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algorithms do not always divide evenly. Quicksort (Chapter 9) splits wherever the pivot lands. What does a lopsided split cost?</a:t>
            </a:r>
          </a:p>
          <a:p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Reproduces all three tables above. Expect twenty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The balanced recursion, T(n) = 2T(n/2) + n.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The lopsided recursion, T(n) = T(n/3) + T(2n/3) + n.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Each level of a balanced tree does the same work.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A lopsided tree, where the levels stop being full.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Does the depth grow the way the algebra says?.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The tree is a path: one node at each level, doing n, n−1, n−2, … work, with n levels. The total is Σk=1n k = n(n+1)/2 = Θ(n2). It is not Θ(n lg n) because the argument shrinks by a constant amount, not a constant fraction — so the depth is n rather than lg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Guess T(n) ≤ cn2. Then T(n) ≤ 2c(n/2)2 + n2 = cn2/2 + n2, which is ≤ cn2 provided n2 ≤ cn2/2, i.e. c ≥ 2. With a base case at n0 = 1 and c = max{2, T(1)} the induction closes. (This is case 3 of the master theorem, confirming the answer.)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A 1-to-99 split divides the problem by the constant factors 100 and 100/99, so the depth is log100/99 n = Θ(lg n) and every full level does n work: Θ(n lg n), with a larger constant. A 1-to-(n−1) split removes one element per level, so the depth is n and the total is Θ(n2). Constant fraction, not constant amount is the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6 — Recurrences II: The Master Theorem. READ: Handout Chapter 5, pages 41–48. THIS WEEK'S LAB: Recursion trees against measured depth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5.xml"/><Relationship Id="rId8" Type="http://schemas.openxmlformats.org/officeDocument/2006/relationships/slide" Target="slide20.xml"/><Relationship Id="rId9" Type="http://schemas.openxmlformats.org/officeDocument/2006/relationships/slide" Target="slide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23.png"/><Relationship Id="rId5" Type="http://schemas.openxmlformats.org/officeDocument/2006/relationships/image" Target="../media/image24.sv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5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31.sv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32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33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34.svg"/><Relationship Id="rId4" Type="http://schemas.openxmlformats.org/officeDocument/2006/relationships/image" Target="../media/image35.png"/><Relationship Id="rId5" Type="http://schemas.openxmlformats.org/officeDocument/2006/relationships/image" Target="../media/image36.sv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37.sv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38.sv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39.sv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40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41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42.svg"/><Relationship Id="rId4" Type="http://schemas.openxmlformats.org/officeDocument/2006/relationships/image" Target="../media/image43.png"/><Relationship Id="rId5" Type="http://schemas.openxmlformats.org/officeDocument/2006/relationships/image" Target="../media/image44.svg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Relationship Id="rId3" Type="http://schemas.openxmlformats.org/officeDocument/2006/relationships/image" Target="../media/image46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Relationship Id="rId3" Type="http://schemas.openxmlformats.org/officeDocument/2006/relationships/image" Target="../media/image47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49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50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51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52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53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54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Relationship Id="rId3" Type="http://schemas.openxmlformats.org/officeDocument/2006/relationships/image" Target="../media/image55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7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Relationship Id="rId3" Type="http://schemas.openxmlformats.org/officeDocument/2006/relationships/image" Target="../media/image59.svg"/><Relationship Id="rId4" Type="http://schemas.openxmlformats.org/officeDocument/2006/relationships/image" Target="../media/image60.png"/><Relationship Id="rId5" Type="http://schemas.openxmlformats.org/officeDocument/2006/relationships/image" Target="../media/image61.svg"/><Relationship Id="rId6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62.sv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Relationship Id="rId3" Type="http://schemas.openxmlformats.org/officeDocument/2006/relationships/image" Target="../media/image63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64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png"/><Relationship Id="rId3" Type="http://schemas.openxmlformats.org/officeDocument/2006/relationships/image" Target="../media/image65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png"/><Relationship Id="rId3" Type="http://schemas.openxmlformats.org/officeDocument/2006/relationships/image" Target="../media/image67.sv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png"/><Relationship Id="rId3" Type="http://schemas.openxmlformats.org/officeDocument/2006/relationships/image" Target="../media/image68.sv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0.sv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1.sv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png"/><Relationship Id="rId3" Type="http://schemas.openxmlformats.org/officeDocument/2006/relationships/image" Target="../media/image72.sv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7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9769F"/>
                </a:solidFill>
                <a:latin typeface="Segoe UI Black"/>
              </a:rPr>
              <a:t>05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Recurrences I: Substitution and Recursion Trees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C1D4E1"/>
                </a:solidFill>
                <a:latin typeface="Segoe UI"/>
              </a:rPr>
              <a:t>PART II  ·  RECURSION AND DIVIDE-AND-CONQUER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C1D4E1"/>
                </a:solidFill>
                <a:latin typeface="Segoe UI"/>
              </a:rPr>
              <a:t>CHAPTER 5  ·  WEEK 4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3E1EA"/>
                </a:solidFill>
                <a:latin typeface="Segoe UI"/>
              </a:rPr>
              <a:t>Design, Proof and Measurement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19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8BAC7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CCD6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BAC7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41     </a:t>
            </a:r>
            <a:fld id="{F2542581-6BC6-4E32-BD03-DED4EE17F4B6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773892" y="1755648"/>
            <a:ext cx="205918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3892" y="2029967"/>
            <a:ext cx="2059189" cy="4572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5162265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2265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7003469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3469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844673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4673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294156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94156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508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1706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229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0878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195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0051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8367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8922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8856" y="2112264"/>
            <a:ext cx="566928" cy="566928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658856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232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26088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4405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65261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577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0443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749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43605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53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10209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8525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4938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697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588553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869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27725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347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69432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64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3350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7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72673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990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1184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7594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878450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6766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1762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938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956794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542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23398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1714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062570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0886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1101742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23</a:t>
            </a:r>
          </a:p>
        </p:txBody>
      </p:sp>
      <p:sp>
        <p:nvSpPr>
          <p:cNvPr id="65" name="!!dotlabel"/>
          <p:cNvSpPr txBox="1"/>
          <p:nvPr/>
        </p:nvSpPr>
        <p:spPr>
          <a:xfrm>
            <a:off x="658368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6794"/>
                </a:solidFill>
                <a:latin typeface="Segoe UI"/>
              </a:rPr>
              <a:t>Recurrences I: Substitution and Recursion Trees</a:t>
            </a:r>
          </a:p>
        </p:txBody>
      </p:sp>
      <p:sp>
        <p:nvSpPr>
          <p:cNvPr id="66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7" name="!!chip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chipb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tBU3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Asymptotic Notation</a:t>
            </a:r>
          </a:p>
        </p:txBody>
      </p:sp>
      <p:sp>
        <p:nvSpPr>
          <p:cNvPr id="70" name="!!chipBU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chipbBU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tBU4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Correctness: Loop Invariants</a:t>
            </a:r>
          </a:p>
        </p:txBody>
      </p:sp>
      <p:sp>
        <p:nvSpPr>
          <p:cNvPr id="73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4" name="!!chipUS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!!chipbUS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chiptUS6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6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Recurrences II: The Master Theorem</a:t>
            </a:r>
          </a:p>
        </p:txBody>
      </p:sp>
      <p:sp>
        <p:nvSpPr>
          <p:cNvPr id="77" name="!!chipUS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chipbUS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!!chiptUS8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8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Divide and Conquer: Merge Sort and the Pattern</a:t>
            </a:r>
          </a:p>
        </p:txBody>
      </p:sp>
      <p:sp>
        <p:nvSpPr>
          <p:cNvPr id="80" name="!!chipUS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!!chipbUS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chiptUS12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12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Heaps and Search Trees, Revisited for Analysis</a:t>
            </a:r>
          </a:p>
        </p:txBody>
      </p:sp>
      <p:sp>
        <p:nvSpPr>
          <p:cNvPr id="83" name="!!chipUS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!!chipbUS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!!chiptUS15"/>
          <p:cNvSpPr txBox="1"/>
          <p:nvPr/>
        </p:nvSpPr>
        <p:spPr>
          <a:xfrm>
            <a:off x="6525615" y="5413248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Dynamic Programming I: The Elements</a:t>
            </a:r>
          </a:p>
        </p:txBody>
      </p:sp>
      <p:sp>
        <p:nvSpPr>
          <p:cNvPr id="8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0798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41     </a:t>
            </a:r>
            <a:fld id="{7546D1F6-D40E-4271-B466-7B5A007D0320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Write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recurrence that describes a recursive algorithm’s running time,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its base case contributes.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061411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Solve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recurrence by substitution: guess a bound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prove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 by induction, including the case where the guess must be strengthened.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118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978554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909974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Draw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recursion tree,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sum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 level by level,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use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result as a guess for substitution.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67681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827117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758537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Analyse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an unbalanced split,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the deepest branch sets the depth while the total work stays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16244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67568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657392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Justify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ignoring floors, ceilings and boundary conditions.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6198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41     </a:t>
            </a:r>
            <a:fld id="{58BC694B-8B70-4FA7-9A83-C03D880AEF47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recurren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46702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recurren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recurrence"/>
          <p:cNvSpPr txBox="1"/>
          <p:nvPr/>
        </p:nvSpPr>
        <p:spPr>
          <a:xfrm>
            <a:off x="950976" y="1955291"/>
            <a:ext cx="128414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recurrence</a:t>
            </a:r>
          </a:p>
        </p:txBody>
      </p:sp>
      <p:sp>
        <p:nvSpPr>
          <p:cNvPr id="10" name="!!term-base c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71692" y="1847088"/>
            <a:ext cx="137171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base c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99708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base case"/>
          <p:cNvSpPr txBox="1"/>
          <p:nvPr/>
        </p:nvSpPr>
        <p:spPr>
          <a:xfrm>
            <a:off x="2564300" y="1955291"/>
            <a:ext cx="118883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base case</a:t>
            </a:r>
          </a:p>
        </p:txBody>
      </p:sp>
      <p:sp>
        <p:nvSpPr>
          <p:cNvPr id="13" name="!!term-substitution 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9707" y="1847088"/>
            <a:ext cx="241184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substitution 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1772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substitution m"/>
          <p:cNvSpPr txBox="1"/>
          <p:nvPr/>
        </p:nvSpPr>
        <p:spPr>
          <a:xfrm>
            <a:off x="4082315" y="1955291"/>
            <a:ext cx="222896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substitution method</a:t>
            </a:r>
          </a:p>
        </p:txBody>
      </p:sp>
      <p:sp>
        <p:nvSpPr>
          <p:cNvPr id="16" name="!!term-inductive hyp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47856" y="1847088"/>
            <a:ext cx="242613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inductive hyp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75872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inductive hypo"/>
          <p:cNvSpPr txBox="1"/>
          <p:nvPr/>
        </p:nvSpPr>
        <p:spPr>
          <a:xfrm>
            <a:off x="6640464" y="1955291"/>
            <a:ext cx="224325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inductive hypothesis</a:t>
            </a:r>
          </a:p>
        </p:txBody>
      </p:sp>
      <p:sp>
        <p:nvSpPr>
          <p:cNvPr id="19" name="!!term-strengthening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327923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strengthening 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strengthening "/>
          <p:cNvSpPr txBox="1"/>
          <p:nvPr/>
        </p:nvSpPr>
        <p:spPr>
          <a:xfrm>
            <a:off x="950976" y="2577084"/>
            <a:ext cx="309635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strengthening the hypothesis</a:t>
            </a:r>
          </a:p>
        </p:txBody>
      </p:sp>
      <p:sp>
        <p:nvSpPr>
          <p:cNvPr id="22" name="!!term-recursion t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3911" y="2468880"/>
            <a:ext cx="177601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recursion t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1927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recursion tree"/>
          <p:cNvSpPr txBox="1"/>
          <p:nvPr/>
        </p:nvSpPr>
        <p:spPr>
          <a:xfrm>
            <a:off x="4376519" y="2577084"/>
            <a:ext cx="159313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recursion tree</a:t>
            </a:r>
          </a:p>
        </p:txBody>
      </p:sp>
      <p:sp>
        <p:nvSpPr>
          <p:cNvPr id="25" name="!!term-lev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06225" y="2468880"/>
            <a:ext cx="88130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lev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424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level"/>
          <p:cNvSpPr txBox="1"/>
          <p:nvPr/>
        </p:nvSpPr>
        <p:spPr>
          <a:xfrm>
            <a:off x="6298833" y="2577084"/>
            <a:ext cx="69842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level</a:t>
            </a:r>
          </a:p>
        </p:txBody>
      </p:sp>
      <p:sp>
        <p:nvSpPr>
          <p:cNvPr id="28" name="!!term-internal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33838" y="2468880"/>
            <a:ext cx="173221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internal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6185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internal node"/>
          <p:cNvSpPr txBox="1"/>
          <p:nvPr/>
        </p:nvSpPr>
        <p:spPr>
          <a:xfrm>
            <a:off x="7326446" y="2577084"/>
            <a:ext cx="154933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internal node</a:t>
            </a:r>
          </a:p>
        </p:txBody>
      </p:sp>
      <p:sp>
        <p:nvSpPr>
          <p:cNvPr id="31" name="!!term-lea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2360" y="2468880"/>
            <a:ext cx="78839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leaf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0376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leaf"/>
          <p:cNvSpPr txBox="1"/>
          <p:nvPr/>
        </p:nvSpPr>
        <p:spPr>
          <a:xfrm>
            <a:off x="9204968" y="2577084"/>
            <a:ext cx="60551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leaf</a:t>
            </a:r>
          </a:p>
        </p:txBody>
      </p:sp>
      <p:sp>
        <p:nvSpPr>
          <p:cNvPr id="34" name="!!term-balanced spli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178153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balanced spli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balanced split"/>
          <p:cNvSpPr txBox="1"/>
          <p:nvPr/>
        </p:nvSpPr>
        <p:spPr>
          <a:xfrm>
            <a:off x="950976" y="3198876"/>
            <a:ext cx="159865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balanced split</a:t>
            </a:r>
          </a:p>
        </p:txBody>
      </p:sp>
      <p:sp>
        <p:nvSpPr>
          <p:cNvPr id="37" name="!!term-unbalanced sp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6208" y="3090672"/>
            <a:ext cx="203082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unbalanced sp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1422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unbalanced spl"/>
          <p:cNvSpPr txBox="1"/>
          <p:nvPr/>
        </p:nvSpPr>
        <p:spPr>
          <a:xfrm>
            <a:off x="2878816" y="3198876"/>
            <a:ext cx="184794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unbalanced split</a:t>
            </a:r>
          </a:p>
        </p:txBody>
      </p:sp>
      <p:sp>
        <p:nvSpPr>
          <p:cNvPr id="40" name="!!term-boundary cond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3335" y="3090672"/>
            <a:ext cx="235230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boundary cond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1351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boundary condi"/>
          <p:cNvSpPr txBox="1"/>
          <p:nvPr/>
        </p:nvSpPr>
        <p:spPr>
          <a:xfrm>
            <a:off x="5055943" y="3198876"/>
            <a:ext cx="216942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boundary condition</a:t>
            </a:r>
          </a:p>
        </p:txBody>
      </p:sp>
      <p:sp>
        <p:nvSpPr>
          <p:cNvPr id="43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4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1597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41–48     </a:t>
            </a:r>
            <a:fld id="{5D568007-25AD-4ED0-AD39-4E017471EE09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5.1 What a Recurrence Is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5.1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What a Recurrence Is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41  ›</a:t>
            </a:r>
          </a:p>
        </p:txBody>
      </p:sp>
      <p:sp>
        <p:nvSpPr>
          <p:cNvPr id="12" name="!!ag1" descr="Go to section 5.2 The Substitution Method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5.2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Substitution Method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42  ›</a:t>
            </a:r>
          </a:p>
        </p:txBody>
      </p:sp>
      <p:sp>
        <p:nvSpPr>
          <p:cNvPr id="17" name="!!ag2" descr="Go to section 5.3 Recursion Trees: a Way to Guess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5.3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Recursion Trees: a Way to Guess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43  ›</a:t>
            </a:r>
          </a:p>
        </p:txBody>
      </p:sp>
      <p:sp>
        <p:nvSpPr>
          <p:cNvPr id="22" name="!!ag3" descr="Go to section 5.4 An Unbalanced Split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5.4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An Unbalanced Split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44  ›</a:t>
            </a:r>
          </a:p>
        </p:txBody>
      </p:sp>
      <p:sp>
        <p:nvSpPr>
          <p:cNvPr id="27" name="!!ag4" descr="Go to section 5.5 Floors, Ceilings and Boundaries">
            <a:hlinkClick action="ppaction://hlinksldjump" r:id="rId9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5.5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Floors, Ceilings and Boundaries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45  ›</a:t>
            </a:r>
          </a:p>
        </p:txBody>
      </p:sp>
      <p:sp>
        <p:nvSpPr>
          <p:cNvPr id="3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6996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What a Recurrence Is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1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5.1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5.1   What a Recurrence Is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5.2   The Substitution Method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5.3   Recursion Trees: a Way to Guess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5.4   An Unbalanced Split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5.5   Floors, Ceilings and Boundaries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§5.1     </a:t>
            </a:r>
            <a:fld id="{75E90575-4D03-4AAC-AA8C-67DDAA3AB176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52396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Recurrence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§5.1  ·  Handout p. 41     </a:t>
            </a:r>
            <a:fld id="{D47D30BB-B63F-478E-B640-4C7806FB6C88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33839"/>
          </a:xfrm>
          <a:prstGeom prst="roundRect">
            <a:avLst>
              <a:gd name="adj" fmla="val 2159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33839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recurrence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an equation that defines a function in terms of its own value at smaller arguments, together with one or more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base cases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937992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Merge sort divides its input in half, sorts each half recursively, and merges the results in linear time. So</a:t>
            </a:r>
          </a:p>
        </p:txBody>
      </p:sp>
      <p:pic>
        <p:nvPicPr>
          <p:cNvPr id="11" name="body-2" descr="T(n) = \begin{cases} \Theta(1) &amp; n = 1, \\ T(\lceil n/2 \rceil) + T(\lfloor n/2 \rfloor) + \Theta(n) &amp; n &gt; 1. \end{cases}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3827729"/>
            <a:ext cx="10161727" cy="942837"/>
          </a:xfrm>
          <a:prstGeom prst="rect">
            <a:avLst/>
          </a:prstGeom>
        </p:spPr>
      </p:pic>
      <p:sp>
        <p:nvSpPr>
          <p:cNvPr id="12" name="body-3"/>
          <p:cNvSpPr txBox="1"/>
          <p:nvPr/>
        </p:nvSpPr>
        <p:spPr>
          <a:xfrm>
            <a:off x="1060704" y="4931222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Written as algorithm designers actually write it, with the floors dropped and the constants absorbed: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2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/2) +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77795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Three things that are quietly being ignored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§5.1  ·  Handout p. 41     </a:t>
            </a:r>
            <a:fld id="{33083502-BC09-46ED-9D65-750991E0CBD1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378047"/>
          </a:xfrm>
          <a:prstGeom prst="roundRect">
            <a:avLst>
              <a:gd name="adj" fmla="val 270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378047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2801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A93226"/>
                </a:solidFill>
                <a:latin typeface="Segoe UI"/>
              </a:rPr>
              <a:t>1.	</a:t>
            </a:r>
            <a:r>
              <a:rPr sz="2300" b="1" i="0">
                <a:solidFill>
                  <a:srgbClr val="A93226"/>
                </a:solidFill>
                <a:latin typeface="Segoe UI"/>
              </a:rPr>
              <a:t>Floors and ceilings.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not an integer when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odd. Section 5.5 says why dropping them is safe.</a:t>
            </a:r>
          </a:p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A93226"/>
                </a:solidFill>
                <a:latin typeface="Segoe UI"/>
              </a:rPr>
              <a:t>2.	</a:t>
            </a:r>
            <a:r>
              <a:rPr sz="2300" b="1" i="0">
                <a:solidFill>
                  <a:srgbClr val="A93226"/>
                </a:solidFill>
                <a:latin typeface="Segoe UI"/>
              </a:rPr>
              <a:t>The base case.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(1) = Θ(1)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assumed. For every recurrence in this book the base case contributes a constant, which the asymptotics absorb.</a:t>
            </a:r>
          </a:p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A93226"/>
                </a:solidFill>
                <a:latin typeface="Segoe UI"/>
              </a:rPr>
              <a:t>3.	</a:t>
            </a:r>
            <a:r>
              <a:rPr sz="2300" b="1" i="0">
                <a:solidFill>
                  <a:srgbClr val="A93226"/>
                </a:solidFill>
                <a:latin typeface="Segoe UI"/>
              </a:rPr>
              <a:t>The constant on </a:t>
            </a:r>
            <a:r>
              <a:rPr sz="23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“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+ 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” means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+ 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We are solving for an order of growth, so a constant factor on the combining step cannot change the answer — though Chapter 8 measures what it does to the clock.</a:t>
            </a:r>
          </a:p>
        </p:txBody>
      </p:sp>
      <p:sp>
        <p:nvSpPr>
          <p:cNvPr id="1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3194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Substitution Method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2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5.2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5.1   What a Recurrence Is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5.2   The Substitution Method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5.3   Recursion Trees: a Way to Guess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5.4   An Unbalanced Split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5.5   Floors, Ceilings and Boundaries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§5.2     </a:t>
            </a:r>
            <a:fld id="{FF3E7FFC-6CEB-4458-863F-D58FFEB817E0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594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Substitution Method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BRIEF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§5.2  ·  Handout p. 42     </a:t>
            </a:r>
            <a:fld id="{C73128C8-A4E3-4E0C-A0F7-6D6C46EF545E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342845"/>
          </a:xfrm>
          <a:prstGeom prst="roundRect">
            <a:avLst>
              <a:gd name="adj" fmla="val 3902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342845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substitution method has two steps and no magic in the second one: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573451"/>
            <a:ext cx="10161727" cy="124157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1.	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Guess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the form of the answer.</a:t>
            </a:r>
          </a:p>
          <a:p>
            <a:pPr algn="l" marL="554820" indent="-55482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2.	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Prove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it by induction, finding the constants that make the induction go through.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53993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Merge sort’s recurrence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5.1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§5.2  ·  Handout p. 42     </a:t>
            </a:r>
            <a:fld id="{BFF0ED97-3833-4877-A4F0-F4896BDB63FD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986332"/>
          </a:xfrm>
          <a:prstGeom prst="roundRect">
            <a:avLst>
              <a:gd name="adj" fmla="val 927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98633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If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2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/2) +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with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(1) = 1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then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79393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base case is where students lose marks, not the algebra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§5.2  ·  Handout p. 42     </a:t>
            </a:r>
            <a:fld id="{330321E0-9D3B-415F-949D-C098B9F2A9EF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605151"/>
          </a:xfrm>
          <a:prstGeom prst="roundRect">
            <a:avLst>
              <a:gd name="adj" fmla="val 3509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605151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Notice that the inductive step needed only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≥ 1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and the base case forced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≥ 2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Both constraints are real and the proof must satisfy both.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937992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Notice also that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1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could not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be made to work and did not have to be. Moving the base case up to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legitimate precisely because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O(·)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quantifies over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≥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the definition in Chapter 3 was built for exactly this.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Guess That Fails, and the Repair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§5.2  ·  Handout p. 42     </a:t>
            </a:r>
            <a:fld id="{939CA3C5-00CB-4A94-858B-915E13967A74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680998"/>
          </a:xfrm>
          <a:prstGeom prst="roundRect">
            <a:avLst>
              <a:gd name="adj" fmla="val 248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68099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Claim to test: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(⌊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/2 ⌋) +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(⌈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/2 ⌉) + 1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2445537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1 — the obvious attempt.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Guess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≤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Then</a:t>
            </a:r>
          </a:p>
        </p:txBody>
      </p:sp>
      <p:pic>
        <p:nvPicPr>
          <p:cNvPr id="11" name="body-2" descr="T(n) \le c\Bigl\lfloor \frac{n}{2} \Bigr\rfloor + c\Bigl\lceil \frac{n}{2} \Bigr\rceil + 1 = cn + 1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2879394"/>
            <a:ext cx="10234879" cy="493501"/>
          </a:xfrm>
          <a:prstGeom prst="rect">
            <a:avLst/>
          </a:prstGeom>
        </p:spPr>
      </p:pic>
      <p:sp>
        <p:nvSpPr>
          <p:cNvPr id="12" name="body-3"/>
          <p:cNvSpPr txBox="1"/>
          <p:nvPr/>
        </p:nvSpPr>
        <p:spPr>
          <a:xfrm>
            <a:off x="1042416" y="3505611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2 — why that is a failure.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+ 1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not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≤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for any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 algebra came out “nearly” right, and nearly is no good: the induction does not close, so nothing has been proved. No choice of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repairs it, because the leftover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+1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does not involve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at all.</a:t>
            </a:r>
          </a:p>
        </p:txBody>
      </p:sp>
      <p:sp>
        <p:nvSpPr>
          <p:cNvPr id="13" name="body-3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523899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body-4"/>
          <p:cNvSpPr txBox="1"/>
          <p:nvPr/>
        </p:nvSpPr>
        <p:spPr>
          <a:xfrm>
            <a:off x="1042416" y="4541753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3 — strengthen the hypothesis.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trick is to prove something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stronger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which gives the induction more to work with. Guess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≤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−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for constants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d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&gt; 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sp>
        <p:nvSpPr>
          <p:cNvPr id="15" name="body-4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560041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30191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Guess That Fails, and the Repair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§5.2  ·  Handout p. 42     </a:t>
            </a:r>
            <a:fld id="{2E9BDBE3-26E1-47AB-98A6-0D5E0F89D749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693979"/>
          </a:xfrm>
          <a:prstGeom prst="roundRect">
            <a:avLst>
              <a:gd name="adj" fmla="val 339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69397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body-0" descr="\begin{aligned}T(n) &amp;\le \Bigl(c\Bigl\lfloor \tfrac{n}{2} \Bigr\rfloor - d\Bigr) + \Bigl(c\Bigl\lceil \tfrac{n}{2} \Bigr\rceil - d\Bigr) + 1 \\ &amp;= cn - 2d + 1 \;\le\; cn - d \quad\text{whenever } d \ge 1.\end{aligned}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2011679"/>
            <a:ext cx="10234879" cy="808055"/>
          </a:xfrm>
          <a:prstGeom prst="rect">
            <a:avLst/>
          </a:prstGeom>
        </p:spPr>
      </p:pic>
      <p:sp>
        <p:nvSpPr>
          <p:cNvPr id="10" name="body-1"/>
          <p:cNvSpPr txBox="1"/>
          <p:nvPr/>
        </p:nvSpPr>
        <p:spPr>
          <a:xfrm>
            <a:off x="1042416" y="2952450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4 — the lesson.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Subtracting a lower-order term made the proof work. It looks backwards — proving more should be harder — but the inductive hypothesis is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used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as well as proved, and a stronger hypothesis is a stronger tool. This is the single most useful trick in the method, and the one worth remembering.</a:t>
            </a:r>
          </a:p>
        </p:txBody>
      </p:sp>
      <p:sp>
        <p:nvSpPr>
          <p:cNvPr id="11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970738"/>
            <a:ext cx="54864" cy="118628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55591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Recursion Trees: a Way to Guess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3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5.3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5.1   What a Recurrence Is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5.2   The Substitution Method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5.3   Recursion Trees: a Way to Guess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5.4   An Unbalanced Split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5.5   Floors, Ceilings and Boundaries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§5.3     </a:t>
            </a:r>
            <a:fld id="{83EF1958-AD7B-4B87-8EE5-2870A417CAD2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80990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recursion tree for T(n) = 2T(n/2) + n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36794"/>
                </a:solidFill>
                <a:latin typeface="Segoe UI"/>
              </a:rPr>
              <a:t>FIGURE 5.1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§5.3  ·  Handout p. 43     </a:t>
            </a:r>
            <a:fld id="{D7783912-EA16-452C-858C-97DBDBAD89C6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pic>
        <p:nvPicPr>
          <p:cNvPr id="6" name="!!figure" descr="Figure 5.1. The recursion tree for T(n) = 2T(n/2) + n. Each level holds twice as many nodes, each doing half as much work, so every level totals n. The depth is lg n because the argument halves, and the product is the bound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5689" y="1737360"/>
            <a:ext cx="9460316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Each level holds twice as many nodes, each doing half as much work, so every level totals n. The depth is lg n because the argument halves, and the product is the bound.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tree is a guess, not a proof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§5.3  ·  Handout p. 43     </a:t>
            </a:r>
            <a:fld id="{F035B4EA-A2D6-4A33-A486-5C3ED4F5E483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969691"/>
          </a:xfrm>
          <a:prstGeom prst="roundRect">
            <a:avLst>
              <a:gd name="adj" fmla="val 3079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969691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tree gives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 two lines. It is not a proof: the levels were assumed uniform, the leaves were counted loosely, and floors were ignored throughout.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That is the correct division of labour. </a:t>
            </a:r>
            <a:r>
              <a:rPr sz="2300" b="1" i="0">
                <a:solidFill>
                  <a:srgbClr val="1C252B"/>
                </a:solidFill>
                <a:latin typeface="Segoe UI"/>
              </a:rPr>
              <a:t>Draw the tree to get the guess; run substitution to prove it.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Theorem 5.1 is the proof for exactly the guess this tree produced.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31789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Tree, Counted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§5.3  ·  Handout p. 43     </a:t>
            </a:r>
            <a:fld id="{8DA0C5E1-C7FE-4522-A080-889992C2FC53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014647"/>
          </a:xfrm>
          <a:prstGeom prst="roundRect">
            <a:avLst>
              <a:gd name="adj" fmla="val 2277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014647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4E79"/>
                </a:solidFill>
                <a:latin typeface="Consolas"/>
              </a:rPr>
              <a:t>code/ch05_rectree.cpp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walks the recursion and records how many calls each level holds and how much work they do. 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1024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746679"/>
          <a:ext cx="5460965" cy="27310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877876"/>
                <a:gridCol w="702893"/>
                <a:gridCol w="908084"/>
                <a:gridCol w="972112"/>
              </a:tblGrid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depth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calls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work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work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/</a:t>
                      </a:r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1024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1024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1024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4c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⋯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 levels 3 to 9, all 1.000 </a:t>
                      </a:r>
                      <a:r>
                        <a:rPr sz="1600" b="0" i="0">
                          <a:solidFill>
                            <a:srgbClr val="1C252B"/>
                          </a:solidFill>
                          <a:latin typeface="Cambria"/>
                        </a:rPr>
                        <a:t>⋯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1024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1024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total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11,264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11.000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7188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Tree, Counted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§5.3  ·  Handout p. 43     </a:t>
            </a:r>
            <a:fld id="{1635373D-C596-4EA1-853A-17C9B55B2FC4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885924"/>
          </a:xfrm>
          <a:prstGeom prst="roundRect">
            <a:avLst>
              <a:gd name="adj" fmla="val 4848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88592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Every level does exactly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 work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the column is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1.000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all the way down, not approximately. There are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11 = lg 1024 + 1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levels, and the total is exactly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11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2746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And the quotient against the bound: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11,264 / (1024 lg 1024) = 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1.100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 tree’s reasoning is not an approximation here; it is arithmetic, and the program is checking the arithmetic.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764967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2587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An Unbalanced Split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4 OF 5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5.4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5.1   What a Recurrence Is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5.2   The Substitution Method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5.3   Recursion Trees: a Way to Guess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5.4   An Unbalanced Split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5.5   Floors, Ceilings and Boundaries</a:t>
            </a:r>
          </a:p>
        </p:txBody>
      </p:sp>
      <p:sp>
        <p:nvSpPr>
          <p:cNvPr id="11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</a:t>
            </a:r>
          </a:p>
        </p:txBody>
      </p:sp>
      <p:sp>
        <p:nvSpPr>
          <p:cNvPr id="12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§5.4     </a:t>
            </a:r>
            <a:fld id="{EDBAE54F-6FC9-4FF6-8467-0CB5086F8ADF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07987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T(n) = T(n/3) + T(2n/3) + n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§5.4  ·  Handout p. 44     </a:t>
            </a:r>
            <a:fld id="{A6B83D74-D22E-4812-A7AD-E3E6786B5B1B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81616"/>
          </a:xfrm>
          <a:prstGeom prst="roundRect">
            <a:avLst>
              <a:gd name="adj" fmla="val 2040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8161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1 — the shallowest leaf.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Following the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branch, the argument is divided by 3 each time, reaching 1 after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3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steps.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2746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2 — the deepest leaf.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Following the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branch, the argument is multiplied by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2/3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each time, reaching 1 after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3/2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steps.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42416" y="3481679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3 — what that means for the sum.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While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every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branch is still alive — down to depth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3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each level totals exactly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because the two children’s arguments sum to the parent’s. Below that, branches start bottoming out and the levels total less than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So</a:t>
            </a:r>
          </a:p>
        </p:txBody>
      </p:sp>
      <p:pic>
        <p:nvPicPr>
          <p:cNvPr id="12" name="body-3" descr="\underbrace{n \log_{3} n}_{\text{full levels}} \;\le\; T(n) \;\le\; \underbrace{n \log_{3/2} n}_{\text{if every level were full}},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4517821"/>
            <a:ext cx="10234879" cy="691835"/>
          </a:xfrm>
          <a:prstGeom prst="rect">
            <a:avLst/>
          </a:prstGeom>
        </p:spPr>
      </p:pic>
      <p:sp>
        <p:nvSpPr>
          <p:cNvPr id="13" name="body-4"/>
          <p:cNvSpPr txBox="1"/>
          <p:nvPr/>
        </p:nvSpPr>
        <p:spPr>
          <a:xfrm>
            <a:off x="1042416" y="5342371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and since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3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3/2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are both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they differ from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only by the constants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1/lg 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1/lg(3/2)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we get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3386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T(n) = T(n/3) + T(2n/3) + n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§5.4  ·  Handout p. 44     </a:t>
            </a:r>
            <a:fld id="{01A33FAD-5044-4C04-9A12-BAF4E096EA15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452067"/>
          </a:xfrm>
          <a:prstGeom prst="roundRect">
            <a:avLst>
              <a:gd name="adj" fmla="val 6297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452067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4 — the moral.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Any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split into constant fractions gives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A 1-to-99 split is still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; only the constant changes. What breaks the bound is a split that is not a constant fraction — such as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−1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which is Chapter 9’s worst case.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58786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Lopsided Tree, Counted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§5.4  ·  Handout p. 44     </a:t>
            </a:r>
            <a:fld id="{8ED6C63F-B814-4E15-8DDC-C188F4EF5497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849782"/>
          </a:xfrm>
          <a:prstGeom prst="roundRect">
            <a:avLst>
              <a:gd name="adj" fmla="val 10760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84978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same program, same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1024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lopsided split: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4185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Lopsided Tree, Counted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§5.4  ·  Handout p. 44     </a:t>
            </a:r>
            <a:fld id="{5A51DE12-8D4B-406B-AAA9-16EA9ADB7810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50080"/>
          </a:xfrm>
          <a:prstGeom prst="roundRect">
            <a:avLst>
              <a:gd name="adj" fmla="val 205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5008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42416" y="2011679"/>
          <a:ext cx="4788195" cy="39014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830360"/>
                <a:gridCol w="896451"/>
                <a:gridCol w="1186647"/>
                <a:gridCol w="1874737"/>
              </a:tblGrid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depth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calls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work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A5276"/>
                          </a:solidFill>
                          <a:latin typeface="Segoe UI"/>
                        </a:rPr>
                        <a:t>work</a:t>
                      </a:r>
                      <a:r>
                        <a:rPr sz="1600" b="1" i="0">
                          <a:solidFill>
                            <a:srgbClr val="1A5276"/>
                          </a:solidFill>
                          <a:latin typeface="Cambria"/>
                        </a:rPr>
                        <a:t>/</a:t>
                      </a:r>
                      <a:r>
                        <a:rPr sz="16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0–6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 to 64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1024 each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1.000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126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1023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0.999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210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1002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0.979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326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955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0.933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342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800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0.781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11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352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634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0.619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264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414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0.404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13–17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300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407 total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C252B"/>
                          </a:solidFill>
                          <a:latin typeface="Segoe UI"/>
                        </a:rPr>
                        <a:t>decaying to 0.002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90144"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total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12,403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C252B"/>
                          </a:solidFill>
                          <a:latin typeface="Segoe UI"/>
                        </a:rPr>
                        <a:t>12.112</a:t>
                      </a:r>
                      <a:endParaRPr sz="16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Lopsided Tree, Counted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§5.4  ·  Handout p. 44     </a:t>
            </a:r>
            <a:fld id="{56D01374-E152-426F-A536-6448DBC868ED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922066"/>
          </a:xfrm>
          <a:prstGeom prst="roundRect">
            <a:avLst>
              <a:gd name="adj" fmla="val 3129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92206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Levels 0 to 6 are exactly full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at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1.000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each. And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3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1024 = 6.29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so the prediction in Step 3 above, that the levels are full down to depth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3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is confirmed to the level.</a:t>
            </a:r>
          </a:p>
        </p:txBody>
      </p:sp>
      <p:sp>
        <p:nvSpPr>
          <p:cNvPr id="10" name="body-0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029967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body-1"/>
          <p:cNvSpPr txBox="1"/>
          <p:nvPr/>
        </p:nvSpPr>
        <p:spPr>
          <a:xfrm>
            <a:off x="1042416" y="2746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Below that the levels decay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exactly as the argument said they would, and the tree runs on to depth 17 rather than 10.</a:t>
            </a:r>
          </a:p>
        </p:txBody>
      </p:sp>
      <p:sp>
        <p:nvSpPr>
          <p:cNvPr id="12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764967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body-2"/>
          <p:cNvSpPr txBox="1"/>
          <p:nvPr/>
        </p:nvSpPr>
        <p:spPr>
          <a:xfrm>
            <a:off x="1042416" y="3481679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The totals: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12,403 against the balanced tree’s 11,264 — only 10% more work, for a split twice as lopsided. Against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quotient is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1.211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versus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1.100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This is what “the constant changes and the order does not” looks like when you measure it.</a:t>
            </a:r>
          </a:p>
        </p:txBody>
      </p:sp>
      <p:sp>
        <p:nvSpPr>
          <p:cNvPr id="14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499967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34984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Depth, Against the Prediction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§5.4  ·  Handout p. 44     </a:t>
            </a:r>
            <a:fld id="{1BEDBA0D-DB8E-43E6-AC23-1DF58B506704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528312"/>
          </a:xfrm>
          <a:prstGeom prst="roundRect">
            <a:avLst>
              <a:gd name="adj" fmla="val 2019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52831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627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Predicted depth ratio: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300" b="0" i="0" baseline="-25000">
                <a:solidFill>
                  <a:srgbClr val="1C252B"/>
                </a:solidFill>
                <a:latin typeface="Cambria"/>
              </a:rPr>
              <a:t>3/2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 /  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= 1/lg(3/2) = 1.71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468371"/>
          <a:ext cx="5734552" cy="243230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16004"/>
                <a:gridCol w="1186418"/>
                <a:gridCol w="659911"/>
                <a:gridCol w="1140867"/>
                <a:gridCol w="986437"/>
                <a:gridCol w="744915"/>
              </a:tblGrid>
              <a:tr h="405384">
                <a:tc>
                  <a:txBody>
                    <a:bodyPr wrap="square"/>
                    <a:lstStyle/>
                    <a:p>
                      <a:pPr algn="r"/>
                      <a:r>
                        <a:rPr sz="17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balanced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 i="0">
                          <a:solidFill>
                            <a:srgbClr val="1A5276"/>
                          </a:solidFill>
                          <a:latin typeface="Cambria"/>
                        </a:rPr>
                        <a:t>lg </a:t>
                      </a:r>
                      <a:r>
                        <a:rPr sz="17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lopsided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 i="0">
                          <a:solidFill>
                            <a:srgbClr val="1A5276"/>
                          </a:solidFill>
                          <a:latin typeface="Cambria"/>
                        </a:rPr>
                        <a:t>log</a:t>
                      </a:r>
                      <a:r>
                        <a:rPr sz="1100" b="1" i="0" baseline="-25000">
                          <a:solidFill>
                            <a:srgbClr val="1A5276"/>
                          </a:solidFill>
                          <a:latin typeface="Cambria"/>
                        </a:rPr>
                        <a:t>3/2</a:t>
                      </a:r>
                      <a:r>
                        <a:rPr sz="1700" b="1" i="0">
                          <a:solidFill>
                            <a:srgbClr val="1A5276"/>
                          </a:solidFill>
                          <a:latin typeface="Cambria"/>
                        </a:rPr>
                        <a:t> </a:t>
                      </a:r>
                      <a:r>
                        <a:rPr sz="17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ratio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1,024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11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10.0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18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17.1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1.64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4,096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13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12.0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22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20.5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1.69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16,384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15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14.0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25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23.9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1.67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65,536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17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16.0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29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27.4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1.71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262,144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19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18.0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32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30.8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1.68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5040376"/>
            <a:ext cx="10234879" cy="9966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Measured mean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1.68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against a predicted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1.71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The lopsided recursion is about 70% deeper and still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which is the single most useful fact about divide-and-conquer, because it means the split does not have to be perfect.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60383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Why dropping them is safe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§5.5  ·  Handout p. 45     </a:t>
            </a:r>
            <a:fld id="{B9018997-70AD-4727-92D5-6389B2865212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03745"/>
          </a:xfrm>
          <a:prstGeom prst="roundRect">
            <a:avLst>
              <a:gd name="adj" fmla="val 2175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0374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3151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Every recurrence above was written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/2)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when the honest version is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(⌊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/2⌋) +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(⌈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/2 ⌉)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436444"/>
            <a:ext cx="10161727" cy="3151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18D"/>
                </a:solidFill>
                <a:latin typeface="Segoe UI"/>
              </a:rPr>
              <a:t>The justification is a sandwich.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For the recurrences in this book,</a:t>
            </a:r>
          </a:p>
        </p:txBody>
      </p:sp>
      <p:pic>
        <p:nvPicPr>
          <p:cNvPr id="11" name="body-2" descr="T\bigl(\lfloor n/2 \rfloor\bigr) \;\le\; T(n/2) \;\le\; T\bigl(\lceil n/2 \rceil\bigr),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824632"/>
            <a:ext cx="10161727" cy="293796"/>
          </a:xfrm>
          <a:prstGeom prst="rect">
            <a:avLst/>
          </a:prstGeom>
        </p:spPr>
      </p:pic>
      <p:sp>
        <p:nvSpPr>
          <p:cNvPr id="12" name="body-3"/>
          <p:cNvSpPr txBox="1"/>
          <p:nvPr/>
        </p:nvSpPr>
        <p:spPr>
          <a:xfrm>
            <a:off x="1060704" y="3237174"/>
            <a:ext cx="10161727" cy="8540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since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non-decreasing, and the outer two differ by at most one step of the recursion — a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term already present. Carrying the floors through a substitution proof changes the constants and never the order of growth, which is why textbooks state the clean form and prove the messy one once.</a:t>
            </a:r>
          </a:p>
        </p:txBody>
      </p:sp>
      <p:sp>
        <p:nvSpPr>
          <p:cNvPr id="13" name="body-4"/>
          <p:cNvSpPr txBox="1"/>
          <p:nvPr/>
        </p:nvSpPr>
        <p:spPr>
          <a:xfrm>
            <a:off x="1060704" y="4164248"/>
            <a:ext cx="10161727" cy="584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18D"/>
                </a:solidFill>
                <a:latin typeface="Segoe UI"/>
              </a:rPr>
              <a:t>The same goes for the base case.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(1) = 1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against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(1) = 1000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changes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not the bound: the base-case work is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O(1)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per leaf and there are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leaves, contributing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O(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which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absorbs.</a:t>
            </a:r>
          </a:p>
        </p:txBody>
      </p:sp>
      <p:sp>
        <p:nvSpPr>
          <p:cNvPr id="14" name="body-5"/>
          <p:cNvSpPr txBox="1"/>
          <p:nvPr/>
        </p:nvSpPr>
        <p:spPr>
          <a:xfrm>
            <a:off x="1060704" y="4821880"/>
            <a:ext cx="10161727" cy="8540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18D"/>
                </a:solidFill>
                <a:latin typeface="Segoe UI"/>
              </a:rPr>
              <a:t>Where this stops being true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a recurrence whose subproblem sizes do not shrink by a constant fraction —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−1) +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say, whose tree is a path of length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whose solution is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There the “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−1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” is the whole content and may not be tidied away.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5782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§5.5  ·  Handout p. 45     </a:t>
            </a:r>
            <a:fld id="{BEA1A898-E277-4CC1-8BB2-A77E9D969CC0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Guessing from the tree and calling it proved.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tree produces a guess. Substitution proves it. Both steps are required.</a:t>
            </a:r>
          </a:p>
        </p:txBody>
      </p:sp>
      <p:sp>
        <p:nvSpPr>
          <p:cNvPr id="10" name="!!p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95702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x1"/>
          <p:cNvSpPr txBox="1"/>
          <p:nvPr/>
        </p:nvSpPr>
        <p:spPr>
          <a:xfrm>
            <a:off x="658368" y="251856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2" name="!!pt1"/>
          <p:cNvSpPr txBox="1"/>
          <p:nvPr/>
        </p:nvSpPr>
        <p:spPr>
          <a:xfrm>
            <a:off x="1261872" y="2477414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An inductive step that comes out “nearly” right.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+ 1 ≤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false, and a proof that ends there has proved nothing. Strengthen the hypothesis.</a:t>
            </a:r>
          </a:p>
        </p:txBody>
      </p:sp>
      <p:sp>
        <p:nvSpPr>
          <p:cNvPr id="13" name="!!p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235756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x2"/>
          <p:cNvSpPr txBox="1"/>
          <p:nvPr/>
        </p:nvSpPr>
        <p:spPr>
          <a:xfrm>
            <a:off x="658368" y="32586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5" name="!!pt2"/>
          <p:cNvSpPr txBox="1"/>
          <p:nvPr/>
        </p:nvSpPr>
        <p:spPr>
          <a:xfrm>
            <a:off x="1261872" y="3217468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Forgetting the base case.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inductive step above needed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≥ 1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the base case needed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≥ 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; a proof that checks only the step is half a proof.</a:t>
            </a:r>
          </a:p>
        </p:txBody>
      </p:sp>
      <p:sp>
        <p:nvSpPr>
          <p:cNvPr id="16" name="!!p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75811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x3"/>
          <p:cNvSpPr txBox="1"/>
          <p:nvPr/>
        </p:nvSpPr>
        <p:spPr>
          <a:xfrm>
            <a:off x="658368" y="3998671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8" name="!!pt3"/>
          <p:cNvSpPr txBox="1"/>
          <p:nvPr/>
        </p:nvSpPr>
        <p:spPr>
          <a:xfrm>
            <a:off x="1261872" y="3957523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Insisting the base case be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 = 1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need not be.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O()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quantifies over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≥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-25000">
                <a:solidFill>
                  <a:srgbClr val="1C252B"/>
                </a:solidFill>
                <a:latin typeface="Cambria"/>
              </a:rPr>
              <a:t>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you may choose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-25000">
                <a:solidFill>
                  <a:srgbClr val="1C252B"/>
                </a:solidFill>
                <a:latin typeface="Cambria"/>
              </a:rPr>
              <a:t>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9" name="!!p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42739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x4"/>
          <p:cNvSpPr txBox="1"/>
          <p:nvPr/>
        </p:nvSpPr>
        <p:spPr>
          <a:xfrm>
            <a:off x="658368" y="4565599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1" name="!!pt4"/>
          <p:cNvSpPr txBox="1"/>
          <p:nvPr/>
        </p:nvSpPr>
        <p:spPr>
          <a:xfrm>
            <a:off x="1261872" y="4524451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Assuming every level of a tree is full.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is true for a balanced split and false for a lopsided one from depth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1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100" b="0" i="0" baseline="-25000">
                <a:solidFill>
                  <a:srgbClr val="1C252B"/>
                </a:solidFill>
                <a:latin typeface="Cambria"/>
              </a:rPr>
              <a:t>min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onward — as the measured table shows, to the level.</a:t>
            </a:r>
          </a:p>
        </p:txBody>
      </p:sp>
      <p:sp>
        <p:nvSpPr>
          <p:cNvPr id="22" name="!!p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82793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x5"/>
          <p:cNvSpPr txBox="1"/>
          <p:nvPr/>
        </p:nvSpPr>
        <p:spPr>
          <a:xfrm>
            <a:off x="658368" y="5305653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4" name="!!pt5"/>
          <p:cNvSpPr txBox="1"/>
          <p:nvPr/>
        </p:nvSpPr>
        <p:spPr>
          <a:xfrm>
            <a:off x="1261872" y="5264505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Dropping a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−1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as though it were a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/2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−1)+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quadratic, not logarithmic-depth anything.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11182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 (continued)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§5.5  ·  Handout p. 45     </a:t>
            </a:r>
            <a:fld id="{3AD27453-950E-4A0D-9209-BA19E65899BB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Proving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O()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and claiming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Θ()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Substitution as used here gives an upper bound. The lower bound is a separate proof, by Theorem 3.5.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36581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Counting a Recursion Tree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§5.5  ·  Handout p. 45     </a:t>
            </a:r>
            <a:fld id="{BC360447-F6DE-4F1B-B591-1234D320937C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7" name="body-0"/>
          <p:cNvSpPr txBox="1"/>
          <p:nvPr/>
        </p:nvSpPr>
        <p:spPr>
          <a:xfrm>
            <a:off x="658368" y="1737360"/>
            <a:ext cx="10874959" cy="3627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Reproduces all three tables above. Expect twenty minutes.</a:t>
            </a:r>
          </a:p>
        </p:txBody>
      </p:sp>
      <p:sp>
        <p:nvSpPr>
          <p:cNvPr id="8" name="!!labsteps-h"/>
          <p:cNvSpPr txBox="1"/>
          <p:nvPr/>
        </p:nvSpPr>
        <p:spPr>
          <a:xfrm>
            <a:off x="658368" y="23652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9" name="!!labsteps"/>
          <p:cNvSpPr txBox="1"/>
          <p:nvPr/>
        </p:nvSpPr>
        <p:spPr>
          <a:xfrm>
            <a:off x="658368" y="2749296"/>
            <a:ext cx="10874959" cy="1828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1.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The balanced recursion, T(n) = 2T(n/2) + n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2.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The lopsided recursion, T(n) = T(n/3) + T(2n/3) + n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3.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Each level of a balanced tree does the same work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4.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A lopsided tree, where the levels stop being full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5.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Does the depth grow the way the algebra says?</a:t>
            </a:r>
          </a:p>
        </p:txBody>
      </p:sp>
      <p:sp>
        <p:nvSpPr>
          <p:cNvPr id="29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!!lflTHIS"/>
          <p:cNvSpPr txBox="1"/>
          <p:nvPr/>
        </p:nvSpPr>
        <p:spPr>
          <a:xfrm>
            <a:off x="932688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32" name="!!lfvTHIS"/>
          <p:cNvSpPr txBox="1"/>
          <p:nvPr/>
        </p:nvSpPr>
        <p:spPr>
          <a:xfrm>
            <a:off x="932688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Week 4: Recursion trees against measured depth and cost</a:t>
            </a:r>
          </a:p>
        </p:txBody>
      </p:sp>
      <p:sp>
        <p:nvSpPr>
          <p:cNvPr id="33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lflWHAT"/>
          <p:cNvSpPr txBox="1"/>
          <p:nvPr/>
        </p:nvSpPr>
        <p:spPr>
          <a:xfrm>
            <a:off x="4649114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36" name="!!lfvWHAT"/>
          <p:cNvSpPr txBox="1"/>
          <p:nvPr/>
        </p:nvSpPr>
        <p:spPr>
          <a:xfrm>
            <a:off x="4649114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50 lines of C++</a:t>
            </a:r>
          </a:p>
        </p:txBody>
      </p:sp>
      <p:sp>
        <p:nvSpPr>
          <p:cNvPr id="37" name="!!lf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lfb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lflRUNN"/>
          <p:cNvSpPr txBox="1"/>
          <p:nvPr/>
        </p:nvSpPr>
        <p:spPr>
          <a:xfrm>
            <a:off x="8365540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RUNNABLE COPY</a:t>
            </a:r>
          </a:p>
        </p:txBody>
      </p:sp>
      <p:sp>
        <p:nvSpPr>
          <p:cNvPr id="40" name="!!lfvRUNN"/>
          <p:cNvSpPr txBox="1"/>
          <p:nvPr/>
        </p:nvSpPr>
        <p:spPr>
          <a:xfrm>
            <a:off x="8365540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Consolas"/>
              </a:rPr>
              <a:t>code/ch05_rectree.cpp</a:t>
            </a:r>
          </a:p>
        </p:txBody>
      </p:sp>
      <p:sp>
        <p:nvSpPr>
          <p:cNvPr id="4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61980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a Recursion Tree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§5.5  ·  Handout p. 45     </a:t>
            </a:r>
            <a:fld id="{CD9EBAAD-2854-4607-92CE-F3338E6B7FFF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balanced recursion, T(n) = 2T(n/2) + n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78223"/>
          </a:xfrm>
          <a:prstGeom prst="roundRect">
            <a:avLst>
              <a:gd name="adj" fmla="val 224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code/ch05_rectree.cpp</a:t>
            </a:r>
          </a:p>
        </p:txBody>
      </p:sp>
      <p:sp>
        <p:nvSpPr>
          <p:cNvPr id="14" name="!!code-text" descr="// ch05_rectree.cpp -- a recursion tree, counted rather than drawn. // Build: cl /O2 /EHsc /std:c++17 ch05_rectree.cpp (see Appendix A) // --- 1. The balanced recursion, T(n) = 2T(n/2) + n ----------------- // The body does n units of work and then halves. Nothing is sorted // here: the point is the SHAPE, so work is counted, not performed. static void balanced(long long n, int d) { if (n &lt;= 1) { note(d, 1); return; } note(d, n); balanced(n / 2, d + 1); balanced(n - n / 2, d + 1); }"/>
          <p:cNvSpPr txBox="1"/>
          <p:nvPr/>
        </p:nvSpPr>
        <p:spPr>
          <a:xfrm>
            <a:off x="1362456" y="2523744"/>
            <a:ext cx="9987991" cy="35844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ch05_rectree.cpp -- a recursion tree, counted rather than drawn.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Build: cl /O2 /EHsc /std:c++17 ch05_rectree.cpp   (see Appendix 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--- 1. The balanced recursion, T(n) = 2T(n/2) + n 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 body does n units of work and then halves. Nothing is sorted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here: the point is the SHAPE, so work is counted, not performed.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void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C39BD3"/>
                </a:solidFill>
                <a:latin typeface="Consolas"/>
              </a:rPr>
              <a:t>balanced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int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d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5DADE2"/>
                </a:solidFill>
                <a:latin typeface="Consolas"/>
              </a:rPr>
              <a:t>if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&lt;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{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note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d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E8EDF2"/>
                </a:solidFill>
                <a:latin typeface="Consolas"/>
              </a:rPr>
              <a:t>note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d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E8EDF2"/>
                </a:solidFill>
                <a:latin typeface="Consolas"/>
              </a:rPr>
              <a:t>balanced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/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2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d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+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E8EDF2"/>
                </a:solidFill>
                <a:latin typeface="Consolas"/>
              </a:rPr>
              <a:t>balanced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-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/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2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d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+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844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12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87380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a Recursion Tree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§5.5  ·  Handout p. 45     </a:t>
            </a:r>
            <a:fld id="{E4417054-854D-46C1-BA08-029A1D1476B4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lopsided recursion, T(n) = T(n/3) + T(2n/3) + n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169664"/>
          </a:xfrm>
          <a:prstGeom prst="roundRect">
            <a:avLst>
              <a:gd name="adj" fmla="val 219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code/ch05_rectree.cpp</a:t>
            </a:r>
          </a:p>
        </p:txBody>
      </p:sp>
      <p:sp>
        <p:nvSpPr>
          <p:cNvPr id="14" name="!!code-text" descr="// --- 2. The lopsided recursion, T(n) = T(n/3) + T(2n/3) + n -------- // The max(1, ...) is not decoration. Written as lopsided(n/3) and // lopsided(n - n/3), the case n = 2 gives 2/3 = 0 and 2 - 0 = 2, so // the larger branch recurses on 2 for ever: the measure n never // decreases and the recursion does not terminate. That is Chapter 4's // third obligation, failing in a program four lines long. static void lopsided(long long n, int d) { if (n &lt;= 1) { note(d, 1); return; } note(d, n); long long small = std::max(1LL, n / 3); lopsided(small, d + 1); lopsided(n - small, d + 1); }"/>
          <p:cNvSpPr txBox="1"/>
          <p:nvPr/>
        </p:nvSpPr>
        <p:spPr>
          <a:xfrm>
            <a:off x="1362456" y="2523744"/>
            <a:ext cx="9987991" cy="3675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--- 2. The lopsided recursion, T(n) = T(n/3) + T(2n/3) + n 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The max(1, ...) is not decoration. Written as lopsided(n/3) and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lopsided(n - n/3), the case n = 2 gives 2/3 = 0 and 2 - 0 = 2, so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the larger branch recurses on 2 for ever: the measure n never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decreases and the recursion does not terminate. That is Chapter 4's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1">
                <a:solidFill>
                  <a:srgbClr val="8795A1"/>
                </a:solidFill>
                <a:latin typeface="Consolas"/>
              </a:rPr>
              <a:t>// third obligation, failing in a program four lines long.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void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C39BD3"/>
                </a:solidFill>
                <a:latin typeface="Consolas"/>
              </a:rPr>
              <a:t>lopsided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n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int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d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if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n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&lt;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1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{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note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d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1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note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d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n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5DADE2"/>
                </a:solidFill>
                <a:latin typeface="Consolas"/>
              </a:rPr>
              <a:t>long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small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=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std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AEB6BF"/>
                </a:solidFill>
                <a:latin typeface="Consolas"/>
              </a:rPr>
              <a:t>:</a:t>
            </a:r>
            <a:r>
              <a:rPr sz="1800" i="0">
                <a:solidFill>
                  <a:srgbClr val="E8EDF2"/>
                </a:solidFill>
                <a:latin typeface="Consolas"/>
              </a:rPr>
              <a:t>max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F7DC6F"/>
                </a:solidFill>
                <a:latin typeface="Consolas"/>
              </a:rPr>
              <a:t>1L</a:t>
            </a:r>
            <a:r>
              <a:rPr sz="1800" i="0">
                <a:solidFill>
                  <a:srgbClr val="E8EDF2"/>
                </a:solidFill>
                <a:latin typeface="Consolas"/>
              </a:rPr>
              <a:t>L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n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/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3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lopsided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small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d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1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E8EDF2"/>
                </a:solidFill>
                <a:latin typeface="Consolas"/>
              </a:rPr>
              <a:t>    </a:t>
            </a:r>
            <a:r>
              <a:rPr sz="1800" i="0">
                <a:solidFill>
                  <a:srgbClr val="E8EDF2"/>
                </a:solidFill>
                <a:latin typeface="Consolas"/>
              </a:rPr>
              <a:t>lopsided</a:t>
            </a:r>
            <a:r>
              <a:rPr sz="1800" i="0">
                <a:solidFill>
                  <a:srgbClr val="AEB6BF"/>
                </a:solidFill>
                <a:latin typeface="Consolas"/>
              </a:rPr>
              <a:t>(</a:t>
            </a:r>
            <a:r>
              <a:rPr sz="1800" i="0">
                <a:solidFill>
                  <a:srgbClr val="E8EDF2"/>
                </a:solidFill>
                <a:latin typeface="Consolas"/>
              </a:rPr>
              <a:t>n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-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small</a:t>
            </a:r>
            <a:r>
              <a:rPr sz="1800" i="0">
                <a:solidFill>
                  <a:srgbClr val="AEB6BF"/>
                </a:solidFill>
                <a:latin typeface="Consolas"/>
              </a:rPr>
              <a:t>,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E8EDF2"/>
                </a:solidFill>
                <a:latin typeface="Consolas"/>
              </a:rPr>
              <a:t>d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AEB6BF"/>
                </a:solidFill>
                <a:latin typeface="Consolas"/>
              </a:rPr>
              <a:t>+</a:t>
            </a:r>
            <a:r>
              <a:rPr sz="1800" i="0">
                <a:solidFill>
                  <a:srgbClr val="E8EDF2"/>
                </a:solidFill>
                <a:latin typeface="Consolas"/>
              </a:rPr>
              <a:t> </a:t>
            </a:r>
            <a:r>
              <a:rPr sz="1800" i="0">
                <a:solidFill>
                  <a:srgbClr val="F7DC6F"/>
                </a:solidFill>
                <a:latin typeface="Consolas"/>
              </a:rPr>
              <a:t>1</a:t>
            </a:r>
            <a:r>
              <a:rPr sz="1800" i="0">
                <a:solidFill>
                  <a:srgbClr val="AEB6BF"/>
                </a:solidFill>
                <a:latin typeface="Consolas"/>
              </a:rPr>
              <a:t>)</a:t>
            </a:r>
            <a:r>
              <a:rPr sz="18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8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6758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18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19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20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21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22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23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24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800">
                <a:solidFill>
                  <a:srgbClr val="4F5D6A"/>
                </a:solidFill>
                <a:latin typeface="Consolas"/>
              </a:rPr>
              <a:t>26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a Recursion Tree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§5.5  ·  Handout p. 45     </a:t>
            </a:r>
            <a:fld id="{41AB9F39-D652-4CFB-8807-B1D5BDC48345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Each level of a balanced tree does the same work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472184"/>
          </a:xfrm>
          <a:prstGeom prst="roundRect">
            <a:avLst>
              <a:gd name="adj" fmla="val 62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code/ch05_rectree.cpp</a:t>
            </a:r>
          </a:p>
        </p:txBody>
      </p:sp>
      <p:sp>
        <p:nvSpPr>
          <p:cNvPr id="14" name="!!code-text" descr="// --- 3. Each level of a balanced tree does the same work ----------- // The &quot;work/n&quot; column is the one to read: if the recursion-tree // argument is sound, it is 1.000 all the way down to the leaves."/>
          <p:cNvSpPr txBox="1"/>
          <p:nvPr/>
        </p:nvSpPr>
        <p:spPr>
          <a:xfrm>
            <a:off x="1362456" y="2523744"/>
            <a:ext cx="9987991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--- 3. Each level of a balanced tree does the same work 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The "work/n" column is the one to read: if the recursion-tree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argument is sound, it is 1.000 all the way down to the leaves.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29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30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8179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a Recursion Tree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§5.5  ·  Handout p. 45     </a:t>
            </a:r>
            <a:fld id="{C6EB4937-A336-45C9-B162-0F65B92A636C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 lopsided tree, where the levels stop being full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472184"/>
          </a:xfrm>
          <a:prstGeom prst="roundRect">
            <a:avLst>
              <a:gd name="adj" fmla="val 62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code/ch05_rectree.cpp</a:t>
            </a:r>
          </a:p>
        </p:txBody>
      </p:sp>
      <p:sp>
        <p:nvSpPr>
          <p:cNvPr id="14" name="!!code-text" descr="// --- 4. A lopsided tree, where the levels stop being full ---------- // Now &quot;work/n&quot; holds at 1.000 only while every branch is still alive // -- down to depth log_3(n) -- and then decays."/>
          <p:cNvSpPr txBox="1"/>
          <p:nvPr/>
        </p:nvSpPr>
        <p:spPr>
          <a:xfrm>
            <a:off x="1362456" y="2523744"/>
            <a:ext cx="9987991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--- 4. A lopsided tree, where the levels stop being full 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Now "work/n" holds at 1.000 only while every branch is still alive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 down to depth log_3(n) -- and then decays.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34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63578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Counting a Recursion Tree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5 OF 5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§5.5  ·  Handout p. 45     </a:t>
            </a:r>
            <a:fld id="{38DAA724-595C-41AF-AE33-40B6FC6BA984}" type="slidenum">
              <a:rPr lang="en-GB" sz="1000">
                <a:solidFill>
                  <a:srgbClr val="8795A1"/>
                </a:solidFill>
                <a:latin typeface="Segoe UI"/>
              </a:rPr>
              <a:t>35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Does the depth grow the way the algebra says?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032504"/>
          </a:xfrm>
          <a:prstGeom prst="roundRect">
            <a:avLst>
              <a:gd name="adj" fmla="val 2267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code/ch05_rectree.cpp</a:t>
            </a:r>
          </a:p>
        </p:txBody>
      </p:sp>
      <p:sp>
        <p:nvSpPr>
          <p:cNvPr id="14" name="!!code-text" descr="// --- 5. Does the depth grow the way the algebra says? -------------- // Balanced depth should be lg(n); lopsided depth log_{3/2}(n), about // 1.71 times as deep. for (long long n = 1024; n &lt;= 262144; n *= 4) { work.assign(1, 0); calls.assign(1, 0); balanced(n, 0); size_t db = work.size(); work.assign(1, 0); calls.assign(1, 0); lopsided(n, 0); size_t dl = work.size(); double lg = std::log2((double)n); printf(&quot;%10lld %8zu %8.1f %8zu %8.1f %8.2f\n&quot;, n, db, lg, dl, lg / std::log2(1.5), (double)dl / db); }"/>
          <p:cNvSpPr txBox="1"/>
          <p:nvPr/>
        </p:nvSpPr>
        <p:spPr>
          <a:xfrm>
            <a:off x="1362456" y="2523744"/>
            <a:ext cx="9987991" cy="35387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1">
                <a:solidFill>
                  <a:srgbClr val="8795A1"/>
                </a:solidFill>
                <a:latin typeface="Consolas"/>
              </a:rPr>
              <a:t>// --- 5. Does the depth grow the way the algebra says? 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1">
                <a:solidFill>
                  <a:srgbClr val="8795A1"/>
                </a:solidFill>
                <a:latin typeface="Consolas"/>
              </a:rPr>
              <a:t>// Balanced depth should be lg(n); lopsided depth log_{3/2}(n), about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1">
                <a:solidFill>
                  <a:srgbClr val="8795A1"/>
                </a:solidFill>
                <a:latin typeface="Consolas"/>
              </a:rPr>
              <a:t>// 1.71 times as deep.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5DADE2"/>
                </a:solidFill>
                <a:latin typeface="Consolas"/>
              </a:rPr>
              <a:t>for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5DADE2"/>
                </a:solidFill>
                <a:latin typeface="Consolas"/>
              </a:rPr>
              <a:t>long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5DADE2"/>
                </a:solidFill>
                <a:latin typeface="Consolas"/>
              </a:rPr>
              <a:t>long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1024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&lt;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262144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*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4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work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assign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F7DC6F"/>
                </a:solidFill>
                <a:latin typeface="Consolas"/>
              </a:rPr>
              <a:t>1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0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calls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assign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F7DC6F"/>
                </a:solidFill>
                <a:latin typeface="Consolas"/>
              </a:rPr>
              <a:t>1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0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balanced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0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db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work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size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work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assign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F7DC6F"/>
                </a:solidFill>
                <a:latin typeface="Consolas"/>
              </a:rPr>
              <a:t>1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0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calls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assign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F7DC6F"/>
                </a:solidFill>
                <a:latin typeface="Consolas"/>
              </a:rPr>
              <a:t>1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0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lopsided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F7DC6F"/>
                </a:solidFill>
                <a:latin typeface="Consolas"/>
              </a:rPr>
              <a:t>0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size_t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dl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work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size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lg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std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E8EDF2"/>
                </a:solidFill>
                <a:latin typeface="Consolas"/>
              </a:rPr>
              <a:t>log2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printf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7DCEA0"/>
                </a:solidFill>
                <a:latin typeface="Consolas"/>
              </a:rPr>
              <a:t>%10lld %8zu %8.1f %8zu %8.1f %8.2f</a:t>
            </a:r>
            <a:r>
              <a:rPr sz="1500" i="0">
                <a:solidFill>
                  <a:srgbClr val="7DCEA0"/>
                </a:solidFill>
                <a:latin typeface="Consolas"/>
              </a:rPr>
              <a:t>\n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   </a:t>
            </a:r>
            <a:r>
              <a:rPr sz="1500" i="0">
                <a:solidFill>
                  <a:srgbClr val="E8EDF2"/>
                </a:solidFill>
                <a:latin typeface="Consolas"/>
              </a:rPr>
              <a:t>n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db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lg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dl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lg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/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std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  <a:r>
              <a:rPr sz="1500" i="0">
                <a:solidFill>
                  <a:srgbClr val="E8EDF2"/>
                </a:solidFill>
                <a:latin typeface="Consolas"/>
              </a:rPr>
              <a:t>log2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F7DC6F"/>
                </a:solidFill>
                <a:latin typeface="Consolas"/>
              </a:rPr>
              <a:t>1.5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       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E8EDF2"/>
                </a:solidFill>
                <a:latin typeface="Consolas"/>
              </a:rPr>
              <a:t>dl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/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db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5387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36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37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38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39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40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41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42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43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44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45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46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47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48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49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50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88977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lab shows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§5.5  ·  Handout p. 45     </a:t>
            </a:r>
            <a:fld id="{97F30AFB-0156-4736-BB7B-4CB8D172C6AF}" type="slidenum">
              <a:rPr lang="en-GB" sz="1000">
                <a:solidFill>
                  <a:srgbClr val="8795A1"/>
                </a:solidFill>
                <a:latin typeface="Segoe UI"/>
              </a:rPr>
              <a:t>36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698773"/>
          </a:xfrm>
          <a:prstGeom prst="roundRect">
            <a:avLst>
              <a:gd name="adj" fmla="val 2472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698773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What to notice.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The first version of the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lopsided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function written for this book had no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max(1, ...)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did not terminate. It is worth pausing on that: the recurrence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/3) +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(2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/3) +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perfectly well defined, and the obvious transcription of it into code is not. Integer division did it.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667074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Then try to break it.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Change the split to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/10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9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/10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predict, before running, (a) how many levels are full, (b) the total depth, and (c) whether the total work goes up or down. The answers are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10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500" b="0" i="0" baseline="-25000">
                <a:solidFill>
                  <a:srgbClr val="1C252B"/>
                </a:solidFill>
                <a:latin typeface="Cambria"/>
              </a:rPr>
              <a:t>10/9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and up — but only by a constant.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77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Solve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 =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−1) +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,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(1)=1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, by drawing its recursion tree. Why is the answer not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Θ(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 lg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48  ·  answers in Appendix D     </a:t>
            </a:r>
            <a:fld id="{638D21CE-AEC5-48A3-9847-EF82A30C365A}" type="slidenum">
              <a:rPr lang="en-GB" sz="1000">
                <a:solidFill>
                  <a:srgbClr val="D5DEE5"/>
                </a:solidFill>
                <a:latin typeface="Segoe UI"/>
              </a:rPr>
              <a:t>37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Solve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 =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−1) +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,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(1)=1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, by drawing its recursion tree. Why is the answer not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Θ(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 lg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3918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6" name="!!ans-0" descr="The tree is a path: one node at each level, doing n, n−1, n−2, … work, with n levels. The total is Σk=1n k = n(n+1)/2 = Θ(n2). It is not Θ(n lg n) because the argument shrinks by a constant amount, not a constant fraction — so the depth is n rather than lg n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552" y="1762963"/>
            <a:ext cx="10509199" cy="1391808"/>
          </a:xfrm>
          <a:prstGeom prst="rect">
            <a:avLst/>
          </a:prstGeom>
        </p:spPr>
      </p:pic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48  ·  answers in Appendix D     </a:t>
            </a:r>
            <a:fld id="{433423DD-98DD-4CAC-ADF7-50B17F4A9F7C}" type="slidenum">
              <a:rPr lang="en-GB" sz="1000">
                <a:solidFill>
                  <a:srgbClr val="8795A1"/>
                </a:solidFill>
                <a:latin typeface="Segoe UI"/>
              </a:rPr>
              <a:t>38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65175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Prove by substitution that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 = 2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/2) +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2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is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O(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2250" b="0" i="0" baseline="30000">
                <a:solidFill>
                  <a:srgbClr val="FFFFFF"/>
                </a:solidFill>
                <a:latin typeface="Cambria"/>
              </a:rPr>
              <a:t>2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, stating the constraint on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c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that the inductive step produces.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48  ·  answers in Appendix D     </a:t>
            </a:r>
            <a:fld id="{CBE813D8-B4B6-474D-87B3-F9C31623948B}" type="slidenum">
              <a:rPr lang="en-GB" sz="1000">
                <a:solidFill>
                  <a:srgbClr val="D5DEE5"/>
                </a:solidFill>
                <a:latin typeface="Segoe UI"/>
              </a:rPr>
              <a:t>39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Prove by substitution that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 = 2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/2) +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1600" b="0" i="0" baseline="30000">
                <a:solidFill>
                  <a:srgbClr val="1A5276"/>
                </a:solidFill>
                <a:latin typeface="Cambria"/>
              </a:rPr>
              <a:t>2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is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O(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1600" b="0" i="0" baseline="30000">
                <a:solidFill>
                  <a:srgbClr val="1A5276"/>
                </a:solidFill>
                <a:latin typeface="Cambria"/>
              </a:rPr>
              <a:t>2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, stating the constraint on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c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that the inductive step produces.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04607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Guess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≤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Then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≤ 2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/2)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+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/2 +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which is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≤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provided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≤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i.e. </a:t>
            </a:r>
            <a:r>
              <a:rPr sz="2200" b="1" i="1">
                <a:solidFill>
                  <a:srgbClr val="1C252B"/>
                </a:solidFill>
                <a:latin typeface="Cambria"/>
              </a:rPr>
              <a:t>c</a:t>
            </a:r>
            <a:r>
              <a:rPr sz="2200" b="1" i="0">
                <a:solidFill>
                  <a:srgbClr val="1C252B"/>
                </a:solidFill>
                <a:latin typeface="Cambria"/>
              </a:rPr>
              <a:t> ≥ 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With a base case at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0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1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max{2,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(1)}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the induction closes. (This is case 3 of the master theorem, confirming the answer.)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48  ·  answers in Appendix D     </a:t>
            </a:r>
            <a:fld id="{50DFC813-6BD0-4AC5-AA66-627BEFDE4648}" type="slidenum">
              <a:rPr lang="en-GB" sz="1000">
                <a:solidFill>
                  <a:srgbClr val="8795A1"/>
                </a:solidFill>
                <a:latin typeface="Segoe UI"/>
              </a:rPr>
              <a:t>40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15974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Why does a 1-to-99 split still give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Θ(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 lg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, while a 1-to-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−1)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split does not?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48  ·  answers in Appendix D     </a:t>
            </a:r>
            <a:fld id="{0369BCAE-D458-458B-9EB0-87573ECE2F09}" type="slidenum">
              <a:rPr lang="en-GB" sz="1000">
                <a:solidFill>
                  <a:srgbClr val="D5DEE5"/>
                </a:solidFill>
                <a:latin typeface="Segoe UI"/>
              </a:rPr>
              <a:t>41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Why does a 1-to-99 split still give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Θ(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 lg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, while a 1-to-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−1)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split does not?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13947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14404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A 1-to-99 split divides the problem by the constant factors 100 and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100/99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so the depth is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100/99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Θ(lg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and every full level does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work: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with a larger constant. A 1-to-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−1)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split removes one element per level, so the depth is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and the total is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Constant fraction, not constant amount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is the distinction.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48  ·  answers in Appendix D     </a:t>
            </a:r>
            <a:fld id="{E1F997B9-BC76-42FA-B03E-A772362DC33D}" type="slidenum">
              <a:rPr lang="en-GB" sz="1000">
                <a:solidFill>
                  <a:srgbClr val="8795A1"/>
                </a:solidFill>
                <a:latin typeface="Segoe UI"/>
              </a:rPr>
              <a:t>42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66773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48     </a:t>
            </a:r>
            <a:fld id="{98AE763C-EFD4-413D-9019-EB6B7F24A8A8}" type="slidenum">
              <a:rPr lang="en-GB" sz="1000">
                <a:solidFill>
                  <a:srgbClr val="8795A1"/>
                </a:solidFill>
                <a:latin typeface="Segoe UI"/>
              </a:rPr>
              <a:t>43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 recurrence defines a running time in terms of itself, plus a base case. Floors, ceilings and base constants are dropped because they change constants, not orders of growth.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59126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Substitution = guess + induction. The inductive step and the base case each constrain the constant, and both constraints must be met.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1900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2449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180892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When an inductive step comes out “nearly” right —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+1 ≤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— strengthen the hypothesis by subtracting a lower-order term.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180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966667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902659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 recursion tree is a device for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guessing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: sum level by level, multiply work-per-level by number of levels.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49701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55188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487875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Measured: for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)=2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/2)+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=1024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every level does exactly 1024 units, there are exactly 11 levels, and the total is exactly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11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878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273649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209641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Any split into constant fractions is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Measured, a one-third/two-thirds split was 70% deeper (ratio 1.68 against a predicted 1.71) and did only 10% more work.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2172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 (continued)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48     </a:t>
            </a:r>
            <a:fld id="{12975F06-3D47-4D49-80E1-7C137A68A772}" type="slidenum">
              <a:rPr lang="en-GB" sz="1000">
                <a:solidFill>
                  <a:srgbClr val="8795A1"/>
                </a:solidFill>
                <a:latin typeface="Segoe UI"/>
              </a:rPr>
              <a:t>44</a:t>
            </a:fld>
          </a:p>
        </p:txBody>
      </p:sp>
      <p:sp>
        <p:nvSpPr>
          <p:cNvPr id="7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6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9" name="!!st6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Measured, the lopsided tree’s levels were exactly full down to depth 6, and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log</a:t>
            </a:r>
            <a:r>
              <a:rPr sz="1100" b="0" i="0" baseline="-25000">
                <a:solidFill>
                  <a:srgbClr val="1C252B"/>
                </a:solidFill>
                <a:latin typeface="Cambria"/>
              </a:rPr>
              <a:t>3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1024 = 6.29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17572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48     </a:t>
            </a:r>
            <a:fld id="{54900458-6E15-4F25-94C8-EE012C93B72A}" type="slidenum">
              <a:rPr lang="en-GB" sz="1000">
                <a:solidFill>
                  <a:srgbClr val="8795A1"/>
                </a:solidFill>
                <a:latin typeface="Segoe UI"/>
              </a:rPr>
              <a:t>45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The recursion tree for 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) = 2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/2)+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600" b="0" i="0">
                <a:solidFill>
                  <a:srgbClr val="1C252B"/>
                </a:solidFill>
                <a:latin typeface="Segoe UI"/>
              </a:rPr>
              <a:t> has: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levels each doing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work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levels each doing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work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levels each doing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work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levels each doing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work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42971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48     </a:t>
            </a:r>
            <a:fld id="{12A2AA94-EA58-45D1-803D-6302C7CAE69E}" type="slidenum">
              <a:rPr lang="en-GB" sz="1000">
                <a:solidFill>
                  <a:srgbClr val="8795A1"/>
                </a:solidFill>
                <a:latin typeface="Segoe UI"/>
              </a:rPr>
              <a:t>46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In a substitution proof, strengthening the hypothesis means: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choosing a larger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7133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proving a stronger statement, such as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 −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d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instead of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cn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raising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-25000">
                <a:solidFill>
                  <a:srgbClr val="1C252B"/>
                </a:solidFill>
                <a:latin typeface="Cambria"/>
              </a:rPr>
              <a:t>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using strong induction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68370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48     </a:t>
            </a:r>
            <a:fld id="{E3E7669F-8672-47D2-ADF6-5196D705BC9E}" type="slidenum">
              <a:rPr lang="en-GB" sz="1000">
                <a:solidFill>
                  <a:srgbClr val="8795A1"/>
                </a:solidFill>
                <a:latin typeface="Segoe UI"/>
              </a:rPr>
              <a:t>47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Why is a recursion tree not a proof, and what is it for?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Explain why the base case of a substitution proof need not be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796844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2837992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2778556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State the two depths of the tree for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)=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/3)+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(2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/3)+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say which one determines the total work.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18585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3659733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3600297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Solve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3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/4) +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by recursion tree, then prove your guess by substitution.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39183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4180332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4120896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measured table shows the lopsided tree’s levels full to depth 6 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1024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Predict the corresponding depth for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10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6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with the same split, and say what you would expect the work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column to be at depth 10.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3770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7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5739D"/>
                </a:solidFill>
                <a:latin typeface="Segoe UI Black"/>
              </a:rPr>
              <a:t>05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5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6 — Recurrences II: The Master Theorem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5, pages 41–48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Recursion trees against measured depth and cost</a:t>
            </a:r>
          </a:p>
        </p:txBody>
      </p:sp>
      <p:sp>
        <p:nvSpPr>
          <p:cNvPr id="1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5  ·  Recurrences I: Substitution and Recursion Trees</a:t>
            </a:r>
          </a:p>
        </p:txBody>
      </p:sp>
      <p:sp>
        <p:nvSpPr>
          <p:cNvPr id="1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355D7A25-E70A-446B-B924-D327E334B3A2}" type="slidenum">
              <a:rPr lang="en-GB" sz="1000">
                <a:solidFill>
                  <a:srgbClr val="D5DEE5"/>
                </a:solidFill>
                <a:latin typeface="Segoe UI"/>
              </a:rPr>
              <a:t>48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nalysis of Algorithms Fall 2026">
  <a:themeElements>
    <a:clrScheme name="Analysis of Algorithms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nalysis of Algorithms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Recurrences I: Substitution and Recursion Trees</dc:title>
  <dc:subject>Analysis of Algorithms — Design, Proof and Measurement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