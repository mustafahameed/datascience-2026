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74A9ED4-CB8F-40A3-A795-50105849D883}">
          <p14:sldIdLst>
            <p14:sldId id="256"/>
            <p14:sldId id="257"/>
            <p14:sldId id="258"/>
            <p14:sldId id="259"/>
            <p14:sldId id="260"/>
          </p14:sldIdLst>
        </p14:section>
        <p14:section name="14.1 Commit and Never Reconsider" id="{B0773D9D-0594-469E-8393-F8B84E9378E5}">
          <p14:sldIdLst>
            <p14:sldId id="261"/>
            <p14:sldId id="262"/>
            <p14:sldId id="263"/>
          </p14:sldIdLst>
        </p14:section>
        <p14:section name="14.2 Activity Selection" id="{1700CCC4-DD96-40D9-99E0-DDFC3E93DCB2}">
          <p14:sldIdLst>
            <p14:sldId id="264"/>
            <p14:sldId id="265"/>
            <p14:sldId id="266"/>
            <p14:sldId id="267"/>
            <p14:sldId id="268"/>
            <p14:sldId id="269"/>
            <p14:sldId id="270"/>
          </p14:sldIdLst>
        </p14:section>
        <p14:section name="14.3 When Greedy Fails: Coin Change" id="{09030291-52E7-4709-BEC4-6AF5BDA60F5F}">
          <p14:sldIdLst>
            <p14:sldId id="271"/>
            <p14:sldId id="272"/>
            <p14:sldId id="273"/>
          </p14:sldIdLst>
        </p14:section>
        <p14:section name="14.4 Huffman Coding" id="{09CD3C67-073E-43E9-A0A7-363340C3CA43}">
          <p14:sldIdLst>
            <p14:sldId id="274"/>
            <p14:sldId id="275"/>
            <p14:sldId id="276"/>
            <p14:sldId id="277"/>
            <p14:sldId id="278"/>
            <p14:sldId id="279"/>
            <p14:sldId id="280"/>
            <p14:sldId id="281"/>
          </p14:sldIdLst>
        </p14:section>
        <p14:section name="Pitfalls" id="{456268D2-3476-44B0-A2D7-1816C5BA30A5}">
          <p14:sldIdLst>
            <p14:sldId id="282"/>
            <p14:sldId id="283"/>
          </p14:sldIdLst>
        </p14:section>
        <p14:section name="Lab" id="{2BCFF9B9-4F03-4156-B6D4-0C8F1B935B76}">
          <p14:sldIdLst>
            <p14:sldId id="284"/>
            <p14:sldId id="285"/>
            <p14:sldId id="286"/>
            <p14:sldId id="287"/>
            <p14:sldId id="288"/>
            <p14:sldId id="289"/>
            <p14:sldId id="290"/>
            <p14:sldId id="291"/>
            <p14:sldId id="292"/>
            <p14:sldId id="293"/>
          </p14:sldIdLst>
        </p14:section>
        <p14:section name="Checkpoint" id="{66E25EB1-1583-44B5-994A-CC38986891A0}">
          <p14:sldIdLst>
            <p14:sldId id="294"/>
            <p14:sldId id="295"/>
            <p14:sldId id="296"/>
            <p14:sldId id="297"/>
            <p14:sldId id="298"/>
            <p14:sldId id="299"/>
          </p14:sldIdLst>
        </p14:section>
        <p14:section name="Wrap-up" id="{8ECB0F6B-0A20-42E9-8A7C-185DFD2BACD2}">
          <p14:sldIdLst>
            <p14:sldId id="300"/>
            <p14:sldId id="301"/>
            <p14:sldId id="302"/>
            <p14:sldId id="303"/>
            <p14:sldId id="304"/>
            <p14:sldId id="3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14: Greedy Algorithms. Part 4 — The Design Paradigms. Week 10: Greedy algorithms and exchange arguments. Handout pages 113–120.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7 for the baseline and the oracle technique. Nothing else in Part II is required, though Chapter 12’s heap is the data structure Huffman’s algorithm runs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greedy algorithm; greedy-choice property; optimal substructure; exchange argument; activity selection; counter-example; Huffman code; prefix code; entropy; matroid.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14.1 (handout p. 114): Activity-Select, greedy by earliest finishing time. After the sort it is a single pass, so the whole algorithm is Θ(n lg 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This is an exchange argument: take any optimal solution and show it can be modified to contain the greedy choice without getting worse. Let A be a maximum-size compatible set, and let aⱼ be the activity in A with the earliest finishing time. If aⱼ = a₁ there is nothing to prove. Otherwise consider A′ = (A  {aⱼ}) ∪ {a₁}. A′ is compatible. The activities of A other than aⱼ all start at or after fⱼ, because aⱼ finishes earliest in A and A is compatible. Since a₁ has the earliest finishing time in all of S, we have f₁ ≤ fⱼ, so every other activity in A also starts at or after f₁ and does not overlap a₁. A′ has the same size as A, since one element was exchanged for one. So A′ is also a maximum-size compatible set, and it contains a₁. Optimal substructure then completes the induction: after committing to a₁, the remaining problem is activity selection on {aᵢ : sᵢ ≥ f₁}, an instance of the same problem, and the same argument applies to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14.2 (handout p. 116): Huffman. The greedy choice is on line 5: the two least frequent symbols are merged first, which puts them deepest. With a binary heap the running time is Θ(n lg 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Let T be an optimal tree, and let a and b be two sibling leaves of maximum depth in T (they exist: the deepest leaf has a sibling, or the tree could be improved by promoting it). Assume without loss of generality f(a) ≤ f(b) and f(x) ≤ f(y). Exchange x with a to form T′. The change in cost is B(T) − B(T′) = (f(a) − f(x))(dT(a) − dT(x))     ≥  0, because f(x) ≤ f(a) (x is of lowest frequency) and dT(x) ≤ dT(a) (a is of maximal depth), making both factors non-negative. So B(T′) ≤ B(T). Exchanging y with b in T′ gives T′′ with B(T′′) ≤ B(T′) ≤ B(T) by the same argument. Since T was optimal, B(T′′) = B(T), so T′′ is also optimal — and in it x and y are sibling leaves at maximum depth.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By induction on |C|. The base case |C| = 2 is immediate: both codewords have length 1 and no code can do better. For the inductive step, let x, y be the two least frequent symbols and let C′ be C with x and y replaced by a single symbol z of frequency f(x)+f(y). By the inductive hypothesis, Huffman produces an optimal tree T′ for C′. Replacing z’s leaf by an internal node with children x and y gives a tree T for C with B(T) = B(T′) + f(x) + f(y), since x and y sit one level below where z was. The +f(x)+f(y) is a constant independent of the tree, so minimising B(T′) minimises B(T) over all trees in which x and y are siblings — and Lemma 14.2 says some optimal tree is of that form. Hence T is optimal.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three tables. Expect twenty-five minutes; part A runs 20,000 brute-force searches.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Activity selection, greedy by earliest finish.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Two plausible rules that are simply wrong.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oracle: every subset, checked.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Coin change: greedy, and the optimum it sometimes misses.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Huffman coding.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Is the greedy rule actually optimal?.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Coin change: the same algorithm, two coin systems.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Huffman against the entropy bound.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Greedy-choice property: some optimal solution contains the locally best first choice. Optimal substructure: an optimal solution contains optimal solutions to the subproblems remaining after that choice. A problem with the second and not the first: 0/1 knapsack. Its optimal solution does contain optimal sub-solutions, so dynamic programming works (Chapter 16); but taking the highest value-per-weight item first can be wrong, so greedy fails. Coin change with {1,3,4} is the same story.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8. Greedy takes 4+3+1 = three coins; optimal is 4+4 = two. (The first failure is 6, as the chapter says; 7 is 4+3 for both.) The counter-examples are small because greedy’s mistake is made at the first step, so the smallest instance exhibiting it is the smallest amount where the largest coin is the wrong first choice — and that is bounded by the largest denomination.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Huffman assigns each symbol a whole number of bits, with a minimum of 1. A symbol of probability 0.95 carries only − lg 0.95 = 0.074 bits of information, and Huffman must spend 1 on it. The algorithm is provably optimal among prefix codes; the restriction to integer code lengths is what costs the 0.71 bits, and arithmetic coding, which can spend fractional bits, removes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15 — Dynamic Programming I: The Elements. READ: Handout Chapter 14, pages 113–120. THIS WEEK'S LAB: Huffman coding on real text; measure the compression.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6.xml"/><Relationship Id="rId8"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5.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6.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2.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1.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8.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9.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60.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61.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4.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Greedy Algorithms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THE DESIGN PARADIGMS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14  ·  WEEK 10</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113     </a:t>
            </a:r>
            <a:fld id="{89767084-B1E8-4B05-8C38-1EB29B27AC5A}"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848021"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848021" y="2029967"/>
            <a:ext cx="1667468"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5780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59663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32985"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73298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81817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267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20990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184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4090369"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Greedy Algorithms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7">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7">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7"/>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Brute Force, and When It Is the Right Answer</a:t>
            </a:r>
          </a:p>
        </p:txBody>
      </p:sp>
      <p:sp>
        <p:nvSpPr>
          <p:cNvPr id="70" name="!!chipBU12">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2">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2"/>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Heaps and Search Trees, Revisited for Analysis</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5">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5">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5"/>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Dynamic Programming I: The Elements</a:t>
            </a:r>
          </a:p>
        </p:txBody>
      </p:sp>
      <p:sp>
        <p:nvSpPr>
          <p:cNvPr id="77" name="!!chipUS1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Minimum Spanning Trees</a:t>
            </a:r>
          </a:p>
        </p:txBody>
      </p:sp>
      <p:sp>
        <p:nvSpPr>
          <p:cNvPr id="80" name="!!chipUS20">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20">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20"/>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20  </a:t>
            </a:r>
            <a:r>
              <a:rPr sz="1400" b="0" i="0">
                <a:solidFill>
                  <a:srgbClr val="1C252B"/>
                </a:solidFill>
                <a:latin typeface="Segoe UI"/>
              </a:rPr>
              <a:t>Shortest Paths: Single-Source and All-Pairs</a:t>
            </a:r>
          </a:p>
        </p:txBody>
      </p:sp>
      <p:sp>
        <p:nvSpPr>
          <p:cNvPr id="8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pfill">
            <a:extLst>
              <a:ext uri="{C183D7F6-B498-43B3-948B-1728B52AA6E4}">
                <adec:decorative xmlns:adec="http://schemas.microsoft.com/office/drawing/2017/decorative" val="1"/>
              </a:ext>
            </a:extLst>
          </p:cNvPr>
          <p:cNvSpPr/>
          <p:nvPr/>
        </p:nvSpPr>
        <p:spPr>
          <a:xfrm>
            <a:off x="0" y="0"/>
            <a:ext cx="4876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113     </a:t>
            </a:r>
            <a:fld id="{486BBAA4-778C-48C1-A4A1-67DE474CC45B}"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Define</a:t>
            </a:r>
            <a:r>
              <a:rPr sz="2100" b="0" i="0">
                <a:solidFill>
                  <a:srgbClr val="1C252B"/>
                </a:solidFill>
                <a:latin typeface="Segoe UI"/>
              </a:rPr>
              <a:t> the greedy strategy and </a:t>
            </a:r>
            <a:r>
              <a:rPr sz="2100" b="1" i="0">
                <a:solidFill>
                  <a:srgbClr val="1C252B"/>
                </a:solidFill>
                <a:latin typeface="Segoe UI"/>
              </a:rPr>
              <a:t>apply</a:t>
            </a:r>
            <a:r>
              <a:rPr sz="2100" b="0" i="0">
                <a:solidFill>
                  <a:srgbClr val="1C252B"/>
                </a:solidFill>
                <a:latin typeface="Segoe UI"/>
              </a:rPr>
              <a:t> it to a stated problem </a:t>
            </a:r>
            <a:r>
              <a:rPr sz="2100" b="0" i="1">
                <a:solidFill>
                  <a:srgbClr val="1C252B"/>
                </a:solidFill>
                <a:latin typeface="Segoe UI"/>
              </a:rPr>
              <a:t>(CLO-6)</a:t>
            </a:r>
            <a:r>
              <a:rPr sz="2100" b="0" i="0">
                <a:solidFill>
                  <a:srgbClr val="1C252B"/>
                </a:solidFill>
                <a:latin typeface="Segoe UI"/>
              </a:rPr>
              <a: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State</a:t>
            </a:r>
            <a:r>
              <a:rPr sz="2100" b="0" i="0">
                <a:solidFill>
                  <a:srgbClr val="1C252B"/>
                </a:solidFill>
                <a:latin typeface="Segoe UI"/>
              </a:rPr>
              <a:t> the greedy-choice property and optimal substructure, and </a:t>
            </a:r>
            <a:r>
              <a:rPr sz="2100" b="1" i="0">
                <a:solidFill>
                  <a:srgbClr val="1C252B"/>
                </a:solidFill>
                <a:latin typeface="Segoe UI"/>
              </a:rPr>
              <a:t>explain</a:t>
            </a:r>
            <a:r>
              <a:rPr sz="2100" b="0" i="0">
                <a:solidFill>
                  <a:srgbClr val="1C252B"/>
                </a:solidFill>
                <a:latin typeface="Segoe UI"/>
              </a:rPr>
              <a:t> why both are needed.</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Prove</a:t>
            </a:r>
            <a:r>
              <a:rPr sz="2100" b="0" i="0">
                <a:solidFill>
                  <a:srgbClr val="1C252B"/>
                </a:solidFill>
                <a:latin typeface="Segoe UI"/>
              </a:rPr>
              <a:t> a greedy algorithm optimal by an exchange argument.</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Construct</a:t>
            </a:r>
            <a:r>
              <a:rPr sz="2100" b="0" i="0">
                <a:solidFill>
                  <a:srgbClr val="1C252B"/>
                </a:solidFill>
                <a:latin typeface="Segoe UI"/>
              </a:rPr>
              <a:t> a counter-example showing a plausible greedy rule is not optimal.</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Huffman coding and </a:t>
            </a:r>
            <a:r>
              <a:rPr sz="2100" b="1" i="0">
                <a:solidFill>
                  <a:srgbClr val="1C252B"/>
                </a:solidFill>
                <a:latin typeface="Segoe UI"/>
              </a:rPr>
              <a:t>relate</a:t>
            </a:r>
            <a:r>
              <a:rPr sz="2100" b="0" i="0">
                <a:solidFill>
                  <a:srgbClr val="1C252B"/>
                </a:solidFill>
                <a:latin typeface="Segoe UI"/>
              </a:rPr>
              <a:t> its output to the entropy bound.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3150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113     </a:t>
            </a:r>
            <a:fld id="{D10C1CFC-1961-4FD7-AB39-BBBC4AA6A6F9}" type="slidenum">
              <a:rPr lang="en-GB" sz="1000">
                <a:solidFill>
                  <a:srgbClr val="8795A1"/>
                </a:solidFill>
                <a:latin typeface="Segoe UI"/>
              </a:rPr>
              <a:t>4</a:t>
            </a:fld>
          </a:p>
        </p:txBody>
      </p:sp>
      <p:sp>
        <p:nvSpPr>
          <p:cNvPr id="7" name="!!term-greedy algorit">
            <a:extLst>
              <a:ext uri="{C183D7F6-B498-43B3-948B-1728B52AA6E4}">
                <adec:decorative xmlns:adec="http://schemas.microsoft.com/office/drawing/2017/decorative" val="1"/>
              </a:ext>
            </a:extLst>
          </p:cNvPr>
          <p:cNvSpPr/>
          <p:nvPr/>
        </p:nvSpPr>
        <p:spPr>
          <a:xfrm>
            <a:off x="658368" y="1847088"/>
            <a:ext cx="21151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greedy algori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greedy algorit"/>
          <p:cNvSpPr txBox="1"/>
          <p:nvPr/>
        </p:nvSpPr>
        <p:spPr>
          <a:xfrm>
            <a:off x="950976" y="1955291"/>
            <a:ext cx="193228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greedy algorithm</a:t>
            </a:r>
          </a:p>
        </p:txBody>
      </p:sp>
      <p:sp>
        <p:nvSpPr>
          <p:cNvPr id="10" name="!!term-greedy-choice ">
            <a:extLst>
              <a:ext uri="{C183D7F6-B498-43B3-948B-1728B52AA6E4}">
                <adec:decorative xmlns:adec="http://schemas.microsoft.com/office/drawing/2017/decorative" val="1"/>
              </a:ext>
            </a:extLst>
          </p:cNvPr>
          <p:cNvSpPr/>
          <p:nvPr/>
        </p:nvSpPr>
        <p:spPr>
          <a:xfrm>
            <a:off x="2919838" y="1847088"/>
            <a:ext cx="27236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greedy-choice ">
            <a:extLst>
              <a:ext uri="{C183D7F6-B498-43B3-948B-1728B52AA6E4}">
                <adec:decorative xmlns:adec="http://schemas.microsoft.com/office/drawing/2017/decorative" val="1"/>
              </a:ext>
            </a:extLst>
          </p:cNvPr>
          <p:cNvSpPr/>
          <p:nvPr/>
        </p:nvSpPr>
        <p:spPr>
          <a:xfrm>
            <a:off x="304785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greedy-choice "/>
          <p:cNvSpPr txBox="1"/>
          <p:nvPr/>
        </p:nvSpPr>
        <p:spPr>
          <a:xfrm>
            <a:off x="3212446" y="1955291"/>
            <a:ext cx="254080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greedy-choice property</a:t>
            </a:r>
          </a:p>
        </p:txBody>
      </p:sp>
      <p:sp>
        <p:nvSpPr>
          <p:cNvPr id="13" name="!!term-optimal substr">
            <a:extLst>
              <a:ext uri="{C183D7F6-B498-43B3-948B-1728B52AA6E4}">
                <adec:decorative xmlns:adec="http://schemas.microsoft.com/office/drawing/2017/decorative" val="1"/>
              </a:ext>
            </a:extLst>
          </p:cNvPr>
          <p:cNvSpPr/>
          <p:nvPr/>
        </p:nvSpPr>
        <p:spPr>
          <a:xfrm>
            <a:off x="5789826" y="1847088"/>
            <a:ext cx="24503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optimal substr">
            <a:extLst>
              <a:ext uri="{C183D7F6-B498-43B3-948B-1728B52AA6E4}">
                <adec:decorative xmlns:adec="http://schemas.microsoft.com/office/drawing/2017/decorative" val="1"/>
              </a:ext>
            </a:extLst>
          </p:cNvPr>
          <p:cNvSpPr/>
          <p:nvPr/>
        </p:nvSpPr>
        <p:spPr>
          <a:xfrm>
            <a:off x="591784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optimal substr"/>
          <p:cNvSpPr txBox="1"/>
          <p:nvPr/>
        </p:nvSpPr>
        <p:spPr>
          <a:xfrm>
            <a:off x="6082434" y="1955291"/>
            <a:ext cx="226745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optimal substructure</a:t>
            </a:r>
          </a:p>
        </p:txBody>
      </p:sp>
      <p:sp>
        <p:nvSpPr>
          <p:cNvPr id="16" name="!!term-exchange argum">
            <a:extLst>
              <a:ext uri="{C183D7F6-B498-43B3-948B-1728B52AA6E4}">
                <adec:decorative xmlns:adec="http://schemas.microsoft.com/office/drawing/2017/decorative" val="1"/>
              </a:ext>
            </a:extLst>
          </p:cNvPr>
          <p:cNvSpPr/>
          <p:nvPr/>
        </p:nvSpPr>
        <p:spPr>
          <a:xfrm>
            <a:off x="8386469" y="1847088"/>
            <a:ext cx="23705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exchange argum">
            <a:extLst>
              <a:ext uri="{C183D7F6-B498-43B3-948B-1728B52AA6E4}">
                <adec:decorative xmlns:adec="http://schemas.microsoft.com/office/drawing/2017/decorative" val="1"/>
              </a:ext>
            </a:extLst>
          </p:cNvPr>
          <p:cNvSpPr/>
          <p:nvPr/>
        </p:nvSpPr>
        <p:spPr>
          <a:xfrm>
            <a:off x="851448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exchange argum"/>
          <p:cNvSpPr txBox="1"/>
          <p:nvPr/>
        </p:nvSpPr>
        <p:spPr>
          <a:xfrm>
            <a:off x="8679077" y="1955291"/>
            <a:ext cx="218771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exchange argument</a:t>
            </a:r>
          </a:p>
        </p:txBody>
      </p:sp>
      <p:sp>
        <p:nvSpPr>
          <p:cNvPr id="19" name="!!term-activity selec">
            <a:extLst>
              <a:ext uri="{C183D7F6-B498-43B3-948B-1728B52AA6E4}">
                <adec:decorative xmlns:adec="http://schemas.microsoft.com/office/drawing/2017/decorative" val="1"/>
              </a:ext>
            </a:extLst>
          </p:cNvPr>
          <p:cNvSpPr/>
          <p:nvPr/>
        </p:nvSpPr>
        <p:spPr>
          <a:xfrm>
            <a:off x="658368" y="2468880"/>
            <a:ext cx="20414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activity selec">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activity selec"/>
          <p:cNvSpPr txBox="1"/>
          <p:nvPr/>
        </p:nvSpPr>
        <p:spPr>
          <a:xfrm>
            <a:off x="950976" y="2577084"/>
            <a:ext cx="185855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activity selection</a:t>
            </a:r>
          </a:p>
        </p:txBody>
      </p:sp>
      <p:sp>
        <p:nvSpPr>
          <p:cNvPr id="22" name="!!term-counter-exampl">
            <a:extLst>
              <a:ext uri="{C183D7F6-B498-43B3-948B-1728B52AA6E4}">
                <adec:decorative xmlns:adec="http://schemas.microsoft.com/office/drawing/2017/decorative" val="1"/>
              </a:ext>
            </a:extLst>
          </p:cNvPr>
          <p:cNvSpPr/>
          <p:nvPr/>
        </p:nvSpPr>
        <p:spPr>
          <a:xfrm>
            <a:off x="2846110" y="2468880"/>
            <a:ext cx="20892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counter-exampl">
            <a:extLst>
              <a:ext uri="{C183D7F6-B498-43B3-948B-1728B52AA6E4}">
                <adec:decorative xmlns:adec="http://schemas.microsoft.com/office/drawing/2017/decorative" val="1"/>
              </a:ext>
            </a:extLst>
          </p:cNvPr>
          <p:cNvSpPr/>
          <p:nvPr/>
        </p:nvSpPr>
        <p:spPr>
          <a:xfrm>
            <a:off x="297412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counter-exampl"/>
          <p:cNvSpPr txBox="1"/>
          <p:nvPr/>
        </p:nvSpPr>
        <p:spPr>
          <a:xfrm>
            <a:off x="3138718" y="2577084"/>
            <a:ext cx="190632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counter-example</a:t>
            </a:r>
          </a:p>
        </p:txBody>
      </p:sp>
      <p:sp>
        <p:nvSpPr>
          <p:cNvPr id="25" name="!!term-Huffman code">
            <a:extLst>
              <a:ext uri="{C183D7F6-B498-43B3-948B-1728B52AA6E4}">
                <adec:decorative xmlns:adec="http://schemas.microsoft.com/office/drawing/2017/decorative" val="1"/>
              </a:ext>
            </a:extLst>
          </p:cNvPr>
          <p:cNvSpPr/>
          <p:nvPr/>
        </p:nvSpPr>
        <p:spPr>
          <a:xfrm>
            <a:off x="5081615" y="2468880"/>
            <a:ext cx="18201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Huffman code">
            <a:extLst>
              <a:ext uri="{C183D7F6-B498-43B3-948B-1728B52AA6E4}">
                <adec:decorative xmlns:adec="http://schemas.microsoft.com/office/drawing/2017/decorative" val="1"/>
              </a:ext>
            </a:extLst>
          </p:cNvPr>
          <p:cNvSpPr/>
          <p:nvPr/>
        </p:nvSpPr>
        <p:spPr>
          <a:xfrm>
            <a:off x="520963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Huffman code"/>
          <p:cNvSpPr txBox="1"/>
          <p:nvPr/>
        </p:nvSpPr>
        <p:spPr>
          <a:xfrm>
            <a:off x="5374223" y="2577084"/>
            <a:ext cx="163723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Huffman code</a:t>
            </a:r>
          </a:p>
        </p:txBody>
      </p:sp>
      <p:sp>
        <p:nvSpPr>
          <p:cNvPr id="28" name="!!term-prefix code">
            <a:extLst>
              <a:ext uri="{C183D7F6-B498-43B3-948B-1728B52AA6E4}">
                <adec:decorative xmlns:adec="http://schemas.microsoft.com/office/drawing/2017/decorative" val="1"/>
              </a:ext>
            </a:extLst>
          </p:cNvPr>
          <p:cNvSpPr/>
          <p:nvPr/>
        </p:nvSpPr>
        <p:spPr>
          <a:xfrm>
            <a:off x="7048039" y="2468880"/>
            <a:ext cx="15194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refix code">
            <a:extLst>
              <a:ext uri="{C183D7F6-B498-43B3-948B-1728B52AA6E4}">
                <adec:decorative xmlns:adec="http://schemas.microsoft.com/office/drawing/2017/decorative" val="1"/>
              </a:ext>
            </a:extLst>
          </p:cNvPr>
          <p:cNvSpPr/>
          <p:nvPr/>
        </p:nvSpPr>
        <p:spPr>
          <a:xfrm>
            <a:off x="717605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refix code"/>
          <p:cNvSpPr txBox="1"/>
          <p:nvPr/>
        </p:nvSpPr>
        <p:spPr>
          <a:xfrm>
            <a:off x="7340647" y="2577084"/>
            <a:ext cx="133659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prefix code</a:t>
            </a:r>
          </a:p>
        </p:txBody>
      </p:sp>
      <p:sp>
        <p:nvSpPr>
          <p:cNvPr id="31" name="!!term-entropy">
            <a:extLst>
              <a:ext uri="{C183D7F6-B498-43B3-948B-1728B52AA6E4}">
                <adec:decorative xmlns:adec="http://schemas.microsoft.com/office/drawing/2017/decorative" val="1"/>
              </a:ext>
            </a:extLst>
          </p:cNvPr>
          <p:cNvSpPr/>
          <p:nvPr/>
        </p:nvSpPr>
        <p:spPr>
          <a:xfrm>
            <a:off x="8713820" y="2468880"/>
            <a:ext cx="11950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entropy">
            <a:extLst>
              <a:ext uri="{C183D7F6-B498-43B3-948B-1728B52AA6E4}">
                <adec:decorative xmlns:adec="http://schemas.microsoft.com/office/drawing/2017/decorative" val="1"/>
              </a:ext>
            </a:extLst>
          </p:cNvPr>
          <p:cNvSpPr/>
          <p:nvPr/>
        </p:nvSpPr>
        <p:spPr>
          <a:xfrm>
            <a:off x="884183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entropy"/>
          <p:cNvSpPr txBox="1"/>
          <p:nvPr/>
        </p:nvSpPr>
        <p:spPr>
          <a:xfrm>
            <a:off x="9006428" y="2577084"/>
            <a:ext cx="10122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entropy</a:t>
            </a:r>
          </a:p>
        </p:txBody>
      </p:sp>
      <p:sp>
        <p:nvSpPr>
          <p:cNvPr id="34" name="!!term-matroid">
            <a:extLst>
              <a:ext uri="{C183D7F6-B498-43B3-948B-1728B52AA6E4}">
                <adec:decorative xmlns:adec="http://schemas.microsoft.com/office/drawing/2017/decorative" val="1"/>
              </a:ext>
            </a:extLst>
          </p:cNvPr>
          <p:cNvSpPr/>
          <p:nvPr/>
        </p:nvSpPr>
        <p:spPr>
          <a:xfrm>
            <a:off x="10055220" y="2468880"/>
            <a:ext cx="120390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matroid">
            <a:extLst>
              <a:ext uri="{C183D7F6-B498-43B3-948B-1728B52AA6E4}">
                <adec:decorative xmlns:adec="http://schemas.microsoft.com/office/drawing/2017/decorative" val="1"/>
              </a:ext>
            </a:extLst>
          </p:cNvPr>
          <p:cNvSpPr/>
          <p:nvPr/>
        </p:nvSpPr>
        <p:spPr>
          <a:xfrm>
            <a:off x="1018323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matroid"/>
          <p:cNvSpPr txBox="1"/>
          <p:nvPr/>
        </p:nvSpPr>
        <p:spPr>
          <a:xfrm>
            <a:off x="10347828" y="2577084"/>
            <a:ext cx="102102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matroid</a:t>
            </a:r>
          </a:p>
        </p:txBody>
      </p:sp>
      <p:sp>
        <p:nvSpPr>
          <p:cNvPr id="37"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97533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113–120     </a:t>
            </a:r>
            <a:fld id="{09816B7D-5639-424B-8487-99FC0F9A931B}" type="slidenum">
              <a:rPr lang="en-GB" sz="1000">
                <a:solidFill>
                  <a:srgbClr val="8795A1"/>
                </a:solidFill>
                <a:latin typeface="Segoe UI"/>
              </a:rPr>
              <a:t>5</a:t>
            </a:fld>
          </a:p>
        </p:txBody>
      </p:sp>
      <p:sp>
        <p:nvSpPr>
          <p:cNvPr id="7" name="!!ag0" descr="Go to section 14.1 Commit and Never Reconsider">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Commit and Never Reconsider</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113  ›</a:t>
            </a:r>
          </a:p>
        </p:txBody>
      </p:sp>
      <p:sp>
        <p:nvSpPr>
          <p:cNvPr id="12" name="!!ag1" descr="Go to section 14.2 Activity Selectio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Activity Selection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114  ›</a:t>
            </a:r>
          </a:p>
        </p:txBody>
      </p:sp>
      <p:sp>
        <p:nvSpPr>
          <p:cNvPr id="17" name="!!ag2" descr="Go to section 14.3 When Greedy Fails: Coin Chang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When Greedy Fails: Coin Change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115  ›</a:t>
            </a:r>
          </a:p>
        </p:txBody>
      </p:sp>
      <p:sp>
        <p:nvSpPr>
          <p:cNvPr id="22" name="!!ag3" descr="Go to section 14.4 Huffman Cod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14.4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Huffman Coding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116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Commit and Never Reconsider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14.1   Commit and Never Reconsider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Activity Selection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When Greedy Fails: Coin Change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Huffman Coding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§14.1     </a:t>
            </a:r>
            <a:fld id="{0111E882-3BD5-4570-BA93-7CCBC83FEF0C}"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4630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Greedy Algorithm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§14.1  ·  Handout p. 113     </a:t>
            </a:r>
            <a:fld id="{AD6D99AA-049A-4A88-A089-C879BA338B89}"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greedy algorithm</a:t>
            </a:r>
            <a:r>
              <a:rPr sz="2300" b="0" i="0">
                <a:solidFill>
                  <a:srgbClr val="1C252B"/>
                </a:solidFill>
                <a:latin typeface="Segoe UI"/>
              </a:rPr>
              <a:t> builds a solution one step at a time, at each step taking the option that looks best </a:t>
            </a:r>
            <a:r>
              <a:rPr sz="2300" b="0" i="1">
                <a:solidFill>
                  <a:srgbClr val="1C252B"/>
                </a:solidFill>
                <a:latin typeface="Segoe UI"/>
              </a:rPr>
              <a:t>right now</a:t>
            </a:r>
            <a:r>
              <a:rPr sz="2300" b="0" i="0">
                <a:solidFill>
                  <a:srgbClr val="1C252B"/>
                </a:solidFill>
                <a:latin typeface="Segoe UI"/>
              </a:rPr>
              <a:t>, by some local rule, and never revisiting that decision.</a:t>
            </a:r>
          </a:p>
        </p:txBody>
      </p:sp>
      <p:sp>
        <p:nvSpPr>
          <p:cNvPr id="10" name="body-1"/>
          <p:cNvSpPr txBox="1"/>
          <p:nvPr/>
        </p:nvSpPr>
        <p:spPr>
          <a:xfrm>
            <a:off x="1060704" y="3302533"/>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is the simplest strategy in the book and the one most often wrong. What makes it interesting is that when it works, it is usually both the fastest algorithm available and the easiest to implement — and whether it works is decidable by a proof, not by testing.</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7068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two properties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§14.1  ·  Handout p. 113     </a:t>
            </a:r>
            <a:fld id="{4441ED22-A601-4F85-891D-AD7BA72E6AF4}"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2503"/>
          </a:xfrm>
          <a:prstGeom prst="roundRect">
            <a:avLst>
              <a:gd name="adj" fmla="val 211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250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greedy algorithm is optimal when the problem has both of these.</a:t>
            </a:r>
          </a:p>
        </p:txBody>
      </p:sp>
      <p:sp>
        <p:nvSpPr>
          <p:cNvPr id="10" name="body-1"/>
          <p:cNvSpPr txBox="1"/>
          <p:nvPr/>
        </p:nvSpPr>
        <p:spPr>
          <a:xfrm>
            <a:off x="1060704" y="2482113"/>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1. The greedy-choice property.</a:t>
            </a:r>
            <a:r>
              <a:rPr sz="1900" b="0" i="0">
                <a:solidFill>
                  <a:srgbClr val="1C252B"/>
                </a:solidFill>
                <a:latin typeface="Segoe UI"/>
              </a:rPr>
              <a:t> A globally optimal solution can be reached by making a locally optimal choice. More precisely: there exists an optimal solution that </a:t>
            </a:r>
            <a:r>
              <a:rPr sz="1900" b="0" i="1">
                <a:solidFill>
                  <a:srgbClr val="1C252B"/>
                </a:solidFill>
                <a:latin typeface="Segoe UI"/>
              </a:rPr>
              <a:t>contains</a:t>
            </a:r>
            <a:r>
              <a:rPr sz="1900" b="0" i="0">
                <a:solidFill>
                  <a:srgbClr val="1C252B"/>
                </a:solidFill>
                <a:latin typeface="Segoe UI"/>
              </a:rPr>
              <a:t> the greedy first choice. Note the “there exists” — greedy need not find </a:t>
            </a:r>
            <a:r>
              <a:rPr sz="1900" b="0" i="1">
                <a:solidFill>
                  <a:srgbClr val="1C252B"/>
                </a:solidFill>
                <a:latin typeface="Segoe UI"/>
              </a:rPr>
              <a:t>the</a:t>
            </a:r>
            <a:r>
              <a:rPr sz="1900" b="0" i="0">
                <a:solidFill>
                  <a:srgbClr val="1C252B"/>
                </a:solidFill>
                <a:latin typeface="Segoe UI"/>
              </a:rPr>
              <a:t> optimal solution, only </a:t>
            </a:r>
            <a:r>
              <a:rPr sz="1900" b="0" i="1">
                <a:solidFill>
                  <a:srgbClr val="1C252B"/>
                </a:solidFill>
                <a:latin typeface="Segoe UI"/>
              </a:rPr>
              <a:t>an</a:t>
            </a:r>
            <a:r>
              <a:rPr sz="1900" b="0" i="0">
                <a:solidFill>
                  <a:srgbClr val="1C252B"/>
                </a:solidFill>
                <a:latin typeface="Segoe UI"/>
              </a:rPr>
              <a:t> optimal one.</a:t>
            </a:r>
          </a:p>
        </p:txBody>
      </p:sp>
      <p:sp>
        <p:nvSpPr>
          <p:cNvPr id="11" name="body-2"/>
          <p:cNvSpPr txBox="1"/>
          <p:nvPr/>
        </p:nvSpPr>
        <p:spPr>
          <a:xfrm>
            <a:off x="1060704" y="3819398"/>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2. Optimal substructure.</a:t>
            </a:r>
            <a:r>
              <a:rPr sz="1900" b="0" i="0">
                <a:solidFill>
                  <a:srgbClr val="1C252B"/>
                </a:solidFill>
                <a:latin typeface="Segoe UI"/>
              </a:rPr>
              <a:t> An optimal solution to the problem contains within it optimal solutions to the subproblems that remain after the choice.</a:t>
            </a:r>
          </a:p>
        </p:txBody>
      </p:sp>
      <p:sp>
        <p:nvSpPr>
          <p:cNvPr id="12" name="body-3"/>
          <p:cNvSpPr txBox="1"/>
          <p:nvPr/>
        </p:nvSpPr>
        <p:spPr>
          <a:xfrm>
            <a:off x="1060704" y="4554397"/>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Both are required and they are different.</a:t>
            </a:r>
            <a:r>
              <a:rPr sz="1900" b="0" i="0">
                <a:solidFill>
                  <a:srgbClr val="1C252B"/>
                </a:solidFill>
                <a:latin typeface="Segoe UI"/>
              </a:rPr>
              <a:t> Optimal substructure alone gives you dynamic programming (Chapter 15); it is the greedy-choice property that lets you commit without exploring alternatives, and it is the one that usually fails. Chapter 15 returns to this comparison in full.</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9506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Activity Selection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Commit and Never Reconsider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14.2   Activity Selection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When Greedy Fails: Coin Change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Huffman Coding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§14.2     </a:t>
            </a:r>
            <a:fld id="{83877883-E644-400D-9BD3-207AD74BE739}" type="slidenum">
              <a:rPr lang="en-GB" sz="1000">
                <a:solidFill>
                  <a:srgbClr val="8795A1"/>
                </a:solidFill>
                <a:latin typeface="Segoe UI"/>
              </a:rPr>
              <a:t>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1945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Activity Selection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114     </a:t>
            </a:r>
            <a:fld id="{84A0BFCA-026D-4B70-9C72-8AFB86E7C91C}"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Given </a:t>
            </a:r>
            <a:r>
              <a:rPr sz="2300" b="0" i="1">
                <a:solidFill>
                  <a:srgbClr val="1C252B"/>
                </a:solidFill>
                <a:latin typeface="Cambria"/>
              </a:rPr>
              <a:t>n</a:t>
            </a:r>
            <a:r>
              <a:rPr sz="2300" b="0" i="0">
                <a:solidFill>
                  <a:srgbClr val="1C252B"/>
                </a:solidFill>
                <a:latin typeface="Segoe UI"/>
              </a:rPr>
              <a:t> activities, activity </a:t>
            </a:r>
            <a:r>
              <a:rPr sz="2300" b="0" i="1">
                <a:solidFill>
                  <a:srgbClr val="1C252B"/>
                </a:solidFill>
                <a:latin typeface="Cambria"/>
              </a:rPr>
              <a:t>i</a:t>
            </a:r>
            <a:r>
              <a:rPr sz="2300" b="0" i="0">
                <a:solidFill>
                  <a:srgbClr val="1C252B"/>
                </a:solidFill>
                <a:latin typeface="Segoe UI"/>
              </a:rPr>
              <a:t> occupying the half-open interval </a:t>
            </a:r>
            <a:r>
              <a:rPr sz="2300" b="0" i="0">
                <a:solidFill>
                  <a:srgbClr val="1C252B"/>
                </a:solidFill>
                <a:latin typeface="Cambria"/>
              </a:rPr>
              <a:t>[</a:t>
            </a:r>
            <a:r>
              <a:rPr sz="2300" b="0" i="1">
                <a:solidFill>
                  <a:srgbClr val="1C252B"/>
                </a:solidFill>
                <a:latin typeface="Cambria"/>
              </a:rPr>
              <a:t>s</a:t>
            </a:r>
            <a:r>
              <a:rPr sz="1500" b="0" i="1" baseline="-25000">
                <a:solidFill>
                  <a:srgbClr val="1C252B"/>
                </a:solidFill>
                <a:latin typeface="Cambria"/>
              </a:rPr>
              <a:t>i</a:t>
            </a:r>
            <a:r>
              <a:rPr sz="2300" b="0" i="0">
                <a:solidFill>
                  <a:srgbClr val="1C252B"/>
                </a:solidFill>
                <a:latin typeface="Cambria"/>
              </a:rPr>
              <a:t>, </a:t>
            </a:r>
            <a:r>
              <a:rPr sz="2300" b="0" i="1">
                <a:solidFill>
                  <a:srgbClr val="1C252B"/>
                </a:solidFill>
                <a:latin typeface="Cambria"/>
              </a:rPr>
              <a:t>f</a:t>
            </a:r>
            <a:r>
              <a:rPr sz="1500" b="0" i="1" baseline="-25000">
                <a:solidFill>
                  <a:srgbClr val="1C252B"/>
                </a:solidFill>
                <a:latin typeface="Cambria"/>
              </a:rPr>
              <a:t>i</a:t>
            </a:r>
            <a:r>
              <a:rPr sz="2300" b="0" i="0">
                <a:solidFill>
                  <a:srgbClr val="1C252B"/>
                </a:solidFill>
                <a:latin typeface="Cambria"/>
              </a:rPr>
              <a:t>)</a:t>
            </a:r>
            <a:r>
              <a:rPr sz="2300" b="0" i="0">
                <a:solidFill>
                  <a:srgbClr val="1C252B"/>
                </a:solidFill>
                <a:latin typeface="Segoe UI"/>
              </a:rPr>
              <a:t>, choose a largest set of mutually compatible activities — no two overlapping.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Activity Selection</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114     </a:t>
            </a:r>
            <a:fld id="{18437B1D-7D25-4099-B66E-16ED029F269D}"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5080"/>
          </a:xfrm>
          <a:prstGeom prst="roundRect">
            <a:avLst>
              <a:gd name="adj" fmla="val 3739"/>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508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Three local rules suggest themselves, and they sound equally sensible:</a:t>
            </a:r>
          </a:p>
        </p:txBody>
      </p:sp>
      <p:sp>
        <p:nvSpPr>
          <p:cNvPr id="10" name="body-1"/>
          <p:cNvSpPr txBox="1"/>
          <p:nvPr/>
        </p:nvSpPr>
        <p:spPr>
          <a:xfrm>
            <a:off x="1060704" y="2573451"/>
            <a:ext cx="10161727" cy="1343812"/>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0" i="0">
                <a:solidFill>
                  <a:srgbClr val="1C252B"/>
                </a:solidFill>
                <a:latin typeface="Segoe UI"/>
              </a:rPr>
              <a:t>take the activity that </a:t>
            </a:r>
            <a:r>
              <a:rPr sz="2300" b="1" i="0">
                <a:solidFill>
                  <a:srgbClr val="1C252B"/>
                </a:solidFill>
                <a:latin typeface="Segoe UI"/>
              </a:rPr>
              <a:t>finishes earliest</a:t>
            </a:r>
            <a:r>
              <a:rPr sz="2300" b="0" i="0">
                <a:solidFill>
                  <a:srgbClr val="1C252B"/>
                </a:solidFill>
                <a:latin typeface="Segoe UI"/>
              </a:rPr>
              <a:t>;</a:t>
            </a:r>
          </a:p>
          <a:p>
            <a:pPr algn="l" marL="257176" indent="-257176">
              <a:lnSpc>
                <a:spcPct val="104000"/>
              </a:lnSpc>
              <a:spcBef>
                <a:spcPts val="0"/>
              </a:spcBef>
              <a:spcAft>
                <a:spcPts val="804"/>
              </a:spcAft>
            </a:pPr>
            <a:r>
              <a:rPr sz="2300" b="1">
                <a:solidFill>
                  <a:srgbClr val="1A5276"/>
                </a:solidFill>
                <a:latin typeface="Segoe UI"/>
              </a:rPr>
              <a:t>•	</a:t>
            </a:r>
            <a:r>
              <a:rPr sz="2300" b="0" i="0">
                <a:solidFill>
                  <a:srgbClr val="1C252B"/>
                </a:solidFill>
                <a:latin typeface="Segoe UI"/>
              </a:rPr>
              <a:t>take the </a:t>
            </a:r>
            <a:r>
              <a:rPr sz="2300" b="1" i="0">
                <a:solidFill>
                  <a:srgbClr val="1C252B"/>
                </a:solidFill>
                <a:latin typeface="Segoe UI"/>
              </a:rPr>
              <a:t>shortest</a:t>
            </a:r>
            <a:r>
              <a:rPr sz="2300" b="0" i="0">
                <a:solidFill>
                  <a:srgbClr val="1C252B"/>
                </a:solidFill>
                <a:latin typeface="Segoe UI"/>
              </a:rPr>
              <a:t> activity;</a:t>
            </a:r>
          </a:p>
          <a:p>
            <a:pPr algn="l" marL="257176" indent="-257176">
              <a:lnSpc>
                <a:spcPct val="104000"/>
              </a:lnSpc>
              <a:spcBef>
                <a:spcPts val="0"/>
              </a:spcBef>
              <a:spcAft>
                <a:spcPts val="0"/>
              </a:spcAft>
            </a:pPr>
            <a:r>
              <a:rPr sz="2300" b="1">
                <a:solidFill>
                  <a:srgbClr val="1A5276"/>
                </a:solidFill>
                <a:latin typeface="Segoe UI"/>
              </a:rPr>
              <a:t>•	</a:t>
            </a:r>
            <a:r>
              <a:rPr sz="2300" b="0" i="0">
                <a:solidFill>
                  <a:srgbClr val="1C252B"/>
                </a:solidFill>
                <a:latin typeface="Segoe UI"/>
              </a:rPr>
              <a:t>take the activity that </a:t>
            </a:r>
            <a:r>
              <a:rPr sz="2300" b="1" i="0">
                <a:solidFill>
                  <a:srgbClr val="1C252B"/>
                </a:solidFill>
                <a:latin typeface="Segoe UI"/>
              </a:rPr>
              <a:t>starts earliest</a:t>
            </a:r>
            <a:r>
              <a:rPr sz="2300" b="0" i="0">
                <a:solidFill>
                  <a:srgbClr val="1C252B"/>
                </a:solidFill>
                <a:latin typeface="Segoe UI"/>
              </a:rPr>
              <a: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68217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Activity-Select, greedy by earliest finishing time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114     </a:t>
            </a:r>
            <a:fld id="{38E753B2-B0D4-489F-81E5-D781ABB54E51}" type="slidenum">
              <a:rPr lang="en-GB" sz="1000">
                <a:solidFill>
                  <a:srgbClr val="8795A1"/>
                </a:solidFill>
                <a:latin typeface="Segoe UI"/>
              </a:rPr>
              <a:t>12</a:t>
            </a:fld>
          </a:p>
        </p:txBody>
      </p:sp>
      <p:pic>
        <p:nvPicPr>
          <p:cNvPr id="6" name="!!figure" descr="Figure 14.1. Activity-Select, greedy by earliest finishing time. After the sort it is a single pass, so the whole algorithm is Θ(n lg 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3975" y="1737360"/>
            <a:ext cx="10663745"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After the sort it is a single pass, so the whole algorithm is Θ(n lg 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2600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Earliest finish is optimal</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14.1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114     </a:t>
            </a:r>
            <a:fld id="{A137B1BE-DE63-4D2C-AA40-8B208BC538B2}"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Let </a:t>
            </a:r>
            <a:r>
              <a:rPr sz="2300" b="0" i="1">
                <a:solidFill>
                  <a:srgbClr val="1C252B"/>
                </a:solidFill>
                <a:latin typeface="Cambria"/>
              </a:rPr>
              <a:t>S</a:t>
            </a:r>
            <a:r>
              <a:rPr sz="2300" b="0" i="0">
                <a:solidFill>
                  <a:srgbClr val="1C252B"/>
                </a:solidFill>
                <a:latin typeface="Segoe UI"/>
              </a:rPr>
              <a:t> be a set of activities and let </a:t>
            </a:r>
            <a:r>
              <a:rPr sz="2300" b="0" i="1">
                <a:solidFill>
                  <a:srgbClr val="1C252B"/>
                </a:solidFill>
                <a:latin typeface="Cambria"/>
              </a:rPr>
              <a:t>a</a:t>
            </a:r>
            <a:r>
              <a:rPr sz="1500" b="0" i="0" baseline="-25000">
                <a:solidFill>
                  <a:srgbClr val="1C252B"/>
                </a:solidFill>
                <a:latin typeface="Cambria"/>
              </a:rPr>
              <a:t>1</a:t>
            </a:r>
            <a:r>
              <a:rPr sz="2300" b="0" i="0">
                <a:solidFill>
                  <a:srgbClr val="1C252B"/>
                </a:solidFill>
                <a:latin typeface="Segoe UI"/>
              </a:rPr>
              <a:t> be one with the earliest finishing time. Then some maximum-size set of mutually compatible activities contains </a:t>
            </a:r>
            <a:r>
              <a:rPr sz="2300" b="0" i="1">
                <a:solidFill>
                  <a:srgbClr val="1C252B"/>
                </a:solidFill>
                <a:latin typeface="Cambria"/>
              </a:rPr>
              <a:t>a</a:t>
            </a:r>
            <a:r>
              <a:rPr sz="1500" b="0" i="0" baseline="-25000">
                <a:solidFill>
                  <a:srgbClr val="1C252B"/>
                </a:solidFill>
                <a:latin typeface="Cambria"/>
              </a:rPr>
              <a:t>1</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16984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Measured: the Three Rules, Against an Oracle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114     </a:t>
            </a:r>
            <a:fld id="{572ABD56-81ED-4B9E-9FA0-EB34BB500223}"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81500"/>
          </a:xfrm>
          <a:prstGeom prst="roundRect">
            <a:avLst>
              <a:gd name="adj" fmla="val 218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815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Rules 2 and 3 have no such proof. Rather than assert they are wrong, </a:t>
            </a:r>
            <a:r>
              <a:rPr sz="1800" b="0" i="0">
                <a:solidFill>
                  <a:srgbClr val="1F4E79"/>
                </a:solidFill>
                <a:latin typeface="Consolas"/>
              </a:rPr>
              <a:t>code/ch14_greedy.cpp</a:t>
            </a:r>
            <a:r>
              <a:rPr sz="1900" b="0" i="0">
                <a:solidFill>
                  <a:srgbClr val="1C252B"/>
                </a:solidFill>
                <a:latin typeface="Segoe UI"/>
              </a:rPr>
              <a:t> checks all three against exhaustive search (Chapter 7’s oracle) on 20,000 random instances of 10 activities:</a:t>
            </a:r>
          </a:p>
        </p:txBody>
      </p:sp>
      <p:graphicFrame>
        <p:nvGraphicFramePr>
          <p:cNvPr id="10" name="body-1"/>
          <p:cNvGraphicFramePr>
            <a:graphicFrameLocks noGrp="1"/>
          </p:cNvGraphicFramePr>
          <p:nvPr/>
        </p:nvGraphicFramePr>
        <p:xfrm>
          <a:off x="1042416" y="3047822"/>
          <a:ext cx="4789130" cy="1560576"/>
        </p:xfrm>
        <a:graphic>
          <a:graphicData uri="http://schemas.openxmlformats.org/drawingml/2006/table">
            <a:tbl>
              <a:tblPr firstRow="0" bandRow="0" firstCol="0" lastRow="0" lastCol="0" bandCol="0">
                <a:tableStyleId>{2D5ABB26-0587-4C30-8999-92F81FD0307C}</a:tableStyleId>
              </a:tblPr>
              <a:tblGrid>
                <a:gridCol w="1968239"/>
                <a:gridCol w="2820891"/>
              </a:tblGrid>
              <a:tr h="390144">
                <a:tc>
                  <a:txBody>
                    <a:bodyPr wrap="square"/>
                    <a:lstStyle/>
                    <a:p>
                      <a:pPr algn="l"/>
                      <a:r>
                        <a:rPr sz="1600" b="1" i="0">
                          <a:solidFill>
                            <a:srgbClr val="1A5276"/>
                          </a:solidFill>
                          <a:latin typeface="Segoe UI"/>
                        </a:rPr>
                        <a:t>greedy rule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instances solved optimally</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earliest </a:t>
                      </a:r>
                      <a:r>
                        <a:rPr sz="1600" b="1" i="0">
                          <a:solidFill>
                            <a:srgbClr val="1C252B"/>
                          </a:solidFill>
                          <a:latin typeface="Segoe UI"/>
                        </a:rPr>
                        <a:t>finish</a:t>
                      </a:r>
                      <a:r>
                        <a:rPr sz="1600" b="0" i="0">
                          <a:solidFill>
                            <a:srgbClr val="1C252B"/>
                          </a:solidFill>
                          <a:latin typeface="Segoe UI"/>
                        </a:rPr>
                        <a:t> time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1" i="0">
                          <a:solidFill>
                            <a:srgbClr val="1C252B"/>
                          </a:solidFill>
                          <a:latin typeface="Segoe UI"/>
                        </a:rPr>
                        <a:t>100.0%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1" i="0">
                          <a:solidFill>
                            <a:srgbClr val="1C252B"/>
                          </a:solidFill>
                          <a:latin typeface="Segoe UI"/>
                        </a:rPr>
                        <a:t>shortest</a:t>
                      </a:r>
                      <a:r>
                        <a:rPr sz="1600" b="0" i="0">
                          <a:solidFill>
                            <a:srgbClr val="1C252B"/>
                          </a:solidFill>
                          <a:latin typeface="Segoe UI"/>
                        </a:rPr>
                        <a:t> activity</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94.5%</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earliest </a:t>
                      </a:r>
                      <a:r>
                        <a:rPr sz="1600" b="1" i="0">
                          <a:solidFill>
                            <a:srgbClr val="1C252B"/>
                          </a:solidFill>
                          <a:latin typeface="Segoe UI"/>
                        </a:rPr>
                        <a:t>start</a:t>
                      </a:r>
                      <a:r>
                        <a:rPr sz="1600" b="0" i="0">
                          <a:solidFill>
                            <a:srgbClr val="1C252B"/>
                          </a:solidFill>
                          <a:latin typeface="Segoe UI"/>
                        </a:rPr>
                        <a:t> time</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62.1%</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741113"/>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 the middle row carefully.</a:t>
            </a:r>
            <a:r>
              <a:rPr sz="1900" b="0" i="0">
                <a:solidFill>
                  <a:srgbClr val="1C252B"/>
                </a:solidFill>
                <a:latin typeface="Segoe UI"/>
              </a:rPr>
              <a:t> “Take the shortest” is right 94.5% of the time. Any amount of testing on random inputs would leave you confident in it, and it is wrong. A 94.5% algorithm is not a 94.5%-correct algorithm; it is an incorrect algorithm that is usually lucky.</a:t>
            </a:r>
          </a:p>
        </p:txBody>
      </p:sp>
      <p:sp>
        <p:nvSpPr>
          <p:cNvPr id="12" name="body-2bar">
            <a:extLst>
              <a:ext uri="{C183D7F6-B498-43B3-948B-1728B52AA6E4}">
                <adec:decorative xmlns:adec="http://schemas.microsoft.com/office/drawing/2017/decorative" val="1"/>
              </a:ext>
            </a:extLst>
          </p:cNvPr>
          <p:cNvSpPr/>
          <p:nvPr/>
        </p:nvSpPr>
        <p:spPr>
          <a:xfrm>
            <a:off x="841248" y="4759401"/>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41367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Measured: the Three Rules, Against an Oracle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114     </a:t>
            </a:r>
            <a:fld id="{7E9F0BC8-CDEB-4F7A-90C4-17EB6912AAFD}"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85924"/>
          </a:xfrm>
          <a:prstGeom prst="roundRect">
            <a:avLst>
              <a:gd name="adj" fmla="val 48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85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 the last row too.</a:t>
            </a:r>
            <a:r>
              <a:rPr sz="1900" b="0" i="0">
                <a:solidFill>
                  <a:srgbClr val="1C252B"/>
                </a:solidFill>
                <a:latin typeface="Segoe UI"/>
              </a:rPr>
              <a:t> “Take whatever starts first” — the most natural rule of all, and the one a scheduler written in a hurry implements — is optimal barely three-fifths of the time.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the top row is 100.0%, not 100%-ish</a:t>
            </a:r>
            <a:r>
              <a:rPr sz="1900" b="0" i="0">
                <a:solidFill>
                  <a:srgbClr val="1C252B"/>
                </a:solidFill>
                <a:latin typeface="Segoe UI"/>
              </a:rPr>
              <a:t>, because it is a theorem. That is the difference between a proof and a benchmark, and it is the reason Theorem 14.1 is in this chapter.</a:t>
            </a:r>
          </a:p>
        </p:txBody>
      </p:sp>
      <p:sp>
        <p:nvSpPr>
          <p:cNvPr id="12" name="body-1bar">
            <a:extLst>
              <a:ext uri="{C183D7F6-B498-43B3-948B-1728B52AA6E4}">
                <adec:decorative xmlns:adec="http://schemas.microsoft.com/office/drawing/2017/decorative" val="1"/>
              </a:ext>
            </a:extLst>
          </p:cNvPr>
          <p:cNvSpPr/>
          <p:nvPr/>
        </p:nvSpPr>
        <p:spPr>
          <a:xfrm>
            <a:off x="841248" y="2764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When Greedy Fails: Coin Change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Commit and Never Reconsider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Activity Selection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14.3   When Greedy Fails: Coin Change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Huffman Coding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§14.3     </a:t>
            </a:r>
            <a:fld id="{B1230627-EEB4-458D-A1ED-7333FF411E62}" type="slidenum">
              <a:rPr lang="en-GB" sz="1000">
                <a:solidFill>
                  <a:srgbClr val="8795A1"/>
                </a:solidFill>
                <a:latin typeface="Segoe UI"/>
              </a:rPr>
              <a:t>16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9013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Algorithm, Two Coin Systems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§14.3  ·  Handout p. 115     </a:t>
            </a:r>
            <a:fld id="{F197FBE3-2BAF-4114-A19E-90DD3997ED63}"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64888"/>
          </a:xfrm>
          <a:prstGeom prst="roundRect">
            <a:avLst>
              <a:gd name="adj" fmla="val 200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648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Make an amount from coins of given denominations, using as few coins as possible. Greedy: take the largest coin that fits, repeatedly.</a:t>
            </a:r>
          </a:p>
        </p:txBody>
      </p:sp>
      <p:graphicFrame>
        <p:nvGraphicFramePr>
          <p:cNvPr id="10" name="body-1"/>
          <p:cNvGraphicFramePr>
            <a:graphicFrameLocks noGrp="1"/>
          </p:cNvGraphicFramePr>
          <p:nvPr/>
        </p:nvGraphicFramePr>
        <p:xfrm>
          <a:off x="1042416" y="2630627"/>
          <a:ext cx="4055930" cy="1033272"/>
        </p:xfrm>
        <a:graphic>
          <a:graphicData uri="http://schemas.openxmlformats.org/drawingml/2006/table">
            <a:tbl>
              <a:tblPr firstRow="0" bandRow="0" firstCol="0" lastRow="0" lastCol="0" bandCol="0">
                <a:tableStyleId>{2D5ABB26-0587-4C30-8999-92F81FD0307C}</a:tableStyleId>
              </a:tblPr>
              <a:tblGrid>
                <a:gridCol w="1185600"/>
                <a:gridCol w="1738098"/>
                <a:gridCol w="1132232"/>
              </a:tblGrid>
              <a:tr h="344424">
                <a:tc>
                  <a:txBody>
                    <a:bodyPr wrap="square"/>
                    <a:lstStyle/>
                    <a:p>
                      <a:pPr algn="l"/>
                      <a:r>
                        <a:rPr sz="1300" b="1" i="0">
                          <a:solidFill>
                            <a:srgbClr val="1A5276"/>
                          </a:solidFill>
                          <a:latin typeface="Segoe UI"/>
                        </a:rPr>
                        <a:t>coin system</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greedy wrong on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first failure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0" i="0">
                          <a:solidFill>
                            <a:srgbClr val="1C252B"/>
                          </a:solidFill>
                          <a:latin typeface="Cambria"/>
                        </a:rPr>
                        <a:t>{1, 5, 10, 25}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 of 200 amounts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Cambria"/>
                        </a:rPr>
                        <a:t>{1, 3, 4}</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1" i="0">
                          <a:solidFill>
                            <a:srgbClr val="1C252B"/>
                          </a:solidFill>
                          <a:latin typeface="Segoe UI"/>
                        </a:rPr>
                        <a:t>49 of 200 amounts</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amount 6</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3775659"/>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The counter-example is six.</a:t>
            </a:r>
            <a:r>
              <a:rPr sz="1600" b="0" i="0">
                <a:solidFill>
                  <a:srgbClr val="1C252B"/>
                </a:solidFill>
                <a:latin typeface="Segoe UI"/>
              </a:rPr>
              <a:t> Greedy takes 4, then 1, then 1 — three coins. The optimum is </a:t>
            </a:r>
            <a:r>
              <a:rPr sz="1600" b="0" i="0">
                <a:solidFill>
                  <a:srgbClr val="1C252B"/>
                </a:solidFill>
                <a:latin typeface="Cambria"/>
              </a:rPr>
              <a:t>3 + 3</a:t>
            </a:r>
            <a:r>
              <a:rPr sz="1600" b="0" i="0">
                <a:solidFill>
                  <a:srgbClr val="1C252B"/>
                </a:solidFill>
                <a:latin typeface="Segoe UI"/>
              </a:rPr>
              <a:t> — two coins. Taking the largest coin was the mistake, and no amount of care in the implementation can fix a wrong strategy.</a:t>
            </a:r>
          </a:p>
        </p:txBody>
      </p:sp>
      <p:sp>
        <p:nvSpPr>
          <p:cNvPr id="12" name="body-2bar">
            <a:extLst>
              <a:ext uri="{C183D7F6-B498-43B3-948B-1728B52AA6E4}">
                <adec:decorative xmlns:adec="http://schemas.microsoft.com/office/drawing/2017/decorative" val="1"/>
              </a:ext>
            </a:extLst>
          </p:cNvPr>
          <p:cNvSpPr/>
          <p:nvPr/>
        </p:nvSpPr>
        <p:spPr>
          <a:xfrm>
            <a:off x="841248" y="3793947"/>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4394606"/>
            <a:ext cx="10234879" cy="1060094"/>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The lesson is not that greedy is unreliable.</a:t>
            </a:r>
            <a:r>
              <a:rPr sz="1600" b="0" i="0">
                <a:solidFill>
                  <a:srgbClr val="1C252B"/>
                </a:solidFill>
                <a:latin typeface="Segoe UI"/>
              </a:rPr>
              <a:t> It is that greediness is a property of the </a:t>
            </a:r>
            <a:r>
              <a:rPr sz="1600" b="0" i="1">
                <a:solidFill>
                  <a:srgbClr val="1C252B"/>
                </a:solidFill>
                <a:latin typeface="Segoe UI"/>
              </a:rPr>
              <a:t>problem instance</a:t>
            </a:r>
            <a:r>
              <a:rPr sz="1600" b="0" i="0">
                <a:solidFill>
                  <a:srgbClr val="1C252B"/>
                </a:solidFill>
                <a:latin typeface="Segoe UI"/>
              </a:rPr>
              <a:t>, not of the approach. The identical algorithm is provably optimal for </a:t>
            </a:r>
            <a:r>
              <a:rPr sz="1600" b="0" i="0">
                <a:solidFill>
                  <a:srgbClr val="1C252B"/>
                </a:solidFill>
                <a:latin typeface="Cambria"/>
              </a:rPr>
              <a:t>{1,5,10,25}</a:t>
            </a:r>
            <a:r>
              <a:rPr sz="1600" b="0" i="0">
                <a:solidFill>
                  <a:srgbClr val="1C252B"/>
                </a:solidFill>
                <a:latin typeface="Segoe UI"/>
              </a:rPr>
              <a:t> — which is why it works for every currency you have handled — and provably wrong for </a:t>
            </a:r>
            <a:r>
              <a:rPr sz="1600" b="0" i="0">
                <a:solidFill>
                  <a:srgbClr val="1C252B"/>
                </a:solidFill>
                <a:latin typeface="Cambria"/>
              </a:rPr>
              <a:t>{1,3,4}</a:t>
            </a:r>
            <a:r>
              <a:rPr sz="1600" b="0" i="0">
                <a:solidFill>
                  <a:srgbClr val="1C252B"/>
                </a:solidFill>
                <a:latin typeface="Segoe UI"/>
              </a:rPr>
              <a:t>. You cannot tell which case you are in by looking at the code.</a:t>
            </a:r>
          </a:p>
        </p:txBody>
      </p:sp>
      <p:sp>
        <p:nvSpPr>
          <p:cNvPr id="14" name="body-3bar">
            <a:extLst>
              <a:ext uri="{C183D7F6-B498-43B3-948B-1728B52AA6E4}">
                <adec:decorative xmlns:adec="http://schemas.microsoft.com/office/drawing/2017/decorative" val="1"/>
              </a:ext>
            </a:extLst>
          </p:cNvPr>
          <p:cNvSpPr/>
          <p:nvPr/>
        </p:nvSpPr>
        <p:spPr>
          <a:xfrm>
            <a:off x="841248" y="4412894"/>
            <a:ext cx="54864" cy="99608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4"/>
          <p:cNvSpPr txBox="1"/>
          <p:nvPr/>
        </p:nvSpPr>
        <p:spPr>
          <a:xfrm>
            <a:off x="1042416" y="5520740"/>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And when greedy fails, dynamic programming does not.</a:t>
            </a:r>
            <a:r>
              <a:rPr sz="1600" b="0" i="0">
                <a:solidFill>
                  <a:srgbClr val="1C252B"/>
                </a:solidFill>
                <a:latin typeface="Segoe UI"/>
              </a:rPr>
              <a:t> Chapter 15’s method solves coin change optimally for any denomination set, in </a:t>
            </a:r>
            <a:r>
              <a:rPr sz="1600" b="0" i="0">
                <a:solidFill>
                  <a:srgbClr val="1C252B"/>
                </a:solidFill>
                <a:latin typeface="Cambria"/>
              </a:rPr>
              <a:t>Θ(</a:t>
            </a:r>
            <a:r>
              <a:rPr sz="1600" b="0" i="1">
                <a:solidFill>
                  <a:srgbClr val="1C252B"/>
                </a:solidFill>
                <a:latin typeface="Cambria"/>
              </a:rPr>
              <a:t>nW</a:t>
            </a:r>
            <a:r>
              <a:rPr sz="1600" b="0" i="0">
                <a:solidFill>
                  <a:srgbClr val="1C252B"/>
                </a:solidFill>
                <a:latin typeface="Cambria"/>
              </a:rPr>
              <a:t>)</a:t>
            </a:r>
            <a:r>
              <a:rPr sz="1600" b="0" i="0">
                <a:solidFill>
                  <a:srgbClr val="1C252B"/>
                </a:solidFill>
                <a:latin typeface="Segoe UI"/>
              </a:rPr>
              <a:t> — slower, and always right.</a:t>
            </a:r>
          </a:p>
        </p:txBody>
      </p:sp>
      <p:sp>
        <p:nvSpPr>
          <p:cNvPr id="16" name="body-4bar">
            <a:extLst>
              <a:ext uri="{C183D7F6-B498-43B3-948B-1728B52AA6E4}">
                <adec:decorative xmlns:adec="http://schemas.microsoft.com/office/drawing/2017/decorative" val="1"/>
              </a:ext>
            </a:extLst>
          </p:cNvPr>
          <p:cNvSpPr/>
          <p:nvPr/>
        </p:nvSpPr>
        <p:spPr>
          <a:xfrm>
            <a:off x="841248" y="5539028"/>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pfill">
            <a:extLst>
              <a:ext uri="{C183D7F6-B498-43B3-948B-1728B52AA6E4}">
                <adec:decorative xmlns:adec="http://schemas.microsoft.com/office/drawing/2017/decorative" val="1"/>
              </a:ext>
            </a:extLst>
          </p:cNvPr>
          <p:cNvSpPr/>
          <p:nvPr/>
        </p:nvSpPr>
        <p:spPr>
          <a:xfrm>
            <a:off x="0" y="0"/>
            <a:ext cx="414517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2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right)">
                                      <p:cBhvr>
                                        <p:cTn id="29" dur="42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to approach a greedy algorithm</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§14.3  ·  Handout p. 115     </a:t>
            </a:r>
            <a:fld id="{1C31F1B7-2D0B-4EBF-8BD4-9329131B2615}"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09364"/>
          </a:xfrm>
          <a:prstGeom prst="roundRect">
            <a:avLst>
              <a:gd name="adj" fmla="val 217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0936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33292"/>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A93226"/>
                </a:solidFill>
                <a:latin typeface="Segoe UI"/>
              </a:rPr>
              <a:t>1.	</a:t>
            </a:r>
            <a:r>
              <a:rPr sz="2300" b="1" i="0">
                <a:solidFill>
                  <a:srgbClr val="A93226"/>
                </a:solidFill>
                <a:latin typeface="Segoe UI"/>
              </a:rPr>
              <a:t>Write the greedy rule down precisely.</a:t>
            </a:r>
            <a:r>
              <a:rPr sz="2300" b="0" i="0">
                <a:solidFill>
                  <a:srgbClr val="1C252B"/>
                </a:solidFill>
                <a:latin typeface="Segoe UI"/>
              </a:rPr>
              <a:t> “Greedy” names a family; the three activity-selection rules are three different algorithms with three different success rates.</a:t>
            </a:r>
          </a:p>
          <a:p>
            <a:pPr algn="l" marL="554820" indent="-554820">
              <a:lnSpc>
                <a:spcPct val="104000"/>
              </a:lnSpc>
              <a:spcBef>
                <a:spcPts val="0"/>
              </a:spcBef>
              <a:spcAft>
                <a:spcPts val="804"/>
              </a:spcAft>
            </a:pPr>
            <a:r>
              <a:rPr sz="2300" b="1">
                <a:solidFill>
                  <a:srgbClr val="A93226"/>
                </a:solidFill>
                <a:latin typeface="Segoe UI"/>
              </a:rPr>
              <a:t>2.	</a:t>
            </a:r>
            <a:r>
              <a:rPr sz="2300" b="1" i="0">
                <a:solidFill>
                  <a:srgbClr val="A93226"/>
                </a:solidFill>
                <a:latin typeface="Segoe UI"/>
              </a:rPr>
              <a:t>Try to prove the greedy-choice property</a:t>
            </a:r>
            <a:r>
              <a:rPr sz="2300" b="0" i="0">
                <a:solidFill>
                  <a:srgbClr val="1C252B"/>
                </a:solidFill>
                <a:latin typeface="Segoe UI"/>
              </a:rPr>
              <a:t> by exchange argument. If the proof goes through, you are finished.</a:t>
            </a:r>
          </a:p>
          <a:p>
            <a:pPr algn="l" marL="554820" indent="-554820">
              <a:lnSpc>
                <a:spcPct val="104000"/>
              </a:lnSpc>
              <a:spcBef>
                <a:spcPts val="0"/>
              </a:spcBef>
              <a:spcAft>
                <a:spcPts val="804"/>
              </a:spcAft>
            </a:pPr>
            <a:r>
              <a:rPr sz="2300" b="1">
                <a:solidFill>
                  <a:srgbClr val="A93226"/>
                </a:solidFill>
                <a:latin typeface="Segoe UI"/>
              </a:rPr>
              <a:t>3.	</a:t>
            </a:r>
            <a:r>
              <a:rPr sz="2300" b="1" i="0">
                <a:solidFill>
                  <a:srgbClr val="A93226"/>
                </a:solidFill>
                <a:latin typeface="Segoe UI"/>
              </a:rPr>
              <a:t>If it does not, look for the counter-example</a:t>
            </a:r>
            <a:r>
              <a:rPr sz="2300" b="0" i="0">
                <a:solidFill>
                  <a:srgbClr val="1C252B"/>
                </a:solidFill>
                <a:latin typeface="Segoe UI"/>
              </a:rPr>
              <a:t> where the proof stuck. Counter-examples for greedy algorithms are usually tiny — </a:t>
            </a:r>
            <a:r>
              <a:rPr sz="2300" b="0" i="0">
                <a:solidFill>
                  <a:srgbClr val="1C252B"/>
                </a:solidFill>
                <a:latin typeface="Cambria"/>
              </a:rPr>
              <a:t>{1,3,4}</a:t>
            </a:r>
            <a:r>
              <a:rPr sz="2300" b="0" i="0">
                <a:solidFill>
                  <a:srgbClr val="1C252B"/>
                </a:solidFill>
                <a:latin typeface="Segoe UI"/>
              </a:rPr>
              <a:t> and the amount 6.</a:t>
            </a:r>
          </a:p>
          <a:p>
            <a:pPr algn="l" marL="554820" indent="-554820">
              <a:lnSpc>
                <a:spcPct val="104000"/>
              </a:lnSpc>
              <a:spcBef>
                <a:spcPts val="0"/>
              </a:spcBef>
              <a:spcAft>
                <a:spcPts val="0"/>
              </a:spcAft>
            </a:pPr>
            <a:r>
              <a:rPr sz="2300" b="1">
                <a:solidFill>
                  <a:srgbClr val="A93226"/>
                </a:solidFill>
                <a:latin typeface="Segoe UI"/>
              </a:rPr>
              <a:t>4.	</a:t>
            </a:r>
            <a:r>
              <a:rPr sz="2300" b="1" i="0">
                <a:solidFill>
                  <a:srgbClr val="A93226"/>
                </a:solidFill>
                <a:latin typeface="Segoe UI"/>
              </a:rPr>
              <a:t>Never conclude from testing.</a:t>
            </a:r>
            <a:r>
              <a:rPr sz="2300" b="0" i="0">
                <a:solidFill>
                  <a:srgbClr val="1C252B"/>
                </a:solidFill>
                <a:latin typeface="Segoe UI"/>
              </a:rPr>
              <a:t> 94.5% looked like success.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43890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Huffman Coding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Commit and Never Reconsider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Activity Selection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When Greedy Fails: Coin Change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14.4   Huffman Coding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§14.4     </a:t>
            </a:r>
            <a:fld id="{A2224C7E-1C84-4347-BF5D-F4108023B16C}" type="slidenum">
              <a:rPr lang="en-GB" sz="1000">
                <a:solidFill>
                  <a:srgbClr val="8795A1"/>
                </a:solidFill>
                <a:latin typeface="Segoe UI"/>
              </a:rPr>
              <a:t>19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63284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Prefix Code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F3AD8F26-F19D-437B-BC01-179B7BDC5BF9}"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81312"/>
          </a:xfrm>
          <a:prstGeom prst="roundRect">
            <a:avLst>
              <a:gd name="adj" fmla="val 213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8131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a:t>
            </a:r>
            <a:r>
              <a:rPr sz="2200" b="1" i="0">
                <a:solidFill>
                  <a:srgbClr val="1A5276"/>
                </a:solidFill>
                <a:latin typeface="Segoe UI"/>
              </a:rPr>
              <a:t>prefix code</a:t>
            </a:r>
            <a:r>
              <a:rPr sz="2200" b="0" i="0">
                <a:solidFill>
                  <a:srgbClr val="1C252B"/>
                </a:solidFill>
                <a:latin typeface="Segoe UI"/>
              </a:rPr>
              <a:t> assigns each symbol a binary string such that no codeword is a prefix of another. That property is what makes a code unambiguously decodable without separators: reading left to right, the first codeword you complete is the right one.</a:t>
            </a:r>
          </a:p>
        </p:txBody>
      </p:sp>
      <p:sp>
        <p:nvSpPr>
          <p:cNvPr id="10" name="body-1"/>
          <p:cNvSpPr txBox="1"/>
          <p:nvPr/>
        </p:nvSpPr>
        <p:spPr>
          <a:xfrm>
            <a:off x="1060704" y="3596690"/>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prefix code corresponds exactly to a binary tree whose leaves are the symbols; the codeword is the path, with 0 for left and 1 for right. The cost of a tree </a:t>
            </a:r>
            <a:r>
              <a:rPr sz="2200" b="0" i="1">
                <a:solidFill>
                  <a:srgbClr val="1C252B"/>
                </a:solidFill>
                <a:latin typeface="Cambria"/>
              </a:rPr>
              <a:t>T</a:t>
            </a:r>
            <a:r>
              <a:rPr sz="2200" b="0" i="0">
                <a:solidFill>
                  <a:srgbClr val="1C252B"/>
                </a:solidFill>
                <a:latin typeface="Segoe UI"/>
              </a:rPr>
              <a:t> is</a:t>
            </a:r>
          </a:p>
        </p:txBody>
      </p:sp>
      <p:pic>
        <p:nvPicPr>
          <p:cNvPr id="11" name="body-2" descr="B(T) = \sum_{c} f(c)\, d_{T}(c),"/>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447743"/>
            <a:ext cx="10161727" cy="757671"/>
          </a:xfrm>
          <a:prstGeom prst="rect">
            <a:avLst/>
          </a:prstGeom>
        </p:spPr>
      </p:pic>
      <p:sp>
        <p:nvSpPr>
          <p:cNvPr id="12" name="body-3"/>
          <p:cNvSpPr txBox="1"/>
          <p:nvPr/>
        </p:nvSpPr>
        <p:spPr>
          <a:xfrm>
            <a:off x="1060704" y="5359085"/>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total encoded length, where </a:t>
            </a:r>
            <a:r>
              <a:rPr sz="2200" b="0" i="1">
                <a:solidFill>
                  <a:srgbClr val="1C252B"/>
                </a:solidFill>
                <a:latin typeface="Cambria"/>
              </a:rPr>
              <a:t>f</a:t>
            </a:r>
            <a:r>
              <a:rPr sz="2200" b="0" i="0">
                <a:solidFill>
                  <a:srgbClr val="1C252B"/>
                </a:solidFill>
                <a:latin typeface="Cambria"/>
              </a:rPr>
              <a:t>(</a:t>
            </a:r>
            <a:r>
              <a:rPr sz="2200" b="0" i="1">
                <a:solidFill>
                  <a:srgbClr val="1C252B"/>
                </a:solidFill>
                <a:latin typeface="Cambria"/>
              </a:rPr>
              <a:t>c</a:t>
            </a:r>
            <a:r>
              <a:rPr sz="2200" b="0" i="0">
                <a:solidFill>
                  <a:srgbClr val="1C252B"/>
                </a:solidFill>
                <a:latin typeface="Cambria"/>
              </a:rPr>
              <a:t>)</a:t>
            </a:r>
            <a:r>
              <a:rPr sz="2200" b="0" i="0">
                <a:solidFill>
                  <a:srgbClr val="1C252B"/>
                </a:solidFill>
                <a:latin typeface="Segoe UI"/>
              </a:rPr>
              <a:t> is </a:t>
            </a:r>
            <a:r>
              <a:rPr sz="2200" b="0" i="1">
                <a:solidFill>
                  <a:srgbClr val="1C252B"/>
                </a:solidFill>
                <a:latin typeface="Cambria"/>
              </a:rPr>
              <a:t>c</a:t>
            </a:r>
            <a:r>
              <a:rPr sz="2200" b="0" i="0">
                <a:solidFill>
                  <a:srgbClr val="1C252B"/>
                </a:solidFill>
                <a:latin typeface="Segoe UI"/>
              </a:rPr>
              <a:t>’s frequency and </a:t>
            </a:r>
            <a:r>
              <a:rPr sz="2200" b="0" i="1">
                <a:solidFill>
                  <a:srgbClr val="1C252B"/>
                </a:solidFill>
                <a:latin typeface="Cambria"/>
              </a:rPr>
              <a:t>d</a:t>
            </a:r>
            <a:r>
              <a:rPr sz="1450" b="0" i="1" baseline="-25000">
                <a:solidFill>
                  <a:srgbClr val="1C252B"/>
                </a:solidFill>
                <a:latin typeface="Cambria"/>
              </a:rPr>
              <a:t>T</a:t>
            </a:r>
            <a:r>
              <a:rPr sz="2200" b="0" i="0">
                <a:solidFill>
                  <a:srgbClr val="1C252B"/>
                </a:solidFill>
                <a:latin typeface="Cambria"/>
              </a:rPr>
              <a:t>(</a:t>
            </a:r>
            <a:r>
              <a:rPr sz="2200" b="0" i="1">
                <a:solidFill>
                  <a:srgbClr val="1C252B"/>
                </a:solidFill>
                <a:latin typeface="Cambria"/>
              </a:rPr>
              <a:t>c</a:t>
            </a:r>
            <a:r>
              <a:rPr sz="2200" b="0" i="0">
                <a:solidFill>
                  <a:srgbClr val="1C252B"/>
                </a:solidFill>
                <a:latin typeface="Cambria"/>
              </a:rPr>
              <a:t>)</a:t>
            </a:r>
            <a:r>
              <a:rPr sz="2200" b="0" i="0">
                <a:solidFill>
                  <a:srgbClr val="1C252B"/>
                </a:solidFill>
                <a:latin typeface="Segoe UI"/>
              </a:rPr>
              <a:t> its depth.</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Huffman Coding</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14.2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B24C51EC-5020-4ED3-885F-3AB33F6092D9}" type="slidenum">
              <a:rPr lang="en-GB" sz="1000">
                <a:solidFill>
                  <a:srgbClr val="8795A1"/>
                </a:solidFill>
                <a:latin typeface="Segoe UI"/>
              </a:rPr>
              <a:t>21</a:t>
            </a:fld>
          </a:p>
        </p:txBody>
      </p:sp>
      <p:pic>
        <p:nvPicPr>
          <p:cNvPr id="6" name="!!figure" descr="Figure 14.2. Huffman. The greedy choice is on line 5: the two least frequent symbols are merged first, which puts them deepest. With a binary heap the running time is Θ(n lg 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05136" y="1737360"/>
            <a:ext cx="978142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Huffman. The greedy choice is on line 5: the two least frequent symbols are merged first, which puts them deepest. With a binary heap the running time is Θ(n lg 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1205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greedy choice is safe</a:t>
            </a:r>
          </a:p>
        </p:txBody>
      </p:sp>
      <p:pic>
        <p:nvPicPr>
          <p:cNvPr id="3" name="!!kicker-icon" descr="puzzle-piece-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LEMMA 14.2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10EE8BA5-EBBF-48F6-BAD6-557E9D1A577A}"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Let </a:t>
            </a:r>
            <a:r>
              <a:rPr sz="2300" b="0" i="1">
                <a:solidFill>
                  <a:srgbClr val="1C252B"/>
                </a:solidFill>
                <a:latin typeface="Cambria"/>
              </a:rPr>
              <a:t>x</a:t>
            </a:r>
            <a:r>
              <a:rPr sz="2300" b="0" i="0">
                <a:solidFill>
                  <a:srgbClr val="1C252B"/>
                </a:solidFill>
                <a:latin typeface="Segoe UI"/>
              </a:rPr>
              <a:t> and </a:t>
            </a:r>
            <a:r>
              <a:rPr sz="2300" b="0" i="1">
                <a:solidFill>
                  <a:srgbClr val="1C252B"/>
                </a:solidFill>
                <a:latin typeface="Cambria"/>
              </a:rPr>
              <a:t>y</a:t>
            </a:r>
            <a:r>
              <a:rPr sz="2300" b="0" i="0">
                <a:solidFill>
                  <a:srgbClr val="1C252B"/>
                </a:solidFill>
                <a:latin typeface="Segoe UI"/>
              </a:rPr>
              <a:t> be two symbols of lowest frequency in </a:t>
            </a:r>
            <a:r>
              <a:rPr sz="2300" b="0" i="1">
                <a:solidFill>
                  <a:srgbClr val="1C252B"/>
                </a:solidFill>
                <a:latin typeface="Cambria"/>
              </a:rPr>
              <a:t>C</a:t>
            </a:r>
            <a:r>
              <a:rPr sz="2300" b="0" i="0">
                <a:solidFill>
                  <a:srgbClr val="1C252B"/>
                </a:solidFill>
                <a:latin typeface="Segoe UI"/>
              </a:rPr>
              <a:t>. Then there is an optimal prefix code for </a:t>
            </a:r>
            <a:r>
              <a:rPr sz="2300" b="0" i="1">
                <a:solidFill>
                  <a:srgbClr val="1C252B"/>
                </a:solidFill>
                <a:latin typeface="Cambria"/>
              </a:rPr>
              <a:t>C</a:t>
            </a:r>
            <a:r>
              <a:rPr sz="2300" b="0" i="0">
                <a:solidFill>
                  <a:srgbClr val="1C252B"/>
                </a:solidFill>
                <a:latin typeface="Segoe UI"/>
              </a:rPr>
              <a:t> in which </a:t>
            </a:r>
            <a:r>
              <a:rPr sz="2300" b="0" i="1">
                <a:solidFill>
                  <a:srgbClr val="1C252B"/>
                </a:solidFill>
                <a:latin typeface="Cambria"/>
              </a:rPr>
              <a:t>x</a:t>
            </a:r>
            <a:r>
              <a:rPr sz="2300" b="0" i="0">
                <a:solidFill>
                  <a:srgbClr val="1C252B"/>
                </a:solidFill>
                <a:latin typeface="Segoe UI"/>
              </a:rPr>
              <a:t> and </a:t>
            </a:r>
            <a:r>
              <a:rPr sz="2300" b="0" i="1">
                <a:solidFill>
                  <a:srgbClr val="1C252B"/>
                </a:solidFill>
                <a:latin typeface="Cambria"/>
              </a:rPr>
              <a:t>y</a:t>
            </a:r>
            <a:r>
              <a:rPr sz="2300" b="0" i="0">
                <a:solidFill>
                  <a:srgbClr val="1C252B"/>
                </a:solidFill>
                <a:latin typeface="Segoe UI"/>
              </a:rPr>
              <a:t> have the same (maximal) depth and differ only in the last bit.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36434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Huffman’s algorithm is optimal</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14.3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058FE72E-B0CD-4D17-AF76-331A998CF6F1}"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986332"/>
          </a:xfrm>
          <a:prstGeom prst="roundRect">
            <a:avLst>
              <a:gd name="adj" fmla="val 927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9863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Huffman produces a prefix code of minimum total length.</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6081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Huffman Against the Entropy Bound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5FA49966-DCAE-4AFF-BF95-21E60586FA6F}"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8581"/>
          </a:xfrm>
          <a:prstGeom prst="roundRect">
            <a:avLst>
              <a:gd name="adj" fmla="val 214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85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Shannon’s source coding theorem says no prefix code can average fewer than H = −Σc p(c) lg p(c) bits per symbol, and Huffman is always within one bit of that. Both halves are checkabl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901506"/>
          </a:xfrm>
          <a:prstGeom prst="rect">
            <a:avLst/>
          </a:prstGeom>
        </p:spPr>
      </p:pic>
      <p:graphicFrame>
        <p:nvGraphicFramePr>
          <p:cNvPr id="10" name="body-1"/>
          <p:cNvGraphicFramePr>
            <a:graphicFrameLocks noGrp="1"/>
          </p:cNvGraphicFramePr>
          <p:nvPr/>
        </p:nvGraphicFramePr>
        <p:xfrm>
          <a:off x="1042416" y="3045901"/>
          <a:ext cx="6864252" cy="1950720"/>
        </p:xfrm>
        <a:graphic>
          <a:graphicData uri="http://schemas.openxmlformats.org/drawingml/2006/table">
            <a:tbl>
              <a:tblPr firstRow="0" bandRow="0" firstCol="0" lastRow="0" lastCol="0" bandCol="0">
                <a:tableStyleId>{2D5ABB26-0587-4C30-8999-92F81FD0307C}</a:tableStyleId>
              </a:tblPr>
              <a:tblGrid>
                <a:gridCol w="1788542"/>
                <a:gridCol w="1053791"/>
                <a:gridCol w="1223734"/>
                <a:gridCol w="1125711"/>
                <a:gridCol w="1672474"/>
              </a:tblGrid>
              <a:tr h="390144">
                <a:tc>
                  <a:txBody>
                    <a:bodyPr wrap="square"/>
                    <a:lstStyle/>
                    <a:p>
                      <a:pPr algn="l"/>
                      <a:r>
                        <a:rPr sz="1600" b="1" i="0">
                          <a:solidFill>
                            <a:srgbClr val="1A5276"/>
                          </a:solidFill>
                          <a:latin typeface="Segoe UI"/>
                        </a:rPr>
                        <a:t>text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symbols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entropy </a:t>
                      </a:r>
                      <a:r>
                        <a:rPr sz="1600" b="1" i="1">
                          <a:solidFill>
                            <a:srgbClr val="1A5276"/>
                          </a:solidFill>
                          <a:latin typeface="Cambria"/>
                        </a:rPr>
                        <a:t>H</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Huffman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saving vs 8-bit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English prose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3.9670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4.0130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49.8%</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DNA (4 symbols)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1.9999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75.0%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95% one symbol</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0.4065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1" i="0">
                          <a:solidFill>
                            <a:srgbClr val="1C252B"/>
                          </a:solidFill>
                          <a:latin typeface="Segoe UI"/>
                        </a:rPr>
                        <a:t>1.1202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86.0%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uniform bytes</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256</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7.9953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8.0000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5129336"/>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Every row satisfies </a:t>
            </a:r>
            <a:r>
              <a:rPr sz="1900" b="1" i="1">
                <a:solidFill>
                  <a:srgbClr val="1C252B"/>
                </a:solidFill>
                <a:latin typeface="Cambria"/>
              </a:rPr>
              <a:t>H</a:t>
            </a:r>
            <a:r>
              <a:rPr sz="1900" b="1" i="0">
                <a:solidFill>
                  <a:srgbClr val="1C252B"/>
                </a:solidFill>
                <a:latin typeface="Cambria"/>
              </a:rPr>
              <a:t> ≤ </a:t>
            </a:r>
            <a:r>
              <a:rPr sz="1900" b="1" i="0">
                <a:solidFill>
                  <a:srgbClr val="1C252B"/>
                </a:solidFill>
                <a:latin typeface="Segoe UI"/>
              </a:rPr>
              <a:t>Huffman</a:t>
            </a:r>
            <a:r>
              <a:rPr sz="1900" b="1" i="0">
                <a:solidFill>
                  <a:srgbClr val="1C252B"/>
                </a:solidFill>
                <a:latin typeface="Cambria"/>
              </a:rPr>
              <a:t> &lt; </a:t>
            </a:r>
            <a:r>
              <a:rPr sz="1900" b="1" i="1">
                <a:solidFill>
                  <a:srgbClr val="1C252B"/>
                </a:solidFill>
                <a:latin typeface="Cambria"/>
              </a:rPr>
              <a:t>H</a:t>
            </a:r>
            <a:r>
              <a:rPr sz="1900" b="1" i="0">
                <a:solidFill>
                  <a:srgbClr val="1C252B"/>
                </a:solidFill>
                <a:latin typeface="Cambria"/>
              </a:rPr>
              <a:t>+1</a:t>
            </a:r>
            <a:r>
              <a:rPr sz="1900" b="0" i="0">
                <a:solidFill>
                  <a:srgbClr val="1C252B"/>
                </a:solidFill>
                <a:latin typeface="Segoe UI"/>
              </a:rPr>
              <a:t>, as the theory requires. Three of the four are within 0.05 bits of the floor.</a:t>
            </a:r>
          </a:p>
        </p:txBody>
      </p:sp>
      <p:sp>
        <p:nvSpPr>
          <p:cNvPr id="12" name="body-2bar">
            <a:extLst>
              <a:ext uri="{C183D7F6-B498-43B3-948B-1728B52AA6E4}">
                <adec:decorative xmlns:adec="http://schemas.microsoft.com/office/drawing/2017/decorative" val="1"/>
              </a:ext>
            </a:extLst>
          </p:cNvPr>
          <p:cNvSpPr/>
          <p:nvPr/>
        </p:nvSpPr>
        <p:spPr>
          <a:xfrm>
            <a:off x="841248" y="5147624"/>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85201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Huffman Against the Entropy Bound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DDD163BA-EDB0-4FDD-A094-F294172BE15A}"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2779"/>
          </a:xfrm>
          <a:prstGeom prst="roundRect">
            <a:avLst>
              <a:gd name="adj" fmla="val 247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277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third row is the interesting one.</a:t>
            </a:r>
            <a:r>
              <a:rPr sz="1900" b="0" i="0">
                <a:solidFill>
                  <a:srgbClr val="1C252B"/>
                </a:solidFill>
                <a:latin typeface="Segoe UI"/>
              </a:rPr>
              <a:t> Entropy 0.4065, Huffman 1.1202 — a gap of 0.71 bits, nearly the whole slack the theorem allows. The reason is structural: Huffman assigns each symbol a </a:t>
            </a:r>
            <a:r>
              <a:rPr sz="1900" b="0" i="1">
                <a:solidFill>
                  <a:srgbClr val="1C252B"/>
                </a:solidFill>
                <a:latin typeface="Segoe UI"/>
              </a:rPr>
              <a:t>whole number</a:t>
            </a:r>
            <a:r>
              <a:rPr sz="1900" b="0" i="0">
                <a:solidFill>
                  <a:srgbClr val="1C252B"/>
                </a:solidFill>
                <a:latin typeface="Segoe UI"/>
              </a:rPr>
              <a:t> of bits, and the minimum is 1. When one symbol has probability 0.95 its information content is </a:t>
            </a:r>
            <a:r>
              <a:rPr sz="1900" b="0" i="0">
                <a:solidFill>
                  <a:srgbClr val="1C252B"/>
                </a:solidFill>
                <a:latin typeface="Cambria"/>
              </a:rPr>
              <a:t>− lg 0.95 = 0.074</a:t>
            </a:r>
            <a:r>
              <a:rPr sz="1900" b="0" i="0">
                <a:solidFill>
                  <a:srgbClr val="1C252B"/>
                </a:solidFill>
                <a:latin typeface="Segoe UI"/>
              </a:rPr>
              <a:t> bits, and Huffman must spend 1. It cannot do better, and the loss is a factor of 2.8.</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650107"/>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That is the known limit of Huffman coding</a:t>
            </a:r>
            <a:r>
              <a:rPr sz="1900" b="0" i="0">
                <a:solidFill>
                  <a:srgbClr val="1C252B"/>
                </a:solidFill>
                <a:latin typeface="Segoe UI"/>
              </a:rPr>
              <a:t>, and the reason arithmetic coding exists — it can spend fractional bits per symbol and approaches </a:t>
            </a:r>
            <a:r>
              <a:rPr sz="1900" b="0" i="1">
                <a:solidFill>
                  <a:srgbClr val="1C252B"/>
                </a:solidFill>
                <a:latin typeface="Cambria"/>
              </a:rPr>
              <a:t>H</a:t>
            </a:r>
            <a:r>
              <a:rPr sz="1900" b="0" i="0">
                <a:solidFill>
                  <a:srgbClr val="1C252B"/>
                </a:solidFill>
                <a:latin typeface="Segoe UI"/>
              </a:rPr>
              <a:t> arbitrarily closely. A greedy algorithm that is provably optimal </a:t>
            </a:r>
            <a:r>
              <a:rPr sz="1900" b="0" i="1">
                <a:solidFill>
                  <a:srgbClr val="1C252B"/>
                </a:solidFill>
                <a:latin typeface="Segoe UI"/>
              </a:rPr>
              <a:t>within its class</a:t>
            </a:r>
            <a:r>
              <a:rPr sz="1900" b="0" i="0">
                <a:solidFill>
                  <a:srgbClr val="1C252B"/>
                </a:solidFill>
                <a:latin typeface="Segoe UI"/>
              </a:rPr>
              <a:t> can still be far from the information-theoretic bound, because the class itself is the constraint. Compare Chapter 10, where merge sort came within 1% of its floor; here the restriction to whole bits costs 175%.</a:t>
            </a:r>
          </a:p>
        </p:txBody>
      </p:sp>
      <p:sp>
        <p:nvSpPr>
          <p:cNvPr id="12" name="body-1bar">
            <a:extLst>
              <a:ext uri="{C183D7F6-B498-43B3-948B-1728B52AA6E4}">
                <adec:decorative xmlns:adec="http://schemas.microsoft.com/office/drawing/2017/decorative" val="1"/>
              </a:ext>
            </a:extLst>
          </p:cNvPr>
          <p:cNvSpPr/>
          <p:nvPr/>
        </p:nvSpPr>
        <p:spPr>
          <a:xfrm>
            <a:off x="841248" y="3668394"/>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Huffman Against the Entropy Bound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E5EB8560-1F2B-451E-B18E-C8C92BB3655A}"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the last row.</a:t>
            </a:r>
            <a:r>
              <a:rPr sz="1900" b="0" i="0">
                <a:solidFill>
                  <a:srgbClr val="1C252B"/>
                </a:solidFill>
                <a:latin typeface="Segoe UI"/>
              </a:rPr>
              <a:t> With 256 equally likely bytes, </a:t>
            </a:r>
            <a:r>
              <a:rPr sz="1900" b="0" i="1">
                <a:solidFill>
                  <a:srgbClr val="1C252B"/>
                </a:solidFill>
                <a:latin typeface="Cambria"/>
              </a:rPr>
              <a:t>H</a:t>
            </a:r>
            <a:r>
              <a:rPr sz="1900" b="0" i="0">
                <a:solidFill>
                  <a:srgbClr val="1C252B"/>
                </a:solidFill>
                <a:latin typeface="Cambria"/>
              </a:rPr>
              <a:t> = 8</a:t>
            </a:r>
            <a:r>
              <a:rPr sz="1900" b="0" i="0">
                <a:solidFill>
                  <a:srgbClr val="1C252B"/>
                </a:solidFill>
                <a:latin typeface="Segoe UI"/>
              </a:rPr>
              <a:t> and Huffman produces exactly 8 bits per symbol — it saves nothing, correctly. Compression is possible only where there is structure to exploit, and a greedy algorithm cannot create any.</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33968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84814F55-B1E5-4A89-ADBD-07F8A5209331}" type="slidenum">
              <a:rPr lang="en-GB" sz="1000">
                <a:solidFill>
                  <a:srgbClr val="8795A1"/>
                </a:solidFill>
                <a:latin typeface="Segoe UI"/>
              </a:rPr>
              <a:t>27</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Saying “use a greedy algorithm” without naming the rule.</a:t>
            </a:r>
            <a:r>
              <a:rPr sz="1700" b="0" i="0">
                <a:solidFill>
                  <a:srgbClr val="1C252B"/>
                </a:solidFill>
                <a:latin typeface="Segoe UI"/>
              </a:rPr>
              <a:t> Three rules for activity selection scored 100%, 94.5% and 62.1%.</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Concluding optimality from testing.</a:t>
            </a:r>
            <a:r>
              <a:rPr sz="1700" b="0" i="0">
                <a:solidFill>
                  <a:srgbClr val="1C252B"/>
                </a:solidFill>
                <a:latin typeface="Segoe UI"/>
              </a:rPr>
              <a:t> “Take the shortest” was right in 94.5% of 20,000 random trials and is wrong.</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greedy works because it works for coins.</a:t>
            </a:r>
            <a:r>
              <a:rPr sz="1700" b="0" i="0">
                <a:solidFill>
                  <a:srgbClr val="1C252B"/>
                </a:solidFill>
                <a:latin typeface="Segoe UI"/>
              </a:rPr>
              <a:t> It does — for </a:t>
            </a:r>
            <a:r>
              <a:rPr sz="1700" b="0" i="0">
                <a:solidFill>
                  <a:srgbClr val="1C252B"/>
                </a:solidFill>
                <a:latin typeface="Cambria"/>
              </a:rPr>
              <a:t>{1,5,10,25}</a:t>
            </a:r>
            <a:r>
              <a:rPr sz="1700" b="0" i="0">
                <a:solidFill>
                  <a:srgbClr val="1C252B"/>
                </a:solidFill>
                <a:latin typeface="Segoe UI"/>
              </a:rPr>
              <a:t>. For </a:t>
            </a:r>
            <a:r>
              <a:rPr sz="1700" b="0" i="0">
                <a:solidFill>
                  <a:srgbClr val="1C252B"/>
                </a:solidFill>
                <a:latin typeface="Cambria"/>
              </a:rPr>
              <a:t>{1,3,4}</a:t>
            </a:r>
            <a:r>
              <a:rPr sz="1700" b="0" i="0">
                <a:solidFill>
                  <a:srgbClr val="1C252B"/>
                </a:solidFill>
                <a:latin typeface="Segoe UI"/>
              </a:rPr>
              <a:t> it fails at the amount 6.</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the two properties.</a:t>
            </a:r>
            <a:r>
              <a:rPr sz="1700" b="0" i="0">
                <a:solidFill>
                  <a:srgbClr val="1C252B"/>
                </a:solidFill>
                <a:latin typeface="Segoe UI"/>
              </a:rPr>
              <a:t> Optimal substructure alone gives dynamic programming. It is the greedy-choice property that permits committing without exploring.</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Proving the wrong direction in an exchange argument.</a:t>
            </a:r>
            <a:r>
              <a:rPr sz="1700" b="0" i="0">
                <a:solidFill>
                  <a:srgbClr val="1C252B"/>
                </a:solidFill>
                <a:latin typeface="Segoe UI"/>
              </a:rPr>
              <a:t> You must show the </a:t>
            </a:r>
            <a:r>
              <a:rPr sz="1700" b="0" i="1">
                <a:solidFill>
                  <a:srgbClr val="1C252B"/>
                </a:solidFill>
                <a:latin typeface="Segoe UI"/>
              </a:rPr>
              <a:t>optimal</a:t>
            </a:r>
            <a:r>
              <a:rPr sz="1700" b="0" i="0">
                <a:solidFill>
                  <a:srgbClr val="1C252B"/>
                </a:solidFill>
                <a:latin typeface="Segoe UI"/>
              </a:rPr>
              <a:t> solution can be modified to contain the greedy choice — not that the greedy solution can be modified.</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Huffman to reach the entropy.</a:t>
            </a:r>
            <a:r>
              <a:rPr sz="1700" b="0" i="0">
                <a:solidFill>
                  <a:srgbClr val="1C252B"/>
                </a:solidFill>
                <a:latin typeface="Segoe UI"/>
              </a:rPr>
              <a:t> It cannot spend fractional bits; measured, it was 175% above </a:t>
            </a:r>
            <a:r>
              <a:rPr sz="1700" b="0" i="1">
                <a:solidFill>
                  <a:srgbClr val="1C252B"/>
                </a:solidFill>
                <a:latin typeface="Cambria"/>
              </a:rPr>
              <a:t>H</a:t>
            </a:r>
            <a:r>
              <a:rPr sz="1700" b="0" i="0">
                <a:solidFill>
                  <a:srgbClr val="1C252B"/>
                </a:solidFill>
                <a:latin typeface="Segoe UI"/>
              </a:rPr>
              <a:t> on a highly skewed source.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5835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89575EB8-9074-4A88-9647-E8407A7EBFEC}" type="slidenum">
              <a:rPr lang="en-GB" sz="1000">
                <a:solidFill>
                  <a:srgbClr val="8795A1"/>
                </a:solidFill>
                <a:latin typeface="Segoe UI"/>
              </a:rPr>
              <a:t>28</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Huffman on a uniform source.</a:t>
            </a:r>
            <a:r>
              <a:rPr sz="1700" b="0" i="0">
                <a:solidFill>
                  <a:srgbClr val="1C252B"/>
                </a:solidFill>
                <a:latin typeface="Segoe UI"/>
              </a:rPr>
              <a:t> Measured saving: 0.0%.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82734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459FFB06-EDC9-493A-8A7D-AA8B4C0D8DB4}" type="slidenum">
              <a:rPr lang="en-GB" sz="1000">
                <a:solidFill>
                  <a:srgbClr val="8795A1"/>
                </a:solidFill>
                <a:latin typeface="Segoe UI"/>
              </a:rPr>
              <a:t>29</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three tables. Expect twenty-five minutes; part A runs 20,000 brute-force searches.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Activity selection, greedy by earliest finish</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Two plausible rules that are simply wrong</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The oracle: every subset, checked</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Coin change: greedy, and the optimum it sometimes misses</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Huffman coding</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Is the greedy rule actually optimal?</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Coin change: the same algorithm, two coin systems</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Huffman against the entropy bound</a:t>
            </a:r>
          </a:p>
        </p:txBody>
      </p:sp>
      <p:sp>
        <p:nvSpPr>
          <p:cNvPr id="44" name="!!lfTHIS">
            <a:extLst>
              <a:ext uri="{C183D7F6-B498-43B3-948B-1728B52AA6E4}">
                <adec:decorative xmlns:adec="http://schemas.microsoft.com/office/drawing/2017/decorative" val="1"/>
              </a:ext>
            </a:extLst>
          </p:cNvPr>
          <p:cNvSpPr/>
          <p:nvPr/>
        </p:nvSpPr>
        <p:spPr>
          <a:xfrm>
            <a:off x="658368"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500" b="0" i="0">
                <a:solidFill>
                  <a:srgbClr val="1C252B"/>
                </a:solidFill>
                <a:latin typeface="Segoe UI"/>
              </a:rPr>
              <a:t>Week 10: Huffman coding on real text; measure the compression</a:t>
            </a:r>
          </a:p>
        </p:txBody>
      </p:sp>
      <p:sp>
        <p:nvSpPr>
          <p:cNvPr id="48" name="!!lfWHAT">
            <a:extLst>
              <a:ext uri="{C183D7F6-B498-43B3-948B-1728B52AA6E4}">
                <adec:decorative xmlns:adec="http://schemas.microsoft.com/office/drawing/2017/decorative" val="1"/>
              </a:ext>
            </a:extLst>
          </p:cNvPr>
          <p:cNvSpPr/>
          <p:nvPr/>
        </p:nvSpPr>
        <p:spPr>
          <a:xfrm>
            <a:off x="4374794"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4374794"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4649114"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4649114"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50 lines of C++</a:t>
            </a:r>
          </a:p>
        </p:txBody>
      </p:sp>
      <p:sp>
        <p:nvSpPr>
          <p:cNvPr id="52" name="!!lfRUNN">
            <a:extLst>
              <a:ext uri="{C183D7F6-B498-43B3-948B-1728B52AA6E4}">
                <adec:decorative xmlns:adec="http://schemas.microsoft.com/office/drawing/2017/decorative" val="1"/>
              </a:ext>
            </a:extLst>
          </p:cNvPr>
          <p:cNvSpPr/>
          <p:nvPr/>
        </p:nvSpPr>
        <p:spPr>
          <a:xfrm>
            <a:off x="8091220"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lfbRUNN">
            <a:extLst>
              <a:ext uri="{C183D7F6-B498-43B3-948B-1728B52AA6E4}">
                <adec:decorative xmlns:adec="http://schemas.microsoft.com/office/drawing/2017/decorative" val="1"/>
              </a:ext>
            </a:extLst>
          </p:cNvPr>
          <p:cNvSpPr/>
          <p:nvPr/>
        </p:nvSpPr>
        <p:spPr>
          <a:xfrm>
            <a:off x="8091220"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lRUNN"/>
          <p:cNvSpPr txBox="1"/>
          <p:nvPr/>
        </p:nvSpPr>
        <p:spPr>
          <a:xfrm>
            <a:off x="8365540"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55" name="!!lfvRUNN"/>
          <p:cNvSpPr txBox="1"/>
          <p:nvPr/>
        </p:nvSpPr>
        <p:spPr>
          <a:xfrm>
            <a:off x="8365540"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code/ch14_greedy.cpp</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707118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F8BE2CD9-8AA9-40C0-8B33-B3CD6BE4F3FC}"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Activity selection, greedy by earliest finish</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code/ch14_greedy.cpp</a:t>
            </a:r>
          </a:p>
        </p:txBody>
      </p:sp>
      <p:sp>
        <p:nvSpPr>
          <p:cNvPr id="14" name="!!code-text" descr="// ch14_greedy.cpp -- when a local choice can be trusted, and when not. // Build: cl /O2 /EHsc /std:c++17 ch14_greedy.cpp (see Appendix A) // --- 1. Activity selection, greedy by earliest finish -------------- // Sort by finishing time and take anything compatible. The claim is // that the activity finishing first is in SOME optimal solution -- // the greedy-choice property, and what the chapter proves. static int greedy_finish(std::vector&lt;Act&gt; a) { std::sort(a.begin(), a.end(), [](const Act&amp; x, const Act&amp; y) { return x.finish &lt; y.finish; }); int count = 0, last = -1; for (const Act&amp; x : a) if (x.start &gt;= last) { ++count; last = x.finish; } return count; }"/>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ch14_greedy.cpp -- when a local choice can be trusted, and when not.</a:t>
            </a:r>
          </a:p>
          <a:p>
            <a:pPr>
              <a:lnSpc>
                <a:spcPct val="100000"/>
              </a:lnSpc>
              <a:spcAft>
                <a:spcPts val="0"/>
              </a:spcAft>
            </a:pPr>
            <a:r>
              <a:rPr sz="1400" i="1">
                <a:solidFill>
                  <a:srgbClr val="8795A1"/>
                </a:solidFill>
                <a:latin typeface="Consolas"/>
              </a:rPr>
              <a:t>// Build: cl /O2 /EHsc /std:c++17 ch14_greedy.cpp     (see Appendix A)</a:t>
            </a:r>
          </a:p>
          <a:p>
            <a:pPr>
              <a:lnSpc>
                <a:spcPct val="100000"/>
              </a:lnSpc>
              <a:spcAft>
                <a:spcPts val="0"/>
              </a:spcAft>
            </a:pPr>
            <a:r>
              <a:rPr sz="1400">
                <a:latin typeface="Consolas"/>
              </a:rPr>
              <a:t> </a:t>
            </a:r>
          </a:p>
          <a:p>
            <a:pPr>
              <a:lnSpc>
                <a:spcPct val="100000"/>
              </a:lnSpc>
              <a:spcAft>
                <a:spcPts val="0"/>
              </a:spcAft>
            </a:pPr>
            <a:r>
              <a:rPr sz="1400" i="1">
                <a:solidFill>
                  <a:srgbClr val="8795A1"/>
                </a:solidFill>
                <a:latin typeface="Consolas"/>
              </a:rPr>
              <a:t>// --- 1. Activity selection, greedy by earliest finish --------------</a:t>
            </a:r>
          </a:p>
          <a:p>
            <a:pPr>
              <a:lnSpc>
                <a:spcPct val="100000"/>
              </a:lnSpc>
              <a:spcAft>
                <a:spcPts val="0"/>
              </a:spcAft>
            </a:pPr>
            <a:r>
              <a:rPr sz="1400" i="1">
                <a:solidFill>
                  <a:srgbClr val="8795A1"/>
                </a:solidFill>
                <a:latin typeface="Consolas"/>
              </a:rPr>
              <a:t>// Sort by finishing time and take anything compatible. The claim is</a:t>
            </a:r>
          </a:p>
          <a:p>
            <a:pPr>
              <a:lnSpc>
                <a:spcPct val="100000"/>
              </a:lnSpc>
              <a:spcAft>
                <a:spcPts val="0"/>
              </a:spcAft>
            </a:pPr>
            <a:r>
              <a:rPr sz="1400" i="1">
                <a:solidFill>
                  <a:srgbClr val="8795A1"/>
                </a:solidFill>
                <a:latin typeface="Consolas"/>
              </a:rPr>
              <a:t>// that the activity finishing first is in SOME optimal solution --</a:t>
            </a:r>
          </a:p>
          <a:p>
            <a:pPr>
              <a:lnSpc>
                <a:spcPct val="100000"/>
              </a:lnSpc>
              <a:spcAft>
                <a:spcPts val="0"/>
              </a:spcAft>
            </a:pPr>
            <a:r>
              <a:rPr sz="1400" i="1">
                <a:solidFill>
                  <a:srgbClr val="8795A1"/>
                </a:solidFill>
                <a:latin typeface="Consolas"/>
              </a:rPr>
              <a:t>// the greedy-choice property, and what the chapter proves.</a:t>
            </a:r>
          </a:p>
          <a:p>
            <a:pPr>
              <a:lnSpc>
                <a:spcPct val="100000"/>
              </a:lnSpc>
              <a:spcAft>
                <a:spcPts val="0"/>
              </a:spcAft>
            </a:pPr>
            <a:r>
              <a:rPr sz="1400" i="0">
                <a:solidFill>
                  <a:srgbClr val="5DADE2"/>
                </a:solidFill>
                <a:latin typeface="Consolas"/>
              </a:rPr>
              <a:t>static</a:t>
            </a:r>
            <a:r>
              <a:rPr sz="1400" i="0">
                <a:solidFill>
                  <a:srgbClr val="E8EDF2"/>
                </a:solidFill>
                <a:latin typeface="Consolas"/>
              </a:rPr>
              <a:t> </a:t>
            </a:r>
            <a:r>
              <a:rPr sz="1400" i="0">
                <a:solidFill>
                  <a:srgbClr val="5DADE2"/>
                </a:solidFill>
                <a:latin typeface="Consolas"/>
              </a:rPr>
              <a:t>int</a:t>
            </a:r>
            <a:r>
              <a:rPr sz="1400" i="0">
                <a:solidFill>
                  <a:srgbClr val="E8EDF2"/>
                </a:solidFill>
                <a:latin typeface="Consolas"/>
              </a:rPr>
              <a:t> </a:t>
            </a:r>
            <a:r>
              <a:rPr sz="1400" i="0">
                <a:solidFill>
                  <a:srgbClr val="C39BD3"/>
                </a:solidFill>
                <a:latin typeface="Consolas"/>
              </a:rPr>
              <a:t>greedy_finish</a:t>
            </a:r>
            <a:r>
              <a:rPr sz="1400" i="0">
                <a:solidFill>
                  <a:srgbClr val="AEB6BF"/>
                </a:solidFill>
                <a:latin typeface="Consolas"/>
              </a:rPr>
              <a:t>(</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vector</a:t>
            </a:r>
            <a:r>
              <a:rPr sz="1400" i="0">
                <a:solidFill>
                  <a:srgbClr val="AEB6BF"/>
                </a:solidFill>
                <a:latin typeface="Consolas"/>
              </a:rPr>
              <a:t>&lt;</a:t>
            </a:r>
            <a:r>
              <a:rPr sz="1400" i="0">
                <a:solidFill>
                  <a:srgbClr val="E8EDF2"/>
                </a:solidFill>
                <a:latin typeface="Consolas"/>
              </a:rPr>
              <a:t>Act</a:t>
            </a:r>
            <a:r>
              <a:rPr sz="1400" i="0">
                <a:solidFill>
                  <a:srgbClr val="AEB6BF"/>
                </a:solidFill>
                <a:latin typeface="Consolas"/>
              </a:rPr>
              <a:t>&gt;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sort</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begin</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end</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5DADE2"/>
                </a:solidFill>
                <a:latin typeface="Consolas"/>
              </a:rPr>
              <a:t>const</a:t>
            </a:r>
            <a:r>
              <a:rPr sz="1400" i="0">
                <a:solidFill>
                  <a:srgbClr val="E8EDF2"/>
                </a:solidFill>
                <a:latin typeface="Consolas"/>
              </a:rPr>
              <a:t> </a:t>
            </a:r>
            <a:r>
              <a:rPr sz="1400" i="0">
                <a:solidFill>
                  <a:srgbClr val="E8EDF2"/>
                </a:solidFill>
                <a:latin typeface="Consolas"/>
              </a:rPr>
              <a:t>Act</a:t>
            </a:r>
            <a:r>
              <a:rPr sz="1400" i="0">
                <a:solidFill>
                  <a:srgbClr val="AEB6BF"/>
                </a:solidFill>
                <a:latin typeface="Consolas"/>
              </a:rPr>
              <a:t>&amp;</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const</a:t>
            </a:r>
            <a:r>
              <a:rPr sz="1400" i="0">
                <a:solidFill>
                  <a:srgbClr val="E8EDF2"/>
                </a:solidFill>
                <a:latin typeface="Consolas"/>
              </a:rPr>
              <a:t> </a:t>
            </a:r>
            <a:r>
              <a:rPr sz="1400" i="0">
                <a:solidFill>
                  <a:srgbClr val="E8EDF2"/>
                </a:solidFill>
                <a:latin typeface="Consolas"/>
              </a:rPr>
              <a:t>Act</a:t>
            </a:r>
            <a:r>
              <a:rPr sz="1400" i="0">
                <a:solidFill>
                  <a:srgbClr val="AEB6BF"/>
                </a:solidFill>
                <a:latin typeface="Consolas"/>
              </a:rPr>
              <a:t>&amp;</a:t>
            </a:r>
            <a:r>
              <a:rPr sz="1400" i="0">
                <a:solidFill>
                  <a:srgbClr val="E8EDF2"/>
                </a:solidFill>
                <a:latin typeface="Consolas"/>
              </a:rPr>
              <a:t> </a:t>
            </a:r>
            <a:r>
              <a:rPr sz="1400" i="0">
                <a:solidFill>
                  <a:srgbClr val="E8EDF2"/>
                </a:solidFill>
                <a:latin typeface="Consolas"/>
              </a:rPr>
              <a:t>y</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E8EDF2"/>
                </a:solidFill>
                <a:latin typeface="Consolas"/>
              </a:rPr>
              <a:t>finish</a:t>
            </a:r>
            <a:r>
              <a:rPr sz="1400" i="0">
                <a:solidFill>
                  <a:srgbClr val="E8EDF2"/>
                </a:solidFill>
                <a:latin typeface="Consolas"/>
              </a:rPr>
              <a:t> </a:t>
            </a:r>
            <a:r>
              <a:rPr sz="1400" i="0">
                <a:solidFill>
                  <a:srgbClr val="AEB6BF"/>
                </a:solidFill>
                <a:latin typeface="Consolas"/>
              </a:rPr>
              <a:t>&lt;</a:t>
            </a:r>
            <a:r>
              <a:rPr sz="1400" i="0">
                <a:solidFill>
                  <a:srgbClr val="E8EDF2"/>
                </a:solidFill>
                <a:latin typeface="Consolas"/>
              </a:rPr>
              <a:t> </a:t>
            </a:r>
            <a:r>
              <a:rPr sz="1400" i="0">
                <a:solidFill>
                  <a:srgbClr val="E8EDF2"/>
                </a:solidFill>
                <a:latin typeface="Consolas"/>
              </a:rPr>
              <a:t>y</a:t>
            </a:r>
            <a:r>
              <a:rPr sz="1400" i="0">
                <a:solidFill>
                  <a:srgbClr val="AEB6BF"/>
                </a:solidFill>
                <a:latin typeface="Consolas"/>
              </a:rPr>
              <a:t>.</a:t>
            </a:r>
            <a:r>
              <a:rPr sz="1400" i="0">
                <a:solidFill>
                  <a:srgbClr val="E8EDF2"/>
                </a:solidFill>
                <a:latin typeface="Consolas"/>
              </a:rPr>
              <a:t>finish</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int</a:t>
            </a:r>
            <a:r>
              <a:rPr sz="1400" i="0">
                <a:solidFill>
                  <a:srgbClr val="E8EDF2"/>
                </a:solidFill>
                <a:latin typeface="Consolas"/>
              </a:rPr>
              <a:t> </a:t>
            </a:r>
            <a:r>
              <a:rPr sz="1400" i="0">
                <a:solidFill>
                  <a:srgbClr val="E8EDF2"/>
                </a:solidFill>
                <a:latin typeface="Consolas"/>
              </a:rPr>
              <a:t>count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last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AEB6BF"/>
                </a:solidFill>
                <a:latin typeface="Consolas"/>
              </a:rPr>
              <a:t>(</a:t>
            </a:r>
            <a:r>
              <a:rPr sz="1400" i="0">
                <a:solidFill>
                  <a:srgbClr val="5DADE2"/>
                </a:solidFill>
                <a:latin typeface="Consolas"/>
              </a:rPr>
              <a:t>const</a:t>
            </a:r>
            <a:r>
              <a:rPr sz="1400" i="0">
                <a:solidFill>
                  <a:srgbClr val="E8EDF2"/>
                </a:solidFill>
                <a:latin typeface="Consolas"/>
              </a:rPr>
              <a:t> </a:t>
            </a:r>
            <a:r>
              <a:rPr sz="1400" i="0">
                <a:solidFill>
                  <a:srgbClr val="E8EDF2"/>
                </a:solidFill>
                <a:latin typeface="Consolas"/>
              </a:rPr>
              <a:t>Act</a:t>
            </a:r>
            <a:r>
              <a:rPr sz="1400" i="0">
                <a:solidFill>
                  <a:srgbClr val="AEB6BF"/>
                </a:solidFill>
                <a:latin typeface="Consolas"/>
              </a:rPr>
              <a:t>&amp;</a:t>
            </a:r>
            <a:r>
              <a:rPr sz="1400" i="0">
                <a:solidFill>
                  <a:srgbClr val="E8EDF2"/>
                </a:solidFill>
                <a:latin typeface="Consolas"/>
              </a:rPr>
              <a:t> </a:t>
            </a:r>
            <a:r>
              <a:rPr sz="1400" i="0">
                <a:solidFill>
                  <a:srgbClr val="E8EDF2"/>
                </a:solidFill>
                <a:latin typeface="Consolas"/>
              </a:rPr>
              <a:t>x</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x</a:t>
            </a:r>
            <a:r>
              <a:rPr sz="1400" i="0">
                <a:solidFill>
                  <a:srgbClr val="AEB6BF"/>
                </a:solidFill>
                <a:latin typeface="Consolas"/>
              </a:rPr>
              <a:t>.</a:t>
            </a:r>
            <a:r>
              <a:rPr sz="1400" i="0">
                <a:solidFill>
                  <a:srgbClr val="E8EDF2"/>
                </a:solidFill>
                <a:latin typeface="Consolas"/>
              </a:rPr>
              <a:t>start</a:t>
            </a:r>
            <a:r>
              <a:rPr sz="1400" i="0">
                <a:solidFill>
                  <a:srgbClr val="E8EDF2"/>
                </a:solidFill>
                <a:latin typeface="Consolas"/>
              </a:rPr>
              <a:t> </a:t>
            </a:r>
            <a:r>
              <a:rPr sz="1400" i="0">
                <a:solidFill>
                  <a:srgbClr val="AEB6BF"/>
                </a:solidFill>
                <a:latin typeface="Consolas"/>
              </a:rPr>
              <a:t>&gt;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last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count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last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E8EDF2"/>
                </a:solidFill>
                <a:latin typeface="Consolas"/>
              </a:rPr>
              <a:t>finish</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count</a:t>
            </a:r>
            <a:r>
              <a:rPr sz="1400" i="0">
                <a:solidFill>
                  <a:srgbClr val="AEB6BF"/>
                </a:solidFill>
                <a:latin typeface="Consolas"/>
              </a:rPr>
              <a:t>;</a:t>
            </a:r>
          </a:p>
          <a:p>
            <a:pPr>
              <a:lnSpc>
                <a:spcPct val="100000"/>
              </a:lnSpc>
              <a:spcAft>
                <a:spcPts val="0"/>
              </a:spcAft>
            </a:pP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a:t>
            </a:r>
          </a:p>
          <a:p>
            <a:pPr algn="r">
              <a:lnSpc>
                <a:spcPct val="100000"/>
              </a:lnSpc>
            </a:pPr>
            <a:r>
              <a:rPr sz="1400">
                <a:solidFill>
                  <a:srgbClr val="4F5D6A"/>
                </a:solidFill>
                <a:latin typeface="Consolas"/>
              </a:rPr>
              <a:t>2</a:t>
            </a:r>
          </a:p>
          <a:p>
            <a:pPr algn="r">
              <a:lnSpc>
                <a:spcPct val="100000"/>
              </a:lnSpc>
            </a:pPr>
            <a:r>
              <a:rPr sz="1400">
                <a:solidFill>
                  <a:srgbClr val="4F5D6A"/>
                </a:solidFill>
                <a:latin typeface="Consolas"/>
              </a:rPr>
              <a:t>3</a:t>
            </a:r>
          </a:p>
          <a:p>
            <a:pPr algn="r">
              <a:lnSpc>
                <a:spcPct val="100000"/>
              </a:lnSpc>
            </a:pPr>
            <a:r>
              <a:rPr sz="1400">
                <a:solidFill>
                  <a:srgbClr val="4F5D6A"/>
                </a:solidFill>
                <a:latin typeface="Consolas"/>
              </a:rPr>
              <a:t>4</a:t>
            </a:r>
          </a:p>
          <a:p>
            <a:pPr algn="r">
              <a:lnSpc>
                <a:spcPct val="100000"/>
              </a:lnSpc>
            </a:pPr>
            <a:r>
              <a:rPr sz="1400">
                <a:solidFill>
                  <a:srgbClr val="4F5D6A"/>
                </a:solidFill>
                <a:latin typeface="Consolas"/>
              </a:rPr>
              <a:t>5</a:t>
            </a:r>
          </a:p>
          <a:p>
            <a:pPr algn="r">
              <a:lnSpc>
                <a:spcPct val="100000"/>
              </a:lnSpc>
            </a:pPr>
            <a:r>
              <a:rPr sz="1400">
                <a:solidFill>
                  <a:srgbClr val="4F5D6A"/>
                </a:solidFill>
                <a:latin typeface="Consolas"/>
              </a:rPr>
              <a:t>6</a:t>
            </a:r>
          </a:p>
          <a:p>
            <a:pPr algn="r">
              <a:lnSpc>
                <a:spcPct val="100000"/>
              </a:lnSpc>
            </a:pPr>
            <a:r>
              <a:rPr sz="1400">
                <a:solidFill>
                  <a:srgbClr val="4F5D6A"/>
                </a:solidFill>
                <a:latin typeface="Consolas"/>
              </a:rPr>
              <a:t>7</a:t>
            </a:r>
          </a:p>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8993E246-923A-4CD6-A32D-B8B817C59AE6}"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Two plausible rules that are simply wrong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code/ch14_greedy.cpp</a:t>
            </a:r>
          </a:p>
        </p:txBody>
      </p:sp>
      <p:sp>
        <p:nvSpPr>
          <p:cNvPr id="14" name="!!code-text" descr="// --- 2. Two plausible rules that are simply wrong ------------------ // Both &quot;take the shortest&quot; and &quot;take the earliest starting&quot; sound // just as reasonable as rule 1. Neither is optimal, and the program // finds the counter-examples by brute force rather than asserting it."/>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Two plausible rules that are simply wrong ------------------</a:t>
            </a:r>
          </a:p>
          <a:p>
            <a:pPr>
              <a:lnSpc>
                <a:spcPct val="100000"/>
              </a:lnSpc>
              <a:spcAft>
                <a:spcPts val="0"/>
              </a:spcAft>
            </a:pPr>
            <a:r>
              <a:rPr sz="1900" i="1">
                <a:solidFill>
                  <a:srgbClr val="8795A1"/>
                </a:solidFill>
                <a:latin typeface="Consolas"/>
              </a:rPr>
              <a:t>// Both "take the shortest" and "take the earliest starting" sound</a:t>
            </a:r>
          </a:p>
          <a:p>
            <a:pPr>
              <a:lnSpc>
                <a:spcPct val="100000"/>
              </a:lnSpc>
              <a:spcAft>
                <a:spcPts val="0"/>
              </a:spcAft>
            </a:pPr>
            <a:r>
              <a:rPr sz="1900" i="1">
                <a:solidFill>
                  <a:srgbClr val="8795A1"/>
                </a:solidFill>
                <a:latin typeface="Consolas"/>
              </a:rPr>
              <a:t>// just as reasonable as rule 1. Neither is optimal, and the program</a:t>
            </a:r>
          </a:p>
          <a:p>
            <a:pPr>
              <a:lnSpc>
                <a:spcPct val="100000"/>
              </a:lnSpc>
              <a:spcAft>
                <a:spcPts val="0"/>
              </a:spcAft>
            </a:pPr>
            <a:r>
              <a:rPr sz="1900" i="1">
                <a:solidFill>
                  <a:srgbClr val="8795A1"/>
                </a:solidFill>
                <a:latin typeface="Consolas"/>
              </a:rPr>
              <a:t>// finds the counter-examples by brute force rather than asserting it.</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5885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42A6CF08-648E-4D21-995D-969FDEB11F10}"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oracle: every subset, checked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code/ch14_greedy.cpp</a:t>
            </a:r>
          </a:p>
        </p:txBody>
      </p:sp>
      <p:sp>
        <p:nvSpPr>
          <p:cNvPr id="14" name="!!code-text" descr="// --- 3. The oracle: every subset, checked -------------------------- // Chapter 7's lesson. n &lt;= 18 so 2^n is affordable, and it is the // only way to be sure the greedy answers are right, not plausibl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The oracle: every subset, checked --------------------------</a:t>
            </a:r>
          </a:p>
          <a:p>
            <a:pPr>
              <a:lnSpc>
                <a:spcPct val="100000"/>
              </a:lnSpc>
              <a:spcAft>
                <a:spcPts val="0"/>
              </a:spcAft>
            </a:pPr>
            <a:r>
              <a:rPr sz="1900" i="1">
                <a:solidFill>
                  <a:srgbClr val="8795A1"/>
                </a:solidFill>
                <a:latin typeface="Consolas"/>
              </a:rPr>
              <a:t>// Chapter 7's lesson. n &lt;= 18 so 2^n is affordable, and it is the</a:t>
            </a:r>
          </a:p>
          <a:p>
            <a:pPr>
              <a:lnSpc>
                <a:spcPct val="100000"/>
              </a:lnSpc>
              <a:spcAft>
                <a:spcPts val="0"/>
              </a:spcAft>
            </a:pPr>
            <a:r>
              <a:rPr sz="1900" i="1">
                <a:solidFill>
                  <a:srgbClr val="8795A1"/>
                </a:solidFill>
                <a:latin typeface="Consolas"/>
              </a:rPr>
              <a:t>// only way to be sure the greedy answers are right, not plausible.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026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B1B74E80-1227-45C5-8AE5-92DE8E32DB5A}"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Coin change: greedy, and the optimum it sometimes misses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code/ch14_greedy.cpp</a:t>
            </a:r>
          </a:p>
        </p:txBody>
      </p:sp>
      <p:sp>
        <p:nvSpPr>
          <p:cNvPr id="14" name="!!code-text" descr="// --- 4. Coin change: greedy, and the optimum it sometimes misses --- // Greedy takes the largest coin that fits. For {1, 5, 10, 25} that is // optimal; for {1, 3, 4} it is not, and the smallest counter-example // is six. Dynamic programming (Chapter 15) gets it right for any // system. static int coins_greedy(std::vector&lt;int&gt; c, int amount) { std::sort(c.rbegin(), c.rend()); int used = 0; for (int v : c) while (amount &gt;= v) { amount -= v; ++used; } return amount == 0 ? used : -1; }"/>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Coin change: greedy, and the optimum it sometimes misses ---</a:t>
            </a:r>
          </a:p>
          <a:p>
            <a:pPr>
              <a:lnSpc>
                <a:spcPct val="100000"/>
              </a:lnSpc>
              <a:spcAft>
                <a:spcPts val="0"/>
              </a:spcAft>
            </a:pPr>
            <a:r>
              <a:rPr sz="1900" i="1">
                <a:solidFill>
                  <a:srgbClr val="8795A1"/>
                </a:solidFill>
                <a:latin typeface="Consolas"/>
              </a:rPr>
              <a:t>// Greedy takes the largest coin that fits. For {1, 5, 10, 25} that is</a:t>
            </a:r>
          </a:p>
          <a:p>
            <a:pPr>
              <a:lnSpc>
                <a:spcPct val="100000"/>
              </a:lnSpc>
              <a:spcAft>
                <a:spcPts val="0"/>
              </a:spcAft>
            </a:pPr>
            <a:r>
              <a:rPr sz="1900" i="1">
                <a:solidFill>
                  <a:srgbClr val="8795A1"/>
                </a:solidFill>
                <a:latin typeface="Consolas"/>
              </a:rPr>
              <a:t>// optimal; for {1, 3, 4} it is not, and the smallest counter-example</a:t>
            </a:r>
          </a:p>
          <a:p>
            <a:pPr>
              <a:lnSpc>
                <a:spcPct val="100000"/>
              </a:lnSpc>
              <a:spcAft>
                <a:spcPts val="0"/>
              </a:spcAft>
            </a:pPr>
            <a:r>
              <a:rPr sz="1900" i="1">
                <a:solidFill>
                  <a:srgbClr val="8795A1"/>
                </a:solidFill>
                <a:latin typeface="Consolas"/>
              </a:rPr>
              <a:t>// is six. Dynamic programming (Chapter 15) gets it right for any</a:t>
            </a:r>
          </a:p>
          <a:p>
            <a:pPr>
              <a:lnSpc>
                <a:spcPct val="100000"/>
              </a:lnSpc>
              <a:spcAft>
                <a:spcPts val="0"/>
              </a:spcAft>
            </a:pPr>
            <a:r>
              <a:rPr sz="1900" i="1">
                <a:solidFill>
                  <a:srgbClr val="8795A1"/>
                </a:solidFill>
                <a:latin typeface="Consolas"/>
              </a:rPr>
              <a:t>// system.</a:t>
            </a:r>
          </a:p>
          <a:p>
            <a:pPr>
              <a:lnSpc>
                <a:spcPct val="100000"/>
              </a:lnSpc>
              <a:spcAft>
                <a:spcPts val="0"/>
              </a:spcAft>
            </a:pPr>
            <a:r>
              <a:rPr sz="1900" i="0">
                <a:solidFill>
                  <a:srgbClr val="5DADE2"/>
                </a:solidFill>
                <a:latin typeface="Consolas"/>
              </a:rPr>
              <a:t>static</a:t>
            </a:r>
            <a:r>
              <a:rPr sz="1900" i="0">
                <a:solidFill>
                  <a:srgbClr val="E8EDF2"/>
                </a:solidFill>
                <a:latin typeface="Consolas"/>
              </a:rPr>
              <a:t> </a:t>
            </a:r>
            <a:r>
              <a:rPr sz="1900" i="0">
                <a:solidFill>
                  <a:srgbClr val="5DADE2"/>
                </a:solidFill>
                <a:latin typeface="Consolas"/>
              </a:rPr>
              <a:t>int</a:t>
            </a:r>
            <a:r>
              <a:rPr sz="1900" i="0">
                <a:solidFill>
                  <a:srgbClr val="E8EDF2"/>
                </a:solidFill>
                <a:latin typeface="Consolas"/>
              </a:rPr>
              <a:t> </a:t>
            </a:r>
            <a:r>
              <a:rPr sz="1900" i="0">
                <a:solidFill>
                  <a:srgbClr val="C39BD3"/>
                </a:solidFill>
                <a:latin typeface="Consolas"/>
              </a:rPr>
              <a:t>coins_greedy</a:t>
            </a:r>
            <a:r>
              <a:rPr sz="1900" i="0">
                <a:solidFill>
                  <a:srgbClr val="AEB6BF"/>
                </a:solidFill>
                <a:latin typeface="Consolas"/>
              </a:rPr>
              <a:t>(</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vector</a:t>
            </a:r>
            <a:r>
              <a:rPr sz="1900" i="0">
                <a:solidFill>
                  <a:srgbClr val="AEB6BF"/>
                </a:solidFill>
                <a:latin typeface="Consolas"/>
              </a:rPr>
              <a:t>&lt;</a:t>
            </a:r>
            <a:r>
              <a:rPr sz="1900" i="0">
                <a:solidFill>
                  <a:srgbClr val="5DADE2"/>
                </a:solidFill>
                <a:latin typeface="Consolas"/>
              </a:rPr>
              <a:t>int</a:t>
            </a:r>
            <a:r>
              <a:rPr sz="1900" i="0">
                <a:solidFill>
                  <a:srgbClr val="AEB6BF"/>
                </a:solidFill>
                <a:latin typeface="Consolas"/>
              </a:rPr>
              <a:t>&gt;</a:t>
            </a:r>
            <a:r>
              <a:rPr sz="1900" i="0">
                <a:solidFill>
                  <a:srgbClr val="E8EDF2"/>
                </a:solidFill>
                <a:latin typeface="Consolas"/>
              </a:rPr>
              <a:t> </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amount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sort</a:t>
            </a:r>
            <a:r>
              <a:rPr sz="1900" i="0">
                <a:solidFill>
                  <a:srgbClr val="AEB6BF"/>
                </a:solidFill>
                <a:latin typeface="Consolas"/>
              </a:rPr>
              <a:t>(</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rbegin</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rend</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used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while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amount</a:t>
            </a:r>
            <a:r>
              <a:rPr sz="1900" i="0">
                <a:solidFill>
                  <a:srgbClr val="E8EDF2"/>
                </a:solidFill>
                <a:latin typeface="Consolas"/>
              </a:rPr>
              <a:t> </a:t>
            </a:r>
            <a:r>
              <a:rPr sz="1900" i="0">
                <a:solidFill>
                  <a:srgbClr val="AEB6BF"/>
                </a:solidFill>
                <a:latin typeface="Consolas"/>
              </a:rPr>
              <a:t>&gt;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v</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amount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v</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used</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amount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used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65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78623966-4B5A-47A1-A856-529076FFE3C2}"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Huffman coding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code/ch14_greedy.cpp</a:t>
            </a:r>
          </a:p>
        </p:txBody>
      </p:sp>
      <p:sp>
        <p:nvSpPr>
          <p:cNvPr id="14" name="!!code-text" descr="// --- 5. Huffman coding --------------------------------------------- // Repeatedly merge the two least frequent symbols. The greedy choice // is that the two rarest symbols can be put deepest, as siblings. // Total encoded length = sum over leaves of freq * depth, which is // also the sum of every internal node's frequency -- a neater way to // compute it than walking the tree."/>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Huffman coding ---------------------------------------------</a:t>
            </a:r>
          </a:p>
          <a:p>
            <a:pPr>
              <a:lnSpc>
                <a:spcPct val="100000"/>
              </a:lnSpc>
              <a:spcAft>
                <a:spcPts val="0"/>
              </a:spcAft>
            </a:pPr>
            <a:r>
              <a:rPr sz="1900" i="1">
                <a:solidFill>
                  <a:srgbClr val="8795A1"/>
                </a:solidFill>
                <a:latin typeface="Consolas"/>
              </a:rPr>
              <a:t>// Repeatedly merge the two least frequent symbols. The greedy choice</a:t>
            </a:r>
          </a:p>
          <a:p>
            <a:pPr>
              <a:lnSpc>
                <a:spcPct val="100000"/>
              </a:lnSpc>
              <a:spcAft>
                <a:spcPts val="0"/>
              </a:spcAft>
            </a:pPr>
            <a:r>
              <a:rPr sz="1900" i="1">
                <a:solidFill>
                  <a:srgbClr val="8795A1"/>
                </a:solidFill>
                <a:latin typeface="Consolas"/>
              </a:rPr>
              <a:t>// is that the two rarest symbols can be put deepest, as siblings.</a:t>
            </a:r>
          </a:p>
          <a:p>
            <a:pPr>
              <a:lnSpc>
                <a:spcPct val="100000"/>
              </a:lnSpc>
              <a:spcAft>
                <a:spcPts val="0"/>
              </a:spcAft>
            </a:pPr>
            <a:r>
              <a:rPr sz="1900" i="1">
                <a:solidFill>
                  <a:srgbClr val="8795A1"/>
                </a:solidFill>
                <a:latin typeface="Consolas"/>
              </a:rPr>
              <a:t>// Total encoded length = sum over leaves of freq * depth, which is</a:t>
            </a:r>
          </a:p>
          <a:p>
            <a:pPr>
              <a:lnSpc>
                <a:spcPct val="100000"/>
              </a:lnSpc>
              <a:spcAft>
                <a:spcPts val="0"/>
              </a:spcAft>
            </a:pPr>
            <a:r>
              <a:rPr sz="1900" i="1">
                <a:solidFill>
                  <a:srgbClr val="8795A1"/>
                </a:solidFill>
                <a:latin typeface="Consolas"/>
              </a:rPr>
              <a:t>// also the sum of every internal node's frequency -- a neater way to</a:t>
            </a:r>
          </a:p>
          <a:p>
            <a:pPr>
              <a:lnSpc>
                <a:spcPct val="100000"/>
              </a:lnSpc>
              <a:spcAft>
                <a:spcPts val="0"/>
              </a:spcAft>
            </a:pPr>
            <a:r>
              <a:rPr sz="1900" i="1">
                <a:solidFill>
                  <a:srgbClr val="8795A1"/>
                </a:solidFill>
                <a:latin typeface="Consolas"/>
              </a:rPr>
              <a:t>// compute it than walking the tree.</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903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E48ABBF7-78FF-4A66-9AAA-DB874969CA80}"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Is the greedy rule actually optimal?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code/ch14_greedy.cpp</a:t>
            </a:r>
          </a:p>
        </p:txBody>
      </p:sp>
      <p:sp>
        <p:nvSpPr>
          <p:cNvPr id="14" name="!!code-text" descr="// --- 6. Is the greedy rule actually optimal?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Is the greedy rule actually optimal?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CBB67AEF-A03D-4575-96B1-75E7B8456C81}"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Coin change: the same algorithm, two coin systems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code/ch14_greedy.cpp</a:t>
            </a:r>
          </a:p>
        </p:txBody>
      </p:sp>
      <p:sp>
        <p:nvSpPr>
          <p:cNvPr id="14" name="!!code-text" descr="// --- 7. Coin change: the same algorithm, two coin systems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Coin change: the same algorithm, two coin systems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7802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Rules, Two Coin Systems, One Code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505A2A4E-E419-4DA3-AFE6-EB301DDC28B2}"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Huffman against the entropy bound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code/ch14_greedy.cpp</a:t>
            </a:r>
          </a:p>
        </p:txBody>
      </p:sp>
      <p:sp>
        <p:nvSpPr>
          <p:cNvPr id="14" name="!!code-text" descr="// --- 8. Huffman against the entropy bound -------------------------- // Shannon: no prefix code can average fewer than H bits per symbol, // and Huffman is always within 1 bit of it. Both are checkabl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Huffman against the entropy bound --------------------------</a:t>
            </a:r>
          </a:p>
          <a:p>
            <a:pPr>
              <a:lnSpc>
                <a:spcPct val="100000"/>
              </a:lnSpc>
              <a:spcAft>
                <a:spcPts val="0"/>
              </a:spcAft>
            </a:pPr>
            <a:r>
              <a:rPr sz="1900" i="1">
                <a:solidFill>
                  <a:srgbClr val="8795A1"/>
                </a:solidFill>
                <a:latin typeface="Consolas"/>
              </a:rPr>
              <a:t>// Shannon: no prefix code can average fewer than H bits per symbol,</a:t>
            </a:r>
          </a:p>
          <a:p>
            <a:pPr>
              <a:lnSpc>
                <a:spcPct val="100000"/>
              </a:lnSpc>
              <a:spcAft>
                <a:spcPts val="0"/>
              </a:spcAft>
            </a:pPr>
            <a:r>
              <a:rPr sz="1900" i="1">
                <a:solidFill>
                  <a:srgbClr val="8795A1"/>
                </a:solidFill>
                <a:latin typeface="Consolas"/>
              </a:rPr>
              <a:t>// and Huffman is always within 1 bit of it. Both are checkable.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2185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116     </a:t>
            </a:r>
            <a:fld id="{0B760139-27DF-4133-B757-66806733F472}" type="slidenum">
              <a:rPr lang="en-GB" sz="1000">
                <a:solidFill>
                  <a:srgbClr val="8795A1"/>
                </a:solidFill>
                <a:latin typeface="Segoe UI"/>
              </a:rPr>
              <a:t>38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Part 6’s middle column. A rule that is right 94.5% of the time is not 94.5% of a correct algorithm — it is wrong, and the 5.5% is where it will meet your data.</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Find the smallest instance on which “take the shortest” fails, by searching exhaustively over instances rather than sampling. Three activities suffice: </a:t>
            </a:r>
            <a:r>
              <a:rPr sz="2300" b="0" i="0">
                <a:solidFill>
                  <a:srgbClr val="1C252B"/>
                </a:solidFill>
                <a:latin typeface="Cambria"/>
              </a:rPr>
              <a:t>[0,10)</a:t>
            </a:r>
            <a:r>
              <a:rPr sz="2300" b="0" i="0">
                <a:solidFill>
                  <a:srgbClr val="1C252B"/>
                </a:solidFill>
                <a:latin typeface="Segoe UI"/>
              </a:rPr>
              <a:t>, </a:t>
            </a:r>
            <a:r>
              <a:rPr sz="2300" b="0" i="0">
                <a:solidFill>
                  <a:srgbClr val="1C252B"/>
                </a:solidFill>
                <a:latin typeface="Cambria"/>
              </a:rPr>
              <a:t>[9,12)</a:t>
            </a:r>
            <a:r>
              <a:rPr sz="2300" b="0" i="0">
                <a:solidFill>
                  <a:srgbClr val="1C252B"/>
                </a:solidFill>
                <a:latin typeface="Segoe UI"/>
              </a:rPr>
              <a:t> and </a:t>
            </a:r>
            <a:r>
              <a:rPr sz="2300" b="0" i="0">
                <a:solidFill>
                  <a:srgbClr val="1C252B"/>
                </a:solidFill>
                <a:latin typeface="Cambria"/>
              </a:rPr>
              <a:t>[11,20)</a:t>
            </a:r>
            <a:r>
              <a:rPr sz="2300" b="0" i="0">
                <a:solidFill>
                  <a:srgbClr val="1C252B"/>
                </a:solidFill>
                <a:latin typeface="Segoe UI"/>
              </a:rPr>
              <a:t> — the shortest is the middle one, taking it forbids both others, and the optimum takes the outer two. Having the counter-example in hand is worth more than the 94.5%.</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26568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State the greedy-choice property and optimal substructure, and give a problem that has the second but not the first.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14  ·  Greedy Algorithms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31762142-4C58-4029-9B5D-A6CE0D8F6502}"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State the greedy-choice property and optimal substructure, and give a problem that has the second but not the first.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Greedy-choice property:</a:t>
            </a:r>
            <a:r>
              <a:rPr sz="2200" b="0" i="0">
                <a:solidFill>
                  <a:srgbClr val="1C252B"/>
                </a:solidFill>
                <a:latin typeface="Segoe UI"/>
              </a:rPr>
              <a:t> some optimal solution contains the locally best first choice. </a:t>
            </a:r>
            <a:r>
              <a:rPr sz="2200" b="0" i="1">
                <a:solidFill>
                  <a:srgbClr val="1C252B"/>
                </a:solidFill>
                <a:latin typeface="Segoe UI"/>
              </a:rPr>
              <a:t>Optimal substructure:</a:t>
            </a:r>
            <a:r>
              <a:rPr sz="2200" b="0" i="0">
                <a:solidFill>
                  <a:srgbClr val="1C252B"/>
                </a:solidFill>
                <a:latin typeface="Segoe UI"/>
              </a:rPr>
              <a:t> an optimal solution contains optimal solutions to the subproblems remaining after that choice. </a:t>
            </a:r>
            <a:r>
              <a:rPr sz="2200" b="1" i="0">
                <a:solidFill>
                  <a:srgbClr val="1C252B"/>
                </a:solidFill>
                <a:latin typeface="Segoe UI"/>
              </a:rPr>
              <a:t>A problem with the second and not the first:</a:t>
            </a:r>
            <a:r>
              <a:rPr sz="2200" b="0" i="0">
                <a:solidFill>
                  <a:srgbClr val="1C252B"/>
                </a:solidFill>
                <a:latin typeface="Segoe UI"/>
              </a:rPr>
              <a:t> 0/1 knapsack. Its optimal solution does contain optimal sub-solutions, so dynamic programming works (Chapter 16); but taking the highest value-per-weight item first can be wrong, so greedy fails. Coin change with </a:t>
            </a:r>
            <a:r>
              <a:rPr sz="2200" b="0" i="0">
                <a:solidFill>
                  <a:srgbClr val="1C252B"/>
                </a:solidFill>
                <a:latin typeface="Cambria"/>
              </a:rPr>
              <a:t>{1,3,4}</a:t>
            </a:r>
            <a:r>
              <a:rPr sz="2200" b="0" i="0">
                <a:solidFill>
                  <a:srgbClr val="1C252B"/>
                </a:solidFill>
                <a:latin typeface="Segoe UI"/>
              </a:rPr>
              <a:t> is the same story.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890DE487-33AC-4C8F-8092-DB30C5803E97}"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Greedy coin change fails for </a:t>
            </a:r>
            <a:r>
              <a:rPr sz="3400" b="0" i="0">
                <a:solidFill>
                  <a:srgbClr val="FFFFFF"/>
                </a:solidFill>
                <a:latin typeface="Cambria"/>
              </a:rPr>
              <a:t>{1,3,4}</a:t>
            </a:r>
            <a:r>
              <a:rPr sz="3400" b="0" i="0">
                <a:solidFill>
                  <a:srgbClr val="FFFFFF"/>
                </a:solidFill>
                <a:latin typeface="Segoe UI Semibold"/>
              </a:rPr>
              <a:t> at the amount 6. Find the next amount at which it fails, and say why the counter-examples are small.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14  ·  Greedy Algorithms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8ECDC359-2030-40C5-B738-955F1DFAB877}"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Greedy coin change fails for </a:t>
            </a:r>
            <a:r>
              <a:rPr sz="2400" b="0" i="0">
                <a:solidFill>
                  <a:srgbClr val="1A5276"/>
                </a:solidFill>
                <a:latin typeface="Cambria"/>
              </a:rPr>
              <a:t>{1,3,4}</a:t>
            </a:r>
            <a:r>
              <a:rPr sz="2400" b="0" i="0">
                <a:solidFill>
                  <a:srgbClr val="1A5276"/>
                </a:solidFill>
                <a:latin typeface="Segoe UI Semibold"/>
              </a:rPr>
              <a:t> at the amount 6. Find the next amount at which it fails, and say why the counter-examples are small.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8.</a:t>
            </a:r>
            <a:r>
              <a:rPr sz="2200" b="0" i="0">
                <a:solidFill>
                  <a:srgbClr val="1C252B"/>
                </a:solidFill>
                <a:latin typeface="Segoe UI"/>
              </a:rPr>
              <a:t> Greedy takes </a:t>
            </a:r>
            <a:r>
              <a:rPr sz="2200" b="0" i="0">
                <a:solidFill>
                  <a:srgbClr val="1C252B"/>
                </a:solidFill>
                <a:latin typeface="Cambria"/>
              </a:rPr>
              <a:t>4+3+1</a:t>
            </a:r>
            <a:r>
              <a:rPr sz="2200" b="0" i="0">
                <a:solidFill>
                  <a:srgbClr val="1C252B"/>
                </a:solidFill>
                <a:latin typeface="Segoe UI"/>
              </a:rPr>
              <a:t> = three coins; optimal is </a:t>
            </a:r>
            <a:r>
              <a:rPr sz="2200" b="0" i="0">
                <a:solidFill>
                  <a:srgbClr val="1C252B"/>
                </a:solidFill>
                <a:latin typeface="Cambria"/>
              </a:rPr>
              <a:t>4+4</a:t>
            </a:r>
            <a:r>
              <a:rPr sz="2200" b="0" i="0">
                <a:solidFill>
                  <a:srgbClr val="1C252B"/>
                </a:solidFill>
                <a:latin typeface="Segoe UI"/>
              </a:rPr>
              <a:t> = two. (The first failure is 6, as the chapter says; 7 is </a:t>
            </a:r>
            <a:r>
              <a:rPr sz="2200" b="0" i="0">
                <a:solidFill>
                  <a:srgbClr val="1C252B"/>
                </a:solidFill>
                <a:latin typeface="Cambria"/>
              </a:rPr>
              <a:t>4+3</a:t>
            </a:r>
            <a:r>
              <a:rPr sz="2200" b="0" i="0">
                <a:solidFill>
                  <a:srgbClr val="1C252B"/>
                </a:solidFill>
                <a:latin typeface="Segoe UI"/>
              </a:rPr>
              <a:t> for both.) The counter-examples are small because greedy’s mistake is made at the </a:t>
            </a:r>
            <a:r>
              <a:rPr sz="2200" b="0" i="1">
                <a:solidFill>
                  <a:srgbClr val="1C252B"/>
                </a:solidFill>
                <a:latin typeface="Segoe UI"/>
              </a:rPr>
              <a:t>first</a:t>
            </a:r>
            <a:r>
              <a:rPr sz="2200" b="0" i="0">
                <a:solidFill>
                  <a:srgbClr val="1C252B"/>
                </a:solidFill>
                <a:latin typeface="Segoe UI"/>
              </a:rPr>
              <a:t> step, so the smallest instance exhibiting it is the smallest amount where the largest coin is the wrong first choice — and that is bounded by the largest denomination.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EFE54E73-E56B-439E-855F-8D2D95FBBA1E}"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410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Huffman achieved 1.1202 bits per symbol against an entropy of 0.4065. Explain the gap without blaming the algorithm.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14  ·  Greedy Algorithms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5D74A4A8-DBFC-44A9-8B56-FE58C829C1E9}"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Huffman achieved 1.1202 bits per symbol against an entropy of 0.4065. Explain the gap without blaming the algorithm.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Huffman assigns each symbol a </a:t>
            </a:r>
            <a:r>
              <a:rPr sz="2200" b="0" i="1">
                <a:solidFill>
                  <a:srgbClr val="1C252B"/>
                </a:solidFill>
                <a:latin typeface="Segoe UI"/>
              </a:rPr>
              <a:t>whole number</a:t>
            </a:r>
            <a:r>
              <a:rPr sz="2200" b="0" i="0">
                <a:solidFill>
                  <a:srgbClr val="1C252B"/>
                </a:solidFill>
                <a:latin typeface="Segoe UI"/>
              </a:rPr>
              <a:t> of bits, with a minimum of 1. A symbol of probability 0.95 carries only </a:t>
            </a:r>
            <a:r>
              <a:rPr sz="2200" b="0" i="0">
                <a:solidFill>
                  <a:srgbClr val="1C252B"/>
                </a:solidFill>
                <a:latin typeface="Cambria"/>
              </a:rPr>
              <a:t>− lg 0.95 = 0.074</a:t>
            </a:r>
            <a:r>
              <a:rPr sz="2200" b="0" i="0">
                <a:solidFill>
                  <a:srgbClr val="1C252B"/>
                </a:solidFill>
                <a:latin typeface="Segoe UI"/>
              </a:rPr>
              <a:t> bits of information, and Huffman must spend 1 on it. The algorithm is provably optimal </a:t>
            </a:r>
            <a:r>
              <a:rPr sz="2200" b="0" i="1">
                <a:solidFill>
                  <a:srgbClr val="1C252B"/>
                </a:solidFill>
                <a:latin typeface="Segoe UI"/>
              </a:rPr>
              <a:t>among prefix codes</a:t>
            </a:r>
            <a:r>
              <a:rPr sz="2200" b="0" i="0">
                <a:solidFill>
                  <a:srgbClr val="1C252B"/>
                </a:solidFill>
                <a:latin typeface="Segoe UI"/>
              </a:rPr>
              <a:t>; the restriction to integer code lengths is what costs the 0.71 bits, and arithmetic coding, which can spend fractional bits, removes it.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3C275398-074C-41B6-8EB9-F36D1F08CDD6}"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2869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2C35630D-EA9B-4B28-91EF-B82E9A5C3902}" type="slidenum">
              <a:rPr lang="en-GB" sz="1000">
                <a:solidFill>
                  <a:srgbClr val="8795A1"/>
                </a:solidFill>
                <a:latin typeface="Segoe UI"/>
              </a:rPr>
              <a:t>45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greedy algorithm commits to the locally best choice and never reconsiders. It is optimal when the problem has both the greedy-choice property and optimal substructure.</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Optimality is proved by an </a:t>
            </a:r>
            <a:r>
              <a:rPr sz="1700" b="0" i="1">
                <a:solidFill>
                  <a:srgbClr val="1C252B"/>
                </a:solidFill>
                <a:latin typeface="Segoe UI"/>
              </a:rPr>
              <a:t>exchange argument</a:t>
            </a:r>
            <a:r>
              <a:rPr sz="1700" b="0" i="0">
                <a:solidFill>
                  <a:srgbClr val="1C252B"/>
                </a:solidFill>
                <a:latin typeface="Segoe UI"/>
              </a:rPr>
              <a:t>: show that some optimal solution can be modified to contain the greedy choice without getting worse.</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of three plausible activity-selection rules, earliest-finish was optimal on 100.0% of 20,000 random instances, shortest-first on 94.5% and earliest-start on 62.1%. Testing cannot distinguish a theorem from luck.</a:t>
            </a:r>
          </a:p>
        </p:txBody>
      </p:sp>
      <p:sp>
        <p:nvSpPr>
          <p:cNvPr id="16" name="!!sb3">
            <a:extLst>
              <a:ext uri="{C183D7F6-B498-43B3-948B-1728B52AA6E4}">
                <adec:decorative xmlns:adec="http://schemas.microsoft.com/office/drawing/2017/decorative" val="1"/>
              </a:ext>
            </a:extLst>
          </p:cNvPr>
          <p:cNvSpPr/>
          <p:nvPr/>
        </p:nvSpPr>
        <p:spPr>
          <a:xfrm>
            <a:off x="658368" y="41812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361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7210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greedy coin change is optimal for </a:t>
            </a:r>
            <a:r>
              <a:rPr sz="1700" b="0" i="0">
                <a:solidFill>
                  <a:srgbClr val="1C252B"/>
                </a:solidFill>
                <a:latin typeface="Cambria"/>
              </a:rPr>
              <a:t>{1,5,10,25}</a:t>
            </a:r>
            <a:r>
              <a:rPr sz="1700" b="0" i="0">
                <a:solidFill>
                  <a:srgbClr val="1C252B"/>
                </a:solidFill>
                <a:latin typeface="Segoe UI"/>
              </a:rPr>
              <a:t> and wrong on 49 of 200 amounts for </a:t>
            </a:r>
            <a:r>
              <a:rPr sz="1700" b="0" i="0">
                <a:solidFill>
                  <a:srgbClr val="1C252B"/>
                </a:solidFill>
                <a:latin typeface="Cambria"/>
              </a:rPr>
              <a:t>{1,3,4}</a:t>
            </a:r>
            <a:r>
              <a:rPr sz="1700" b="0" i="0">
                <a:solidFill>
                  <a:srgbClr val="1C252B"/>
                </a:solidFill>
                <a:latin typeface="Segoe UI"/>
              </a:rPr>
              <a:t>, first failing at 6. Greediness is a property of the instance, not of the code.</a:t>
            </a:r>
          </a:p>
        </p:txBody>
      </p:sp>
      <p:sp>
        <p:nvSpPr>
          <p:cNvPr id="19" name="!!sb4">
            <a:extLst>
              <a:ext uri="{C183D7F6-B498-43B3-948B-1728B52AA6E4}">
                <adec:decorative xmlns:adec="http://schemas.microsoft.com/office/drawing/2017/decorative" val="1"/>
              </a:ext>
            </a:extLst>
          </p:cNvPr>
          <p:cNvSpPr/>
          <p:nvPr/>
        </p:nvSpPr>
        <p:spPr>
          <a:xfrm>
            <a:off x="658368" y="49030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578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9386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Huffman’s algorithm is greedy — merge the two rarest symbols — and provably produces a minimum-length prefix code.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8012F2EB-196A-45BE-9D5D-142FFF4A477C}" type="slidenum">
              <a:rPr lang="en-GB" sz="1000">
                <a:solidFill>
                  <a:srgbClr val="8795A1"/>
                </a:solidFill>
                <a:latin typeface="Segoe UI"/>
              </a:rPr>
              <a:t>46</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Huffman lay in </a:t>
            </a:r>
            <a:r>
              <a:rPr sz="1700" b="0" i="0">
                <a:solidFill>
                  <a:srgbClr val="1C252B"/>
                </a:solidFill>
                <a:latin typeface="Cambria"/>
              </a:rPr>
              <a:t>[</a:t>
            </a:r>
            <a:r>
              <a:rPr sz="1700" b="0" i="1">
                <a:solidFill>
                  <a:srgbClr val="1C252B"/>
                </a:solidFill>
                <a:latin typeface="Cambria"/>
              </a:rPr>
              <a:t>H</a:t>
            </a:r>
            <a:r>
              <a:rPr sz="1700" b="0" i="0">
                <a:solidFill>
                  <a:srgbClr val="1C252B"/>
                </a:solidFill>
                <a:latin typeface="Cambria"/>
              </a:rPr>
              <a:t>, </a:t>
            </a:r>
            <a:r>
              <a:rPr sz="1700" b="0" i="1">
                <a:solidFill>
                  <a:srgbClr val="1C252B"/>
                </a:solidFill>
                <a:latin typeface="Cambria"/>
              </a:rPr>
              <a:t>H</a:t>
            </a:r>
            <a:r>
              <a:rPr sz="1700" b="0" i="0">
                <a:solidFill>
                  <a:srgbClr val="1C252B"/>
                </a:solidFill>
                <a:latin typeface="Cambria"/>
              </a:rPr>
              <a:t>+1)</a:t>
            </a:r>
            <a:r>
              <a:rPr sz="1700" b="0" i="0">
                <a:solidFill>
                  <a:srgbClr val="1C252B"/>
                </a:solidFill>
                <a:latin typeface="Segoe UI"/>
              </a:rPr>
              <a:t> on all four corpora. On a 95%-skewed source it used 1.1202 bits against an entropy of 0.4065, because it cannot spend fractional bits; on a uniform source it saved nothing, correctly.</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2163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C7ACDC37-C450-4A6C-A6AB-9B573AA50493}"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greedy-choice property states that: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greedy solution is unique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some optimal solution contains the greedy first choice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every optimal solution is greedy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problem has no optimal substructure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6019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500E9005-ED40-4D7C-8369-1DF519081B43}"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Huffman coding produces a code whose average length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always equal to the entropy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at least the entropy and less than entropy </a:t>
            </a:r>
            <a:r>
              <a:rPr sz="2000" b="0" i="0">
                <a:solidFill>
                  <a:srgbClr val="1C252B"/>
                </a:solidFill>
                <a:latin typeface="Cambria"/>
              </a:rPr>
              <a:t>+1</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always 8 bits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unrelated to the entropy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0402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14  ·  Greedy Algorithms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58173BBE-31D8-4F6B-8B0A-B4C5743DC63E}" type="slidenum">
              <a:rPr lang="en-GB" sz="1000">
                <a:solidFill>
                  <a:srgbClr val="8795A1"/>
                </a:solidFill>
                <a:latin typeface="Segoe UI"/>
              </a:rPr>
              <a:t>49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Define the greedy strategy and apply it to activity selection, stating the rule precisely </a:t>
            </a:r>
            <a:r>
              <a:rPr sz="1900" b="0" i="1">
                <a:solidFill>
                  <a:srgbClr val="1C252B"/>
                </a:solidFill>
                <a:latin typeface="Segoe UI"/>
              </a:rPr>
              <a:t>(CLO-6)</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an exchange argument, and say which direction the modification goes.</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 greedy rule that succeeds on 94.5% of random instances not acceptable?</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Prove that greedy coin change is optimal for </a:t>
            </a:r>
            <a:r>
              <a:rPr sz="1900" b="0" i="0">
                <a:solidFill>
                  <a:srgbClr val="1C252B"/>
                </a:solidFill>
                <a:latin typeface="Cambria"/>
              </a:rPr>
              <a:t>{1,5,10,25}</a:t>
            </a:r>
            <a:r>
              <a:rPr sz="1900" b="0" i="0">
                <a:solidFill>
                  <a:srgbClr val="1C252B"/>
                </a:solidFill>
                <a:latin typeface="Segoe UI"/>
              </a:rPr>
              <a:t>, or give the argument’s outline and identify where it would fail for </a:t>
            </a:r>
            <a:r>
              <a:rPr sz="1900" b="0" i="0">
                <a:solidFill>
                  <a:srgbClr val="1C252B"/>
                </a:solidFill>
                <a:latin typeface="Cambria"/>
              </a:rPr>
              <a:t>{1,3,4}</a:t>
            </a:r>
            <a:r>
              <a:rPr sz="1900" b="0" i="0">
                <a:solidFill>
                  <a:srgbClr val="1C252B"/>
                </a:solidFill>
                <a:latin typeface="Segoe UI"/>
              </a:rPr>
              <a:t>.</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must schedule jobs with deadlines and profits, one machine, each job taking unit time, to maximise profit. Propose a greedy rule, attempt an exchange argument, and either prove it or give a counter-example.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78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15 — Dynamic Programming I: The Elements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14, pages 113–120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Huffman coding on real text; measure the compression</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14  ·  Greedy Algorithms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F86A05CD-86D7-4FD6-B1D8-6CEA126497BA}" type="slidenum">
              <a:rPr lang="en-GB" sz="1000">
                <a:solidFill>
                  <a:srgbClr val="D5DEE5"/>
                </a:solidFill>
                <a:latin typeface="Segoe UI"/>
              </a:rPr>
              <a:t>50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Greedy Algorithms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