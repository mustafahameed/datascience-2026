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5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E52ADEF-8212-469F-91AC-EDD56FE47EF5}">
          <p14:sldIdLst>
            <p14:sldId id="256"/>
            <p14:sldId id="257"/>
            <p14:sldId id="258"/>
            <p14:sldId id="259"/>
            <p14:sldId id="260"/>
          </p14:sldIdLst>
        </p14:section>
        <p14:section name="6.1 One Theorem for a Whole Family" id="{AAA6E6B3-469B-4625-B794-A17E38B19C10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6.2 The Theorem, Verified Exactly" id="{ACE4DA80-D23E-49B5-86D3-3D4B655D6DA3}">
          <p14:sldIdLst>
            <p14:sldId id="267"/>
            <p14:sldId id="268"/>
            <p14:sldId id="269"/>
            <p14:sldId id="270"/>
            <p14:sldId id="271"/>
          </p14:sldIdLst>
        </p14:section>
        <p14:section name="6.3 The Gap: When the Theorem Does Not Apply" id="{51963A77-BCD0-4F35-9939-D89B8D450D65}">
          <p14:sldIdLst>
            <p14:sldId id="272"/>
            <p14:sldId id="273"/>
            <p14:sldId id="274"/>
            <p14:sldId id="275"/>
            <p14:sldId id="276"/>
          </p14:sldIdLst>
        </p14:section>
        <p14:section name="Pitfalls" id="{F362C356-A9CD-46A3-A741-B1ACD896A44C}">
          <p14:sldIdLst>
            <p14:sldId id="277"/>
            <p14:sldId id="278"/>
          </p14:sldIdLst>
        </p14:section>
        <p14:section name="Lab" id="{EB2F0AD9-7D21-4AD9-A34E-B6CBFEB68A50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Checkpoint" id="{0E460F9A-C9DF-441D-A1A3-E906BDAC6670}">
          <p14:sldIdLst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Wrap-up" id="{0AC7D280-07EF-4199-8BD3-D31C0A470B3F}">
          <p14:sldIdLst>
            <p14:sldId id="294"/>
            <p14:sldId id="295"/>
            <p14:sldId id="296"/>
            <p14:sldId id="297"/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6: Recurrences II: The Master Theorem. Part 2 — Recursion and Divide-and-Conquer. Week 4: Recurrences; the master theorem. Handout pages 49–55.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5 — recursion trees especially, since the three cases are three shapes of tree. From Appendix B you need alogb n = nlogb a and the geometric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master theorem; a, b, f(n); watershed function; nlogb a; polynomially larger; polynomially smaller; regularity condition; the gap; leaf-dominated; root-dominated.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divide-and-conquer algorithms split a problem of size n into a subproblems of size n/b and spend f(n) dividing and combining. That is a family of recurrences, and the master theorem solves the family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master theorem’s claim is about a sum, so it can be checked by computing the sum. code/ch06_master.cpp evaluates each recurrence directly and divides by the predicted bound; if the theorem is right, the quotient settles on a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pitfall, ask who has seen it happen. One real story beats five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Reproduces all four tables. Expect twenty-five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Count the work each recurrence prescribes.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Work that cannot be optimised away.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Case 1: the leaves dominate.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Case 2: the tie, where the logarithm comes from.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5: Case 3: the root dominates.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6: The regularity condition case 3 needs.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7: And the same recurrence, timed.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a = 4, b = 2, f(n) = n. Watershed nlog24 = n2. Since f(n) = n = O(n2−ε) with ε = 1, this is case 1, and T(n) = Θ(n2). The leaves dominate; the combining work is irrelevant.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None. Watershed nlog22 = n, and f(n) = n/lg n is smaller than n — but only by a logarithmic factor, and case 1 needs f = O(n1−ε) for a constant ε &gt; 0. Since n/lg n = ω(n1−ε) for every such ε, no case applies. (A recursion tree gives Θ(n lg lg n).)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In case 2 every level of the tree does the same total work, so the total is (work per level) × (number of levels), and the number of levels is lgb n = Θ(lg n). In case 1 the work grows geometrically towards the leaves and the last level dominates; in case 3 it shrinks geometrically and the root dominates. Only a tie makes every level count, and counting levels is where a logarithm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7 — Brute Force, and When It Is the Right Answer. READ: Handout Chapter 6, pages 49–55. THIS WEEK'S LAB: Recursion trees against measured depth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12.xml"/><Relationship Id="rId7" Type="http://schemas.openxmlformats.org/officeDocument/2006/relationships/slide" Target="slide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26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9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2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5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Relationship Id="rId3" Type="http://schemas.openxmlformats.org/officeDocument/2006/relationships/image" Target="../media/image36.sv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39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1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3" Type="http://schemas.openxmlformats.org/officeDocument/2006/relationships/image" Target="../media/image42.sv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5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6.sv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7.sv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8.sv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9.sv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0.sv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1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52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54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Relationship Id="rId3" Type="http://schemas.openxmlformats.org/officeDocument/2006/relationships/image" Target="../media/image56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57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Relationship Id="rId3" Type="http://schemas.openxmlformats.org/officeDocument/2006/relationships/image" Target="../media/image58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png"/><Relationship Id="rId3" Type="http://schemas.openxmlformats.org/officeDocument/2006/relationships/image" Target="../media/image59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Relationship Id="rId3" Type="http://schemas.openxmlformats.org/officeDocument/2006/relationships/image" Target="../media/image60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png"/><Relationship Id="rId3" Type="http://schemas.openxmlformats.org/officeDocument/2006/relationships/image" Target="../media/image62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4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5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png"/><Relationship Id="rId3" Type="http://schemas.openxmlformats.org/officeDocument/2006/relationships/image" Target="../media/image66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9769F"/>
                </a:solidFill>
                <a:latin typeface="Segoe UI Black"/>
              </a:rPr>
              <a:t>06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Recurrences II: The Master Theorem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PART II  ·  RECURSION AND DIVIDE-AND-CONQUER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C1D4E1"/>
                </a:solidFill>
                <a:latin typeface="Segoe UI"/>
              </a:rPr>
              <a:t>CHAPTER 6  ·  WEEK 4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3E1EA"/>
                </a:solidFill>
                <a:latin typeface="Segoe UI"/>
              </a:rPr>
              <a:t>Design, Proof and Measurement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9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8BAC7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CCD6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BAC7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49     </a:t>
            </a:r>
            <a:fld id="{3BC92AD3-523B-4AAA-B052-1ADBE5D1735F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618444" y="1755648"/>
            <a:ext cx="2214637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18444" y="2029967"/>
            <a:ext cx="2214637" cy="4572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5162265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62265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7003469" y="1755648"/>
            <a:ext cx="15120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03469" y="2029967"/>
            <a:ext cx="1512020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844673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44673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294156" y="1755648"/>
            <a:ext cx="11202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94156" y="2029967"/>
            <a:ext cx="1120299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508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1706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0229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0878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1950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005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8367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922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49712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55827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50577" y="2112264"/>
            <a:ext cx="566928" cy="566928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50577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405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65261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577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04433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2749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43605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9353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10209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852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4938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697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588553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869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27725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347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69432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2645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33501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7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72673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99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1184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7594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878450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766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1762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5938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956794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2542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23398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1714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062570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88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110174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23</a:t>
            </a:r>
          </a:p>
        </p:txBody>
      </p:sp>
      <p:sp>
        <p:nvSpPr>
          <p:cNvPr id="65" name="!!dotlabel"/>
          <p:cNvSpPr txBox="1"/>
          <p:nvPr/>
        </p:nvSpPr>
        <p:spPr>
          <a:xfrm>
            <a:off x="658368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6794"/>
                </a:solidFill>
                <a:latin typeface="Segoe UI"/>
              </a:rPr>
              <a:t>Recurrences II: The Master Theorem</a:t>
            </a:r>
          </a:p>
        </p:txBody>
      </p:sp>
      <p:sp>
        <p:nvSpPr>
          <p:cNvPr id="66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7" name="!!chip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chipbBU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tBU5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Recurrences I: Substitution and Recursion Trees</a:t>
            </a:r>
          </a:p>
        </p:txBody>
      </p:sp>
      <p:sp>
        <p:nvSpPr>
          <p:cNvPr id="70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1" name="!!chipUS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bUS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tUS8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8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Divide and Conquer: Merge Sort and the Pattern</a:t>
            </a:r>
          </a:p>
        </p:txBody>
      </p:sp>
      <p:sp>
        <p:nvSpPr>
          <p:cNvPr id="74" name="!!chipUS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US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US11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11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Selection and Order Statistics</a:t>
            </a:r>
          </a:p>
        </p:txBody>
      </p:sp>
      <p:sp>
        <p:nvSpPr>
          <p:cNvPr id="77" name="!!chip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chipb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!!chiptUS23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23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Semester Project</a:t>
            </a:r>
          </a:p>
        </p:txBody>
      </p:sp>
      <p:sp>
        <p:nvSpPr>
          <p:cNvPr id="8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705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49     </a:t>
            </a:r>
            <a:fld id="{31F4CD1E-4A62-44E0-8936-7BEA90495EC9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master theorem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identify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for a given recurrence.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16352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Decide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which of the three cases applies by comparing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4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4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 to obtain a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bound.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715207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Check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regularity condition that case 3 requires.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268419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Recognise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recurrence that falls into none of the three cases,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say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to do instead.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126126"/>
            <a:ext cx="420624" cy="420624"/>
          </a:xfrm>
          <a:prstGeom prst="ellipse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18556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167274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36794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why case 2 produces a logarithmic factor that neither of the others does.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058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49     </a:t>
            </a:r>
            <a:fld id="{531DD6EF-67AE-41CF-A65B-68BA1CB5257D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master theor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98565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master theor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master theorem"/>
          <p:cNvSpPr txBox="1"/>
          <p:nvPr/>
        </p:nvSpPr>
        <p:spPr>
          <a:xfrm>
            <a:off x="950976" y="1955291"/>
            <a:ext cx="180277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master theorem</a:t>
            </a:r>
          </a:p>
        </p:txBody>
      </p:sp>
      <p:sp>
        <p:nvSpPr>
          <p:cNvPr id="10" name="!!term-a, b, f(n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90322" y="1847088"/>
            <a:ext cx="122332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a, b, f(n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33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a, b, f(n)"/>
          <p:cNvSpPr txBox="1"/>
          <p:nvPr/>
        </p:nvSpPr>
        <p:spPr>
          <a:xfrm>
            <a:off x="3082930" y="1955291"/>
            <a:ext cx="104044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a, b, f(n)</a:t>
            </a:r>
          </a:p>
        </p:txBody>
      </p:sp>
      <p:sp>
        <p:nvSpPr>
          <p:cNvPr id="13" name="!!term-watershed fun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59955" y="1847088"/>
            <a:ext cx="230151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watershed fun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7971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watershed func"/>
          <p:cNvSpPr txBox="1"/>
          <p:nvPr/>
        </p:nvSpPr>
        <p:spPr>
          <a:xfrm>
            <a:off x="4452563" y="1955291"/>
            <a:ext cx="211863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watershed function</a:t>
            </a:r>
          </a:p>
        </p:txBody>
      </p:sp>
      <p:sp>
        <p:nvSpPr>
          <p:cNvPr id="16" name="!!term-nlogb 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7771" y="1847088"/>
            <a:ext cx="117752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nlogb 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3578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nlogb a"/>
          <p:cNvSpPr txBox="1"/>
          <p:nvPr/>
        </p:nvSpPr>
        <p:spPr>
          <a:xfrm>
            <a:off x="6900379" y="1955291"/>
            <a:ext cx="99464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nlogb a</a:t>
            </a:r>
          </a:p>
        </p:txBody>
      </p:sp>
      <p:sp>
        <p:nvSpPr>
          <p:cNvPr id="19" name="!!term-polynomially 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31599" y="1847088"/>
            <a:ext cx="230301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polynomially 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9615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polynomially l"/>
          <p:cNvSpPr txBox="1"/>
          <p:nvPr/>
        </p:nvSpPr>
        <p:spPr>
          <a:xfrm>
            <a:off x="8224207" y="1955291"/>
            <a:ext cx="212013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polynomially larger</a:t>
            </a:r>
          </a:p>
        </p:txBody>
      </p:sp>
      <p:sp>
        <p:nvSpPr>
          <p:cNvPr id="22" name="!!term-polynomially 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243298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polynomially 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polynomially s"/>
          <p:cNvSpPr txBox="1"/>
          <p:nvPr/>
        </p:nvSpPr>
        <p:spPr>
          <a:xfrm>
            <a:off x="950976" y="2577084"/>
            <a:ext cx="225010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polynomially smaller</a:t>
            </a:r>
          </a:p>
        </p:txBody>
      </p:sp>
      <p:sp>
        <p:nvSpPr>
          <p:cNvPr id="25" name="!!term-regularity 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7657" y="2468880"/>
            <a:ext cx="234199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regularity c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6567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regularity con"/>
          <p:cNvSpPr txBox="1"/>
          <p:nvPr/>
        </p:nvSpPr>
        <p:spPr>
          <a:xfrm>
            <a:off x="3530265" y="2577084"/>
            <a:ext cx="215911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regularity condition</a:t>
            </a:r>
          </a:p>
        </p:txBody>
      </p:sp>
      <p:sp>
        <p:nvSpPr>
          <p:cNvPr id="28" name="!!term-the ga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25953" y="2468880"/>
            <a:ext cx="118501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the ga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396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the gap"/>
          <p:cNvSpPr txBox="1"/>
          <p:nvPr/>
        </p:nvSpPr>
        <p:spPr>
          <a:xfrm>
            <a:off x="6018561" y="2577084"/>
            <a:ext cx="100213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gap</a:t>
            </a:r>
          </a:p>
        </p:txBody>
      </p:sp>
      <p:sp>
        <p:nvSpPr>
          <p:cNvPr id="31" name="!!term-leaf-domina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57267" y="2468880"/>
            <a:ext cx="193421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leaf-domina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528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leaf-dominated"/>
          <p:cNvSpPr txBox="1"/>
          <p:nvPr/>
        </p:nvSpPr>
        <p:spPr>
          <a:xfrm>
            <a:off x="7349875" y="2577084"/>
            <a:ext cx="175133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leaf-dominated</a:t>
            </a:r>
          </a:p>
        </p:txBody>
      </p:sp>
      <p:sp>
        <p:nvSpPr>
          <p:cNvPr id="34" name="!!term-root-domina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37784" y="2468880"/>
            <a:ext cx="199405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root-domina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65800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root-dominated"/>
          <p:cNvSpPr txBox="1"/>
          <p:nvPr/>
        </p:nvSpPr>
        <p:spPr>
          <a:xfrm>
            <a:off x="9430392" y="2577084"/>
            <a:ext cx="181117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root-dominated</a:t>
            </a:r>
          </a:p>
        </p:txBody>
      </p:sp>
      <p:sp>
        <p:nvSpPr>
          <p:cNvPr id="37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3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411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49–55     </a:t>
            </a:r>
            <a:fld id="{9B264D62-24B4-4AA4-BDA9-478346EDBF56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6.1 One Theorem for a Whole Family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6.1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One Theorem for a Whole Family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49  ›</a:t>
            </a:r>
          </a:p>
        </p:txBody>
      </p:sp>
      <p:sp>
        <p:nvSpPr>
          <p:cNvPr id="12" name="!!ag1" descr="Go to section 6.2 The Theorem, Verified Exactly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6.2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Theorem, Verified Exactly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51  ›</a:t>
            </a:r>
          </a:p>
        </p:txBody>
      </p:sp>
      <p:sp>
        <p:nvSpPr>
          <p:cNvPr id="17" name="!!ag2" descr="Go to section 6.3 The Gap: When the Theorem Does Not Apply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36794"/>
                </a:solidFill>
                <a:latin typeface="Segoe UI Semibold"/>
              </a:rPr>
              <a:t>6.3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Gap: When the Theorem Does Not Apply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52  ›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41763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One Theorem for a Whole Family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1 OF 3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6.1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6.1   One Theorem for a Whole Family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6.2   The Theorem, Verified Exactly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6.3   The Gap: When the Theorem Does Not Apply</a:t>
            </a:r>
          </a:p>
        </p:txBody>
      </p:sp>
      <p:sp>
        <p:nvSpPr>
          <p:cNvPr id="9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</a:t>
            </a:r>
          </a:p>
        </p:txBody>
      </p:sp>
      <p:sp>
        <p:nvSpPr>
          <p:cNvPr id="10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§6.1     </a:t>
            </a:r>
            <a:fld id="{0F3C014C-2CBC-479E-90B1-FD0DDA4AA717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70116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Master theorem</a:t>
            </a:r>
          </a:p>
        </p:txBody>
      </p:sp>
      <p:pic>
        <p:nvPicPr>
          <p:cNvPr id="3" name="!!kicker-icon" descr="award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THEOREM 6.1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§6.1  ·  Handout p. 49     </a:t>
            </a:r>
            <a:fld id="{7076F6D5-737D-4A9B-8521-F76955A752EB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69678"/>
          </a:xfrm>
          <a:prstGeom prst="roundRect">
            <a:avLst>
              <a:gd name="adj" fmla="val 2092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6967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Let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≥ 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&gt; 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be constants,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 non-negative function, and</a:t>
            </a:r>
          </a:p>
        </p:txBody>
      </p:sp>
      <p:pic>
        <p:nvPicPr>
          <p:cNvPr id="10" name="body-1" descr="T(n) = a\,T(n/b) + f(n)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0704" y="2573451"/>
            <a:ext cx="10161727" cy="392826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60704" y="3126933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Then, writing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w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the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watershed function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3652128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Case 1.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− ε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some constant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60704" y="4177324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Case 2.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then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4" name="body-5"/>
          <p:cNvSpPr txBox="1"/>
          <p:nvPr/>
        </p:nvSpPr>
        <p:spPr>
          <a:xfrm>
            <a:off x="1060704" y="4702520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Case 3.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If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+ ε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some constant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and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≤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for some constant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c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&lt; 1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all sufficiently large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(the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regularity condition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), then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98469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theorem is actually comparing, and why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§6.1  ·  Handout p. 49     </a:t>
            </a:r>
            <a:fld id="{2BC19655-474D-485A-84C6-3CC2485F771F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02962"/>
          </a:xfrm>
          <a:prstGeom prst="roundRect">
            <a:avLst>
              <a:gd name="adj" fmla="val 2030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0296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Think of the recursion tree.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459278"/>
            <a:ext cx="10161727" cy="981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268" indent="-201268">
              <a:lnSpc>
                <a:spcPct val="104000"/>
              </a:lnSpc>
              <a:spcBef>
                <a:spcPts val="0"/>
              </a:spcBef>
              <a:spcAft>
                <a:spcPts val="630"/>
              </a:spcAft>
            </a:pPr>
            <a:r>
              <a:rPr sz="1800" b="1">
                <a:solidFill>
                  <a:srgbClr val="1F618D"/>
                </a:solidFill>
                <a:latin typeface="Segoe UI"/>
              </a:rPr>
              <a:t>•	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root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does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work.</a:t>
            </a:r>
          </a:p>
          <a:p>
            <a:pPr algn="l" marL="201268" indent="-201268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18D"/>
                </a:solidFill>
                <a:latin typeface="Segoe UI"/>
              </a:rPr>
              <a:t>•	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The 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leaves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number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2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2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— that identity is the whole reason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2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appears — and each does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Θ(1)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so the leaves do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2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in total.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520897"/>
            <a:ext cx="10161727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So the theorem compares </a:t>
            </a:r>
            <a:r>
              <a:rPr sz="1800" b="1" i="0">
                <a:solidFill>
                  <a:srgbClr val="1C252B"/>
                </a:solidFill>
                <a:latin typeface="Segoe UI"/>
              </a:rPr>
              <a:t>the work at the top against the work at the bottom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and the three cases are the three possible answers: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4217212"/>
            <a:ext cx="10161727" cy="106161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34207" indent="-434207">
              <a:lnSpc>
                <a:spcPct val="104000"/>
              </a:lnSpc>
              <a:spcBef>
                <a:spcPts val="0"/>
              </a:spcBef>
              <a:spcAft>
                <a:spcPts val="630"/>
              </a:spcAft>
            </a:pPr>
            <a:r>
              <a:rPr sz="1800" b="1">
                <a:solidFill>
                  <a:srgbClr val="1F618D"/>
                </a:solidFill>
                <a:latin typeface="Segoe UI"/>
              </a:rPr>
              <a:t>1.	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the leaves win, and the total is the leaves: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2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;</a:t>
            </a:r>
          </a:p>
          <a:p>
            <a:pPr algn="l" marL="434207" indent="-434207">
              <a:lnSpc>
                <a:spcPct val="104000"/>
              </a:lnSpc>
              <a:spcBef>
                <a:spcPts val="0"/>
              </a:spcBef>
              <a:spcAft>
                <a:spcPts val="630"/>
              </a:spcAft>
            </a:pPr>
            <a:r>
              <a:rPr sz="1800" b="1">
                <a:solidFill>
                  <a:srgbClr val="1F618D"/>
                </a:solidFill>
                <a:latin typeface="Segoe UI"/>
              </a:rPr>
              <a:t>2.	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it is a tie, every level does the same work, and the total is one level’s work times the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levels;</a:t>
            </a:r>
          </a:p>
          <a:p>
            <a:pPr algn="l" marL="434207" indent="-434207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618D"/>
                </a:solidFill>
                <a:latin typeface="Segoe UI"/>
              </a:rPr>
              <a:t>3.	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the root wins, the sum is dominated by its first term, and the total is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60704" y="5358841"/>
            <a:ext cx="10161727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Read that way the theorem is not three rules to memorise but one question — 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which end of the tree is heavier?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— with three answers.</a:t>
            </a:r>
          </a:p>
        </p:txBody>
      </p:sp>
      <p:sp>
        <p:nvSpPr>
          <p:cNvPr id="2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6822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8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Applying It Three Times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§6.1  ·  Handout p. 49     </a:t>
            </a:r>
            <a:fld id="{30C5F00F-40D8-40E7-B846-DD7F1557951F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70395"/>
          </a:xfrm>
          <a:prstGeom prst="roundRect">
            <a:avLst>
              <a:gd name="adj" fmla="val 214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7039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(a) Merge sort: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) = 2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/2) +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Watershed: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 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1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Since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this is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case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pic>
        <p:nvPicPr>
          <p:cNvPr id="10" name="body-1" descr="T(n) = \bigTh{n \lg n}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2746679"/>
            <a:ext cx="10234879" cy="324520"/>
          </a:xfrm>
          <a:prstGeom prst="rect">
            <a:avLst/>
          </a:prstGeom>
        </p:spPr>
      </p:pic>
      <p:sp>
        <p:nvSpPr>
          <p:cNvPr id="11" name="body-2"/>
          <p:cNvSpPr txBox="1"/>
          <p:nvPr/>
        </p:nvSpPr>
        <p:spPr>
          <a:xfrm>
            <a:off x="1042416" y="3203915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(b) Binary search: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/2) + 1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Watershed: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 1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0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Since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1 = Θ(1)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this is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case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again: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222203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3" name="body-3" descr="T(n) = \bigTh{n^{0} \lg n} = \bigTh{\lg n}.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2416" y="3938915"/>
            <a:ext cx="10234879" cy="324520"/>
          </a:xfrm>
          <a:prstGeom prst="rect">
            <a:avLst/>
          </a:prstGeom>
        </p:spPr>
      </p:pic>
      <p:sp>
        <p:nvSpPr>
          <p:cNvPr id="14" name="body-4"/>
          <p:cNvSpPr txBox="1"/>
          <p:nvPr/>
        </p:nvSpPr>
        <p:spPr>
          <a:xfrm>
            <a:off x="1042416" y="4396150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Note that case 2 with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where the familiar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of binary search comes from — the same case as merge sort, not a different rule.</a:t>
            </a:r>
          </a:p>
        </p:txBody>
      </p:sp>
      <p:sp>
        <p:nvSpPr>
          <p:cNvPr id="15" name="body-5"/>
          <p:cNvSpPr txBox="1"/>
          <p:nvPr/>
        </p:nvSpPr>
        <p:spPr>
          <a:xfrm>
            <a:off x="1042416" y="5131150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(c) A bad matrix multiply: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) = 8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/2) +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8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Watershed: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 8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Now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3 − ε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ε =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this is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case 1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:</a:t>
            </a:r>
          </a:p>
        </p:txBody>
      </p:sp>
      <p:sp>
        <p:nvSpPr>
          <p:cNvPr id="16" name="body-5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149438"/>
            <a:ext cx="54864" cy="58399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55175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Applying It Three Times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§6.1  ·  Handout p. 49     </a:t>
            </a:r>
            <a:fld id="{4F2149B4-80E9-469B-95C0-B7026968810D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909302"/>
          </a:xfrm>
          <a:prstGeom prst="roundRect">
            <a:avLst>
              <a:gd name="adj" fmla="val 4789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90930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T(n) = \bigTh{n^{3}}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2011679"/>
            <a:ext cx="10234879" cy="324520"/>
          </a:xfrm>
          <a:prstGeom prst="rect">
            <a:avLst/>
          </a:prstGeom>
        </p:spPr>
      </p:pic>
      <p:sp>
        <p:nvSpPr>
          <p:cNvPr id="10" name="body-1"/>
          <p:cNvSpPr txBox="1"/>
          <p:nvPr/>
        </p:nvSpPr>
        <p:spPr>
          <a:xfrm>
            <a:off x="1042416" y="2468915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combining work is irrelevant: there are so many leaves that nothing at the top matters. Strassen’s algorithm improves this to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7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/2) +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giving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 7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2.81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the whole gain comes from turning an 8 into a 7.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527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Case 3, With Its Condition Checked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§6.1  ·  Handout p. 49     </a:t>
            </a:r>
            <a:fld id="{2D828F4C-2DF0-4C3A-ACC3-6B73BE615B9D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30806"/>
          </a:xfrm>
          <a:prstGeom prst="roundRect">
            <a:avLst>
              <a:gd name="adj" fmla="val 2111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3080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1">
                <a:solidFill>
                  <a:srgbClr val="7D6608"/>
                </a:solidFill>
                <a:latin typeface="Cambria"/>
              </a:rPr>
              <a:t>T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 = 2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/2) +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1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399868"/>
            <a:ext cx="10234879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6608"/>
                </a:solidFill>
                <a:latin typeface="Segoe UI"/>
              </a:rPr>
              <a:t>Step 1 — identify.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Watershed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 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2788056"/>
            <a:ext cx="10234879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6608"/>
                </a:solidFill>
                <a:latin typeface="Segoe UI"/>
              </a:rPr>
              <a:t>Step 2 — compare.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1 + ε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ε = 1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So case 3 is a candidate.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3176244"/>
            <a:ext cx="10234879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6608"/>
                </a:solidFill>
                <a:latin typeface="Segoe UI"/>
              </a:rPr>
              <a:t>Step 3 — check regularity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which case 3 requires and the other two do not:</a:t>
            </a:r>
          </a:p>
        </p:txBody>
      </p:sp>
      <p:pic>
        <p:nvPicPr>
          <p:cNvPr id="13" name="body-4" descr="a f(n/b) = 2\Bigl(\frac{n}{2}\Bigr)^{2} = \frac{n^{2}}{2} = \tfrac12 f(n) \;\le\; c f(n) \quad\text{with } c = \tfrac12 &lt; 1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3564432"/>
            <a:ext cx="10234879" cy="525962"/>
          </a:xfrm>
          <a:prstGeom prst="rect">
            <a:avLst/>
          </a:prstGeom>
        </p:spPr>
      </p:pic>
      <p:sp>
        <p:nvSpPr>
          <p:cNvPr id="14" name="body-5"/>
          <p:cNvSpPr txBox="1"/>
          <p:nvPr/>
        </p:nvSpPr>
        <p:spPr>
          <a:xfrm>
            <a:off x="1042416" y="4209140"/>
            <a:ext cx="10234879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It holds, for every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with room to spare.</a:t>
            </a:r>
          </a:p>
        </p:txBody>
      </p:sp>
      <p:sp>
        <p:nvSpPr>
          <p:cNvPr id="15" name="body-6"/>
          <p:cNvSpPr txBox="1"/>
          <p:nvPr/>
        </p:nvSpPr>
        <p:spPr>
          <a:xfrm>
            <a:off x="1042416" y="4597328"/>
            <a:ext cx="10234879" cy="3151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6608"/>
                </a:solidFill>
                <a:latin typeface="Segoe UI"/>
              </a:rPr>
              <a:t>Step 4 — conclude.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)) = 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6" name="body-6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615616"/>
            <a:ext cx="54864" cy="25115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body-7"/>
          <p:cNvSpPr txBox="1"/>
          <p:nvPr/>
        </p:nvSpPr>
        <p:spPr>
          <a:xfrm>
            <a:off x="1042416" y="4985517"/>
            <a:ext cx="10234879" cy="8540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D6608"/>
                </a:solidFill>
                <a:latin typeface="Segoe UI"/>
              </a:rPr>
              <a:t>Step 5 — read what that says.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recursion is essentially free. The top call alone does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work, the two half-sized calls do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between them, their children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/4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and the whole sum is at most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A geometric series with ratio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1/2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— which is precisely what the regularity condition guarantees exists.</a:t>
            </a:r>
          </a:p>
        </p:txBody>
      </p:sp>
      <p:sp>
        <p:nvSpPr>
          <p:cNvPr id="18" name="body-7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5003805"/>
            <a:ext cx="54864" cy="790041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1880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Theorem, Verified Exactly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2 OF 3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6.2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6.1   One Theorem for a Whole Family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6.2   The Theorem, Verified Exactly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6.3   The Gap: When the Theorem Does Not Apply</a:t>
            </a:r>
          </a:p>
        </p:txBody>
      </p:sp>
      <p:sp>
        <p:nvSpPr>
          <p:cNvPr id="9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</a:t>
            </a:r>
          </a:p>
        </p:txBody>
      </p:sp>
      <p:sp>
        <p:nvSpPr>
          <p:cNvPr id="10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§6.2     </a:t>
            </a:r>
            <a:fld id="{A78B8DAC-A1CC-43BF-AA6E-D0450D25D718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40233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Why this is counted and not timed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§6.2  ·  Handout p. 51     </a:t>
            </a:r>
            <a:fld id="{BF53B637-0A31-45B1-84B3-9F9FFFBFE70E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334232"/>
          </a:xfrm>
          <a:prstGeom prst="roundRect">
            <a:avLst>
              <a:gd name="adj" fmla="val 2742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33423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Timing these three recurrences gave ratios wandering by 50% from one doubling to the next — cases 1 and 3 run for seconds, and over seconds a laptop’s clock speed is not constant.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3302533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Counting the work the recurrence defines has none of that. It is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exact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deterministic, and identical on every machine, so you can check these tables against your own run line by line. Where the thing being tested is a piece of mathematics rather than a piece of hardware, count it.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68586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Case 1: the Leaves Win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§6.2  ·  Handout p. 51     </a:t>
            </a:r>
            <a:fld id="{3AD1C457-5D48-47FB-A346-1B8B96DD034A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943654"/>
          </a:xfrm>
          <a:prstGeom prst="roundRect">
            <a:avLst>
              <a:gd name="adj" fmla="val 231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94365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785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 = 8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/2) +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, predicted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91206"/>
          <a:ext cx="5291325" cy="210311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809349"/>
                <a:gridCol w="1664624"/>
                <a:gridCol w="1664624"/>
                <a:gridCol w="1152728"/>
              </a:tblGrid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200" b="1" i="0" baseline="30000">
                          <a:solidFill>
                            <a:srgbClr val="1A5276"/>
                          </a:solidFill>
                          <a:latin typeface="Cambria"/>
                        </a:rPr>
                        <a:t>3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r>
                        <a:rPr sz="18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8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200" b="1" i="0" baseline="30000">
                          <a:solidFill>
                            <a:srgbClr val="1A5276"/>
                          </a:solidFill>
                          <a:latin typeface="Cambria"/>
                        </a:rPr>
                        <a:t>3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7,936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4,096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1.9375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64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520,192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262,144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1.9844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256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33,488,896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16,777,216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1.9961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1,024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2,146,435,072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1,073,741,824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i="0">
                          <a:solidFill>
                            <a:srgbClr val="1C252B"/>
                          </a:solidFill>
                          <a:latin typeface="Segoe UI"/>
                        </a:rPr>
                        <a:t>1.9990</a:t>
                      </a:r>
                      <a:endParaRPr sz="18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741011"/>
            <a:ext cx="10234879" cy="7114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 quotient climbs to 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2.0000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and stops.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 → 2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exactly, so 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1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21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with the constant visible: it is 2.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96938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Case 2: the Tie, and Where the Logarithm Comes From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§6.2  ·  Handout p. 51     </a:t>
            </a:r>
            <a:fld id="{5C8E84DB-380D-462E-B4DA-55E87D16E4D1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81195"/>
          </a:xfrm>
          <a:prstGeom prst="roundRect">
            <a:avLst>
              <a:gd name="adj" fmla="val 2087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81195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2993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/2) +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predicted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377033"/>
          <a:ext cx="5001168" cy="17221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64499"/>
                <a:gridCol w="1055267"/>
                <a:gridCol w="1055267"/>
                <a:gridCol w="936881"/>
                <a:gridCol w="989254"/>
              </a:tblGrid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 lg </a:t>
                      </a:r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Segoe UI"/>
                        </a:rPr>
                        <a:t>quotient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 i="0">
                          <a:solidFill>
                            <a:srgbClr val="1A5276"/>
                          </a:solidFill>
                          <a:latin typeface="Cambria"/>
                        </a:rPr>
                        <a:t>1 + 1/lg </a:t>
                      </a:r>
                      <a:r>
                        <a:rPr sz="13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1,024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11,264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10,240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1.1000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1.1000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32,768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524,288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491,520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1.0667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1.0667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262,144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4,980,736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4,718,592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1.0556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1.0556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1,048,576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22,020,096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20,971,520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1.0500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 i="0">
                          <a:solidFill>
                            <a:srgbClr val="1C252B"/>
                          </a:solidFill>
                          <a:latin typeface="Segoe UI"/>
                        </a:rPr>
                        <a:t>1.0500</a:t>
                      </a:r>
                      <a:endParaRPr sz="13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210913"/>
            <a:ext cx="10234879" cy="5529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The quotient is not constant — and that is correct.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It falls steadily from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1.1000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to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1.0500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and the last column says why: it is exactly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1 + 1/lg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, to four decimal places, at every size.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229201"/>
            <a:ext cx="54864" cy="48889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body-3"/>
          <p:cNvSpPr txBox="1"/>
          <p:nvPr/>
        </p:nvSpPr>
        <p:spPr>
          <a:xfrm>
            <a:off x="1042416" y="4829860"/>
            <a:ext cx="10234879" cy="106009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6608"/>
                </a:solidFill>
                <a:latin typeface="Segoe UI"/>
              </a:rPr>
              <a:t>This is worth dwelling on,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because it is the commonest misunderstanding of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does </a:t>
            </a:r>
            <a:r>
              <a:rPr sz="16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say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is constant; it says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g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is eventually trapped between two positive constants. Here it is trapped in 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[1, 1.1]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and converging to 1, which satisfies the definition completely. Chapter 3’s measured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050" b="0" i="0" baseline="30000">
                <a:solidFill>
                  <a:srgbClr val="1C252B"/>
                </a:solidFill>
                <a:latin typeface="Cambria"/>
              </a:rPr>
              <a:t>2.0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 column wandered by 8% for the same reason, and that was noise; this is not noise at all, it is the exact solution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Cambria"/>
              </a:rPr>
              <a:t> + </a:t>
            </a:r>
            <a:r>
              <a:rPr sz="1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4" name="body-3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848148"/>
            <a:ext cx="54864" cy="99608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25291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Case 3: the Root Wins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§6.2  ·  Handout p. 51     </a:t>
            </a:r>
            <a:fld id="{81129E65-DD6B-46F1-B706-82BE101C0E9E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512106"/>
          </a:xfrm>
          <a:prstGeom prst="roundRect">
            <a:avLst>
              <a:gd name="adj" fmla="val 2026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51210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/2) +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, predicted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graphicFrame>
        <p:nvGraphicFramePr>
          <p:cNvPr id="10" name="body-1"/>
          <p:cNvGraphicFramePr>
            <a:graphicFrameLocks noGrp="1"/>
          </p:cNvGraphicFramePr>
          <p:nvPr/>
        </p:nvGraphicFramePr>
        <p:xfrm>
          <a:off x="1042416" y="2422702"/>
          <a:ext cx="3862995" cy="18745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73494"/>
                <a:gridCol w="1786223"/>
                <a:gridCol w="1003278"/>
              </a:tblGrid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1" i="0">
                          <a:solidFill>
                            <a:srgbClr val="1A5276"/>
                          </a:solidFill>
                          <a:latin typeface="Segoe UI"/>
                        </a:rPr>
                        <a:t>work</a:t>
                      </a:r>
                      <a:r>
                        <a:rPr sz="1500" b="1" i="0">
                          <a:solidFill>
                            <a:srgbClr val="1A5276"/>
                          </a:solidFill>
                          <a:latin typeface="Cambria"/>
                        </a:rPr>
                        <a:t>/</a:t>
                      </a:r>
                      <a:r>
                        <a:rPr sz="1500" b="1" i="1">
                          <a:solidFill>
                            <a:srgbClr val="1A5276"/>
                          </a:solidFill>
                          <a:latin typeface="Cambria"/>
                        </a:rPr>
                        <a:t>n</a:t>
                      </a:r>
                      <a:r>
                        <a:rPr sz="1000" b="1" i="0" baseline="30000">
                          <a:solidFill>
                            <a:srgbClr val="1A5276"/>
                          </a:solidFill>
                          <a:latin typeface="Cambria"/>
                        </a:rPr>
                        <a:t>2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1,024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2,096,128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1.9990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32,768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2,147,450,880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2.0000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262,144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137,438,691,328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2.0000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1,048,576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2,199,022,206,976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 i="0">
                          <a:solidFill>
                            <a:srgbClr val="1C252B"/>
                          </a:solidFill>
                          <a:latin typeface="Segoe UI"/>
                        </a:rPr>
                        <a:t>2.0000</a:t>
                      </a:r>
                      <a:endParaRPr sz="15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1" name="body-2"/>
          <p:cNvSpPr txBox="1"/>
          <p:nvPr/>
        </p:nvSpPr>
        <p:spPr>
          <a:xfrm>
            <a:off x="1042416" y="4422952"/>
            <a:ext cx="10234879" cy="6163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ambria"/>
              </a:rPr>
              <a:t>2.0000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to four places, exactly as the geometric series in Step 5 of the previous worked example predicted: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(1 + /12 + /14 + ⋯) → 2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5119268"/>
            <a:ext cx="10234879" cy="9015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And the recurrence executed rather than counted — case 2, timed, median of seven runs — gives ratios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2.14, 2.14, 2.20, 2.17, 2.06, 2.12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against the predicted 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2 + 2/lg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≈ 2.1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 The counting and the clock agree.</a:t>
            </a:r>
          </a:p>
        </p:txBody>
      </p:sp>
      <p:sp>
        <p:nvSpPr>
          <p:cNvPr id="1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3644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Gap: When the Theorem Does Not Apply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DD1DF"/>
                </a:solidFill>
                <a:latin typeface="Segoe UI"/>
              </a:rPr>
              <a:t>SECTION 3 OF 3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6.3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6.1   One Theorem for a Whole Family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6.2   The Theorem, Verified Exactly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6794"/>
                </a:solidFill>
                <a:latin typeface="Segoe UI"/>
              </a:rPr>
              <a:t>6.3   The Gap: When the Theorem Does Not Apply</a:t>
            </a:r>
          </a:p>
        </p:txBody>
      </p:sp>
      <p:sp>
        <p:nvSpPr>
          <p:cNvPr id="9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</a:t>
            </a:r>
          </a:p>
        </p:txBody>
      </p:sp>
      <p:sp>
        <p:nvSpPr>
          <p:cNvPr id="10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§6.3     </a:t>
            </a:r>
            <a:fld id="{67D95704-8DCC-4FA9-A1D1-90B150482F56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1997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Cases 1 and 3 need a polynomial difference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160EBD4F-5C8A-4678-AE81-4A44DA2EE202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715414"/>
          </a:xfrm>
          <a:prstGeom prst="roundRect">
            <a:avLst>
              <a:gd name="adj" fmla="val 5330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715414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Case 1 requires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O(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− ε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case 3 requires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Ω(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5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5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 + ε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with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constant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A function can be smaller than the watershed without being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polynomially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smaller, and then no case applies.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0350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Recurrence in the Gap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1EE44FBC-C66C-4B71-A20F-024BB52B8B4E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090924"/>
          </a:xfrm>
          <a:prstGeom prst="roundRect">
            <a:avLst>
              <a:gd name="adj" fmla="val 2235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09092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1">
                <a:solidFill>
                  <a:srgbClr val="7D6608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) = 2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/2) +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Cambria"/>
              </a:rPr>
              <a:t> lg </a:t>
            </a:r>
            <a:r>
              <a:rPr sz="19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445537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1.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watershed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2879394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2 — which case?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larger than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case 1 is out. Is it case 3? That needs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1+ε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some constant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— that is,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ε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But Chapter 3 proved the reverse: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ε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for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every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So case 3 fails. And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≠ 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so case 2 fails too.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3915537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3 — the verdict.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larger than the watershed, but only by a logarithmic factor, and a logarithm is not a polynomial. </a:t>
            </a:r>
            <a:r>
              <a:rPr sz="1900" b="1" i="0">
                <a:solidFill>
                  <a:srgbClr val="1C252B"/>
                </a:solidFill>
                <a:latin typeface="Segoe UI"/>
              </a:rPr>
              <a:t>The master theorem does not apply.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42416" y="4650536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4 — what to do instead.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Go back to Chapter 5. The recursion tree has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levels; level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holds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</a:t>
            </a:r>
            <a:r>
              <a:rPr sz="1250" b="0" i="1" baseline="30000">
                <a:solidFill>
                  <a:srgbClr val="1C252B"/>
                </a:solidFill>
                <a:latin typeface="Cambria"/>
              </a:rPr>
              <a:t>i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nodes of size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250" b="0" i="1" baseline="30000">
                <a:solidFill>
                  <a:srgbClr val="1C252B"/>
                </a:solidFill>
                <a:latin typeface="Cambria"/>
              </a:rPr>
              <a:t>i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each doing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250" b="0" i="1" baseline="30000">
                <a:solidFill>
                  <a:srgbClr val="1C252B"/>
                </a:solidFill>
                <a:latin typeface="Cambria"/>
              </a:rPr>
              <a:t>i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 lg(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250" b="0" i="1" baseline="30000">
                <a:solidFill>
                  <a:srgbClr val="1C252B"/>
                </a:solidFill>
                <a:latin typeface="Cambria"/>
              </a:rPr>
              <a:t>i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work, so the level totals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lg(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</a:t>
            </a:r>
            <a:r>
              <a:rPr sz="1250" b="0" i="1" baseline="30000">
                <a:solidFill>
                  <a:srgbClr val="1C252B"/>
                </a:solidFill>
                <a:latin typeface="Cambria"/>
              </a:rPr>
              <a:t>i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−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i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Summing: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38702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Recurrence in the Gap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4F2EEFB3-6B85-4637-9881-F9627F664D83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75224"/>
          </a:xfrm>
          <a:prstGeom prst="roundRect">
            <a:avLst>
              <a:gd name="adj" fmla="val 369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7522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9" name="body-0" descr="T(n) = \sum_{i=0}^{\lg n - 1} n(\lg n - i) = n \sum_{j=1}^{\lg n} j = n \cdot \frac{\lg n (\lg n + 1)}{2} = \bigTh{n \lg^{2} n}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416" y="2011679"/>
            <a:ext cx="10234879" cy="890442"/>
          </a:xfrm>
          <a:prstGeom prst="rect">
            <a:avLst/>
          </a:prstGeom>
        </p:spPr>
      </p:pic>
      <p:sp>
        <p:nvSpPr>
          <p:cNvPr id="10" name="body-1"/>
          <p:cNvSpPr txBox="1"/>
          <p:nvPr/>
        </p:nvSpPr>
        <p:spPr>
          <a:xfrm>
            <a:off x="1042416" y="3034837"/>
            <a:ext cx="10234879" cy="949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Step 5 — the moral.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master theorem is a shortcut, not a foundation. When it declines to answer, the recursion tree still works, and it is the tree that told us where the extra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came from.</a:t>
            </a:r>
          </a:p>
        </p:txBody>
      </p:sp>
      <p:sp>
        <p:nvSpPr>
          <p:cNvPr id="11" name="body-1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3053125"/>
            <a:ext cx="54864" cy="8851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7055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 decision procedure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091C3045-625B-4F46-AEF7-42B93D2B3E82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349496"/>
          </a:xfrm>
          <a:prstGeom prst="roundRect">
            <a:avLst>
              <a:gd name="adj" fmla="val 2102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3494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graphicFrame>
        <p:nvGraphicFramePr>
          <p:cNvPr id="9" name="body-0"/>
          <p:cNvGraphicFramePr>
            <a:graphicFrameLocks noGrp="1"/>
          </p:cNvGraphicFramePr>
          <p:nvPr/>
        </p:nvGraphicFramePr>
        <p:xfrm>
          <a:off x="1060704" y="2048255"/>
          <a:ext cx="10161726" cy="372770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715614"/>
                <a:gridCol w="4436810"/>
                <a:gridCol w="5009302"/>
              </a:tblGrid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#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Do this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Then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1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Read off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a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b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a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= number of subproblems,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b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= factor the size shrinks by. Not the same number in general.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2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Compute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w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) =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10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log</a:t>
                      </a:r>
                      <a:r>
                        <a:rPr sz="1100" b="0" i="1" baseline="-25000">
                          <a:solidFill>
                            <a:srgbClr val="1C252B"/>
                          </a:solidFill>
                          <a:latin typeface="Cambria"/>
                        </a:rPr>
                        <a:t>b</a:t>
                      </a:r>
                      <a:r>
                        <a:rPr sz="1100" b="0" i="0" baseline="30000">
                          <a:solidFill>
                            <a:srgbClr val="1C252B"/>
                          </a:solidFill>
                          <a:latin typeface="Cambria"/>
                        </a:rPr>
                        <a:t> </a:t>
                      </a:r>
                      <a:r>
                        <a:rPr sz="1100" b="0" i="1" baseline="30000">
                          <a:solidFill>
                            <a:srgbClr val="1C252B"/>
                          </a:solidFill>
                          <a:latin typeface="Cambria"/>
                        </a:rPr>
                        <a:t>a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This is the leaf count.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3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Compare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with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w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Smaller by a polynomial factor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⇒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case 1. Equal up to constants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⇒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case 2. Larger by a polynomial factor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⇒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case 3.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4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If case 3, check regularity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a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/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b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) ≤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c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(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n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)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c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&lt;1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. It holds for every polynomial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Cambria"/>
                        </a:rPr>
                        <a:t>f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; it can fail for strange ones.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66446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5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If nothing fits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You are in the gap. Use a recursion tree, then substitution.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5408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249C1816-0CEF-45F0-B527-5CC4A389F76B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Comparing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with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instead of with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1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1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1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watershed is almost never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; it is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only when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22576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x1"/>
          <p:cNvSpPr txBox="1"/>
          <p:nvPr/>
        </p:nvSpPr>
        <p:spPr>
          <a:xfrm>
            <a:off x="658368" y="234543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2" name="!!pt1"/>
          <p:cNvSpPr txBox="1"/>
          <p:nvPr/>
        </p:nvSpPr>
        <p:spPr>
          <a:xfrm>
            <a:off x="1261872" y="2304288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Treating a logarithmic difference as polynomial.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versus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not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 case-3 situation, and Chapter 3’s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o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ε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the reason.</a:t>
            </a:r>
          </a:p>
        </p:txBody>
      </p:sp>
      <p:sp>
        <p:nvSpPr>
          <p:cNvPr id="13" name="!!p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62630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x2"/>
          <p:cNvSpPr txBox="1"/>
          <p:nvPr/>
        </p:nvSpPr>
        <p:spPr>
          <a:xfrm>
            <a:off x="658368" y="308549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5" name="!!pt2"/>
          <p:cNvSpPr txBox="1"/>
          <p:nvPr/>
        </p:nvSpPr>
        <p:spPr>
          <a:xfrm>
            <a:off x="1261872" y="3044342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Skipping the regularity condition.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It is part of case 3, not a footnote. It holds for every polynomial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which is why it is easy to forget and occasionally fatal.</a:t>
            </a:r>
          </a:p>
        </p:txBody>
      </p:sp>
      <p:sp>
        <p:nvSpPr>
          <p:cNvPr id="16" name="!!p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02684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x3"/>
          <p:cNvSpPr txBox="1"/>
          <p:nvPr/>
        </p:nvSpPr>
        <p:spPr>
          <a:xfrm>
            <a:off x="658368" y="382554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18" name="!!pt3"/>
          <p:cNvSpPr txBox="1"/>
          <p:nvPr/>
        </p:nvSpPr>
        <p:spPr>
          <a:xfrm>
            <a:off x="1261872" y="3784396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Using it on a non-divide-and-conquer recurrence.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−1)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has no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The theorem says nothing.</a:t>
            </a:r>
          </a:p>
        </p:txBody>
      </p:sp>
      <p:sp>
        <p:nvSpPr>
          <p:cNvPr id="19" name="!!p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42739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px4"/>
          <p:cNvSpPr txBox="1"/>
          <p:nvPr/>
        </p:nvSpPr>
        <p:spPr>
          <a:xfrm>
            <a:off x="658368" y="456559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1" name="!!pt4"/>
          <p:cNvSpPr txBox="1"/>
          <p:nvPr/>
        </p:nvSpPr>
        <p:spPr>
          <a:xfrm>
            <a:off x="1261872" y="4524451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Using it when the subproblems have different sizes.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/3)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(2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/3)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not of the form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aT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; Chapter 5 handled it by tree.</a:t>
            </a:r>
          </a:p>
        </p:txBody>
      </p:sp>
      <p:sp>
        <p:nvSpPr>
          <p:cNvPr id="22" name="!!p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82793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x5"/>
          <p:cNvSpPr txBox="1"/>
          <p:nvPr/>
        </p:nvSpPr>
        <p:spPr>
          <a:xfrm>
            <a:off x="658368" y="5305653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24" name="!!pt5"/>
          <p:cNvSpPr txBox="1"/>
          <p:nvPr/>
        </p:nvSpPr>
        <p:spPr>
          <a:xfrm>
            <a:off x="1261872" y="5264505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Reading case 2’s </a:t>
            </a:r>
            <a:r>
              <a:rPr sz="1700" b="1" i="0">
                <a:solidFill>
                  <a:srgbClr val="1C252B"/>
                </a:solidFill>
                <a:latin typeface="Cambria"/>
              </a:rPr>
              <a:t>Θ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as “the quotient is constant”.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The measured quotient fell from 1.1000 to 1.0500 and the bound is still exactly right.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23761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Common pitfalls (continued)</a:t>
            </a:r>
          </a:p>
        </p:txBody>
      </p:sp>
      <p:pic>
        <p:nvPicPr>
          <p:cNvPr id="3" name="!!kicker-icon" descr="exclamation-circ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2672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COMMON PITFALLS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4D3FD338-8677-4524-811D-8C44A89A995A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7" name="!!p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365760" cy="365760"/>
          </a:xfrm>
          <a:prstGeom prst="ellipse">
            <a:avLst/>
          </a:prstGeom>
          <a:solidFill>
            <a:srgbClr val="FC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px0"/>
          <p:cNvSpPr txBox="1"/>
          <p:nvPr/>
        </p:nvSpPr>
        <p:spPr>
          <a:xfrm>
            <a:off x="658368" y="177850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4C3C"/>
                </a:solidFill>
                <a:latin typeface="Segoe UI"/>
              </a:rPr>
              <a:t>✕</a:t>
            </a:r>
          </a:p>
        </p:txBody>
      </p:sp>
      <p:sp>
        <p:nvSpPr>
          <p:cNvPr id="9" name="!!pt0"/>
          <p:cNvSpPr txBox="1"/>
          <p:nvPr/>
        </p:nvSpPr>
        <p:spPr>
          <a:xfrm>
            <a:off x="1261872" y="1737360"/>
            <a:ext cx="10271455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A93226"/>
                </a:solidFill>
                <a:latin typeface="Segoe UI"/>
              </a:rPr>
              <a:t>Forgetting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a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and </a:t>
            </a:r>
            <a:r>
              <a:rPr sz="1700" b="1" i="1">
                <a:solidFill>
                  <a:srgbClr val="1C252B"/>
                </a:solidFill>
                <a:latin typeface="Cambria"/>
              </a:rPr>
              <a:t>b</a:t>
            </a:r>
            <a:r>
              <a:rPr sz="1700" b="1" i="0">
                <a:solidFill>
                  <a:srgbClr val="1C252B"/>
                </a:solidFill>
                <a:latin typeface="Segoe UI"/>
              </a:rPr>
              <a:t> must be constants.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 recurrence whose branching factor depends on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outside the theorem entirely.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2113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1B9097CA-E8ED-4FD0-A127-62F07CD8369A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Reproduces all four tables. Expect twenty-five minutes.</a:t>
            </a:r>
          </a:p>
        </p:txBody>
      </p:sp>
      <p:sp>
        <p:nvSpPr>
          <p:cNvPr id="8" name="!!labsteps-h"/>
          <p:cNvSpPr txBox="1"/>
          <p:nvPr/>
        </p:nvSpPr>
        <p:spPr>
          <a:xfrm>
            <a:off x="658368" y="23652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E6655"/>
                </a:solidFill>
                <a:latin typeface="Segoe UI"/>
              </a:rPr>
              <a:t>WHAT YOU WILL DO</a:t>
            </a:r>
          </a:p>
        </p:txBody>
      </p:sp>
      <p:sp>
        <p:nvSpPr>
          <p:cNvPr id="9" name="!!labsteps"/>
          <p:cNvSpPr txBox="1"/>
          <p:nvPr/>
        </p:nvSpPr>
        <p:spPr>
          <a:xfrm>
            <a:off x="658368" y="2749296"/>
            <a:ext cx="10874959" cy="2164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1.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Count the work each recurrence prescribes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2.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Work that cannot be optimised away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3.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Case 1: the leaves dominate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4.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Case 2: the tie, where the logarithm comes from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5.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Case 3: the root dominates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6.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The regularity condition case 3 needs</a:t>
            </a:r>
          </a:p>
          <a:p>
            <a:pPr algn="l" marL="404250" indent="-4042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7A65"/>
                </a:solidFill>
                <a:latin typeface="Segoe UI"/>
              </a:rPr>
              <a:t>7.	</a:t>
            </a:r>
            <a:r>
              <a:rPr sz="1600" b="0" i="0">
                <a:solidFill>
                  <a:srgbClr val="1C252B"/>
                </a:solidFill>
                <a:latin typeface="Segoe UI"/>
              </a:rPr>
              <a:t>And the same recurrence, timed</a:t>
            </a:r>
          </a:p>
        </p:txBody>
      </p:sp>
      <p:sp>
        <p:nvSpPr>
          <p:cNvPr id="39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lflTHIS"/>
          <p:cNvSpPr txBox="1"/>
          <p:nvPr/>
        </p:nvSpPr>
        <p:spPr>
          <a:xfrm>
            <a:off x="932688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42" name="!!lfvTHIS"/>
          <p:cNvSpPr txBox="1"/>
          <p:nvPr/>
        </p:nvSpPr>
        <p:spPr>
          <a:xfrm>
            <a:off x="932688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252B"/>
                </a:solidFill>
                <a:latin typeface="Segoe UI"/>
              </a:rPr>
              <a:t>Week 4: Recursion trees against measured depth and cost</a:t>
            </a:r>
          </a:p>
        </p:txBody>
      </p:sp>
      <p:sp>
        <p:nvSpPr>
          <p:cNvPr id="43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4794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lflWHAT"/>
          <p:cNvSpPr txBox="1"/>
          <p:nvPr/>
        </p:nvSpPr>
        <p:spPr>
          <a:xfrm>
            <a:off x="4649114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46" name="!!lfvWHAT"/>
          <p:cNvSpPr txBox="1"/>
          <p:nvPr/>
        </p:nvSpPr>
        <p:spPr>
          <a:xfrm>
            <a:off x="4649114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54 lines of C++</a:t>
            </a:r>
          </a:p>
        </p:txBody>
      </p:sp>
      <p:sp>
        <p:nvSpPr>
          <p:cNvPr id="47" name="!!lf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3442106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lfbRUN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1220" y="5212080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lflRUNN"/>
          <p:cNvSpPr txBox="1"/>
          <p:nvPr/>
        </p:nvSpPr>
        <p:spPr>
          <a:xfrm>
            <a:off x="8365540" y="5376672"/>
            <a:ext cx="303062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RUNNABLE COPY</a:t>
            </a:r>
          </a:p>
        </p:txBody>
      </p:sp>
      <p:sp>
        <p:nvSpPr>
          <p:cNvPr id="50" name="!!lfvRUNN"/>
          <p:cNvSpPr txBox="1"/>
          <p:nvPr/>
        </p:nvSpPr>
        <p:spPr>
          <a:xfrm>
            <a:off x="8365540" y="5669280"/>
            <a:ext cx="30306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Consolas"/>
              </a:rPr>
              <a:t>code/ch06_master.cpp</a:t>
            </a:r>
          </a:p>
        </p:txBody>
      </p:sp>
      <p:sp>
        <p:nvSpPr>
          <p:cNvPr id="5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0466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7846D8FA-4CDD-4FE1-8FA9-BD2885974670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Count the work each recurrence prescribes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169663"/>
          </a:xfrm>
          <a:prstGeom prst="roundRect">
            <a:avLst>
              <a:gd name="adj" fmla="val 2192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code/ch06_master.cpp</a:t>
            </a:r>
          </a:p>
        </p:txBody>
      </p:sp>
      <p:sp>
        <p:nvSpPr>
          <p:cNvPr id="14" name="!!code-text" descr="// ch06_master.cpp -- the master theorem's three cases, verified. // Build: cl /O2 /EHsc /std:c++17 ch06_master.cpp (see Appendix A) // --- 1. Count the work each recurrence prescribes ------------------ // No timing, no hardware, no noise: just the sum the recurrence // defines. Exact, deterministic, and the same on every machine. static long long c1(long long n) { // 8T(n/2) + n^2 if (n &lt;= 1) return 1; return n * n + 8 * c1(n / 2); } static long long c2(long long n) { // 2T(n/2) + n if (n &lt;= 1) return 1; return n + c2(n / 2) + c2(n - n / 2); } static long long c3(long long n) { // 2T(n/2) + n^2 if (n &lt;= 1) return 1; return n * n + c3(n / 2) + c3(n - n / 2); }"/>
          <p:cNvSpPr txBox="1"/>
          <p:nvPr/>
        </p:nvSpPr>
        <p:spPr>
          <a:xfrm>
            <a:off x="1362456" y="2523744"/>
            <a:ext cx="9987991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ch06_master.cpp -- the master theorem's three cases, verified.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Build: cl /O2 /EHsc /std:c++17 ch06_master.cpp    (see Appendix A)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--- 1. Count the work each recurrence prescribes 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No timing, no hardware, no noise: just the sum the recurrence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1">
                <a:solidFill>
                  <a:srgbClr val="8795A1"/>
                </a:solidFill>
                <a:latin typeface="Consolas"/>
              </a:rPr>
              <a:t>// defines. Exact, deterministic, and the same on every machine.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c1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              </a:t>
            </a:r>
            <a:r>
              <a:rPr sz="1300" i="1">
                <a:solidFill>
                  <a:srgbClr val="8795A1"/>
                </a:solidFill>
                <a:latin typeface="Consolas"/>
              </a:rPr>
              <a:t>// 8T(n/2) + n^2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*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8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*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c1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/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2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c2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              </a:t>
            </a:r>
            <a:r>
              <a:rPr sz="1300" i="1">
                <a:solidFill>
                  <a:srgbClr val="8795A1"/>
                </a:solidFill>
                <a:latin typeface="Consolas"/>
              </a:rPr>
              <a:t>// 2T(n/2) + 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c2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/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2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c2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-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/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2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c3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long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              </a:t>
            </a:r>
            <a:r>
              <a:rPr sz="1300" i="1">
                <a:solidFill>
                  <a:srgbClr val="8795A1"/>
                </a:solidFill>
                <a:latin typeface="Consolas"/>
              </a:rPr>
              <a:t>// 2T(n/2) + n^2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&lt;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*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c3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/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2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+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c3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-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/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2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6758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8819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18554793-3DF4-40E6-9568-1F33C61333C6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Work that cannot be optimised away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3499103"/>
          </a:xfrm>
          <a:prstGeom prst="roundRect">
            <a:avLst>
              <a:gd name="adj" fmla="val 2613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code/ch06_master.cpp</a:t>
            </a:r>
          </a:p>
        </p:txBody>
      </p:sp>
      <p:sp>
        <p:nvSpPr>
          <p:cNvPr id="14" name="!!code-text" descr="// --- 2. Work that cannot be optimised away ------------------------- // For the timing part only. Each unit is a cheap arithmetic step // folded into an accumulator that escapes to a volatile, so the loop // must actually be performed. static inline unsigned long long burn(long long units) { unsigned long long h = 1469598103934665603ULL; for (long long i = 0; i &lt; units; ++i) h = (h ^ (unsigned long long)i) * 1099511628211ULL; return h; }"/>
          <p:cNvSpPr txBox="1"/>
          <p:nvPr/>
        </p:nvSpPr>
        <p:spPr>
          <a:xfrm>
            <a:off x="1362456" y="2523744"/>
            <a:ext cx="9987991" cy="30053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--- 2. Work that cannot be optimised away 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For the timing part only. Each unit is a cheap arithmetic step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folded into an accumulator that escapes to a volatile, so the loop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must actually be performed.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5DADE2"/>
                </a:solidFill>
                <a:latin typeface="Consolas"/>
              </a:rPr>
              <a:t>static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inline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C39BD3"/>
                </a:solidFill>
                <a:latin typeface="Consolas"/>
              </a:rPr>
              <a:t>burn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units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h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1469598103934665603ULL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for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0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&lt;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units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AEB6BF"/>
                </a:solidFill>
                <a:latin typeface="Consolas"/>
              </a:rPr>
              <a:t>+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900" i="0">
                <a:solidFill>
                  <a:srgbClr val="E8EDF2"/>
                </a:solidFill>
                <a:latin typeface="Consolas"/>
              </a:rPr>
              <a:t>h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=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h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^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unsigned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long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i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1099511628211ULL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</a:t>
            </a:r>
            <a:r>
              <a:rPr sz="19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h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0053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29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71722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3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B805EC19-06AE-4CB2-8250-4B2B319DFA76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Case 1: the leaves dominate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761743"/>
          </a:xfrm>
          <a:prstGeom prst="roundRect">
            <a:avLst>
              <a:gd name="adj" fmla="val 5190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code/ch06_master.cpp</a:t>
            </a:r>
          </a:p>
        </p:txBody>
      </p:sp>
      <p:sp>
        <p:nvSpPr>
          <p:cNvPr id="14" name="!!code-text" descr="// --- 3. Case 1: the leaves dominate -------------------------------- // n^(log_2 8) = n^3 beats n^2, so T = Theta(n^3), work/n^3 flat. counted(&quot;A. Case 1: T(n) = 8T(n/2) + n^2 -&gt; Theta(n^3)&quot;, c1, &quot;n^3&quot;, [](double n) { return n * n * n; }, 16, 1024);"/>
          <p:cNvSpPr txBox="1"/>
          <p:nvPr/>
        </p:nvSpPr>
        <p:spPr>
          <a:xfrm>
            <a:off x="1362456" y="2523744"/>
            <a:ext cx="9987991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--- 3. Case 1: the leaves dominate 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n^(log_2 8) = n^3 beats n^2, so T = Theta(n^3), work/n^3 flat.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counted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A. Case 1:  T(n) = 8T(n/2) + n^2  -&gt;  Theta(n^3)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c1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n^3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16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1024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267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31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32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65525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4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96DB9F1D-90C6-4367-BBF3-12896C4EF99D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Case 2: the tie, where the logarithm comes from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340863"/>
          </a:xfrm>
          <a:prstGeom prst="roundRect">
            <a:avLst>
              <a:gd name="adj" fmla="val 3906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code/ch06_master.cpp</a:t>
            </a:r>
          </a:p>
        </p:txBody>
      </p:sp>
      <p:sp>
        <p:nvSpPr>
          <p:cNvPr id="14" name="!!code-text" descr="// --- 4. Case 2: the tie, where the logarithm comes from ------------ // n^(log_2 2) = n equals f(n) = n: neither dominates, every level // does the same work, and the number of levels is lg n. counted(&quot;B. Case 2: T(n) = 2T(n/2) + n -&gt; Theta(n lg n)&quot;, c2, &quot;n lg n&quot;, [](double n) { return n * std::log2(n); }, 1024, 1048576);"/>
          <p:cNvSpPr txBox="1"/>
          <p:nvPr/>
        </p:nvSpPr>
        <p:spPr>
          <a:xfrm>
            <a:off x="1362456" y="2523744"/>
            <a:ext cx="9987991" cy="1847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--- 4. Case 2: the tie, where the logarithm comes from 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n^(log_2 2) = n equals f(n) = n: neither dominates, every level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does the same work, and the number of levels is lg n.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counted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B. Case 2:  T(n) = 2T(n/2) + n  -&gt;  Theta(n lg n)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c2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n lg n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C39BD3"/>
                </a:solidFill>
                <a:latin typeface="Consolas"/>
              </a:rPr>
              <a:t>std::log2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1024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1048576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8470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37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38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39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938778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5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240CCAA4-B137-4F3C-9DEA-5EA2FCA9CB42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Case 3: the root dominates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2051303"/>
          </a:xfrm>
          <a:prstGeom prst="roundRect">
            <a:avLst>
              <a:gd name="adj" fmla="val 445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code/ch06_master.cpp</a:t>
            </a:r>
          </a:p>
        </p:txBody>
      </p:sp>
      <p:sp>
        <p:nvSpPr>
          <p:cNvPr id="14" name="!!code-text" descr="// --- 5. Case 3: the root dominates --------------------------------- // n^(log_2 2) = n loses to n^2, so T = Theta(n^2). The recursion is // nearly free and the top call is the cost. counted(&quot;C. Case 3: T(n) = 2T(n/2) + n^2 -&gt; Theta(n^2)&quot;, c3, &quot;n^2&quot;, [](double n) { return n * n; }, 1024, 1048576);"/>
          <p:cNvSpPr txBox="1"/>
          <p:nvPr/>
        </p:nvSpPr>
        <p:spPr>
          <a:xfrm>
            <a:off x="1362456" y="2523744"/>
            <a:ext cx="9987991" cy="1557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--- 5. Case 3: the root dominates ---------------------------------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n^(log_2 2) = n loses to n^2, so T = Theta(n^2). The recursion is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nearly free and the top call is the cost.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counted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C. Case 3:  T(n) = 2T(n/2) + n^2  -&gt;  Theta(n^2)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c3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7DCEA0"/>
                </a:solidFill>
                <a:latin typeface="Consolas"/>
              </a:rPr>
              <a:t>n^2</a:t>
            </a:r>
            <a:r>
              <a:rPr sz="1900" i="0">
                <a:solidFill>
                  <a:srgbClr val="7DCEA0"/>
                </a:solidFill>
                <a:latin typeface="Consolas"/>
              </a:rPr>
              <a:t>"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900" i="0">
                <a:solidFill>
                  <a:srgbClr val="AEB6BF"/>
                </a:solidFill>
                <a:latin typeface="Consolas"/>
              </a:rPr>
              <a:t>[</a:t>
            </a:r>
            <a:r>
              <a:rPr sz="1900" i="0">
                <a:solidFill>
                  <a:srgbClr val="AEB6BF"/>
                </a:solidFill>
                <a:latin typeface="Consolas"/>
              </a:rPr>
              <a:t>]</a:t>
            </a:r>
            <a:r>
              <a:rPr sz="1900" i="0">
                <a:solidFill>
                  <a:srgbClr val="AEB6BF"/>
                </a:solidFill>
                <a:latin typeface="Consolas"/>
              </a:rPr>
              <a:t>(</a:t>
            </a:r>
            <a:r>
              <a:rPr sz="1900" i="0">
                <a:solidFill>
                  <a:srgbClr val="5DADE2"/>
                </a:solidFill>
                <a:latin typeface="Consolas"/>
              </a:rPr>
              <a:t>double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{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5DADE2"/>
                </a:solidFill>
                <a:latin typeface="Consolas"/>
              </a:rPr>
              <a:t>return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*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E8EDF2"/>
                </a:solidFill>
                <a:latin typeface="Consolas"/>
              </a:rPr>
              <a:t>n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AEB6BF"/>
                </a:solidFill>
                <a:latin typeface="Consolas"/>
              </a:rPr>
              <a:t>}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1024</a:t>
            </a:r>
            <a:r>
              <a:rPr sz="1900" i="0">
                <a:solidFill>
                  <a:srgbClr val="AEB6BF"/>
                </a:solidFill>
                <a:latin typeface="Consolas"/>
              </a:rPr>
              <a:t>,</a:t>
            </a:r>
            <a:r>
              <a:rPr sz="1900" i="0">
                <a:solidFill>
                  <a:srgbClr val="E8EDF2"/>
                </a:solidFill>
                <a:latin typeface="Consolas"/>
              </a:rPr>
              <a:t> </a:t>
            </a:r>
            <a:r>
              <a:rPr sz="1900" i="0">
                <a:solidFill>
                  <a:srgbClr val="F7DC6F"/>
                </a:solidFill>
                <a:latin typeface="Consolas"/>
              </a:rPr>
              <a:t>1048576</a:t>
            </a:r>
            <a:r>
              <a:rPr sz="1900" i="0">
                <a:solidFill>
                  <a:srgbClr val="AEB6BF"/>
                </a:solidFill>
                <a:latin typeface="Consolas"/>
              </a:rPr>
              <a:t>)</a:t>
            </a:r>
            <a:r>
              <a:rPr sz="1900" i="0">
                <a:solidFill>
                  <a:srgbClr val="AEB6BF"/>
                </a:solidFill>
                <a:latin typeface="Consolas"/>
              </a:rPr>
              <a:t>;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1557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44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45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46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47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22230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6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104D1F64-0C56-4AB1-8538-EA1F4A251F08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The regularity condition case 3 needs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472184"/>
          </a:xfrm>
          <a:prstGeom prst="roundRect">
            <a:avLst>
              <a:gd name="adj" fmla="val 621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code/ch06_master.cpp</a:t>
            </a:r>
          </a:p>
        </p:txBody>
      </p:sp>
      <p:sp>
        <p:nvSpPr>
          <p:cNvPr id="14" name="!!code-text" descr="// --- 6. The regularity condition case 3 needs ---------------------- // a*f(n/b) &lt;= c*f(n) for some c &lt; 1. For f(n)=n^2, a=2, b=2: // 2(n/2)^2 = n^2/2, so c = 1/2. Print the check, do not assert it."/>
          <p:cNvSpPr txBox="1"/>
          <p:nvPr/>
        </p:nvSpPr>
        <p:spPr>
          <a:xfrm>
            <a:off x="1362456" y="2523744"/>
            <a:ext cx="9987991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--- 6. The regularity condition case 3 needs 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a*f(n/b) &lt;= c*f(n) for some c &lt; 1. For f(n)=n^2, a=2, b=2: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2(n/2)^2 = n^2/2, so c = 1/2. Print the check, do not assert it.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9784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49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50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51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505833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The Three Cases, Counted and Timed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7 OF 7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57E565BB-2336-475F-A83B-E972A0A95361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And the same recurrence, timed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1182624"/>
          </a:xfrm>
          <a:prstGeom prst="roundRect">
            <a:avLst>
              <a:gd name="adj" fmla="val 7731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C++  ·  code/ch06_master.cpp</a:t>
            </a:r>
          </a:p>
        </p:txBody>
      </p:sp>
      <p:sp>
        <p:nvSpPr>
          <p:cNvPr id="14" name="!!code-text" descr="// --- 7. And the same recurrence, timed ----------------------------- // Case 2 only, where timing behaves. Predicted ratio 2 + 2/lg n."/>
          <p:cNvSpPr txBox="1"/>
          <p:nvPr/>
        </p:nvSpPr>
        <p:spPr>
          <a:xfrm>
            <a:off x="1362456" y="2523744"/>
            <a:ext cx="9987991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--- 7. And the same recurrence, timed -----------------------------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i="1">
                <a:solidFill>
                  <a:srgbClr val="8795A1"/>
                </a:solidFill>
                <a:latin typeface="Consolas"/>
              </a:rPr>
              <a:t>// Case 2 only, where timing behaves. Predicted ratio 2 + 2/lg n.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68884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53</a:t>
            </a:r>
          </a:p>
          <a:p>
            <a:pPr algn="r">
              <a:lnSpc>
                <a:spcPct val="100000"/>
              </a:lnSpc>
            </a:pPr>
            <a:r>
              <a:rPr sz="1900">
                <a:solidFill>
                  <a:srgbClr val="4F5D6A"/>
                </a:solidFill>
                <a:latin typeface="Consolas"/>
              </a:rPr>
              <a:t>54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78936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§6.3  ·  Handout p. 52     </a:t>
            </a:r>
            <a:fld id="{37C7E38B-88AF-4115-8FA7-8DC1878E208E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698773"/>
          </a:xfrm>
          <a:prstGeom prst="roundRect">
            <a:avLst>
              <a:gd name="adj" fmla="val 2472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6987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What to notice.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In part B, compare the quotient column against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1 + 1/lg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computed by hand. They agree to four decimal places, which means you are not looking at an approximation — you are looking at the exact solution of the recurrence, and the master theorem’s 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 a true but deliberately lossy summary of it.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403161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Then try to break it.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Add a fourth recurrence,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) = 2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/2) +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, and divide its work by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 lg</a:t>
            </a:r>
            <a:r>
              <a:rPr sz="15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The master theorem cannot touch it, and the quotient should still settle — which is the point of Section 6.3.</a:t>
            </a:r>
          </a:p>
        </p:txBody>
      </p:sp>
      <p:sp>
        <p:nvSpPr>
          <p:cNvPr id="1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07288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Apply the master theorem to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 = 4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/2) +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 State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a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b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f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, the watershed, the case and the bound.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55  ·  answers in Appendix D     </a:t>
            </a:r>
            <a:fld id="{316EE1D2-6E9C-4A6F-8585-E78F1E3E20FF}" type="slidenum">
              <a:rPr lang="en-GB" sz="1000">
                <a:solidFill>
                  <a:srgbClr val="D5DEE5"/>
                </a:solidFill>
                <a:latin typeface="Segoe UI"/>
              </a:rPr>
              <a:t>33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Apply the master theorem to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 = 4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/2) +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. State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a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b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f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, the watershed, the case and the bound.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69738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4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Watershed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4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Since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2−ε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with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ε = 1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this is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case 1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The leaves dominate; the combining work is irrelevant.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55  ·  answers in Appendix D     </a:t>
            </a:r>
            <a:fld id="{D60113B1-6D06-49AF-A155-3A364CCE1BB9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63994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) = 2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T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(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/2) +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/lg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. Which case applies? Justify your answer.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55  ·  answers in Appendix D     </a:t>
            </a:r>
            <a:fld id="{0599FD2D-A605-4706-8023-88A334069F23}" type="slidenum">
              <a:rPr lang="en-GB" sz="1000">
                <a:solidFill>
                  <a:srgbClr val="D5DEE5"/>
                </a:solidFill>
                <a:latin typeface="Segoe UI"/>
              </a:rPr>
              <a:t>35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) = 2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T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(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/2) +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/lg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. Which case applies? Justify your answer.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6B9A"/>
                </a:solidFill>
                <a:latin typeface="Segoe UI"/>
              </a:rPr>
              <a:t>None.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Watershed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450" b="0" i="0" baseline="-25000">
                <a:solidFill>
                  <a:srgbClr val="1C252B"/>
                </a:solidFill>
                <a:latin typeface="Cambria"/>
              </a:rPr>
              <a:t>2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and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smaller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than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— but only by a logarithmic factor, and case 1 needs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O(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1−ε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for a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constant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ε &gt; 0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Since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/lg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ω(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450" b="0" i="0" baseline="30000">
                <a:solidFill>
                  <a:srgbClr val="1C252B"/>
                </a:solidFill>
                <a:latin typeface="Cambria"/>
              </a:rPr>
              <a:t>1−ε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for every such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ε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no case applies. (A recursion tree gives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lg 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.)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55  ·  answers in Appendix D     </a:t>
            </a:r>
            <a:fld id="{70570543-34CB-4F94-B888-31F0F9AF376F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207000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Explain, in terms of the recursion tree, why case 2 is the only one of the three that produces a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lg </a:t>
            </a:r>
            <a:r>
              <a:rPr sz="3400" b="0" i="1">
                <a:solidFill>
                  <a:srgbClr val="FFFFFF"/>
                </a:solidFill>
                <a:latin typeface="Cambria"/>
              </a:rPr>
              <a:t>n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factor.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55  ·  answers in Appendix D     </a:t>
            </a:r>
            <a:fld id="{F66CFECB-010B-4BAD-9BC0-6EAD22938337}" type="slidenum">
              <a:rPr lang="en-GB" sz="1000">
                <a:solidFill>
                  <a:srgbClr val="D5DEE5"/>
                </a:solidFill>
                <a:latin typeface="Segoe UI"/>
              </a:rPr>
              <a:t>37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Explain, in terms of the recursion tree, why case 2 is the only one of the three that produces a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lg </a:t>
            </a:r>
            <a:r>
              <a:rPr sz="2400" b="0" i="1">
                <a:solidFill>
                  <a:srgbClr val="1A5276"/>
                </a:solidFill>
                <a:latin typeface="Cambria"/>
              </a:rPr>
              <a:t>n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factor.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1743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17891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In case 2 every level of the tree does the same total work, so the total is (work per level)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×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(number of levels), and the number of levels is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lg</a:t>
            </a:r>
            <a:r>
              <a:rPr sz="145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 = Θ(lg </a:t>
            </a:r>
            <a:r>
              <a:rPr sz="22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. In case 1 the work grows geometrically towards the leaves and the last level dominates; in case 3 it shrinks geometrically and the root dominates. Only a tie makes every level count, and counting levels is where a logarithm comes from.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55  ·  answers in Appendix D     </a:t>
            </a:r>
            <a:fld id="{D5A56612-52D9-40F4-9F1C-BF4DE59B4059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774056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55     </a:t>
            </a:r>
            <a:fld id="{7C6BD3C3-14C3-4D36-B0B2-4BDBC70A6EE6}" type="slidenum">
              <a:rPr lang="en-GB" sz="1000">
                <a:solidFill>
                  <a:srgbClr val="8795A1"/>
                </a:solidFill>
                <a:latin typeface="Segoe UI"/>
              </a:rPr>
              <a:t>39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For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aT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b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 +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the master theorem compares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with the watershed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— the work at the root against the work at the leaves.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27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52313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45912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Case 1 (leaves win):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Case 2 (tie):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 Case 3 (root wins, plus regularity):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348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10835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04434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appears because the tree has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a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 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10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10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leaves.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3870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69356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629558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Cases 1 and 3 need a </a:t>
            </a:r>
            <a:r>
              <a:rPr sz="1700" b="0" i="1">
                <a:solidFill>
                  <a:srgbClr val="1C252B"/>
                </a:solidFill>
                <a:latin typeface="Segoe UI"/>
              </a:rPr>
              <a:t>polynomial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gap.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against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is not one, so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)=2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/2)+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falls in the gap — its true answer,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, comes from a recursion tree.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604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4153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351324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Measured exactly: case 1’s work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and case 3’s work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1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both converge to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2.0000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; case 2’s work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/(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falls from 1.1000 to 1.0500, matching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1 + 1/lg </a:t>
            </a:r>
            <a:r>
              <a:rPr sz="17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to four decimal places.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8223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137099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073091"/>
            <a:ext cx="10234879" cy="5388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That falling quotient is not a failure of the bound. </a:t>
            </a:r>
            <a:r>
              <a:rPr sz="1700" b="0" i="0">
                <a:solidFill>
                  <a:srgbClr val="1C252B"/>
                </a:solidFill>
                <a:latin typeface="Cambria"/>
              </a:rPr>
              <a:t>Θ</a:t>
            </a:r>
            <a:r>
              <a:rPr sz="1700" b="0" i="0">
                <a:solidFill>
                  <a:srgbClr val="1C252B"/>
                </a:solidFill>
                <a:latin typeface="Segoe UI"/>
              </a:rPr>
              <a:t> requires the ratio to be trapped between constants, not to be constant.</a:t>
            </a:r>
          </a:p>
        </p:txBody>
      </p:sp>
      <p:sp>
        <p:nvSpPr>
          <p:cNvPr id="25" name="!!sb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80400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sbn6"/>
          <p:cNvSpPr txBox="1"/>
          <p:nvPr/>
        </p:nvSpPr>
        <p:spPr>
          <a:xfrm>
            <a:off x="658368" y="5858865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27" name="!!st6"/>
          <p:cNvSpPr txBox="1"/>
          <p:nvPr/>
        </p:nvSpPr>
        <p:spPr>
          <a:xfrm>
            <a:off x="1298448" y="5794857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theorem is a shortcut. When it declines, recursion trees and substitution still work.</a:t>
            </a:r>
          </a:p>
        </p:txBody>
      </p:sp>
      <p:sp>
        <p:nvSpPr>
          <p:cNvPr id="8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057584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4" dur="2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55     </a:t>
            </a:r>
            <a:fld id="{886016E9-FCC3-4977-9F23-7B202BE04BDA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For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) = 9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Cambria"/>
              </a:rPr>
              <a:t>/3) + </a:t>
            </a:r>
            <a:r>
              <a:rPr sz="26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600" b="0" i="0">
                <a:solidFill>
                  <a:srgbClr val="1C252B"/>
                </a:solidFill>
                <a:latin typeface="Segoe UI"/>
              </a:rPr>
              <a:t>, the watershed function is: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300" b="0" i="0" baseline="30000">
                <a:solidFill>
                  <a:srgbClr val="1C252B"/>
                </a:solidFill>
                <a:latin typeface="Cambria"/>
              </a:rPr>
              <a:t>3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20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/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41111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55     </a:t>
            </a:r>
            <a:fld id="{66C63085-0057-46FF-8F55-14CC8209BE32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The regularity condition is required by: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case 1 only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case 2 only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case 3 only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all three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24639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55     </a:t>
            </a:r>
            <a:fld id="{93F72DEA-6AB5-4615-91CD-6EA5FEB82DB2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why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log</a:t>
            </a:r>
            <a:r>
              <a:rPr sz="1250" b="0" i="1" baseline="-25000">
                <a:solidFill>
                  <a:srgbClr val="1C252B"/>
                </a:solidFill>
                <a:latin typeface="Cambria"/>
              </a:rPr>
              <a:t>b</a:t>
            </a:r>
            <a:r>
              <a:rPr sz="1250" b="0" i="1" baseline="30000">
                <a:solidFill>
                  <a:srgbClr val="1C252B"/>
                </a:solidFill>
                <a:latin typeface="Cambria"/>
              </a:rPr>
              <a:t>a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the right thing to compare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f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against, in terms of the recursion tree.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Give a recurrence the master theorem cannot solve, and say which condition fails.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798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13913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079699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Binary search and merge sort fall into the same case of the theorem. State the case and explain how one gives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and the other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727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39608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3901440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Strassen’s algorithm satisfies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7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/2) + 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Solve it, compare with the naive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8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/2) + Θ(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250" b="0" i="0" baseline="30000">
                <a:solidFill>
                  <a:srgbClr val="1C252B"/>
                </a:solidFill>
                <a:latin typeface="Cambria"/>
              </a:rPr>
              <a:t>2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say at what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a factor-of-two constant penalty on Strassen would be repaid.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42611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5083759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5024323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The measured case-2 quotient was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 + 1/lg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exactly. Derive that from the exact solution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+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and say what the quotient would be for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T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(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) =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 lg 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 + 3</a:t>
            </a:r>
            <a:r>
              <a:rPr sz="19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08167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7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5739D"/>
                </a:solidFill>
                <a:latin typeface="Segoe UI Black"/>
              </a:rPr>
              <a:t>06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6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7 — Brute Force, and When It Is the Right Answer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6, pages 49–55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B5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BC5D6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Recursion trees against measured depth and cost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Analysis of Algorithms  ·  Chapter 6  ·  Recurrences II: The Master Theorem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31B47C9E-427E-44D4-953E-4B739B494214}" type="slidenum">
              <a:rPr lang="en-GB" sz="1000">
                <a:solidFill>
                  <a:srgbClr val="D5DEE5"/>
                </a:solidFill>
                <a:latin typeface="Segoe UI"/>
              </a:rPr>
              <a:t>43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nalysis of Algorithms Fall 2026">
  <a:themeElements>
    <a:clrScheme name="Analysis of Algorithms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nalysis of Algorithms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Recurrences II: The Master Theorem</dc:title>
  <dc:subject>Analysis of Algorithms — Design, Proof and Measurement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