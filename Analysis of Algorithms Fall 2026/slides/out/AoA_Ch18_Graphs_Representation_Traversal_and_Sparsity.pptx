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E304751-BE47-4B73-920F-75C32207AE2C}">
          <p14:sldIdLst>
            <p14:sldId id="256"/>
            <p14:sldId id="257"/>
            <p14:sldId id="258"/>
            <p14:sldId id="259"/>
            <p14:sldId id="260"/>
          </p14:sldIdLst>
        </p14:section>
        <p14:section name="18.1 Why Every Bound Here Has Two Parameters" id="{7B75F664-16F9-4935-B7C6-80218EEDFDA7}">
          <p14:sldIdLst>
            <p14:sldId id="261"/>
            <p14:sldId id="262"/>
            <p14:sldId id="263"/>
          </p14:sldIdLst>
        </p14:section>
        <p14:section name="18.2 Two Representations" id="{AE8369DF-5935-4AB9-9E32-952D4199BF2C}">
          <p14:sldIdLst>
            <p14:sldId id="264"/>
            <p14:sldId id="265"/>
            <p14:sldId id="266"/>
          </p14:sldIdLst>
        </p14:section>
        <p14:section name="18.3 Breadth-First Search" id="{0FA7E854-C760-413F-8063-21EF1C994CFE}">
          <p14:sldIdLst>
            <p14:sldId id="267"/>
            <p14:sldId id="268"/>
            <p14:sldId id="269"/>
            <p14:sldId id="270"/>
          </p14:sldIdLst>
        </p14:section>
        <p14:section name="18.4 Measured: Where the Textbook Prediction Fails" id="{91C78E80-6C84-4F46-AB0C-EDBD9D3EEAF2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itfalls" id="{2D484A9B-93F9-4303-91EE-483F559A129D}">
          <p14:sldIdLst>
            <p14:sldId id="277"/>
          </p14:sldIdLst>
        </p14:section>
        <p14:section name="Lab" id="{18DFD45A-52C0-4780-82A3-32AF046B8EEC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Checkpoint" id="{B344E72F-3F6C-4EEF-9C3F-908F14297B75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Wrap-up" id="{76520D4E-CBAA-4A0D-A93C-2DD73D01079B}">
          <p14:sldIdLst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18: Graphs: Representation, Traversal and Sparsity. Part 5 — Graph Algorithms. Week 13: Graph representation, traversal and spanning trees. Handout pages 147–153.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2 for the two-parameter bound, Chapter 12 for the queue and stack. No Part IV material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graph; vertex; edge; directed; undirected; adjacency matrix; adjacency list; sparse; dense; density; degree; breadth-first search; depth-first search; topological order; bit-packing.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18.1 (handout p. 149): BFS. Line 7 — “for each v adjacent to u” — is the only line whose cost depends on the representation, and it is the whole of the asymptotic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Time. Each vertex is enqueued at most once, since seen is set when it is, so the while loop iterates at most |V| times. For each dequeued u the inner loop runs (u) times, and Σᵤ (u) = 2|E|. With the Θ(|V|) initialisation this gives Θ(|V|+|E|). Correctness. Invariant: the queue holds vertices of distance k followed by vertices of distance k+1, for some k, and d is correct for every vertex already dequeued. Initially the queue holds s alone with d[s]=0. When u at distance k is dequeued, each unseen neighbour v gets d[v] = k+1; this is correct because a shortest path to v cannot be shorter than k+1 (its predecessor would then have distance &lt; k and v would already have been seen, as all such vertices were dequeued earlier), and it is achievable via u. The vertices appended therefore all have distance k+1, preserving the invariant.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four tables. Expect thirty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two representations.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matrix, bit-packed.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The matrix, bit-packed (continued).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BFS from each representation.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Space, which usually decides before speed does.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BFS across a range of densities.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Where is the crossover?.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The trade, in two numbers.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Each edge {u,v} contributes 1 to (u) and 1 to (v), so summing degrees counts every edge twice. Theorem 18.1 uses it to turn the per-vertex inner loop into a bound in |E|: the BFS inner loop runs (u) times for each dequeued u, and Σu(u) = 2|E| gives the Θ(|V|+|E|).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|E| = 3 × 106. Matrix: |V|2 = 1012 bytes = 1 TB — impossible. List: about (106 · 8) + (6 × 106 · 4) ≈ 32 MB. BFS is Θ(|V|2) = 1012 steps from the matrix and Θ(|V|+|E|) = 7 × 106 from the list — a factor of 140,000, and the matrix cannot be built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That a crossover density quoted without an implementation is meaningless. The same two data structures gave a crossover at 0.26 with one implementation of the matrix and no crossover at all with another, and the gap between a good and a poor implementation of the matrix (8–20×) was larger than the gap between the two structures. Quote the crossover for your code,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19 — Minimum Spanning Trees. READ: Handout Chapter 18, pages 147–153. THIS WEEK'S LAB: The matrix/list crossover as density falls. ASSESSMENT: Assignment 2 set; project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7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image" Target="../media/image47.png"/><Relationship Id="rId5" Type="http://schemas.openxmlformats.org/officeDocument/2006/relationships/image" Target="../media/image48.sv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88674"/>
                </a:solidFill>
                <a:latin typeface="Segoe UI Black"/>
              </a:rPr>
              <a:t>18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Graphs: Representation, Traversal and Sparsity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PART V  ·  GRAPH ALGORITHMS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CHAPTER 18  ·  WEEK 13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4E0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0C5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3BFB9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BD0CC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FB9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147     </a:t>
            </a:r>
            <a:fld id="{467BC046-5524-4CD4-ACAD-026742D68313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19037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1903741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8513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13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692573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2573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689225" y="1755648"/>
            <a:ext cx="127574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9225" y="2029967"/>
            <a:ext cx="1275747" cy="4572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3154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3417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875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7334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6596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1251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63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47911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4358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1829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6079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5746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780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59663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3841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6324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55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0241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07283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4158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99004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78075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4189" y="2112264"/>
            <a:ext cx="566928" cy="566928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574189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7964"/>
                </a:solidFill>
                <a:latin typeface="Segoe UI"/>
              </a:rPr>
              <a:t>Graphs: Representation, Traversal and Sparsity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2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Input Size, Input Nature, and the Three Cases</a:t>
            </a:r>
          </a:p>
        </p:txBody>
      </p:sp>
      <p:sp>
        <p:nvSpPr>
          <p:cNvPr id="70" name="!!chip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12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Heaps and Search Trees, Revisited for Analysis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9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Minimum Spanning Trees</a:t>
            </a:r>
          </a:p>
        </p:txBody>
      </p:sp>
      <p:sp>
        <p:nvSpPr>
          <p:cNvPr id="77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20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Shortest Paths: Single-Source and All-Pairs</a:t>
            </a:r>
          </a:p>
        </p:txBody>
      </p:sp>
      <p:sp>
        <p:nvSpPr>
          <p:cNvPr id="80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23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Semester Project</a:t>
            </a:r>
          </a:p>
        </p:txBody>
      </p:sp>
      <p:sp>
        <p:nvSpPr>
          <p:cNvPr id="8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416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147     </a:t>
            </a:r>
            <a:fld id="{159E1193-64F6-4E41-9E39-92500FEAB392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Compare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adjacency matrix and adjacency list on space, edge-test cost and neighbour-sweep cost.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Derive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running time of BFS and DFS from each representation,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the bound is quoted in two parameters.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09974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Define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sparse and dense,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predict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which representation wins for a given density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(CLO-2)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67681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827117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758537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BFS to find shortest paths in an unweighted graph and DFS to produce a topological order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(CLO-7)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6244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67568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657392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Account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a measured result that contradicts the textbook prediction.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125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147     </a:t>
            </a:r>
            <a:fld id="{1AF7E13A-5012-4F26-A763-34BC17199CCE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grap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97779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grap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graph"/>
          <p:cNvSpPr txBox="1"/>
          <p:nvPr/>
        </p:nvSpPr>
        <p:spPr>
          <a:xfrm>
            <a:off x="950976" y="1962911"/>
            <a:ext cx="79491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graph</a:t>
            </a:r>
          </a:p>
        </p:txBody>
      </p:sp>
      <p:sp>
        <p:nvSpPr>
          <p:cNvPr id="10" name="!!term-vert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2470" y="1847088"/>
            <a:ext cx="99256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vert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1048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vertex"/>
          <p:cNvSpPr txBox="1"/>
          <p:nvPr/>
        </p:nvSpPr>
        <p:spPr>
          <a:xfrm>
            <a:off x="2075078" y="1962911"/>
            <a:ext cx="80968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vertex</a:t>
            </a:r>
          </a:p>
        </p:txBody>
      </p:sp>
      <p:sp>
        <p:nvSpPr>
          <p:cNvPr id="13" name="!!term-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21337" y="1847088"/>
            <a:ext cx="89986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935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edge"/>
          <p:cNvSpPr txBox="1"/>
          <p:nvPr/>
        </p:nvSpPr>
        <p:spPr>
          <a:xfrm>
            <a:off x="3213945" y="1962911"/>
            <a:ext cx="71698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edge</a:t>
            </a:r>
          </a:p>
        </p:txBody>
      </p:sp>
      <p:sp>
        <p:nvSpPr>
          <p:cNvPr id="16" name="!!term-direc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7508" y="1847088"/>
            <a:ext cx="118810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direc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9552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directed"/>
          <p:cNvSpPr txBox="1"/>
          <p:nvPr/>
        </p:nvSpPr>
        <p:spPr>
          <a:xfrm>
            <a:off x="4260116" y="1962911"/>
            <a:ext cx="100522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directed</a:t>
            </a:r>
          </a:p>
        </p:txBody>
      </p:sp>
      <p:sp>
        <p:nvSpPr>
          <p:cNvPr id="19" name="!!term-undirec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1915" y="1847088"/>
            <a:ext cx="142272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undirec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2993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undirected"/>
          <p:cNvSpPr txBox="1"/>
          <p:nvPr/>
        </p:nvSpPr>
        <p:spPr>
          <a:xfrm>
            <a:off x="5594523" y="1962911"/>
            <a:ext cx="123984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undirected</a:t>
            </a:r>
          </a:p>
        </p:txBody>
      </p:sp>
      <p:sp>
        <p:nvSpPr>
          <p:cNvPr id="22" name="!!term-adjacency mat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70945" y="1847088"/>
            <a:ext cx="196810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adjacency mat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896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adjacency matr"/>
          <p:cNvSpPr txBox="1"/>
          <p:nvPr/>
        </p:nvSpPr>
        <p:spPr>
          <a:xfrm>
            <a:off x="7163553" y="1962911"/>
            <a:ext cx="178522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adjacency matrix</a:t>
            </a:r>
          </a:p>
        </p:txBody>
      </p:sp>
      <p:sp>
        <p:nvSpPr>
          <p:cNvPr id="25" name="!!term-adjacency li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5355" y="1847088"/>
            <a:ext cx="165492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adjacency li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337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adjacency list"/>
          <p:cNvSpPr txBox="1"/>
          <p:nvPr/>
        </p:nvSpPr>
        <p:spPr>
          <a:xfrm>
            <a:off x="9277963" y="1962911"/>
            <a:ext cx="147204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adjacency list</a:t>
            </a:r>
          </a:p>
        </p:txBody>
      </p:sp>
      <p:sp>
        <p:nvSpPr>
          <p:cNvPr id="28" name="!!term-spar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02254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spar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sparse"/>
          <p:cNvSpPr txBox="1"/>
          <p:nvPr/>
        </p:nvSpPr>
        <p:spPr>
          <a:xfrm>
            <a:off x="950976" y="2584704"/>
            <a:ext cx="83966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sparse</a:t>
            </a:r>
          </a:p>
        </p:txBody>
      </p:sp>
      <p:sp>
        <p:nvSpPr>
          <p:cNvPr id="31" name="!!term-den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7219" y="2468880"/>
            <a:ext cx="98298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den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5523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dense"/>
          <p:cNvSpPr txBox="1"/>
          <p:nvPr/>
        </p:nvSpPr>
        <p:spPr>
          <a:xfrm>
            <a:off x="2119827" y="2584704"/>
            <a:ext cx="8001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dense</a:t>
            </a:r>
          </a:p>
        </p:txBody>
      </p:sp>
      <p:sp>
        <p:nvSpPr>
          <p:cNvPr id="34" name="!!term-dens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6503" y="2468880"/>
            <a:ext cx="109531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dens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51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density"/>
          <p:cNvSpPr txBox="1"/>
          <p:nvPr/>
        </p:nvSpPr>
        <p:spPr>
          <a:xfrm>
            <a:off x="3249111" y="2584704"/>
            <a:ext cx="91243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density</a:t>
            </a:r>
          </a:p>
        </p:txBody>
      </p:sp>
      <p:sp>
        <p:nvSpPr>
          <p:cNvPr id="37" name="!!term-deg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125" y="2468880"/>
            <a:ext cx="108035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deg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614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degree"/>
          <p:cNvSpPr txBox="1"/>
          <p:nvPr/>
        </p:nvSpPr>
        <p:spPr>
          <a:xfrm>
            <a:off x="4490733" y="2584704"/>
            <a:ext cx="89747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degree</a:t>
            </a:r>
          </a:p>
        </p:txBody>
      </p:sp>
      <p:sp>
        <p:nvSpPr>
          <p:cNvPr id="40" name="!!term-breadth-first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24781" y="2468880"/>
            <a:ext cx="222836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breadth-first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279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breadth-first "/>
          <p:cNvSpPr txBox="1"/>
          <p:nvPr/>
        </p:nvSpPr>
        <p:spPr>
          <a:xfrm>
            <a:off x="5717389" y="2584704"/>
            <a:ext cx="204548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breadth-first search</a:t>
            </a:r>
          </a:p>
        </p:txBody>
      </p:sp>
      <p:sp>
        <p:nvSpPr>
          <p:cNvPr id="43" name="!!term-depth-first 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9452" y="2468880"/>
            <a:ext cx="205078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depth-first 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746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depth-first se"/>
          <p:cNvSpPr txBox="1"/>
          <p:nvPr/>
        </p:nvSpPr>
        <p:spPr>
          <a:xfrm>
            <a:off x="8092060" y="2584704"/>
            <a:ext cx="186790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depth-first search</a:t>
            </a:r>
          </a:p>
        </p:txBody>
      </p:sp>
      <p:sp>
        <p:nvSpPr>
          <p:cNvPr id="46" name="!!term-topological 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202213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topological 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topological or"/>
          <p:cNvSpPr txBox="1"/>
          <p:nvPr/>
        </p:nvSpPr>
        <p:spPr>
          <a:xfrm>
            <a:off x="950976" y="3206496"/>
            <a:ext cx="183925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topological order</a:t>
            </a:r>
          </a:p>
        </p:txBody>
      </p:sp>
      <p:sp>
        <p:nvSpPr>
          <p:cNvPr id="49" name="!!term-bit-pack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26805" y="3090672"/>
            <a:ext cx="147957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termd-bit-pack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4821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termt-bit-packing"/>
          <p:cNvSpPr txBox="1"/>
          <p:nvPr/>
        </p:nvSpPr>
        <p:spPr>
          <a:xfrm>
            <a:off x="3119413" y="3206496"/>
            <a:ext cx="129669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bit-packing</a:t>
            </a:r>
          </a:p>
        </p:txBody>
      </p:sp>
      <p:sp>
        <p:nvSpPr>
          <p:cNvPr id="52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5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833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147–153     </a:t>
            </a:r>
            <a:fld id="{BEEC37E2-C4BC-4E13-8172-FC9172079C9F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8.1 Why Every Bound Here Has Two Parameters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18.1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Why Every Bound Here Has Two Parameters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147  ›</a:t>
            </a:r>
          </a:p>
        </p:txBody>
      </p:sp>
      <p:sp>
        <p:nvSpPr>
          <p:cNvPr id="12" name="!!ag1" descr="Go to section 18.2 Two Representations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18.2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Two Representations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148  ›</a:t>
            </a:r>
          </a:p>
        </p:txBody>
      </p:sp>
      <p:sp>
        <p:nvSpPr>
          <p:cNvPr id="17" name="!!ag2" descr="Go to section 18.3 Breadth-First Search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18.3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Breadth-First Search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148  ›</a:t>
            </a:r>
          </a:p>
        </p:txBody>
      </p:sp>
      <p:sp>
        <p:nvSpPr>
          <p:cNvPr id="22" name="!!ag3" descr="Go to section 18.4 Measured: Where the Textbook Prediction Fails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18.4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Measured: Where the Textbook Prediction Fails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149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38541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Why Every Bound Here Has Two Parameters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1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18.1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18.1   Why Every Bound Here Has Two Parameters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18.2   Two Representations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18.3   Breadth-First Search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18.4   Measured: Where the Textbook Prediction Fails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§18.1     </a:t>
            </a:r>
            <a:fld id="{FFC5850B-1969-4870-B311-57F52DD91A1D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6250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Density, Sparse and Dense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§18.1  ·  Handout p. 147     </a:t>
            </a:r>
            <a:fld id="{D5382B8C-0AFF-4B2F-9245-4478A14BFD94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273223"/>
          </a:xfrm>
          <a:prstGeom prst="roundRect">
            <a:avLst>
              <a:gd name="adj" fmla="val 4022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273223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A graph G = (V, E) has |V| vertices and |E| edges. For an undirected simple graph, 0 ≤ |E| ≤ |V|2, and the density is |E| / |V|2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761695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60704" y="2970606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sparse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when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 = O(|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each vertex has a bounded average degree — and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dense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when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 = Θ(|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3958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bound, two different answers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§18.1  ·  Handout p. 147     </a:t>
            </a:r>
            <a:fld id="{63578200-049C-430D-BDA3-B61C85F50590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23969"/>
          </a:xfrm>
          <a:prstGeom prst="roundRect">
            <a:avLst>
              <a:gd name="adj" fmla="val 2164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23969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Chapter 2 made this point with a road network and a social graph; it is worth restating now that the algorithms are at hand.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BFS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 + 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an adjacency list. On a road network with 2 million junctions and average degree 3, that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5 × 10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steps. On a social graph with the same vertex count and average degree 500, it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5 × 10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8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a hundred times more, for the same algorithm at the same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556810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618D"/>
                </a:solidFill>
                <a:latin typeface="Segoe UI"/>
              </a:rPr>
              <a:t>This is why 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O(|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|</a:t>
            </a:r>
            <a:r>
              <a:rPr sz="15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O(|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| + |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1" i="0">
                <a:solidFill>
                  <a:srgbClr val="1C252B"/>
                </a:solidFill>
                <a:latin typeface="Cambria"/>
              </a:rPr>
              <a:t>|)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 must be distinguished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even though they are equal on dense graphs. The first says nothing about sparsity; the second says you have exploited it.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1667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Two Representations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18.2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18.1   Why Every Bound Here Has Two Parameters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18.2   Two Representations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18.3   Breadth-First Search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18.4   Measured: Where the Textbook Prediction Fails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§18.2     </a:t>
            </a:r>
            <a:fld id="{C55A29E6-34C0-4470-9595-AC82A339A5D7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9375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Adjacency Matrix and Adjacency List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§18.2  ·  Handout p. 148     </a:t>
            </a:r>
            <a:fld id="{CE3B40E6-62FF-48DD-8DC1-C6D6F5D306DF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89577"/>
          </a:xfrm>
          <a:prstGeom prst="roundRect">
            <a:avLst>
              <a:gd name="adj" fmla="val 2083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89577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1800" b="1" i="0">
                <a:solidFill>
                  <a:srgbClr val="1A5276"/>
                </a:solidFill>
                <a:latin typeface="Segoe UI"/>
              </a:rPr>
              <a:t>adjacency matrix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is a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 × |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array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u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][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] = 1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exactly when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u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is an edge.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459278"/>
            <a:ext cx="10161727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1800" b="1" i="0">
                <a:solidFill>
                  <a:srgbClr val="1A5276"/>
                </a:solidFill>
                <a:latin typeface="Segoe UI"/>
              </a:rPr>
              <a:t>adjacency list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stores, for each vertex, a list of its neighbours.</a:t>
            </a:r>
          </a:p>
        </p:txBody>
      </p:sp>
      <p:graphicFrame>
        <p:nvGraphicFramePr>
          <p:cNvPr id="11" name="body-2"/>
          <p:cNvGraphicFramePr>
            <a:graphicFrameLocks noGrp="1"/>
          </p:cNvGraphicFramePr>
          <p:nvPr/>
        </p:nvGraphicFramePr>
        <p:xfrm>
          <a:off x="1060704" y="2870301"/>
          <a:ext cx="4492433" cy="22494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06668"/>
                <a:gridCol w="1286929"/>
                <a:gridCol w="1398836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Matrix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List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space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</a:t>
                      </a:r>
                      <a:r>
                        <a:rPr sz="10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 + 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E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“is 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u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,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 an edge?”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Θ(1)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O((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u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))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list 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u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’s neighbours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Θ((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u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))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add an edge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Θ(1)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Θ(1)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BFS or DFS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</a:t>
                      </a:r>
                      <a:r>
                        <a:rPr sz="10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Θ(|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V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|+|</a:t>
                      </a:r>
                      <a:r>
                        <a:rPr sz="1500" b="0" i="1">
                          <a:solidFill>
                            <a:srgbClr val="1C252B"/>
                          </a:solidFill>
                          <a:latin typeface="Cambria"/>
                        </a:rPr>
                        <a:t>E</a:t>
                      </a:r>
                      <a:r>
                        <a:rPr sz="1500" b="0" i="0">
                          <a:solidFill>
                            <a:srgbClr val="1C252B"/>
                          </a:solidFill>
                          <a:latin typeface="Cambria"/>
                        </a:rPr>
                        <a:t>|)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body-3"/>
          <p:cNvSpPr txBox="1"/>
          <p:nvPr/>
        </p:nvSpPr>
        <p:spPr>
          <a:xfrm>
            <a:off x="1060704" y="5245455"/>
            <a:ext cx="10161727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third row is the one that decides traversals. A matrix must read all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entries of a row to find a vertex’s neighbours, whether it has 2 or 2,000.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7083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Space, Which Usually Decides First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§18.2  ·  Handout p. 148     </a:t>
            </a:r>
            <a:fld id="{AA0DC653-5377-4818-9A51-9809E0C8A33F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12106"/>
          </a:xfrm>
          <a:prstGeom prst="roundRect">
            <a:avLst>
              <a:gd name="adj" fmla="val 202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1210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Average degree 8 — a sparse graph: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22702"/>
          <a:ext cx="3935484" cy="18745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21862"/>
                <a:gridCol w="1361473"/>
                <a:gridCol w="1035020"/>
                <a:gridCol w="717129"/>
              </a:tblGrid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Cambria"/>
                        </a:rPr>
                        <a:t>|</a:t>
                      </a:r>
                      <a:r>
                        <a:rPr sz="1500" b="1" i="1">
                          <a:solidFill>
                            <a:srgbClr val="1A5276"/>
                          </a:solidFill>
                          <a:latin typeface="Cambria"/>
                        </a:rPr>
                        <a:t>V</a:t>
                      </a:r>
                      <a:r>
                        <a:rPr sz="1500" b="1" i="0">
                          <a:solidFill>
                            <a:srgbClr val="1A5276"/>
                          </a:solidFill>
                          <a:latin typeface="Cambria"/>
                        </a:rPr>
                        <a:t>|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matrix (MB)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list (MB)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1.0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25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4,000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15.3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0.15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16,000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244.1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0.61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400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64,000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3,906.2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2.44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1,600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422952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At 64,000 vertices the matrix needs 3.9 GB and the list needs 2.4 MB.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The ratio grows as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because the matrix is quadratic and the list linear.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441240"/>
            <a:ext cx="54864" cy="55229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5119268"/>
            <a:ext cx="10234879" cy="9015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For most real graphs this table ends the discussion before any timing is done. A social network with ten million users cannot be stored as a matrix on any machine —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10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14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bytes — and can be stored as a list in a few gigabytes.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Breadth-First Search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3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18.3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18.1   Why Every Bound Here Has Two Parameters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18.2   Two Representations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18.3   Breadth-First Search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18.4   Measured: Where the Textbook Prediction Fails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§18.3     </a:t>
            </a:r>
            <a:fld id="{F74787FD-FDFA-4C8A-9B1D-9CA7D0FC154D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2500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Breadth-First Search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07964"/>
                </a:solidFill>
                <a:latin typeface="Segoe UI"/>
              </a:rPr>
              <a:t>FIGURE 18.1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§18.3  ·  Handout p. 148     </a:t>
            </a:r>
            <a:fld id="{86AFD3DC-2976-4C0E-9AA6-485971C72865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pic>
        <p:nvPicPr>
          <p:cNvPr id="6" name="!!figure" descr="Figure 18.1. BFS. Line 7 — “for each v adjacent to u” — is the only line whose cost depends on the representation, and it is the whole of the asymptotic differenc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5030" y="1737360"/>
            <a:ext cx="6601634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BFS. Line 7 — “for each v adjacent to u” — is the only line whose cost depends on the representation, and it is the whole of the asymptotic difference.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0209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BFS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18.1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§18.3  ·  Handout p. 148     </a:t>
            </a:r>
            <a:fld id="{D1A4A080-67C9-44CB-8FEB-763EAB0333DA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BFS runs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 + 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an adjacency list,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the number of edges on a shortest path 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7917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DFS, and what it is for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§18.3  ·  Handout p. 148     </a:t>
            </a:r>
            <a:fld id="{56515D81-0D31-4C60-A492-608BEFDAE36B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77004"/>
          </a:xfrm>
          <a:prstGeom prst="roundRect">
            <a:avLst>
              <a:gd name="adj" fmla="val 2042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7700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Depth-first search replaces the queue with a stack (or recursion) and is also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It is not an alternative way to visit vertices; it computes different things.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821939"/>
            <a:ext cx="10161727" cy="20365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3631" indent="-223631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	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BFS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gives shortest paths in an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unweighted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graph, and the layer structure. Chapter 20 generalises it to weights.</a:t>
            </a:r>
          </a:p>
          <a:p>
            <a:pPr algn="l" marL="223631" indent="-22363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	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DFS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gives a 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topological order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reverse order of finishing times, for a directed acyclic graph — and detects cycles, finds strongly connected components, and identifies articulation points. All of these depend on the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timing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of the recursion, which BFS does not have.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952491"/>
            <a:ext cx="10161727" cy="996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practical warning carried from Chapter 9: recursive DFS on a graph with a long path uses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stack frames. On a million-vertex graph that is a stack overflow, and the fix is an explicit stack.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5625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Measured: Where the Textbook Prediction Fails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SECTION 4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18.4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18.1   Why Every Bound Here Has Two Parameters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18.2   Two Representations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18.3   Breadth-First Search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964"/>
                </a:solidFill>
                <a:latin typeface="Segoe UI"/>
              </a:rPr>
              <a:t>18.4   Measured: Where the Textbook Prediction Fails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§18.4     </a:t>
            </a:r>
            <a:fld id="{A9A9A23E-F4C0-4AC7-897D-8140CF9BA7DC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3334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BFS Across Densities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1F074538-16B7-47A3-BBFC-9D0C9D96ECC7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30192"/>
          </a:xfrm>
          <a:prstGeom prst="roundRect">
            <a:avLst>
              <a:gd name="adj" fmla="val 211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3019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 = 8,000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fixed; only the edge count varies. </a:t>
            </a:r>
            <a:r>
              <a:rPr sz="1500" b="0" i="0">
                <a:solidFill>
                  <a:srgbClr val="1F4E79"/>
                </a:solidFill>
                <a:latin typeface="Consolas"/>
              </a:rPr>
              <a:t>code/ch18_graphs.cpp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377033"/>
          <a:ext cx="5160956" cy="206654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37411"/>
                <a:gridCol w="964499"/>
                <a:gridCol w="1173328"/>
                <a:gridCol w="890402"/>
                <a:gridCol w="995316"/>
              </a:tblGrid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avg degree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|</a:t>
                      </a:r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E</a:t>
                      </a:r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|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matrix (ms)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list (ms)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speed-up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61.46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0.17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353.4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32,000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76.37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0.27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278.8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64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256,000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79.60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0.88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90.5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256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1,024,000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94.06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3.02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31.2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4,096,000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152.53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10.15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15.0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555337"/>
            <a:ext cx="10234879" cy="5529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matrix column is nearly flat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— 61 to 153 ms while the edge count grows 512-fold. That is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0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made visible: the work does not depend on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at all, because every row is read in full regardless.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73625"/>
            <a:ext cx="54864" cy="48889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5174284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list column grows with </a:t>
            </a:r>
            <a:r>
              <a:rPr sz="1600" b="1" i="0">
                <a:solidFill>
                  <a:srgbClr val="1C252B"/>
                </a:solidFill>
                <a:latin typeface="Cambria"/>
              </a:rPr>
              <a:t>|</a:t>
            </a:r>
            <a:r>
              <a:rPr sz="1600" b="1" i="1">
                <a:solidFill>
                  <a:srgbClr val="1C252B"/>
                </a:solidFill>
                <a:latin typeface="Cambria"/>
              </a:rPr>
              <a:t>E</a:t>
            </a:r>
            <a:r>
              <a:rPr sz="1600" b="1" i="0">
                <a:solidFill>
                  <a:srgbClr val="1C252B"/>
                </a:solidFill>
                <a:latin typeface="Cambria"/>
              </a:rPr>
              <a:t>|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from 0.17 to 10.15 ms, which is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192572"/>
            <a:ext cx="54864" cy="2353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body-4"/>
          <p:cNvSpPr txBox="1"/>
          <p:nvPr/>
        </p:nvSpPr>
        <p:spPr>
          <a:xfrm>
            <a:off x="1042416" y="5539638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On a sparse graph the list is 353</a:t>
            </a:r>
            <a:r>
              <a:rPr sz="1600" b="1" i="0">
                <a:solidFill>
                  <a:srgbClr val="1C252B"/>
                </a:solidFill>
                <a:latin typeface="Cambria"/>
              </a:rPr>
              <a:t>×</a:t>
            </a:r>
            <a:r>
              <a:rPr sz="1600" b="1" i="0">
                <a:solidFill>
                  <a:srgbClr val="1C252B"/>
                </a:solidFill>
                <a:latin typeface="Segoe UI"/>
              </a:rPr>
              <a:t> faster.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For a road network or a social graph that is the entire argument.</a:t>
            </a:r>
          </a:p>
        </p:txBody>
      </p:sp>
      <p:sp>
        <p:nvSpPr>
          <p:cNvPr id="16" name="body-4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557926"/>
            <a:ext cx="54864" cy="2353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71042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Result That Contradicted the Textbook, and Why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16C1D84E-C191-4CA3-B78B-1FBAB9118895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524351"/>
          </a:xfrm>
          <a:prstGeom prst="roundRect">
            <a:avLst>
              <a:gd name="adj" fmla="val 259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52435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standard claim is that the matrix wins on dense graphs, since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agree there. The first version of this experiment found otherwise — the list won at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density, up to 95% of complete.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3047822"/>
            <a:ext cx="10234879" cy="1551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cause was the representation of the representation.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matrix stored one byte per potential edge reads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bytes and tests each with an unpredictable branch. Stored one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bit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per potential edge it reads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bytes and can test 64 candidates in a single word operation. That bit-packing is the real reason matrices are recommended for dense graphs, and leaving it out made the comparison unfair.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468624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With the bit-packed matrix,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 = 4,000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98751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Result That Contradicted the Textbook, and Why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29FFCF4A-9E37-4503-B0DB-E3E131A763EE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24503"/>
          </a:xfrm>
          <a:prstGeom prst="roundRect">
            <a:avLst>
              <a:gd name="adj" fmla="val 252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2450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6475484" cy="23408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34068"/>
                <a:gridCol w="964045"/>
                <a:gridCol w="1383761"/>
                <a:gridCol w="1218993"/>
                <a:gridCol w="747869"/>
                <a:gridCol w="1126748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avg deg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density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byte matrix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bit matrix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list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winner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512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0.128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39.87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4.31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list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0.256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58.93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5.13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5.02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1">
                          <a:solidFill>
                            <a:srgbClr val="1C252B"/>
                          </a:solidFill>
                          <a:latin typeface="Segoe UI"/>
                        </a:rPr>
                        <a:t>tied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2,048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0.512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92.65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8.68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11.31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bit matrix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0.750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107.16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10.51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17.43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bit matrix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3,990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0.998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97.06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13.59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22.85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bit matrix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448525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crossover is at a density of about 0.26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the textbook claim is vindicated — but only for the bit-packed matrix, which is 7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faster than the byte one at high density.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03546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6459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Result That Contradicted the Textbook, and Why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32771CCA-EC75-486C-B7A2-B7490F58742A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090494"/>
          </a:xfrm>
          <a:prstGeom prst="roundRect">
            <a:avLst>
              <a:gd name="adj" fmla="val 295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09049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There is a second lesson buried in the first attempt.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bit-packed version was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slower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than the byte version until its bit-scan was fixed: finding the index of the lowest set bit with a shift loop costs up to 64 iterations per edge, and the processor has a single instruction that does it. One line of code moved the bit matrix from 115 ms to 8.7 ms at density 0.512.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348964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Both lessons are the same lesson.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“Adjacency matrix” and “adjacency list” name data structures; they do not name implementations, and the gap between a good and a poor implementation of the same structure was larger here than the gap between the two structures.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4167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One Thing the Matrix Is Better At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092C5840-07ED-47C5-91CD-9B97D6A38A0F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90771"/>
          </a:xfrm>
          <a:prstGeom prst="roundRect">
            <a:avLst>
              <a:gd name="adj" fmla="val 213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9077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“Is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u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an edge?” — ten million random queries: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377033"/>
          <a:ext cx="4285216" cy="137769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37411"/>
                <a:gridCol w="1173328"/>
                <a:gridCol w="890402"/>
                <a:gridCol w="1084075"/>
              </a:tblGrid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avg degree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matrix (ms)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list (ms)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list/matrix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74.9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146.0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1.9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74.3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349.4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4.7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256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78.9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2,218.7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28.1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3866489"/>
            <a:ext cx="10234879" cy="5529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matrix is flat and the list grows with degree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exactly as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O((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u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predicts. At average degree 256 the matrix is 28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faster.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884777"/>
            <a:ext cx="54864" cy="48889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4485436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So the choice is not “lists are better”. It is:</a:t>
            </a:r>
          </a:p>
        </p:txBody>
      </p:sp>
      <p:sp>
        <p:nvSpPr>
          <p:cNvPr id="14" name="body-4"/>
          <p:cNvSpPr txBox="1"/>
          <p:nvPr/>
        </p:nvSpPr>
        <p:spPr>
          <a:xfrm>
            <a:off x="1042416" y="4850790"/>
            <a:ext cx="10234879" cy="948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1" i="0">
                <a:solidFill>
                  <a:srgbClr val="7D6608"/>
                </a:solidFill>
                <a:latin typeface="Segoe UI"/>
              </a:rPr>
              <a:t>traversal-heavy, sparse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adjacency list;</a:t>
            </a:r>
          </a:p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1" i="0">
                <a:solidFill>
                  <a:srgbClr val="7D6608"/>
                </a:solidFill>
                <a:latin typeface="Segoe UI"/>
              </a:rPr>
              <a:t>edge-query-heavy, or dense and small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matrix, bit-packed;</a:t>
            </a:r>
          </a:p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1" i="0">
                <a:solidFill>
                  <a:srgbClr val="7D6608"/>
                </a:solidFill>
                <a:latin typeface="Segoe UI"/>
              </a:rPr>
              <a:t>both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⇒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keep a list for traversal and a hash set of edges for queries, which is what most real graph libraries do.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1876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88C9EBA3-A1CE-4F86-8512-4BEF5E76CD19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Quoting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O(|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|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when you mean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O(|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|+|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They differ by a factor of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 a sparse graph — measured, 353.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570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1856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477414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a matrix for a large sparse graph.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3.9 GB against 2.4 MB at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 = 64,000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6263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08549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044342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a byte-per-entry matrix on a dense graph.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Measured 7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slower than bit-packing, which is the only reason to choose a matrix at all.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02684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8255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784396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Finding the lowest set bit with a loop.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cost more than the entire rest of the traversal.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6961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3924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351324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Recursive DFS on a large graph.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stack frames; use an explicit stack.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3654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49594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4918252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BFS for weighted shortest paths.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gives fewest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edges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not least weight. Chapter 20 is the weighted case.</a:t>
            </a:r>
          </a:p>
        </p:txBody>
      </p:sp>
      <p:sp>
        <p:nvSpPr>
          <p:cNvPr id="25" name="!!p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7659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x6"/>
          <p:cNvSpPr txBox="1"/>
          <p:nvPr/>
        </p:nvSpPr>
        <p:spPr>
          <a:xfrm>
            <a:off x="658368" y="569945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7" name="!!pt6"/>
          <p:cNvSpPr txBox="1"/>
          <p:nvPr/>
        </p:nvSpPr>
        <p:spPr>
          <a:xfrm>
            <a:off x="1261872" y="5658307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Forgetting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Σ</a:t>
            </a:r>
            <a:r>
              <a:rPr sz="1100" b="1" i="1" baseline="-25000">
                <a:solidFill>
                  <a:srgbClr val="1C252B"/>
                </a:solidFill>
                <a:latin typeface="Cambria"/>
              </a:rPr>
              <a:t>u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u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 = 2|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what turns a sum over vertices into a bound in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it is the key step in Theorem 18.1.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8B94ADAB-287C-4B00-B749-F6AE37513DA7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four tables. Expect thirty minutes.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3652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2749296"/>
            <a:ext cx="10874959" cy="2164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1.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two representations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2.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matrix, bit-packed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3.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BFS from each representation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4.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Space, which usually decides before speed does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5.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BFS across a range of densities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6.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Where is the crossover?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7.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trade, in two numbers</a:t>
            </a:r>
          </a:p>
        </p:txBody>
      </p:sp>
      <p:sp>
        <p:nvSpPr>
          <p:cNvPr id="3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4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13: The matrix/list crossover as density falls</a:t>
            </a:r>
          </a:p>
        </p:txBody>
      </p:sp>
      <p:sp>
        <p:nvSpPr>
          <p:cNvPr id="4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4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53 lines of C++</a:t>
            </a:r>
          </a:p>
        </p:txBody>
      </p:sp>
      <p:sp>
        <p:nvSpPr>
          <p:cNvPr id="4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5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code/ch18_graphs.cpp</a:t>
            </a:r>
          </a:p>
        </p:txBody>
      </p:sp>
      <p:sp>
        <p:nvSpPr>
          <p:cNvPr id="5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7293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F4B3034F-DF42-4A3A-BECC-12F201ADACB4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two representations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340863"/>
          </a:xfrm>
          <a:prstGeom prst="roundRect">
            <a:avLst>
              <a:gd name="adj" fmla="val 390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ch18_graphs.cpp -- the representation decides the bound. // Build: cl /O2 /EHsc /std:c++17 ch18_graphs.cpp (see Appendix A) // --- 1. The two representations ------------------------------------ // The matrix is a vector&lt;char&gt; so one entry is one byte: V^2 bytes, // which at V = 64,000 is already 3.9 GB."/>
          <p:cNvSpPr txBox="1"/>
          <p:nvPr/>
        </p:nvSpPr>
        <p:spPr>
          <a:xfrm>
            <a:off x="1362456" y="2523744"/>
            <a:ext cx="9987991" cy="1847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ch18_graphs.cpp -- the representation decides the bound.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Build: cl /O2 /EHsc /std:c++17 ch18_graphs.cpp 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--- 1. The two representations 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matrix is a vector&lt;char&gt; so one entry is one byte: V^2 bytes,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which at V = 64,000 is already 3.9 GB.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847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5001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D66D712A-A33E-416D-AE36-799D4AADE780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matrix, bit-packed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4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2. The matrix, bit-packed ------------------------------------- // One BIT per potential edge rather than one byte, so V^2/8 bytes, and // a whole 64-bit word of candidate neighbours tested at once. This is // the real reason adjacency matrices are recommended for dense graphs, // and without it the comparison is unfair to them. struct BitMatrix { size_t V, W; // W = words per row std::vector&lt;unsigned long long&gt; a; void add(size_t u, size_t w) { a[u * W + (w &gt;&gt; 6)] |= 1ULL &lt;&lt; (w &amp; 63); a[w * W + (u &gt;&gt; 6)] |= 1ULL &lt;&lt; (u &amp; 63); } };"/>
          <p:cNvSpPr txBox="1"/>
          <p:nvPr/>
        </p:nvSpPr>
        <p:spPr>
          <a:xfrm>
            <a:off x="1362456" y="2523744"/>
            <a:ext cx="9987991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--- 2. The matrix, bit-packed 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One BIT per potential edge rather than one byte, so V^2/8 bytes,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a whole 64-bit word of candidate neighbours tested at once. This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the real reason adjacency matrices are recommended for dense graphs,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and without it the comparison is unfair to them.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struct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76D7C4"/>
                </a:solidFill>
                <a:latin typeface="Consolas"/>
              </a:rPr>
              <a:t>BitMatrix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V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                      </a:t>
            </a:r>
            <a:r>
              <a:rPr sz="1800" i="1">
                <a:solidFill>
                  <a:srgbClr val="8795A1"/>
                </a:solidFill>
                <a:latin typeface="Consolas"/>
              </a:rPr>
              <a:t>// W = words per 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void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add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*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6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|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1ULL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63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*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6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|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1ULL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63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92709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7543072E-9C57-44E3-8009-E68B1287F4F0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matrix, bit-packed (continued)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The bit-packed scan: skip 64 non-neighbours at a time, and within a // word walk only the bits that are set. while (bits) { // The index of the lowest set bit, as ONE instruction. // Finding it with a shift loop instead costs up to 64 // iterations per edge and makes the bit-packed matrix // slower than the byte one -- which is what the first // version of this program measured. unsigned long idx; _BitScanForward64(&amp;idx, bits); size_t w = wi * 64 + idx; if (w &lt; g.V &amp;&amp; !seen[w]) { seen[w] = 1; ++reached; q.push_back((unsigned)w); } bits &amp;= bits - 1; // clear it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The bit-packed scan: skip 64 non-neighbours at a time, and within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word walk only the bits that are set.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bits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The index of the lowest set bit, as ONE instruction.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Finding it with a shift loop instead costs up to 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iterations per edge and makes the bit-packed matrix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slower than the byte one -- which is what the first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version of this program measured.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idx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_BitScanForward64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E8EDF2"/>
                </a:solidFill>
                <a:latin typeface="Consolas"/>
              </a:rPr>
              <a:t>idx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bits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w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wi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*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64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idx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w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g</a:t>
            </a:r>
            <a:r>
              <a:rPr sz="1400" i="0">
                <a:solidFill>
                  <a:srgbClr val="AEB6BF"/>
                </a:solidFill>
                <a:latin typeface="Consolas"/>
              </a:rPr>
              <a:t>.</a:t>
            </a:r>
            <a:r>
              <a:rPr sz="1400" i="0">
                <a:solidFill>
                  <a:srgbClr val="E8EDF2"/>
                </a:solidFill>
                <a:latin typeface="Consolas"/>
              </a:rPr>
              <a:t>V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!</a:t>
            </a:r>
            <a:r>
              <a:rPr sz="1400" i="0">
                <a:solidFill>
                  <a:srgbClr val="E8EDF2"/>
                </a:solidFill>
                <a:latin typeface="Consolas"/>
              </a:rPr>
              <a:t>seen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E8EDF2"/>
                </a:solidFill>
                <a:latin typeface="Consolas"/>
              </a:rPr>
              <a:t>w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seen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E8EDF2"/>
                </a:solidFill>
                <a:latin typeface="Consolas"/>
              </a:rPr>
              <a:t>w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reached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q</a:t>
            </a:r>
            <a:r>
              <a:rPr sz="1400" i="0">
                <a:solidFill>
                  <a:srgbClr val="AEB6BF"/>
                </a:solidFill>
                <a:latin typeface="Consolas"/>
              </a:rPr>
              <a:t>.</a:t>
            </a:r>
            <a:r>
              <a:rPr sz="1400" i="0">
                <a:solidFill>
                  <a:srgbClr val="E8EDF2"/>
                </a:solidFill>
                <a:latin typeface="Consolas"/>
              </a:rPr>
              <a:t>push_back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w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bits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bits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-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  </a:t>
            </a:r>
            <a:r>
              <a:rPr sz="1400" i="1">
                <a:solidFill>
                  <a:srgbClr val="8795A1"/>
                </a:solidFill>
                <a:latin typeface="Consolas"/>
              </a:rPr>
              <a:t>// clear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0418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F2B291FA-1346-475D-B8E7-638C82B1349D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BFS from each representation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975104"/>
          </a:xfrm>
          <a:prstGeom prst="roundRect">
            <a:avLst>
              <a:gd name="adj" fmla="val 4629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3. BFS from each representation ------------------------------- // The algorithms are identical. The only difference is how &quot;for each // neighbour of u&quot; is implemented, and that is the whole gap. for (size_t w = 0; w &lt; g.V; ++w) // &lt;-- Theta(V) per vertex for (size_t i = g.start[u]; i &lt; g.start[u+1]; ++i) // Theta(deg)"/>
          <p:cNvSpPr txBox="1"/>
          <p:nvPr/>
        </p:nvSpPr>
        <p:spPr>
          <a:xfrm>
            <a:off x="1362456" y="2523744"/>
            <a:ext cx="9987991" cy="1481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--- 3. BFS from each representation 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The algorithms are identical. The only difference is how "for each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neighbour of u" is implemented, and that is the whole gap.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0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g</a:t>
            </a:r>
            <a:r>
              <a:rPr sz="1800" i="0">
                <a:solidFill>
                  <a:srgbClr val="AEB6BF"/>
                </a:solidFill>
                <a:latin typeface="Consolas"/>
              </a:rPr>
              <a:t>.</a:t>
            </a:r>
            <a:r>
              <a:rPr sz="1800" i="0">
                <a:solidFill>
                  <a:srgbClr val="E8EDF2"/>
                </a:solidFill>
                <a:latin typeface="Consolas"/>
              </a:rPr>
              <a:t>V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w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1">
                <a:solidFill>
                  <a:srgbClr val="8795A1"/>
                </a:solidFill>
                <a:latin typeface="Consolas"/>
              </a:rPr>
              <a:t>// &lt;-- Theta(V) per vertex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i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g</a:t>
            </a:r>
            <a:r>
              <a:rPr sz="1800" i="0">
                <a:solidFill>
                  <a:srgbClr val="AEB6BF"/>
                </a:solidFill>
                <a:latin typeface="Consolas"/>
              </a:rPr>
              <a:t>.</a:t>
            </a:r>
            <a:r>
              <a:rPr sz="1800" i="0">
                <a:solidFill>
                  <a:srgbClr val="E8EDF2"/>
                </a:solidFill>
                <a:latin typeface="Consolas"/>
              </a:rPr>
              <a:t>start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i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g</a:t>
            </a:r>
            <a:r>
              <a:rPr sz="1800" i="0">
                <a:solidFill>
                  <a:srgbClr val="AEB6BF"/>
                </a:solidFill>
                <a:latin typeface="Consolas"/>
              </a:rPr>
              <a:t>.</a:t>
            </a:r>
            <a:r>
              <a:rPr sz="1800" i="0">
                <a:solidFill>
                  <a:srgbClr val="E8EDF2"/>
                </a:solidFill>
                <a:latin typeface="Consolas"/>
              </a:rPr>
              <a:t>start</a:t>
            </a:r>
            <a:r>
              <a:rPr sz="1800" i="0">
                <a:solidFill>
                  <a:srgbClr val="AEB6BF"/>
                </a:solidFill>
                <a:latin typeface="Consolas"/>
              </a:rPr>
              <a:t>[</a:t>
            </a:r>
            <a:r>
              <a:rPr sz="1800" i="0">
                <a:solidFill>
                  <a:srgbClr val="E8EDF2"/>
                </a:solidFill>
                <a:latin typeface="Consolas"/>
              </a:rPr>
              <a:t>u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]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i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 </a:t>
            </a:r>
            <a:r>
              <a:rPr sz="1800" i="1">
                <a:solidFill>
                  <a:srgbClr val="8795A1"/>
                </a:solidFill>
                <a:latin typeface="Consolas"/>
              </a:rPr>
              <a:t>// Theta(deg)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481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48126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3A207DE1-A90B-4821-83D2-377395865510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Space, which usually decides before speed does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4. Space, which usually decides before speed does 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Space, which usually decides before speed does 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5835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1898B319-9AB2-42A6-836C-4DAE46CCCD1F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BFS across a range of densities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5. BFS across a range of densities ---------------------------- // V is FIXED. Only the number of edges changes, so the matrix version // should take the same time throughout while the list grows with E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BFS across a range of densities 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V is FIXED. Only the number of edges changes, so the matrix version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should take the same time throughout while the list grows with E.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03543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A6780BFE-BA17-446E-B186-41E463DC2A1E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Where is the crossover?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6. Where is the crossover? -----------------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Where is the crossover? ------------------------------------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1251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Representation,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8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11A48DEF-8E0F-4399-A683-FC174A3490BA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trade, in two numbers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code/ch18_graphs.cpp</a:t>
            </a:r>
          </a:p>
        </p:txBody>
      </p:sp>
      <p:sp>
        <p:nvSpPr>
          <p:cNvPr id="14" name="!!code-text" descr="// --- 7. The trade, in two numbers ---------------------------------- // The matrix answers &quot;is there an edge u-w?&quot; in one memory access. // The list must scan u's neighbours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--- 7. The trade, in two numbers 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matrix answers "is there an edge u-w?" in one memory access.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list must scan u's neighbours.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8960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§18.4  ·  Handout p. 149     </a:t>
            </a:r>
            <a:fld id="{047087B9-5D2E-41B2-A6EC-FDC0D35FB005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63314"/>
          </a:xfrm>
          <a:prstGeom prst="roundRect">
            <a:avLst>
              <a:gd name="adj" fmla="val 2250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6331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5’s matrix column is flat while its list column grows 60-fold. Two columns of the same table, measuring the same algorithm on the same graphs, and one of them does not depend on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at all.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22329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Replace the compressed adjacency list with a vector of vectors — one separately allocated neighbour list per vertex — and re-measure part 5 at average degree 2. Predict the direction first. It will be slower, perhaps 2–3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with identical asymptotics, because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separate allocations scatter the neighbour lists across memory and the prefetcher cannot follow. Same bound, same algorithm, different memory layout.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6668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Explain why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Σ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u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 ∈ 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V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u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2|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E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|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and where Theorem 18.1 uses it.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153  ·  answers in Appendix D     </a:t>
            </a:r>
            <a:fld id="{380EEE52-9ECA-418A-93C9-2C756750ED47}" type="slidenum">
              <a:rPr lang="en-GB" sz="1000">
                <a:solidFill>
                  <a:srgbClr val="D5DEE5"/>
                </a:solidFill>
                <a:latin typeface="Segoe UI"/>
              </a:rPr>
              <a:t>33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Explain why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Σ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u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 ∈ 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V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u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2|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E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|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and where Theorem 18.1 uses it.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13918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Each edge {u,v} contributes 1 to (u) and 1 to (v), so summing degrees counts every edge twice. Theorem 18.1 uses it to turn the per-vertex inner loop into a bound in |E|: the BFS inner loop runs (u) times for each dequeued u, and Σu(u) = 2|E| gives the Θ(|V|+|E|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1411833"/>
            <a:ext cx="10509199" cy="1391808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·  answers in Appendix D     </a:t>
            </a:r>
            <a:fld id="{A0474E9C-48DD-4456-8180-C3A1C6735481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42085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graph has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|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V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| = 10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6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average degree 6. Give the space for both representations, and say which BFS bound applies to each.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153  ·  answers in Appendix D     </a:t>
            </a:r>
            <a:fld id="{D106D93D-958D-4606-8EE8-538E6449E0C4}" type="slidenum">
              <a:rPr lang="en-GB" sz="1000">
                <a:solidFill>
                  <a:srgbClr val="D5DEE5"/>
                </a:solidFill>
                <a:latin typeface="Segoe UI"/>
              </a:rPr>
              <a:t>35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graph has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|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V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| = 10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6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and average degree 6. Give the space for both representations, and say which BFS bound applies to each.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 = 3 × 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Matrix: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12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bytes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= 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TB — impossible.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List: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about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· 8) + (6 × 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· 4) ≈ 32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MB. BFS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12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steps from the matrix and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|) = 7 × 10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from the list — a factor of 140,000, and the matrix cannot be built anyway.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·  answers in Appendix D     </a:t>
            </a:r>
            <a:fld id="{3E8E5FFB-24F8-44C1-AFA7-C354FD15B812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97502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The measured crossover was at density 0.26 for a bit-packed matrix and did not exist at all for a byte-packed one. What does that tell you about quoting crossover densities from a textbook </a:t>
            </a:r>
            <a:r>
              <a:rPr sz="3400" b="0" i="1">
                <a:solidFill>
                  <a:srgbClr val="FFFFFF"/>
                </a:solidFill>
                <a:latin typeface="Segoe UI Semibold"/>
              </a:rPr>
              <a:t>(CLO-2)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153  ·  answers in Appendix D     </a:t>
            </a:r>
            <a:fld id="{BEDB8C5F-7290-4242-BF9C-506206D1BD0D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The measured crossover was at density 0.26 for a bit-packed matrix and did not exist at all for a byte-packed one. What does that tell you about quoting crossover densities from a textbook </a:t>
            </a:r>
            <a:r>
              <a:rPr sz="2400" b="0" i="1">
                <a:solidFill>
                  <a:srgbClr val="1A5276"/>
                </a:solidFill>
                <a:latin typeface="Segoe UI Semibold"/>
              </a:rPr>
              <a:t>(CLO-2)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That a crossover density quoted without an implementation is meaningless. The same two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data structures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gave a crossover at 0.26 with one implementation of the matrix and no crossover at all with another, and the gap between a good and a poor implementation of the matrix (8–20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 was larger than the gap between the two structures. Quote the crossover for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your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code, measured.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·  answers in Appendix D     </a:t>
            </a:r>
            <a:fld id="{91E9DA99-6F45-4864-92DB-21A2707C960D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2919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   </a:t>
            </a:r>
            <a:fld id="{145C9456-EAC6-48B1-9C86-DF4EB79F7A44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Graph bounds carry two parameters because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ranges from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says you have exploited sparsity where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does not.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Matrix: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space,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edge test,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neighbour sweep. List: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space,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edge test,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sweep.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BFS and DFS are both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from a list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from a matrix. BFS gives unweighted shortest paths; DFS gives topological order and cycle detection.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at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 = 64,000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average degree 8, the matrix needs 3.9 GB and the list 2.4 MB.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9701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55188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48787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fixed at 8,000, the matrix BFS time was flat (61–153 ms) while the list grew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(0.17–10.15 ms). On the sparse graph the list was 353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faster.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878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27364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20964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the matrix wins on dense graphs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only when bit-packed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with the crossover at density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≈ 0.26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A byte-per-entry matrix never won, and a bit-packed matrix with a naive bit-scan was slower still.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627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   </a:t>
            </a:r>
            <a:fld id="{6F1BF267-1757-44FA-85AF-44A575FCD4FE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for single edge queries the matrix was flat and the list grew with degree — 28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slower at average degree 256.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8335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   </a:t>
            </a:r>
            <a:fld id="{043078D9-E4AC-434D-B808-A3E0185103EB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BFS from an adjacency list runs in: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|+|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60443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   </a:t>
            </a:r>
            <a:fld id="{71B7EDE1-C18C-475E-895A-DA222815A967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An adjacency matrix for a graph with 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V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| = 10</a:t>
            </a:r>
            <a:r>
              <a:rPr sz="1700" b="0" i="0" baseline="30000">
                <a:solidFill>
                  <a:srgbClr val="1C252B"/>
                </a:solidFill>
                <a:latin typeface="Cambria"/>
              </a:rPr>
              <a:t>5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requires about: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100 KB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10 MB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10 GB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1 TB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3752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153     </a:t>
            </a:r>
            <a:fld id="{FFCC623E-D4AF-46EB-BDF8-E3BD48F64FE4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Define sparse and dense, and say which representation suits each and why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(CLO-2)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Give one task BFS does that DFS does not, and one that DFS does that BFS does not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(CLO-7)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measured matrix BFS time barely changed 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|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grew 512-fold. Explain.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1858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65973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600297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Prove that DFS on a directed acyclic graph, emitting vertices in reverse order of finishing time, produces a topological order.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4032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48147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422038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 are choosing a representation for a graph of 50 million web pages with average out-degree 40, for a workload that is 90% traversal and 10% edge queries. Decide, giving the arithmetic, and say what you would measure to check.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14611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38470"/>
                </a:solidFill>
                <a:latin typeface="Segoe UI Black"/>
              </a:rPr>
              <a:t>18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18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</a:rPr>
              <a:t>Chapter 19 — Minimum Spanning Trees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18, pages 147–153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</a:rPr>
              <a:t>The matrix/list crossover as density falls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Assignment 2 set; project proposal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18  ·  Graphs: Representation, Traversal and Sparsity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2AA24D3B-456E-4C23-8B26-FCB21E1E3A5C}" type="slidenum">
              <a:rPr lang="en-GB" sz="1000">
                <a:solidFill>
                  <a:srgbClr val="D5DEE5"/>
                </a:solidFill>
                <a:latin typeface="Segoe UI"/>
              </a:rPr>
              <a:t>44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18: Graphs: Representation, Traversal and Sparsity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