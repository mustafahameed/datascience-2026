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B0E0733-27A0-4373-9B81-57704BA98863}">
          <p14:sldIdLst>
            <p14:sldId id="256"/>
            <p14:sldId id="257"/>
            <p14:sldId id="258"/>
          </p14:sldIdLst>
        </p14:section>
        <p14:section name="Part I" id="{0214A8AC-5E33-4AC6-A64E-A9CA6F115F57}">
          <p14:sldIdLst>
            <p14:sldId id="259"/>
            <p14:sldId id="260"/>
          </p14:sldIdLst>
        </p14:section>
        <p14:section name="Part II" id="{6FDA011E-EAAB-4000-BA2E-BEA63D698E9D}">
          <p14:sldIdLst>
            <p14:sldId id="261"/>
            <p14:sldId id="262"/>
          </p14:sldIdLst>
        </p14:section>
        <p14:section name="Part III" id="{71A4F520-4C0C-48BA-B68C-470A66416AA3}">
          <p14:sldIdLst>
            <p14:sldId id="263"/>
            <p14:sldId id="264"/>
          </p14:sldIdLst>
        </p14:section>
        <p14:section name="Part IV" id="{FA174DAC-9C32-4890-93E4-6ABE601312EF}">
          <p14:sldIdLst>
            <p14:sldId id="265"/>
            <p14:sldId id="266"/>
          </p14:sldIdLst>
        </p14:section>
        <p14:section name="Part V" id="{88C4A11B-942B-4085-B600-C7358A330D27}">
          <p14:sldIdLst>
            <p14:sldId id="267"/>
            <p14:sldId id="268"/>
          </p14:sldIdLst>
        </p14:section>
        <p14:section name="Part VI" id="{34BB6023-5666-4490-AC72-78B7ADCAA56B}">
          <p14:sldIdLst>
            <p14:sldId id="269"/>
            <p14:sldId id="270"/>
          </p14:sldIdLst>
        </p14:section>
        <p14:section name="Schedule and assessment" id="{4F5BAD16-BD76-4016-A3B5-D6391B9BDC03}">
          <p14:sldIdLst>
            <p14:sldId id="271"/>
            <p14:sldId id="272"/>
            <p14:sldId id="273"/>
            <p14:sldId id="274"/>
          </p14:sldIdLst>
        </p14:section>
        <p14:section name="Wrap-up" id="{E446C596-1624-4E2B-8CC7-0F39CC70274F}">
          <p14:sldIdLst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semester with this deck. It answers: what is this course, how is it sequenced, and how will I be assessed?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Thirty-two chapters in six parts. The two application chapters the course is built towards are 25 and 26.</a:t>
            </a:r>
          </a:p>
          <a:p/>
          <a:p>
            <a:r>
              <a:t>Figure F.1 (handout p. 0): The six parts and the chapters in each. Chapter 10 is the hinge: it is the first result in the book about a problem rather than about an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organising idea of the whole course. Each row of Chapter 1's table becomes a part or a chapter, and the same three questions are asked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are asked of every algorithm in this book, and Part I is the vocabulary for asking them: what does it cost, how does the input shape that cost, and how would you prove the thing is correct rather than merely believe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P1.1 (handout p. 2): Reading path through Part I. Chapters 1–3 build the language of cost; Chapter 4 is the other half of the subject, and the one students most often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algorithm that calls itself is easy to write and hard to cost. Part II is the machinery for costing one — three ways to solve a recurrence, a theorem that solves most of them at sight, and the two sorting algorithms that every later chapter uses as a reference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P2.1 (handout p. 40): Reading path through Part II. Chapter 6 is the tool you will reach for most; Chapter 7 is the baseline that makes the rest worth having.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 II costed particular algorithms. Part III asks the harder question — how fast could any algorithm be? — proves an answer for sorting, and then shows exactly what buying an extra assumption gets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P3.1 (handout p. 81): Reading path through Part III. Chapter 10 is the hinge of the whole book; Chapters 12 and 13 revisit Data Structures for their analysis, not their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Divide-and-conquer splits a problem into independent pieces. Part IV is what to do when the pieces are not independent — when a local choice can be trusted, when it cannot and the subproblems overlap, and how to cost a sequence of operations rather than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P4.1 (handout p. 112): Reading path through Part IV. Chapter 15 is the one to understand rather than memorise: the two properties in it decide whether greedy or dynamic programming applies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so far has been applied to arrays. Part V applies it to graphs, where one decision — how the graph is stored — changes every bound in the part, and where the design paradigms of Part IV reappear wearing different clothes.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P5.1 (handout p. 146): Reading path through Part V. Chapter 18 comes first because the representation decides the bounds: the same algorithm is a different cost on a sparse graph and a dense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book closes where the analysis runs out. Chapter 21 is one more well-solved problem; Chapter 22 is the class of problems nobody can solve efficiently and nobody can prove cannot be — the largest open question in the subject, stated precisely enough to recognise.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P6.1 (handout p. 172): Reading path through Part VI. Chapter 22 is the only chapter whose central claim is that nobody knows; Chapter 23 is where you use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first session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1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3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25135" y="-457200"/>
            <a:ext cx="6400800" cy="4754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16384"/>
                </a:solidFill>
                <a:latin typeface="Segoe UI Black"/>
              </a:rPr>
              <a:t>23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920240"/>
            <a:ext cx="10881360" cy="11887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Analysis of Algorithms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k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CFD9"/>
                </a:solidFill>
                <a:latin typeface="Segoe UI"/>
              </a:rPr>
              <a:t>BSIT  ·  FALL 2026</a:t>
            </a:r>
          </a:p>
        </p:txBody>
      </p:sp>
      <p:sp>
        <p:nvSpPr>
          <p:cNvPr id="6" name="!!tsub"/>
          <p:cNvSpPr txBox="1"/>
          <p:nvPr/>
        </p:nvSpPr>
        <p:spPr>
          <a:xfrm>
            <a:off x="658368" y="320040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DFE7EC"/>
                </a:solidFill>
                <a:latin typeface="Segoe UI Semibold"/>
              </a:rPr>
              <a:t>Design, Proof and Measurement</a:t>
            </a:r>
          </a:p>
        </p:txBody>
      </p:sp>
      <p:sp>
        <p:nvSpPr>
          <p:cNvPr id="7" name="!!tsub2"/>
          <p:cNvSpPr txBox="1"/>
          <p:nvPr/>
        </p:nvSpPr>
        <p:spPr>
          <a:xfrm>
            <a:off x="658368" y="4160520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3D2DB"/>
                </a:solidFill>
                <a:latin typeface="Segoe UI"/>
              </a:rPr>
              <a:t>Six parts  ·  23 chapters  ·  16 weeks  ·  one project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3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5B5BE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DC8CF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5BE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six parts and the chapters in each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F.1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front matter     </a:t>
            </a:r>
            <a:fld id="{8A714386-C186-4FA1-BDF2-1B6BB7159091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pic>
        <p:nvPicPr>
          <p:cNvPr id="6" name="!!figure" descr="Figure F.1. The six parts and the chapters in each. Chapter 10 is the hinge: it is the first result in the book about a problem rather than about an algorithm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846638"/>
            <a:ext cx="10874959" cy="3385502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930188"/>
            <a:ext cx="54864" cy="306019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911900"/>
            <a:ext cx="10600639" cy="4888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Chapter 10 is the hinge: it is the first result in the book about a problem rather than about an algorithm.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Six questions, asked of every algorithm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THE SPINE OF 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§1.1     </a:t>
            </a:r>
            <a:fld id="{CA4FB92C-EADD-4160-83A4-FCFAFA27F8A0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lay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3478682" cy="1911095"/>
          </a:xfrm>
          <a:prstGeom prst="roundRect">
            <a:avLst>
              <a:gd name="adj" fmla="val 4784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ay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64008" cy="1911095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yn0"/>
          <p:cNvSpPr txBox="1"/>
          <p:nvPr/>
        </p:nvSpPr>
        <p:spPr>
          <a:xfrm>
            <a:off x="914400" y="1883664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1A5276"/>
                </a:solidFill>
                <a:latin typeface="Segoe UI"/>
              </a:rPr>
              <a:t>WHAT DOES IT COST?</a:t>
            </a:r>
          </a:p>
        </p:txBody>
      </p:sp>
      <p:sp>
        <p:nvSpPr>
          <p:cNvPr id="10" name="!!layv0"/>
          <p:cNvSpPr txBox="1"/>
          <p:nvPr/>
        </p:nvSpPr>
        <p:spPr>
          <a:xfrm>
            <a:off x="914400" y="2212848"/>
            <a:ext cx="3021482" cy="1271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Counted in primitive operations, not seconds.
Chapters 1--3.</a:t>
            </a:r>
          </a:p>
        </p:txBody>
      </p:sp>
      <p:sp>
        <p:nvSpPr>
          <p:cNvPr id="11" name="!!lay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56506" y="1737360"/>
            <a:ext cx="3478682" cy="1911095"/>
          </a:xfrm>
          <a:prstGeom prst="roundRect">
            <a:avLst>
              <a:gd name="adj" fmla="val 4784"/>
            </a:avLst>
          </a:prstGeom>
          <a:solidFill>
            <a:srgbClr val="F2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lay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56506" y="1737360"/>
            <a:ext cx="64008" cy="191109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layn1"/>
          <p:cNvSpPr txBox="1"/>
          <p:nvPr/>
        </p:nvSpPr>
        <p:spPr>
          <a:xfrm>
            <a:off x="4612538" y="1883664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E86C1"/>
                </a:solidFill>
                <a:latin typeface="Segoe UI"/>
              </a:rPr>
              <a:t>ON WHICH INPUT?</a:t>
            </a:r>
          </a:p>
        </p:txBody>
      </p:sp>
      <p:sp>
        <p:nvSpPr>
          <p:cNvPr id="14" name="!!layv1"/>
          <p:cNvSpPr txBox="1"/>
          <p:nvPr/>
        </p:nvSpPr>
        <p:spPr>
          <a:xfrm>
            <a:off x="4612538" y="2212848"/>
            <a:ext cx="3021482" cy="1271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Best, worst and expected are three answers.
Chapters 2, 9.</a:t>
            </a:r>
          </a:p>
        </p:txBody>
      </p:sp>
      <p:sp>
        <p:nvSpPr>
          <p:cNvPr id="15" name="!!lay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4644" y="1737360"/>
            <a:ext cx="3478682" cy="1911095"/>
          </a:xfrm>
          <a:prstGeom prst="roundRect">
            <a:avLst>
              <a:gd name="adj" fmla="val 4784"/>
            </a:avLst>
          </a:prstGeom>
          <a:solidFill>
            <a:srgbClr val="F2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lay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4644" y="1737360"/>
            <a:ext cx="64008" cy="1911095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layn2"/>
          <p:cNvSpPr txBox="1"/>
          <p:nvPr/>
        </p:nvSpPr>
        <p:spPr>
          <a:xfrm>
            <a:off x="8310676" y="1883664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7AE60"/>
                </a:solidFill>
                <a:latin typeface="Segoe UI"/>
              </a:rPr>
              <a:t>IS IT CORRECT?</a:t>
            </a:r>
          </a:p>
        </p:txBody>
      </p:sp>
      <p:sp>
        <p:nvSpPr>
          <p:cNvPr id="18" name="!!layv2"/>
          <p:cNvSpPr txBox="1"/>
          <p:nvPr/>
        </p:nvSpPr>
        <p:spPr>
          <a:xfrm>
            <a:off x="8310676" y="2212848"/>
            <a:ext cx="3021482" cy="1271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A loop invariant, not a passing test.
Chapter 4.</a:t>
            </a:r>
          </a:p>
        </p:txBody>
      </p:sp>
      <p:sp>
        <p:nvSpPr>
          <p:cNvPr id="19" name="!!lay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31335"/>
            <a:ext cx="3478682" cy="1911095"/>
          </a:xfrm>
          <a:prstGeom prst="roundRect">
            <a:avLst>
              <a:gd name="adj" fmla="val 4784"/>
            </a:avLst>
          </a:prstGeom>
          <a:solidFill>
            <a:srgbClr val="F8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ay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31335"/>
            <a:ext cx="64008" cy="1911095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layn3"/>
          <p:cNvSpPr txBox="1"/>
          <p:nvPr/>
        </p:nvSpPr>
        <p:spPr>
          <a:xfrm>
            <a:off x="914400" y="3977639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8E44AD"/>
                </a:solidFill>
                <a:latin typeface="Segoe UI"/>
              </a:rPr>
              <a:t>COULD ANYTHING DO BETTER?</a:t>
            </a:r>
          </a:p>
        </p:txBody>
      </p:sp>
      <p:sp>
        <p:nvSpPr>
          <p:cNvPr id="22" name="!!layv3"/>
          <p:cNvSpPr txBox="1"/>
          <p:nvPr/>
        </p:nvSpPr>
        <p:spPr>
          <a:xfrm>
            <a:off x="914400" y="4306823"/>
            <a:ext cx="3021482" cy="1271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A bound on the problem, not the algorithm.
Chapter 10.</a:t>
            </a:r>
          </a:p>
        </p:txBody>
      </p:sp>
      <p:sp>
        <p:nvSpPr>
          <p:cNvPr id="23" name="!!lay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56506" y="3831335"/>
            <a:ext cx="3478682" cy="1911095"/>
          </a:xfrm>
          <a:prstGeom prst="roundRect">
            <a:avLst>
              <a:gd name="adj" fmla="val 4784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ay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56506" y="3831335"/>
            <a:ext cx="64008" cy="1911095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ayn4"/>
          <p:cNvSpPr txBox="1"/>
          <p:nvPr/>
        </p:nvSpPr>
        <p:spPr>
          <a:xfrm>
            <a:off x="4612538" y="3977639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117A65"/>
                </a:solidFill>
                <a:latin typeface="Segoe UI"/>
              </a:rPr>
              <a:t>HOW WAS IT DESIGNED?</a:t>
            </a:r>
          </a:p>
        </p:txBody>
      </p:sp>
      <p:sp>
        <p:nvSpPr>
          <p:cNvPr id="26" name="!!layv4"/>
          <p:cNvSpPr txBox="1"/>
          <p:nvPr/>
        </p:nvSpPr>
        <p:spPr>
          <a:xfrm>
            <a:off x="4612538" y="4306823"/>
            <a:ext cx="3021482" cy="1271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Brute force, divide, greedy, dynamic.
Chapters 7, 8, 14, 15.</a:t>
            </a:r>
          </a:p>
        </p:txBody>
      </p:sp>
      <p:sp>
        <p:nvSpPr>
          <p:cNvPr id="27" name="!!lay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4644" y="3831335"/>
            <a:ext cx="3478682" cy="1911095"/>
          </a:xfrm>
          <a:prstGeom prst="roundRect">
            <a:avLst>
              <a:gd name="adj" fmla="val 4784"/>
            </a:avLst>
          </a:prstGeom>
          <a:solidFill>
            <a:srgbClr val="FB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lay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4644" y="3831335"/>
            <a:ext cx="64008" cy="191109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layn5"/>
          <p:cNvSpPr txBox="1"/>
          <p:nvPr/>
        </p:nvSpPr>
        <p:spPr>
          <a:xfrm>
            <a:off x="8310676" y="3977639"/>
            <a:ext cx="302148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B7950B"/>
                </a:solidFill>
                <a:latin typeface="Segoe UI"/>
              </a:rPr>
              <a:t>AND WHAT DOES IT MEASURE?</a:t>
            </a:r>
          </a:p>
        </p:txBody>
      </p:sp>
      <p:sp>
        <p:nvSpPr>
          <p:cNvPr id="30" name="!!layv5"/>
          <p:cNvSpPr txBox="1"/>
          <p:nvPr/>
        </p:nvSpPr>
        <p:spPr>
          <a:xfrm>
            <a:off x="8310676" y="4306823"/>
            <a:ext cx="3021482" cy="1271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Every claim in this book was run.
Every chapter.</a:t>
            </a:r>
          </a:p>
        </p:txBody>
      </p:sp>
      <p:sp>
        <p:nvSpPr>
          <p:cNvPr id="31" name="!!laynote"/>
          <p:cNvSpPr txBox="1"/>
          <p:nvPr/>
        </p:nvSpPr>
        <p:spPr>
          <a:xfrm>
            <a:off x="658368" y="5852160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Three of these are asked of the algorithm, one of the problem, and the last one of the machine.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75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737360"/>
            <a:ext cx="6659575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>
                <a:solidFill>
                  <a:srgbClr val="1C252B"/>
                </a:solidFill>
                <a:latin typeface="Segoe UI Semibold"/>
              </a:rPr>
              <a:t>Analysing an Algorithm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PART I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58368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I</a:t>
            </a:r>
          </a:p>
        </p:txBody>
      </p:sp>
      <p:sp>
        <p:nvSpPr>
          <p:cNvPr id="6" name="!!dch"/>
          <p:cNvSpPr txBox="1"/>
          <p:nvPr/>
        </p:nvSpPr>
        <p:spPr>
          <a:xfrm>
            <a:off x="676656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40">
                <a:solidFill>
                  <a:srgbClr val="BACBD6"/>
                </a:solidFill>
                <a:latin typeface="Segoe UI"/>
              </a:rPr>
              <a:t>CHAPTERS 1–4</a:t>
            </a:r>
          </a:p>
        </p:txBody>
      </p:sp>
      <p:sp>
        <p:nvSpPr>
          <p:cNvPr id="7" name="!!dquote"/>
          <p:cNvSpPr txBox="1"/>
          <p:nvPr/>
        </p:nvSpPr>
        <p:spPr>
          <a:xfrm>
            <a:off x="4846320" y="2880360"/>
            <a:ext cx="6659575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A5276"/>
                </a:solidFill>
                <a:latin typeface="Segoe UI"/>
              </a:rPr>
              <a:t>Three questions are asked of every algorithm in this book, and Part I is the vocabulary for asking them: what does it cost, how does the input shape that cost, and how would you </a:t>
            </a:r>
            <a:r>
              <a:rPr sz="2000" b="0" i="0">
                <a:solidFill>
                  <a:srgbClr val="1A5276"/>
                </a:solidFill>
                <a:latin typeface="Segoe UI"/>
              </a:rPr>
              <a:t>prove</a:t>
            </a:r>
            <a:r>
              <a:rPr sz="2000" b="0" i="1">
                <a:solidFill>
                  <a:srgbClr val="1A5276"/>
                </a:solidFill>
                <a:latin typeface="Segoe UI"/>
              </a:rPr>
              <a:t> the thing is correct rather than merely believe it?</a:t>
            </a:r>
          </a:p>
        </p:txBody>
      </p:sp>
      <p:sp>
        <p:nvSpPr>
          <p:cNvPr id="8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9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E91ED8CF-7041-45EE-8FC8-E0B4010609A8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Reading path through Part I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P1.1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038AD059-C281-4097-9518-1E847196CFCA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pic>
        <p:nvPicPr>
          <p:cNvPr id="6" name="!!figure" descr="Figure P1.1. Reading path through Part I. Chapters 1–3 build the language of cost; Chapter 4 is the other half of the subject, and the one students most often skip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2069141"/>
            <a:ext cx="10874959" cy="1844613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Chapters 1–3 build the language of cost; Chapter 4 is the other half of the subject, and the one students most often skip.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737360"/>
            <a:ext cx="6659575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>
                <a:solidFill>
                  <a:srgbClr val="1C252B"/>
                </a:solidFill>
                <a:latin typeface="Segoe UI Semibold"/>
              </a:rPr>
              <a:t>Recursion and Divide-and-Conquer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PART II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58368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II</a:t>
            </a:r>
          </a:p>
        </p:txBody>
      </p:sp>
      <p:sp>
        <p:nvSpPr>
          <p:cNvPr id="6" name="!!dch"/>
          <p:cNvSpPr txBox="1"/>
          <p:nvPr/>
        </p:nvSpPr>
        <p:spPr>
          <a:xfrm>
            <a:off x="676656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40">
                <a:solidFill>
                  <a:srgbClr val="BDD1DF"/>
                </a:solidFill>
                <a:latin typeface="Segoe UI"/>
              </a:rPr>
              <a:t>CHAPTERS 5–9</a:t>
            </a:r>
          </a:p>
        </p:txBody>
      </p:sp>
      <p:sp>
        <p:nvSpPr>
          <p:cNvPr id="7" name="!!dquote"/>
          <p:cNvSpPr txBox="1"/>
          <p:nvPr/>
        </p:nvSpPr>
        <p:spPr>
          <a:xfrm>
            <a:off x="4846320" y="2880360"/>
            <a:ext cx="6659575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E86C1"/>
                </a:solidFill>
                <a:latin typeface="Segoe UI"/>
              </a:rPr>
              <a:t>An algorithm that calls itself is easy to write and hard to cost. Part II is the machinery for costing one — three ways to solve a recurrence, a theorem that solves most of them at sight, and the two sorting algorithms that every later chapter uses as a reference point.</a:t>
            </a:r>
          </a:p>
        </p:txBody>
      </p:sp>
      <p:sp>
        <p:nvSpPr>
          <p:cNvPr id="8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9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7266D101-DDB2-43F6-8B6A-FCC43DE37F71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5750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Reading path through Part II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P2.1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309AAC54-7EC5-40DC-9EC6-34F806F8532D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pic>
        <p:nvPicPr>
          <p:cNvPr id="6" name="!!figure" descr="Figure P2.1. Reading path through Part II. Chapter 6 is the tool you will reach for most; Chapter 7 is the baseline that makes the rest worth having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2147585"/>
            <a:ext cx="10874959" cy="1665803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930188"/>
            <a:ext cx="54864" cy="306019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911900"/>
            <a:ext cx="10600639" cy="4888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Chapter 6 is the tool you will reach for most; Chapter 7 is the baseline that makes the rest worth having.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6709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737360"/>
            <a:ext cx="6659575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>
                <a:solidFill>
                  <a:srgbClr val="1C252B"/>
                </a:solidFill>
                <a:latin typeface="Segoe UI Semibold"/>
              </a:rPr>
              <a:t>Sorting, Selection and the Structures Beneath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PART III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58368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III</a:t>
            </a:r>
          </a:p>
        </p:txBody>
      </p:sp>
      <p:sp>
        <p:nvSpPr>
          <p:cNvPr id="6" name="!!dch"/>
          <p:cNvSpPr txBox="1"/>
          <p:nvPr/>
        </p:nvSpPr>
        <p:spPr>
          <a:xfrm>
            <a:off x="676656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40">
                <a:solidFill>
                  <a:srgbClr val="BBD7C7"/>
                </a:solidFill>
                <a:latin typeface="Segoe UI"/>
              </a:rPr>
              <a:t>CHAPTERS 10–13</a:t>
            </a:r>
          </a:p>
        </p:txBody>
      </p:sp>
      <p:sp>
        <p:nvSpPr>
          <p:cNvPr id="7" name="!!dquote"/>
          <p:cNvSpPr txBox="1"/>
          <p:nvPr/>
        </p:nvSpPr>
        <p:spPr>
          <a:xfrm>
            <a:off x="4846320" y="2880360"/>
            <a:ext cx="6659575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E8449"/>
                </a:solidFill>
                <a:latin typeface="Segoe UI"/>
              </a:rPr>
              <a:t>Part II costed particular algorithms. Part III asks the harder question — how fast could </a:t>
            </a:r>
            <a:r>
              <a:rPr sz="2000" b="0" i="0">
                <a:solidFill>
                  <a:srgbClr val="1E8449"/>
                </a:solidFill>
                <a:latin typeface="Segoe UI"/>
              </a:rPr>
              <a:t>any</a:t>
            </a:r>
            <a:r>
              <a:rPr sz="2000" b="0" i="1">
                <a:solidFill>
                  <a:srgbClr val="1E8449"/>
                </a:solidFill>
                <a:latin typeface="Segoe UI"/>
              </a:rPr>
              <a:t> algorithm be? — proves an answer for sorting, and then shows exactly what buying an extra assumption gets you.</a:t>
            </a:r>
          </a:p>
        </p:txBody>
      </p:sp>
      <p:sp>
        <p:nvSpPr>
          <p:cNvPr id="8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9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116447C1-6716-41B5-B74D-6820AD10A8CF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Reading path through Part III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P3.1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D8CB22B3-3ACA-41F9-94B2-A787D88D33F4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pic>
        <p:nvPicPr>
          <p:cNvPr id="6" name="!!figure" descr="Figure P3.1. Reading path through Part III. Chapter 10 is the hinge of the whole book; Chapters 12 and 13 revisit Data Structures for their analysis, not their implementation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2095140"/>
            <a:ext cx="10874959" cy="1696048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Chapter 10 is the hinge of the whole book; Chapters 12 and 13 revisit Data Structures for their analysis, not their implementation.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8626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737360"/>
            <a:ext cx="6659575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>
                <a:solidFill>
                  <a:srgbClr val="1C252B"/>
                </a:solidFill>
                <a:latin typeface="Segoe UI Semibold"/>
              </a:rPr>
              <a:t>The Design Paradigms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PART IV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58368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IV</a:t>
            </a:r>
          </a:p>
        </p:txBody>
      </p:sp>
      <p:sp>
        <p:nvSpPr>
          <p:cNvPr id="6" name="!!dch"/>
          <p:cNvSpPr txBox="1"/>
          <p:nvPr/>
        </p:nvSpPr>
        <p:spPr>
          <a:xfrm>
            <a:off x="676656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40">
                <a:solidFill>
                  <a:srgbClr val="D7C4DF"/>
                </a:solidFill>
                <a:latin typeface="Segoe UI"/>
              </a:rPr>
              <a:t>CHAPTERS 14–17</a:t>
            </a:r>
          </a:p>
        </p:txBody>
      </p:sp>
      <p:sp>
        <p:nvSpPr>
          <p:cNvPr id="7" name="!!dquote"/>
          <p:cNvSpPr txBox="1"/>
          <p:nvPr/>
        </p:nvSpPr>
        <p:spPr>
          <a:xfrm>
            <a:off x="4846320" y="2880360"/>
            <a:ext cx="6659575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8E44AD"/>
                </a:solidFill>
                <a:latin typeface="Segoe UI"/>
              </a:rPr>
              <a:t>Divide-and-conquer splits a problem into independent pieces. Part IV is what to do when the pieces are </a:t>
            </a:r>
            <a:r>
              <a:rPr sz="2000" b="0" i="0">
                <a:solidFill>
                  <a:srgbClr val="8E44AD"/>
                </a:solidFill>
                <a:latin typeface="Segoe UI"/>
              </a:rPr>
              <a:t>not</a:t>
            </a:r>
            <a:r>
              <a:rPr sz="2000" b="0" i="1">
                <a:solidFill>
                  <a:srgbClr val="8E44AD"/>
                </a:solidFill>
                <a:latin typeface="Segoe UI"/>
              </a:rPr>
              <a:t> independent — when a local choice can be trusted, when it cannot and the subproblems overlap, and how to cost a sequence of operations rather than one.</a:t>
            </a:r>
          </a:p>
        </p:txBody>
      </p:sp>
      <p:sp>
        <p:nvSpPr>
          <p:cNvPr id="8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9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F927C944-2DA5-4185-AF93-B477C4D3A8FB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Reading path through Part IV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P4.1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1F74198B-C561-4866-A9CF-9C0DBA20D65A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pic>
        <p:nvPicPr>
          <p:cNvPr id="6" name="!!figure" descr="Figure P4.1. Reading path through Part IV. Chapter 15 is the one to understand rather than memorise: the two properties in it decide whether greedy or dynamic programming applies at all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2069141"/>
            <a:ext cx="10874959" cy="1844613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Chapter 15 is the one to understand rather than memorise: the two properties in it decide whether greedy or dynamic programming applies at all.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0543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737360"/>
            <a:ext cx="6659575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>
                <a:solidFill>
                  <a:srgbClr val="1C252B"/>
                </a:solidFill>
                <a:latin typeface="Segoe UI Semibold"/>
              </a:rPr>
              <a:t>Graph Algorithms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7D7D0"/>
                </a:solidFill>
                <a:latin typeface="Segoe UI"/>
              </a:rPr>
              <a:t>PART V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58368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V</a:t>
            </a:r>
          </a:p>
        </p:txBody>
      </p:sp>
      <p:sp>
        <p:nvSpPr>
          <p:cNvPr id="6" name="!!dch"/>
          <p:cNvSpPr txBox="1"/>
          <p:nvPr/>
        </p:nvSpPr>
        <p:spPr>
          <a:xfrm>
            <a:off x="676656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40">
                <a:solidFill>
                  <a:srgbClr val="B7D7D0"/>
                </a:solidFill>
                <a:latin typeface="Segoe UI"/>
              </a:rPr>
              <a:t>CHAPTERS 18–20</a:t>
            </a:r>
          </a:p>
        </p:txBody>
      </p:sp>
      <p:sp>
        <p:nvSpPr>
          <p:cNvPr id="7" name="!!dquote"/>
          <p:cNvSpPr txBox="1"/>
          <p:nvPr/>
        </p:nvSpPr>
        <p:spPr>
          <a:xfrm>
            <a:off x="4846320" y="2880360"/>
            <a:ext cx="6659575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17A65"/>
                </a:solidFill>
                <a:latin typeface="Segoe UI"/>
              </a:rPr>
              <a:t>Everything so far has been applied to arrays. Part V applies it to graphs, where one decision — how the graph is stored — changes every bound in the part, and where the design paradigms of Part IV reappear wearing different clothes.</a:t>
            </a:r>
          </a:p>
        </p:txBody>
      </p:sp>
      <p:sp>
        <p:nvSpPr>
          <p:cNvPr id="8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9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452E7977-0C19-4ACB-8171-45920C4C8269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1501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Reading path through Part V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P5.1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9F298502-FA7C-43E0-BB47-896AC3474E57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pic>
        <p:nvPicPr>
          <p:cNvPr id="6" name="!!figure" descr="Figure P5.1. Reading path through Part V. Chapter 18 comes first because the representation decides the bounds: the same algorithm is a different cost on a sparse graph and a dense one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988949"/>
            <a:ext cx="10874959" cy="2302851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Chapter 18 comes first because the representation decides the bounds: the same algorithm is a different cost on a sparse graph and a dense one.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92460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737360"/>
            <a:ext cx="6659575" cy="10058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>
                <a:solidFill>
                  <a:srgbClr val="1C252B"/>
                </a:solidFill>
                <a:latin typeface="Segoe UI Semibold"/>
              </a:rPr>
              <a:t>Strings, Limits and Practice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4CEB4"/>
                </a:solidFill>
                <a:latin typeface="Segoe UI"/>
              </a:rPr>
              <a:t>PART VI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58368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VI</a:t>
            </a:r>
          </a:p>
        </p:txBody>
      </p:sp>
      <p:sp>
        <p:nvSpPr>
          <p:cNvPr id="6" name="!!dch"/>
          <p:cNvSpPr txBox="1"/>
          <p:nvPr/>
        </p:nvSpPr>
        <p:spPr>
          <a:xfrm>
            <a:off x="676656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40">
                <a:solidFill>
                  <a:srgbClr val="D4CEB4"/>
                </a:solidFill>
                <a:latin typeface="Segoe UI"/>
              </a:rPr>
              <a:t>CHAPTERS 21–23</a:t>
            </a:r>
          </a:p>
        </p:txBody>
      </p:sp>
      <p:sp>
        <p:nvSpPr>
          <p:cNvPr id="7" name="!!dquote"/>
          <p:cNvSpPr txBox="1"/>
          <p:nvPr/>
        </p:nvSpPr>
        <p:spPr>
          <a:xfrm>
            <a:off x="4846320" y="2880360"/>
            <a:ext cx="6659575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7D6608"/>
                </a:solidFill>
                <a:latin typeface="Segoe UI"/>
              </a:rPr>
              <a:t>The book closes where the analysis runs out. Chapter 21 is one more well-solved problem; Chapter 22 is the class of problems nobody can solve efficiently and nobody can prove cannot be — the largest open question in the subject, stated precisely enough to recognise.</a:t>
            </a:r>
          </a:p>
        </p:txBody>
      </p:sp>
      <p:sp>
        <p:nvSpPr>
          <p:cNvPr id="8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9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F0A933FC-3DD0-4B94-8CF6-24DBA90079BD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3418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Reading path through Part VI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P6.1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part opener     </a:t>
            </a:r>
            <a:fld id="{DD0FB692-1A16-459F-BB5F-80F35DE65987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pic>
        <p:nvPicPr>
          <p:cNvPr id="6" name="!!figure" descr="Figure P6.1. Reading path through Part VI. Chapter 22 is the only chapter whose central claim is that nobody knows; Chapter 23 is where you use the rest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957357"/>
            <a:ext cx="10874959" cy="248337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Chapter 22 is the only chapter whose central claim is that nobody knows; Chapter 23 is where you use the rest.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Sixteen weeks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TEACHING SCHEDULE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Appendix G     </a:t>
            </a:r>
            <a:fld id="{592CAC4A-C908-4508-8434-238E0325A354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10874957" cy="420623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30726"/>
                <a:gridCol w="2416657"/>
                <a:gridCol w="1359369"/>
                <a:gridCol w="3322904"/>
                <a:gridCol w="294530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Wk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Lecture topic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Chapters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Lab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Assessment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What an algorithm is; input size and the three cases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1, 2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Growth measured: the ratio test, and the crossover at </a:t>
                      </a:r>
                      <a:r>
                        <a:rPr sz="12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Cambria"/>
                        </a:rPr>
                        <a:t> ≈ 65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Asymptotic notation, formally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3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Fit a curve; exclude the exponents either side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3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Correctness and loop invariants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A bug that is never wrong and never finishes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Recurrences; the master theorem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5, 6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Recursion trees against measured depth and cost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5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Brute force; divide and conquer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7, 8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Where </a:t>
                      </a:r>
                      <a:r>
                        <a:rPr sz="12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80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2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 beats </a:t>
                      </a:r>
                      <a:r>
                        <a:rPr sz="12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Cambria"/>
                        </a:rPr>
                        <a:t> lg </a:t>
                      </a:r>
                      <a:r>
                        <a:rPr sz="12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, and by how much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Quicksort and randomisation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9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The adversarial input, and what randomising costs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Quiz 1 (Ch 1–6)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7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The comparison lower bound; linear-time sorting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Counting and radix sort against </a:t>
                      </a:r>
                      <a:r>
                        <a:rPr sz="1150" b="0" i="0">
                          <a:solidFill>
                            <a:srgbClr val="1F4E79"/>
                          </a:solidFill>
                          <a:latin typeface="Consolas"/>
                        </a:rPr>
                        <a:t>std::sort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Assignment 1 set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8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Selection and order statistics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Midterm, then quickselect against a full sort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Midterm (Ch 1–9)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9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Heaps, search trees and hashing, analysed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12, 13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A hash table degrading under a poor hash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Assignment 1 due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Sixteen weeks (continued)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TEACHING SCHEDULE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Appendix G     </a:t>
            </a:r>
            <a:fld id="{405C244E-0B0E-4A61-B41B-9600956C526E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10874957" cy="3547867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30726"/>
                <a:gridCol w="2416657"/>
                <a:gridCol w="1359369"/>
                <a:gridCol w="3322904"/>
                <a:gridCol w="294530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Wk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Lecture topic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Chapters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Lab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Assessment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Greedy algorithms and exchange arguments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Huffman coding on real text; measure the compression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Dynamic programming: elements and classics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15, 16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Memoised against bottom-up, timed and counted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Amortised analysis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17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A growing array: aggregate cost against worst-case cost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Quiz 2 (Ch 10–16)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13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Graph representation, traversal and spanning trees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18, 19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The matrix/list crossover as density falls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Assignment 2 set; project proposal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Shortest paths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20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Dijkstra with and without a priority queue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15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String matching; P, NP and NP-completeness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21, 22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Naive, Rabin–Karp and KMP on the same corpus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Assignment 2 due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The semester project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23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Implement, measure, defend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Project due; Final (Ch 1–22)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36294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How the marks are earned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ASSESSMENT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Appendix G     </a:t>
            </a:r>
            <a:fld id="{CB0CB78B-CB7B-4E29-AD9C-4DDC7C82E332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9910826" cy="427939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523864"/>
                <a:gridCol w="1835604"/>
                <a:gridCol w="455135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Outline clause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Weeks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Note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Introduction; role of algorithms in computing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Analysis on nature of input and size of input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2; CLO-1 and CLO-2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Asymptotic notations; </a:t>
                      </a:r>
                      <a:r>
                        <a:rPr sz="1200" b="0" i="1">
                          <a:solidFill>
                            <a:srgbClr val="1C252B"/>
                          </a:solidFill>
                          <a:latin typeface="Cambria"/>
                        </a:rPr>
                        <a:t>O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Cambria"/>
                        </a:rPr>
                        <a:t>Ω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Cambria"/>
                        </a:rPr>
                        <a:t>Θ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200" b="0" i="1">
                          <a:solidFill>
                            <a:srgbClr val="1C252B"/>
                          </a:solidFill>
                          <a:latin typeface="Cambria"/>
                        </a:rPr>
                        <a:t>o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Cambria"/>
                        </a:rPr>
                        <a:t>ω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3; CLO-5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Sorting algorithm analysis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5–8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8–11, including the lower bound the outline does not name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Loop invariants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3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Recursion and recurrence relations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5, 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Algorithm design techniques; brute force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5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7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Divide-and-conquer; merge, quick sort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5, 6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8, 9; CLO-6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Greedy approach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14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Dynamic programming; elements of DP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15, 16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Search trees; heaps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9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12 — analysed, not reimplemented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Hashing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9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13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52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How the marks are earned (continued)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ASSESSMENT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Appendix G     </a:t>
            </a:r>
            <a:fld id="{DA9C38AF-B72E-4B25-A069-F04B8FF5C882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9910826" cy="13167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523864"/>
                <a:gridCol w="1835604"/>
                <a:gridCol w="455135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Outline clause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Weeks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Note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Graph algorithms; shortest paths; sparse graphs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13, 14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18–20; CLO-7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String matching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15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21; CLO-8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Introduction to complexity classes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15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Ch 22; CLO-4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58211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25135" y="-457200"/>
            <a:ext cx="6400800" cy="4754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C6081"/>
                </a:solidFill>
                <a:latin typeface="Segoe UI Black"/>
              </a:rPr>
              <a:t>01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We start with Chapter 1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FIRST SESSION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Chapter 1 — The Role of Algorithms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BRING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A laptop with a C++ compiler (Appendix A)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FIRST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Growth measured: the ratio test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READ BEFORE WEEK 2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Chapters 1 and 2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Course overview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E516D8A4-4EA7-4F34-80B6-EAF84E09D48D}" type="slidenum">
              <a:rPr lang="en-GB" sz="1000">
                <a:solidFill>
                  <a:srgbClr val="D5DEE5"/>
                </a:solidFill>
                <a:latin typeface="Segoe UI"/>
              </a:rPr>
              <a:t>20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 — Course Overview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