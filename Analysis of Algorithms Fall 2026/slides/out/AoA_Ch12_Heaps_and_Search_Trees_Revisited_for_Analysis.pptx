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5.svg" ContentType="image/svg+xml"/>
  <Override PartName="/ppt/media/image36.svg" ContentType="image/svg+xml"/>
  <Override PartName="/ppt/media/image38.svg" ContentType="image/svg+xml"/>
  <Override PartName="/ppt/media/image39.svg" ContentType="image/svg+xml"/>
  <Override PartName="/ppt/media/image4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3.svg" ContentType="image/svg+xml"/>
  <Override PartName="/ppt/media/image44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0.svg" ContentType="image/svg+xml"/>
  <Override PartName="/ppt/media/image51.svg" ContentType="image/svg+xml"/>
  <Override PartName="/ppt/media/image53.svg" ContentType="image/svg+xml"/>
  <Override PartName="/ppt/media/image54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0.svg" ContentType="image/svg+xml"/>
  <Override PartName="/ppt/media/image61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63CB9665-D78B-45D7-AECE-97A3568A23EE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12.1 A Heap’s Height Is a Guarantee" id="{25D9BFE1-C8B0-4E93-A4D4-A8DE7651BF2D}">
          <p14:sldIdLst>
            <p14:sldId id="262"/>
            <p14:sldId id="263"/>
            <p14:sldId id="264"/>
            <p14:sldId id="265"/>
            <p14:sldId id="266"/>
          </p14:sldIdLst>
        </p14:section>
        <p14:section name="12.2 Build-Heap Is Linear, and the Obvious Analysis Says Oth" id="{D8BE5256-DBD7-4A8C-80C3-4294E3373B0A}">
          <p14:sldIdLst>
            <p14:sldId id="267"/>
            <p14:sldId id="268"/>
            <p14:sldId id="269"/>
            <p14:sldId id="270"/>
          </p14:sldIdLst>
        </p14:section>
        <p14:section name="12.3 A Search Tree’s Height Is a Hope" id="{ADE77FF4-35B6-495C-9229-5D1C71845CD1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12.4 Choosing" id="{A1F8D324-6FF4-4459-8B6B-A93690BA80AC}">
          <p14:sldIdLst>
            <p14:sldId id="279"/>
            <p14:sldId id="280"/>
          </p14:sldIdLst>
        </p14:section>
        <p14:section name="Pitfalls" id="{AF50504A-2F86-434A-9C40-77A05665073F}">
          <p14:sldIdLst>
            <p14:sldId id="281"/>
            <p14:sldId id="282"/>
          </p14:sldIdLst>
        </p14:section>
        <p14:section name="Lab" id="{8D5E0053-036A-4395-B3BD-56A00E011CD4}">
          <p14:sldIdLst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Checkpoint" id="{FECDD349-5D20-4421-AF62-96FEB348F8E8}">
          <p14:sldIdLst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Wrap-up" id="{90DFD80D-B437-488C-B4D6-C697D9872CFE}">
          <p14:sldIdLst>
            <p14:sldId id="297"/>
            <p14:sldId id="298"/>
            <p14:sldId id="299"/>
            <p14:sldId id="300"/>
            <p14:sldId id="30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12: Heaps and Search Trees, Revisited for Analysis. Part 3 — Sorting, Selection and the Structures Beneath. Week 9: Heaps, search trees and hashing, analysed. Handout pages 97–103.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 the chapter. Before you start: Data Structures built all of these; this chapter assumes you can recall what a heap and a BST are. Chapter 5 for the summation in Section 12.2, and Chapter 2 for the best/worst-case vocabulary.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these out: they are the chapter's contract with the room. Each click adds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define these now; they arrive one at a time. This slide is for the students' notes. Terms: binary heap; complete binary tree; heap property; sift down; build-heap; height; binary search tree; degenerate tree; internal path length; randomly built BST; balanced tree; rotation.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route through the chapter. Each row is a link: click it to jump to that section in the slide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Proof. A complete binary tree of height h has at least 2ʰ nodes — levels 0 to h−1 are full, contributing 2ʰ−1, plus at least one node on level h — and at most 2ʰ⁺¹−1, when every level is full. So 2ʰ ≤ n ≤ 2ʰ⁺¹−1  ⟹     h ≤ lg n &lt; h+1  ⟹  h = ⌊ lg n 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12.1 (handout p. 98): Build-Heap. The loop runs n/2 times and Sift-Down costs O(lg n), so the obvious bound is O(n lg n). The obvious bound is loose, and Theorem 12.2 says by how much.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Proof. Sift-Down on a node at height j — counting height upward from the leaves — costs O(j), since it travels at most j levels down. The key observation is that most nodes are near the bottom. In a heap of n elements there are at most ⌈ n/2ʲ⁺¹ ⌉ nodes of height j. So the total cost is Σⱼ₌₀⌊ ˡᵍ ⁿ ⌋ ⌈ n/(2ʲ⁺¹) ⌉    O(j)     =  O( n Σⱼ₌₀⌊ ˡᵍ ⁿ ⌋ j/2ʲ ). The series Σⱼ≥₀ j/2ʲ converges — its value is exactly 2, from Σⱼ≥₀ jxʲ = x/(1−x)² at x = 1/2. Hence the total is O(2n) = O(n), and it is Ω(n) because every element is examined, giving Θ(n).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each pitfall, ask who has seen it happen. One real story beats five bullets.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each pitfall, ask who has seen it happen. One real story beats five bullets.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Reproduces all four tables. Expect twenty-five minutes; part D is slow by design — it is timing a deliberately degenerate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1: Set-up.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2: A BST as three parallel arrays.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3: A heap's height is not a hope, it is a guarantee.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4: A BST's height depends entirely on the insertion order.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5: The constant, averaged.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6: And what the height costs, in seconds.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Because the shape is enforced by the addressing scheme, not maintained by an algorithm. A heap is stored in an array with node i’s children at 2i+1 and 2i+2, and a new element goes at index n. There is no insertion order that produces an unbalanced heap, because there is no array layout in which an unbalanced heap could be represented. A BST has no such constraint, which is why it needs rotations and a heap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The loose step is charging every node the cost of the worst node. In fact at most ⌈ n/2j+1⌉ nodes have height j, so the total is O(nΣj≥0 j/2j). And Σj ≥ 0 j/2j = 2, from Σj≥0 jxj = x/(1−x)2 at x = 1/2. So the true total is O(2n) = Θ(n).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“In what order were the keys inserted?” If they were shuffled, the height is about 2.3 lg n and the benchmark is meaningless for sorted input — which is what real data often is. Measured, the same keys in sorted order gave height exactly n and searches 650× slower.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say each takeaway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a show of hands for each option before discussing. (The handout does not print MCQ answers.)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a show of hands for each option before discussing. (The handout does not print MCQ answers.)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these for independent study. Model answers are not printed in the handout.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NEXT: Chapter 13 — Hashing, and What Constant Time Actually Promises. READ: Handout Chapter 12, pages 97–103. THIS WEEK'S LAB: A hash table degrading under a poor hash. ASSESSMENT: Assignment 1 due.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000" kern="1200" b="0">
          <a:solidFill>
            <a:srgbClr val="1A527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notesSlide" Target="../notesSlides/notesSlide5.xml"/><Relationship Id="rId5" Type="http://schemas.openxmlformats.org/officeDocument/2006/relationships/slide" Target="slide7.xml"/><Relationship Id="rId6" Type="http://schemas.openxmlformats.org/officeDocument/2006/relationships/slide" Target="slide12.xml"/><Relationship Id="rId7" Type="http://schemas.openxmlformats.org/officeDocument/2006/relationships/slide" Target="slide16.xml"/><Relationship Id="rId8" Type="http://schemas.openxmlformats.org/officeDocument/2006/relationships/slide" Target="slide2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20.sv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23.sv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image" Target="../media/image24.sv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25.sv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26.sv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image" Target="../media/image27.sv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28.sv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29.sv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30.sv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31.sv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image" Target="../media/image32.sv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image" Target="../media/image33.sv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4.png"/><Relationship Id="rId3" Type="http://schemas.openxmlformats.org/officeDocument/2006/relationships/image" Target="../media/image35.sv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4.png"/><Relationship Id="rId3" Type="http://schemas.openxmlformats.org/officeDocument/2006/relationships/image" Target="../media/image36.sv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Relationship Id="rId3" Type="http://schemas.openxmlformats.org/officeDocument/2006/relationships/image" Target="../media/image39.sv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Relationship Id="rId3" Type="http://schemas.openxmlformats.org/officeDocument/2006/relationships/image" Target="../media/image40.sv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Relationship Id="rId3" Type="http://schemas.openxmlformats.org/officeDocument/2006/relationships/image" Target="../media/image41.svg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Relationship Id="rId3" Type="http://schemas.openxmlformats.org/officeDocument/2006/relationships/image" Target="../media/image42.svg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Relationship Id="rId3" Type="http://schemas.openxmlformats.org/officeDocument/2006/relationships/image" Target="../media/image43.svg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Relationship Id="rId3" Type="http://schemas.openxmlformats.org/officeDocument/2006/relationships/image" Target="../media/image44.sv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Relationship Id="rId3" Type="http://schemas.openxmlformats.org/officeDocument/2006/relationships/image" Target="../media/image45.svg"/><Relationship Id="rId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6.png"/><Relationship Id="rId3" Type="http://schemas.openxmlformats.org/officeDocument/2006/relationships/image" Target="../media/image47.svg"/><Relationship Id="rId4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8.png"/><Relationship Id="rId3" Type="http://schemas.openxmlformats.org/officeDocument/2006/relationships/image" Target="../media/image49.svg"/><Relationship Id="rId4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6.png"/><Relationship Id="rId3" Type="http://schemas.openxmlformats.org/officeDocument/2006/relationships/image" Target="../media/image50.svg"/><Relationship Id="rId4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8.png"/><Relationship Id="rId3" Type="http://schemas.openxmlformats.org/officeDocument/2006/relationships/image" Target="../media/image51.svg"/><Relationship Id="rId4" Type="http://schemas.openxmlformats.org/officeDocument/2006/relationships/image" Target="../media/image52.png"/><Relationship Id="rId5" Type="http://schemas.openxmlformats.org/officeDocument/2006/relationships/image" Target="../media/image53.svg"/><Relationship Id="rId6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6.png"/><Relationship Id="rId3" Type="http://schemas.openxmlformats.org/officeDocument/2006/relationships/image" Target="../media/image54.sv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8.png"/><Relationship Id="rId3" Type="http://schemas.openxmlformats.org/officeDocument/2006/relationships/image" Target="../media/image55.sv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6.png"/><Relationship Id="rId3" Type="http://schemas.openxmlformats.org/officeDocument/2006/relationships/image" Target="../media/image57.sv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8.png"/><Relationship Id="rId3" Type="http://schemas.openxmlformats.org/officeDocument/2006/relationships/image" Target="../media/image59.svg"/><Relationship Id="rId4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8.png"/><Relationship Id="rId3" Type="http://schemas.openxmlformats.org/officeDocument/2006/relationships/image" Target="../media/image60.svg"/><Relationship Id="rId4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8.png"/><Relationship Id="rId3" Type="http://schemas.openxmlformats.org/officeDocument/2006/relationships/image" Target="../media/image61.sv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7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328756"/>
                </a:solidFill>
                <a:latin typeface="Segoe UI Black"/>
              </a:rPr>
              <a:t>12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2304288"/>
            <a:ext cx="8503920" cy="19202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600" b="0">
                <a:solidFill>
                  <a:srgbClr val="FFFFFF"/>
                </a:solidFill>
                <a:latin typeface="Segoe UI Semibold"/>
              </a:rPr>
              <a:t>Heaps and Search Trees, Revisited for Analysis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29844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tpart"/>
          <p:cNvSpPr txBox="1"/>
          <p:nvPr/>
        </p:nvSpPr>
        <p:spPr>
          <a:xfrm>
            <a:off x="658368" y="1517904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BFDACA"/>
                </a:solidFill>
                <a:latin typeface="Segoe UI"/>
              </a:rPr>
              <a:t>PART III  ·  SORTING, SELECTION AND THE STRUCTURES BENEATH</a:t>
            </a:r>
          </a:p>
        </p:txBody>
      </p:sp>
      <p:sp>
        <p:nvSpPr>
          <p:cNvPr id="6" name="!!tch"/>
          <p:cNvSpPr txBox="1"/>
          <p:nvPr/>
        </p:nvSpPr>
        <p:spPr>
          <a:xfrm>
            <a:off x="658368" y="186537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BFDACA"/>
                </a:solidFill>
                <a:latin typeface="Segoe UI"/>
              </a:rPr>
              <a:t>CHAPTER 12  ·  WEEK 9</a:t>
            </a:r>
          </a:p>
        </p:txBody>
      </p:sp>
      <p:sp>
        <p:nvSpPr>
          <p:cNvPr id="7" name="!!tsub"/>
          <p:cNvSpPr txBox="1"/>
          <p:nvPr/>
        </p:nvSpPr>
        <p:spPr>
          <a:xfrm>
            <a:off x="658368" y="4315968"/>
            <a:ext cx="85039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1E4D9"/>
                </a:solidFill>
                <a:latin typeface="Segoe UI"/>
              </a:rPr>
              <a:t>Design, Proof and Measurement</a:t>
            </a:r>
          </a:p>
        </p:txBody>
      </p:sp>
      <p:sp>
        <p:nvSpPr>
          <p:cNvPr id="8" name="!!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285232"/>
            <a:ext cx="12191695" cy="1572767"/>
          </a:xfrm>
          <a:prstGeom prst="rect">
            <a:avLst/>
          </a:prstGeom>
          <a:solidFill>
            <a:srgbClr val="135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ab"/>
          <p:cNvSpPr txBox="1"/>
          <p:nvPr/>
        </p:nvSpPr>
        <p:spPr>
          <a:xfrm>
            <a:off x="658368" y="554126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A5C0B0"/>
                </a:solidFill>
                <a:latin typeface="Segoe UI"/>
              </a:rPr>
              <a:t>LECTURER</a:t>
            </a:r>
          </a:p>
        </p:txBody>
      </p:sp>
      <p:sp>
        <p:nvSpPr>
          <p:cNvPr id="10" name="!!author"/>
          <p:cNvSpPr txBox="1"/>
          <p:nvPr/>
        </p:nvSpPr>
        <p:spPr>
          <a:xfrm>
            <a:off x="658368" y="577900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Dr. Mustafa Hameed</a:t>
            </a:r>
          </a:p>
        </p:txBody>
      </p:sp>
      <p:sp>
        <p:nvSpPr>
          <p:cNvPr id="11" name="!!dept"/>
          <p:cNvSpPr txBox="1"/>
          <p:nvPr/>
        </p:nvSpPr>
        <p:spPr>
          <a:xfrm>
            <a:off x="658368" y="6181344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DD0C5"/>
                </a:solidFill>
                <a:latin typeface="Segoe UI"/>
              </a:rPr>
              <a:t>Department of Information Technology  ·  BSIT · Fall 2026</a:t>
            </a:r>
          </a:p>
        </p:txBody>
      </p:sp>
      <p:sp>
        <p:nvSpPr>
          <p:cNvPr id="12" name="!!uni"/>
          <p:cNvSpPr txBox="1"/>
          <p:nvPr/>
        </p:nvSpPr>
        <p:spPr>
          <a:xfrm>
            <a:off x="5205818" y="568756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60">
                <a:solidFill>
                  <a:srgbClr val="FFFFFF"/>
                </a:solidFill>
                <a:latin typeface="Segoe UI"/>
              </a:rPr>
              <a:t>THE ISLAMIA UNIVERSITY OF BAHAWALPUR</a:t>
            </a:r>
          </a:p>
        </p:txBody>
      </p:sp>
      <p:sp>
        <p:nvSpPr>
          <p:cNvPr id="13" name="!!uni2"/>
          <p:cNvSpPr txBox="1"/>
          <p:nvPr/>
        </p:nvSpPr>
        <p:spPr>
          <a:xfrm>
            <a:off x="5205818" y="596188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C0B0"/>
                </a:solidFill>
                <a:latin typeface="Segoe UI"/>
              </a:rPr>
              <a:t>Bahawalpur, Pakistan</a:t>
            </a:r>
          </a:p>
        </p:txBody>
      </p:sp>
      <p:pic>
        <p:nvPicPr>
          <p:cNvPr id="14" name="!!logo-iub-logo-white" descr="The Islamia University of Bahawalp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498" y="5486400"/>
            <a:ext cx="904084" cy="896112"/>
          </a:xfrm>
          <a:prstGeom prst="rect">
            <a:avLst/>
          </a:prstGeom>
        </p:spPr>
      </p:pic>
      <p:pic>
        <p:nvPicPr>
          <p:cNvPr id="15" name="!!logo-dit-logo" descr="Department of Information Technolog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614" y="5486400"/>
            <a:ext cx="869712" cy="896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Where this chapter sits</a:t>
            </a:r>
          </a:p>
        </p:txBody>
      </p:sp>
      <p:pic>
        <p:nvPicPr>
          <p:cNvPr id="3" name="!!kicker-icon" descr="map-signs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 COURSE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97     </a:t>
            </a:r>
            <a:fld id="{CC714C83-D85A-48F5-ACC5-C9E429AED1AE}" type="slidenum">
              <a:rPr lang="en-GB" sz="1000">
                <a:solidFill>
                  <a:srgbClr val="8795A1"/>
                </a:solidFill>
                <a:latin typeface="Segoe UI"/>
              </a:rPr>
              <a:t>2</a:t>
            </a:fld>
          </a:p>
        </p:txBody>
      </p:sp>
      <p:sp>
        <p:nvSpPr>
          <p:cNvPr id="7" name="!!rp1"/>
          <p:cNvSpPr txBox="1"/>
          <p:nvPr/>
        </p:nvSpPr>
        <p:spPr>
          <a:xfrm>
            <a:off x="777240" y="1755648"/>
            <a:ext cx="15120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</a:t>
            </a:r>
          </a:p>
        </p:txBody>
      </p:sp>
      <p:sp>
        <p:nvSpPr>
          <p:cNvPr id="8" name="!!rp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029967"/>
            <a:ext cx="1512020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rp2"/>
          <p:cNvSpPr txBox="1"/>
          <p:nvPr/>
        </p:nvSpPr>
        <p:spPr>
          <a:xfrm>
            <a:off x="2618444" y="1755648"/>
            <a:ext cx="190374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</a:t>
            </a:r>
          </a:p>
        </p:txBody>
      </p:sp>
      <p:sp>
        <p:nvSpPr>
          <p:cNvPr id="10" name="!!rp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18444" y="2029967"/>
            <a:ext cx="1903741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p3"/>
          <p:cNvSpPr txBox="1"/>
          <p:nvPr/>
        </p:nvSpPr>
        <p:spPr>
          <a:xfrm>
            <a:off x="4851369" y="1755648"/>
            <a:ext cx="182291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B7A43"/>
                </a:solidFill>
                <a:latin typeface="Segoe UI"/>
              </a:rPr>
              <a:t>PART III</a:t>
            </a:r>
          </a:p>
        </p:txBody>
      </p:sp>
      <p:sp>
        <p:nvSpPr>
          <p:cNvPr id="12" name="!!rp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51369" y="2029967"/>
            <a:ext cx="1822916" cy="4572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rp4"/>
          <p:cNvSpPr txBox="1"/>
          <p:nvPr/>
        </p:nvSpPr>
        <p:spPr>
          <a:xfrm>
            <a:off x="7003469" y="1755648"/>
            <a:ext cx="15120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IV</a:t>
            </a:r>
          </a:p>
        </p:txBody>
      </p:sp>
      <p:sp>
        <p:nvSpPr>
          <p:cNvPr id="14" name="!!rpl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03469" y="2029967"/>
            <a:ext cx="1512020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rp5"/>
          <p:cNvSpPr txBox="1"/>
          <p:nvPr/>
        </p:nvSpPr>
        <p:spPr>
          <a:xfrm>
            <a:off x="8844673" y="1755648"/>
            <a:ext cx="112029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</a:t>
            </a:r>
          </a:p>
        </p:txBody>
      </p:sp>
      <p:sp>
        <p:nvSpPr>
          <p:cNvPr id="16" name="!!rpl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44673" y="2029967"/>
            <a:ext cx="1120299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p6"/>
          <p:cNvSpPr txBox="1"/>
          <p:nvPr/>
        </p:nvSpPr>
        <p:spPr>
          <a:xfrm>
            <a:off x="10294156" y="1755648"/>
            <a:ext cx="112029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VI</a:t>
            </a:r>
          </a:p>
        </p:txBody>
      </p:sp>
      <p:sp>
        <p:nvSpPr>
          <p:cNvPr id="18" name="!!rpl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94156" y="2029967"/>
            <a:ext cx="1120299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508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dotn1"/>
          <p:cNvSpPr txBox="1"/>
          <p:nvPr/>
        </p:nvSpPr>
        <p:spPr>
          <a:xfrm>
            <a:off x="71706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1" name="!!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00229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dotn2"/>
          <p:cNvSpPr txBox="1"/>
          <p:nvPr/>
        </p:nvSpPr>
        <p:spPr>
          <a:xfrm>
            <a:off x="110878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3" name="!!do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91950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dotn3"/>
          <p:cNvSpPr txBox="1"/>
          <p:nvPr/>
        </p:nvSpPr>
        <p:spPr>
          <a:xfrm>
            <a:off x="150051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!!do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83671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dotn4"/>
          <p:cNvSpPr txBox="1"/>
          <p:nvPr/>
        </p:nvSpPr>
        <p:spPr>
          <a:xfrm>
            <a:off x="189223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!!dot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49712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dotn5"/>
          <p:cNvSpPr txBox="1"/>
          <p:nvPr/>
        </p:nvSpPr>
        <p:spPr>
          <a:xfrm>
            <a:off x="255827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!!dot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1433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dotn6"/>
          <p:cNvSpPr txBox="1"/>
          <p:nvPr/>
        </p:nvSpPr>
        <p:spPr>
          <a:xfrm>
            <a:off x="294999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1" name="!!dot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3154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dotn7"/>
          <p:cNvSpPr txBox="1"/>
          <p:nvPr/>
        </p:nvSpPr>
        <p:spPr>
          <a:xfrm>
            <a:off x="334171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3" name="!!dot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24875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!!dotn8"/>
          <p:cNvSpPr txBox="1"/>
          <p:nvPr/>
        </p:nvSpPr>
        <p:spPr>
          <a:xfrm>
            <a:off x="373343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5" name="!!dot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16596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dotn9"/>
          <p:cNvSpPr txBox="1"/>
          <p:nvPr/>
        </p:nvSpPr>
        <p:spPr>
          <a:xfrm>
            <a:off x="412515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37" name="!!dot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82637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dotn10"/>
          <p:cNvSpPr txBox="1"/>
          <p:nvPr/>
        </p:nvSpPr>
        <p:spPr>
          <a:xfrm>
            <a:off x="47911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39" name="!!dot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74358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!!dotn11"/>
          <p:cNvSpPr txBox="1"/>
          <p:nvPr/>
        </p:nvSpPr>
        <p:spPr>
          <a:xfrm>
            <a:off x="518291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41" name="!!dot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75223" y="2112264"/>
            <a:ext cx="566928" cy="566928"/>
          </a:xfrm>
          <a:prstGeom prst="ellipse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dotn12"/>
          <p:cNvSpPr txBox="1"/>
          <p:nvPr/>
        </p:nvSpPr>
        <p:spPr>
          <a:xfrm>
            <a:off x="5675223" y="2240280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12</a:t>
            </a:r>
          </a:p>
        </p:txBody>
      </p:sp>
      <p:sp>
        <p:nvSpPr>
          <p:cNvPr id="43" name="!!dot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68696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8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dotn13"/>
          <p:cNvSpPr txBox="1"/>
          <p:nvPr/>
        </p:nvSpPr>
        <p:spPr>
          <a:xfrm>
            <a:off x="627725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9355"/>
                </a:solidFill>
                <a:latin typeface="Segoe UI"/>
              </a:rPr>
              <a:t>13</a:t>
            </a:r>
          </a:p>
        </p:txBody>
      </p:sp>
      <p:sp>
        <p:nvSpPr>
          <p:cNvPr id="45" name="!!dot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34737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!!dotn14"/>
          <p:cNvSpPr txBox="1"/>
          <p:nvPr/>
        </p:nvSpPr>
        <p:spPr>
          <a:xfrm>
            <a:off x="69432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14</a:t>
            </a:r>
          </a:p>
        </p:txBody>
      </p:sp>
      <p:sp>
        <p:nvSpPr>
          <p:cNvPr id="47" name="!!dot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26458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!!dotn15"/>
          <p:cNvSpPr txBox="1"/>
          <p:nvPr/>
        </p:nvSpPr>
        <p:spPr>
          <a:xfrm>
            <a:off x="733501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15</a:t>
            </a:r>
          </a:p>
        </p:txBody>
      </p:sp>
      <p:sp>
        <p:nvSpPr>
          <p:cNvPr id="49" name="!!dot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8179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!!dotn16"/>
          <p:cNvSpPr txBox="1"/>
          <p:nvPr/>
        </p:nvSpPr>
        <p:spPr>
          <a:xfrm>
            <a:off x="772673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16</a:t>
            </a:r>
          </a:p>
        </p:txBody>
      </p:sp>
      <p:sp>
        <p:nvSpPr>
          <p:cNvPr id="51" name="!!dot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09900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!!dotn17"/>
          <p:cNvSpPr txBox="1"/>
          <p:nvPr/>
        </p:nvSpPr>
        <p:spPr>
          <a:xfrm>
            <a:off x="811846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17</a:t>
            </a:r>
          </a:p>
        </p:txBody>
      </p:sp>
      <p:sp>
        <p:nvSpPr>
          <p:cNvPr id="53" name="!!dot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75941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!!dotn18"/>
          <p:cNvSpPr txBox="1"/>
          <p:nvPr/>
        </p:nvSpPr>
        <p:spPr>
          <a:xfrm>
            <a:off x="878450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18</a:t>
            </a:r>
          </a:p>
        </p:txBody>
      </p:sp>
      <p:sp>
        <p:nvSpPr>
          <p:cNvPr id="55" name="!!dot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67662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!!dotn19"/>
          <p:cNvSpPr txBox="1"/>
          <p:nvPr/>
        </p:nvSpPr>
        <p:spPr>
          <a:xfrm>
            <a:off x="917622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19</a:t>
            </a:r>
          </a:p>
        </p:txBody>
      </p:sp>
      <p:sp>
        <p:nvSpPr>
          <p:cNvPr id="57" name="!!dot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59383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!!dotn20"/>
          <p:cNvSpPr txBox="1"/>
          <p:nvPr/>
        </p:nvSpPr>
        <p:spPr>
          <a:xfrm>
            <a:off x="956794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20</a:t>
            </a:r>
          </a:p>
        </p:txBody>
      </p:sp>
      <p:sp>
        <p:nvSpPr>
          <p:cNvPr id="59" name="!!dot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2542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dotn21"/>
          <p:cNvSpPr txBox="1"/>
          <p:nvPr/>
        </p:nvSpPr>
        <p:spPr>
          <a:xfrm>
            <a:off x="1023398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21</a:t>
            </a:r>
          </a:p>
        </p:txBody>
      </p:sp>
      <p:sp>
        <p:nvSpPr>
          <p:cNvPr id="61" name="!!dot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17145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!!dotn22"/>
          <p:cNvSpPr txBox="1"/>
          <p:nvPr/>
        </p:nvSpPr>
        <p:spPr>
          <a:xfrm>
            <a:off x="1062570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22</a:t>
            </a:r>
          </a:p>
        </p:txBody>
      </p:sp>
      <p:sp>
        <p:nvSpPr>
          <p:cNvPr id="63" name="!!dot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08866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!!dotn23"/>
          <p:cNvSpPr txBox="1"/>
          <p:nvPr/>
        </p:nvSpPr>
        <p:spPr>
          <a:xfrm>
            <a:off x="1101742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23</a:t>
            </a:r>
          </a:p>
        </p:txBody>
      </p:sp>
      <p:sp>
        <p:nvSpPr>
          <p:cNvPr id="65" name="!!dotlabel"/>
          <p:cNvSpPr txBox="1"/>
          <p:nvPr/>
        </p:nvSpPr>
        <p:spPr>
          <a:xfrm>
            <a:off x="3032607" y="279806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7A43"/>
                </a:solidFill>
                <a:latin typeface="Segoe UI"/>
              </a:rPr>
              <a:t>Heaps and Search Trees, Revisited for Analysis</a:t>
            </a:r>
          </a:p>
        </p:txBody>
      </p:sp>
      <p:sp>
        <p:nvSpPr>
          <p:cNvPr id="66" name="!!dep-BUILD"/>
          <p:cNvSpPr txBox="1"/>
          <p:nvPr/>
        </p:nvSpPr>
        <p:spPr>
          <a:xfrm>
            <a:off x="658368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BUILDS ON</a:t>
            </a:r>
          </a:p>
        </p:txBody>
      </p:sp>
      <p:sp>
        <p:nvSpPr>
          <p:cNvPr id="67" name="!!chipBU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8" name="!!chipbBU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64008" cy="42062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!!chiptBU2"/>
          <p:cNvSpPr txBox="1"/>
          <p:nvPr/>
        </p:nvSpPr>
        <p:spPr>
          <a:xfrm>
            <a:off x="859536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5276"/>
                </a:solidFill>
                <a:latin typeface="Segoe UI"/>
              </a:rPr>
              <a:t>Ch 2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Input Size, Input Nature, and the Three Cases</a:t>
            </a:r>
          </a:p>
        </p:txBody>
      </p:sp>
      <p:sp>
        <p:nvSpPr>
          <p:cNvPr id="70" name="!!chipBU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97680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9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!!chipbBU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97680"/>
            <a:ext cx="64008" cy="420624"/>
          </a:xfrm>
          <a:prstGeom prst="rect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!!chiptBU5"/>
          <p:cNvSpPr txBox="1"/>
          <p:nvPr/>
        </p:nvSpPr>
        <p:spPr>
          <a:xfrm>
            <a:off x="859536" y="438912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6794"/>
                </a:solidFill>
                <a:latin typeface="Segoe UI"/>
              </a:rPr>
              <a:t>Ch 5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Recurrences I: Substitution and Recursion Trees</a:t>
            </a:r>
          </a:p>
        </p:txBody>
      </p:sp>
      <p:sp>
        <p:nvSpPr>
          <p:cNvPr id="73" name="!!dep-USED "/>
          <p:cNvSpPr txBox="1"/>
          <p:nvPr/>
        </p:nvSpPr>
        <p:spPr>
          <a:xfrm>
            <a:off x="6324447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USED LATER IN</a:t>
            </a:r>
          </a:p>
        </p:txBody>
      </p:sp>
      <p:sp>
        <p:nvSpPr>
          <p:cNvPr id="74" name="!!chipUS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5" name="!!chipbUS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64008" cy="420624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!!chiptUS13"/>
          <p:cNvSpPr txBox="1"/>
          <p:nvPr/>
        </p:nvSpPr>
        <p:spPr>
          <a:xfrm>
            <a:off x="6525615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7A43"/>
                </a:solidFill>
                <a:latin typeface="Segoe UI"/>
              </a:rPr>
              <a:t>Ch 13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Hashing, and What Constant Time Actually Promises</a:t>
            </a:r>
          </a:p>
        </p:txBody>
      </p:sp>
      <p:sp>
        <p:nvSpPr>
          <p:cNvPr id="77" name="!!chipUS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297680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2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!!chipbUS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297680"/>
            <a:ext cx="64008" cy="420624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9" name="!!chiptUS14"/>
          <p:cNvSpPr txBox="1"/>
          <p:nvPr/>
        </p:nvSpPr>
        <p:spPr>
          <a:xfrm>
            <a:off x="6525615" y="438912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3A95"/>
                </a:solidFill>
                <a:latin typeface="Segoe UI"/>
              </a:rPr>
              <a:t>Ch 14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Greedy Algorithms</a:t>
            </a:r>
          </a:p>
        </p:txBody>
      </p:sp>
      <p:sp>
        <p:nvSpPr>
          <p:cNvPr id="80" name="!!chipUS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809744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2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1" name="!!chipbUS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809744"/>
            <a:ext cx="64008" cy="420624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!!chiptUS17"/>
          <p:cNvSpPr txBox="1"/>
          <p:nvPr/>
        </p:nvSpPr>
        <p:spPr>
          <a:xfrm>
            <a:off x="6525615" y="4901184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3A95"/>
                </a:solidFill>
                <a:latin typeface="Segoe UI"/>
              </a:rPr>
              <a:t>Ch 17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Amortised Analysis</a:t>
            </a:r>
          </a:p>
        </p:txBody>
      </p:sp>
      <p:sp>
        <p:nvSpPr>
          <p:cNvPr id="83" name="!!chipUS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5321808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7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4" name="!!chipbUS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5321808"/>
            <a:ext cx="64008" cy="420624"/>
          </a:xfrm>
          <a:prstGeom prst="rect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5" name="!!chiptUS18"/>
          <p:cNvSpPr txBox="1"/>
          <p:nvPr/>
        </p:nvSpPr>
        <p:spPr>
          <a:xfrm>
            <a:off x="6525615" y="5413248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7964"/>
                </a:solidFill>
                <a:latin typeface="Segoe UI"/>
              </a:rPr>
              <a:t>Ch 18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Graphs: Representation, Traversal and Sparsity</a:t>
            </a:r>
          </a:p>
        </p:txBody>
      </p:sp>
      <p:sp>
        <p:nvSpPr>
          <p:cNvPr id="86" name="!!chipUS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5833872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7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7" name="!!chipbUS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5833872"/>
            <a:ext cx="64008" cy="420624"/>
          </a:xfrm>
          <a:prstGeom prst="rect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8" name="!!chiptUS20"/>
          <p:cNvSpPr txBox="1"/>
          <p:nvPr/>
        </p:nvSpPr>
        <p:spPr>
          <a:xfrm>
            <a:off x="6525615" y="5925312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7964"/>
                </a:solidFill>
                <a:latin typeface="Segoe UI"/>
              </a:rPr>
              <a:t>Ch 20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Shortest Paths: Single-Source and All-Pairs</a:t>
            </a:r>
          </a:p>
        </p:txBody>
      </p:sp>
      <p:sp>
        <p:nvSpPr>
          <p:cNvPr id="8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30073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you will be able to do</a:t>
            </a:r>
          </a:p>
        </p:txBody>
      </p:sp>
      <p:pic>
        <p:nvPicPr>
          <p:cNvPr id="3" name="!!kicker-icon" descr="bullseye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LEARNING OUTCOMES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97     </a:t>
            </a:r>
            <a:fld id="{23ECAD74-41A6-4432-BE60-8A506F3A50B2}" type="slidenum">
              <a:rPr lang="en-GB" sz="1000">
                <a:solidFill>
                  <a:srgbClr val="8795A1"/>
                </a:solidFill>
                <a:latin typeface="Segoe UI"/>
              </a:rPr>
              <a:t>3</a:t>
            </a:fld>
          </a:p>
        </p:txBody>
      </p:sp>
      <p:sp>
        <p:nvSpPr>
          <p:cNvPr id="7" name="!!olead"/>
          <p:cNvSpPr txBox="1"/>
          <p:nvPr/>
        </p:nvSpPr>
        <p:spPr>
          <a:xfrm>
            <a:off x="658368" y="1737360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F6F7B"/>
                </a:solidFill>
                <a:latin typeface="Segoe UI"/>
              </a:rPr>
              <a:t>By the end of this chapter you will be able to:</a:t>
            </a:r>
          </a:p>
        </p:txBody>
      </p:sp>
      <p:sp>
        <p:nvSpPr>
          <p:cNvPr id="8" name="!!o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21991"/>
            <a:ext cx="420624" cy="420624"/>
          </a:xfrm>
          <a:prstGeom prst="ellipse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obn0"/>
          <p:cNvSpPr txBox="1"/>
          <p:nvPr/>
        </p:nvSpPr>
        <p:spPr>
          <a:xfrm>
            <a:off x="658368" y="228142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!!ot0"/>
          <p:cNvSpPr txBox="1"/>
          <p:nvPr/>
        </p:nvSpPr>
        <p:spPr>
          <a:xfrm>
            <a:off x="1316736" y="2263140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7A43"/>
                </a:solidFill>
                <a:latin typeface="Segoe UI"/>
              </a:rPr>
              <a:t>Explain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why a binary heap’s height is exactly 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⌊ lg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 ⌋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and why that cannot fail.</a:t>
            </a:r>
          </a:p>
        </p:txBody>
      </p:sp>
      <p:sp>
        <p:nvSpPr>
          <p:cNvPr id="11" name="!!o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825496"/>
            <a:ext cx="420624" cy="420624"/>
          </a:xfrm>
          <a:prstGeom prst="ellipse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obn1"/>
          <p:cNvSpPr txBox="1"/>
          <p:nvPr/>
        </p:nvSpPr>
        <p:spPr>
          <a:xfrm>
            <a:off x="658368" y="2884932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!!ot1"/>
          <p:cNvSpPr txBox="1"/>
          <p:nvPr/>
        </p:nvSpPr>
        <p:spPr>
          <a:xfrm>
            <a:off x="1316736" y="2816352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7A43"/>
                </a:solidFill>
                <a:latin typeface="Segoe UI"/>
              </a:rPr>
              <a:t>Prove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that Build-Heap runs in 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, not 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 lg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identify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step where the naive analysis is loose.</a:t>
            </a:r>
          </a:p>
        </p:txBody>
      </p:sp>
      <p:sp>
        <p:nvSpPr>
          <p:cNvPr id="14" name="!!o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74059"/>
            <a:ext cx="420624" cy="420624"/>
          </a:xfrm>
          <a:prstGeom prst="ellipse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obn2"/>
          <p:cNvSpPr txBox="1"/>
          <p:nvPr/>
        </p:nvSpPr>
        <p:spPr>
          <a:xfrm>
            <a:off x="658368" y="37334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!!ot2"/>
          <p:cNvSpPr txBox="1"/>
          <p:nvPr/>
        </p:nvSpPr>
        <p:spPr>
          <a:xfrm>
            <a:off x="1316736" y="3664915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7A43"/>
                </a:solidFill>
                <a:latin typeface="Segoe UI"/>
              </a:rPr>
              <a:t>Contrast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 heap’s structural guarantee with a binary search tree’s dependence on insertion order </a:t>
            </a:r>
            <a:r>
              <a:rPr sz="2100" b="0" i="1">
                <a:solidFill>
                  <a:srgbClr val="1C252B"/>
                </a:solidFill>
                <a:latin typeface="Segoe UI"/>
              </a:rPr>
              <a:t>(CLO-2)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7" name="!!o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522622"/>
            <a:ext cx="420624" cy="420624"/>
          </a:xfrm>
          <a:prstGeom prst="ellipse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obn3"/>
          <p:cNvSpPr txBox="1"/>
          <p:nvPr/>
        </p:nvSpPr>
        <p:spPr>
          <a:xfrm>
            <a:off x="658368" y="458205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9" name="!!ot3"/>
          <p:cNvSpPr txBox="1"/>
          <p:nvPr/>
        </p:nvSpPr>
        <p:spPr>
          <a:xfrm>
            <a:off x="1316736" y="4513478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7A43"/>
                </a:solidFill>
                <a:latin typeface="Segoe UI"/>
              </a:rPr>
              <a:t>State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expected height of a randomly built BST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assess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measured data against it.</a:t>
            </a:r>
          </a:p>
        </p:txBody>
      </p:sp>
      <p:sp>
        <p:nvSpPr>
          <p:cNvPr id="20" name="!!o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371185"/>
            <a:ext cx="420624" cy="420624"/>
          </a:xfrm>
          <a:prstGeom prst="ellipse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obn4"/>
          <p:cNvSpPr txBox="1"/>
          <p:nvPr/>
        </p:nvSpPr>
        <p:spPr>
          <a:xfrm>
            <a:off x="658368" y="5430621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2" name="!!ot4"/>
          <p:cNvSpPr txBox="1"/>
          <p:nvPr/>
        </p:nvSpPr>
        <p:spPr>
          <a:xfrm>
            <a:off x="1316736" y="5412333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7A43"/>
                </a:solidFill>
                <a:latin typeface="Segoe UI"/>
              </a:rPr>
              <a:t>Decide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between a heap, a balanced tree and a sorted array for a stated workload.</a:t>
            </a:r>
          </a:p>
        </p:txBody>
      </p:sp>
      <p:sp>
        <p:nvSpPr>
          <p:cNvPr id="5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95110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Vocabulary for this chapter</a:t>
            </a:r>
          </a:p>
        </p:txBody>
      </p:sp>
      <p:pic>
        <p:nvPicPr>
          <p:cNvPr id="3" name="!!kicker-icon" descr="tags-8E44AD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7256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8E44AD"/>
                </a:solidFill>
                <a:latin typeface="Segoe UI"/>
              </a:rPr>
              <a:t>KEY TERMS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97     </a:t>
            </a:r>
            <a:fld id="{57DA2BC6-B9BB-41D7-972C-2D541DEF859E}" type="slidenum">
              <a:rPr lang="en-GB" sz="1000">
                <a:solidFill>
                  <a:srgbClr val="8795A1"/>
                </a:solidFill>
                <a:latin typeface="Segoe UI"/>
              </a:rPr>
              <a:t>4</a:t>
            </a:fld>
          </a:p>
        </p:txBody>
      </p:sp>
      <p:sp>
        <p:nvSpPr>
          <p:cNvPr id="7" name="!!term-binary hea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847088"/>
            <a:ext cx="1583522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ermd-binary hea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termt-binary heap"/>
          <p:cNvSpPr txBox="1"/>
          <p:nvPr/>
        </p:nvSpPr>
        <p:spPr>
          <a:xfrm>
            <a:off x="950976" y="1955291"/>
            <a:ext cx="1400642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binary heap</a:t>
            </a:r>
          </a:p>
        </p:txBody>
      </p:sp>
      <p:sp>
        <p:nvSpPr>
          <p:cNvPr id="10" name="!!term-complete bin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88194" y="1847088"/>
            <a:ext cx="2452210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termd-complete bin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16210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termt-complete binar"/>
          <p:cNvSpPr txBox="1"/>
          <p:nvPr/>
        </p:nvSpPr>
        <p:spPr>
          <a:xfrm>
            <a:off x="2680802" y="1955291"/>
            <a:ext cx="2269330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complete binary tree</a:t>
            </a:r>
          </a:p>
        </p:txBody>
      </p:sp>
      <p:sp>
        <p:nvSpPr>
          <p:cNvPr id="13" name="!!term-heap proper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86708" y="1847088"/>
            <a:ext cx="1818412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termd-heap proper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14724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termt-heap property"/>
          <p:cNvSpPr txBox="1"/>
          <p:nvPr/>
        </p:nvSpPr>
        <p:spPr>
          <a:xfrm>
            <a:off x="5279316" y="1955291"/>
            <a:ext cx="1635532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heap property</a:t>
            </a:r>
          </a:p>
        </p:txBody>
      </p:sp>
      <p:sp>
        <p:nvSpPr>
          <p:cNvPr id="16" name="!!term-sift dow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51425" y="1847088"/>
            <a:ext cx="1332178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termd-sift dow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79441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termt-sift down"/>
          <p:cNvSpPr txBox="1"/>
          <p:nvPr/>
        </p:nvSpPr>
        <p:spPr>
          <a:xfrm>
            <a:off x="7244033" y="1955291"/>
            <a:ext cx="1149298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sift down</a:t>
            </a:r>
          </a:p>
        </p:txBody>
      </p:sp>
      <p:sp>
        <p:nvSpPr>
          <p:cNvPr id="19" name="!!term-build-hea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29907" y="1847088"/>
            <a:ext cx="149882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termd-build-hea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57923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termt-build-heap"/>
          <p:cNvSpPr txBox="1"/>
          <p:nvPr/>
        </p:nvSpPr>
        <p:spPr>
          <a:xfrm>
            <a:off x="8722515" y="1955291"/>
            <a:ext cx="131594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build-heap</a:t>
            </a:r>
          </a:p>
        </p:txBody>
      </p:sp>
      <p:sp>
        <p:nvSpPr>
          <p:cNvPr id="22" name="!!term-heigh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75032" y="1847088"/>
            <a:ext cx="1061027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termd-heigh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03048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termt-height"/>
          <p:cNvSpPr txBox="1"/>
          <p:nvPr/>
        </p:nvSpPr>
        <p:spPr>
          <a:xfrm>
            <a:off x="10367640" y="1955291"/>
            <a:ext cx="878147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height</a:t>
            </a:r>
          </a:p>
        </p:txBody>
      </p:sp>
      <p:sp>
        <p:nvSpPr>
          <p:cNvPr id="25" name="!!term-binary search 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880"/>
            <a:ext cx="216767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termd-binary search 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!!termt-binary search "/>
          <p:cNvSpPr txBox="1"/>
          <p:nvPr/>
        </p:nvSpPr>
        <p:spPr>
          <a:xfrm>
            <a:off x="950976" y="2577084"/>
            <a:ext cx="198479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binary search tree</a:t>
            </a:r>
          </a:p>
        </p:txBody>
      </p:sp>
      <p:sp>
        <p:nvSpPr>
          <p:cNvPr id="28" name="!!term-degenerate t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72343" y="2468880"/>
            <a:ext cx="1988954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termd-degenerate t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00359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termt-degenerate tre"/>
          <p:cNvSpPr txBox="1"/>
          <p:nvPr/>
        </p:nvSpPr>
        <p:spPr>
          <a:xfrm>
            <a:off x="3264951" y="2577084"/>
            <a:ext cx="1806074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degenerate tree</a:t>
            </a:r>
          </a:p>
        </p:txBody>
      </p:sp>
      <p:sp>
        <p:nvSpPr>
          <p:cNvPr id="31" name="!!term-internal path 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07601" y="2468880"/>
            <a:ext cx="235693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termd-internal path 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35617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termt-internal path "/>
          <p:cNvSpPr txBox="1"/>
          <p:nvPr/>
        </p:nvSpPr>
        <p:spPr>
          <a:xfrm>
            <a:off x="5400209" y="2577084"/>
            <a:ext cx="217405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internal path length</a:t>
            </a:r>
          </a:p>
        </p:txBody>
      </p:sp>
      <p:sp>
        <p:nvSpPr>
          <p:cNvPr id="34" name="!!term-randomly buil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10837" y="2468880"/>
            <a:ext cx="2275089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!!termd-randomly buil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38853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termt-randomly built"/>
          <p:cNvSpPr txBox="1"/>
          <p:nvPr/>
        </p:nvSpPr>
        <p:spPr>
          <a:xfrm>
            <a:off x="7903445" y="2577084"/>
            <a:ext cx="2092209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randomly built BST</a:t>
            </a:r>
          </a:p>
        </p:txBody>
      </p:sp>
      <p:sp>
        <p:nvSpPr>
          <p:cNvPr id="37" name="!!term-balanced tre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90672"/>
            <a:ext cx="1759029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termd-balanced tre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3282696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!!termt-balanced tree"/>
          <p:cNvSpPr txBox="1"/>
          <p:nvPr/>
        </p:nvSpPr>
        <p:spPr>
          <a:xfrm>
            <a:off x="950976" y="3198876"/>
            <a:ext cx="1576149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balanced tree</a:t>
            </a:r>
          </a:p>
        </p:txBody>
      </p:sp>
      <p:sp>
        <p:nvSpPr>
          <p:cNvPr id="40" name="!!term-rota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63701" y="3090672"/>
            <a:ext cx="1212933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!!termd-rota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91717" y="3282696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termt-rotation"/>
          <p:cNvSpPr txBox="1"/>
          <p:nvPr/>
        </p:nvSpPr>
        <p:spPr>
          <a:xfrm>
            <a:off x="2856309" y="3198876"/>
            <a:ext cx="1030053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rotation</a:t>
            </a:r>
          </a:p>
        </p:txBody>
      </p:sp>
      <p:sp>
        <p:nvSpPr>
          <p:cNvPr id="43" name="!!termnote"/>
          <p:cNvSpPr txBox="1"/>
          <p:nvPr/>
        </p:nvSpPr>
        <p:spPr>
          <a:xfrm>
            <a:off x="658368" y="3913632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F6F7B"/>
                </a:solidFill>
                <a:latin typeface="Segoe UI"/>
              </a:rPr>
              <a:t>Each term is defined where it first matters — not here.</a:t>
            </a:r>
          </a:p>
        </p:txBody>
      </p:sp>
      <p:sp>
        <p:nvSpPr>
          <p:cNvPr id="4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60147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In this chapter</a:t>
            </a:r>
          </a:p>
        </p:txBody>
      </p:sp>
      <p:pic>
        <p:nvPicPr>
          <p:cNvPr id="3" name="!!kicker-icon" descr="list-ul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6883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IN THIS CHAPTER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pp. 97–103     </a:t>
            </a:r>
            <a:fld id="{0EF12794-1936-49F9-A599-70A338C70EF3}" type="slidenum">
              <a:rPr lang="en-GB" sz="1000">
                <a:solidFill>
                  <a:srgbClr val="8795A1"/>
                </a:solidFill>
                <a:latin typeface="Segoe UI"/>
              </a:rPr>
              <a:t>5</a:t>
            </a:fld>
          </a:p>
        </p:txBody>
      </p:sp>
      <p:sp>
        <p:nvSpPr>
          <p:cNvPr id="7" name="!!ag0" descr="Go to section 12.1 A Heap’s Height Is a Guarantee">
            <a:hlinkClick action="ppaction://hlinksldjump" r:id="rId5"/>
          </p:cNvPr>
          <p:cNvSpPr/>
          <p:nvPr/>
        </p:nvSpPr>
        <p:spPr>
          <a:xfrm>
            <a:off x="658368" y="177393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ag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73936"/>
            <a:ext cx="64008" cy="56692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agn0"/>
          <p:cNvSpPr txBox="1"/>
          <p:nvPr/>
        </p:nvSpPr>
        <p:spPr>
          <a:xfrm>
            <a:off x="932688" y="192024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7A43"/>
                </a:solidFill>
                <a:latin typeface="Segoe UI Semibold"/>
              </a:rPr>
              <a:t>12.1</a:t>
            </a:r>
          </a:p>
        </p:txBody>
      </p:sp>
      <p:sp>
        <p:nvSpPr>
          <p:cNvPr id="10" name="!!agt0"/>
          <p:cNvSpPr txBox="1"/>
          <p:nvPr/>
        </p:nvSpPr>
        <p:spPr>
          <a:xfrm>
            <a:off x="1847088" y="192024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A Heap’s Height Is a Guarantee</a:t>
            </a:r>
          </a:p>
        </p:txBody>
      </p:sp>
      <p:sp>
        <p:nvSpPr>
          <p:cNvPr id="11" name="!!agp0"/>
          <p:cNvSpPr txBox="1"/>
          <p:nvPr/>
        </p:nvSpPr>
        <p:spPr>
          <a:xfrm>
            <a:off x="9795967" y="194767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97  ›</a:t>
            </a:r>
          </a:p>
        </p:txBody>
      </p:sp>
      <p:sp>
        <p:nvSpPr>
          <p:cNvPr id="12" name="!!ag1" descr="Go to section 12.2 Build-Heap Is Linear, and the Obvious Analysis Says Otherwise">
            <a:hlinkClick action="ppaction://hlinksldjump" r:id="rId6"/>
          </p:cNvPr>
          <p:cNvSpPr/>
          <p:nvPr/>
        </p:nvSpPr>
        <p:spPr>
          <a:xfrm>
            <a:off x="658368" y="2414015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ag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14015"/>
            <a:ext cx="64008" cy="56692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agn1"/>
          <p:cNvSpPr txBox="1"/>
          <p:nvPr/>
        </p:nvSpPr>
        <p:spPr>
          <a:xfrm>
            <a:off x="932688" y="256032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7A43"/>
                </a:solidFill>
                <a:latin typeface="Segoe UI Semibold"/>
              </a:rPr>
              <a:t>12.2</a:t>
            </a:r>
          </a:p>
        </p:txBody>
      </p:sp>
      <p:sp>
        <p:nvSpPr>
          <p:cNvPr id="15" name="!!agt1"/>
          <p:cNvSpPr txBox="1"/>
          <p:nvPr/>
        </p:nvSpPr>
        <p:spPr>
          <a:xfrm>
            <a:off x="1847088" y="256032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Build-Heap Is Linear, and the Obvious Analysis Says Otherwise</a:t>
            </a:r>
          </a:p>
        </p:txBody>
      </p:sp>
      <p:sp>
        <p:nvSpPr>
          <p:cNvPr id="16" name="!!agp1"/>
          <p:cNvSpPr txBox="1"/>
          <p:nvPr/>
        </p:nvSpPr>
        <p:spPr>
          <a:xfrm>
            <a:off x="9795967" y="2587751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98  ›</a:t>
            </a:r>
          </a:p>
        </p:txBody>
      </p:sp>
      <p:sp>
        <p:nvSpPr>
          <p:cNvPr id="17" name="!!ag2" descr="Go to section 12.3 A Search Tree’s Height Is a Hope">
            <a:hlinkClick action="ppaction://hlinksldjump" r:id="rId7"/>
          </p:cNvPr>
          <p:cNvSpPr/>
          <p:nvPr/>
        </p:nvSpPr>
        <p:spPr>
          <a:xfrm>
            <a:off x="658368" y="305409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ag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54096"/>
            <a:ext cx="64008" cy="56692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agn2"/>
          <p:cNvSpPr txBox="1"/>
          <p:nvPr/>
        </p:nvSpPr>
        <p:spPr>
          <a:xfrm>
            <a:off x="932688" y="320040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7A43"/>
                </a:solidFill>
                <a:latin typeface="Segoe UI Semibold"/>
              </a:rPr>
              <a:t>12.3</a:t>
            </a:r>
          </a:p>
        </p:txBody>
      </p:sp>
      <p:sp>
        <p:nvSpPr>
          <p:cNvPr id="20" name="!!agt2"/>
          <p:cNvSpPr txBox="1"/>
          <p:nvPr/>
        </p:nvSpPr>
        <p:spPr>
          <a:xfrm>
            <a:off x="1847088" y="320040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A Search Tree’s Height Is a Hope</a:t>
            </a:r>
          </a:p>
        </p:txBody>
      </p:sp>
      <p:sp>
        <p:nvSpPr>
          <p:cNvPr id="21" name="!!agp2"/>
          <p:cNvSpPr txBox="1"/>
          <p:nvPr/>
        </p:nvSpPr>
        <p:spPr>
          <a:xfrm>
            <a:off x="9795967" y="322783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99  ›</a:t>
            </a:r>
          </a:p>
        </p:txBody>
      </p:sp>
      <p:sp>
        <p:nvSpPr>
          <p:cNvPr id="22" name="!!ag3" descr="Go to section 12.4 Choosing">
            <a:hlinkClick action="ppaction://hlinksldjump" r:id="rId8"/>
          </p:cNvPr>
          <p:cNvSpPr/>
          <p:nvPr/>
        </p:nvSpPr>
        <p:spPr>
          <a:xfrm>
            <a:off x="658368" y="369417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ag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94176"/>
            <a:ext cx="64008" cy="56692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agn3"/>
          <p:cNvSpPr txBox="1"/>
          <p:nvPr/>
        </p:nvSpPr>
        <p:spPr>
          <a:xfrm>
            <a:off x="932688" y="384048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7A43"/>
                </a:solidFill>
                <a:latin typeface="Segoe UI Semibold"/>
              </a:rPr>
              <a:t>12.4</a:t>
            </a:r>
          </a:p>
        </p:txBody>
      </p:sp>
      <p:sp>
        <p:nvSpPr>
          <p:cNvPr id="25" name="!!agt3"/>
          <p:cNvSpPr txBox="1"/>
          <p:nvPr/>
        </p:nvSpPr>
        <p:spPr>
          <a:xfrm>
            <a:off x="1847088" y="384048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Choosing</a:t>
            </a:r>
          </a:p>
        </p:txBody>
      </p:sp>
      <p:sp>
        <p:nvSpPr>
          <p:cNvPr id="26" name="!!agp3"/>
          <p:cNvSpPr txBox="1"/>
          <p:nvPr/>
        </p:nvSpPr>
        <p:spPr>
          <a:xfrm>
            <a:off x="9795967" y="386791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101  ›</a:t>
            </a:r>
          </a:p>
        </p:txBody>
      </p:sp>
      <p:sp>
        <p:nvSpPr>
          <p:cNvPr id="27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325184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this chapter is, and is not</a:t>
            </a:r>
          </a:p>
        </p:txBody>
      </p:sp>
      <p:pic>
        <p:nvPicPr>
          <p:cNvPr id="3" name="!!kicker-icon" descr="exclamation-triang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45688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WATCH OUT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97     </a:t>
            </a:r>
            <a:fld id="{DEB66278-43E3-422E-9E85-20254D9B78C7}" type="slidenum">
              <a:rPr lang="en-GB" sz="1000">
                <a:solidFill>
                  <a:srgbClr val="8795A1"/>
                </a:solidFill>
                <a:latin typeface="Segoe UI"/>
              </a:rPr>
              <a:t>6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969691"/>
          </a:xfrm>
          <a:prstGeom prst="roundRect">
            <a:avLst>
              <a:gd name="adj" fmla="val 3079"/>
            </a:avLst>
          </a:prstGeom>
          <a:solidFill>
            <a:srgbClr val="FDED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969691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It is </a:t>
            </a:r>
            <a:r>
              <a:rPr sz="2300" b="1" i="0">
                <a:solidFill>
                  <a:srgbClr val="1C252B"/>
                </a:solidFill>
                <a:latin typeface="Segoe UI"/>
              </a:rPr>
              <a:t>not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 reimplementation of heaps and search trees. Appendix F records the boundary: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Data Structures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owns the structures and their operations; this course owns their analysis.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3302533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So the question here is never “how do you insert into a heap”. It is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why is the height what it is, what guarantees it, and what does a broken guarantee cost?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— and the answers divide these two structures sharply.</a:t>
            </a:r>
          </a:p>
        </p:txBody>
      </p:sp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590221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A Heap’s Height Is a Guarantee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BD7C7"/>
                </a:solidFill>
                <a:latin typeface="Segoe UI"/>
              </a:rPr>
              <a:t>SECTION 1 OF 4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12.1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7A43"/>
                </a:solidFill>
                <a:latin typeface="Segoe UI"/>
              </a:rPr>
              <a:t>12.1   A Heap’s Height Is a Guarantee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12.2   Build-Heap Is Linear, and the Obvious Analysis Says Otherwise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12.3   A Search Tree’s Height Is a Hope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12.4   Choosing</a:t>
            </a:r>
          </a:p>
        </p:txBody>
      </p:sp>
      <p:sp>
        <p:nvSpPr>
          <p:cNvPr id="10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</a:t>
            </a:r>
          </a:p>
        </p:txBody>
      </p:sp>
      <p:sp>
        <p:nvSpPr>
          <p:cNvPr id="11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§12.1     </a:t>
            </a:r>
            <a:fld id="{D130096F-42FB-4461-BFBD-3A47EF41FA0B}" type="slidenum">
              <a:rPr lang="en-GB" sz="1000">
                <a:solidFill>
                  <a:srgbClr val="8795A1"/>
                </a:solidFill>
                <a:latin typeface="Segoe UI"/>
              </a:rPr>
              <a:t>7</a:t>
            </a:fld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855257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Binary Heap</a:t>
            </a:r>
          </a:p>
        </p:txBody>
      </p:sp>
      <p:pic>
        <p:nvPicPr>
          <p:cNvPr id="3" name="!!kicker-icon" descr="book-B35900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35900"/>
                </a:solidFill>
                <a:latin typeface="Segoe UI"/>
              </a:rPr>
              <a:t>DEFINITION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§12.1  ·  Handout p. 97     </a:t>
            </a:r>
            <a:fld id="{48ED8FC3-6DFF-44A1-BBF5-3350E249783E}" type="slidenum">
              <a:rPr lang="en-GB" sz="1000">
                <a:solidFill>
                  <a:srgbClr val="8795A1"/>
                </a:solidFill>
                <a:latin typeface="Segoe UI"/>
              </a:rPr>
              <a:t>8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240610"/>
          </a:xfrm>
          <a:prstGeom prst="roundRect">
            <a:avLst>
              <a:gd name="adj" fmla="val 4081"/>
            </a:avLst>
          </a:prstGeom>
          <a:solidFill>
            <a:srgbClr val="FDF2E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240610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A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binary heap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is a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complete binary tree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— every level full except possibly the last, which is filled from the left — satisfying the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heap property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: every node’s key is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≥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(max-heap) or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≤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(min-heap) its children’s.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3302533"/>
            <a:ext cx="10161727" cy="410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It is stored in an array, with the children of index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i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at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2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i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+1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2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i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+2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120294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Heap height</a:t>
            </a:r>
          </a:p>
        </p:txBody>
      </p:sp>
      <p:pic>
        <p:nvPicPr>
          <p:cNvPr id="3" name="!!kicker-icon" descr="award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THEOREM 12.1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§12.1  ·  Handout p. 97     </a:t>
            </a:r>
            <a:fld id="{2726AFC1-2CA1-43CC-B09A-1782DE63EA1E}" type="slidenum">
              <a:rPr lang="en-GB" sz="1000">
                <a:solidFill>
                  <a:srgbClr val="8795A1"/>
                </a:solidFill>
                <a:latin typeface="Segoe UI"/>
              </a:rPr>
              <a:t>9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986332"/>
          </a:xfrm>
          <a:prstGeom prst="roundRect">
            <a:avLst>
              <a:gd name="adj" fmla="val 9270"/>
            </a:avLst>
          </a:prstGeom>
          <a:solidFill>
            <a:srgbClr val="F2F6F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986332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410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A binary heap on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elements has height exactly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⌊ lg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⌋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385331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Why this cannot go wrong</a:t>
            </a:r>
          </a:p>
        </p:txBody>
      </p:sp>
      <p:pic>
        <p:nvPicPr>
          <p:cNvPr id="3" name="!!kicker-icon" descr="lightbulb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52915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CONCEPT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§12.1  ·  Handout p. 97     </a:t>
            </a:r>
            <a:fld id="{D19E8755-BF39-4C27-891E-408CC74A9B66}" type="slidenum">
              <a:rPr lang="en-GB" sz="1000">
                <a:solidFill>
                  <a:srgbClr val="8795A1"/>
                </a:solidFill>
                <a:latin typeface="Segoe UI"/>
              </a:rPr>
              <a:t>10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243578"/>
          </a:xfrm>
          <a:prstGeom prst="roundRect">
            <a:avLst>
              <a:gd name="adj" fmla="val 2154"/>
            </a:avLst>
          </a:prstGeom>
          <a:solidFill>
            <a:srgbClr val="EBF5FB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24357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7114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Theorem 12.1 has no hypothesis about the data. Compare that with everything else in this book.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2860624"/>
            <a:ext cx="10161727" cy="13770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The height is 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⌊ lg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 ⌋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because the tree is </a:t>
            </a:r>
            <a:r>
              <a:rPr sz="2100" b="0" i="1">
                <a:solidFill>
                  <a:srgbClr val="1C252B"/>
                </a:solidFill>
                <a:latin typeface="Segoe UI"/>
              </a:rPr>
              <a:t>complete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, and it is complete because of the </a:t>
            </a:r>
            <a:r>
              <a:rPr sz="2100" b="0" i="1">
                <a:solidFill>
                  <a:srgbClr val="1C252B"/>
                </a:solidFill>
                <a:latin typeface="Segoe UI"/>
              </a:rPr>
              <a:t>array layout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: node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i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’s children are at 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2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i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+1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2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i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+2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, and a new element goes at index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. There is no insertion order that produces an unbalanced heap, because there is no representation in which an unbalanced heap could be stored.</a:t>
            </a:r>
          </a:p>
        </p:txBody>
      </p:sp>
      <p:sp>
        <p:nvSpPr>
          <p:cNvPr id="11" name="body-2"/>
          <p:cNvSpPr txBox="1"/>
          <p:nvPr/>
        </p:nvSpPr>
        <p:spPr>
          <a:xfrm>
            <a:off x="1060704" y="4338675"/>
            <a:ext cx="10161727" cy="13770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F618D"/>
                </a:solidFill>
                <a:latin typeface="Segoe UI"/>
              </a:rPr>
              <a:t>The structure is enforced by the addressing scheme, not maintained by an algorithm.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That is why heaps need no rebalancing, no rotations, no colouring and no amortised argument — and it is the sharpest contrast in this chapter with Section 12.3.</a:t>
            </a:r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650368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Measured, Because It Costs Nothing To Check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§12.1  ·  Handout p. 97     </a:t>
            </a:r>
            <a:fld id="{C8F2397D-F725-4559-AFA4-2CBC8C5A1E28}" type="slidenum">
              <a:rPr lang="en-GB" sz="1000">
                <a:solidFill>
                  <a:srgbClr val="8795A1"/>
                </a:solidFill>
                <a:latin typeface="Segoe UI"/>
              </a:rPr>
              <a:t>11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943654"/>
          </a:xfrm>
          <a:prstGeom prst="roundRect">
            <a:avLst>
              <a:gd name="adj" fmla="val 2318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94365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3785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1F4E79"/>
                </a:solidFill>
                <a:latin typeface="Consolas"/>
              </a:rPr>
              <a:t>code/ch12_structures.cpp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walks from the last node to the root:</a:t>
            </a:r>
          </a:p>
        </p:txBody>
      </p:sp>
      <p:graphicFrame>
        <p:nvGraphicFramePr>
          <p:cNvPr id="10" name="body-1"/>
          <p:cNvGraphicFramePr>
            <a:graphicFrameLocks noGrp="1"/>
          </p:cNvGraphicFramePr>
          <p:nvPr/>
        </p:nvGraphicFramePr>
        <p:xfrm>
          <a:off x="1042416" y="2491206"/>
          <a:ext cx="4321178" cy="2103115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488346"/>
                <a:gridCol w="964175"/>
                <a:gridCol w="1046251"/>
                <a:gridCol w="822406"/>
              </a:tblGrid>
              <a:tr h="420623">
                <a:tc>
                  <a:txBody>
                    <a:bodyPr wrap="square"/>
                    <a:lstStyle/>
                    <a:p>
                      <a:pPr algn="r"/>
                      <a:r>
                        <a:rPr sz="18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1" i="0">
                          <a:solidFill>
                            <a:srgbClr val="1A5276"/>
                          </a:solidFill>
                          <a:latin typeface="Segoe UI"/>
                        </a:rPr>
                        <a:t>height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1" i="0">
                          <a:solidFill>
                            <a:srgbClr val="1A5276"/>
                          </a:solidFill>
                          <a:latin typeface="Cambria"/>
                        </a:rPr>
                        <a:t>⌊ lg </a:t>
                      </a:r>
                      <a:r>
                        <a:rPr sz="18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r>
                        <a:rPr sz="1800" b="1" i="0">
                          <a:solidFill>
                            <a:srgbClr val="1A5276"/>
                          </a:solidFill>
                          <a:latin typeface="Cambria"/>
                        </a:rPr>
                        <a:t> ⌋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1,000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9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9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equal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100,000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16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16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equal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10,000,000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23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23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equal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100,000,000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26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26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equal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</a:tr>
            </a:tbl>
          </a:graphicData>
        </a:graphic>
      </p:graphicFrame>
      <p:sp>
        <p:nvSpPr>
          <p:cNvPr id="11" name="body-2"/>
          <p:cNvSpPr txBox="1"/>
          <p:nvPr/>
        </p:nvSpPr>
        <p:spPr>
          <a:xfrm>
            <a:off x="1042416" y="4741011"/>
            <a:ext cx="10234879" cy="7114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Exact at every size, as a theorem with no hypotheses should be. A hundred million elements are 26 levels deep.</a:t>
            </a:r>
          </a:p>
        </p:txBody>
      </p:sp>
      <p:sp>
        <p:nvSpPr>
          <p:cNvPr id="1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915405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Build-Heap Is Linear, and the Obvious Analysis Says Otherwise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BD7C7"/>
                </a:solidFill>
                <a:latin typeface="Segoe UI"/>
              </a:rPr>
              <a:t>SECTION 2 OF 4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12.2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12.1   A Heap’s Height Is a Guarantee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7A43"/>
                </a:solidFill>
                <a:latin typeface="Segoe UI"/>
              </a:rPr>
              <a:t>12.2   Build-Heap Is Linear, and the Obvious Analysis Says Otherwise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12.3   A Search Tree’s Height Is a Hope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12.4   Choosing</a:t>
            </a:r>
          </a:p>
        </p:txBody>
      </p:sp>
      <p:sp>
        <p:nvSpPr>
          <p:cNvPr id="10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</a:t>
            </a:r>
          </a:p>
        </p:txBody>
      </p:sp>
      <p:sp>
        <p:nvSpPr>
          <p:cNvPr id="11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§12.2     </a:t>
            </a:r>
            <a:fld id="{9DAC47DA-B4EB-45BC-BD36-1279A1FCE706}" type="slidenum">
              <a:rPr lang="en-GB" sz="1000">
                <a:solidFill>
                  <a:srgbClr val="8795A1"/>
                </a:solidFill>
                <a:latin typeface="Segoe UI"/>
              </a:rPr>
              <a:t>12</a:t>
            </a:fld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180442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Build-Heap Is Linear, and the Obvious Analysis Says Otherwise</a:t>
            </a:r>
          </a:p>
        </p:txBody>
      </p:sp>
      <p:sp>
        <p:nvSpPr>
          <p:cNvPr id="3" name="!!kicker"/>
          <p:cNvSpPr txBox="1"/>
          <p:nvPr/>
        </p:nvSpPr>
        <p:spPr>
          <a:xfrm>
            <a:off x="658368" y="402336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B7A43"/>
                </a:solidFill>
                <a:latin typeface="Segoe UI"/>
              </a:rPr>
              <a:t>FIGURE 12.1</a:t>
            </a:r>
          </a:p>
        </p:txBody>
      </p:sp>
      <p:sp>
        <p:nvSpPr>
          <p:cNvPr id="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§12.2  ·  Handout p. 98     </a:t>
            </a:r>
            <a:fld id="{F3083055-2888-4B41-B959-34CA61E76C0D}" type="slidenum">
              <a:rPr lang="en-GB" sz="1000">
                <a:solidFill>
                  <a:srgbClr val="8795A1"/>
                </a:solidFill>
                <a:latin typeface="Segoe UI"/>
              </a:rPr>
              <a:t>13</a:t>
            </a:fld>
          </a:p>
        </p:txBody>
      </p:sp>
      <p:pic>
        <p:nvPicPr>
          <p:cNvPr id="6" name="!!figure" descr="Figure 12.1. Build-Heap. The loop runs n/2 times and Sift-Down costs O(lg n), so the obvious bound is O(n lg n). The obvious bound is loose, and Theorem 12.2 says by how much.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2036554"/>
            <a:ext cx="10874959" cy="2030824"/>
          </a:xfrm>
          <a:prstGeom prst="rect">
            <a:avLst/>
          </a:prstGeom>
        </p:spPr>
      </p:pic>
      <p:sp>
        <p:nvSpPr>
          <p:cNvPr id="7" name="!!take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60745"/>
            <a:ext cx="54864" cy="57546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ake"/>
          <p:cNvSpPr txBox="1"/>
          <p:nvPr/>
        </p:nvSpPr>
        <p:spPr>
          <a:xfrm>
            <a:off x="877824" y="5642457"/>
            <a:ext cx="10600639" cy="758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C57"/>
                </a:solidFill>
                <a:latin typeface="Segoe UI"/>
              </a:rPr>
              <a:t>Build-Heap. The loop runs n/2 times and Sift-Down costs O(lg n), so the obvious bound is O(n lg n). The obvious bound is loose, and Theorem 12.2 says by how much.</a:t>
            </a:r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445479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Build-Heap</a:t>
            </a:r>
          </a:p>
        </p:txBody>
      </p:sp>
      <p:pic>
        <p:nvPicPr>
          <p:cNvPr id="3" name="!!kicker-icon" descr="award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THEOREM 12.2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§12.2  ·  Handout p. 98     </a:t>
            </a:r>
            <a:fld id="{07577166-CD6B-40AE-8C56-2A528275FDD1}" type="slidenum">
              <a:rPr lang="en-GB" sz="1000">
                <a:solidFill>
                  <a:srgbClr val="8795A1"/>
                </a:solidFill>
                <a:latin typeface="Segoe UI"/>
              </a:rPr>
              <a:t>14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986332"/>
          </a:xfrm>
          <a:prstGeom prst="roundRect">
            <a:avLst>
              <a:gd name="adj" fmla="val 9270"/>
            </a:avLst>
          </a:prstGeom>
          <a:solidFill>
            <a:srgbClr val="F2F6F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986332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410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Build-Heap runs in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time.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710515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Where the naive analysis was loose</a:t>
            </a:r>
          </a:p>
        </p:txBody>
      </p:sp>
      <p:pic>
        <p:nvPicPr>
          <p:cNvPr id="3" name="!!kicker-icon" descr="lightbulb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52915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CONCEPT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§12.2  ·  Handout p. 98     </a:t>
            </a:r>
            <a:fld id="{BA17C562-6B09-485A-BB9E-224F7DA1480C}" type="slidenum">
              <a:rPr lang="en-GB" sz="1000">
                <a:solidFill>
                  <a:srgbClr val="8795A1"/>
                </a:solidFill>
                <a:latin typeface="Segoe UI"/>
              </a:rPr>
              <a:t>15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416044"/>
          </a:xfrm>
          <a:prstGeom prst="roundRect">
            <a:avLst>
              <a:gd name="adj" fmla="val 2070"/>
            </a:avLst>
          </a:prstGeom>
          <a:solidFill>
            <a:srgbClr val="EBF5FB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41604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74310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“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/2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calls, each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O(lg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, therefore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O(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 lg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” is valid — it is a correct upper bound. It is simply not tight, and the reason is worth internalising.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2899308"/>
            <a:ext cx="10161727" cy="14404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It charges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every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node the cost of the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worst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node. But half the nodes are leaves and cost nothing, a quarter are one level up and cost 1, an eighth cost 2. The expensive nodes are the rare ones, and the sum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Σ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j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/2</a:t>
            </a:r>
            <a:r>
              <a:rPr sz="1450" b="0" i="1" baseline="30000">
                <a:solidFill>
                  <a:srgbClr val="1C252B"/>
                </a:solidFill>
                <a:latin typeface="Cambria"/>
              </a:rPr>
              <a:t>j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converges precisely because the cost grows linearly while the population falls geometrically.</a:t>
            </a:r>
          </a:p>
        </p:txBody>
      </p:sp>
      <p:sp>
        <p:nvSpPr>
          <p:cNvPr id="11" name="body-2"/>
          <p:cNvSpPr txBox="1"/>
          <p:nvPr/>
        </p:nvSpPr>
        <p:spPr>
          <a:xfrm>
            <a:off x="1060704" y="4447743"/>
            <a:ext cx="10161727" cy="14404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618D"/>
                </a:solidFill>
                <a:latin typeface="Segoe UI"/>
              </a:rPr>
              <a:t>This pattern — a bound that is loose because it multiplies a worst case by a count — recurs throughout the book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, and Chapter 17 is entirely devoted to it. Heapsort, by contrast, really is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: it calls Sift-Down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times from the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root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, where the height really is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lg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every time.</a:t>
            </a:r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975552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A Search Tree’s Height Is a Hope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BD7C7"/>
                </a:solidFill>
                <a:latin typeface="Segoe UI"/>
              </a:rPr>
              <a:t>SECTION 3 OF 4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12.3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12.1   A Heap’s Height Is a Guarantee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12.2   Build-Heap Is Linear, and the Obvious Analysis Says Otherwise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7A43"/>
                </a:solidFill>
                <a:latin typeface="Segoe UI"/>
              </a:rPr>
              <a:t>12.3   A Search Tree’s Height Is a Hope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12.4   Choosing</a:t>
            </a:r>
          </a:p>
        </p:txBody>
      </p:sp>
      <p:sp>
        <p:nvSpPr>
          <p:cNvPr id="10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</a:t>
            </a:r>
          </a:p>
        </p:txBody>
      </p:sp>
      <p:sp>
        <p:nvSpPr>
          <p:cNvPr id="11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§12.3     </a:t>
            </a:r>
            <a:fld id="{47179198-EE2D-4021-89A4-52AD9898E54F}" type="slidenum">
              <a:rPr lang="en-GB" sz="1000">
                <a:solidFill>
                  <a:srgbClr val="8795A1"/>
                </a:solidFill>
                <a:latin typeface="Segoe UI"/>
              </a:rPr>
              <a:t>16</a:t>
            </a:fld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240589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same keys, the same code, two different structures</a:t>
            </a:r>
          </a:p>
        </p:txBody>
      </p:sp>
      <p:pic>
        <p:nvPicPr>
          <p:cNvPr id="3" name="!!kicker-icon" descr="exclamation-triang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45688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WATCH OUT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§12.3  ·  Handout p. 99     </a:t>
            </a:r>
            <a:fld id="{10B79018-D722-4B37-BCF8-D6A44D572FD1}" type="slidenum">
              <a:rPr lang="en-GB" sz="1000">
                <a:solidFill>
                  <a:srgbClr val="8795A1"/>
                </a:solidFill>
                <a:latin typeface="Segoe UI"/>
              </a:rPr>
              <a:t>17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334232"/>
          </a:xfrm>
          <a:prstGeom prst="roundRect">
            <a:avLst>
              <a:gd name="adj" fmla="val 2742"/>
            </a:avLst>
          </a:prstGeom>
          <a:solidFill>
            <a:srgbClr val="FDED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334232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A BST has no array layout to enforce its shape. Its height is decided entirely by the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order the keys arrive in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— which is Chapter 2’s lesson, applied to a data structure rather than to a sort.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3302533"/>
            <a:ext cx="10161727" cy="15038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Insert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1, 2, 3, …,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in that order and every key is larger than everything before it, so every key goes down the right spine. The result has height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: it is a linked list that costs more to traverse than a linked list, because the pointers are scattered.</a:t>
            </a:r>
          </a:p>
        </p:txBody>
      </p:sp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05626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Measured: Random Keys Against Sorted Keys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§12.3  ·  Handout p. 99     </a:t>
            </a:r>
            <a:fld id="{B0B1E29E-F05E-46C0-91F0-EFE685EFAA53}" type="slidenum">
              <a:rPr lang="en-GB" sz="1000">
                <a:solidFill>
                  <a:srgbClr val="8795A1"/>
                </a:solidFill>
                <a:latin typeface="Segoe UI"/>
              </a:rPr>
              <a:t>18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276496"/>
          </a:xfrm>
          <a:prstGeom prst="roundRect">
            <a:avLst>
              <a:gd name="adj" fmla="val 2138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27649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graphicFrame>
        <p:nvGraphicFramePr>
          <p:cNvPr id="9" name="body-0"/>
          <p:cNvGraphicFramePr>
            <a:graphicFrameLocks noGrp="1"/>
          </p:cNvGraphicFramePr>
          <p:nvPr/>
        </p:nvGraphicFramePr>
        <p:xfrm>
          <a:off x="1042416" y="2011679"/>
          <a:ext cx="6513194" cy="2103115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060708"/>
                <a:gridCol w="683669"/>
                <a:gridCol w="1315332"/>
                <a:gridCol w="889793"/>
                <a:gridCol w="1154767"/>
                <a:gridCol w="1408925"/>
              </a:tblGrid>
              <a:tr h="420623">
                <a:tc>
                  <a:txBody>
                    <a:bodyPr wrap="square"/>
                    <a:lstStyle/>
                    <a:p>
                      <a:pPr algn="r"/>
                      <a:r>
                        <a:rPr sz="18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1" i="0">
                          <a:solidFill>
                            <a:srgbClr val="1A5276"/>
                          </a:solidFill>
                          <a:latin typeface="Cambria"/>
                        </a:rPr>
                        <a:t>lg </a:t>
                      </a:r>
                      <a:r>
                        <a:rPr sz="18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1" i="0">
                          <a:solidFill>
                            <a:srgbClr val="1A5276"/>
                          </a:solidFill>
                          <a:latin typeface="Segoe UI"/>
                        </a:rPr>
                        <a:t>random </a:t>
                      </a:r>
                      <a:r>
                        <a:rPr sz="1800" b="1" i="1">
                          <a:solidFill>
                            <a:srgbClr val="1A5276"/>
                          </a:solidFill>
                          <a:latin typeface="Cambria"/>
                        </a:rPr>
                        <a:t>h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1" i="1">
                          <a:solidFill>
                            <a:srgbClr val="1A5276"/>
                          </a:solidFill>
                          <a:latin typeface="Cambria"/>
                        </a:rPr>
                        <a:t>h</a:t>
                      </a:r>
                      <a:r>
                        <a:rPr sz="1800" b="1" i="0">
                          <a:solidFill>
                            <a:srgbClr val="1A5276"/>
                          </a:solidFill>
                          <a:latin typeface="Cambria"/>
                        </a:rPr>
                        <a:t>/lg </a:t>
                      </a:r>
                      <a:r>
                        <a:rPr sz="18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1" i="0">
                          <a:solidFill>
                            <a:srgbClr val="1A5276"/>
                          </a:solidFill>
                          <a:latin typeface="Segoe UI"/>
                        </a:rPr>
                        <a:t>sorted </a:t>
                      </a:r>
                      <a:r>
                        <a:rPr sz="1800" b="1" i="1">
                          <a:solidFill>
                            <a:srgbClr val="1A5276"/>
                          </a:solidFill>
                          <a:latin typeface="Cambria"/>
                        </a:rPr>
                        <a:t>h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1" i="0">
                          <a:solidFill>
                            <a:srgbClr val="1A5276"/>
                          </a:solidFill>
                          <a:latin typeface="Segoe UI"/>
                        </a:rPr>
                        <a:t>sorted </a:t>
                      </a:r>
                      <a:r>
                        <a:rPr sz="1800" b="1" i="1">
                          <a:solidFill>
                            <a:srgbClr val="1A5276"/>
                          </a:solidFill>
                          <a:latin typeface="Cambria"/>
                        </a:rPr>
                        <a:t>h</a:t>
                      </a:r>
                      <a:r>
                        <a:rPr sz="1800" b="1" i="0">
                          <a:solidFill>
                            <a:srgbClr val="1A5276"/>
                          </a:solidFill>
                          <a:latin typeface="Cambria"/>
                        </a:rPr>
                        <a:t>/</a:t>
                      </a:r>
                      <a:r>
                        <a:rPr sz="18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1,000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10.0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21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2.11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1,000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1.000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8,000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13.0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27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2.08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8,000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1.000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64,000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16.0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37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2.32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64,000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1.000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256,000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18.0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44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2.45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256,000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1.000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</a:tr>
            </a:tbl>
          </a:graphicData>
        </a:graphic>
      </p:graphicFrame>
      <p:sp>
        <p:nvSpPr>
          <p:cNvPr id="10" name="body-1"/>
          <p:cNvSpPr txBox="1"/>
          <p:nvPr/>
        </p:nvSpPr>
        <p:spPr>
          <a:xfrm>
            <a:off x="1042416" y="4261485"/>
            <a:ext cx="10234879" cy="3785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D6608"/>
                </a:solidFill>
                <a:latin typeface="Segoe UI"/>
              </a:rPr>
              <a:t>The sorted column is </a:t>
            </a:r>
            <a:r>
              <a:rPr sz="21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 exactly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—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h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/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 = 1.000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at every size. Not “about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”; exactly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1" name="body-1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279772"/>
            <a:ext cx="54864" cy="314553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body-2"/>
          <p:cNvSpPr txBox="1"/>
          <p:nvPr/>
        </p:nvSpPr>
        <p:spPr>
          <a:xfrm>
            <a:off x="1042416" y="4741011"/>
            <a:ext cx="10234879" cy="10442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D6608"/>
                </a:solidFill>
                <a:latin typeface="Segoe UI"/>
              </a:rPr>
              <a:t>The random column is about </a:t>
            </a:r>
            <a:r>
              <a:rPr sz="2100" b="1" i="0">
                <a:solidFill>
                  <a:srgbClr val="1C252B"/>
                </a:solidFill>
                <a:latin typeface="Cambria"/>
              </a:rPr>
              <a:t>2.3 lg </a:t>
            </a:r>
            <a:r>
              <a:rPr sz="21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, which is a tree. At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 = 256,000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: height 44 against height 256,000. A factor of 5,800, from nothing but the order the same keys were handed over in.</a:t>
            </a:r>
          </a:p>
        </p:txBody>
      </p:sp>
      <p:sp>
        <p:nvSpPr>
          <p:cNvPr id="13" name="body-2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759299"/>
            <a:ext cx="54864" cy="98023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770663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constants for a randomly built BST</a:t>
            </a:r>
          </a:p>
        </p:txBody>
      </p:sp>
      <p:pic>
        <p:nvPicPr>
          <p:cNvPr id="3" name="!!kicker-icon" descr="lightbulb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52915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CONCEPT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§12.3  ·  Handout p. 99     </a:t>
            </a:r>
            <a:fld id="{5A988C21-4AB3-4FF0-90F5-C13EE53C6B60}" type="slidenum">
              <a:rPr lang="en-GB" sz="1000">
                <a:solidFill>
                  <a:srgbClr val="8795A1"/>
                </a:solidFill>
                <a:latin typeface="Segoe UI"/>
              </a:rPr>
              <a:t>19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961663"/>
          </a:xfrm>
          <a:prstGeom prst="roundRect">
            <a:avLst>
              <a:gd name="adj" fmla="val 2308"/>
            </a:avLst>
          </a:prstGeom>
          <a:solidFill>
            <a:srgbClr val="EBF5FB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961663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410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Two classical results, both asymptotic: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2573451"/>
            <a:ext cx="10161727" cy="16061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57176" indent="-257176">
              <a:lnSpc>
                <a:spcPct val="104000"/>
              </a:lnSpc>
              <a:spcBef>
                <a:spcPts val="0"/>
              </a:spcBef>
              <a:spcAft>
                <a:spcPts val="804"/>
              </a:spcAft>
            </a:pPr>
            <a:r>
              <a:rPr sz="2300" b="1">
                <a:solidFill>
                  <a:srgbClr val="1F618D"/>
                </a:solidFill>
                <a:latin typeface="Segoe UI"/>
              </a:rPr>
              <a:t>•	</a:t>
            </a:r>
            <a:r>
              <a:rPr sz="2300" b="1" i="0">
                <a:solidFill>
                  <a:srgbClr val="1F618D"/>
                </a:solidFill>
                <a:latin typeface="Segoe UI"/>
              </a:rPr>
              <a:t>Expected height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∼ 4.311 ln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− 1.953 ln ln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+ O(1)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(Reed, 2003). The leading term is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2.988 lg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</a:t>
            </a:r>
          </a:p>
          <a:p>
            <a:pPr algn="l" marL="257176" indent="-257176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F618D"/>
                </a:solidFill>
                <a:latin typeface="Segoe UI"/>
              </a:rPr>
              <a:t>•	</a:t>
            </a:r>
            <a:r>
              <a:rPr sz="2300" b="1" i="0">
                <a:solidFill>
                  <a:srgbClr val="1F618D"/>
                </a:solidFill>
                <a:latin typeface="Segoe UI"/>
              </a:rPr>
              <a:t>Expected node depth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∼ 2 ln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− 3 + O(1)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 The leading term is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1.386 lg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, and this is the average cost of a successful search.</a:t>
            </a:r>
          </a:p>
        </p:txBody>
      </p:sp>
      <p:sp>
        <p:nvSpPr>
          <p:cNvPr id="11" name="body-2"/>
          <p:cNvSpPr txBox="1"/>
          <p:nvPr/>
        </p:nvSpPr>
        <p:spPr>
          <a:xfrm>
            <a:off x="1060704" y="4294504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Note that “randomly built” means the keys were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inserted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in random order. It does not mean the keys are random — sorted keys inserted in sorted order is the disaster above, and the keys there were as random as you like.</a:t>
            </a:r>
          </a:p>
        </p:txBody>
      </p:sp>
      <p:sp>
        <p:nvSpPr>
          <p:cNvPr id="1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035700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8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Constants, Measured Honestly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§12.3  ·  Handout p. 99     </a:t>
            </a:r>
            <a:fld id="{C7B93473-062B-41AE-99B6-50B8347BD090}" type="slidenum">
              <a:rPr lang="en-GB" sz="1000">
                <a:solidFill>
                  <a:srgbClr val="8795A1"/>
                </a:solidFill>
                <a:latin typeface="Segoe UI"/>
              </a:rPr>
              <a:t>20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270502"/>
          </a:xfrm>
          <a:prstGeom prst="roundRect">
            <a:avLst>
              <a:gd name="adj" fmla="val 2141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27050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3468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Mean of 25 independently shuffled trees. Both measured columns are divided by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graphicFrame>
        <p:nvGraphicFramePr>
          <p:cNvPr id="10" name="body-1"/>
          <p:cNvGraphicFramePr>
            <a:graphicFrameLocks noGrp="1"/>
          </p:cNvGraphicFramePr>
          <p:nvPr/>
        </p:nvGraphicFramePr>
        <p:xfrm>
          <a:off x="1042416" y="2445537"/>
          <a:ext cx="7693595" cy="195072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971300"/>
                <a:gridCol w="885492"/>
                <a:gridCol w="1179781"/>
                <a:gridCol w="1025395"/>
                <a:gridCol w="1426451"/>
                <a:gridCol w="1179781"/>
                <a:gridCol w="1025395"/>
              </a:tblGrid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height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corrected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asympt.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mean depth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corrected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asympt.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2,000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2.324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2.627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2.988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1.231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1.113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1.386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8,000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2.311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2.657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2.988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1.242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1.155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1.386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32,000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2.459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2.683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2.988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1.276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1.186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1.386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128,000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2.461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2.704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2.988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1.278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1.209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1.386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</a:tr>
            </a:tbl>
          </a:graphicData>
        </a:graphic>
      </p:graphicFrame>
      <p:sp>
        <p:nvSpPr>
          <p:cNvPr id="11" name="body-2"/>
          <p:cNvSpPr txBox="1"/>
          <p:nvPr/>
        </p:nvSpPr>
        <p:spPr>
          <a:xfrm>
            <a:off x="1042416" y="4528972"/>
            <a:ext cx="10234879" cy="125028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Quoting only the asymptotic constants would have made the measurement look wrong.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Measured height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/lg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is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2.46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against an asymptote of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2.99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— an 18% shortfall, which looks like a failed prediction until you include the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−1.953 ln ln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term. At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128,000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ln ln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2.46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and that term alone subtracts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0.28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from the ratio.</a:t>
            </a:r>
          </a:p>
        </p:txBody>
      </p:sp>
      <p:sp>
        <p:nvSpPr>
          <p:cNvPr id="12" name="body-2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547260"/>
            <a:ext cx="54864" cy="1186281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300737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Constants, Measured Honestly (continued)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§12.3  ·  Handout p. 99     </a:t>
            </a:r>
            <a:fld id="{DF5D7F1D-A7CB-47EF-93A9-F2225D0E348B}" type="slidenum">
              <a:rPr lang="en-GB" sz="1000">
                <a:solidFill>
                  <a:srgbClr val="8795A1"/>
                </a:solidFill>
                <a:latin typeface="Segoe UI"/>
              </a:rPr>
              <a:t>21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090494"/>
          </a:xfrm>
          <a:prstGeom prst="roundRect">
            <a:avLst>
              <a:gd name="adj" fmla="val 2958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09049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125028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The mean-depth column is the cleaner story.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Measured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1.231 → 1.278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rising steadily towards the asymptote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1.386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and bracketed above the corrected form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(2 ln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− 3)/lg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It is converging, slowly, from below — and “slowly” here means like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1/lg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so reaching within 1% of the asymptote would need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around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10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30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body-0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2029967"/>
            <a:ext cx="54864" cy="1186281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body-1"/>
          <p:cNvSpPr txBox="1"/>
          <p:nvPr/>
        </p:nvSpPr>
        <p:spPr>
          <a:xfrm>
            <a:off x="1042416" y="3348964"/>
            <a:ext cx="10234879" cy="125028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The general lesson is about reading asymptotic constants.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An asymptotic constant is a limit, and the lower-order terms it discards can dominate at every size you will ever run. When a measurement misses a theoretical constant by 20%, the first question is not “is the theory wrong” but “what did the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O(1)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swallow”.</a:t>
            </a:r>
          </a:p>
        </p:txBody>
      </p:sp>
      <p:sp>
        <p:nvSpPr>
          <p:cNvPr id="12" name="body-1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3367252"/>
            <a:ext cx="54864" cy="1186281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565773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the Height Costs, in Seconds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§12.3  ·  Handout p. 99     </a:t>
            </a:r>
            <a:fld id="{FE473591-BDA0-4114-A4B6-C8E87DB098C2}" type="slidenum">
              <a:rPr lang="en-GB" sz="1000">
                <a:solidFill>
                  <a:srgbClr val="8795A1"/>
                </a:solidFill>
                <a:latin typeface="Segoe UI"/>
              </a:rPr>
              <a:t>22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403217"/>
          </a:xfrm>
          <a:prstGeom prst="roundRect">
            <a:avLst>
              <a:gd name="adj" fmla="val 2076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403217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3468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100,000 successful searches against each tree:</a:t>
            </a:r>
          </a:p>
        </p:txBody>
      </p:sp>
      <p:graphicFrame>
        <p:nvGraphicFramePr>
          <p:cNvPr id="10" name="body-1"/>
          <p:cNvGraphicFramePr>
            <a:graphicFrameLocks noGrp="1"/>
          </p:cNvGraphicFramePr>
          <p:nvPr/>
        </p:nvGraphicFramePr>
        <p:xfrm>
          <a:off x="1042416" y="2445537"/>
          <a:ext cx="5343174" cy="195072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859584"/>
                <a:gridCol w="1939222"/>
                <a:gridCol w="1796499"/>
                <a:gridCol w="747869"/>
              </a:tblGrid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random BST (ms)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sorted BST (ms)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ratio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2,000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6.65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532.05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80.0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8,000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10.02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1,886.29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188.3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16,000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9.40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3,790.47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403.3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32,000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11.72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7,618.81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650.1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</a:tr>
            </a:tbl>
          </a:graphicData>
        </a:graphic>
      </p:graphicFrame>
      <p:sp>
        <p:nvSpPr>
          <p:cNvPr id="11" name="body-2"/>
          <p:cNvSpPr txBox="1"/>
          <p:nvPr/>
        </p:nvSpPr>
        <p:spPr>
          <a:xfrm>
            <a:off x="1042416" y="4528972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The random tree’s time barely moves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— 6.6 ms to 11.7 ms while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grows 16-fold — which is what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looks like on a clock.</a:t>
            </a:r>
          </a:p>
        </p:txBody>
      </p:sp>
      <p:sp>
        <p:nvSpPr>
          <p:cNvPr id="12" name="body-2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547260"/>
            <a:ext cx="54864" cy="58399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body-3"/>
          <p:cNvSpPr txBox="1"/>
          <p:nvPr/>
        </p:nvSpPr>
        <p:spPr>
          <a:xfrm>
            <a:off x="1042416" y="5263972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The degenerate tree’s time doubles with </a:t>
            </a:r>
            <a:r>
              <a:rPr sz="19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and the ratio reaches 650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×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at only 32,000 elements.</a:t>
            </a:r>
          </a:p>
        </p:txBody>
      </p:sp>
      <p:sp>
        <p:nvSpPr>
          <p:cNvPr id="14" name="body-3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5282260"/>
            <a:ext cx="54864" cy="58399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830810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the Height Costs, in Seconds (continued)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§12.3  ·  Handout p. 99     </a:t>
            </a:r>
            <a:fld id="{F20F8DEA-1564-43D4-AD07-7626CC0CDD28}" type="slidenum">
              <a:rPr lang="en-GB" sz="1000">
                <a:solidFill>
                  <a:srgbClr val="8795A1"/>
                </a:solidFill>
                <a:latin typeface="Segoe UI"/>
              </a:rPr>
              <a:t>23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054352"/>
          </a:xfrm>
          <a:prstGeom prst="roundRect">
            <a:avLst>
              <a:gd name="adj" fmla="val 4451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05435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1551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And it is worse than the </a:t>
            </a:r>
            <a:r>
              <a:rPr sz="19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1" i="0">
                <a:solidFill>
                  <a:srgbClr val="1C252B"/>
                </a:solidFill>
                <a:latin typeface="Cambria"/>
              </a:rPr>
              <a:t>/lg </a:t>
            </a:r>
            <a:r>
              <a:rPr sz="19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1" i="0">
                <a:solidFill>
                  <a:srgbClr val="1C252B"/>
                </a:solidFill>
                <a:latin typeface="Segoe UI"/>
              </a:rPr>
              <a:t> ratio predicts.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At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32,000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/(2.4 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 ≈ 890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steps against 44, a ratio of about 20 in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steps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— yet the measured time ratio is 650. The extra factor is memory: each step in the degenerate tree is a dependent pointer dereference to an unpredictable address, so the processor can neither prefetch it nor overlap it with the next. Chapter 1’s second lie — that all memory costs the same — charging interest again.</a:t>
            </a:r>
          </a:p>
        </p:txBody>
      </p:sp>
      <p:sp>
        <p:nvSpPr>
          <p:cNvPr id="10" name="body-0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2029967"/>
            <a:ext cx="54864" cy="148742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5847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Three structures, one table</a:t>
            </a:r>
          </a:p>
        </p:txBody>
      </p:sp>
      <p:pic>
        <p:nvPicPr>
          <p:cNvPr id="3" name="!!kicker-icon" descr="lightbulb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52915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CONCEPT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§12.4  ·  Handout p. 101     </a:t>
            </a:r>
            <a:fld id="{F1B9C3CF-FB9F-4BBA-8AEE-298A6AE9260D}" type="slidenum">
              <a:rPr lang="en-GB" sz="1000">
                <a:solidFill>
                  <a:srgbClr val="8795A1"/>
                </a:solidFill>
                <a:latin typeface="Segoe UI"/>
              </a:rPr>
              <a:t>24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566160"/>
          </a:xfrm>
          <a:prstGeom prst="roundRect">
            <a:avLst>
              <a:gd name="adj" fmla="val 2564"/>
            </a:avLst>
          </a:prstGeom>
          <a:solidFill>
            <a:srgbClr val="EBF5FB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56616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graphicFrame>
        <p:nvGraphicFramePr>
          <p:cNvPr id="9" name="body-0"/>
          <p:cNvGraphicFramePr>
            <a:graphicFrameLocks noGrp="1"/>
          </p:cNvGraphicFramePr>
          <p:nvPr/>
        </p:nvGraphicFramePr>
        <p:xfrm>
          <a:off x="1060704" y="2048255"/>
          <a:ext cx="10104289" cy="2944361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990923"/>
                <a:gridCol w="1706505"/>
                <a:gridCol w="2028350"/>
                <a:gridCol w="2032066"/>
                <a:gridCol w="2346445"/>
              </a:tblGrid>
              <a:tr h="420623">
                <a:tc>
                  <a:txBody>
                    <a:bodyPr wrap="square"/>
                    <a:lstStyle/>
                    <a:p>
                      <a:pPr algn="l"/>
                      <a:r>
                        <a:rPr sz="1800" b="1" i="0">
                          <a:solidFill>
                            <a:srgbClr val="1A5276"/>
                          </a:solidFill>
                          <a:latin typeface="Segoe UI"/>
                        </a:rPr>
                        <a:t>Operation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 i="0">
                          <a:solidFill>
                            <a:srgbClr val="1A5276"/>
                          </a:solidFill>
                          <a:latin typeface="Segoe UI"/>
                        </a:rPr>
                        <a:t>Sorted array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 i="0">
                          <a:solidFill>
                            <a:srgbClr val="1A5276"/>
                          </a:solidFill>
                          <a:latin typeface="Segoe UI"/>
                        </a:rPr>
                        <a:t>Binary heap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 i="0">
                          <a:solidFill>
                            <a:srgbClr val="1A5276"/>
                          </a:solidFill>
                          <a:latin typeface="Segoe UI"/>
                        </a:rPr>
                        <a:t>Unbalanced BST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 i="0">
                          <a:solidFill>
                            <a:srgbClr val="1A5276"/>
                          </a:solidFill>
                          <a:latin typeface="Segoe UI"/>
                        </a:rPr>
                        <a:t>Balanced BST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find min/max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Θ(1)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Θ(1)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Θ(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h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Θ(lg 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search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Θ(lg 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Θ(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Θ(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h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Θ(lg 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insert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Θ(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Θ(lg 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Θ(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h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Θ(lg 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delete min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Θ(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Θ(lg 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Θ(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h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Θ(lg 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in-order walk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Θ(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Θ(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 lg 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Θ(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Θ(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l"/>
                      <a:r>
                        <a:rPr sz="1800" b="1" i="0">
                          <a:solidFill>
                            <a:srgbClr val="1C252B"/>
                          </a:solidFill>
                          <a:latin typeface="Segoe UI"/>
                        </a:rPr>
                        <a:t>worst-case </a:t>
                      </a:r>
                      <a:r>
                        <a:rPr sz="1800" b="1" i="1">
                          <a:solidFill>
                            <a:srgbClr val="1C252B"/>
                          </a:solidFill>
                          <a:latin typeface="Cambria"/>
                        </a:rPr>
                        <a:t>h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—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⌊ lg 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⌋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 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Segoe UI"/>
                        </a:rPr>
                        <a:t>guaranteed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O(lg 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 </a:t>
                      </a:r>
                      <a:r>
                        <a:rPr sz="1800" b="0" i="1">
                          <a:solidFill>
                            <a:srgbClr val="1C252B"/>
                          </a:solidFill>
                          <a:latin typeface="Segoe UI"/>
                        </a:rPr>
                        <a:t>guaranteed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</a:tr>
            </a:tbl>
          </a:graphicData>
        </a:graphic>
      </p:graphicFrame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360884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Three structures, one table (continued)</a:t>
            </a:r>
          </a:p>
        </p:txBody>
      </p:sp>
      <p:pic>
        <p:nvPicPr>
          <p:cNvPr id="3" name="!!kicker-icon" descr="lightbulb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52915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CONCEPT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§12.4  ·  Handout p. 101     </a:t>
            </a:r>
            <a:fld id="{DBA73781-4B2B-4E35-B14E-B145A70E5CBF}" type="slidenum">
              <a:rPr lang="en-GB" sz="1000">
                <a:solidFill>
                  <a:srgbClr val="8795A1"/>
                </a:solidFill>
                <a:latin typeface="Segoe UI"/>
              </a:rPr>
              <a:t>25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764051"/>
          </a:xfrm>
          <a:prstGeom prst="roundRect">
            <a:avLst>
              <a:gd name="adj" fmla="val 2429"/>
            </a:avLst>
          </a:prstGeom>
          <a:solidFill>
            <a:srgbClr val="EBF5FB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764051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3770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F618D"/>
                </a:solidFill>
                <a:latin typeface="Segoe UI"/>
              </a:rPr>
              <a:t>A heap is not a search structure.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It gives 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Θ(1)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access to the extremum and 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search for anything else — the heap property orders each node against its children only, never its siblings. Use it for priority queues (Chapter 19, Chapter 20) and nothing else.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3526307"/>
            <a:ext cx="10161727" cy="1709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F618D"/>
                </a:solidFill>
                <a:latin typeface="Segoe UI"/>
              </a:rPr>
              <a:t>An unbalanced BST is a gamble on insertion order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, and the measured penalty for losing is 650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×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. Balanced variants — AVL, red–black, treaps — restore the guarantee by rotating on insertion, at a constant-factor cost. </a:t>
            </a:r>
            <a:r>
              <a:rPr sz="2100" b="0" i="1">
                <a:solidFill>
                  <a:srgbClr val="1C252B"/>
                </a:solidFill>
                <a:latin typeface="Segoe UI"/>
              </a:rPr>
              <a:t>Data Structures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covers the rotations; what this course adds is that the guarantee is worth paying for, and by how much.</a:t>
            </a:r>
          </a:p>
        </p:txBody>
      </p:sp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625921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Common pitfalls</a:t>
            </a:r>
          </a:p>
        </p:txBody>
      </p:sp>
      <p:pic>
        <p:nvPicPr>
          <p:cNvPr id="3" name="!!kicker-icon" descr="exclamation-circ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2672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COMMON PITFALLS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§12.4  ·  Handout p. 101     </a:t>
            </a:r>
            <a:fld id="{B27E086F-1BB5-4D0A-BBD0-63C457F6F8DF}" type="slidenum">
              <a:rPr lang="en-GB" sz="1000">
                <a:solidFill>
                  <a:srgbClr val="8795A1"/>
                </a:solidFill>
                <a:latin typeface="Segoe UI"/>
              </a:rPr>
              <a:t>26</a:t>
            </a:fld>
          </a:p>
        </p:txBody>
      </p:sp>
      <p:sp>
        <p:nvSpPr>
          <p:cNvPr id="7" name="!!p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px0"/>
          <p:cNvSpPr txBox="1"/>
          <p:nvPr/>
        </p:nvSpPr>
        <p:spPr>
          <a:xfrm>
            <a:off x="658368" y="1778507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9" name="!!pt0"/>
          <p:cNvSpPr txBox="1"/>
          <p:nvPr/>
        </p:nvSpPr>
        <p:spPr>
          <a:xfrm>
            <a:off x="1261872" y="1737360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Assuming Build-Heap is 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O(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 lg 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1" i="0">
                <a:solidFill>
                  <a:srgbClr val="1C252B"/>
                </a:solidFill>
                <a:latin typeface="Segoe UI"/>
              </a:rPr>
              <a:t>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It is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; the loose analysis charges every node the root’s cost.</a:t>
            </a:r>
          </a:p>
        </p:txBody>
      </p:sp>
      <p:sp>
        <p:nvSpPr>
          <p:cNvPr id="10" name="!!p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322576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x1"/>
          <p:cNvSpPr txBox="1"/>
          <p:nvPr/>
        </p:nvSpPr>
        <p:spPr>
          <a:xfrm>
            <a:off x="658368" y="234543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12" name="!!pt1"/>
          <p:cNvSpPr txBox="1"/>
          <p:nvPr/>
        </p:nvSpPr>
        <p:spPr>
          <a:xfrm>
            <a:off x="1261872" y="2304288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Searching a heap.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It is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 Heaps order parents against children, not siblings.</a:t>
            </a:r>
          </a:p>
        </p:txBody>
      </p:sp>
      <p:sp>
        <p:nvSpPr>
          <p:cNvPr id="13" name="!!p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889504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x2"/>
          <p:cNvSpPr txBox="1"/>
          <p:nvPr/>
        </p:nvSpPr>
        <p:spPr>
          <a:xfrm>
            <a:off x="658368" y="291236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15" name="!!pt2"/>
          <p:cNvSpPr txBox="1"/>
          <p:nvPr/>
        </p:nvSpPr>
        <p:spPr>
          <a:xfrm>
            <a:off x="1261872" y="2871216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Expecting a BST to be balanced.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Its height is decided by the insertion order, and sorted input gives height exactly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6" name="!!p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29558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x3"/>
          <p:cNvSpPr txBox="1"/>
          <p:nvPr/>
        </p:nvSpPr>
        <p:spPr>
          <a:xfrm>
            <a:off x="658368" y="365241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18" name="!!pt3"/>
          <p:cNvSpPr txBox="1"/>
          <p:nvPr/>
        </p:nvSpPr>
        <p:spPr>
          <a:xfrm>
            <a:off x="1261872" y="3611270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Testing a BST only with shuffled keys.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The disaster case is </a:t>
            </a:r>
            <a:r>
              <a:rPr sz="1700" b="0" i="1">
                <a:solidFill>
                  <a:srgbClr val="1C252B"/>
                </a:solidFill>
                <a:latin typeface="Segoe UI"/>
              </a:rPr>
              <a:t>ordered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input, which is what real data often is.</a:t>
            </a:r>
          </a:p>
        </p:txBody>
      </p:sp>
      <p:sp>
        <p:nvSpPr>
          <p:cNvPr id="19" name="!!p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369612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px4"/>
          <p:cNvSpPr txBox="1"/>
          <p:nvPr/>
        </p:nvSpPr>
        <p:spPr>
          <a:xfrm>
            <a:off x="658368" y="439247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21" name="!!pt4"/>
          <p:cNvSpPr txBox="1"/>
          <p:nvPr/>
        </p:nvSpPr>
        <p:spPr>
          <a:xfrm>
            <a:off x="1261872" y="4351324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Comparing a measured constant with a bare asymptote.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The height ratio was 2.46 against an asymptote of 2.99 and the theory was right; the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ln ln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term accounted for the difference.</a:t>
            </a:r>
          </a:p>
        </p:txBody>
      </p:sp>
      <p:sp>
        <p:nvSpPr>
          <p:cNvPr id="22" name="!!p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109667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px5"/>
          <p:cNvSpPr txBox="1"/>
          <p:nvPr/>
        </p:nvSpPr>
        <p:spPr>
          <a:xfrm>
            <a:off x="658368" y="5132527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24" name="!!pt5"/>
          <p:cNvSpPr txBox="1"/>
          <p:nvPr/>
        </p:nvSpPr>
        <p:spPr>
          <a:xfrm>
            <a:off x="1261872" y="5091379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Predicting slowdown from step counts alone.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The measured 650× came from about 20× in steps and the rest from unpredictable memory access.</a:t>
            </a:r>
          </a:p>
        </p:txBody>
      </p:sp>
      <p:sp>
        <p:nvSpPr>
          <p:cNvPr id="7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890958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63" dur="2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Common pitfalls (continued)</a:t>
            </a:r>
          </a:p>
        </p:txBody>
      </p:sp>
      <p:pic>
        <p:nvPicPr>
          <p:cNvPr id="3" name="!!kicker-icon" descr="exclamation-circ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2672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COMMON PITFALLS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§12.4  ·  Handout p. 101     </a:t>
            </a:r>
            <a:fld id="{B420EFCE-0465-45F9-9860-0FE038584263}" type="slidenum">
              <a:rPr lang="en-GB" sz="1000">
                <a:solidFill>
                  <a:srgbClr val="8795A1"/>
                </a:solidFill>
                <a:latin typeface="Segoe UI"/>
              </a:rPr>
              <a:t>27</a:t>
            </a:fld>
          </a:p>
        </p:txBody>
      </p:sp>
      <p:sp>
        <p:nvSpPr>
          <p:cNvPr id="7" name="!!p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px0"/>
          <p:cNvSpPr txBox="1"/>
          <p:nvPr/>
        </p:nvSpPr>
        <p:spPr>
          <a:xfrm>
            <a:off x="658368" y="1778507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9" name="!!pt0"/>
          <p:cNvSpPr txBox="1"/>
          <p:nvPr/>
        </p:nvSpPr>
        <p:spPr>
          <a:xfrm>
            <a:off x="1261872" y="1737360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Reaching for a balanced tree when a sorted array would do.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If the data is static, binary search on an array is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Θ(lg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with a far better constant and no pointers at all.</a:t>
            </a:r>
          </a:p>
        </p:txBody>
      </p:sp>
      <p:sp>
        <p:nvSpPr>
          <p:cNvPr id="1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155995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Try it yourself: Height, Measured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TRY IT YOURSELF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§12.4  ·  Handout p. 101     </a:t>
            </a:r>
            <a:fld id="{C3324A1B-0A64-4A86-96A6-227136144C57}" type="slidenum">
              <a:rPr lang="en-GB" sz="1000">
                <a:solidFill>
                  <a:srgbClr val="8795A1"/>
                </a:solidFill>
                <a:latin typeface="Segoe UI"/>
              </a:rPr>
              <a:t>28</a:t>
            </a:fld>
          </a:p>
        </p:txBody>
      </p:sp>
      <p:sp>
        <p:nvSpPr>
          <p:cNvPr id="7" name="body-0"/>
          <p:cNvSpPr txBox="1"/>
          <p:nvPr/>
        </p:nvSpPr>
        <p:spPr>
          <a:xfrm>
            <a:off x="658368" y="1737360"/>
            <a:ext cx="10874959" cy="6797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Reproduces all four tables. Expect twenty-five minutes; part D is slow by design — it is timing a deliberately degenerate structure.</a:t>
            </a:r>
          </a:p>
        </p:txBody>
      </p:sp>
      <p:sp>
        <p:nvSpPr>
          <p:cNvPr id="8" name="!!labsteps-h"/>
          <p:cNvSpPr txBox="1"/>
          <p:nvPr/>
        </p:nvSpPr>
        <p:spPr>
          <a:xfrm>
            <a:off x="658368" y="268224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E6655"/>
                </a:solidFill>
                <a:latin typeface="Segoe UI"/>
              </a:rPr>
              <a:t>WHAT YOU WILL DO</a:t>
            </a:r>
          </a:p>
        </p:txBody>
      </p:sp>
      <p:sp>
        <p:nvSpPr>
          <p:cNvPr id="9" name="!!labsteps"/>
          <p:cNvSpPr txBox="1"/>
          <p:nvPr/>
        </p:nvSpPr>
        <p:spPr>
          <a:xfrm>
            <a:off x="658368" y="3066288"/>
            <a:ext cx="10874959" cy="18287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459473" indent="-459473">
              <a:lnSpc>
                <a:spcPct val="100000"/>
              </a:lnSpc>
              <a:spcBef>
                <a:spcPts val="0"/>
              </a:spcBef>
              <a:spcAft>
                <a:spcPts val="570"/>
              </a:spcAft>
            </a:pPr>
            <a:r>
              <a:rPr sz="1900" b="1">
                <a:solidFill>
                  <a:srgbClr val="117A65"/>
                </a:solidFill>
                <a:latin typeface="Segoe UI"/>
              </a:rPr>
              <a:t>1.	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A BST as three parallel arrays</a:t>
            </a:r>
          </a:p>
          <a:p>
            <a:pPr algn="l" marL="459473" indent="-459473">
              <a:lnSpc>
                <a:spcPct val="100000"/>
              </a:lnSpc>
              <a:spcBef>
                <a:spcPts val="0"/>
              </a:spcBef>
              <a:spcAft>
                <a:spcPts val="570"/>
              </a:spcAft>
            </a:pPr>
            <a:r>
              <a:rPr sz="1900" b="1">
                <a:solidFill>
                  <a:srgbClr val="117A65"/>
                </a:solidFill>
                <a:latin typeface="Segoe UI"/>
              </a:rPr>
              <a:t>2.	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A heap's height is not a hope, it is a guarantee</a:t>
            </a:r>
          </a:p>
          <a:p>
            <a:pPr algn="l" marL="459473" indent="-459473">
              <a:lnSpc>
                <a:spcPct val="100000"/>
              </a:lnSpc>
              <a:spcBef>
                <a:spcPts val="0"/>
              </a:spcBef>
              <a:spcAft>
                <a:spcPts val="570"/>
              </a:spcAft>
            </a:pPr>
            <a:r>
              <a:rPr sz="1900" b="1">
                <a:solidFill>
                  <a:srgbClr val="117A65"/>
                </a:solidFill>
                <a:latin typeface="Segoe UI"/>
              </a:rPr>
              <a:t>3.	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A BST's height depends entirely on the insertion order</a:t>
            </a:r>
          </a:p>
          <a:p>
            <a:pPr algn="l" marL="459473" indent="-459473">
              <a:lnSpc>
                <a:spcPct val="100000"/>
              </a:lnSpc>
              <a:spcBef>
                <a:spcPts val="0"/>
              </a:spcBef>
              <a:spcAft>
                <a:spcPts val="570"/>
              </a:spcAft>
            </a:pPr>
            <a:r>
              <a:rPr sz="1900" b="1">
                <a:solidFill>
                  <a:srgbClr val="117A65"/>
                </a:solidFill>
                <a:latin typeface="Segoe UI"/>
              </a:rPr>
              <a:t>4.	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The constant, averaged</a:t>
            </a:r>
          </a:p>
          <a:p>
            <a:pPr algn="l" marL="459473" indent="-4594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17A65"/>
                </a:solidFill>
                <a:latin typeface="Segoe UI"/>
              </a:rPr>
              <a:t>5.	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And what the height costs, in seconds</a:t>
            </a:r>
          </a:p>
        </p:txBody>
      </p:sp>
      <p:sp>
        <p:nvSpPr>
          <p:cNvPr id="29" name="!!lfTHI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212080"/>
            <a:ext cx="3442106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lfbTHI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212080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!!lflTHIS"/>
          <p:cNvSpPr txBox="1"/>
          <p:nvPr/>
        </p:nvSpPr>
        <p:spPr>
          <a:xfrm>
            <a:off x="932688" y="5376672"/>
            <a:ext cx="303062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THIS WEEK'S LAB</a:t>
            </a:r>
          </a:p>
        </p:txBody>
      </p:sp>
      <p:sp>
        <p:nvSpPr>
          <p:cNvPr id="32" name="!!lfvTHIS"/>
          <p:cNvSpPr txBox="1"/>
          <p:nvPr/>
        </p:nvSpPr>
        <p:spPr>
          <a:xfrm>
            <a:off x="932688" y="5669280"/>
            <a:ext cx="303062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Week 9: A hash table degrading under a poor hash</a:t>
            </a:r>
          </a:p>
        </p:txBody>
      </p:sp>
      <p:sp>
        <p:nvSpPr>
          <p:cNvPr id="33" name="!!lfWHA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4794" y="5212080"/>
            <a:ext cx="3442106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!!lfbWHA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4794" y="5212080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!!lflWHAT"/>
          <p:cNvSpPr txBox="1"/>
          <p:nvPr/>
        </p:nvSpPr>
        <p:spPr>
          <a:xfrm>
            <a:off x="4649114" y="5376672"/>
            <a:ext cx="303062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WHAT YOU WILL RUN</a:t>
            </a:r>
          </a:p>
        </p:txBody>
      </p:sp>
      <p:sp>
        <p:nvSpPr>
          <p:cNvPr id="36" name="!!lfvWHAT"/>
          <p:cNvSpPr txBox="1"/>
          <p:nvPr/>
        </p:nvSpPr>
        <p:spPr>
          <a:xfrm>
            <a:off x="4649114" y="5669280"/>
            <a:ext cx="303062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1 listing, 47 lines of C++</a:t>
            </a:r>
          </a:p>
        </p:txBody>
      </p:sp>
      <p:sp>
        <p:nvSpPr>
          <p:cNvPr id="37" name="!!lfRUN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91220" y="5212080"/>
            <a:ext cx="3442106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lfbRUN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91220" y="5212080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!!lflRUNN"/>
          <p:cNvSpPr txBox="1"/>
          <p:nvPr/>
        </p:nvSpPr>
        <p:spPr>
          <a:xfrm>
            <a:off x="8365540" y="5376672"/>
            <a:ext cx="303062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RUNNABLE COPY</a:t>
            </a:r>
          </a:p>
        </p:txBody>
      </p:sp>
      <p:sp>
        <p:nvSpPr>
          <p:cNvPr id="40" name="!!lfvRUNN"/>
          <p:cNvSpPr txBox="1"/>
          <p:nvPr/>
        </p:nvSpPr>
        <p:spPr>
          <a:xfrm>
            <a:off x="8365540" y="5669280"/>
            <a:ext cx="303062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Consolas"/>
              </a:rPr>
              <a:t>code/ch12_structures.cpp</a:t>
            </a:r>
          </a:p>
        </p:txBody>
      </p:sp>
      <p:sp>
        <p:nvSpPr>
          <p:cNvPr id="4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421031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Height, Measured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1 OF 6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§12.4  ·  Handout p. 101     </a:t>
            </a:r>
            <a:fld id="{5665AD57-C5FE-499F-979F-EC6F78EF53AF}" type="slidenum">
              <a:rPr lang="en-GB" sz="1000">
                <a:solidFill>
                  <a:srgbClr val="8795A1"/>
                </a:solidFill>
                <a:latin typeface="Segoe UI"/>
              </a:rPr>
              <a:t>29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Set-up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1182624"/>
          </a:xfrm>
          <a:prstGeom prst="roundRect">
            <a:avLst>
              <a:gd name="adj" fmla="val 7731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code/ch12_structures.cpp</a:t>
            </a:r>
          </a:p>
        </p:txBody>
      </p:sp>
      <p:sp>
        <p:nvSpPr>
          <p:cNvPr id="14" name="!!code-text" descr="// ch12_structures.cpp -- heaps and search trees, analysed not rebuilt. // Build: cl /O2 /EHsc /std:c++17 ch12_structures.cpp (see Appendix A)"/>
          <p:cNvSpPr txBox="1"/>
          <p:nvPr/>
        </p:nvSpPr>
        <p:spPr>
          <a:xfrm>
            <a:off x="1362456" y="2523744"/>
            <a:ext cx="9987991" cy="68884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ch12_structures.cpp -- heaps and search trees, analysed not rebuilt.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Build: cl /O2 /EHsc /std:c++17 ch12_structures.cpp (see Appendix A)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68884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1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686068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Height, Measured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2 OF 6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§12.4  ·  Handout p. 101     </a:t>
            </a:r>
            <a:fld id="{DA19B4ED-F788-41B4-A3CB-2885DCF1F3B4}" type="slidenum">
              <a:rPr lang="en-GB" sz="1000">
                <a:solidFill>
                  <a:srgbClr val="8795A1"/>
                </a:solidFill>
                <a:latin typeface="Segoe UI"/>
              </a:rPr>
              <a:t>30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A BST as three parallel arrays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4078224"/>
          </a:xfrm>
          <a:prstGeom prst="roundRect">
            <a:avLst>
              <a:gd name="adj" fmla="val 2242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code/ch12_structures.cpp</a:t>
            </a:r>
          </a:p>
        </p:txBody>
      </p:sp>
      <p:sp>
        <p:nvSpPr>
          <p:cNvPr id="14" name="!!code-text" descr="// --- 1. A BST as three parallel arrays ----------------------------- // No pointers and no allocation: left[i], right[i] and key[i]. The // shape is identical to a pointer tree, and the measurement is about // shape, not about allocators. void insert(int k) { if (root &lt; 0) { root = make(k); return; } int cur = root; for (;;) { if (k &lt; key[cur]) { if (left[cur] &lt; 0) { left[cur] = make(k); return; } cur = left[cur]; } else { if (right[cur] &lt; 0) { right[cur] = make(k); return; } cur = right[cur]; } } } // Iterative height, so a degenerate tree does not overflow the stack // the way Chapter 9's quicksort did."/>
          <p:cNvSpPr txBox="1"/>
          <p:nvPr/>
        </p:nvSpPr>
        <p:spPr>
          <a:xfrm>
            <a:off x="1362456" y="2523744"/>
            <a:ext cx="9987991" cy="358444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8795A1"/>
                </a:solidFill>
                <a:latin typeface="Consolas"/>
              </a:rPr>
              <a:t>// --- 1. A BST as three parallel arrays -----------------------------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8795A1"/>
                </a:solidFill>
                <a:latin typeface="Consolas"/>
              </a:rPr>
              <a:t>// No pointers and no allocation: left[i], right[i] and key[i].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8795A1"/>
                </a:solidFill>
                <a:latin typeface="Consolas"/>
              </a:rPr>
              <a:t>// shape is identical to a pointer tree, and the measurement is about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8795A1"/>
                </a:solidFill>
                <a:latin typeface="Consolas"/>
              </a:rPr>
              <a:t>// shape, not about allocators.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0">
                <a:solidFill>
                  <a:srgbClr val="E8EDF2"/>
                </a:solidFill>
                <a:latin typeface="Consolas"/>
              </a:rPr>
              <a:t>    </a:t>
            </a:r>
            <a:r>
              <a:rPr sz="1200" i="0">
                <a:solidFill>
                  <a:srgbClr val="5DADE2"/>
                </a:solidFill>
                <a:latin typeface="Consolas"/>
              </a:rPr>
              <a:t>void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C39BD3"/>
                </a:solidFill>
                <a:latin typeface="Consolas"/>
              </a:rPr>
              <a:t>insert</a:t>
            </a:r>
            <a:r>
              <a:rPr sz="1200" i="0">
                <a:solidFill>
                  <a:srgbClr val="AEB6BF"/>
                </a:solidFill>
                <a:latin typeface="Consolas"/>
              </a:rPr>
              <a:t>(</a:t>
            </a:r>
            <a:r>
              <a:rPr sz="1200" i="0">
                <a:solidFill>
                  <a:srgbClr val="5DADE2"/>
                </a:solidFill>
                <a:latin typeface="Consolas"/>
              </a:rPr>
              <a:t>int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k</a:t>
            </a:r>
            <a:r>
              <a:rPr sz="1200" i="0">
                <a:solidFill>
                  <a:srgbClr val="AEB6BF"/>
                </a:solidFill>
                <a:latin typeface="Consolas"/>
              </a:rPr>
              <a:t>)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200" i="0">
                <a:solidFill>
                  <a:srgbClr val="5DADE2"/>
                </a:solidFill>
                <a:latin typeface="Consolas"/>
              </a:rPr>
              <a:t>if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(</a:t>
            </a:r>
            <a:r>
              <a:rPr sz="1200" i="0">
                <a:solidFill>
                  <a:srgbClr val="E8EDF2"/>
                </a:solidFill>
                <a:latin typeface="Consolas"/>
              </a:rPr>
              <a:t>root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&lt;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F7DC6F"/>
                </a:solidFill>
                <a:latin typeface="Consolas"/>
              </a:rPr>
              <a:t>0</a:t>
            </a:r>
            <a:r>
              <a:rPr sz="1200" i="0">
                <a:solidFill>
                  <a:srgbClr val="AEB6BF"/>
                </a:solidFill>
                <a:latin typeface="Consolas"/>
              </a:rPr>
              <a:t>)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{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root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=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make</a:t>
            </a:r>
            <a:r>
              <a:rPr sz="1200" i="0">
                <a:solidFill>
                  <a:srgbClr val="AEB6BF"/>
                </a:solidFill>
                <a:latin typeface="Consolas"/>
              </a:rPr>
              <a:t>(</a:t>
            </a:r>
            <a:r>
              <a:rPr sz="1200" i="0">
                <a:solidFill>
                  <a:srgbClr val="E8EDF2"/>
                </a:solidFill>
                <a:latin typeface="Consolas"/>
              </a:rPr>
              <a:t>k</a:t>
            </a:r>
            <a:r>
              <a:rPr sz="1200" i="0">
                <a:solidFill>
                  <a:srgbClr val="AEB6BF"/>
                </a:solidFill>
                <a:latin typeface="Consolas"/>
              </a:rPr>
              <a:t>)</a:t>
            </a:r>
            <a:r>
              <a:rPr sz="1200" i="0">
                <a:solidFill>
                  <a:srgbClr val="AEB6BF"/>
                </a:solidFill>
                <a:latin typeface="Consolas"/>
              </a:rPr>
              <a:t>;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200" i="0">
                <a:solidFill>
                  <a:srgbClr val="AEB6BF"/>
                </a:solidFill>
                <a:latin typeface="Consolas"/>
              </a:rPr>
              <a:t>;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200" i="0">
                <a:solidFill>
                  <a:srgbClr val="5DADE2"/>
                </a:solidFill>
                <a:latin typeface="Consolas"/>
              </a:rPr>
              <a:t>int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cur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=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root</a:t>
            </a:r>
            <a:r>
              <a:rPr sz="12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200" i="0">
                <a:solidFill>
                  <a:srgbClr val="5DADE2"/>
                </a:solidFill>
                <a:latin typeface="Consolas"/>
              </a:rPr>
              <a:t>for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(</a:t>
            </a:r>
            <a:r>
              <a:rPr sz="1200" i="0">
                <a:solidFill>
                  <a:srgbClr val="AEB6BF"/>
                </a:solidFill>
                <a:latin typeface="Consolas"/>
              </a:rPr>
              <a:t>;</a:t>
            </a:r>
            <a:r>
              <a:rPr sz="1200" i="0">
                <a:solidFill>
                  <a:srgbClr val="AEB6BF"/>
                </a:solidFill>
                <a:latin typeface="Consolas"/>
              </a:rPr>
              <a:t>;</a:t>
            </a:r>
            <a:r>
              <a:rPr sz="1200" i="0">
                <a:solidFill>
                  <a:srgbClr val="AEB6BF"/>
                </a:solidFill>
                <a:latin typeface="Consolas"/>
              </a:rPr>
              <a:t>)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0">
                <a:solidFill>
                  <a:srgbClr val="E8EDF2"/>
                </a:solidFill>
                <a:latin typeface="Consolas"/>
              </a:rPr>
              <a:t>            </a:t>
            </a:r>
            <a:r>
              <a:rPr sz="1200" i="0">
                <a:solidFill>
                  <a:srgbClr val="5DADE2"/>
                </a:solidFill>
                <a:latin typeface="Consolas"/>
              </a:rPr>
              <a:t>if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(</a:t>
            </a:r>
            <a:r>
              <a:rPr sz="1200" i="0">
                <a:solidFill>
                  <a:srgbClr val="E8EDF2"/>
                </a:solidFill>
                <a:latin typeface="Consolas"/>
              </a:rPr>
              <a:t>k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&lt;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key</a:t>
            </a:r>
            <a:r>
              <a:rPr sz="1200" i="0">
                <a:solidFill>
                  <a:srgbClr val="AEB6BF"/>
                </a:solidFill>
                <a:latin typeface="Consolas"/>
              </a:rPr>
              <a:t>[</a:t>
            </a:r>
            <a:r>
              <a:rPr sz="1200" i="0">
                <a:solidFill>
                  <a:srgbClr val="E8EDF2"/>
                </a:solidFill>
                <a:latin typeface="Consolas"/>
              </a:rPr>
              <a:t>cur</a:t>
            </a:r>
            <a:r>
              <a:rPr sz="1200" i="0">
                <a:solidFill>
                  <a:srgbClr val="AEB6BF"/>
                </a:solidFill>
                <a:latin typeface="Consolas"/>
              </a:rPr>
              <a:t>]</a:t>
            </a:r>
            <a:r>
              <a:rPr sz="1200" i="0">
                <a:solidFill>
                  <a:srgbClr val="AEB6BF"/>
                </a:solidFill>
                <a:latin typeface="Consolas"/>
              </a:rPr>
              <a:t>)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0">
                <a:solidFill>
                  <a:srgbClr val="E8EDF2"/>
                </a:solidFill>
                <a:latin typeface="Consolas"/>
              </a:rPr>
              <a:t>                </a:t>
            </a:r>
            <a:r>
              <a:rPr sz="1200" i="0">
                <a:solidFill>
                  <a:srgbClr val="5DADE2"/>
                </a:solidFill>
                <a:latin typeface="Consolas"/>
              </a:rPr>
              <a:t>if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(</a:t>
            </a:r>
            <a:r>
              <a:rPr sz="1200" i="0">
                <a:solidFill>
                  <a:srgbClr val="E8EDF2"/>
                </a:solidFill>
                <a:latin typeface="Consolas"/>
              </a:rPr>
              <a:t>left</a:t>
            </a:r>
            <a:r>
              <a:rPr sz="1200" i="0">
                <a:solidFill>
                  <a:srgbClr val="AEB6BF"/>
                </a:solidFill>
                <a:latin typeface="Consolas"/>
              </a:rPr>
              <a:t>[</a:t>
            </a:r>
            <a:r>
              <a:rPr sz="1200" i="0">
                <a:solidFill>
                  <a:srgbClr val="E8EDF2"/>
                </a:solidFill>
                <a:latin typeface="Consolas"/>
              </a:rPr>
              <a:t>cur</a:t>
            </a:r>
            <a:r>
              <a:rPr sz="1200" i="0">
                <a:solidFill>
                  <a:srgbClr val="AEB6BF"/>
                </a:solidFill>
                <a:latin typeface="Consolas"/>
              </a:rPr>
              <a:t>]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&lt;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F7DC6F"/>
                </a:solidFill>
                <a:latin typeface="Consolas"/>
              </a:rPr>
              <a:t>0</a:t>
            </a:r>
            <a:r>
              <a:rPr sz="1200" i="0">
                <a:solidFill>
                  <a:srgbClr val="AEB6BF"/>
                </a:solidFill>
                <a:latin typeface="Consolas"/>
              </a:rPr>
              <a:t>)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{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left</a:t>
            </a:r>
            <a:r>
              <a:rPr sz="1200" i="0">
                <a:solidFill>
                  <a:srgbClr val="AEB6BF"/>
                </a:solidFill>
                <a:latin typeface="Consolas"/>
              </a:rPr>
              <a:t>[</a:t>
            </a:r>
            <a:r>
              <a:rPr sz="1200" i="0">
                <a:solidFill>
                  <a:srgbClr val="E8EDF2"/>
                </a:solidFill>
                <a:latin typeface="Consolas"/>
              </a:rPr>
              <a:t>cur</a:t>
            </a:r>
            <a:r>
              <a:rPr sz="1200" i="0">
                <a:solidFill>
                  <a:srgbClr val="AEB6BF"/>
                </a:solidFill>
                <a:latin typeface="Consolas"/>
              </a:rPr>
              <a:t>]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=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make</a:t>
            </a:r>
            <a:r>
              <a:rPr sz="1200" i="0">
                <a:solidFill>
                  <a:srgbClr val="AEB6BF"/>
                </a:solidFill>
                <a:latin typeface="Consolas"/>
              </a:rPr>
              <a:t>(</a:t>
            </a:r>
            <a:r>
              <a:rPr sz="1200" i="0">
                <a:solidFill>
                  <a:srgbClr val="E8EDF2"/>
                </a:solidFill>
                <a:latin typeface="Consolas"/>
              </a:rPr>
              <a:t>k</a:t>
            </a:r>
            <a:r>
              <a:rPr sz="1200" i="0">
                <a:solidFill>
                  <a:srgbClr val="AEB6BF"/>
                </a:solidFill>
                <a:latin typeface="Consolas"/>
              </a:rPr>
              <a:t>)</a:t>
            </a:r>
            <a:r>
              <a:rPr sz="1200" i="0">
                <a:solidFill>
                  <a:srgbClr val="AEB6BF"/>
                </a:solidFill>
                <a:latin typeface="Consolas"/>
              </a:rPr>
              <a:t>;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200" i="0">
                <a:solidFill>
                  <a:srgbClr val="AEB6BF"/>
                </a:solidFill>
                <a:latin typeface="Consolas"/>
              </a:rPr>
              <a:t>;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0">
                <a:solidFill>
                  <a:srgbClr val="E8EDF2"/>
                </a:solidFill>
                <a:latin typeface="Consolas"/>
              </a:rPr>
              <a:t>                </a:t>
            </a:r>
            <a:r>
              <a:rPr sz="1200" i="0">
                <a:solidFill>
                  <a:srgbClr val="E8EDF2"/>
                </a:solidFill>
                <a:latin typeface="Consolas"/>
              </a:rPr>
              <a:t>cur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=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left</a:t>
            </a:r>
            <a:r>
              <a:rPr sz="1200" i="0">
                <a:solidFill>
                  <a:srgbClr val="AEB6BF"/>
                </a:solidFill>
                <a:latin typeface="Consolas"/>
              </a:rPr>
              <a:t>[</a:t>
            </a:r>
            <a:r>
              <a:rPr sz="1200" i="0">
                <a:solidFill>
                  <a:srgbClr val="E8EDF2"/>
                </a:solidFill>
                <a:latin typeface="Consolas"/>
              </a:rPr>
              <a:t>cur</a:t>
            </a:r>
            <a:r>
              <a:rPr sz="1200" i="0">
                <a:solidFill>
                  <a:srgbClr val="AEB6BF"/>
                </a:solidFill>
                <a:latin typeface="Consolas"/>
              </a:rPr>
              <a:t>]</a:t>
            </a:r>
            <a:r>
              <a:rPr sz="12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0">
                <a:solidFill>
                  <a:srgbClr val="E8EDF2"/>
                </a:solidFill>
                <a:latin typeface="Consolas"/>
              </a:rPr>
              <a:t>            </a:t>
            </a:r>
            <a:r>
              <a:rPr sz="1200" i="0">
                <a:solidFill>
                  <a:srgbClr val="AEB6BF"/>
                </a:solidFill>
                <a:latin typeface="Consolas"/>
              </a:rPr>
              <a:t>}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5DADE2"/>
                </a:solidFill>
                <a:latin typeface="Consolas"/>
              </a:rPr>
              <a:t>else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0">
                <a:solidFill>
                  <a:srgbClr val="E8EDF2"/>
                </a:solidFill>
                <a:latin typeface="Consolas"/>
              </a:rPr>
              <a:t>                </a:t>
            </a:r>
            <a:r>
              <a:rPr sz="1200" i="0">
                <a:solidFill>
                  <a:srgbClr val="5DADE2"/>
                </a:solidFill>
                <a:latin typeface="Consolas"/>
              </a:rPr>
              <a:t>if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(</a:t>
            </a:r>
            <a:r>
              <a:rPr sz="1200" i="0">
                <a:solidFill>
                  <a:srgbClr val="E8EDF2"/>
                </a:solidFill>
                <a:latin typeface="Consolas"/>
              </a:rPr>
              <a:t>right</a:t>
            </a:r>
            <a:r>
              <a:rPr sz="1200" i="0">
                <a:solidFill>
                  <a:srgbClr val="AEB6BF"/>
                </a:solidFill>
                <a:latin typeface="Consolas"/>
              </a:rPr>
              <a:t>[</a:t>
            </a:r>
            <a:r>
              <a:rPr sz="1200" i="0">
                <a:solidFill>
                  <a:srgbClr val="E8EDF2"/>
                </a:solidFill>
                <a:latin typeface="Consolas"/>
              </a:rPr>
              <a:t>cur</a:t>
            </a:r>
            <a:r>
              <a:rPr sz="1200" i="0">
                <a:solidFill>
                  <a:srgbClr val="AEB6BF"/>
                </a:solidFill>
                <a:latin typeface="Consolas"/>
              </a:rPr>
              <a:t>]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&lt;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F7DC6F"/>
                </a:solidFill>
                <a:latin typeface="Consolas"/>
              </a:rPr>
              <a:t>0</a:t>
            </a:r>
            <a:r>
              <a:rPr sz="1200" i="0">
                <a:solidFill>
                  <a:srgbClr val="AEB6BF"/>
                </a:solidFill>
                <a:latin typeface="Consolas"/>
              </a:rPr>
              <a:t>)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{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right</a:t>
            </a:r>
            <a:r>
              <a:rPr sz="1200" i="0">
                <a:solidFill>
                  <a:srgbClr val="AEB6BF"/>
                </a:solidFill>
                <a:latin typeface="Consolas"/>
              </a:rPr>
              <a:t>[</a:t>
            </a:r>
            <a:r>
              <a:rPr sz="1200" i="0">
                <a:solidFill>
                  <a:srgbClr val="E8EDF2"/>
                </a:solidFill>
                <a:latin typeface="Consolas"/>
              </a:rPr>
              <a:t>cur</a:t>
            </a:r>
            <a:r>
              <a:rPr sz="1200" i="0">
                <a:solidFill>
                  <a:srgbClr val="AEB6BF"/>
                </a:solidFill>
                <a:latin typeface="Consolas"/>
              </a:rPr>
              <a:t>]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=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make</a:t>
            </a:r>
            <a:r>
              <a:rPr sz="1200" i="0">
                <a:solidFill>
                  <a:srgbClr val="AEB6BF"/>
                </a:solidFill>
                <a:latin typeface="Consolas"/>
              </a:rPr>
              <a:t>(</a:t>
            </a:r>
            <a:r>
              <a:rPr sz="1200" i="0">
                <a:solidFill>
                  <a:srgbClr val="E8EDF2"/>
                </a:solidFill>
                <a:latin typeface="Consolas"/>
              </a:rPr>
              <a:t>k</a:t>
            </a:r>
            <a:r>
              <a:rPr sz="1200" i="0">
                <a:solidFill>
                  <a:srgbClr val="AEB6BF"/>
                </a:solidFill>
                <a:latin typeface="Consolas"/>
              </a:rPr>
              <a:t>)</a:t>
            </a:r>
            <a:r>
              <a:rPr sz="1200" i="0">
                <a:solidFill>
                  <a:srgbClr val="AEB6BF"/>
                </a:solidFill>
                <a:latin typeface="Consolas"/>
              </a:rPr>
              <a:t>;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200" i="0">
                <a:solidFill>
                  <a:srgbClr val="AEB6BF"/>
                </a:solidFill>
                <a:latin typeface="Consolas"/>
              </a:rPr>
              <a:t>;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0">
                <a:solidFill>
                  <a:srgbClr val="E8EDF2"/>
                </a:solidFill>
                <a:latin typeface="Consolas"/>
              </a:rPr>
              <a:t>                </a:t>
            </a:r>
            <a:r>
              <a:rPr sz="1200" i="0">
                <a:solidFill>
                  <a:srgbClr val="E8EDF2"/>
                </a:solidFill>
                <a:latin typeface="Consolas"/>
              </a:rPr>
              <a:t>cur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AEB6BF"/>
                </a:solidFill>
                <a:latin typeface="Consolas"/>
              </a:rPr>
              <a:t>=</a:t>
            </a:r>
            <a:r>
              <a:rPr sz="1200" i="0">
                <a:solidFill>
                  <a:srgbClr val="E8EDF2"/>
                </a:solidFill>
                <a:latin typeface="Consolas"/>
              </a:rPr>
              <a:t> </a:t>
            </a:r>
            <a:r>
              <a:rPr sz="1200" i="0">
                <a:solidFill>
                  <a:srgbClr val="E8EDF2"/>
                </a:solidFill>
                <a:latin typeface="Consolas"/>
              </a:rPr>
              <a:t>right</a:t>
            </a:r>
            <a:r>
              <a:rPr sz="1200" i="0">
                <a:solidFill>
                  <a:srgbClr val="AEB6BF"/>
                </a:solidFill>
                <a:latin typeface="Consolas"/>
              </a:rPr>
              <a:t>[</a:t>
            </a:r>
            <a:r>
              <a:rPr sz="1200" i="0">
                <a:solidFill>
                  <a:srgbClr val="E8EDF2"/>
                </a:solidFill>
                <a:latin typeface="Consolas"/>
              </a:rPr>
              <a:t>cur</a:t>
            </a:r>
            <a:r>
              <a:rPr sz="1200" i="0">
                <a:solidFill>
                  <a:srgbClr val="AEB6BF"/>
                </a:solidFill>
                <a:latin typeface="Consolas"/>
              </a:rPr>
              <a:t>]</a:t>
            </a:r>
            <a:r>
              <a:rPr sz="12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0">
                <a:solidFill>
                  <a:srgbClr val="E8EDF2"/>
                </a:solidFill>
                <a:latin typeface="Consolas"/>
              </a:rPr>
              <a:t>            </a:t>
            </a:r>
            <a:r>
              <a:rPr sz="1200" i="0">
                <a:solidFill>
                  <a:srgbClr val="AEB6BF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200" i="0">
                <a:solidFill>
                  <a:srgbClr val="AEB6BF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0">
                <a:solidFill>
                  <a:srgbClr val="E8EDF2"/>
                </a:solidFill>
                <a:latin typeface="Consolas"/>
              </a:rPr>
              <a:t>    </a:t>
            </a:r>
            <a:r>
              <a:rPr sz="1200" i="0">
                <a:solidFill>
                  <a:srgbClr val="AEB6BF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8795A1"/>
                </a:solidFill>
                <a:latin typeface="Consolas"/>
              </a:rPr>
              <a:t>// Iterative height, so a degenerate tree does not overflow the stack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8795A1"/>
                </a:solidFill>
                <a:latin typeface="Consolas"/>
              </a:rPr>
              <a:t>// the way Chapter 9's quicksort did.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58444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4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5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6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7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8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9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10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11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12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13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14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15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16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17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18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19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20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21</a:t>
            </a:r>
          </a:p>
          <a:p>
            <a:pPr algn="r">
              <a:lnSpc>
                <a:spcPct val="100000"/>
              </a:lnSpc>
            </a:pPr>
            <a:r>
              <a:rPr sz="1200">
                <a:solidFill>
                  <a:srgbClr val="4F5D6A"/>
                </a:solidFill>
                <a:latin typeface="Consolas"/>
              </a:rPr>
              <a:t>22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951105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Height, Measured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3 OF 6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§12.4  ·  Handout p. 101     </a:t>
            </a:r>
            <a:fld id="{94B51B74-AB9F-43D3-A0AD-1AA1B00BAD7C}" type="slidenum">
              <a:rPr lang="en-GB" sz="1000">
                <a:solidFill>
                  <a:srgbClr val="8795A1"/>
                </a:solidFill>
                <a:latin typeface="Segoe UI"/>
              </a:rPr>
              <a:t>31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A heap's height is not a hope, it is a guarantee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2051303"/>
          </a:xfrm>
          <a:prstGeom prst="roundRect">
            <a:avLst>
              <a:gd name="adj" fmla="val 4457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code/ch12_structures.cpp</a:t>
            </a:r>
          </a:p>
        </p:txBody>
      </p:sp>
      <p:sp>
        <p:nvSpPr>
          <p:cNvPr id="14" name="!!code-text" descr="// --- 2. A heap's height is not a hope, it is a guarantee ----------- // A binary heap is a COMPLETE tree stored in an array: node i has // children 2i+1 and 2i+2. Completeness is not maintained by clever // rebalancing -- it is maintained by the array layout, and cannot // fail. Hence height = floor(lg n), exactly, always."/>
          <p:cNvSpPr txBox="1"/>
          <p:nvPr/>
        </p:nvSpPr>
        <p:spPr>
          <a:xfrm>
            <a:off x="1362456" y="2523744"/>
            <a:ext cx="9987991" cy="15575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--- 2. A heap's height is not a hope, it is a guarantee 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A binary heap is a COMPLETE tree stored in an array: node i has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children 2i+1 and 2i+2. Completeness is not maintained by clever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rebalancing -- it is maintained by the array layout, and cannot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fail. Hence height = floor(lg n), exactly, always.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15575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24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25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26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27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28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216142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Height, Measured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4 OF 6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§12.4  ·  Handout p. 101     </a:t>
            </a:r>
            <a:fld id="{A6BD067E-0084-4CD5-9603-560EFA0B798F}" type="slidenum">
              <a:rPr lang="en-GB" sz="1000">
                <a:solidFill>
                  <a:srgbClr val="8795A1"/>
                </a:solidFill>
                <a:latin typeface="Segoe UI"/>
              </a:rPr>
              <a:t>32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A BST's height depends entirely on the insertion order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1822703"/>
          </a:xfrm>
          <a:prstGeom prst="roundRect">
            <a:avLst>
              <a:gd name="adj" fmla="val 5016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code/ch12_structures.cpp</a:t>
            </a:r>
          </a:p>
        </p:txBody>
      </p:sp>
      <p:sp>
        <p:nvSpPr>
          <p:cNvPr id="14" name="!!code-text" descr="// --- 3. A BST's height depends entirely on the insertion order ---- // Same keys, same code, two orders. This is Chapter 2's lesson -- // the nature of the input, not its size -- applied to a structure // rather than to a sort."/>
          <p:cNvSpPr txBox="1"/>
          <p:nvPr/>
        </p:nvSpPr>
        <p:spPr>
          <a:xfrm>
            <a:off x="1362456" y="2523744"/>
            <a:ext cx="9987991" cy="13289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1">
                <a:solidFill>
                  <a:srgbClr val="8795A1"/>
                </a:solidFill>
                <a:latin typeface="Consolas"/>
              </a:rPr>
              <a:t>// --- 3. A BST's height depends entirely on the insertion order 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1">
                <a:solidFill>
                  <a:srgbClr val="8795A1"/>
                </a:solidFill>
                <a:latin typeface="Consolas"/>
              </a:rPr>
              <a:t>// Same keys, same code, two orders. This is Chapter 2's lesson 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1">
                <a:solidFill>
                  <a:srgbClr val="8795A1"/>
                </a:solidFill>
                <a:latin typeface="Consolas"/>
              </a:rPr>
              <a:t>// the nature of the input, not its size -- applied to a structure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1">
                <a:solidFill>
                  <a:srgbClr val="8795A1"/>
                </a:solidFill>
                <a:latin typeface="Consolas"/>
              </a:rPr>
              <a:t>// rather than to a sort.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13289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30</a:t>
            </a:r>
          </a:p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31</a:t>
            </a:r>
          </a:p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32</a:t>
            </a:r>
          </a:p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33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81179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Height, Measured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5 OF 6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§12.4  ·  Handout p. 101     </a:t>
            </a:r>
            <a:fld id="{B7AD2F76-5760-4E03-A98D-3A365C929B49}" type="slidenum">
              <a:rPr lang="en-GB" sz="1000">
                <a:solidFill>
                  <a:srgbClr val="8795A1"/>
                </a:solidFill>
                <a:latin typeface="Segoe UI"/>
              </a:rPr>
              <a:t>33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The constant, averaged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2919984"/>
          </a:xfrm>
          <a:prstGeom prst="roundRect">
            <a:avLst>
              <a:gd name="adj" fmla="val 3131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code/ch12_structures.cpp</a:t>
            </a:r>
          </a:p>
        </p:txBody>
      </p:sp>
      <p:sp>
        <p:nvSpPr>
          <p:cNvPr id="14" name="!!code-text" descr="// --- 4. The constant, averaged ------------------------------------- // Quoting only the leading constants (2.988 and 1.386) would make the // measurement look wrong. Both have lower-order corrections that are // still large at these sizes: // height ~ 4.311 ln n - 1.953 ln ln n + O(1) (Reed, 2003) // mean depth ~ 2 ln n - 3 + O(1) // So the honest comparison is against the corrected forms, with the // bare asymptote shown beside them to make the gap visible."/>
          <p:cNvSpPr txBox="1"/>
          <p:nvPr/>
        </p:nvSpPr>
        <p:spPr>
          <a:xfrm>
            <a:off x="1362456" y="2523744"/>
            <a:ext cx="9987991" cy="24262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--- 4. The constant, averaged -------------------------------------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Quoting only the leading constants (2.988 and 1.386) would make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measurement look wrong. Both have lower-order corrections that are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still large at these sizes: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  height     ~ 4.311 ln n - 1.953 ln ln n + O(1)   (Reed, 2003)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  mean depth ~ 2 ln n - 3 + O(1)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So the honest comparison is against the corrected forms, with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bare asymptote shown beside them to make the gap visible.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24262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35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36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37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38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39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40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41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42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746216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Height, Measured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6 OF 6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§12.4  ·  Handout p. 101     </a:t>
            </a:r>
            <a:fld id="{358E00C1-93D9-45EB-94A0-07E33AB543F4}" type="slidenum">
              <a:rPr lang="en-GB" sz="1000">
                <a:solidFill>
                  <a:srgbClr val="8795A1"/>
                </a:solidFill>
                <a:latin typeface="Segoe UI"/>
              </a:rPr>
              <a:t>34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And what the height costs, in seconds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1761743"/>
          </a:xfrm>
          <a:prstGeom prst="roundRect">
            <a:avLst>
              <a:gd name="adj" fmla="val 5190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code/ch12_structures.cpp</a:t>
            </a:r>
          </a:p>
        </p:txBody>
      </p:sp>
      <p:sp>
        <p:nvSpPr>
          <p:cNvPr id="14" name="!!code-text" descr="// --- 5. And what the height costs, in seconds ---------------------- // Searching a degenerate BST is a linear scan with pointer chasing, // which is worse than a linear scan of an array: same number of // steps, none of them predictable to the prefetcher."/>
          <p:cNvSpPr txBox="1"/>
          <p:nvPr/>
        </p:nvSpPr>
        <p:spPr>
          <a:xfrm>
            <a:off x="1362456" y="2523744"/>
            <a:ext cx="9987991" cy="12679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--- 5. And what the height costs, in seconds 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Searching a degenerate BST is a linear scan with pointer chasing,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which is worse than a linear scan of an array: same number of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steps, none of them predictable to the prefetcher.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12679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44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45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46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47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011252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the lab shows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TRY IT YOURSELF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§12.4  ·  Handout p. 101     </a:t>
            </a:r>
            <a:fld id="{D06BE3AD-4B3B-41E4-851E-0A930CD7D9E0}" type="slidenum">
              <a:rPr lang="en-GB" sz="1000">
                <a:solidFill>
                  <a:srgbClr val="8795A1"/>
                </a:solidFill>
                <a:latin typeface="Segoe UI"/>
              </a:rPr>
              <a:t>35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427854"/>
          </a:xfrm>
          <a:prstGeom prst="roundRect">
            <a:avLst>
              <a:gd name="adj" fmla="val 2065"/>
            </a:avLst>
          </a:prstGeom>
          <a:solidFill>
            <a:srgbClr val="EEF6F4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42785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5038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6655"/>
                </a:solidFill>
                <a:latin typeface="Segoe UI"/>
              </a:rPr>
              <a:t>What to notice.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Part 4 prints three columns for each quantity: measured, corrected prediction, and bare asymptote. That is deliberate. A table with only the first and last would have read as a 20% failure of a well-established theorem.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3667074"/>
            <a:ext cx="10161727" cy="22329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6655"/>
                </a:solidFill>
                <a:latin typeface="Segoe UI"/>
              </a:rPr>
              <a:t>Then try to break it.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Insert the keys in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bit-reversal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order —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0, 8, 4, 12, 2, 10, …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for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= 16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— and measure the height. Predict first. This order is neither sorted nor random, and it produces a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perfectly balanced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tree, height exactly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lg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: better than random. The lesson is that “not sorted” and “random” are not the same assumption, and only one of them is what the theorem requires.</a:t>
            </a:r>
          </a:p>
        </p:txBody>
      </p:sp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276289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Explain why a heap cannot become unbalanced, in terms of its representation rather than its operations.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1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103  ·  answers in Appendix D     </a:t>
            </a:r>
            <a:fld id="{3F40B25A-4997-4276-A103-9F1C5619AD88}" type="slidenum">
              <a:rPr lang="en-GB" sz="1000">
                <a:solidFill>
                  <a:srgbClr val="D5DEE5"/>
                </a:solidFill>
                <a:latin typeface="Segoe UI"/>
              </a:rPr>
              <a:t>36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747979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Explain why a heap cannot become unbalanced, in terms of its representation rather than its operations.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1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62963"/>
            <a:ext cx="64008" cy="2092147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762963"/>
            <a:ext cx="10509199" cy="21378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Because the shape is enforced by the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addressing scheme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, not maintained by an algorithm. A heap is stored in an array with node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i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’s children at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2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i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+1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2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i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+2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, and a new element goes at index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. There is no insertion order that produces an unbalanced heap, because there is no array layout in which an unbalanced heap could be represented. A BST has no such constraint, which is why it needs rotations and a heap does not.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103  ·  answers in Appendix D     </a:t>
            </a:r>
            <a:fld id="{68FC82DE-7805-4F90-A51B-B679FD09CB6E}" type="slidenum">
              <a:rPr lang="en-GB" sz="1000">
                <a:solidFill>
                  <a:srgbClr val="8795A1"/>
                </a:solidFill>
                <a:latin typeface="Segoe UI"/>
              </a:rPr>
              <a:t>37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806363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The naive bound for Build-Heap is 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O(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 lg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)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 and the true answer 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Θ(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)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. Identify precisely which step of the naive argument is loose, and evaluate 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Σ</a:t>
            </a:r>
            <a:r>
              <a:rPr sz="2250" b="0" i="1" baseline="-25000">
                <a:solidFill>
                  <a:srgbClr val="FFFFFF"/>
                </a:solidFill>
                <a:latin typeface="Cambria"/>
              </a:rPr>
              <a:t>j</a:t>
            </a:r>
            <a:r>
              <a:rPr sz="2250" b="0" i="0" baseline="-25000">
                <a:solidFill>
                  <a:srgbClr val="FFFFFF"/>
                </a:solidFill>
                <a:latin typeface="Cambria"/>
              </a:rPr>
              <a:t>≥0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j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/2</a:t>
            </a:r>
            <a:r>
              <a:rPr sz="2250" b="0" i="1" baseline="30000">
                <a:solidFill>
                  <a:srgbClr val="FFFFFF"/>
                </a:solidFill>
                <a:latin typeface="Cambria"/>
              </a:rPr>
              <a:t>j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2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103  ·  answers in Appendix D     </a:t>
            </a:r>
            <a:fld id="{1C881752-DEF5-4D79-B582-59FA029B91CE}" type="slidenum">
              <a:rPr lang="en-GB" sz="1000">
                <a:solidFill>
                  <a:srgbClr val="D5DEE5"/>
                </a:solidFill>
                <a:latin typeface="Segoe UI"/>
              </a:rPr>
              <a:t>38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109910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The naive bound for Build-Heap is 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O(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 lg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)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 and the true answer 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Θ(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)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. Identify precisely which step of the naive argument is loose, and evaluate 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Σ</a:t>
            </a:r>
            <a:r>
              <a:rPr sz="1600" b="0" i="1" baseline="-25000">
                <a:solidFill>
                  <a:srgbClr val="1A5276"/>
                </a:solidFill>
                <a:latin typeface="Cambria"/>
              </a:rPr>
              <a:t>j</a:t>
            </a:r>
            <a:r>
              <a:rPr sz="1600" b="0" i="0" baseline="-25000">
                <a:solidFill>
                  <a:srgbClr val="1A5276"/>
                </a:solidFill>
                <a:latin typeface="Cambria"/>
              </a:rPr>
              <a:t>≥0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j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/2</a:t>
            </a:r>
            <a:r>
              <a:rPr sz="1600" b="0" i="1" baseline="30000">
                <a:solidFill>
                  <a:srgbClr val="1A5276"/>
                </a:solidFill>
                <a:latin typeface="Cambria"/>
              </a:rPr>
              <a:t>j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2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114092"/>
            <a:ext cx="64008" cy="1113647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6" name="!!ans-0" descr="The loose step is charging every node the cost of the worst node. In fact at most ⌈ n/2j+1⌉ nodes have height j, so the total is O(nΣj≥0 j/2j). And Σj ≥ 0 j/2j = 2, from Σj≥0 jxj = x/(1−x)2 at x = 1/2. So the true total is O(2n) = Θ(n).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7552" y="2114092"/>
            <a:ext cx="10509199" cy="1113647"/>
          </a:xfrm>
          <a:prstGeom prst="rect">
            <a:avLst/>
          </a:prstGeom>
        </p:spPr>
      </p:pic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103  ·  answers in Appendix D     </a:t>
            </a:r>
            <a:fld id="{43A0A886-4633-4CE6-93BD-625E762E183A}" type="slidenum">
              <a:rPr lang="en-GB" sz="1000">
                <a:solidFill>
                  <a:srgbClr val="8795A1"/>
                </a:solidFill>
                <a:latin typeface="Segoe UI"/>
              </a:rPr>
              <a:t>39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336437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A colleague’s BST benchmark shows excellent performance. What single question would you ask about the test data </a:t>
            </a:r>
            <a:r>
              <a:rPr sz="3400" b="0" i="1">
                <a:solidFill>
                  <a:srgbClr val="FFFFFF"/>
                </a:solidFill>
                <a:latin typeface="Segoe UI Semibold"/>
              </a:rPr>
              <a:t>(CLO-2)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?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3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103  ·  answers in Appendix D     </a:t>
            </a:r>
            <a:fld id="{5D0BBC3D-BFE8-4914-B87E-A0C8785F2CD9}" type="slidenum">
              <a:rPr lang="en-GB" sz="1000">
                <a:solidFill>
                  <a:srgbClr val="D5DEE5"/>
                </a:solidFill>
                <a:latin typeface="Segoe UI"/>
              </a:rPr>
              <a:t>40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747979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A colleague’s BST benchmark shows excellent performance. What single question would you ask about the test data </a:t>
            </a:r>
            <a:r>
              <a:rPr sz="2400" b="0" i="1">
                <a:solidFill>
                  <a:srgbClr val="1A5276"/>
                </a:solidFill>
                <a:latin typeface="Segoe UI Semibold"/>
              </a:rPr>
              <a:t>(CLO-2)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?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3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62963"/>
            <a:ext cx="64008" cy="13947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762963"/>
            <a:ext cx="10509199" cy="14404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6B9A"/>
                </a:solidFill>
                <a:latin typeface="Segoe UI"/>
              </a:rPr>
              <a:t>“In what order were the keys inserted?”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If they were shuffled, the height is about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2.3 lg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and the benchmark is meaningless for sorted input — which is what real data often is. Measured, the same keys in sorted order gave height exactly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and searches 650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×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slower.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103  ·  answers in Appendix D     </a:t>
            </a:r>
            <a:fld id="{BA0D89B5-072E-4E62-980F-E6F1BE5F6C99}" type="slidenum">
              <a:rPr lang="en-GB" sz="1000">
                <a:solidFill>
                  <a:srgbClr val="8795A1"/>
                </a:solidFill>
                <a:latin typeface="Segoe UI"/>
              </a:rPr>
              <a:t>41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866510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to take away</a:t>
            </a:r>
          </a:p>
        </p:txBody>
      </p:sp>
      <p:pic>
        <p:nvPicPr>
          <p:cNvPr id="3" name="!!kicker-icon" descr="clipboard-check-15425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5425E"/>
                </a:solidFill>
                <a:latin typeface="Segoe UI"/>
              </a:rPr>
              <a:t>CHAPTER SUMMARY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103     </a:t>
            </a:r>
            <a:fld id="{28499A34-7491-40D8-8E79-C9041600566D}" type="slidenum">
              <a:rPr lang="en-GB" sz="1000">
                <a:solidFill>
                  <a:srgbClr val="8795A1"/>
                </a:solidFill>
                <a:latin typeface="Segoe UI"/>
              </a:rPr>
              <a:t>42</a:t>
            </a:fld>
          </a:p>
        </p:txBody>
      </p:sp>
      <p:sp>
        <p:nvSpPr>
          <p:cNvPr id="7" name="!!s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46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sbn0"/>
          <p:cNvSpPr txBox="1"/>
          <p:nvPr/>
        </p:nvSpPr>
        <p:spPr>
          <a:xfrm>
            <a:off x="658368" y="18013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!!st0"/>
          <p:cNvSpPr txBox="1"/>
          <p:nvPr/>
        </p:nvSpPr>
        <p:spPr>
          <a:xfrm>
            <a:off x="1298448" y="1737360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A binary heap’s height is exactly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⌊ lg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⌋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, guaranteed by the array layout rather than maintained by an algorithm. Measured exact at every size up to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10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8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!!s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27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sbn1"/>
          <p:cNvSpPr txBox="1"/>
          <p:nvPr/>
        </p:nvSpPr>
        <p:spPr>
          <a:xfrm>
            <a:off x="658368" y="2523134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!!st1"/>
          <p:cNvSpPr txBox="1"/>
          <p:nvPr/>
        </p:nvSpPr>
        <p:spPr>
          <a:xfrm>
            <a:off x="1298448" y="2459126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Build-Heap is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, not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: most nodes are near the leaves, and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Σ</a:t>
            </a:r>
            <a:r>
              <a:rPr sz="1100" b="0" i="1" baseline="-25000">
                <a:solidFill>
                  <a:srgbClr val="1C252B"/>
                </a:solidFill>
                <a:latin typeface="Cambria"/>
              </a:rPr>
              <a:t>j</a:t>
            </a:r>
            <a:r>
              <a:rPr sz="1100" b="0" i="0" baseline="-25000">
                <a:solidFill>
                  <a:srgbClr val="1C252B"/>
                </a:solidFill>
                <a:latin typeface="Cambria"/>
              </a:rPr>
              <a:t>≥0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j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/2</a:t>
            </a:r>
            <a:r>
              <a:rPr sz="1100" b="0" i="1" baseline="30000">
                <a:solidFill>
                  <a:srgbClr val="1C252B"/>
                </a:solidFill>
                <a:latin typeface="Cambria"/>
              </a:rPr>
              <a:t>j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= 2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converges. The naive bound is correct but loose — the pattern Chapter 17 generalises.</a:t>
            </a:r>
          </a:p>
        </p:txBody>
      </p:sp>
      <p:sp>
        <p:nvSpPr>
          <p:cNvPr id="13" name="!!s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19003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sbn2"/>
          <p:cNvSpPr txBox="1"/>
          <p:nvPr/>
        </p:nvSpPr>
        <p:spPr>
          <a:xfrm>
            <a:off x="658368" y="3244900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5" name="!!st2"/>
          <p:cNvSpPr txBox="1"/>
          <p:nvPr/>
        </p:nvSpPr>
        <p:spPr>
          <a:xfrm>
            <a:off x="1298448" y="3180892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A BST has no such guarantee. Its height is decided by the insertion order: measured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2.3 lg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for shuffled keys and exactly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for sorted ones.</a:t>
            </a:r>
          </a:p>
        </p:txBody>
      </p:sp>
      <p:sp>
        <p:nvSpPr>
          <p:cNvPr id="16" name="!!s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911803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sbn3"/>
          <p:cNvSpPr txBox="1"/>
          <p:nvPr/>
        </p:nvSpPr>
        <p:spPr>
          <a:xfrm>
            <a:off x="658368" y="3966667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8" name="!!st3"/>
          <p:cNvSpPr txBox="1"/>
          <p:nvPr/>
        </p:nvSpPr>
        <p:spPr>
          <a:xfrm>
            <a:off x="1298448" y="3902659"/>
            <a:ext cx="10234879" cy="80832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Measured: 100,000 searches took 11.7 ms in a random tree and 7.6 seconds in a degenerate one at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= 32,000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— a factor of 650, of which only about 20 is step count and the rest unpredictable memory access.</a:t>
            </a:r>
          </a:p>
        </p:txBody>
      </p:sp>
      <p:sp>
        <p:nvSpPr>
          <p:cNvPr id="19" name="!!s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90301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sbn4"/>
          <p:cNvSpPr txBox="1"/>
          <p:nvPr/>
        </p:nvSpPr>
        <p:spPr>
          <a:xfrm>
            <a:off x="658368" y="4957876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1" name="!!st4"/>
          <p:cNvSpPr txBox="1"/>
          <p:nvPr/>
        </p:nvSpPr>
        <p:spPr>
          <a:xfrm>
            <a:off x="1298448" y="4893868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Measured height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/lg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was 2.46 against an asymptote of 2.99; the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−1.953 ln ln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correction accounts for the gap. Asymptotic constants are limits, and the discarded terms can dominate at every realistic size.</a:t>
            </a:r>
          </a:p>
        </p:txBody>
      </p:sp>
      <p:sp>
        <p:nvSpPr>
          <p:cNvPr id="22" name="!!s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24779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sbn5"/>
          <p:cNvSpPr txBox="1"/>
          <p:nvPr/>
        </p:nvSpPr>
        <p:spPr>
          <a:xfrm>
            <a:off x="658368" y="5679643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24" name="!!st5"/>
          <p:cNvSpPr txBox="1"/>
          <p:nvPr/>
        </p:nvSpPr>
        <p:spPr>
          <a:xfrm>
            <a:off x="1298448" y="5615635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A heap is a priority queue, not a search structure: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Θ(1)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to the extremum and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to anything else.</a:t>
            </a:r>
          </a:p>
        </p:txBody>
      </p:sp>
      <p:sp>
        <p:nvSpPr>
          <p:cNvPr id="7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131547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63" dur="2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Quick check 1 of 2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 ·  MULTIPLE CHOICE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103     </a:t>
            </a:r>
            <a:fld id="{612379EC-7942-4AF6-B118-A9DA519B6CC5}" type="slidenum">
              <a:rPr lang="en-GB" sz="1000">
                <a:solidFill>
                  <a:srgbClr val="8795A1"/>
                </a:solidFill>
                <a:latin typeface="Segoe UI"/>
              </a:rPr>
              <a:t>43</a:t>
            </a:fld>
          </a:p>
        </p:txBody>
      </p:sp>
      <p:sp>
        <p:nvSpPr>
          <p:cNvPr id="7" name="!!mstem"/>
          <p:cNvSpPr txBox="1"/>
          <p:nvPr/>
        </p:nvSpPr>
        <p:spPr>
          <a:xfrm>
            <a:off x="658368" y="1737360"/>
            <a:ext cx="10874959" cy="4578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252B"/>
                </a:solidFill>
                <a:latin typeface="Segoe UI"/>
              </a:rPr>
              <a:t>Build-Heap on </a:t>
            </a:r>
            <a:r>
              <a:rPr sz="26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600" b="0" i="0">
                <a:solidFill>
                  <a:srgbClr val="1C252B"/>
                </a:solidFill>
                <a:latin typeface="Segoe UI"/>
              </a:rPr>
              <a:t> elements runs in:</a:t>
            </a:r>
          </a:p>
        </p:txBody>
      </p:sp>
      <p:sp>
        <p:nvSpPr>
          <p:cNvPr id="8" name="!!mo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mo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molt0"/>
          <p:cNvSpPr txBox="1"/>
          <p:nvPr/>
        </p:nvSpPr>
        <p:spPr>
          <a:xfrm>
            <a:off x="841247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1" name="!!mot0"/>
          <p:cNvSpPr txBox="1"/>
          <p:nvPr/>
        </p:nvSpPr>
        <p:spPr>
          <a:xfrm>
            <a:off x="1481328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Θ(lg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12" name="!!mo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mo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molt1"/>
          <p:cNvSpPr txBox="1"/>
          <p:nvPr/>
        </p:nvSpPr>
        <p:spPr>
          <a:xfrm>
            <a:off x="6397599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5" name="!!mot1"/>
          <p:cNvSpPr txBox="1"/>
          <p:nvPr/>
        </p:nvSpPr>
        <p:spPr>
          <a:xfrm>
            <a:off x="7037679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16" name="!!mo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mo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molt2"/>
          <p:cNvSpPr txBox="1"/>
          <p:nvPr/>
        </p:nvSpPr>
        <p:spPr>
          <a:xfrm>
            <a:off x="841247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19" name="!!mot2"/>
          <p:cNvSpPr txBox="1"/>
          <p:nvPr/>
        </p:nvSpPr>
        <p:spPr>
          <a:xfrm>
            <a:off x="1481328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20" name="!!mo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mo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molt3"/>
          <p:cNvSpPr txBox="1"/>
          <p:nvPr/>
        </p:nvSpPr>
        <p:spPr>
          <a:xfrm>
            <a:off x="6397599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23" name="!!mot3"/>
          <p:cNvSpPr txBox="1"/>
          <p:nvPr/>
        </p:nvSpPr>
        <p:spPr>
          <a:xfrm>
            <a:off x="7037679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3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396584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Quick check 2 of 2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 ·  MULTIPLE CHOICE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103     </a:t>
            </a:r>
            <a:fld id="{A9EB6CB8-9F3A-42DB-A47B-6432EA4BCBDD}" type="slidenum">
              <a:rPr lang="en-GB" sz="1000">
                <a:solidFill>
                  <a:srgbClr val="8795A1"/>
                </a:solidFill>
                <a:latin typeface="Segoe UI"/>
              </a:rPr>
              <a:t>44</a:t>
            </a:fld>
          </a:p>
        </p:txBody>
      </p:sp>
      <p:sp>
        <p:nvSpPr>
          <p:cNvPr id="7" name="!!mstem"/>
          <p:cNvSpPr txBox="1"/>
          <p:nvPr/>
        </p:nvSpPr>
        <p:spPr>
          <a:xfrm>
            <a:off x="658368" y="1737360"/>
            <a:ext cx="10874959" cy="4578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252B"/>
                </a:solidFill>
                <a:latin typeface="Segoe UI"/>
              </a:rPr>
              <a:t>Inserting </a:t>
            </a:r>
            <a:r>
              <a:rPr sz="2600" b="0" i="0">
                <a:solidFill>
                  <a:srgbClr val="1C252B"/>
                </a:solidFill>
                <a:latin typeface="Cambria"/>
              </a:rPr>
              <a:t>1,2,3,…,</a:t>
            </a:r>
            <a:r>
              <a:rPr sz="26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600" b="0" i="0">
                <a:solidFill>
                  <a:srgbClr val="1C252B"/>
                </a:solidFill>
                <a:latin typeface="Segoe UI"/>
              </a:rPr>
              <a:t> into an unbalanced BST gives height:</a:t>
            </a:r>
          </a:p>
        </p:txBody>
      </p:sp>
      <p:sp>
        <p:nvSpPr>
          <p:cNvPr id="8" name="!!mo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mo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molt0"/>
          <p:cNvSpPr txBox="1"/>
          <p:nvPr/>
        </p:nvSpPr>
        <p:spPr>
          <a:xfrm>
            <a:off x="841247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1" name="!!mot0"/>
          <p:cNvSpPr txBox="1"/>
          <p:nvPr/>
        </p:nvSpPr>
        <p:spPr>
          <a:xfrm>
            <a:off x="1481328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⌊ lg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⌋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12" name="!!mo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mo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molt1"/>
          <p:cNvSpPr txBox="1"/>
          <p:nvPr/>
        </p:nvSpPr>
        <p:spPr>
          <a:xfrm>
            <a:off x="6397599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5" name="!!mot1"/>
          <p:cNvSpPr txBox="1"/>
          <p:nvPr/>
        </p:nvSpPr>
        <p:spPr>
          <a:xfrm>
            <a:off x="7037679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Θ(lg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16" name="!!mo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mo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molt2"/>
          <p:cNvSpPr txBox="1"/>
          <p:nvPr/>
        </p:nvSpPr>
        <p:spPr>
          <a:xfrm>
            <a:off x="841247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19" name="!!mot2"/>
          <p:cNvSpPr txBox="1"/>
          <p:nvPr/>
        </p:nvSpPr>
        <p:spPr>
          <a:xfrm>
            <a:off x="1481328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Θ(√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20" name="!!mo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mo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molt3"/>
          <p:cNvSpPr txBox="1"/>
          <p:nvPr/>
        </p:nvSpPr>
        <p:spPr>
          <a:xfrm>
            <a:off x="6397599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23" name="!!mot3"/>
          <p:cNvSpPr txBox="1"/>
          <p:nvPr/>
        </p:nvSpPr>
        <p:spPr>
          <a:xfrm>
            <a:off x="7037679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661621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For your notebook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QUESTIONS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103     </a:t>
            </a:r>
            <a:fld id="{B6C605B8-FEE6-4C04-9380-655F4494968B}" type="slidenum">
              <a:rPr lang="en-GB" sz="1000">
                <a:solidFill>
                  <a:srgbClr val="8795A1"/>
                </a:solidFill>
                <a:latin typeface="Segoe UI"/>
              </a:rPr>
              <a:t>45</a:t>
            </a:fld>
          </a:p>
        </p:txBody>
      </p:sp>
      <p:sp>
        <p:nvSpPr>
          <p:cNvPr id="7" name="!!r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rtt0"/>
          <p:cNvSpPr txBox="1"/>
          <p:nvPr/>
        </p:nvSpPr>
        <p:spPr>
          <a:xfrm>
            <a:off x="658368" y="1796795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9" name="!!rq0"/>
          <p:cNvSpPr txBox="1"/>
          <p:nvPr/>
        </p:nvSpPr>
        <p:spPr>
          <a:xfrm>
            <a:off x="1892807" y="1737360"/>
            <a:ext cx="9549079" cy="6022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Explain why a heap needs no rebalancing while a BST does, in terms of what enforces the shape.</a:t>
            </a:r>
          </a:p>
        </p:txBody>
      </p:sp>
      <p:sp>
        <p:nvSpPr>
          <p:cNvPr id="10" name="!!r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7738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tt1"/>
          <p:cNvSpPr txBox="1"/>
          <p:nvPr/>
        </p:nvSpPr>
        <p:spPr>
          <a:xfrm>
            <a:off x="658368" y="2618536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12" name="!!rq1"/>
          <p:cNvSpPr txBox="1"/>
          <p:nvPr/>
        </p:nvSpPr>
        <p:spPr>
          <a:xfrm>
            <a:off x="1892807" y="2559100"/>
            <a:ext cx="9549079" cy="3011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Why is searching a heap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despite its height being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?</a:t>
            </a:r>
          </a:p>
        </p:txBody>
      </p:sp>
      <p:sp>
        <p:nvSpPr>
          <p:cNvPr id="13" name="!!r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97987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rtt2"/>
          <p:cNvSpPr txBox="1"/>
          <p:nvPr/>
        </p:nvSpPr>
        <p:spPr>
          <a:xfrm>
            <a:off x="658368" y="3139135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15" name="!!rq2"/>
          <p:cNvSpPr txBox="1"/>
          <p:nvPr/>
        </p:nvSpPr>
        <p:spPr>
          <a:xfrm>
            <a:off x="1892807" y="3079699"/>
            <a:ext cx="9549079" cy="6022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State what “randomly built BST” means, and give a key set that is random but produces a degenerate tree.</a:t>
            </a:r>
          </a:p>
        </p:txBody>
      </p:sp>
      <p:sp>
        <p:nvSpPr>
          <p:cNvPr id="16" name="!!r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919727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tt3"/>
          <p:cNvSpPr txBox="1"/>
          <p:nvPr/>
        </p:nvSpPr>
        <p:spPr>
          <a:xfrm>
            <a:off x="658368" y="3960876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18" name="!!rq3"/>
          <p:cNvSpPr txBox="1"/>
          <p:nvPr/>
        </p:nvSpPr>
        <p:spPr>
          <a:xfrm>
            <a:off x="1892807" y="3901440"/>
            <a:ext cx="9549079" cy="6022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Prove that a heap on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elements has at most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⌈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/2</a:t>
            </a:r>
            <a:r>
              <a:rPr sz="1250" b="0" i="1" baseline="30000">
                <a:solidFill>
                  <a:srgbClr val="1C252B"/>
                </a:solidFill>
                <a:latin typeface="Cambria"/>
              </a:rPr>
              <a:t>j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+1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⌉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nodes of height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j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and use it to complete the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bound for Build-Heap.</a:t>
            </a:r>
          </a:p>
        </p:txBody>
      </p:sp>
      <p:sp>
        <p:nvSpPr>
          <p:cNvPr id="19" name="!!r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74146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rtt4"/>
          <p:cNvSpPr txBox="1"/>
          <p:nvPr/>
        </p:nvSpPr>
        <p:spPr>
          <a:xfrm>
            <a:off x="658368" y="4782616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21" name="!!rq4"/>
          <p:cNvSpPr txBox="1"/>
          <p:nvPr/>
        </p:nvSpPr>
        <p:spPr>
          <a:xfrm>
            <a:off x="1892807" y="4723180"/>
            <a:ext cx="9549079" cy="9034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You must support insert, delete-min and lookup-by-key on up to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10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7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records arriving in timestamp order. Choose a structure, justify it against the table in Section 12.4, and say which measurement from this chapter most influenced you.</a:t>
            </a:r>
          </a:p>
        </p:txBody>
      </p:sp>
      <p:sp>
        <p:nvSpPr>
          <p:cNvPr id="2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926658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7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2D8552"/>
                </a:solidFill>
                <a:latin typeface="Segoe UI Black"/>
              </a:rPr>
              <a:t>12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1243584"/>
            <a:ext cx="8229600" cy="82296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000" b="0">
                <a:solidFill>
                  <a:srgbClr val="FFFFFF"/>
                </a:solidFill>
                <a:latin typeface="Segoe UI Semibold"/>
              </a:rPr>
              <a:t>End of Chapter 12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02412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155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cll0"/>
          <p:cNvSpPr txBox="1"/>
          <p:nvPr/>
        </p:nvSpPr>
        <p:spPr>
          <a:xfrm>
            <a:off x="932688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8CCB8"/>
                </a:solidFill>
                <a:latin typeface="Segoe UI"/>
              </a:rPr>
              <a:t>NEXT</a:t>
            </a:r>
          </a:p>
        </p:txBody>
      </p:sp>
      <p:sp>
        <p:nvSpPr>
          <p:cNvPr id="7" name="!!clv0"/>
          <p:cNvSpPr txBox="1"/>
          <p:nvPr/>
        </p:nvSpPr>
        <p:spPr>
          <a:xfrm>
            <a:off x="932688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Chapter 13 — Hashing, and What Constant Time Actually Promises</a:t>
            </a:r>
          </a:p>
        </p:txBody>
      </p:sp>
      <p:sp>
        <p:nvSpPr>
          <p:cNvPr id="8" name="!!c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155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ll1"/>
          <p:cNvSpPr txBox="1"/>
          <p:nvPr/>
        </p:nvSpPr>
        <p:spPr>
          <a:xfrm>
            <a:off x="6507327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8CCB8"/>
                </a:solidFill>
                <a:latin typeface="Segoe UI"/>
              </a:rPr>
              <a:t>READ</a:t>
            </a:r>
          </a:p>
        </p:txBody>
      </p:sp>
      <p:sp>
        <p:nvSpPr>
          <p:cNvPr id="10" name="!!clv1"/>
          <p:cNvSpPr txBox="1"/>
          <p:nvPr/>
        </p:nvSpPr>
        <p:spPr>
          <a:xfrm>
            <a:off x="6507327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Handout Chapter 12, pages 97–103</a:t>
            </a:r>
          </a:p>
        </p:txBody>
      </p:sp>
      <p:sp>
        <p:nvSpPr>
          <p:cNvPr id="11" name="!!c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155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ll2"/>
          <p:cNvSpPr txBox="1"/>
          <p:nvPr/>
        </p:nvSpPr>
        <p:spPr>
          <a:xfrm>
            <a:off x="932688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8CCB8"/>
                </a:solidFill>
                <a:latin typeface="Segoe UI"/>
              </a:rPr>
              <a:t>THIS WEEK'S LAB</a:t>
            </a:r>
          </a:p>
        </p:txBody>
      </p:sp>
      <p:sp>
        <p:nvSpPr>
          <p:cNvPr id="13" name="!!clv2"/>
          <p:cNvSpPr txBox="1"/>
          <p:nvPr/>
        </p:nvSpPr>
        <p:spPr>
          <a:xfrm>
            <a:off x="932688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A hash table degrading under a poor hash</a:t>
            </a:r>
          </a:p>
        </p:txBody>
      </p:sp>
      <p:sp>
        <p:nvSpPr>
          <p:cNvPr id="14" name="!!c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155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cll3"/>
          <p:cNvSpPr txBox="1"/>
          <p:nvPr/>
        </p:nvSpPr>
        <p:spPr>
          <a:xfrm>
            <a:off x="6507327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8CCB8"/>
                </a:solidFill>
                <a:latin typeface="Segoe UI"/>
              </a:rPr>
              <a:t>ASSESSMENT</a:t>
            </a:r>
          </a:p>
        </p:txBody>
      </p:sp>
      <p:sp>
        <p:nvSpPr>
          <p:cNvPr id="16" name="!!clv3"/>
          <p:cNvSpPr txBox="1"/>
          <p:nvPr/>
        </p:nvSpPr>
        <p:spPr>
          <a:xfrm>
            <a:off x="6507327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Assignment 1 due</a:t>
            </a:r>
          </a:p>
        </p:txBody>
      </p:sp>
      <p:sp>
        <p:nvSpPr>
          <p:cNvPr id="1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12  ·  Heaps and Search Trees, Revisited for Analysis</a:t>
            </a:r>
          </a:p>
        </p:txBody>
      </p:sp>
      <p:sp>
        <p:nvSpPr>
          <p:cNvPr id="1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fld id="{B7CD01B5-100D-4316-8B97-EC248302438E}" type="slidenum">
              <a:rPr lang="en-GB" sz="1000">
                <a:solidFill>
                  <a:srgbClr val="D5DEE5"/>
                </a:solidFill>
                <a:latin typeface="Segoe UI"/>
              </a:rPr>
              <a:t>46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nalysis of Algorithms Fall 2026">
  <a:themeElements>
    <a:clrScheme name="Analysis of Algorithms Fall 2026">
      <a:dk1>
        <a:srgbClr val="1C252B"/>
      </a:dk1>
      <a:lt1>
        <a:srgbClr val="FFFFFF"/>
      </a:lt1>
      <a:dk2>
        <a:srgbClr val="1A5276"/>
      </a:dk2>
      <a:lt2>
        <a:srgbClr val="EBF5FB"/>
      </a:lt2>
      <a:accent1>
        <a:srgbClr val="1A5276"/>
      </a:accent1>
      <a:accent2>
        <a:srgbClr val="2E86C1"/>
      </a:accent2>
      <a:accent3>
        <a:srgbClr val="E74C3C"/>
      </a:accent3>
      <a:accent4>
        <a:srgbClr val="27AE60"/>
      </a:accent4>
      <a:accent5>
        <a:srgbClr val="8E44AD"/>
      </a:accent5>
      <a:accent6>
        <a:srgbClr val="B7950B"/>
      </a:accent6>
      <a:hlink>
        <a:srgbClr val="2E86C1"/>
      </a:hlink>
      <a:folHlink>
        <a:srgbClr val="8E44AD"/>
      </a:folHlink>
    </a:clrScheme>
    <a:fontScheme name="Analysis of Algorithms Fall 2026">
      <a:majorFont>
        <a:latin typeface="Segoe UI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12: Heaps and Search Trees, Revisited for Analysis</dc:title>
  <dc:subject>Analysis of Algorithms — Design, Proof and Measurement · BSIT · Fall 2026</dc:subject>
  <dc:creator>Dr. Mustafa Hameed</dc:creator>
  <cp:keywords>artificial intelligence; lecture slides; BSIT; HEC; Fall 2026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Lecture slides</cp:category>
</cp:coreProperties>
</file>