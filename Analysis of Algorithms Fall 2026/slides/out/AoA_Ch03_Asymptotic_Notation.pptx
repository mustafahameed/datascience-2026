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6.svg" ContentType="image/svg+xml"/>
  <Override PartName="/ppt/media/image47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0.svg" ContentType="image/svg+xml"/>
  <Override PartName="/ppt/media/image81.svg" ContentType="image/svg+xml"/>
  <Override PartName="/ppt/media/image83.svg" ContentType="image/svg+xml"/>
  <Override PartName="/ppt/media/image84.svg" ContentType="image/svg+xml"/>
  <Override PartName="/ppt/media/image86.svg" ContentType="image/svg+xml"/>
  <Override PartName="/ppt/media/image87.svg" ContentType="image/svg+xml"/>
  <Override PartName="/ppt/media/image8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86BBF81-AB0C-4465-A39C-2030F563C456}">
          <p14:sldIdLst>
            <p14:sldId id="256"/>
            <p14:sldId id="257"/>
            <p14:sldId id="258"/>
            <p14:sldId id="259"/>
            <p14:sldId id="260"/>
          </p14:sldIdLst>
        </p14:section>
        <p14:section name="3.1 Three Bounds, Defined" id="{DD05500F-335E-46F0-A213-3282686E8462}">
          <p14:sldIdLst>
            <p14:sldId id="261"/>
            <p14:sldId id="262"/>
            <p14:sldId id="263"/>
          </p14:sldIdLst>
        </p14:section>
        <p14:section name="3.2 Proving a Bound From the Definition" id="{CDDB6DB6-3853-43DB-AF53-68E7ACCFCF78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3.3 The Strict Bounds: o and ω" id="{043182D0-9A00-4EB3-B8F4-8FEF641D0BEF}">
          <p14:sldIdLst>
            <p14:sldId id="272"/>
            <p14:sldId id="273"/>
            <p14:sldId id="274"/>
          </p14:sldIdLst>
        </p14:section>
        <p14:section name="3.4 Properties, and the Analogy With Inequality" id="{FF5E8E60-675C-4ECF-9E02-BB043D301EAD}">
          <p14:sldIdLst>
            <p14:sldId id="275"/>
            <p14:sldId id="276"/>
            <p14:sldId id="277"/>
            <p14:sldId id="278"/>
            <p14:sldId id="279"/>
          </p14:sldIdLst>
        </p14:section>
        <p14:section name="3.5 The Limit Test" id="{467DDE27-43CC-4CD8-9A1B-0E0E86B3502A}">
          <p14:sldIdLst>
            <p14:sldId id="280"/>
            <p14:sldId id="281"/>
            <p14:sldId id="282"/>
            <p14:sldId id="283"/>
            <p14:sldId id="284"/>
          </p14:sldIdLst>
        </p14:section>
        <p14:section name="3.6 What Θ Asserts, Measured" id="{AF5F337C-A3B1-4A73-B259-16547D53CB18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3.7 Four Abuses, and What Each Conceals" id="{B45B706B-858F-43C0-8CD7-96F3DD1745BF}">
          <p14:sldIdLst>
            <p14:sldId id="291"/>
            <p14:sldId id="292"/>
            <p14:sldId id="293"/>
            <p14:sldId id="294"/>
            <p14:sldId id="295"/>
          </p14:sldIdLst>
        </p14:section>
        <p14:section name="Pitfalls" id="{1C886B4C-EAAC-4470-8194-79AC67C392C2}">
          <p14:sldIdLst>
            <p14:sldId id="296"/>
          </p14:sldIdLst>
        </p14:section>
        <p14:section name="Lab" id="{E7E277E2-5E8B-41C7-9545-B0CD5DE63EDA}">
          <p14:sldIdLst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Checkpoint" id="{186BECFB-EE30-4955-BFAD-7CCF30EFD3F8}">
          <p14:sldIdLst>
            <p14:sldId id="304"/>
            <p14:sldId id="305"/>
            <p14:sldId id="306"/>
          </p14:sldIdLst>
        </p14:section>
        <p14:section name="Wrap-up" id="{B031FB17-7E2B-4399-909F-EF93E2FA7D2C}">
          <p14:sldIdLst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3: Asymptotic Notation. Part 1 — Analysing an Algorithm. Week 2: Asymptotic notation, formally. Handout pages 19–29.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1 and Chapter 2. From Appendix B you need the logarithm identities and, for Section 3.5 only, L’Hopital’s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asymptotic upper bound; asymptotic lower bound; tight bound; witness; O; Ω; Θ; o; ω; transitivity; transpose symmetry; sum rule; limit test; trichotomy.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 said we discard constants and keep the dominant term. That is a practice, not a definition, and the practice can be abused. This chapter gives it a definition precise enough to prove things with. Throughout, f and g map the positive integers to the non-negative reals — running times, so never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definitions are existential, so a proof is a construction: name c, name n0, verify the inequality.</a:t>
            </a:r>
          </a:p>
          <a:p/>
          <a:p>
            <a:r>
              <a:t>Proof. We must produce c and n₀ with 3n² + 10n + 7 ≤ cn² for all n ≥ n₀. For n ≥ 1 we have n ≤ n² and 1 ≤ n², so 3n² + 10n + 7  ≤  3n² + 10n² + 7n²  =  20n². Taking c = 20 and n₀ = 1 satisfies the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Upper bound. Let A = Σᵢ₌₀d |aᵢ|. For n ≥ 1 every nⁱ ≤ nd, so p(n) ≤ A nd, giving c₂ = A. Lower bound. Write p(n) = adnd + r(n) where r(n) = Σᵢ&lt;d aᵢnⁱ. By the same argument |r(n)| ≤ B nd−¹ with B = Σᵢ&lt;d|aᵢ|. Hence p(n)  ≥  adnd − Bnd−¹     =  nd(ad − B/n)     ≥  ad/2 nd     whenever n ≥ 2B/ad. So c₁ = ad/2 and n₀ = max{1,  2B/ad} complete the pair of bounds, and p(n) = Θ(nd) by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Disproof is the other direction, and it is a proof by contradiction.</a:t>
            </a:r>
          </a:p>
          <a:p/>
          <a:p>
            <a:r>
              <a:t>Proof. Suppose it were. Then there exist c &gt; 0 and n₀ &gt; 0 such that n² ≤ cn for all n ≥ n₀. Since n &gt; 0 we may divide by n: n ≤ c   for all n ≥ n₀. But c is a fixed constant, so taking n = max{n₀,  ⌈ c ⌉ + 1} gives n ≥ n₀ and n &gt; c simultaneously — contradicting the line above. No such c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(⇒) Suppose f = Θ(g) with witnesses c₁, c₂, n₀. Then f(n) ≤ c₂g(n) for n ≥ n₀, which is the definition of O with c = c₂; and c₁g(n) ≤ f(n) for n ≥ n₀, which is the definition of Ω with c = c₁. (⇐) Suppose f = O(g) with witnesses cᵤ, nᵤ and f = Ω(g) with witnesses c, n. Put n₀ = max{nᵤ, n}. For every n ≥ n₀ both inequalities hold at once, so c g(n)  ≤  f(n)  ≤  cᵤ g(n), which is the definition of Θ with c₁ = c and c₂ = cᵤ.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allows f and g to grow at the same rate. The strict forms forbid it, and the change in the definition is the position of one quantifier.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Take witnesses c₁, n₁ for the first and c₂, n₂ for the second, and let n₀ = max{n₁, n₂}. For n ≥ n₀, f(n)  ≤  c₁ g(n)  ≤  c₁(c₂ h(n))     =  (c₁c₂) h(n), where the second inequality may be multiplied by c₁ &gt; 0 without reversing. So c = c₁c₂ and n₀ are witnesses for f = O(h). The same argument, with the inequalities reversed, gives transitivity for Ω, and Theorem 3.5 then gives it for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With witnesses c₁, n₁ and c₂, n₂, put n₀ = max{n₁, n₂} and M(n) = max{g₁(n), g₂(n)}. For n ≥ n₀, f₁(n) + f₂(n) ≤ c₁g₁(n) + c₂g₂(n)    ≤ c₁M(n) + c₂M(n) = (c₁+c₂)M(n).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Lemma 3.7 is why “keep the dominant term” is legitimate: a program that does an O(n2) pass and then an O(n) pass is O(n2), and we do not have to think about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Constructing witnesses is reliable and slow. For most functions met in practice, a limit settles the question at once.</a:t>
            </a:r>
          </a:p>
          <a:p/>
          <a:p>
            <a:r>
              <a:t>Proof. We prove the middle case; the others are similar. Let 0 &lt; L &lt; ∞. By the definition of a limit, taking ε = L/2 there is an n₀ such that for all n ≥ n₀, | f(n)/g(n) − L | &lt; L/2     ⟹     L/2  &lt;  f(n)/g(n)  &lt;  3L/2. Multiplying through by g(n) &gt; 0 gives L/2g(n) &lt; f(n) &lt; 3L/2g(n), so c₁ = L/2 and c₂ = 3L/2 witness f = Θ(g).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 = Θ(g) says f(n)/g(n) is eventually trapped between two positive constants. That is a claim about a ratio, so it can be tested directly — and tested against rival exponents, which is the sharper experiment.</a:t>
            </a:r>
          </a:p>
          <a:p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both tables in Section 3.6 and the crossover figure. Expect thirty minutes; part A takes about a minute of CPU at n = 128,000.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Insertion sort against three candidate exponents.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Insertion sort against three candidate exponents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Merge sort against n*lg(n) and its two rivals.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Merge sort against n*lg(n) and its two rivals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Where an asymptotically worse function is still smaller.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4 — Correctness: Loop Invariants. READ: Handout Chapter 3, pages 19–29. THIS WEEK'S LAB: Fit a curve; exclude the exponents either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7.xml"/><Relationship Id="rId8" Type="http://schemas.openxmlformats.org/officeDocument/2006/relationships/slide" Target="slide20.xml"/><Relationship Id="rId9" Type="http://schemas.openxmlformats.org/officeDocument/2006/relationships/slide" Target="slide25.xml"/><Relationship Id="rId10" Type="http://schemas.openxmlformats.org/officeDocument/2006/relationships/slide" Target="slide30.xml"/><Relationship Id="rId11" Type="http://schemas.openxmlformats.org/officeDocument/2006/relationships/slide" Target="slide3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2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33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34.svg"/><Relationship Id="rId4" Type="http://schemas.openxmlformats.org/officeDocument/2006/relationships/image" Target="../media/image35.png"/><Relationship Id="rId5" Type="http://schemas.openxmlformats.org/officeDocument/2006/relationships/image" Target="../media/image36.svg"/><Relationship Id="rId6" Type="http://schemas.openxmlformats.org/officeDocument/2006/relationships/image" Target="../media/image37.png"/><Relationship Id="rId7" Type="http://schemas.openxmlformats.org/officeDocument/2006/relationships/image" Target="../media/image38.sv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43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44.svg"/><Relationship Id="rId4" Type="http://schemas.openxmlformats.org/officeDocument/2006/relationships/image" Target="../media/image45.png"/><Relationship Id="rId5" Type="http://schemas.openxmlformats.org/officeDocument/2006/relationships/image" Target="../media/image46.sv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47.svg"/><Relationship Id="rId4" Type="http://schemas.openxmlformats.org/officeDocument/2006/relationships/image" Target="../media/image48.png"/><Relationship Id="rId5" Type="http://schemas.openxmlformats.org/officeDocument/2006/relationships/image" Target="../media/image49.sv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51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54.svg"/><Relationship Id="rId4" Type="http://schemas.openxmlformats.org/officeDocument/2006/relationships/image" Target="../media/image55.png"/><Relationship Id="rId5" Type="http://schemas.openxmlformats.org/officeDocument/2006/relationships/image" Target="../media/image56.sv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58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59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60.svg"/><Relationship Id="rId4" Type="http://schemas.openxmlformats.org/officeDocument/2006/relationships/image" Target="../media/image61.png"/><Relationship Id="rId5" Type="http://schemas.openxmlformats.org/officeDocument/2006/relationships/image" Target="../media/image62.svg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63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64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65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66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67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png"/><Relationship Id="rId3" Type="http://schemas.openxmlformats.org/officeDocument/2006/relationships/image" Target="../media/image69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1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2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3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4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5.sv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6.sv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7.sv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3" Type="http://schemas.openxmlformats.org/officeDocument/2006/relationships/image" Target="../media/image79.sv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3" Type="http://schemas.openxmlformats.org/officeDocument/2006/relationships/image" Target="../media/image80.sv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3" Type="http://schemas.openxmlformats.org/officeDocument/2006/relationships/image" Target="../media/image81.sv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83.svg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84.sv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5.png"/><Relationship Id="rId3" Type="http://schemas.openxmlformats.org/officeDocument/2006/relationships/image" Target="../media/image86.sv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5.png"/><Relationship Id="rId3" Type="http://schemas.openxmlformats.org/officeDocument/2006/relationships/image" Target="../media/image87.sv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5.png"/><Relationship Id="rId3" Type="http://schemas.openxmlformats.org/officeDocument/2006/relationships/image" Target="../media/image88.svg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16384"/>
                </a:solidFill>
                <a:latin typeface="Segoe UI Black"/>
              </a:rPr>
              <a:t>03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Asymptotic Notation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CFD9"/>
                </a:solidFill>
                <a:latin typeface="Segoe UI"/>
              </a:rPr>
              <a:t>PART I  ·  ANALYSING AN ALGORITHM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CFD9"/>
                </a:solidFill>
                <a:latin typeface="Segoe UI"/>
              </a:rPr>
              <a:t>CHAPTER 3  ·  WEEK 2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DCE4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5B5BE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DC8CF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5BE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19     </a:t>
            </a:r>
            <a:fld id="{7B124107-7B33-4ABD-ACF5-57653085B4F0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8229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A5276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822916" cy="4572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929340" y="1755648"/>
            <a:ext cx="19037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29340" y="2029967"/>
            <a:ext cx="1903741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5162265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2265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70034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34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1094" y="2112264"/>
            <a:ext cx="566928" cy="566928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601094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9456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0312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4967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6060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8691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232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2608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405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6526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577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0443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749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43605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53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1020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52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4938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697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8855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869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2772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47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9432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64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3350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658368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5276"/>
                </a:solidFill>
                <a:latin typeface="Segoe UI"/>
              </a:rPr>
              <a:t>Asymptotic Notation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1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Role of Algorithms, and What Efficient Means</a:t>
            </a:r>
          </a:p>
        </p:txBody>
      </p:sp>
      <p:sp>
        <p:nvSpPr>
          <p:cNvPr id="70" name="!!chip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2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Input Size, Input Nature, and the Three Cases</a:t>
            </a:r>
          </a:p>
        </p:txBody>
      </p:sp>
      <p:sp>
        <p:nvSpPr>
          <p:cNvPr id="73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4" name="!!dep-none-USED "/>
          <p:cNvSpPr txBox="1"/>
          <p:nvPr/>
        </p:nvSpPr>
        <p:spPr>
          <a:xfrm>
            <a:off x="6324447" y="3785616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8A4AE"/>
                </a:solidFill>
                <a:latin typeface="Segoe UI"/>
              </a:rPr>
              <a:t>—  no later chapter depends on it</a:t>
            </a:r>
          </a:p>
        </p:txBody>
      </p:sp>
      <p:sp>
        <p:nvSpPr>
          <p:cNvPr id="7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777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19     </a:t>
            </a:r>
            <a:fld id="{9BA37F41-8336-4129-9889-FEC47216FC37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formal definitions of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Ω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ω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each one quantifies over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(CLO-5)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Prove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that a given function belongs to a given asymptotic class by exhibiting the witnesses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disprove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membership by contradiction.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60266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Use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limit test,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recognise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case in which it does not apply.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22622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58205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51347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Order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standard functions by growth,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transitivity and the sum rule to simplify a bound.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71185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43062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41233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Identify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four common abuses of the notation,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each one conceals.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166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19     </a:t>
            </a:r>
            <a:fld id="{529CF38A-128B-4F34-B527-874BEE868830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asymptotic up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69599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asymptotic up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asymptotic upp"/>
          <p:cNvSpPr txBox="1"/>
          <p:nvPr/>
        </p:nvSpPr>
        <p:spPr>
          <a:xfrm>
            <a:off x="950976" y="1962911"/>
            <a:ext cx="251311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asymptotic upper bound</a:t>
            </a:r>
          </a:p>
        </p:txBody>
      </p:sp>
      <p:sp>
        <p:nvSpPr>
          <p:cNvPr id="10" name="!!term-asymptotic l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0663" y="1847088"/>
            <a:ext cx="265638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asymptotic l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2867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asymptotic low"/>
          <p:cNvSpPr txBox="1"/>
          <p:nvPr/>
        </p:nvSpPr>
        <p:spPr>
          <a:xfrm>
            <a:off x="3793271" y="1962911"/>
            <a:ext cx="247350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asymptotic lower bound</a:t>
            </a:r>
          </a:p>
        </p:txBody>
      </p:sp>
      <p:sp>
        <p:nvSpPr>
          <p:cNvPr id="13" name="!!term-tight b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354" y="1847088"/>
            <a:ext cx="152580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tight b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137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tight bound"/>
          <p:cNvSpPr txBox="1"/>
          <p:nvPr/>
        </p:nvSpPr>
        <p:spPr>
          <a:xfrm>
            <a:off x="6595962" y="1962911"/>
            <a:ext cx="134292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tight bound</a:t>
            </a:r>
          </a:p>
        </p:txBody>
      </p:sp>
      <p:sp>
        <p:nvSpPr>
          <p:cNvPr id="16" name="!!term-witn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5462" y="1847088"/>
            <a:ext cx="111065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witn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347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witness"/>
          <p:cNvSpPr txBox="1"/>
          <p:nvPr/>
        </p:nvSpPr>
        <p:spPr>
          <a:xfrm>
            <a:off x="8268070" y="1962911"/>
            <a:ext cx="92777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witness</a:t>
            </a:r>
          </a:p>
        </p:txBody>
      </p:sp>
      <p:sp>
        <p:nvSpPr>
          <p:cNvPr id="19" name="!!term-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2421" y="1847088"/>
            <a:ext cx="59518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6043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O"/>
          <p:cNvSpPr txBox="1"/>
          <p:nvPr/>
        </p:nvSpPr>
        <p:spPr>
          <a:xfrm>
            <a:off x="9525029" y="1962911"/>
            <a:ext cx="41230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O</a:t>
            </a:r>
          </a:p>
        </p:txBody>
      </p:sp>
      <p:sp>
        <p:nvSpPr>
          <p:cNvPr id="22" name="!!term-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73914" y="1847088"/>
            <a:ext cx="59539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0193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Ω"/>
          <p:cNvSpPr txBox="1"/>
          <p:nvPr/>
        </p:nvSpPr>
        <p:spPr>
          <a:xfrm>
            <a:off x="10266522" y="1962911"/>
            <a:ext cx="41251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Ω</a:t>
            </a:r>
          </a:p>
        </p:txBody>
      </p:sp>
      <p:sp>
        <p:nvSpPr>
          <p:cNvPr id="25" name="!!term-Θ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5614" y="1847088"/>
            <a:ext cx="59518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Θ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4363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Θ"/>
          <p:cNvSpPr txBox="1"/>
          <p:nvPr/>
        </p:nvSpPr>
        <p:spPr>
          <a:xfrm>
            <a:off x="11008222" y="1962911"/>
            <a:ext cx="41230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Θ</a:t>
            </a:r>
          </a:p>
        </p:txBody>
      </p:sp>
      <p:sp>
        <p:nvSpPr>
          <p:cNvPr id="28" name="!!term-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56036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o"/>
          <p:cNvSpPr txBox="1"/>
          <p:nvPr/>
        </p:nvSpPr>
        <p:spPr>
          <a:xfrm>
            <a:off x="950976" y="2584704"/>
            <a:ext cx="37748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o</a:t>
            </a:r>
          </a:p>
        </p:txBody>
      </p:sp>
      <p:sp>
        <p:nvSpPr>
          <p:cNvPr id="31" name="!!term-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65040" y="2468880"/>
            <a:ext cx="60638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3056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ω"/>
          <p:cNvSpPr txBox="1"/>
          <p:nvPr/>
        </p:nvSpPr>
        <p:spPr>
          <a:xfrm>
            <a:off x="1657648" y="2584704"/>
            <a:ext cx="42350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ω</a:t>
            </a:r>
          </a:p>
        </p:txBody>
      </p:sp>
      <p:sp>
        <p:nvSpPr>
          <p:cNvPr id="34" name="!!term-transitiv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7726" y="2468880"/>
            <a:ext cx="138258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transitiv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4574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transitivity"/>
          <p:cNvSpPr txBox="1"/>
          <p:nvPr/>
        </p:nvSpPr>
        <p:spPr>
          <a:xfrm>
            <a:off x="2410334" y="2584704"/>
            <a:ext cx="119970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transitivity</a:t>
            </a:r>
          </a:p>
        </p:txBody>
      </p:sp>
      <p:sp>
        <p:nvSpPr>
          <p:cNvPr id="37" name="!!term-transpose sym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46615" y="2468880"/>
            <a:ext cx="228472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transpose sym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463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transpose symm"/>
          <p:cNvSpPr txBox="1"/>
          <p:nvPr/>
        </p:nvSpPr>
        <p:spPr>
          <a:xfrm>
            <a:off x="3939223" y="2584704"/>
            <a:ext cx="210184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transpose symmetry</a:t>
            </a:r>
          </a:p>
        </p:txBody>
      </p:sp>
      <p:sp>
        <p:nvSpPr>
          <p:cNvPr id="40" name="!!term-sum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7646" y="2468880"/>
            <a:ext cx="122734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sum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566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sum rule"/>
          <p:cNvSpPr txBox="1"/>
          <p:nvPr/>
        </p:nvSpPr>
        <p:spPr>
          <a:xfrm>
            <a:off x="6370254" y="2584704"/>
            <a:ext cx="104446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sum rule</a:t>
            </a:r>
          </a:p>
        </p:txBody>
      </p:sp>
      <p:sp>
        <p:nvSpPr>
          <p:cNvPr id="43" name="!!term-limit te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1294" y="2468880"/>
            <a:ext cx="123167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limit te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79310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limit test"/>
          <p:cNvSpPr txBox="1"/>
          <p:nvPr/>
        </p:nvSpPr>
        <p:spPr>
          <a:xfrm>
            <a:off x="7743902" y="2584704"/>
            <a:ext cx="104879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limit test</a:t>
            </a:r>
          </a:p>
        </p:txBody>
      </p:sp>
      <p:sp>
        <p:nvSpPr>
          <p:cNvPr id="46" name="!!term-trichotom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9269" y="2468880"/>
            <a:ext cx="143644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!!termd-trichotom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5728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termt-trichotomy"/>
          <p:cNvSpPr txBox="1"/>
          <p:nvPr/>
        </p:nvSpPr>
        <p:spPr>
          <a:xfrm>
            <a:off x="9121877" y="2584704"/>
            <a:ext cx="125356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trichotomy</a:t>
            </a:r>
          </a:p>
        </p:txBody>
      </p:sp>
      <p:sp>
        <p:nvSpPr>
          <p:cNvPr id="49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5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555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19–29     </a:t>
            </a:r>
            <a:fld id="{9DA751DA-1D38-4AE7-9D91-91BECCA88C1C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3.1 Three Bounds, Defined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Three Bounds, Defined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19  ›</a:t>
            </a:r>
          </a:p>
        </p:txBody>
      </p:sp>
      <p:sp>
        <p:nvSpPr>
          <p:cNvPr id="12" name="!!ag1" descr="Go to section 3.2 Proving a Bound From the Definition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Proving a Bound From the Definition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20  ›</a:t>
            </a:r>
          </a:p>
        </p:txBody>
      </p:sp>
      <p:sp>
        <p:nvSpPr>
          <p:cNvPr id="17" name="!!ag2" descr="Go to section 3.3 The Strict Bounds: o and ω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Strict Bounds: o and ω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21  ›</a:t>
            </a:r>
          </a:p>
        </p:txBody>
      </p:sp>
      <p:sp>
        <p:nvSpPr>
          <p:cNvPr id="22" name="!!ag3" descr="Go to section 3.4 Properties, and the Analogy With Inequality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Properties, and the Analogy With Inequality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22  ›</a:t>
            </a:r>
          </a:p>
        </p:txBody>
      </p:sp>
      <p:sp>
        <p:nvSpPr>
          <p:cNvPr id="27" name="!!ag4" descr="Go to section 3.5 The Limit Test">
            <a:hlinkClick action="ppaction://hlinksldjump" r:id="rId9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Limit Test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23  ›</a:t>
            </a:r>
          </a:p>
        </p:txBody>
      </p:sp>
      <p:sp>
        <p:nvSpPr>
          <p:cNvPr id="32" name="!!ag5" descr="Go to section 3.6 What Θ Asserts, Measured">
            <a:hlinkClick action="ppaction://hlinksldjump" r:id="rId10"/>
          </p:cNvPr>
          <p:cNvSpPr/>
          <p:nvPr/>
        </p:nvSpPr>
        <p:spPr>
          <a:xfrm>
            <a:off x="658368" y="49743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ag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7433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agn5"/>
          <p:cNvSpPr txBox="1"/>
          <p:nvPr/>
        </p:nvSpPr>
        <p:spPr>
          <a:xfrm>
            <a:off x="932688" y="51206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3.6</a:t>
            </a:r>
          </a:p>
        </p:txBody>
      </p:sp>
      <p:sp>
        <p:nvSpPr>
          <p:cNvPr id="35" name="!!agt5"/>
          <p:cNvSpPr txBox="1"/>
          <p:nvPr/>
        </p:nvSpPr>
        <p:spPr>
          <a:xfrm>
            <a:off x="1847088" y="51206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What Θ Asserts, Measured</a:t>
            </a:r>
          </a:p>
        </p:txBody>
      </p:sp>
      <p:sp>
        <p:nvSpPr>
          <p:cNvPr id="36" name="!!agp5"/>
          <p:cNvSpPr txBox="1"/>
          <p:nvPr/>
        </p:nvSpPr>
        <p:spPr>
          <a:xfrm>
            <a:off x="9795967" y="51480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24  ›</a:t>
            </a:r>
          </a:p>
        </p:txBody>
      </p:sp>
      <p:sp>
        <p:nvSpPr>
          <p:cNvPr id="37" name="!!ag6" descr="Go to section 3.7 Four Abuses, and What Each Conceals">
            <a:hlinkClick action="ppaction://hlinksldjump" r:id="rId11"/>
          </p:cNvPr>
          <p:cNvSpPr/>
          <p:nvPr/>
        </p:nvSpPr>
        <p:spPr>
          <a:xfrm>
            <a:off x="658368" y="561441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ag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1441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agn6"/>
          <p:cNvSpPr txBox="1"/>
          <p:nvPr/>
        </p:nvSpPr>
        <p:spPr>
          <a:xfrm>
            <a:off x="932688" y="57607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3.7</a:t>
            </a:r>
          </a:p>
        </p:txBody>
      </p:sp>
      <p:sp>
        <p:nvSpPr>
          <p:cNvPr id="40" name="!!agt6"/>
          <p:cNvSpPr txBox="1"/>
          <p:nvPr/>
        </p:nvSpPr>
        <p:spPr>
          <a:xfrm>
            <a:off x="1847088" y="57607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Four Abuses, and What Each Conceals</a:t>
            </a:r>
          </a:p>
        </p:txBody>
      </p:sp>
      <p:sp>
        <p:nvSpPr>
          <p:cNvPr id="41" name="!!agp6"/>
          <p:cNvSpPr txBox="1"/>
          <p:nvPr/>
        </p:nvSpPr>
        <p:spPr>
          <a:xfrm>
            <a:off x="9795967" y="578815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26  ›</a:t>
            </a:r>
          </a:p>
        </p:txBody>
      </p:sp>
      <p:sp>
        <p:nvSpPr>
          <p:cNvPr id="4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944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Three Bounds, Defined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1 OF 7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3.1   Three Bounds, Defined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Proving a Bound From the Definition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The Strict Bounds: o and ω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Properties, and the Analogy With Inequality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The Limit Test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What Θ Asserts, Measured</a:t>
            </a:r>
          </a:p>
        </p:txBody>
      </p:sp>
      <p:sp>
        <p:nvSpPr>
          <p:cNvPr id="12" name="!!dl6"/>
          <p:cNvSpPr txBox="1"/>
          <p:nvPr/>
        </p:nvSpPr>
        <p:spPr>
          <a:xfrm>
            <a:off x="4846320" y="580643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3.7   Four Abuses, and What Each Conceals</a:t>
            </a:r>
          </a:p>
        </p:txBody>
      </p:sp>
      <p:sp>
        <p:nvSpPr>
          <p:cNvPr id="13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</a:t>
            </a:r>
          </a:p>
        </p:txBody>
      </p:sp>
      <p:sp>
        <p:nvSpPr>
          <p:cNvPr id="14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§3.1     </a:t>
            </a:r>
            <a:fld id="{0BAE65BB-6F69-44D6-B345-9005BC6D08EC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8333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O, Ω and Θ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§3.1  ·  Handout p. 19     </a:t>
            </a:r>
            <a:fld id="{9521D4A7-6ADB-40EB-81D7-37B58782A2F3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21672"/>
          </a:xfrm>
          <a:prstGeom prst="roundRect">
            <a:avLst>
              <a:gd name="adj" fmla="val 2067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21672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A4500"/>
                </a:solidFill>
                <a:latin typeface="Segoe UI"/>
              </a:rPr>
              <a:t>Upper bound.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the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set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of functions</a:t>
            </a:r>
          </a:p>
        </p:txBody>
      </p:sp>
      <p:pic>
        <p:nvPicPr>
          <p:cNvPr id="10" name="body-1" descr="O(g(n)) = \bigl\{\, f(n) \;:\; \exists\, c &gt; 0,\ \exists\, n_{0} &gt; 0,\ \forall\, n \ge n_{0},\ 0 \le f(n) \le c\,g(n) \,\bigr\}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550617"/>
            <a:ext cx="10161727" cy="379293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60704" y="3083580"/>
            <a:ext cx="10161727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A4500"/>
                </a:solidFill>
                <a:latin typeface="Segoe UI"/>
              </a:rPr>
              <a:t>Lower bound.</a:t>
            </a:r>
          </a:p>
        </p:txBody>
      </p:sp>
      <p:pic>
        <p:nvPicPr>
          <p:cNvPr id="12" name="body-3" descr="\Omega(g(n)) = \bigl\{\, f(n) \;:\; \exists\, c &gt; 0,\ \exists\, n_{0} &gt; 0,\ \forall\, n \ge n_{0},\ 0 \le c\,g(n) \le f(n) \,\bigr\}.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704" y="3585941"/>
            <a:ext cx="10161727" cy="379293"/>
          </a:xfrm>
          <a:prstGeom prst="rect">
            <a:avLst/>
          </a:prstGeom>
        </p:spPr>
      </p:pic>
      <p:sp>
        <p:nvSpPr>
          <p:cNvPr id="13" name="body-4"/>
          <p:cNvSpPr txBox="1"/>
          <p:nvPr/>
        </p:nvSpPr>
        <p:spPr>
          <a:xfrm>
            <a:off x="1060704" y="4118904"/>
            <a:ext cx="10161727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A4500"/>
                </a:solidFill>
                <a:latin typeface="Segoe UI"/>
              </a:rPr>
              <a:t>Tight bound.</a:t>
            </a:r>
          </a:p>
        </p:txBody>
      </p:sp>
      <p:pic>
        <p:nvPicPr>
          <p:cNvPr id="14" name="body-5" descr="\Theta(g(n)) = \bigl\{\, f(n) \;:\; \exists\, c_{1}, c_{2} &gt; 0,\ \exists\, n_{0} &gt; 0,\ \forall\, n \ge n_{0},\ 0 \le c_{1} g(n) \le f(n) \le c_{2} g(n) \,\bigr\}.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0704" y="4621265"/>
            <a:ext cx="10161727" cy="375818"/>
          </a:xfrm>
          <a:prstGeom prst="rect">
            <a:avLst/>
          </a:prstGeom>
        </p:spPr>
      </p:pic>
      <p:sp>
        <p:nvSpPr>
          <p:cNvPr id="15" name="body-6"/>
          <p:cNvSpPr txBox="1"/>
          <p:nvPr/>
        </p:nvSpPr>
        <p:spPr>
          <a:xfrm>
            <a:off x="1060704" y="5150754"/>
            <a:ext cx="10161727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 constants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(or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) and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are the </a:t>
            </a:r>
            <a:r>
              <a:rPr sz="2200" b="1" i="0">
                <a:solidFill>
                  <a:srgbClr val="1A5276"/>
                </a:solidFill>
                <a:latin typeface="Segoe UI"/>
              </a:rPr>
              <a:t>witnesses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To prove a bound you produce them; to disprove one you show none can exist.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9722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“f(n) = O(g(n))” is an abuse of the equals sign, and you should know it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§3.1  ·  Handout p. 19     </a:t>
            </a:r>
            <a:fld id="{460FFA07-43E0-4A3E-8940-F2732EC5D4F6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63898"/>
          </a:xfrm>
          <a:prstGeom prst="roundRect">
            <a:avLst>
              <a:gd name="adj" fmla="val 2250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63898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 set, so the honest statement is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∈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Everyone writes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anyway, including this book, and the convention is harmless as long as you remember that it is 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one-directional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3438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•	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true.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•	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meaningless.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From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you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cannot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conclude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761280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Read the “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=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 as “is” — as in “Rawalpindi is a city”, which does not make every city Rawalpindi.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71111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Proving a Bound From the Definition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2 OF 7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Three Bounds, Defined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3.2   Proving a Bound From the Definition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The Strict Bounds: o and ω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Properties, and the Analogy With Inequality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The Limit Test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What Θ Asserts, Measured</a:t>
            </a:r>
          </a:p>
        </p:txBody>
      </p:sp>
      <p:sp>
        <p:nvSpPr>
          <p:cNvPr id="12" name="!!dl6"/>
          <p:cNvSpPr txBox="1"/>
          <p:nvPr/>
        </p:nvSpPr>
        <p:spPr>
          <a:xfrm>
            <a:off x="4846320" y="580643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3.7   Four Abuses, and What Each Conceals</a:t>
            </a:r>
          </a:p>
        </p:txBody>
      </p:sp>
      <p:sp>
        <p:nvSpPr>
          <p:cNvPr id="13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</a:t>
            </a:r>
          </a:p>
        </p:txBody>
      </p:sp>
      <p:sp>
        <p:nvSpPr>
          <p:cNvPr id="14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§3.2     </a:t>
            </a:r>
            <a:fld id="{9D17503E-E3B9-4267-9B1D-074688A8AAA5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92500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quadratic is O(n²)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3.1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20     </a:t>
            </a:r>
            <a:fld id="{2AFFE07E-421C-4610-BE1A-5093631587BA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Cambria"/>
              </a:rPr>
              <a:t>3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+ 10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+ 7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3889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witnesses are not unique, and need not be tight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20     </a:t>
            </a:r>
            <a:fld id="{BBCEF7C7-C27E-4455-93A1-CBB13F68A9CE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69691"/>
          </a:xfrm>
          <a:prstGeom prst="roundRect">
            <a:avLst>
              <a:gd name="adj" fmla="val 3079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69691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That proof produced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20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A sharper argument gives a smaller one: for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≥ 10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10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+ 7 ≤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so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4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also work.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618D"/>
                </a:solidFill>
                <a:latin typeface="Segoe UI"/>
              </a:rPr>
              <a:t>Both proofs are equally valid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because the definition asks only that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some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pair exist. Students waste effort hunting for the smallest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; the definition does not reward it. Pick the crudest bound that closes the inequality — here, replacing every term by the largest one.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35278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Polynomials</a:t>
            </a:r>
          </a:p>
        </p:txBody>
      </p:sp>
      <p:pic>
        <p:nvPicPr>
          <p:cNvPr id="3" name="!!kicker-icon" descr="puzzle-piece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LEMMA 3.2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20     </a:t>
            </a:r>
            <a:fld id="{AC7D0B4D-A3E4-4CB5-8805-4A4C0D7BF225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023122"/>
          </a:xfrm>
          <a:prstGeom prst="roundRect">
            <a:avLst>
              <a:gd name="adj" fmla="val 8937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02312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Let p(n) = Σi=0d ai ni with ad &gt; 0. Then p(n) = Θ(nd)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048255"/>
            <a:ext cx="10161727" cy="401330"/>
          </a:xfrm>
          <a:prstGeom prst="rect">
            <a:avLst/>
          </a:prstGeom>
        </p:spPr>
      </p:pic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6667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Only the degree survives</a:t>
            </a:r>
          </a:p>
        </p:txBody>
      </p:sp>
      <p:pic>
        <p:nvPicPr>
          <p:cNvPr id="3" name="!!kicker-icon" descr="angle-double-right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638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COROLLARY 3.3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20     </a:t>
            </a:r>
            <a:fld id="{04BB6004-1EFB-4D6B-AD20-1AD482270686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degree of a polynomial running time is the only thing about it that survives asymptotic analysis.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0.001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grows faster than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1000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8056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quadratic is not linear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3.4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20     </a:t>
            </a:r>
            <a:fld id="{4BAA0EB8-566E-4760-88C3-202F9E35EF11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≠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99445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Θ is exactly O and Ω together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3.5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20     </a:t>
            </a:r>
            <a:fld id="{F2AB8F20-2625-434A-B499-8740AA297D4D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if and only 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0834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Why that theorem earns its place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20     </a:t>
            </a:r>
            <a:fld id="{D093CD05-9CAC-47E2-B990-A6F905F3CE00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98773"/>
          </a:xfrm>
          <a:prstGeom prst="roundRect">
            <a:avLst>
              <a:gd name="adj" fmla="val 2472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98773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It is the most-used result in the subject and it is two lines long, so it is tempting to skip. Do not: it is what licenses the standard division of labour in every later analysis.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To establish a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bound you prove an upper bound and a lower bound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separately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by completely different arguments. Chapter 10 proves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comparison sorting by a decision-tree argument that has nothing in common with Chapter 8’s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recurrence — and Theorem 3.5 is the reason the two halves combine into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42223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Strict Bounds: o and ω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3 OF 7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Three Bounds, Defined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Proving a Bound From the Definition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3.3   The Strict Bounds: o and ω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Properties, and the Analogy With Inequality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The Limit Test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What Θ Asserts, Measured</a:t>
            </a:r>
          </a:p>
        </p:txBody>
      </p:sp>
      <p:sp>
        <p:nvSpPr>
          <p:cNvPr id="12" name="!!dl6"/>
          <p:cNvSpPr txBox="1"/>
          <p:nvPr/>
        </p:nvSpPr>
        <p:spPr>
          <a:xfrm>
            <a:off x="4846320" y="580643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3.7   Four Abuses, and What Each Conceals</a:t>
            </a:r>
          </a:p>
        </p:txBody>
      </p:sp>
      <p:sp>
        <p:nvSpPr>
          <p:cNvPr id="13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</a:t>
            </a:r>
          </a:p>
        </p:txBody>
      </p:sp>
      <p:sp>
        <p:nvSpPr>
          <p:cNvPr id="14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§3.3     </a:t>
            </a:r>
            <a:fld id="{1DF49E7B-43F7-4172-A978-BA22CB52349E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3611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o and ω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§3.3  ·  Handout p. 21     </a:t>
            </a:r>
            <a:fld id="{F252438D-9769-4AB8-95D9-A527B4771301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829874"/>
          </a:xfrm>
          <a:prstGeom prst="roundRect">
            <a:avLst>
              <a:gd name="adj" fmla="val 3231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829874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o(g(n)) = \bigl\{\, f(n) : \forall\, c &gt; 0,\ \exists\, n_{0} &gt; 0,\ \forall\, n \ge n_{0},\ 0 \le f(n) &lt; c\,g(n) \,\bigr\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048255"/>
            <a:ext cx="10161727" cy="396575"/>
          </a:xfrm>
          <a:prstGeom prst="rect">
            <a:avLst/>
          </a:prstGeom>
        </p:spPr>
      </p:pic>
      <p:pic>
        <p:nvPicPr>
          <p:cNvPr id="10" name="body-1" descr="\omega(g(n)) = \bigl\{\, f(n) : \forall\, c &gt; 0,\ \exists\, n_{0} &gt; 0,\ \forall\, n \ge n_{0},\ 0 \le c\,g(n) &lt; f(n) \,\bigr\}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704" y="2605486"/>
            <a:ext cx="10161727" cy="396575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60704" y="3162716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A4500"/>
                </a:solidFill>
                <a:latin typeface="Segoe UI"/>
              </a:rPr>
              <a:t>The whole difference is 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∃ </a:t>
            </a:r>
            <a:r>
              <a:rPr sz="2300" b="1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 against 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∀ </a:t>
            </a:r>
            <a:r>
              <a:rPr sz="2300" b="1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it is enough that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one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constant works. For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every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constant must work, however small — so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must become negligible relative to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not merely bounded by it.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5000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Testing the Quantifier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§3.3  ·  Handout p. 21     </a:t>
            </a:r>
            <a:fld id="{E8ED6C43-5222-4D3B-B254-7EF0CA2F243D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171901"/>
          </a:xfrm>
          <a:prstGeom prst="roundRect">
            <a:avLst>
              <a:gd name="adj" fmla="val 2882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17190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044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D6608"/>
                </a:solidFill>
                <a:latin typeface="Segoe UI"/>
              </a:rPr>
              <a:t>Is 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2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 = 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?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Take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We would need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&lt;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for all large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i.e.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 &lt; 1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So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no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— and the reasoning shows why: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requires the ratio to vanish, and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for every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3156889"/>
            <a:ext cx="10234879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D6608"/>
                </a:solidFill>
                <a:latin typeface="Segoe UI"/>
              </a:rPr>
              <a:t>Is 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2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 = 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?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Given any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&gt; 0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we need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&lt;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i.e.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&gt; 2/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So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⌈ 2/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⌉ + 1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works. Since we produced an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for every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yes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3969257"/>
            <a:ext cx="10234879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D6608"/>
                </a:solidFill>
                <a:latin typeface="Segoe UI"/>
              </a:rPr>
              <a:t>The pattern.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exactly when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but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≠ Θ(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— the bound holds and is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tight.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Properties, and the Analogy With Inequality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4 OF 7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Three Bounds, Defined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Proving a Bound From the Definition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The Strict Bounds: o and ω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3.4   Properties, and the Analogy With Inequality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The Limit Test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What Θ Asserts, Measured</a:t>
            </a:r>
          </a:p>
        </p:txBody>
      </p:sp>
      <p:sp>
        <p:nvSpPr>
          <p:cNvPr id="12" name="!!dl6"/>
          <p:cNvSpPr txBox="1"/>
          <p:nvPr/>
        </p:nvSpPr>
        <p:spPr>
          <a:xfrm>
            <a:off x="4846320" y="580643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3.7   Four Abuses, and What Each Conceals</a:t>
            </a:r>
          </a:p>
        </p:txBody>
      </p:sp>
      <p:sp>
        <p:nvSpPr>
          <p:cNvPr id="13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</a:t>
            </a:r>
          </a:p>
        </p:txBody>
      </p:sp>
      <p:sp>
        <p:nvSpPr>
          <p:cNvPr id="14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§3.4     </a:t>
            </a:r>
            <a:fld id="{B73A588B-1C77-4C82-9017-6B49A518B7E6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7778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Transitivity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3.6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§3.4  ·  Handout p. 22     </a:t>
            </a:r>
            <a:fld id="{1B1A6BFA-0BCD-4DAE-9C22-43EAEFB18F82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9167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Sum rule</a:t>
            </a:r>
          </a:p>
        </p:txBody>
      </p:sp>
      <p:pic>
        <p:nvPicPr>
          <p:cNvPr id="3" name="!!kicker-icon" descr="puzzle-piece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LEMMA 3.7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§3.4  ·  Handout p. 22     </a:t>
            </a:r>
            <a:fld id="{CFE2B3CC-3F0F-4CEA-BE26-FFE4A1D1C0E3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O(max{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})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70556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analogy with ≤, and the one place it fails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§3.4  ·  Handout p. 22     </a:t>
            </a:r>
            <a:fld id="{721707A8-1D8F-43C4-8828-3DAF05DCD61A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32224"/>
          </a:xfrm>
          <a:prstGeom prst="roundRect">
            <a:avLst>
              <a:gd name="adj" fmla="val 216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3222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60704" y="2048255"/>
          <a:ext cx="10161725" cy="2798059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05464"/>
                <a:gridCol w="1279098"/>
                <a:gridCol w="7177163"/>
              </a:tblGrid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Asymptotic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Reads as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Properties it really has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= O(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≤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transitive; reflexive 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= O(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= Ω(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≥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transitive; reflexive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= 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=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transitive, reflexive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Segoe UI"/>
                        </a:rPr>
                        <a:t>and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symmetric — an equivalence relation, which the other four are not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=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o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&lt;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transitive;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Segoe UI"/>
                        </a:rPr>
                        <a:t>not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reflexive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= ω(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 &gt;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g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transitive; not reflexive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ody-1"/>
          <p:cNvSpPr txBox="1"/>
          <p:nvPr/>
        </p:nvSpPr>
        <p:spPr>
          <a:xfrm>
            <a:off x="1060704" y="4993005"/>
            <a:ext cx="10161727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18D"/>
                </a:solidFill>
                <a:latin typeface="Segoe UI"/>
              </a:rPr>
              <a:t>Transpose symmetry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also holds: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exactly when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exactly when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91945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analogy with ≤, and the one place it fails (continued)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§3.4  ·  Handout p. 22     </a:t>
            </a:r>
            <a:fld id="{6BA32889-6170-4722-81FC-82031BEC5DCA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16963"/>
          </a:xfrm>
          <a:prstGeom prst="roundRect">
            <a:avLst>
              <a:gd name="adj" fmla="val 207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16963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18D"/>
                </a:solidFill>
                <a:latin typeface="Segoe UI"/>
              </a:rPr>
              <a:t>But trichotomy fails.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For real numbers, exactly one of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&lt;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&gt;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holds. For functions there is a fourth possibility: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incomparable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Let</a:t>
            </a:r>
          </a:p>
        </p:txBody>
      </p:sp>
      <p:pic>
        <p:nvPicPr>
          <p:cNvPr id="10" name="body-1" descr="f(n) = n^{1 + \sin n}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860624"/>
            <a:ext cx="10161727" cy="359542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60704" y="3366851"/>
            <a:ext cx="10161727" cy="13770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As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runs over the integers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sin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oscillates densely in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[−1, 1]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so the exponent oscillates in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[0, 2]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Infinitely often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is near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0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which kills any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bound; infinitely often it is near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which kills any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bound. So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neither 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O(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 nor 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Ω(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— the two functions simply cannot be ordered.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4844902"/>
            <a:ext cx="10161727" cy="1044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Pathological, and worth one paragraph: it is the reason the next section’s limit test needs a disclaimer, and the reason you may not argue “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is not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therefore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”.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3334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Limit Test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5 OF 7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3.5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Three Bounds, Defined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Proving a Bound From the Definition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The Strict Bounds: o and ω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Properties, and the Analogy With Inequality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3.5   The Limit Test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What Θ Asserts, Measured</a:t>
            </a:r>
          </a:p>
        </p:txBody>
      </p:sp>
      <p:sp>
        <p:nvSpPr>
          <p:cNvPr id="12" name="!!dl6"/>
          <p:cNvSpPr txBox="1"/>
          <p:nvPr/>
        </p:nvSpPr>
        <p:spPr>
          <a:xfrm>
            <a:off x="4846320" y="580643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3.7   Four Abuses, and What Each Conceals</a:t>
            </a:r>
          </a:p>
        </p:txBody>
      </p:sp>
      <p:sp>
        <p:nvSpPr>
          <p:cNvPr id="13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</a:t>
            </a:r>
          </a:p>
        </p:txBody>
      </p:sp>
      <p:sp>
        <p:nvSpPr>
          <p:cNvPr id="14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§3.5     </a:t>
            </a:r>
            <a:fld id="{59D19A64-4910-4D8C-9027-D62F3B48286A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4723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Limit test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3.8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  ·  Handout p. 23     </a:t>
            </a:r>
            <a:fld id="{A593BE47-AD02-491A-9591-177927F00A95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539814"/>
          </a:xfrm>
          <a:prstGeom prst="roundRect">
            <a:avLst>
              <a:gd name="adj" fmla="val 5938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53981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Suppose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L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lim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 → ∞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)/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exists, with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L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∞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allowed. Then</a:t>
            </a:r>
          </a:p>
        </p:txBody>
      </p:sp>
      <p:pic>
        <p:nvPicPr>
          <p:cNvPr id="10" name="body-1" descr="L = 0 \implies f = o(g); \qquad 0 &lt; L &lt; \infty \implies f = \bigTh{g}; \qquad L = \infty \implies f = \omega(g)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573451"/>
            <a:ext cx="10161727" cy="392826"/>
          </a:xfrm>
          <a:prstGeom prst="rect">
            <a:avLst/>
          </a:prstGeom>
        </p:spPr>
      </p:pic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6112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test is one-directional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  ·  Handout p. 23     </a:t>
            </a:r>
            <a:fld id="{FEF45C38-307A-4E03-A1FB-391646755476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69691"/>
          </a:xfrm>
          <a:prstGeom prst="roundRect">
            <a:avLst>
              <a:gd name="adj" fmla="val 3079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69691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Theorem 3.8 assumes the limit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exists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If it does not, the test says nothing at all — it does not say the functions are incomparable.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For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1+ sin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ratio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sin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oscillates forever and the limit does not exist; here the functions do turn out to be incomparable. But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(2 + sin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also has no limiting ratio against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yet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plainly, with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3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When the limit fails, go back to the witnesses.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77501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Logarithms Lose to Every Power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  ·  Handout p. 23     </a:t>
            </a:r>
            <a:fld id="{0CB8476D-7F58-4225-899E-E614757D48DB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64867"/>
          </a:xfrm>
          <a:prstGeom prst="roundRect">
            <a:avLst>
              <a:gd name="adj" fmla="val 2003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6486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Claim: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ε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for every constant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— however small.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422702"/>
            <a:ext cx="10234879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Step 1.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Both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→ ∞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ε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→ ∞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so the ratio is of the form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∞/∞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and L’Hopital’s rule applies. Treat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as a real variable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and use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ln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x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/ ln 2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pic>
        <p:nvPicPr>
          <p:cNvPr id="11" name="body-2" descr="\lim_{x\to\infty} \frac{\lg x}{x^{\varepsilon}} = \lim_{x\to\infty} \frac{(1/(x \ln 2))}{\varepsilon x^{\varepsilon - 1}} = \lim_{x\to\infty} \frac{1}{\varepsilon \ln 2 \cdot x^{\varepsilon}} = 0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3119018"/>
            <a:ext cx="10234879" cy="534649"/>
          </a:xfrm>
          <a:prstGeom prst="rect">
            <a:avLst/>
          </a:prstGeom>
        </p:spPr>
      </p:pic>
      <p:sp>
        <p:nvSpPr>
          <p:cNvPr id="12" name="body-3"/>
          <p:cNvSpPr txBox="1"/>
          <p:nvPr/>
        </p:nvSpPr>
        <p:spPr>
          <a:xfrm>
            <a:off x="1042416" y="3779398"/>
            <a:ext cx="10234879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Step 2.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The limit is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so by Theorem 3.8,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ε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797686"/>
            <a:ext cx="54864" cy="26700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body-4"/>
          <p:cNvSpPr txBox="1"/>
          <p:nvPr/>
        </p:nvSpPr>
        <p:spPr>
          <a:xfrm>
            <a:off x="1042416" y="4190420"/>
            <a:ext cx="10234879" cy="11868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Step 3 — what it means.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Take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ε = 0.01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 The claim is that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is eventually negligible beside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0.01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a function so flat it looks constant on any plot you can draw. “Eventually” is doing heavy work: at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≈ 20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while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0.01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≈ 1.15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so the inequality has not begun to hold. It holds from about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530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5" name="body-4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08708"/>
            <a:ext cx="54864" cy="1122883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body-5"/>
          <p:cNvSpPr txBox="1"/>
          <p:nvPr/>
        </p:nvSpPr>
        <p:spPr>
          <a:xfrm>
            <a:off x="1042416" y="5457322"/>
            <a:ext cx="10234879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Step 4 — the lesson.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Asymptotic statements are about limits, and a limit carries no promise about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 This is the same lesson as Chapter 1’s crossover at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65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in a more extreme form.</a:t>
            </a:r>
          </a:p>
        </p:txBody>
      </p:sp>
      <p:sp>
        <p:nvSpPr>
          <p:cNvPr id="17" name="body-5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475610"/>
            <a:ext cx="54864" cy="55229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8890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hierarchy worth memorising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  ·  Handout p. 23     </a:t>
            </a:r>
            <a:fld id="{C2A1F464-DAC0-43F1-93CC-ACDE92FD2624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13894"/>
          </a:xfrm>
          <a:prstGeom prst="roundRect">
            <a:avLst>
              <a:gd name="adj" fmla="val 2025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1389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Each function below is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of the one after it, for any constants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≥ 1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&gt; 1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pic>
        <p:nvPicPr>
          <p:cNvPr id="10" name="body-1" descr="1 \;\prec\; \lg\lg n \;\prec\; \lg n \;\prec\; (\lg n)^{k} \;\prec\; n^{\varepsilon} \;\prec\; n \;\prec\; n \lg n \;\prec\; n^{2} \;\prec\; n^{k} \;\prec\; a^{n} \;\prec\; n!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413609"/>
            <a:ext cx="10161727" cy="273314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60704" y="2798683"/>
            <a:ext cx="10161727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At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05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taking one operation per nanosecond:</a:t>
            </a:r>
          </a:p>
        </p:txBody>
      </p:sp>
      <p:graphicFrame>
        <p:nvGraphicFramePr>
          <p:cNvPr id="12" name="body-3"/>
          <p:cNvGraphicFramePr>
            <a:graphicFrameLocks noGrp="1"/>
          </p:cNvGraphicFramePr>
          <p:nvPr/>
        </p:nvGraphicFramePr>
        <p:xfrm>
          <a:off x="1060704" y="3164037"/>
          <a:ext cx="4644493" cy="24109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86544"/>
                <a:gridCol w="1300264"/>
                <a:gridCol w="2457685"/>
              </a:tblGrid>
              <a:tr h="3444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g</a:t>
                      </a:r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(</a:t>
                      </a:r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)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Operations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Time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Cambria"/>
                        </a:rPr>
                        <a:t>lg </a:t>
                      </a:r>
                      <a:r>
                        <a:rPr sz="13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20 nanoseconds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Cambria"/>
                        </a:rPr>
                        <a:t>10</a:t>
                      </a:r>
                      <a:r>
                        <a:rPr sz="85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 millisecond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300" b="0" i="0">
                          <a:solidFill>
                            <a:srgbClr val="1C252B"/>
                          </a:solidFill>
                          <a:latin typeface="Cambria"/>
                        </a:rPr>
                        <a:t> lg </a:t>
                      </a:r>
                      <a:r>
                        <a:rPr sz="13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Cambria"/>
                        </a:rPr>
                        <a:t>2.0 × 10</a:t>
                      </a:r>
                      <a:r>
                        <a:rPr sz="85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20 milliseconds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85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Cambria"/>
                        </a:rPr>
                        <a:t>10</a:t>
                      </a:r>
                      <a:r>
                        <a:rPr sz="85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12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17 minutes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85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3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Cambria"/>
                        </a:rPr>
                        <a:t>10</a:t>
                      </a:r>
                      <a:r>
                        <a:rPr sz="85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18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32 years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Cambria"/>
                        </a:rPr>
                        <a:t>2</a:t>
                      </a:r>
                      <a:r>
                        <a:rPr sz="850" b="0" i="1" baseline="30000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no physical comparison exists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3" name="body-4"/>
          <p:cNvSpPr txBox="1"/>
          <p:nvPr/>
        </p:nvSpPr>
        <p:spPr>
          <a:xfrm>
            <a:off x="1060704" y="5686765"/>
            <a:ext cx="10161727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The gap from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0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— 20 milliseconds to 17 minutes — is the one most algorithm design is about.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20279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What Θ Asserts, Measured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6 OF 7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3.6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Three Bounds, Defined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Proving a Bound From the Definition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The Strict Bounds: o and ω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Properties, and the Analogy With Inequality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The Limit Test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3.6   What Θ Asserts, Measured</a:t>
            </a:r>
          </a:p>
        </p:txBody>
      </p:sp>
      <p:sp>
        <p:nvSpPr>
          <p:cNvPr id="12" name="!!dl6"/>
          <p:cNvSpPr txBox="1"/>
          <p:nvPr/>
        </p:nvSpPr>
        <p:spPr>
          <a:xfrm>
            <a:off x="4846320" y="580643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3.7   Four Abuses, and What Each Conceals</a:t>
            </a:r>
          </a:p>
        </p:txBody>
      </p:sp>
      <p:sp>
        <p:nvSpPr>
          <p:cNvPr id="13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</a:t>
            </a:r>
          </a:p>
        </p:txBody>
      </p:sp>
      <p:sp>
        <p:nvSpPr>
          <p:cNvPr id="14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§3.6     </a:t>
            </a:r>
            <a:fld id="{40318682-3A65-408D-B982-61C43F3166E0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1668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Ruling Out the Exponents Either Side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24     </a:t>
            </a:r>
            <a:fld id="{443A9419-8D2F-4D66-B100-4E6D325242EA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15790"/>
          </a:xfrm>
          <a:prstGeom prst="roundRect">
            <a:avLst>
              <a:gd name="adj" fmla="val 211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1579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4E79"/>
                </a:solidFill>
                <a:latin typeface="Consolas"/>
              </a:rPr>
              <a:t>code/ch03_fit.cpp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times insertion sort and divides by three candidate functions. Each column is normalised to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the first row, because the constant itself is machine-specific and the question is only whether the column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stays put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Median of nine runs.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3047822"/>
          <a:ext cx="4344490" cy="27310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71300"/>
                <a:gridCol w="971300"/>
                <a:gridCol w="800630"/>
                <a:gridCol w="800630"/>
                <a:gridCol w="800630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 (ms)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050" b="1" i="0" baseline="30000">
                          <a:solidFill>
                            <a:srgbClr val="1A5276"/>
                          </a:solidFill>
                          <a:latin typeface="Cambria"/>
                        </a:rPr>
                        <a:t>1.9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050" b="1" i="0" baseline="30000">
                          <a:solidFill>
                            <a:srgbClr val="1A5276"/>
                          </a:solidFill>
                          <a:latin typeface="Cambria"/>
                        </a:rPr>
                        <a:t>2.0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050" b="1" i="0" baseline="30000">
                          <a:solidFill>
                            <a:srgbClr val="1A5276"/>
                          </a:solidFill>
                          <a:latin typeface="Cambria"/>
                        </a:rPr>
                        <a:t>2.1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2.45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10.22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1.116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1.041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0.972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16,000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39.19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1.146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0.998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0.869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32,000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162.82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1.276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1.036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0.842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64,000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678.31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1.424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1.079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0.818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128,000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2595.28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1.460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1.032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0.730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63057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Ruling Out the Exponents Either Side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24     </a:t>
            </a:r>
            <a:fld id="{A4620648-B9F6-4C69-A258-378053A15B83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94404"/>
          </a:xfrm>
          <a:prstGeom prst="roundRect">
            <a:avLst>
              <a:gd name="adj" fmla="val 2289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9440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Read the three columns as three hypotheses.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282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2445537"/>
            <a:ext cx="10234879" cy="2021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7D6608"/>
                </a:solidFill>
                <a:latin typeface="Segoe UI"/>
              </a:rPr>
              <a:t>•	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1.9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rises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46%, without turning over. If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1.9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this column would be trapped between constants; it is climbing, so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1.9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too small.</a:t>
            </a:r>
          </a:p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7D6608"/>
                </a:solidFill>
                <a:latin typeface="Segoe UI"/>
              </a:rPr>
              <a:t>•	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2.0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stays inside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[0.998,  1.079]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a spread of 8% across a 32-fold range of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That is a ratio trapped between two constants, which is exactly the definition.</a:t>
            </a:r>
          </a:p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D6608"/>
                </a:solidFill>
                <a:latin typeface="Segoe UI"/>
              </a:rPr>
              <a:t>•	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2.1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falls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27%, monotonically. So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2.1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too large: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2.1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 upper bound that is not tight.</a:t>
            </a:r>
          </a:p>
        </p:txBody>
      </p:sp>
      <p:sp>
        <p:nvSpPr>
          <p:cNvPr id="12" name="body-2"/>
          <p:cNvSpPr txBox="1"/>
          <p:nvPr/>
        </p:nvSpPr>
        <p:spPr>
          <a:xfrm>
            <a:off x="1042416" y="4554016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experiment therefore does more than confirm the exponent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it excludes the two exponents either side, which is what distinguishes evidence for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from mere consistency with it.</a:t>
            </a:r>
          </a:p>
        </p:txBody>
      </p:sp>
      <p:sp>
        <p:nvSpPr>
          <p:cNvPr id="13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72304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4446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Same Test for n lg n, Which Is Harder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24     </a:t>
            </a:r>
            <a:fld id="{537CEC55-9135-4402-8EED-D396D1F8898C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04791"/>
          </a:xfrm>
          <a:prstGeom prst="roundRect">
            <a:avLst>
              <a:gd name="adj" fmla="val 2075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0479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sits only a whisker above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this test needs both a wider range of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more careful timing.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746679"/>
          <a:ext cx="4807907" cy="312115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127991"/>
                <a:gridCol w="971300"/>
                <a:gridCol w="747869"/>
                <a:gridCol w="1160117"/>
                <a:gridCol w="800630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 (ms)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/(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 lg 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T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050" b="1" i="0" baseline="30000">
                          <a:solidFill>
                            <a:srgbClr val="1A5276"/>
                          </a:solidFill>
                          <a:latin typeface="Cambria"/>
                        </a:rPr>
                        <a:t>1.2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11.49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23.89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1.040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0.980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0.905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52.63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1.145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1.022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0.868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107.19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1.166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0.988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0.769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1,600,000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237.89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1.294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1.043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0.743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3,200,000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489.47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1.331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1.023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0.666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6,400,000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1036.62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1.410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1.036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0.614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5834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Same Test for n lg n, Which Is Harder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24     </a:t>
            </a:r>
            <a:fld id="{FEDE9056-518D-420B-8E9E-E186DBA42DC7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77077"/>
          </a:xfrm>
          <a:prstGeom prst="roundRect">
            <a:avLst>
              <a:gd name="adj" fmla="val 270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7707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7D6608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/(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 stays within 4.3% of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over a 64-fold range of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rivals both fail: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climbs 41%,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1.2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falls 39%.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2746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Now the detail that makes this more than a curve fit.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really is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then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the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column should itself grow like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Over this range that predicts a rise of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764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body-2" descr="\frac{\lg(6{,}400{,}000)}{\lg(100{,}000)} = \frac{22.61}{16.61} = 1.361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3481679"/>
            <a:ext cx="10234879" cy="623437"/>
          </a:xfrm>
          <a:prstGeom prst="rect">
            <a:avLst/>
          </a:prstGeom>
        </p:spPr>
      </p:pic>
      <p:sp>
        <p:nvSpPr>
          <p:cNvPr id="14" name="body-3"/>
          <p:cNvSpPr txBox="1"/>
          <p:nvPr/>
        </p:nvSpPr>
        <p:spPr>
          <a:xfrm>
            <a:off x="1042416" y="4237832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Measured: 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1.410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within 4% of the prediction. The drift in the failing column is not noise — it is the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factor, measured.</a:t>
            </a:r>
          </a:p>
        </p:txBody>
      </p:sp>
      <p:sp>
        <p:nvSpPr>
          <p:cNvPr id="3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7223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Same Test for n lg n, Which Is Harder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24     </a:t>
            </a:r>
            <a:fld id="{BBAB0BAB-7736-4D43-B44D-EE313F86BFDE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656636"/>
          </a:xfrm>
          <a:prstGeom prst="roundRect">
            <a:avLst>
              <a:gd name="adj" fmla="val 344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65663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21537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what it took to get there.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first draft of this program allocated a fresh vector inside the timed region. At these sizes the allocation cost more than the sort it was supposed to be measuring, and the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column came out as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1.000, 1.134, 0.804, 1.342, 0.839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noise, from which nothing follows. The fix was to allocate once outside the loop, refill with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std::copy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measure the refill separately and subtract it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; the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copy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column in the program’s output is that measurement, and it is how you can tell the subtraction was small enough to trust. Appendix A collects the rest of these rules.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20897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48612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Four Abuses, and What Each Conceals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7 OF 7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3.7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Three Bounds, Defined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Proving a Bound From the Definition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The Strict Bounds: o and ω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Properties, and the Analogy With Inequality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The Limit Test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What Θ Asserts, Measured</a:t>
            </a:r>
          </a:p>
        </p:txBody>
      </p:sp>
      <p:sp>
        <p:nvSpPr>
          <p:cNvPr id="12" name="!!dl6"/>
          <p:cNvSpPr txBox="1"/>
          <p:nvPr/>
        </p:nvSpPr>
        <p:spPr>
          <a:xfrm>
            <a:off x="4846320" y="580643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3.7   Four Abuses, and What Each Conceals</a:t>
            </a:r>
          </a:p>
        </p:txBody>
      </p:sp>
      <p:sp>
        <p:nvSpPr>
          <p:cNvPr id="13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</a:t>
            </a:r>
          </a:p>
        </p:txBody>
      </p:sp>
      <p:sp>
        <p:nvSpPr>
          <p:cNvPr id="14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§3.7     </a:t>
            </a:r>
            <a:fld id="{9C4EA86E-34B0-425C-A49F-C071410CACF4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0001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1. Using O when you mean Θ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944CECEE-9D4C-47F0-8B1F-F94F3E2A0877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69691"/>
          </a:xfrm>
          <a:prstGeom prst="roundRect">
            <a:avLst>
              <a:gd name="adj" fmla="val 3079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69691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“Insertion sort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 is true. So is “insertion sort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100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”, and so is “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O(2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 — an upper bound stays true however loose it gets. If you know the bound is tight, say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claim the credit; if you do not,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honest and you should expect to be asked.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667074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reverse error is worse: reading somebody’s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O(·)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as if it were a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Θ(·)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concluding an algorithm is slower than it is.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1390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2. Ω as an excuse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856436E7-0524-4B7C-BE38-59C2B74900CF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44496"/>
          </a:xfrm>
          <a:prstGeom prst="roundRect">
            <a:avLst>
              <a:gd name="adj" fmla="val 3740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4449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“My algorithm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 is a boast about a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lower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bound, which for an algorithm is bad news, not good. Lower bounds are interesting about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problems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“every comparison sort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”, Chapter 10 — because they say no algorithm can do better. About your own code,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Ω(·)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means “at least this slow”.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3. Dropping the case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090A3C6C-8172-4D77-83FD-A931BF1AFDFF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Cambria"/>
              </a:rPr>
              <a:t>Θ(·)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says nothing about which input you had in mind. Quicksort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the worst case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expectation; both are true and they differ by a factor of thousands. 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Name the case every time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the notation has no slot for it, so the sentence must.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4168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4. Forgetting that the constants went somewhere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15552EE4-C017-48AC-93BB-80C7A9C70323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34232"/>
          </a:xfrm>
          <a:prstGeom prst="roundRect">
            <a:avLst>
              <a:gd name="adj" fmla="val 2742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3423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Asymptotic notation deliberately discards exactly the information that decides which program to run at your actual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From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ch03_fit.cpp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100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&lt;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first holds at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997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not at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Below a thousand elements the quadratic algorithm wins,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Θ(·)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cannot tell you that.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667074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notation is a tool for comparing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ideas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Choosing an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implementation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needs the constants back, which means measuring — the other half of every chapter in this book.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5557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70EC2C84-648D-411E-AFC6-2435A9AF7B96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Writing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O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(2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or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O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 +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Legal but illiterate: the point of the notation is that constants and lower terms are already gone. Write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9570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51856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477414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Hunting for the smallest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definition asks for existence. Any witness pair is a complete proof.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6263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08549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04434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Concluding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 = Ω(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g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from “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 ≠ O(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g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”.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Trichotomy fails;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1+ sin 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the counterexample.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2955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65241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61127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Using the limit test without checking the limit exists.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When it does not, the test is silent, not negative.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9648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21934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178198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Comparing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O(·)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bounds to rank two algorithms.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Both being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tells you nothing about which is faster, nor even that either is quadratic.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3654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49594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4918252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Saying “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lg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is basically constant”.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ε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for every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ε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and it is also 20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30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9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Negligible in the limit is not the same as negligible.</a:t>
            </a:r>
          </a:p>
        </p:txBody>
      </p:sp>
      <p:sp>
        <p:nvSpPr>
          <p:cNvPr id="25" name="!!p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76595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x6"/>
          <p:cNvSpPr txBox="1"/>
          <p:nvPr/>
        </p:nvSpPr>
        <p:spPr>
          <a:xfrm>
            <a:off x="658368" y="569945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7" name="!!pt6"/>
          <p:cNvSpPr txBox="1"/>
          <p:nvPr/>
        </p:nvSpPr>
        <p:spPr>
          <a:xfrm>
            <a:off x="1261872" y="5658307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Timing inside an allocation.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Not a notation error, but the reason the second worked example nearly reported nonsense.</a:t>
            </a:r>
          </a:p>
        </p:txBody>
      </p:sp>
      <p:sp>
        <p:nvSpPr>
          <p:cNvPr id="8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76946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Fitting a Curve, and Excluding the Rivals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E7F27376-AE97-4332-A63E-19416D152F91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679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both tables in Section 3.6 and the crossover figure. Expect thirty minutes; part A takes about a minute of CPU at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128,000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682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3066288"/>
            <a:ext cx="10874959" cy="1104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1.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Insertion sort against three candidate exponents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2.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Merge sort against n*lg(n) and its two rivals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3.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Where an asymptotically worse function is still smaller</a:t>
            </a:r>
          </a:p>
        </p:txBody>
      </p:sp>
      <p:sp>
        <p:nvSpPr>
          <p:cNvPr id="19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22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2: Fit a curve; exclude the exponents either side</a:t>
            </a:r>
          </a:p>
        </p:txBody>
      </p:sp>
      <p:sp>
        <p:nvSpPr>
          <p:cNvPr id="23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26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64 lines of C++</a:t>
            </a:r>
          </a:p>
        </p:txBody>
      </p:sp>
      <p:sp>
        <p:nvSpPr>
          <p:cNvPr id="27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30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code/ch03_fit.cpp</a:t>
            </a:r>
          </a:p>
        </p:txBody>
      </p:sp>
      <p:sp>
        <p:nvSpPr>
          <p:cNvPr id="3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98335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Fitting a Curve, and Excluding the Rivals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1B8BE3B1-312B-466A-B149-711A0C565E13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Insertion sort against three candidate exponents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788663"/>
          </a:xfrm>
          <a:prstGeom prst="roundRect">
            <a:avLst>
              <a:gd name="adj" fmla="val 2413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code/ch03_fit.cpp</a:t>
            </a:r>
          </a:p>
        </p:txBody>
      </p:sp>
      <p:sp>
        <p:nvSpPr>
          <p:cNvPr id="14" name="!!code-text" descr="// ch03_fit.cpp -- what Theta(g) actually asserts, tested. // Build: cl /O2 /EHsc /std:c++17 ch03_fit.cpp (see Appendix A) // --- 1. Insertion sort against three candidate exponents ----------- // Only one of the three columns can stay constant, and which one // does is the empirical content of &quot;Theta(n^2)&quot;. // // Normalising to the FIRST row makes that row's noise everybody's // noise, so the first row must not be a sub-millisecond timing: // start at n = 4000 and take the median of nine runs. double b19 = 0, b20 = 0, b21 = 0;"/>
          <p:cNvSpPr txBox="1"/>
          <p:nvPr/>
        </p:nvSpPr>
        <p:spPr>
          <a:xfrm>
            <a:off x="1362456" y="2523744"/>
            <a:ext cx="9987991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ch03_fit.cpp -- what Theta(g) actually asserts, tested.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Build: cl /O2 /EHsc /std:c++17 ch03_fit.cpp      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--- 1. Insertion sort against three candidate exponents 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Only one of the three columns can stay constant, and which 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does is the empirical content of "Theta(n^2)".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Normalising to the FIRST row makes that row's noise everybody's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noise, so the first row must not be a sub-millisecond timing: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start at n = 4000 and take the median of nine runs.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b19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0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b20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0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b21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0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9724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Fitting a Curve, and Excluding the Rivals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2C2A75C0-81F8-4C29-B13A-569FA5BF948A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Insertion sort against three candidate exponents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32504"/>
          </a:xfrm>
          <a:prstGeom prst="roundRect">
            <a:avLst>
              <a:gd name="adj" fmla="val 226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code/ch03_fit.cpp</a:t>
            </a:r>
          </a:p>
        </p:txBody>
      </p:sp>
      <p:sp>
        <p:nvSpPr>
          <p:cNvPr id="14" name="!!code-text" descr="for (size_t n = 4000; n &lt;= 128000; n *= 2) { auto base = random_input(n, 2024); std::vector&lt;int&gt; work(n); double t = time_ms([&amp;]{ std::copy(base.begin(), base.end(), work.begin()); insertion_sort(work); }, 9); double x = (double)n; double r19 = t / std::pow(x, 1.9); double r20 = t / std::pow(x, 2.0); double r21 = t / std::pow(x, 2.1); if (b19 == 0) { b19 = r19; b20 = r20; b21 = r21; } printf(&quot;%8zu %10.2f %10.3f %10.3f %10.3f\n&quot;, n, t, r19/b19, r20/b20, r21/b21); }"/>
          <p:cNvSpPr txBox="1"/>
          <p:nvPr/>
        </p:nvSpPr>
        <p:spPr>
          <a:xfrm>
            <a:off x="1362456" y="2523744"/>
            <a:ext cx="9987991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5DADE2"/>
                </a:solidFill>
                <a:latin typeface="Consolas"/>
              </a:rPr>
              <a:t>for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4000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&lt;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128000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*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2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auto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base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random_input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2024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std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500" i="0">
                <a:solidFill>
                  <a:srgbClr val="AEB6BF"/>
                </a:solidFill>
                <a:latin typeface="Consolas"/>
              </a:rPr>
              <a:t>&lt;</a:t>
            </a:r>
            <a:r>
              <a:rPr sz="1500" i="0">
                <a:solidFill>
                  <a:srgbClr val="5DADE2"/>
                </a:solidFill>
                <a:latin typeface="Consolas"/>
              </a:rPr>
              <a:t>int</a:t>
            </a:r>
            <a:r>
              <a:rPr sz="1500" i="0">
                <a:solidFill>
                  <a:srgbClr val="AEB6BF"/>
                </a:solidFill>
                <a:latin typeface="Consolas"/>
              </a:rPr>
              <a:t>&gt;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work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time_ms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std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E8EDF2"/>
                </a:solidFill>
                <a:latin typeface="Consolas"/>
              </a:rPr>
              <a:t>copy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base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base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end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work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insertion_sort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work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AEB6BF"/>
                </a:solidFill>
                <a:latin typeface="Consolas"/>
              </a:rPr>
              <a:t>}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9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r19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std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E8EDF2"/>
                </a:solidFill>
                <a:latin typeface="Consolas"/>
              </a:rPr>
              <a:t>pow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1.9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r20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std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E8EDF2"/>
                </a:solidFill>
                <a:latin typeface="Consolas"/>
              </a:rPr>
              <a:t>pow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2.0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r21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std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E8EDF2"/>
                </a:solidFill>
                <a:latin typeface="Consolas"/>
              </a:rPr>
              <a:t>pow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2.1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if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b19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{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b19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r19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b20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r20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b21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r21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printf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7DCEA0"/>
                </a:solidFill>
                <a:latin typeface="Consolas"/>
              </a:rPr>
              <a:t>%8zu %10.2f %10.3f %10.3f %10.3f</a:t>
            </a:r>
            <a:r>
              <a:rPr sz="1500" i="0">
                <a:solidFill>
                  <a:srgbClr val="7DCEA0"/>
                </a:solidFill>
                <a:latin typeface="Consolas"/>
              </a:rPr>
              <a:t>\n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r19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b19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r20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b20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r21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b21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26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41113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Fitting a Curve, and Excluding the Rivals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FF960E01-9C7F-452E-B388-52A53593A249}" type="slidenum">
              <a:rPr lang="en-GB" sz="1000">
                <a:solidFill>
                  <a:srgbClr val="8795A1"/>
                </a:solidFill>
                <a:latin typeface="Segoe UI"/>
              </a:rPr>
              <a:t>45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Merge sort against n*lg(n) and its two rivals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788663"/>
          </a:xfrm>
          <a:prstGeom prst="roundRect">
            <a:avLst>
              <a:gd name="adj" fmla="val 2413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code/ch03_fit.cpp</a:t>
            </a:r>
          </a:p>
        </p:txBody>
      </p:sp>
      <p:sp>
        <p:nvSpPr>
          <p:cNvPr id="14" name="!!code-text" descr="// --- 2. Merge sort against n*lg(n) and its two rivals -------------- // n*lg(n) is only a whisker above n, so this is a far harder test // than part 1, and it needs better hygiene to pass. // // The first draft allocated a fresh vector inside the timed region. // At these sizes that allocation costs more than it measures -- the // T/(n lg n) column came out as 1.000, 1.134, 0.804, 1.342, 0.839, // which says nothing at all. // // The fix: allocate ONCE outside the timing and refill with // std::copy, then measure the refill alone and subtract it."/>
          <p:cNvSpPr txBox="1"/>
          <p:nvPr/>
        </p:nvSpPr>
        <p:spPr>
          <a:xfrm>
            <a:off x="1362456" y="2523744"/>
            <a:ext cx="9987991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--- 2. Merge sort against n*lg(n) and its two rivals 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n*lg(n) is only a whisker above n, so this is a far harder test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than part 1, and it needs better hygiene to pass.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first draft allocated a fresh vector inside the timed region.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At these sizes that allocation costs more than it measures --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T/(n lg n) column came out as 1.000, 1.134, 0.804, 1.342, 0.839,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which says nothing at all.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fix: allocate ONCE outside the timing and refill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std::copy, then measure the refill alone and subtract it.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62502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Fitting a Curve, and Excluding the Rivals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8FDE8519-DA45-4E58-BDC6-B00B72B2E72B}" type="slidenum">
              <a:rPr lang="en-GB" sz="1000">
                <a:solidFill>
                  <a:srgbClr val="8795A1"/>
                </a:solidFill>
                <a:latin typeface="Segoe UI"/>
              </a:rPr>
              <a:t>46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Merge sort against n*lg(n) and its two rivals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17264"/>
          </a:xfrm>
          <a:prstGeom prst="roundRect">
            <a:avLst>
              <a:gd name="adj" fmla="val 227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code/ch03_fit.cpp</a:t>
            </a:r>
          </a:p>
        </p:txBody>
      </p:sp>
      <p:sp>
        <p:nvSpPr>
          <p:cNvPr id="14" name="!!code-text" descr="for (size_t n = 100000; n &lt;= 6400000; n *= 2) { auto base = random_input(n, 2024); std::vector&lt;int&gt; work(n), buf(n); double tc = time_ms([&amp;]{ std::copy(base.begin(), base.end(), work.begin()); }, 11); double tt = time_ms([&amp;]{ std::copy(base.begin(), base.end(), work.begin()); merge_sort(work, buf, 0, n); }, 11); double t = tt - tc; // the sort, with the refill removed /* print tc so the reader can check the subtraction was small, then t/n, t/(n lg n) and t/n^1.2 normalised to the first row */ }"/>
          <p:cNvSpPr txBox="1"/>
          <p:nvPr/>
        </p:nvSpPr>
        <p:spPr>
          <a:xfrm>
            <a:off x="1362456" y="2523744"/>
            <a:ext cx="9987991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5DADE2"/>
                </a:solidFill>
                <a:latin typeface="Consolas"/>
              </a:rPr>
              <a:t>for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100000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6400000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*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2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auto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base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random_input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2024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AEB6BF"/>
                </a:solidFill>
                <a:latin typeface="Consolas"/>
              </a:rPr>
              <a:t>&gt;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work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buf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tc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time_ms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copy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base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base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end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work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AEB6BF"/>
                </a:solidFill>
                <a:latin typeface="Consolas"/>
              </a:rPr>
              <a:t>}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11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tt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time_ms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copy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base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base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end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work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merge_sort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work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buf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0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AEB6BF"/>
                </a:solidFill>
                <a:latin typeface="Consolas"/>
              </a:rPr>
              <a:t>}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11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tt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-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tc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         </a:t>
            </a:r>
            <a:r>
              <a:rPr sz="1600" i="1">
                <a:solidFill>
                  <a:srgbClr val="8795A1"/>
                </a:solidFill>
                <a:latin typeface="Consolas"/>
              </a:rPr>
              <a:t>// the sort, with the refill removed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1">
                <a:solidFill>
                  <a:srgbClr val="8795A1"/>
                </a:solidFill>
                <a:latin typeface="Consolas"/>
              </a:rPr>
              <a:t>/* print tc so the reader can check the subtraction was small,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       then t/n, t/(n lg n) and t/n^1.2 normalised to the first row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47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48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49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50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51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52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83891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Fitting a Curve, and Excluding the Rivals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E677D5C0-0DDA-4DD7-BC19-E765665600A6}" type="slidenum">
              <a:rPr lang="en-GB" sz="1000">
                <a:solidFill>
                  <a:srgbClr val="8795A1"/>
                </a:solidFill>
                <a:latin typeface="Segoe UI"/>
              </a:rPr>
              <a:t>47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Where an asymptotically worse function is still smaller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788663"/>
          </a:xfrm>
          <a:prstGeom prst="roundRect">
            <a:avLst>
              <a:gd name="adj" fmla="val 2413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code/ch03_fit.cpp</a:t>
            </a:r>
          </a:p>
        </p:txBody>
      </p:sp>
      <p:sp>
        <p:nvSpPr>
          <p:cNvPr id="14" name="!!code-text" descr="// --- 3. Where an asymptotically worse function is still smaller ---- // Theta is a statement about a limit, and the limit can be a long way // off. Report the crossover rather than pretending there is none: // 100 n lg n &lt; n^2 requires 100 lg n &lt; n. for (size_t n = 2; n &lt; 100000; ++n) { double x = (double)n; if (100.0 * x * std::log2(x) &lt; x * x) { printf(&quot;\n crossover: n lg n first wins at n = %zu\n&quot;, n); break; } }"/>
          <p:cNvSpPr txBox="1"/>
          <p:nvPr/>
        </p:nvSpPr>
        <p:spPr>
          <a:xfrm>
            <a:off x="1362456" y="2523744"/>
            <a:ext cx="9987991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--- 3. Where an asymptotically worse function is still smaller 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Theta is a statement about a limit, and the limit can be a long way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off. Report the crossover rather than pretending there is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100 n lg n &lt; n^2 requires 100 lg n &lt; 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5DADE2"/>
                </a:solidFill>
                <a:latin typeface="Consolas"/>
              </a:rPr>
              <a:t>for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2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100000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x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if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F7DC6F"/>
                </a:solidFill>
                <a:latin typeface="Consolas"/>
              </a:rPr>
              <a:t>100.0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x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std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E8EDF2"/>
                </a:solidFill>
                <a:latin typeface="Consolas"/>
              </a:rPr>
              <a:t>log2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x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x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x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printf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\n</a:t>
            </a:r>
            <a:r>
              <a:rPr sz="1900" i="0">
                <a:solidFill>
                  <a:srgbClr val="7DCEA0"/>
                </a:solidFill>
                <a:latin typeface="Consolas"/>
              </a:rPr>
              <a:t>   crossover: n lg n first wins at n = %zu</a:t>
            </a:r>
            <a:r>
              <a:rPr sz="1900" i="0">
                <a:solidFill>
                  <a:srgbClr val="7DCEA0"/>
                </a:solidFill>
                <a:latin typeface="Consolas"/>
              </a:rPr>
              <a:t>\n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break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05280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§3.7  ·  Handout p. 26     </a:t>
            </a:r>
            <a:fld id="{106E3357-20D4-4443-9B9E-E5A1012E8B4D}" type="slidenum">
              <a:rPr lang="en-GB" sz="1000">
                <a:solidFill>
                  <a:srgbClr val="8795A1"/>
                </a:solidFill>
                <a:latin typeface="Segoe UI"/>
              </a:rPr>
              <a:t>48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98773"/>
          </a:xfrm>
          <a:prstGeom prst="roundRect">
            <a:avLst>
              <a:gd name="adj" fmla="val 2472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987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copy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column in part 2 is there to be audited, not admired: if it ever approaches the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total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column, the subtraction is doing too much work and the experiment should be redesigned rather than reported.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Add a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2.05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column to part 1. It will drift down, but only slightly — and that is the honest limit of this method. Timing can separate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1.9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from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2.1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over a 32-fold range; it cannot separate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from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2.02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no amount of care will make it. Say what an experiment can resolve before you claim a result from it.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26669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Prove that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5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3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+ 200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+ 17 = O(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3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by exhibiting witnesses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c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and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0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and verify your inequality at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=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0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29  ·  answers in Appendix D     </a:t>
            </a:r>
            <a:fld id="{C49B0C02-24A8-4353-B606-F7793595C468}" type="slidenum">
              <a:rPr lang="en-GB" sz="1000">
                <a:solidFill>
                  <a:srgbClr val="D5DEE5"/>
                </a:solidFill>
                <a:latin typeface="Segoe UI"/>
              </a:rPr>
              <a:t>49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Is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=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o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 lg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? Justify your answer from the definition, not from the limit test.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29  ·  answers in Appendix D     </a:t>
            </a:r>
            <a:fld id="{FF001A81-1E83-48C3-ADD1-EE1F5CF02A10}" type="slidenum">
              <a:rPr lang="en-GB" sz="1000">
                <a:solidFill>
                  <a:srgbClr val="D5DEE5"/>
                </a:solidFill>
                <a:latin typeface="Segoe UI"/>
              </a:rPr>
              <a:t>50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student writes: “my algorithm is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O(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3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and my colleague’s is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O(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so mine is slower.” Give the two distinct reasons this conclusion does not follow.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29  ·  answers in Appendix D     </a:t>
            </a:r>
            <a:fld id="{8F5E7DCC-9590-447B-999C-2FFE622AB7E1}" type="slidenum">
              <a:rPr lang="en-GB" sz="1000">
                <a:solidFill>
                  <a:srgbClr val="D5DEE5"/>
                </a:solidFill>
                <a:latin typeface="Segoe UI"/>
              </a:rPr>
              <a:t>51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29     </a:t>
            </a:r>
            <a:fld id="{695E7816-5C4F-4D5E-8321-361F28D575F7}" type="slidenum">
              <a:rPr lang="en-GB" sz="1000">
                <a:solidFill>
                  <a:srgbClr val="8795A1"/>
                </a:solidFill>
                <a:latin typeface="Segoe UI"/>
              </a:rPr>
              <a:t>52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Ω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are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sets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of functions, defined by the existence of witnesses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“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” means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∈ 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may not be read backwards.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To prove a bound, exhibit witnesses — any witnesses. To disprove one, derive a contradiction, as for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≠ 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iff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which is what lets upper and lower bounds be proved by unrelated arguments and combined.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180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96666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02659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ω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differ from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Ω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only in having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∀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where those have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∃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which forces the ratio to vanish or diverge.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63356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68843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624425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All five are transitive; only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an equivalence relation; and trichotomy fails —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1+ sin 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comparable to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in no direction at all.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55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4102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3461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limit test decides the question whenever the limit exists, and is silent, not negative, when it does not.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2224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29     </a:t>
            </a:r>
            <a:fld id="{93DF927C-4D28-4DBD-901F-30CBF241B1BC}" type="slidenum">
              <a:rPr lang="en-GB" sz="1000">
                <a:solidFill>
                  <a:srgbClr val="8795A1"/>
                </a:solidFill>
                <a:latin typeface="Segoe UI"/>
              </a:rPr>
              <a:t>53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80832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2.0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for insertion sort held within 8% across a 32-fold range of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while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1.9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rose 46% and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2.1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fell 27%. For merge sort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held within 4.3% across a 64-fold range, and the drift in the failing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column matched the predicted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growth to within 4%.</a:t>
            </a:r>
          </a:p>
        </p:txBody>
      </p:sp>
      <p:sp>
        <p:nvSpPr>
          <p:cNvPr id="10" name="!!sb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73771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7"/>
          <p:cNvSpPr txBox="1"/>
          <p:nvPr/>
        </p:nvSpPr>
        <p:spPr>
          <a:xfrm>
            <a:off x="658368" y="279257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12" name="!!st7"/>
          <p:cNvSpPr txBox="1"/>
          <p:nvPr/>
        </p:nvSpPr>
        <p:spPr>
          <a:xfrm>
            <a:off x="1298448" y="2728569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notation discards precisely what decides which program to run: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100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does not beat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until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997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3613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29     </a:t>
            </a:r>
            <a:fld id="{DE4B995B-941A-45A4-9910-CB728B88F339}" type="slidenum">
              <a:rPr lang="en-GB" sz="1000">
                <a:solidFill>
                  <a:srgbClr val="8795A1"/>
                </a:solidFill>
                <a:latin typeface="Segoe UI"/>
              </a:rPr>
              <a:t>54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 holds if and only if: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both of these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55002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29     </a:t>
            </a:r>
            <a:fld id="{C394A4DC-2643-4BF4-AF24-8FB94652929E}" type="slidenum">
              <a:rPr lang="en-GB" sz="1000">
                <a:solidFill>
                  <a:srgbClr val="8795A1"/>
                </a:solidFill>
                <a:latin typeface="Segoe UI"/>
              </a:rPr>
              <a:t>55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Which is </a:t>
            </a:r>
            <a:r>
              <a:rPr sz="2600" b="0" i="1">
                <a:solidFill>
                  <a:srgbClr val="1C252B"/>
                </a:solidFill>
                <a:latin typeface="Segoe UI"/>
              </a:rPr>
              <a:t>false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?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3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+1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O(2</a:t>
            </a:r>
            <a:r>
              <a:rPr sz="13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76391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29     </a:t>
            </a:r>
            <a:fld id="{E60AD0CE-8C14-4520-A282-0AE45CFE24FF}" type="slidenum">
              <a:rPr lang="en-GB" sz="1000">
                <a:solidFill>
                  <a:srgbClr val="8795A1"/>
                </a:solidFill>
                <a:latin typeface="Segoe UI"/>
              </a:rPr>
              <a:t>56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State the formal definition of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explain the role of each quantifier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(CLO-5)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the difference between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in terms of the quantifier on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give a function that is in the first but not the second.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Why is a lower bound a desirable result about a problem but an undesirable one about your own algorithm?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72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9608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90144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Prove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Θ(·)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transitive, using Theorems 3.5 and 3.6 rather than arguing from the definition directly.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414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478261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4723180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You time an unknown algorithm and find that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falls steadily while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)/(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rises steadily across your whole range of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What can you conclude, what can you not, and what would you measure next?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7780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C6081"/>
                </a:solidFill>
                <a:latin typeface="Segoe UI Black"/>
              </a:rPr>
              <a:t>03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3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4 — Correctness: Loop Invariants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3, pages 19–29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Fit a curve; exclude the exponents either side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3  ·  Asymptotic Notation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054EF7BA-7575-4E09-9C63-79F23C04D72B}" type="slidenum">
              <a:rPr lang="en-GB" sz="1000">
                <a:solidFill>
                  <a:srgbClr val="D5DEE5"/>
                </a:solidFill>
                <a:latin typeface="Segoe UI"/>
              </a:rPr>
              <a:t>57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Asymptotic Notation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