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6.svg" ContentType="image/svg+xml"/>
  <Override PartName="/ppt/media/image47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4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2.svg" ContentType="image/svg+xml"/>
  <Override PartName="/ppt/media/image73.svg" ContentType="image/svg+xml"/>
  <Override PartName="/ppt/media/image74.svg" ContentType="image/svg+xml"/>
  <Override PartName="/ppt/media/image75.svg" ContentType="image/svg+xml"/>
  <Override PartName="/ppt/media/image76.svg" ContentType="image/svg+xml"/>
  <Override PartName="/ppt/media/image77.svg" ContentType="image/svg+xml"/>
  <Override PartName="/ppt/media/image79.svg" ContentType="image/svg+xml"/>
  <Override PartName="/ppt/media/image8.svg" ContentType="image/svg+xml"/>
  <Override PartName="/ppt/media/image81.svg" ContentType="image/svg+xml"/>
  <Override PartName="/ppt/media/image82.svg" ContentType="image/svg+xml"/>
  <Override PartName="/ppt/media/image83.svg" ContentType="image/svg+xml"/>
  <Override PartName="/ppt/media/image84.svg" ContentType="image/svg+xml"/>
  <Override PartName="/ppt/media/image85.svg" ContentType="image/svg+xml"/>
  <Override PartName="/ppt/media/image87.svg" ContentType="image/svg+xml"/>
  <Override PartName="/ppt/media/image88.svg" ContentType="image/svg+xml"/>
  <Override PartName="/ppt/media/image90.svg" ContentType="image/svg+xml"/>
  <Override PartName="/ppt/media/image91.svg" ContentType="image/svg+xml"/>
  <Override PartName="/ppt/media/image9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304CAB2-3CB1-4DD8-8068-572109725056}">
          <p14:sldIdLst>
            <p14:sldId id="256"/>
            <p14:sldId id="257"/>
            <p14:sldId id="258"/>
            <p14:sldId id="259"/>
            <p14:sldId id="260"/>
          </p14:sldIdLst>
        </p14:section>
        <p14:section name="3.1 Three Bounds, Defined" id="{F5184DE6-BF45-4081-B852-8651D60E0385}">
          <p14:sldIdLst>
            <p14:sldId id="261"/>
            <p14:sldId id="262"/>
            <p14:sldId id="263"/>
          </p14:sldIdLst>
        </p14:section>
        <p14:section name="3.2 Proving a Bound From the Definition" id="{5356196E-E928-40B0-97A7-6BA0F2C99525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3.3 The Strict Bounds: o and ω" id="{9E0B0494-9641-4C02-904E-99801F8C590A}">
          <p14:sldIdLst>
            <p14:sldId id="272"/>
            <p14:sldId id="273"/>
            <p14:sldId id="274"/>
          </p14:sldIdLst>
        </p14:section>
        <p14:section name="3.4 Properties, and the Analogy With Inequality" id="{45677E83-3F5A-4536-9EE7-39B1C0DFDDF5}">
          <p14:sldIdLst>
            <p14:sldId id="275"/>
            <p14:sldId id="276"/>
            <p14:sldId id="277"/>
            <p14:sldId id="278"/>
            <p14:sldId id="279"/>
          </p14:sldIdLst>
        </p14:section>
        <p14:section name="3.5 The Limit Test" id="{AE9EA0F8-CECF-4FD8-9E3F-BD2210A54215}">
          <p14:sldIdLst>
            <p14:sldId id="280"/>
            <p14:sldId id="281"/>
            <p14:sldId id="282"/>
            <p14:sldId id="283"/>
            <p14:sldId id="284"/>
          </p14:sldIdLst>
        </p14:section>
        <p14:section name="3.6 What Θ Asserts, Measured" id="{6591FBC5-B0DA-4EF4-B8F1-B00EC1F5016C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3.7 Four Abuses, and What Each Conceals" id="{034AF3A3-F47B-42B1-BDB4-1770EA1349F4}">
          <p14:sldIdLst>
            <p14:sldId id="291"/>
            <p14:sldId id="292"/>
            <p14:sldId id="293"/>
            <p14:sldId id="294"/>
            <p14:sldId id="295"/>
          </p14:sldIdLst>
        </p14:section>
        <p14:section name="Pitfalls" id="{5A5AAB87-C12B-4838-9195-DAB726C775DE}">
          <p14:sldIdLst>
            <p14:sldId id="296"/>
          </p14:sldIdLst>
        </p14:section>
        <p14:section name="Lab" id="{F1BED92D-0C28-48D0-BB91-D4AA672CDBCE}">
          <p14:sldIdLst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Checkpoint" id="{63C82A45-951F-4721-93F4-9501274CE063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Wrap-up" id="{4485CD52-762D-4CBF-B1BC-E5A5258AA8B4}">
          <p14:sldIdLst>
            <p14:sldId id="310"/>
            <p14:sldId id="311"/>
            <p14:sldId id="312"/>
            <p14:sldId id="313"/>
            <p14:sldId id="314"/>
            <p14:sldId id="31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3: Asymptotic Notation. Part 1 — Analysing an Algorithm. Week 2: Asymptotic notation, formally. Handout pages 19–29.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the chapter. Before you start: Chapter 1 and Chapter 2. From Appendix B you need the logarithm identities and, for Section 3.5 only, L’Hopital’s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out: they are the chapter's contract with the room. Each click adds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now; they arrive one at a time. This slide is for the students' notes. Terms: asymptotic upper bound; asymptotic lower bound; tight bound; witness; O; Ω; Θ; o; ω; transitivity; transpose symmetry; sum rule; limit test; trichotomy.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route through the chapter. Each row is a link: click it to jump to that section in the slide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said we discard constants and keep the dominant term. That is a practice, not a definition, and the practice can be abused. This chapter gives it a definition precise enough to prove things with. Throughout, f and g map the positive integers to the non-negative reals — running times, so never negative.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definitions are existential, so a proof is a construction: name c, name n0, verify the inequality.</a:t>
            </a:r>
          </a:p>
          <a:p/>
          <a:p>
            <a:r>
              <a:t>Proof. We must produce c and n₀ with 3n² + 10n + 7 ≤ cn² for all n ≥ n₀. For n ≥ 1 we have n ≤ n² and 1 ≤ n², so 3n² + 10n + 7  ≤  3n² + 10n² + 7n²  =  20n². Taking c = 20 and n₀ = 1 satisfies the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Proof. Upper bound. Let A = Σᵢ₌₀d |aᵢ|. For n ≥ 1 every nⁱ ≤ nd, so p(n) ≤ A nd, giving c₂ = A. Lower bound. Write p(n) = adnd + r(n) where r(n) = Σᵢ&lt;d aᵢnⁱ. By the same argument |r(n)| ≤ B nd−¹ with B = Σᵢ&lt;d|aᵢ|. Hence p(n)  ≥  adnd − Bnd−¹     =  nd(ad − B/n)     ≥  ad/2 nd     whenever n ≥ 2B/ad. So c₁ = ad/2 and n₀ = max{1,  2B/ad} complete the pair of bounds, and p(n) = Θ(nd) by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Disproof is the other direction, and it is a proof by contradiction.</a:t>
            </a:r>
          </a:p>
          <a:p/>
          <a:p>
            <a:r>
              <a:t>Proof. Suppose it were. Then there exist c &gt; 0 and n₀ &gt; 0 such that n² ≤ cn for all n ≥ n₀. Since n &gt; 0 we may divide by n: n ≤ c   for all n ≥ n₀. But c is a fixed constant, so taking n = max{n₀,  ⌈ c ⌉ + 1} gives n ≥ n₀ and n &gt; c simultaneously — contradicting the line above. No such c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Proof. (⇒) Suppose f = Θ(g) with witnesses c₁, c₂, n₀. Then f(n) ≤ c₂g(n) for n ≥ n₀, which is the definition of O with c = c₂; and c₁g(n) ≤ f(n) for n ≥ n₀, which is the definition of Ω with c = c₁. (⇐) Suppose f = O(g) with witnesses cᵤ, nᵤ and f = Ω(g) with witnesses c, n. Put n₀ = max{nᵤ, n}. For every n ≥ n₀ both inequalities hold at once, so c g(n)  ≤  f(n)  ≤  cᵤ g(n), which is the definition of Θ with c₁ = c and c₂ = cᵤ.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allows f and g to grow at the same rate. The strict forms forbid it, and the change in the definition is the position of one quantifier.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Proof. Take witnesses c₁, n₁ for the first and c₂, n₂ for the second, and let n₀ = max{n₁, n₂}. For n ≥ n₀, f(n)  ≤  c₁ g(n)  ≤  c₁(c₂ h(n))     =  (c₁c₂) h(n), where the second inequality may be multiplied by c₁ &gt; 0 without reversing. So c = c₁c₂ and n₀ are witnesses for f = O(h). The same argument, with the inequalities reversed, gives transitivity for Ω, and Theorem 3.5 then gives it for 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Proof. With witnesses c₁, n₁ and c₂, n₂, put n₀ = max{n₁, n₂} and M(n) = max{g₁(n), g₂(n)}. For n ≥ n₀, f₁(n) + f₂(n) ≤ c₁g₁(n) + c₂g₂(n)    ≤ c₁M(n) + c₂M(n) = (c₁+c₂)M(n).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Lemma 3.7 is why “keep the dominant term” is legitimate: a program that does an O(n2) pass and then an O(n) pass is O(n2), and we do not have to think about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Constructing witnesses is reliable and slow. For most functions met in practice, a limit settles the question at once.</a:t>
            </a:r>
          </a:p>
          <a:p/>
          <a:p>
            <a:r>
              <a:t>Proof. We prove the middle case; the others are similar. Let 0 &lt; L &lt; ∞. By the definition of a limit, taking ε = L/2 there is an n₀ such that for all n ≥ n₀, | f(n)/g(n) − L | &lt; L/2     ⟹     L/2  &lt;  f(n)/g(n)  &lt;  3L/2. Multiplying through by g(n) &gt; 0 gives L/2g(n) &lt; f(n) &lt; 3L/2g(n), so c₁ = L/2 and c₂ = 3L/2 witness f = Θ(g).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 = Θ(g) says f(n)/g(n) is eventually trapped between two positive constants. That is a claim about a ratio, so it can be tested directly — and tested against rival exponents, which is the sharper experiment.</a:t>
            </a:r>
          </a:p>
          <a:p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adds one step of the working. Ask for the next number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Pause. Name the question this section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pitfall, ask who has seen it happen. One real story beats five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Reproduces both tables in Section 3.6 and the crossover figure. Expect thirty minutes; part A takes about a minute of CPU at n = 128,000.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1: Insertion sort against three candidate exponents.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2: Insertion sort against three candidate exponents (continued).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3: Merge sort against n*lg(n) and its two rivals.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4: Merge sort against n*lg(n) and its two rivals (continued).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5: Where an asymptotically worse function is still smaller. Read the code aloud; ask what each line would print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box aloud, then ask for an example from the room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For n ≥ 1 we have n2 ≤ n3 and 1 ≤ n3, so 5n3 + 200n2 + 17 ≤ (5+200+17)n3 = 222n3. Take c = 222, n0 = 1. At n = 1: LHS = 222, RHS = 222, so the inequality holds with equality. A sharper pair such as c = 6, n0 = 201 is equally valid — the definition asks only that some pair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Yes. Given any c &gt; 0 we need n2 &lt; c n2 lg n for all large n, i.e. 1 &lt; c lg n, i.e. n &gt; 21/c. So n0 = ⌈ 21/c⌉ + 1 works for every c, which is the definition of o. (Note 21/c is large when c is small, as it must be — but it is finite, and that is all that is required.)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someone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(Appendix D): (a) Both are upper bounds and need not be tight: the first algorithm might be Θ(n) and merely described as O(n3). (b) Even if both bounds are tight, the constants and the range of n decide which is faster in practice — 0.001n3 beats 1000n2 for every n below 106.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to say each takeaway before you reveal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show of hands for each option before discussing. (The handout does not print MCQ answers.)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these for independent study. Model answers are not printed in the handout.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NEXT: Chapter 4 — Correctness: Loop Invariants. READ: Handout Chapter 3, pages 19–29. THIS WEEK'S LAB: Fit a curve; exclude the exponents either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000" kern="1200" b="0">
          <a:solidFill>
            <a:srgbClr val="1A5276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notesSlide" Target="../notesSlides/notesSlide5.xml"/><Relationship Id="rId5" Type="http://schemas.openxmlformats.org/officeDocument/2006/relationships/slide" Target="slide6.xml"/><Relationship Id="rId6" Type="http://schemas.openxmlformats.org/officeDocument/2006/relationships/slide" Target="slide9.xml"/><Relationship Id="rId7" Type="http://schemas.openxmlformats.org/officeDocument/2006/relationships/slide" Target="slide17.xml"/><Relationship Id="rId8" Type="http://schemas.openxmlformats.org/officeDocument/2006/relationships/slide" Target="slide20.xml"/><Relationship Id="rId9" Type="http://schemas.openxmlformats.org/officeDocument/2006/relationships/slide" Target="slide25.xml"/><Relationship Id="rId10" Type="http://schemas.openxmlformats.org/officeDocument/2006/relationships/slide" Target="slide30.xml"/><Relationship Id="rId11" Type="http://schemas.openxmlformats.org/officeDocument/2006/relationships/slide" Target="slide3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Relationship Id="rId4" Type="http://schemas.openxmlformats.org/officeDocument/2006/relationships/image" Target="../media/image27.png"/><Relationship Id="rId5" Type="http://schemas.openxmlformats.org/officeDocument/2006/relationships/image" Target="../media/image28.sv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9.png"/><Relationship Id="rId3" Type="http://schemas.openxmlformats.org/officeDocument/2006/relationships/image" Target="../media/image30.sv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31.sv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32.sv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33.sv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34.svg"/><Relationship Id="rId4" Type="http://schemas.openxmlformats.org/officeDocument/2006/relationships/image" Target="../media/image35.png"/><Relationship Id="rId5" Type="http://schemas.openxmlformats.org/officeDocument/2006/relationships/image" Target="../media/image36.svg"/><Relationship Id="rId6" Type="http://schemas.openxmlformats.org/officeDocument/2006/relationships/image" Target="../media/image37.png"/><Relationship Id="rId7" Type="http://schemas.openxmlformats.org/officeDocument/2006/relationships/image" Target="../media/image38.svg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0.sv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41.sv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2.sv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43.sv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44.svg"/><Relationship Id="rId4" Type="http://schemas.openxmlformats.org/officeDocument/2006/relationships/image" Target="../media/image45.png"/><Relationship Id="rId5" Type="http://schemas.openxmlformats.org/officeDocument/2006/relationships/image" Target="../media/image46.svg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Relationship Id="rId3" Type="http://schemas.openxmlformats.org/officeDocument/2006/relationships/image" Target="../media/image47.svg"/><Relationship Id="rId4" Type="http://schemas.openxmlformats.org/officeDocument/2006/relationships/image" Target="../media/image48.png"/><Relationship Id="rId5" Type="http://schemas.openxmlformats.org/officeDocument/2006/relationships/image" Target="../media/image49.svg"/><Relationship Id="rId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50.sv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1.svg"/><Relationship Id="rId4" Type="http://schemas.openxmlformats.org/officeDocument/2006/relationships/image" Target="../media/image52.png"/><Relationship Id="rId5" Type="http://schemas.openxmlformats.org/officeDocument/2006/relationships/image" Target="../media/image53.svg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54.svg"/><Relationship Id="rId4" Type="http://schemas.openxmlformats.org/officeDocument/2006/relationships/image" Target="../media/image55.png"/><Relationship Id="rId5" Type="http://schemas.openxmlformats.org/officeDocument/2006/relationships/image" Target="../media/image56.sv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7.sv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8.sv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9.sv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60.svg"/><Relationship Id="rId4" Type="http://schemas.openxmlformats.org/officeDocument/2006/relationships/image" Target="../media/image61.png"/><Relationship Id="rId5" Type="http://schemas.openxmlformats.org/officeDocument/2006/relationships/image" Target="../media/image62.svg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63.sv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64.sv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65.sv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66.sv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Relationship Id="rId3" Type="http://schemas.openxmlformats.org/officeDocument/2006/relationships/image" Target="../media/image67.sv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8.png"/><Relationship Id="rId3" Type="http://schemas.openxmlformats.org/officeDocument/2006/relationships/image" Target="../media/image69.sv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1.sv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2.sv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3.sv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4.sv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5.sv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6.sv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Relationship Id="rId3" Type="http://schemas.openxmlformats.org/officeDocument/2006/relationships/image" Target="../media/image77.sv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8.png"/><Relationship Id="rId3" Type="http://schemas.openxmlformats.org/officeDocument/2006/relationships/image" Target="../media/image79.sv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Relationship Id="rId3" Type="http://schemas.openxmlformats.org/officeDocument/2006/relationships/image" Target="../media/image81.sv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8.png"/><Relationship Id="rId3" Type="http://schemas.openxmlformats.org/officeDocument/2006/relationships/image" Target="../media/image82.sv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Relationship Id="rId3" Type="http://schemas.openxmlformats.org/officeDocument/2006/relationships/image" Target="../media/image83.sv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8.png"/><Relationship Id="rId3" Type="http://schemas.openxmlformats.org/officeDocument/2006/relationships/image" Target="../media/image84.sv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Relationship Id="rId3" Type="http://schemas.openxmlformats.org/officeDocument/2006/relationships/image" Target="../media/image85.sv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87.sv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Relationship Id="rId3" Type="http://schemas.openxmlformats.org/officeDocument/2006/relationships/image" Target="../media/image88.sv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9.png"/><Relationship Id="rId3" Type="http://schemas.openxmlformats.org/officeDocument/2006/relationships/image" Target="../media/image90.sv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9.png"/><Relationship Id="rId3" Type="http://schemas.openxmlformats.org/officeDocument/2006/relationships/image" Target="../media/image91.sv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9.png"/><Relationship Id="rId3" Type="http://schemas.openxmlformats.org/officeDocument/2006/relationships/image" Target="../media/image92.sv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316384"/>
                </a:solidFill>
                <a:latin typeface="Segoe UI Black"/>
              </a:rPr>
              <a:t>03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2304288"/>
            <a:ext cx="8503920" cy="192024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600" b="0">
                <a:solidFill>
                  <a:srgbClr val="FFFFFF"/>
                </a:solidFill>
                <a:latin typeface="Segoe UI Semibold"/>
              </a:rPr>
              <a:t>Asymptotic Notation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29844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tpart"/>
          <p:cNvSpPr txBox="1"/>
          <p:nvPr/>
        </p:nvSpPr>
        <p:spPr>
          <a:xfrm>
            <a:off x="658368" y="1517904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PART I  ·  ANALYSING AN ALGORITHM</a:t>
            </a:r>
          </a:p>
        </p:txBody>
      </p:sp>
      <p:sp>
        <p:nvSpPr>
          <p:cNvPr id="6" name="!!tch"/>
          <p:cNvSpPr txBox="1"/>
          <p:nvPr/>
        </p:nvSpPr>
        <p:spPr>
          <a:xfrm>
            <a:off x="658368" y="186537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80">
                <a:solidFill>
                  <a:srgbClr val="BFCFD9"/>
                </a:solidFill>
                <a:latin typeface="Segoe UI"/>
              </a:rPr>
              <a:t>CHAPTER 3  ·  WEEK 2</a:t>
            </a:r>
          </a:p>
        </p:txBody>
      </p:sp>
      <p:sp>
        <p:nvSpPr>
          <p:cNvPr id="7" name="!!tsub"/>
          <p:cNvSpPr txBox="1"/>
          <p:nvPr/>
        </p:nvSpPr>
        <p:spPr>
          <a:xfrm>
            <a:off x="658368" y="4315968"/>
            <a:ext cx="85039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1DCE4"/>
                </a:solidFill>
                <a:latin typeface="Segoe UI"/>
              </a:rPr>
              <a:t>Design, Proof and Measurement</a:t>
            </a:r>
          </a:p>
        </p:txBody>
      </p:sp>
      <p:sp>
        <p:nvSpPr>
          <p:cNvPr id="8" name="!!ba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285232"/>
            <a:ext cx="12191695" cy="1572767"/>
          </a:xfrm>
          <a:prstGeom prst="rect">
            <a:avLst/>
          </a:prstGeom>
          <a:solidFill>
            <a:srgbClr val="133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lab"/>
          <p:cNvSpPr txBox="1"/>
          <p:nvPr/>
        </p:nvSpPr>
        <p:spPr>
          <a:xfrm>
            <a:off x="658368" y="55412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A5B5BE"/>
                </a:solidFill>
                <a:latin typeface="Segoe UI"/>
              </a:rPr>
              <a:t>LECTURER</a:t>
            </a:r>
          </a:p>
        </p:txBody>
      </p:sp>
      <p:sp>
        <p:nvSpPr>
          <p:cNvPr id="10" name="!!author"/>
          <p:cNvSpPr txBox="1"/>
          <p:nvPr/>
        </p:nvSpPr>
        <p:spPr>
          <a:xfrm>
            <a:off x="658368" y="577900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Dr. Mustafa Hameed</a:t>
            </a:r>
          </a:p>
        </p:txBody>
      </p:sp>
      <p:sp>
        <p:nvSpPr>
          <p:cNvPr id="11" name="!!dept"/>
          <p:cNvSpPr txBox="1"/>
          <p:nvPr/>
        </p:nvSpPr>
        <p:spPr>
          <a:xfrm>
            <a:off x="658368" y="618134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BDC8CF"/>
                </a:solidFill>
                <a:latin typeface="Segoe UI"/>
              </a:rPr>
              <a:t>Department of Information Technology  ·  BSIT · Fall 2026</a:t>
            </a:r>
          </a:p>
        </p:txBody>
      </p:sp>
      <p:sp>
        <p:nvSpPr>
          <p:cNvPr id="12" name="!!uni"/>
          <p:cNvSpPr txBox="1"/>
          <p:nvPr/>
        </p:nvSpPr>
        <p:spPr>
          <a:xfrm>
            <a:off x="5205818" y="568756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6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3" name="!!uni2"/>
          <p:cNvSpPr txBox="1"/>
          <p:nvPr/>
        </p:nvSpPr>
        <p:spPr>
          <a:xfrm>
            <a:off x="5205818" y="596188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5B5BE"/>
                </a:solidFill>
                <a:latin typeface="Segoe UI"/>
              </a:rPr>
              <a:t>Bahawalpur, Pakistan</a:t>
            </a:r>
          </a:p>
        </p:txBody>
      </p:sp>
      <p:pic>
        <p:nvPicPr>
          <p:cNvPr id="14" name="!!logo-iub-logo-white" descr="The Islamia University of Bahawalpu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3498" y="5486400"/>
            <a:ext cx="904084" cy="896112"/>
          </a:xfrm>
          <a:prstGeom prst="rect">
            <a:avLst/>
          </a:prstGeom>
        </p:spPr>
      </p:pic>
      <p:pic>
        <p:nvPicPr>
          <p:cNvPr id="15" name="!!logo-dit-logo" descr="Department of Information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614" y="5486400"/>
            <a:ext cx="869712" cy="8961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Where this chapter sits</a:t>
            </a:r>
          </a:p>
        </p:txBody>
      </p:sp>
      <p:pic>
        <p:nvPicPr>
          <p:cNvPr id="3" name="!!kicker-icon" descr="map-signs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 COURSE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19     </a:t>
            </a:r>
            <a:fld id="{AC4EF688-8C87-4C15-9D70-914B0F26B4FE}" type="slidenum">
              <a:rPr lang="en-GB" sz="1000">
                <a:solidFill>
                  <a:srgbClr val="8795A1"/>
                </a:solidFill>
                <a:latin typeface="Segoe UI"/>
              </a:rPr>
              <a:t>2</a:t>
            </a:fld>
          </a:p>
        </p:txBody>
      </p:sp>
      <p:sp>
        <p:nvSpPr>
          <p:cNvPr id="7" name="!!rp1"/>
          <p:cNvSpPr txBox="1"/>
          <p:nvPr/>
        </p:nvSpPr>
        <p:spPr>
          <a:xfrm>
            <a:off x="777240" y="1755648"/>
            <a:ext cx="182291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A5276"/>
                </a:solidFill>
                <a:latin typeface="Segoe UI"/>
              </a:rPr>
              <a:t>PART I</a:t>
            </a:r>
          </a:p>
        </p:txBody>
      </p:sp>
      <p:sp>
        <p:nvSpPr>
          <p:cNvPr id="8" name="!!rp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7240" y="2029967"/>
            <a:ext cx="1822916" cy="4572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rp2"/>
          <p:cNvSpPr txBox="1"/>
          <p:nvPr/>
        </p:nvSpPr>
        <p:spPr>
          <a:xfrm>
            <a:off x="2929340" y="1755648"/>
            <a:ext cx="190374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</a:t>
            </a:r>
          </a:p>
        </p:txBody>
      </p:sp>
      <p:sp>
        <p:nvSpPr>
          <p:cNvPr id="10" name="!!rp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29340" y="2029967"/>
            <a:ext cx="1903741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p3"/>
          <p:cNvSpPr txBox="1"/>
          <p:nvPr/>
        </p:nvSpPr>
        <p:spPr>
          <a:xfrm>
            <a:off x="5162265" y="1755648"/>
            <a:ext cx="15120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III</a:t>
            </a:r>
          </a:p>
        </p:txBody>
      </p:sp>
      <p:sp>
        <p:nvSpPr>
          <p:cNvPr id="12" name="!!rp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2265" y="2029967"/>
            <a:ext cx="1512020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rp4"/>
          <p:cNvSpPr txBox="1"/>
          <p:nvPr/>
        </p:nvSpPr>
        <p:spPr>
          <a:xfrm>
            <a:off x="7003469" y="1755648"/>
            <a:ext cx="15120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IV</a:t>
            </a:r>
          </a:p>
        </p:txBody>
      </p:sp>
      <p:sp>
        <p:nvSpPr>
          <p:cNvPr id="14" name="!!rpl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03469" y="2029967"/>
            <a:ext cx="1512020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rp5"/>
          <p:cNvSpPr txBox="1"/>
          <p:nvPr/>
        </p:nvSpPr>
        <p:spPr>
          <a:xfrm>
            <a:off x="8844673" y="1755648"/>
            <a:ext cx="112029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</a:t>
            </a:r>
          </a:p>
        </p:txBody>
      </p:sp>
      <p:sp>
        <p:nvSpPr>
          <p:cNvPr id="16" name="!!rpl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44673" y="2029967"/>
            <a:ext cx="1120299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p6"/>
          <p:cNvSpPr txBox="1"/>
          <p:nvPr/>
        </p:nvSpPr>
        <p:spPr>
          <a:xfrm>
            <a:off x="10294156" y="1755648"/>
            <a:ext cx="112029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98A4AE"/>
                </a:solidFill>
                <a:latin typeface="Segoe UI"/>
              </a:rPr>
              <a:t>PART VI</a:t>
            </a:r>
          </a:p>
        </p:txBody>
      </p:sp>
      <p:sp>
        <p:nvSpPr>
          <p:cNvPr id="18" name="!!rpl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94156" y="2029967"/>
            <a:ext cx="1120299" cy="27432"/>
          </a:xfrm>
          <a:prstGeom prst="rect">
            <a:avLst/>
          </a:prstGeom>
          <a:solidFill>
            <a:srgbClr val="D9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8508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dotn1"/>
          <p:cNvSpPr txBox="1"/>
          <p:nvPr/>
        </p:nvSpPr>
        <p:spPr>
          <a:xfrm>
            <a:off x="71706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!!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00229" y="2258568"/>
            <a:ext cx="274320" cy="274320"/>
          </a:xfrm>
          <a:prstGeom prst="ellipse">
            <a:avLst/>
          </a:prstGeom>
          <a:solidFill>
            <a:srgbClr val="3C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dotn2"/>
          <p:cNvSpPr txBox="1"/>
          <p:nvPr/>
        </p:nvSpPr>
        <p:spPr>
          <a:xfrm>
            <a:off x="110878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3" name="!!do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01094" y="2112264"/>
            <a:ext cx="566928" cy="566928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dotn3"/>
          <p:cNvSpPr txBox="1"/>
          <p:nvPr/>
        </p:nvSpPr>
        <p:spPr>
          <a:xfrm>
            <a:off x="1601094" y="2240280"/>
            <a:ext cx="566928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5" name="!!do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9456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1A0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dotn4"/>
          <p:cNvSpPr txBox="1"/>
          <p:nvPr/>
        </p:nvSpPr>
        <p:spPr>
          <a:xfrm>
            <a:off x="220312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A4967"/>
                </a:solidFill>
                <a:latin typeface="Segoe UI"/>
              </a:rPr>
              <a:t>4</a:t>
            </a:r>
          </a:p>
        </p:txBody>
      </p:sp>
      <p:sp>
        <p:nvSpPr>
          <p:cNvPr id="27" name="!!dot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6060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dotn5"/>
          <p:cNvSpPr txBox="1"/>
          <p:nvPr/>
        </p:nvSpPr>
        <p:spPr>
          <a:xfrm>
            <a:off x="286916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5</a:t>
            </a:r>
          </a:p>
        </p:txBody>
      </p:sp>
      <p:sp>
        <p:nvSpPr>
          <p:cNvPr id="29" name="!!dot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5232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dotn6"/>
          <p:cNvSpPr txBox="1"/>
          <p:nvPr/>
        </p:nvSpPr>
        <p:spPr>
          <a:xfrm>
            <a:off x="326088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6</a:t>
            </a:r>
          </a:p>
        </p:txBody>
      </p:sp>
      <p:sp>
        <p:nvSpPr>
          <p:cNvPr id="31" name="!!dot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4405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dotn7"/>
          <p:cNvSpPr txBox="1"/>
          <p:nvPr/>
        </p:nvSpPr>
        <p:spPr>
          <a:xfrm>
            <a:off x="365261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7</a:t>
            </a:r>
          </a:p>
        </p:txBody>
      </p:sp>
      <p:sp>
        <p:nvSpPr>
          <p:cNvPr id="33" name="!!dot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3577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dotn8"/>
          <p:cNvSpPr txBox="1"/>
          <p:nvPr/>
        </p:nvSpPr>
        <p:spPr>
          <a:xfrm>
            <a:off x="404433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8</a:t>
            </a:r>
          </a:p>
        </p:txBody>
      </p:sp>
      <p:sp>
        <p:nvSpPr>
          <p:cNvPr id="35" name="!!dot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2749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B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dotn9"/>
          <p:cNvSpPr txBox="1"/>
          <p:nvPr/>
        </p:nvSpPr>
        <p:spPr>
          <a:xfrm>
            <a:off x="443605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A73A3"/>
                </a:solidFill>
                <a:latin typeface="Segoe UI"/>
              </a:rPr>
              <a:t>9</a:t>
            </a:r>
          </a:p>
        </p:txBody>
      </p:sp>
      <p:sp>
        <p:nvSpPr>
          <p:cNvPr id="37" name="!!dot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9353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dotn10"/>
          <p:cNvSpPr txBox="1"/>
          <p:nvPr/>
        </p:nvSpPr>
        <p:spPr>
          <a:xfrm>
            <a:off x="510209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10</a:t>
            </a:r>
          </a:p>
        </p:txBody>
      </p:sp>
      <p:sp>
        <p:nvSpPr>
          <p:cNvPr id="39" name="!!dot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8525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!!dotn11"/>
          <p:cNvSpPr txBox="1"/>
          <p:nvPr/>
        </p:nvSpPr>
        <p:spPr>
          <a:xfrm>
            <a:off x="549381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11</a:t>
            </a:r>
          </a:p>
        </p:txBody>
      </p:sp>
      <p:sp>
        <p:nvSpPr>
          <p:cNvPr id="41" name="!!dot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7697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dotn12"/>
          <p:cNvSpPr txBox="1"/>
          <p:nvPr/>
        </p:nvSpPr>
        <p:spPr>
          <a:xfrm>
            <a:off x="588553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12</a:t>
            </a:r>
          </a:p>
        </p:txBody>
      </p:sp>
      <p:sp>
        <p:nvSpPr>
          <p:cNvPr id="43" name="!!dot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8696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8D2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dotn13"/>
          <p:cNvSpPr txBox="1"/>
          <p:nvPr/>
        </p:nvSpPr>
        <p:spPr>
          <a:xfrm>
            <a:off x="627725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59355"/>
                </a:solidFill>
                <a:latin typeface="Segoe UI"/>
              </a:rPr>
              <a:t>13</a:t>
            </a:r>
          </a:p>
        </p:txBody>
      </p:sp>
      <p:sp>
        <p:nvSpPr>
          <p:cNvPr id="45" name="!!dot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34737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!!dotn14"/>
          <p:cNvSpPr txBox="1"/>
          <p:nvPr/>
        </p:nvSpPr>
        <p:spPr>
          <a:xfrm>
            <a:off x="6943297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14</a:t>
            </a:r>
          </a:p>
        </p:txBody>
      </p:sp>
      <p:sp>
        <p:nvSpPr>
          <p:cNvPr id="47" name="!!dot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26458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dotn15"/>
          <p:cNvSpPr txBox="1"/>
          <p:nvPr/>
        </p:nvSpPr>
        <p:spPr>
          <a:xfrm>
            <a:off x="7335018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15</a:t>
            </a:r>
          </a:p>
        </p:txBody>
      </p:sp>
      <p:sp>
        <p:nvSpPr>
          <p:cNvPr id="49" name="!!dot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18179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!!dotn16"/>
          <p:cNvSpPr txBox="1"/>
          <p:nvPr/>
        </p:nvSpPr>
        <p:spPr>
          <a:xfrm>
            <a:off x="7726739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16</a:t>
            </a:r>
          </a:p>
        </p:txBody>
      </p:sp>
      <p:sp>
        <p:nvSpPr>
          <p:cNvPr id="51" name="!!dot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09900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198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!!dotn17"/>
          <p:cNvSpPr txBox="1"/>
          <p:nvPr/>
        </p:nvSpPr>
        <p:spPr>
          <a:xfrm>
            <a:off x="8118460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73E93"/>
                </a:solidFill>
                <a:latin typeface="Segoe UI"/>
              </a:rPr>
              <a:t>17</a:t>
            </a:r>
          </a:p>
        </p:txBody>
      </p:sp>
      <p:sp>
        <p:nvSpPr>
          <p:cNvPr id="53" name="!!dot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75941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!!dotn18"/>
          <p:cNvSpPr txBox="1"/>
          <p:nvPr/>
        </p:nvSpPr>
        <p:spPr>
          <a:xfrm>
            <a:off x="8784501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18</a:t>
            </a:r>
          </a:p>
        </p:txBody>
      </p:sp>
      <p:sp>
        <p:nvSpPr>
          <p:cNvPr id="55" name="!!dot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67662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!!dotn19"/>
          <p:cNvSpPr txBox="1"/>
          <p:nvPr/>
        </p:nvSpPr>
        <p:spPr>
          <a:xfrm>
            <a:off x="9176222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19</a:t>
            </a:r>
          </a:p>
        </p:txBody>
      </p:sp>
      <p:sp>
        <p:nvSpPr>
          <p:cNvPr id="57" name="!!dot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59383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B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!!dotn20"/>
          <p:cNvSpPr txBox="1"/>
          <p:nvPr/>
        </p:nvSpPr>
        <p:spPr>
          <a:xfrm>
            <a:off x="9567943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6959"/>
                </a:solidFill>
                <a:latin typeface="Segoe UI"/>
              </a:rPr>
              <a:t>20</a:t>
            </a:r>
          </a:p>
        </p:txBody>
      </p:sp>
      <p:sp>
        <p:nvSpPr>
          <p:cNvPr id="59" name="!!dot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325424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dotn21"/>
          <p:cNvSpPr txBox="1"/>
          <p:nvPr/>
        </p:nvSpPr>
        <p:spPr>
          <a:xfrm>
            <a:off x="10233984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21</a:t>
            </a:r>
          </a:p>
        </p:txBody>
      </p:sp>
      <p:sp>
        <p:nvSpPr>
          <p:cNvPr id="61" name="!!dot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17145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!!dotn22"/>
          <p:cNvSpPr txBox="1"/>
          <p:nvPr/>
        </p:nvSpPr>
        <p:spPr>
          <a:xfrm>
            <a:off x="10625705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22</a:t>
            </a:r>
          </a:p>
        </p:txBody>
      </p:sp>
      <p:sp>
        <p:nvSpPr>
          <p:cNvPr id="63" name="!!dot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08866" y="225856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7C5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!!dotn23"/>
          <p:cNvSpPr txBox="1"/>
          <p:nvPr/>
        </p:nvSpPr>
        <p:spPr>
          <a:xfrm>
            <a:off x="11017426" y="22951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87F11"/>
                </a:solidFill>
                <a:latin typeface="Segoe UI"/>
              </a:rPr>
              <a:t>23</a:t>
            </a:r>
          </a:p>
        </p:txBody>
      </p:sp>
      <p:sp>
        <p:nvSpPr>
          <p:cNvPr id="65" name="!!dotlabel"/>
          <p:cNvSpPr txBox="1"/>
          <p:nvPr/>
        </p:nvSpPr>
        <p:spPr>
          <a:xfrm>
            <a:off x="658368" y="2798064"/>
            <a:ext cx="5852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5276"/>
                </a:solidFill>
                <a:latin typeface="Segoe UI"/>
              </a:rPr>
              <a:t>Asymptotic Notation</a:t>
            </a:r>
          </a:p>
        </p:txBody>
      </p:sp>
      <p:sp>
        <p:nvSpPr>
          <p:cNvPr id="66" name="!!dep-BUILD"/>
          <p:cNvSpPr txBox="1"/>
          <p:nvPr/>
        </p:nvSpPr>
        <p:spPr>
          <a:xfrm>
            <a:off x="658368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BUILDS ON</a:t>
            </a:r>
          </a:p>
        </p:txBody>
      </p:sp>
      <p:sp>
        <p:nvSpPr>
          <p:cNvPr id="67" name="!!chip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!!chipbBU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85616"/>
            <a:ext cx="64008" cy="42062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!!chiptBU1"/>
          <p:cNvSpPr txBox="1"/>
          <p:nvPr/>
        </p:nvSpPr>
        <p:spPr>
          <a:xfrm>
            <a:off x="859536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276"/>
                </a:solidFill>
                <a:latin typeface="Segoe UI"/>
              </a:rPr>
              <a:t>Ch 1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The Role of Algorithms, and What Efficient Means</a:t>
            </a:r>
          </a:p>
        </p:txBody>
      </p:sp>
      <p:sp>
        <p:nvSpPr>
          <p:cNvPr id="70" name="!!chipBU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297680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chipbBU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297680"/>
            <a:ext cx="64008" cy="42062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!!chiptBU2"/>
          <p:cNvSpPr txBox="1"/>
          <p:nvPr/>
        </p:nvSpPr>
        <p:spPr>
          <a:xfrm>
            <a:off x="859536" y="4389120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5276"/>
                </a:solidFill>
                <a:latin typeface="Segoe UI"/>
              </a:rPr>
              <a:t>Ch 2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Input Size, Input Nature, and the Three Cases</a:t>
            </a:r>
          </a:p>
        </p:txBody>
      </p:sp>
      <p:sp>
        <p:nvSpPr>
          <p:cNvPr id="73" name="!!dep-USED "/>
          <p:cNvSpPr txBox="1"/>
          <p:nvPr/>
        </p:nvSpPr>
        <p:spPr>
          <a:xfrm>
            <a:off x="6324447" y="3419856"/>
            <a:ext cx="520887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5F6F7B"/>
                </a:solidFill>
                <a:latin typeface="Segoe UI"/>
              </a:rPr>
              <a:t>USED LATER IN</a:t>
            </a:r>
          </a:p>
        </p:txBody>
      </p:sp>
      <p:sp>
        <p:nvSpPr>
          <p:cNvPr id="74" name="!!chipUS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!!chipbUS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3785616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!!chiptUS5"/>
          <p:cNvSpPr txBox="1"/>
          <p:nvPr/>
        </p:nvSpPr>
        <p:spPr>
          <a:xfrm>
            <a:off x="6525615" y="3877056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5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Recurrences I: Substitution and Recursion Trees</a:t>
            </a:r>
          </a:p>
        </p:txBody>
      </p:sp>
      <p:sp>
        <p:nvSpPr>
          <p:cNvPr id="77" name="!!chipUS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!!chipbUS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297680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!!chiptUS6"/>
          <p:cNvSpPr txBox="1"/>
          <p:nvPr/>
        </p:nvSpPr>
        <p:spPr>
          <a:xfrm>
            <a:off x="6525615" y="4389120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6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Recurrences II: The Master Theorem</a:t>
            </a:r>
          </a:p>
        </p:txBody>
      </p:sp>
      <p:sp>
        <p:nvSpPr>
          <p:cNvPr id="80" name="!!chipUS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!!chipbUS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4809744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!!chiptUS7"/>
          <p:cNvSpPr txBox="1"/>
          <p:nvPr/>
        </p:nvSpPr>
        <p:spPr>
          <a:xfrm>
            <a:off x="6525615" y="4901184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7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Brute Force, and When It Is the Right Answer</a:t>
            </a:r>
          </a:p>
        </p:txBody>
      </p:sp>
      <p:sp>
        <p:nvSpPr>
          <p:cNvPr id="83" name="!!chipUS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321808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9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!!chipbUS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321808"/>
            <a:ext cx="64008" cy="420624"/>
          </a:xfrm>
          <a:prstGeom prst="rect">
            <a:avLst/>
          </a:prstGeom>
          <a:solidFill>
            <a:srgbClr val="236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!!chiptUS8"/>
          <p:cNvSpPr txBox="1"/>
          <p:nvPr/>
        </p:nvSpPr>
        <p:spPr>
          <a:xfrm>
            <a:off x="6525615" y="5413248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36794"/>
                </a:solidFill>
                <a:latin typeface="Segoe UI"/>
              </a:rPr>
              <a:t>Ch 8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Divide and Conquer: Merge Sort and the Pattern</a:t>
            </a:r>
          </a:p>
        </p:txBody>
      </p:sp>
      <p:sp>
        <p:nvSpPr>
          <p:cNvPr id="86" name="!!chipUS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833872"/>
            <a:ext cx="5208879" cy="420624"/>
          </a:xfrm>
          <a:prstGeom prst="roundRect">
            <a:avLst>
              <a:gd name="adj" fmla="val 17391"/>
            </a:avLst>
          </a:prstGeom>
          <a:solidFill>
            <a:srgbClr val="E8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!!chipbUS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24447" y="5833872"/>
            <a:ext cx="64008" cy="4206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!!chiptUS10"/>
          <p:cNvSpPr txBox="1"/>
          <p:nvPr/>
        </p:nvSpPr>
        <p:spPr>
          <a:xfrm>
            <a:off x="6525615" y="5925312"/>
            <a:ext cx="49345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7A43"/>
                </a:solidFill>
                <a:latin typeface="Segoe UI"/>
              </a:rPr>
              <a:t>Ch 10  </a:t>
            </a:r>
            <a:r>
              <a:rPr sz="1400" b="0" i="0">
                <a:solidFill>
                  <a:srgbClr val="1C252B"/>
                </a:solidFill>
                <a:latin typeface="Segoe UI"/>
              </a:rPr>
              <a:t>Lower Bounds and Sorting in Linear Time</a:t>
            </a:r>
          </a:p>
        </p:txBody>
      </p:sp>
      <p:sp>
        <p:nvSpPr>
          <p:cNvPr id="8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638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you will be able to do</a:t>
            </a:r>
          </a:p>
        </p:txBody>
      </p:sp>
      <p:pic>
        <p:nvPicPr>
          <p:cNvPr id="3" name="!!kicker-icon" descr="bullseye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LEARNING OUTCOMES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19     </a:t>
            </a:r>
            <a:fld id="{2C3B3F21-2A2F-4632-81A5-2C0FFFA5457C}" type="slidenum">
              <a:rPr lang="en-GB" sz="1000">
                <a:solidFill>
                  <a:srgbClr val="8795A1"/>
                </a:solidFill>
                <a:latin typeface="Segoe UI"/>
              </a:rPr>
              <a:t>3</a:t>
            </a:fld>
          </a:p>
        </p:txBody>
      </p:sp>
      <p:sp>
        <p:nvSpPr>
          <p:cNvPr id="7" name="!!olead"/>
          <p:cNvSpPr txBox="1"/>
          <p:nvPr/>
        </p:nvSpPr>
        <p:spPr>
          <a:xfrm>
            <a:off x="658368" y="173736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F6F7B"/>
                </a:solidFill>
                <a:latin typeface="Segoe UI"/>
              </a:rPr>
              <a:t>By the end of this chapter you will be able to:</a:t>
            </a:r>
          </a:p>
        </p:txBody>
      </p:sp>
      <p:sp>
        <p:nvSpPr>
          <p:cNvPr id="8" name="!!o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21991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obn0"/>
          <p:cNvSpPr txBox="1"/>
          <p:nvPr/>
        </p:nvSpPr>
        <p:spPr>
          <a:xfrm>
            <a:off x="658368" y="228142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!!ot0"/>
          <p:cNvSpPr txBox="1"/>
          <p:nvPr/>
        </p:nvSpPr>
        <p:spPr>
          <a:xfrm>
            <a:off x="1316736" y="221284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State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formal definitions of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Ω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ω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explain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what each one quantifies over </a:t>
            </a:r>
            <a:r>
              <a:rPr sz="2100" b="0" i="1">
                <a:solidFill>
                  <a:srgbClr val="1C252B"/>
                </a:solidFill>
                <a:latin typeface="Segoe UI"/>
              </a:rPr>
              <a:t>(CLO-5)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!!o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70555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obn1"/>
          <p:cNvSpPr txBox="1"/>
          <p:nvPr/>
        </p:nvSpPr>
        <p:spPr>
          <a:xfrm>
            <a:off x="658368" y="312999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!!ot1"/>
          <p:cNvSpPr txBox="1"/>
          <p:nvPr/>
        </p:nvSpPr>
        <p:spPr>
          <a:xfrm>
            <a:off x="1316736" y="3061411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Prove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that a given function belongs to a given asymptotic class by exhibiting the witnesses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disprove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membership by contradiction.</a:t>
            </a:r>
          </a:p>
        </p:txBody>
      </p:sp>
      <p:sp>
        <p:nvSpPr>
          <p:cNvPr id="14" name="!!o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919118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obn2"/>
          <p:cNvSpPr txBox="1"/>
          <p:nvPr/>
        </p:nvSpPr>
        <p:spPr>
          <a:xfrm>
            <a:off x="658368" y="3978554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!!ot2"/>
          <p:cNvSpPr txBox="1"/>
          <p:nvPr/>
        </p:nvSpPr>
        <p:spPr>
          <a:xfrm>
            <a:off x="1316736" y="3960266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Use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limit test,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recognise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case in which it does not apply.</a:t>
            </a:r>
          </a:p>
        </p:txBody>
      </p:sp>
      <p:sp>
        <p:nvSpPr>
          <p:cNvPr id="17" name="!!o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522622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obn3"/>
          <p:cNvSpPr txBox="1"/>
          <p:nvPr/>
        </p:nvSpPr>
        <p:spPr>
          <a:xfrm>
            <a:off x="658368" y="4582058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9" name="!!ot3"/>
          <p:cNvSpPr txBox="1"/>
          <p:nvPr/>
        </p:nvSpPr>
        <p:spPr>
          <a:xfrm>
            <a:off x="1316736" y="4513478"/>
            <a:ext cx="10216591" cy="6656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Order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standard functions by growth,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apply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transitivity and the sum rule to simplify a bound.</a:t>
            </a:r>
          </a:p>
        </p:txBody>
      </p:sp>
      <p:sp>
        <p:nvSpPr>
          <p:cNvPr id="20" name="!!o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371185"/>
            <a:ext cx="420624" cy="420624"/>
          </a:xfrm>
          <a:prstGeom prst="ellipse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obn4"/>
          <p:cNvSpPr txBox="1"/>
          <p:nvPr/>
        </p:nvSpPr>
        <p:spPr>
          <a:xfrm>
            <a:off x="658368" y="5430621"/>
            <a:ext cx="420624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!!ot4"/>
          <p:cNvSpPr txBox="1"/>
          <p:nvPr/>
        </p:nvSpPr>
        <p:spPr>
          <a:xfrm>
            <a:off x="1316736" y="5412333"/>
            <a:ext cx="10216591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5276"/>
                </a:solidFill>
                <a:latin typeface="Segoe UI"/>
              </a:rPr>
              <a:t>Identify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the four common abuses of the notation, and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state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what each one conceals.</a:t>
            </a:r>
          </a:p>
        </p:txBody>
      </p:sp>
      <p:sp>
        <p:nvSpPr>
          <p:cNvPr id="5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0958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Vocabulary for this chapter</a:t>
            </a:r>
          </a:p>
        </p:txBody>
      </p:sp>
      <p:pic>
        <p:nvPicPr>
          <p:cNvPr id="3" name="!!kicker-icon" descr="tags-8E44AD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256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8E44AD"/>
                </a:solidFill>
                <a:latin typeface="Segoe UI"/>
              </a:rPr>
              <a:t>KEY TERMS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19     </a:t>
            </a:r>
            <a:fld id="{F3B6ACB0-0279-4FAD-ADC3-D3B54A6417A6}" type="slidenum">
              <a:rPr lang="en-GB" sz="1000">
                <a:solidFill>
                  <a:srgbClr val="8795A1"/>
                </a:solidFill>
                <a:latin typeface="Segoe UI"/>
              </a:rPr>
              <a:t>4</a:t>
            </a:fld>
          </a:p>
        </p:txBody>
      </p:sp>
      <p:sp>
        <p:nvSpPr>
          <p:cNvPr id="7" name="!!term-asymptotic up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847088"/>
            <a:ext cx="269599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termd-asymptotic up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termt-asymptotic upp"/>
          <p:cNvSpPr txBox="1"/>
          <p:nvPr/>
        </p:nvSpPr>
        <p:spPr>
          <a:xfrm>
            <a:off x="950976" y="1962911"/>
            <a:ext cx="251311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asymptotic upper bound</a:t>
            </a:r>
          </a:p>
        </p:txBody>
      </p:sp>
      <p:sp>
        <p:nvSpPr>
          <p:cNvPr id="10" name="!!term-asymptotic l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00663" y="1847088"/>
            <a:ext cx="265638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termd-asymptotic l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28679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termt-asymptotic low"/>
          <p:cNvSpPr txBox="1"/>
          <p:nvPr/>
        </p:nvSpPr>
        <p:spPr>
          <a:xfrm>
            <a:off x="3793271" y="1962911"/>
            <a:ext cx="247350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asymptotic lower bound</a:t>
            </a:r>
          </a:p>
        </p:txBody>
      </p:sp>
      <p:sp>
        <p:nvSpPr>
          <p:cNvPr id="13" name="!!term-tight b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3354" y="1847088"/>
            <a:ext cx="152580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termd-tight boun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1370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termt-tight bound"/>
          <p:cNvSpPr txBox="1"/>
          <p:nvPr/>
        </p:nvSpPr>
        <p:spPr>
          <a:xfrm>
            <a:off x="6595962" y="1962911"/>
            <a:ext cx="134292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tight bound</a:t>
            </a:r>
          </a:p>
        </p:txBody>
      </p:sp>
      <p:sp>
        <p:nvSpPr>
          <p:cNvPr id="16" name="!!term-witnes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75462" y="1847088"/>
            <a:ext cx="111065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termd-witnes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03478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termt-witness"/>
          <p:cNvSpPr txBox="1"/>
          <p:nvPr/>
        </p:nvSpPr>
        <p:spPr>
          <a:xfrm>
            <a:off x="8268070" y="1962911"/>
            <a:ext cx="92777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witness</a:t>
            </a:r>
          </a:p>
        </p:txBody>
      </p:sp>
      <p:sp>
        <p:nvSpPr>
          <p:cNvPr id="19" name="!!term-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32421" y="1847088"/>
            <a:ext cx="59518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termd-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60437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termt-O"/>
          <p:cNvSpPr txBox="1"/>
          <p:nvPr/>
        </p:nvSpPr>
        <p:spPr>
          <a:xfrm>
            <a:off x="9525029" y="1962911"/>
            <a:ext cx="41230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O</a:t>
            </a:r>
          </a:p>
        </p:txBody>
      </p:sp>
      <p:sp>
        <p:nvSpPr>
          <p:cNvPr id="22" name="!!term-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73914" y="1847088"/>
            <a:ext cx="595396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termd-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101930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termt-Ω"/>
          <p:cNvSpPr txBox="1"/>
          <p:nvPr/>
        </p:nvSpPr>
        <p:spPr>
          <a:xfrm>
            <a:off x="10266522" y="1962911"/>
            <a:ext cx="412516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Ω</a:t>
            </a:r>
          </a:p>
        </p:txBody>
      </p:sp>
      <p:sp>
        <p:nvSpPr>
          <p:cNvPr id="25" name="!!term-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15614" y="1847088"/>
            <a:ext cx="595189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termd-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843630" y="2039112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termt-Θ"/>
          <p:cNvSpPr txBox="1"/>
          <p:nvPr/>
        </p:nvSpPr>
        <p:spPr>
          <a:xfrm>
            <a:off x="11008222" y="1962911"/>
            <a:ext cx="412309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Θ</a:t>
            </a:r>
          </a:p>
        </p:txBody>
      </p:sp>
      <p:sp>
        <p:nvSpPr>
          <p:cNvPr id="28" name="!!term-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880"/>
            <a:ext cx="560368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termd-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!!termt-o"/>
          <p:cNvSpPr txBox="1"/>
          <p:nvPr/>
        </p:nvSpPr>
        <p:spPr>
          <a:xfrm>
            <a:off x="950976" y="2584704"/>
            <a:ext cx="377488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o</a:t>
            </a:r>
          </a:p>
        </p:txBody>
      </p:sp>
      <p:sp>
        <p:nvSpPr>
          <p:cNvPr id="31" name="!!term-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65040" y="2468880"/>
            <a:ext cx="606381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termd-ω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93056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termt-ω"/>
          <p:cNvSpPr txBox="1"/>
          <p:nvPr/>
        </p:nvSpPr>
        <p:spPr>
          <a:xfrm>
            <a:off x="1657648" y="2584704"/>
            <a:ext cx="423501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ω</a:t>
            </a:r>
          </a:p>
        </p:txBody>
      </p:sp>
      <p:sp>
        <p:nvSpPr>
          <p:cNvPr id="34" name="!!term-transitivit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7726" y="2468880"/>
            <a:ext cx="138258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termd-transitivit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45742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termt-transitivity"/>
          <p:cNvSpPr txBox="1"/>
          <p:nvPr/>
        </p:nvSpPr>
        <p:spPr>
          <a:xfrm>
            <a:off x="2410334" y="2584704"/>
            <a:ext cx="119970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transitivity</a:t>
            </a:r>
          </a:p>
        </p:txBody>
      </p:sp>
      <p:sp>
        <p:nvSpPr>
          <p:cNvPr id="37" name="!!term-transpose sym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46615" y="2468880"/>
            <a:ext cx="228472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termd-transpose sym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74631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termt-transpose symm"/>
          <p:cNvSpPr txBox="1"/>
          <p:nvPr/>
        </p:nvSpPr>
        <p:spPr>
          <a:xfrm>
            <a:off x="3939223" y="2584704"/>
            <a:ext cx="210184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transpose symmetry</a:t>
            </a:r>
          </a:p>
        </p:txBody>
      </p:sp>
      <p:sp>
        <p:nvSpPr>
          <p:cNvPr id="40" name="!!term-sum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77646" y="2468880"/>
            <a:ext cx="1227344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!!termd-sum 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05662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!!termt-sum rule"/>
          <p:cNvSpPr txBox="1"/>
          <p:nvPr/>
        </p:nvSpPr>
        <p:spPr>
          <a:xfrm>
            <a:off x="6370254" y="2584704"/>
            <a:ext cx="1044464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sum rule</a:t>
            </a:r>
          </a:p>
        </p:txBody>
      </p:sp>
      <p:sp>
        <p:nvSpPr>
          <p:cNvPr id="43" name="!!term-limit te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51294" y="2468880"/>
            <a:ext cx="1231670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!!termd-limit te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79310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!!termt-limit test"/>
          <p:cNvSpPr txBox="1"/>
          <p:nvPr/>
        </p:nvSpPr>
        <p:spPr>
          <a:xfrm>
            <a:off x="7743902" y="2584704"/>
            <a:ext cx="1048790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limit test</a:t>
            </a:r>
          </a:p>
        </p:txBody>
      </p:sp>
      <p:sp>
        <p:nvSpPr>
          <p:cNvPr id="46" name="!!term-trichotom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29269" y="2468880"/>
            <a:ext cx="1436447" cy="475488"/>
          </a:xfrm>
          <a:prstGeom prst="roundRect">
            <a:avLst>
              <a:gd name="adj" fmla="val 50000"/>
            </a:avLst>
          </a:prstGeom>
          <a:solidFill>
            <a:srgbClr val="F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!!termd-trichotomy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57285" y="2660904"/>
            <a:ext cx="91440" cy="91440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!!termt-trichotomy"/>
          <p:cNvSpPr txBox="1"/>
          <p:nvPr/>
        </p:nvSpPr>
        <p:spPr>
          <a:xfrm>
            <a:off x="9121877" y="2584704"/>
            <a:ext cx="1253567" cy="31089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trichotomy</a:t>
            </a:r>
          </a:p>
        </p:txBody>
      </p:sp>
      <p:sp>
        <p:nvSpPr>
          <p:cNvPr id="49" name="!!termnote"/>
          <p:cNvSpPr txBox="1"/>
          <p:nvPr/>
        </p:nvSpPr>
        <p:spPr>
          <a:xfrm>
            <a:off x="658368" y="32918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5F6F7B"/>
                </a:solidFill>
                <a:latin typeface="Segoe UI"/>
              </a:rPr>
              <a:t>Each term is defined where it first matters — not here.</a:t>
            </a:r>
          </a:p>
        </p:txBody>
      </p:sp>
      <p:sp>
        <p:nvSpPr>
          <p:cNvPr id="5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In this chapter</a:t>
            </a:r>
          </a:p>
        </p:txBody>
      </p:sp>
      <p:pic>
        <p:nvPicPr>
          <p:cNvPr id="3" name="!!kicker-icon" descr="list-ul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6883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IN THIS CHAPTER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pp. 19–29     </a:t>
            </a:r>
            <a:fld id="{62B26C2B-18AB-434E-9480-D770231712CB}" type="slidenum">
              <a:rPr lang="en-GB" sz="1000">
                <a:solidFill>
                  <a:srgbClr val="8795A1"/>
                </a:solidFill>
                <a:latin typeface="Segoe UI"/>
              </a:rPr>
              <a:t>5</a:t>
            </a:fld>
          </a:p>
        </p:txBody>
      </p:sp>
      <p:sp>
        <p:nvSpPr>
          <p:cNvPr id="7" name="!!ag0" descr="Go to section 3.1 Three Bounds, Defined">
            <a:hlinkClick action="ppaction://hlinksldjump" r:id="rId5"/>
          </p:cNvPr>
          <p:cNvSpPr/>
          <p:nvPr/>
        </p:nvSpPr>
        <p:spPr>
          <a:xfrm>
            <a:off x="658368" y="177393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ag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7393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agn0"/>
          <p:cNvSpPr txBox="1"/>
          <p:nvPr/>
        </p:nvSpPr>
        <p:spPr>
          <a:xfrm>
            <a:off x="932688" y="19202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3.1</a:t>
            </a:r>
          </a:p>
        </p:txBody>
      </p:sp>
      <p:sp>
        <p:nvSpPr>
          <p:cNvPr id="10" name="!!agt0"/>
          <p:cNvSpPr txBox="1"/>
          <p:nvPr/>
        </p:nvSpPr>
        <p:spPr>
          <a:xfrm>
            <a:off x="1847088" y="19202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Three Bounds, Defined</a:t>
            </a:r>
          </a:p>
        </p:txBody>
      </p:sp>
      <p:sp>
        <p:nvSpPr>
          <p:cNvPr id="11" name="!!agp0"/>
          <p:cNvSpPr txBox="1"/>
          <p:nvPr/>
        </p:nvSpPr>
        <p:spPr>
          <a:xfrm>
            <a:off x="9795967" y="19476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19  ›</a:t>
            </a:r>
          </a:p>
        </p:txBody>
      </p:sp>
      <p:sp>
        <p:nvSpPr>
          <p:cNvPr id="12" name="!!ag1" descr="Go to section 3.2 Proving a Bound From the Definition">
            <a:hlinkClick action="ppaction://hlinksldjump" r:id="rId6"/>
          </p:cNvPr>
          <p:cNvSpPr/>
          <p:nvPr/>
        </p:nvSpPr>
        <p:spPr>
          <a:xfrm>
            <a:off x="658368" y="2414015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ag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14015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agn1"/>
          <p:cNvSpPr txBox="1"/>
          <p:nvPr/>
        </p:nvSpPr>
        <p:spPr>
          <a:xfrm>
            <a:off x="932688" y="25603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3.2</a:t>
            </a:r>
          </a:p>
        </p:txBody>
      </p:sp>
      <p:sp>
        <p:nvSpPr>
          <p:cNvPr id="15" name="!!agt1"/>
          <p:cNvSpPr txBox="1"/>
          <p:nvPr/>
        </p:nvSpPr>
        <p:spPr>
          <a:xfrm>
            <a:off x="1847088" y="25603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Proving a Bound From the Definition</a:t>
            </a:r>
          </a:p>
        </p:txBody>
      </p:sp>
      <p:sp>
        <p:nvSpPr>
          <p:cNvPr id="16" name="!!agp1"/>
          <p:cNvSpPr txBox="1"/>
          <p:nvPr/>
        </p:nvSpPr>
        <p:spPr>
          <a:xfrm>
            <a:off x="9795967" y="2587751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20  ›</a:t>
            </a:r>
          </a:p>
        </p:txBody>
      </p:sp>
      <p:sp>
        <p:nvSpPr>
          <p:cNvPr id="17" name="!!ag2" descr="Go to section 3.3 The Strict Bounds: o and ω">
            <a:hlinkClick action="ppaction://hlinksldjump" r:id="rId7"/>
          </p:cNvPr>
          <p:cNvSpPr/>
          <p:nvPr/>
        </p:nvSpPr>
        <p:spPr>
          <a:xfrm>
            <a:off x="658368" y="305409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ag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5409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!!agn2"/>
          <p:cNvSpPr txBox="1"/>
          <p:nvPr/>
        </p:nvSpPr>
        <p:spPr>
          <a:xfrm>
            <a:off x="932688" y="320040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3.3</a:t>
            </a:r>
          </a:p>
        </p:txBody>
      </p:sp>
      <p:sp>
        <p:nvSpPr>
          <p:cNvPr id="20" name="!!agt2"/>
          <p:cNvSpPr txBox="1"/>
          <p:nvPr/>
        </p:nvSpPr>
        <p:spPr>
          <a:xfrm>
            <a:off x="1847088" y="320040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Strict Bounds: o and ω</a:t>
            </a:r>
          </a:p>
        </p:txBody>
      </p:sp>
      <p:sp>
        <p:nvSpPr>
          <p:cNvPr id="21" name="!!agp2"/>
          <p:cNvSpPr txBox="1"/>
          <p:nvPr/>
        </p:nvSpPr>
        <p:spPr>
          <a:xfrm>
            <a:off x="9795967" y="322783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21  ›</a:t>
            </a:r>
          </a:p>
        </p:txBody>
      </p:sp>
      <p:sp>
        <p:nvSpPr>
          <p:cNvPr id="22" name="!!ag3" descr="Go to section 3.4 Properties, and the Analogy With Inequality">
            <a:hlinkClick action="ppaction://hlinksldjump" r:id="rId8"/>
          </p:cNvPr>
          <p:cNvSpPr/>
          <p:nvPr/>
        </p:nvSpPr>
        <p:spPr>
          <a:xfrm>
            <a:off x="658368" y="369417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ag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9417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agn3"/>
          <p:cNvSpPr txBox="1"/>
          <p:nvPr/>
        </p:nvSpPr>
        <p:spPr>
          <a:xfrm>
            <a:off x="932688" y="384048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3.4</a:t>
            </a:r>
          </a:p>
        </p:txBody>
      </p:sp>
      <p:sp>
        <p:nvSpPr>
          <p:cNvPr id="25" name="!!agt3"/>
          <p:cNvSpPr txBox="1"/>
          <p:nvPr/>
        </p:nvSpPr>
        <p:spPr>
          <a:xfrm>
            <a:off x="1847088" y="384048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Properties, and the Analogy With Inequality</a:t>
            </a:r>
          </a:p>
        </p:txBody>
      </p:sp>
      <p:sp>
        <p:nvSpPr>
          <p:cNvPr id="26" name="!!agp3"/>
          <p:cNvSpPr txBox="1"/>
          <p:nvPr/>
        </p:nvSpPr>
        <p:spPr>
          <a:xfrm>
            <a:off x="9795967" y="386791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22  ›</a:t>
            </a:r>
          </a:p>
        </p:txBody>
      </p:sp>
      <p:sp>
        <p:nvSpPr>
          <p:cNvPr id="27" name="!!ag4" descr="Go to section 3.5 The Limit Test">
            <a:hlinkClick action="ppaction://hlinksldjump" r:id="rId9"/>
          </p:cNvPr>
          <p:cNvSpPr/>
          <p:nvPr/>
        </p:nvSpPr>
        <p:spPr>
          <a:xfrm>
            <a:off x="658368" y="433425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ag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33425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agn4"/>
          <p:cNvSpPr txBox="1"/>
          <p:nvPr/>
        </p:nvSpPr>
        <p:spPr>
          <a:xfrm>
            <a:off x="932688" y="448056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3.5</a:t>
            </a:r>
          </a:p>
        </p:txBody>
      </p:sp>
      <p:sp>
        <p:nvSpPr>
          <p:cNvPr id="30" name="!!agt4"/>
          <p:cNvSpPr txBox="1"/>
          <p:nvPr/>
        </p:nvSpPr>
        <p:spPr>
          <a:xfrm>
            <a:off x="1847088" y="448056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The Limit Test</a:t>
            </a:r>
          </a:p>
        </p:txBody>
      </p:sp>
      <p:sp>
        <p:nvSpPr>
          <p:cNvPr id="31" name="!!agp4"/>
          <p:cNvSpPr txBox="1"/>
          <p:nvPr/>
        </p:nvSpPr>
        <p:spPr>
          <a:xfrm>
            <a:off x="9795967" y="450799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23  ›</a:t>
            </a:r>
          </a:p>
        </p:txBody>
      </p:sp>
      <p:sp>
        <p:nvSpPr>
          <p:cNvPr id="32" name="!!ag5" descr="Go to section 3.6 What Θ Asserts, Measured">
            <a:hlinkClick action="ppaction://hlinksldjump" r:id="rId10"/>
          </p:cNvPr>
          <p:cNvSpPr/>
          <p:nvPr/>
        </p:nvSpPr>
        <p:spPr>
          <a:xfrm>
            <a:off x="658368" y="497433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!!ag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97433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!!agn5"/>
          <p:cNvSpPr txBox="1"/>
          <p:nvPr/>
        </p:nvSpPr>
        <p:spPr>
          <a:xfrm>
            <a:off x="932688" y="512064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3.6</a:t>
            </a:r>
          </a:p>
        </p:txBody>
      </p:sp>
      <p:sp>
        <p:nvSpPr>
          <p:cNvPr id="35" name="!!agt5"/>
          <p:cNvSpPr txBox="1"/>
          <p:nvPr/>
        </p:nvSpPr>
        <p:spPr>
          <a:xfrm>
            <a:off x="1847088" y="512064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What Θ Asserts, Measured</a:t>
            </a:r>
          </a:p>
        </p:txBody>
      </p:sp>
      <p:sp>
        <p:nvSpPr>
          <p:cNvPr id="36" name="!!agp5"/>
          <p:cNvSpPr txBox="1"/>
          <p:nvPr/>
        </p:nvSpPr>
        <p:spPr>
          <a:xfrm>
            <a:off x="9795967" y="514807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24  ›</a:t>
            </a:r>
          </a:p>
        </p:txBody>
      </p:sp>
      <p:sp>
        <p:nvSpPr>
          <p:cNvPr id="37" name="!!ag6" descr="Go to section 3.7 Four Abuses, and What Each Conceals">
            <a:hlinkClick action="ppaction://hlinksldjump" r:id="rId11"/>
          </p:cNvPr>
          <p:cNvSpPr/>
          <p:nvPr/>
        </p:nvSpPr>
        <p:spPr>
          <a:xfrm>
            <a:off x="658368" y="5614416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agb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14416"/>
            <a:ext cx="64008" cy="566928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agn6"/>
          <p:cNvSpPr txBox="1"/>
          <p:nvPr/>
        </p:nvSpPr>
        <p:spPr>
          <a:xfrm>
            <a:off x="932688" y="5760720"/>
            <a:ext cx="91440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5276"/>
                </a:solidFill>
                <a:latin typeface="Segoe UI Semibold"/>
              </a:rPr>
              <a:t>3.7</a:t>
            </a:r>
          </a:p>
        </p:txBody>
      </p:sp>
      <p:sp>
        <p:nvSpPr>
          <p:cNvPr id="40" name="!!agt6"/>
          <p:cNvSpPr txBox="1"/>
          <p:nvPr/>
        </p:nvSpPr>
        <p:spPr>
          <a:xfrm>
            <a:off x="1847088" y="5760720"/>
            <a:ext cx="81317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Four Abuses, and What Each Conceals</a:t>
            </a:r>
          </a:p>
        </p:txBody>
      </p:sp>
      <p:sp>
        <p:nvSpPr>
          <p:cNvPr id="41" name="!!agp6"/>
          <p:cNvSpPr txBox="1"/>
          <p:nvPr/>
        </p:nvSpPr>
        <p:spPr>
          <a:xfrm>
            <a:off x="9795967" y="5788152"/>
            <a:ext cx="155448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F6F7B"/>
                </a:solidFill>
                <a:latin typeface="Segoe UI"/>
              </a:rPr>
              <a:t>p. 26  ›</a:t>
            </a:r>
          </a:p>
        </p:txBody>
      </p:sp>
      <p:sp>
        <p:nvSpPr>
          <p:cNvPr id="4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1597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Three Bounds, Defined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1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3.1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§3.1     </a:t>
            </a:r>
            <a:fld id="{7449B077-E328-47D0-A881-AAF2AE543297}" type="slidenum">
              <a:rPr lang="en-GB" sz="1000">
                <a:solidFill>
                  <a:srgbClr val="8795A1"/>
                </a:solidFill>
                <a:latin typeface="Segoe UI"/>
              </a:rPr>
              <a:t>6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O, Ω and Θ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§3.1  ·  Handout p. 19     </a:t>
            </a:r>
            <a:fld id="{28BE1381-6125-4A01-9889-F985C7EB045B}" type="slidenum">
              <a:rPr lang="en-GB" sz="1000">
                <a:solidFill>
                  <a:srgbClr val="8795A1"/>
                </a:solidFill>
                <a:latin typeface="Segoe UI"/>
              </a:rPr>
              <a:t>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21672"/>
          </a:xfrm>
          <a:prstGeom prst="roundRect">
            <a:avLst>
              <a:gd name="adj" fmla="val 2067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21672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A4500"/>
                </a:solidFill>
                <a:latin typeface="Segoe UI"/>
              </a:rPr>
              <a:t>Upper bound.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is the </a:t>
            </a:r>
            <a:r>
              <a:rPr sz="2200" b="0" i="1">
                <a:solidFill>
                  <a:srgbClr val="1C252B"/>
                </a:solidFill>
                <a:latin typeface="Segoe UI"/>
              </a:rPr>
              <a:t>set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of functions</a:t>
            </a:r>
          </a:p>
        </p:txBody>
      </p:sp>
      <p:pic>
        <p:nvPicPr>
          <p:cNvPr id="10" name="body-1" descr="O(g(n)) = \bigl\{\, f(n) \;:\; \exists\, c &gt; 0,\ \exists\, n_{0} &gt; 0,\ \forall\, n \ge n_{0},\ 0 \le f(n) \le c\,g(n) \,\bigr\}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550617"/>
            <a:ext cx="10161727" cy="379293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3083580"/>
            <a:ext cx="10161727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A4500"/>
                </a:solidFill>
                <a:latin typeface="Segoe UI"/>
              </a:rPr>
              <a:t>Lower bound.</a:t>
            </a:r>
          </a:p>
        </p:txBody>
      </p:sp>
      <p:pic>
        <p:nvPicPr>
          <p:cNvPr id="12" name="body-3" descr="\Omega(g(n)) = \bigl\{\, f(n) \;:\; \exists\, c &gt; 0,\ \exists\, n_{0} &gt; 0,\ \forall\, n \ge n_{0},\ 0 \le c\,g(n) \le f(n) \,\bigr\}.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704" y="3585941"/>
            <a:ext cx="10161727" cy="379293"/>
          </a:xfrm>
          <a:prstGeom prst="rect">
            <a:avLst/>
          </a:prstGeom>
        </p:spPr>
      </p:pic>
      <p:sp>
        <p:nvSpPr>
          <p:cNvPr id="13" name="body-4"/>
          <p:cNvSpPr txBox="1"/>
          <p:nvPr/>
        </p:nvSpPr>
        <p:spPr>
          <a:xfrm>
            <a:off x="1060704" y="4118904"/>
            <a:ext cx="10161727" cy="3944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A4500"/>
                </a:solidFill>
                <a:latin typeface="Segoe UI"/>
              </a:rPr>
              <a:t>Tight bound.</a:t>
            </a:r>
          </a:p>
        </p:txBody>
      </p:sp>
      <p:pic>
        <p:nvPicPr>
          <p:cNvPr id="14" name="body-5" descr="\Theta(g(n)) = \bigl\{\, f(n) \;:\; \exists\, c_{1}, c_{2} &gt; 0,\ \exists\, n_{0} &gt; 0,\ \forall\, n \ge n_{0},\ 0 \le c_{1} g(n) \le f(n) \le c_{2} g(n) \,\bigr\}.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704" y="4621265"/>
            <a:ext cx="10161727" cy="375818"/>
          </a:xfrm>
          <a:prstGeom prst="rect">
            <a:avLst/>
          </a:prstGeom>
        </p:spPr>
      </p:pic>
      <p:sp>
        <p:nvSpPr>
          <p:cNvPr id="15" name="body-6"/>
          <p:cNvSpPr txBox="1"/>
          <p:nvPr/>
        </p:nvSpPr>
        <p:spPr>
          <a:xfrm>
            <a:off x="1060704" y="5150754"/>
            <a:ext cx="10161727" cy="74310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The constants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(or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,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) and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are the </a:t>
            </a:r>
            <a:r>
              <a:rPr sz="2200" b="1" i="0">
                <a:solidFill>
                  <a:srgbClr val="1A5276"/>
                </a:solidFill>
                <a:latin typeface="Segoe UI"/>
              </a:rPr>
              <a:t>witnesses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To prove a bound you produce them; to disprove one you show none can exist.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2236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“f(n) = O(g(n))” is an abuse of the equals sign, and you should know it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§3.1  ·  Handout p. 19     </a:t>
            </a:r>
            <a:fld id="{1D3D7E97-B04D-41F3-BC0E-CC359D07ECC0}" type="slidenum">
              <a:rPr lang="en-GB" sz="1000">
                <a:solidFill>
                  <a:srgbClr val="8795A1"/>
                </a:solidFill>
                <a:latin typeface="Segoe UI"/>
              </a:rPr>
              <a:t>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063898"/>
          </a:xfrm>
          <a:prstGeom prst="roundRect">
            <a:avLst>
              <a:gd name="adj" fmla="val 2250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063898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a set, so the honest statement is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∈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Everyone writes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anyway, including this book, and the convention is harmless as long as you remember that it is 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one-directional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302533"/>
            <a:ext cx="10161727" cy="13438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A93226"/>
                </a:solidFill>
                <a:latin typeface="Segoe UI"/>
              </a:rPr>
              <a:t>•	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true.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804"/>
              </a:spcAft>
            </a:pPr>
            <a:r>
              <a:rPr sz="2300" b="1">
                <a:solidFill>
                  <a:srgbClr val="A93226"/>
                </a:solidFill>
                <a:latin typeface="Segoe UI"/>
              </a:rPr>
              <a:t>•	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meaningless.</a:t>
            </a:r>
          </a:p>
          <a:p>
            <a:pPr algn="l" marL="257176" indent="-257176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93226"/>
                </a:solidFill>
                <a:latin typeface="Segoe UI"/>
              </a:rPr>
              <a:t>•	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From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you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cannot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conclude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60704" y="4761280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Read the “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=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 as “is” — as in “Rawalpindi is a city”, which does not make every city Rawalpindi.</a:t>
            </a:r>
          </a:p>
        </p:txBody>
      </p:sp>
      <p:sp>
        <p:nvSpPr>
          <p:cNvPr id="1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62555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8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Proving a Bound From the Definition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2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3.2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§3.2     </a:t>
            </a:r>
            <a:fld id="{DD8962DA-9339-42B7-B369-6372A472CD50}" type="slidenum">
              <a:rPr lang="en-GB" sz="1000">
                <a:solidFill>
                  <a:srgbClr val="8795A1"/>
                </a:solidFill>
                <a:latin typeface="Segoe UI"/>
              </a:rPr>
              <a:t>9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82875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A quadratic is O(n²)</a:t>
            </a:r>
          </a:p>
        </p:txBody>
      </p:sp>
      <p:pic>
        <p:nvPicPr>
          <p:cNvPr id="3" name="!!kicker-icon" descr="award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THEOREM 3.1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16774E70-2C49-4F85-A2DC-146C10D96A75}" type="slidenum">
              <a:rPr lang="en-GB" sz="1000">
                <a:solidFill>
                  <a:srgbClr val="8795A1"/>
                </a:solidFill>
                <a:latin typeface="Segoe UI"/>
              </a:rPr>
              <a:t>10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986332"/>
          </a:xfrm>
          <a:prstGeom prst="roundRect">
            <a:avLst>
              <a:gd name="adj" fmla="val 9270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98633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Cambria"/>
              </a:rPr>
              <a:t>3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+ 10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+ 7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03194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witnesses are not unique, and need not be tight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6FCFD799-9D41-45FE-9D83-41D4EB529F70}" type="slidenum">
              <a:rPr lang="en-GB" sz="1000">
                <a:solidFill>
                  <a:srgbClr val="8795A1"/>
                </a:solidFill>
                <a:latin typeface="Segoe UI"/>
              </a:rPr>
              <a:t>11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969691"/>
          </a:xfrm>
          <a:prstGeom prst="roundRect">
            <a:avLst>
              <a:gd name="adj" fmla="val 3079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969691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That proof produced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20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A sharper argument gives a smaller one: for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≥ 10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10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+ 7 ≤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so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4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also work.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937992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F618D"/>
                </a:solidFill>
                <a:latin typeface="Segoe UI"/>
              </a:rPr>
              <a:t>Both proofs are equally valid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because the definition asks only that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some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pair exist. Students waste effort hunting for the smallest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; the definition does not reward it. Pick the crudest bound that closes the inequality — here, replacing every term by the largest one.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235144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Polynomials</a:t>
            </a:r>
          </a:p>
        </p:txBody>
      </p:sp>
      <p:pic>
        <p:nvPicPr>
          <p:cNvPr id="3" name="!!kicker-icon" descr="puzzle-piece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LEMMA 3.2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5C6E8F88-4387-434C-8220-A317931540CE}" type="slidenum">
              <a:rPr lang="en-GB" sz="1000">
                <a:solidFill>
                  <a:srgbClr val="8795A1"/>
                </a:solidFill>
                <a:latin typeface="Segoe UI"/>
              </a:rPr>
              <a:t>12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023122"/>
          </a:xfrm>
          <a:prstGeom prst="roundRect">
            <a:avLst>
              <a:gd name="adj" fmla="val 8937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02312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Let p(n) = Σi=0d ai ni with ad &gt; 0. Then p(n) = Θ(nd)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401330"/>
          </a:xfrm>
          <a:prstGeom prst="rect">
            <a:avLst/>
          </a:prstGeom>
        </p:spPr>
      </p:pic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438339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Only the degree survives</a:t>
            </a:r>
          </a:p>
        </p:txBody>
      </p:sp>
      <p:pic>
        <p:nvPicPr>
          <p:cNvPr id="3" name="!!kicker-icon" descr="angle-double-right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7638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COROLLARY 3.3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E48EFDDE-7728-47B1-9BC7-75837070E710}" type="slidenum">
              <a:rPr lang="en-GB" sz="1000">
                <a:solidFill>
                  <a:srgbClr val="8795A1"/>
                </a:solidFill>
                <a:latin typeface="Segoe UI"/>
              </a:rPr>
              <a:t>13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350873"/>
          </a:xfrm>
          <a:prstGeom prst="roundRect">
            <a:avLst>
              <a:gd name="adj" fmla="val 6768"/>
            </a:avLst>
          </a:prstGeom>
          <a:solidFill>
            <a:srgbClr val="EEF6F4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350873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degree of a polynomial running time is the only thing about it that survives asymptotic analysis.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0.001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grows faster than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1000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64153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A quadratic is not linear</a:t>
            </a:r>
          </a:p>
        </p:txBody>
      </p:sp>
      <p:pic>
        <p:nvPicPr>
          <p:cNvPr id="3" name="!!kicker-icon" descr="award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THEOREM 3.4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DB7768A4-D119-4A82-A203-752BC8C6F0AB}" type="slidenum">
              <a:rPr lang="en-GB" sz="1000">
                <a:solidFill>
                  <a:srgbClr val="8795A1"/>
                </a:solidFill>
                <a:latin typeface="Segoe UI"/>
              </a:rPr>
              <a:t>14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986332"/>
          </a:xfrm>
          <a:prstGeom prst="roundRect">
            <a:avLst>
              <a:gd name="adj" fmla="val 9270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98633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≠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84472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Θ is exactly O and Ω together</a:t>
            </a:r>
          </a:p>
        </p:txBody>
      </p:sp>
      <p:pic>
        <p:nvPicPr>
          <p:cNvPr id="3" name="!!kicker-icon" descr="award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THEOREM 3.5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EC6EE62A-2C2F-43AC-A44A-C0002C01A64F}" type="slidenum">
              <a:rPr lang="en-GB" sz="1000">
                <a:solidFill>
                  <a:srgbClr val="8795A1"/>
                </a:solidFill>
                <a:latin typeface="Segoe UI"/>
              </a:rPr>
              <a:t>15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986332"/>
          </a:xfrm>
          <a:prstGeom prst="roundRect">
            <a:avLst>
              <a:gd name="adj" fmla="val 9270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98633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Θ(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if and only if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Ω(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04792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Why that theorem earns its place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§3.2  ·  Handout p. 20     </a:t>
            </a:r>
            <a:fld id="{11700E5A-0E9E-48B9-9674-7916629F7B6B}" type="slidenum">
              <a:rPr lang="en-GB" sz="1000">
                <a:solidFill>
                  <a:srgbClr val="8795A1"/>
                </a:solidFill>
                <a:latin typeface="Segoe UI"/>
              </a:rPr>
              <a:t>16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698773"/>
          </a:xfrm>
          <a:prstGeom prst="roundRect">
            <a:avLst>
              <a:gd name="adj" fmla="val 2472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698773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It is the most-used result in the subject and it is two lines long, so it is tempting to skip. Do not: it is what licenses the standard division of labour in every later analysis.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302533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To establish a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bound you prove an upper bound and a lower bound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separately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by completely different arguments. Chapter 10 proves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Ω(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for comparison sorting by a decision-tree argument that has nothing in common with Chapter 8’s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recurrence — and Theorem 3.5 is the reason the two halves combine into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25111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The Strict Bounds: o and ω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3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3.3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§3.3     </a:t>
            </a:r>
            <a:fld id="{4AC8F1C0-8A50-405D-98E0-496FBA567D85}" type="slidenum">
              <a:rPr lang="en-GB" sz="1000">
                <a:solidFill>
                  <a:srgbClr val="8795A1"/>
                </a:solidFill>
                <a:latin typeface="Segoe UI"/>
              </a:rPr>
              <a:t>17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45431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o and ω</a:t>
            </a:r>
          </a:p>
        </p:txBody>
      </p:sp>
      <p:pic>
        <p:nvPicPr>
          <p:cNvPr id="3" name="!!kicker-icon" descr="book-B35900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35900"/>
                </a:solidFill>
                <a:latin typeface="Segoe UI"/>
              </a:rPr>
              <a:t>DEFINITION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§3.3  ·  Handout p. 21     </a:t>
            </a:r>
            <a:fld id="{B8072533-D953-41A1-8DD4-BE66015363A9}" type="slidenum">
              <a:rPr lang="en-GB" sz="1000">
                <a:solidFill>
                  <a:srgbClr val="8795A1"/>
                </a:solidFill>
                <a:latin typeface="Segoe UI"/>
              </a:rPr>
              <a:t>18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829874"/>
          </a:xfrm>
          <a:prstGeom prst="roundRect">
            <a:avLst>
              <a:gd name="adj" fmla="val 3231"/>
            </a:avLst>
          </a:prstGeom>
          <a:solidFill>
            <a:srgbClr val="FDF2E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829874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body-0" descr="o(g(n)) = \bigl\{\, f(n) : \forall\, c &gt; 0,\ \exists\, n_{0} &gt; 0,\ \forall\, n \ge n_{0},\ 0 \le f(n) &lt; c\,g(n) \,\bigr\}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048255"/>
            <a:ext cx="10161727" cy="396575"/>
          </a:xfrm>
          <a:prstGeom prst="rect">
            <a:avLst/>
          </a:prstGeom>
        </p:spPr>
      </p:pic>
      <p:pic>
        <p:nvPicPr>
          <p:cNvPr id="10" name="body-1" descr="\omega(g(n)) = \bigl\{\, f(n) : \forall\, c &gt; 0,\ \exists\, n_{0} &gt; 0,\ \forall\, n \ge n_{0},\ 0 \le c\,g(n) &lt; f(n) \,\bigr\}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704" y="2605486"/>
            <a:ext cx="10161727" cy="396575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3162716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8A4500"/>
                </a:solidFill>
                <a:latin typeface="Segoe UI"/>
              </a:rPr>
              <a:t>The whole difference is </a:t>
            </a:r>
            <a:r>
              <a:rPr sz="2300" b="1" i="0">
                <a:solidFill>
                  <a:srgbClr val="1C252B"/>
                </a:solidFill>
                <a:latin typeface="Cambria"/>
              </a:rPr>
              <a:t>∃ 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 against </a:t>
            </a:r>
            <a:r>
              <a:rPr sz="2300" b="1" i="0">
                <a:solidFill>
                  <a:srgbClr val="1C252B"/>
                </a:solidFill>
                <a:latin typeface="Cambria"/>
              </a:rPr>
              <a:t>∀ </a:t>
            </a:r>
            <a:r>
              <a:rPr sz="2300" b="1" i="1">
                <a:solidFill>
                  <a:srgbClr val="1C252B"/>
                </a:solidFill>
                <a:latin typeface="Cambria"/>
              </a:rPr>
              <a:t>c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For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it is enough that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one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constant works. For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every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constant must work, however small — so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must become negligible relative to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not merely bounded by it.</a:t>
            </a:r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65750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Testing the Quantifier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§3.3  ·  Handout p. 21     </a:t>
            </a:r>
            <a:fld id="{DE6DB29D-9B93-4FA9-B6F4-972D3504111D}" type="slidenum">
              <a:rPr lang="en-GB" sz="1000">
                <a:solidFill>
                  <a:srgbClr val="8795A1"/>
                </a:solidFill>
                <a:latin typeface="Segoe UI"/>
              </a:rPr>
              <a:t>19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171901"/>
          </a:xfrm>
          <a:prstGeom prst="roundRect">
            <a:avLst>
              <a:gd name="adj" fmla="val 2882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171901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10442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D6608"/>
                </a:solidFill>
                <a:latin typeface="Segoe UI"/>
              </a:rPr>
              <a:t>Is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1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1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?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Take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We would need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&lt;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for all large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i.e.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2 &lt; 1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So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no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— and the reasoning shows why: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requires the ratio to vanish, and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2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for every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3156889"/>
            <a:ext cx="10234879" cy="71140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D6608"/>
                </a:solidFill>
                <a:latin typeface="Segoe UI"/>
              </a:rPr>
              <a:t>Is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1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?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Given any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&gt; 0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we need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&lt;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i.e.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&gt; 2/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So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⌈ 2/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⌉ + 1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works. Since we produced an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100" b="0" i="1">
                <a:solidFill>
                  <a:srgbClr val="1C252B"/>
                </a:solidFill>
                <a:latin typeface="Segoe UI"/>
              </a:rPr>
              <a:t>for every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yes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body-2"/>
          <p:cNvSpPr txBox="1"/>
          <p:nvPr/>
        </p:nvSpPr>
        <p:spPr>
          <a:xfrm>
            <a:off x="1042416" y="3969257"/>
            <a:ext cx="10234879" cy="71140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D6608"/>
                </a:solidFill>
                <a:latin typeface="Segoe UI"/>
              </a:rPr>
              <a:t>The pattern.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exactly when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but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≠ Θ(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— the bound holds and is </a:t>
            </a:r>
            <a:r>
              <a:rPr sz="2100" b="0" i="1">
                <a:solidFill>
                  <a:srgbClr val="1C252B"/>
                </a:solidFill>
                <a:latin typeface="Segoe UI"/>
              </a:rPr>
              <a:t>not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tight.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86070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Properties, and the Analogy With Inequality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4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3.4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§3.4     </a:t>
            </a:r>
            <a:fld id="{AFC96653-4D63-4E94-A7D7-EC1865094615}" type="slidenum">
              <a:rPr lang="en-GB" sz="1000">
                <a:solidFill>
                  <a:srgbClr val="8795A1"/>
                </a:solidFill>
                <a:latin typeface="Segoe UI"/>
              </a:rPr>
              <a:t>20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6389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Transitivity</a:t>
            </a:r>
          </a:p>
        </p:txBody>
      </p:sp>
      <p:pic>
        <p:nvPicPr>
          <p:cNvPr id="3" name="!!kicker-icon" descr="award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THEOREM 3.6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§3.4  ·  Handout p. 22     </a:t>
            </a:r>
            <a:fld id="{187A0A89-0B07-4BD3-852A-88DD1FFCEE07}" type="slidenum">
              <a:rPr lang="en-GB" sz="1000">
                <a:solidFill>
                  <a:srgbClr val="8795A1"/>
                </a:solidFill>
                <a:latin typeface="Segoe UI"/>
              </a:rPr>
              <a:t>21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986332"/>
          </a:xfrm>
          <a:prstGeom prst="roundRect">
            <a:avLst>
              <a:gd name="adj" fmla="val 9270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986332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If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then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h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26709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Sum rule</a:t>
            </a:r>
          </a:p>
        </p:txBody>
      </p:sp>
      <p:pic>
        <p:nvPicPr>
          <p:cNvPr id="3" name="!!kicker-icon" descr="puzzle-piece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LEMMA 3.7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§3.4  ·  Handout p. 22     </a:t>
            </a:r>
            <a:fld id="{DEF8D104-B803-4F79-A1C2-83EAA84A493A}" type="slidenum">
              <a:rPr lang="en-GB" sz="1000">
                <a:solidFill>
                  <a:srgbClr val="8795A1"/>
                </a:solidFill>
                <a:latin typeface="Segoe UI"/>
              </a:rPr>
              <a:t>22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986332"/>
          </a:xfrm>
          <a:prstGeom prst="roundRect">
            <a:avLst>
              <a:gd name="adj" fmla="val 9270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9863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If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then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+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O(max{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})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47028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analogy with ≤, and the one place it fails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§3.4  ·  Handout p. 22     </a:t>
            </a:r>
            <a:fld id="{3712B37D-305D-487A-9399-1E054D4B0372}" type="slidenum">
              <a:rPr lang="en-GB" sz="1000">
                <a:solidFill>
                  <a:srgbClr val="8795A1"/>
                </a:solidFill>
                <a:latin typeface="Segoe UI"/>
              </a:rPr>
              <a:t>23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232224"/>
          </a:xfrm>
          <a:prstGeom prst="roundRect">
            <a:avLst>
              <a:gd name="adj" fmla="val 2160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23222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9" name="body-0"/>
          <p:cNvGraphicFramePr>
            <a:graphicFrameLocks noGrp="1"/>
          </p:cNvGraphicFramePr>
          <p:nvPr/>
        </p:nvGraphicFramePr>
        <p:xfrm>
          <a:off x="1060704" y="2048255"/>
          <a:ext cx="10161725" cy="2798059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705464"/>
                <a:gridCol w="1279098"/>
                <a:gridCol w="7177163"/>
              </a:tblGrid>
              <a:tr h="420623"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1A5276"/>
                          </a:solidFill>
                          <a:latin typeface="Segoe UI"/>
                        </a:rPr>
                        <a:t>Asymptotic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1A5276"/>
                          </a:solidFill>
                          <a:latin typeface="Segoe UI"/>
                        </a:rPr>
                        <a:t>Reads as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1" i="0">
                          <a:solidFill>
                            <a:srgbClr val="1A5276"/>
                          </a:solidFill>
                          <a:latin typeface="Segoe UI"/>
                        </a:rPr>
                        <a:t>Properties it really has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O(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≤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transitive; reflexive 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O(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Ω(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≥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transitive; reflexive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Θ(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transitive, reflexive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Segoe UI"/>
                        </a:rPr>
                        <a:t>and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 symmetric — an equivalence relation, which the other four are not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o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&lt;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transitive;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Segoe UI"/>
                        </a:rPr>
                        <a:t>not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 reflexive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420623"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= ω(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)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f</a:t>
                      </a:r>
                      <a:r>
                        <a:rPr sz="1800" b="0" i="0">
                          <a:solidFill>
                            <a:srgbClr val="1C252B"/>
                          </a:solidFill>
                          <a:latin typeface="Cambria"/>
                        </a:rPr>
                        <a:t> &gt; </a:t>
                      </a:r>
                      <a:r>
                        <a:rPr sz="1800" b="0" i="1">
                          <a:solidFill>
                            <a:srgbClr val="1C252B"/>
                          </a:solidFill>
                          <a:latin typeface="Cambria"/>
                        </a:rPr>
                        <a:t>g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 i="0">
                          <a:solidFill>
                            <a:srgbClr val="1C252B"/>
                          </a:solidFill>
                          <a:latin typeface="Segoe UI"/>
                        </a:rPr>
                        <a:t>transitive; not reflexive</a:t>
                      </a:r>
                      <a:endParaRPr sz="18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body-1"/>
          <p:cNvSpPr txBox="1"/>
          <p:nvPr/>
        </p:nvSpPr>
        <p:spPr>
          <a:xfrm>
            <a:off x="1060704" y="4993005"/>
            <a:ext cx="10161727" cy="71140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F618D"/>
                </a:solidFill>
                <a:latin typeface="Segoe UI"/>
              </a:rPr>
              <a:t>Transpose symmetry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also holds: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exactly when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Ω(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and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exactly when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ω(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67348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analogy with ≤, and the one place it fails (continued)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§3.4  ·  Handout p. 22     </a:t>
            </a:r>
            <a:fld id="{A9B85EC6-B1A4-4EC5-A51F-741B1733655A}" type="slidenum">
              <a:rPr lang="en-GB" sz="1000">
                <a:solidFill>
                  <a:srgbClr val="8795A1"/>
                </a:solidFill>
                <a:latin typeface="Segoe UI"/>
              </a:rPr>
              <a:t>24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16963"/>
          </a:xfrm>
          <a:prstGeom prst="roundRect">
            <a:avLst>
              <a:gd name="adj" fmla="val 2070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16963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1140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F618D"/>
                </a:solidFill>
                <a:latin typeface="Segoe UI"/>
              </a:rPr>
              <a:t>But trichotomy fails.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For real numbers, exactly one of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&lt;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&gt;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b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holds. For functions there is a fourth possibility: </a:t>
            </a:r>
            <a:r>
              <a:rPr sz="2100" b="0" i="1">
                <a:solidFill>
                  <a:srgbClr val="1C252B"/>
                </a:solidFill>
                <a:latin typeface="Segoe UI"/>
              </a:rPr>
              <a:t>incomparable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Let</a:t>
            </a:r>
          </a:p>
        </p:txBody>
      </p:sp>
      <p:pic>
        <p:nvPicPr>
          <p:cNvPr id="10" name="body-1" descr="f(n) = n^{1 + \sin n}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860624"/>
            <a:ext cx="10161727" cy="359542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3366851"/>
            <a:ext cx="10161727" cy="13770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As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runs over the integers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sin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oscillates densely in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[−1, 1]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so the exponent oscillates in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[0, 2]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. Infinitely often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is near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0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which kills any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Ω(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bound; infinitely often it is near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which kills any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bound. So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neither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O(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1" i="0">
                <a:solidFill>
                  <a:srgbClr val="1C252B"/>
                </a:solidFill>
                <a:latin typeface="Segoe UI"/>
              </a:rPr>
              <a:t> nor 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Ω(</a:t>
            </a:r>
            <a:r>
              <a:rPr sz="21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21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— the two functions simply cannot be ordered.</a:t>
            </a:r>
          </a:p>
        </p:txBody>
      </p:sp>
      <p:sp>
        <p:nvSpPr>
          <p:cNvPr id="12" name="body-3"/>
          <p:cNvSpPr txBox="1"/>
          <p:nvPr/>
        </p:nvSpPr>
        <p:spPr>
          <a:xfrm>
            <a:off x="1060704" y="4844902"/>
            <a:ext cx="10161727" cy="10442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1C252B"/>
                </a:solidFill>
                <a:latin typeface="Segoe UI"/>
              </a:rPr>
              <a:t>Pathological, and worth one paragraph: it is the reason the next section’s limit test needs a disclaimer, and the reason you may not argue “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is not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, therefore 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 is 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Ω(</a:t>
            </a:r>
            <a:r>
              <a:rPr sz="21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1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100" b="0" i="0">
                <a:solidFill>
                  <a:srgbClr val="1C252B"/>
                </a:solidFill>
                <a:latin typeface="Segoe UI"/>
              </a:rPr>
              <a:t>”.</a:t>
            </a:r>
          </a:p>
        </p:txBody>
      </p:sp>
      <p:sp>
        <p:nvSpPr>
          <p:cNvPr id="13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876678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The Limit Test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5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3.5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§3.5     </a:t>
            </a:r>
            <a:fld id="{6CE3E934-7A10-4866-931B-8C75182A7AC1}" type="slidenum">
              <a:rPr lang="en-GB" sz="1000">
                <a:solidFill>
                  <a:srgbClr val="8795A1"/>
                </a:solidFill>
                <a:latin typeface="Segoe UI"/>
              </a:rPr>
              <a:t>25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079873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Limit test</a:t>
            </a:r>
          </a:p>
        </p:txBody>
      </p:sp>
      <p:pic>
        <p:nvPicPr>
          <p:cNvPr id="3" name="!!kicker-icon" descr="award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THEOREM 3.8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§3.5  ·  Handout p. 23     </a:t>
            </a:r>
            <a:fld id="{7D6550E8-6736-443E-976E-0B6A0EEEC3B8}" type="slidenum">
              <a:rPr lang="en-GB" sz="1000">
                <a:solidFill>
                  <a:srgbClr val="8795A1"/>
                </a:solidFill>
                <a:latin typeface="Segoe UI"/>
              </a:rPr>
              <a:t>26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1539814"/>
          </a:xfrm>
          <a:prstGeom prst="roundRect">
            <a:avLst>
              <a:gd name="adj" fmla="val 5938"/>
            </a:avLst>
          </a:prstGeom>
          <a:solidFill>
            <a:srgbClr val="F2F6F9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153981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4102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Suppose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lim</a:t>
            </a:r>
            <a:r>
              <a:rPr sz="1500" b="0" i="1" baseline="-25000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 → ∞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)/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exists, with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L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∞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allowed. Then</a:t>
            </a:r>
          </a:p>
        </p:txBody>
      </p:sp>
      <p:pic>
        <p:nvPicPr>
          <p:cNvPr id="10" name="body-1" descr="L = 0 \implies f = o(g); \qquad 0 &lt; L &lt; \infty \implies f = \bigTh{g}; \qquad L = \infty \implies f = \omega(g)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573451"/>
            <a:ext cx="10161727" cy="392826"/>
          </a:xfrm>
          <a:prstGeom prst="rect">
            <a:avLst/>
          </a:prstGeom>
        </p:spPr>
      </p:pic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8306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test is one-directional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§3.5  ·  Handout p. 23     </a:t>
            </a:r>
            <a:fld id="{E9C7A152-CC41-4C2F-A18D-E63DD3170478}" type="slidenum">
              <a:rPr lang="en-GB" sz="1000">
                <a:solidFill>
                  <a:srgbClr val="8795A1"/>
                </a:solidFill>
                <a:latin typeface="Segoe UI"/>
              </a:rPr>
              <a:t>27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969691"/>
          </a:xfrm>
          <a:prstGeom prst="roundRect">
            <a:avLst>
              <a:gd name="adj" fmla="val 3079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969691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Theorem 3.8 assumes the limit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exists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If it does not, the test says nothing at all — it does not say the functions are incomparable.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2937992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For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1+ sin </a:t>
            </a:r>
            <a:r>
              <a:rPr sz="15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the ratio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sin </a:t>
            </a:r>
            <a:r>
              <a:rPr sz="15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oscillates forever and the limit does not exist; here the functions do turn out to be incomparable. But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(2 + sin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also has no limiting ratio against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 =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and yet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Θ(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plainly, with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1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500" b="0" i="0" baseline="-25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3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When the limit fails, go back to the witnesses.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48626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Logarithms Lose to Every Power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§3.5  ·  Handout p. 23     </a:t>
            </a:r>
            <a:fld id="{3E9F07FB-AEB2-4D0C-916C-565A8E789E94}" type="slidenum">
              <a:rPr lang="en-GB" sz="1000">
                <a:solidFill>
                  <a:srgbClr val="8795A1"/>
                </a:solidFill>
                <a:latin typeface="Segoe UI"/>
              </a:rPr>
              <a:t>28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564867"/>
          </a:xfrm>
          <a:prstGeom prst="roundRect">
            <a:avLst>
              <a:gd name="adj" fmla="val 2003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564867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310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D6608"/>
                </a:solidFill>
                <a:latin typeface="Segoe UI"/>
              </a:rPr>
              <a:t>Claim: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ε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for every constant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ε &gt; 0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— however small.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42416" y="2422702"/>
            <a:ext cx="10234879" cy="6163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D6608"/>
                </a:solidFill>
                <a:latin typeface="Segoe UI"/>
              </a:rPr>
              <a:t>Step 1.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Both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→ ∞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ε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→ ∞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so the ratio is of the form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∞/∞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and L’Hopital’s rule applies. Treat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as a real variable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and use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ln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x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/ ln 2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:</a:t>
            </a:r>
          </a:p>
        </p:txBody>
      </p:sp>
      <p:pic>
        <p:nvPicPr>
          <p:cNvPr id="11" name="body-2" descr="\lim_{x\to\infty} \frac{\lg x}{x^{\varepsilon}} = \lim_{x\to\infty} \frac{(1/(x \ln 2))}{\varepsilon x^{\varepsilon - 1}} = \lim_{x\to\infty} \frac{1}{\varepsilon \ln 2 \cdot x^{\varepsilon}} = 0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3119018"/>
            <a:ext cx="10234879" cy="534649"/>
          </a:xfrm>
          <a:prstGeom prst="rect">
            <a:avLst/>
          </a:prstGeom>
        </p:spPr>
      </p:pic>
      <p:sp>
        <p:nvSpPr>
          <p:cNvPr id="12" name="body-3"/>
          <p:cNvSpPr txBox="1"/>
          <p:nvPr/>
        </p:nvSpPr>
        <p:spPr>
          <a:xfrm>
            <a:off x="1042416" y="3779398"/>
            <a:ext cx="10234879" cy="3310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D6608"/>
                </a:solidFill>
                <a:latin typeface="Segoe UI"/>
              </a:rPr>
              <a:t>Step 2.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The limit is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0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so by Theorem 3.8,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ε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3" name="body-3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3797686"/>
            <a:ext cx="54864" cy="26700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body-4"/>
          <p:cNvSpPr txBox="1"/>
          <p:nvPr/>
        </p:nvSpPr>
        <p:spPr>
          <a:xfrm>
            <a:off x="1042416" y="4190420"/>
            <a:ext cx="10234879" cy="118689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D6608"/>
                </a:solidFill>
                <a:latin typeface="Segoe UI"/>
              </a:rPr>
              <a:t>Step 3 — what it means.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Take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ε = 0.01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. The claim is that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is eventually negligible beside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0.01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a function so flat it looks constant on any plot you can draw. “Eventually” is doing heavy work: at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6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≈ 20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while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0.01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≈ 1.15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so the inequality has not begun to hold. It holds from about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530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5" name="body-4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208708"/>
            <a:ext cx="54864" cy="1122883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body-5"/>
          <p:cNvSpPr txBox="1"/>
          <p:nvPr/>
        </p:nvSpPr>
        <p:spPr>
          <a:xfrm>
            <a:off x="1042416" y="5457322"/>
            <a:ext cx="10234879" cy="6163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D6608"/>
                </a:solidFill>
                <a:latin typeface="Segoe UI"/>
              </a:rPr>
              <a:t>Step 4 — the lesson.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 Asymptotic statements are about limits, and a limit carries no promise about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200" b="0" i="0" baseline="30000">
                <a:solidFill>
                  <a:srgbClr val="1C252B"/>
                </a:solidFill>
                <a:latin typeface="Cambria"/>
              </a:rPr>
              <a:t>6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. This is the same lesson as Chapter 1’s crossover at </a:t>
            </a:r>
            <a:r>
              <a:rPr sz="18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800" b="0" i="0">
                <a:solidFill>
                  <a:srgbClr val="1C252B"/>
                </a:solidFill>
                <a:latin typeface="Cambria"/>
              </a:rPr>
              <a:t> = 65</a:t>
            </a:r>
            <a:r>
              <a:rPr sz="1800" b="0" i="0">
                <a:solidFill>
                  <a:srgbClr val="1C252B"/>
                </a:solidFill>
                <a:latin typeface="Segoe UI"/>
              </a:rPr>
              <a:t>, in a more extreme form.</a:t>
            </a:r>
          </a:p>
        </p:txBody>
      </p:sp>
      <p:sp>
        <p:nvSpPr>
          <p:cNvPr id="17" name="body-5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5475610"/>
            <a:ext cx="54864" cy="552297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68945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hierarchy worth memorising</a:t>
            </a:r>
          </a:p>
        </p:txBody>
      </p:sp>
      <p:pic>
        <p:nvPicPr>
          <p:cNvPr id="3" name="!!kicker-icon" descr="lightbulb-2E86C1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52915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E86C1"/>
                </a:solidFill>
                <a:latin typeface="Segoe UI"/>
              </a:rPr>
              <a:t>CONCEPT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§3.5  ·  Handout p. 23     </a:t>
            </a:r>
            <a:fld id="{1CCB2930-1ABE-4F81-B81A-07C3AFD3D1E9}" type="slidenum">
              <a:rPr lang="en-GB" sz="1000">
                <a:solidFill>
                  <a:srgbClr val="8795A1"/>
                </a:solidFill>
                <a:latin typeface="Segoe UI"/>
              </a:rPr>
              <a:t>29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513894"/>
          </a:xfrm>
          <a:prstGeom prst="roundRect">
            <a:avLst>
              <a:gd name="adj" fmla="val 2025"/>
            </a:avLst>
          </a:prstGeom>
          <a:solidFill>
            <a:srgbClr val="EBF5FB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51389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29931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Each function below is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 of the one after it, for any constants </a:t>
            </a:r>
            <a:r>
              <a:rPr sz="1600" b="0" i="0">
                <a:solidFill>
                  <a:srgbClr val="1C252B"/>
                </a:solidFill>
                <a:latin typeface="Cambria"/>
              </a:rPr>
              <a:t>ε &gt; 0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k</a:t>
            </a:r>
            <a:r>
              <a:rPr sz="1600" b="0" i="0">
                <a:solidFill>
                  <a:srgbClr val="1C252B"/>
                </a:solidFill>
                <a:latin typeface="Cambria"/>
              </a:rPr>
              <a:t> ≥ 1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a</a:t>
            </a:r>
            <a:r>
              <a:rPr sz="1600" b="0" i="0">
                <a:solidFill>
                  <a:srgbClr val="1C252B"/>
                </a:solidFill>
                <a:latin typeface="Cambria"/>
              </a:rPr>
              <a:t> &gt; 1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:</a:t>
            </a:r>
          </a:p>
        </p:txBody>
      </p:sp>
      <p:pic>
        <p:nvPicPr>
          <p:cNvPr id="10" name="body-1" descr="1 \;\prec\; \lg\lg n \;\prec\; \lg n \;\prec\; (\lg n)^{k} \;\prec\; n^{\varepsilon} \;\prec\; n \;\prec\; n \lg n \;\prec\; n^{2} \;\prec\; n^{k} \;\prec\; a^{n} \;\prec\; n!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0704" y="2413609"/>
            <a:ext cx="10161727" cy="273314"/>
          </a:xfrm>
          <a:prstGeom prst="rect">
            <a:avLst/>
          </a:prstGeom>
        </p:spPr>
      </p:pic>
      <p:sp>
        <p:nvSpPr>
          <p:cNvPr id="11" name="body-2"/>
          <p:cNvSpPr txBox="1"/>
          <p:nvPr/>
        </p:nvSpPr>
        <p:spPr>
          <a:xfrm>
            <a:off x="1060704" y="2798683"/>
            <a:ext cx="10161727" cy="29931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At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6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050" b="0" i="0" baseline="30000">
                <a:solidFill>
                  <a:srgbClr val="1C252B"/>
                </a:solidFill>
                <a:latin typeface="Cambria"/>
              </a:rPr>
              <a:t>6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, taking one operation per nanosecond:</a:t>
            </a:r>
          </a:p>
        </p:txBody>
      </p:sp>
      <p:graphicFrame>
        <p:nvGraphicFramePr>
          <p:cNvPr id="12" name="body-3"/>
          <p:cNvGraphicFramePr>
            <a:graphicFrameLocks noGrp="1"/>
          </p:cNvGraphicFramePr>
          <p:nvPr/>
        </p:nvGraphicFramePr>
        <p:xfrm>
          <a:off x="1060704" y="3164037"/>
          <a:ext cx="4644493" cy="241096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886544"/>
                <a:gridCol w="1300264"/>
                <a:gridCol w="2457685"/>
              </a:tblGrid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1">
                          <a:solidFill>
                            <a:srgbClr val="1A5276"/>
                          </a:solidFill>
                          <a:latin typeface="Cambria"/>
                        </a:rPr>
                        <a:t>g</a:t>
                      </a:r>
                      <a:r>
                        <a:rPr sz="1300" b="1" i="0">
                          <a:solidFill>
                            <a:srgbClr val="1A5276"/>
                          </a:solidFill>
                          <a:latin typeface="Cambria"/>
                        </a:rPr>
                        <a:t>(</a:t>
                      </a:r>
                      <a:r>
                        <a:rPr sz="13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300" b="1" i="0">
                          <a:solidFill>
                            <a:srgbClr val="1A5276"/>
                          </a:solidFill>
                          <a:latin typeface="Cambria"/>
                        </a:rPr>
                        <a:t>)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5276"/>
                          </a:solidFill>
                          <a:latin typeface="Segoe UI"/>
                        </a:rPr>
                        <a:t>Operations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5276"/>
                          </a:solidFill>
                          <a:latin typeface="Segoe UI"/>
                        </a:rPr>
                        <a:t>Time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lg </a:t>
                      </a:r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20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20 nanoseconds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10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6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1 millisecond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 lg </a:t>
                      </a:r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2.0 × 10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7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20 milliseconds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2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10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12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17 minutes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1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3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10</a:t>
                      </a:r>
                      <a:r>
                        <a:rPr sz="850" b="0" i="0" baseline="30000">
                          <a:solidFill>
                            <a:srgbClr val="1C252B"/>
                          </a:solidFill>
                          <a:latin typeface="Cambria"/>
                        </a:rPr>
                        <a:t>18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32 years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Cambria"/>
                        </a:rPr>
                        <a:t>2</a:t>
                      </a:r>
                      <a:r>
                        <a:rPr sz="850" b="0" i="1" baseline="30000">
                          <a:solidFill>
                            <a:srgbClr val="1C252B"/>
                          </a:solidFill>
                          <a:latin typeface="Cambria"/>
                        </a:rPr>
                        <a:t>n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—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C252B"/>
                          </a:solidFill>
                          <a:latin typeface="Segoe UI"/>
                        </a:rPr>
                        <a:t>no physical comparison exists</a:t>
                      </a:r>
                      <a:endParaRPr sz="13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3" name="body-4"/>
          <p:cNvSpPr txBox="1"/>
          <p:nvPr/>
        </p:nvSpPr>
        <p:spPr>
          <a:xfrm>
            <a:off x="1060704" y="5686765"/>
            <a:ext cx="10161727" cy="29931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The gap from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6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 to </a:t>
            </a:r>
            <a:r>
              <a:rPr sz="1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0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600" b="0" i="0">
                <a:solidFill>
                  <a:srgbClr val="1C252B"/>
                </a:solidFill>
                <a:latin typeface="Segoe UI"/>
              </a:rPr>
              <a:t> — 20 milliseconds to 17 minutes — is the one most algorithm design is about.</a:t>
            </a:r>
          </a:p>
        </p:txBody>
      </p:sp>
      <p:sp>
        <p:nvSpPr>
          <p:cNvPr id="1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89265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What Θ Asserts, Measured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6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3.6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§3.6     </a:t>
            </a:r>
            <a:fld id="{07388AD8-6A4B-4696-A079-079712047B92}" type="slidenum">
              <a:rPr lang="en-GB" sz="1000">
                <a:solidFill>
                  <a:srgbClr val="8795A1"/>
                </a:solidFill>
                <a:latin typeface="Segoe UI"/>
              </a:rPr>
              <a:t>30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09584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Ruling Out the Exponents Either Side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§3.6  ·  Handout p. 24     </a:t>
            </a:r>
            <a:fld id="{737830C1-0DF9-4BE1-B784-FEB626792559}" type="slidenum">
              <a:rPr lang="en-GB" sz="1000">
                <a:solidFill>
                  <a:srgbClr val="8795A1"/>
                </a:solidFill>
                <a:latin typeface="Segoe UI"/>
              </a:rPr>
              <a:t>31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315790"/>
          </a:xfrm>
          <a:prstGeom prst="roundRect">
            <a:avLst>
              <a:gd name="adj" fmla="val 2118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31579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9491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4E79"/>
                </a:solidFill>
                <a:latin typeface="Consolas"/>
              </a:rPr>
              <a:t>code/ch03_fit.cpp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times insertion sort and divides by three candidate functions. Each column is normalised to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1.000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at the first row, because the constant itself is machine-specific and the question is only whether the column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stays put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Median of nine runs.</a:t>
            </a:r>
          </a:p>
        </p:txBody>
      </p:sp>
      <p:graphicFrame>
        <p:nvGraphicFramePr>
          <p:cNvPr id="10" name="body-1"/>
          <p:cNvGraphicFramePr>
            <a:graphicFrameLocks noGrp="1"/>
          </p:cNvGraphicFramePr>
          <p:nvPr/>
        </p:nvGraphicFramePr>
        <p:xfrm>
          <a:off x="1042416" y="3047822"/>
          <a:ext cx="4344490" cy="273100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971300"/>
                <a:gridCol w="971300"/>
                <a:gridCol w="800630"/>
                <a:gridCol w="800630"/>
                <a:gridCol w="800630"/>
              </a:tblGrid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Segoe UI"/>
                        </a:rPr>
                        <a:t> (ms)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050" b="1" i="0" baseline="30000">
                          <a:solidFill>
                            <a:srgbClr val="1A5276"/>
                          </a:solidFill>
                          <a:latin typeface="Cambria"/>
                        </a:rPr>
                        <a:t>1.9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050" b="1" i="0" baseline="30000">
                          <a:solidFill>
                            <a:srgbClr val="1A5276"/>
                          </a:solidFill>
                          <a:latin typeface="Cambria"/>
                        </a:rPr>
                        <a:t>2.0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050" b="1" i="0" baseline="30000">
                          <a:solidFill>
                            <a:srgbClr val="1A5276"/>
                          </a:solidFill>
                          <a:latin typeface="Cambria"/>
                        </a:rPr>
                        <a:t>2.1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4,000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2.45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8,000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10.22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1.116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1.041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0.972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16,000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39.19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1.146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0.998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0.869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32,000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162.82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1.276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1.036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0.842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64,000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678.31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1.424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1.079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0.818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128,000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2595.28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1.460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1.032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0.730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2F8FC"/>
                    </a:solidFill>
                  </a:tcPr>
                </a:tc>
              </a:tr>
            </a:tbl>
          </a:graphicData>
        </a:graphic>
      </p:graphicFrame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29904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Ruling Out the Exponents Either Side (continued)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§3.6  ·  Handout p. 24     </a:t>
            </a:r>
            <a:fld id="{8C7C2CE1-300D-400C-98FB-8CAEE554C6AC}" type="slidenum">
              <a:rPr lang="en-GB" sz="1000">
                <a:solidFill>
                  <a:srgbClr val="8795A1"/>
                </a:solidFill>
                <a:latin typeface="Segoe UI"/>
              </a:rPr>
              <a:t>32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994404"/>
          </a:xfrm>
          <a:prstGeom prst="roundRect">
            <a:avLst>
              <a:gd name="adj" fmla="val 2289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99440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34686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Read the three columns as three hypotheses.</a:t>
            </a:r>
          </a:p>
        </p:txBody>
      </p:sp>
      <p:sp>
        <p:nvSpPr>
          <p:cNvPr id="10" name="body-0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2029967"/>
            <a:ext cx="54864" cy="282854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body-1"/>
          <p:cNvSpPr txBox="1"/>
          <p:nvPr/>
        </p:nvSpPr>
        <p:spPr>
          <a:xfrm>
            <a:off x="1042416" y="2445537"/>
            <a:ext cx="10234879" cy="2021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1.9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rises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46%, without turning over. If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Θ(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1.9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this column would be trapped between constants; it is climbing, so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1.9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too small.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665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2.0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stays inside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[0.998,  1.079]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a spread of 8% across a 32-fold range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That is a ratio trapped between two constants, which is exactly the definition.</a:t>
            </a:r>
          </a:p>
          <a:p>
            <a:pPr algn="l" marL="212450" indent="-21245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7D6608"/>
                </a:solidFill>
                <a:latin typeface="Segoe UI"/>
              </a:rPr>
              <a:t>•	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falls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27%, monotonically. So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2.1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too large: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2.1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 upper bound that is not tight.</a:t>
            </a:r>
          </a:p>
        </p:txBody>
      </p:sp>
      <p:sp>
        <p:nvSpPr>
          <p:cNvPr id="12" name="body-2"/>
          <p:cNvSpPr txBox="1"/>
          <p:nvPr/>
        </p:nvSpPr>
        <p:spPr>
          <a:xfrm>
            <a:off x="1042416" y="4554016"/>
            <a:ext cx="10234879" cy="9491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The experiment therefore does more than confirm the exponent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it excludes the two exponents either side, which is what distinguishes evidence for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Θ(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from mere consistency with it.</a:t>
            </a:r>
          </a:p>
        </p:txBody>
      </p:sp>
      <p:sp>
        <p:nvSpPr>
          <p:cNvPr id="13" name="body-2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4572304"/>
            <a:ext cx="54864" cy="885139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50223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Same Test for n lg n, Which Is Harder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§3.6  ·  Handout p. 24     </a:t>
            </a:r>
            <a:fld id="{40461F59-8950-4182-9505-B2E5E08CA166}" type="slidenum">
              <a:rPr lang="en-GB" sz="1000">
                <a:solidFill>
                  <a:srgbClr val="8795A1"/>
                </a:solidFill>
                <a:latin typeface="Segoe UI"/>
              </a:rPr>
              <a:t>33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4404791"/>
          </a:xfrm>
          <a:prstGeom prst="roundRect">
            <a:avLst>
              <a:gd name="adj" fmla="val 2075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4404791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sits only a whisker above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so this test needs both a wider range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more careful timing.</a:t>
            </a:r>
          </a:p>
        </p:txBody>
      </p:sp>
      <p:graphicFrame>
        <p:nvGraphicFramePr>
          <p:cNvPr id="10" name="body-1"/>
          <p:cNvGraphicFramePr>
            <a:graphicFrameLocks noGrp="1"/>
          </p:cNvGraphicFramePr>
          <p:nvPr/>
        </p:nvGraphicFramePr>
        <p:xfrm>
          <a:off x="1042416" y="2746679"/>
          <a:ext cx="4807907" cy="3121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127991"/>
                <a:gridCol w="971300"/>
                <a:gridCol w="747869"/>
                <a:gridCol w="1160117"/>
                <a:gridCol w="800630"/>
              </a:tblGrid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Segoe UI"/>
                        </a:rPr>
                        <a:t> (ms)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/(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 lg 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)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T</a:t>
                      </a:r>
                      <a:r>
                        <a:rPr sz="1600" b="1" i="0">
                          <a:solidFill>
                            <a:srgbClr val="1A5276"/>
                          </a:solidFill>
                          <a:latin typeface="Cambria"/>
                        </a:rPr>
                        <a:t>/</a:t>
                      </a:r>
                      <a:r>
                        <a:rPr sz="1600" b="1" i="1">
                          <a:solidFill>
                            <a:srgbClr val="1A5276"/>
                          </a:solidFill>
                          <a:latin typeface="Cambria"/>
                        </a:rPr>
                        <a:t>n</a:t>
                      </a:r>
                      <a:r>
                        <a:rPr sz="1050" b="1" i="0" baseline="30000">
                          <a:solidFill>
                            <a:srgbClr val="1A5276"/>
                          </a:solidFill>
                          <a:latin typeface="Cambria"/>
                        </a:rPr>
                        <a:t>1.2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solidFill>
                        <a:srgbClr val="1A5276"/>
                      </a:solidFill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DDE5EA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11.49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23.89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1.040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0.980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0.905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400,000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52.63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1.145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1.022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0.868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800,000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107.19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1.166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0.988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0.769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1,600,000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237.89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1.294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1.043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0.743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3,200,000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489.47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1.331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1.023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0.666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noFill/>
                    </a:lnT>
                    <a:lnB w="9525" cmpd="sng">
                      <a:noFill/>
                    </a:lnB>
                    <a:solidFill>
                      <a:srgbClr val="F2F8FC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6,400,000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1036.62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1.410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1.036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 i="0">
                          <a:solidFill>
                            <a:srgbClr val="1C252B"/>
                          </a:solidFill>
                          <a:latin typeface="Segoe UI"/>
                        </a:rPr>
                        <a:t>0.614</a:t>
                      </a:r>
                      <a:endParaRPr sz="1600"/>
                    </a:p>
                  </a:txBody>
                  <a:tcPr marL="109728" marR="109728" marT="64008" marB="45720" anchor="t">
                    <a:lnL w="0" cmpd="sng">
                      <a:noFill/>
                    </a:lnL>
                    <a:lnR w="0" cmpd="sng">
                      <a:noFill/>
                    </a:lnR>
                    <a:lnT w="19050" cmpd="sng">
                      <a:noFill/>
                    </a:lnT>
                    <a:lnB w="19050" cmpd="sng">
                      <a:solidFill>
                        <a:srgbClr val="1A527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70543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Same Test for n lg n, Which Is Harder (continued)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§3.6  ·  Handout p. 24     </a:t>
            </a:r>
            <a:fld id="{62DE5F14-7964-4038-8BC9-040992CA992B}" type="slidenum">
              <a:rPr lang="en-GB" sz="1000">
                <a:solidFill>
                  <a:srgbClr val="8795A1"/>
                </a:solidFill>
                <a:latin typeface="Segoe UI"/>
              </a:rPr>
              <a:t>34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377077"/>
          </a:xfrm>
          <a:prstGeom prst="roundRect">
            <a:avLst>
              <a:gd name="adj" fmla="val 2707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377077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7D6608"/>
                </a:solidFill>
                <a:latin typeface="Cambria"/>
              </a:rPr>
              <a:t>T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/(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 lg </a:t>
            </a:r>
            <a:r>
              <a:rPr sz="19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 stays within 4.3% of 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over a 64-fold range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rivals both fail: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climbs 41%,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1.2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falls 39%.</a:t>
            </a:r>
          </a:p>
        </p:txBody>
      </p:sp>
      <p:sp>
        <p:nvSpPr>
          <p:cNvPr id="10" name="body-0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2029967"/>
            <a:ext cx="54864" cy="58399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body-1"/>
          <p:cNvSpPr txBox="1"/>
          <p:nvPr/>
        </p:nvSpPr>
        <p:spPr>
          <a:xfrm>
            <a:off x="1042416" y="2746679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Now the detail that makes this more than a curve fit.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really is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cn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then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so the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column should itself grow like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Over this range that predicts a rise of</a:t>
            </a:r>
          </a:p>
        </p:txBody>
      </p:sp>
      <p:sp>
        <p:nvSpPr>
          <p:cNvPr id="12" name="body-1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2764967"/>
            <a:ext cx="54864" cy="58399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body-2" descr="\frac{\lg(6{,}400{,}000)}{\lg(100{,}000)} = \frac{22.61}{16.61} = 1.361.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416" y="3481679"/>
            <a:ext cx="10234879" cy="623437"/>
          </a:xfrm>
          <a:prstGeom prst="rect">
            <a:avLst/>
          </a:prstGeom>
        </p:spPr>
      </p:pic>
      <p:sp>
        <p:nvSpPr>
          <p:cNvPr id="14" name="body-3"/>
          <p:cNvSpPr txBox="1"/>
          <p:nvPr/>
        </p:nvSpPr>
        <p:spPr>
          <a:xfrm>
            <a:off x="1042416" y="4237832"/>
            <a:ext cx="10234879" cy="6480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Measured: </a:t>
            </a:r>
            <a:r>
              <a:rPr sz="1900" b="1" i="0">
                <a:solidFill>
                  <a:srgbClr val="1C252B"/>
                </a:solidFill>
                <a:latin typeface="Cambria"/>
              </a:rPr>
              <a:t>1.410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within 4% of the prediction. The drift in the failing column is not noise — it is the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factor, measured.</a:t>
            </a:r>
          </a:p>
        </p:txBody>
      </p:sp>
      <p:sp>
        <p:nvSpPr>
          <p:cNvPr id="3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690862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The Same Test for n lg n, Which Is Harder (continued)</a:t>
            </a:r>
          </a:p>
        </p:txBody>
      </p:sp>
      <p:pic>
        <p:nvPicPr>
          <p:cNvPr id="3" name="!!kicker-icon" descr="calculator-B7950B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314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B7950B"/>
                </a:solidFill>
                <a:latin typeface="Segoe UI"/>
              </a:rPr>
              <a:t>WORKED EXAMPLE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§3.6  ·  Handout p. 24     </a:t>
            </a:r>
            <a:fld id="{5CECDE77-2A3D-4ADB-B33E-C225A9BDC192}" type="slidenum">
              <a:rPr lang="en-GB" sz="1000">
                <a:solidFill>
                  <a:srgbClr val="8795A1"/>
                </a:solidFill>
                <a:latin typeface="Segoe UI"/>
              </a:rPr>
              <a:t>35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656636"/>
          </a:xfrm>
          <a:prstGeom prst="roundRect">
            <a:avLst>
              <a:gd name="adj" fmla="val 3441"/>
            </a:avLst>
          </a:prstGeom>
          <a:solidFill>
            <a:srgbClr val="FBF8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656636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42416" y="2011679"/>
            <a:ext cx="10234879" cy="21537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D6608"/>
                </a:solidFill>
                <a:latin typeface="Segoe UI"/>
              </a:rPr>
              <a:t>And what it took to get there.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first draft of this program allocated a fresh vector inside the timed region. At these sizes the allocation cost more than the sort it was supposed to be measuring, and the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/(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 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column came out as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1.000, 1.134, 0.804, 1.342, 0.839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noise, from which nothing follows. The fix was to allocate once outside the loop, refill with </a:t>
            </a:r>
            <a:r>
              <a:rPr sz="1800" b="0" i="0">
                <a:solidFill>
                  <a:srgbClr val="1F4E79"/>
                </a:solidFill>
                <a:latin typeface="Consolas"/>
              </a:rPr>
              <a:t>std::copy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measure the refill separately and subtract it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; the </a:t>
            </a:r>
            <a:r>
              <a:rPr sz="1800" b="0" i="0">
                <a:solidFill>
                  <a:srgbClr val="1F4E79"/>
                </a:solidFill>
                <a:latin typeface="Consolas"/>
              </a:rPr>
              <a:t>copy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column in the program’s output is that measurement, and it is how you can tell the subtraction was small enough to trust. Appendix A collects the rest of these rules.</a:t>
            </a:r>
          </a:p>
        </p:txBody>
      </p:sp>
      <p:sp>
        <p:nvSpPr>
          <p:cNvPr id="10" name="body-0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" y="2029967"/>
            <a:ext cx="54864" cy="2089708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11182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4846320" y="1874519"/>
            <a:ext cx="6659575" cy="182880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6000"/>
              </a:lnSpc>
            </a:pPr>
            <a:r>
              <a:rPr sz="3800" b="0">
                <a:solidFill>
                  <a:srgbClr val="1C252B"/>
                </a:solidFill>
                <a:latin typeface="Segoe UI Semibold"/>
              </a:rPr>
              <a:t>Four Abuses, and What Each Conceals</a:t>
            </a:r>
          </a:p>
        </p:txBody>
      </p:sp>
      <p:sp>
        <p:nvSpPr>
          <p:cNvPr id="3" name="!!d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!!dsec"/>
          <p:cNvSpPr txBox="1"/>
          <p:nvPr/>
        </p:nvSpPr>
        <p:spPr>
          <a:xfrm>
            <a:off x="658368" y="192024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80">
                <a:solidFill>
                  <a:srgbClr val="BACBD6"/>
                </a:solidFill>
                <a:latin typeface="Segoe UI"/>
              </a:rPr>
              <a:t>SECTION 7 OF 7</a:t>
            </a:r>
          </a:p>
        </p:txBody>
      </p:sp>
      <p:sp>
        <p:nvSpPr>
          <p:cNvPr id="5" name="!!dnum"/>
          <p:cNvSpPr txBox="1"/>
          <p:nvPr/>
        </p:nvSpPr>
        <p:spPr>
          <a:xfrm>
            <a:off x="621792" y="2249424"/>
            <a:ext cx="333756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0" b="0" i="0">
                <a:solidFill>
                  <a:srgbClr val="FFFFFF"/>
                </a:solidFill>
                <a:latin typeface="Segoe UI Semibold"/>
              </a:rPr>
              <a:t>3.7</a:t>
            </a:r>
          </a:p>
        </p:txBody>
      </p:sp>
      <p:sp>
        <p:nvSpPr>
          <p:cNvPr id="6" name="!!dl0"/>
          <p:cNvSpPr txBox="1"/>
          <p:nvPr/>
        </p:nvSpPr>
        <p:spPr>
          <a:xfrm>
            <a:off x="4846320" y="416052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3.1   Three Bounds, Defined</a:t>
            </a:r>
          </a:p>
        </p:txBody>
      </p:sp>
      <p:sp>
        <p:nvSpPr>
          <p:cNvPr id="7" name="!!dl1"/>
          <p:cNvSpPr txBox="1"/>
          <p:nvPr/>
        </p:nvSpPr>
        <p:spPr>
          <a:xfrm>
            <a:off x="4846320" y="4434840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3.2   Proving a Bound From the Definition</a:t>
            </a:r>
          </a:p>
        </p:txBody>
      </p:sp>
      <p:sp>
        <p:nvSpPr>
          <p:cNvPr id="8" name="!!dl2"/>
          <p:cNvSpPr txBox="1"/>
          <p:nvPr/>
        </p:nvSpPr>
        <p:spPr>
          <a:xfrm>
            <a:off x="4846320" y="470915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3.3   The Strict Bounds: o and ω</a:t>
            </a:r>
          </a:p>
        </p:txBody>
      </p:sp>
      <p:sp>
        <p:nvSpPr>
          <p:cNvPr id="9" name="!!dl3"/>
          <p:cNvSpPr txBox="1"/>
          <p:nvPr/>
        </p:nvSpPr>
        <p:spPr>
          <a:xfrm>
            <a:off x="4846320" y="498347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3.4   Properties, and the Analogy With Inequality</a:t>
            </a:r>
          </a:p>
        </p:txBody>
      </p:sp>
      <p:sp>
        <p:nvSpPr>
          <p:cNvPr id="10" name="!!dl4"/>
          <p:cNvSpPr txBox="1"/>
          <p:nvPr/>
        </p:nvSpPr>
        <p:spPr>
          <a:xfrm>
            <a:off x="4846320" y="525779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3.5   The Limit Test</a:t>
            </a:r>
          </a:p>
        </p:txBody>
      </p:sp>
      <p:sp>
        <p:nvSpPr>
          <p:cNvPr id="11" name="!!dl5"/>
          <p:cNvSpPr txBox="1"/>
          <p:nvPr/>
        </p:nvSpPr>
        <p:spPr>
          <a:xfrm>
            <a:off x="4846320" y="553211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8A4AE"/>
                </a:solidFill>
                <a:latin typeface="Segoe UI"/>
              </a:rPr>
              <a:t>3.6   What Θ Asserts, Measured</a:t>
            </a:r>
          </a:p>
        </p:txBody>
      </p:sp>
      <p:sp>
        <p:nvSpPr>
          <p:cNvPr id="12" name="!!dl6"/>
          <p:cNvSpPr txBox="1"/>
          <p:nvPr/>
        </p:nvSpPr>
        <p:spPr>
          <a:xfrm>
            <a:off x="4846320" y="5806439"/>
            <a:ext cx="66595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5276"/>
                </a:solidFill>
                <a:latin typeface="Segoe UI"/>
              </a:rPr>
              <a:t>3.7   Four Abuses, and What Each Conceals</a:t>
            </a:r>
          </a:p>
        </p:txBody>
      </p:sp>
      <p:sp>
        <p:nvSpPr>
          <p:cNvPr id="13" name="!!footL"/>
          <p:cNvSpPr txBox="1"/>
          <p:nvPr/>
        </p:nvSpPr>
        <p:spPr>
          <a:xfrm>
            <a:off x="4846320" y="643737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</a:t>
            </a:r>
          </a:p>
        </p:txBody>
      </p:sp>
      <p:sp>
        <p:nvSpPr>
          <p:cNvPr id="14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§3.7     </a:t>
            </a:r>
            <a:fld id="{EE503D92-1685-4F55-8E64-3CA985BABD55}" type="slidenum">
              <a:rPr lang="en-GB" sz="1000">
                <a:solidFill>
                  <a:srgbClr val="8795A1"/>
                </a:solidFill>
                <a:latin typeface="Segoe UI"/>
              </a:rPr>
              <a:t>36</a:t>
            </a:fld>
          </a:p>
        </p:txBody>
      </p:sp>
      <p:sp>
        <p:nvSpPr>
          <p:cNvPr id="15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315017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push dir="u"/>
      </p:transition>
    </mc:Choice>
    <mc:Fallback>
      <p:transition spd="med">
        <p:push dir="u"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1. Using O when you mean Θ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44221216-B3D3-42F1-95C2-C09F7C0A1203}" type="slidenum">
              <a:rPr lang="en-GB" sz="1000">
                <a:solidFill>
                  <a:srgbClr val="8795A1"/>
                </a:solidFill>
                <a:latin typeface="Segoe UI"/>
              </a:rPr>
              <a:t>37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969691"/>
          </a:xfrm>
          <a:prstGeom prst="roundRect">
            <a:avLst>
              <a:gd name="adj" fmla="val 3079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969691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“Insertion sort 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 is true. So is “insertion sort 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100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”, and so is “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O(2</a:t>
            </a:r>
            <a:r>
              <a:rPr sz="15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 — an upper bound stays true however loose it gets. If you know the bound is tight, say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and claim the credit; if you do not,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is honest and you should expect to be asked.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667074"/>
            <a:ext cx="10161727" cy="77480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reverse error is worse: reading somebody’s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O(·)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as if it were a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Θ(·)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and concluding an algorithm is slower than it is.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518212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2. Ω as an excuse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AE330329-AA50-40B3-91E9-4FC2314721E8}" type="slidenum">
              <a:rPr lang="en-GB" sz="1000">
                <a:solidFill>
                  <a:srgbClr val="8795A1"/>
                </a:solidFill>
                <a:latin typeface="Segoe UI"/>
              </a:rPr>
              <a:t>38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444496"/>
          </a:xfrm>
          <a:prstGeom prst="roundRect">
            <a:avLst>
              <a:gd name="adj" fmla="val 3740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444496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“My algorithm 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Ω(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 is a boast about a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lower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bound, which for an algorithm is bad news, not good. Lower bounds are interesting about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problems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“every comparison sort 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Ω(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”, Chapter 10 — because they say no algorithm can do better. About your own code,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Ω(·)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means “at least this slow”.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72140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3. Dropping the case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B5B33827-371B-409D-8F21-72E9BE8C9CBB}" type="slidenum">
              <a:rPr lang="en-GB" sz="1000">
                <a:solidFill>
                  <a:srgbClr val="8795A1"/>
                </a:solidFill>
                <a:latin typeface="Segoe UI"/>
              </a:rPr>
              <a:t>39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2079955"/>
          </a:xfrm>
          <a:prstGeom prst="roundRect">
            <a:avLst>
              <a:gd name="adj" fmla="val 4396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2079955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Cambria"/>
              </a:rPr>
              <a:t>Θ(·)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says nothing about which input you had in mind. Quicksort is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 the worst case and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Θ(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in expectation; both are true and they differ by a factor of thousands. </a:t>
            </a:r>
            <a:r>
              <a:rPr sz="2300" b="1" i="0">
                <a:solidFill>
                  <a:srgbClr val="1C252B"/>
                </a:solidFill>
                <a:latin typeface="Segoe UI"/>
              </a:rPr>
              <a:t>Name the case every time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the notation has no slot for it, so the sentence must.</a:t>
            </a:r>
          </a:p>
        </p:txBody>
      </p:sp>
      <p:sp>
        <p:nvSpPr>
          <p:cNvPr id="1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792460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4. Forgetting that the constants went somewhere</a:t>
            </a:r>
          </a:p>
        </p:txBody>
      </p:sp>
      <p:pic>
        <p:nvPicPr>
          <p:cNvPr id="3" name="!!kicker-icon" descr="exclamation-triang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45688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WATCH OUT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9FE7CC88-6A90-406B-A684-944C85FCCA91}" type="slidenum">
              <a:rPr lang="en-GB" sz="1000">
                <a:solidFill>
                  <a:srgbClr val="8795A1"/>
                </a:solidFill>
                <a:latin typeface="Segoe UI"/>
              </a:rPr>
              <a:t>40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334232"/>
          </a:xfrm>
          <a:prstGeom prst="roundRect">
            <a:avLst>
              <a:gd name="adj" fmla="val 2742"/>
            </a:avLst>
          </a:prstGeom>
          <a:solidFill>
            <a:srgbClr val="FDEDEC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33423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50388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Asymptotic notation deliberately discards exactly the information that decides which program to run at your actual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From </a:t>
            </a:r>
            <a:r>
              <a:rPr sz="2150" b="0" i="0">
                <a:solidFill>
                  <a:srgbClr val="1F4E79"/>
                </a:solidFill>
                <a:latin typeface="Consolas"/>
              </a:rPr>
              <a:t>ch03_fit.cpp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: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100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&lt;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first holds at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300" b="1" i="0">
                <a:solidFill>
                  <a:srgbClr val="1C252B"/>
                </a:solidFill>
                <a:latin typeface="Cambria"/>
              </a:rPr>
              <a:t>997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— not at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Below a thousand elements the quadratic algorithm wins, and 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Θ(·)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cannot tell you that.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667074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1C252B"/>
                </a:solidFill>
                <a:latin typeface="Segoe UI"/>
              </a:rPr>
              <a:t>The notation is a tool for comparing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ideas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. Choosing an </a:t>
            </a:r>
            <a:r>
              <a:rPr sz="2300" b="0" i="1">
                <a:solidFill>
                  <a:srgbClr val="1C252B"/>
                </a:solidFill>
                <a:latin typeface="Segoe UI"/>
              </a:rPr>
              <a:t>implementation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needs the constants back, which means measuring — the other half of every chapter in this book.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9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Common pitfalls</a:t>
            </a:r>
          </a:p>
        </p:txBody>
      </p:sp>
      <p:pic>
        <p:nvPicPr>
          <p:cNvPr id="3" name="!!kicker-icon" descr="exclamation-circle-E74C3C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2672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E74C3C"/>
                </a:solidFill>
                <a:latin typeface="Segoe UI"/>
              </a:rPr>
              <a:t>COMMON PITFALLS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7D8240DE-8F1B-4076-B1FA-CF7103352910}" type="slidenum">
              <a:rPr lang="en-GB" sz="1000">
                <a:solidFill>
                  <a:srgbClr val="8795A1"/>
                </a:solidFill>
                <a:latin typeface="Segoe UI"/>
              </a:rPr>
              <a:t>41</a:t>
            </a:fld>
          </a:p>
        </p:txBody>
      </p:sp>
      <p:sp>
        <p:nvSpPr>
          <p:cNvPr id="7" name="!!p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px0"/>
          <p:cNvSpPr txBox="1"/>
          <p:nvPr/>
        </p:nvSpPr>
        <p:spPr>
          <a:xfrm>
            <a:off x="658368" y="1778507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9" name="!!pt0"/>
          <p:cNvSpPr txBox="1"/>
          <p:nvPr/>
        </p:nvSpPr>
        <p:spPr>
          <a:xfrm>
            <a:off x="1261872" y="1737360"/>
            <a:ext cx="10271455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Writing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(2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1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 or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(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1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 +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Legal but illiterate: the point of the notation is that constants and lower terms are already gone. Write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p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95702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px1"/>
          <p:cNvSpPr txBox="1"/>
          <p:nvPr/>
        </p:nvSpPr>
        <p:spPr>
          <a:xfrm>
            <a:off x="658368" y="251856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2" name="!!pt1"/>
          <p:cNvSpPr txBox="1"/>
          <p:nvPr/>
        </p:nvSpPr>
        <p:spPr>
          <a:xfrm>
            <a:off x="1261872" y="2477414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Hunting for the smallest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c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The definition asks for existence. Any witness pair is a complete proof.</a:t>
            </a:r>
          </a:p>
        </p:txBody>
      </p:sp>
      <p:sp>
        <p:nvSpPr>
          <p:cNvPr id="13" name="!!p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62630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px2"/>
          <p:cNvSpPr txBox="1"/>
          <p:nvPr/>
        </p:nvSpPr>
        <p:spPr>
          <a:xfrm>
            <a:off x="658368" y="308549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5" name="!!pt2"/>
          <p:cNvSpPr txBox="1"/>
          <p:nvPr/>
        </p:nvSpPr>
        <p:spPr>
          <a:xfrm>
            <a:off x="1261872" y="3044342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Concluding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 = Ω(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 from “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 ≠ O(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”.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Trichotomy fails;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1+ sin </a:t>
            </a:r>
            <a:r>
              <a:rPr sz="11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the counterexample.</a:t>
            </a:r>
          </a:p>
        </p:txBody>
      </p:sp>
      <p:sp>
        <p:nvSpPr>
          <p:cNvPr id="16" name="!!p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629558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x3"/>
          <p:cNvSpPr txBox="1"/>
          <p:nvPr/>
        </p:nvSpPr>
        <p:spPr>
          <a:xfrm>
            <a:off x="658368" y="365241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18" name="!!pt3"/>
          <p:cNvSpPr txBox="1"/>
          <p:nvPr/>
        </p:nvSpPr>
        <p:spPr>
          <a:xfrm>
            <a:off x="1261872" y="361127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Using the limit test without checking the limit exists.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When it does not, the test is silent, not negative.</a:t>
            </a:r>
          </a:p>
        </p:txBody>
      </p:sp>
      <p:sp>
        <p:nvSpPr>
          <p:cNvPr id="19" name="!!p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196486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px4"/>
          <p:cNvSpPr txBox="1"/>
          <p:nvPr/>
        </p:nvSpPr>
        <p:spPr>
          <a:xfrm>
            <a:off x="658368" y="421934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21" name="!!pt4"/>
          <p:cNvSpPr txBox="1"/>
          <p:nvPr/>
        </p:nvSpPr>
        <p:spPr>
          <a:xfrm>
            <a:off x="1261872" y="4178198"/>
            <a:ext cx="10271455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Comparing 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O(·)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 bounds to rank two algorithms.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Both being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tells you nothing about which is faster, nor even that either is quadratic.</a:t>
            </a:r>
          </a:p>
        </p:txBody>
      </p:sp>
      <p:sp>
        <p:nvSpPr>
          <p:cNvPr id="22" name="!!p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936540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px5"/>
          <p:cNvSpPr txBox="1"/>
          <p:nvPr/>
        </p:nvSpPr>
        <p:spPr>
          <a:xfrm>
            <a:off x="658368" y="49594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24" name="!!pt5"/>
          <p:cNvSpPr txBox="1"/>
          <p:nvPr/>
        </p:nvSpPr>
        <p:spPr>
          <a:xfrm>
            <a:off x="1261872" y="4918252"/>
            <a:ext cx="10271455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Saying “</a:t>
            </a:r>
            <a:r>
              <a:rPr sz="1700" b="1" i="0">
                <a:solidFill>
                  <a:srgbClr val="1C252B"/>
                </a:solidFill>
                <a:latin typeface="Cambria"/>
              </a:rPr>
              <a:t>lg </a:t>
            </a:r>
            <a:r>
              <a:rPr sz="1700" b="1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1" i="0">
                <a:solidFill>
                  <a:srgbClr val="1C252B"/>
                </a:solidFill>
                <a:latin typeface="Segoe UI"/>
              </a:rPr>
              <a:t> is basically constant”.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It is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ε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for every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ε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and it is also 20 at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6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30 at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10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9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 Negligible in the limit is not the same as negligible.</a:t>
            </a:r>
          </a:p>
        </p:txBody>
      </p:sp>
      <p:sp>
        <p:nvSpPr>
          <p:cNvPr id="25" name="!!pb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676595"/>
            <a:ext cx="365760" cy="365760"/>
          </a:xfrm>
          <a:prstGeom prst="ellipse">
            <a:avLst/>
          </a:prstGeom>
          <a:solidFill>
            <a:srgbClr val="FC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!!px6"/>
          <p:cNvSpPr txBox="1"/>
          <p:nvPr/>
        </p:nvSpPr>
        <p:spPr>
          <a:xfrm>
            <a:off x="658368" y="56994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74C3C"/>
                </a:solidFill>
                <a:latin typeface="Segoe UI"/>
              </a:rPr>
              <a:t>✕</a:t>
            </a:r>
          </a:p>
        </p:txBody>
      </p:sp>
      <p:sp>
        <p:nvSpPr>
          <p:cNvPr id="27" name="!!pt6"/>
          <p:cNvSpPr txBox="1"/>
          <p:nvPr/>
        </p:nvSpPr>
        <p:spPr>
          <a:xfrm>
            <a:off x="1261872" y="5658307"/>
            <a:ext cx="10271455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A93226"/>
                </a:solidFill>
                <a:latin typeface="Segoe UI"/>
              </a:rPr>
              <a:t>Timing inside an allocation.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Not a notation error, but the reason the second worked example nearly reported nonsense.</a:t>
            </a:r>
          </a:p>
        </p:txBody>
      </p:sp>
      <p:sp>
        <p:nvSpPr>
          <p:cNvPr id="8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33099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63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74" dur="2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Try it yourself: 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6FA886AE-73FE-4CA3-B5A8-B046AE54904A}" type="slidenum">
              <a:rPr lang="en-GB" sz="1000">
                <a:solidFill>
                  <a:srgbClr val="8795A1"/>
                </a:solidFill>
                <a:latin typeface="Segoe UI"/>
              </a:rPr>
              <a:t>42</a:t>
            </a:fld>
          </a:p>
        </p:txBody>
      </p:sp>
      <p:sp>
        <p:nvSpPr>
          <p:cNvPr id="7" name="body-0"/>
          <p:cNvSpPr txBox="1"/>
          <p:nvPr/>
        </p:nvSpPr>
        <p:spPr>
          <a:xfrm>
            <a:off x="658368" y="1737360"/>
            <a:ext cx="10874959" cy="6797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Reproduces both tables in Section 3.6 and the crossover figure. Expect thirty minutes; part A takes about a minute of CPU at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128,000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8" name="!!labsteps-h"/>
          <p:cNvSpPr txBox="1"/>
          <p:nvPr/>
        </p:nvSpPr>
        <p:spPr>
          <a:xfrm>
            <a:off x="658368" y="268224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0E6655"/>
                </a:solidFill>
                <a:latin typeface="Segoe UI"/>
              </a:rPr>
              <a:t>WHAT YOU WILL DO</a:t>
            </a:r>
          </a:p>
        </p:txBody>
      </p:sp>
      <p:sp>
        <p:nvSpPr>
          <p:cNvPr id="9" name="!!labsteps"/>
          <p:cNvSpPr txBox="1"/>
          <p:nvPr/>
        </p:nvSpPr>
        <p:spPr>
          <a:xfrm>
            <a:off x="658368" y="3066288"/>
            <a:ext cx="10874959" cy="11049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1.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Insertion sort against three candidate exponents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57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2.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Merge sort against n*lg(n) and its two rivals</a:t>
            </a:r>
          </a:p>
          <a:p>
            <a:pPr algn="l" marL="459473" indent="-45947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17A65"/>
                </a:solidFill>
                <a:latin typeface="Segoe UI"/>
              </a:rPr>
              <a:t>3.	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Where an asymptotically worse function is still smaller</a:t>
            </a:r>
          </a:p>
        </p:txBody>
      </p:sp>
      <p:sp>
        <p:nvSpPr>
          <p:cNvPr id="19" name="!!lf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lfbTHI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lflTHIS"/>
          <p:cNvSpPr txBox="1"/>
          <p:nvPr/>
        </p:nvSpPr>
        <p:spPr>
          <a:xfrm>
            <a:off x="932688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THIS WEEK'S LAB</a:t>
            </a:r>
          </a:p>
        </p:txBody>
      </p:sp>
      <p:sp>
        <p:nvSpPr>
          <p:cNvPr id="22" name="!!lfvTHIS"/>
          <p:cNvSpPr txBox="1"/>
          <p:nvPr/>
        </p:nvSpPr>
        <p:spPr>
          <a:xfrm>
            <a:off x="932688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Week 2: Fit a curve; exclude the exponents either side</a:t>
            </a:r>
          </a:p>
        </p:txBody>
      </p:sp>
      <p:sp>
        <p:nvSpPr>
          <p:cNvPr id="23" name="!!lf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!!lfbWHA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4794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lflWHAT"/>
          <p:cNvSpPr txBox="1"/>
          <p:nvPr/>
        </p:nvSpPr>
        <p:spPr>
          <a:xfrm>
            <a:off x="4649114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WHAT YOU WILL RUN</a:t>
            </a:r>
          </a:p>
        </p:txBody>
      </p:sp>
      <p:sp>
        <p:nvSpPr>
          <p:cNvPr id="26" name="!!lfvWHAT"/>
          <p:cNvSpPr txBox="1"/>
          <p:nvPr/>
        </p:nvSpPr>
        <p:spPr>
          <a:xfrm>
            <a:off x="4649114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Segoe UI"/>
              </a:rPr>
              <a:t>1 listing, 64 lines of C++</a:t>
            </a:r>
          </a:p>
        </p:txBody>
      </p:sp>
      <p:sp>
        <p:nvSpPr>
          <p:cNvPr id="27" name="!!lf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3442106" cy="1078992"/>
          </a:xfrm>
          <a:prstGeom prst="roundRect">
            <a:avLst>
              <a:gd name="adj" fmla="val 8474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!!lfbRUN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91220" y="5212080"/>
            <a:ext cx="64008" cy="1078992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!!lflRUNN"/>
          <p:cNvSpPr txBox="1"/>
          <p:nvPr/>
        </p:nvSpPr>
        <p:spPr>
          <a:xfrm>
            <a:off x="8365540" y="5376672"/>
            <a:ext cx="3030626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40">
                <a:solidFill>
                  <a:srgbClr val="0E6655"/>
                </a:solidFill>
                <a:latin typeface="Segoe UI"/>
              </a:rPr>
              <a:t>RUNNABLE COPY</a:t>
            </a:r>
          </a:p>
        </p:txBody>
      </p:sp>
      <p:sp>
        <p:nvSpPr>
          <p:cNvPr id="30" name="!!lfvRUNN"/>
          <p:cNvSpPr txBox="1"/>
          <p:nvPr/>
        </p:nvSpPr>
        <p:spPr>
          <a:xfrm>
            <a:off x="8365540" y="5669280"/>
            <a:ext cx="3030626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C252B"/>
                </a:solidFill>
                <a:latin typeface="Consolas"/>
              </a:rPr>
              <a:t>code/ch03_fit.cpp</a:t>
            </a:r>
          </a:p>
        </p:txBody>
      </p:sp>
      <p:sp>
        <p:nvSpPr>
          <p:cNvPr id="3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53418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1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288F0392-013D-4EDD-B275-8D176FAB2A67}" type="slidenum">
              <a:rPr lang="en-GB" sz="1000">
                <a:solidFill>
                  <a:srgbClr val="8795A1"/>
                </a:solidFill>
                <a:latin typeface="Segoe UI"/>
              </a:rPr>
              <a:t>43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Insertion sort against three candidate exponents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3788663"/>
          </a:xfrm>
          <a:prstGeom prst="roundRect">
            <a:avLst>
              <a:gd name="adj" fmla="val 2413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C++  ·  code/ch03_fit.cpp</a:t>
            </a:r>
          </a:p>
        </p:txBody>
      </p:sp>
      <p:sp>
        <p:nvSpPr>
          <p:cNvPr id="14" name="!!code-text" descr="// ch03_fit.cpp -- what Theta(g) actually asserts, tested. // Build: cl /O2 /EHsc /std:c++17 ch03_fit.cpp (see Appendix A) // --- 1. Insertion sort against three candidate exponents ----------- // Only one of the three columns can stay constant, and which one // does is the empirical content of &quot;Theta(n^2)&quot;. // // Normalising to the FIRST row makes that row's noise everybody's // noise, so the first row must not be a sub-millisecond timing: // start at n = 4000 and take the median of nine runs. double b19 = 0, b20 = 0, b21 = 0;"/>
          <p:cNvSpPr txBox="1"/>
          <p:nvPr/>
        </p:nvSpPr>
        <p:spPr>
          <a:xfrm>
            <a:off x="1362456" y="2523744"/>
            <a:ext cx="9987991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ch03_fit.cpp -- what Theta(g) actually asserts, tested.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Build: cl /O2 /EHsc /std:c++17 ch03_fit.cpp        (see Appendix A)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--- 1. Insertion sort against three candidate exponents 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Only one of the three columns can stay constant, and which one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does is the empirical content of "Theta(n^2)".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Normalising to the FIRST row makes that row's noise everybody's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noise, so the first row must not be a sub-millisecond timing: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start at n = 4000 and take the median of nine runs.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b19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=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F7DC6F"/>
                </a:solidFill>
                <a:latin typeface="Consolas"/>
              </a:rPr>
              <a:t>0</a:t>
            </a:r>
            <a:r>
              <a:rPr sz="1900" i="0">
                <a:solidFill>
                  <a:srgbClr val="AEB6BF"/>
                </a:solidFill>
                <a:latin typeface="Consolas"/>
              </a:rPr>
              <a:t>,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b20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=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F7DC6F"/>
                </a:solidFill>
                <a:latin typeface="Consolas"/>
              </a:rPr>
              <a:t>0</a:t>
            </a:r>
            <a:r>
              <a:rPr sz="1900" i="0">
                <a:solidFill>
                  <a:srgbClr val="AEB6BF"/>
                </a:solidFill>
                <a:latin typeface="Consolas"/>
              </a:rPr>
              <a:t>,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b21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=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F7DC6F"/>
                </a:solidFill>
                <a:latin typeface="Consolas"/>
              </a:rPr>
              <a:t>0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1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2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4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7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8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9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10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11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73738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2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B4E26DB1-CB64-48F6-9C3A-5123C567A603}" type="slidenum">
              <a:rPr lang="en-GB" sz="1000">
                <a:solidFill>
                  <a:srgbClr val="8795A1"/>
                </a:solidFill>
                <a:latin typeface="Segoe UI"/>
              </a:rPr>
              <a:t>44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Insertion sort against three candidate exponents (continued)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4032504"/>
          </a:xfrm>
          <a:prstGeom prst="roundRect">
            <a:avLst>
              <a:gd name="adj" fmla="val 2267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C++  ·  code/ch03_fit.cpp</a:t>
            </a:r>
          </a:p>
        </p:txBody>
      </p:sp>
      <p:sp>
        <p:nvSpPr>
          <p:cNvPr id="14" name="!!code-text" descr="for (size_t n = 4000; n &lt;= 128000; n *= 2) { auto base = random_input(n, 2024); std::vector&lt;int&gt; work(n); double t = time_ms([&amp;]{ std::copy(base.begin(), base.end(), work.begin()); insertion_sort(work); }, 9); double x = static_cast&lt;double&gt;(n); double r19 = t / std::pow(x, 1.9); double r20 = t / std::pow(x, 2.0); double r21 = t / std::pow(x, 2.1); if (b19 == 0) { b19 = r19; b20 = r20; b21 = r21; } printf(&quot;%8zu %10.2f %10.3f %10.3f %10.3f\n&quot;, n, t, r19/b19, r20/b20, r21/b21); }"/>
          <p:cNvSpPr txBox="1"/>
          <p:nvPr/>
        </p:nvSpPr>
        <p:spPr>
          <a:xfrm>
            <a:off x="1362456" y="2523744"/>
            <a:ext cx="9987991" cy="35387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5DADE2"/>
                </a:solidFill>
                <a:latin typeface="Consolas"/>
              </a:rPr>
              <a:t>for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5DADE2"/>
                </a:solidFill>
                <a:latin typeface="Consolas"/>
              </a:rPr>
              <a:t>size_t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4000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&lt;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128000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*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2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auto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base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random_input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2024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E8EDF2"/>
                </a:solidFill>
                <a:latin typeface="Consolas"/>
              </a:rPr>
              <a:t>std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E8EDF2"/>
                </a:solidFill>
                <a:latin typeface="Consolas"/>
              </a:rPr>
              <a:t>vector</a:t>
            </a:r>
            <a:r>
              <a:rPr sz="1500" i="0">
                <a:solidFill>
                  <a:srgbClr val="AEB6BF"/>
                </a:solidFill>
                <a:latin typeface="Consolas"/>
              </a:rPr>
              <a:t>&lt;</a:t>
            </a:r>
            <a:r>
              <a:rPr sz="1500" i="0">
                <a:solidFill>
                  <a:srgbClr val="5DADE2"/>
                </a:solidFill>
                <a:latin typeface="Consolas"/>
              </a:rPr>
              <a:t>int</a:t>
            </a:r>
            <a:r>
              <a:rPr sz="1500" i="0">
                <a:solidFill>
                  <a:srgbClr val="AEB6BF"/>
                </a:solidFill>
                <a:latin typeface="Consolas"/>
              </a:rPr>
              <a:t>&gt;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work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time_ms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AEB6BF"/>
                </a:solidFill>
                <a:latin typeface="Consolas"/>
              </a:rPr>
              <a:t>[</a:t>
            </a:r>
            <a:r>
              <a:rPr sz="1500" i="0">
                <a:solidFill>
                  <a:srgbClr val="AEB6BF"/>
                </a:solidFill>
                <a:latin typeface="Consolas"/>
              </a:rPr>
              <a:t>&amp;</a:t>
            </a:r>
            <a:r>
              <a:rPr sz="1500" i="0">
                <a:solidFill>
                  <a:srgbClr val="AEB6BF"/>
                </a:solidFill>
                <a:latin typeface="Consolas"/>
              </a:rPr>
              <a:t>]</a:t>
            </a:r>
            <a:r>
              <a:rPr sz="15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500" i="0">
                <a:solidFill>
                  <a:srgbClr val="E8EDF2"/>
                </a:solidFill>
                <a:latin typeface="Consolas"/>
              </a:rPr>
              <a:t>std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E8EDF2"/>
                </a:solidFill>
                <a:latin typeface="Consolas"/>
              </a:rPr>
              <a:t>copy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base</a:t>
            </a:r>
            <a:r>
              <a:rPr sz="1500" i="0">
                <a:solidFill>
                  <a:srgbClr val="AEB6BF"/>
                </a:solidFill>
                <a:latin typeface="Consolas"/>
              </a:rPr>
              <a:t>.</a:t>
            </a:r>
            <a:r>
              <a:rPr sz="15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base</a:t>
            </a:r>
            <a:r>
              <a:rPr sz="1500" i="0">
                <a:solidFill>
                  <a:srgbClr val="AEB6BF"/>
                </a:solidFill>
                <a:latin typeface="Consolas"/>
              </a:rPr>
              <a:t>.</a:t>
            </a:r>
            <a:r>
              <a:rPr sz="1500" i="0">
                <a:solidFill>
                  <a:srgbClr val="E8EDF2"/>
                </a:solidFill>
                <a:latin typeface="Consolas"/>
              </a:rPr>
              <a:t>end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work</a:t>
            </a:r>
            <a:r>
              <a:rPr sz="1500" i="0">
                <a:solidFill>
                  <a:srgbClr val="AEB6BF"/>
                </a:solidFill>
                <a:latin typeface="Consolas"/>
              </a:rPr>
              <a:t>.</a:t>
            </a:r>
            <a:r>
              <a:rPr sz="15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500" i="0">
                <a:solidFill>
                  <a:srgbClr val="E8EDF2"/>
                </a:solidFill>
                <a:latin typeface="Consolas"/>
              </a:rPr>
              <a:t>insertion_sort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work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AEB6BF"/>
                </a:solidFill>
                <a:latin typeface="Consolas"/>
              </a:rPr>
              <a:t>}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9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x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5DADE2"/>
                </a:solidFill>
                <a:latin typeface="Consolas"/>
              </a:rPr>
              <a:t>static_cast</a:t>
            </a:r>
            <a:r>
              <a:rPr sz="1500" i="0">
                <a:solidFill>
                  <a:srgbClr val="AEB6BF"/>
                </a:solidFill>
                <a:latin typeface="Consolas"/>
              </a:rPr>
              <a:t>&lt;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AEB6BF"/>
                </a:solidFill>
                <a:latin typeface="Consolas"/>
              </a:rPr>
              <a:t>&gt;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r19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std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E8EDF2"/>
                </a:solidFill>
                <a:latin typeface="Consolas"/>
              </a:rPr>
              <a:t>pow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x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1.9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r20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std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E8EDF2"/>
                </a:solidFill>
                <a:latin typeface="Consolas"/>
              </a:rPr>
              <a:t>pow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x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2.0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r21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std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AEB6BF"/>
                </a:solidFill>
                <a:latin typeface="Consolas"/>
              </a:rPr>
              <a:t>:</a:t>
            </a:r>
            <a:r>
              <a:rPr sz="1500" i="0">
                <a:solidFill>
                  <a:srgbClr val="E8EDF2"/>
                </a:solidFill>
                <a:latin typeface="Consolas"/>
              </a:rPr>
              <a:t>pow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x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2.1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5DADE2"/>
                </a:solidFill>
                <a:latin typeface="Consolas"/>
              </a:rPr>
              <a:t>if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E8EDF2"/>
                </a:solidFill>
                <a:latin typeface="Consolas"/>
              </a:rPr>
              <a:t>b19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F7DC6F"/>
                </a:solidFill>
                <a:latin typeface="Consolas"/>
              </a:rPr>
              <a:t>0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{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b19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r19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b20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r20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b21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=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r21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</a:t>
            </a:r>
            <a:r>
              <a:rPr sz="1500" i="0">
                <a:solidFill>
                  <a:srgbClr val="E8EDF2"/>
                </a:solidFill>
                <a:latin typeface="Consolas"/>
              </a:rPr>
              <a:t>printf</a:t>
            </a:r>
            <a:r>
              <a:rPr sz="1500" i="0">
                <a:solidFill>
                  <a:srgbClr val="AEB6BF"/>
                </a:solidFill>
                <a:latin typeface="Consolas"/>
              </a:rPr>
              <a:t>(</a:t>
            </a:r>
            <a:r>
              <a:rPr sz="1500" i="0">
                <a:solidFill>
                  <a:srgbClr val="7DCEA0"/>
                </a:solidFill>
                <a:latin typeface="Consolas"/>
              </a:rPr>
              <a:t>"</a:t>
            </a:r>
            <a:r>
              <a:rPr sz="1500" i="0">
                <a:solidFill>
                  <a:srgbClr val="7DCEA0"/>
                </a:solidFill>
                <a:latin typeface="Consolas"/>
              </a:rPr>
              <a:t>%8zu %10.2f %10.3f %10.3f %10.3f</a:t>
            </a:r>
            <a:r>
              <a:rPr sz="1500" i="0">
                <a:solidFill>
                  <a:srgbClr val="7DCEA0"/>
                </a:solidFill>
                <a:latin typeface="Consolas"/>
              </a:rPr>
              <a:t>\n</a:t>
            </a:r>
            <a:r>
              <a:rPr sz="1500" i="0">
                <a:solidFill>
                  <a:srgbClr val="7DCEA0"/>
                </a:solidFill>
                <a:latin typeface="Consolas"/>
              </a:rPr>
              <a:t>"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E8EDF2"/>
                </a:solidFill>
                <a:latin typeface="Consolas"/>
              </a:rPr>
              <a:t>           </a:t>
            </a:r>
            <a:r>
              <a:rPr sz="1500" i="0">
                <a:solidFill>
                  <a:srgbClr val="E8EDF2"/>
                </a:solidFill>
                <a:latin typeface="Consolas"/>
              </a:rPr>
              <a:t>n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t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r19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b19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r20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b20</a:t>
            </a:r>
            <a:r>
              <a:rPr sz="1500" i="0">
                <a:solidFill>
                  <a:srgbClr val="AEB6BF"/>
                </a:solidFill>
                <a:latin typeface="Consolas"/>
              </a:rPr>
              <a:t>,</a:t>
            </a:r>
            <a:r>
              <a:rPr sz="1500" i="0">
                <a:solidFill>
                  <a:srgbClr val="E8EDF2"/>
                </a:solidFill>
                <a:latin typeface="Consolas"/>
              </a:rPr>
              <a:t> </a:t>
            </a:r>
            <a:r>
              <a:rPr sz="1500" i="0">
                <a:solidFill>
                  <a:srgbClr val="E8EDF2"/>
                </a:solidFill>
                <a:latin typeface="Consolas"/>
              </a:rPr>
              <a:t>r21</a:t>
            </a:r>
            <a:r>
              <a:rPr sz="1500" i="0">
                <a:solidFill>
                  <a:srgbClr val="AEB6BF"/>
                </a:solidFill>
                <a:latin typeface="Consolas"/>
              </a:rPr>
              <a:t>/</a:t>
            </a:r>
            <a:r>
              <a:rPr sz="1500" i="0">
                <a:solidFill>
                  <a:srgbClr val="E8EDF2"/>
                </a:solidFill>
                <a:latin typeface="Consolas"/>
              </a:rPr>
              <a:t>b21</a:t>
            </a:r>
            <a:r>
              <a:rPr sz="1500" i="0">
                <a:solidFill>
                  <a:srgbClr val="AEB6BF"/>
                </a:solidFill>
                <a:latin typeface="Consolas"/>
              </a:rPr>
              <a:t>)</a:t>
            </a:r>
            <a:r>
              <a:rPr sz="15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i="0">
                <a:solidFill>
                  <a:srgbClr val="AEB6BF"/>
                </a:solidFill>
                <a:latin typeface="Consolas"/>
              </a:rPr>
              <a:t>}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53872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12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13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14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15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16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17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18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19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20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21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22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23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24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25</a:t>
            </a:r>
          </a:p>
          <a:p>
            <a:pPr algn="r">
              <a:lnSpc>
                <a:spcPct val="100000"/>
              </a:lnSpc>
            </a:pPr>
            <a:r>
              <a:rPr sz="1500">
                <a:solidFill>
                  <a:srgbClr val="4F5D6A"/>
                </a:solidFill>
                <a:latin typeface="Consolas"/>
              </a:rPr>
              <a:t>26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94057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3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A918DF99-3C4A-498D-BB18-A4ACC04C57DE}" type="slidenum">
              <a:rPr lang="en-GB" sz="1000">
                <a:solidFill>
                  <a:srgbClr val="8795A1"/>
                </a:solidFill>
                <a:latin typeface="Segoe UI"/>
              </a:rPr>
              <a:t>45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Merge sort against n*lg(n) and its two rivals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3788663"/>
          </a:xfrm>
          <a:prstGeom prst="roundRect">
            <a:avLst>
              <a:gd name="adj" fmla="val 2413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C++  ·  code/ch03_fit.cpp</a:t>
            </a:r>
          </a:p>
        </p:txBody>
      </p:sp>
      <p:sp>
        <p:nvSpPr>
          <p:cNvPr id="14" name="!!code-text" descr="// --- 2. Merge sort against n*lg(n) and its two rivals -------------- // n*lg(n) is only a whisker above n, so this is a far harder test // than part 1, and it needs better hygiene to pass. // // The first draft allocated a fresh vector inside the timed region. // At these sizes that allocation costs more than it measures -- the // T/(n lg n) column came out as 1.000, 1.134, 0.804, 1.342, 0.839, // which says nothing at all. // // The fix: allocate ONCE outside the timing and refill with // std::copy, then measure the refill alone and subtract it."/>
          <p:cNvSpPr txBox="1"/>
          <p:nvPr/>
        </p:nvSpPr>
        <p:spPr>
          <a:xfrm>
            <a:off x="1362456" y="2523744"/>
            <a:ext cx="9987991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--- 2. Merge sort against n*lg(n) and its two rivals --------------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n*lg(n) is only a whisker above n, so this is a far harder test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than part 1, and it needs better hygiene to pass.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The first draft allocated a fresh vector inside the timed region.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At these sizes that allocation costs more than it measures -- the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T/(n lg n) column came out as 1.000, 1.134, 0.804, 1.342, 0.839,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which says nothing at all.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The fix: allocate ONCE outside the timing and refill with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std::copy, then measure the refill alone and subtract it.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28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29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30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31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32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33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34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35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36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37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38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14377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4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3029792D-5658-4BF3-BC5C-84B254EAFF43}" type="slidenum">
              <a:rPr lang="en-GB" sz="1000">
                <a:solidFill>
                  <a:srgbClr val="8795A1"/>
                </a:solidFill>
                <a:latin typeface="Segoe UI"/>
              </a:rPr>
              <a:t>46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Merge sort against n*lg(n) and its two rivals (continued)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4017264"/>
          </a:xfrm>
          <a:prstGeom prst="roundRect">
            <a:avLst>
              <a:gd name="adj" fmla="val 2276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C++  ·  code/ch03_fit.cpp</a:t>
            </a:r>
          </a:p>
        </p:txBody>
      </p:sp>
      <p:sp>
        <p:nvSpPr>
          <p:cNvPr id="14" name="!!code-text" descr="for (size_t n = 100000; n &lt;= 6400000; n *= 2) { auto base = random_input(n, 2024); std::vector&lt;int&gt; work(n), buf(n); double tc = time_ms([&amp;]{ std::copy(base.begin(), base.end(), work.begin()); }, 11); double tt = time_ms([&amp;]{ std::copy(base.begin(), base.end(), work.begin()); merge_sort(work, buf, 0, n); }, 11); double t = tt - tc; // the sort, with the refill removed /* print tc so the reader can check the subtraction was small, then t/n, t/(n lg n) and t/n^1.2 normalised to the first row */ }"/>
          <p:cNvSpPr txBox="1"/>
          <p:nvPr/>
        </p:nvSpPr>
        <p:spPr>
          <a:xfrm>
            <a:off x="1362456" y="2523744"/>
            <a:ext cx="9987991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5DADE2"/>
                </a:solidFill>
                <a:latin typeface="Consolas"/>
              </a:rPr>
              <a:t>for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5DADE2"/>
                </a:solidFill>
                <a:latin typeface="Consolas"/>
              </a:rPr>
              <a:t>size_t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100000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&lt;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6400000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*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2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5DADE2"/>
                </a:solidFill>
                <a:latin typeface="Consolas"/>
              </a:rPr>
              <a:t>auto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base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random_input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2024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E8EDF2"/>
                </a:solidFill>
                <a:latin typeface="Consolas"/>
              </a:rPr>
              <a:t>std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E8EDF2"/>
                </a:solidFill>
                <a:latin typeface="Consolas"/>
              </a:rPr>
              <a:t>vector</a:t>
            </a:r>
            <a:r>
              <a:rPr sz="1600" i="0">
                <a:solidFill>
                  <a:srgbClr val="AEB6BF"/>
                </a:solidFill>
                <a:latin typeface="Consolas"/>
              </a:rPr>
              <a:t>&lt;</a:t>
            </a:r>
            <a:r>
              <a:rPr sz="1600" i="0">
                <a:solidFill>
                  <a:srgbClr val="5DADE2"/>
                </a:solidFill>
                <a:latin typeface="Consolas"/>
              </a:rPr>
              <a:t>int</a:t>
            </a:r>
            <a:r>
              <a:rPr sz="1600" i="0">
                <a:solidFill>
                  <a:srgbClr val="AEB6BF"/>
                </a:solidFill>
                <a:latin typeface="Consolas"/>
              </a:rPr>
              <a:t>&gt;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work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buf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tc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time_ms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[</a:t>
            </a:r>
            <a:r>
              <a:rPr sz="1600" i="0">
                <a:solidFill>
                  <a:srgbClr val="AEB6BF"/>
                </a:solidFill>
                <a:latin typeface="Consolas"/>
              </a:rPr>
              <a:t>&amp;</a:t>
            </a:r>
            <a:r>
              <a:rPr sz="1600" i="0">
                <a:solidFill>
                  <a:srgbClr val="AEB6BF"/>
                </a:solidFill>
                <a:latin typeface="Consolas"/>
              </a:rPr>
              <a:t>]</a:t>
            </a:r>
            <a:r>
              <a:rPr sz="16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600" i="0">
                <a:solidFill>
                  <a:srgbClr val="E8EDF2"/>
                </a:solidFill>
                <a:latin typeface="Consolas"/>
              </a:rPr>
              <a:t>std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E8EDF2"/>
                </a:solidFill>
                <a:latin typeface="Consolas"/>
              </a:rPr>
              <a:t>copy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base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base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end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work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}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11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tt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time_ms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[</a:t>
            </a:r>
            <a:r>
              <a:rPr sz="1600" i="0">
                <a:solidFill>
                  <a:srgbClr val="AEB6BF"/>
                </a:solidFill>
                <a:latin typeface="Consolas"/>
              </a:rPr>
              <a:t>&amp;</a:t>
            </a:r>
            <a:r>
              <a:rPr sz="1600" i="0">
                <a:solidFill>
                  <a:srgbClr val="AEB6BF"/>
                </a:solidFill>
                <a:latin typeface="Consolas"/>
              </a:rPr>
              <a:t>]</a:t>
            </a:r>
            <a:r>
              <a:rPr sz="16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600" i="0">
                <a:solidFill>
                  <a:srgbClr val="E8EDF2"/>
                </a:solidFill>
                <a:latin typeface="Consolas"/>
              </a:rPr>
              <a:t>std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AEB6BF"/>
                </a:solidFill>
                <a:latin typeface="Consolas"/>
              </a:rPr>
              <a:t>:</a:t>
            </a:r>
            <a:r>
              <a:rPr sz="1600" i="0">
                <a:solidFill>
                  <a:srgbClr val="E8EDF2"/>
                </a:solidFill>
                <a:latin typeface="Consolas"/>
              </a:rPr>
              <a:t>copy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base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base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end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work</a:t>
            </a:r>
            <a:r>
              <a:rPr sz="1600" i="0">
                <a:solidFill>
                  <a:srgbClr val="AEB6BF"/>
                </a:solidFill>
                <a:latin typeface="Consolas"/>
              </a:rPr>
              <a:t>.</a:t>
            </a:r>
            <a:r>
              <a:rPr sz="1600" i="0">
                <a:solidFill>
                  <a:srgbClr val="E8EDF2"/>
                </a:solidFill>
                <a:latin typeface="Consolas"/>
              </a:rPr>
              <a:t>begin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600" i="0">
                <a:solidFill>
                  <a:srgbClr val="E8EDF2"/>
                </a:solidFill>
                <a:latin typeface="Consolas"/>
              </a:rPr>
              <a:t>merge_sort</a:t>
            </a:r>
            <a:r>
              <a:rPr sz="1600" i="0">
                <a:solidFill>
                  <a:srgbClr val="AEB6BF"/>
                </a:solidFill>
                <a:latin typeface="Consolas"/>
              </a:rPr>
              <a:t>(</a:t>
            </a:r>
            <a:r>
              <a:rPr sz="1600" i="0">
                <a:solidFill>
                  <a:srgbClr val="E8EDF2"/>
                </a:solidFill>
                <a:latin typeface="Consolas"/>
              </a:rPr>
              <a:t>work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buf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0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n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AEB6BF"/>
                </a:solidFill>
                <a:latin typeface="Consolas"/>
              </a:rPr>
              <a:t>}</a:t>
            </a:r>
            <a:r>
              <a:rPr sz="1600" i="0">
                <a:solidFill>
                  <a:srgbClr val="AEB6BF"/>
                </a:solidFill>
                <a:latin typeface="Consolas"/>
              </a:rPr>
              <a:t>,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F7DC6F"/>
                </a:solidFill>
                <a:latin typeface="Consolas"/>
              </a:rPr>
              <a:t>11</a:t>
            </a:r>
            <a:r>
              <a:rPr sz="1600" i="0">
                <a:solidFill>
                  <a:srgbClr val="AEB6BF"/>
                </a:solidFill>
                <a:latin typeface="Consolas"/>
              </a:rPr>
              <a:t>)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=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tt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AEB6BF"/>
                </a:solidFill>
                <a:latin typeface="Consolas"/>
              </a:rPr>
              <a:t>-</a:t>
            </a:r>
            <a:r>
              <a:rPr sz="1600" i="0">
                <a:solidFill>
                  <a:srgbClr val="E8EDF2"/>
                </a:solidFill>
                <a:latin typeface="Consolas"/>
              </a:rPr>
              <a:t> </a:t>
            </a:r>
            <a:r>
              <a:rPr sz="1600" i="0">
                <a:solidFill>
                  <a:srgbClr val="E8EDF2"/>
                </a:solidFill>
                <a:latin typeface="Consolas"/>
              </a:rPr>
              <a:t>tc</a:t>
            </a:r>
            <a:r>
              <a:rPr sz="1600" i="0">
                <a:solidFill>
                  <a:srgbClr val="AEB6BF"/>
                </a:solidFill>
                <a:latin typeface="Consolas"/>
              </a:rPr>
              <a:t>;</a:t>
            </a:r>
            <a:r>
              <a:rPr sz="1600" i="0">
                <a:solidFill>
                  <a:srgbClr val="E8EDF2"/>
                </a:solidFill>
                <a:latin typeface="Consolas"/>
              </a:rPr>
              <a:t>          </a:t>
            </a:r>
            <a:r>
              <a:rPr sz="1600" i="1">
                <a:solidFill>
                  <a:srgbClr val="8795A1"/>
                </a:solidFill>
                <a:latin typeface="Consolas"/>
              </a:rPr>
              <a:t>// the sort, with the refill removed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E8EDF2"/>
                </a:solidFill>
                <a:latin typeface="Consolas"/>
              </a:rPr>
              <a:t>    </a:t>
            </a:r>
            <a:r>
              <a:rPr sz="1600" i="1">
                <a:solidFill>
                  <a:srgbClr val="8795A1"/>
                </a:solidFill>
                <a:latin typeface="Consolas"/>
              </a:rPr>
              <a:t>/* print tc so the reader can check the subtraction was small,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8795A1"/>
                </a:solidFill>
                <a:latin typeface="Consolas"/>
              </a:rPr>
              <a:t>       then t/n, t/(n lg n) and t/n^1.2 normalised to the first row */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0">
                <a:solidFill>
                  <a:srgbClr val="AEB6BF"/>
                </a:solidFill>
                <a:latin typeface="Consolas"/>
              </a:rPr>
              <a:t>}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5234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39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40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41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42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43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44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45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46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47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48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49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50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51</a:t>
            </a:r>
          </a:p>
          <a:p>
            <a:pPr algn="r">
              <a:lnSpc>
                <a:spcPct val="100000"/>
              </a:lnSpc>
            </a:pPr>
            <a:r>
              <a:rPr sz="1600">
                <a:solidFill>
                  <a:srgbClr val="4F5D6A"/>
                </a:solidFill>
                <a:latin typeface="Consolas"/>
              </a:rPr>
              <a:t>52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34696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600" b="0">
                <a:solidFill>
                  <a:srgbClr val="1A5276"/>
                </a:solidFill>
                <a:latin typeface="Segoe UI Semibold"/>
              </a:rPr>
              <a:t>Fitting a Curve, and Excluding the Rivals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LAB  ·  STEP 5 OF 5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2078D7F4-0924-4B79-932D-20D1C37E9D26}" type="slidenum">
              <a:rPr lang="en-GB" sz="1000">
                <a:solidFill>
                  <a:srgbClr val="8795A1"/>
                </a:solidFill>
                <a:latin typeface="Segoe UI"/>
              </a:rPr>
              <a:t>47</a:t>
            </a:fld>
          </a:p>
        </p:txBody>
      </p:sp>
      <p:sp>
        <p:nvSpPr>
          <p:cNvPr id="7" name="!!codehead"/>
          <p:cNvSpPr txBox="1"/>
          <p:nvPr/>
        </p:nvSpPr>
        <p:spPr>
          <a:xfrm>
            <a:off x="658368" y="1627631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6655"/>
                </a:solidFill>
                <a:latin typeface="Segoe UI Semibold"/>
              </a:rPr>
              <a:t>Where an asymptotically worse function is still smaller</a:t>
            </a:r>
          </a:p>
        </p:txBody>
      </p:sp>
      <p:sp>
        <p:nvSpPr>
          <p:cNvPr id="8" name="!!code-b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084831"/>
            <a:ext cx="10874959" cy="3788663"/>
          </a:xfrm>
          <a:prstGeom prst="roundRect">
            <a:avLst>
              <a:gd name="adj" fmla="val 2413"/>
            </a:avLst>
          </a:prstGeom>
          <a:solidFill>
            <a:srgbClr val="1E2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ode-sep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6" y="2404872"/>
            <a:ext cx="10838383" cy="10972"/>
          </a:xfrm>
          <a:prstGeom prst="rect">
            <a:avLst/>
          </a:prstGeom>
          <a:solidFill>
            <a:srgbClr val="28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code-do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9536" y="2199132"/>
            <a:ext cx="100584" cy="100584"/>
          </a:xfrm>
          <a:prstGeom prst="ellipse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code-do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42415" y="2199132"/>
            <a:ext cx="100584" cy="100584"/>
          </a:xfrm>
          <a:prstGeom prst="ellipse">
            <a:avLst/>
          </a:prstGeom>
          <a:solidFill>
            <a:srgbClr val="F4D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ode-do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25295" y="2199132"/>
            <a:ext cx="100584" cy="100584"/>
          </a:xfrm>
          <a:prstGeom prst="ellipse">
            <a:avLst/>
          </a:prstGeom>
          <a:solidFill>
            <a:srgbClr val="58D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code-label"/>
          <p:cNvSpPr txBox="1"/>
          <p:nvPr/>
        </p:nvSpPr>
        <p:spPr>
          <a:xfrm>
            <a:off x="1527048" y="2148839"/>
            <a:ext cx="9777679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B0BF"/>
                </a:solidFill>
                <a:latin typeface="Segoe UI"/>
              </a:rPr>
              <a:t>C++  ·  code/ch03_fit.cpp</a:t>
            </a:r>
          </a:p>
        </p:txBody>
      </p:sp>
      <p:sp>
        <p:nvSpPr>
          <p:cNvPr id="14" name="!!code-text" descr="// --- 3. Where an asymptotically worse function is still smaller ---- // Theta is a statement about a limit, and the limit can be a long way // off. Report the crossover rather than pretending there is none: // 100 n lg n &lt; n^2 requires 100 lg n &lt; n. for (size_t n = 2; n &lt; 100000; ++n) { double x = static_cast&lt;double&gt;(n); if (100.0 * x * std::log2(x) &lt; x * x) { printf(&quot;\n crossover: n lg n first wins at n = %zu\n&quot;, n); break; } }"/>
          <p:cNvSpPr txBox="1"/>
          <p:nvPr/>
        </p:nvSpPr>
        <p:spPr>
          <a:xfrm>
            <a:off x="1362456" y="2523744"/>
            <a:ext cx="9987991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--- 3. Where an asymptotically worse function is still smaller ----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Theta is a statement about a limit, and the limit can be a long way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off. Report the crossover rather than pretending there is none: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1">
                <a:solidFill>
                  <a:srgbClr val="8795A1"/>
                </a:solidFill>
                <a:latin typeface="Consolas"/>
              </a:rPr>
              <a:t>// 100 n lg n &lt; n^2 requires 100 lg n &lt; n.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5DADE2"/>
                </a:solidFill>
                <a:latin typeface="Consolas"/>
              </a:rPr>
              <a:t>for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(</a:t>
            </a:r>
            <a:r>
              <a:rPr sz="1900" i="0">
                <a:solidFill>
                  <a:srgbClr val="5DADE2"/>
                </a:solidFill>
                <a:latin typeface="Consolas"/>
              </a:rPr>
              <a:t>size_t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n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=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F7DC6F"/>
                </a:solidFill>
                <a:latin typeface="Consolas"/>
              </a:rPr>
              <a:t>2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n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&lt;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F7DC6F"/>
                </a:solidFill>
                <a:latin typeface="Consolas"/>
              </a:rPr>
              <a:t>100000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+</a:t>
            </a:r>
            <a:r>
              <a:rPr sz="1900" i="0">
                <a:solidFill>
                  <a:srgbClr val="AEB6BF"/>
                </a:solidFill>
                <a:latin typeface="Consolas"/>
              </a:rPr>
              <a:t>+</a:t>
            </a:r>
            <a:r>
              <a:rPr sz="1900" i="0">
                <a:solidFill>
                  <a:srgbClr val="E8EDF2"/>
                </a:solidFill>
                <a:latin typeface="Consolas"/>
              </a:rPr>
              <a:t>n</a:t>
            </a:r>
            <a:r>
              <a:rPr sz="1900" i="0">
                <a:solidFill>
                  <a:srgbClr val="AEB6BF"/>
                </a:solidFill>
                <a:latin typeface="Consolas"/>
              </a:rPr>
              <a:t>)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E8EDF2"/>
                </a:solidFill>
                <a:latin typeface="Consolas"/>
              </a:rPr>
              <a:t>    </a:t>
            </a:r>
            <a:r>
              <a:rPr sz="19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x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=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5DADE2"/>
                </a:solidFill>
                <a:latin typeface="Consolas"/>
              </a:rPr>
              <a:t>static_cast</a:t>
            </a:r>
            <a:r>
              <a:rPr sz="1900" i="0">
                <a:solidFill>
                  <a:srgbClr val="AEB6BF"/>
                </a:solidFill>
                <a:latin typeface="Consolas"/>
              </a:rPr>
              <a:t>&lt;</a:t>
            </a:r>
            <a:r>
              <a:rPr sz="1900" i="0">
                <a:solidFill>
                  <a:srgbClr val="5DADE2"/>
                </a:solidFill>
                <a:latin typeface="Consolas"/>
              </a:rPr>
              <a:t>double</a:t>
            </a:r>
            <a:r>
              <a:rPr sz="1900" i="0">
                <a:solidFill>
                  <a:srgbClr val="AEB6BF"/>
                </a:solidFill>
                <a:latin typeface="Consolas"/>
              </a:rPr>
              <a:t>&gt;</a:t>
            </a:r>
            <a:r>
              <a:rPr sz="1900" i="0">
                <a:solidFill>
                  <a:srgbClr val="AEB6BF"/>
                </a:solidFill>
                <a:latin typeface="Consolas"/>
              </a:rPr>
              <a:t>(</a:t>
            </a:r>
            <a:r>
              <a:rPr sz="1900" i="0">
                <a:solidFill>
                  <a:srgbClr val="E8EDF2"/>
                </a:solidFill>
                <a:latin typeface="Consolas"/>
              </a:rPr>
              <a:t>n</a:t>
            </a:r>
            <a:r>
              <a:rPr sz="1900" i="0">
                <a:solidFill>
                  <a:srgbClr val="AEB6BF"/>
                </a:solidFill>
                <a:latin typeface="Consolas"/>
              </a:rPr>
              <a:t>)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E8EDF2"/>
                </a:solidFill>
                <a:latin typeface="Consolas"/>
              </a:rPr>
              <a:t>    </a:t>
            </a:r>
            <a:r>
              <a:rPr sz="1900" i="0">
                <a:solidFill>
                  <a:srgbClr val="5DADE2"/>
                </a:solidFill>
                <a:latin typeface="Consolas"/>
              </a:rPr>
              <a:t>if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(</a:t>
            </a:r>
            <a:r>
              <a:rPr sz="1900" i="0">
                <a:solidFill>
                  <a:srgbClr val="F7DC6F"/>
                </a:solidFill>
                <a:latin typeface="Consolas"/>
              </a:rPr>
              <a:t>100.0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*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x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*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std</a:t>
            </a:r>
            <a:r>
              <a:rPr sz="1900" i="0">
                <a:solidFill>
                  <a:srgbClr val="AEB6BF"/>
                </a:solidFill>
                <a:latin typeface="Consolas"/>
              </a:rPr>
              <a:t>:</a:t>
            </a:r>
            <a:r>
              <a:rPr sz="1900" i="0">
                <a:solidFill>
                  <a:srgbClr val="AEB6BF"/>
                </a:solidFill>
                <a:latin typeface="Consolas"/>
              </a:rPr>
              <a:t>:</a:t>
            </a:r>
            <a:r>
              <a:rPr sz="1900" i="0">
                <a:solidFill>
                  <a:srgbClr val="E8EDF2"/>
                </a:solidFill>
                <a:latin typeface="Consolas"/>
              </a:rPr>
              <a:t>log2</a:t>
            </a:r>
            <a:r>
              <a:rPr sz="1900" i="0">
                <a:solidFill>
                  <a:srgbClr val="AEB6BF"/>
                </a:solidFill>
                <a:latin typeface="Consolas"/>
              </a:rPr>
              <a:t>(</a:t>
            </a:r>
            <a:r>
              <a:rPr sz="1900" i="0">
                <a:solidFill>
                  <a:srgbClr val="E8EDF2"/>
                </a:solidFill>
                <a:latin typeface="Consolas"/>
              </a:rPr>
              <a:t>x</a:t>
            </a:r>
            <a:r>
              <a:rPr sz="1900" i="0">
                <a:solidFill>
                  <a:srgbClr val="AEB6BF"/>
                </a:solidFill>
                <a:latin typeface="Consolas"/>
              </a:rPr>
              <a:t>)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&lt;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x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*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x</a:t>
            </a:r>
            <a:r>
              <a:rPr sz="1900" i="0">
                <a:solidFill>
                  <a:srgbClr val="AEB6BF"/>
                </a:solidFill>
                <a:latin typeface="Consolas"/>
              </a:rPr>
              <a:t>)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AEB6BF"/>
                </a:solidFill>
                <a:latin typeface="Consolas"/>
              </a:rPr>
              <a:t>{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900" i="0">
                <a:solidFill>
                  <a:srgbClr val="E8EDF2"/>
                </a:solidFill>
                <a:latin typeface="Consolas"/>
              </a:rPr>
              <a:t>printf</a:t>
            </a:r>
            <a:r>
              <a:rPr sz="1900" i="0">
                <a:solidFill>
                  <a:srgbClr val="AEB6BF"/>
                </a:solidFill>
                <a:latin typeface="Consolas"/>
              </a:rPr>
              <a:t>(</a:t>
            </a:r>
            <a:r>
              <a:rPr sz="1900" i="0">
                <a:solidFill>
                  <a:srgbClr val="7DCEA0"/>
                </a:solidFill>
                <a:latin typeface="Consolas"/>
              </a:rPr>
              <a:t>"</a:t>
            </a:r>
            <a:r>
              <a:rPr sz="1900" i="0">
                <a:solidFill>
                  <a:srgbClr val="7DCEA0"/>
                </a:solidFill>
                <a:latin typeface="Consolas"/>
              </a:rPr>
              <a:t>\n</a:t>
            </a:r>
            <a:r>
              <a:rPr sz="1900" i="0">
                <a:solidFill>
                  <a:srgbClr val="7DCEA0"/>
                </a:solidFill>
                <a:latin typeface="Consolas"/>
              </a:rPr>
              <a:t>   crossover: n lg n first wins at n = %zu</a:t>
            </a:r>
            <a:r>
              <a:rPr sz="1900" i="0">
                <a:solidFill>
                  <a:srgbClr val="7DCEA0"/>
                </a:solidFill>
                <a:latin typeface="Consolas"/>
              </a:rPr>
              <a:t>\n</a:t>
            </a:r>
            <a:r>
              <a:rPr sz="1900" i="0">
                <a:solidFill>
                  <a:srgbClr val="7DCEA0"/>
                </a:solidFill>
                <a:latin typeface="Consolas"/>
              </a:rPr>
              <a:t>"</a:t>
            </a:r>
            <a:r>
              <a:rPr sz="1900" i="0">
                <a:solidFill>
                  <a:srgbClr val="AEB6BF"/>
                </a:solidFill>
                <a:latin typeface="Consolas"/>
              </a:rPr>
              <a:t>,</a:t>
            </a:r>
            <a:r>
              <a:rPr sz="1900" i="0">
                <a:solidFill>
                  <a:srgbClr val="E8EDF2"/>
                </a:solidFill>
                <a:latin typeface="Consolas"/>
              </a:rPr>
              <a:t> </a:t>
            </a:r>
            <a:r>
              <a:rPr sz="1900" i="0">
                <a:solidFill>
                  <a:srgbClr val="E8EDF2"/>
                </a:solidFill>
                <a:latin typeface="Consolas"/>
              </a:rPr>
              <a:t>n</a:t>
            </a:r>
            <a:r>
              <a:rPr sz="1900" i="0">
                <a:solidFill>
                  <a:srgbClr val="AEB6BF"/>
                </a:solidFill>
                <a:latin typeface="Consolas"/>
              </a:rPr>
              <a:t>)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E8EDF2"/>
                </a:solidFill>
                <a:latin typeface="Consolas"/>
              </a:rPr>
              <a:t>        </a:t>
            </a:r>
            <a:r>
              <a:rPr sz="1900" i="0">
                <a:solidFill>
                  <a:srgbClr val="5DADE2"/>
                </a:solidFill>
                <a:latin typeface="Consolas"/>
              </a:rPr>
              <a:t>break</a:t>
            </a:r>
            <a:r>
              <a:rPr sz="1900" i="0">
                <a:solidFill>
                  <a:srgbClr val="AEB6BF"/>
                </a:solidFill>
                <a:latin typeface="Consolas"/>
              </a:rPr>
              <a:t>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E8EDF2"/>
                </a:solidFill>
                <a:latin typeface="Consolas"/>
              </a:rPr>
              <a:t>    </a:t>
            </a:r>
            <a:r>
              <a:rPr sz="1900" i="0">
                <a:solidFill>
                  <a:srgbClr val="AEB6BF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900" i="0">
                <a:solidFill>
                  <a:srgbClr val="AEB6BF"/>
                </a:solidFill>
                <a:latin typeface="Consolas"/>
              </a:rPr>
              <a:t>}</a:t>
            </a:r>
          </a:p>
        </p:txBody>
      </p:sp>
      <p:sp>
        <p:nvSpPr>
          <p:cNvPr id="15" name="!!code-num"/>
          <p:cNvSpPr txBox="1"/>
          <p:nvPr/>
        </p:nvSpPr>
        <p:spPr>
          <a:xfrm>
            <a:off x="768096" y="2523744"/>
            <a:ext cx="393192" cy="329488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54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55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56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57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58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59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60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61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62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63</a:t>
            </a:r>
          </a:p>
          <a:p>
            <a:pPr algn="r">
              <a:lnSpc>
                <a:spcPct val="100000"/>
              </a:lnSpc>
            </a:pPr>
            <a:r>
              <a:rPr sz="1900">
                <a:solidFill>
                  <a:srgbClr val="4F5D6A"/>
                </a:solidFill>
                <a:latin typeface="Consolas"/>
              </a:rPr>
              <a:t>64</a:t>
            </a:r>
          </a:p>
        </p:txBody>
      </p:sp>
      <p:sp>
        <p:nvSpPr>
          <p:cNvPr id="1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550161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the lab shows</a:t>
            </a:r>
          </a:p>
        </p:txBody>
      </p:sp>
      <p:pic>
        <p:nvPicPr>
          <p:cNvPr id="3" name="!!kicker-icon" descr="flask-117A65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92583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17A65"/>
                </a:solidFill>
                <a:latin typeface="Segoe UI"/>
              </a:rPr>
              <a:t>TRY IT YOURSELF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§3.7  ·  Handout p. 26     </a:t>
            </a:r>
            <a:fld id="{631E91FE-FB07-4499-AE85-80C5DD0A702F}" type="slidenum">
              <a:rPr lang="en-GB" sz="1000">
                <a:solidFill>
                  <a:srgbClr val="8795A1"/>
                </a:solidFill>
                <a:latin typeface="Segoe UI"/>
              </a:rPr>
              <a:t>48</a:t>
            </a:fld>
          </a:p>
        </p:txBody>
      </p:sp>
      <p:sp>
        <p:nvSpPr>
          <p:cNvPr id="7" name="!!card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10874959" cy="3698773"/>
          </a:xfrm>
          <a:prstGeom prst="roundRect">
            <a:avLst>
              <a:gd name="adj" fmla="val 2472"/>
            </a:avLst>
          </a:prstGeom>
          <a:solidFill>
            <a:srgbClr val="EEF6F4"/>
          </a:solidFill>
          <a:ln>
            <a:noFill/>
          </a:ln>
          <a:effectLst>
            <a:outerShdw blurRad="127000" dist="25400" dir="5400000" algn="t" rotWithShape="0">
              <a:srgbClr val="1C25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cardrul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37360"/>
            <a:ext cx="82296" cy="3698773"/>
          </a:xfrm>
          <a:prstGeom prst="rect">
            <a:avLst/>
          </a:prstGeom>
          <a:solidFill>
            <a:srgbClr val="11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body-0"/>
          <p:cNvSpPr txBox="1"/>
          <p:nvPr/>
        </p:nvSpPr>
        <p:spPr>
          <a:xfrm>
            <a:off x="1060704" y="2048255"/>
            <a:ext cx="10161727" cy="11393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6655"/>
                </a:solidFill>
                <a:latin typeface="Segoe UI"/>
              </a:rPr>
              <a:t>What to notice.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The </a:t>
            </a:r>
            <a:r>
              <a:rPr sz="2150" b="0" i="0">
                <a:solidFill>
                  <a:srgbClr val="1F4E79"/>
                </a:solidFill>
                <a:latin typeface="Consolas"/>
              </a:rPr>
              <a:t>copy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column in part 2 is there to be audited, not admired: if it ever approaches the </a:t>
            </a:r>
            <a:r>
              <a:rPr sz="2150" b="0" i="0">
                <a:solidFill>
                  <a:srgbClr val="1F4E79"/>
                </a:solidFill>
                <a:latin typeface="Consolas"/>
              </a:rPr>
              <a:t>total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column, the subtraction is doing too much work and the experiment should be redesigned rather than reported.</a:t>
            </a:r>
          </a:p>
        </p:txBody>
      </p:sp>
      <p:sp>
        <p:nvSpPr>
          <p:cNvPr id="10" name="body-1"/>
          <p:cNvSpPr txBox="1"/>
          <p:nvPr/>
        </p:nvSpPr>
        <p:spPr>
          <a:xfrm>
            <a:off x="1060704" y="3302533"/>
            <a:ext cx="10161727" cy="1868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6655"/>
                </a:solidFill>
                <a:latin typeface="Segoe UI"/>
              </a:rPr>
              <a:t>Then try to break it.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Add a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23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2.05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column to part 1. It will drift down, but only slightly — and that is the honest limit of this method. Timing can separate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1.9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from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2.1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over a 32-fold range; it cannot separate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 from </a:t>
            </a:r>
            <a:r>
              <a:rPr sz="23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500" b="0" i="0" baseline="30000">
                <a:solidFill>
                  <a:srgbClr val="1C252B"/>
                </a:solidFill>
                <a:latin typeface="Cambria"/>
              </a:rPr>
              <a:t>2.02</a:t>
            </a:r>
            <a:r>
              <a:rPr sz="2300" b="0" i="0">
                <a:solidFill>
                  <a:srgbClr val="1C252B"/>
                </a:solidFill>
                <a:latin typeface="Segoe UI"/>
              </a:rPr>
              <a:t>, and no amount of care will make it. Say what an experiment can resolve before you claim a result from it.</a:t>
            </a:r>
          </a:p>
        </p:txBody>
      </p:sp>
      <p:sp>
        <p:nvSpPr>
          <p:cNvPr id="11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975335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Prove that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5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3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+ 200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2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+ 17 = O(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3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by exhibiting witnesses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c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and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-25000">
                <a:solidFill>
                  <a:srgbClr val="FFFFFF"/>
                </a:solidFill>
                <a:latin typeface="Cambria"/>
              </a:rPr>
              <a:t>0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, and verify your inequality at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=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-25000">
                <a:solidFill>
                  <a:srgbClr val="FFFFFF"/>
                </a:solidFill>
                <a:latin typeface="Cambria"/>
              </a:rPr>
              <a:t>0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1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29  ·  answers in Appendix D     </a:t>
            </a:r>
            <a:fld id="{B8A270BF-1BE9-4594-A715-143DB7965B87}" type="slidenum">
              <a:rPr lang="en-GB" sz="1000">
                <a:solidFill>
                  <a:srgbClr val="D5DEE5"/>
                </a:solidFill>
                <a:latin typeface="Segoe UI"/>
              </a:rPr>
              <a:t>49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Prove that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5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3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+ 200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2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+ 17 = O(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3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by exhibiting witnesses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c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and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-25000">
                <a:solidFill>
                  <a:srgbClr val="1A5276"/>
                </a:solidFill>
                <a:latin typeface="Cambria"/>
              </a:rPr>
              <a:t>0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, and verify your inequality at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=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-25000">
                <a:solidFill>
                  <a:srgbClr val="1A5276"/>
                </a:solidFill>
                <a:latin typeface="Cambria"/>
              </a:rPr>
              <a:t>0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1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1394764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1440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C252B"/>
                </a:solidFill>
                <a:latin typeface="Segoe UI"/>
              </a:rPr>
              <a:t>For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≥ 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we have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≤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1 ≤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so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5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+ 200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+ 17 ≤ (5+200+17)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222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Take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222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At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: LHS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= 222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RHS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= 222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so the inequality holds with equality. A sharper pair such as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6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201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is equally valid — the definition asks only that </a:t>
            </a:r>
            <a:r>
              <a:rPr sz="2200" b="0" i="1">
                <a:solidFill>
                  <a:srgbClr val="1C252B"/>
                </a:solidFill>
                <a:latin typeface="Segoe UI"/>
              </a:rPr>
              <a:t>some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pair exist.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·  answers in Appendix D     </a:t>
            </a:r>
            <a:fld id="{0DB463FB-1D69-41AA-95DC-029627EE2EE8}" type="slidenum">
              <a:rPr lang="en-GB" sz="1000">
                <a:solidFill>
                  <a:srgbClr val="8795A1"/>
                </a:solidFill>
                <a:latin typeface="Segoe UI"/>
              </a:rPr>
              <a:t>50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159746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Is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2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 =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o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2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 lg 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? Justify your answer from the definition, not from the limit test.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2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29  ·  answers in Appendix D     </a:t>
            </a:r>
            <a:fld id="{57471F24-C777-41AD-BF61-76E2072E0FCF}" type="slidenum">
              <a:rPr lang="en-GB" sz="1000">
                <a:solidFill>
                  <a:srgbClr val="D5DEE5"/>
                </a:solidFill>
                <a:latin typeface="Segoe UI"/>
              </a:rPr>
              <a:t>51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Is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2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 =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o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2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 lg 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? Justify your answer from the definition, not from the limit test.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2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1046073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10917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6B9A"/>
                </a:solidFill>
                <a:latin typeface="Segoe UI"/>
              </a:rPr>
              <a:t>Yes.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Given any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&gt; 0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we need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&lt;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 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for all large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i.e.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1 &lt;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i.e.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&gt; 2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1/</a:t>
            </a:r>
            <a:r>
              <a:rPr sz="1450" b="0" i="1" baseline="30000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So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 = ⌈ 2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1/</a:t>
            </a:r>
            <a:r>
              <a:rPr sz="1450" b="0" i="1" baseline="30000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⌉ + 1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works for every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, which is the definition of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(Note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1/</a:t>
            </a:r>
            <a:r>
              <a:rPr sz="1450" b="0" i="1" baseline="30000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is large when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is small, as it must be — but it is finite, and that is all that is required.)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·  answers in Appendix D     </a:t>
            </a:r>
            <a:fld id="{BEC361FE-FF1A-4AEF-986D-EC6E296EB135}" type="slidenum">
              <a:rPr lang="en-GB" sz="1000">
                <a:solidFill>
                  <a:srgbClr val="8795A1"/>
                </a:solidFill>
                <a:latin typeface="Segoe UI"/>
              </a:rPr>
              <a:t>52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56613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66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2011680"/>
            <a:ext cx="10874959" cy="301752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400" b="0" i="0">
                <a:solidFill>
                  <a:srgbClr val="FFFFFF"/>
                </a:solidFill>
                <a:latin typeface="Segoe UI Semibold"/>
              </a:rPr>
              <a:t>A student writes: “my algorithm is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O(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3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 and my colleague’s is 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O(</a:t>
            </a:r>
            <a:r>
              <a:rPr sz="3400" b="0" i="1">
                <a:solidFill>
                  <a:srgbClr val="FFFFFF"/>
                </a:solidFill>
                <a:latin typeface="Cambria"/>
              </a:rPr>
              <a:t>n</a:t>
            </a:r>
            <a:r>
              <a:rPr sz="2250" b="0" i="0" baseline="30000">
                <a:solidFill>
                  <a:srgbClr val="FFFFFF"/>
                </a:solidFill>
                <a:latin typeface="Cambria"/>
              </a:rPr>
              <a:t>2</a:t>
            </a:r>
            <a:r>
              <a:rPr sz="3400" b="0" i="0">
                <a:solidFill>
                  <a:srgbClr val="FFFFFF"/>
                </a:solidFill>
                <a:latin typeface="Cambria"/>
              </a:rPr>
              <a:t>)</a:t>
            </a:r>
            <a:r>
              <a:rPr sz="3400" b="0" i="0">
                <a:solidFill>
                  <a:srgbClr val="FFFFFF"/>
                </a:solidFill>
                <a:latin typeface="Segoe UI Semibold"/>
              </a:rPr>
              <a:t>, so mine is slower.” Give the two distinct reasons this conclusion does not follow.</a:t>
            </a:r>
          </a:p>
        </p:txBody>
      </p:sp>
      <p:pic>
        <p:nvPicPr>
          <p:cNvPr id="3" name="!!qicon" descr="question-circle-FFFFFF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1298448"/>
            <a:ext cx="396772" cy="384048"/>
          </a:xfrm>
          <a:prstGeom prst="rect">
            <a:avLst/>
          </a:prstGeom>
        </p:spPr>
      </p:pic>
      <p:sp>
        <p:nvSpPr>
          <p:cNvPr id="4" name="!!qlab"/>
          <p:cNvSpPr txBox="1"/>
          <p:nvPr/>
        </p:nvSpPr>
        <p:spPr>
          <a:xfrm>
            <a:off x="1225295" y="13441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200">
                <a:solidFill>
                  <a:srgbClr val="BDD1DF"/>
                </a:solidFill>
                <a:latin typeface="Segoe UI"/>
              </a:rPr>
              <a:t>CHECKPOINT  3 OF 3</a:t>
            </a:r>
          </a:p>
        </p:txBody>
      </p:sp>
      <p:sp>
        <p:nvSpPr>
          <p:cNvPr id="5" name="!!qhint"/>
          <p:cNvSpPr txBox="1"/>
          <p:nvPr/>
        </p:nvSpPr>
        <p:spPr>
          <a:xfrm>
            <a:off x="658368" y="5760720"/>
            <a:ext cx="10874959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9CBACF"/>
                </a:solidFill>
                <a:latin typeface="Segoe UI"/>
              </a:rPr>
              <a:t>Discuss with the person next to you, then advance.</a:t>
            </a:r>
          </a:p>
        </p:txBody>
      </p:sp>
      <p:sp>
        <p:nvSpPr>
          <p:cNvPr id="6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7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B9C6D0"/>
                </a:solidFill>
                <a:latin typeface="Segoe UI"/>
              </a:rPr>
              <a:t>Handout p. 29  ·  answers in Appendix D     </a:t>
            </a:r>
            <a:fld id="{7420AE6E-B8BF-4080-863B-B8A1BE8DAEF1}" type="slidenum">
              <a:rPr lang="en-GB" sz="1000">
                <a:solidFill>
                  <a:srgbClr val="D5DEE5"/>
                </a:solidFill>
                <a:latin typeface="Segoe UI"/>
              </a:rPr>
              <a:t>53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q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747979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2400" b="0" i="0">
                <a:solidFill>
                  <a:srgbClr val="1A5276"/>
                </a:solidFill>
                <a:latin typeface="Segoe UI Semibold"/>
              </a:rPr>
              <a:t>A student writes: “my algorithm is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O(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3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 and my colleague’s is 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O(</a:t>
            </a:r>
            <a:r>
              <a:rPr sz="2400" b="0" i="1">
                <a:solidFill>
                  <a:srgbClr val="1A5276"/>
                </a:solidFill>
                <a:latin typeface="Cambria"/>
              </a:rPr>
              <a:t>n</a:t>
            </a:r>
            <a:r>
              <a:rPr sz="1600" b="0" i="0" baseline="30000">
                <a:solidFill>
                  <a:srgbClr val="1A5276"/>
                </a:solidFill>
                <a:latin typeface="Cambria"/>
              </a:rPr>
              <a:t>2</a:t>
            </a:r>
            <a:r>
              <a:rPr sz="2400" b="0" i="0">
                <a:solidFill>
                  <a:srgbClr val="1A5276"/>
                </a:solidFill>
                <a:latin typeface="Cambria"/>
              </a:rPr>
              <a:t>)</a:t>
            </a:r>
            <a:r>
              <a:rPr sz="2400" b="0" i="0">
                <a:solidFill>
                  <a:srgbClr val="1A5276"/>
                </a:solidFill>
                <a:latin typeface="Segoe UI Semibold"/>
              </a:rPr>
              <a:t>, so mine is slower.” Give the two distinct reasons this conclusion does not follow.</a:t>
            </a:r>
          </a:p>
        </p:txBody>
      </p:sp>
      <p:pic>
        <p:nvPicPr>
          <p:cNvPr id="3" name="!!kicker-icon" descr="check-256B9A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90630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256B9A"/>
                </a:solidFill>
                <a:latin typeface="Segoe UI"/>
              </a:rPr>
              <a:t>CHECKPOINT 3 OF 3  ·  ANSWER</a:t>
            </a:r>
          </a:p>
        </p:txBody>
      </p:sp>
      <p:sp>
        <p:nvSpPr>
          <p:cNvPr id="5" name="!!a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62963"/>
            <a:ext cx="64008" cy="1394764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ans-0"/>
          <p:cNvSpPr txBox="1"/>
          <p:nvPr/>
        </p:nvSpPr>
        <p:spPr>
          <a:xfrm>
            <a:off x="987552" y="1762963"/>
            <a:ext cx="10509199" cy="14404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6B9A"/>
                </a:solidFill>
                <a:latin typeface="Segoe UI"/>
              </a:rPr>
              <a:t>(a)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Both are upper bounds and need not be tight: the first algorithm might be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Θ(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and merely </a:t>
            </a:r>
            <a:r>
              <a:rPr sz="2200" b="0" i="1">
                <a:solidFill>
                  <a:srgbClr val="1C252B"/>
                </a:solidFill>
                <a:latin typeface="Segoe UI"/>
              </a:rPr>
              <a:t>described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as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 </a:t>
            </a:r>
            <a:r>
              <a:rPr sz="2200" b="1" i="0">
                <a:solidFill>
                  <a:srgbClr val="1C252B"/>
                </a:solidFill>
                <a:latin typeface="Segoe UI"/>
              </a:rPr>
              <a:t>(b)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Even if both bounds are tight, the constants and the range of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decide which is faster in practice —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0.001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3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beats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1000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for every </a:t>
            </a:r>
            <a:r>
              <a:rPr sz="22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 below </a:t>
            </a:r>
            <a:r>
              <a:rPr sz="2200" b="0" i="0">
                <a:solidFill>
                  <a:srgbClr val="1C252B"/>
                </a:solidFill>
                <a:latin typeface="Cambria"/>
              </a:rPr>
              <a:t>10</a:t>
            </a:r>
            <a:r>
              <a:rPr sz="1450" b="0" i="0" baseline="30000">
                <a:solidFill>
                  <a:srgbClr val="1C252B"/>
                </a:solidFill>
                <a:latin typeface="Cambria"/>
              </a:rPr>
              <a:t>6</a:t>
            </a:r>
            <a:r>
              <a:rPr sz="22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7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8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·  answers in Appendix D     </a:t>
            </a:r>
            <a:fld id="{48FDFC5F-EC07-40E4-98F2-0B6A4DA356F6}" type="slidenum">
              <a:rPr lang="en-GB" sz="1000">
                <a:solidFill>
                  <a:srgbClr val="8795A1"/>
                </a:solidFill>
                <a:latin typeface="Segoe UI"/>
              </a:rPr>
              <a:t>54</a:t>
            </a:fld>
          </a:p>
        </p:txBody>
      </p:sp>
      <p:sp>
        <p:nvSpPr>
          <p:cNvPr id="9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097252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   </a:t>
            </a:r>
            <a:fld id="{A960658D-83FE-42FE-BAEB-20BF43BDA47F}" type="slidenum">
              <a:rPr lang="en-GB" sz="1000">
                <a:solidFill>
                  <a:srgbClr val="8795A1"/>
                </a:solidFill>
                <a:latin typeface="Segoe UI"/>
              </a:rPr>
              <a:t>55</a:t>
            </a:fld>
          </a:p>
        </p:txBody>
      </p:sp>
      <p:sp>
        <p:nvSpPr>
          <p:cNvPr id="7" name="!!sb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0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!!st0"/>
          <p:cNvSpPr txBox="1"/>
          <p:nvPr/>
        </p:nvSpPr>
        <p:spPr>
          <a:xfrm>
            <a:off x="1298448" y="1737360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Ω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are </a:t>
            </a:r>
            <a:r>
              <a:rPr sz="1700" b="0" i="1">
                <a:solidFill>
                  <a:srgbClr val="1C252B"/>
                </a:solidFill>
                <a:latin typeface="Segoe UI"/>
              </a:rPr>
              <a:t>sets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of functions, defined by the existence of witnesses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-25000">
                <a:solidFill>
                  <a:srgbClr val="1C252B"/>
                </a:solidFill>
                <a:latin typeface="Cambria"/>
              </a:rPr>
              <a:t>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 “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” means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∈ 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may not be read backwards.</a:t>
            </a:r>
          </a:p>
        </p:txBody>
      </p:sp>
      <p:sp>
        <p:nvSpPr>
          <p:cNvPr id="10" name="!!sb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46827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1"/>
          <p:cNvSpPr txBox="1"/>
          <p:nvPr/>
        </p:nvSpPr>
        <p:spPr>
          <a:xfrm>
            <a:off x="658368" y="2523134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!!st1"/>
          <p:cNvSpPr txBox="1"/>
          <p:nvPr/>
        </p:nvSpPr>
        <p:spPr>
          <a:xfrm>
            <a:off x="1298448" y="2459126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To prove a bound, exhibit witnesses — any witnesses. To disprove one, derive a contradiction, as for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≠ 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3" name="!!sb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9003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sbn2"/>
          <p:cNvSpPr txBox="1"/>
          <p:nvPr/>
        </p:nvSpPr>
        <p:spPr>
          <a:xfrm>
            <a:off x="658368" y="32449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5" name="!!st2"/>
          <p:cNvSpPr txBox="1"/>
          <p:nvPr/>
        </p:nvSpPr>
        <p:spPr>
          <a:xfrm>
            <a:off x="1298448" y="3180892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Θ(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iff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Ω(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which is what lets upper and lower bounds be proved by unrelated arguments and combined.</a:t>
            </a:r>
          </a:p>
        </p:txBody>
      </p:sp>
      <p:sp>
        <p:nvSpPr>
          <p:cNvPr id="16" name="!!sb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91180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sbn3"/>
          <p:cNvSpPr txBox="1"/>
          <p:nvPr/>
        </p:nvSpPr>
        <p:spPr>
          <a:xfrm>
            <a:off x="658368" y="3966667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8" name="!!st3"/>
          <p:cNvSpPr txBox="1"/>
          <p:nvPr/>
        </p:nvSpPr>
        <p:spPr>
          <a:xfrm>
            <a:off x="1298448" y="3902659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ω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differ from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Ω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only in having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∀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where those have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∃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, which forces the ratio to vanish or diverge.</a:t>
            </a:r>
          </a:p>
        </p:txBody>
      </p:sp>
      <p:sp>
        <p:nvSpPr>
          <p:cNvPr id="19" name="!!sb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633569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sbn4"/>
          <p:cNvSpPr txBox="1"/>
          <p:nvPr/>
        </p:nvSpPr>
        <p:spPr>
          <a:xfrm>
            <a:off x="658368" y="4688433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1" name="!!st4"/>
          <p:cNvSpPr txBox="1"/>
          <p:nvPr/>
        </p:nvSpPr>
        <p:spPr>
          <a:xfrm>
            <a:off x="1298448" y="4624425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All five are transitive; only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Θ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an equivalence relation; and trichotomy fails —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1+ sin </a:t>
            </a:r>
            <a:r>
              <a:rPr sz="11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is comparable to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in no direction at all.</a:t>
            </a:r>
          </a:p>
        </p:txBody>
      </p:sp>
      <p:sp>
        <p:nvSpPr>
          <p:cNvPr id="22" name="!!sb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35533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sbn5"/>
          <p:cNvSpPr txBox="1"/>
          <p:nvPr/>
        </p:nvSpPr>
        <p:spPr>
          <a:xfrm>
            <a:off x="658368" y="5410200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4" name="!!st5"/>
          <p:cNvSpPr txBox="1"/>
          <p:nvPr/>
        </p:nvSpPr>
        <p:spPr>
          <a:xfrm>
            <a:off x="1298448" y="5346192"/>
            <a:ext cx="10234879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The limit test decides the question whenever the limit exists, and is silent, not negative, when it does not.</a:t>
            </a:r>
          </a:p>
        </p:txBody>
      </p:sp>
      <p:sp>
        <p:nvSpPr>
          <p:cNvPr id="70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17572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30" dur="2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41" dur="2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52" dur="2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63" dur="2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What to take away (continued)</a:t>
            </a:r>
          </a:p>
        </p:txBody>
      </p:sp>
      <p:pic>
        <p:nvPicPr>
          <p:cNvPr id="3" name="!!kicker-icon" descr="clipboard-check-15425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166837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5425E"/>
                </a:solidFill>
                <a:latin typeface="Segoe UI"/>
              </a:rPr>
              <a:t>CHAPTER SUMMARY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   </a:t>
            </a:r>
            <a:fld id="{18B17B76-2D2C-42A2-934B-BECB07AC556B}" type="slidenum">
              <a:rPr lang="en-GB" sz="1000">
                <a:solidFill>
                  <a:srgbClr val="8795A1"/>
                </a:solidFill>
                <a:latin typeface="Segoe UI"/>
              </a:rPr>
              <a:t>56</a:t>
            </a:fld>
          </a:p>
        </p:txBody>
      </p:sp>
      <p:sp>
        <p:nvSpPr>
          <p:cNvPr id="7" name="!!sb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sbn6"/>
          <p:cNvSpPr txBox="1"/>
          <p:nvPr/>
        </p:nvSpPr>
        <p:spPr>
          <a:xfrm>
            <a:off x="658368" y="1801368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9" name="!!st6"/>
          <p:cNvSpPr txBox="1"/>
          <p:nvPr/>
        </p:nvSpPr>
        <p:spPr>
          <a:xfrm>
            <a:off x="1298448" y="1737360"/>
            <a:ext cx="10234879" cy="80832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Measured: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2.0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for insertion sort held within 8% across a 32-fold range of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while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1.9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rose 46% and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2.1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fell 27%. For merge sort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/(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held within 4.3% across a 64-fold range, and the drift in the failing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/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column matched the predicted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growth to within 4%.</a:t>
            </a:r>
          </a:p>
        </p:txBody>
      </p:sp>
      <p:sp>
        <p:nvSpPr>
          <p:cNvPr id="10" name="!!sb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73771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54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sbn7"/>
          <p:cNvSpPr txBox="1"/>
          <p:nvPr/>
        </p:nvSpPr>
        <p:spPr>
          <a:xfrm>
            <a:off x="658368" y="2792577"/>
            <a:ext cx="402336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2" name="!!st7"/>
          <p:cNvSpPr txBox="1"/>
          <p:nvPr/>
        </p:nvSpPr>
        <p:spPr>
          <a:xfrm>
            <a:off x="1298448" y="2728569"/>
            <a:ext cx="10234879" cy="53888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C252B"/>
                </a:solidFill>
                <a:latin typeface="Segoe UI"/>
              </a:rPr>
              <a:t>The notation discards precisely what decides which program to run: 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100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does not beat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1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 until </a:t>
            </a:r>
            <a:r>
              <a:rPr sz="17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700" b="0" i="0">
                <a:solidFill>
                  <a:srgbClr val="1C252B"/>
                </a:solidFill>
                <a:latin typeface="Cambria"/>
              </a:rPr>
              <a:t> = 997</a:t>
            </a:r>
            <a:r>
              <a:rPr sz="17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26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37891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  <p:timing>
    <p:tnLst>
      <p:par>
        <p:cTn id="2" dur="indefinite" restart="never" nodeType="tmRoot">
          <p:childTnLst>
            <p:seq concurrent="1" nextAc="seek">
              <p:cTn id="3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8" dur="2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zoom(in)">
                                      <p:cBhvr>
                                        <p:cTn id="19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1 of 2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   </a:t>
            </a:r>
            <a:fld id="{CBA8129E-A911-46D1-B6E0-7A0C5439D259}" type="slidenum">
              <a:rPr lang="en-GB" sz="1000">
                <a:solidFill>
                  <a:srgbClr val="8795A1"/>
                </a:solidFill>
                <a:latin typeface="Segoe UI"/>
              </a:rPr>
              <a:t>57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457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) = Θ(</a:t>
            </a:r>
            <a:r>
              <a:rPr sz="26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6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6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2600" b="0" i="0">
                <a:solidFill>
                  <a:srgbClr val="1C252B"/>
                </a:solidFill>
                <a:latin typeface="Segoe UI"/>
              </a:rPr>
              <a:t> holds if and only if: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Ω(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both of these</a:t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f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58211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Quick check 2 of 2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 ·  MULTIPLE CHOICE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   </a:t>
            </a:r>
            <a:fld id="{3199FDD5-E961-4E33-911E-3927C20A7341}" type="slidenum">
              <a:rPr lang="en-GB" sz="1000">
                <a:solidFill>
                  <a:srgbClr val="8795A1"/>
                </a:solidFill>
                <a:latin typeface="Segoe UI"/>
              </a:rPr>
              <a:t>58</a:t>
            </a:fld>
          </a:p>
        </p:txBody>
      </p:sp>
      <p:sp>
        <p:nvSpPr>
          <p:cNvPr id="7" name="!!mstem"/>
          <p:cNvSpPr txBox="1"/>
          <p:nvPr/>
        </p:nvSpPr>
        <p:spPr>
          <a:xfrm>
            <a:off x="658368" y="1737360"/>
            <a:ext cx="10874959" cy="45780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1C252B"/>
                </a:solidFill>
                <a:latin typeface="Segoe UI"/>
              </a:rPr>
              <a:t>Which is </a:t>
            </a:r>
            <a:r>
              <a:rPr sz="2600" b="0" i="1">
                <a:solidFill>
                  <a:srgbClr val="1C252B"/>
                </a:solidFill>
                <a:latin typeface="Segoe UI"/>
              </a:rPr>
              <a:t>false</a:t>
            </a:r>
            <a:r>
              <a:rPr sz="2600" b="0" i="0">
                <a:solidFill>
                  <a:srgbClr val="1C252B"/>
                </a:solidFill>
                <a:latin typeface="Segoe UI"/>
              </a:rPr>
              <a:t>?</a:t>
            </a:r>
          </a:p>
        </p:txBody>
      </p:sp>
      <p:sp>
        <p:nvSpPr>
          <p:cNvPr id="8" name="!!mo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mo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!!molt0"/>
          <p:cNvSpPr txBox="1"/>
          <p:nvPr/>
        </p:nvSpPr>
        <p:spPr>
          <a:xfrm>
            <a:off x="841247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1" name="!!mot0"/>
          <p:cNvSpPr txBox="1"/>
          <p:nvPr/>
        </p:nvSpPr>
        <p:spPr>
          <a:xfrm>
            <a:off x="1481328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3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12" name="!!mo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251520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!!mo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278952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molt1"/>
          <p:cNvSpPr txBox="1"/>
          <p:nvPr/>
        </p:nvSpPr>
        <p:spPr>
          <a:xfrm>
            <a:off x="6397599" y="287182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!!mot1"/>
          <p:cNvSpPr txBox="1"/>
          <p:nvPr/>
        </p:nvSpPr>
        <p:spPr>
          <a:xfrm>
            <a:off x="7037679" y="286572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30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O(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16" name="!!mo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mo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7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!!molt2"/>
          <p:cNvSpPr txBox="1"/>
          <p:nvPr/>
        </p:nvSpPr>
        <p:spPr>
          <a:xfrm>
            <a:off x="841247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9" name="!!mot2"/>
          <p:cNvSpPr txBox="1"/>
          <p:nvPr/>
        </p:nvSpPr>
        <p:spPr>
          <a:xfrm>
            <a:off x="1481328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Cambria"/>
              </a:rPr>
              <a:t>2</a:t>
            </a:r>
            <a:r>
              <a:rPr sz="13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1300" b="0" i="0" baseline="30000">
                <a:solidFill>
                  <a:srgbClr val="1C252B"/>
                </a:solidFill>
                <a:latin typeface="Cambria"/>
              </a:rPr>
              <a:t>+1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O(2</a:t>
            </a:r>
            <a:r>
              <a:rPr sz="1300" b="0" i="1" baseline="30000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20" name="!!mo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4719" y="3703929"/>
            <a:ext cx="5318607" cy="1005840"/>
          </a:xfrm>
          <a:prstGeom prst="roundRect">
            <a:avLst>
              <a:gd name="adj" fmla="val 9090"/>
            </a:avLst>
          </a:prstGeom>
          <a:solidFill>
            <a:srgbClr val="F4F7F9"/>
          </a:solidFill>
          <a:ln w="12700">
            <a:solidFill>
              <a:srgbClr val="D9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!!mol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7599" y="397824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!!molt3"/>
          <p:cNvSpPr txBox="1"/>
          <p:nvPr/>
        </p:nvSpPr>
        <p:spPr>
          <a:xfrm>
            <a:off x="6397599" y="406054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23" name="!!mot3"/>
          <p:cNvSpPr txBox="1"/>
          <p:nvPr/>
        </p:nvSpPr>
        <p:spPr>
          <a:xfrm>
            <a:off x="7037679" y="4054449"/>
            <a:ext cx="4312767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C252B"/>
                </a:solidFill>
                <a:latin typeface="Cambria"/>
              </a:rPr>
              <a:t>lg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 = 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20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20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24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785305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676656"/>
            <a:ext cx="10874959" cy="93268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3000" b="0">
                <a:solidFill>
                  <a:srgbClr val="1A5276"/>
                </a:solidFill>
                <a:latin typeface="Segoe UI Semibold"/>
              </a:rPr>
              <a:t>For your notebook</a:t>
            </a:r>
          </a:p>
        </p:txBody>
      </p:sp>
      <p:pic>
        <p:nvPicPr>
          <p:cNvPr id="3" name="!!kicker-icon" descr="pen-fancy-1A5276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411480"/>
            <a:ext cx="219456" cy="219456"/>
          </a:xfrm>
          <a:prstGeom prst="rect">
            <a:avLst/>
          </a:prstGeom>
        </p:spPr>
      </p:pic>
      <p:sp>
        <p:nvSpPr>
          <p:cNvPr id="4" name="!!kicker"/>
          <p:cNvSpPr txBox="1"/>
          <p:nvPr/>
        </p:nvSpPr>
        <p:spPr>
          <a:xfrm>
            <a:off x="987552" y="402336"/>
            <a:ext cx="10545775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160">
                <a:solidFill>
                  <a:srgbClr val="1A5276"/>
                </a:solidFill>
                <a:latin typeface="Segoe UI"/>
              </a:rPr>
              <a:t>REVIEW QUESTIONS</a:t>
            </a:r>
          </a:p>
        </p:txBody>
      </p:sp>
      <p:sp>
        <p:nvSpPr>
          <p:cNvPr id="5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8A4AE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6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>
                <a:solidFill>
                  <a:srgbClr val="98A4AE"/>
                </a:solidFill>
                <a:latin typeface="Segoe UI"/>
              </a:rPr>
              <a:t>Handout p. 29     </a:t>
            </a:r>
            <a:fld id="{FFC1FC01-F4D7-4CDE-BDB9-0164757A6B68}" type="slidenum">
              <a:rPr lang="en-GB" sz="1000">
                <a:solidFill>
                  <a:srgbClr val="8795A1"/>
                </a:solidFill>
                <a:latin typeface="Segoe UI"/>
              </a:rPr>
              <a:t>59</a:t>
            </a:fld>
          </a:p>
        </p:txBody>
      </p:sp>
      <p:sp>
        <p:nvSpPr>
          <p:cNvPr id="7" name="!!rt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75564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!!rtt0"/>
          <p:cNvSpPr txBox="1"/>
          <p:nvPr/>
        </p:nvSpPr>
        <p:spPr>
          <a:xfrm>
            <a:off x="658368" y="179679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9" name="!!rq0"/>
          <p:cNvSpPr txBox="1"/>
          <p:nvPr/>
        </p:nvSpPr>
        <p:spPr>
          <a:xfrm>
            <a:off x="1892807" y="1737360"/>
            <a:ext cx="9549079" cy="30114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State the formal definition of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explain the role of each quantifier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(CLO-5)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10" name="!!rt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76246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!!rtt1"/>
          <p:cNvSpPr txBox="1"/>
          <p:nvPr/>
        </p:nvSpPr>
        <p:spPr>
          <a:xfrm>
            <a:off x="658368" y="2317394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2" name="!!rq1"/>
          <p:cNvSpPr txBox="1"/>
          <p:nvPr/>
        </p:nvSpPr>
        <p:spPr>
          <a:xfrm>
            <a:off x="1892807" y="2257958"/>
            <a:ext cx="95490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Explain the difference between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O(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o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g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in terms of the quantifier on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c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give a function that is in the first but not the second.</a:t>
            </a:r>
          </a:p>
        </p:txBody>
      </p:sp>
      <p:sp>
        <p:nvSpPr>
          <p:cNvPr id="13" name="!!rt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097987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6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!!rtt2"/>
          <p:cNvSpPr txBox="1"/>
          <p:nvPr/>
        </p:nvSpPr>
        <p:spPr>
          <a:xfrm>
            <a:off x="658368" y="3139135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236794"/>
                </a:solidFill>
                <a:latin typeface="Segoe UI"/>
              </a:rPr>
              <a:t>SHORT</a:t>
            </a:r>
          </a:p>
        </p:txBody>
      </p:sp>
      <p:sp>
        <p:nvSpPr>
          <p:cNvPr id="15" name="!!rq2"/>
          <p:cNvSpPr txBox="1"/>
          <p:nvPr/>
        </p:nvSpPr>
        <p:spPr>
          <a:xfrm>
            <a:off x="1892807" y="3079699"/>
            <a:ext cx="95490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Why is a lower bound a desirable result about a problem but an undesirable one about your own algorithm?</a:t>
            </a:r>
          </a:p>
        </p:txBody>
      </p:sp>
      <p:sp>
        <p:nvSpPr>
          <p:cNvPr id="16" name="!!rt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919727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!!rtt3"/>
          <p:cNvSpPr txBox="1"/>
          <p:nvPr/>
        </p:nvSpPr>
        <p:spPr>
          <a:xfrm>
            <a:off x="658368" y="39608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18" name="!!rq3"/>
          <p:cNvSpPr txBox="1"/>
          <p:nvPr/>
        </p:nvSpPr>
        <p:spPr>
          <a:xfrm>
            <a:off x="1892807" y="3901440"/>
            <a:ext cx="9549079" cy="6022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Prove 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Θ(·)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transitive, using Theorems 3.5 and 3.6 rather than arguing from the definition directly.</a:t>
            </a:r>
          </a:p>
        </p:txBody>
      </p:sp>
      <p:sp>
        <p:nvSpPr>
          <p:cNvPr id="19" name="!!rt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74146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!!rtt4"/>
          <p:cNvSpPr txBox="1"/>
          <p:nvPr/>
        </p:nvSpPr>
        <p:spPr>
          <a:xfrm>
            <a:off x="658368" y="47826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107964"/>
                </a:solidFill>
                <a:latin typeface="Segoe UI"/>
              </a:rPr>
              <a:t>APPLIED</a:t>
            </a:r>
          </a:p>
        </p:txBody>
      </p:sp>
      <p:sp>
        <p:nvSpPr>
          <p:cNvPr id="21" name="!!rq4"/>
          <p:cNvSpPr txBox="1"/>
          <p:nvPr/>
        </p:nvSpPr>
        <p:spPr>
          <a:xfrm>
            <a:off x="1892807" y="4723180"/>
            <a:ext cx="9549079" cy="90342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You time an unknown algorithm and find that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)/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250" b="0" i="0" baseline="30000">
                <a:solidFill>
                  <a:srgbClr val="1C252B"/>
                </a:solidFill>
                <a:latin typeface="Cambria"/>
              </a:rPr>
              <a:t>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falls steadily while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T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)/(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 lg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Cambria"/>
              </a:rPr>
              <a:t>)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rises steadily across your whole range of </a:t>
            </a:r>
            <a:r>
              <a:rPr sz="1900" b="0" i="1">
                <a:solidFill>
                  <a:srgbClr val="1C252B"/>
                </a:solidFill>
                <a:latin typeface="Cambria"/>
              </a:rPr>
              <a:t>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What can you conclude, what can you not, and what would you measure next?</a:t>
            </a:r>
          </a:p>
        </p:txBody>
      </p:sp>
      <p:sp>
        <p:nvSpPr>
          <p:cNvPr id="22" name="!!ptr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D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!!pfil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988500" cy="54864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!!w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6430975" y="-50292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0" b="0" i="0">
                <a:solidFill>
                  <a:srgbClr val="2C6081"/>
                </a:solidFill>
                <a:latin typeface="Segoe UI Black"/>
              </a:rPr>
              <a:t>03</a:t>
            </a:r>
          </a:p>
        </p:txBody>
      </p:sp>
      <p:sp>
        <p:nvSpPr>
          <p:cNvPr id="2" name="!!title"/>
          <p:cNvSpPr>
            <a:spLocks noGrp="1"/>
          </p:cNvSpPr>
          <p:nvPr>
            <p:ph type="title"/>
          </p:nvPr>
        </p:nvSpPr>
        <p:spPr>
          <a:xfrm>
            <a:off x="658368" y="1243584"/>
            <a:ext cx="8229600" cy="822960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6000"/>
              </a:lnSpc>
            </a:pPr>
            <a:r>
              <a:rPr sz="4000" b="0">
                <a:solidFill>
                  <a:srgbClr val="FFFFFF"/>
                </a:solidFill>
                <a:latin typeface="Segoe UI Semibold"/>
              </a:rPr>
              <a:t>End of Chapter 3</a:t>
            </a:r>
          </a:p>
        </p:txBody>
      </p:sp>
      <p:sp>
        <p:nvSpPr>
          <p:cNvPr id="4" name="!!tba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024128"/>
            <a:ext cx="82296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!!cl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!!cll0"/>
          <p:cNvSpPr txBox="1"/>
          <p:nvPr/>
        </p:nvSpPr>
        <p:spPr>
          <a:xfrm>
            <a:off x="932688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NEXT</a:t>
            </a:r>
          </a:p>
        </p:txBody>
      </p:sp>
      <p:sp>
        <p:nvSpPr>
          <p:cNvPr id="7" name="!!clv0"/>
          <p:cNvSpPr txBox="1"/>
          <p:nvPr/>
        </p:nvSpPr>
        <p:spPr>
          <a:xfrm>
            <a:off x="932688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Chapter 4 — Correctness: Loop Invariants</a:t>
            </a:r>
          </a:p>
        </p:txBody>
      </p:sp>
      <p:sp>
        <p:nvSpPr>
          <p:cNvPr id="8" name="!!cl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7" y="2286000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!!cll1"/>
          <p:cNvSpPr txBox="1"/>
          <p:nvPr/>
        </p:nvSpPr>
        <p:spPr>
          <a:xfrm>
            <a:off x="6507327" y="2468880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READ</a:t>
            </a:r>
          </a:p>
        </p:txBody>
      </p:sp>
      <p:sp>
        <p:nvSpPr>
          <p:cNvPr id="10" name="!!clv1"/>
          <p:cNvSpPr txBox="1"/>
          <p:nvPr/>
        </p:nvSpPr>
        <p:spPr>
          <a:xfrm>
            <a:off x="6507327" y="2761488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  <a:latin typeface="Segoe UI Semibold"/>
              </a:rPr>
              <a:t>Handout Chapter 3, pages 19–29</a:t>
            </a:r>
          </a:p>
        </p:txBody>
      </p:sp>
      <p:sp>
        <p:nvSpPr>
          <p:cNvPr id="11" name="!!cl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584448"/>
            <a:ext cx="5300319" cy="1097280"/>
          </a:xfrm>
          <a:prstGeom prst="roundRect">
            <a:avLst>
              <a:gd name="adj" fmla="val 8333"/>
            </a:avLst>
          </a:prstGeom>
          <a:solidFill>
            <a:srgbClr val="144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!!cll2"/>
          <p:cNvSpPr txBox="1"/>
          <p:nvPr/>
        </p:nvSpPr>
        <p:spPr>
          <a:xfrm>
            <a:off x="932688" y="3767328"/>
            <a:ext cx="4751679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A8BDCB"/>
                </a:solidFill>
                <a:latin typeface="Segoe UI"/>
              </a:rPr>
              <a:t>THIS WEEK'S LAB</a:t>
            </a:r>
          </a:p>
        </p:txBody>
      </p:sp>
      <p:sp>
        <p:nvSpPr>
          <p:cNvPr id="13" name="!!clv2"/>
          <p:cNvSpPr txBox="1"/>
          <p:nvPr/>
        </p:nvSpPr>
        <p:spPr>
          <a:xfrm>
            <a:off x="932688" y="4059935"/>
            <a:ext cx="475167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Segoe UI Semibold"/>
              </a:rPr>
              <a:t>Fit a curve; exclude the exponents either side</a:t>
            </a:r>
          </a:p>
        </p:txBody>
      </p:sp>
      <p:sp>
        <p:nvSpPr>
          <p:cNvPr id="14" name="!!footL"/>
          <p:cNvSpPr txBox="1"/>
          <p:nvPr/>
        </p:nvSpPr>
        <p:spPr>
          <a:xfrm>
            <a:off x="658368" y="6437376"/>
            <a:ext cx="6742474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9C6D0"/>
                </a:solidFill>
                <a:latin typeface="Segoe UI"/>
              </a:rPr>
              <a:t>Analysis of Algorithms  ·  Chapter 3  ·  Asymptotic Notation</a:t>
            </a:r>
          </a:p>
        </p:txBody>
      </p:sp>
      <p:sp>
        <p:nvSpPr>
          <p:cNvPr id="15" name="!!footR"/>
          <p:cNvSpPr txBox="1"/>
          <p:nvPr/>
        </p:nvSpPr>
        <p:spPr>
          <a:xfrm>
            <a:off x="6639595" y="6437376"/>
            <a:ext cx="4893731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fld id="{39D05FB3-FB6A-43DF-BA92-6C6D1F822B51}" type="slidenum">
              <a:rPr lang="en-GB" sz="1000">
                <a:solidFill>
                  <a:srgbClr val="D5DEE5"/>
                </a:solidFill>
                <a:latin typeface="Segoe UI"/>
              </a:rPr>
              <a:t>60</a:t>
            </a:fld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45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nalysis of Algorithms Fall 2026">
  <a:themeElements>
    <a:clrScheme name="Analysis of Algorithms Fall 2026">
      <a:dk1>
        <a:srgbClr val="1C252B"/>
      </a:dk1>
      <a:lt1>
        <a:srgbClr val="FFFFFF"/>
      </a:lt1>
      <a:dk2>
        <a:srgbClr val="1A5276"/>
      </a:dk2>
      <a:lt2>
        <a:srgbClr val="EBF5FB"/>
      </a:lt2>
      <a:accent1>
        <a:srgbClr val="1A5276"/>
      </a:accent1>
      <a:accent2>
        <a:srgbClr val="2E86C1"/>
      </a:accent2>
      <a:accent3>
        <a:srgbClr val="E74C3C"/>
      </a:accent3>
      <a:accent4>
        <a:srgbClr val="27AE60"/>
      </a:accent4>
      <a:accent5>
        <a:srgbClr val="8E44AD"/>
      </a:accent5>
      <a:accent6>
        <a:srgbClr val="B7950B"/>
      </a:accent6>
      <a:hlink>
        <a:srgbClr val="2E86C1"/>
      </a:hlink>
      <a:folHlink>
        <a:srgbClr val="8E44AD"/>
      </a:folHlink>
    </a:clrScheme>
    <a:fontScheme name="Analysis of Algorithms Fall 2026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3: Asymptotic Notation</dc:title>
  <dc:subject>Analysis of Algorithms — Design, Proof and Measurement · BSIT · Fall 2026</dc:subject>
  <dc:creator>Dr. Mustafa Hameed</dc:creator>
  <cp:keywords>artificial intelligence; lecture slides; BSIT; HEC; Fall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Lecture slides</cp:category>
</cp:coreProperties>
</file>