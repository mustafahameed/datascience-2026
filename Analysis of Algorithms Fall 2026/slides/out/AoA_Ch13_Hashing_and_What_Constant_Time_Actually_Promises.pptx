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1.svg" ContentType="image/svg+xml"/>
  <Override PartName="/ppt/media/image32.svg" ContentType="image/svg+xml"/>
  <Override PartName="/ppt/media/image33.svg" ContentType="image/svg+xml"/>
  <Override PartName="/ppt/media/image35.svg" ContentType="image/svg+xml"/>
  <Override PartName="/ppt/media/image36.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7.svg" ContentType="image/svg+xml"/>
  <Override PartName="/ppt/media/image49.svg" ContentType="image/svg+xml"/>
  <Override PartName="/ppt/media/image50.svg" ContentType="image/svg+xml"/>
  <Override PartName="/ppt/media/image51.svg" ContentType="image/svg+xml"/>
  <Override PartName="/ppt/media/image53.svg" ContentType="image/svg+xml"/>
  <Override PartName="/ppt/media/image54.svg" ContentType="image/svg+xml"/>
  <Override PartName="/ppt/media/image55.svg" ContentType="image/svg+xml"/>
  <Override PartName="/ppt/media/image57.svg" ContentType="image/svg+xml"/>
  <Override PartName="/ppt/media/image58.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77A5FCD-16E0-4863-A962-7EB20915990E}">
          <p14:sldIdLst>
            <p14:sldId id="256"/>
            <p14:sldId id="257"/>
            <p14:sldId id="258"/>
            <p14:sldId id="259"/>
            <p14:sldId id="260"/>
          </p14:sldIdLst>
        </p14:section>
        <p14:section name="13.1 The Claim, and Its Fine Print" id="{464E0172-A5AD-4EAA-A885-FF65E2D5F530}">
          <p14:sldIdLst>
            <p14:sldId id="261"/>
            <p14:sldId id="262"/>
            <p14:sldId id="263"/>
            <p14:sldId id="264"/>
          </p14:sldIdLst>
        </p14:section>
        <p14:section name="13.2 Measured: the Assumption, and the Prediction" id="{1F1420F7-4AFB-4780-A630-D8CB072C48DA}">
          <p14:sldIdLst>
            <p14:sldId id="265"/>
            <p14:sldId id="266"/>
            <p14:sldId id="267"/>
            <p14:sldId id="268"/>
            <p14:sldId id="269"/>
            <p14:sldId id="270"/>
          </p14:sldIdLst>
        </p14:section>
        <p14:section name="13.3 When the Assumption Quietly Fails" id="{B4875958-44A2-4B0F-BB68-605BF6FAD53D}">
          <p14:sldIdLst>
            <p14:sldId id="271"/>
            <p14:sldId id="272"/>
            <p14:sldId id="273"/>
            <p14:sldId id="274"/>
          </p14:sldIdLst>
        </p14:section>
        <p14:section name="13.4 An Adversary" id="{828858F1-14EB-46C4-AFC9-AC67EA9C5FC8}">
          <p14:sldIdLst>
            <p14:sldId id="275"/>
            <p14:sldId id="276"/>
            <p14:sldId id="277"/>
            <p14:sldId id="278"/>
            <p14:sldId id="279"/>
            <p14:sldId id="280"/>
          </p14:sldIdLst>
        </p14:section>
        <p14:section name="Pitfalls" id="{6F5EBF73-410C-4E00-841A-B542ED3407AC}">
          <p14:sldIdLst>
            <p14:sldId id="281"/>
            <p14:sldId id="282"/>
          </p14:sldIdLst>
        </p14:section>
        <p14:section name="Lab" id="{8798F3AB-1EE1-4C40-8AC0-2B2A9B04BB43}">
          <p14:sldIdLst>
            <p14:sldId id="283"/>
            <p14:sldId id="284"/>
            <p14:sldId id="285"/>
            <p14:sldId id="286"/>
            <p14:sldId id="287"/>
            <p14:sldId id="288"/>
            <p14:sldId id="289"/>
            <p14:sldId id="290"/>
          </p14:sldIdLst>
        </p14:section>
        <p14:section name="Checkpoint" id="{2D09C29A-6B1B-431A-A1F4-01016E7D8AA0}">
          <p14:sldIdLst>
            <p14:sldId id="291"/>
            <p14:sldId id="292"/>
            <p14:sldId id="293"/>
            <p14:sldId id="294"/>
            <p14:sldId id="295"/>
            <p14:sldId id="296"/>
          </p14:sldIdLst>
        </p14:section>
        <p14:section name="Wrap-up" id="{341F24B7-6026-424A-AA63-9C15395C8D20}">
          <p14:sldIdLst>
            <p14:sldId id="297"/>
            <p14:sldId id="298"/>
            <p14:sldId id="299"/>
            <p14:sldId id="300"/>
            <p14:sldId id="301"/>
            <p14:sldId id="30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13: Hashing, and What Constant Time Actually Promises. Part 3 — Sorting, Selection and the Structures Beneath. Week 9: Heaps, search trees and hashing, analysed. Handout pages 104–112.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2 for the distinction between an average over inputs and an expectation over an algorithm’s coins — this chapter is that distinction again, and the resolution is the same one. Chapter 12 for the comparison with trees.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hash function; hash table; collision; chaining; open addressing; load factor; simple uniform hashing; division method; multiplicative hashing; universal hashing; adversarial input; hash flooding.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programmer knows a hash table is O(1). That sentence has three things wrong with it, and this chapter is about all three.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Unsuccessful. The key hashes to a slot whose expected chain length is α = n/m, and the whole chain is scanned. With the Θ(1) to compute the hash and index, the cost is Θ(1+α). Successful. Suppose the keys were inserted in order x₁,…,xₙ and we search for xᵢ, chosen uniformly. Appending at the head, the elements examined before reaching xᵢ are exactly those inserted after it that landed in the same slot. For j &gt; i, the probability that xⱼ shares xᵢ’s slot is 1/m. So the expected number examined is 1 + 1/nΣᵢ₌₁ⁿΣⱼ₌ᵢ₊₁ⁿ1/m    = 1 + 1/nmΣᵢ₌₁ⁿ(n−i)    = 1 + (n(n−1))/2nm    = 1 + α/2 − α/2n.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uniform hashing is an assumption about the relationship between the hash and the keys. Real keys are not random: they are IDs, timestamps, pointers, offsets into arrays of structs — and they very often share a stride.</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13.3’s collisions were an accident. They can also be arranged.</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Reproduces all four tables. Expect thirty minutes; part C builds tables holding up to eight million keys.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A chaining hash table, as plainly as possible.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Two hash functions, both entirely reasonable.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The distribution the analysis assumes.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The same keys, a hash that meets the data's structure.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Load factor is the one knob you actually turn.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An adversary, who does not need to be clever.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Each key is equally likely to hash to any of the m slots, independently of the others. It is a claim about the hash and the keys because the hash function is deterministic: given the keys, the slot of each is fixed, and whether they scatter depends entirely on the relationship between the function and the key set. Section 13.3’s k 220 is a perfectly good hash for unstructured keys and uses 1.6% of the table for keys with a stride of 64.</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Searching for xi, the elements examined first are those inserted after it that hashed to the same slot; for j &gt; i that happens with probability 1/m. Averaging over i: 1 + 1/nmΣi=1n(n−i) = 1 + α/2 − α/2n. At α = 4 this is 1 + 2 = 3 for large n; measured 2.998.</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distribution of chain lengths — specifically the longest chain and the mean probe count — not the mean chain length. The mean chain length is n/m by definition, whatever the hash does, because every key lands somewhere. Only the spread distinguishes a hash that scatters from one that piles up: measured, longest chain 8 against 62, and mean probes 1.5 against 31.0.</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14 — Greedy Algorithms. READ: Handout Chapter 13, pages 104–112. THIS WEEK'S LAB: A hash table degrading under a poor hash. ASSESSMENT: Assignment 1 due.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6.xml"/><Relationship Id="rId8" Type="http://schemas.openxmlformats.org/officeDocument/2006/relationships/slide" Target="slide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9.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0.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1.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2.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3.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4.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7.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8.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9.svg"/><Relationship Id="rId4" Type="http://schemas.openxmlformats.org/officeDocument/2006/relationships/image" Target="../media/image30.png"/><Relationship Id="rId5" Type="http://schemas.openxmlformats.org/officeDocument/2006/relationships/image" Target="../media/image31.svg"/><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32.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33.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5.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6.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9.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40.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41.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42.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43.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44.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45.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7.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49.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50.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51.svg"/><Relationship Id="rId4" Type="http://schemas.openxmlformats.org/officeDocument/2006/relationships/image" Target="../media/image52.png"/><Relationship Id="rId5" Type="http://schemas.openxmlformats.org/officeDocument/2006/relationships/image" Target="../media/image53.svg"/><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54.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55.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7.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8.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1.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2.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28756"/>
                </a:solidFill>
                <a:latin typeface="Segoe UI Black"/>
              </a:rPr>
              <a:t>13</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Hashing, and What Constant Time Actually Promises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PART III  ·  SORTING, SELECTION AND THE STRUCTURES BENEATH</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CHAPTER 13  ·  WEEK 9</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E4D9"/>
                </a:solidFill>
                <a:latin typeface="Segoe UI"/>
              </a:rPr>
              <a:t>Design, Proof and Measurement</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58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C0B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D0C5"/>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C0B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104     </a:t>
            </a:r>
            <a:fld id="{343AA4E4-71FB-4F44-B981-637F27E0AA55}" type="slidenum">
              <a:rPr lang="en-GB" sz="1000">
                <a:solidFill>
                  <a:srgbClr val="8795A1"/>
                </a:solidFill>
                <a:latin typeface="Segoe UI"/>
              </a:rPr>
              <a:t>2</a:t>
            </a:fld>
          </a:p>
        </p:txBody>
      </p:sp>
      <p:sp>
        <p:nvSpPr>
          <p:cNvPr id="7" name="!!rp1"/>
          <p:cNvSpPr txBox="1"/>
          <p:nvPr/>
        </p:nvSpPr>
        <p:spPr>
          <a:xfrm>
            <a:off x="777240"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18444" y="1755648"/>
            <a:ext cx="190374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18444" y="2029967"/>
            <a:ext cx="1903741"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851369" y="1755648"/>
            <a:ext cx="166746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B7A43"/>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851369" y="2029967"/>
            <a:ext cx="1667468" cy="4572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003469"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003469"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844673"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844673"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294156"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294156"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9836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8922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824875"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73343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21659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12515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8263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7911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274358"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1829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66607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57463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066944" y="2112264"/>
            <a:ext cx="566928" cy="566928"/>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066944"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13</a:t>
            </a:r>
          </a:p>
        </p:txBody>
      </p:sp>
      <p:sp>
        <p:nvSpPr>
          <p:cNvPr id="45" name="!!dot14">
            <a:extLst>
              <a:ext uri="{C183D7F6-B498-43B3-948B-1728B52AA6E4}">
                <adec:decorative xmlns:adec="http://schemas.microsoft.com/office/drawing/2017/decorative" val="1"/>
              </a:ext>
            </a:extLst>
          </p:cNvPr>
          <p:cNvSpPr/>
          <p:nvPr/>
        </p:nvSpPr>
        <p:spPr>
          <a:xfrm>
            <a:off x="703473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432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4264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3350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81817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72673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209900"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1184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659383"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56794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342432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B7A43"/>
                </a:solidFill>
                <a:latin typeface="Segoe UI"/>
              </a:rPr>
              <a:t>Hashing, and What Constant Time Actually Promises</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Input Size, Input Nature, and the Three Cases</a:t>
            </a:r>
          </a:p>
        </p:txBody>
      </p:sp>
      <p:sp>
        <p:nvSpPr>
          <p:cNvPr id="70" name="!!chipBU12">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12">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12"/>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12  </a:t>
            </a:r>
            <a:r>
              <a:rPr sz="1400" b="0" i="0">
                <a:solidFill>
                  <a:srgbClr val="1C252B"/>
                </a:solidFill>
                <a:latin typeface="Segoe UI"/>
              </a:rPr>
              <a:t>Heaps and Search Trees, Revisited for Analysis</a:t>
            </a:r>
          </a:p>
        </p:txBody>
      </p:sp>
      <p:sp>
        <p:nvSpPr>
          <p:cNvPr id="73"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4" name="!!chipUS17">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bUS17">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tUS17"/>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17  </a:t>
            </a:r>
            <a:r>
              <a:rPr sz="1400" b="0" i="0">
                <a:solidFill>
                  <a:srgbClr val="1C252B"/>
                </a:solidFill>
                <a:latin typeface="Segoe UI"/>
              </a:rPr>
              <a:t>Amortised Analysis</a:t>
            </a:r>
          </a:p>
        </p:txBody>
      </p:sp>
      <p:sp>
        <p:nvSpPr>
          <p:cNvPr id="77" name="!!chipUS20">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bUS20">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tUS20"/>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20  </a:t>
            </a:r>
            <a:r>
              <a:rPr sz="1400" b="0" i="0">
                <a:solidFill>
                  <a:srgbClr val="1C252B"/>
                </a:solidFill>
                <a:latin typeface="Segoe UI"/>
              </a:rPr>
              <a:t>Shortest Paths: Single-Source and All-Pairs</a:t>
            </a:r>
          </a:p>
        </p:txBody>
      </p:sp>
      <p:sp>
        <p:nvSpPr>
          <p:cNvPr id="80" name="!!chipUS21">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chipbUS21">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tUS21"/>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21  </a:t>
            </a:r>
            <a:r>
              <a:rPr sz="1400" b="0" i="0">
                <a:solidFill>
                  <a:srgbClr val="1C252B"/>
                </a:solidFill>
                <a:latin typeface="Segoe UI"/>
              </a:rPr>
              <a:t>String Matching</a:t>
            </a:r>
          </a:p>
        </p:txBody>
      </p:sp>
      <p:sp>
        <p:nvSpPr>
          <p:cNvPr id="83" name="!!chipUS23">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chipbUS23">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chiptUS23"/>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23  </a:t>
            </a:r>
            <a:r>
              <a:rPr sz="1400" b="0" i="0">
                <a:solidFill>
                  <a:srgbClr val="1C252B"/>
                </a:solidFill>
                <a:latin typeface="Segoe UI"/>
              </a:rPr>
              <a:t>The Semester Project</a:t>
            </a:r>
          </a:p>
        </p:txBody>
      </p:sp>
      <p:sp>
        <p:nvSpPr>
          <p:cNvPr id="8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pfill">
            <a:extLst>
              <a:ext uri="{C183D7F6-B498-43B3-948B-1728B52AA6E4}">
                <adec:decorative xmlns:adec="http://schemas.microsoft.com/office/drawing/2017/decorative" val="1"/>
              </a:ext>
            </a:extLst>
          </p:cNvPr>
          <p:cNvSpPr/>
          <p:nvPr/>
        </p:nvSpPr>
        <p:spPr>
          <a:xfrm>
            <a:off x="0" y="0"/>
            <a:ext cx="51879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104     </a:t>
            </a:r>
            <a:fld id="{51C82529-60BC-467A-A007-B847B5D626B4}"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State</a:t>
            </a:r>
            <a:r>
              <a:rPr sz="2100" b="0" i="0">
                <a:solidFill>
                  <a:srgbClr val="1C252B"/>
                </a:solidFill>
                <a:latin typeface="Segoe UI"/>
              </a:rPr>
              <a:t> the simple uniform hashing assumption and </a:t>
            </a:r>
            <a:r>
              <a:rPr sz="2100" b="1" i="0">
                <a:solidFill>
                  <a:srgbClr val="1C252B"/>
                </a:solidFill>
                <a:latin typeface="Segoe UI"/>
              </a:rPr>
              <a:t>explain</a:t>
            </a:r>
            <a:r>
              <a:rPr sz="2100" b="0" i="0">
                <a:solidFill>
                  <a:srgbClr val="1C252B"/>
                </a:solidFill>
                <a:latin typeface="Segoe UI"/>
              </a:rPr>
              <a:t> what the </a:t>
            </a:r>
            <a:r>
              <a:rPr sz="2100" b="0" i="0">
                <a:solidFill>
                  <a:srgbClr val="1C252B"/>
                </a:solidFill>
                <a:latin typeface="Cambria"/>
              </a:rPr>
              <a:t>Θ(1)</a:t>
            </a:r>
            <a:r>
              <a:rPr sz="2100" b="0" i="0">
                <a:solidFill>
                  <a:srgbClr val="1C252B"/>
                </a:solidFill>
                <a:latin typeface="Segoe UI"/>
              </a:rPr>
              <a:t> claim depends on </a:t>
            </a:r>
            <a:r>
              <a:rPr sz="2100" b="0" i="1">
                <a:solidFill>
                  <a:srgbClr val="1C252B"/>
                </a:solidFill>
                <a:latin typeface="Segoe UI"/>
              </a:rPr>
              <a:t>(CLO-2)</a:t>
            </a:r>
            <a:r>
              <a:rPr sz="2100" b="0" i="0">
                <a:solidFill>
                  <a:srgbClr val="1C252B"/>
                </a:solidFill>
                <a:latin typeface="Segoe UI"/>
              </a:rPr>
              <a:t>.</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Derive</a:t>
            </a:r>
            <a:r>
              <a:rPr sz="2100" b="0" i="0">
                <a:solidFill>
                  <a:srgbClr val="1C252B"/>
                </a:solidFill>
                <a:latin typeface="Segoe UI"/>
              </a:rPr>
              <a:t> the expected probe length </a:t>
            </a:r>
            <a:r>
              <a:rPr sz="2100" b="0" i="0">
                <a:solidFill>
                  <a:srgbClr val="1C252B"/>
                </a:solidFill>
                <a:latin typeface="Cambria"/>
              </a:rPr>
              <a:t>1 + α/2</a:t>
            </a:r>
            <a:r>
              <a:rPr sz="2100" b="0" i="0">
                <a:solidFill>
                  <a:srgbClr val="1C252B"/>
                </a:solidFill>
                <a:latin typeface="Segoe UI"/>
              </a:rPr>
              <a:t> for a successful search under chaining, and </a:t>
            </a:r>
            <a:r>
              <a:rPr sz="2100" b="1" i="0">
                <a:solidFill>
                  <a:srgbClr val="1C252B"/>
                </a:solidFill>
                <a:latin typeface="Segoe UI"/>
              </a:rPr>
              <a:t>verify</a:t>
            </a:r>
            <a:r>
              <a:rPr sz="2100" b="0" i="0">
                <a:solidFill>
                  <a:srgbClr val="1C252B"/>
                </a:solidFill>
                <a:latin typeface="Segoe UI"/>
              </a:rPr>
              <a:t> it by measurement.</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Identify</a:t>
            </a:r>
            <a:r>
              <a:rPr sz="2100" b="0" i="0">
                <a:solidFill>
                  <a:srgbClr val="1C252B"/>
                </a:solidFill>
                <a:latin typeface="Segoe UI"/>
              </a:rPr>
              <a:t> the key patterns that defeat a division-method hash, and </a:t>
            </a:r>
            <a:r>
              <a:rPr sz="2100" b="1" i="0">
                <a:solidFill>
                  <a:srgbClr val="1C252B"/>
                </a:solidFill>
                <a:latin typeface="Segoe UI"/>
              </a:rPr>
              <a:t>explain</a:t>
            </a:r>
            <a:r>
              <a:rPr sz="2100" b="0" i="0">
                <a:solidFill>
                  <a:srgbClr val="1C252B"/>
                </a:solidFill>
                <a:latin typeface="Segoe UI"/>
              </a:rPr>
              <a:t> why they are common rather than exotic.</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758537"/>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Describe</a:t>
            </a:r>
            <a:r>
              <a:rPr sz="2100" b="0" i="0">
                <a:solidFill>
                  <a:srgbClr val="1C252B"/>
                </a:solidFill>
                <a:latin typeface="Segoe UI"/>
              </a:rPr>
              <a:t> how an adversary degrades a hash table to a linked list, and </a:t>
            </a:r>
            <a:r>
              <a:rPr sz="2100" b="1" i="0">
                <a:solidFill>
                  <a:srgbClr val="1C252B"/>
                </a:solidFill>
                <a:latin typeface="Segoe UI"/>
              </a:rPr>
              <a:t>name</a:t>
            </a:r>
            <a:r>
              <a:rPr sz="2100" b="0" i="0">
                <a:solidFill>
                  <a:srgbClr val="1C252B"/>
                </a:solidFill>
                <a:latin typeface="Segoe UI"/>
              </a:rPr>
              <a:t> the defence.</a:t>
            </a:r>
          </a:p>
        </p:txBody>
      </p:sp>
      <p:sp>
        <p:nvSpPr>
          <p:cNvPr id="20" name="!!ob4">
            <a:extLst>
              <a:ext uri="{C183D7F6-B498-43B3-948B-1728B52AA6E4}">
                <adec:decorative xmlns:adec="http://schemas.microsoft.com/office/drawing/2017/decorative" val="1"/>
              </a:ext>
            </a:extLst>
          </p:cNvPr>
          <p:cNvSpPr/>
          <p:nvPr/>
        </p:nvSpPr>
        <p:spPr>
          <a:xfrm>
            <a:off x="658368" y="5616244"/>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67568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657392"/>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Distinguish</a:t>
            </a:r>
            <a:r>
              <a:rPr sz="2100" b="0" i="0">
                <a:solidFill>
                  <a:srgbClr val="1C252B"/>
                </a:solidFill>
                <a:latin typeface="Segoe UI"/>
              </a:rPr>
              <a:t> expected, worst-case and amortised cost for hash table operations.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7819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104     </a:t>
            </a:r>
            <a:fld id="{99BEB440-E93C-4DB8-A8D6-6382BB1F898A}" type="slidenum">
              <a:rPr lang="en-GB" sz="1000">
                <a:solidFill>
                  <a:srgbClr val="8795A1"/>
                </a:solidFill>
                <a:latin typeface="Segoe UI"/>
              </a:rPr>
              <a:t>4</a:t>
            </a:fld>
          </a:p>
        </p:txBody>
      </p:sp>
      <p:sp>
        <p:nvSpPr>
          <p:cNvPr id="7" name="!!term-hash function">
            <a:extLst>
              <a:ext uri="{C183D7F6-B498-43B3-948B-1728B52AA6E4}">
                <adec:decorative xmlns:adec="http://schemas.microsoft.com/office/drawing/2017/decorative" val="1"/>
              </a:ext>
            </a:extLst>
          </p:cNvPr>
          <p:cNvSpPr/>
          <p:nvPr/>
        </p:nvSpPr>
        <p:spPr>
          <a:xfrm>
            <a:off x="658368" y="1847088"/>
            <a:ext cx="17555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hash function">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hash function"/>
          <p:cNvSpPr txBox="1"/>
          <p:nvPr/>
        </p:nvSpPr>
        <p:spPr>
          <a:xfrm>
            <a:off x="950976" y="1955291"/>
            <a:ext cx="157271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hash function</a:t>
            </a:r>
          </a:p>
        </p:txBody>
      </p:sp>
      <p:sp>
        <p:nvSpPr>
          <p:cNvPr id="10" name="!!term-hash table">
            <a:extLst>
              <a:ext uri="{C183D7F6-B498-43B3-948B-1728B52AA6E4}">
                <adec:decorative xmlns:adec="http://schemas.microsoft.com/office/drawing/2017/decorative" val="1"/>
              </a:ext>
            </a:extLst>
          </p:cNvPr>
          <p:cNvSpPr/>
          <p:nvPr/>
        </p:nvSpPr>
        <p:spPr>
          <a:xfrm>
            <a:off x="2560267" y="1847088"/>
            <a:ext cx="143870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hash table">
            <a:extLst>
              <a:ext uri="{C183D7F6-B498-43B3-948B-1728B52AA6E4}">
                <adec:decorative xmlns:adec="http://schemas.microsoft.com/office/drawing/2017/decorative" val="1"/>
              </a:ext>
            </a:extLst>
          </p:cNvPr>
          <p:cNvSpPr/>
          <p:nvPr/>
        </p:nvSpPr>
        <p:spPr>
          <a:xfrm>
            <a:off x="268828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hash table"/>
          <p:cNvSpPr txBox="1"/>
          <p:nvPr/>
        </p:nvSpPr>
        <p:spPr>
          <a:xfrm>
            <a:off x="2852875" y="1955291"/>
            <a:ext cx="125582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hash table</a:t>
            </a:r>
          </a:p>
        </p:txBody>
      </p:sp>
      <p:sp>
        <p:nvSpPr>
          <p:cNvPr id="13" name="!!term-collision">
            <a:extLst>
              <a:ext uri="{C183D7F6-B498-43B3-948B-1728B52AA6E4}">
                <adec:decorative xmlns:adec="http://schemas.microsoft.com/office/drawing/2017/decorative" val="1"/>
              </a:ext>
            </a:extLst>
          </p:cNvPr>
          <p:cNvSpPr/>
          <p:nvPr/>
        </p:nvSpPr>
        <p:spPr>
          <a:xfrm>
            <a:off x="4145273" y="1847088"/>
            <a:ext cx="122993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collision">
            <a:extLst>
              <a:ext uri="{C183D7F6-B498-43B3-948B-1728B52AA6E4}">
                <adec:decorative xmlns:adec="http://schemas.microsoft.com/office/drawing/2017/decorative" val="1"/>
              </a:ext>
            </a:extLst>
          </p:cNvPr>
          <p:cNvSpPr/>
          <p:nvPr/>
        </p:nvSpPr>
        <p:spPr>
          <a:xfrm>
            <a:off x="427328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collision"/>
          <p:cNvSpPr txBox="1"/>
          <p:nvPr/>
        </p:nvSpPr>
        <p:spPr>
          <a:xfrm>
            <a:off x="4437881" y="1955291"/>
            <a:ext cx="104705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collision</a:t>
            </a:r>
          </a:p>
        </p:txBody>
      </p:sp>
      <p:sp>
        <p:nvSpPr>
          <p:cNvPr id="16" name="!!term-chaining">
            <a:extLst>
              <a:ext uri="{C183D7F6-B498-43B3-948B-1728B52AA6E4}">
                <adec:decorative xmlns:adec="http://schemas.microsoft.com/office/drawing/2017/decorative" val="1"/>
              </a:ext>
            </a:extLst>
          </p:cNvPr>
          <p:cNvSpPr/>
          <p:nvPr/>
        </p:nvSpPr>
        <p:spPr>
          <a:xfrm>
            <a:off x="5521512" y="1847088"/>
            <a:ext cx="126296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chaining">
            <a:extLst>
              <a:ext uri="{C183D7F6-B498-43B3-948B-1728B52AA6E4}">
                <adec:decorative xmlns:adec="http://schemas.microsoft.com/office/drawing/2017/decorative" val="1"/>
              </a:ext>
            </a:extLst>
          </p:cNvPr>
          <p:cNvSpPr/>
          <p:nvPr/>
        </p:nvSpPr>
        <p:spPr>
          <a:xfrm>
            <a:off x="564952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chaining"/>
          <p:cNvSpPr txBox="1"/>
          <p:nvPr/>
        </p:nvSpPr>
        <p:spPr>
          <a:xfrm>
            <a:off x="5814120" y="1955291"/>
            <a:ext cx="1080087"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chaining</a:t>
            </a:r>
          </a:p>
        </p:txBody>
      </p:sp>
      <p:sp>
        <p:nvSpPr>
          <p:cNvPr id="19" name="!!term-open addressin">
            <a:extLst>
              <a:ext uri="{C183D7F6-B498-43B3-948B-1728B52AA6E4}">
                <adec:decorative xmlns:adec="http://schemas.microsoft.com/office/drawing/2017/decorative" val="1"/>
              </a:ext>
            </a:extLst>
          </p:cNvPr>
          <p:cNvSpPr/>
          <p:nvPr/>
        </p:nvSpPr>
        <p:spPr>
          <a:xfrm>
            <a:off x="6930783" y="1847088"/>
            <a:ext cx="205526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open addressin">
            <a:extLst>
              <a:ext uri="{C183D7F6-B498-43B3-948B-1728B52AA6E4}">
                <adec:decorative xmlns:adec="http://schemas.microsoft.com/office/drawing/2017/decorative" val="1"/>
              </a:ext>
            </a:extLst>
          </p:cNvPr>
          <p:cNvSpPr/>
          <p:nvPr/>
        </p:nvSpPr>
        <p:spPr>
          <a:xfrm>
            <a:off x="705879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open addressin"/>
          <p:cNvSpPr txBox="1"/>
          <p:nvPr/>
        </p:nvSpPr>
        <p:spPr>
          <a:xfrm>
            <a:off x="7223391" y="1955291"/>
            <a:ext cx="1872387"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open addressing</a:t>
            </a:r>
          </a:p>
        </p:txBody>
      </p:sp>
      <p:sp>
        <p:nvSpPr>
          <p:cNvPr id="22" name="!!term-load factor">
            <a:extLst>
              <a:ext uri="{C183D7F6-B498-43B3-948B-1728B52AA6E4}">
                <adec:decorative xmlns:adec="http://schemas.microsoft.com/office/drawing/2017/decorative" val="1"/>
              </a:ext>
            </a:extLst>
          </p:cNvPr>
          <p:cNvSpPr/>
          <p:nvPr/>
        </p:nvSpPr>
        <p:spPr>
          <a:xfrm>
            <a:off x="9132355" y="1847088"/>
            <a:ext cx="148641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load factor">
            <a:extLst>
              <a:ext uri="{C183D7F6-B498-43B3-948B-1728B52AA6E4}">
                <adec:decorative xmlns:adec="http://schemas.microsoft.com/office/drawing/2017/decorative" val="1"/>
              </a:ext>
            </a:extLst>
          </p:cNvPr>
          <p:cNvSpPr/>
          <p:nvPr/>
        </p:nvSpPr>
        <p:spPr>
          <a:xfrm>
            <a:off x="926037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load factor"/>
          <p:cNvSpPr txBox="1"/>
          <p:nvPr/>
        </p:nvSpPr>
        <p:spPr>
          <a:xfrm>
            <a:off x="9424963" y="1955291"/>
            <a:ext cx="1303536"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load factor</a:t>
            </a:r>
          </a:p>
        </p:txBody>
      </p:sp>
      <p:sp>
        <p:nvSpPr>
          <p:cNvPr id="25" name="!!term-simple uniform">
            <a:extLst>
              <a:ext uri="{C183D7F6-B498-43B3-948B-1728B52AA6E4}">
                <adec:decorative xmlns:adec="http://schemas.microsoft.com/office/drawing/2017/decorative" val="1"/>
              </a:ext>
            </a:extLst>
          </p:cNvPr>
          <p:cNvSpPr/>
          <p:nvPr/>
        </p:nvSpPr>
        <p:spPr>
          <a:xfrm>
            <a:off x="658368" y="2468880"/>
            <a:ext cx="272300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simple uniform">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simple uniform"/>
          <p:cNvSpPr txBox="1"/>
          <p:nvPr/>
        </p:nvSpPr>
        <p:spPr>
          <a:xfrm>
            <a:off x="950976" y="2577084"/>
            <a:ext cx="2540126"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simple uniform hashing</a:t>
            </a:r>
          </a:p>
        </p:txBody>
      </p:sp>
      <p:sp>
        <p:nvSpPr>
          <p:cNvPr id="28" name="!!term-division metho">
            <a:extLst>
              <a:ext uri="{C183D7F6-B498-43B3-948B-1728B52AA6E4}">
                <adec:decorative xmlns:adec="http://schemas.microsoft.com/office/drawing/2017/decorative" val="1"/>
              </a:ext>
            </a:extLst>
          </p:cNvPr>
          <p:cNvSpPr/>
          <p:nvPr/>
        </p:nvSpPr>
        <p:spPr>
          <a:xfrm>
            <a:off x="3527678" y="2468880"/>
            <a:ext cx="200422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division metho">
            <a:extLst>
              <a:ext uri="{C183D7F6-B498-43B3-948B-1728B52AA6E4}">
                <adec:decorative xmlns:adec="http://schemas.microsoft.com/office/drawing/2017/decorative" val="1"/>
              </a:ext>
            </a:extLst>
          </p:cNvPr>
          <p:cNvSpPr/>
          <p:nvPr/>
        </p:nvSpPr>
        <p:spPr>
          <a:xfrm>
            <a:off x="365569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division metho"/>
          <p:cNvSpPr txBox="1"/>
          <p:nvPr/>
        </p:nvSpPr>
        <p:spPr>
          <a:xfrm>
            <a:off x="3820286" y="2577084"/>
            <a:ext cx="182134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division method</a:t>
            </a:r>
          </a:p>
        </p:txBody>
      </p:sp>
      <p:sp>
        <p:nvSpPr>
          <p:cNvPr id="31" name="!!term-multiplicative">
            <a:extLst>
              <a:ext uri="{C183D7F6-B498-43B3-948B-1728B52AA6E4}">
                <adec:decorative xmlns:adec="http://schemas.microsoft.com/office/drawing/2017/decorative" val="1"/>
              </a:ext>
            </a:extLst>
          </p:cNvPr>
          <p:cNvSpPr/>
          <p:nvPr/>
        </p:nvSpPr>
        <p:spPr>
          <a:xfrm>
            <a:off x="5678203" y="2468880"/>
            <a:ext cx="255562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multiplicative">
            <a:extLst>
              <a:ext uri="{C183D7F6-B498-43B3-948B-1728B52AA6E4}">
                <adec:decorative xmlns:adec="http://schemas.microsoft.com/office/drawing/2017/decorative" val="1"/>
              </a:ext>
            </a:extLst>
          </p:cNvPr>
          <p:cNvSpPr/>
          <p:nvPr/>
        </p:nvSpPr>
        <p:spPr>
          <a:xfrm>
            <a:off x="580621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multiplicative"/>
          <p:cNvSpPr txBox="1"/>
          <p:nvPr/>
        </p:nvSpPr>
        <p:spPr>
          <a:xfrm>
            <a:off x="5970811" y="2577084"/>
            <a:ext cx="2372746"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multiplicative hashing</a:t>
            </a:r>
          </a:p>
        </p:txBody>
      </p:sp>
      <p:sp>
        <p:nvSpPr>
          <p:cNvPr id="34" name="!!term-universal hash">
            <a:extLst>
              <a:ext uri="{C183D7F6-B498-43B3-948B-1728B52AA6E4}">
                <adec:decorative xmlns:adec="http://schemas.microsoft.com/office/drawing/2017/decorative" val="1"/>
              </a:ext>
            </a:extLst>
          </p:cNvPr>
          <p:cNvSpPr/>
          <p:nvPr/>
        </p:nvSpPr>
        <p:spPr>
          <a:xfrm>
            <a:off x="8380134" y="2468880"/>
            <a:ext cx="212027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universal hash">
            <a:extLst>
              <a:ext uri="{C183D7F6-B498-43B3-948B-1728B52AA6E4}">
                <adec:decorative xmlns:adec="http://schemas.microsoft.com/office/drawing/2017/decorative" val="1"/>
              </a:ext>
            </a:extLst>
          </p:cNvPr>
          <p:cNvSpPr/>
          <p:nvPr/>
        </p:nvSpPr>
        <p:spPr>
          <a:xfrm>
            <a:off x="850815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universal hash"/>
          <p:cNvSpPr txBox="1"/>
          <p:nvPr/>
        </p:nvSpPr>
        <p:spPr>
          <a:xfrm>
            <a:off x="8672742" y="2577084"/>
            <a:ext cx="193739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universal hashing</a:t>
            </a:r>
          </a:p>
        </p:txBody>
      </p:sp>
      <p:sp>
        <p:nvSpPr>
          <p:cNvPr id="37" name="!!term-adversarial in">
            <a:extLst>
              <a:ext uri="{C183D7F6-B498-43B3-948B-1728B52AA6E4}">
                <adec:decorative xmlns:adec="http://schemas.microsoft.com/office/drawing/2017/decorative" val="1"/>
              </a:ext>
            </a:extLst>
          </p:cNvPr>
          <p:cNvSpPr/>
          <p:nvPr/>
        </p:nvSpPr>
        <p:spPr>
          <a:xfrm>
            <a:off x="658368" y="3090672"/>
            <a:ext cx="204584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adversarial in">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adversarial in"/>
          <p:cNvSpPr txBox="1"/>
          <p:nvPr/>
        </p:nvSpPr>
        <p:spPr>
          <a:xfrm>
            <a:off x="950976" y="3198876"/>
            <a:ext cx="1862966"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adversarial input</a:t>
            </a:r>
          </a:p>
        </p:txBody>
      </p:sp>
      <p:sp>
        <p:nvSpPr>
          <p:cNvPr id="40" name="!!term-hash flooding">
            <a:extLst>
              <a:ext uri="{C183D7F6-B498-43B3-948B-1728B52AA6E4}">
                <adec:decorative xmlns:adec="http://schemas.microsoft.com/office/drawing/2017/decorative" val="1"/>
              </a:ext>
            </a:extLst>
          </p:cNvPr>
          <p:cNvSpPr/>
          <p:nvPr/>
        </p:nvSpPr>
        <p:spPr>
          <a:xfrm>
            <a:off x="2850518" y="3090672"/>
            <a:ext cx="17716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hash flooding">
            <a:extLst>
              <a:ext uri="{C183D7F6-B498-43B3-948B-1728B52AA6E4}">
                <adec:decorative xmlns:adec="http://schemas.microsoft.com/office/drawing/2017/decorative" val="1"/>
              </a:ext>
            </a:extLst>
          </p:cNvPr>
          <p:cNvSpPr/>
          <p:nvPr/>
        </p:nvSpPr>
        <p:spPr>
          <a:xfrm>
            <a:off x="297853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hash flooding"/>
          <p:cNvSpPr txBox="1"/>
          <p:nvPr/>
        </p:nvSpPr>
        <p:spPr>
          <a:xfrm>
            <a:off x="3143126" y="3198876"/>
            <a:ext cx="158879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hash flooding</a:t>
            </a:r>
          </a:p>
        </p:txBody>
      </p:sp>
      <p:sp>
        <p:nvSpPr>
          <p:cNvPr id="43"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4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pfill">
            <a:extLst>
              <a:ext uri="{C183D7F6-B498-43B3-948B-1728B52AA6E4}">
                <adec:decorative xmlns:adec="http://schemas.microsoft.com/office/drawing/2017/decorative" val="1"/>
              </a:ext>
            </a:extLst>
          </p:cNvPr>
          <p:cNvSpPr/>
          <p:nvPr/>
        </p:nvSpPr>
        <p:spPr>
          <a:xfrm>
            <a:off x="0" y="0"/>
            <a:ext cx="103759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104–112     </a:t>
            </a:r>
            <a:fld id="{BA8BD98B-6975-4B4A-BBED-7356A1049B8E}" type="slidenum">
              <a:rPr lang="en-GB" sz="1000">
                <a:solidFill>
                  <a:srgbClr val="8795A1"/>
                </a:solidFill>
                <a:latin typeface="Segoe UI"/>
              </a:rPr>
              <a:t>5</a:t>
            </a:fld>
          </a:p>
        </p:txBody>
      </p:sp>
      <p:sp>
        <p:nvSpPr>
          <p:cNvPr id="7" name="!!ag0" descr="Go to section 13.1 The Claim, and Its Fine Print">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13.1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Claim, and Its Fine Print</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104  ›</a:t>
            </a:r>
          </a:p>
        </p:txBody>
      </p:sp>
      <p:sp>
        <p:nvSpPr>
          <p:cNvPr id="12" name="!!ag1" descr="Go to section 13.2 Measured: the Assumption, and the Prediction">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13.2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Measured: the Assumption, and the Prediction</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105  ›</a:t>
            </a:r>
          </a:p>
        </p:txBody>
      </p:sp>
      <p:sp>
        <p:nvSpPr>
          <p:cNvPr id="17" name="!!ag2" descr="Go to section 13.3 When the Assumption Quietly Fail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13.3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When the Assumption Quietly Fails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106  ›</a:t>
            </a:r>
          </a:p>
        </p:txBody>
      </p:sp>
      <p:sp>
        <p:nvSpPr>
          <p:cNvPr id="22" name="!!ag3" descr="Go to section 13.4 An Adversary">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13.4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An Adversary</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107  ›</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29698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Claim, and Its Fine Print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1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13.1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13.1   The Claim, and Its Fine Print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13.2   Measured: the Assumption, and the Prediction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13.3   When the Assumption Quietly Fails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13.4   An Adversary</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§13.1     </a:t>
            </a:r>
            <a:fld id="{052FCF68-81F8-47B6-9514-F55FAD66CA57}" type="slidenum">
              <a:rPr lang="en-GB" sz="1000">
                <a:solidFill>
                  <a:srgbClr val="8795A1"/>
                </a:solidFill>
                <a:latin typeface="Segoe UI"/>
              </a:rPr>
              <a:t>6</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55638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Chaining, Load Factor</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§13.1  ·  Handout p. 104     </a:t>
            </a:r>
            <a:fld id="{98D4F90E-B135-4DAA-91D0-C1D27EBDEF70}"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240610"/>
          </a:xfrm>
          <a:prstGeom prst="roundRect">
            <a:avLst>
              <a:gd name="adj" fmla="val 4081"/>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240610"/>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a:t>
            </a:r>
            <a:r>
              <a:rPr sz="2300" b="1" i="0">
                <a:solidFill>
                  <a:srgbClr val="1A5276"/>
                </a:solidFill>
                <a:latin typeface="Segoe UI"/>
              </a:rPr>
              <a:t>hash table</a:t>
            </a:r>
            <a:r>
              <a:rPr sz="2300" b="0" i="0">
                <a:solidFill>
                  <a:srgbClr val="1C252B"/>
                </a:solidFill>
                <a:latin typeface="Segoe UI"/>
              </a:rPr>
              <a:t> with </a:t>
            </a:r>
            <a:r>
              <a:rPr sz="2300" b="1" i="0">
                <a:solidFill>
                  <a:srgbClr val="1A5276"/>
                </a:solidFill>
                <a:latin typeface="Segoe UI"/>
              </a:rPr>
              <a:t>chaining</a:t>
            </a:r>
            <a:r>
              <a:rPr sz="2300" b="0" i="0">
                <a:solidFill>
                  <a:srgbClr val="1C252B"/>
                </a:solidFill>
                <a:latin typeface="Segoe UI"/>
              </a:rPr>
              <a:t> stores </a:t>
            </a:r>
            <a:r>
              <a:rPr sz="2300" b="0" i="1">
                <a:solidFill>
                  <a:srgbClr val="1C252B"/>
                </a:solidFill>
                <a:latin typeface="Cambria"/>
              </a:rPr>
              <a:t>n</a:t>
            </a:r>
            <a:r>
              <a:rPr sz="2300" b="0" i="0">
                <a:solidFill>
                  <a:srgbClr val="1C252B"/>
                </a:solidFill>
                <a:latin typeface="Segoe UI"/>
              </a:rPr>
              <a:t> keys in </a:t>
            </a:r>
            <a:r>
              <a:rPr sz="2300" b="0" i="1">
                <a:solidFill>
                  <a:srgbClr val="1C252B"/>
                </a:solidFill>
                <a:latin typeface="Cambria"/>
              </a:rPr>
              <a:t>m</a:t>
            </a:r>
            <a:r>
              <a:rPr sz="2300" b="0" i="0">
                <a:solidFill>
                  <a:srgbClr val="1C252B"/>
                </a:solidFill>
                <a:latin typeface="Segoe UI"/>
              </a:rPr>
              <a:t> slots; each slot holds a list of the keys hashing to it. The </a:t>
            </a:r>
            <a:r>
              <a:rPr sz="2300" b="1" i="0">
                <a:solidFill>
                  <a:srgbClr val="1A5276"/>
                </a:solidFill>
                <a:latin typeface="Segoe UI"/>
              </a:rPr>
              <a:t>load factor</a:t>
            </a:r>
            <a:r>
              <a:rPr sz="2300" b="0" i="0">
                <a:solidFill>
                  <a:srgbClr val="1C252B"/>
                </a:solidFill>
                <a:latin typeface="Segoe UI"/>
              </a:rPr>
              <a:t> is </a:t>
            </a:r>
            <a:r>
              <a:rPr sz="2300" b="0" i="0">
                <a:solidFill>
                  <a:srgbClr val="1C252B"/>
                </a:solidFill>
                <a:latin typeface="Cambria"/>
              </a:rPr>
              <a:t>α = </a:t>
            </a:r>
            <a:r>
              <a:rPr sz="2300" b="0" i="1">
                <a:solidFill>
                  <a:srgbClr val="1C252B"/>
                </a:solidFill>
                <a:latin typeface="Cambria"/>
              </a:rPr>
              <a:t>n</a:t>
            </a:r>
            <a:r>
              <a:rPr sz="2300" b="0" i="0">
                <a:solidFill>
                  <a:srgbClr val="1C252B"/>
                </a:solidFill>
                <a:latin typeface="Cambria"/>
              </a:rPr>
              <a:t>/</a:t>
            </a:r>
            <a:r>
              <a:rPr sz="2300" b="0" i="1">
                <a:solidFill>
                  <a:srgbClr val="1C252B"/>
                </a:solidFill>
                <a:latin typeface="Cambria"/>
              </a:rPr>
              <a:t>m</a:t>
            </a:r>
            <a:r>
              <a:rPr sz="2300" b="0" i="0">
                <a:solidFill>
                  <a:srgbClr val="1C252B"/>
                </a:solidFill>
                <a:latin typeface="Segoe UI"/>
              </a:rPr>
              <a:t>, the average chain length.</a:t>
            </a:r>
          </a:p>
        </p:txBody>
      </p:sp>
      <p:sp>
        <p:nvSpPr>
          <p:cNvPr id="10" name="body-1"/>
          <p:cNvSpPr txBox="1"/>
          <p:nvPr/>
        </p:nvSpPr>
        <p:spPr>
          <a:xfrm>
            <a:off x="1060704" y="2937992"/>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Simple uniform hashing</a:t>
            </a:r>
            <a:r>
              <a:rPr sz="2300" b="0" i="0">
                <a:solidFill>
                  <a:srgbClr val="1C252B"/>
                </a:solidFill>
                <a:latin typeface="Segoe UI"/>
              </a:rPr>
              <a:t> is the assumption that each key is equally likely to hash to any of the </a:t>
            </a:r>
            <a:r>
              <a:rPr sz="2300" b="0" i="1">
                <a:solidFill>
                  <a:srgbClr val="1C252B"/>
                </a:solidFill>
                <a:latin typeface="Cambria"/>
              </a:rPr>
              <a:t>m</a:t>
            </a:r>
            <a:r>
              <a:rPr sz="2300" b="0" i="0">
                <a:solidFill>
                  <a:srgbClr val="1C252B"/>
                </a:solidFill>
                <a:latin typeface="Segoe UI"/>
              </a:rPr>
              <a:t> slots, independently of the others.</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81578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Expected search cost under chaining</a:t>
            </a:r>
          </a:p>
        </p:txBody>
      </p:sp>
      <p:pic>
        <p:nvPicPr>
          <p:cNvPr id="3" name="!!kicker-icon" descr="award-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THEOREM 13.1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§13.1  ·  Handout p. 104     </a:t>
            </a:r>
            <a:fld id="{680FFC98-5720-4F40-997E-C6041A330024}"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Under simple uniform hashing, an unsuccessful search examines </a:t>
            </a:r>
            <a:r>
              <a:rPr sz="2300" b="0" i="0">
                <a:solidFill>
                  <a:srgbClr val="1C252B"/>
                </a:solidFill>
                <a:latin typeface="Cambria"/>
              </a:rPr>
              <a:t>Θ(1+α)</a:t>
            </a:r>
            <a:r>
              <a:rPr sz="2300" b="0" i="0">
                <a:solidFill>
                  <a:srgbClr val="1C252B"/>
                </a:solidFill>
                <a:latin typeface="Segoe UI"/>
              </a:rPr>
              <a:t> elements in expectation, and a successful search </a:t>
            </a:r>
            <a:r>
              <a:rPr sz="2300" b="0" i="0">
                <a:solidFill>
                  <a:srgbClr val="1C252B"/>
                </a:solidFill>
                <a:latin typeface="Cambria"/>
              </a:rPr>
              <a:t>Θ(1+α)</a:t>
            </a:r>
            <a:r>
              <a:rPr sz="2300" b="0" i="0">
                <a:solidFill>
                  <a:srgbClr val="1C252B"/>
                </a:solidFill>
                <a:latin typeface="Segoe UI"/>
              </a:rPr>
              <a:t> — more precisely </a:t>
            </a:r>
            <a:r>
              <a:rPr sz="2300" b="0" i="0">
                <a:solidFill>
                  <a:srgbClr val="1C252B"/>
                </a:solidFill>
                <a:latin typeface="Cambria"/>
              </a:rPr>
              <a:t>1 + α/2 − α/2</a:t>
            </a:r>
            <a:r>
              <a:rPr sz="2300" b="0" i="1">
                <a:solidFill>
                  <a:srgbClr val="1C252B"/>
                </a:solidFill>
                <a:latin typeface="Cambria"/>
              </a:rPr>
              <a:t>n</a:t>
            </a:r>
            <a:r>
              <a:rPr sz="2300" b="0" i="0">
                <a:solidFill>
                  <a:srgbClr val="1C252B"/>
                </a:solidFill>
                <a:latin typeface="Segoe UI"/>
              </a:rPr>
              <a: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07518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things wrong with “a hash table is O(1)”</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§13.1  ·  Handout p. 104     </a:t>
            </a:r>
            <a:fld id="{08628013-FB8C-451B-81FC-B3FA48B64A62}"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742588"/>
          </a:xfrm>
          <a:prstGeom prst="roundRect">
            <a:avLst>
              <a:gd name="adj" fmla="val 2443"/>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742588"/>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166516"/>
          </a:xfrm>
          <a:prstGeom prst="rect">
            <a:avLst/>
          </a:prstGeom>
          <a:noFill/>
        </p:spPr>
        <p:txBody>
          <a:bodyPr wrap="square" anchor="t" lIns="0" rIns="0" tIns="0" bIns="0">
            <a:noAutofit/>
          </a:bodyPr>
          <a:lstStyle/>
          <a:p>
            <a:pPr algn="l" marL="554820" indent="-554820">
              <a:lnSpc>
                <a:spcPct val="104000"/>
              </a:lnSpc>
              <a:spcBef>
                <a:spcPts val="0"/>
              </a:spcBef>
              <a:spcAft>
                <a:spcPts val="804"/>
              </a:spcAft>
            </a:pPr>
            <a:r>
              <a:rPr sz="2300" b="1">
                <a:solidFill>
                  <a:srgbClr val="A93226"/>
                </a:solidFill>
                <a:latin typeface="Segoe UI"/>
              </a:rPr>
              <a:t>1.	</a:t>
            </a:r>
            <a:r>
              <a:rPr sz="2300" b="1" i="0">
                <a:solidFill>
                  <a:srgbClr val="A93226"/>
                </a:solidFill>
                <a:latin typeface="Segoe UI"/>
              </a:rPr>
              <a:t>It is </a:t>
            </a:r>
            <a:r>
              <a:rPr sz="2300" b="1" i="0">
                <a:solidFill>
                  <a:srgbClr val="1C252B"/>
                </a:solidFill>
                <a:latin typeface="Cambria"/>
              </a:rPr>
              <a:t>Θ(1+α)</a:t>
            </a:r>
            <a:r>
              <a:rPr sz="2300" b="1" i="0">
                <a:solidFill>
                  <a:srgbClr val="1C252B"/>
                </a:solidFill>
                <a:latin typeface="Segoe UI"/>
              </a:rPr>
              <a:t>, not </a:t>
            </a:r>
            <a:r>
              <a:rPr sz="2300" b="1" i="0">
                <a:solidFill>
                  <a:srgbClr val="1C252B"/>
                </a:solidFill>
                <a:latin typeface="Cambria"/>
              </a:rPr>
              <a:t>Θ(1)</a:t>
            </a:r>
            <a:r>
              <a:rPr sz="2300" b="1" i="0">
                <a:solidFill>
                  <a:srgbClr val="1C252B"/>
                </a:solidFill>
                <a:latin typeface="Segoe UI"/>
              </a:rPr>
              <a:t>.</a:t>
            </a:r>
            <a:r>
              <a:rPr sz="2300" b="0" i="0">
                <a:solidFill>
                  <a:srgbClr val="1C252B"/>
                </a:solidFill>
                <a:latin typeface="Segoe UI"/>
              </a:rPr>
              <a:t> Constant only if </a:t>
            </a:r>
            <a:r>
              <a:rPr sz="2300" b="0" i="0">
                <a:solidFill>
                  <a:srgbClr val="1C252B"/>
                </a:solidFill>
                <a:latin typeface="Cambria"/>
              </a:rPr>
              <a:t>α</a:t>
            </a:r>
            <a:r>
              <a:rPr sz="2300" b="0" i="0">
                <a:solidFill>
                  <a:srgbClr val="1C252B"/>
                </a:solidFill>
                <a:latin typeface="Segoe UI"/>
              </a:rPr>
              <a:t> is held constant — which requires resizing, which is Chapter 17’s subject.</a:t>
            </a:r>
          </a:p>
          <a:p>
            <a:pPr algn="l" marL="554820" indent="-554820">
              <a:lnSpc>
                <a:spcPct val="104000"/>
              </a:lnSpc>
              <a:spcBef>
                <a:spcPts val="0"/>
              </a:spcBef>
              <a:spcAft>
                <a:spcPts val="804"/>
              </a:spcAft>
            </a:pPr>
            <a:r>
              <a:rPr sz="2300" b="1">
                <a:solidFill>
                  <a:srgbClr val="A93226"/>
                </a:solidFill>
                <a:latin typeface="Segoe UI"/>
              </a:rPr>
              <a:t>2.	</a:t>
            </a:r>
            <a:r>
              <a:rPr sz="2300" b="1" i="0">
                <a:solidFill>
                  <a:srgbClr val="A93226"/>
                </a:solidFill>
                <a:latin typeface="Segoe UI"/>
              </a:rPr>
              <a:t>It is an </a:t>
            </a:r>
            <a:r>
              <a:rPr sz="2300" b="1" i="1">
                <a:solidFill>
                  <a:srgbClr val="1C252B"/>
                </a:solidFill>
                <a:latin typeface="Segoe UI"/>
              </a:rPr>
              <a:t>expectation</a:t>
            </a:r>
            <a:r>
              <a:rPr sz="2300" b="1" i="0">
                <a:solidFill>
                  <a:srgbClr val="1C252B"/>
                </a:solidFill>
                <a:latin typeface="Segoe UI"/>
              </a:rPr>
              <a:t>, not a bound.</a:t>
            </a:r>
            <a:r>
              <a:rPr sz="2300" b="0" i="0">
                <a:solidFill>
                  <a:srgbClr val="1C252B"/>
                </a:solidFill>
                <a:latin typeface="Segoe UI"/>
              </a:rPr>
              <a:t> The worst case is </a:t>
            </a:r>
            <a:r>
              <a:rPr sz="2300" b="0" i="0">
                <a:solidFill>
                  <a:srgbClr val="1C252B"/>
                </a:solidFill>
                <a:latin typeface="Cambria"/>
              </a:rPr>
              <a:t>Θ(</a:t>
            </a:r>
            <a:r>
              <a:rPr sz="2300" b="0" i="1">
                <a:solidFill>
                  <a:srgbClr val="1C252B"/>
                </a:solidFill>
                <a:latin typeface="Cambria"/>
              </a:rPr>
              <a:t>n</a:t>
            </a:r>
            <a:r>
              <a:rPr sz="2300" b="0" i="0">
                <a:solidFill>
                  <a:srgbClr val="1C252B"/>
                </a:solidFill>
                <a:latin typeface="Cambria"/>
              </a:rPr>
              <a:t>)</a:t>
            </a:r>
            <a:r>
              <a:rPr sz="2300" b="0" i="0">
                <a:solidFill>
                  <a:srgbClr val="1C252B"/>
                </a:solidFill>
                <a:latin typeface="Segoe UI"/>
              </a:rPr>
              <a:t>: all keys in one slot. Section 13.4 produces exactly that on purpose.</a:t>
            </a:r>
          </a:p>
          <a:p>
            <a:pPr algn="l" marL="554820" indent="-554820">
              <a:lnSpc>
                <a:spcPct val="104000"/>
              </a:lnSpc>
              <a:spcBef>
                <a:spcPts val="0"/>
              </a:spcBef>
              <a:spcAft>
                <a:spcPts val="0"/>
              </a:spcAft>
            </a:pPr>
            <a:r>
              <a:rPr sz="2300" b="1">
                <a:solidFill>
                  <a:srgbClr val="A93226"/>
                </a:solidFill>
                <a:latin typeface="Segoe UI"/>
              </a:rPr>
              <a:t>3.	</a:t>
            </a:r>
            <a:r>
              <a:rPr sz="2300" b="1" i="0">
                <a:solidFill>
                  <a:srgbClr val="A93226"/>
                </a:solidFill>
                <a:latin typeface="Segoe UI"/>
              </a:rPr>
              <a:t>The expectation is over an assumption about your data.</a:t>
            </a:r>
            <a:r>
              <a:rPr sz="2300" b="0" i="0">
                <a:solidFill>
                  <a:srgbClr val="1C252B"/>
                </a:solidFill>
                <a:latin typeface="Segoe UI"/>
              </a:rPr>
              <a:t> Simple uniform hashing is not a property of the hash function alone; it is a property of the hash function </a:t>
            </a:r>
            <a:r>
              <a:rPr sz="2300" b="0" i="1">
                <a:solidFill>
                  <a:srgbClr val="1C252B"/>
                </a:solidFill>
                <a:latin typeface="Segoe UI"/>
              </a:rPr>
              <a:t>together with the keys</a:t>
            </a:r>
            <a:r>
              <a:rPr sz="2300" b="0" i="0">
                <a:solidFill>
                  <a:srgbClr val="1C252B"/>
                </a:solidFill>
                <a:latin typeface="Segoe UI"/>
              </a:rPr>
              <a:t>. Section 13.3 shows a perfectly reasonable hash failing on perfectly reasonable keys.</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233457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Measured: the Assumption, and the Prediction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2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13.2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13.1   The Claim, and Its Fine Print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13.2   Measured: the Assumption, and the Prediction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13.3   When the Assumption Quietly Fails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13.4   An Adversary</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§13.2     </a:t>
            </a:r>
            <a:fld id="{88E434A7-BE5C-41D0-880C-BCF236BA9214}" type="slidenum">
              <a:rPr lang="en-GB" sz="1000">
                <a:solidFill>
                  <a:srgbClr val="8795A1"/>
                </a:solidFill>
                <a:latin typeface="Segoe UI"/>
              </a:rPr>
              <a:t>10</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59397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Does the Distribution Look Like the Analysis Assumes?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§13.2  ·  Handout p. 105     </a:t>
            </a:r>
            <a:fld id="{25A6D688-7770-450B-90AE-05DBAA301A27}"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452067"/>
          </a:xfrm>
          <a:prstGeom prst="roundRect">
            <a:avLst>
              <a:gd name="adj" fmla="val 629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45206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With </a:t>
            </a:r>
            <a:r>
              <a:rPr sz="1900" b="0" i="1">
                <a:solidFill>
                  <a:srgbClr val="1C252B"/>
                </a:solidFill>
                <a:latin typeface="Cambria"/>
              </a:rPr>
              <a:t>n</a:t>
            </a:r>
            <a:r>
              <a:rPr sz="1900" b="0" i="0">
                <a:solidFill>
                  <a:srgbClr val="1C252B"/>
                </a:solidFill>
                <a:latin typeface="Segoe UI"/>
              </a:rPr>
              <a:t> keys scattered uniformly into </a:t>
            </a:r>
            <a:r>
              <a:rPr sz="1900" b="0" i="1">
                <a:solidFill>
                  <a:srgbClr val="1C252B"/>
                </a:solidFill>
                <a:latin typeface="Cambria"/>
              </a:rPr>
              <a:t>m</a:t>
            </a:r>
            <a:r>
              <a:rPr sz="1900" b="0" i="0">
                <a:solidFill>
                  <a:srgbClr val="1C252B"/>
                </a:solidFill>
                <a:latin typeface="Segoe UI"/>
              </a:rPr>
              <a:t> slots, a slot’s load is Binomial</a:t>
            </a:r>
            <a:r>
              <a:rPr sz="1900" b="0" i="0">
                <a:solidFill>
                  <a:srgbClr val="1C252B"/>
                </a:solidFill>
                <a:latin typeface="Cambria"/>
              </a:rPr>
              <a:t>(</a:t>
            </a:r>
            <a:r>
              <a:rPr sz="1900" b="0" i="1">
                <a:solidFill>
                  <a:srgbClr val="1C252B"/>
                </a:solidFill>
                <a:latin typeface="Cambria"/>
              </a:rPr>
              <a:t>n</a:t>
            </a:r>
            <a:r>
              <a:rPr sz="1900" b="0" i="0">
                <a:solidFill>
                  <a:srgbClr val="1C252B"/>
                </a:solidFill>
                <a:latin typeface="Cambria"/>
              </a:rPr>
              <a:t>, 1/</a:t>
            </a:r>
            <a:r>
              <a:rPr sz="1900" b="0" i="1">
                <a:solidFill>
                  <a:srgbClr val="1C252B"/>
                </a:solidFill>
                <a:latin typeface="Cambria"/>
              </a:rPr>
              <a:t>m</a:t>
            </a:r>
            <a:r>
              <a:rPr sz="1900" b="0" i="0">
                <a:solidFill>
                  <a:srgbClr val="1C252B"/>
                </a:solidFill>
                <a:latin typeface="Cambria"/>
              </a:rPr>
              <a:t>)</a:t>
            </a:r>
            <a:r>
              <a:rPr sz="1900" b="0" i="0">
                <a:solidFill>
                  <a:srgbClr val="1C252B"/>
                </a:solidFill>
                <a:latin typeface="Segoe UI"/>
              </a:rPr>
              <a:t>, which for large </a:t>
            </a:r>
            <a:r>
              <a:rPr sz="1900" b="0" i="1">
                <a:solidFill>
                  <a:srgbClr val="1C252B"/>
                </a:solidFill>
                <a:latin typeface="Cambria"/>
              </a:rPr>
              <a:t>m</a:t>
            </a:r>
            <a:r>
              <a:rPr sz="1900" b="0" i="0">
                <a:solidFill>
                  <a:srgbClr val="1C252B"/>
                </a:solidFill>
                <a:latin typeface="Segoe UI"/>
              </a:rPr>
              <a:t> is Poisson</a:t>
            </a:r>
            <a:r>
              <a:rPr sz="1900" b="0" i="0">
                <a:solidFill>
                  <a:srgbClr val="1C252B"/>
                </a:solidFill>
                <a:latin typeface="Cambria"/>
              </a:rPr>
              <a:t>(α)</a:t>
            </a:r>
            <a:r>
              <a:rPr sz="1900" b="0" i="0">
                <a:solidFill>
                  <a:srgbClr val="1C252B"/>
                </a:solidFill>
                <a:latin typeface="Segoe UI"/>
              </a:rPr>
              <a:t>. At </a:t>
            </a:r>
            <a:r>
              <a:rPr sz="1900" b="0" i="0">
                <a:solidFill>
                  <a:srgbClr val="1C252B"/>
                </a:solidFill>
                <a:latin typeface="Cambria"/>
              </a:rPr>
              <a:t>α = 1</a:t>
            </a:r>
            <a:r>
              <a:rPr sz="1900" b="0" i="0">
                <a:solidFill>
                  <a:srgbClr val="1C252B"/>
                </a:solidFill>
                <a:latin typeface="Segoe UI"/>
              </a:rPr>
              <a:t> the predicted number of slots with chain length </a:t>
            </a:r>
            <a:r>
              <a:rPr sz="1900" b="0" i="1">
                <a:solidFill>
                  <a:srgbClr val="1C252B"/>
                </a:solidFill>
                <a:latin typeface="Cambria"/>
              </a:rPr>
              <a:t>L</a:t>
            </a:r>
            <a:r>
              <a:rPr sz="1900" b="0" i="0">
                <a:solidFill>
                  <a:srgbClr val="1C252B"/>
                </a:solidFill>
                <a:latin typeface="Segoe UI"/>
              </a:rPr>
              <a:t> is </a:t>
            </a:r>
            <a:r>
              <a:rPr sz="1900" b="0" i="1">
                <a:solidFill>
                  <a:srgbClr val="1C252B"/>
                </a:solidFill>
                <a:latin typeface="Cambria"/>
              </a:rPr>
              <a:t>m</a:t>
            </a:r>
            <a:r>
              <a:rPr sz="1900" b="0" i="0">
                <a:solidFill>
                  <a:srgbClr val="1C252B"/>
                </a:solidFill>
                <a:latin typeface="Cambria"/>
              </a:rPr>
              <a:t> </a:t>
            </a:r>
            <a:r>
              <a:rPr sz="1900" b="0" i="1">
                <a:solidFill>
                  <a:srgbClr val="1C252B"/>
                </a:solidFill>
                <a:latin typeface="Cambria"/>
              </a:rPr>
              <a:t>e</a:t>
            </a:r>
            <a:r>
              <a:rPr sz="1250" b="0" i="0" baseline="30000">
                <a:solidFill>
                  <a:srgbClr val="1C252B"/>
                </a:solidFill>
                <a:latin typeface="Cambria"/>
              </a:rPr>
              <a:t>−1</a:t>
            </a:r>
            <a:r>
              <a:rPr sz="1900" b="0" i="0">
                <a:solidFill>
                  <a:srgbClr val="1C252B"/>
                </a:solidFill>
                <a:latin typeface="Cambria"/>
              </a:rPr>
              <a:t>/</a:t>
            </a:r>
            <a:r>
              <a:rPr sz="1900" b="0" i="1">
                <a:solidFill>
                  <a:srgbClr val="1C252B"/>
                </a:solidFill>
                <a:latin typeface="Cambria"/>
              </a:rPr>
              <a:t>L</a:t>
            </a:r>
            <a:r>
              <a:rPr sz="1900" b="0" i="0">
                <a:solidFill>
                  <a:srgbClr val="1C252B"/>
                </a:solidFill>
                <a:latin typeface="Cambria"/>
              </a:rPr>
              <a:t>!</a:t>
            </a:r>
            <a:r>
              <a:rPr sz="1900" b="0" i="0">
                <a:solidFill>
                  <a:srgbClr val="1C252B"/>
                </a:solidFill>
                <a:latin typeface="Segoe UI"/>
              </a:rPr>
              <a:t>. </a:t>
            </a:r>
            <a:r>
              <a:rPr sz="1800" b="0" i="0">
                <a:solidFill>
                  <a:srgbClr val="1F4E79"/>
                </a:solidFill>
                <a:latin typeface="Consolas"/>
              </a:rPr>
              <a:t>code/ch13_hashing.cpp</a:t>
            </a:r>
            <a:r>
              <a:rPr sz="1900" b="0" i="0">
                <a:solidFill>
                  <a:srgbClr val="1C252B"/>
                </a:solidFill>
                <a:latin typeface="Segoe UI"/>
              </a:rPr>
              <a:t> with </a:t>
            </a:r>
            <a:r>
              <a:rPr sz="1900" b="0" i="1">
                <a:solidFill>
                  <a:srgbClr val="1C252B"/>
                </a:solidFill>
                <a:latin typeface="Cambria"/>
              </a:rPr>
              <a:t>n</a:t>
            </a:r>
            <a:r>
              <a:rPr sz="1900" b="0" i="0">
                <a:solidFill>
                  <a:srgbClr val="1C252B"/>
                </a:solidFill>
                <a:latin typeface="Cambria"/>
              </a:rPr>
              <a:t> = </a:t>
            </a:r>
            <a:r>
              <a:rPr sz="1900" b="0" i="1">
                <a:solidFill>
                  <a:srgbClr val="1C252B"/>
                </a:solidFill>
                <a:latin typeface="Cambria"/>
              </a:rPr>
              <a:t>m</a:t>
            </a:r>
            <a:r>
              <a:rPr sz="1900" b="0" i="0">
                <a:solidFill>
                  <a:srgbClr val="1C252B"/>
                </a:solidFill>
                <a:latin typeface="Cambria"/>
              </a:rPr>
              <a:t> = 1,000,000</a:t>
            </a:r>
            <a:r>
              <a:rPr sz="1900" b="0" i="0">
                <a:solidFill>
                  <a:srgbClr val="1C252B"/>
                </a:solidFill>
                <a:latin typeface="Segoe UI"/>
              </a:rPr>
              <a:t> and a multiplicative hash:</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85337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Does the Distribution Look Like the Analysis Assumes?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§13.2  ·  Handout p. 105     </a:t>
            </a:r>
            <a:fld id="{DB388914-2169-4C32-8D73-6F4D5248C0D5}"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69791"/>
          </a:xfrm>
          <a:prstGeom prst="roundRect">
            <a:avLst>
              <a:gd name="adj" fmla="val 249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6979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42416" y="2011679"/>
          <a:ext cx="5980831" cy="3121152"/>
        </p:xfrm>
        <a:graphic>
          <a:graphicData uri="http://schemas.openxmlformats.org/drawingml/2006/table">
            <a:tbl>
              <a:tblPr firstRow="0" bandRow="0" firstCol="0" lastRow="0" lastCol="0" bandCol="0">
                <a:tableStyleId>{2D5ABB26-0587-4C30-8999-92F81FD0307C}</a:tableStyleId>
              </a:tblPr>
              <a:tblGrid>
                <a:gridCol w="1463344"/>
                <a:gridCol w="1655575"/>
                <a:gridCol w="2114043"/>
                <a:gridCol w="747869"/>
              </a:tblGrid>
              <a:tr h="390144">
                <a:tc>
                  <a:txBody>
                    <a:bodyPr wrap="square"/>
                    <a:lstStyle/>
                    <a:p>
                      <a:pPr algn="r"/>
                      <a:r>
                        <a:rPr sz="1600" b="1" i="0">
                          <a:solidFill>
                            <a:srgbClr val="1A5276"/>
                          </a:solidFill>
                          <a:latin typeface="Segoe UI"/>
                        </a:rPr>
                        <a:t>chain length</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slots observed</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Poisson(1) predicts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ratio</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368,092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367,879</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1.001</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1</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367,372</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367,879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0.999</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184,047</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183,940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1.001</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3</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61,795</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61,313</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1.008</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15,035</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15,328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0.981</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5</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3,054</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3,066</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0.996</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6</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510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511</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0.998</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11277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Does the Distribution Look Like the Analysis Assumes?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§13.2  ·  Handout p. 105     </a:t>
            </a:r>
            <a:fld id="{1606FE19-0620-4F40-89A6-3BBFFCC81C23}"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88209"/>
          </a:xfrm>
          <a:prstGeom prst="roundRect">
            <a:avLst>
              <a:gd name="adj" fmla="val 367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88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whole distribution matches, not just its mean.</a:t>
            </a:r>
            <a:r>
              <a:rPr sz="1900" b="0" i="0">
                <a:solidFill>
                  <a:srgbClr val="1C252B"/>
                </a:solidFill>
                <a:latin typeface="Segoe UI"/>
              </a:rPr>
              <a:t> Seven ratios, all within 2% of 1. This is the strongest form of evidence for a modelling assumption: not that the average came out right, but that the shape did.</a:t>
            </a:r>
          </a:p>
        </p:txBody>
      </p:sp>
      <p:sp>
        <p:nvSpPr>
          <p:cNvPr id="10" name="body-0bar">
            <a:extLst>
              <a:ext uri="{C183D7F6-B498-43B3-948B-1728B52AA6E4}">
                <adec:decorative xmlns:adec="http://schemas.microsoft.com/office/drawing/2017/decorative" val="1"/>
              </a:ext>
            </a:extLst>
          </p:cNvPr>
          <p:cNvSpPr/>
          <p:nvPr/>
        </p:nvSpPr>
        <p:spPr>
          <a:xfrm>
            <a:off x="841248" y="2029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047822"/>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longest chain was 9</a:t>
            </a:r>
            <a:r>
              <a:rPr sz="1900" b="0" i="0">
                <a:solidFill>
                  <a:srgbClr val="1C252B"/>
                </a:solidFill>
                <a:latin typeface="Segoe UI"/>
              </a:rPr>
              <a:t>, against </a:t>
            </a:r>
            <a:r>
              <a:rPr sz="1900" b="0" i="0">
                <a:solidFill>
                  <a:srgbClr val="1C252B"/>
                </a:solidFill>
                <a:latin typeface="Cambria"/>
              </a:rPr>
              <a:t>lg </a:t>
            </a:r>
            <a:r>
              <a:rPr sz="1900" b="0" i="1">
                <a:solidFill>
                  <a:srgbClr val="1C252B"/>
                </a:solidFill>
                <a:latin typeface="Cambria"/>
              </a:rPr>
              <a:t>n</a:t>
            </a:r>
            <a:r>
              <a:rPr sz="1900" b="0" i="0">
                <a:solidFill>
                  <a:srgbClr val="1C252B"/>
                </a:solidFill>
                <a:latin typeface="Cambria"/>
              </a:rPr>
              <a:t> / lg lg </a:t>
            </a:r>
            <a:r>
              <a:rPr sz="1900" b="0" i="1">
                <a:solidFill>
                  <a:srgbClr val="1C252B"/>
                </a:solidFill>
                <a:latin typeface="Cambria"/>
              </a:rPr>
              <a:t>n</a:t>
            </a:r>
            <a:r>
              <a:rPr sz="1900" b="0" i="0">
                <a:solidFill>
                  <a:srgbClr val="1C252B"/>
                </a:solidFill>
                <a:latin typeface="Cambria"/>
              </a:rPr>
              <a:t> = 4.6</a:t>
            </a:r>
            <a:r>
              <a:rPr sz="1900" b="0" i="0">
                <a:solidFill>
                  <a:srgbClr val="1C252B"/>
                </a:solidFill>
                <a:latin typeface="Segoe UI"/>
              </a:rPr>
              <a:t> — the classical order of the maximum load. So even with a million keys and a good hash, </a:t>
            </a:r>
            <a:r>
              <a:rPr sz="1900" b="0" i="1">
                <a:solidFill>
                  <a:srgbClr val="1C252B"/>
                </a:solidFill>
                <a:latin typeface="Segoe UI"/>
              </a:rPr>
              <a:t>some</a:t>
            </a:r>
            <a:r>
              <a:rPr sz="1900" b="0" i="0">
                <a:solidFill>
                  <a:srgbClr val="1C252B"/>
                </a:solidFill>
                <a:latin typeface="Segoe UI"/>
              </a:rPr>
              <a:t> lookup costs nine probes while the average costs 1.5. An expectation is not a guarantee, and tail latency lives in that gap.</a:t>
            </a:r>
          </a:p>
        </p:txBody>
      </p:sp>
      <p:sp>
        <p:nvSpPr>
          <p:cNvPr id="12" name="body-1bar">
            <a:extLst>
              <a:ext uri="{C183D7F6-B498-43B3-948B-1728B52AA6E4}">
                <adec:decorative xmlns:adec="http://schemas.microsoft.com/office/drawing/2017/decorative" val="1"/>
              </a:ext>
            </a:extLst>
          </p:cNvPr>
          <p:cNvSpPr/>
          <p:nvPr/>
        </p:nvSpPr>
        <p:spPr>
          <a:xfrm>
            <a:off x="841248" y="3066110"/>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337217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One Knob: Load Factor</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§13.2  ·  Handout p. 105     </a:t>
            </a:r>
            <a:fld id="{5E76CE94-A45B-4871-916A-97AADFA60B06}"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14647"/>
          </a:xfrm>
          <a:prstGeom prst="roundRect">
            <a:avLst>
              <a:gd name="adj" fmla="val 227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1464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Theorem 13.1 predicts </a:t>
            </a:r>
            <a:r>
              <a:rPr sz="1900" b="0" i="0">
                <a:solidFill>
                  <a:srgbClr val="1C252B"/>
                </a:solidFill>
                <a:latin typeface="Cambria"/>
              </a:rPr>
              <a:t>1 + α/2</a:t>
            </a:r>
            <a:r>
              <a:rPr sz="1900" b="0" i="0">
                <a:solidFill>
                  <a:srgbClr val="1C252B"/>
                </a:solidFill>
                <a:latin typeface="Segoe UI"/>
              </a:rPr>
              <a:t> probes for a successful search, with no fitted constants. </a:t>
            </a:r>
            <a:r>
              <a:rPr sz="1900" b="0" i="1">
                <a:solidFill>
                  <a:srgbClr val="1C252B"/>
                </a:solidFill>
                <a:latin typeface="Cambria"/>
              </a:rPr>
              <a:t>m</a:t>
            </a:r>
            <a:r>
              <a:rPr sz="1900" b="0" i="0">
                <a:solidFill>
                  <a:srgbClr val="1C252B"/>
                </a:solidFill>
                <a:latin typeface="Cambria"/>
              </a:rPr>
              <a:t> = 2</a:t>
            </a:r>
            <a:r>
              <a:rPr sz="1250" b="0" i="0" baseline="30000">
                <a:solidFill>
                  <a:srgbClr val="1C252B"/>
                </a:solidFill>
                <a:latin typeface="Cambria"/>
              </a:rPr>
              <a:t>20</a:t>
            </a:r>
            <a:r>
              <a:rPr sz="1900" b="0" i="0">
                <a:solidFill>
                  <a:srgbClr val="1C252B"/>
                </a:solidFill>
                <a:latin typeface="Segoe UI"/>
              </a:rPr>
              <a:t>, keys sampled uniformly at random from the table:</a:t>
            </a:r>
          </a:p>
        </p:txBody>
      </p:sp>
      <p:graphicFrame>
        <p:nvGraphicFramePr>
          <p:cNvPr id="10" name="body-1"/>
          <p:cNvGraphicFramePr>
            <a:graphicFrameLocks noGrp="1"/>
          </p:cNvGraphicFramePr>
          <p:nvPr/>
        </p:nvGraphicFramePr>
        <p:xfrm>
          <a:off x="1042416" y="2746679"/>
          <a:ext cx="6533359" cy="2731008"/>
        </p:xfrm>
        <a:graphic>
          <a:graphicData uri="http://schemas.openxmlformats.org/drawingml/2006/table">
            <a:tbl>
              <a:tblPr firstRow="0" bandRow="0" firstCol="0" lastRow="0" lastCol="0" bandCol="0">
                <a:tableStyleId>{2D5ABB26-0587-4C30-8999-92F81FD0307C}</a:tableStyleId>
              </a:tblPr>
              <a:tblGrid>
                <a:gridCol w="636154"/>
                <a:gridCol w="2531764"/>
                <a:gridCol w="1936295"/>
                <a:gridCol w="1429146"/>
              </a:tblGrid>
              <a:tr h="390144">
                <a:tc>
                  <a:txBody>
                    <a:bodyPr wrap="square"/>
                    <a:lstStyle/>
                    <a:p>
                      <a:pPr algn="r"/>
                      <a:r>
                        <a:rPr sz="1600" b="1" i="0">
                          <a:solidFill>
                            <a:srgbClr val="1A5276"/>
                          </a:solidFill>
                          <a:latin typeface="Cambria"/>
                        </a:rPr>
                        <a:t>α</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mean probes measured</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Cambria"/>
                        </a:rPr>
                        <a:t>1 + α/2</a:t>
                      </a:r>
                      <a:r>
                        <a:rPr sz="1600" b="1" i="0">
                          <a:solidFill>
                            <a:srgbClr val="1A5276"/>
                          </a:solidFill>
                          <a:latin typeface="Segoe UI"/>
                        </a:rPr>
                        <a:t> predicted</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lookup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0.25</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1.125</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1.125</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8.13</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0.50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1.252</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1.250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10.45</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1.00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1.500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1.500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9.18</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2.00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1.996</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10.72</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4.00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2.998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12.97</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8.00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5.001</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5.000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16.24</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63156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One Knob: Load Factor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§13.2  ·  Handout p. 105     </a:t>
            </a:r>
            <a:fld id="{5C7ACA99-A5CB-42BE-A1B2-EB77FAC36922}"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26636"/>
          </a:xfrm>
          <a:prstGeom prst="roundRect">
            <a:avLst>
              <a:gd name="adj" fmla="val 22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2663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Six predictions, six matches, to three decimal places.</a:t>
            </a:r>
            <a:r>
              <a:rPr sz="1900" b="0" i="0">
                <a:solidFill>
                  <a:srgbClr val="1C252B"/>
                </a:solidFill>
                <a:latin typeface="Segoe UI"/>
              </a:rPr>
              <a:t> This is as close as an analysis and a measurement get.</a:t>
            </a:r>
          </a:p>
        </p:txBody>
      </p:sp>
      <p:sp>
        <p:nvSpPr>
          <p:cNvPr id="10" name="body-0bar">
            <a:extLst>
              <a:ext uri="{C183D7F6-B498-43B3-948B-1728B52AA6E4}">
                <adec:decorative xmlns:adec="http://schemas.microsoft.com/office/drawing/2017/decorative" val="1"/>
              </a:ext>
            </a:extLst>
          </p:cNvPr>
          <p:cNvSpPr/>
          <p:nvPr/>
        </p:nvSpPr>
        <p:spPr>
          <a:xfrm>
            <a:off x="841248" y="202996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2746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And note what the time column does </a:t>
            </a:r>
            <a:r>
              <a:rPr sz="1900" b="1" i="1">
                <a:solidFill>
                  <a:srgbClr val="1C252B"/>
                </a:solidFill>
                <a:latin typeface="Segoe UI"/>
              </a:rPr>
              <a:t>not</a:t>
            </a:r>
            <a:r>
              <a:rPr sz="1900" b="1" i="0">
                <a:solidFill>
                  <a:srgbClr val="1C252B"/>
                </a:solidFill>
                <a:latin typeface="Segoe UI"/>
              </a:rPr>
              <a:t> do.</a:t>
            </a:r>
            <a:r>
              <a:rPr sz="1900" b="0" i="0">
                <a:solidFill>
                  <a:srgbClr val="1C252B"/>
                </a:solidFill>
                <a:latin typeface="Segoe UI"/>
              </a:rPr>
              <a:t> Probes rise by </a:t>
            </a:r>
            <a:r>
              <a:rPr sz="1900" b="0" i="0">
                <a:solidFill>
                  <a:srgbClr val="1C252B"/>
                </a:solidFill>
                <a:latin typeface="Cambria"/>
              </a:rPr>
              <a:t>4.4×</a:t>
            </a:r>
            <a:r>
              <a:rPr sz="1900" b="0" i="0">
                <a:solidFill>
                  <a:srgbClr val="1C252B"/>
                </a:solidFill>
                <a:latin typeface="Segoe UI"/>
              </a:rPr>
              <a:t> from </a:t>
            </a:r>
            <a:r>
              <a:rPr sz="1900" b="0" i="0">
                <a:solidFill>
                  <a:srgbClr val="1C252B"/>
                </a:solidFill>
                <a:latin typeface="Cambria"/>
              </a:rPr>
              <a:t>α = 0.25</a:t>
            </a:r>
            <a:r>
              <a:rPr sz="1900" b="0" i="0">
                <a:solidFill>
                  <a:srgbClr val="1C252B"/>
                </a:solidFill>
                <a:latin typeface="Segoe UI"/>
              </a:rPr>
              <a:t> to </a:t>
            </a:r>
            <a:r>
              <a:rPr sz="1900" b="0" i="0">
                <a:solidFill>
                  <a:srgbClr val="1C252B"/>
                </a:solidFill>
                <a:latin typeface="Cambria"/>
              </a:rPr>
              <a:t>α = 8</a:t>
            </a:r>
            <a:r>
              <a:rPr sz="1900" b="0" i="0">
                <a:solidFill>
                  <a:srgbClr val="1C252B"/>
                </a:solidFill>
                <a:latin typeface="Segoe UI"/>
              </a:rPr>
              <a:t>; time rises by only </a:t>
            </a:r>
            <a:r>
              <a:rPr sz="1900" b="0" i="0">
                <a:solidFill>
                  <a:srgbClr val="1C252B"/>
                </a:solidFill>
                <a:latin typeface="Cambria"/>
              </a:rPr>
              <a:t>2.0×</a:t>
            </a:r>
            <a:r>
              <a:rPr sz="1900" b="0" i="0">
                <a:solidFill>
                  <a:srgbClr val="1C252B"/>
                </a:solidFill>
                <a:latin typeface="Segoe UI"/>
              </a:rPr>
              <a:t>. Longer chains are contiguous-ish in memory and cheap to walk, while the initial slot access is a cache miss paid once however short the chain is. The step count and the clock disagree again, in the opposite direction from Chapter 12.</a:t>
            </a:r>
          </a:p>
        </p:txBody>
      </p:sp>
      <p:sp>
        <p:nvSpPr>
          <p:cNvPr id="12" name="body-1bar">
            <a:extLst>
              <a:ext uri="{C183D7F6-B498-43B3-948B-1728B52AA6E4}">
                <adec:decorative xmlns:adec="http://schemas.microsoft.com/office/drawing/2017/decorative" val="1"/>
              </a:ext>
            </a:extLst>
          </p:cNvPr>
          <p:cNvSpPr/>
          <p:nvPr/>
        </p:nvSpPr>
        <p:spPr>
          <a:xfrm>
            <a:off x="841248" y="2764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2"/>
          <p:cNvSpPr txBox="1"/>
          <p:nvPr/>
        </p:nvSpPr>
        <p:spPr>
          <a:xfrm>
            <a:off x="1042416" y="4083964"/>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 caution about how this was measured.</a:t>
            </a:r>
            <a:r>
              <a:rPr sz="1900" b="0" i="0">
                <a:solidFill>
                  <a:srgbClr val="1C252B"/>
                </a:solidFill>
                <a:latin typeface="Segoe UI"/>
              </a:rPr>
              <a:t> The first version of this experiment probed the </a:t>
            </a:r>
            <a:r>
              <a:rPr sz="1900" b="0" i="1">
                <a:solidFill>
                  <a:srgbClr val="1C252B"/>
                </a:solidFill>
                <a:latin typeface="Segoe UI"/>
              </a:rPr>
              <a:t>first</a:t>
            </a:r>
            <a:r>
              <a:rPr sz="1900" b="0" i="0">
                <a:solidFill>
                  <a:srgbClr val="1C252B"/>
                </a:solidFill>
                <a:latin typeface="Segoe UI"/>
              </a:rPr>
              <a:t> 200,000 keys inserted. Those sit at the front of their chains, so it reported 1.096 probes at every load factor — a perfectly flat column that looked like a result. The fix was to sample keys uniformly at random. A benchmark that samples its inputs in insertion order is measuring insertion order.</a:t>
            </a:r>
          </a:p>
        </p:txBody>
      </p:sp>
      <p:sp>
        <p:nvSpPr>
          <p:cNvPr id="14" name="body-2bar">
            <a:extLst>
              <a:ext uri="{C183D7F6-B498-43B3-948B-1728B52AA6E4}">
                <adec:decorative xmlns:adec="http://schemas.microsoft.com/office/drawing/2017/decorative" val="1"/>
              </a:ext>
            </a:extLst>
          </p:cNvPr>
          <p:cNvSpPr/>
          <p:nvPr/>
        </p:nvSpPr>
        <p:spPr>
          <a:xfrm>
            <a:off x="841248" y="4102252"/>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389096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right)">
                                      <p:cBhvr>
                                        <p:cTn id="24" dur="42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When the Assumption Quietly Fails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3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13.3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13.1   The Claim, and Its Fine Print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13.2   Measured: the Assumption, and the Prediction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13.3   When the Assumption Quietly Fails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13.4   An Adversary</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§13.3     </a:t>
            </a:r>
            <a:fld id="{C6D31847-75EE-43D7-997C-6F927C8EB75A}" type="slidenum">
              <a:rPr lang="en-GB" sz="1000">
                <a:solidFill>
                  <a:srgbClr val="8795A1"/>
                </a:solidFill>
                <a:latin typeface="Segoe UI"/>
              </a:rPr>
              <a:t>16</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15036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Reasonable Hash Meeting Reasonable Keys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§13.3  ·  Handout p. 106     </a:t>
            </a:r>
            <a:fld id="{144C66A6-79D9-4F6C-BF84-782F443661D2}"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490214"/>
          </a:xfrm>
          <a:prstGeom prst="roundRect">
            <a:avLst>
              <a:gd name="adj" fmla="val 2619"/>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49021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Keys </a:t>
            </a:r>
            <a:r>
              <a:rPr sz="1900" b="0" i="0">
                <a:solidFill>
                  <a:srgbClr val="1C252B"/>
                </a:solidFill>
                <a:latin typeface="Cambria"/>
              </a:rPr>
              <a:t>0, 64, 128, 192, …</a:t>
            </a:r>
            <a:r>
              <a:rPr sz="1900" b="0" i="0">
                <a:solidFill>
                  <a:srgbClr val="1C252B"/>
                </a:solidFill>
                <a:latin typeface="Segoe UI"/>
              </a:rPr>
              <a:t> — which is what the addresses of an array of 64-byte records look like — into a table of </a:t>
            </a:r>
            <a:r>
              <a:rPr sz="1900" b="0" i="1">
                <a:solidFill>
                  <a:srgbClr val="1C252B"/>
                </a:solidFill>
                <a:latin typeface="Cambria"/>
              </a:rPr>
              <a:t>m</a:t>
            </a:r>
            <a:r>
              <a:rPr sz="1900" b="0" i="0">
                <a:solidFill>
                  <a:srgbClr val="1C252B"/>
                </a:solidFill>
                <a:latin typeface="Cambria"/>
              </a:rPr>
              <a:t> = 2</a:t>
            </a:r>
            <a:r>
              <a:rPr sz="1250" b="0" i="0" baseline="30000">
                <a:solidFill>
                  <a:srgbClr val="1C252B"/>
                </a:solidFill>
                <a:latin typeface="Cambria"/>
              </a:rPr>
              <a:t>20</a:t>
            </a:r>
            <a:r>
              <a:rPr sz="1900" b="0" i="0">
                <a:solidFill>
                  <a:srgbClr val="1C252B"/>
                </a:solidFill>
                <a:latin typeface="Segoe UI"/>
              </a:rPr>
              <a:t> slots, which is what “round the capacity up to a power of two” gives you. One million keys.</a:t>
            </a:r>
          </a:p>
        </p:txBody>
      </p:sp>
      <p:graphicFrame>
        <p:nvGraphicFramePr>
          <p:cNvPr id="10" name="body-1"/>
          <p:cNvGraphicFramePr>
            <a:graphicFrameLocks noGrp="1"/>
          </p:cNvGraphicFramePr>
          <p:nvPr/>
        </p:nvGraphicFramePr>
        <p:xfrm>
          <a:off x="1042416" y="3047822"/>
          <a:ext cx="5613975" cy="1170432"/>
        </p:xfrm>
        <a:graphic>
          <a:graphicData uri="http://schemas.openxmlformats.org/drawingml/2006/table">
            <a:tbl>
              <a:tblPr firstRow="0" bandRow="0" firstCol="0" lastRow="0" lastCol="0" bandCol="0">
                <a:tableStyleId>{2D5ABB26-0587-4C30-8999-92F81FD0307C}</a:tableStyleId>
              </a:tblPr>
              <a:tblGrid>
                <a:gridCol w="1317223"/>
                <a:gridCol w="1521573"/>
                <a:gridCol w="1556406"/>
                <a:gridCol w="1218773"/>
              </a:tblGrid>
              <a:tr h="390144">
                <a:tc>
                  <a:txBody>
                    <a:bodyPr wrap="square"/>
                    <a:lstStyle/>
                    <a:p>
                      <a:pPr algn="l"/>
                      <a:r>
                        <a:rPr sz="1600" b="1" i="0">
                          <a:solidFill>
                            <a:srgbClr val="1A5276"/>
                          </a:solidFill>
                          <a:latin typeface="Segoe UI"/>
                        </a:rPr>
                        <a:t>hash</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mean probes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longest chain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slots used</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l"/>
                      <a:r>
                        <a:rPr sz="1600" b="0" i="1">
                          <a:solidFill>
                            <a:srgbClr val="1C252B"/>
                          </a:solidFill>
                          <a:latin typeface="Cambria"/>
                        </a:rPr>
                        <a:t>k</a:t>
                      </a:r>
                      <a:r>
                        <a:rPr sz="1600" b="0" i="0">
                          <a:solidFill>
                            <a:srgbClr val="1C252B"/>
                          </a:solidFill>
                          <a:latin typeface="Cambria"/>
                        </a:rPr>
                        <a:t> </a:t>
                      </a:r>
                      <a:r>
                        <a:rPr sz="1600" b="0" i="1">
                          <a:solidFill>
                            <a:srgbClr val="1C252B"/>
                          </a:solidFill>
                          <a:latin typeface="Cambria"/>
                        </a:rPr>
                        <a:t>m</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1" i="0">
                          <a:solidFill>
                            <a:srgbClr val="1C252B"/>
                          </a:solidFill>
                          <a:latin typeface="Segoe UI"/>
                        </a:rPr>
                        <a:t>31.0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1" i="0">
                          <a:solidFill>
                            <a:srgbClr val="1C252B"/>
                          </a:solidFill>
                          <a:latin typeface="Segoe UI"/>
                        </a:rPr>
                        <a:t>62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16,384</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mix, then </a:t>
                      </a:r>
                      <a:r>
                        <a:rPr sz="1600" b="0" i="1">
                          <a:solidFill>
                            <a:srgbClr val="1C252B"/>
                          </a:solidFill>
                          <a:latin typeface="Cambria"/>
                        </a:rPr>
                        <a:t>m</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1.5</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8</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644,230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body-2"/>
          <p:cNvSpPr txBox="1"/>
          <p:nvPr/>
        </p:nvSpPr>
        <p:spPr>
          <a:xfrm>
            <a:off x="1042416" y="435096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division hash used 16,384 of its 1,048,576 slots</a:t>
            </a:r>
            <a:r>
              <a:rPr sz="1900" b="0" i="0">
                <a:solidFill>
                  <a:srgbClr val="1C252B"/>
                </a:solidFill>
                <a:latin typeface="Segoe UI"/>
              </a:rPr>
              <a:t> — 1.6% — and left the other 98.4% empty. Mean probes 31 instead of 1.5: a 20</a:t>
            </a:r>
            <a:r>
              <a:rPr sz="1900" b="0" i="0">
                <a:solidFill>
                  <a:srgbClr val="1C252B"/>
                </a:solidFill>
                <a:latin typeface="Cambria"/>
              </a:rPr>
              <a:t>×</a:t>
            </a:r>
            <a:r>
              <a:rPr sz="1900" b="0" i="0">
                <a:solidFill>
                  <a:srgbClr val="1C252B"/>
                </a:solidFill>
                <a:latin typeface="Segoe UI"/>
              </a:rPr>
              <a:t> slowdown, and the longest chain is 62.</a:t>
            </a:r>
          </a:p>
        </p:txBody>
      </p:sp>
      <p:sp>
        <p:nvSpPr>
          <p:cNvPr id="12" name="body-2bar">
            <a:extLst>
              <a:ext uri="{C183D7F6-B498-43B3-948B-1728B52AA6E4}">
                <adec:decorative xmlns:adec="http://schemas.microsoft.com/office/drawing/2017/decorative" val="1"/>
              </a:ext>
            </a:extLst>
          </p:cNvPr>
          <p:cNvSpPr/>
          <p:nvPr/>
        </p:nvSpPr>
        <p:spPr>
          <a:xfrm>
            <a:off x="841248" y="436925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440976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Reasonable Hash Meeting Reasonable Keys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§13.3  ·  Handout p. 106     </a:t>
            </a:r>
            <a:fld id="{531C95FB-71EB-499D-9B58-1BBC3032E7A2}"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26636"/>
          </a:xfrm>
          <a:prstGeom prst="roundRect">
            <a:avLst>
              <a:gd name="adj" fmla="val 22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2663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arithmetic is not subtle.</a:t>
            </a:r>
            <a:r>
              <a:rPr sz="1900" b="0" i="0">
                <a:solidFill>
                  <a:srgbClr val="1C252B"/>
                </a:solidFill>
                <a:latin typeface="Segoe UI"/>
              </a:rPr>
              <a:t> </a:t>
            </a:r>
            <a:r>
              <a:rPr sz="1900" b="0" i="0">
                <a:solidFill>
                  <a:srgbClr val="1C252B"/>
                </a:solidFill>
                <a:latin typeface="Cambria"/>
              </a:rPr>
              <a:t>gcd(64, 2</a:t>
            </a:r>
            <a:r>
              <a:rPr sz="1250" b="0" i="0" baseline="30000">
                <a:solidFill>
                  <a:srgbClr val="1C252B"/>
                </a:solidFill>
                <a:latin typeface="Cambria"/>
              </a:rPr>
              <a:t>20</a:t>
            </a:r>
            <a:r>
              <a:rPr sz="1900" b="0" i="0">
                <a:solidFill>
                  <a:srgbClr val="1C252B"/>
                </a:solidFill>
                <a:latin typeface="Cambria"/>
              </a:rPr>
              <a:t>) = 64</a:t>
            </a:r>
            <a:r>
              <a:rPr sz="1900" b="0" i="0">
                <a:solidFill>
                  <a:srgbClr val="1C252B"/>
                </a:solidFill>
                <a:latin typeface="Segoe UI"/>
              </a:rPr>
              <a:t>, so </a:t>
            </a:r>
            <a:r>
              <a:rPr sz="1900" b="0" i="1">
                <a:solidFill>
                  <a:srgbClr val="1C252B"/>
                </a:solidFill>
                <a:latin typeface="Cambria"/>
              </a:rPr>
              <a:t>k</a:t>
            </a:r>
            <a:r>
              <a:rPr sz="1900" b="0" i="0">
                <a:solidFill>
                  <a:srgbClr val="1C252B"/>
                </a:solidFill>
                <a:latin typeface="Cambria"/>
              </a:rPr>
              <a:t> 2</a:t>
            </a:r>
            <a:r>
              <a:rPr sz="1250" b="0" i="0" baseline="30000">
                <a:solidFill>
                  <a:srgbClr val="1C252B"/>
                </a:solidFill>
                <a:latin typeface="Cambria"/>
              </a:rPr>
              <a:t>20</a:t>
            </a:r>
            <a:r>
              <a:rPr sz="1900" b="0" i="0">
                <a:solidFill>
                  <a:srgbClr val="1C252B"/>
                </a:solidFill>
                <a:latin typeface="Segoe UI"/>
              </a:rPr>
              <a:t> for </a:t>
            </a:r>
            <a:r>
              <a:rPr sz="1900" b="0" i="1">
                <a:solidFill>
                  <a:srgbClr val="1C252B"/>
                </a:solidFill>
                <a:latin typeface="Cambria"/>
              </a:rPr>
              <a:t>k</a:t>
            </a:r>
            <a:r>
              <a:rPr sz="1900" b="0" i="0">
                <a:solidFill>
                  <a:srgbClr val="1C252B"/>
                </a:solidFill>
                <a:latin typeface="Segoe UI"/>
              </a:rPr>
              <a:t> a multiple of 64 can only ever produce multiples of 64. Taking the modulus by a power of two keeps only the low bits, and the low six bits of these keys are always zero. The hash discarded the only part of the key that varied.</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348964"/>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Neither choice was foolish.</a:t>
            </a:r>
            <a:r>
              <a:rPr sz="1900" b="0" i="0">
                <a:solidFill>
                  <a:srgbClr val="1C252B"/>
                </a:solidFill>
                <a:latin typeface="Segoe UI"/>
              </a:rPr>
              <a:t> “Table size a power of two” makes the modulus a bitmask, which is fast and universal practice. “Hash is the key modulo the table size” is the textbook division method. Each is defensible; the combination, meeting keys with a stride of 64, is a 20</a:t>
            </a:r>
            <a:r>
              <a:rPr sz="1900" b="0" i="0">
                <a:solidFill>
                  <a:srgbClr val="1C252B"/>
                </a:solidFill>
                <a:latin typeface="Cambria"/>
              </a:rPr>
              <a:t>×</a:t>
            </a:r>
            <a:r>
              <a:rPr sz="1900" b="0" i="0">
                <a:solidFill>
                  <a:srgbClr val="1C252B"/>
                </a:solidFill>
                <a:latin typeface="Segoe UI"/>
              </a:rPr>
              <a:t> slowdown nobody wrote down.</a:t>
            </a:r>
          </a:p>
        </p:txBody>
      </p:sp>
      <p:sp>
        <p:nvSpPr>
          <p:cNvPr id="12" name="body-1bar">
            <a:extLst>
              <a:ext uri="{C183D7F6-B498-43B3-948B-1728B52AA6E4}">
                <adec:decorative xmlns:adec="http://schemas.microsoft.com/office/drawing/2017/decorative" val="1"/>
              </a:ext>
            </a:extLst>
          </p:cNvPr>
          <p:cNvSpPr/>
          <p:nvPr/>
        </p:nvSpPr>
        <p:spPr>
          <a:xfrm>
            <a:off x="841248" y="3367252"/>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2"/>
          <p:cNvSpPr txBox="1"/>
          <p:nvPr/>
        </p:nvSpPr>
        <p:spPr>
          <a:xfrm>
            <a:off x="1042416" y="468624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defence</a:t>
            </a:r>
            <a:r>
              <a:rPr sz="1900" b="0" i="0">
                <a:solidFill>
                  <a:srgbClr val="1C252B"/>
                </a:solidFill>
                <a:latin typeface="Segoe UI"/>
              </a:rPr>
              <a:t> is in the second row: destroy the key’s structure before taking the modulus. The mix used here is MurmurHash3’s finaliser — three shift-xor steps and two multiplications — and it moves high bits down into low ones, so no bit of the key is ignored.</a:t>
            </a:r>
          </a:p>
        </p:txBody>
      </p:sp>
      <p:sp>
        <p:nvSpPr>
          <p:cNvPr id="14" name="body-2bar">
            <a:extLst>
              <a:ext uri="{C183D7F6-B498-43B3-948B-1728B52AA6E4}">
                <adec:decorative xmlns:adec="http://schemas.microsoft.com/office/drawing/2017/decorative" val="1"/>
              </a:ext>
            </a:extLst>
          </p:cNvPr>
          <p:cNvSpPr/>
          <p:nvPr/>
        </p:nvSpPr>
        <p:spPr>
          <a:xfrm>
            <a:off x="841248" y="470453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466915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right)">
                                      <p:cBhvr>
                                        <p:cTn id="24" dur="42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Rules that follow</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§13.3  ·  Handout p. 106     </a:t>
            </a:r>
            <a:fld id="{204103E4-9BCF-4298-A8F0-6742E96BA275}"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09364"/>
          </a:xfrm>
          <a:prstGeom prst="roundRect">
            <a:avLst>
              <a:gd name="adj" fmla="val 2172"/>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093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633292"/>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1F618D"/>
                </a:solidFill>
                <a:latin typeface="Segoe UI"/>
              </a:rPr>
              <a:t>•	</a:t>
            </a:r>
            <a:r>
              <a:rPr sz="2300" b="1" i="0">
                <a:solidFill>
                  <a:srgbClr val="1F618D"/>
                </a:solidFill>
                <a:latin typeface="Segoe UI"/>
              </a:rPr>
              <a:t>Never use </a:t>
            </a:r>
            <a:r>
              <a:rPr sz="2300" b="1" i="1">
                <a:solidFill>
                  <a:srgbClr val="1C252B"/>
                </a:solidFill>
                <a:latin typeface="Cambria"/>
              </a:rPr>
              <a:t>k</a:t>
            </a:r>
            <a:r>
              <a:rPr sz="2300" b="1" i="0">
                <a:solidFill>
                  <a:srgbClr val="1C252B"/>
                </a:solidFill>
                <a:latin typeface="Cambria"/>
              </a:rPr>
              <a:t> </a:t>
            </a:r>
            <a:r>
              <a:rPr sz="2300" b="1" i="1">
                <a:solidFill>
                  <a:srgbClr val="1C252B"/>
                </a:solidFill>
                <a:latin typeface="Cambria"/>
              </a:rPr>
              <a:t>m</a:t>
            </a:r>
            <a:r>
              <a:rPr sz="2300" b="1" i="0">
                <a:solidFill>
                  <a:srgbClr val="1C252B"/>
                </a:solidFill>
                <a:latin typeface="Segoe UI"/>
              </a:rPr>
              <a:t> with </a:t>
            </a:r>
            <a:r>
              <a:rPr sz="2300" b="1" i="1">
                <a:solidFill>
                  <a:srgbClr val="1C252B"/>
                </a:solidFill>
                <a:latin typeface="Cambria"/>
              </a:rPr>
              <a:t>m</a:t>
            </a:r>
            <a:r>
              <a:rPr sz="2300" b="1" i="0">
                <a:solidFill>
                  <a:srgbClr val="1C252B"/>
                </a:solidFill>
                <a:latin typeface="Segoe UI"/>
              </a:rPr>
              <a:t> a power of two.</a:t>
            </a:r>
            <a:r>
              <a:rPr sz="2300" b="0" i="0">
                <a:solidFill>
                  <a:srgbClr val="1C252B"/>
                </a:solidFill>
                <a:latin typeface="Segoe UI"/>
              </a:rPr>
              <a:t> It is a bitmask: it reads the low bits and throws the rest away.</a:t>
            </a:r>
          </a:p>
          <a:p>
            <a:pPr algn="l" marL="257176" indent="-257176">
              <a:lnSpc>
                <a:spcPct val="104000"/>
              </a:lnSpc>
              <a:spcBef>
                <a:spcPts val="0"/>
              </a:spcBef>
              <a:spcAft>
                <a:spcPts val="804"/>
              </a:spcAft>
            </a:pPr>
            <a:r>
              <a:rPr sz="2300" b="1">
                <a:solidFill>
                  <a:srgbClr val="1F618D"/>
                </a:solidFill>
                <a:latin typeface="Segoe UI"/>
              </a:rPr>
              <a:t>•	</a:t>
            </a:r>
            <a:r>
              <a:rPr sz="2300" b="1" i="0">
                <a:solidFill>
                  <a:srgbClr val="1F618D"/>
                </a:solidFill>
                <a:latin typeface="Segoe UI"/>
              </a:rPr>
              <a:t>If you use the division method, make </a:t>
            </a:r>
            <a:r>
              <a:rPr sz="2300" b="1" i="1">
                <a:solidFill>
                  <a:srgbClr val="1C252B"/>
                </a:solidFill>
                <a:latin typeface="Cambria"/>
              </a:rPr>
              <a:t>m</a:t>
            </a:r>
            <a:r>
              <a:rPr sz="2300" b="1" i="0">
                <a:solidFill>
                  <a:srgbClr val="1C252B"/>
                </a:solidFill>
                <a:latin typeface="Segoe UI"/>
              </a:rPr>
              <a:t> prime</a:t>
            </a:r>
            <a:r>
              <a:rPr sz="2300" b="0" i="0">
                <a:solidFill>
                  <a:srgbClr val="1C252B"/>
                </a:solidFill>
                <a:latin typeface="Segoe UI"/>
              </a:rPr>
              <a:t> and not close to a power of 2 — then a stride </a:t>
            </a:r>
            <a:r>
              <a:rPr sz="2300" b="0" i="1">
                <a:solidFill>
                  <a:srgbClr val="1C252B"/>
                </a:solidFill>
                <a:latin typeface="Cambria"/>
              </a:rPr>
              <a:t>s</a:t>
            </a:r>
            <a:r>
              <a:rPr sz="2300" b="0" i="0">
                <a:solidFill>
                  <a:srgbClr val="1C252B"/>
                </a:solidFill>
                <a:latin typeface="Segoe UI"/>
              </a:rPr>
              <a:t> collides only if </a:t>
            </a:r>
            <a:r>
              <a:rPr sz="2300" b="0" i="1">
                <a:solidFill>
                  <a:srgbClr val="1C252B"/>
                </a:solidFill>
                <a:latin typeface="Cambria"/>
              </a:rPr>
              <a:t>s</a:t>
            </a:r>
            <a:r>
              <a:rPr sz="2300" b="0" i="0">
                <a:solidFill>
                  <a:srgbClr val="1C252B"/>
                </a:solidFill>
                <a:latin typeface="Segoe UI"/>
              </a:rPr>
              <a:t> is a multiple of </a:t>
            </a:r>
            <a:r>
              <a:rPr sz="2300" b="0" i="1">
                <a:solidFill>
                  <a:srgbClr val="1C252B"/>
                </a:solidFill>
                <a:latin typeface="Cambria"/>
              </a:rPr>
              <a:t>m</a:t>
            </a:r>
            <a:r>
              <a:rPr sz="2300" b="0" i="0">
                <a:solidFill>
                  <a:srgbClr val="1C252B"/>
                </a:solidFill>
                <a:latin typeface="Segoe UI"/>
              </a:rPr>
              <a:t>.</a:t>
            </a:r>
          </a:p>
          <a:p>
            <a:pPr algn="l" marL="257176" indent="-257176">
              <a:lnSpc>
                <a:spcPct val="104000"/>
              </a:lnSpc>
              <a:spcBef>
                <a:spcPts val="0"/>
              </a:spcBef>
              <a:spcAft>
                <a:spcPts val="804"/>
              </a:spcAft>
            </a:pPr>
            <a:r>
              <a:rPr sz="2300" b="1">
                <a:solidFill>
                  <a:srgbClr val="1F618D"/>
                </a:solidFill>
                <a:latin typeface="Segoe UI"/>
              </a:rPr>
              <a:t>•	</a:t>
            </a:r>
            <a:r>
              <a:rPr sz="2300" b="1" i="0">
                <a:solidFill>
                  <a:srgbClr val="1F618D"/>
                </a:solidFill>
                <a:latin typeface="Segoe UI"/>
              </a:rPr>
              <a:t>Better: mix, then mask.</a:t>
            </a:r>
            <a:r>
              <a:rPr sz="2300" b="0" i="0">
                <a:solidFill>
                  <a:srgbClr val="1C252B"/>
                </a:solidFill>
                <a:latin typeface="Segoe UI"/>
              </a:rPr>
              <a:t> A multiplicative finaliser then </a:t>
            </a:r>
            <a:r>
              <a:rPr sz="2300" b="0" i="0">
                <a:solidFill>
                  <a:srgbClr val="1C252B"/>
                </a:solidFill>
                <a:latin typeface="Cambria"/>
              </a:rPr>
              <a:t>&amp;(</a:t>
            </a:r>
            <a:r>
              <a:rPr sz="2300" b="0" i="1">
                <a:solidFill>
                  <a:srgbClr val="1C252B"/>
                </a:solidFill>
                <a:latin typeface="Cambria"/>
              </a:rPr>
              <a:t>m</a:t>
            </a:r>
            <a:r>
              <a:rPr sz="2300" b="0" i="0">
                <a:solidFill>
                  <a:srgbClr val="1C252B"/>
                </a:solidFill>
                <a:latin typeface="Cambria"/>
              </a:rPr>
              <a:t>−1)</a:t>
            </a:r>
            <a:r>
              <a:rPr sz="2300" b="0" i="0">
                <a:solidFill>
                  <a:srgbClr val="1C252B"/>
                </a:solidFill>
                <a:latin typeface="Segoe UI"/>
              </a:rPr>
              <a:t> gives you the fast mask </a:t>
            </a:r>
            <a:r>
              <a:rPr sz="2300" b="0" i="1">
                <a:solidFill>
                  <a:srgbClr val="1C252B"/>
                </a:solidFill>
                <a:latin typeface="Segoe UI"/>
              </a:rPr>
              <a:t>and</a:t>
            </a:r>
            <a:r>
              <a:rPr sz="2300" b="0" i="0">
                <a:solidFill>
                  <a:srgbClr val="1C252B"/>
                </a:solidFill>
                <a:latin typeface="Segoe UI"/>
              </a:rPr>
              <a:t> uses every bit.</a:t>
            </a:r>
          </a:p>
          <a:p>
            <a:pPr algn="l" marL="257176" indent="-257176">
              <a:lnSpc>
                <a:spcPct val="104000"/>
              </a:lnSpc>
              <a:spcBef>
                <a:spcPts val="0"/>
              </a:spcBef>
              <a:spcAft>
                <a:spcPts val="0"/>
              </a:spcAft>
            </a:pPr>
            <a:r>
              <a:rPr sz="2300" b="1">
                <a:solidFill>
                  <a:srgbClr val="1F618D"/>
                </a:solidFill>
                <a:latin typeface="Segoe UI"/>
              </a:rPr>
              <a:t>•	</a:t>
            </a:r>
            <a:r>
              <a:rPr sz="2300" b="1" i="0">
                <a:solidFill>
                  <a:srgbClr val="1F618D"/>
                </a:solidFill>
                <a:latin typeface="Segoe UI"/>
              </a:rPr>
              <a:t>Hash the whole key.</a:t>
            </a:r>
            <a:r>
              <a:rPr sz="2300" b="0" i="0">
                <a:solidFill>
                  <a:srgbClr val="1C252B"/>
                </a:solidFill>
                <a:latin typeface="Segoe UI"/>
              </a:rPr>
              <a:t> A hash that reads only a prefix of a string collides on every key sharing that prefix — and URLs, file paths and identifiers share prefixes constantly.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492855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8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An Adversary</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4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13.4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13.1   The Claim, and Its Fine Print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13.2   Measured: the Assumption, and the Prediction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13.3   When the Assumption Quietly Fails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13.4   An Adversary</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§13.4     </a:t>
            </a:r>
            <a:fld id="{9C5B1413-6230-4E2D-B3C5-413CC38ED19F}" type="slidenum">
              <a:rPr lang="en-GB" sz="1000">
                <a:solidFill>
                  <a:srgbClr val="8795A1"/>
                </a:solidFill>
                <a:latin typeface="Segoe UI"/>
              </a:rPr>
              <a:t>20</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18795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Hash Flooding</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§13.4  ·  Handout p. 107     </a:t>
            </a:r>
            <a:fld id="{3D43486B-84B5-4B11-BF25-30A4CF974D41}"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71644"/>
          </a:xfrm>
          <a:prstGeom prst="roundRect">
            <a:avLst>
              <a:gd name="adj" fmla="val 200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7164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If the hash function is fixed and public — as it is in every language’s standard library — then the keys landing in any given slot can simply be computed. For </a:t>
            </a:r>
            <a:r>
              <a:rPr sz="1900" b="0" i="1">
                <a:solidFill>
                  <a:srgbClr val="1C252B"/>
                </a:solidFill>
                <a:latin typeface="Cambria"/>
              </a:rPr>
              <a:t>h</a:t>
            </a:r>
            <a:r>
              <a:rPr sz="1900" b="0" i="0">
                <a:solidFill>
                  <a:srgbClr val="1C252B"/>
                </a:solidFill>
                <a:latin typeface="Cambria"/>
              </a:rPr>
              <a:t>(</a:t>
            </a:r>
            <a:r>
              <a:rPr sz="1900" b="0" i="1">
                <a:solidFill>
                  <a:srgbClr val="1C252B"/>
                </a:solidFill>
                <a:latin typeface="Cambria"/>
              </a:rPr>
              <a:t>k</a:t>
            </a:r>
            <a:r>
              <a:rPr sz="1900" b="0" i="0">
                <a:solidFill>
                  <a:srgbClr val="1C252B"/>
                </a:solidFill>
                <a:latin typeface="Cambria"/>
              </a:rPr>
              <a:t>) = </a:t>
            </a:r>
            <a:r>
              <a:rPr sz="1900" b="0" i="1">
                <a:solidFill>
                  <a:srgbClr val="1C252B"/>
                </a:solidFill>
                <a:latin typeface="Cambria"/>
              </a:rPr>
              <a:t>k</a:t>
            </a:r>
            <a:r>
              <a:rPr sz="1900" b="0" i="0">
                <a:solidFill>
                  <a:srgbClr val="1C252B"/>
                </a:solidFill>
                <a:latin typeface="Cambria"/>
              </a:rPr>
              <a:t> </a:t>
            </a:r>
            <a:r>
              <a:rPr sz="1900" b="0" i="1">
                <a:solidFill>
                  <a:srgbClr val="1C252B"/>
                </a:solidFill>
                <a:latin typeface="Cambria"/>
              </a:rPr>
              <a:t>m</a:t>
            </a:r>
            <a:r>
              <a:rPr sz="1900" b="0" i="0">
                <a:solidFill>
                  <a:srgbClr val="1C252B"/>
                </a:solidFill>
                <a:latin typeface="Segoe UI"/>
              </a:rPr>
              <a:t>, the multiples of </a:t>
            </a:r>
            <a:r>
              <a:rPr sz="1900" b="0" i="1">
                <a:solidFill>
                  <a:srgbClr val="1C252B"/>
                </a:solidFill>
                <a:latin typeface="Cambria"/>
              </a:rPr>
              <a:t>m</a:t>
            </a:r>
            <a:r>
              <a:rPr sz="1900" b="0" i="0">
                <a:solidFill>
                  <a:srgbClr val="1C252B"/>
                </a:solidFill>
                <a:latin typeface="Segoe UI"/>
              </a:rPr>
              <a:t> all hash to slot 0. No cryptography, no timing attack: arithmetic.</a:t>
            </a:r>
          </a:p>
        </p:txBody>
      </p:sp>
      <p:graphicFrame>
        <p:nvGraphicFramePr>
          <p:cNvPr id="10" name="body-1"/>
          <p:cNvGraphicFramePr>
            <a:graphicFrameLocks noGrp="1"/>
          </p:cNvGraphicFramePr>
          <p:nvPr/>
        </p:nvGraphicFramePr>
        <p:xfrm>
          <a:off x="1042416" y="3047822"/>
          <a:ext cx="5521457" cy="1950720"/>
        </p:xfrm>
        <a:graphic>
          <a:graphicData uri="http://schemas.openxmlformats.org/drawingml/2006/table">
            <a:tbl>
              <a:tblPr firstRow="0" bandRow="0" firstCol="0" lastRow="0" lastCol="0" bandCol="0">
                <a:tableStyleId>{2D5ABB26-0587-4C30-8999-92F81FD0307C}</a:tableStyleId>
              </a:tblPr>
              <a:tblGrid>
                <a:gridCol w="859584"/>
                <a:gridCol w="1999284"/>
                <a:gridCol w="1914720"/>
                <a:gridCol w="747869"/>
              </a:tblGrid>
              <a:tr h="390144">
                <a:tc>
                  <a:txBody>
                    <a:bodyPr wrap="square"/>
                    <a:lstStyle/>
                    <a:p>
                      <a:pPr algn="r"/>
                      <a:r>
                        <a:rPr sz="1600" b="1" i="1">
                          <a:solidFill>
                            <a:srgbClr val="1A5276"/>
                          </a:solidFill>
                          <a:latin typeface="Cambria"/>
                        </a:rPr>
                        <a: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random keys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chosen keys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ratio</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2,000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0.01</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0.62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64.0</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8,000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0.06</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10.19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162.3</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16,000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0.13</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41.95</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313.5</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32,000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0.45</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147.27</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324.2</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body-2"/>
          <p:cNvSpPr txBox="1"/>
          <p:nvPr/>
        </p:nvSpPr>
        <p:spPr>
          <a:xfrm>
            <a:off x="1042416" y="5131257"/>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ratio grows with </a:t>
            </a:r>
            <a:r>
              <a:rPr sz="1900" b="1" i="1">
                <a:solidFill>
                  <a:srgbClr val="1C252B"/>
                </a:solidFill>
                <a:latin typeface="Cambria"/>
              </a:rPr>
              <a:t>n</a:t>
            </a:r>
            <a:r>
              <a:rPr sz="1900" b="0" i="0">
                <a:solidFill>
                  <a:srgbClr val="1C252B"/>
                </a:solidFill>
                <a:latin typeface="Segoe UI"/>
              </a:rPr>
              <a:t> — 64 to 324 — because the chosen-key case is </a:t>
            </a:r>
            <a:r>
              <a:rPr sz="1900" b="0" i="0">
                <a:solidFill>
                  <a:srgbClr val="1C252B"/>
                </a:solidFill>
                <a:latin typeface="Cambria"/>
              </a:rPr>
              <a:t>Θ(</a:t>
            </a:r>
            <a:r>
              <a:rPr sz="1900" b="0" i="1">
                <a:solidFill>
                  <a:srgbClr val="1C252B"/>
                </a:solidFill>
                <a:latin typeface="Cambria"/>
              </a:rPr>
              <a:t>n</a:t>
            </a:r>
            <a:r>
              <a:rPr sz="1250" b="0" i="0" baseline="30000">
                <a:solidFill>
                  <a:srgbClr val="1C252B"/>
                </a:solidFill>
                <a:latin typeface="Cambria"/>
              </a:rPr>
              <a:t>2</a:t>
            </a:r>
            <a:r>
              <a:rPr sz="1900" b="0" i="0">
                <a:solidFill>
                  <a:srgbClr val="1C252B"/>
                </a:solidFill>
                <a:latin typeface="Cambria"/>
              </a:rPr>
              <a:t>)</a:t>
            </a:r>
            <a:r>
              <a:rPr sz="1900" b="0" i="0">
                <a:solidFill>
                  <a:srgbClr val="1C252B"/>
                </a:solidFill>
                <a:latin typeface="Segoe UI"/>
              </a:rPr>
              <a:t> for </a:t>
            </a:r>
            <a:r>
              <a:rPr sz="1900" b="0" i="1">
                <a:solidFill>
                  <a:srgbClr val="1C252B"/>
                </a:solidFill>
                <a:latin typeface="Cambria"/>
              </a:rPr>
              <a:t>n</a:t>
            </a:r>
            <a:r>
              <a:rPr sz="1900" b="0" i="0">
                <a:solidFill>
                  <a:srgbClr val="1C252B"/>
                </a:solidFill>
                <a:latin typeface="Segoe UI"/>
              </a:rPr>
              <a:t> lookups while the random case is </a:t>
            </a:r>
            <a:r>
              <a:rPr sz="1900" b="0" i="0">
                <a:solidFill>
                  <a:srgbClr val="1C252B"/>
                </a:solidFill>
                <a:latin typeface="Cambria"/>
              </a:rPr>
              <a:t>Θ(</a:t>
            </a:r>
            <a:r>
              <a:rPr sz="1900" b="0" i="1">
                <a:solidFill>
                  <a:srgbClr val="1C252B"/>
                </a:solidFill>
                <a:latin typeface="Cambria"/>
              </a:rPr>
              <a:t>n</a:t>
            </a:r>
            <a:r>
              <a:rPr sz="1900" b="0" i="0">
                <a:solidFill>
                  <a:srgbClr val="1C252B"/>
                </a:solidFill>
                <a:latin typeface="Cambria"/>
              </a:rPr>
              <a:t>)</a:t>
            </a:r>
            <a:r>
              <a:rPr sz="1900" b="0" i="0">
                <a:solidFill>
                  <a:srgbClr val="1C252B"/>
                </a:solidFill>
                <a:latin typeface="Segoe UI"/>
              </a:rPr>
              <a:t>. The table has become a linked list, and every operation on it is a linear scan.</a:t>
            </a:r>
          </a:p>
        </p:txBody>
      </p:sp>
      <p:sp>
        <p:nvSpPr>
          <p:cNvPr id="12" name="body-2bar">
            <a:extLst>
              <a:ext uri="{C183D7F6-B498-43B3-948B-1728B52AA6E4}">
                <adec:decorative xmlns:adec="http://schemas.microsoft.com/office/drawing/2017/decorative" val="1"/>
              </a:ext>
            </a:extLst>
          </p:cNvPr>
          <p:cNvSpPr/>
          <p:nvPr/>
        </p:nvSpPr>
        <p:spPr>
          <a:xfrm>
            <a:off x="841248" y="5149545"/>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544735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Hash Flooding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§13.4  ·  Handout p. 107     </a:t>
            </a:r>
            <a:fld id="{A6D96FB6-F9D3-4113-904F-DB856FCA5ED9}"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53209"/>
          </a:xfrm>
          <a:prstGeom prst="roundRect">
            <a:avLst>
              <a:gd name="adj" fmla="val 52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53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This is a real attack, not a thought experiment.</a:t>
            </a:r>
            <a:r>
              <a:rPr sz="1900" b="0" i="0">
                <a:solidFill>
                  <a:srgbClr val="1C252B"/>
                </a:solidFill>
                <a:latin typeface="Segoe UI"/>
              </a:rPr>
              <a:t> It is called </a:t>
            </a:r>
            <a:r>
              <a:rPr sz="1900" b="1" i="0">
                <a:solidFill>
                  <a:srgbClr val="1A5276"/>
                </a:solidFill>
                <a:latin typeface="Segoe UI"/>
              </a:rPr>
              <a:t>hash flooding</a:t>
            </a:r>
            <a:r>
              <a:rPr sz="1900" b="0" i="0">
                <a:solidFill>
                  <a:srgbClr val="1C252B"/>
                </a:solidFill>
                <a:latin typeface="Segoe UI"/>
              </a:rPr>
              <a:t>: send a web server a few thousand form fields chosen to collide, and its parameter dictionary — every request — turns quadratic. Published against PHP, Python, Ruby, Java and Node in 2011–12, and the reason those languages now randomise their hash seeds at process start.</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70675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Universal hashing, and why it is Chapter 9 again</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§13.4  ·  Handout p. 107     </a:t>
            </a:r>
            <a:fld id="{2F89A171-C543-4864-9166-F57D74F029B4}"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30930"/>
          </a:xfrm>
          <a:prstGeom prst="roundRect">
            <a:avLst>
              <a:gd name="adj" fmla="val 274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3093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F618D"/>
                </a:solidFill>
                <a:latin typeface="Segoe UI"/>
              </a:rPr>
              <a:t>The defence is to stop having a fixed hash function.</a:t>
            </a:r>
            <a:r>
              <a:rPr sz="2100" b="0" i="0">
                <a:solidFill>
                  <a:srgbClr val="1C252B"/>
                </a:solidFill>
                <a:latin typeface="Segoe UI"/>
              </a:rPr>
              <a:t> Choose </a:t>
            </a:r>
            <a:r>
              <a:rPr sz="2100" b="0" i="1">
                <a:solidFill>
                  <a:srgbClr val="1C252B"/>
                </a:solidFill>
                <a:latin typeface="Cambria"/>
              </a:rPr>
              <a:t>h</a:t>
            </a:r>
            <a:r>
              <a:rPr sz="2100" b="0" i="0">
                <a:solidFill>
                  <a:srgbClr val="1C252B"/>
                </a:solidFill>
                <a:latin typeface="Segoe UI"/>
              </a:rPr>
              <a:t> at random, at run time, from a carefully designed family </a:t>
            </a:r>
            <a:r>
              <a:rPr sz="2100" b="0" i="1">
                <a:solidFill>
                  <a:srgbClr val="1C252B"/>
                </a:solidFill>
                <a:latin typeface="Cambria"/>
              </a:rPr>
              <a:t>H</a:t>
            </a:r>
            <a:r>
              <a:rPr sz="2100" b="0" i="0">
                <a:solidFill>
                  <a:srgbClr val="1C252B"/>
                </a:solidFill>
                <a:latin typeface="Segoe UI"/>
              </a:rPr>
              <a:t>.</a:t>
            </a:r>
          </a:p>
        </p:txBody>
      </p:sp>
      <p:sp>
        <p:nvSpPr>
          <p:cNvPr id="10" name="body-1"/>
          <p:cNvSpPr txBox="1"/>
          <p:nvPr/>
        </p:nvSpPr>
        <p:spPr>
          <a:xfrm>
            <a:off x="1060704" y="2860624"/>
            <a:ext cx="10161727" cy="378561"/>
          </a:xfrm>
          <a:prstGeom prst="rect">
            <a:avLst/>
          </a:prstGeom>
          <a:noFill/>
        </p:spPr>
        <p:txBody>
          <a:bodyPr wrap="square" anchor="t" lIns="0" rIns="0" tIns="0" bIns="0">
            <a:noAutofit/>
          </a:bodyPr>
          <a:lstStyle/>
          <a:p>
            <a:pPr algn="l">
              <a:lnSpc>
                <a:spcPct val="104000"/>
              </a:lnSpc>
              <a:spcBef>
                <a:spcPts val="0"/>
              </a:spcBef>
              <a:spcAft>
                <a:spcPts val="0"/>
              </a:spcAft>
            </a:pPr>
            <a:r>
              <a:rPr sz="2100" b="0" i="1">
                <a:solidFill>
                  <a:srgbClr val="1C252B"/>
                </a:solidFill>
                <a:latin typeface="Cambria"/>
              </a:rPr>
              <a:t>H</a:t>
            </a:r>
            <a:r>
              <a:rPr sz="2100" b="0" i="0">
                <a:solidFill>
                  <a:srgbClr val="1C252B"/>
                </a:solidFill>
                <a:latin typeface="Segoe UI"/>
              </a:rPr>
              <a:t> is </a:t>
            </a:r>
            <a:r>
              <a:rPr sz="2100" b="1" i="0">
                <a:solidFill>
                  <a:srgbClr val="1A5276"/>
                </a:solidFill>
                <a:latin typeface="Segoe UI"/>
              </a:rPr>
              <a:t>universal</a:t>
            </a:r>
            <a:r>
              <a:rPr sz="2100" b="0" i="0">
                <a:solidFill>
                  <a:srgbClr val="1C252B"/>
                </a:solidFill>
                <a:latin typeface="Segoe UI"/>
              </a:rPr>
              <a:t> if for any two distinct keys </a:t>
            </a:r>
            <a:r>
              <a:rPr sz="2100" b="0" i="1">
                <a:solidFill>
                  <a:srgbClr val="1C252B"/>
                </a:solidFill>
                <a:latin typeface="Cambria"/>
              </a:rPr>
              <a:t>x</a:t>
            </a:r>
            <a:r>
              <a:rPr sz="2100" b="0" i="0">
                <a:solidFill>
                  <a:srgbClr val="1C252B"/>
                </a:solidFill>
                <a:latin typeface="Cambria"/>
              </a:rPr>
              <a:t> ≠ </a:t>
            </a:r>
            <a:r>
              <a:rPr sz="2100" b="0" i="1">
                <a:solidFill>
                  <a:srgbClr val="1C252B"/>
                </a:solidFill>
                <a:latin typeface="Cambria"/>
              </a:rPr>
              <a:t>y</a:t>
            </a:r>
            <a:r>
              <a:rPr sz="2100" b="0" i="0">
                <a:solidFill>
                  <a:srgbClr val="1C252B"/>
                </a:solidFill>
                <a:latin typeface="Segoe UI"/>
              </a:rPr>
              <a:t>,</a:t>
            </a:r>
          </a:p>
        </p:txBody>
      </p:sp>
      <p:pic>
        <p:nvPicPr>
          <p:cNvPr id="11" name="body-2" descr="\Pr_{h \in \mathcal{H}}\bigl[\,h(x) = h(y)\,\bigr] \;\le\; \frac{1}{m}."/>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340150"/>
            <a:ext cx="10161727" cy="604875"/>
          </a:xfrm>
          <a:prstGeom prst="rect">
            <a:avLst/>
          </a:prstGeom>
        </p:spPr>
      </p:pic>
      <p:sp>
        <p:nvSpPr>
          <p:cNvPr id="12" name="body-3"/>
          <p:cNvSpPr txBox="1"/>
          <p:nvPr/>
        </p:nvSpPr>
        <p:spPr>
          <a:xfrm>
            <a:off x="1060704" y="4091711"/>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That is, a randomly chosen member collides on any particular pair no more often than a uniformly random function would.</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96614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Universal hashing, and why it is Chapter 9 again (continued)</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§13.4  ·  Handout p. 107     </a:t>
            </a:r>
            <a:fld id="{9012E96A-44A0-4C77-82A7-1B0B4D713EAD}"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96892"/>
          </a:xfrm>
          <a:prstGeom prst="roundRect">
            <a:avLst>
              <a:gd name="adj" fmla="val 2231"/>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9689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With a universal family, Theorem 13.1’s expected bounds hold </a:t>
            </a:r>
            <a:r>
              <a:rPr sz="2100" b="0" i="1">
                <a:solidFill>
                  <a:srgbClr val="1C252B"/>
                </a:solidFill>
                <a:latin typeface="Segoe UI"/>
              </a:rPr>
              <a:t>for every input</a:t>
            </a:r>
            <a:r>
              <a:rPr sz="2100" b="0" i="0">
                <a:solidFill>
                  <a:srgbClr val="1C252B"/>
                </a:solidFill>
                <a:latin typeface="Segoe UI"/>
              </a:rPr>
              <a:t>, with the expectation taken over the </a:t>
            </a:r>
            <a:r>
              <a:rPr sz="2100" b="0" i="1">
                <a:solidFill>
                  <a:srgbClr val="1C252B"/>
                </a:solidFill>
                <a:latin typeface="Segoe UI"/>
              </a:rPr>
              <a:t>choice of hash function</a:t>
            </a:r>
            <a:r>
              <a:rPr sz="2100" b="0" i="0">
                <a:solidFill>
                  <a:srgbClr val="1C252B"/>
                </a:solidFill>
                <a:latin typeface="Segoe UI"/>
              </a:rPr>
              <a:t> rather than over an assumption about the keys. An adversary who knows your source code still cannot choose colliding keys, because he does not know which </a:t>
            </a:r>
            <a:r>
              <a:rPr sz="2100" b="0" i="1">
                <a:solidFill>
                  <a:srgbClr val="1C252B"/>
                </a:solidFill>
                <a:latin typeface="Cambria"/>
              </a:rPr>
              <a:t>h</a:t>
            </a:r>
            <a:r>
              <a:rPr sz="2100" b="0" i="0">
                <a:solidFill>
                  <a:srgbClr val="1C252B"/>
                </a:solidFill>
                <a:latin typeface="Segoe UI"/>
              </a:rPr>
              <a:t> you drew.</a:t>
            </a:r>
          </a:p>
        </p:txBody>
      </p:sp>
      <p:sp>
        <p:nvSpPr>
          <p:cNvPr id="10" name="body-1"/>
          <p:cNvSpPr txBox="1"/>
          <p:nvPr/>
        </p:nvSpPr>
        <p:spPr>
          <a:xfrm>
            <a:off x="1060704" y="3526307"/>
            <a:ext cx="10161727" cy="2042769"/>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F618D"/>
                </a:solidFill>
                <a:latin typeface="Segoe UI"/>
              </a:rPr>
              <a:t>This is precisely Chapter 9’s move.</a:t>
            </a:r>
            <a:r>
              <a:rPr sz="2100" b="0" i="0">
                <a:solidFill>
                  <a:srgbClr val="1C252B"/>
                </a:solidFill>
                <a:latin typeface="Segoe UI"/>
              </a:rPr>
              <a:t> There, randomising the pivot converted “</a:t>
            </a:r>
            <a:r>
              <a:rPr sz="2100" b="0" i="0">
                <a:solidFill>
                  <a:srgbClr val="1C252B"/>
                </a:solidFill>
                <a:latin typeface="Cambria"/>
              </a:rPr>
              <a:t>Θ(</a:t>
            </a:r>
            <a:r>
              <a:rPr sz="2100" b="0" i="1">
                <a:solidFill>
                  <a:srgbClr val="1C252B"/>
                </a:solidFill>
                <a:latin typeface="Cambria"/>
              </a:rPr>
              <a:t>n</a:t>
            </a:r>
            <a:r>
              <a:rPr sz="2100" b="0" i="0">
                <a:solidFill>
                  <a:srgbClr val="1C252B"/>
                </a:solidFill>
                <a:latin typeface="Cambria"/>
              </a:rPr>
              <a:t> lg </a:t>
            </a:r>
            <a:r>
              <a:rPr sz="2100" b="0" i="1">
                <a:solidFill>
                  <a:srgbClr val="1C252B"/>
                </a:solidFill>
                <a:latin typeface="Cambria"/>
              </a:rPr>
              <a:t>n</a:t>
            </a:r>
            <a:r>
              <a:rPr sz="2100" b="0" i="0">
                <a:solidFill>
                  <a:srgbClr val="1C252B"/>
                </a:solidFill>
                <a:latin typeface="Cambria"/>
              </a:rPr>
              <a:t>)</a:t>
            </a:r>
            <a:r>
              <a:rPr sz="2100" b="0" i="0">
                <a:solidFill>
                  <a:srgbClr val="1C252B"/>
                </a:solidFill>
                <a:latin typeface="Segoe UI"/>
              </a:rPr>
              <a:t> if your data is unsorted” into “</a:t>
            </a:r>
            <a:r>
              <a:rPr sz="2100" b="0" i="0">
                <a:solidFill>
                  <a:srgbClr val="1C252B"/>
                </a:solidFill>
                <a:latin typeface="Cambria"/>
              </a:rPr>
              <a:t>Θ(</a:t>
            </a:r>
            <a:r>
              <a:rPr sz="2100" b="0" i="1">
                <a:solidFill>
                  <a:srgbClr val="1C252B"/>
                </a:solidFill>
                <a:latin typeface="Cambria"/>
              </a:rPr>
              <a:t>n</a:t>
            </a:r>
            <a:r>
              <a:rPr sz="2100" b="0" i="0">
                <a:solidFill>
                  <a:srgbClr val="1C252B"/>
                </a:solidFill>
                <a:latin typeface="Cambria"/>
              </a:rPr>
              <a:t> lg </a:t>
            </a:r>
            <a:r>
              <a:rPr sz="2100" b="0" i="1">
                <a:solidFill>
                  <a:srgbClr val="1C252B"/>
                </a:solidFill>
                <a:latin typeface="Cambria"/>
              </a:rPr>
              <a:t>n</a:t>
            </a:r>
            <a:r>
              <a:rPr sz="2100" b="0" i="0">
                <a:solidFill>
                  <a:srgbClr val="1C252B"/>
                </a:solidFill>
                <a:latin typeface="Cambria"/>
              </a:rPr>
              <a:t>)</a:t>
            </a:r>
            <a:r>
              <a:rPr sz="2100" b="0" i="0">
                <a:solidFill>
                  <a:srgbClr val="1C252B"/>
                </a:solidFill>
                <a:latin typeface="Segoe UI"/>
              </a:rPr>
              <a:t> expected, on every input”. Here, randomising the hash converts “</a:t>
            </a:r>
            <a:r>
              <a:rPr sz="2100" b="0" i="0">
                <a:solidFill>
                  <a:srgbClr val="1C252B"/>
                </a:solidFill>
                <a:latin typeface="Cambria"/>
              </a:rPr>
              <a:t>Θ(1)</a:t>
            </a:r>
            <a:r>
              <a:rPr sz="2100" b="0" i="0">
                <a:solidFill>
                  <a:srgbClr val="1C252B"/>
                </a:solidFill>
                <a:latin typeface="Segoe UI"/>
              </a:rPr>
              <a:t> if your keys suit my hash” into “</a:t>
            </a:r>
            <a:r>
              <a:rPr sz="2100" b="0" i="0">
                <a:solidFill>
                  <a:srgbClr val="1C252B"/>
                </a:solidFill>
                <a:latin typeface="Cambria"/>
              </a:rPr>
              <a:t>Θ(1)</a:t>
            </a:r>
            <a:r>
              <a:rPr sz="2100" b="0" i="0">
                <a:solidFill>
                  <a:srgbClr val="1C252B"/>
                </a:solidFill>
                <a:latin typeface="Segoe UI"/>
              </a:rPr>
              <a:t> expected, on every key set”. Same technique, same payoff: </a:t>
            </a:r>
            <a:r>
              <a:rPr sz="2100" b="1" i="0">
                <a:solidFill>
                  <a:srgbClr val="1C252B"/>
                </a:solidFill>
                <a:latin typeface="Segoe UI"/>
              </a:rPr>
              <a:t>an assumption about the world, which can be violated, becomes an assumption about a random number generator, which cannot.</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622554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Hash table or balanced tree?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§13.4  ·  Handout p. 107     </a:t>
            </a:r>
            <a:fld id="{C4B1A250-20C3-49AF-A465-0B69538CE660}" type="slidenum">
              <a:rPr lang="en-GB" sz="1000">
                <a:solidFill>
                  <a:srgbClr val="8795A1"/>
                </a:solidFill>
                <a:latin typeface="Segoe UI"/>
              </a:rPr>
              <a:t>25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13021"/>
          </a:xfrm>
          <a:prstGeom prst="roundRect">
            <a:avLst>
              <a:gd name="adj" fmla="val 202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13021"/>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60704" y="2048255"/>
          <a:ext cx="7980241" cy="2624328"/>
        </p:xfrm>
        <a:graphic>
          <a:graphicData uri="http://schemas.openxmlformats.org/drawingml/2006/table">
            <a:tbl>
              <a:tblPr firstRow="0" bandRow="0" firstCol="0" lastRow="0" lastCol="0" bandCol="0">
                <a:tableStyleId>{2D5ABB26-0587-4C30-8999-92F81FD0307C}</a:tableStyleId>
              </a:tblPr>
              <a:tblGrid>
                <a:gridCol w="2422048"/>
                <a:gridCol w="2824770"/>
                <a:gridCol w="2733423"/>
              </a:tblGrid>
              <a:tr h="374904">
                <a:tc>
                  <a:txBody>
                    <a:bodyPr wrap="square"/>
                    <a:lstStyle/>
                    <a:p>
                      <a:pPr algn="l"/>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Hash table</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Balanced BST</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74904">
                <a:tc>
                  <a:txBody>
                    <a:bodyPr wrap="square"/>
                    <a:lstStyle/>
                    <a:p>
                      <a:pPr algn="l"/>
                      <a:r>
                        <a:rPr sz="1500" b="0" i="0">
                          <a:solidFill>
                            <a:srgbClr val="1C252B"/>
                          </a:solidFill>
                          <a:latin typeface="Segoe UI"/>
                        </a:rPr>
                        <a:t>search, expected</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Cambria"/>
                        </a:rPr>
                        <a:t>Θ(1)</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Cambria"/>
                        </a:rPr>
                        <a:t>Θ(lg </a:t>
                      </a:r>
                      <a:r>
                        <a:rPr sz="1500" b="0" i="1">
                          <a:solidFill>
                            <a:srgbClr val="1C252B"/>
                          </a:solidFill>
                          <a:latin typeface="Cambria"/>
                        </a:rPr>
                        <a:t>n</a:t>
                      </a:r>
                      <a:r>
                        <a:rPr sz="1500" b="0" i="0">
                          <a:solidFill>
                            <a:srgbClr val="1C252B"/>
                          </a:solidFill>
                          <a:latin typeface="Cambria"/>
                        </a:rPr>
                        <a:t>)</a:t>
                      </a:r>
                      <a:endParaRPr sz="1500"/>
                    </a:p>
                  </a:txBody>
                  <a:tcPr marL="109728" marR="109728" marT="64008" marB="45720" anchor="t">
                    <a:lnL w="0" cmpd="sng">
                      <a:noFill/>
                    </a:lnL>
                    <a:lnR w="0" cmpd="sng">
                      <a:noFill/>
                    </a:lnR>
                    <a:lnT w="9525" cmpd="sng">
                      <a:noFill/>
                    </a:lnT>
                    <a:lnB w="9525" cmpd="sng">
                      <a:noFill/>
                    </a:lnB>
                    <a:solidFill>
                      <a:srgbClr val="FFFFFF"/>
                    </a:solidFill>
                  </a:tcPr>
                </a:tc>
              </a:tr>
              <a:tr h="374904">
                <a:tc>
                  <a:txBody>
                    <a:bodyPr wrap="square"/>
                    <a:lstStyle/>
                    <a:p>
                      <a:pPr algn="l"/>
                      <a:r>
                        <a:rPr sz="1500" b="0" i="0">
                          <a:solidFill>
                            <a:srgbClr val="1C252B"/>
                          </a:solidFill>
                          <a:latin typeface="Segoe UI"/>
                        </a:rPr>
                        <a:t>search, worst case</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Cambria"/>
                        </a:rPr>
                        <a:t>Θ(</a:t>
                      </a:r>
                      <a:r>
                        <a:rPr sz="1500" b="0" i="1">
                          <a:solidFill>
                            <a:srgbClr val="1C252B"/>
                          </a:solidFill>
                          <a:latin typeface="Cambria"/>
                        </a:rPr>
                        <a:t>n</a:t>
                      </a:r>
                      <a:r>
                        <a:rPr sz="1500" b="0" i="0">
                          <a:solidFill>
                            <a:srgbClr val="1C252B"/>
                          </a:solidFill>
                          <a:latin typeface="Cambria"/>
                        </a:rPr>
                        <a:t>)</a:t>
                      </a:r>
                      <a:r>
                        <a:rPr sz="1500" b="0" i="0">
                          <a:solidFill>
                            <a:srgbClr val="1C252B"/>
                          </a:solidFill>
                          <a:latin typeface="Segoe UI"/>
                        </a:rPr>
                        <a:t> (or </a:t>
                      </a:r>
                      <a:r>
                        <a:rPr sz="1500" b="0" i="0">
                          <a:solidFill>
                            <a:srgbClr val="1C252B"/>
                          </a:solidFill>
                          <a:latin typeface="Cambria"/>
                        </a:rPr>
                        <a:t>Θ(lg </a:t>
                      </a:r>
                      <a:r>
                        <a:rPr sz="1500" b="0" i="1">
                          <a:solidFill>
                            <a:srgbClr val="1C252B"/>
                          </a:solidFill>
                          <a:latin typeface="Cambria"/>
                        </a:rPr>
                        <a:t>n</a:t>
                      </a:r>
                      <a:r>
                        <a:rPr sz="1500" b="0" i="0">
                          <a:solidFill>
                            <a:srgbClr val="1C252B"/>
                          </a:solidFill>
                          <a:latin typeface="Cambria"/>
                        </a:rPr>
                        <a:t>)</a:t>
                      </a:r>
                      <a:r>
                        <a:rPr sz="1500" b="0" i="0">
                          <a:solidFill>
                            <a:srgbClr val="1C252B"/>
                          </a:solidFill>
                          <a:latin typeface="Segoe UI"/>
                        </a:rPr>
                        <a:t> with tree bins)</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Cambria"/>
                        </a:rPr>
                        <a:t>Θ(lg </a:t>
                      </a:r>
                      <a:r>
                        <a:rPr sz="1500" b="0" i="1">
                          <a:solidFill>
                            <a:srgbClr val="1C252B"/>
                          </a:solidFill>
                          <a:latin typeface="Cambria"/>
                        </a:rPr>
                        <a:t>n</a:t>
                      </a:r>
                      <a:r>
                        <a:rPr sz="1500" b="0" i="0">
                          <a:solidFill>
                            <a:srgbClr val="1C252B"/>
                          </a:solidFill>
                          <a:latin typeface="Cambria"/>
                        </a:rPr>
                        <a:t>)</a:t>
                      </a:r>
                      <a:r>
                        <a:rPr sz="1500" b="0" i="0">
                          <a:solidFill>
                            <a:srgbClr val="1C252B"/>
                          </a:solidFill>
                          <a:latin typeface="Segoe UI"/>
                        </a:rPr>
                        <a:t> </a:t>
                      </a:r>
                      <a:r>
                        <a:rPr sz="1500" b="0" i="1">
                          <a:solidFill>
                            <a:srgbClr val="1C252B"/>
                          </a:solidFill>
                          <a:latin typeface="Segoe UI"/>
                        </a:rPr>
                        <a:t>guaranteed</a:t>
                      </a:r>
                      <a:endParaRPr sz="1500"/>
                    </a:p>
                  </a:txBody>
                  <a:tcPr marL="109728" marR="109728" marT="64008" marB="45720" anchor="t">
                    <a:lnL w="0" cmpd="sng">
                      <a:noFill/>
                    </a:lnL>
                    <a:lnR w="0" cmpd="sng">
                      <a:noFill/>
                    </a:lnR>
                    <a:lnT w="9525" cmpd="sng">
                      <a:noFill/>
                    </a:lnT>
                    <a:lnB w="9525" cmpd="sng">
                      <a:noFill/>
                    </a:lnB>
                    <a:solidFill>
                      <a:srgbClr val="F2F8FC"/>
                    </a:solidFill>
                  </a:tcPr>
                </a:tc>
              </a:tr>
              <a:tr h="374904">
                <a:tc>
                  <a:txBody>
                    <a:bodyPr wrap="square"/>
                    <a:lstStyle/>
                    <a:p>
                      <a:pPr algn="l"/>
                      <a:r>
                        <a:rPr sz="1500" b="0" i="0">
                          <a:solidFill>
                            <a:srgbClr val="1C252B"/>
                          </a:solidFill>
                          <a:latin typeface="Segoe UI"/>
                        </a:rPr>
                        <a:t>ordered traversal</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impossible without sorting</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Cambria"/>
                        </a:rPr>
                        <a:t>Θ(</a:t>
                      </a:r>
                      <a:r>
                        <a:rPr sz="1500" b="0" i="1">
                          <a:solidFill>
                            <a:srgbClr val="1C252B"/>
                          </a:solidFill>
                          <a:latin typeface="Cambria"/>
                        </a:rPr>
                        <a:t>n</a:t>
                      </a:r>
                      <a:r>
                        <a:rPr sz="1500" b="0" i="0">
                          <a:solidFill>
                            <a:srgbClr val="1C252B"/>
                          </a:solidFill>
                          <a:latin typeface="Cambria"/>
                        </a:rPr>
                        <a:t>)</a:t>
                      </a:r>
                      <a:r>
                        <a:rPr sz="1500" b="0" i="0">
                          <a:solidFill>
                            <a:srgbClr val="1C252B"/>
                          </a:solidFill>
                          <a:latin typeface="Segoe UI"/>
                        </a:rPr>
                        <a:t>, free</a:t>
                      </a:r>
                      <a:endParaRPr sz="1500"/>
                    </a:p>
                  </a:txBody>
                  <a:tcPr marL="109728" marR="109728" marT="64008" marB="45720" anchor="t">
                    <a:lnL w="0" cmpd="sng">
                      <a:noFill/>
                    </a:lnL>
                    <a:lnR w="0" cmpd="sng">
                      <a:noFill/>
                    </a:lnR>
                    <a:lnT w="9525" cmpd="sng">
                      <a:noFill/>
                    </a:lnT>
                    <a:lnB w="9525" cmpd="sng">
                      <a:noFill/>
                    </a:lnB>
                    <a:solidFill>
                      <a:srgbClr val="FFFFFF"/>
                    </a:solidFill>
                  </a:tcPr>
                </a:tc>
              </a:tr>
              <a:tr h="374904">
                <a:tc>
                  <a:txBody>
                    <a:bodyPr wrap="square"/>
                    <a:lstStyle/>
                    <a:p>
                      <a:pPr algn="l"/>
                      <a:r>
                        <a:rPr sz="1500" b="0" i="0">
                          <a:solidFill>
                            <a:srgbClr val="1C252B"/>
                          </a:solidFill>
                          <a:latin typeface="Segoe UI"/>
                        </a:rPr>
                        <a:t>predecessor, range query</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not supported</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Cambria"/>
                        </a:rPr>
                        <a:t>Θ(lg </a:t>
                      </a:r>
                      <a:r>
                        <a:rPr sz="1500" b="0" i="1">
                          <a:solidFill>
                            <a:srgbClr val="1C252B"/>
                          </a:solidFill>
                          <a:latin typeface="Cambria"/>
                        </a:rPr>
                        <a:t>n</a:t>
                      </a:r>
                      <a:r>
                        <a:rPr sz="1500" b="0" i="0">
                          <a:solidFill>
                            <a:srgbClr val="1C252B"/>
                          </a:solidFill>
                          <a:latin typeface="Cambria"/>
                        </a:rPr>
                        <a:t>)</a:t>
                      </a:r>
                      <a:endParaRPr sz="1500"/>
                    </a:p>
                  </a:txBody>
                  <a:tcPr marL="109728" marR="109728" marT="64008" marB="45720" anchor="t">
                    <a:lnL w="0" cmpd="sng">
                      <a:noFill/>
                    </a:lnL>
                    <a:lnR w="0" cmpd="sng">
                      <a:noFill/>
                    </a:lnR>
                    <a:lnT w="9525" cmpd="sng">
                      <a:noFill/>
                    </a:lnT>
                    <a:lnB w="9525" cmpd="sng">
                      <a:noFill/>
                    </a:lnB>
                    <a:solidFill>
                      <a:srgbClr val="F2F8FC"/>
                    </a:solidFill>
                  </a:tcPr>
                </a:tc>
              </a:tr>
              <a:tr h="374904">
                <a:tc>
                  <a:txBody>
                    <a:bodyPr wrap="square"/>
                    <a:lstStyle/>
                    <a:p>
                      <a:pPr algn="l"/>
                      <a:r>
                        <a:rPr sz="1500" b="0" i="0">
                          <a:solidFill>
                            <a:srgbClr val="1C252B"/>
                          </a:solidFill>
                          <a:latin typeface="Segoe UI"/>
                        </a:rPr>
                        <a:t>needs</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a good hash for </a:t>
                      </a:r>
                      <a:r>
                        <a:rPr sz="1500" b="0" i="1">
                          <a:solidFill>
                            <a:srgbClr val="1C252B"/>
                          </a:solidFill>
                          <a:latin typeface="Segoe UI"/>
                        </a:rPr>
                        <a:t>your</a:t>
                      </a:r>
                      <a:r>
                        <a:rPr sz="1500" b="0" i="0">
                          <a:solidFill>
                            <a:srgbClr val="1C252B"/>
                          </a:solidFill>
                          <a:latin typeface="Segoe UI"/>
                        </a:rPr>
                        <a:t> keys</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only a comparison</a:t>
                      </a:r>
                      <a:endParaRPr sz="1500"/>
                    </a:p>
                  </a:txBody>
                  <a:tcPr marL="109728" marR="109728" marT="64008" marB="45720" anchor="t">
                    <a:lnL w="0" cmpd="sng">
                      <a:noFill/>
                    </a:lnL>
                    <a:lnR w="0" cmpd="sng">
                      <a:noFill/>
                    </a:lnR>
                    <a:lnT w="9525" cmpd="sng">
                      <a:noFill/>
                    </a:lnT>
                    <a:lnB w="9525" cmpd="sng">
                      <a:noFill/>
                    </a:lnB>
                    <a:solidFill>
                      <a:srgbClr val="FFFFFF"/>
                    </a:solidFill>
                  </a:tcPr>
                </a:tc>
              </a:tr>
              <a:tr h="374904">
                <a:tc>
                  <a:txBody>
                    <a:bodyPr wrap="square"/>
                    <a:lstStyle/>
                    <a:p>
                      <a:pPr algn="l"/>
                      <a:r>
                        <a:rPr sz="1500" b="0" i="0">
                          <a:solidFill>
                            <a:srgbClr val="1C252B"/>
                          </a:solidFill>
                          <a:latin typeface="Segoe UI"/>
                        </a:rPr>
                        <a:t>degrades on</a:t>
                      </a:r>
                      <a:endParaRPr sz="15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500" b="0" i="0">
                          <a:solidFill>
                            <a:srgbClr val="1C252B"/>
                          </a:solidFill>
                          <a:latin typeface="Segoe UI"/>
                        </a:rPr>
                        <a:t>adversarial or structured keys</a:t>
                      </a:r>
                      <a:endParaRPr sz="15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500" b="0" i="0">
                          <a:solidFill>
                            <a:srgbClr val="1C252B"/>
                          </a:solidFill>
                          <a:latin typeface="Segoe UI"/>
                        </a:rPr>
                        <a:t>nothing</a:t>
                      </a:r>
                      <a:endParaRPr sz="15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0" name="body-1"/>
          <p:cNvSpPr txBox="1"/>
          <p:nvPr/>
        </p:nvSpPr>
        <p:spPr>
          <a:xfrm>
            <a:off x="1060704" y="4798314"/>
            <a:ext cx="10161727" cy="1186891"/>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Hash tables win on raw lookup and lose everything about order. Where a worst case must be bounded — latency budgets, untrusted input — the tree’s guarantee may be worth the logarithm. Java’s </a:t>
            </a:r>
            <a:r>
              <a:rPr sz="1700" b="0" i="0">
                <a:solidFill>
                  <a:srgbClr val="1F4E79"/>
                </a:solidFill>
                <a:latin typeface="Consolas"/>
              </a:rPr>
              <a:t>HashMap</a:t>
            </a:r>
            <a:r>
              <a:rPr sz="1800" b="0" i="0">
                <a:solidFill>
                  <a:srgbClr val="1C252B"/>
                </a:solidFill>
                <a:latin typeface="Segoe UI"/>
              </a:rPr>
              <a:t> hedges: chains longer than 8 become red–black trees, so the worst case is </a:t>
            </a:r>
            <a:r>
              <a:rPr sz="1800" b="0" i="0">
                <a:solidFill>
                  <a:srgbClr val="1C252B"/>
                </a:solidFill>
                <a:latin typeface="Cambria"/>
              </a:rPr>
              <a:t>O(lg </a:t>
            </a:r>
            <a:r>
              <a:rPr sz="1800" b="0" i="1">
                <a:solidFill>
                  <a:srgbClr val="1C252B"/>
                </a:solidFill>
                <a:latin typeface="Cambria"/>
              </a:rPr>
              <a:t>n</a:t>
            </a:r>
            <a:r>
              <a:rPr sz="1800" b="0" i="0">
                <a:solidFill>
                  <a:srgbClr val="1C252B"/>
                </a:solidFill>
                <a:latin typeface="Cambria"/>
              </a:rPr>
              <a:t>)</a:t>
            </a:r>
            <a:r>
              <a:rPr sz="1800" b="0" i="0">
                <a:solidFill>
                  <a:srgbClr val="1C252B"/>
                </a:solidFill>
                <a:latin typeface="Segoe UI"/>
              </a:rPr>
              <a:t> rather than </a:t>
            </a:r>
            <a:r>
              <a:rPr sz="1800" b="0" i="0">
                <a:solidFill>
                  <a:srgbClr val="1C252B"/>
                </a:solidFill>
                <a:latin typeface="Cambria"/>
              </a:rPr>
              <a:t>O(</a:t>
            </a:r>
            <a:r>
              <a:rPr sz="1800" b="0" i="1">
                <a:solidFill>
                  <a:srgbClr val="1C252B"/>
                </a:solidFill>
                <a:latin typeface="Cambria"/>
              </a:rPr>
              <a:t>n</a:t>
            </a:r>
            <a:r>
              <a:rPr sz="1800" b="0" i="0">
                <a:solidFill>
                  <a:srgbClr val="1C252B"/>
                </a:solidFill>
                <a:latin typeface="Cambria"/>
              </a:rPr>
              <a:t>)</a:t>
            </a:r>
            <a:r>
              <a:rPr sz="1800" b="0" i="0">
                <a:solidFill>
                  <a:srgbClr val="1C252B"/>
                </a:solidFill>
                <a:latin typeface="Segoe UI"/>
              </a:rPr>
              <a:t>.</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648494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§13.4  ·  Handout p. 107     </a:t>
            </a:r>
            <a:fld id="{BD3A030A-E1A0-4DC9-9445-22B42BB2CF50}" type="slidenum">
              <a:rPr lang="en-GB" sz="1000">
                <a:solidFill>
                  <a:srgbClr val="8795A1"/>
                </a:solidFill>
                <a:latin typeface="Segoe UI"/>
              </a:rPr>
              <a:t>26</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Saying “</a:t>
            </a:r>
            <a:r>
              <a:rPr sz="1700" b="1" i="0">
                <a:solidFill>
                  <a:srgbClr val="1C252B"/>
                </a:solidFill>
                <a:latin typeface="Cambria"/>
              </a:rPr>
              <a:t>O(1)</a:t>
            </a:r>
            <a:r>
              <a:rPr sz="1700" b="1" i="0">
                <a:solidFill>
                  <a:srgbClr val="1C252B"/>
                </a:solidFill>
                <a:latin typeface="Segoe UI"/>
              </a:rPr>
              <a:t>” without saying “expected”.</a:t>
            </a:r>
            <a:r>
              <a:rPr sz="1700" b="0" i="0">
                <a:solidFill>
                  <a:srgbClr val="1C252B"/>
                </a:solidFill>
                <a:latin typeface="Segoe UI"/>
              </a:rPr>
              <a:t> The worst case is </a:t>
            </a:r>
            <a:r>
              <a:rPr sz="1700" b="0" i="0">
                <a:solidFill>
                  <a:srgbClr val="1C252B"/>
                </a:solidFill>
                <a:latin typeface="Cambria"/>
              </a:rPr>
              <a:t>Θ(</a:t>
            </a:r>
            <a:r>
              <a:rPr sz="1700" b="0" i="1">
                <a:solidFill>
                  <a:srgbClr val="1C252B"/>
                </a:solidFill>
                <a:latin typeface="Cambria"/>
              </a:rPr>
              <a:t>n</a:t>
            </a:r>
            <a:r>
              <a:rPr sz="1700" b="0" i="0">
                <a:solidFill>
                  <a:srgbClr val="1C252B"/>
                </a:solidFill>
                <a:latin typeface="Cambria"/>
              </a:rPr>
              <a:t>)</a:t>
            </a:r>
            <a:r>
              <a:rPr sz="1700" b="0" i="0">
                <a:solidFill>
                  <a:srgbClr val="1C252B"/>
                </a:solidFill>
                <a:latin typeface="Segoe UI"/>
              </a:rPr>
              <a:t> and it is reachable on purpose.</a:t>
            </a:r>
          </a:p>
        </p:txBody>
      </p:sp>
      <p:sp>
        <p:nvSpPr>
          <p:cNvPr id="10" name="!!pb1">
            <a:extLst>
              <a:ext uri="{C183D7F6-B498-43B3-948B-1728B52AA6E4}">
                <adec:decorative xmlns:adec="http://schemas.microsoft.com/office/drawing/2017/decorative" val="1"/>
              </a:ext>
            </a:extLst>
          </p:cNvPr>
          <p:cNvSpPr/>
          <p:nvPr/>
        </p:nvSpPr>
        <p:spPr>
          <a:xfrm>
            <a:off x="658368" y="232257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34543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304288"/>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1">
                <a:solidFill>
                  <a:srgbClr val="A93226"/>
                </a:solidFill>
                <a:latin typeface="Cambria"/>
              </a:rPr>
              <a:t>k</a:t>
            </a:r>
            <a:r>
              <a:rPr sz="1700" b="1" i="0">
                <a:solidFill>
                  <a:srgbClr val="1C252B"/>
                </a:solidFill>
                <a:latin typeface="Cambria"/>
              </a:rPr>
              <a:t> </a:t>
            </a:r>
            <a:r>
              <a:rPr sz="1700" b="1" i="1">
                <a:solidFill>
                  <a:srgbClr val="1C252B"/>
                </a:solidFill>
                <a:latin typeface="Cambria"/>
              </a:rPr>
              <a:t>m</a:t>
            </a:r>
            <a:r>
              <a:rPr sz="1700" b="1" i="0">
                <a:solidFill>
                  <a:srgbClr val="1C252B"/>
                </a:solidFill>
                <a:latin typeface="Segoe UI"/>
              </a:rPr>
              <a:t> with </a:t>
            </a:r>
            <a:r>
              <a:rPr sz="1700" b="1" i="1">
                <a:solidFill>
                  <a:srgbClr val="1C252B"/>
                </a:solidFill>
                <a:latin typeface="Cambria"/>
              </a:rPr>
              <a:t>m</a:t>
            </a:r>
            <a:r>
              <a:rPr sz="1700" b="1" i="0">
                <a:solidFill>
                  <a:srgbClr val="1C252B"/>
                </a:solidFill>
                <a:latin typeface="Segoe UI"/>
              </a:rPr>
              <a:t> a power of two.</a:t>
            </a:r>
            <a:r>
              <a:rPr sz="1700" b="0" i="0">
                <a:solidFill>
                  <a:srgbClr val="1C252B"/>
                </a:solidFill>
                <a:latin typeface="Segoe UI"/>
              </a:rPr>
              <a:t> Measured: 1.6% of slots used and a 20</a:t>
            </a:r>
            <a:r>
              <a:rPr sz="1700" b="0" i="0">
                <a:solidFill>
                  <a:srgbClr val="1C252B"/>
                </a:solidFill>
                <a:latin typeface="Cambria"/>
              </a:rPr>
              <a:t>×</a:t>
            </a:r>
            <a:r>
              <a:rPr sz="1700" b="0" i="0">
                <a:solidFill>
                  <a:srgbClr val="1C252B"/>
                </a:solidFill>
                <a:latin typeface="Segoe UI"/>
              </a:rPr>
              <a:t> slowdown on keys with a stride of 64.</a:t>
            </a:r>
          </a:p>
        </p:txBody>
      </p:sp>
      <p:sp>
        <p:nvSpPr>
          <p:cNvPr id="13" name="!!pb2">
            <a:extLst>
              <a:ext uri="{C183D7F6-B498-43B3-948B-1728B52AA6E4}">
                <adec:decorative xmlns:adec="http://schemas.microsoft.com/office/drawing/2017/decorative" val="1"/>
              </a:ext>
            </a:extLst>
          </p:cNvPr>
          <p:cNvSpPr/>
          <p:nvPr/>
        </p:nvSpPr>
        <p:spPr>
          <a:xfrm>
            <a:off x="658368" y="306263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08549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044342"/>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Testing only with random keys.</a:t>
            </a:r>
            <a:r>
              <a:rPr sz="1700" b="0" i="0">
                <a:solidFill>
                  <a:srgbClr val="1C252B"/>
                </a:solidFill>
                <a:latin typeface="Segoe UI"/>
              </a:rPr>
              <a:t> Random keys make every hash look good. Real keys have structure; test with yours.</a:t>
            </a:r>
          </a:p>
        </p:txBody>
      </p:sp>
      <p:sp>
        <p:nvSpPr>
          <p:cNvPr id="16" name="!!pb3">
            <a:extLst>
              <a:ext uri="{C183D7F6-B498-43B3-948B-1728B52AA6E4}">
                <adec:decorative xmlns:adec="http://schemas.microsoft.com/office/drawing/2017/decorative" val="1"/>
              </a:ext>
            </a:extLst>
          </p:cNvPr>
          <p:cNvSpPr/>
          <p:nvPr/>
        </p:nvSpPr>
        <p:spPr>
          <a:xfrm>
            <a:off x="658368" y="380268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82554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84396"/>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Treating the assumption as a property of the hash alone.</a:t>
            </a:r>
            <a:r>
              <a:rPr sz="1700" b="0" i="0">
                <a:solidFill>
                  <a:srgbClr val="1C252B"/>
                </a:solidFill>
                <a:latin typeface="Segoe UI"/>
              </a:rPr>
              <a:t> Simple uniform hashing is a claim about the hash </a:t>
            </a:r>
            <a:r>
              <a:rPr sz="1700" b="0" i="1">
                <a:solidFill>
                  <a:srgbClr val="1C252B"/>
                </a:solidFill>
                <a:latin typeface="Segoe UI"/>
              </a:rPr>
              <a:t>and</a:t>
            </a:r>
            <a:r>
              <a:rPr sz="1700" b="0" i="0">
                <a:solidFill>
                  <a:srgbClr val="1C252B"/>
                </a:solidFill>
                <a:latin typeface="Segoe UI"/>
              </a:rPr>
              <a:t> the key distribution together.</a:t>
            </a:r>
          </a:p>
        </p:txBody>
      </p:sp>
      <p:sp>
        <p:nvSpPr>
          <p:cNvPr id="19" name="!!pb4">
            <a:extLst>
              <a:ext uri="{C183D7F6-B498-43B3-948B-1728B52AA6E4}">
                <adec:decorative xmlns:adec="http://schemas.microsoft.com/office/drawing/2017/decorative" val="1"/>
              </a:ext>
            </a:extLst>
          </p:cNvPr>
          <p:cNvSpPr/>
          <p:nvPr/>
        </p:nvSpPr>
        <p:spPr>
          <a:xfrm>
            <a:off x="658368" y="454273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56559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524451"/>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 fixed, public hash on untrusted input.</a:t>
            </a:r>
            <a:r>
              <a:rPr sz="1700" b="0" i="0">
                <a:solidFill>
                  <a:srgbClr val="1C252B"/>
                </a:solidFill>
                <a:latin typeface="Segoe UI"/>
              </a:rPr>
              <a:t> That is the hash flooding vulnerability, measured here at 324</a:t>
            </a:r>
            <a:r>
              <a:rPr sz="1700" b="0" i="0">
                <a:solidFill>
                  <a:srgbClr val="1C252B"/>
                </a:solidFill>
                <a:latin typeface="Cambria"/>
              </a:rPr>
              <a:t>×</a:t>
            </a:r>
            <a:r>
              <a:rPr sz="1700" b="0" i="0">
                <a:solidFill>
                  <a:srgbClr val="1C252B"/>
                </a:solidFill>
                <a:latin typeface="Segoe UI"/>
              </a:rPr>
              <a:t>.</a:t>
            </a:r>
          </a:p>
        </p:txBody>
      </p:sp>
      <p:sp>
        <p:nvSpPr>
          <p:cNvPr id="22" name="!!pb5">
            <a:extLst>
              <a:ext uri="{C183D7F6-B498-43B3-948B-1728B52AA6E4}">
                <adec:decorative xmlns:adec="http://schemas.microsoft.com/office/drawing/2017/decorative" val="1"/>
              </a:ext>
            </a:extLst>
          </p:cNvPr>
          <p:cNvSpPr/>
          <p:nvPr/>
        </p:nvSpPr>
        <p:spPr>
          <a:xfrm>
            <a:off x="658368" y="5109667"/>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13252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091379"/>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Ignoring the maximum chain.</a:t>
            </a:r>
            <a:r>
              <a:rPr sz="1700" b="0" i="0">
                <a:solidFill>
                  <a:srgbClr val="1C252B"/>
                </a:solidFill>
                <a:latin typeface="Segoe UI"/>
              </a:rPr>
              <a:t> Measured 9 with a million keys and a good hash, against a mean of 1.5. Tail latency is not the average.</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674434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§13.4  ·  Handout p. 107     </a:t>
            </a:r>
            <a:fld id="{FFF6D28D-6CD3-4937-BFAA-9648D23B0DC8}" type="slidenum">
              <a:rPr lang="en-GB" sz="1000">
                <a:solidFill>
                  <a:srgbClr val="8795A1"/>
                </a:solidFill>
                <a:latin typeface="Segoe UI"/>
              </a:rPr>
              <a:t>27</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Benchmarking lookups in insertion order.</a:t>
            </a:r>
            <a:r>
              <a:rPr sz="1700" b="0" i="0">
                <a:solidFill>
                  <a:srgbClr val="1C252B"/>
                </a:solidFill>
                <a:latin typeface="Segoe UI"/>
              </a:rPr>
              <a:t> The first draft of this chapter’s experiment did, and reported a flat 1.096 probes at every load factor.</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Forgetting that keeping </a:t>
            </a:r>
            <a:r>
              <a:rPr sz="1700" b="1" i="0">
                <a:solidFill>
                  <a:srgbClr val="1C252B"/>
                </a:solidFill>
                <a:latin typeface="Cambria"/>
              </a:rPr>
              <a:t>α</a:t>
            </a:r>
            <a:r>
              <a:rPr sz="1700" b="1" i="0">
                <a:solidFill>
                  <a:srgbClr val="1C252B"/>
                </a:solidFill>
                <a:latin typeface="Segoe UI"/>
              </a:rPr>
              <a:t> bounded requires resizing</a:t>
            </a:r>
            <a:r>
              <a:rPr sz="1700" b="0" i="0">
                <a:solidFill>
                  <a:srgbClr val="1C252B"/>
                </a:solidFill>
                <a:latin typeface="Segoe UI"/>
              </a:rPr>
              <a:t>, whose cost is amortised — Chapter 17.</a:t>
            </a:r>
          </a:p>
        </p:txBody>
      </p:sp>
      <p:sp>
        <p:nvSpPr>
          <p:cNvPr id="2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pfill">
            <a:extLst>
              <a:ext uri="{C183D7F6-B498-43B3-948B-1728B52AA6E4}">
                <adec:decorative xmlns:adec="http://schemas.microsoft.com/office/drawing/2017/decorative" val="1"/>
              </a:ext>
            </a:extLst>
          </p:cNvPr>
          <p:cNvSpPr/>
          <p:nvPr/>
        </p:nvSpPr>
        <p:spPr>
          <a:xfrm>
            <a:off x="0" y="0"/>
            <a:ext cx="700373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What Voids the Guarantee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§13.4  ·  Handout p. 107     </a:t>
            </a:r>
            <a:fld id="{2D89B960-E9DB-499F-BA39-8ABDB2044E11}" type="slidenum">
              <a:rPr lang="en-GB" sz="1000">
                <a:solidFill>
                  <a:srgbClr val="8795A1"/>
                </a:solidFill>
                <a:latin typeface="Segoe UI"/>
              </a:rPr>
              <a:t>28</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Reproduces all four tables. Expect thirty minutes; part C builds tables holding up to eight million keys.</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1859280"/>
          </a:xfrm>
          <a:prstGeom prst="rect">
            <a:avLst/>
          </a:prstGeom>
          <a:noFill/>
        </p:spPr>
        <p:txBody>
          <a:bodyPr wrap="square" anchor="t" lIns="0" rIns="0" tIns="0" bIns="0">
            <a:noAutofit/>
          </a:bodyPr>
          <a:lstStyle/>
          <a:p>
            <a:pPr algn="l" marL="404250" indent="-404250">
              <a:lnSpc>
                <a:spcPct val="100000"/>
              </a:lnSpc>
              <a:spcBef>
                <a:spcPts val="0"/>
              </a:spcBef>
              <a:spcAft>
                <a:spcPts val="480"/>
              </a:spcAft>
            </a:pPr>
            <a:r>
              <a:rPr sz="1600" b="1">
                <a:solidFill>
                  <a:srgbClr val="117A65"/>
                </a:solidFill>
                <a:latin typeface="Segoe UI"/>
              </a:rPr>
              <a:t>1.	</a:t>
            </a:r>
            <a:r>
              <a:rPr sz="1600" b="0" i="0">
                <a:solidFill>
                  <a:srgbClr val="1C252B"/>
                </a:solidFill>
                <a:latin typeface="Segoe UI"/>
              </a:rPr>
              <a:t>A chaining hash table, as plainly as possible</a:t>
            </a:r>
          </a:p>
          <a:p>
            <a:pPr algn="l" marL="404250" indent="-404250">
              <a:lnSpc>
                <a:spcPct val="100000"/>
              </a:lnSpc>
              <a:spcBef>
                <a:spcPts val="0"/>
              </a:spcBef>
              <a:spcAft>
                <a:spcPts val="480"/>
              </a:spcAft>
            </a:pPr>
            <a:r>
              <a:rPr sz="1600" b="1">
                <a:solidFill>
                  <a:srgbClr val="117A65"/>
                </a:solidFill>
                <a:latin typeface="Segoe UI"/>
              </a:rPr>
              <a:t>2.	</a:t>
            </a:r>
            <a:r>
              <a:rPr sz="1600" b="0" i="0">
                <a:solidFill>
                  <a:srgbClr val="1C252B"/>
                </a:solidFill>
                <a:latin typeface="Segoe UI"/>
              </a:rPr>
              <a:t>Two hash functions, both entirely reasonable</a:t>
            </a:r>
          </a:p>
          <a:p>
            <a:pPr algn="l" marL="404250" indent="-404250">
              <a:lnSpc>
                <a:spcPct val="100000"/>
              </a:lnSpc>
              <a:spcBef>
                <a:spcPts val="0"/>
              </a:spcBef>
              <a:spcAft>
                <a:spcPts val="480"/>
              </a:spcAft>
            </a:pPr>
            <a:r>
              <a:rPr sz="1600" b="1">
                <a:solidFill>
                  <a:srgbClr val="117A65"/>
                </a:solidFill>
                <a:latin typeface="Segoe UI"/>
              </a:rPr>
              <a:t>3.	</a:t>
            </a:r>
            <a:r>
              <a:rPr sz="1600" b="0" i="0">
                <a:solidFill>
                  <a:srgbClr val="1C252B"/>
                </a:solidFill>
                <a:latin typeface="Segoe UI"/>
              </a:rPr>
              <a:t>The distribution the analysis assumes</a:t>
            </a:r>
          </a:p>
          <a:p>
            <a:pPr algn="l" marL="404250" indent="-404250">
              <a:lnSpc>
                <a:spcPct val="100000"/>
              </a:lnSpc>
              <a:spcBef>
                <a:spcPts val="0"/>
              </a:spcBef>
              <a:spcAft>
                <a:spcPts val="480"/>
              </a:spcAft>
            </a:pPr>
            <a:r>
              <a:rPr sz="1600" b="1">
                <a:solidFill>
                  <a:srgbClr val="117A65"/>
                </a:solidFill>
                <a:latin typeface="Segoe UI"/>
              </a:rPr>
              <a:t>4.	</a:t>
            </a:r>
            <a:r>
              <a:rPr sz="1600" b="0" i="0">
                <a:solidFill>
                  <a:srgbClr val="1C252B"/>
                </a:solidFill>
                <a:latin typeface="Segoe UI"/>
              </a:rPr>
              <a:t>The same keys, a hash that meets the data's structure</a:t>
            </a:r>
          </a:p>
          <a:p>
            <a:pPr algn="l" marL="404250" indent="-404250">
              <a:lnSpc>
                <a:spcPct val="100000"/>
              </a:lnSpc>
              <a:spcBef>
                <a:spcPts val="0"/>
              </a:spcBef>
              <a:spcAft>
                <a:spcPts val="480"/>
              </a:spcAft>
            </a:pPr>
            <a:r>
              <a:rPr sz="1600" b="1">
                <a:solidFill>
                  <a:srgbClr val="117A65"/>
                </a:solidFill>
                <a:latin typeface="Segoe UI"/>
              </a:rPr>
              <a:t>5.	</a:t>
            </a:r>
            <a:r>
              <a:rPr sz="1600" b="0" i="0">
                <a:solidFill>
                  <a:srgbClr val="1C252B"/>
                </a:solidFill>
                <a:latin typeface="Segoe UI"/>
              </a:rPr>
              <a:t>Load factor is the one knob you actually turn</a:t>
            </a:r>
          </a:p>
          <a:p>
            <a:pPr algn="l" marL="404250" indent="-404250">
              <a:lnSpc>
                <a:spcPct val="100000"/>
              </a:lnSpc>
              <a:spcBef>
                <a:spcPts val="0"/>
              </a:spcBef>
              <a:spcAft>
                <a:spcPts val="0"/>
              </a:spcAft>
            </a:pPr>
            <a:r>
              <a:rPr sz="1600" b="1">
                <a:solidFill>
                  <a:srgbClr val="117A65"/>
                </a:solidFill>
                <a:latin typeface="Segoe UI"/>
              </a:rPr>
              <a:t>6.	</a:t>
            </a:r>
            <a:r>
              <a:rPr sz="1600" b="0" i="0">
                <a:solidFill>
                  <a:srgbClr val="1C252B"/>
                </a:solidFill>
                <a:latin typeface="Segoe UI"/>
              </a:rPr>
              <a:t>An adversary, who does not need to be clever</a:t>
            </a:r>
          </a:p>
        </p:txBody>
      </p:sp>
      <p:sp>
        <p:nvSpPr>
          <p:cNvPr id="34"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37"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9: A hash table degrading under a poor hash</a:t>
            </a:r>
          </a:p>
        </p:txBody>
      </p:sp>
      <p:sp>
        <p:nvSpPr>
          <p:cNvPr id="38"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41"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49 lines of C++</a:t>
            </a:r>
          </a:p>
        </p:txBody>
      </p:sp>
      <p:sp>
        <p:nvSpPr>
          <p:cNvPr id="42"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45"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code/ch13_hashing.cpp</a:t>
            </a:r>
          </a:p>
        </p:txBody>
      </p:sp>
      <p:sp>
        <p:nvSpPr>
          <p:cNvPr id="4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pfill">
            <a:extLst>
              <a:ext uri="{C183D7F6-B498-43B3-948B-1728B52AA6E4}">
                <adec:decorative xmlns:adec="http://schemas.microsoft.com/office/drawing/2017/decorative" val="1"/>
              </a:ext>
            </a:extLst>
          </p:cNvPr>
          <p:cNvSpPr/>
          <p:nvPr/>
        </p:nvSpPr>
        <p:spPr>
          <a:xfrm>
            <a:off x="0" y="0"/>
            <a:ext cx="726313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What Voids the Guarantee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§13.4  ·  Handout p. 107     </a:t>
            </a:r>
            <a:fld id="{AD44D07E-A0A7-4289-AB95-6659FBAD6B52}"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chaining hash table, as plainly as possible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340863"/>
          </a:xfrm>
          <a:prstGeom prst="roundRect">
            <a:avLst>
              <a:gd name="adj" fmla="val 39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code/ch13_hashing.cpp</a:t>
            </a:r>
          </a:p>
        </p:txBody>
      </p:sp>
      <p:sp>
        <p:nvSpPr>
          <p:cNvPr id="14" name="!!code-text" descr="// ch13_hashing.cpp -- what O(1) actually promises, and what voids it. // Build: cl /O2 /EHsc /std:c++17 ch13_hashing.cpp (see Appendix A) // --- 1. A chaining hash table, as plainly as possible -------------- // Buckets of vectors. No resizing, no tricks: the table size is fixed // so the load factor is exactly what the experiment says it is."/>
          <p:cNvSpPr txBox="1"/>
          <p:nvPr/>
        </p:nvSpPr>
        <p:spPr>
          <a:xfrm>
            <a:off x="1362456" y="2523744"/>
            <a:ext cx="9987991" cy="18470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ch13_hashing.cpp -- what O(1) actually promises, and what voids it.</a:t>
            </a:r>
          </a:p>
          <a:p>
            <a:pPr>
              <a:lnSpc>
                <a:spcPct val="100000"/>
              </a:lnSpc>
              <a:spcAft>
                <a:spcPts val="0"/>
              </a:spcAft>
            </a:pPr>
            <a:r>
              <a:rPr sz="1900" i="1">
                <a:solidFill>
                  <a:srgbClr val="8795A1"/>
                </a:solidFill>
                <a:latin typeface="Consolas"/>
              </a:rPr>
              <a:t>// Build: cl /O2 /EHsc /std:c++17 ch13_hashing.cpp    (see Appendix A)</a:t>
            </a:r>
          </a:p>
          <a:p>
            <a:pPr>
              <a:lnSpc>
                <a:spcPct val="100000"/>
              </a:lnSpc>
              <a:spcAft>
                <a:spcPts val="0"/>
              </a:spcAft>
            </a:pPr>
            <a:r>
              <a:rPr sz="1900">
                <a:latin typeface="Consolas"/>
              </a:rPr>
              <a:t> </a:t>
            </a:r>
          </a:p>
          <a:p>
            <a:pPr>
              <a:lnSpc>
                <a:spcPct val="100000"/>
              </a:lnSpc>
              <a:spcAft>
                <a:spcPts val="0"/>
              </a:spcAft>
            </a:pPr>
            <a:r>
              <a:rPr sz="1900" i="1">
                <a:solidFill>
                  <a:srgbClr val="8795A1"/>
                </a:solidFill>
                <a:latin typeface="Consolas"/>
              </a:rPr>
              <a:t>// --- 1. A chaining hash table, as plainly as possible --------------</a:t>
            </a:r>
          </a:p>
          <a:p>
            <a:pPr>
              <a:lnSpc>
                <a:spcPct val="100000"/>
              </a:lnSpc>
              <a:spcAft>
                <a:spcPts val="0"/>
              </a:spcAft>
            </a:pPr>
            <a:r>
              <a:rPr sz="1900" i="1">
                <a:solidFill>
                  <a:srgbClr val="8795A1"/>
                </a:solidFill>
                <a:latin typeface="Consolas"/>
              </a:rPr>
              <a:t>// Buckets of vectors. No resizing, no tricks: the table size is fixed</a:t>
            </a:r>
          </a:p>
          <a:p>
            <a:pPr>
              <a:lnSpc>
                <a:spcPct val="100000"/>
              </a:lnSpc>
              <a:spcAft>
                <a:spcPts val="0"/>
              </a:spcAft>
            </a:pPr>
            <a:r>
              <a:rPr sz="1900" i="1">
                <a:solidFill>
                  <a:srgbClr val="8795A1"/>
                </a:solidFill>
                <a:latin typeface="Consolas"/>
              </a:rPr>
              <a:t>// so the load factor is exactly what the experiment says it is.</a:t>
            </a:r>
          </a:p>
        </p:txBody>
      </p:sp>
      <p:sp>
        <p:nvSpPr>
          <p:cNvPr id="15" name="!!code-num"/>
          <p:cNvSpPr txBox="1"/>
          <p:nvPr/>
        </p:nvSpPr>
        <p:spPr>
          <a:xfrm>
            <a:off x="768096" y="2523744"/>
            <a:ext cx="393192" cy="18470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a:t>
            </a:r>
          </a:p>
          <a:p>
            <a:pPr algn="r">
              <a:lnSpc>
                <a:spcPct val="100000"/>
              </a:lnSpc>
            </a:pPr>
            <a:r>
              <a:rPr sz="1900">
                <a:solidFill>
                  <a:srgbClr val="4F5D6A"/>
                </a:solidFill>
                <a:latin typeface="Consolas"/>
              </a:rPr>
              <a:t>2</a:t>
            </a:r>
          </a:p>
          <a:p>
            <a:pPr algn="r">
              <a:lnSpc>
                <a:spcPct val="100000"/>
              </a:lnSpc>
            </a:pPr>
            <a:r>
              <a:rPr sz="1900">
                <a:solidFill>
                  <a:srgbClr val="4F5D6A"/>
                </a:solidFill>
                <a:latin typeface="Consolas"/>
              </a:rPr>
              <a:t>3</a:t>
            </a:r>
          </a:p>
          <a:p>
            <a:pPr algn="r">
              <a:lnSpc>
                <a:spcPct val="100000"/>
              </a:lnSpc>
            </a:pPr>
            <a:r>
              <a:rPr sz="1900">
                <a:solidFill>
                  <a:srgbClr val="4F5D6A"/>
                </a:solidFill>
                <a:latin typeface="Consolas"/>
              </a:rPr>
              <a:t>4</a:t>
            </a:r>
          </a:p>
          <a:p>
            <a:pPr algn="r">
              <a:lnSpc>
                <a:spcPct val="100000"/>
              </a:lnSpc>
            </a:pPr>
            <a:r>
              <a:rPr sz="1900">
                <a:solidFill>
                  <a:srgbClr val="4F5D6A"/>
                </a:solidFill>
                <a:latin typeface="Consolas"/>
              </a:rPr>
              <a:t>5</a:t>
            </a:r>
          </a:p>
          <a:p>
            <a:pPr algn="r">
              <a:lnSpc>
                <a:spcPct val="100000"/>
              </a:lnSpc>
            </a:pPr>
            <a:r>
              <a:rPr sz="1900">
                <a:solidFill>
                  <a:srgbClr val="4F5D6A"/>
                </a:solidFill>
                <a:latin typeface="Consolas"/>
              </a:rPr>
              <a:t>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52253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What Voids the Guarantee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§13.4  ·  Handout p. 107     </a:t>
            </a:r>
            <a:fld id="{1BDF0831-923B-49C0-94AB-32F0BBCB3FAE}"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Two hash functions, both entirely reasonable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code/ch13_hashing.cpp</a:t>
            </a:r>
          </a:p>
        </p:txBody>
      </p:sp>
      <p:sp>
        <p:nvSpPr>
          <p:cNvPr id="14" name="!!code-text" descr="// --- 2. Two hash functions, both entirely reasonable --------------- // &quot;Modulo the table size&quot; is the textbook division method and what // most people write first. It is fine when the table size is prime // and the keys unstructured, and catastrophic when the keys share a // factor with the table size. static unsigned h_mod(unsigned k, unsigned m) { return k % m; } // A multiplicative mix (MurmurHash3's finaliser). It destroys // structure in the key before taking the modulus, which is the whole // job of a hash function. static unsigned h_mix(unsigned k, unsigned m) { k ^= k &gt;&gt; 16; k *= 0x85ebca6bu; k ^= k &gt;&gt; 13; k *= 0xc2b2ae35u; k ^= k &gt;&gt; 16; return k % m; }"/>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400" i="1">
                <a:solidFill>
                  <a:srgbClr val="8795A1"/>
                </a:solidFill>
                <a:latin typeface="Consolas"/>
              </a:rPr>
              <a:t>// --- 2. Two hash functions, both entirely reasonable ---------------</a:t>
            </a:r>
          </a:p>
          <a:p>
            <a:pPr>
              <a:lnSpc>
                <a:spcPct val="100000"/>
              </a:lnSpc>
              <a:spcAft>
                <a:spcPts val="0"/>
              </a:spcAft>
            </a:pPr>
            <a:r>
              <a:rPr sz="1400" i="1">
                <a:solidFill>
                  <a:srgbClr val="8795A1"/>
                </a:solidFill>
                <a:latin typeface="Consolas"/>
              </a:rPr>
              <a:t>// "Modulo the table size" is the textbook division method and what</a:t>
            </a:r>
          </a:p>
          <a:p>
            <a:pPr>
              <a:lnSpc>
                <a:spcPct val="100000"/>
              </a:lnSpc>
              <a:spcAft>
                <a:spcPts val="0"/>
              </a:spcAft>
            </a:pPr>
            <a:r>
              <a:rPr sz="1400" i="1">
                <a:solidFill>
                  <a:srgbClr val="8795A1"/>
                </a:solidFill>
                <a:latin typeface="Consolas"/>
              </a:rPr>
              <a:t>// most people write first. It is fine when the table size is prime</a:t>
            </a:r>
          </a:p>
          <a:p>
            <a:pPr>
              <a:lnSpc>
                <a:spcPct val="100000"/>
              </a:lnSpc>
              <a:spcAft>
                <a:spcPts val="0"/>
              </a:spcAft>
            </a:pPr>
            <a:r>
              <a:rPr sz="1400" i="1">
                <a:solidFill>
                  <a:srgbClr val="8795A1"/>
                </a:solidFill>
                <a:latin typeface="Consolas"/>
              </a:rPr>
              <a:t>// and the keys unstructured, and catastrophic when the keys share a</a:t>
            </a:r>
          </a:p>
          <a:p>
            <a:pPr>
              <a:lnSpc>
                <a:spcPct val="100000"/>
              </a:lnSpc>
              <a:spcAft>
                <a:spcPts val="0"/>
              </a:spcAft>
            </a:pPr>
            <a:r>
              <a:rPr sz="1400" i="1">
                <a:solidFill>
                  <a:srgbClr val="8795A1"/>
                </a:solidFill>
                <a:latin typeface="Consolas"/>
              </a:rPr>
              <a:t>// factor with the table size.</a:t>
            </a:r>
          </a:p>
          <a:p>
            <a:pPr>
              <a:lnSpc>
                <a:spcPct val="100000"/>
              </a:lnSpc>
              <a:spcAft>
                <a:spcPts val="0"/>
              </a:spcAft>
            </a:pPr>
            <a:r>
              <a:rPr sz="1400" i="0">
                <a:solidFill>
                  <a:srgbClr val="5DADE2"/>
                </a:solidFill>
                <a:latin typeface="Consolas"/>
              </a:rPr>
              <a:t>static</a:t>
            </a:r>
            <a:r>
              <a:rPr sz="1400" i="0">
                <a:solidFill>
                  <a:srgbClr val="E8EDF2"/>
                </a:solidFill>
                <a:latin typeface="Consolas"/>
              </a:rPr>
              <a:t> </a:t>
            </a:r>
            <a:r>
              <a:rPr sz="1400" i="0">
                <a:solidFill>
                  <a:srgbClr val="5DADE2"/>
                </a:solidFill>
                <a:latin typeface="Consolas"/>
              </a:rPr>
              <a:t>unsigned</a:t>
            </a:r>
            <a:r>
              <a:rPr sz="1400" i="0">
                <a:solidFill>
                  <a:srgbClr val="E8EDF2"/>
                </a:solidFill>
                <a:latin typeface="Consolas"/>
              </a:rPr>
              <a:t> </a:t>
            </a:r>
            <a:r>
              <a:rPr sz="1400" i="0">
                <a:solidFill>
                  <a:srgbClr val="C39BD3"/>
                </a:solidFill>
                <a:latin typeface="Consolas"/>
              </a:rPr>
              <a:t>h_mod</a:t>
            </a:r>
            <a:r>
              <a:rPr sz="1400" i="0">
                <a:solidFill>
                  <a:srgbClr val="AEB6BF"/>
                </a:solidFill>
                <a:latin typeface="Consolas"/>
              </a:rPr>
              <a:t>(</a:t>
            </a:r>
            <a:r>
              <a:rPr sz="1400" i="0">
                <a:solidFill>
                  <a:srgbClr val="5DADE2"/>
                </a:solidFill>
                <a:latin typeface="Consolas"/>
              </a:rPr>
              <a:t>unsigned</a:t>
            </a:r>
            <a:r>
              <a:rPr sz="1400" i="0">
                <a:solidFill>
                  <a:srgbClr val="E8EDF2"/>
                </a:solidFill>
                <a:latin typeface="Consolas"/>
              </a:rPr>
              <a:t> </a:t>
            </a:r>
            <a:r>
              <a:rPr sz="1400" i="0">
                <a:solidFill>
                  <a:srgbClr val="E8EDF2"/>
                </a:solidFill>
                <a:latin typeface="Consolas"/>
              </a:rPr>
              <a:t>k</a:t>
            </a:r>
            <a:r>
              <a:rPr sz="1400" i="0">
                <a:solidFill>
                  <a:srgbClr val="AEB6BF"/>
                </a:solidFill>
                <a:latin typeface="Consolas"/>
              </a:rPr>
              <a:t>,</a:t>
            </a:r>
            <a:r>
              <a:rPr sz="1400" i="0">
                <a:solidFill>
                  <a:srgbClr val="E8EDF2"/>
                </a:solidFill>
                <a:latin typeface="Consolas"/>
              </a:rPr>
              <a:t> </a:t>
            </a:r>
            <a:r>
              <a:rPr sz="1400" i="0">
                <a:solidFill>
                  <a:srgbClr val="5DADE2"/>
                </a:solidFill>
                <a:latin typeface="Consolas"/>
              </a:rPr>
              <a:t>unsigned</a:t>
            </a:r>
            <a:r>
              <a:rPr sz="1400" i="0">
                <a:solidFill>
                  <a:srgbClr val="E8EDF2"/>
                </a:solidFill>
                <a:latin typeface="Consolas"/>
              </a:rPr>
              <a:t> </a:t>
            </a:r>
            <a:r>
              <a:rPr sz="1400" i="0">
                <a:solidFill>
                  <a:srgbClr val="E8EDF2"/>
                </a:solidFill>
                <a:latin typeface="Consolas"/>
              </a:rPr>
              <a:t>m</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E8EDF2"/>
                </a:solidFill>
                <a:latin typeface="Consolas"/>
              </a:rPr>
              <a:t>k</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m</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p>
          <a:p>
            <a:pPr>
              <a:lnSpc>
                <a:spcPct val="100000"/>
              </a:lnSpc>
              <a:spcAft>
                <a:spcPts val="0"/>
              </a:spcAft>
            </a:pPr>
            <a:r>
              <a:rPr sz="1400">
                <a:latin typeface="Consolas"/>
              </a:rPr>
              <a:t> </a:t>
            </a:r>
          </a:p>
          <a:p>
            <a:pPr>
              <a:lnSpc>
                <a:spcPct val="100000"/>
              </a:lnSpc>
              <a:spcAft>
                <a:spcPts val="0"/>
              </a:spcAft>
            </a:pPr>
            <a:r>
              <a:rPr sz="1400" i="1">
                <a:solidFill>
                  <a:srgbClr val="8795A1"/>
                </a:solidFill>
                <a:latin typeface="Consolas"/>
              </a:rPr>
              <a:t>// A multiplicative mix (MurmurHash3's finaliser). It destroys</a:t>
            </a:r>
          </a:p>
          <a:p>
            <a:pPr>
              <a:lnSpc>
                <a:spcPct val="100000"/>
              </a:lnSpc>
              <a:spcAft>
                <a:spcPts val="0"/>
              </a:spcAft>
            </a:pPr>
            <a:r>
              <a:rPr sz="1400" i="1">
                <a:solidFill>
                  <a:srgbClr val="8795A1"/>
                </a:solidFill>
                <a:latin typeface="Consolas"/>
              </a:rPr>
              <a:t>// structure in the key before taking the modulus, which is the whole</a:t>
            </a:r>
          </a:p>
          <a:p>
            <a:pPr>
              <a:lnSpc>
                <a:spcPct val="100000"/>
              </a:lnSpc>
              <a:spcAft>
                <a:spcPts val="0"/>
              </a:spcAft>
            </a:pPr>
            <a:r>
              <a:rPr sz="1400" i="1">
                <a:solidFill>
                  <a:srgbClr val="8795A1"/>
                </a:solidFill>
                <a:latin typeface="Consolas"/>
              </a:rPr>
              <a:t>// job of a hash function.</a:t>
            </a:r>
          </a:p>
          <a:p>
            <a:pPr>
              <a:lnSpc>
                <a:spcPct val="100000"/>
              </a:lnSpc>
              <a:spcAft>
                <a:spcPts val="0"/>
              </a:spcAft>
            </a:pPr>
            <a:r>
              <a:rPr sz="1400" i="0">
                <a:solidFill>
                  <a:srgbClr val="5DADE2"/>
                </a:solidFill>
                <a:latin typeface="Consolas"/>
              </a:rPr>
              <a:t>static</a:t>
            </a:r>
            <a:r>
              <a:rPr sz="1400" i="0">
                <a:solidFill>
                  <a:srgbClr val="E8EDF2"/>
                </a:solidFill>
                <a:latin typeface="Consolas"/>
              </a:rPr>
              <a:t> </a:t>
            </a:r>
            <a:r>
              <a:rPr sz="1400" i="0">
                <a:solidFill>
                  <a:srgbClr val="5DADE2"/>
                </a:solidFill>
                <a:latin typeface="Consolas"/>
              </a:rPr>
              <a:t>unsigned</a:t>
            </a:r>
            <a:r>
              <a:rPr sz="1400" i="0">
                <a:solidFill>
                  <a:srgbClr val="E8EDF2"/>
                </a:solidFill>
                <a:latin typeface="Consolas"/>
              </a:rPr>
              <a:t> </a:t>
            </a:r>
            <a:r>
              <a:rPr sz="1400" i="0">
                <a:solidFill>
                  <a:srgbClr val="C39BD3"/>
                </a:solidFill>
                <a:latin typeface="Consolas"/>
              </a:rPr>
              <a:t>h_mix</a:t>
            </a:r>
            <a:r>
              <a:rPr sz="1400" i="0">
                <a:solidFill>
                  <a:srgbClr val="AEB6BF"/>
                </a:solidFill>
                <a:latin typeface="Consolas"/>
              </a:rPr>
              <a:t>(</a:t>
            </a:r>
            <a:r>
              <a:rPr sz="1400" i="0">
                <a:solidFill>
                  <a:srgbClr val="5DADE2"/>
                </a:solidFill>
                <a:latin typeface="Consolas"/>
              </a:rPr>
              <a:t>unsigned</a:t>
            </a:r>
            <a:r>
              <a:rPr sz="1400" i="0">
                <a:solidFill>
                  <a:srgbClr val="E8EDF2"/>
                </a:solidFill>
                <a:latin typeface="Consolas"/>
              </a:rPr>
              <a:t> </a:t>
            </a:r>
            <a:r>
              <a:rPr sz="1400" i="0">
                <a:solidFill>
                  <a:srgbClr val="E8EDF2"/>
                </a:solidFill>
                <a:latin typeface="Consolas"/>
              </a:rPr>
              <a:t>k</a:t>
            </a:r>
            <a:r>
              <a:rPr sz="1400" i="0">
                <a:solidFill>
                  <a:srgbClr val="AEB6BF"/>
                </a:solidFill>
                <a:latin typeface="Consolas"/>
              </a:rPr>
              <a:t>,</a:t>
            </a:r>
            <a:r>
              <a:rPr sz="1400" i="0">
                <a:solidFill>
                  <a:srgbClr val="E8EDF2"/>
                </a:solidFill>
                <a:latin typeface="Consolas"/>
              </a:rPr>
              <a:t> </a:t>
            </a:r>
            <a:r>
              <a:rPr sz="1400" i="0">
                <a:solidFill>
                  <a:srgbClr val="5DADE2"/>
                </a:solidFill>
                <a:latin typeface="Consolas"/>
              </a:rPr>
              <a:t>unsigned</a:t>
            </a:r>
            <a:r>
              <a:rPr sz="1400" i="0">
                <a:solidFill>
                  <a:srgbClr val="E8EDF2"/>
                </a:solidFill>
                <a:latin typeface="Consolas"/>
              </a:rPr>
              <a:t> </a:t>
            </a:r>
            <a:r>
              <a:rPr sz="1400" i="0">
                <a:solidFill>
                  <a:srgbClr val="E8EDF2"/>
                </a:solidFill>
                <a:latin typeface="Consolas"/>
              </a:rPr>
              <a:t>m</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k</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k</a:t>
            </a:r>
            <a:r>
              <a:rPr sz="1400" i="0">
                <a:solidFill>
                  <a:srgbClr val="E8EDF2"/>
                </a:solidFill>
                <a:latin typeface="Consolas"/>
              </a:rPr>
              <a:t> </a:t>
            </a:r>
            <a:r>
              <a:rPr sz="1400" i="0">
                <a:solidFill>
                  <a:srgbClr val="AEB6BF"/>
                </a:solidFill>
                <a:latin typeface="Consolas"/>
              </a:rPr>
              <a:t>&gt;</a:t>
            </a:r>
            <a:r>
              <a:rPr sz="1400" i="0">
                <a:solidFill>
                  <a:srgbClr val="AEB6BF"/>
                </a:solidFill>
                <a:latin typeface="Consolas"/>
              </a:rPr>
              <a:t>&gt;</a:t>
            </a:r>
            <a:r>
              <a:rPr sz="1400" i="0">
                <a:solidFill>
                  <a:srgbClr val="E8EDF2"/>
                </a:solidFill>
                <a:latin typeface="Consolas"/>
              </a:rPr>
              <a:t> </a:t>
            </a:r>
            <a:r>
              <a:rPr sz="1400" i="0">
                <a:solidFill>
                  <a:srgbClr val="F7DC6F"/>
                </a:solidFill>
                <a:latin typeface="Consolas"/>
              </a:rPr>
              <a:t>16</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k</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0x85ebca6bu</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k</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k</a:t>
            </a:r>
            <a:r>
              <a:rPr sz="1400" i="0">
                <a:solidFill>
                  <a:srgbClr val="E8EDF2"/>
                </a:solidFill>
                <a:latin typeface="Consolas"/>
              </a:rPr>
              <a:t> </a:t>
            </a:r>
            <a:r>
              <a:rPr sz="1400" i="0">
                <a:solidFill>
                  <a:srgbClr val="AEB6BF"/>
                </a:solidFill>
                <a:latin typeface="Consolas"/>
              </a:rPr>
              <a:t>&gt;</a:t>
            </a:r>
            <a:r>
              <a:rPr sz="1400" i="0">
                <a:solidFill>
                  <a:srgbClr val="AEB6BF"/>
                </a:solidFill>
                <a:latin typeface="Consolas"/>
              </a:rPr>
              <a:t>&gt;</a:t>
            </a:r>
            <a:r>
              <a:rPr sz="1400" i="0">
                <a:solidFill>
                  <a:srgbClr val="E8EDF2"/>
                </a:solidFill>
                <a:latin typeface="Consolas"/>
              </a:rPr>
              <a:t> </a:t>
            </a:r>
            <a:r>
              <a:rPr sz="1400" i="0">
                <a:solidFill>
                  <a:srgbClr val="F7DC6F"/>
                </a:solidFill>
                <a:latin typeface="Consolas"/>
              </a:rPr>
              <a:t>13</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k</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0xc2b2ae35u</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k</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k</a:t>
            </a:r>
            <a:r>
              <a:rPr sz="1400" i="0">
                <a:solidFill>
                  <a:srgbClr val="E8EDF2"/>
                </a:solidFill>
                <a:latin typeface="Consolas"/>
              </a:rPr>
              <a:t> </a:t>
            </a:r>
            <a:r>
              <a:rPr sz="1400" i="0">
                <a:solidFill>
                  <a:srgbClr val="AEB6BF"/>
                </a:solidFill>
                <a:latin typeface="Consolas"/>
              </a:rPr>
              <a:t>&gt;</a:t>
            </a:r>
            <a:r>
              <a:rPr sz="1400" i="0">
                <a:solidFill>
                  <a:srgbClr val="AEB6BF"/>
                </a:solidFill>
                <a:latin typeface="Consolas"/>
              </a:rPr>
              <a:t>&gt;</a:t>
            </a:r>
            <a:r>
              <a:rPr sz="1400" i="0">
                <a:solidFill>
                  <a:srgbClr val="E8EDF2"/>
                </a:solidFill>
                <a:latin typeface="Consolas"/>
              </a:rPr>
              <a:t> </a:t>
            </a:r>
            <a:r>
              <a:rPr sz="1400" i="0">
                <a:solidFill>
                  <a:srgbClr val="F7DC6F"/>
                </a:solidFill>
                <a:latin typeface="Consolas"/>
              </a:rPr>
              <a:t>16</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E8EDF2"/>
                </a:solidFill>
                <a:latin typeface="Consolas"/>
              </a:rPr>
              <a:t>k</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m</a:t>
            </a:r>
            <a:r>
              <a:rPr sz="1400" i="0">
                <a:solidFill>
                  <a:srgbClr val="AEB6BF"/>
                </a:solidFill>
                <a:latin typeface="Consolas"/>
              </a:rPr>
              <a:t>;</a:t>
            </a:r>
          </a:p>
          <a:p>
            <a:pPr>
              <a:lnSpc>
                <a:spcPct val="100000"/>
              </a:lnSpc>
              <a:spcAft>
                <a:spcPts val="0"/>
              </a:spcAft>
            </a:pPr>
            <a:r>
              <a:rPr sz="1400" i="0">
                <a:solidFill>
                  <a:srgbClr val="AEB6BF"/>
                </a:solidFill>
                <a:latin typeface="Consolas"/>
              </a:rPr>
              <a:t>}</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8</a:t>
            </a:r>
          </a:p>
          <a:p>
            <a:pPr algn="r">
              <a:lnSpc>
                <a:spcPct val="100000"/>
              </a:lnSpc>
            </a:pPr>
            <a:r>
              <a:rPr sz="1400">
                <a:solidFill>
                  <a:srgbClr val="4F5D6A"/>
                </a:solidFill>
                <a:latin typeface="Consolas"/>
              </a:rPr>
              <a:t>9</a:t>
            </a:r>
          </a:p>
          <a:p>
            <a:pPr algn="r">
              <a:lnSpc>
                <a:spcPct val="100000"/>
              </a:lnSpc>
            </a:pPr>
            <a:r>
              <a:rPr sz="1400">
                <a:solidFill>
                  <a:srgbClr val="4F5D6A"/>
                </a:solidFill>
                <a:latin typeface="Consolas"/>
              </a:rPr>
              <a:t>10</a:t>
            </a:r>
          </a:p>
          <a:p>
            <a:pPr algn="r">
              <a:lnSpc>
                <a:spcPct val="100000"/>
              </a:lnSpc>
            </a:pPr>
            <a:r>
              <a:rPr sz="1400">
                <a:solidFill>
                  <a:srgbClr val="4F5D6A"/>
                </a:solidFill>
                <a:latin typeface="Consolas"/>
              </a:rPr>
              <a:t>11</a:t>
            </a:r>
          </a:p>
          <a:p>
            <a:pPr algn="r">
              <a:lnSpc>
                <a:spcPct val="100000"/>
              </a:lnSpc>
            </a:pPr>
            <a:r>
              <a:rPr sz="1400">
                <a:solidFill>
                  <a:srgbClr val="4F5D6A"/>
                </a:solidFill>
                <a:latin typeface="Consolas"/>
              </a:rPr>
              <a:t>12</a:t>
            </a:r>
          </a:p>
          <a:p>
            <a:pPr algn="r">
              <a:lnSpc>
                <a:spcPct val="100000"/>
              </a:lnSpc>
            </a:pPr>
            <a:r>
              <a:rPr sz="1400">
                <a:solidFill>
                  <a:srgbClr val="4F5D6A"/>
                </a:solidFill>
                <a:latin typeface="Consolas"/>
              </a:rPr>
              <a:t>13</a:t>
            </a:r>
          </a:p>
          <a:p>
            <a:pPr algn="r">
              <a:lnSpc>
                <a:spcPct val="100000"/>
              </a:lnSpc>
            </a:pPr>
            <a:r>
              <a:rPr sz="1400">
                <a:solidFill>
                  <a:srgbClr val="4F5D6A"/>
                </a:solidFill>
                <a:latin typeface="Consolas"/>
              </a:rPr>
              <a:t>14</a:t>
            </a:r>
          </a:p>
          <a:p>
            <a:pPr algn="r">
              <a:lnSpc>
                <a:spcPct val="100000"/>
              </a:lnSpc>
            </a:pPr>
            <a:r>
              <a:rPr sz="1400">
                <a:solidFill>
                  <a:srgbClr val="4F5D6A"/>
                </a:solidFill>
                <a:latin typeface="Consolas"/>
              </a:rPr>
              <a:t>15</a:t>
            </a:r>
          </a:p>
          <a:p>
            <a:pPr algn="r">
              <a:lnSpc>
                <a:spcPct val="100000"/>
              </a:lnSpc>
            </a:pPr>
            <a:r>
              <a:rPr sz="1400">
                <a:solidFill>
                  <a:srgbClr val="4F5D6A"/>
                </a:solidFill>
                <a:latin typeface="Consolas"/>
              </a:rPr>
              <a:t>16</a:t>
            </a:r>
          </a:p>
          <a:p>
            <a:pPr algn="r">
              <a:lnSpc>
                <a:spcPct val="100000"/>
              </a:lnSpc>
            </a:pPr>
            <a:r>
              <a:rPr sz="1400">
                <a:solidFill>
                  <a:srgbClr val="4F5D6A"/>
                </a:solidFill>
                <a:latin typeface="Consolas"/>
              </a:rPr>
              <a:t>17</a:t>
            </a:r>
          </a:p>
          <a:p>
            <a:pPr algn="r">
              <a:lnSpc>
                <a:spcPct val="100000"/>
              </a:lnSpc>
            </a:pPr>
            <a:r>
              <a:rPr sz="1400">
                <a:solidFill>
                  <a:srgbClr val="4F5D6A"/>
                </a:solidFill>
                <a:latin typeface="Consolas"/>
              </a:rPr>
              <a:t>18</a:t>
            </a:r>
          </a:p>
          <a:p>
            <a:pPr algn="r">
              <a:lnSpc>
                <a:spcPct val="100000"/>
              </a:lnSpc>
            </a:pPr>
            <a:r>
              <a:rPr sz="1400">
                <a:solidFill>
                  <a:srgbClr val="4F5D6A"/>
                </a:solidFill>
                <a:latin typeface="Consolas"/>
              </a:rPr>
              <a:t>19</a:t>
            </a:r>
          </a:p>
          <a:p>
            <a:pPr algn="r">
              <a:lnSpc>
                <a:spcPct val="100000"/>
              </a:lnSpc>
            </a:pPr>
            <a:r>
              <a:rPr sz="1400">
                <a:solidFill>
                  <a:srgbClr val="4F5D6A"/>
                </a:solidFill>
                <a:latin typeface="Consolas"/>
              </a:rPr>
              <a:t>20</a:t>
            </a:r>
          </a:p>
          <a:p>
            <a:pPr algn="r">
              <a:lnSpc>
                <a:spcPct val="100000"/>
              </a:lnSpc>
            </a:pPr>
            <a:r>
              <a:rPr sz="1400">
                <a:solidFill>
                  <a:srgbClr val="4F5D6A"/>
                </a:solidFill>
                <a:latin typeface="Consolas"/>
              </a:rPr>
              <a:t>21</a:t>
            </a:r>
          </a:p>
          <a:p>
            <a:pPr algn="r">
              <a:lnSpc>
                <a:spcPct val="100000"/>
              </a:lnSpc>
            </a:pPr>
            <a:r>
              <a:rPr sz="1400">
                <a:solidFill>
                  <a:srgbClr val="4F5D6A"/>
                </a:solidFill>
                <a:latin typeface="Consolas"/>
              </a:rPr>
              <a:t>22</a:t>
            </a:r>
          </a:p>
          <a:p>
            <a:pPr algn="r">
              <a:lnSpc>
                <a:spcPct val="100000"/>
              </a:lnSpc>
            </a:pPr>
            <a:r>
              <a:rPr sz="1400">
                <a:solidFill>
                  <a:srgbClr val="4F5D6A"/>
                </a:solidFill>
                <a:latin typeface="Consolas"/>
              </a:rPr>
              <a:t>23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78193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What Voids the Guarantee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§13.4  ·  Handout p. 107     </a:t>
            </a:r>
            <a:fld id="{BEA01A45-C3DB-4607-8B65-751202C719B0}"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distribution the analysis assumes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code/ch13_hashing.cpp</a:t>
            </a:r>
          </a:p>
        </p:txBody>
      </p:sp>
      <p:sp>
        <p:nvSpPr>
          <p:cNvPr id="14" name="!!code-text" descr="// --- 3. The distribution the analysis assumes ---------------------- // With n keys in m slots and perfect scattering, a slot's load is // Binomial(n, 1/m), which for large m is Poisson(alpha). The analysis // of &quot;expected O(1)&quot; rests on that shape, so check the shape."/>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The distribution the analysis assumes ----------------------</a:t>
            </a:r>
          </a:p>
          <a:p>
            <a:pPr>
              <a:lnSpc>
                <a:spcPct val="100000"/>
              </a:lnSpc>
              <a:spcAft>
                <a:spcPts val="0"/>
              </a:spcAft>
            </a:pPr>
            <a:r>
              <a:rPr sz="1900" i="1">
                <a:solidFill>
                  <a:srgbClr val="8795A1"/>
                </a:solidFill>
                <a:latin typeface="Consolas"/>
              </a:rPr>
              <a:t>// With n keys in m slots and perfect scattering, a slot's load is</a:t>
            </a:r>
          </a:p>
          <a:p>
            <a:pPr>
              <a:lnSpc>
                <a:spcPct val="100000"/>
              </a:lnSpc>
              <a:spcAft>
                <a:spcPts val="0"/>
              </a:spcAft>
            </a:pPr>
            <a:r>
              <a:rPr sz="1900" i="1">
                <a:solidFill>
                  <a:srgbClr val="8795A1"/>
                </a:solidFill>
                <a:latin typeface="Consolas"/>
              </a:rPr>
              <a:t>// Binomial(n, 1/m), which for large m is Poisson(alpha). The analysis</a:t>
            </a:r>
          </a:p>
          <a:p>
            <a:pPr>
              <a:lnSpc>
                <a:spcPct val="100000"/>
              </a:lnSpc>
              <a:spcAft>
                <a:spcPts val="0"/>
              </a:spcAft>
            </a:pPr>
            <a:r>
              <a:rPr sz="1900" i="1">
                <a:solidFill>
                  <a:srgbClr val="8795A1"/>
                </a:solidFill>
                <a:latin typeface="Consolas"/>
              </a:rPr>
              <a:t>// of "expected O(1)" rests on that shape, so check the shape.</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25</a:t>
            </a:r>
          </a:p>
          <a:p>
            <a:pPr algn="r">
              <a:lnSpc>
                <a:spcPct val="100000"/>
              </a:lnSpc>
            </a:pPr>
            <a:r>
              <a:rPr sz="1900">
                <a:solidFill>
                  <a:srgbClr val="4F5D6A"/>
                </a:solidFill>
                <a:latin typeface="Consolas"/>
              </a:rPr>
              <a:t>26</a:t>
            </a:r>
          </a:p>
          <a:p>
            <a:pPr algn="r">
              <a:lnSpc>
                <a:spcPct val="100000"/>
              </a:lnSpc>
            </a:pPr>
            <a:r>
              <a:rPr sz="1900">
                <a:solidFill>
                  <a:srgbClr val="4F5D6A"/>
                </a:solidFill>
                <a:latin typeface="Consolas"/>
              </a:rPr>
              <a:t>27</a:t>
            </a:r>
          </a:p>
          <a:p>
            <a:pPr algn="r">
              <a:lnSpc>
                <a:spcPct val="100000"/>
              </a:lnSpc>
            </a:pPr>
            <a:r>
              <a:rPr sz="1900">
                <a:solidFill>
                  <a:srgbClr val="4F5D6A"/>
                </a:solidFill>
                <a:latin typeface="Consolas"/>
              </a:rPr>
              <a:t>28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4133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What Voids the Guarantee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§13.4  ·  Handout p. 107     </a:t>
            </a:r>
            <a:fld id="{26C5B2CF-539D-4605-8D63-3FB712F57AE4}"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same keys, a hash that meets the data's structure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340863"/>
          </a:xfrm>
          <a:prstGeom prst="roundRect">
            <a:avLst>
              <a:gd name="adj" fmla="val 39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code/ch13_hashing.cpp</a:t>
            </a:r>
          </a:p>
        </p:txBody>
      </p:sp>
      <p:sp>
        <p:nvSpPr>
          <p:cNvPr id="14" name="!!code-text" descr="// --- 4. The same keys, a hash that meets the data's structure ------ // Real keys are not random: IDs, timestamps, pointers, struct // offsets -- and they very often share a stride. Here every key is a // multiple of 64, which is what an array of 64-byte records gives // you, and the table size is a power of two, which is what every // &quot;round up to the next power of 2&quot; gives you."/>
          <p:cNvSpPr txBox="1"/>
          <p:nvPr/>
        </p:nvSpPr>
        <p:spPr>
          <a:xfrm>
            <a:off x="1362456" y="2523744"/>
            <a:ext cx="9987991" cy="18470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The same keys, a hash that meets the data's structure ------</a:t>
            </a:r>
          </a:p>
          <a:p>
            <a:pPr>
              <a:lnSpc>
                <a:spcPct val="100000"/>
              </a:lnSpc>
              <a:spcAft>
                <a:spcPts val="0"/>
              </a:spcAft>
            </a:pPr>
            <a:r>
              <a:rPr sz="1900" i="1">
                <a:solidFill>
                  <a:srgbClr val="8795A1"/>
                </a:solidFill>
                <a:latin typeface="Consolas"/>
              </a:rPr>
              <a:t>// Real keys are not random: IDs, timestamps, pointers, struct</a:t>
            </a:r>
          </a:p>
          <a:p>
            <a:pPr>
              <a:lnSpc>
                <a:spcPct val="100000"/>
              </a:lnSpc>
              <a:spcAft>
                <a:spcPts val="0"/>
              </a:spcAft>
            </a:pPr>
            <a:r>
              <a:rPr sz="1900" i="1">
                <a:solidFill>
                  <a:srgbClr val="8795A1"/>
                </a:solidFill>
                <a:latin typeface="Consolas"/>
              </a:rPr>
              <a:t>// offsets -- and they very often share a stride. Here every key is a</a:t>
            </a:r>
          </a:p>
          <a:p>
            <a:pPr>
              <a:lnSpc>
                <a:spcPct val="100000"/>
              </a:lnSpc>
              <a:spcAft>
                <a:spcPts val="0"/>
              </a:spcAft>
            </a:pPr>
            <a:r>
              <a:rPr sz="1900" i="1">
                <a:solidFill>
                  <a:srgbClr val="8795A1"/>
                </a:solidFill>
                <a:latin typeface="Consolas"/>
              </a:rPr>
              <a:t>// multiple of 64, which is what an array of 64-byte records gives</a:t>
            </a:r>
          </a:p>
          <a:p>
            <a:pPr>
              <a:lnSpc>
                <a:spcPct val="100000"/>
              </a:lnSpc>
              <a:spcAft>
                <a:spcPts val="0"/>
              </a:spcAft>
            </a:pPr>
            <a:r>
              <a:rPr sz="1900" i="1">
                <a:solidFill>
                  <a:srgbClr val="8795A1"/>
                </a:solidFill>
                <a:latin typeface="Consolas"/>
              </a:rPr>
              <a:t>// you, and the table size is a power of two, which is what every</a:t>
            </a:r>
          </a:p>
          <a:p>
            <a:pPr>
              <a:lnSpc>
                <a:spcPct val="100000"/>
              </a:lnSpc>
              <a:spcAft>
                <a:spcPts val="0"/>
              </a:spcAft>
            </a:pPr>
            <a:r>
              <a:rPr sz="1900" i="1">
                <a:solidFill>
                  <a:srgbClr val="8795A1"/>
                </a:solidFill>
                <a:latin typeface="Consolas"/>
              </a:rPr>
              <a:t>// "round up to the next power of 2" gives you.</a:t>
            </a:r>
          </a:p>
        </p:txBody>
      </p:sp>
      <p:sp>
        <p:nvSpPr>
          <p:cNvPr id="15" name="!!code-num"/>
          <p:cNvSpPr txBox="1"/>
          <p:nvPr/>
        </p:nvSpPr>
        <p:spPr>
          <a:xfrm>
            <a:off x="768096" y="2523744"/>
            <a:ext cx="393192" cy="18470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30</a:t>
            </a:r>
          </a:p>
          <a:p>
            <a:pPr algn="r">
              <a:lnSpc>
                <a:spcPct val="100000"/>
              </a:lnSpc>
            </a:pPr>
            <a:r>
              <a:rPr sz="1900">
                <a:solidFill>
                  <a:srgbClr val="4F5D6A"/>
                </a:solidFill>
                <a:latin typeface="Consolas"/>
              </a:rPr>
              <a:t>31</a:t>
            </a:r>
          </a:p>
          <a:p>
            <a:pPr algn="r">
              <a:lnSpc>
                <a:spcPct val="100000"/>
              </a:lnSpc>
            </a:pPr>
            <a:r>
              <a:rPr sz="1900">
                <a:solidFill>
                  <a:srgbClr val="4F5D6A"/>
                </a:solidFill>
                <a:latin typeface="Consolas"/>
              </a:rPr>
              <a:t>32</a:t>
            </a:r>
          </a:p>
          <a:p>
            <a:pPr algn="r">
              <a:lnSpc>
                <a:spcPct val="100000"/>
              </a:lnSpc>
            </a:pPr>
            <a:r>
              <a:rPr sz="1900">
                <a:solidFill>
                  <a:srgbClr val="4F5D6A"/>
                </a:solidFill>
                <a:latin typeface="Consolas"/>
              </a:rPr>
              <a:t>33</a:t>
            </a:r>
          </a:p>
          <a:p>
            <a:pPr algn="r">
              <a:lnSpc>
                <a:spcPct val="100000"/>
              </a:lnSpc>
            </a:pPr>
            <a:r>
              <a:rPr sz="1900">
                <a:solidFill>
                  <a:srgbClr val="4F5D6A"/>
                </a:solidFill>
                <a:latin typeface="Consolas"/>
              </a:rPr>
              <a:t>34</a:t>
            </a:r>
          </a:p>
          <a:p>
            <a:pPr algn="r">
              <a:lnSpc>
                <a:spcPct val="100000"/>
              </a:lnSpc>
            </a:pPr>
            <a:r>
              <a:rPr sz="1900">
                <a:solidFill>
                  <a:srgbClr val="4F5D6A"/>
                </a:solidFill>
                <a:latin typeface="Consolas"/>
              </a:rPr>
              <a:t>35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0072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What Voids the Guarantee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§13.4  ·  Handout p. 107     </a:t>
            </a:r>
            <a:fld id="{D41A841E-E334-40E4-AB47-5BB01E7C7630}"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Load factor is the one knob you actually turn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340863"/>
          </a:xfrm>
          <a:prstGeom prst="roundRect">
            <a:avLst>
              <a:gd name="adj" fmla="val 39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code/ch13_hashing.cpp</a:t>
            </a:r>
          </a:p>
        </p:txBody>
      </p:sp>
      <p:sp>
        <p:nvSpPr>
          <p:cNvPr id="14" name="!!code-text" descr="// --- 5. Load factor is the one knob you actually turn -------------- // Sample the keys at RANDOM, not the first 200,000. The // first-inserted keys sit at the front of their chains, so probing // them reports 1.096 probes whatever the load factor is -- which is // what the first draft of this program did, and the flat column was // the clue."/>
          <p:cNvSpPr txBox="1"/>
          <p:nvPr/>
        </p:nvSpPr>
        <p:spPr>
          <a:xfrm>
            <a:off x="1362456" y="2523744"/>
            <a:ext cx="9987991" cy="18470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--- 5. Load factor is the one knob you actually turn --------------</a:t>
            </a:r>
          </a:p>
          <a:p>
            <a:pPr>
              <a:lnSpc>
                <a:spcPct val="100000"/>
              </a:lnSpc>
              <a:spcAft>
                <a:spcPts val="0"/>
              </a:spcAft>
            </a:pPr>
            <a:r>
              <a:rPr sz="1900" i="1">
                <a:solidFill>
                  <a:srgbClr val="8795A1"/>
                </a:solidFill>
                <a:latin typeface="Consolas"/>
              </a:rPr>
              <a:t>// Sample the keys at RANDOM, not the first 200,000. The</a:t>
            </a:r>
          </a:p>
          <a:p>
            <a:pPr>
              <a:lnSpc>
                <a:spcPct val="100000"/>
              </a:lnSpc>
              <a:spcAft>
                <a:spcPts val="0"/>
              </a:spcAft>
            </a:pPr>
            <a:r>
              <a:rPr sz="1900" i="1">
                <a:solidFill>
                  <a:srgbClr val="8795A1"/>
                </a:solidFill>
                <a:latin typeface="Consolas"/>
              </a:rPr>
              <a:t>// first-inserted keys sit at the front of their chains, so probing</a:t>
            </a:r>
          </a:p>
          <a:p>
            <a:pPr>
              <a:lnSpc>
                <a:spcPct val="100000"/>
              </a:lnSpc>
              <a:spcAft>
                <a:spcPts val="0"/>
              </a:spcAft>
            </a:pPr>
            <a:r>
              <a:rPr sz="1900" i="1">
                <a:solidFill>
                  <a:srgbClr val="8795A1"/>
                </a:solidFill>
                <a:latin typeface="Consolas"/>
              </a:rPr>
              <a:t>// them reports 1.096 probes whatever the load factor is -- which is</a:t>
            </a:r>
          </a:p>
          <a:p>
            <a:pPr>
              <a:lnSpc>
                <a:spcPct val="100000"/>
              </a:lnSpc>
              <a:spcAft>
                <a:spcPts val="0"/>
              </a:spcAft>
            </a:pPr>
            <a:r>
              <a:rPr sz="1900" i="1">
                <a:solidFill>
                  <a:srgbClr val="8795A1"/>
                </a:solidFill>
                <a:latin typeface="Consolas"/>
              </a:rPr>
              <a:t>// what the first draft of this program did, and the flat column was</a:t>
            </a:r>
          </a:p>
          <a:p>
            <a:pPr>
              <a:lnSpc>
                <a:spcPct val="100000"/>
              </a:lnSpc>
              <a:spcAft>
                <a:spcPts val="0"/>
              </a:spcAft>
            </a:pPr>
            <a:r>
              <a:rPr sz="1900" i="1">
                <a:solidFill>
                  <a:srgbClr val="8795A1"/>
                </a:solidFill>
                <a:latin typeface="Consolas"/>
              </a:rPr>
              <a:t>// the clue.</a:t>
            </a:r>
          </a:p>
        </p:txBody>
      </p:sp>
      <p:sp>
        <p:nvSpPr>
          <p:cNvPr id="15" name="!!code-num"/>
          <p:cNvSpPr txBox="1"/>
          <p:nvPr/>
        </p:nvSpPr>
        <p:spPr>
          <a:xfrm>
            <a:off x="768096" y="2523744"/>
            <a:ext cx="393192" cy="18470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37</a:t>
            </a:r>
          </a:p>
          <a:p>
            <a:pPr algn="r">
              <a:lnSpc>
                <a:spcPct val="100000"/>
              </a:lnSpc>
            </a:pPr>
            <a:r>
              <a:rPr sz="1900">
                <a:solidFill>
                  <a:srgbClr val="4F5D6A"/>
                </a:solidFill>
                <a:latin typeface="Consolas"/>
              </a:rPr>
              <a:t>38</a:t>
            </a:r>
          </a:p>
          <a:p>
            <a:pPr algn="r">
              <a:lnSpc>
                <a:spcPct val="100000"/>
              </a:lnSpc>
            </a:pPr>
            <a:r>
              <a:rPr sz="1900">
                <a:solidFill>
                  <a:srgbClr val="4F5D6A"/>
                </a:solidFill>
                <a:latin typeface="Consolas"/>
              </a:rPr>
              <a:t>39</a:t>
            </a:r>
          </a:p>
          <a:p>
            <a:pPr algn="r">
              <a:lnSpc>
                <a:spcPct val="100000"/>
              </a:lnSpc>
            </a:pPr>
            <a:r>
              <a:rPr sz="1900">
                <a:solidFill>
                  <a:srgbClr val="4F5D6A"/>
                </a:solidFill>
                <a:latin typeface="Consolas"/>
              </a:rPr>
              <a:t>40</a:t>
            </a:r>
          </a:p>
          <a:p>
            <a:pPr algn="r">
              <a:lnSpc>
                <a:spcPct val="100000"/>
              </a:lnSpc>
            </a:pPr>
            <a:r>
              <a:rPr sz="1900">
                <a:solidFill>
                  <a:srgbClr val="4F5D6A"/>
                </a:solidFill>
                <a:latin typeface="Consolas"/>
              </a:rPr>
              <a:t>41</a:t>
            </a:r>
          </a:p>
          <a:p>
            <a:pPr algn="r">
              <a:lnSpc>
                <a:spcPct val="100000"/>
              </a:lnSpc>
            </a:pPr>
            <a:r>
              <a:rPr sz="1900">
                <a:solidFill>
                  <a:srgbClr val="4F5D6A"/>
                </a:solidFill>
                <a:latin typeface="Consolas"/>
              </a:rPr>
              <a:t>42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6012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What Voids the Guarantee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§13.4  ·  Handout p. 107     </a:t>
            </a:r>
            <a:fld id="{A8087B20-99A0-4DC9-BBBD-B14C1EDAC7F0}"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An adversary, who does not need to be clever</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340863"/>
          </a:xfrm>
          <a:prstGeom prst="roundRect">
            <a:avLst>
              <a:gd name="adj" fmla="val 39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code/ch13_hashing.cpp</a:t>
            </a:r>
          </a:p>
        </p:txBody>
      </p:sp>
      <p:sp>
        <p:nvSpPr>
          <p:cNvPr id="14" name="!!code-text" descr="// --- 6. An adversary, who does not need to be clever --------------- // If the hash is fixed and public, the keys that land in one slot can // be enumerated. Here they are simply the multiples of m. No // cryptography, no timing attack: arithmetic. for (size_t i = 0; i &lt; n; ++i) ak[i] = (unsigned)((i + 1) * m); // all hash to slot 0"/>
          <p:cNvSpPr txBox="1"/>
          <p:nvPr/>
        </p:nvSpPr>
        <p:spPr>
          <a:xfrm>
            <a:off x="1362456" y="2523744"/>
            <a:ext cx="9987991" cy="18470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 An adversary, who does not need to be clever ---------------</a:t>
            </a:r>
          </a:p>
          <a:p>
            <a:pPr>
              <a:lnSpc>
                <a:spcPct val="100000"/>
              </a:lnSpc>
              <a:spcAft>
                <a:spcPts val="0"/>
              </a:spcAft>
            </a:pPr>
            <a:r>
              <a:rPr sz="1900" i="1">
                <a:solidFill>
                  <a:srgbClr val="8795A1"/>
                </a:solidFill>
                <a:latin typeface="Consolas"/>
              </a:rPr>
              <a:t>// If the hash is fixed and public, the keys that land in one slot can</a:t>
            </a:r>
          </a:p>
          <a:p>
            <a:pPr>
              <a:lnSpc>
                <a:spcPct val="100000"/>
              </a:lnSpc>
              <a:spcAft>
                <a:spcPts val="0"/>
              </a:spcAft>
            </a:pPr>
            <a:r>
              <a:rPr sz="1900" i="1">
                <a:solidFill>
                  <a:srgbClr val="8795A1"/>
                </a:solidFill>
                <a:latin typeface="Consolas"/>
              </a:rPr>
              <a:t>// be enumerated. Here they are simply the multiples of m. No</a:t>
            </a:r>
          </a:p>
          <a:p>
            <a:pPr>
              <a:lnSpc>
                <a:spcPct val="100000"/>
              </a:lnSpc>
              <a:spcAft>
                <a:spcPts val="0"/>
              </a:spcAft>
            </a:pPr>
            <a:r>
              <a:rPr sz="1900" i="1">
                <a:solidFill>
                  <a:srgbClr val="8795A1"/>
                </a:solidFill>
                <a:latin typeface="Consolas"/>
              </a:rPr>
              <a:t>// cryptography, no timing attack: arithmetic.</a:t>
            </a:r>
          </a:p>
          <a:p>
            <a:pPr>
              <a:lnSpc>
                <a:spcPct val="100000"/>
              </a:lnSpc>
              <a:spcAft>
                <a:spcPts val="0"/>
              </a:spcAft>
            </a:pPr>
            <a:r>
              <a:rPr sz="1900" i="0">
                <a:solidFill>
                  <a:srgbClr val="5DADE2"/>
                </a:solidFill>
                <a:latin typeface="Consolas"/>
              </a:rPr>
              <a:t>for</a:t>
            </a:r>
            <a:r>
              <a:rPr sz="1900" i="0">
                <a:solidFill>
                  <a:srgbClr val="E8EDF2"/>
                </a:solidFill>
                <a:latin typeface="Consolas"/>
              </a:rPr>
              <a:t> </a:t>
            </a:r>
            <a:r>
              <a:rPr sz="1900" i="0">
                <a:solidFill>
                  <a:srgbClr val="AEB6BF"/>
                </a:solidFill>
                <a:latin typeface="Consolas"/>
              </a:rPr>
              <a:t>(</a:t>
            </a:r>
            <a:r>
              <a:rPr sz="1900" i="0">
                <a:solidFill>
                  <a:srgbClr val="5DADE2"/>
                </a:solidFill>
                <a:latin typeface="Consolas"/>
              </a:rPr>
              <a:t>size_t</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0</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AEB6BF"/>
                </a:solidFill>
                <a:latin typeface="Consolas"/>
              </a:rPr>
              <a:t>&lt;</a:t>
            </a:r>
            <a:r>
              <a:rPr sz="1900" i="0">
                <a:solidFill>
                  <a:srgbClr val="E8EDF2"/>
                </a:solidFill>
                <a:latin typeface="Consolas"/>
              </a:rPr>
              <a:t> </a:t>
            </a:r>
            <a:r>
              <a:rPr sz="1900" i="0">
                <a:solidFill>
                  <a:srgbClr val="E8EDF2"/>
                </a:solidFill>
                <a:latin typeface="Consolas"/>
              </a:rPr>
              <a:t>n</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i</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ak</a:t>
            </a:r>
            <a:r>
              <a:rPr sz="1900" i="0">
                <a:solidFill>
                  <a:srgbClr val="AEB6BF"/>
                </a:solidFill>
                <a:latin typeface="Consolas"/>
              </a:rPr>
              <a:t>[</a:t>
            </a:r>
            <a:r>
              <a:rPr sz="1900" i="0">
                <a:solidFill>
                  <a:srgbClr val="E8EDF2"/>
                </a:solidFill>
                <a:latin typeface="Consolas"/>
              </a:rPr>
              <a:t>i</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5DADE2"/>
                </a:solidFill>
                <a:latin typeface="Consolas"/>
              </a:rPr>
              <a:t>unsigned</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i</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m</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1">
                <a:solidFill>
                  <a:srgbClr val="8795A1"/>
                </a:solidFill>
                <a:latin typeface="Consolas"/>
              </a:rPr>
              <a:t>// all hash to slot 0</a:t>
            </a:r>
          </a:p>
        </p:txBody>
      </p:sp>
      <p:sp>
        <p:nvSpPr>
          <p:cNvPr id="15" name="!!code-num"/>
          <p:cNvSpPr txBox="1"/>
          <p:nvPr/>
        </p:nvSpPr>
        <p:spPr>
          <a:xfrm>
            <a:off x="768096" y="2523744"/>
            <a:ext cx="393192" cy="18470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44</a:t>
            </a:r>
          </a:p>
          <a:p>
            <a:pPr algn="r">
              <a:lnSpc>
                <a:spcPct val="100000"/>
              </a:lnSpc>
            </a:pPr>
            <a:r>
              <a:rPr sz="1900">
                <a:solidFill>
                  <a:srgbClr val="4F5D6A"/>
                </a:solidFill>
                <a:latin typeface="Consolas"/>
              </a:rPr>
              <a:t>45</a:t>
            </a:r>
          </a:p>
          <a:p>
            <a:pPr algn="r">
              <a:lnSpc>
                <a:spcPct val="100000"/>
              </a:lnSpc>
            </a:pPr>
            <a:r>
              <a:rPr sz="1900">
                <a:solidFill>
                  <a:srgbClr val="4F5D6A"/>
                </a:solidFill>
                <a:latin typeface="Consolas"/>
              </a:rPr>
              <a:t>46</a:t>
            </a:r>
          </a:p>
          <a:p>
            <a:pPr algn="r">
              <a:lnSpc>
                <a:spcPct val="100000"/>
              </a:lnSpc>
            </a:pPr>
            <a:r>
              <a:rPr sz="1900">
                <a:solidFill>
                  <a:srgbClr val="4F5D6A"/>
                </a:solidFill>
                <a:latin typeface="Consolas"/>
              </a:rPr>
              <a:t>47</a:t>
            </a:r>
          </a:p>
          <a:p>
            <a:pPr algn="r">
              <a:lnSpc>
                <a:spcPct val="100000"/>
              </a:lnSpc>
            </a:pPr>
            <a:r>
              <a:rPr sz="1900">
                <a:solidFill>
                  <a:srgbClr val="4F5D6A"/>
                </a:solidFill>
                <a:latin typeface="Consolas"/>
              </a:rPr>
              <a:t>48</a:t>
            </a:r>
          </a:p>
          <a:p>
            <a:pPr algn="r">
              <a:lnSpc>
                <a:spcPct val="100000"/>
              </a:lnSpc>
            </a:pPr>
            <a:r>
              <a:rPr sz="1900">
                <a:solidFill>
                  <a:srgbClr val="4F5D6A"/>
                </a:solidFill>
                <a:latin typeface="Consolas"/>
              </a:rPr>
              <a:t>49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81952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§13.4  ·  Handout p. 107     </a:t>
            </a:r>
            <a:fld id="{ADAA6FCE-F95F-4D0C-8AD5-47C9384F66F0}" type="slidenum">
              <a:rPr lang="en-GB" sz="1000">
                <a:solidFill>
                  <a:srgbClr val="8795A1"/>
                </a:solidFill>
                <a:latin typeface="Segoe UI"/>
              </a:rPr>
              <a:t>35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7854"/>
          </a:xfrm>
          <a:prstGeom prst="roundRect">
            <a:avLst>
              <a:gd name="adj" fmla="val 2065"/>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785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Part 3 compares a whole distribution against Poisson, not just a mean. Any broken hash can still produce the right average chain length — the average is </a:t>
            </a:r>
            <a:r>
              <a:rPr sz="2300" b="0" i="1">
                <a:solidFill>
                  <a:srgbClr val="1C252B"/>
                </a:solidFill>
                <a:latin typeface="Cambria"/>
              </a:rPr>
              <a:t>n</a:t>
            </a:r>
            <a:r>
              <a:rPr sz="2300" b="0" i="0">
                <a:solidFill>
                  <a:srgbClr val="1C252B"/>
                </a:solidFill>
                <a:latin typeface="Cambria"/>
              </a:rPr>
              <a:t>/</a:t>
            </a:r>
            <a:r>
              <a:rPr sz="2300" b="0" i="1">
                <a:solidFill>
                  <a:srgbClr val="1C252B"/>
                </a:solidFill>
                <a:latin typeface="Cambria"/>
              </a:rPr>
              <a:t>m</a:t>
            </a:r>
            <a:r>
              <a:rPr sz="2300" b="0" i="0">
                <a:solidFill>
                  <a:srgbClr val="1C252B"/>
                </a:solidFill>
                <a:latin typeface="Segoe UI"/>
              </a:rPr>
              <a:t> whatever the hash does, since every key lands somewhere. Only the </a:t>
            </a:r>
            <a:r>
              <a:rPr sz="2300" b="0" i="1">
                <a:solidFill>
                  <a:srgbClr val="1C252B"/>
                </a:solidFill>
                <a:latin typeface="Segoe UI"/>
              </a:rPr>
              <a:t>shape</a:t>
            </a:r>
            <a:r>
              <a:rPr sz="2300" b="0" i="0">
                <a:solidFill>
                  <a:srgbClr val="1C252B"/>
                </a:solidFill>
                <a:latin typeface="Segoe UI"/>
              </a:rPr>
              <a:t> distinguishes a good hash from a bad one, and part 4’s table makes that concrete: both rows have the same mean chain length by definition, and one of them is 20</a:t>
            </a:r>
            <a:r>
              <a:rPr sz="2300" b="0" i="0">
                <a:solidFill>
                  <a:srgbClr val="1C252B"/>
                </a:solidFill>
                <a:latin typeface="Cambria"/>
              </a:rPr>
              <a:t>×</a:t>
            </a:r>
            <a:r>
              <a:rPr sz="2300" b="0" i="0">
                <a:solidFill>
                  <a:srgbClr val="1C252B"/>
                </a:solidFill>
                <a:latin typeface="Segoe UI"/>
              </a:rPr>
              <a:t> slower.</a:t>
            </a:r>
          </a:p>
        </p:txBody>
      </p:sp>
      <p:sp>
        <p:nvSpPr>
          <p:cNvPr id="10" name="body-1"/>
          <p:cNvSpPr txBox="1"/>
          <p:nvPr/>
        </p:nvSpPr>
        <p:spPr>
          <a:xfrm>
            <a:off x="1060704" y="43961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Then try to break it.</a:t>
            </a:r>
            <a:r>
              <a:rPr sz="2300" b="0" i="0">
                <a:solidFill>
                  <a:srgbClr val="1C252B"/>
                </a:solidFill>
                <a:latin typeface="Segoe UI"/>
              </a:rPr>
              <a:t> Change the table size in part 4 from </a:t>
            </a:r>
            <a:r>
              <a:rPr sz="2300" b="0" i="0">
                <a:solidFill>
                  <a:srgbClr val="1C252B"/>
                </a:solidFill>
                <a:latin typeface="Cambria"/>
              </a:rPr>
              <a:t>2</a:t>
            </a:r>
            <a:r>
              <a:rPr sz="1500" b="0" i="0" baseline="30000">
                <a:solidFill>
                  <a:srgbClr val="1C252B"/>
                </a:solidFill>
                <a:latin typeface="Cambria"/>
              </a:rPr>
              <a:t>20</a:t>
            </a:r>
            <a:r>
              <a:rPr sz="2300" b="0" i="0">
                <a:solidFill>
                  <a:srgbClr val="1C252B"/>
                </a:solidFill>
                <a:latin typeface="Segoe UI"/>
              </a:rPr>
              <a:t> to the prime 1,048,573 and re-run with the plain </a:t>
            </a:r>
            <a:r>
              <a:rPr sz="2150" b="0" i="0">
                <a:solidFill>
                  <a:srgbClr val="1F4E79"/>
                </a:solidFill>
                <a:latin typeface="Consolas"/>
              </a:rPr>
              <a:t>k % m</a:t>
            </a:r>
            <a:r>
              <a:rPr sz="2300" b="0" i="0">
                <a:solidFill>
                  <a:srgbClr val="1C252B"/>
                </a:solidFill>
                <a:latin typeface="Segoe UI"/>
              </a:rPr>
              <a:t> hash. Predict first. The stride-64 keys should now scatter well, because 64 and 1,048,573 are coprime — which tells you that the division method is not the problem, the </a:t>
            </a:r>
            <a:r>
              <a:rPr sz="2300" b="0" i="1">
                <a:solidFill>
                  <a:srgbClr val="1C252B"/>
                </a:solidFill>
                <a:latin typeface="Segoe UI"/>
              </a:rPr>
              <a:t>power of two</a:t>
            </a:r>
            <a:r>
              <a:rPr sz="2300" b="0" i="0">
                <a:solidFill>
                  <a:srgbClr val="1C252B"/>
                </a:solidFill>
                <a:latin typeface="Segoe UI"/>
              </a:rPr>
              <a:t> is.</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907892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State the simple uniform hashing assumption, and explain why it is a claim about the hash function </a:t>
            </a:r>
            <a:r>
              <a:rPr sz="3400" b="0" i="1">
                <a:solidFill>
                  <a:srgbClr val="FFFFFF"/>
                </a:solidFill>
                <a:latin typeface="Segoe UI Semibold"/>
              </a:rPr>
              <a:t>and</a:t>
            </a:r>
            <a:r>
              <a:rPr sz="3400" b="0" i="0">
                <a:solidFill>
                  <a:srgbClr val="FFFFFF"/>
                </a:solidFill>
                <a:latin typeface="Segoe UI Semibold"/>
              </a:rPr>
              <a:t> the keys rather than about the hash alone </a:t>
            </a:r>
            <a:r>
              <a:rPr sz="3400" b="0" i="1">
                <a:solidFill>
                  <a:srgbClr val="FFFFFF"/>
                </a:solidFill>
                <a:latin typeface="Segoe UI Semibold"/>
              </a:rPr>
              <a:t>(CLO-2)</a:t>
            </a:r>
            <a:r>
              <a:rPr sz="3400" b="0" i="0">
                <a:solidFill>
                  <a:srgbClr val="FFFFFF"/>
                </a:solidFill>
                <a:latin typeface="Segoe UI Semibold"/>
              </a:rPr>
              <a: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13  ·  Hashing, and What Constant Time Actually Promises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112  ·  answers in Appendix D     </a:t>
            </a:r>
            <a:fld id="{C157D2E3-B715-4CB3-93A9-37067637D9BA}"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State the simple uniform hashing assumption, and explain why it is a claim about the hash function </a:t>
            </a:r>
            <a:r>
              <a:rPr sz="2400" b="0" i="1">
                <a:solidFill>
                  <a:srgbClr val="1A5276"/>
                </a:solidFill>
                <a:latin typeface="Segoe UI Semibold"/>
              </a:rPr>
              <a:t>and</a:t>
            </a:r>
            <a:r>
              <a:rPr sz="2400" b="0" i="0">
                <a:solidFill>
                  <a:srgbClr val="1A5276"/>
                </a:solidFill>
                <a:latin typeface="Segoe UI Semibold"/>
              </a:rPr>
              <a:t> the keys rather than about the hash alone </a:t>
            </a:r>
            <a:r>
              <a:rPr sz="2400" b="0" i="1">
                <a:solidFill>
                  <a:srgbClr val="1A5276"/>
                </a:solidFill>
                <a:latin typeface="Segoe UI Semibold"/>
              </a:rPr>
              <a:t>(CLO-2)</a:t>
            </a:r>
            <a:r>
              <a:rPr sz="2400" b="0" i="0">
                <a:solidFill>
                  <a:srgbClr val="1A5276"/>
                </a:solidFill>
                <a:latin typeface="Segoe UI Semibold"/>
              </a:rPr>
              <a: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Each key is equally likely to hash to any of the </a:t>
            </a:r>
            <a:r>
              <a:rPr sz="2200" b="0" i="1">
                <a:solidFill>
                  <a:srgbClr val="1C252B"/>
                </a:solidFill>
                <a:latin typeface="Cambria"/>
              </a:rPr>
              <a:t>m</a:t>
            </a:r>
            <a:r>
              <a:rPr sz="2200" b="0" i="1">
                <a:solidFill>
                  <a:srgbClr val="1C252B"/>
                </a:solidFill>
                <a:latin typeface="Segoe UI"/>
              </a:rPr>
              <a:t> slots, independently of the others.</a:t>
            </a:r>
            <a:r>
              <a:rPr sz="2200" b="0" i="0">
                <a:solidFill>
                  <a:srgbClr val="1C252B"/>
                </a:solidFill>
                <a:latin typeface="Segoe UI"/>
              </a:rPr>
              <a:t> It is a claim about the hash </a:t>
            </a:r>
            <a:r>
              <a:rPr sz="2200" b="0" i="1">
                <a:solidFill>
                  <a:srgbClr val="1C252B"/>
                </a:solidFill>
                <a:latin typeface="Segoe UI"/>
              </a:rPr>
              <a:t>and</a:t>
            </a:r>
            <a:r>
              <a:rPr sz="2200" b="0" i="0">
                <a:solidFill>
                  <a:srgbClr val="1C252B"/>
                </a:solidFill>
                <a:latin typeface="Segoe UI"/>
              </a:rPr>
              <a:t> the keys because the hash function is deterministic: given the keys, the slot of each is fixed, and whether they scatter depends entirely on the relationship between the function and the key set. Section 13.3’s </a:t>
            </a:r>
            <a:r>
              <a:rPr sz="2200" b="0" i="1">
                <a:solidFill>
                  <a:srgbClr val="1C252B"/>
                </a:solidFill>
                <a:latin typeface="Cambria"/>
              </a:rPr>
              <a:t>k</a:t>
            </a:r>
            <a:r>
              <a:rPr sz="2200" b="0" i="0">
                <a:solidFill>
                  <a:srgbClr val="1C252B"/>
                </a:solidFill>
                <a:latin typeface="Cambria"/>
              </a:rPr>
              <a:t> 2</a:t>
            </a:r>
            <a:r>
              <a:rPr sz="1450" b="0" i="0" baseline="30000">
                <a:solidFill>
                  <a:srgbClr val="1C252B"/>
                </a:solidFill>
                <a:latin typeface="Cambria"/>
              </a:rPr>
              <a:t>20</a:t>
            </a:r>
            <a:r>
              <a:rPr sz="2200" b="0" i="0">
                <a:solidFill>
                  <a:srgbClr val="1C252B"/>
                </a:solidFill>
                <a:latin typeface="Segoe UI"/>
              </a:rPr>
              <a:t> is a perfectly good hash for unstructured keys and uses 1.6% of the table for keys with a stride of 64.</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112  ·  answers in Appendix D     </a:t>
            </a:r>
            <a:fld id="{84009CE8-8A3A-4E6F-BE3E-B997F6E18FF9}"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59771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Derive the expected probe count </a:t>
            </a:r>
            <a:r>
              <a:rPr sz="3400" b="0" i="0">
                <a:solidFill>
                  <a:srgbClr val="FFFFFF"/>
                </a:solidFill>
                <a:latin typeface="Cambria"/>
              </a:rPr>
              <a:t>1 + α/2</a:t>
            </a:r>
            <a:r>
              <a:rPr sz="3400" b="0" i="0">
                <a:solidFill>
                  <a:srgbClr val="FFFFFF"/>
                </a:solidFill>
                <a:latin typeface="Segoe UI Semibold"/>
              </a:rPr>
              <a:t> for a successful search, and check it against the measured 2.998 at </a:t>
            </a:r>
            <a:r>
              <a:rPr sz="3400" b="0" i="0">
                <a:solidFill>
                  <a:srgbClr val="FFFFFF"/>
                </a:solidFill>
                <a:latin typeface="Cambria"/>
              </a:rPr>
              <a:t>α = 4</a:t>
            </a:r>
            <a:r>
              <a:rPr sz="3400" b="0" i="0">
                <a:solidFill>
                  <a:srgbClr val="FFFFFF"/>
                </a:solidFill>
                <a:latin typeface="Segoe UI Semibold"/>
              </a:rPr>
              <a: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13  ·  Hashing, and What Constant Time Actually Promises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112  ·  answers in Appendix D     </a:t>
            </a:r>
            <a:fld id="{43E94DAB-3655-4D79-8171-5849440D5ED2}" type="slidenum">
              <a:rPr lang="en-GB" sz="1000">
                <a:solidFill>
                  <a:srgbClr val="D5DEE5"/>
                </a:solidFill>
                <a:latin typeface="Segoe UI"/>
              </a:rPr>
              <a:t>38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Derive the expected probe count </a:t>
            </a:r>
            <a:r>
              <a:rPr sz="2400" b="0" i="0">
                <a:solidFill>
                  <a:srgbClr val="1A5276"/>
                </a:solidFill>
                <a:latin typeface="Cambria"/>
              </a:rPr>
              <a:t>1 + α/2</a:t>
            </a:r>
            <a:r>
              <a:rPr sz="2400" b="0" i="0">
                <a:solidFill>
                  <a:srgbClr val="1A5276"/>
                </a:solidFill>
                <a:latin typeface="Segoe UI Semibold"/>
              </a:rPr>
              <a:t> for a successful search, and check it against the measured 2.998 at </a:t>
            </a:r>
            <a:r>
              <a:rPr sz="2400" b="0" i="0">
                <a:solidFill>
                  <a:srgbClr val="1A5276"/>
                </a:solidFill>
                <a:latin typeface="Cambria"/>
              </a:rPr>
              <a:t>α = 4</a:t>
            </a:r>
            <a:r>
              <a:rPr sz="2400" b="0" i="0">
                <a:solidFill>
                  <a:srgbClr val="1A5276"/>
                </a:solidFill>
                <a:latin typeface="Segoe UI Semibold"/>
              </a:rPr>
              <a: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10569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6" name="!!ans-0" descr="Searching for xi, the elements examined first are those inserted after it that hashed to the same slot; for j &gt; i that happens with probability 1/m. Averaging over i: 1 + 1/nmΣi=1n(n−i) = 1 + α/2 − α/2n. At α = 4 this is 1 + 2 = 3 for large n; measured 2.99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87552" y="1762963"/>
            <a:ext cx="10509199" cy="1105692"/>
          </a:xfrm>
          <a:prstGeom prst="rect">
            <a:avLst/>
          </a:prstGeom>
        </p:spPr>
      </p:pic>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112  ·  answers in Appendix D     </a:t>
            </a:r>
            <a:fld id="{18FE3827-1FE7-4AEA-BEB2-D5E846EE6630}" type="slidenum">
              <a:rPr lang="en-GB" sz="1000">
                <a:solidFill>
                  <a:srgbClr val="8795A1"/>
                </a:solidFill>
                <a:latin typeface="Segoe UI"/>
              </a:rPr>
              <a:t>39</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11651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The measured mean chain length was identical for both hash functions in Section 13.3 by definition. What quantity did distinguish them, and why is it the right one to look at?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13  ·  Hashing, and What Constant Time Actually Promises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112  ·  answers in Appendix D     </a:t>
            </a:r>
            <a:fld id="{570F4769-92C3-420F-B968-DF3C1B4123E5}" type="slidenum">
              <a:rPr lang="en-GB" sz="1000">
                <a:solidFill>
                  <a:srgbClr val="D5DEE5"/>
                </a:solidFill>
                <a:latin typeface="Segoe UI"/>
              </a:rPr>
              <a:t>40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The measured mean chain length was identical for both hash functions in Section 13.3 by definition. What quantity did distinguish them, and why is it the right one to look at?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a:t>
            </a:r>
            <a:r>
              <a:rPr sz="2200" b="1" i="0">
                <a:solidFill>
                  <a:srgbClr val="1C252B"/>
                </a:solidFill>
                <a:latin typeface="Segoe UI"/>
              </a:rPr>
              <a:t>distribution</a:t>
            </a:r>
            <a:r>
              <a:rPr sz="2200" b="0" i="0">
                <a:solidFill>
                  <a:srgbClr val="1C252B"/>
                </a:solidFill>
                <a:latin typeface="Segoe UI"/>
              </a:rPr>
              <a:t> of chain lengths — specifically the longest chain and the mean probe count — not the mean chain length. The mean chain length is </a:t>
            </a:r>
            <a:r>
              <a:rPr sz="2200" b="0" i="1">
                <a:solidFill>
                  <a:srgbClr val="1C252B"/>
                </a:solidFill>
                <a:latin typeface="Cambria"/>
              </a:rPr>
              <a:t>n</a:t>
            </a:r>
            <a:r>
              <a:rPr sz="2200" b="0" i="0">
                <a:solidFill>
                  <a:srgbClr val="1C252B"/>
                </a:solidFill>
                <a:latin typeface="Cambria"/>
              </a:rPr>
              <a:t>/</a:t>
            </a:r>
            <a:r>
              <a:rPr sz="2200" b="0" i="1">
                <a:solidFill>
                  <a:srgbClr val="1C252B"/>
                </a:solidFill>
                <a:latin typeface="Cambria"/>
              </a:rPr>
              <a:t>m</a:t>
            </a:r>
            <a:r>
              <a:rPr sz="2200" b="0" i="0">
                <a:solidFill>
                  <a:srgbClr val="1C252B"/>
                </a:solidFill>
                <a:latin typeface="Segoe UI"/>
              </a:rPr>
              <a:t> </a:t>
            </a:r>
            <a:r>
              <a:rPr sz="2200" b="0" i="1">
                <a:solidFill>
                  <a:srgbClr val="1C252B"/>
                </a:solidFill>
                <a:latin typeface="Segoe UI"/>
              </a:rPr>
              <a:t>by definition</a:t>
            </a:r>
            <a:r>
              <a:rPr sz="2200" b="0" i="0">
                <a:solidFill>
                  <a:srgbClr val="1C252B"/>
                </a:solidFill>
                <a:latin typeface="Segoe UI"/>
              </a:rPr>
              <a:t>, whatever the hash does, because every key lands somewhere. Only the spread distinguishes a hash that scatters from one that piles up: measured, longest chain 8 against 62, and mean probes 1.5 against 31.0.</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112  ·  answers in Appendix D     </a:t>
            </a:r>
            <a:fld id="{3FB2B390-EA37-41E8-A7F4-A94A78179A5E}" type="slidenum">
              <a:rPr lang="en-GB" sz="1000">
                <a:solidFill>
                  <a:srgbClr val="8795A1"/>
                </a:solidFill>
                <a:latin typeface="Segoe UI"/>
              </a:rPr>
              <a:t>41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63530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112     </a:t>
            </a:r>
            <a:fld id="{8F849F1C-44D9-4309-821E-1E77956CBB6C}" type="slidenum">
              <a:rPr lang="en-GB" sz="1000">
                <a:solidFill>
                  <a:srgbClr val="8795A1"/>
                </a:solidFill>
                <a:latin typeface="Segoe UI"/>
              </a:rPr>
              <a:t>42</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chaining hash table’s search cost is </a:t>
            </a:r>
            <a:r>
              <a:rPr sz="1700" b="0" i="0">
                <a:solidFill>
                  <a:srgbClr val="1C252B"/>
                </a:solidFill>
                <a:latin typeface="Cambria"/>
              </a:rPr>
              <a:t>Θ(1+α)</a:t>
            </a:r>
            <a:r>
              <a:rPr sz="1700" b="0" i="0">
                <a:solidFill>
                  <a:srgbClr val="1C252B"/>
                </a:solidFill>
                <a:latin typeface="Segoe UI"/>
              </a:rPr>
              <a:t> </a:t>
            </a:r>
            <a:r>
              <a:rPr sz="1700" b="0" i="1">
                <a:solidFill>
                  <a:srgbClr val="1C252B"/>
                </a:solidFill>
                <a:latin typeface="Segoe UI"/>
              </a:rPr>
              <a:t>expected</a:t>
            </a:r>
            <a:r>
              <a:rPr sz="1700" b="0" i="0">
                <a:solidFill>
                  <a:srgbClr val="1C252B"/>
                </a:solidFill>
                <a:latin typeface="Segoe UI"/>
              </a:rPr>
              <a:t>, under the simple uniform hashing assumption. Each of those three qualifications can fail.</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with a good hash, the chain-length distribution matched Poisson(1) to within 2% across seven lengths — the shape, not just the mean. Longest chain 9 against a mean of 1.5.</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probes per successful search were 1.125, 1.252, 1.500, 1.996, 2.998, 5.001 against a predicted </a:t>
            </a:r>
            <a:r>
              <a:rPr sz="1700" b="0" i="0">
                <a:solidFill>
                  <a:srgbClr val="1C252B"/>
                </a:solidFill>
                <a:latin typeface="Cambria"/>
              </a:rPr>
              <a:t>1+α/2</a:t>
            </a:r>
            <a:r>
              <a:rPr sz="1700" b="0" i="0">
                <a:solidFill>
                  <a:srgbClr val="1C252B"/>
                </a:solidFill>
                <a:latin typeface="Segoe UI"/>
              </a:rPr>
              <a:t> of 1.125, 1.250, 1.500, 2.000, 3.000, 5.000.</a:t>
            </a:r>
          </a:p>
        </p:txBody>
      </p:sp>
      <p:sp>
        <p:nvSpPr>
          <p:cNvPr id="16" name="!!sb3">
            <a:extLst>
              <a:ext uri="{C183D7F6-B498-43B3-948B-1728B52AA6E4}">
                <adec:decorative xmlns:adec="http://schemas.microsoft.com/office/drawing/2017/decorative" val="1"/>
              </a:ext>
            </a:extLst>
          </p:cNvPr>
          <p:cNvSpPr/>
          <p:nvPr/>
        </p:nvSpPr>
        <p:spPr>
          <a:xfrm>
            <a:off x="658368" y="391180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96666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0265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a:t>
            </a:r>
            <a:r>
              <a:rPr sz="1700" b="0" i="1">
                <a:solidFill>
                  <a:srgbClr val="1C252B"/>
                </a:solidFill>
                <a:latin typeface="Cambria"/>
              </a:rPr>
              <a:t>k</a:t>
            </a:r>
            <a:r>
              <a:rPr sz="1700" b="0" i="0">
                <a:solidFill>
                  <a:srgbClr val="1C252B"/>
                </a:solidFill>
                <a:latin typeface="Cambria"/>
              </a:rPr>
              <a:t> 2</a:t>
            </a:r>
            <a:r>
              <a:rPr sz="1100" b="0" i="0" baseline="30000">
                <a:solidFill>
                  <a:srgbClr val="1C252B"/>
                </a:solidFill>
                <a:latin typeface="Cambria"/>
              </a:rPr>
              <a:t>20</a:t>
            </a:r>
            <a:r>
              <a:rPr sz="1700" b="0" i="0">
                <a:solidFill>
                  <a:srgbClr val="1C252B"/>
                </a:solidFill>
                <a:latin typeface="Segoe UI"/>
              </a:rPr>
              <a:t> on keys with a stride of 64 used 1.6% of the slots and cost 31 probes instead of 1.5 — because a power-of-two modulus keeps only the low bits, and those keys’ low bits are constant.</a:t>
            </a:r>
          </a:p>
        </p:txBody>
      </p:sp>
      <p:sp>
        <p:nvSpPr>
          <p:cNvPr id="19" name="!!sb4">
            <a:extLst>
              <a:ext uri="{C183D7F6-B498-43B3-948B-1728B52AA6E4}">
                <adec:decorative xmlns:adec="http://schemas.microsoft.com/office/drawing/2017/decorative" val="1"/>
              </a:ext>
            </a:extLst>
          </p:cNvPr>
          <p:cNvSpPr/>
          <p:nvPr/>
        </p:nvSpPr>
        <p:spPr>
          <a:xfrm>
            <a:off x="658368" y="46335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884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24425"/>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deliberately chosen colliding keys made lookups 324</a:t>
            </a:r>
            <a:r>
              <a:rPr sz="1700" b="0" i="0">
                <a:solidFill>
                  <a:srgbClr val="1C252B"/>
                </a:solidFill>
                <a:latin typeface="Cambria"/>
              </a:rPr>
              <a:t>×</a:t>
            </a:r>
            <a:r>
              <a:rPr sz="1700" b="0" i="0">
                <a:solidFill>
                  <a:srgbClr val="1C252B"/>
                </a:solidFill>
                <a:latin typeface="Segoe UI"/>
              </a:rPr>
              <a:t> slower at </a:t>
            </a:r>
            <a:r>
              <a:rPr sz="1700" b="0" i="1">
                <a:solidFill>
                  <a:srgbClr val="1C252B"/>
                </a:solidFill>
                <a:latin typeface="Cambria"/>
              </a:rPr>
              <a:t>n</a:t>
            </a:r>
            <a:r>
              <a:rPr sz="1700" b="0" i="0">
                <a:solidFill>
                  <a:srgbClr val="1C252B"/>
                </a:solidFill>
                <a:latin typeface="Cambria"/>
              </a:rPr>
              <a:t> = 32,000</a:t>
            </a:r>
            <a:r>
              <a:rPr sz="1700" b="0" i="0">
                <a:solidFill>
                  <a:srgbClr val="1C252B"/>
                </a:solidFill>
                <a:latin typeface="Segoe UI"/>
              </a:rPr>
              <a:t>, and growing. This is hash flooding, a published attack against every major language.</a:t>
            </a:r>
          </a:p>
        </p:txBody>
      </p:sp>
      <p:sp>
        <p:nvSpPr>
          <p:cNvPr id="22" name="!!sb5">
            <a:extLst>
              <a:ext uri="{C183D7F6-B498-43B3-948B-1728B52AA6E4}">
                <adec:decorative xmlns:adec="http://schemas.microsoft.com/office/drawing/2017/decorative" val="1"/>
              </a:ext>
            </a:extLst>
          </p:cNvPr>
          <p:cNvSpPr/>
          <p:nvPr/>
        </p:nvSpPr>
        <p:spPr>
          <a:xfrm>
            <a:off x="658368" y="53553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4102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3461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Universal hashing — choosing </a:t>
            </a:r>
            <a:r>
              <a:rPr sz="1700" b="0" i="1">
                <a:solidFill>
                  <a:srgbClr val="1C252B"/>
                </a:solidFill>
                <a:latin typeface="Cambria"/>
              </a:rPr>
              <a:t>h</a:t>
            </a:r>
            <a:r>
              <a:rPr sz="1700" b="0" i="0">
                <a:solidFill>
                  <a:srgbClr val="1C252B"/>
                </a:solidFill>
                <a:latin typeface="Segoe UI"/>
              </a:rPr>
              <a:t> at random at run time — restores the expected bounds for </a:t>
            </a:r>
            <a:r>
              <a:rPr sz="1700" b="0" i="1">
                <a:solidFill>
                  <a:srgbClr val="1C252B"/>
                </a:solidFill>
                <a:latin typeface="Segoe UI"/>
              </a:rPr>
              <a:t>every</a:t>
            </a:r>
            <a:r>
              <a:rPr sz="1700" b="0" i="0">
                <a:solidFill>
                  <a:srgbClr val="1C252B"/>
                </a:solidFill>
                <a:latin typeface="Segoe UI"/>
              </a:rPr>
              <a:t> input, exactly as randomising the pivot did in Chapter 9.</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89470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112     </a:t>
            </a:r>
            <a:fld id="{9FD73CF7-F5CA-44CC-929B-85C70954E4CB}" type="slidenum">
              <a:rPr lang="en-GB" sz="1000">
                <a:solidFill>
                  <a:srgbClr val="8795A1"/>
                </a:solidFill>
                <a:latin typeface="Segoe UI"/>
              </a:rPr>
              <a:t>43</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Use a tree where the worst case must be bounded or where order matters; a hash table buys lookup speed by giving up order entirely.</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115410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112     </a:t>
            </a:r>
            <a:fld id="{5307BF4A-BC83-4207-8363-9B031BABDCA4}" type="slidenum">
              <a:rPr lang="en-GB" sz="1000">
                <a:solidFill>
                  <a:srgbClr val="8795A1"/>
                </a:solidFill>
                <a:latin typeface="Segoe UI"/>
              </a:rPr>
              <a:t>44</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expected number of probes for a successful search in a chaining table with load factor </a:t>
            </a:r>
            <a:r>
              <a:rPr sz="2600" b="0" i="0">
                <a:solidFill>
                  <a:srgbClr val="1C252B"/>
                </a:solidFill>
                <a:latin typeface="Cambria"/>
              </a:rPr>
              <a:t>α</a:t>
            </a:r>
            <a:r>
              <a:rPr sz="2600" b="0" i="0">
                <a:solidFill>
                  <a:srgbClr val="1C252B"/>
                </a:solidFill>
                <a:latin typeface="Segoe UI"/>
              </a:rPr>
              <a:t> is about:</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1</a:t>
            </a:r>
            <a:r>
              <a:rPr sz="2000" b="0" i="0">
                <a:solidFill>
                  <a:srgbClr val="1C252B"/>
                </a:solidFill>
                <a:latin typeface="Segoe UI"/>
              </a:rPr>
              <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α</a:t>
            </a:r>
            <a:r>
              <a:rPr sz="2000" b="0" i="0">
                <a:solidFill>
                  <a:srgbClr val="1C252B"/>
                </a:solidFill>
                <a:latin typeface="Segoe UI"/>
              </a:rPr>
              <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1 + α/2</a:t>
            </a:r>
            <a:r>
              <a:rPr sz="2000" b="0" i="0">
                <a:solidFill>
                  <a:srgbClr val="1C252B"/>
                </a:solidFill>
                <a:latin typeface="Segoe UI"/>
              </a:rPr>
              <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lg α</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1350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112     </a:t>
            </a:r>
            <a:fld id="{D981649A-B094-4D8D-B7C9-CEAE6C89BEEE}" type="slidenum">
              <a:rPr lang="en-GB" sz="1000">
                <a:solidFill>
                  <a:srgbClr val="8795A1"/>
                </a:solidFill>
                <a:latin typeface="Segoe UI"/>
              </a:rPr>
              <a:t>45</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Hashing with </a:t>
            </a:r>
            <a:r>
              <a:rPr sz="2600" b="0" i="1">
                <a:solidFill>
                  <a:srgbClr val="1C252B"/>
                </a:solidFill>
                <a:latin typeface="Cambria"/>
              </a:rPr>
              <a:t>h</a:t>
            </a:r>
            <a:r>
              <a:rPr sz="2600" b="0" i="0">
                <a:solidFill>
                  <a:srgbClr val="1C252B"/>
                </a:solidFill>
                <a:latin typeface="Cambria"/>
              </a:rPr>
              <a:t>(</a:t>
            </a:r>
            <a:r>
              <a:rPr sz="2600" b="0" i="1">
                <a:solidFill>
                  <a:srgbClr val="1C252B"/>
                </a:solidFill>
                <a:latin typeface="Cambria"/>
              </a:rPr>
              <a:t>k</a:t>
            </a:r>
            <a:r>
              <a:rPr sz="2600" b="0" i="0">
                <a:solidFill>
                  <a:srgbClr val="1C252B"/>
                </a:solidFill>
                <a:latin typeface="Cambria"/>
              </a:rPr>
              <a:t>) = </a:t>
            </a:r>
            <a:r>
              <a:rPr sz="2600" b="0" i="1">
                <a:solidFill>
                  <a:srgbClr val="1C252B"/>
                </a:solidFill>
                <a:latin typeface="Cambria"/>
              </a:rPr>
              <a:t>k</a:t>
            </a:r>
            <a:r>
              <a:rPr sz="2600" b="0" i="0">
                <a:solidFill>
                  <a:srgbClr val="1C252B"/>
                </a:solidFill>
                <a:latin typeface="Cambria"/>
              </a:rPr>
              <a:t> </a:t>
            </a:r>
            <a:r>
              <a:rPr sz="2600" b="0" i="1">
                <a:solidFill>
                  <a:srgbClr val="1C252B"/>
                </a:solidFill>
                <a:latin typeface="Cambria"/>
              </a:rPr>
              <a:t>m</a:t>
            </a:r>
            <a:r>
              <a:rPr sz="2600" b="0" i="0">
                <a:solidFill>
                  <a:srgbClr val="1C252B"/>
                </a:solidFill>
                <a:latin typeface="Segoe UI"/>
              </a:rPr>
              <a:t> where </a:t>
            </a:r>
            <a:r>
              <a:rPr sz="2600" b="0" i="1">
                <a:solidFill>
                  <a:srgbClr val="1C252B"/>
                </a:solidFill>
                <a:latin typeface="Cambria"/>
              </a:rPr>
              <a:t>m</a:t>
            </a:r>
            <a:r>
              <a:rPr sz="2600" b="0" i="0">
                <a:solidFill>
                  <a:srgbClr val="1C252B"/>
                </a:solidFill>
                <a:latin typeface="Cambria"/>
              </a:rPr>
              <a:t> = 2</a:t>
            </a:r>
            <a:r>
              <a:rPr sz="1700" b="0" i="0" baseline="30000">
                <a:solidFill>
                  <a:srgbClr val="1C252B"/>
                </a:solidFill>
                <a:latin typeface="Cambria"/>
              </a:rPr>
              <a:t>20</a:t>
            </a:r>
            <a:r>
              <a:rPr sz="2600" b="0" i="0">
                <a:solidFill>
                  <a:srgbClr val="1C252B"/>
                </a:solidFill>
                <a:latin typeface="Segoe UI"/>
              </a:rPr>
              <a:t> is a poor choice because:</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modulus is slow</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uses only the low 20 bits of the key</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cannot hash negative keys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is not deterministic</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7289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13  ·  Hashing, and What Constant Time Actually Promises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112     </a:t>
            </a:r>
            <a:fld id="{849C39FE-B757-414F-A69E-DBE0F5EC4CD8}" type="slidenum">
              <a:rPr lang="en-GB" sz="1000">
                <a:solidFill>
                  <a:srgbClr val="8795A1"/>
                </a:solidFill>
                <a:latin typeface="Segoe UI"/>
              </a:rPr>
              <a:t>46</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the three qualifications hidden in the claim “hash table lookup is </a:t>
            </a:r>
            <a:r>
              <a:rPr sz="1900" b="0" i="0">
                <a:solidFill>
                  <a:srgbClr val="1C252B"/>
                </a:solidFill>
                <a:latin typeface="Cambria"/>
              </a:rPr>
              <a:t>O(1)</a:t>
            </a:r>
            <a:r>
              <a:rPr sz="1900" b="0" i="0">
                <a:solidFill>
                  <a:srgbClr val="1C252B"/>
                </a:solidFill>
                <a:latin typeface="Segoe UI"/>
              </a:rPr>
              <a:t>”.</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hash flooding and the defence, and relate it to randomised quicksort.</a:t>
            </a:r>
          </a:p>
        </p:txBody>
      </p:sp>
      <p:sp>
        <p:nvSpPr>
          <p:cNvPr id="13" name="!!rt2">
            <a:extLst>
              <a:ext uri="{C183D7F6-B498-43B3-948B-1728B52AA6E4}">
                <adec:decorative xmlns:adec="http://schemas.microsoft.com/office/drawing/2017/decorative" val="1"/>
              </a:ext>
            </a:extLst>
          </p:cNvPr>
          <p:cNvSpPr/>
          <p:nvPr/>
        </p:nvSpPr>
        <p:spPr>
          <a:xfrm>
            <a:off x="658368" y="279684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83799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778556"/>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does comparing the chain-length distribution with Poisson test a hash function better than comparing mean chain lengths?</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Your keys are file paths that nearly all begin </a:t>
            </a:r>
            <a:r>
              <a:rPr sz="1800" b="0" i="0">
                <a:solidFill>
                  <a:srgbClr val="1F4E79"/>
                </a:solidFill>
                <a:latin typeface="Consolas"/>
              </a:rPr>
              <a:t>/var/log/app/</a:t>
            </a:r>
            <a:r>
              <a:rPr sz="1900" b="0" i="0">
                <a:solidFill>
                  <a:srgbClr val="1C252B"/>
                </a:solidFill>
                <a:latin typeface="Segoe UI"/>
              </a:rPr>
              <a:t>. Explain what will happen with a hash that reads the first 16 characters, and give two fixes.</a:t>
            </a:r>
          </a:p>
        </p:txBody>
      </p:sp>
      <p:sp>
        <p:nvSpPr>
          <p:cNvPr id="19" name="!!rt4">
            <a:extLst>
              <a:ext uri="{C183D7F6-B498-43B3-948B-1728B52AA6E4}">
                <adec:decorative xmlns:adec="http://schemas.microsoft.com/office/drawing/2017/decorative" val="1"/>
              </a:ext>
            </a:extLst>
          </p:cNvPr>
          <p:cNvSpPr/>
          <p:nvPr/>
        </p:nvSpPr>
        <p:spPr>
          <a:xfrm>
            <a:off x="658368" y="4440326"/>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48147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422038"/>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service parses untrusted JSON into a hash map and shows 300</a:t>
            </a:r>
            <a:r>
              <a:rPr sz="1900" b="0" i="0">
                <a:solidFill>
                  <a:srgbClr val="1C252B"/>
                </a:solidFill>
                <a:latin typeface="Cambria"/>
              </a:rPr>
              <a:t>×</a:t>
            </a:r>
            <a:r>
              <a:rPr sz="1900" b="0" i="0">
                <a:solidFill>
                  <a:srgbClr val="1C252B"/>
                </a:solidFill>
                <a:latin typeface="Segoe UI"/>
              </a:rPr>
              <a:t> latency spikes under some requests. Diagnose it, state the measurement that would confirm your diagnosis, and give the fix.</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3229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D8552"/>
                </a:solidFill>
                <a:latin typeface="Segoe UI Black"/>
              </a:rPr>
              <a:t>13</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13</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Chapter 14 — Greedy Algorithms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13, pages 104–112</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A hash table degrading under a poor hash</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Assignment 1 due</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13  ·  Hashing, and What Constant Time Actually Promises</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1AFE21DA-BEE0-41C5-B2CE-38EBD486FE7E}" type="slidenum">
              <a:rPr lang="en-GB" sz="1000">
                <a:solidFill>
                  <a:srgbClr val="D5DEE5"/>
                </a:solidFill>
                <a:latin typeface="Segoe UI"/>
              </a:rPr>
              <a:t>47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nalysis of Algorithms Fall 2026">
  <a:themeElements>
    <a:clrScheme name="Analysis of Algorithm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nalysis of Algorithm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13: Hashing, and What Constant Time Actually Promises</dc:title>
  <dc:subject>Analysis of Algorithms — Design, Proof and Measurement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