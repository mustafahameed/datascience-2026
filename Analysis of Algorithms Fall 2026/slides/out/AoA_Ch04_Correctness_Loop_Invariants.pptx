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39052A-9721-4778-82DD-630B85E166C1}">
          <p14:sldIdLst>
            <p14:sldId id="256"/>
            <p14:sldId id="257"/>
            <p14:sldId id="258"/>
            <p14:sldId id="259"/>
            <p14:sldId id="260"/>
          </p14:sldIdLst>
        </p14:section>
        <p14:section name="4.1 Why Testing Is Not Enough" id="{90376C10-A37E-4B99-86CB-1813D3D78587}">
          <p14:sldIdLst>
            <p14:sldId id="261"/>
            <p14:sldId id="262"/>
            <p14:sldId id="263"/>
            <p14:sldId id="264"/>
          </p14:sldIdLst>
        </p14:section>
        <p14:section name="4.2 The Loop Invariant" id="{1B67CA6D-094B-4BD5-8745-DC2C457FB32F}">
          <p14:sldIdLst>
            <p14:sldId id="265"/>
            <p14:sldId id="266"/>
            <p14:sldId id="267"/>
            <p14:sldId id="268"/>
          </p14:sldIdLst>
        </p14:section>
        <p14:section name="4.3 Insertion Sort, Proved" id="{4178858D-D302-4914-AE06-694CE730A0F5}">
          <p14:sldIdLst>
            <p14:sldId id="269"/>
            <p14:sldId id="270"/>
            <p14:sldId id="271"/>
            <p14:sldId id="272"/>
          </p14:sldIdLst>
        </p14:section>
        <p14:section name="4.4 Binary Search, Where the Invariant Is About Exclusion" id="{57AC2849-8396-4015-B03D-C34A49CC16B8}">
          <p14:sldIdLst>
            <p14:sldId id="273"/>
            <p14:sldId id="274"/>
            <p14:sldId id="275"/>
            <p14:sldId id="276"/>
          </p14:sldIdLst>
        </p14:section>
        <p14:section name="4.5 Termination: The Obligation People Skip" id="{95F1BDDE-7989-4707-A5D6-A9D04B1CAAF6}">
          <p14:sldIdLst>
            <p14:sldId id="277"/>
            <p14:sldId id="278"/>
            <p14:sldId id="279"/>
            <p14:sldId id="280"/>
            <p14:sldId id="281"/>
          </p14:sldIdLst>
        </p14:section>
        <p14:section name="4.6 A Loop Whose Invariant Holds and Which Never Finishes" id="{51A9963A-E93D-4B0F-8984-14929D6959E8}">
          <p14:sldIdLst>
            <p14:sldId id="282"/>
            <p14:sldId id="283"/>
            <p14:sldId id="284"/>
            <p14:sldId id="285"/>
            <p14:sldId id="286"/>
          </p14:sldIdLst>
        </p14:section>
        <p14:section name="Pitfalls" id="{5CF50353-A548-4D0C-9291-69A5CFCB24CB}">
          <p14:sldIdLst>
            <p14:sldId id="287"/>
            <p14:sldId id="288"/>
          </p14:sldIdLst>
        </p14:section>
        <p14:section name="Lab" id="{C8E74CA3-3230-448E-949E-127942AECA2F}">
          <p14:sldIdLst>
            <p14:sldId id="289"/>
            <p14:sldId id="290"/>
            <p14:sldId id="291"/>
            <p14:sldId id="292"/>
            <p14:sldId id="293"/>
            <p14:sldId id="294"/>
            <p14:sldId id="295"/>
            <p14:sldId id="296"/>
            <p14:sldId id="297"/>
            <p14:sldId id="298"/>
          </p14:sldIdLst>
        </p14:section>
        <p14:section name="Checkpoint" id="{46680CDC-774E-4C92-916D-D186A6CD38F7}">
          <p14:sldIdLst>
            <p14:sldId id="299"/>
            <p14:sldId id="300"/>
            <p14:sldId id="301"/>
            <p14:sldId id="302"/>
            <p14:sldId id="303"/>
            <p14:sldId id="304"/>
          </p14:sldIdLst>
        </p14:section>
        <p14:section name="Wrap-up" id="{6F34E3D2-7337-410C-ACF8-65797DAB92AF}">
          <p14:sldIdLst>
            <p14:sldId id="305"/>
            <p14:sldId id="306"/>
            <p14:sldId id="307"/>
            <p14:sldId id="308"/>
            <p14:sldId id="309"/>
            <p14:sldId id="31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Correctness: Loop Invariants. Part 1 — Analysing an Algorithm. Week 3: Correctness and loop invariants. Handout pages 30–40.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for the vocabulary. Section 4.2 leans on mathematical induction; Appendix B has it if you want a refresher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correctness; partial correctness; total correctness; loop invariant; initialisation; maintenance; termination; precondition; postcondition; permutation; loop variant; decreasing measure; well-founded.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sorting routine takes any array of any length holding any values. That is an infinite set of inputs, and a test suite is a finite list. The gap between them is not a matter of diligence; it is a matter of cardinality.</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4.1 (handout p. 32): Insertion-Sort. The outer loop’s invariant concerns the prefix A[1j−1]; the inner loop’s concerns where key has got to. Lines are numbered so the proof can cite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indexed from 1, as the pseudocode throughout this book is, and the C++ in the labs is indexed from 0. Appendix A explains the translation; the mathematics is cleaner from 1 and the code is cleaner from 0, and pretending otherwise helps nobody.</a:t>
            </a:r>
          </a:p>
          <a:p/>
          <a:p>
            <a:r>
              <a:t>Proof. Take as the invariant for the for loop: At the start of each iteration with index j, the subarray A[1 j−1] consists of the elements originally in A[1 j−1], in non-decreasing order. Initialisation. Before the first iteration j = 2, so the subarray is A[1 1]: one element, trivially sorted, and trivially the element originally there. Maintenance. Assume the invariant before the iteration with index j. The inner while loop shifts A[i] to A[i+1] for decreasing i while A[i] &gt; key, maintaining its own invariant: the entries A[i+2 j] are those originally in A[i+1 j−1], all of them &gt; key, and position A[i+1] is free. The loop exits when i = 0 or A[i] ≤ key; in either case every entry left of i+1 is ≤ key and every entry right of it is &gt; key, so writing key into the free slot A[i+1] leaves A[1 j] sorted. No element was overwritten without first being copied, and key was saved before the shifting began, so the subarray still holds exactly the original elements. Incrementing j makes this the invariant for the next iteration. Termination. The loop variable j increases by one each iteration and the loop ends when j = n+1. Substituting into the invariant: A[1 n] consists of the elements originally in A[1 n], in non-decreasing order — which is the postcondition. Termination itself is immediate because j strictly increases towards the fixed bound n+1, and the inner loop terminates because i strictly decreases towards the guard i &gt; 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Insertion sort’s invariant describes what has been built. The other common shape describes what has been ruled out.</a:t>
            </a:r>
          </a:p>
          <a:p/>
          <a:p>
            <a:r>
              <a:t>Figure 4.2 (handout p. 33): Binary-Search on a sorted array. The +1 on line 7 and the −1 on line 9 are what make the search range strictly smaller every iteration — Section 4.5 is about what happens when one of them is missing.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Invariant: if x occurs anywhere in A, then it occurs in A[lo hi]. Initialisation. lo = 1 and hi = n, so the range is all of A and the implication is trivial. Maintenance. Suppose the invariant holds and the loop body runs. If A[mid] = x the procedure returns a correct index and there is nothing to maintain. If A[mid] &lt; x then, because A is sorted, every index k ≤ mid has A[k] ≤ A[mid] &lt; x, so no such position holds x; discarding them by setting lo mid+1 therefore cannot discard an occurrence of x, and the invariant survives. The case A[mid] &gt; x is symmetric. Termination. Each iteration either returns, or replaces hi−lo by a strictly smaller value: line 7 raises lo past mid ≥ lo, and line 9 lowers hi below mid ≤ hi. Since hi−lo is an integer that strictly decreases and the loop runs only while hi − lo ≥ 0, the loop performs finitely many iterations. If it exits, then lo &gt; hi, so the range A[lo hi] is empty; by the invariant x occurs in A only if it occurs in an empty range, so it does not occur at all, and not-found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termination argument above did real work, and it is worth isolating what kind of work.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variants used so far: n+1−j for insertion sort’s outer loop, i for its inner loop, and hi−lo+1 for binary search.</a:t>
            </a:r>
          </a:p>
          <a:p/>
          <a:p>
            <a:r>
              <a:t>Figure 4.3 (handout p. 34): Euclid-GCD. Here the invariant is an equality — gcd(a,b) never changes — and the variant is simply b, whose decrease is what makes the loop finite.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Invariant: gcd(a, b) equals the greatest common divisor of the original arguments, and not both of a,b are zero. Initialisation. Immediate — a and b are the original arguments. Maintenance. The body replaces (a,b) by (b,  a b). Write a = qb + r with r = a b. Any d dividing both b and r divides qb + r = a; any d dividing both a and b divides a − qb = r. So the pairs (a,b) and (b,r) have the same set of common divisors, hence the same greatest one, and the invariant is preserved. Termination. Take μ = b. Since b ≠ 0 in the body, r = a b satisfies 0 ≤ r &lt; b, so the new value of b is strictly less than the old one and never negative. A strictly decreasing sequence of non-negative integers is finite, so the loop ends — with b = 0. Then gcd(a,0) = a, and by the invariant a is the gcd of the original arguments, which is what line 6 returns.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case the three obligations exist to catch. Change one character of Binary-Search: on line 7 write lo mid instead of lo mid+1.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the table in Section 4.6. Expect twenty-five minutes; part C audits 132 million iterations and takes about a minute.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The correct version, and the invariant it maintains.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same search with one character changed.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same search with one character changed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same search with one character changed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Ten thousand tests with keys that are present.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same ten thousand tests, keys absent.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And the invariant? It never broke once..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Why proving beats testing, counted.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Invariant: at the start of the iteration for i, total = Σk=1i−1 A[k]. Initialisation: i = 1 and the empty sum is 0. Maintenance: adding A[i] extends the sum by one term. Termination: i = n+1 gives Σk=1nA[k]. The measure is n + 1 − i, a non-negative integer strictly decreasing each iteration.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program that overwrites A[1 k] with zeros satisfies it: the prefix is sorted at every step. Repair: A[1k] is sorted and contains the k smallest elements of the original array, and A[k+1n] holds the rest. The second clause is what forbids inventing values.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Initialisation and maintenance give partial correctness — if the loop halts, the invariant plus the exit condition give the postcondition. They say nothing about halting. What is missing is a loop variant: an integer-valued measure that strictly decreases and is bounded below. Section 4.6’s binary search has a valid invariant and no such measure, and it ran for ever on 13,228 of 20,000 trials.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5 — Recurrences I: Substitution and Recursion Trees. READ: Handout Chapter 4, pages 30–40. THIS WEEK'S LAB: A bug that is never wrong and never finishes.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8.xml"/><Relationship Id="rId9" Type="http://schemas.openxmlformats.org/officeDocument/2006/relationships/slide" Target="slide22.xml"/><Relationship Id="rId10" Type="http://schemas.openxmlformats.org/officeDocument/2006/relationships/slide" Target="slide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5.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3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4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6.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7.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4.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5.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6.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7.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0.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3.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4.sv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Correctness: Loop Invariants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ANALYSING AN ALGORITHM</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4  ·  WEEK 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30     </a:t>
            </a:r>
            <a:fld id="{169B55B3-CFC7-4ED2-AB21-6957CBD9A2D8}" type="slidenum">
              <a:rPr lang="en-GB" sz="1000">
                <a:solidFill>
                  <a:srgbClr val="8795A1"/>
                </a:solidFill>
                <a:latin typeface="Segoe UI"/>
              </a:rPr>
              <a:t>2</a:t>
            </a:fld>
          </a:p>
        </p:txBody>
      </p:sp>
      <p:sp>
        <p:nvSpPr>
          <p:cNvPr id="7" name="!!rp1"/>
          <p:cNvSpPr txBox="1"/>
          <p:nvPr/>
        </p:nvSpPr>
        <p:spPr>
          <a:xfrm>
            <a:off x="777240"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6746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929340"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929340"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516226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516226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0034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0034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92815"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9281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135771"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443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52749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43605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7697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855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6869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772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Correctness: Loop Invariants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The Role of Algorithms, and What Efficient Means</a:t>
            </a:r>
          </a:p>
        </p:txBody>
      </p:sp>
      <p:sp>
        <p:nvSpPr>
          <p:cNvPr id="70"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1" name="!!chipUS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US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US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Recurrences I: Substitution and Recursion Trees</a:t>
            </a:r>
          </a:p>
        </p:txBody>
      </p:sp>
      <p:sp>
        <p:nvSpPr>
          <p:cNvPr id="74" name="!!chipUS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Brute Force, and When It Is the Right Answer</a:t>
            </a:r>
          </a:p>
        </p:txBody>
      </p:sp>
      <p:sp>
        <p:nvSpPr>
          <p:cNvPr id="77" name="!!chipUS8">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8">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8"/>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Divide and Conquer: Merge Sort and the Pattern</a:t>
            </a:r>
          </a:p>
        </p:txBody>
      </p:sp>
      <p:sp>
        <p:nvSpPr>
          <p:cNvPr id="80" name="!!chipUS17">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7">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7"/>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Amortised Analysis</a:t>
            </a:r>
          </a:p>
        </p:txBody>
      </p:sp>
      <p:sp>
        <p:nvSpPr>
          <p:cNvPr id="8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pfill">
            <a:extLst>
              <a:ext uri="{C183D7F6-B498-43B3-948B-1728B52AA6E4}">
                <adec:decorative xmlns:adec="http://schemas.microsoft.com/office/drawing/2017/decorative" val="1"/>
              </a:ext>
            </a:extLst>
          </p:cNvPr>
          <p:cNvSpPr/>
          <p:nvPr/>
        </p:nvSpPr>
        <p:spPr>
          <a:xfrm>
            <a:off x="0" y="0"/>
            <a:ext cx="4433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30     </a:t>
            </a:r>
            <a:fld id="{557559A8-5D72-478E-9C16-BFDD401037C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testing cannot establish that an algorithm is correct, and </a:t>
            </a:r>
            <a:r>
              <a:rPr sz="2100" b="1" i="0">
                <a:solidFill>
                  <a:srgbClr val="1C252B"/>
                </a:solidFill>
                <a:latin typeface="Segoe UI"/>
              </a:rPr>
              <a:t>quantify</a:t>
            </a:r>
            <a:r>
              <a:rPr sz="2100" b="0" i="0">
                <a:solidFill>
                  <a:srgbClr val="1C252B"/>
                </a:solidFill>
                <a:latin typeface="Segoe UI"/>
              </a:rPr>
              <a:t> the input space it would have to cover.</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State</a:t>
            </a:r>
            <a:r>
              <a:rPr sz="2100" b="0" i="0">
                <a:solidFill>
                  <a:srgbClr val="1C252B"/>
                </a:solidFill>
                <a:latin typeface="Segoe UI"/>
              </a:rPr>
              <a:t> a loop invariant for a given loop, and </a:t>
            </a:r>
            <a:r>
              <a:rPr sz="2100" b="1" i="0">
                <a:solidFill>
                  <a:srgbClr val="1C252B"/>
                </a:solidFill>
                <a:latin typeface="Segoe UI"/>
              </a:rPr>
              <a:t>name</a:t>
            </a:r>
            <a:r>
              <a:rPr sz="2100" b="0" i="0">
                <a:solidFill>
                  <a:srgbClr val="1C252B"/>
                </a:solidFill>
                <a:latin typeface="Segoe UI"/>
              </a:rPr>
              <a:t> the three obligations a proof must discharge.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Prove</a:t>
            </a:r>
            <a:r>
              <a:rPr sz="2100" b="0" i="0">
                <a:solidFill>
                  <a:srgbClr val="1C252B"/>
                </a:solidFill>
                <a:latin typeface="Segoe UI"/>
              </a:rPr>
              <a:t> insertion sort and binary search correct from their invariants, including the permutation clause.</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Distinguish</a:t>
            </a:r>
            <a:r>
              <a:rPr sz="2100" b="0" i="0">
                <a:solidFill>
                  <a:srgbClr val="1C252B"/>
                </a:solidFill>
                <a:latin typeface="Segoe UI"/>
              </a:rPr>
              <a:t> partial correctness from total correctness, and </a:t>
            </a:r>
            <a:r>
              <a:rPr sz="2100" b="1" i="0">
                <a:solidFill>
                  <a:srgbClr val="1C252B"/>
                </a:solidFill>
                <a:latin typeface="Segoe UI"/>
              </a:rPr>
              <a:t>prove</a:t>
            </a:r>
            <a:r>
              <a:rPr sz="2100" b="0" i="0">
                <a:solidFill>
                  <a:srgbClr val="1C252B"/>
                </a:solidFill>
                <a:latin typeface="Segoe UI"/>
              </a:rPr>
              <a:t> termination by exhibiting a decreasing measure.</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5739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Diagnose</a:t>
            </a:r>
            <a:r>
              <a:rPr sz="2100" b="0" i="0">
                <a:solidFill>
                  <a:srgbClr val="1C252B"/>
                </a:solidFill>
                <a:latin typeface="Segoe UI"/>
              </a:rPr>
              <a:t> a loop whose invariant holds but which fails to terminate.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650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30     </a:t>
            </a:r>
            <a:fld id="{F3A4DA90-4345-47CD-B3E8-D69BC6375F48}" type="slidenum">
              <a:rPr lang="en-GB" sz="1000">
                <a:solidFill>
                  <a:srgbClr val="8795A1"/>
                </a:solidFill>
                <a:latin typeface="Segoe UI"/>
              </a:rPr>
              <a:t>4</a:t>
            </a:fld>
          </a:p>
        </p:txBody>
      </p:sp>
      <p:sp>
        <p:nvSpPr>
          <p:cNvPr id="7" name="!!term-correctness">
            <a:extLst>
              <a:ext uri="{C183D7F6-B498-43B3-948B-1728B52AA6E4}">
                <adec:decorative xmlns:adec="http://schemas.microsoft.com/office/drawing/2017/decorative" val="1"/>
              </a:ext>
            </a:extLst>
          </p:cNvPr>
          <p:cNvSpPr/>
          <p:nvPr/>
        </p:nvSpPr>
        <p:spPr>
          <a:xfrm>
            <a:off x="658368" y="1847088"/>
            <a:ext cx="14762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rrectness">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rrectness"/>
          <p:cNvSpPr txBox="1"/>
          <p:nvPr/>
        </p:nvSpPr>
        <p:spPr>
          <a:xfrm>
            <a:off x="950976" y="1962911"/>
            <a:ext cx="129334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correctness</a:t>
            </a:r>
          </a:p>
        </p:txBody>
      </p:sp>
      <p:sp>
        <p:nvSpPr>
          <p:cNvPr id="10" name="!!term-partial correc">
            <a:extLst>
              <a:ext uri="{C183D7F6-B498-43B3-948B-1728B52AA6E4}">
                <adec:decorative xmlns:adec="http://schemas.microsoft.com/office/drawing/2017/decorative" val="1"/>
              </a:ext>
            </a:extLst>
          </p:cNvPr>
          <p:cNvSpPr/>
          <p:nvPr/>
        </p:nvSpPr>
        <p:spPr>
          <a:xfrm>
            <a:off x="2280898" y="1847088"/>
            <a:ext cx="21086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artial correc">
            <a:extLst>
              <a:ext uri="{C183D7F6-B498-43B3-948B-1728B52AA6E4}">
                <adec:decorative xmlns:adec="http://schemas.microsoft.com/office/drawing/2017/decorative" val="1"/>
              </a:ext>
            </a:extLst>
          </p:cNvPr>
          <p:cNvSpPr/>
          <p:nvPr/>
        </p:nvSpPr>
        <p:spPr>
          <a:xfrm>
            <a:off x="24089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artial correc"/>
          <p:cNvSpPr txBox="1"/>
          <p:nvPr/>
        </p:nvSpPr>
        <p:spPr>
          <a:xfrm>
            <a:off x="2573506" y="1962911"/>
            <a:ext cx="192576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partial correctness</a:t>
            </a:r>
          </a:p>
        </p:txBody>
      </p:sp>
      <p:sp>
        <p:nvSpPr>
          <p:cNvPr id="13" name="!!term-total correctn">
            <a:extLst>
              <a:ext uri="{C183D7F6-B498-43B3-948B-1728B52AA6E4}">
                <adec:decorative xmlns:adec="http://schemas.microsoft.com/office/drawing/2017/decorative" val="1"/>
              </a:ext>
            </a:extLst>
          </p:cNvPr>
          <p:cNvSpPr/>
          <p:nvPr/>
        </p:nvSpPr>
        <p:spPr>
          <a:xfrm>
            <a:off x="4535842" y="1847088"/>
            <a:ext cx="19506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otal correctn">
            <a:extLst>
              <a:ext uri="{C183D7F6-B498-43B3-948B-1728B52AA6E4}">
                <adec:decorative xmlns:adec="http://schemas.microsoft.com/office/drawing/2017/decorative" val="1"/>
              </a:ext>
            </a:extLst>
          </p:cNvPr>
          <p:cNvSpPr/>
          <p:nvPr/>
        </p:nvSpPr>
        <p:spPr>
          <a:xfrm>
            <a:off x="466385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otal correctn"/>
          <p:cNvSpPr txBox="1"/>
          <p:nvPr/>
        </p:nvSpPr>
        <p:spPr>
          <a:xfrm>
            <a:off x="4828450" y="1962911"/>
            <a:ext cx="17677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total correctness</a:t>
            </a:r>
          </a:p>
        </p:txBody>
      </p:sp>
      <p:sp>
        <p:nvSpPr>
          <p:cNvPr id="16" name="!!term-loop invariant">
            <a:extLst>
              <a:ext uri="{C183D7F6-B498-43B3-948B-1728B52AA6E4}">
                <adec:decorative xmlns:adec="http://schemas.microsoft.com/office/drawing/2017/decorative" val="1"/>
              </a:ext>
            </a:extLst>
          </p:cNvPr>
          <p:cNvSpPr/>
          <p:nvPr/>
        </p:nvSpPr>
        <p:spPr>
          <a:xfrm>
            <a:off x="6632774" y="1847088"/>
            <a:ext cx="16981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loop invariant">
            <a:extLst>
              <a:ext uri="{C183D7F6-B498-43B3-948B-1728B52AA6E4}">
                <adec:decorative xmlns:adec="http://schemas.microsoft.com/office/drawing/2017/decorative" val="1"/>
              </a:ext>
            </a:extLst>
          </p:cNvPr>
          <p:cNvSpPr/>
          <p:nvPr/>
        </p:nvSpPr>
        <p:spPr>
          <a:xfrm>
            <a:off x="676079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loop invariant"/>
          <p:cNvSpPr txBox="1"/>
          <p:nvPr/>
        </p:nvSpPr>
        <p:spPr>
          <a:xfrm>
            <a:off x="6925382" y="1962911"/>
            <a:ext cx="15153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loop invariant</a:t>
            </a:r>
          </a:p>
        </p:txBody>
      </p:sp>
      <p:sp>
        <p:nvSpPr>
          <p:cNvPr id="19" name="!!term-initialisation">
            <a:extLst>
              <a:ext uri="{C183D7F6-B498-43B3-948B-1728B52AA6E4}">
                <adec:decorative xmlns:adec="http://schemas.microsoft.com/office/drawing/2017/decorative" val="1"/>
              </a:ext>
            </a:extLst>
          </p:cNvPr>
          <p:cNvSpPr/>
          <p:nvPr/>
        </p:nvSpPr>
        <p:spPr>
          <a:xfrm>
            <a:off x="8477268" y="1847088"/>
            <a:ext cx="15353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nitialisation">
            <a:extLst>
              <a:ext uri="{C183D7F6-B498-43B3-948B-1728B52AA6E4}">
                <adec:decorative xmlns:adec="http://schemas.microsoft.com/office/drawing/2017/decorative" val="1"/>
              </a:ext>
            </a:extLst>
          </p:cNvPr>
          <p:cNvSpPr/>
          <p:nvPr/>
        </p:nvSpPr>
        <p:spPr>
          <a:xfrm>
            <a:off x="86052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nitialisation"/>
          <p:cNvSpPr txBox="1"/>
          <p:nvPr/>
        </p:nvSpPr>
        <p:spPr>
          <a:xfrm>
            <a:off x="8769876" y="1962911"/>
            <a:ext cx="135245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initialisation</a:t>
            </a:r>
          </a:p>
        </p:txBody>
      </p:sp>
      <p:sp>
        <p:nvSpPr>
          <p:cNvPr id="22" name="!!term-maintenance">
            <a:extLst>
              <a:ext uri="{C183D7F6-B498-43B3-948B-1728B52AA6E4}">
                <adec:decorative xmlns:adec="http://schemas.microsoft.com/office/drawing/2017/decorative" val="1"/>
              </a:ext>
            </a:extLst>
          </p:cNvPr>
          <p:cNvSpPr/>
          <p:nvPr/>
        </p:nvSpPr>
        <p:spPr>
          <a:xfrm>
            <a:off x="658368" y="2468880"/>
            <a:ext cx="16132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aintenanc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aintenance"/>
          <p:cNvSpPr txBox="1"/>
          <p:nvPr/>
        </p:nvSpPr>
        <p:spPr>
          <a:xfrm>
            <a:off x="950976" y="2584704"/>
            <a:ext cx="14303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maintenance</a:t>
            </a:r>
          </a:p>
        </p:txBody>
      </p:sp>
      <p:sp>
        <p:nvSpPr>
          <p:cNvPr id="25" name="!!term-termination">
            <a:extLst>
              <a:ext uri="{C183D7F6-B498-43B3-948B-1728B52AA6E4}">
                <adec:decorative xmlns:adec="http://schemas.microsoft.com/office/drawing/2017/decorative" val="1"/>
              </a:ext>
            </a:extLst>
          </p:cNvPr>
          <p:cNvSpPr/>
          <p:nvPr/>
        </p:nvSpPr>
        <p:spPr>
          <a:xfrm>
            <a:off x="2417915" y="2468880"/>
            <a:ext cx="15002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ermination">
            <a:extLst>
              <a:ext uri="{C183D7F6-B498-43B3-948B-1728B52AA6E4}">
                <adec:decorative xmlns:adec="http://schemas.microsoft.com/office/drawing/2017/decorative" val="1"/>
              </a:ext>
            </a:extLst>
          </p:cNvPr>
          <p:cNvSpPr/>
          <p:nvPr/>
        </p:nvSpPr>
        <p:spPr>
          <a:xfrm>
            <a:off x="254593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ermination"/>
          <p:cNvSpPr txBox="1"/>
          <p:nvPr/>
        </p:nvSpPr>
        <p:spPr>
          <a:xfrm>
            <a:off x="2710523" y="2584704"/>
            <a:ext cx="131739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termination</a:t>
            </a:r>
          </a:p>
        </p:txBody>
      </p:sp>
      <p:sp>
        <p:nvSpPr>
          <p:cNvPr id="28" name="!!term-precondition">
            <a:extLst>
              <a:ext uri="{C183D7F6-B498-43B3-948B-1728B52AA6E4}">
                <adec:decorative xmlns:adec="http://schemas.microsoft.com/office/drawing/2017/decorative" val="1"/>
              </a:ext>
            </a:extLst>
          </p:cNvPr>
          <p:cNvSpPr/>
          <p:nvPr/>
        </p:nvSpPr>
        <p:spPr>
          <a:xfrm>
            <a:off x="4064498" y="2468880"/>
            <a:ext cx="16072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econdition">
            <a:extLst>
              <a:ext uri="{C183D7F6-B498-43B3-948B-1728B52AA6E4}">
                <adec:decorative xmlns:adec="http://schemas.microsoft.com/office/drawing/2017/decorative" val="1"/>
              </a:ext>
            </a:extLst>
          </p:cNvPr>
          <p:cNvSpPr/>
          <p:nvPr/>
        </p:nvSpPr>
        <p:spPr>
          <a:xfrm>
            <a:off x="419251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econdition"/>
          <p:cNvSpPr txBox="1"/>
          <p:nvPr/>
        </p:nvSpPr>
        <p:spPr>
          <a:xfrm>
            <a:off x="4357106" y="2584704"/>
            <a:ext cx="14243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precondition</a:t>
            </a:r>
          </a:p>
        </p:txBody>
      </p:sp>
      <p:sp>
        <p:nvSpPr>
          <p:cNvPr id="31" name="!!term-postcondition">
            <a:extLst>
              <a:ext uri="{C183D7F6-B498-43B3-948B-1728B52AA6E4}">
                <adec:decorative xmlns:adec="http://schemas.microsoft.com/office/drawing/2017/decorative" val="1"/>
              </a:ext>
            </a:extLst>
          </p:cNvPr>
          <p:cNvSpPr/>
          <p:nvPr/>
        </p:nvSpPr>
        <p:spPr>
          <a:xfrm>
            <a:off x="5818019" y="2468880"/>
            <a:ext cx="17062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ostcondition">
            <a:extLst>
              <a:ext uri="{C183D7F6-B498-43B3-948B-1728B52AA6E4}">
                <adec:decorative xmlns:adec="http://schemas.microsoft.com/office/drawing/2017/decorative" val="1"/>
              </a:ext>
            </a:extLst>
          </p:cNvPr>
          <p:cNvSpPr/>
          <p:nvPr/>
        </p:nvSpPr>
        <p:spPr>
          <a:xfrm>
            <a:off x="594603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ostcondition"/>
          <p:cNvSpPr txBox="1"/>
          <p:nvPr/>
        </p:nvSpPr>
        <p:spPr>
          <a:xfrm>
            <a:off x="6110627" y="2584704"/>
            <a:ext cx="15234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postcondition</a:t>
            </a:r>
          </a:p>
        </p:txBody>
      </p:sp>
      <p:sp>
        <p:nvSpPr>
          <p:cNvPr id="34" name="!!term-permutation">
            <a:extLst>
              <a:ext uri="{C183D7F6-B498-43B3-948B-1728B52AA6E4}">
                <adec:decorative xmlns:adec="http://schemas.microsoft.com/office/drawing/2017/decorative" val="1"/>
              </a:ext>
            </a:extLst>
          </p:cNvPr>
          <p:cNvSpPr/>
          <p:nvPr/>
        </p:nvSpPr>
        <p:spPr>
          <a:xfrm>
            <a:off x="7670612" y="2468880"/>
            <a:ext cx="15720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permutation">
            <a:extLst>
              <a:ext uri="{C183D7F6-B498-43B3-948B-1728B52AA6E4}">
                <adec:decorative xmlns:adec="http://schemas.microsoft.com/office/drawing/2017/decorative" val="1"/>
              </a:ext>
            </a:extLst>
          </p:cNvPr>
          <p:cNvSpPr/>
          <p:nvPr/>
        </p:nvSpPr>
        <p:spPr>
          <a:xfrm>
            <a:off x="779862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permutation"/>
          <p:cNvSpPr txBox="1"/>
          <p:nvPr/>
        </p:nvSpPr>
        <p:spPr>
          <a:xfrm>
            <a:off x="7963220" y="2584704"/>
            <a:ext cx="13891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permutation</a:t>
            </a:r>
          </a:p>
        </p:txBody>
      </p:sp>
      <p:sp>
        <p:nvSpPr>
          <p:cNvPr id="37" name="!!term-loop variant">
            <a:extLst>
              <a:ext uri="{C183D7F6-B498-43B3-948B-1728B52AA6E4}">
                <adec:decorative xmlns:adec="http://schemas.microsoft.com/office/drawing/2017/decorative" val="1"/>
              </a:ext>
            </a:extLst>
          </p:cNvPr>
          <p:cNvSpPr/>
          <p:nvPr/>
        </p:nvSpPr>
        <p:spPr>
          <a:xfrm>
            <a:off x="9388934" y="2468880"/>
            <a:ext cx="15307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loop variant">
            <a:extLst>
              <a:ext uri="{C183D7F6-B498-43B3-948B-1728B52AA6E4}">
                <adec:decorative xmlns:adec="http://schemas.microsoft.com/office/drawing/2017/decorative" val="1"/>
              </a:ext>
            </a:extLst>
          </p:cNvPr>
          <p:cNvSpPr/>
          <p:nvPr/>
        </p:nvSpPr>
        <p:spPr>
          <a:xfrm>
            <a:off x="95169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loop variant"/>
          <p:cNvSpPr txBox="1"/>
          <p:nvPr/>
        </p:nvSpPr>
        <p:spPr>
          <a:xfrm>
            <a:off x="9681542" y="2584704"/>
            <a:ext cx="13478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loop variant</a:t>
            </a:r>
          </a:p>
        </p:txBody>
      </p:sp>
      <p:sp>
        <p:nvSpPr>
          <p:cNvPr id="40" name="!!term-decreasing mea">
            <a:extLst>
              <a:ext uri="{C183D7F6-B498-43B3-948B-1728B52AA6E4}">
                <adec:decorative xmlns:adec="http://schemas.microsoft.com/office/drawing/2017/decorative" val="1"/>
              </a:ext>
            </a:extLst>
          </p:cNvPr>
          <p:cNvSpPr/>
          <p:nvPr/>
        </p:nvSpPr>
        <p:spPr>
          <a:xfrm>
            <a:off x="658368" y="3090672"/>
            <a:ext cx="22633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decreasing mea">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decreasing mea"/>
          <p:cNvSpPr txBox="1"/>
          <p:nvPr/>
        </p:nvSpPr>
        <p:spPr>
          <a:xfrm>
            <a:off x="950976" y="3206496"/>
            <a:ext cx="20804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decreasing measure</a:t>
            </a:r>
          </a:p>
        </p:txBody>
      </p:sp>
      <p:sp>
        <p:nvSpPr>
          <p:cNvPr id="43" name="!!term-well-founded">
            <a:extLst>
              <a:ext uri="{C183D7F6-B498-43B3-948B-1728B52AA6E4}">
                <adec:decorative xmlns:adec="http://schemas.microsoft.com/office/drawing/2017/decorative" val="1"/>
              </a:ext>
            </a:extLst>
          </p:cNvPr>
          <p:cNvSpPr/>
          <p:nvPr/>
        </p:nvSpPr>
        <p:spPr>
          <a:xfrm>
            <a:off x="3068044" y="3090672"/>
            <a:ext cx="16538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well-founded">
            <a:extLst>
              <a:ext uri="{C183D7F6-B498-43B3-948B-1728B52AA6E4}">
                <adec:decorative xmlns:adec="http://schemas.microsoft.com/office/drawing/2017/decorative" val="1"/>
              </a:ext>
            </a:extLst>
          </p:cNvPr>
          <p:cNvSpPr/>
          <p:nvPr/>
        </p:nvSpPr>
        <p:spPr>
          <a:xfrm>
            <a:off x="319606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well-founded"/>
          <p:cNvSpPr txBox="1"/>
          <p:nvPr/>
        </p:nvSpPr>
        <p:spPr>
          <a:xfrm>
            <a:off x="3360652" y="3206496"/>
            <a:ext cx="14709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well-founded</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8866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30–40     </a:t>
            </a:r>
            <a:fld id="{6CB9AA04-DF19-4DA6-BCFA-2A4E4ECC31E3}" type="slidenum">
              <a:rPr lang="en-GB" sz="1000">
                <a:solidFill>
                  <a:srgbClr val="8795A1"/>
                </a:solidFill>
                <a:latin typeface="Segoe UI"/>
              </a:rPr>
              <a:t>5</a:t>
            </a:fld>
          </a:p>
        </p:txBody>
      </p:sp>
      <p:sp>
        <p:nvSpPr>
          <p:cNvPr id="7" name="!!ag0" descr="Go to section 4.1 Why Testing Is Not Enough">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Testing Is Not Enough</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30  ›</a:t>
            </a:r>
          </a:p>
        </p:txBody>
      </p:sp>
      <p:sp>
        <p:nvSpPr>
          <p:cNvPr id="12" name="!!ag1" descr="Go to section 4.2 The Loop Invariant">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Loop Invariant</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31  ›</a:t>
            </a:r>
          </a:p>
        </p:txBody>
      </p:sp>
      <p:sp>
        <p:nvSpPr>
          <p:cNvPr id="17" name="!!ag2" descr="Go to section 4.3 Insertion Sort, Prove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Insertion Sort, Proved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32  ›</a:t>
            </a:r>
          </a:p>
        </p:txBody>
      </p:sp>
      <p:sp>
        <p:nvSpPr>
          <p:cNvPr id="22" name="!!ag3" descr="Go to section 4.4 Binary Search, Where the Invariant Is About Exclusion">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Binary Search, Where the Invariant Is About Exclusion</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33  ›</a:t>
            </a:r>
          </a:p>
        </p:txBody>
      </p:sp>
      <p:sp>
        <p:nvSpPr>
          <p:cNvPr id="27" name="!!ag4" descr="Go to section 4.5 Termination: The Obligation People Skip">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Termination: The Obligation People Skip</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34  ›</a:t>
            </a:r>
          </a:p>
        </p:txBody>
      </p:sp>
      <p:sp>
        <p:nvSpPr>
          <p:cNvPr id="32" name="!!ag5" descr="Go to section 4.6 A Loop Whose Invariant Holds and Which Never Finishes">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4.6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Loop Whose Invariant Holds and Which Never Finishes</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35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Testing Is Not Enough</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4.1   Why Testing Is Not Enough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Loop Invariant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Insertion Sort, Proved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Binary Search, Where the Invariant Is About Exclusion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Termination: The Obligation People Skip</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A Loop Whose Invariant Holds and Which Never Finishes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§4.1     </a:t>
            </a:r>
            <a:fld id="{E8EFD007-2743-454F-AFD7-45D32B6DEECD}" type="slidenum">
              <a:rPr lang="en-GB" sz="1000">
                <a:solidFill>
                  <a:srgbClr val="8795A1"/>
                </a:solidFill>
                <a:latin typeface="Segoe UI"/>
              </a:rPr>
              <a:t>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3300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Counting What Exhaustive Testing Would Cost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30     </a:t>
            </a:r>
            <a:fld id="{16D8F378-B240-4A1F-B4F2-90A5809D426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15665"/>
          </a:xfrm>
          <a:prstGeom prst="roundRect">
            <a:avLst>
              <a:gd name="adj" fmla="val 267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1566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Restrict the problem absurdly: arrays of exactly </a:t>
            </a:r>
            <a:r>
              <a:rPr sz="1900" b="0" i="1">
                <a:solidFill>
                  <a:srgbClr val="1C252B"/>
                </a:solidFill>
                <a:latin typeface="Cambria"/>
              </a:rPr>
              <a:t>n</a:t>
            </a:r>
            <a:r>
              <a:rPr sz="1900" b="0" i="0">
                <a:solidFill>
                  <a:srgbClr val="1C252B"/>
                </a:solidFill>
                <a:latin typeface="Segoe UI"/>
              </a:rPr>
              <a:t> elements, each value drawn from </a:t>
            </a:r>
            <a:r>
              <a:rPr sz="1900" b="0" i="0">
                <a:solidFill>
                  <a:srgbClr val="1C252B"/>
                </a:solidFill>
                <a:latin typeface="Cambria"/>
              </a:rPr>
              <a:t>0</a:t>
            </a:r>
            <a:r>
              <a:rPr sz="1900" b="0" i="0">
                <a:solidFill>
                  <a:srgbClr val="1C252B"/>
                </a:solidFill>
                <a:latin typeface="Segoe UI"/>
              </a:rPr>
              <a:t> to </a:t>
            </a:r>
            <a:r>
              <a:rPr sz="1900" b="0" i="0">
                <a:solidFill>
                  <a:srgbClr val="1C252B"/>
                </a:solidFill>
                <a:latin typeface="Cambria"/>
              </a:rPr>
              <a:t>99</a:t>
            </a:r>
            <a:r>
              <a:rPr sz="1900" b="0" i="0">
                <a:solidFill>
                  <a:srgbClr val="1C252B"/>
                </a:solidFill>
                <a:latin typeface="Segoe UI"/>
              </a:rPr>
              <a:t>. How many distinct sorted inputs must a binary search be tested against?</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a:t>
            </a:r>
            <a:r>
              <a:rPr sz="1900" b="0" i="0">
                <a:solidFill>
                  <a:srgbClr val="1C252B"/>
                </a:solidFill>
                <a:latin typeface="Segoe UI"/>
              </a:rPr>
              <a:t> Only the multiset of values matters, so the count is the number of multisets of size </a:t>
            </a:r>
            <a:r>
              <a:rPr sz="1900" b="0" i="1">
                <a:solidFill>
                  <a:srgbClr val="1C252B"/>
                </a:solidFill>
                <a:latin typeface="Cambria"/>
              </a:rPr>
              <a:t>n</a:t>
            </a:r>
            <a:r>
              <a:rPr sz="1900" b="0" i="0">
                <a:solidFill>
                  <a:srgbClr val="1C252B"/>
                </a:solidFill>
                <a:latin typeface="Segoe UI"/>
              </a:rPr>
              <a:t> from an alphabet of </a:t>
            </a:r>
            <a:r>
              <a:rPr sz="1900" b="0" i="1">
                <a:solidFill>
                  <a:srgbClr val="1C252B"/>
                </a:solidFill>
                <a:latin typeface="Cambria"/>
              </a:rPr>
              <a:t>m</a:t>
            </a:r>
            <a:r>
              <a:rPr sz="1900" b="0" i="0">
                <a:solidFill>
                  <a:srgbClr val="1C252B"/>
                </a:solidFill>
                <a:latin typeface="Cambria"/>
              </a:rPr>
              <a:t> = 100</a:t>
            </a:r>
            <a:r>
              <a:rPr sz="1900" b="0" i="0">
                <a:solidFill>
                  <a:srgbClr val="1C252B"/>
                </a:solidFill>
                <a:latin typeface="Segoe UI"/>
              </a:rPr>
              <a:t>:</a:t>
            </a:r>
          </a:p>
        </p:txBody>
      </p:sp>
      <p:pic>
        <p:nvPicPr>
          <p:cNvPr id="11" name="body-2" descr="\binom{m + n - 1}{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662025"/>
          </a:xfrm>
          <a:prstGeom prst="rect">
            <a:avLst/>
          </a:prstGeom>
        </p:spPr>
      </p:pic>
      <p:sp>
        <p:nvSpPr>
          <p:cNvPr id="12" name="body-3"/>
          <p:cNvSpPr txBox="1"/>
          <p:nvPr/>
        </p:nvSpPr>
        <p:spPr>
          <a:xfrm>
            <a:off x="1042416" y="427642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a:t>
            </a:r>
            <a:r>
              <a:rPr sz="1900" b="0" i="0">
                <a:solidFill>
                  <a:srgbClr val="1C252B"/>
                </a:solidFill>
                <a:latin typeface="Segoe UI"/>
              </a:rPr>
              <a:t> Evaluated by </a:t>
            </a:r>
            <a:r>
              <a:rPr sz="1800" b="0" i="0">
                <a:solidFill>
                  <a:srgbClr val="1F4E79"/>
                </a:solidFill>
                <a:latin typeface="Consolas"/>
              </a:rPr>
              <a:t>code/ch04_invariant.cpp</a:t>
            </a:r>
            <a:r>
              <a:rPr sz="1900" b="0" i="0">
                <a:solidFill>
                  <a:srgbClr val="1C252B"/>
                </a:solidFill>
                <a:latin typeface="Segoe UI"/>
              </a:rPr>
              <a:t>, and each array must then be tried against all 100 possible keys:</a:t>
            </a:r>
          </a:p>
        </p:txBody>
      </p:sp>
      <p:sp>
        <p:nvSpPr>
          <p:cNvPr id="13" name="body-3bar">
            <a:extLst>
              <a:ext uri="{C183D7F6-B498-43B3-948B-1728B52AA6E4}">
                <adec:decorative xmlns:adec="http://schemas.microsoft.com/office/drawing/2017/decorative" val="1"/>
              </a:ext>
            </a:extLst>
          </p:cNvPr>
          <p:cNvSpPr/>
          <p:nvPr/>
        </p:nvSpPr>
        <p:spPr>
          <a:xfrm>
            <a:off x="841248" y="429470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551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Counting What Exhaustive Testing Would Cost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30     </a:t>
            </a:r>
            <a:fld id="{C95232D0-896B-46D1-A9CB-248FB7510FE2}"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501"/>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5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3171155" cy="1950720"/>
        </p:xfrm>
        <a:graphic>
          <a:graphicData uri="http://schemas.openxmlformats.org/drawingml/2006/table">
            <a:tbl>
              <a:tblPr firstRow="0" bandRow="0" firstCol="0" lastRow="0" lastCol="0" bandCol="0">
                <a:tableStyleId>{2D5ABB26-0587-4C30-8999-92F81FD0307C}</a:tableStyleId>
              </a:tblPr>
              <a:tblGrid>
                <a:gridCol w="530352"/>
                <a:gridCol w="1525397"/>
                <a:gridCol w="1115406"/>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sorted arrays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0">
                          <a:solidFill>
                            <a:srgbClr val="1A5276"/>
                          </a:solidFill>
                          <a:latin typeface="Segoe UI"/>
                        </a:rPr>
                        <a:t> keys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4.42 × 10</a:t>
                      </a:r>
                      <a:r>
                        <a:rPr sz="1050" b="0" i="0" baseline="30000">
                          <a:solidFill>
                            <a:srgbClr val="1C252B"/>
                          </a:solidFill>
                          <a:latin typeface="Cambria"/>
                        </a:rPr>
                        <a:t>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4.4 × 10</a:t>
                      </a:r>
                      <a:r>
                        <a:rPr sz="1050" b="0" i="0" baseline="30000">
                          <a:solidFill>
                            <a:srgbClr val="1C252B"/>
                          </a:solidFill>
                          <a:latin typeface="Cambria"/>
                        </a:rPr>
                        <a:t>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Cambria"/>
                        </a:rPr>
                        <a:t>3.26 × 10</a:t>
                      </a:r>
                      <a:r>
                        <a:rPr sz="1050" b="0" i="0" baseline="30000">
                          <a:solidFill>
                            <a:srgbClr val="1C252B"/>
                          </a:solidFill>
                          <a:latin typeface="Cambria"/>
                        </a:rPr>
                        <a:t>11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Cambria"/>
                        </a:rPr>
                        <a:t>3.3 × 10</a:t>
                      </a:r>
                      <a:r>
                        <a:rPr sz="1050" b="0" i="0" baseline="30000">
                          <a:solidFill>
                            <a:srgbClr val="1C252B"/>
                          </a:solidFill>
                          <a:latin typeface="Cambria"/>
                        </a:rPr>
                        <a:t>13</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1.50 × 10</a:t>
                      </a:r>
                      <a:r>
                        <a:rPr sz="1050" b="0" i="0" baseline="30000">
                          <a:solidFill>
                            <a:srgbClr val="1C252B"/>
                          </a:solidFill>
                          <a:latin typeface="Cambria"/>
                        </a:rPr>
                        <a:t>19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1.5 × 10</a:t>
                      </a:r>
                      <a:r>
                        <a:rPr sz="1050" b="0" i="0" baseline="30000">
                          <a:solidFill>
                            <a:srgbClr val="1C252B"/>
                          </a:solidFill>
                          <a:latin typeface="Cambria"/>
                        </a:rPr>
                        <a:t>21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Cambria"/>
                        </a:rPr>
                        <a:t>2.46 × 10</a:t>
                      </a:r>
                      <a:r>
                        <a:rPr sz="1050" b="0" i="0" baseline="30000">
                          <a:solidFill>
                            <a:srgbClr val="1C252B"/>
                          </a:solidFill>
                          <a:latin typeface="Cambria"/>
                        </a:rPr>
                        <a:t>22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Cambria"/>
                        </a:rPr>
                        <a:t>2.5 × 10</a:t>
                      </a:r>
                      <a:r>
                        <a:rPr sz="1050" b="0" i="0" baseline="30000">
                          <a:solidFill>
                            <a:srgbClr val="1C252B"/>
                          </a:solidFill>
                          <a:latin typeface="Cambria"/>
                        </a:rPr>
                        <a:t>24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42416" y="409511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a:t>
            </a:r>
            <a:r>
              <a:rPr sz="1900" b="0" i="0">
                <a:solidFill>
                  <a:srgbClr val="1C252B"/>
                </a:solidFill>
                <a:latin typeface="Segoe UI"/>
              </a:rPr>
              <a:t> At a billion tests a second, the </a:t>
            </a:r>
            <a:r>
              <a:rPr sz="1900" b="0" i="1">
                <a:solidFill>
                  <a:srgbClr val="1C252B"/>
                </a:solidFill>
                <a:latin typeface="Cambria"/>
              </a:rPr>
              <a:t>n</a:t>
            </a:r>
            <a:r>
              <a:rPr sz="1900" b="0" i="0">
                <a:solidFill>
                  <a:srgbClr val="1C252B"/>
                </a:solidFill>
                <a:latin typeface="Cambria"/>
              </a:rPr>
              <a:t> = 20</a:t>
            </a:r>
            <a:r>
              <a:rPr sz="1900" b="0" i="0">
                <a:solidFill>
                  <a:srgbClr val="1C252B"/>
                </a:solidFill>
                <a:latin typeface="Segoe UI"/>
              </a:rPr>
              <a:t> row takes </a:t>
            </a:r>
            <a:r>
              <a:rPr sz="1900" b="0" i="0">
                <a:solidFill>
                  <a:srgbClr val="1C252B"/>
                </a:solidFill>
                <a:latin typeface="Cambria"/>
              </a:rPr>
              <a:t>2.5 × 10</a:t>
            </a:r>
            <a:r>
              <a:rPr sz="1250" b="0" i="0" baseline="30000">
                <a:solidFill>
                  <a:srgbClr val="1C252B"/>
                </a:solidFill>
                <a:latin typeface="Cambria"/>
              </a:rPr>
              <a:t>15</a:t>
            </a:r>
            <a:r>
              <a:rPr sz="1900" b="0" i="0">
                <a:solidFill>
                  <a:srgbClr val="1C252B"/>
                </a:solidFill>
                <a:latin typeface="Segoe UI"/>
              </a:rPr>
              <a:t> seconds — about </a:t>
            </a:r>
            <a:r>
              <a:rPr sz="1900" b="1" i="0">
                <a:solidFill>
                  <a:srgbClr val="1C252B"/>
                </a:solidFill>
                <a:latin typeface="Segoe UI"/>
              </a:rPr>
              <a:t>80 million years</a:t>
            </a:r>
            <a:r>
              <a:rPr sz="1900" b="0" i="0">
                <a:solidFill>
                  <a:srgbClr val="1C252B"/>
                </a:solidFill>
                <a:latin typeface="Segoe UI"/>
              </a:rPr>
              <a:t>. And that is for arrays of twenty elements holding two-digit numbers.</a:t>
            </a:r>
          </a:p>
        </p:txBody>
      </p:sp>
      <p:sp>
        <p:nvSpPr>
          <p:cNvPr id="11" name="body-1bar">
            <a:extLst>
              <a:ext uri="{C183D7F6-B498-43B3-948B-1728B52AA6E4}">
                <adec:decorative xmlns:adec="http://schemas.microsoft.com/office/drawing/2017/decorative" val="1"/>
              </a:ext>
            </a:extLst>
          </p:cNvPr>
          <p:cNvSpPr/>
          <p:nvPr/>
        </p:nvSpPr>
        <p:spPr>
          <a:xfrm>
            <a:off x="841248" y="411340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83011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conclusion.</a:t>
            </a:r>
            <a:r>
              <a:rPr sz="1900" b="0" i="0">
                <a:solidFill>
                  <a:srgbClr val="1C252B"/>
                </a:solidFill>
                <a:latin typeface="Segoe UI"/>
              </a:rPr>
              <a:t> Testing samples the input space; it cannot cover it. A proof covers it, in half a page, for every </a:t>
            </a:r>
            <a:r>
              <a:rPr sz="1900" b="0" i="1">
                <a:solidFill>
                  <a:srgbClr val="1C252B"/>
                </a:solidFill>
                <a:latin typeface="Cambria"/>
              </a:rPr>
              <a:t>n</a:t>
            </a:r>
            <a:r>
              <a:rPr sz="1900" b="0" i="0">
                <a:solidFill>
                  <a:srgbClr val="1C252B"/>
                </a:solidFill>
                <a:latin typeface="Segoe UI"/>
              </a:rPr>
              <a:t> and every alphabet at once. The two activities answer different questions, and this chapter is about the one testing cannot answer.</a:t>
            </a:r>
          </a:p>
        </p:txBody>
      </p:sp>
      <p:sp>
        <p:nvSpPr>
          <p:cNvPr id="13" name="body-2bar">
            <a:extLst>
              <a:ext uri="{C183D7F6-B498-43B3-948B-1728B52AA6E4}">
                <adec:decorative xmlns:adec="http://schemas.microsoft.com/office/drawing/2017/decorative" val="1"/>
              </a:ext>
            </a:extLst>
          </p:cNvPr>
          <p:cNvSpPr/>
          <p:nvPr/>
        </p:nvSpPr>
        <p:spPr>
          <a:xfrm>
            <a:off x="841248" y="484840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17733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testing is still for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30     </a:t>
            </a:r>
            <a:fld id="{D542183F-09E0-4FD3-A875-B5E0F2CF3D0F}"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None of this says do not test. A proof establishes that the </a:t>
            </a:r>
            <a:r>
              <a:rPr sz="2300" b="0" i="1">
                <a:solidFill>
                  <a:srgbClr val="1C252B"/>
                </a:solidFill>
                <a:latin typeface="Segoe UI"/>
              </a:rPr>
              <a:t>algorithm</a:t>
            </a:r>
            <a:r>
              <a:rPr sz="2300" b="0" i="0">
                <a:solidFill>
                  <a:srgbClr val="1C252B"/>
                </a:solidFill>
                <a:latin typeface="Segoe UI"/>
              </a:rPr>
              <a:t> is correct; it says nothing about whether your </a:t>
            </a:r>
            <a:r>
              <a:rPr sz="2300" b="0" i="1">
                <a:solidFill>
                  <a:srgbClr val="1C252B"/>
                </a:solidFill>
                <a:latin typeface="Segoe UI"/>
              </a:rPr>
              <a:t>program</a:t>
            </a:r>
            <a:r>
              <a:rPr sz="2300" b="0" i="0">
                <a:solidFill>
                  <a:srgbClr val="1C252B"/>
                </a:solidFill>
                <a:latin typeface="Segoe UI"/>
              </a:rPr>
              <a:t> implements that algorithm, which is where most real defects live — an off-by-one in a loop bound, a wrong variable name, an integer overflow the model ignored.</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Proof and testing catch disjoint classes of bug. The lab in this chapter contains a defect that </a:t>
            </a:r>
            <a:r>
              <a:rPr sz="2300" b="0" i="1">
                <a:solidFill>
                  <a:srgbClr val="1C252B"/>
                </a:solidFill>
                <a:latin typeface="Segoe UI"/>
              </a:rPr>
              <a:t>testing found in a third of its trials and a careless proof would have missed</a:t>
            </a:r>
            <a:r>
              <a:rPr sz="2300" b="0" i="0">
                <a:solidFill>
                  <a:srgbClr val="1C252B"/>
                </a:solidFill>
                <a:latin typeface="Segoe UI"/>
              </a:rPr>
              <a:t>, and Chapter 16’s lab contains the reverse. Use both.</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9950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Loop Invariant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Testing Is Not Enough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4.2   The Loop Invariant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Insertion Sort, Proved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Binary Search, Where the Invariant Is About Exclusion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Termination: The Obligation People Skip</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A Loop Whose Invariant Holds and Which Never Finishes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§4.2     </a:t>
            </a:r>
            <a:fld id="{984A6FA1-950E-4812-9581-D93AFA3FD061}" type="slidenum">
              <a:rPr lang="en-GB" sz="1000">
                <a:solidFill>
                  <a:srgbClr val="8795A1"/>
                </a:solidFill>
                <a:latin typeface="Segoe UI"/>
              </a:rPr>
              <a:t>10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Loop Invariant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31     </a:t>
            </a:r>
            <a:fld id="{04B3F37A-D519-4563-8804-B814836C64BC}"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8439"/>
          </a:xfrm>
          <a:prstGeom prst="roundRect">
            <a:avLst>
              <a:gd name="adj" fmla="val 206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843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loop invariant</a:t>
            </a:r>
            <a:r>
              <a:rPr sz="2300" b="0" i="0">
                <a:solidFill>
                  <a:srgbClr val="1C252B"/>
                </a:solidFill>
                <a:latin typeface="Segoe UI"/>
              </a:rPr>
              <a:t> is an assertion about the program’s state that is true immediately before the loop’s first iteration and immediately before every subsequent one.</a:t>
            </a:r>
          </a:p>
        </p:txBody>
      </p:sp>
      <p:sp>
        <p:nvSpPr>
          <p:cNvPr id="10" name="body-1"/>
          <p:cNvSpPr txBox="1"/>
          <p:nvPr/>
        </p:nvSpPr>
        <p:spPr>
          <a:xfrm>
            <a:off x="1060704" y="3302533"/>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proof by loop invariant has </a:t>
            </a:r>
            <a:r>
              <a:rPr sz="2300" b="1" i="0">
                <a:solidFill>
                  <a:srgbClr val="1C252B"/>
                </a:solidFill>
                <a:latin typeface="Segoe UI"/>
              </a:rPr>
              <a:t>three obligations</a:t>
            </a:r>
            <a:r>
              <a:rPr sz="2300" b="0" i="0">
                <a:solidFill>
                  <a:srgbClr val="1C252B"/>
                </a:solidFill>
                <a:latin typeface="Segoe UI"/>
              </a:rPr>
              <a:t>:</a:t>
            </a:r>
          </a:p>
        </p:txBody>
      </p:sp>
      <p:sp>
        <p:nvSpPr>
          <p:cNvPr id="11" name="body-2"/>
          <p:cNvSpPr txBox="1"/>
          <p:nvPr/>
        </p:nvSpPr>
        <p:spPr>
          <a:xfrm>
            <a:off x="1060704" y="3827729"/>
            <a:ext cx="10161727" cy="2072893"/>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8A4500"/>
                </a:solidFill>
                <a:latin typeface="Segoe UI"/>
              </a:rPr>
              <a:t>1.	</a:t>
            </a:r>
            <a:r>
              <a:rPr sz="2300" b="1" i="0">
                <a:solidFill>
                  <a:srgbClr val="8A4500"/>
                </a:solidFill>
                <a:latin typeface="Segoe UI"/>
              </a:rPr>
              <a:t>Initialisation.</a:t>
            </a:r>
            <a:r>
              <a:rPr sz="2300" b="0" i="0">
                <a:solidFill>
                  <a:srgbClr val="1C252B"/>
                </a:solidFill>
                <a:latin typeface="Segoe UI"/>
              </a:rPr>
              <a:t> The invariant is true before the first iteration.</a:t>
            </a:r>
          </a:p>
          <a:p>
            <a:pPr algn="l" marL="554820" indent="-554820">
              <a:lnSpc>
                <a:spcPct val="104000"/>
              </a:lnSpc>
              <a:spcBef>
                <a:spcPts val="0"/>
              </a:spcBef>
              <a:spcAft>
                <a:spcPts val="804"/>
              </a:spcAft>
            </a:pPr>
            <a:r>
              <a:rPr sz="2300" b="1">
                <a:solidFill>
                  <a:srgbClr val="8A4500"/>
                </a:solidFill>
                <a:latin typeface="Segoe UI"/>
              </a:rPr>
              <a:t>2.	</a:t>
            </a:r>
            <a:r>
              <a:rPr sz="2300" b="1" i="0">
                <a:solidFill>
                  <a:srgbClr val="8A4500"/>
                </a:solidFill>
                <a:latin typeface="Segoe UI"/>
              </a:rPr>
              <a:t>Maintenance.</a:t>
            </a:r>
            <a:r>
              <a:rPr sz="2300" b="0" i="0">
                <a:solidFill>
                  <a:srgbClr val="1C252B"/>
                </a:solidFill>
                <a:latin typeface="Segoe UI"/>
              </a:rPr>
              <a:t> If it is true before an iteration, it is true before the next one.</a:t>
            </a:r>
          </a:p>
          <a:p>
            <a:pPr algn="l" marL="554820" indent="-554820">
              <a:lnSpc>
                <a:spcPct val="104000"/>
              </a:lnSpc>
              <a:spcBef>
                <a:spcPts val="0"/>
              </a:spcBef>
              <a:spcAft>
                <a:spcPts val="0"/>
              </a:spcAft>
            </a:pPr>
            <a:r>
              <a:rPr sz="2300" b="1">
                <a:solidFill>
                  <a:srgbClr val="8A4500"/>
                </a:solidFill>
                <a:latin typeface="Segoe UI"/>
              </a:rPr>
              <a:t>3.	</a:t>
            </a:r>
            <a:r>
              <a:rPr sz="2300" b="1" i="0">
                <a:solidFill>
                  <a:srgbClr val="8A4500"/>
                </a:solidFill>
                <a:latin typeface="Segoe UI"/>
              </a:rPr>
              <a:t>Termination.</a:t>
            </a:r>
            <a:r>
              <a:rPr sz="2300" b="0" i="0">
                <a:solidFill>
                  <a:srgbClr val="1C252B"/>
                </a:solidFill>
                <a:latin typeface="Segoe UI"/>
              </a:rPr>
              <a:t> The loop ends, and when it does the invariant — together with the reason the loop stopped — gives the result you wanted.</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38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It is induction, wearing different clothes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31     </a:t>
            </a:r>
            <a:fld id="{9155A72A-E060-4453-B43B-D76CC72E83AD}"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2802"/>
          </a:xfrm>
          <a:prstGeom prst="roundRect">
            <a:avLst>
              <a:gd name="adj" fmla="val 203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280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5" cy="2322575"/>
        </p:xfrm>
        <a:graphic>
          <a:graphicData uri="http://schemas.openxmlformats.org/drawingml/2006/table">
            <a:tbl>
              <a:tblPr firstRow="0" bandRow="0" firstCol="0" lastRow="0" lastCol="0" bandCol="0">
                <a:tableStyleId>{2D5ABB26-0587-4C30-8999-92F81FD0307C}</a:tableStyleId>
              </a:tblPr>
              <a:tblGrid>
                <a:gridCol w="2903350"/>
                <a:gridCol w="2903350"/>
                <a:gridCol w="4355025"/>
              </a:tblGrid>
              <a:tr h="435864">
                <a:tc>
                  <a:txBody>
                    <a:bodyPr wrap="square"/>
                    <a:lstStyle/>
                    <a:p>
                      <a:pPr algn="l"/>
                      <a:r>
                        <a:rPr sz="1900" b="1" i="0">
                          <a:solidFill>
                            <a:srgbClr val="1A5276"/>
                          </a:solidFill>
                          <a:latin typeface="Segoe UI"/>
                        </a:rPr>
                        <a:t>Invariant proof</a:t>
                      </a:r>
                      <a:endParaRPr sz="19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900" b="1" i="0">
                          <a:solidFill>
                            <a:srgbClr val="1A5276"/>
                          </a:solidFill>
                          <a:latin typeface="Segoe UI"/>
                        </a:rPr>
                        <a:t>Induction</a:t>
                      </a:r>
                      <a:endParaRPr sz="19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900" b="1" i="0">
                          <a:solidFill>
                            <a:srgbClr val="1A5276"/>
                          </a:solidFill>
                          <a:latin typeface="Segoe UI"/>
                        </a:rPr>
                        <a:t>On what</a:t>
                      </a:r>
                      <a:endParaRPr sz="19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35864">
                <a:tc>
                  <a:txBody>
                    <a:bodyPr wrap="square"/>
                    <a:lstStyle/>
                    <a:p>
                      <a:pPr algn="l"/>
                      <a:r>
                        <a:rPr sz="1900" b="0" i="0">
                          <a:solidFill>
                            <a:srgbClr val="1C252B"/>
                          </a:solidFill>
                          <a:latin typeface="Segoe UI"/>
                        </a:rPr>
                        <a:t>initialisation</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Segoe UI"/>
                        </a:rPr>
                        <a:t>base case</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Segoe UI"/>
                        </a:rPr>
                        <a:t>the loop has run 0 times</a:t>
                      </a:r>
                      <a:endParaRPr sz="1900"/>
                    </a:p>
                  </a:txBody>
                  <a:tcPr marL="109728" marR="109728" marT="64008" marB="45720" anchor="t">
                    <a:lnL w="0" cmpd="sng">
                      <a:noFill/>
                    </a:lnL>
                    <a:lnR w="0" cmpd="sng">
                      <a:noFill/>
                    </a:lnR>
                    <a:lnT w="9525" cmpd="sng">
                      <a:noFill/>
                    </a:lnT>
                    <a:lnB w="9525" cmpd="sng">
                      <a:noFill/>
                    </a:lnB>
                    <a:solidFill>
                      <a:srgbClr val="FFFFFF"/>
                    </a:solidFill>
                  </a:tcPr>
                </a:tc>
              </a:tr>
              <a:tr h="435864">
                <a:tc>
                  <a:txBody>
                    <a:bodyPr wrap="square"/>
                    <a:lstStyle/>
                    <a:p>
                      <a:pPr algn="l"/>
                      <a:r>
                        <a:rPr sz="1900" b="0" i="0">
                          <a:solidFill>
                            <a:srgbClr val="1C252B"/>
                          </a:solidFill>
                          <a:latin typeface="Segoe UI"/>
                        </a:rPr>
                        <a:t>maintenance</a:t>
                      </a:r>
                      <a:endParaRPr sz="19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900" b="0" i="0">
                          <a:solidFill>
                            <a:srgbClr val="1C252B"/>
                          </a:solidFill>
                          <a:latin typeface="Segoe UI"/>
                        </a:rPr>
                        <a:t>inductive step</a:t>
                      </a:r>
                      <a:endParaRPr sz="19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900" b="0" i="0">
                          <a:solidFill>
                            <a:srgbClr val="1C252B"/>
                          </a:solidFill>
                          <a:latin typeface="Segoe UI"/>
                        </a:rPr>
                        <a:t>assume after </a:t>
                      </a:r>
                      <a:r>
                        <a:rPr sz="1900" b="0" i="1">
                          <a:solidFill>
                            <a:srgbClr val="1C252B"/>
                          </a:solidFill>
                          <a:latin typeface="Cambria"/>
                        </a:rPr>
                        <a:t>k</a:t>
                      </a:r>
                      <a:r>
                        <a:rPr sz="1900" b="0" i="0">
                          <a:solidFill>
                            <a:srgbClr val="1C252B"/>
                          </a:solidFill>
                          <a:latin typeface="Segoe UI"/>
                        </a:rPr>
                        <a:t>, show after </a:t>
                      </a:r>
                      <a:r>
                        <a:rPr sz="1900" b="0" i="1">
                          <a:solidFill>
                            <a:srgbClr val="1C252B"/>
                          </a:solidFill>
                          <a:latin typeface="Cambria"/>
                        </a:rPr>
                        <a:t>k</a:t>
                      </a:r>
                      <a:r>
                        <a:rPr sz="1900" b="0" i="0">
                          <a:solidFill>
                            <a:srgbClr val="1C252B"/>
                          </a:solidFill>
                          <a:latin typeface="Cambria"/>
                        </a:rPr>
                        <a:t>+1</a:t>
                      </a:r>
                      <a:endParaRPr sz="1900"/>
                    </a:p>
                  </a:txBody>
                  <a:tcPr marL="109728" marR="109728" marT="64008" marB="45720" anchor="t">
                    <a:lnL w="0" cmpd="sng">
                      <a:noFill/>
                    </a:lnL>
                    <a:lnR w="0" cmpd="sng">
                      <a:noFill/>
                    </a:lnR>
                    <a:lnT w="9525" cmpd="sng">
                      <a:noFill/>
                    </a:lnT>
                    <a:lnB w="9525" cmpd="sng">
                      <a:noFill/>
                    </a:lnB>
                    <a:solidFill>
                      <a:srgbClr val="F2F8FC"/>
                    </a:solidFill>
                  </a:tcPr>
                </a:tc>
              </a:tr>
              <a:tr h="1014983">
                <a:tc>
                  <a:txBody>
                    <a:bodyPr wrap="square"/>
                    <a:lstStyle/>
                    <a:p>
                      <a:pPr algn="l"/>
                      <a:r>
                        <a:rPr sz="1900" b="0" i="0">
                          <a:solidFill>
                            <a:srgbClr val="1C252B"/>
                          </a:solidFill>
                          <a:latin typeface="Segoe UI"/>
                        </a:rPr>
                        <a:t>termination</a:t>
                      </a:r>
                      <a:endParaRPr sz="19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900" b="0" i="0">
                          <a:solidFill>
                            <a:srgbClr val="1C252B"/>
                          </a:solidFill>
                          <a:latin typeface="Segoe UI"/>
                        </a:rPr>
                        <a:t>—</a:t>
                      </a:r>
                      <a:endParaRPr sz="19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900" b="0" i="0">
                          <a:solidFill>
                            <a:srgbClr val="1C252B"/>
                          </a:solidFill>
                          <a:latin typeface="Segoe UI"/>
                        </a:rPr>
                        <a:t>no counterpart: induction proves a property for all </a:t>
                      </a:r>
                      <a:r>
                        <a:rPr sz="1900" b="0" i="1">
                          <a:solidFill>
                            <a:srgbClr val="1C252B"/>
                          </a:solidFill>
                          <a:latin typeface="Cambria"/>
                        </a:rPr>
                        <a:t>k</a:t>
                      </a:r>
                      <a:r>
                        <a:rPr sz="1900" b="0" i="0">
                          <a:solidFill>
                            <a:srgbClr val="1C252B"/>
                          </a:solidFill>
                          <a:latin typeface="Segoe UI"/>
                        </a:rPr>
                        <a:t>, and says nothing about the loop stopping</a:t>
                      </a:r>
                      <a:endParaRPr sz="19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60704" y="4524502"/>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F618D"/>
                </a:solidFill>
                <a:latin typeface="Segoe UI"/>
              </a:rPr>
              <a:t>The missing row is the whole point of Section 4.5.</a:t>
            </a:r>
            <a:r>
              <a:rPr sz="2200" b="0" i="0">
                <a:solidFill>
                  <a:srgbClr val="1C252B"/>
                </a:solidFill>
                <a:latin typeface="Segoe UI"/>
              </a:rPr>
              <a:t> Induction on the iteration count gives you “the invariant holds after every iteration that happens”. Whether any particular iteration happens is a different question, and nothing in the first two obligations answers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66000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Partial and Total Correctness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31     </a:t>
            </a:r>
            <a:fld id="{55E7A632-7091-41A8-9E60-AFB44D4A67E6}"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94887"/>
          </a:xfrm>
          <a:prstGeom prst="roundRect">
            <a:avLst>
              <a:gd name="adj" fmla="val 261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9488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algorithm is </a:t>
            </a:r>
            <a:r>
              <a:rPr sz="2300" b="1" i="0">
                <a:solidFill>
                  <a:srgbClr val="1A5276"/>
                </a:solidFill>
                <a:latin typeface="Segoe UI"/>
              </a:rPr>
              <a:t>partially correct</a:t>
            </a:r>
            <a:r>
              <a:rPr sz="2300" b="0" i="0">
                <a:solidFill>
                  <a:srgbClr val="1C252B"/>
                </a:solidFill>
                <a:latin typeface="Segoe UI"/>
              </a:rPr>
              <a:t> if, </a:t>
            </a:r>
            <a:r>
              <a:rPr sz="2300" b="0" i="1">
                <a:solidFill>
                  <a:srgbClr val="1C252B"/>
                </a:solidFill>
                <a:latin typeface="Segoe UI"/>
              </a:rPr>
              <a:t>whenever it halts</a:t>
            </a:r>
            <a:r>
              <a:rPr sz="2300" b="0" i="0">
                <a:solidFill>
                  <a:srgbClr val="1C252B"/>
                </a:solidFill>
                <a:latin typeface="Segoe UI"/>
              </a:rPr>
              <a:t>, its output satisfies the postcondition.</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a:t>
            </a:r>
            <a:r>
              <a:rPr sz="2300" b="1" i="0">
                <a:solidFill>
                  <a:srgbClr val="1A5276"/>
                </a:solidFill>
                <a:latin typeface="Segoe UI"/>
              </a:rPr>
              <a:t>totally correct</a:t>
            </a:r>
            <a:r>
              <a:rPr sz="2300" b="0" i="0">
                <a:solidFill>
                  <a:srgbClr val="1C252B"/>
                </a:solidFill>
                <a:latin typeface="Segoe UI"/>
              </a:rPr>
              <a:t> if it is partially correct </a:t>
            </a:r>
            <a:r>
              <a:rPr sz="2300" b="0" i="1">
                <a:solidFill>
                  <a:srgbClr val="1C252B"/>
                </a:solidFill>
                <a:latin typeface="Segoe UI"/>
              </a:rPr>
              <a:t>and</a:t>
            </a:r>
            <a:r>
              <a:rPr sz="2300" b="0" i="0">
                <a:solidFill>
                  <a:srgbClr val="1C252B"/>
                </a:solidFill>
                <a:latin typeface="Segoe UI"/>
              </a:rPr>
              <a:t> halts on every input satisfying the precondition.</a:t>
            </a:r>
          </a:p>
        </p:txBody>
      </p:sp>
      <p:sp>
        <p:nvSpPr>
          <p:cNvPr id="11" name="body-2"/>
          <p:cNvSpPr txBox="1"/>
          <p:nvPr/>
        </p:nvSpPr>
        <p:spPr>
          <a:xfrm>
            <a:off x="1060704" y="3827729"/>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Initialisation and maintenance establish partial correctness. Termination is what upgrades it, and Section 4.6 measures a program that has the first and not the second.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88167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Insertion Sort, Proved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Testing Is Not Enough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Loop Invariant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4.3   Insertion Sort, Proved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Binary Search, Where the Invariant Is About Exclusion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Termination: The Obligation People Skip</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A Loop Whose Invariant Holds and Which Never Finishes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§4.3     </a:t>
            </a:r>
            <a:fld id="{6419A9A0-EBDA-40E2-A992-BCB9121AEAEB}"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10334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Insertion-Sort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32     </a:t>
            </a:r>
            <a:fld id="{4CC1ECD8-DB5A-4179-8FEB-E91B709BD25C}" type="slidenum">
              <a:rPr lang="en-GB" sz="1000">
                <a:solidFill>
                  <a:srgbClr val="8795A1"/>
                </a:solidFill>
                <a:latin typeface="Segoe UI"/>
              </a:rPr>
              <a:t>15</a:t>
            </a:fld>
          </a:p>
        </p:txBody>
      </p:sp>
      <p:pic>
        <p:nvPicPr>
          <p:cNvPr id="6" name="!!figure" descr="Figure 4.1. Insertion-Sort. The outer loop’s invariant concerns the prefix A[1j−1]; the inner loop’s concerns where key has got to. Lines are numbered so the proof can cite the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243" y="1737360"/>
            <a:ext cx="994720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outer loop’s invariant concerns the prefix A[1j−1]; the inner loop’s concerns where key has got to. Lines are numbered so the proof can cite them.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Insertion sort is correct</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4.1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32     </a:t>
            </a:r>
            <a:fld id="{D3FFA0B0-76A9-4A72-A6AC-F4CE5CFCD29F}"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Given an array </a:t>
            </a:r>
            <a:r>
              <a:rPr sz="2300" b="0" i="1">
                <a:solidFill>
                  <a:srgbClr val="1C252B"/>
                </a:solidFill>
                <a:latin typeface="Cambria"/>
              </a:rPr>
              <a:t>A</a:t>
            </a:r>
            <a:r>
              <a:rPr sz="2300" b="0" i="0">
                <a:solidFill>
                  <a:srgbClr val="1C252B"/>
                </a:solidFill>
                <a:latin typeface="Cambria"/>
              </a:rPr>
              <a:t>[1 </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of </a:t>
            </a:r>
            <a:r>
              <a:rPr sz="2300" b="0" i="1">
                <a:solidFill>
                  <a:srgbClr val="1C252B"/>
                </a:solidFill>
                <a:latin typeface="Cambria"/>
              </a:rPr>
              <a:t>n</a:t>
            </a:r>
            <a:r>
              <a:rPr sz="2300" b="0" i="0">
                <a:solidFill>
                  <a:srgbClr val="1C252B"/>
                </a:solidFill>
                <a:latin typeface="Cambria"/>
              </a:rPr>
              <a:t> ≥ 1</a:t>
            </a:r>
            <a:r>
              <a:rPr sz="2300" b="0" i="0">
                <a:solidFill>
                  <a:srgbClr val="1C252B"/>
                </a:solidFill>
                <a:latin typeface="Segoe UI"/>
              </a:rPr>
              <a:t> numbers, Insertion-Sort terminates with </a:t>
            </a:r>
            <a:r>
              <a:rPr sz="2300" b="0" i="1">
                <a:solidFill>
                  <a:srgbClr val="1C252B"/>
                </a:solidFill>
                <a:latin typeface="Cambria"/>
              </a:rPr>
              <a:t>A</a:t>
            </a:r>
            <a:r>
              <a:rPr sz="2300" b="0" i="0">
                <a:solidFill>
                  <a:srgbClr val="1C252B"/>
                </a:solidFill>
                <a:latin typeface="Segoe UI"/>
              </a:rPr>
              <a:t> holding a permutation of its original contents, in non-decreasing order.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54667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 not drop the permutation clause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32     </a:t>
            </a:r>
            <a:fld id="{85C11477-B8D4-486E-8845-9E5BE0C4D615}"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20083"/>
          </a:xfrm>
          <a:prstGeom prst="roundRect">
            <a:avLst>
              <a:gd name="adj" fmla="val 227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2008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tempting to state the invariant as “</a:t>
            </a:r>
            <a:r>
              <a:rPr sz="2300" b="0" i="1">
                <a:solidFill>
                  <a:srgbClr val="1C252B"/>
                </a:solidFill>
                <a:latin typeface="Cambria"/>
              </a:rPr>
              <a:t>A</a:t>
            </a:r>
            <a:r>
              <a:rPr sz="2300" b="0" i="0">
                <a:solidFill>
                  <a:srgbClr val="1C252B"/>
                </a:solidFill>
                <a:latin typeface="Cambria"/>
              </a:rPr>
              <a:t>[1</a:t>
            </a:r>
            <a:r>
              <a:rPr sz="2300" b="0" i="1">
                <a:solidFill>
                  <a:srgbClr val="1C252B"/>
                </a:solidFill>
                <a:latin typeface="Cambria"/>
              </a:rPr>
              <a:t>j</a:t>
            </a:r>
            <a:r>
              <a:rPr sz="2300" b="0" i="0">
                <a:solidFill>
                  <a:srgbClr val="1C252B"/>
                </a:solidFill>
                <a:latin typeface="Cambria"/>
              </a:rPr>
              <a:t>−1]</a:t>
            </a:r>
            <a:r>
              <a:rPr sz="2300" b="0" i="0">
                <a:solidFill>
                  <a:srgbClr val="1C252B"/>
                </a:solidFill>
                <a:latin typeface="Segoe UI"/>
              </a:rPr>
              <a:t> is sorted” and save eleven words. Then consider this implementation:</a:t>
            </a:r>
          </a:p>
        </p:txBody>
      </p:sp>
      <p:sp>
        <p:nvSpPr>
          <p:cNvPr id="10" name="body-1"/>
          <p:cNvSpPr txBox="1"/>
          <p:nvPr/>
        </p:nvSpPr>
        <p:spPr>
          <a:xfrm>
            <a:off x="1060704" y="2937992"/>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overwrite every element of </a:t>
            </a:r>
            <a:r>
              <a:rPr sz="2300" b="0" i="1">
                <a:solidFill>
                  <a:srgbClr val="1C252B"/>
                </a:solidFill>
                <a:latin typeface="Cambria"/>
              </a:rPr>
              <a:t>A</a:t>
            </a:r>
            <a:r>
              <a:rPr sz="2300" b="0" i="1">
                <a:solidFill>
                  <a:srgbClr val="1C252B"/>
                </a:solidFill>
                <a:latin typeface="Segoe UI"/>
              </a:rPr>
              <a:t> with zero.</a:t>
            </a:r>
          </a:p>
        </p:txBody>
      </p:sp>
      <p:sp>
        <p:nvSpPr>
          <p:cNvPr id="11" name="body-2"/>
          <p:cNvSpPr txBox="1"/>
          <p:nvPr/>
        </p:nvSpPr>
        <p:spPr>
          <a:xfrm>
            <a:off x="1060704" y="3463188"/>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Its output is sorted. It satisfies the shortened invariant at every iteration and terminates. It is not a sorting algorithm.</a:t>
            </a:r>
          </a:p>
        </p:txBody>
      </p:sp>
      <p:sp>
        <p:nvSpPr>
          <p:cNvPr id="12" name="body-3"/>
          <p:cNvSpPr txBox="1"/>
          <p:nvPr/>
        </p:nvSpPr>
        <p:spPr>
          <a:xfrm>
            <a:off x="1060704" y="435292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“Sorted” is only half the postcondition; “a permutation of the input” is the other half, and a proof that omits it proves the wrong theorem. This is the single most common error in student invariant proofs.</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7683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Binary Search, Where the Invariant Is About Exclusion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Testing Is Not Enough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Loop Invariant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Insertion Sort, Proved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4.4   Binary Search, Where the Invariant Is About Exclusion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Termination: The Obligation People Skip</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A Loop Whose Invariant Holds and Which Never Finishes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§4.4     </a:t>
            </a:r>
            <a:fld id="{9C0C0B16-0153-427A-8F85-3EF6C20750D3}" type="slidenum">
              <a:rPr lang="en-GB" sz="1000">
                <a:solidFill>
                  <a:srgbClr val="8795A1"/>
                </a:solidFill>
                <a:latin typeface="Segoe UI"/>
              </a:rPr>
              <a:t>18</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9900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Binary-Search on a sorted array</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33     </a:t>
            </a:r>
            <a:fld id="{75A2A402-7E4E-4634-8A93-44900D8D2790}" type="slidenum">
              <a:rPr lang="en-GB" sz="1000">
                <a:solidFill>
                  <a:srgbClr val="8795A1"/>
                </a:solidFill>
                <a:latin typeface="Segoe UI"/>
              </a:rPr>
              <a:t>19</a:t>
            </a:fld>
          </a:p>
        </p:txBody>
      </p:sp>
      <p:pic>
        <p:nvPicPr>
          <p:cNvPr id="6" name="!!figure" descr="Figure 4.2. Binary-Search on a sorted array. The +1 on line 7 and the −1 on line 9 are what make the search range strictly smaller every iteration — Section 4.5 is about what happens when one of them is miss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5040" y="1737360"/>
            <a:ext cx="794161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+1 on line 7 and the −1 on line 9 are what make the search range strictly smaller every iteration — Section 4.5 is about what happens when one of them is missing.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21167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Binary search is correct</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4.2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33     </a:t>
            </a:r>
            <a:fld id="{C63907A4-0007-4123-80F2-D997D013F89F}"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1">
                <a:solidFill>
                  <a:srgbClr val="1C252B"/>
                </a:solidFill>
                <a:latin typeface="Cambria"/>
              </a:rPr>
              <a:t>A</a:t>
            </a:r>
            <a:r>
              <a:rPr sz="2300" b="0" i="0">
                <a:solidFill>
                  <a:srgbClr val="1C252B"/>
                </a:solidFill>
                <a:latin typeface="Cambria"/>
              </a:rPr>
              <a:t>[1 </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be sorted in non-decreasing order. Binary-Search returns an index </a:t>
            </a:r>
            <a:r>
              <a:rPr sz="2300" b="0" i="1">
                <a:solidFill>
                  <a:srgbClr val="1C252B"/>
                </a:solidFill>
                <a:latin typeface="Cambria"/>
              </a:rPr>
              <a:t>mid</a:t>
            </a:r>
            <a:r>
              <a:rPr sz="2300" b="0" i="0">
                <a:solidFill>
                  <a:srgbClr val="1C252B"/>
                </a:solidFill>
                <a:latin typeface="Segoe UI"/>
              </a:rPr>
              <a:t> with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mid</a:t>
            </a:r>
            <a:r>
              <a:rPr sz="2300" b="0" i="0">
                <a:solidFill>
                  <a:srgbClr val="1C252B"/>
                </a:solidFill>
                <a:latin typeface="Cambria"/>
              </a:rPr>
              <a:t>] = </a:t>
            </a:r>
            <a:r>
              <a:rPr sz="2300" b="0" i="1">
                <a:solidFill>
                  <a:srgbClr val="1C252B"/>
                </a:solidFill>
                <a:latin typeface="Cambria"/>
              </a:rPr>
              <a:t>x</a:t>
            </a:r>
            <a:r>
              <a:rPr sz="2300" b="0" i="0">
                <a:solidFill>
                  <a:srgbClr val="1C252B"/>
                </a:solidFill>
                <a:latin typeface="Segoe UI"/>
              </a:rPr>
              <a:t> if </a:t>
            </a:r>
            <a:r>
              <a:rPr sz="2300" b="0" i="1">
                <a:solidFill>
                  <a:srgbClr val="1C252B"/>
                </a:solidFill>
                <a:latin typeface="Cambria"/>
              </a:rPr>
              <a:t>x</a:t>
            </a:r>
            <a:r>
              <a:rPr sz="2300" b="0" i="0">
                <a:solidFill>
                  <a:srgbClr val="1C252B"/>
                </a:solidFill>
                <a:latin typeface="Segoe UI"/>
              </a:rPr>
              <a:t> occurs in </a:t>
            </a:r>
            <a:r>
              <a:rPr sz="2300" b="0" i="1">
                <a:solidFill>
                  <a:srgbClr val="1C252B"/>
                </a:solidFill>
                <a:latin typeface="Cambria"/>
              </a:rPr>
              <a:t>A</a:t>
            </a:r>
            <a:r>
              <a:rPr sz="2300" b="0" i="0">
                <a:solidFill>
                  <a:srgbClr val="1C252B"/>
                </a:solidFill>
                <a:latin typeface="Segoe UI"/>
              </a:rPr>
              <a:t>, and not-found otherwise.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Binary search is logarithmic</a:t>
            </a:r>
          </a:p>
        </p:txBody>
      </p:sp>
      <p:pic>
        <p:nvPicPr>
          <p:cNvPr id="3" name="!!kicker-icon" descr="angle-double-right-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638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COROLLARY 4.3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33     </a:t>
            </a:r>
            <a:fld id="{5B78E4C0-823D-424C-BF4B-3CD993DC8668}"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Binary search performs at most </a:t>
            </a:r>
            <a:r>
              <a:rPr sz="2300" b="0" i="0">
                <a:solidFill>
                  <a:srgbClr val="1C252B"/>
                </a:solidFill>
                <a:latin typeface="Cambria"/>
              </a:rPr>
              <a:t>⌊ lg </a:t>
            </a:r>
            <a:r>
              <a:rPr sz="2300" b="0" i="1">
                <a:solidFill>
                  <a:srgbClr val="1C252B"/>
                </a:solidFill>
                <a:latin typeface="Cambria"/>
              </a:rPr>
              <a:t>n</a:t>
            </a:r>
            <a:r>
              <a:rPr sz="2300" b="0" i="0">
                <a:solidFill>
                  <a:srgbClr val="1C252B"/>
                </a:solidFill>
                <a:latin typeface="Cambria"/>
              </a:rPr>
              <a:t> ⌋ + 1</a:t>
            </a:r>
            <a:r>
              <a:rPr sz="2300" b="0" i="0">
                <a:solidFill>
                  <a:srgbClr val="1C252B"/>
                </a:solidFill>
                <a:latin typeface="Segoe UI"/>
              </a:rPr>
              <a:t> iterations, since </a:t>
            </a:r>
            <a:r>
              <a:rPr sz="2300" b="0" i="1">
                <a:solidFill>
                  <a:srgbClr val="1C252B"/>
                </a:solidFill>
                <a:latin typeface="Cambria"/>
              </a:rPr>
              <a:t>hi</a:t>
            </a:r>
            <a:r>
              <a:rPr sz="2300" b="0" i="0">
                <a:solidFill>
                  <a:srgbClr val="1C252B"/>
                </a:solidFill>
                <a:latin typeface="Cambria"/>
              </a:rPr>
              <a:t>−</a:t>
            </a:r>
            <a:r>
              <a:rPr sz="2300" b="0" i="1">
                <a:solidFill>
                  <a:srgbClr val="1C252B"/>
                </a:solidFill>
                <a:latin typeface="Cambria"/>
              </a:rPr>
              <a:t>lo</a:t>
            </a:r>
            <a:r>
              <a:rPr sz="2300" b="0" i="0">
                <a:solidFill>
                  <a:srgbClr val="1C252B"/>
                </a:solidFill>
                <a:latin typeface="Cambria"/>
              </a:rPr>
              <a:t>+1</a:t>
            </a:r>
            <a:r>
              <a:rPr sz="2300" b="0" i="0">
                <a:solidFill>
                  <a:srgbClr val="1C252B"/>
                </a:solidFill>
                <a:latin typeface="Segoe UI"/>
              </a:rPr>
              <a:t> at least halves each time and the loop stops when it reaches </a:t>
            </a:r>
            <a:r>
              <a:rPr sz="2300" b="0" i="0">
                <a:solidFill>
                  <a:srgbClr val="1C252B"/>
                </a:solidFill>
                <a:latin typeface="Cambria"/>
              </a:rPr>
              <a:t>0</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550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Termination: The Obligation People Skip</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Testing Is Not Enough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Loop Invariant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Insertion Sort, Proved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Binary Search, Where the Invariant Is About Exclusion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4.5   Termination: The Obligation People Skip</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A Loop Whose Invariant Holds and Which Never Finishes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§4.5     </a:t>
            </a:r>
            <a:fld id="{3F38E81E-07F9-446C-8E58-795625C05FC7}" type="slidenum">
              <a:rPr lang="en-GB" sz="1000">
                <a:solidFill>
                  <a:srgbClr val="8795A1"/>
                </a:solidFill>
                <a:latin typeface="Segoe UI"/>
              </a:rPr>
              <a:t>22</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Loop Variant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34     </a:t>
            </a:r>
            <a:fld id="{A300CDAF-6346-42A7-AA12-791A208BD99D}"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97122"/>
          </a:xfrm>
          <a:prstGeom prst="roundRect">
            <a:avLst>
              <a:gd name="adj" fmla="val 254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9712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loop variant</a:t>
            </a:r>
            <a:r>
              <a:rPr sz="2300" b="0" i="0">
                <a:solidFill>
                  <a:srgbClr val="1C252B"/>
                </a:solidFill>
                <a:latin typeface="Segoe UI"/>
              </a:rPr>
              <a:t>, or decreasing measure, is a quantity </a:t>
            </a:r>
            <a:r>
              <a:rPr sz="2300" b="0" i="0">
                <a:solidFill>
                  <a:srgbClr val="1C252B"/>
                </a:solidFill>
                <a:latin typeface="Cambria"/>
              </a:rPr>
              <a:t>μ</a:t>
            </a:r>
            <a:r>
              <a:rPr sz="2300" b="0" i="0">
                <a:solidFill>
                  <a:srgbClr val="1C252B"/>
                </a:solidFill>
                <a:latin typeface="Segoe UI"/>
              </a:rPr>
              <a:t> computed from the program state such that</a:t>
            </a:r>
          </a:p>
        </p:txBody>
      </p:sp>
      <p:sp>
        <p:nvSpPr>
          <p:cNvPr id="10" name="body-1"/>
          <p:cNvSpPr txBox="1"/>
          <p:nvPr/>
        </p:nvSpPr>
        <p:spPr>
          <a:xfrm>
            <a:off x="1060704" y="2937992"/>
            <a:ext cx="10161727" cy="1241577"/>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Cambria"/>
              </a:rPr>
              <a:t>μ</a:t>
            </a:r>
            <a:r>
              <a:rPr sz="2300" b="0" i="0">
                <a:solidFill>
                  <a:srgbClr val="1C252B"/>
                </a:solidFill>
                <a:latin typeface="Segoe UI"/>
              </a:rPr>
              <a:t> takes values in a </a:t>
            </a:r>
            <a:r>
              <a:rPr sz="2300" b="1" i="0">
                <a:solidFill>
                  <a:srgbClr val="1A5276"/>
                </a:solidFill>
                <a:latin typeface="Segoe UI"/>
              </a:rPr>
              <a:t>well-founded</a:t>
            </a:r>
            <a:r>
              <a:rPr sz="2300" b="0" i="0">
                <a:solidFill>
                  <a:srgbClr val="1C252B"/>
                </a:solidFill>
                <a:latin typeface="Segoe UI"/>
              </a:rPr>
              <a:t> set — for our purposes, the non-negative integers;</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every iteration strictly decreases </a:t>
            </a:r>
            <a:r>
              <a:rPr sz="2300" b="0" i="0">
                <a:solidFill>
                  <a:srgbClr val="1C252B"/>
                </a:solidFill>
                <a:latin typeface="Cambria"/>
              </a:rPr>
              <a:t>μ</a:t>
            </a:r>
            <a:r>
              <a:rPr sz="2300" b="0" i="0">
                <a:solidFill>
                  <a:srgbClr val="1C252B"/>
                </a:solidFill>
                <a:latin typeface="Segoe UI"/>
              </a:rPr>
              <a:t>.</a:t>
            </a:r>
          </a:p>
        </p:txBody>
      </p:sp>
      <p:sp>
        <p:nvSpPr>
          <p:cNvPr id="11" name="body-2"/>
          <p:cNvSpPr txBox="1"/>
          <p:nvPr/>
        </p:nvSpPr>
        <p:spPr>
          <a:xfrm>
            <a:off x="1060704" y="429450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the loop terminates, because a strictly decreasing sequence of non-negative integers must be finite.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0983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Termination: The Obligation People Skip</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34     </a:t>
            </a:r>
            <a:fld id="{E3E2FFF7-4D77-479E-847A-86D6E057FE47}" type="slidenum">
              <a:rPr lang="en-GB" sz="1000">
                <a:solidFill>
                  <a:srgbClr val="8795A1"/>
                </a:solidFill>
                <a:latin typeface="Segoe UI"/>
              </a:rPr>
              <a:t>24</a:t>
            </a:fld>
          </a:p>
        </p:txBody>
      </p:sp>
      <p:pic>
        <p:nvPicPr>
          <p:cNvPr id="6" name="!!figure" descr="Figure 4.3. Euclid-GCD. Here the invariant is an equality — gcd(a,b) never changes — and the variant is simply b, whose decrease is what makes the loop finit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97603"/>
            <a:ext cx="10874959" cy="339625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Euclid-GCD. Here the invariant is an equality — gcd(a,b) never changes — and the variant is simply b, whose decrease is what makes the loop finite.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320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Euclid’s algorithm is totally correct</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4.4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34     </a:t>
            </a:r>
            <a:fld id="{B4419728-869A-462D-916D-CD0135B7A3DF}"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Euclid-GCD</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b</a:t>
            </a:r>
            <a:r>
              <a:rPr sz="2300" b="0" i="0">
                <a:solidFill>
                  <a:srgbClr val="1C252B"/>
                </a:solidFill>
                <a:latin typeface="Cambria"/>
              </a:rPr>
              <a:t>)</a:t>
            </a:r>
            <a:r>
              <a:rPr sz="2300" b="0" i="0">
                <a:solidFill>
                  <a:srgbClr val="1C252B"/>
                </a:solidFill>
                <a:latin typeface="Segoe UI"/>
              </a:rPr>
              <a:t> terminates and returns </a:t>
            </a:r>
            <a:r>
              <a:rPr sz="2300" b="0" i="0">
                <a:solidFill>
                  <a:srgbClr val="1C252B"/>
                </a:solidFill>
                <a:latin typeface="Cambria"/>
              </a:rPr>
              <a:t>gcd(</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b</a:t>
            </a:r>
            <a:r>
              <a:rPr sz="2300" b="0" i="0">
                <a:solidFill>
                  <a:srgbClr val="1C252B"/>
                </a:solidFill>
                <a:latin typeface="Cambria"/>
              </a:rPr>
              <a:t>)</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measure must live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34     </a:t>
            </a:r>
            <a:fld id="{1A522A65-1B56-4B57-8CC6-ED32D310A6D2}"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83828"/>
          </a:xfrm>
          <a:prstGeom prst="roundRect">
            <a:avLst>
              <a:gd name="adj" fmla="val 248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8382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“Strictly decreasing” is not enough on its own; the measure must decrease within a </a:t>
            </a:r>
            <a:r>
              <a:rPr sz="2300" b="0" i="1">
                <a:solidFill>
                  <a:srgbClr val="1C252B"/>
                </a:solidFill>
                <a:latin typeface="Segoe UI"/>
              </a:rPr>
              <a:t>well-founded</a:t>
            </a:r>
            <a:r>
              <a:rPr sz="2300" b="0" i="0">
                <a:solidFill>
                  <a:srgbClr val="1C252B"/>
                </a:solidFill>
                <a:latin typeface="Segoe UI"/>
              </a:rPr>
              <a:t> set. Over the non-negative reals it is not:</a:t>
            </a:r>
          </a:p>
        </p:txBody>
      </p:sp>
      <p:pic>
        <p:nvPicPr>
          <p:cNvPr id="10" name="body-1" descr="x \gets x/2 \qquad \text{from } x =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body-2"/>
          <p:cNvSpPr txBox="1"/>
          <p:nvPr/>
        </p:nvSpPr>
        <p:spPr>
          <a:xfrm>
            <a:off x="1060704" y="349147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strictly decreases forever and never terminates. Over the non-negative integers no such sequence exists, which is the entire force of the argument.</a:t>
            </a:r>
          </a:p>
        </p:txBody>
      </p:sp>
      <p:sp>
        <p:nvSpPr>
          <p:cNvPr id="12" name="body-3"/>
          <p:cNvSpPr txBox="1"/>
          <p:nvPr/>
        </p:nvSpPr>
        <p:spPr>
          <a:xfrm>
            <a:off x="1060704" y="438121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Use integers, and if your measure is naturally a real number, find an integer that bounds it.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76334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Loop Whose Invariant Holds and Which Never Finishes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Why Testing Is Not Enough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Loop Invariant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Insertion Sort, Proved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Binary Search, Where the Invariant Is About Exclusion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Termination: The Obligation People Skip</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4.6   A Loop Whose Invariant Holds and Which Never Finishes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§4.6     </a:t>
            </a:r>
            <a:fld id="{28E59B93-D973-4AC7-83D0-B588A9CA4CD0}" type="slidenum">
              <a:rPr lang="en-GB" sz="1000">
                <a:solidFill>
                  <a:srgbClr val="8795A1"/>
                </a:solidFill>
                <a:latin typeface="Segoe UI"/>
              </a:rPr>
              <a:t>27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98501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invariant still holds — and that is the problem</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199F4E7E-A134-4726-874D-FAA0DA7500EC}"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Re-read the maintenance argument of Theorem 4.2. It establishes that positions </a:t>
            </a:r>
            <a:r>
              <a:rPr sz="2300" b="0" i="1">
                <a:solidFill>
                  <a:srgbClr val="1C252B"/>
                </a:solidFill>
                <a:latin typeface="Cambria"/>
              </a:rPr>
              <a:t>k</a:t>
            </a:r>
            <a:r>
              <a:rPr sz="2300" b="0" i="0">
                <a:solidFill>
                  <a:srgbClr val="1C252B"/>
                </a:solidFill>
                <a:latin typeface="Cambria"/>
              </a:rPr>
              <a:t> ≤ </a:t>
            </a:r>
            <a:r>
              <a:rPr sz="2300" b="0" i="1">
                <a:solidFill>
                  <a:srgbClr val="1C252B"/>
                </a:solidFill>
                <a:latin typeface="Cambria"/>
              </a:rPr>
              <a:t>mid</a:t>
            </a:r>
            <a:r>
              <a:rPr sz="2300" b="0" i="0">
                <a:solidFill>
                  <a:srgbClr val="1C252B"/>
                </a:solidFill>
                <a:latin typeface="Segoe UI"/>
              </a:rPr>
              <a:t> cannot hold </a:t>
            </a:r>
            <a:r>
              <a:rPr sz="2300" b="0" i="1">
                <a:solidFill>
                  <a:srgbClr val="1C252B"/>
                </a:solidFill>
                <a:latin typeface="Cambria"/>
              </a:rPr>
              <a:t>x</a:t>
            </a:r>
            <a:r>
              <a:rPr sz="2300" b="0" i="0">
                <a:solidFill>
                  <a:srgbClr val="1C252B"/>
                </a:solidFill>
                <a:latin typeface="Segoe UI"/>
              </a:rPr>
              <a:t>, and therefore that discarding them is safe. Setting </a:t>
            </a:r>
            <a:r>
              <a:rPr sz="2300" b="0" i="1">
                <a:solidFill>
                  <a:srgbClr val="1C252B"/>
                </a:solidFill>
                <a:latin typeface="Cambria"/>
              </a:rPr>
              <a:t>lo</a:t>
            </a:r>
            <a:r>
              <a:rPr sz="2300" b="0" i="0">
                <a:solidFill>
                  <a:srgbClr val="1C252B"/>
                </a:solidFill>
                <a:latin typeface="Cambria"/>
              </a:rPr>
              <a:t> </a:t>
            </a:r>
            <a:r>
              <a:rPr sz="2300" b="0" i="1">
                <a:solidFill>
                  <a:srgbClr val="1C252B"/>
                </a:solidFill>
                <a:latin typeface="Cambria"/>
              </a:rPr>
              <a:t>mid</a:t>
            </a:r>
            <a:r>
              <a:rPr sz="2300" b="0" i="0">
                <a:solidFill>
                  <a:srgbClr val="1C252B"/>
                </a:solidFill>
                <a:latin typeface="Segoe UI"/>
              </a:rPr>
              <a:t> discards </a:t>
            </a:r>
            <a:r>
              <a:rPr sz="2300" b="0" i="1">
                <a:solidFill>
                  <a:srgbClr val="1C252B"/>
                </a:solidFill>
                <a:latin typeface="Segoe UI"/>
              </a:rPr>
              <a:t>fewer</a:t>
            </a:r>
            <a:r>
              <a:rPr sz="2300" b="0" i="0">
                <a:solidFill>
                  <a:srgbClr val="1C252B"/>
                </a:solidFill>
                <a:latin typeface="Segoe UI"/>
              </a:rPr>
              <a:t> positions than that — it keeps </a:t>
            </a:r>
            <a:r>
              <a:rPr sz="2300" b="0" i="1">
                <a:solidFill>
                  <a:srgbClr val="1C252B"/>
                </a:solidFill>
                <a:latin typeface="Cambria"/>
              </a:rPr>
              <a:t>mid</a:t>
            </a:r>
            <a:r>
              <a:rPr sz="2300" b="0" i="0">
                <a:solidFill>
                  <a:srgbClr val="1C252B"/>
                </a:solidFill>
                <a:latin typeface="Segoe UI"/>
              </a:rPr>
              <a:t> itself. Keeping a position cannot lose an occurrence of </a:t>
            </a:r>
            <a:r>
              <a:rPr sz="2300" b="0" i="1">
                <a:solidFill>
                  <a:srgbClr val="1C252B"/>
                </a:solidFill>
                <a:latin typeface="Cambria"/>
              </a:rPr>
              <a:t>x</a:t>
            </a:r>
            <a:r>
              <a:rPr sz="2300" b="0" i="0">
                <a:solidFill>
                  <a:srgbClr val="1C252B"/>
                </a:solidFill>
                <a:latin typeface="Segoe UI"/>
              </a:rPr>
              <a:t>, so:</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Initialisation still holds. Maintenance still holds.</a:t>
            </a:r>
            <a:r>
              <a:rPr sz="2300" b="0" i="0">
                <a:solidFill>
                  <a:srgbClr val="1C252B"/>
                </a:solidFill>
                <a:latin typeface="Segoe UI"/>
              </a:rPr>
              <a:t> The modified program is </a:t>
            </a:r>
            <a:r>
              <a:rPr sz="2300" b="0" i="1">
                <a:solidFill>
                  <a:srgbClr val="1C252B"/>
                </a:solidFill>
                <a:latin typeface="Segoe UI"/>
              </a:rPr>
              <a:t>partially correct</a:t>
            </a:r>
            <a:r>
              <a:rPr sz="2300" b="0" i="0">
                <a:solidFill>
                  <a:srgbClr val="1C252B"/>
                </a:solidFill>
                <a:latin typeface="Segoe UI"/>
              </a:rPr>
              <a:t>: if it answers, the answer is right.</a:t>
            </a:r>
          </a:p>
        </p:txBody>
      </p:sp>
      <p:sp>
        <p:nvSpPr>
          <p:cNvPr id="11" name="body-2"/>
          <p:cNvSpPr txBox="1"/>
          <p:nvPr/>
        </p:nvSpPr>
        <p:spPr>
          <a:xfrm>
            <a:off x="1060704" y="4556810"/>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Termination fails.</a:t>
            </a:r>
            <a:r>
              <a:rPr sz="2300" b="0" i="0">
                <a:solidFill>
                  <a:srgbClr val="1C252B"/>
                </a:solidFill>
                <a:latin typeface="Segoe UI"/>
              </a:rPr>
              <a:t> When </a:t>
            </a:r>
            <a:r>
              <a:rPr sz="2300" b="0" i="1">
                <a:solidFill>
                  <a:srgbClr val="1C252B"/>
                </a:solidFill>
                <a:latin typeface="Cambria"/>
              </a:rPr>
              <a:t>hi</a:t>
            </a:r>
            <a:r>
              <a:rPr sz="2300" b="0" i="0">
                <a:solidFill>
                  <a:srgbClr val="1C252B"/>
                </a:solidFill>
                <a:latin typeface="Cambria"/>
              </a:rPr>
              <a:t> = </a:t>
            </a:r>
            <a:r>
              <a:rPr sz="2300" b="0" i="1">
                <a:solidFill>
                  <a:srgbClr val="1C252B"/>
                </a:solidFill>
                <a:latin typeface="Cambria"/>
              </a:rPr>
              <a:t>lo</a:t>
            </a:r>
            <a:r>
              <a:rPr sz="2300" b="0" i="0">
                <a:solidFill>
                  <a:srgbClr val="1C252B"/>
                </a:solidFill>
                <a:latin typeface="Cambria"/>
              </a:rPr>
              <a:t>+1</a:t>
            </a:r>
            <a:r>
              <a:rPr sz="2300" b="0" i="0">
                <a:solidFill>
                  <a:srgbClr val="1C252B"/>
                </a:solidFill>
                <a:latin typeface="Segoe UI"/>
              </a:rPr>
              <a:t> we get </a:t>
            </a:r>
            <a:r>
              <a:rPr sz="2300" b="0" i="1">
                <a:solidFill>
                  <a:srgbClr val="1C252B"/>
                </a:solidFill>
                <a:latin typeface="Cambria"/>
              </a:rPr>
              <a:t>mid</a:t>
            </a:r>
            <a:r>
              <a:rPr sz="2300" b="0" i="0">
                <a:solidFill>
                  <a:srgbClr val="1C252B"/>
                </a:solidFill>
                <a:latin typeface="Cambria"/>
              </a:rPr>
              <a:t> = ⌊ (2</a:t>
            </a:r>
            <a:r>
              <a:rPr sz="2300" b="0" i="1">
                <a:solidFill>
                  <a:srgbClr val="1C252B"/>
                </a:solidFill>
                <a:latin typeface="Cambria"/>
              </a:rPr>
              <a:t>lo</a:t>
            </a:r>
            <a:r>
              <a:rPr sz="2300" b="0" i="0">
                <a:solidFill>
                  <a:srgbClr val="1C252B"/>
                </a:solidFill>
                <a:latin typeface="Cambria"/>
              </a:rPr>
              <a:t>+1)/2 ⌋ = </a:t>
            </a:r>
            <a:r>
              <a:rPr sz="2300" b="0" i="1">
                <a:solidFill>
                  <a:srgbClr val="1C252B"/>
                </a:solidFill>
                <a:latin typeface="Cambria"/>
              </a:rPr>
              <a:t>lo</a:t>
            </a:r>
            <a:r>
              <a:rPr sz="2300" b="0" i="0">
                <a:solidFill>
                  <a:srgbClr val="1C252B"/>
                </a:solidFill>
                <a:latin typeface="Segoe UI"/>
              </a:rPr>
              <a:t>, so </a:t>
            </a:r>
            <a:r>
              <a:rPr sz="2300" b="0" i="1">
                <a:solidFill>
                  <a:srgbClr val="1C252B"/>
                </a:solidFill>
                <a:latin typeface="Cambria"/>
              </a:rPr>
              <a:t>lo</a:t>
            </a:r>
            <a:r>
              <a:rPr sz="2300" b="0" i="0">
                <a:solidFill>
                  <a:srgbClr val="1C252B"/>
                </a:solidFill>
                <a:latin typeface="Cambria"/>
              </a:rPr>
              <a:t> </a:t>
            </a:r>
            <a:r>
              <a:rPr sz="2300" b="0" i="1">
                <a:solidFill>
                  <a:srgbClr val="1C252B"/>
                </a:solidFill>
                <a:latin typeface="Cambria"/>
              </a:rPr>
              <a:t>mid</a:t>
            </a:r>
            <a:r>
              <a:rPr sz="2300" b="0" i="0">
                <a:solidFill>
                  <a:srgbClr val="1C252B"/>
                </a:solidFill>
                <a:latin typeface="Segoe UI"/>
              </a:rPr>
              <a:t> leaves </a:t>
            </a:r>
            <a:r>
              <a:rPr sz="2300" b="0" i="1">
                <a:solidFill>
                  <a:srgbClr val="1C252B"/>
                </a:solidFill>
                <a:latin typeface="Cambria"/>
              </a:rPr>
              <a:t>lo</a:t>
            </a:r>
            <a:r>
              <a:rPr sz="2300" b="0" i="0">
                <a:solidFill>
                  <a:srgbClr val="1C252B"/>
                </a:solidFill>
                <a:latin typeface="Segoe UI"/>
              </a:rPr>
              <a:t> and </a:t>
            </a:r>
            <a:r>
              <a:rPr sz="2300" b="0" i="1">
                <a:solidFill>
                  <a:srgbClr val="1C252B"/>
                </a:solidFill>
                <a:latin typeface="Cambria"/>
              </a:rPr>
              <a:t>hi</a:t>
            </a:r>
            <a:r>
              <a:rPr sz="2300" b="0" i="0">
                <a:solidFill>
                  <a:srgbClr val="1C252B"/>
                </a:solidFill>
                <a:latin typeface="Segoe UI"/>
              </a:rPr>
              <a:t> unchanged and the next iteration is identical. The measure </a:t>
            </a:r>
            <a:r>
              <a:rPr sz="2300" b="0" i="1">
                <a:solidFill>
                  <a:srgbClr val="1C252B"/>
                </a:solidFill>
                <a:latin typeface="Cambria"/>
              </a:rPr>
              <a:t>hi</a:t>
            </a:r>
            <a:r>
              <a:rPr sz="2300" b="0" i="0">
                <a:solidFill>
                  <a:srgbClr val="1C252B"/>
                </a:solidFill>
                <a:latin typeface="Cambria"/>
              </a:rPr>
              <a:t>−</a:t>
            </a:r>
            <a:r>
              <a:rPr sz="2300" b="0" i="1">
                <a:solidFill>
                  <a:srgbClr val="1C252B"/>
                </a:solidFill>
                <a:latin typeface="Cambria"/>
              </a:rPr>
              <a:t>lo</a:t>
            </a:r>
            <a:r>
              <a:rPr sz="2300" b="0" i="0">
                <a:solidFill>
                  <a:srgbClr val="1C252B"/>
                </a:solidFill>
                <a:latin typeface="Segoe UI"/>
              </a:rPr>
              <a:t> no longer strictly decreases, and the loop spins forever.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2066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Measured: 132 Million Iterations, Zero Wrong Answers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F29E6542-9147-432C-A68C-5456328D81E8}"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36644"/>
          </a:xfrm>
          <a:prstGeom prst="roundRect">
            <a:avLst>
              <a:gd name="adj" fmla="val 238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366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code/ch04_invariant.cpp</a:t>
            </a:r>
            <a:r>
              <a:rPr sz="1900" b="0" i="0">
                <a:solidFill>
                  <a:srgbClr val="1C252B"/>
                </a:solidFill>
                <a:latin typeface="Segoe UI"/>
              </a:rPr>
              <a:t> runs the broken search on a 64-element sorted array, 10,000 trials with keys known to be present and 10,000 with keys known to be absent, and </a:t>
            </a:r>
            <a:r>
              <a:rPr sz="1900" b="0" i="1">
                <a:solidFill>
                  <a:srgbClr val="1C252B"/>
                </a:solidFill>
                <a:latin typeface="Segoe UI"/>
              </a:rPr>
              <a:t>audits the invariant on every single iteration</a:t>
            </a:r>
            <a:r>
              <a:rPr sz="1900" b="0" i="0">
                <a:solidFill>
                  <a:srgbClr val="1C252B"/>
                </a:solidFill>
                <a:latin typeface="Segoe UI"/>
              </a:rPr>
              <a:t>. A run that exceeds 10,000 iterations is recorded as non-terminating.</a:t>
            </a:r>
          </a:p>
        </p:txBody>
      </p:sp>
      <p:graphicFrame>
        <p:nvGraphicFramePr>
          <p:cNvPr id="10" name="body-1"/>
          <p:cNvGraphicFramePr>
            <a:graphicFrameLocks noGrp="1"/>
          </p:cNvGraphicFramePr>
          <p:nvPr/>
        </p:nvGraphicFramePr>
        <p:xfrm>
          <a:off x="1042416" y="3348964"/>
          <a:ext cx="5629818" cy="1950720"/>
        </p:xfrm>
        <a:graphic>
          <a:graphicData uri="http://schemas.openxmlformats.org/drawingml/2006/table">
            <a:tbl>
              <a:tblPr firstRow="0" bandRow="0" firstCol="0" lastRow="0" lastCol="0" bandCol="0">
                <a:tableStyleId>{2D5ABB26-0587-4C30-8999-92F81FD0307C}</a:tableStyleId>
              </a:tblPr>
              <a:tblGrid>
                <a:gridCol w="2131113"/>
                <a:gridCol w="1869579"/>
                <a:gridCol w="1629126"/>
              </a:tblGrid>
              <a:tr h="390144">
                <a:tc>
                  <a:txBody>
                    <a:bodyPr wrap="square"/>
                    <a:lstStyle/>
                    <a:p>
                      <a:pPr algn="l"/>
                      <a:r>
                        <a:rPr sz="1600" b="1" i="0">
                          <a:solidFill>
                            <a:srgbClr val="1A5276"/>
                          </a:solidFill>
                          <a:latin typeface="Segoe UI"/>
                        </a:rPr>
                        <a:t>10,000 trials each</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non-termination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wrong answer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keys always present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3,228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keys always absent</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1" i="0">
                          <a:solidFill>
                            <a:srgbClr val="1C252B"/>
                          </a:solidFill>
                          <a:latin typeface="Segoe UI"/>
                        </a:rPr>
                        <a:t>iterations audited</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2r</a:t>
                      </a:r>
                      <a:r>
                        <a:rPr sz="1600" b="1" i="0">
                          <a:solidFill>
                            <a:srgbClr val="1C252B"/>
                          </a:solidFill>
                          <a:latin typeface="Segoe UI"/>
                        </a:rPr>
                        <a:t>132,311,650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1" i="0">
                          <a:solidFill>
                            <a:srgbClr val="1C252B"/>
                          </a:solidFill>
                          <a:latin typeface="Segoe UI"/>
                        </a:rPr>
                        <a:t>invariant violations</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2r</a:t>
                      </a:r>
                      <a:r>
                        <a:rPr sz="1600" b="1" i="0">
                          <a:solidFill>
                            <a:srgbClr val="1C252B"/>
                          </a:solidFill>
                          <a:latin typeface="Segoe UI"/>
                        </a:rPr>
                        <a:t>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42834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Measured: 132 Million Iterations, Zero Wrong Answers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BE5A0C13-3AB0-42DD-8E2F-68548B3E8879}"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the second column first.</a:t>
            </a:r>
            <a:r>
              <a:rPr sz="1900" b="0" i="0">
                <a:solidFill>
                  <a:srgbClr val="1C252B"/>
                </a:solidFill>
                <a:latin typeface="Segoe UI"/>
              </a:rPr>
              <a:t> In 20,000 trials the broken search returned a wrong answer </a:t>
            </a:r>
            <a:r>
              <a:rPr sz="1900" b="1" i="0">
                <a:solidFill>
                  <a:srgbClr val="1C252B"/>
                </a:solidFill>
                <a:latin typeface="Segoe UI"/>
              </a:rPr>
              <a:t>not once</a:t>
            </a:r>
            <a:r>
              <a:rPr sz="1900" b="0" i="0">
                <a:solidFill>
                  <a:srgbClr val="1C252B"/>
                </a:solidFill>
                <a:latin typeface="Segoe UI"/>
              </a:rPr>
              <a:t>. That is not luck; it is precisely what the invariant guarantees, and the audit confirms the invariant never broke across 132 million iterations.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Now read the first column.</a:t>
            </a:r>
            <a:r>
              <a:rPr sz="1900" b="0" i="0">
                <a:solidFill>
                  <a:srgbClr val="1C252B"/>
                </a:solidFill>
                <a:latin typeface="Segoe UI"/>
              </a:rPr>
              <a:t> 13,228 of the 20,000 runs never finished. The program is partially correct and totally useless.</a:t>
            </a:r>
          </a:p>
        </p:txBody>
      </p:sp>
      <p:sp>
        <p:nvSpPr>
          <p:cNvPr id="12" name="body-1bar">
            <a:extLst>
              <a:ext uri="{C183D7F6-B498-43B3-948B-1728B52AA6E4}">
                <adec:decorative xmlns:adec="http://schemas.microsoft.com/office/drawing/2017/decorative" val="1"/>
              </a:ext>
            </a:extLst>
          </p:cNvPr>
          <p:cNvSpPr/>
          <p:nvPr/>
        </p:nvSpPr>
        <p:spPr>
          <a:xfrm>
            <a:off x="841248" y="3066110"/>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3782822"/>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distribution matters for how fast you find it.</a:t>
            </a:r>
            <a:r>
              <a:rPr sz="1900" b="0" i="0">
                <a:solidFill>
                  <a:srgbClr val="1C252B"/>
                </a:solidFill>
                <a:latin typeface="Segoe UI"/>
              </a:rPr>
              <a:t> Keys drawn from inside the array hang about a third of the time; keys known to be absent hang every time. A test suite built only from present keys would still have caught this — in roughly three trials — which is worth saying plainly, because the tidier story would be that testing misses it. Testing found this bug easily.</a:t>
            </a:r>
          </a:p>
        </p:txBody>
      </p:sp>
      <p:sp>
        <p:nvSpPr>
          <p:cNvPr id="14" name="body-2bar">
            <a:extLst>
              <a:ext uri="{C183D7F6-B498-43B3-948B-1728B52AA6E4}">
                <adec:decorative xmlns:adec="http://schemas.microsoft.com/office/drawing/2017/decorative" val="1"/>
              </a:ext>
            </a:extLst>
          </p:cNvPr>
          <p:cNvSpPr/>
          <p:nvPr/>
        </p:nvSpPr>
        <p:spPr>
          <a:xfrm>
            <a:off x="841248" y="3801109"/>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Measured: 132 Million Iterations, Zero Wrong Answers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276B0EE2-12EE-4D49-88ED-9A95DB9310EC}"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testing could not have told you is </a:t>
            </a:r>
            <a:r>
              <a:rPr sz="1900" b="1" i="1">
                <a:solidFill>
                  <a:srgbClr val="1C252B"/>
                </a:solidFill>
                <a:latin typeface="Segoe UI"/>
              </a:rPr>
              <a:t>why</a:t>
            </a:r>
            <a:r>
              <a:rPr sz="1900" b="0" i="0">
                <a:solidFill>
                  <a:srgbClr val="1C252B"/>
                </a:solidFill>
                <a:latin typeface="Segoe UI"/>
              </a:rPr>
              <a:t>, or that the defect is confined entirely to termination with partial correctness intact. And a proof that checked only initialisation and maintenance — which is what most students write — would have certified this program as correct.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87168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8C72B017-EACB-4F05-9F33-1A2853FE4C8E}" type="slidenum">
              <a:rPr lang="en-GB" sz="1000">
                <a:solidFill>
                  <a:srgbClr val="8795A1"/>
                </a:solidFill>
                <a:latin typeface="Segoe UI"/>
              </a:rPr>
              <a:t>32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Omitting the permutation clause</a:t>
            </a:r>
            <a:r>
              <a:rPr sz="1700" b="0" i="0">
                <a:solidFill>
                  <a:srgbClr val="1C252B"/>
                </a:solidFill>
                <a:latin typeface="Segoe UI"/>
              </a:rPr>
              <a:t> from a sorting invariant. The all-zeros “sort” satisfies the weakened version.</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Stating an invariant that mentions no loop variable.</a:t>
            </a:r>
            <a:r>
              <a:rPr sz="1700" b="0" i="0">
                <a:solidFill>
                  <a:srgbClr val="1C252B"/>
                </a:solidFill>
                <a:latin typeface="Segoe UI"/>
              </a:rPr>
              <a:t> “</a:t>
            </a:r>
            <a:r>
              <a:rPr sz="1700" b="0" i="1">
                <a:solidFill>
                  <a:srgbClr val="1C252B"/>
                </a:solidFill>
                <a:latin typeface="Cambria"/>
              </a:rPr>
              <a:t>A</a:t>
            </a:r>
            <a:r>
              <a:rPr sz="1700" b="0" i="0">
                <a:solidFill>
                  <a:srgbClr val="1C252B"/>
                </a:solidFill>
                <a:latin typeface="Segoe UI"/>
              </a:rPr>
              <a:t> is an array of numbers” is true throughout and proves nothing. A useful invariant relates the work done so far to the loop index.</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Checking the invariant at the wrong moment.</a:t>
            </a:r>
            <a:r>
              <a:rPr sz="1700" b="0" i="0">
                <a:solidFill>
                  <a:srgbClr val="1C252B"/>
                </a:solidFill>
                <a:latin typeface="Segoe UI"/>
              </a:rPr>
              <a:t> It is asserted </a:t>
            </a:r>
            <a:r>
              <a:rPr sz="1700" b="0" i="1">
                <a:solidFill>
                  <a:srgbClr val="1C252B"/>
                </a:solidFill>
                <a:latin typeface="Segoe UI"/>
              </a:rPr>
              <a:t>before</a:t>
            </a:r>
            <a:r>
              <a:rPr sz="1700" b="0" i="0">
                <a:solidFill>
                  <a:srgbClr val="1C252B"/>
                </a:solidFill>
                <a:latin typeface="Segoe UI"/>
              </a:rPr>
              <a:t> each iteration, not in the middle of the body, where it is routinely false — insertion sort’s prefix is genuinely unsorted while the shifting is in progress.</a:t>
            </a:r>
          </a:p>
        </p:txBody>
      </p:sp>
      <p:sp>
        <p:nvSpPr>
          <p:cNvPr id="16" name="!!pb3">
            <a:extLst>
              <a:ext uri="{C183D7F6-B498-43B3-948B-1728B52AA6E4}">
                <adec:decorative xmlns:adec="http://schemas.microsoft.com/office/drawing/2017/decorative" val="1"/>
              </a:ext>
            </a:extLst>
          </p:cNvPr>
          <p:cNvSpPr/>
          <p:nvPr/>
        </p:nvSpPr>
        <p:spPr>
          <a:xfrm>
            <a:off x="658368" y="424525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26811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22696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termination as a formality.</a:t>
            </a:r>
            <a:r>
              <a:rPr sz="1700" b="0" i="0">
                <a:solidFill>
                  <a:srgbClr val="1C252B"/>
                </a:solidFill>
                <a:latin typeface="Segoe UI"/>
              </a:rPr>
              <a:t> Section 4.6 is a program that passes the other two obligations and runs forever.</a:t>
            </a:r>
          </a:p>
        </p:txBody>
      </p:sp>
      <p:sp>
        <p:nvSpPr>
          <p:cNvPr id="19" name="!!pb4">
            <a:extLst>
              <a:ext uri="{C183D7F6-B498-43B3-948B-1728B52AA6E4}">
                <adec:decorative xmlns:adec="http://schemas.microsoft.com/office/drawing/2017/decorative" val="1"/>
              </a:ext>
            </a:extLst>
          </p:cNvPr>
          <p:cNvSpPr/>
          <p:nvPr/>
        </p:nvSpPr>
        <p:spPr>
          <a:xfrm>
            <a:off x="658368" y="49853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0081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6702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 measure that decreases but not in a well-founded set.</a:t>
            </a:r>
            <a:r>
              <a:rPr sz="1700" b="0" i="0">
                <a:solidFill>
                  <a:srgbClr val="1C252B"/>
                </a:solidFill>
                <a:latin typeface="Segoe UI"/>
              </a:rPr>
              <a:t> </a:t>
            </a:r>
            <a:r>
              <a:rPr sz="1700" b="0" i="1">
                <a:solidFill>
                  <a:srgbClr val="1C252B"/>
                </a:solidFill>
                <a:latin typeface="Cambria"/>
              </a:rPr>
              <a:t>x</a:t>
            </a:r>
            <a:r>
              <a:rPr sz="1700" b="0" i="0">
                <a:solidFill>
                  <a:srgbClr val="1C252B"/>
                </a:solidFill>
                <a:latin typeface="Cambria"/>
              </a:rPr>
              <a:t> </a:t>
            </a:r>
            <a:r>
              <a:rPr sz="1700" b="0" i="1">
                <a:solidFill>
                  <a:srgbClr val="1C252B"/>
                </a:solidFill>
                <a:latin typeface="Cambria"/>
              </a:rPr>
              <a:t>x</a:t>
            </a:r>
            <a:r>
              <a:rPr sz="1700" b="0" i="0">
                <a:solidFill>
                  <a:srgbClr val="1C252B"/>
                </a:solidFill>
                <a:latin typeface="Cambria"/>
              </a:rPr>
              <a:t>/2</a:t>
            </a:r>
            <a:r>
              <a:rPr sz="1700" b="0" i="0">
                <a:solidFill>
                  <a:srgbClr val="1C252B"/>
                </a:solidFill>
                <a:latin typeface="Segoe UI"/>
              </a:rPr>
              <a:t> over the reals.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0933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82892A51-51FA-42CB-B9FE-89D0F44FE177}" type="slidenum">
              <a:rPr lang="en-GB" sz="1000">
                <a:solidFill>
                  <a:srgbClr val="8795A1"/>
                </a:solidFill>
                <a:latin typeface="Segoe UI"/>
              </a:rPr>
              <a:t>33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Proving the loop correct and forgetting the exit condition.</a:t>
            </a:r>
            <a:r>
              <a:rPr sz="1700" b="0" i="0">
                <a:solidFill>
                  <a:srgbClr val="1C252B"/>
                </a:solidFill>
                <a:latin typeface="Segoe UI"/>
              </a:rPr>
              <a:t> The invariant alone is not the postcondition; you need the invariant </a:t>
            </a:r>
            <a:r>
              <a:rPr sz="1700" b="0" i="1">
                <a:solidFill>
                  <a:srgbClr val="1C252B"/>
                </a:solidFill>
                <a:latin typeface="Segoe UI"/>
              </a:rPr>
              <a:t>and</a:t>
            </a:r>
            <a:r>
              <a:rPr sz="1700" b="0" i="0">
                <a:solidFill>
                  <a:srgbClr val="1C252B"/>
                </a:solidFill>
                <a:latin typeface="Segoe UI"/>
              </a:rPr>
              <a:t> the reason the loop stopped, which is why every termination paragraph above substitutes the final index back in.</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a proved algorithm gives a correct program.</a:t>
            </a:r>
            <a:r>
              <a:rPr sz="1700" b="0" i="0">
                <a:solidFill>
                  <a:srgbClr val="1C252B"/>
                </a:solidFill>
                <a:latin typeface="Segoe UI"/>
              </a:rPr>
              <a:t> The proof is about the algorithm; overflow, off-by-one and typing errors live below it.</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DC383A5B-67B4-432E-867D-45CD65944B9D}" type="slidenum">
              <a:rPr lang="en-GB" sz="1000">
                <a:solidFill>
                  <a:srgbClr val="8795A1"/>
                </a:solidFill>
                <a:latin typeface="Segoe UI"/>
              </a:rPr>
              <a:t>34</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the table in Section 4.6. Expect twenty-five minutes; part C audits 132 million iterations and takes about a minute.</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859280"/>
          </a:xfrm>
          <a:prstGeom prst="rect">
            <a:avLst/>
          </a:prstGeom>
          <a:noFill/>
        </p:spPr>
        <p:txBody>
          <a:bodyPr wrap="square" anchor="t" lIns="0" rIns="0" tIns="0" bIns="0">
            <a:noAutofit/>
          </a:bodyPr>
          <a:lstStyle/>
          <a:p>
            <a:pPr algn="l" marL="404250" indent="-404250">
              <a:lnSpc>
                <a:spcPct val="100000"/>
              </a:lnSpc>
              <a:spcBef>
                <a:spcPts val="0"/>
              </a:spcBef>
              <a:spcAft>
                <a:spcPts val="480"/>
              </a:spcAft>
            </a:pPr>
            <a:r>
              <a:rPr sz="1600" b="1">
                <a:solidFill>
                  <a:srgbClr val="117A65"/>
                </a:solidFill>
                <a:latin typeface="Segoe UI"/>
              </a:rPr>
              <a:t>1.	</a:t>
            </a:r>
            <a:r>
              <a:rPr sz="1600" b="0" i="0">
                <a:solidFill>
                  <a:srgbClr val="1C252B"/>
                </a:solidFill>
                <a:latin typeface="Segoe UI"/>
              </a:rPr>
              <a:t>The correct version, and the invariant it maintains</a:t>
            </a:r>
          </a:p>
          <a:p>
            <a:pPr algn="l" marL="404250" indent="-404250">
              <a:lnSpc>
                <a:spcPct val="100000"/>
              </a:lnSpc>
              <a:spcBef>
                <a:spcPts val="0"/>
              </a:spcBef>
              <a:spcAft>
                <a:spcPts val="480"/>
              </a:spcAft>
            </a:pPr>
            <a:r>
              <a:rPr sz="1600" b="1">
                <a:solidFill>
                  <a:srgbClr val="117A65"/>
                </a:solidFill>
                <a:latin typeface="Segoe UI"/>
              </a:rPr>
              <a:t>2.	</a:t>
            </a:r>
            <a:r>
              <a:rPr sz="1600" b="0" i="0">
                <a:solidFill>
                  <a:srgbClr val="1C252B"/>
                </a:solidFill>
                <a:latin typeface="Segoe UI"/>
              </a:rPr>
              <a:t>The same search with one character changed</a:t>
            </a:r>
          </a:p>
          <a:p>
            <a:pPr algn="l" marL="404250" indent="-404250">
              <a:lnSpc>
                <a:spcPct val="100000"/>
              </a:lnSpc>
              <a:spcBef>
                <a:spcPts val="0"/>
              </a:spcBef>
              <a:spcAft>
                <a:spcPts val="480"/>
              </a:spcAft>
            </a:pPr>
            <a:r>
              <a:rPr sz="1600" b="1">
                <a:solidFill>
                  <a:srgbClr val="117A65"/>
                </a:solidFill>
                <a:latin typeface="Segoe UI"/>
              </a:rPr>
              <a:t>3.	</a:t>
            </a:r>
            <a:r>
              <a:rPr sz="1600" b="0" i="0">
                <a:solidFill>
                  <a:srgbClr val="1C252B"/>
                </a:solidFill>
                <a:latin typeface="Segoe UI"/>
              </a:rPr>
              <a:t>Ten thousand tests with keys that are present</a:t>
            </a:r>
          </a:p>
          <a:p>
            <a:pPr algn="l" marL="404250" indent="-404250">
              <a:lnSpc>
                <a:spcPct val="100000"/>
              </a:lnSpc>
              <a:spcBef>
                <a:spcPts val="0"/>
              </a:spcBef>
              <a:spcAft>
                <a:spcPts val="480"/>
              </a:spcAft>
            </a:pPr>
            <a:r>
              <a:rPr sz="1600" b="1">
                <a:solidFill>
                  <a:srgbClr val="117A65"/>
                </a:solidFill>
                <a:latin typeface="Segoe UI"/>
              </a:rPr>
              <a:t>4.	</a:t>
            </a:r>
            <a:r>
              <a:rPr sz="1600" b="0" i="0">
                <a:solidFill>
                  <a:srgbClr val="1C252B"/>
                </a:solidFill>
                <a:latin typeface="Segoe UI"/>
              </a:rPr>
              <a:t>The same ten thousand tests, keys absent</a:t>
            </a:r>
          </a:p>
          <a:p>
            <a:pPr algn="l" marL="404250" indent="-404250">
              <a:lnSpc>
                <a:spcPct val="100000"/>
              </a:lnSpc>
              <a:spcBef>
                <a:spcPts val="0"/>
              </a:spcBef>
              <a:spcAft>
                <a:spcPts val="480"/>
              </a:spcAft>
            </a:pPr>
            <a:r>
              <a:rPr sz="1600" b="1">
                <a:solidFill>
                  <a:srgbClr val="117A65"/>
                </a:solidFill>
                <a:latin typeface="Segoe UI"/>
              </a:rPr>
              <a:t>5.	</a:t>
            </a:r>
            <a:r>
              <a:rPr sz="1600" b="0" i="0">
                <a:solidFill>
                  <a:srgbClr val="1C252B"/>
                </a:solidFill>
                <a:latin typeface="Segoe UI"/>
              </a:rPr>
              <a:t>And the invariant? It never broke once.</a:t>
            </a:r>
          </a:p>
          <a:p>
            <a:pPr algn="l" marL="404250" indent="-404250">
              <a:lnSpc>
                <a:spcPct val="100000"/>
              </a:lnSpc>
              <a:spcBef>
                <a:spcPts val="0"/>
              </a:spcBef>
              <a:spcAft>
                <a:spcPts val="0"/>
              </a:spcAft>
            </a:pPr>
            <a:r>
              <a:rPr sz="1600" b="1">
                <a:solidFill>
                  <a:srgbClr val="117A65"/>
                </a:solidFill>
                <a:latin typeface="Segoe UI"/>
              </a:rPr>
              <a:t>6.	</a:t>
            </a:r>
            <a:r>
              <a:rPr sz="1600" b="0" i="0">
                <a:solidFill>
                  <a:srgbClr val="1C252B"/>
                </a:solidFill>
                <a:latin typeface="Segoe UI"/>
              </a:rPr>
              <a:t>Why proving beats testing, counted</a:t>
            </a:r>
          </a:p>
        </p:txBody>
      </p:sp>
      <p:sp>
        <p:nvSpPr>
          <p:cNvPr id="3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3: A bug that is never wrong and never finishes</a:t>
            </a:r>
          </a:p>
        </p:txBody>
      </p:sp>
      <p:sp>
        <p:nvSpPr>
          <p:cNvPr id="3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74 lines of C++</a:t>
            </a:r>
          </a:p>
        </p:txBody>
      </p:sp>
      <p:sp>
        <p:nvSpPr>
          <p:cNvPr id="4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code/ch04_invariant.cpp</a:t>
            </a:r>
          </a:p>
        </p:txBody>
      </p:sp>
      <p:sp>
        <p:nvSpPr>
          <p:cNvPr id="4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pfill">
            <a:extLst>
              <a:ext uri="{C183D7F6-B498-43B3-948B-1728B52AA6E4}">
                <adec:decorative xmlns:adec="http://schemas.microsoft.com/office/drawing/2017/decorative" val="1"/>
              </a:ext>
            </a:extLst>
          </p:cNvPr>
          <p:cNvSpPr/>
          <p:nvPr/>
        </p:nvSpPr>
        <p:spPr>
          <a:xfrm>
            <a:off x="0" y="0"/>
            <a:ext cx="75366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F8BE276C-8D21-4FCC-B7EB-CAE7F4C3DEB5}"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correct version, and the invariant it maintains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 ch04_invariant.cpp -- why the THIRD obligation is not decoration. // Build: cl /O2 /EHsc /std:c++17 ch04_invariant.cpp (see Appendix A) // --- 1. The correct version, and the invariant it maintains -------- // Invariant: if x occurs in a, then it occurs in a[lo..hi]. // Initialisation: lo = 0, hi = n-1, so the range is all of a. // Maintenance: a is sorted, so discarding the half that cannot // contain x preserves the invariant. // Termination: hi - lo strictly decreases and is bounded below. static int bsearch_ok(const std::vector&lt;int&gt;&amp; a, int x) { int lo = 0, hi = (int)a.size() - 1; while (lo &lt;= hi) { int mid = lo + (hi - lo) / 2; if (a[mid] == x) return mid; if (a[mid] &lt; x) lo = mid + 1; // the correct step else hi = mid - 1; } return -1; }"/>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1">
                <a:solidFill>
                  <a:srgbClr val="8795A1"/>
                </a:solidFill>
                <a:latin typeface="Consolas"/>
              </a:rPr>
              <a:t>// ch04_invariant.cpp -- why the THIRD obligation is not decoration.</a:t>
            </a:r>
          </a:p>
          <a:p>
            <a:pPr>
              <a:lnSpc>
                <a:spcPct val="100000"/>
              </a:lnSpc>
              <a:spcAft>
                <a:spcPts val="0"/>
              </a:spcAft>
            </a:pPr>
            <a:r>
              <a:rPr sz="1200" i="1">
                <a:solidFill>
                  <a:srgbClr val="8795A1"/>
                </a:solidFill>
                <a:latin typeface="Consolas"/>
              </a:rPr>
              <a:t>// Build: cl /O2 /EHsc /std:c++17 ch04_invariant.cpp  (see Appendix A)</a:t>
            </a:r>
          </a:p>
          <a:p>
            <a:pPr>
              <a:lnSpc>
                <a:spcPct val="100000"/>
              </a:lnSpc>
              <a:spcAft>
                <a:spcPts val="0"/>
              </a:spcAft>
            </a:pPr>
            <a:r>
              <a:rPr sz="1200">
                <a:latin typeface="Consolas"/>
              </a:rPr>
              <a:t> </a:t>
            </a:r>
          </a:p>
          <a:p>
            <a:pPr>
              <a:lnSpc>
                <a:spcPct val="100000"/>
              </a:lnSpc>
              <a:spcAft>
                <a:spcPts val="0"/>
              </a:spcAft>
            </a:pPr>
            <a:r>
              <a:rPr sz="1200" i="1">
                <a:solidFill>
                  <a:srgbClr val="8795A1"/>
                </a:solidFill>
                <a:latin typeface="Consolas"/>
              </a:rPr>
              <a:t>// --- 1. The correct version, and the invariant it maintains --------</a:t>
            </a:r>
          </a:p>
          <a:p>
            <a:pPr>
              <a:lnSpc>
                <a:spcPct val="100000"/>
              </a:lnSpc>
              <a:spcAft>
                <a:spcPts val="0"/>
              </a:spcAft>
            </a:pPr>
            <a:r>
              <a:rPr sz="1200" i="1">
                <a:solidFill>
                  <a:srgbClr val="8795A1"/>
                </a:solidFill>
                <a:latin typeface="Consolas"/>
              </a:rPr>
              <a:t>// Invariant: if x occurs in a, then it occurs in a[lo..hi].</a:t>
            </a:r>
          </a:p>
          <a:p>
            <a:pPr>
              <a:lnSpc>
                <a:spcPct val="100000"/>
              </a:lnSpc>
              <a:spcAft>
                <a:spcPts val="0"/>
              </a:spcAft>
            </a:pPr>
            <a:r>
              <a:rPr sz="1200" i="1">
                <a:solidFill>
                  <a:srgbClr val="8795A1"/>
                </a:solidFill>
                <a:latin typeface="Consolas"/>
              </a:rPr>
              <a:t>//   Initialisation: lo = 0, hi = n-1, so the range is all of a.</a:t>
            </a:r>
          </a:p>
          <a:p>
            <a:pPr>
              <a:lnSpc>
                <a:spcPct val="100000"/>
              </a:lnSpc>
              <a:spcAft>
                <a:spcPts val="0"/>
              </a:spcAft>
            </a:pPr>
            <a:r>
              <a:rPr sz="1200" i="1">
                <a:solidFill>
                  <a:srgbClr val="8795A1"/>
                </a:solidFill>
                <a:latin typeface="Consolas"/>
              </a:rPr>
              <a:t>//   Maintenance:    a is sorted, so discarding the half that cannot</a:t>
            </a:r>
          </a:p>
          <a:p>
            <a:pPr>
              <a:lnSpc>
                <a:spcPct val="100000"/>
              </a:lnSpc>
              <a:spcAft>
                <a:spcPts val="0"/>
              </a:spcAft>
            </a:pPr>
            <a:r>
              <a:rPr sz="1200" i="1">
                <a:solidFill>
                  <a:srgbClr val="8795A1"/>
                </a:solidFill>
                <a:latin typeface="Consolas"/>
              </a:rPr>
              <a:t>//                   contain x preserves the invariant.</a:t>
            </a:r>
          </a:p>
          <a:p>
            <a:pPr>
              <a:lnSpc>
                <a:spcPct val="100000"/>
              </a:lnSpc>
              <a:spcAft>
                <a:spcPts val="0"/>
              </a:spcAft>
            </a:pPr>
            <a:r>
              <a:rPr sz="1200" i="1">
                <a:solidFill>
                  <a:srgbClr val="8795A1"/>
                </a:solidFill>
                <a:latin typeface="Consolas"/>
              </a:rPr>
              <a:t>//   Termination:    hi - lo strictly decreases and is bounded below.</a:t>
            </a:r>
          </a:p>
          <a:p>
            <a:pPr>
              <a:lnSpc>
                <a:spcPct val="100000"/>
              </a:lnSpc>
              <a:spcAft>
                <a:spcPts val="0"/>
              </a:spcAft>
            </a:pPr>
            <a:r>
              <a:rPr sz="1200" i="0">
                <a:solidFill>
                  <a:srgbClr val="5DADE2"/>
                </a:solidFill>
                <a:latin typeface="Consolas"/>
              </a:rPr>
              <a:t>static</a:t>
            </a:r>
            <a:r>
              <a:rPr sz="1200" i="0">
                <a:solidFill>
                  <a:srgbClr val="E8EDF2"/>
                </a:solidFill>
                <a:latin typeface="Consolas"/>
              </a:rPr>
              <a:t> </a:t>
            </a:r>
            <a:r>
              <a:rPr sz="1200" i="0">
                <a:solidFill>
                  <a:srgbClr val="5DADE2"/>
                </a:solidFill>
                <a:latin typeface="Consolas"/>
              </a:rPr>
              <a:t>int</a:t>
            </a:r>
            <a:r>
              <a:rPr sz="1200" i="0">
                <a:solidFill>
                  <a:srgbClr val="E8EDF2"/>
                </a:solidFill>
                <a:latin typeface="Consolas"/>
              </a:rPr>
              <a:t> </a:t>
            </a:r>
            <a:r>
              <a:rPr sz="1200" i="0">
                <a:solidFill>
                  <a:srgbClr val="C39BD3"/>
                </a:solidFill>
                <a:latin typeface="Consolas"/>
              </a:rPr>
              <a:t>bsearch_ok</a:t>
            </a:r>
            <a:r>
              <a:rPr sz="1200" i="0">
                <a:solidFill>
                  <a:srgbClr val="AEB6BF"/>
                </a:solidFill>
                <a:latin typeface="Consolas"/>
              </a:rPr>
              <a:t>(</a:t>
            </a:r>
            <a:r>
              <a:rPr sz="1200" i="0">
                <a:solidFill>
                  <a:srgbClr val="5DADE2"/>
                </a:solidFill>
                <a:latin typeface="Consolas"/>
              </a:rPr>
              <a:t>const</a:t>
            </a:r>
            <a:r>
              <a:rPr sz="1200" i="0">
                <a:solidFill>
                  <a:srgbClr val="E8EDF2"/>
                </a:solidFill>
                <a:latin typeface="Consolas"/>
              </a:rPr>
              <a:t> </a:t>
            </a:r>
            <a:r>
              <a:rPr sz="1200" i="0">
                <a:solidFill>
                  <a:srgbClr val="E8EDF2"/>
                </a:solidFill>
                <a:latin typeface="Consolas"/>
              </a:rPr>
              <a:t>std</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vector</a:t>
            </a:r>
            <a:r>
              <a:rPr sz="1200" i="0">
                <a:solidFill>
                  <a:srgbClr val="AEB6BF"/>
                </a:solidFill>
                <a:latin typeface="Consolas"/>
              </a:rPr>
              <a:t>&lt;</a:t>
            </a:r>
            <a:r>
              <a:rPr sz="1200" i="0">
                <a:solidFill>
                  <a:srgbClr val="5DADE2"/>
                </a:solidFill>
                <a:latin typeface="Consolas"/>
              </a:rPr>
              <a:t>int</a:t>
            </a:r>
            <a:r>
              <a:rPr sz="1200" i="0">
                <a:solidFill>
                  <a:srgbClr val="AEB6BF"/>
                </a:solidFill>
                <a:latin typeface="Consolas"/>
              </a:rPr>
              <a:t>&gt;</a:t>
            </a:r>
            <a:r>
              <a:rPr sz="1200" i="0">
                <a:solidFill>
                  <a:srgbClr val="AEB6BF"/>
                </a:solidFill>
                <a:latin typeface="Consolas"/>
              </a:rPr>
              <a:t>&amp;</a:t>
            </a: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int</a:t>
            </a:r>
            <a:r>
              <a:rPr sz="1200" i="0">
                <a:solidFill>
                  <a:srgbClr val="E8EDF2"/>
                </a:solidFill>
                <a:latin typeface="Consolas"/>
              </a:rPr>
              <a:t> </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int</a:t>
            </a:r>
            <a:r>
              <a:rPr sz="1200" i="0">
                <a:solidFill>
                  <a:srgbClr val="E8EDF2"/>
                </a:solidFill>
                <a:latin typeface="Consolas"/>
              </a:rPr>
              <a:t> </a:t>
            </a:r>
            <a:r>
              <a:rPr sz="1200" i="0">
                <a:solidFill>
                  <a:srgbClr val="E8EDF2"/>
                </a:solidFill>
                <a:latin typeface="Consolas"/>
              </a:rPr>
              <a:t>lo</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hi</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5DADE2"/>
                </a:solidFill>
                <a:latin typeface="Consolas"/>
              </a:rPr>
              <a:t>int</a:t>
            </a:r>
            <a:r>
              <a:rPr sz="1200" i="0">
                <a:solidFill>
                  <a:srgbClr val="AEB6BF"/>
                </a:solidFill>
                <a:latin typeface="Consolas"/>
              </a:rPr>
              <a:t>)</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size</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while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lo</a:t>
            </a:r>
            <a:r>
              <a:rPr sz="1200" i="0">
                <a:solidFill>
                  <a:srgbClr val="E8EDF2"/>
                </a:solidFill>
                <a:latin typeface="Consolas"/>
              </a:rPr>
              <a:t> </a:t>
            </a:r>
            <a:r>
              <a:rPr sz="1200" i="0">
                <a:solidFill>
                  <a:srgbClr val="AEB6BF"/>
                </a:solidFill>
                <a:latin typeface="Consolas"/>
              </a:rPr>
              <a:t>&lt;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hi</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int</a:t>
            </a:r>
            <a:r>
              <a:rPr sz="1200" i="0">
                <a:solidFill>
                  <a:srgbClr val="E8EDF2"/>
                </a:solidFill>
                <a:latin typeface="Consolas"/>
              </a:rPr>
              <a:t> </a:t>
            </a:r>
            <a:r>
              <a:rPr sz="1200" i="0">
                <a:solidFill>
                  <a:srgbClr val="E8EDF2"/>
                </a:solidFill>
                <a:latin typeface="Consolas"/>
              </a:rPr>
              <a:t>mid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lo</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hi</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lo</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2</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mid</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mid</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mid</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lo</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mid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the correct step</a:t>
            </a:r>
          </a:p>
          <a:p>
            <a:pPr>
              <a:lnSpc>
                <a:spcPct val="100000"/>
              </a:lnSpc>
              <a:spcAft>
                <a:spcPts val="0"/>
              </a:spcAft>
            </a:pPr>
            <a:r>
              <a:rPr sz="1200" i="0">
                <a:solidFill>
                  <a:srgbClr val="E8EDF2"/>
                </a:solidFill>
                <a:latin typeface="Consolas"/>
              </a:rPr>
              <a:t>        </a:t>
            </a:r>
            <a:r>
              <a:rPr sz="1200" i="0">
                <a:solidFill>
                  <a:srgbClr val="5DADE2"/>
                </a:solidFill>
                <a:latin typeface="Consolas"/>
              </a:rPr>
              <a:t>else</a:t>
            </a:r>
            <a:r>
              <a:rPr sz="1200" i="0">
                <a:solidFill>
                  <a:srgbClr val="E8EDF2"/>
                </a:solidFill>
                <a:latin typeface="Consolas"/>
              </a:rPr>
              <a:t>            </a:t>
            </a:r>
            <a:r>
              <a:rPr sz="1200" i="0">
                <a:solidFill>
                  <a:srgbClr val="E8EDF2"/>
                </a:solidFill>
                <a:latin typeface="Consolas"/>
              </a:rPr>
              <a:t>hi</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mid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F7DC6F"/>
                </a:solidFill>
                <a:latin typeface="Consolas"/>
              </a:rPr>
              <a:t>-1</a:t>
            </a:r>
            <a:r>
              <a:rPr sz="1200" i="0">
                <a:solidFill>
                  <a:srgbClr val="AEB6BF"/>
                </a:solidFill>
                <a:latin typeface="Consolas"/>
              </a:rPr>
              <a:t>;</a:t>
            </a:r>
          </a:p>
          <a:p>
            <a:pPr>
              <a:lnSpc>
                <a:spcPct val="100000"/>
              </a:lnSpc>
              <a:spcAft>
                <a:spcPts val="0"/>
              </a:spcAft>
            </a:pPr>
            <a:r>
              <a:rPr sz="12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1</a:t>
            </a:r>
          </a:p>
          <a:p>
            <a:pPr algn="r">
              <a:lnSpc>
                <a:spcPct val="100000"/>
              </a:lnSpc>
            </a:pPr>
            <a:r>
              <a:rPr sz="1200">
                <a:solidFill>
                  <a:srgbClr val="4F5D6A"/>
                </a:solidFill>
                <a:latin typeface="Consolas"/>
              </a:rPr>
              <a:t>2</a:t>
            </a:r>
          </a:p>
          <a:p>
            <a:pPr algn="r">
              <a:lnSpc>
                <a:spcPct val="100000"/>
              </a:lnSpc>
            </a:pPr>
            <a:r>
              <a:rPr sz="1200">
                <a:solidFill>
                  <a:srgbClr val="4F5D6A"/>
                </a:solidFill>
                <a:latin typeface="Consolas"/>
              </a:rPr>
              <a:t>3</a:t>
            </a:r>
          </a:p>
          <a:p>
            <a:pPr algn="r">
              <a:lnSpc>
                <a:spcPct val="100000"/>
              </a:lnSpc>
            </a:pPr>
            <a:r>
              <a:rPr sz="1200">
                <a:solidFill>
                  <a:srgbClr val="4F5D6A"/>
                </a:solidFill>
                <a:latin typeface="Consolas"/>
              </a:rPr>
              <a:t>4</a:t>
            </a:r>
          </a:p>
          <a:p>
            <a:pPr algn="r">
              <a:lnSpc>
                <a:spcPct val="100000"/>
              </a:lnSpc>
            </a:pPr>
            <a:r>
              <a:rPr sz="1200">
                <a:solidFill>
                  <a:srgbClr val="4F5D6A"/>
                </a:solidFill>
                <a:latin typeface="Consolas"/>
              </a:rPr>
              <a:t>5</a:t>
            </a:r>
          </a:p>
          <a:p>
            <a:pPr algn="r">
              <a:lnSpc>
                <a:spcPct val="100000"/>
              </a:lnSpc>
            </a:pPr>
            <a:r>
              <a:rPr sz="1200">
                <a:solidFill>
                  <a:srgbClr val="4F5D6A"/>
                </a:solidFill>
                <a:latin typeface="Consolas"/>
              </a:rPr>
              <a:t>6</a:t>
            </a:r>
          </a:p>
          <a:p>
            <a:pPr algn="r">
              <a:lnSpc>
                <a:spcPct val="100000"/>
              </a:lnSpc>
            </a:pPr>
            <a:r>
              <a:rPr sz="1200">
                <a:solidFill>
                  <a:srgbClr val="4F5D6A"/>
                </a:solidFill>
                <a:latin typeface="Consolas"/>
              </a:rPr>
              <a:t>7</a:t>
            </a:r>
          </a:p>
          <a:p>
            <a:pPr algn="r">
              <a:lnSpc>
                <a:spcPct val="100000"/>
              </a:lnSpc>
            </a:pPr>
            <a:r>
              <a:rPr sz="1200">
                <a:solidFill>
                  <a:srgbClr val="4F5D6A"/>
                </a:solidFill>
                <a:latin typeface="Consolas"/>
              </a:rPr>
              <a:t>8</a:t>
            </a:r>
          </a:p>
          <a:p>
            <a:pPr algn="r">
              <a:lnSpc>
                <a:spcPct val="100000"/>
              </a:lnSpc>
            </a:pPr>
            <a:r>
              <a:rPr sz="1200">
                <a:solidFill>
                  <a:srgbClr val="4F5D6A"/>
                </a:solidFill>
                <a:latin typeface="Consolas"/>
              </a:rPr>
              <a:t>9</a:t>
            </a:r>
          </a:p>
          <a:p>
            <a:pPr algn="r">
              <a:lnSpc>
                <a:spcPct val="100000"/>
              </a:lnSpc>
            </a:pPr>
            <a:r>
              <a:rPr sz="1200">
                <a:solidFill>
                  <a:srgbClr val="4F5D6A"/>
                </a:solidFill>
                <a:latin typeface="Consolas"/>
              </a:rPr>
              <a:t>10</a:t>
            </a:r>
          </a:p>
          <a:p>
            <a:pPr algn="r">
              <a:lnSpc>
                <a:spcPct val="100000"/>
              </a:lnSpc>
            </a:pPr>
            <a:r>
              <a:rPr sz="1200">
                <a:solidFill>
                  <a:srgbClr val="4F5D6A"/>
                </a:solidFill>
                <a:latin typeface="Consolas"/>
              </a:rPr>
              <a:t>11</a:t>
            </a:r>
          </a:p>
          <a:p>
            <a:pPr algn="r">
              <a:lnSpc>
                <a:spcPct val="100000"/>
              </a:lnSpc>
            </a:pPr>
            <a:r>
              <a:rPr sz="1200">
                <a:solidFill>
                  <a:srgbClr val="4F5D6A"/>
                </a:solidFill>
                <a:latin typeface="Consolas"/>
              </a:rPr>
              <a:t>12</a:t>
            </a:r>
          </a:p>
          <a:p>
            <a:pPr algn="r">
              <a:lnSpc>
                <a:spcPct val="100000"/>
              </a:lnSpc>
            </a:pPr>
            <a:r>
              <a:rPr sz="1200">
                <a:solidFill>
                  <a:srgbClr val="4F5D6A"/>
                </a:solidFill>
                <a:latin typeface="Consolas"/>
              </a:rPr>
              <a:t>13</a:t>
            </a:r>
          </a:p>
          <a:p>
            <a:pPr algn="r">
              <a:lnSpc>
                <a:spcPct val="100000"/>
              </a:lnSpc>
            </a:pPr>
            <a:r>
              <a:rPr sz="1200">
                <a:solidFill>
                  <a:srgbClr val="4F5D6A"/>
                </a:solidFill>
                <a:latin typeface="Consolas"/>
              </a:rPr>
              <a:t>14</a:t>
            </a:r>
          </a:p>
          <a:p>
            <a:pPr algn="r">
              <a:lnSpc>
                <a:spcPct val="100000"/>
              </a:lnSpc>
            </a:pPr>
            <a:r>
              <a:rPr sz="1200">
                <a:solidFill>
                  <a:srgbClr val="4F5D6A"/>
                </a:solidFill>
                <a:latin typeface="Consolas"/>
              </a:rPr>
              <a:t>15</a:t>
            </a:r>
          </a:p>
          <a:p>
            <a:pPr algn="r">
              <a:lnSpc>
                <a:spcPct val="100000"/>
              </a:lnSpc>
            </a:pPr>
            <a:r>
              <a:rPr sz="1200">
                <a:solidFill>
                  <a:srgbClr val="4F5D6A"/>
                </a:solidFill>
                <a:latin typeface="Consolas"/>
              </a:rPr>
              <a:t>16</a:t>
            </a:r>
          </a:p>
          <a:p>
            <a:pPr algn="r">
              <a:lnSpc>
                <a:spcPct val="100000"/>
              </a:lnSpc>
            </a:pPr>
            <a:r>
              <a:rPr sz="1200">
                <a:solidFill>
                  <a:srgbClr val="4F5D6A"/>
                </a:solidFill>
                <a:latin typeface="Consolas"/>
              </a:rPr>
              <a:t>17</a:t>
            </a:r>
          </a:p>
          <a:p>
            <a:pPr algn="r">
              <a:lnSpc>
                <a:spcPct val="100000"/>
              </a:lnSpc>
            </a:pPr>
            <a:r>
              <a:rPr sz="1200">
                <a:solidFill>
                  <a:srgbClr val="4F5D6A"/>
                </a:solidFill>
                <a:latin typeface="Consolas"/>
              </a:rPr>
              <a:t>18</a:t>
            </a:r>
          </a:p>
          <a:p>
            <a:pPr algn="r">
              <a:lnSpc>
                <a:spcPct val="100000"/>
              </a:lnSpc>
            </a:pPr>
            <a:r>
              <a:rPr sz="12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7039C627-523A-4AA1-AC7A-F6B6016C27F1}"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search with one character changed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 --- 2. The same search with one character changed ----------------- // &quot;lo = mid&quot; still discards nothing that could hold x, so the // invariant SURVIVES. But when hi == lo + 1 and a[mid] &lt; x, mid // computes to lo, so lo = mid leaves lo and hi UNCHANGED and the loop // makes no progress. It is not wrong; it is non-terminating."/>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The same search with one character changed -----------------</a:t>
            </a:r>
          </a:p>
          <a:p>
            <a:pPr>
              <a:lnSpc>
                <a:spcPct val="100000"/>
              </a:lnSpc>
              <a:spcAft>
                <a:spcPts val="0"/>
              </a:spcAft>
            </a:pPr>
            <a:r>
              <a:rPr sz="1900" i="1">
                <a:solidFill>
                  <a:srgbClr val="8795A1"/>
                </a:solidFill>
                <a:latin typeface="Consolas"/>
              </a:rPr>
              <a:t>// "lo = mid" still discards nothing that could hold x, so the</a:t>
            </a:r>
          </a:p>
          <a:p>
            <a:pPr>
              <a:lnSpc>
                <a:spcPct val="100000"/>
              </a:lnSpc>
              <a:spcAft>
                <a:spcPts val="0"/>
              </a:spcAft>
            </a:pPr>
            <a:r>
              <a:rPr sz="1900" i="1">
                <a:solidFill>
                  <a:srgbClr val="8795A1"/>
                </a:solidFill>
                <a:latin typeface="Consolas"/>
              </a:rPr>
              <a:t>// invariant SURVIVES. But when hi == lo + 1 and a[mid] &lt; x, mid</a:t>
            </a:r>
          </a:p>
          <a:p>
            <a:pPr>
              <a:lnSpc>
                <a:spcPct val="100000"/>
              </a:lnSpc>
              <a:spcAft>
                <a:spcPts val="0"/>
              </a:spcAft>
            </a:pPr>
            <a:r>
              <a:rPr sz="1900" i="1">
                <a:solidFill>
                  <a:srgbClr val="8795A1"/>
                </a:solidFill>
                <a:latin typeface="Consolas"/>
              </a:rPr>
              <a:t>// computes to lo, so lo = mid leaves lo and hi UNCHANGED and the loop</a:t>
            </a:r>
          </a:p>
          <a:p>
            <a:pPr>
              <a:lnSpc>
                <a:spcPct val="100000"/>
              </a:lnSpc>
              <a:spcAft>
                <a:spcPts val="0"/>
              </a:spcAft>
            </a:pPr>
            <a:r>
              <a:rPr sz="1900" i="1">
                <a:solidFill>
                  <a:srgbClr val="8795A1"/>
                </a:solidFill>
                <a:latin typeface="Consolas"/>
              </a:rPr>
              <a:t>// makes no progress. It is not wrong; it is non-terminating.</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800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6637CEE1-67AE-44DD-A606-BC5F51E2766A}"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search with one character changed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static int bsearch_bug(const std::vector&lt;int&gt;&amp; a, int x, bool* inv_ever_broken, long long* iters) { int lo = 0, hi = (int)a.size() - 1; for (int step = 0; step &lt; CAP; ++step) { if (lo &gt; hi) return -1; int mid = lo + (hi - lo) / 2; // Audit the invariant itself, every single iteration: if x is // present in the whole array, is it still inside [lo, hi]? bool present = std::binary_search(a.begin(), a.end(), x); if (present) { bool in_window = false; for (int i = lo; i &lt;= hi; ++i) if (a[i] == x) { in_window = true; break; } if (!in_window) *inv_ever_broken = true; } ++*iters; if (a[mid] == x) return mid; if (a[mid] &lt; x) lo = mid; // &lt;-- the one-character bug"/>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5DADE2"/>
                </a:solidFill>
                <a:latin typeface="Consolas"/>
              </a:rPr>
              <a:t>static</a:t>
            </a:r>
            <a:r>
              <a:rPr sz="1100" i="0">
                <a:solidFill>
                  <a:srgbClr val="E8EDF2"/>
                </a:solidFill>
                <a:latin typeface="Consolas"/>
              </a:rPr>
              <a:t> </a:t>
            </a:r>
            <a:r>
              <a:rPr sz="1100" i="0">
                <a:solidFill>
                  <a:srgbClr val="5DADE2"/>
                </a:solidFill>
                <a:latin typeface="Consolas"/>
              </a:rPr>
              <a:t>int</a:t>
            </a:r>
            <a:r>
              <a:rPr sz="1100" i="0">
                <a:solidFill>
                  <a:srgbClr val="E8EDF2"/>
                </a:solidFill>
                <a:latin typeface="Consolas"/>
              </a:rPr>
              <a:t> </a:t>
            </a:r>
            <a:r>
              <a:rPr sz="1100" i="0">
                <a:solidFill>
                  <a:srgbClr val="C39BD3"/>
                </a:solidFill>
                <a:latin typeface="Consolas"/>
              </a:rPr>
              <a:t>bsearch_bug</a:t>
            </a:r>
            <a:r>
              <a:rPr sz="1100" i="0">
                <a:solidFill>
                  <a:srgbClr val="AEB6BF"/>
                </a:solidFill>
                <a:latin typeface="Consolas"/>
              </a:rPr>
              <a:t>(</a:t>
            </a:r>
            <a:r>
              <a:rPr sz="1100" i="0">
                <a:solidFill>
                  <a:srgbClr val="5DADE2"/>
                </a:solidFill>
                <a:latin typeface="Consolas"/>
              </a:rPr>
              <a:t>const</a:t>
            </a:r>
            <a:r>
              <a:rPr sz="1100" i="0">
                <a:solidFill>
                  <a:srgbClr val="E8EDF2"/>
                </a:solidFill>
                <a:latin typeface="Consolas"/>
              </a:rPr>
              <a:t> </a:t>
            </a:r>
            <a:r>
              <a:rPr sz="1100" i="0">
                <a:solidFill>
                  <a:srgbClr val="E8EDF2"/>
                </a:solidFill>
                <a:latin typeface="Consolas"/>
              </a:rPr>
              <a:t>std</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vector</a:t>
            </a:r>
            <a:r>
              <a:rPr sz="1100" i="0">
                <a:solidFill>
                  <a:srgbClr val="AEB6BF"/>
                </a:solidFill>
                <a:latin typeface="Consolas"/>
              </a:rPr>
              <a:t>&lt;</a:t>
            </a:r>
            <a:r>
              <a:rPr sz="1100" i="0">
                <a:solidFill>
                  <a:srgbClr val="5DADE2"/>
                </a:solidFill>
                <a:latin typeface="Consolas"/>
              </a:rPr>
              <a:t>int</a:t>
            </a:r>
            <a:r>
              <a:rPr sz="1100" i="0">
                <a:solidFill>
                  <a:srgbClr val="AEB6BF"/>
                </a:solidFill>
                <a:latin typeface="Consolas"/>
              </a:rPr>
              <a:t>&gt;</a:t>
            </a:r>
            <a:r>
              <a:rPr sz="1100" i="0">
                <a:solidFill>
                  <a:srgbClr val="AEB6BF"/>
                </a:solidFill>
                <a:latin typeface="Consolas"/>
              </a:rPr>
              <a:t>&amp;</a:t>
            </a:r>
            <a:r>
              <a:rPr sz="1100" i="0">
                <a:solidFill>
                  <a:srgbClr val="E8EDF2"/>
                </a:solidFill>
                <a:latin typeface="Consolas"/>
              </a:rPr>
              <a:t> </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int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bool</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inv_ever_broken</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long</a:t>
            </a:r>
            <a:r>
              <a:rPr sz="1100" i="0">
                <a:solidFill>
                  <a:srgbClr val="E8EDF2"/>
                </a:solidFill>
                <a:latin typeface="Consolas"/>
              </a:rPr>
              <a:t> </a:t>
            </a:r>
            <a:r>
              <a:rPr sz="1100" i="0">
                <a:solidFill>
                  <a:srgbClr val="5DADE2"/>
                </a:solidFill>
                <a:latin typeface="Consolas"/>
              </a:rPr>
              <a:t>long</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iters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int</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5DADE2"/>
                </a:solidFill>
                <a:latin typeface="Consolas"/>
              </a:rPr>
              <a:t>int</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size</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AEB6BF"/>
                </a:solidFill>
                <a:latin typeface="Consolas"/>
              </a:rPr>
              <a:t>(</a:t>
            </a:r>
            <a:r>
              <a:rPr sz="1100" i="0">
                <a:solidFill>
                  <a:srgbClr val="5DADE2"/>
                </a:solidFill>
                <a:latin typeface="Consolas"/>
              </a:rPr>
              <a:t>int</a:t>
            </a:r>
            <a:r>
              <a:rPr sz="1100" i="0">
                <a:solidFill>
                  <a:srgbClr val="E8EDF2"/>
                </a:solidFill>
                <a:latin typeface="Consolas"/>
              </a:rPr>
              <a:t> </a:t>
            </a:r>
            <a:r>
              <a:rPr sz="1100" i="0">
                <a:solidFill>
                  <a:srgbClr val="E8EDF2"/>
                </a:solidFill>
                <a:latin typeface="Consolas"/>
              </a:rPr>
              <a:t>step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step</a:t>
            </a:r>
            <a:r>
              <a:rPr sz="1100" i="0">
                <a:solidFill>
                  <a:srgbClr val="E8EDF2"/>
                </a:solidFill>
                <a:latin typeface="Consolas"/>
              </a:rPr>
              <a:t> </a:t>
            </a:r>
            <a:r>
              <a:rPr sz="1100" i="0">
                <a:solidFill>
                  <a:srgbClr val="AEB6BF"/>
                </a:solidFill>
                <a:latin typeface="Consolas"/>
              </a:rPr>
              <a:t>&lt;</a:t>
            </a:r>
            <a:r>
              <a:rPr sz="1100" i="0">
                <a:solidFill>
                  <a:srgbClr val="E8EDF2"/>
                </a:solidFill>
                <a:latin typeface="Consolas"/>
              </a:rPr>
              <a:t> </a:t>
            </a:r>
            <a:r>
              <a:rPr sz="1100" i="0">
                <a:solidFill>
                  <a:srgbClr val="E8EDF2"/>
                </a:solidFill>
                <a:latin typeface="Consolas"/>
              </a:rPr>
              <a:t>CAP</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step</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&gt;</a:t>
            </a:r>
            <a:r>
              <a:rPr sz="1100" i="0">
                <a:solidFill>
                  <a:srgbClr val="E8EDF2"/>
                </a:solidFill>
                <a:latin typeface="Consolas"/>
              </a:rPr>
              <a:t> </a:t>
            </a:r>
            <a:r>
              <a:rPr sz="1100" i="0">
                <a:solidFill>
                  <a:srgbClr val="E8EDF2"/>
                </a:solidFill>
                <a:latin typeface="Consolas"/>
              </a:rPr>
              <a:t>hi</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int</a:t>
            </a:r>
            <a:r>
              <a:rPr sz="1100" i="0">
                <a:solidFill>
                  <a:srgbClr val="E8EDF2"/>
                </a:solidFill>
                <a:latin typeface="Consolas"/>
              </a:rPr>
              <a:t> </a:t>
            </a:r>
            <a:r>
              <a:rPr sz="1100" i="0">
                <a:solidFill>
                  <a:srgbClr val="E8EDF2"/>
                </a:solidFill>
                <a:latin typeface="Consolas"/>
              </a:rPr>
              <a:t>mid</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hi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2</a:t>
            </a:r>
            <a:r>
              <a:rPr sz="1100" i="0">
                <a:solidFill>
                  <a:srgbClr val="AEB6BF"/>
                </a:solidFill>
                <a:latin typeface="Consolas"/>
              </a:rPr>
              <a:t>;</a:t>
            </a:r>
          </a:p>
          <a:p>
            <a:pPr>
              <a:lnSpc>
                <a:spcPct val="100000"/>
              </a:lnSpc>
              <a:spcAft>
                <a:spcPts val="0"/>
              </a:spcAft>
            </a:pPr>
            <a:r>
              <a:rPr sz="1100">
                <a:latin typeface="Consolas"/>
              </a:rPr>
              <a:t> </a:t>
            </a:r>
          </a:p>
          <a:p>
            <a:pPr>
              <a:lnSpc>
                <a:spcPct val="100000"/>
              </a:lnSpc>
              <a:spcAft>
                <a:spcPts val="0"/>
              </a:spcAft>
            </a:pPr>
            <a:r>
              <a:rPr sz="1100" i="0">
                <a:solidFill>
                  <a:srgbClr val="E8EDF2"/>
                </a:solidFill>
                <a:latin typeface="Consolas"/>
              </a:rPr>
              <a:t>        </a:t>
            </a:r>
            <a:r>
              <a:rPr sz="1100" i="1">
                <a:solidFill>
                  <a:srgbClr val="8795A1"/>
                </a:solidFill>
                <a:latin typeface="Consolas"/>
              </a:rPr>
              <a:t>// Audit the invariant itself, every single iteration: if x is</a:t>
            </a:r>
          </a:p>
          <a:p>
            <a:pPr>
              <a:lnSpc>
                <a:spcPct val="100000"/>
              </a:lnSpc>
              <a:spcAft>
                <a:spcPts val="0"/>
              </a:spcAft>
            </a:pPr>
            <a:r>
              <a:rPr sz="1100" i="0">
                <a:solidFill>
                  <a:srgbClr val="E8EDF2"/>
                </a:solidFill>
                <a:latin typeface="Consolas"/>
              </a:rPr>
              <a:t>        </a:t>
            </a:r>
            <a:r>
              <a:rPr sz="1100" i="1">
                <a:solidFill>
                  <a:srgbClr val="8795A1"/>
                </a:solidFill>
                <a:latin typeface="Consolas"/>
              </a:rPr>
              <a:t>// present in the whole array, is it still inside [lo, hi]?</a:t>
            </a:r>
          </a:p>
          <a:p>
            <a:pPr>
              <a:lnSpc>
                <a:spcPct val="100000"/>
              </a:lnSpc>
              <a:spcAft>
                <a:spcPts val="0"/>
              </a:spcAft>
            </a:pPr>
            <a:r>
              <a:rPr sz="1100" i="0">
                <a:solidFill>
                  <a:srgbClr val="E8EDF2"/>
                </a:solidFill>
                <a:latin typeface="Consolas"/>
              </a:rPr>
              <a:t>        </a:t>
            </a:r>
            <a:r>
              <a:rPr sz="1100" i="0">
                <a:solidFill>
                  <a:srgbClr val="5DADE2"/>
                </a:solidFill>
                <a:latin typeface="Consolas"/>
              </a:rPr>
              <a:t>bool</a:t>
            </a:r>
            <a:r>
              <a:rPr sz="1100" i="0">
                <a:solidFill>
                  <a:srgbClr val="E8EDF2"/>
                </a:solidFill>
                <a:latin typeface="Consolas"/>
              </a:rPr>
              <a:t> </a:t>
            </a:r>
            <a:r>
              <a:rPr sz="1100" i="0">
                <a:solidFill>
                  <a:srgbClr val="E8EDF2"/>
                </a:solidFill>
                <a:latin typeface="Consolas"/>
              </a:rPr>
              <a:t>present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std</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binary_search</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begin</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end</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present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bool</a:t>
            </a:r>
            <a:r>
              <a:rPr sz="1100" i="0">
                <a:solidFill>
                  <a:srgbClr val="E8EDF2"/>
                </a:solidFill>
                <a:latin typeface="Consolas"/>
              </a:rPr>
              <a:t> </a:t>
            </a:r>
            <a:r>
              <a:rPr sz="1100" i="0">
                <a:solidFill>
                  <a:srgbClr val="E8EDF2"/>
                </a:solidFill>
                <a:latin typeface="Consolas"/>
              </a:rPr>
              <a:t>in_window</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false</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AEB6BF"/>
                </a:solidFill>
                <a:latin typeface="Consolas"/>
              </a:rPr>
              <a:t>(</a:t>
            </a:r>
            <a:r>
              <a:rPr sz="1100" i="0">
                <a:solidFill>
                  <a:srgbClr val="5DADE2"/>
                </a:solidFill>
                <a:latin typeface="Consolas"/>
              </a:rPr>
              <a:t>int</a:t>
            </a:r>
            <a:r>
              <a:rPr sz="1100" i="0">
                <a:solidFill>
                  <a:srgbClr val="E8EDF2"/>
                </a:solidFill>
                <a:latin typeface="Consolas"/>
              </a:rPr>
              <a:t> </a:t>
            </a:r>
            <a:r>
              <a:rPr sz="1100" i="0">
                <a:solidFill>
                  <a:srgbClr val="E8EDF2"/>
                </a:solidFill>
                <a:latin typeface="Consolas"/>
              </a:rPr>
              <a:t>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a:t>
            </a:r>
            <a:r>
              <a:rPr sz="1100" i="0">
                <a:solidFill>
                  <a:srgbClr val="E8EDF2"/>
                </a:solidFill>
                <a:latin typeface="Consolas"/>
              </a:rPr>
              <a:t> </a:t>
            </a:r>
            <a:r>
              <a:rPr sz="1100" i="0">
                <a:solidFill>
                  <a:srgbClr val="AEB6BF"/>
                </a:solidFill>
                <a:latin typeface="Consolas"/>
              </a:rPr>
              <a:t>&lt;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hi</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i</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i</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in_window</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true</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break</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in_window</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inv_ever_broken</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true</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iters</a:t>
            </a:r>
            <a:r>
              <a:rPr sz="1100" i="0">
                <a:solidFill>
                  <a:srgbClr val="AEB6BF"/>
                </a:solidFill>
                <a:latin typeface="Consolas"/>
              </a:rPr>
              <a:t>;</a:t>
            </a:r>
          </a:p>
          <a:p>
            <a:pPr>
              <a:lnSpc>
                <a:spcPct val="100000"/>
              </a:lnSpc>
              <a:spcAft>
                <a:spcPts val="0"/>
              </a:spcAft>
            </a:pPr>
            <a:r>
              <a:rPr sz="1100">
                <a:latin typeface="Consolas"/>
              </a:rPr>
              <a:t> </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mid</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E8EDF2"/>
                </a:solidFill>
                <a:latin typeface="Consolas"/>
              </a:rPr>
              <a:t>mid</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mid</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&lt;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mid</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&lt;-- the one-character bug</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26</a:t>
            </a:r>
          </a:p>
          <a:p>
            <a:pPr algn="r">
              <a:lnSpc>
                <a:spcPct val="100000"/>
              </a:lnSpc>
            </a:pPr>
            <a:r>
              <a:rPr sz="1100">
                <a:solidFill>
                  <a:srgbClr val="4F5D6A"/>
                </a:solidFill>
                <a:latin typeface="Consolas"/>
              </a:rPr>
              <a:t>27</a:t>
            </a:r>
          </a:p>
          <a:p>
            <a:pPr algn="r">
              <a:lnSpc>
                <a:spcPct val="100000"/>
              </a:lnSpc>
            </a:pPr>
            <a:r>
              <a:rPr sz="1100">
                <a:solidFill>
                  <a:srgbClr val="4F5D6A"/>
                </a:solidFill>
                <a:latin typeface="Consolas"/>
              </a:rPr>
              <a:t>28</a:t>
            </a:r>
          </a:p>
          <a:p>
            <a:pPr algn="r">
              <a:lnSpc>
                <a:spcPct val="100000"/>
              </a:lnSpc>
            </a:pPr>
            <a:r>
              <a:rPr sz="1100">
                <a:solidFill>
                  <a:srgbClr val="4F5D6A"/>
                </a:solidFill>
                <a:latin typeface="Consolas"/>
              </a:rPr>
              <a:t>29</a:t>
            </a:r>
          </a:p>
          <a:p>
            <a:pPr algn="r">
              <a:lnSpc>
                <a:spcPct val="100000"/>
              </a:lnSpc>
            </a:pPr>
            <a:r>
              <a:rPr sz="1100">
                <a:solidFill>
                  <a:srgbClr val="4F5D6A"/>
                </a:solidFill>
                <a:latin typeface="Consolas"/>
              </a:rPr>
              <a:t>30</a:t>
            </a:r>
          </a:p>
          <a:p>
            <a:pPr algn="r">
              <a:lnSpc>
                <a:spcPct val="100000"/>
              </a:lnSpc>
            </a:pPr>
            <a:r>
              <a:rPr sz="1100">
                <a:solidFill>
                  <a:srgbClr val="4F5D6A"/>
                </a:solidFill>
                <a:latin typeface="Consolas"/>
              </a:rPr>
              <a:t>31</a:t>
            </a:r>
          </a:p>
          <a:p>
            <a:pPr algn="r">
              <a:lnSpc>
                <a:spcPct val="100000"/>
              </a:lnSpc>
            </a:pPr>
            <a:r>
              <a:rPr sz="1100">
                <a:solidFill>
                  <a:srgbClr val="4F5D6A"/>
                </a:solidFill>
                <a:latin typeface="Consolas"/>
              </a:rPr>
              <a:t>32</a:t>
            </a:r>
          </a:p>
          <a:p>
            <a:pPr algn="r">
              <a:lnSpc>
                <a:spcPct val="100000"/>
              </a:lnSpc>
            </a:pPr>
            <a:r>
              <a:rPr sz="1100">
                <a:solidFill>
                  <a:srgbClr val="4F5D6A"/>
                </a:solidFill>
                <a:latin typeface="Consolas"/>
              </a:rPr>
              <a:t>33</a:t>
            </a:r>
          </a:p>
          <a:p>
            <a:pPr algn="r">
              <a:lnSpc>
                <a:spcPct val="100000"/>
              </a:lnSpc>
            </a:pPr>
            <a:r>
              <a:rPr sz="1100">
                <a:solidFill>
                  <a:srgbClr val="4F5D6A"/>
                </a:solidFill>
                <a:latin typeface="Consolas"/>
              </a:rPr>
              <a:t>34</a:t>
            </a:r>
          </a:p>
          <a:p>
            <a:pPr algn="r">
              <a:lnSpc>
                <a:spcPct val="100000"/>
              </a:lnSpc>
            </a:pPr>
            <a:r>
              <a:rPr sz="1100">
                <a:solidFill>
                  <a:srgbClr val="4F5D6A"/>
                </a:solidFill>
                <a:latin typeface="Consolas"/>
              </a:rPr>
              <a:t>35</a:t>
            </a:r>
          </a:p>
          <a:p>
            <a:pPr algn="r">
              <a:lnSpc>
                <a:spcPct val="100000"/>
              </a:lnSpc>
            </a:pPr>
            <a:r>
              <a:rPr sz="1100">
                <a:solidFill>
                  <a:srgbClr val="4F5D6A"/>
                </a:solidFill>
                <a:latin typeface="Consolas"/>
              </a:rPr>
              <a:t>36</a:t>
            </a:r>
          </a:p>
          <a:p>
            <a:pPr algn="r">
              <a:lnSpc>
                <a:spcPct val="100000"/>
              </a:lnSpc>
            </a:pPr>
            <a:r>
              <a:rPr sz="1100">
                <a:solidFill>
                  <a:srgbClr val="4F5D6A"/>
                </a:solidFill>
                <a:latin typeface="Consolas"/>
              </a:rPr>
              <a:t>37</a:t>
            </a:r>
          </a:p>
          <a:p>
            <a:pPr algn="r">
              <a:lnSpc>
                <a:spcPct val="100000"/>
              </a:lnSpc>
            </a:pPr>
            <a:r>
              <a:rPr sz="1100">
                <a:solidFill>
                  <a:srgbClr val="4F5D6A"/>
                </a:solidFill>
                <a:latin typeface="Consolas"/>
              </a:rPr>
              <a:t>38</a:t>
            </a:r>
          </a:p>
          <a:p>
            <a:pPr algn="r">
              <a:lnSpc>
                <a:spcPct val="100000"/>
              </a:lnSpc>
            </a:pPr>
            <a:r>
              <a:rPr sz="1100">
                <a:solidFill>
                  <a:srgbClr val="4F5D6A"/>
                </a:solidFill>
                <a:latin typeface="Consolas"/>
              </a:rPr>
              <a:t>39</a:t>
            </a:r>
          </a:p>
          <a:p>
            <a:pPr algn="r">
              <a:lnSpc>
                <a:spcPct val="100000"/>
              </a:lnSpc>
            </a:pPr>
            <a:r>
              <a:rPr sz="1100">
                <a:solidFill>
                  <a:srgbClr val="4F5D6A"/>
                </a:solidFill>
                <a:latin typeface="Consolas"/>
              </a:rPr>
              <a:t>40</a:t>
            </a:r>
          </a:p>
          <a:p>
            <a:pPr algn="r">
              <a:lnSpc>
                <a:spcPct val="100000"/>
              </a:lnSpc>
            </a:pPr>
            <a:r>
              <a:rPr sz="1100">
                <a:solidFill>
                  <a:srgbClr val="4F5D6A"/>
                </a:solidFill>
                <a:latin typeface="Consolas"/>
              </a:rPr>
              <a:t>41</a:t>
            </a:r>
          </a:p>
          <a:p>
            <a:pPr algn="r">
              <a:lnSpc>
                <a:spcPct val="100000"/>
              </a:lnSpc>
            </a:pPr>
            <a:r>
              <a:rPr sz="1100">
                <a:solidFill>
                  <a:srgbClr val="4F5D6A"/>
                </a:solidFill>
                <a:latin typeface="Consolas"/>
              </a:rPr>
              <a:t>42</a:t>
            </a:r>
          </a:p>
          <a:p>
            <a:pPr algn="r">
              <a:lnSpc>
                <a:spcPct val="100000"/>
              </a:lnSpc>
            </a:pPr>
            <a:r>
              <a:rPr sz="1100">
                <a:solidFill>
                  <a:srgbClr val="4F5D6A"/>
                </a:solidFill>
                <a:latin typeface="Consolas"/>
              </a:rPr>
              <a:t>43</a:t>
            </a:r>
          </a:p>
          <a:p>
            <a:pPr algn="r">
              <a:lnSpc>
                <a:spcPct val="100000"/>
              </a:lnSpc>
            </a:pPr>
            <a:r>
              <a:rPr sz="1100">
                <a:solidFill>
                  <a:srgbClr val="4F5D6A"/>
                </a:solidFill>
                <a:latin typeface="Consolas"/>
              </a:rPr>
              <a:t>44</a:t>
            </a:r>
          </a:p>
          <a:p>
            <a:pPr algn="r">
              <a:lnSpc>
                <a:spcPct val="100000"/>
              </a:lnSpc>
            </a:pPr>
            <a:r>
              <a:rPr sz="11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016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458601A5-F01E-447F-9E2B-A03CF3592B1B}"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search with one character changed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else hi = mid - 1; } return -2; // stands in for &quot;forever&quot; }"/>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5DADE2"/>
                </a:solidFill>
                <a:latin typeface="Consolas"/>
              </a:rPr>
              <a:t>else</a:t>
            </a:r>
            <a:r>
              <a:rPr sz="2000" i="0">
                <a:solidFill>
                  <a:srgbClr val="E8EDF2"/>
                </a:solidFill>
                <a:latin typeface="Consolas"/>
              </a:rPr>
              <a:t>            </a:t>
            </a:r>
            <a:r>
              <a:rPr sz="2000" i="0">
                <a:solidFill>
                  <a:srgbClr val="E8EDF2"/>
                </a:solidFill>
                <a:latin typeface="Consolas"/>
              </a:rPr>
              <a:t>hi</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mid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F7DC6F"/>
                </a:solidFill>
                <a:latin typeface="Consolas"/>
              </a:rPr>
              <a:t>-2</a:t>
            </a:r>
            <a:r>
              <a:rPr sz="2000" i="0">
                <a:solidFill>
                  <a:srgbClr val="AEB6BF"/>
                </a:solidFill>
                <a:latin typeface="Consolas"/>
              </a:rPr>
              <a:t>;</a:t>
            </a:r>
            <a:r>
              <a:rPr sz="2000" i="0">
                <a:solidFill>
                  <a:srgbClr val="E8EDF2"/>
                </a:solidFill>
                <a:latin typeface="Consolas"/>
              </a:rPr>
              <a:t>                          </a:t>
            </a:r>
            <a:r>
              <a:rPr sz="2000" i="1">
                <a:solidFill>
                  <a:srgbClr val="8795A1"/>
                </a:solidFill>
                <a:latin typeface="Consolas"/>
              </a:rPr>
              <a:t>// stands in for "forever"</a:t>
            </a:r>
          </a:p>
          <a:p>
            <a:pPr>
              <a:lnSpc>
                <a:spcPct val="100000"/>
              </a:lnSpc>
              <a:spcAft>
                <a:spcPts val="0"/>
              </a:spcAft>
            </a:pPr>
            <a:r>
              <a:rPr sz="2000" i="0">
                <a:solidFill>
                  <a:srgbClr val="AEB6BF"/>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46</a:t>
            </a:r>
          </a:p>
          <a:p>
            <a:pPr algn="r">
              <a:lnSpc>
                <a:spcPct val="100000"/>
              </a:lnSpc>
            </a:pPr>
            <a:r>
              <a:rPr sz="2000">
                <a:solidFill>
                  <a:srgbClr val="4F5D6A"/>
                </a:solidFill>
                <a:latin typeface="Consolas"/>
              </a:rPr>
              <a:t>47</a:t>
            </a:r>
          </a:p>
          <a:p>
            <a:pPr algn="r">
              <a:lnSpc>
                <a:spcPct val="100000"/>
              </a:lnSpc>
            </a:pPr>
            <a:r>
              <a:rPr sz="2000">
                <a:solidFill>
                  <a:srgbClr val="4F5D6A"/>
                </a:solidFill>
                <a:latin typeface="Consolas"/>
              </a:rPr>
              <a:t>48</a:t>
            </a:r>
          </a:p>
          <a:p>
            <a:pPr algn="r">
              <a:lnSpc>
                <a:spcPct val="100000"/>
              </a:lnSpc>
            </a:pPr>
            <a:r>
              <a:rPr sz="20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233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336DD748-82D2-44FF-A70D-46B576755838}"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Ten thousand tests with keys that are present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 --- 3. Ten thousand tests with keys that are present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Ten thousand tests with keys that are present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4502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FFDF2D8C-0C55-4AF8-8AC3-890CCCAD2375}" type="slidenum">
              <a:rPr lang="en-GB" sz="1000">
                <a:solidFill>
                  <a:srgbClr val="8795A1"/>
                </a:solidFill>
                <a:latin typeface="Segoe UI"/>
              </a:rPr>
              <a:t>40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ten thousand tests, keys absent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 --- 4. The same ten thousand tests, keys absent ------------------- // The only change between parts 3 and 4 is the distribution the keys // are drawn from, and it changes the hang rate from 32% to 100%."/>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The same ten thousand tests, keys absent -------------------</a:t>
            </a:r>
          </a:p>
          <a:p>
            <a:pPr>
              <a:lnSpc>
                <a:spcPct val="100000"/>
              </a:lnSpc>
              <a:spcAft>
                <a:spcPts val="0"/>
              </a:spcAft>
            </a:pPr>
            <a:r>
              <a:rPr sz="1900" i="1">
                <a:solidFill>
                  <a:srgbClr val="8795A1"/>
                </a:solidFill>
                <a:latin typeface="Consolas"/>
              </a:rPr>
              <a:t>// The only change between parts 3 and 4 is the distribution the keys</a:t>
            </a:r>
          </a:p>
          <a:p>
            <a:pPr>
              <a:lnSpc>
                <a:spcPct val="100000"/>
              </a:lnSpc>
              <a:spcAft>
                <a:spcPts val="0"/>
              </a:spcAft>
            </a:pPr>
            <a:r>
              <a:rPr sz="1900" i="1">
                <a:solidFill>
                  <a:srgbClr val="8795A1"/>
                </a:solidFill>
                <a:latin typeface="Consolas"/>
              </a:rPr>
              <a:t>// are drawn from, and it changes the hang rate from 32% to 100%.</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E7FBF7F6-9C4F-4AFB-BB2F-A41BAE7A7A2A}" type="slidenum">
              <a:rPr lang="en-GB" sz="1000">
                <a:solidFill>
                  <a:srgbClr val="8795A1"/>
                </a:solidFill>
                <a:latin typeface="Segoe UI"/>
              </a:rPr>
              <a:t>41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the invariant? It never broke once.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 --- 5. And the invariant? It never broke once. -------------------- // inv_ever_broken is set by the audit in part 2 and is never set. // Printing that zero beside the 13,228 hangs IS the experiment: the // two numbers together say &quot;partially correct, and useless&quot;. printf(&quot; iterations audited : %lld\n&quot;, iters); printf(&quot; invariant violated : %s\n&quot;, broken ? &quot;YES&quot; : &quot;NO&quot;); printf(&quot; wrong answers, A+B : %d\n&quot;, wrong_present + wrong_absent);"/>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And the invariant? It never broke once. --------------------</a:t>
            </a:r>
          </a:p>
          <a:p>
            <a:pPr>
              <a:lnSpc>
                <a:spcPct val="100000"/>
              </a:lnSpc>
              <a:spcAft>
                <a:spcPts val="0"/>
              </a:spcAft>
            </a:pPr>
            <a:r>
              <a:rPr sz="1900" i="1">
                <a:solidFill>
                  <a:srgbClr val="8795A1"/>
                </a:solidFill>
                <a:latin typeface="Consolas"/>
              </a:rPr>
              <a:t>// inv_ever_broken is set by the audit in part 2 and is never set.</a:t>
            </a:r>
          </a:p>
          <a:p>
            <a:pPr>
              <a:lnSpc>
                <a:spcPct val="100000"/>
              </a:lnSpc>
              <a:spcAft>
                <a:spcPts val="0"/>
              </a:spcAft>
            </a:pPr>
            <a:r>
              <a:rPr sz="1900" i="1">
                <a:solidFill>
                  <a:srgbClr val="8795A1"/>
                </a:solidFill>
                <a:latin typeface="Consolas"/>
              </a:rPr>
              <a:t>// Printing that zero beside the 13,228 hangs IS the experiment: the</a:t>
            </a:r>
          </a:p>
          <a:p>
            <a:pPr>
              <a:lnSpc>
                <a:spcPct val="100000"/>
              </a:lnSpc>
              <a:spcAft>
                <a:spcPts val="0"/>
              </a:spcAft>
            </a:pPr>
            <a:r>
              <a:rPr sz="1900" i="1">
                <a:solidFill>
                  <a:srgbClr val="8795A1"/>
                </a:solidFill>
                <a:latin typeface="Consolas"/>
              </a:rPr>
              <a:t>// two numbers together say "partially correct, and useless".</a:t>
            </a:r>
          </a:p>
          <a:p>
            <a:pPr>
              <a:lnSpc>
                <a:spcPct val="100000"/>
              </a:lnSpc>
              <a:spcAft>
                <a:spcPts val="0"/>
              </a:spcAft>
            </a:pP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iterations audited : %lld</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iters</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invariant violated : %s</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broken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YES</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NO</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wrong answers, A+B : %d</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wrong_present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wrong_absent</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56</a:t>
            </a:r>
          </a:p>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8835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Bug That Is Never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731F6317-7BDB-4213-8075-4F553BF32EF3}" type="slidenum">
              <a:rPr lang="en-GB" sz="1000">
                <a:solidFill>
                  <a:srgbClr val="8795A1"/>
                </a:solidFill>
                <a:latin typeface="Segoe UI"/>
              </a:rPr>
              <a:t>42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Why proving beats testing, counted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code/ch04_invariant.cpp</a:t>
            </a:r>
          </a:p>
        </p:txBody>
      </p:sp>
      <p:sp>
        <p:nvSpPr>
          <p:cNvPr id="14" name="!!code-text" descr="// --- 6. Why proving beats testing, counted ------------------------- // Exhaustive testing means every sorted array and every key. The // number of sorted arrays of length n over an alphabet of size m is // the multiset coefficient C(m+n-1, n). for (int n : {4, 8, 16, 20}) { const int m = 100; double c = 1.0; for (int i = 1; i &lt;= n; ++i) c *= (double)(m + n - i) / i; printf(&quot; n=%2d, values 0..99 : %.3g sorted arrays&quot; &quot; x %d keys\n&quot;, n, c, m); }"/>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Why proving beats testing, counted -------------------------</a:t>
            </a:r>
          </a:p>
          <a:p>
            <a:pPr>
              <a:lnSpc>
                <a:spcPct val="100000"/>
              </a:lnSpc>
              <a:spcAft>
                <a:spcPts val="0"/>
              </a:spcAft>
            </a:pPr>
            <a:r>
              <a:rPr sz="1900" i="1">
                <a:solidFill>
                  <a:srgbClr val="8795A1"/>
                </a:solidFill>
                <a:latin typeface="Consolas"/>
              </a:rPr>
              <a:t>// Exhaustive testing means every sorted array and every key. The</a:t>
            </a:r>
          </a:p>
          <a:p>
            <a:pPr>
              <a:lnSpc>
                <a:spcPct val="100000"/>
              </a:lnSpc>
              <a:spcAft>
                <a:spcPts val="0"/>
              </a:spcAft>
            </a:pPr>
            <a:r>
              <a:rPr sz="1900" i="1">
                <a:solidFill>
                  <a:srgbClr val="8795A1"/>
                </a:solidFill>
                <a:latin typeface="Consolas"/>
              </a:rPr>
              <a:t>// number of sorted arrays of length n over an alphabet of size m is</a:t>
            </a:r>
          </a:p>
          <a:p>
            <a:pPr>
              <a:lnSpc>
                <a:spcPct val="100000"/>
              </a:lnSpc>
              <a:spcAft>
                <a:spcPts val="0"/>
              </a:spcAft>
            </a:pPr>
            <a:r>
              <a:rPr sz="1900" i="1">
                <a:solidFill>
                  <a:srgbClr val="8795A1"/>
                </a:solidFill>
                <a:latin typeface="Consolas"/>
              </a:rPr>
              <a:t>// the multiset coefficient C(m+n-1, n).</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8</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16</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20</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const</a:t>
            </a:r>
            <a:r>
              <a:rPr sz="1900" i="0">
                <a:solidFill>
                  <a:srgbClr val="E8EDF2"/>
                </a:solidFill>
                <a:latin typeface="Consolas"/>
              </a:rPr>
              <a:t> </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100</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1.0</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double</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n=%2d, values 0..99 : %.3g sorted arrays</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 x %d keys</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64</a:t>
            </a:r>
          </a:p>
          <a:p>
            <a:pPr algn="r">
              <a:lnSpc>
                <a:spcPct val="100000"/>
              </a:lnSpc>
            </a:pPr>
            <a:r>
              <a:rPr sz="1900">
                <a:solidFill>
                  <a:srgbClr val="4F5D6A"/>
                </a:solidFill>
                <a:latin typeface="Consolas"/>
              </a:rPr>
              <a:t>65</a:t>
            </a:r>
          </a:p>
          <a:p>
            <a:pPr algn="r">
              <a:lnSpc>
                <a:spcPct val="100000"/>
              </a:lnSpc>
            </a:pPr>
            <a:r>
              <a:rPr sz="1900">
                <a:solidFill>
                  <a:srgbClr val="4F5D6A"/>
                </a:solidFill>
                <a:latin typeface="Consolas"/>
              </a:rPr>
              <a:t>66</a:t>
            </a:r>
          </a:p>
          <a:p>
            <a:pPr algn="r">
              <a:lnSpc>
                <a:spcPct val="100000"/>
              </a:lnSpc>
            </a:pPr>
            <a:r>
              <a:rPr sz="1900">
                <a:solidFill>
                  <a:srgbClr val="4F5D6A"/>
                </a:solidFill>
                <a:latin typeface="Consolas"/>
              </a:rPr>
              <a:t>67</a:t>
            </a:r>
          </a:p>
          <a:p>
            <a:pPr algn="r">
              <a:lnSpc>
                <a:spcPct val="100000"/>
              </a:lnSpc>
            </a:pPr>
            <a:r>
              <a:rPr sz="1900">
                <a:solidFill>
                  <a:srgbClr val="4F5D6A"/>
                </a:solidFill>
                <a:latin typeface="Consolas"/>
              </a:rPr>
              <a:t>68</a:t>
            </a:r>
          </a:p>
          <a:p>
            <a:pPr algn="r">
              <a:lnSpc>
                <a:spcPct val="100000"/>
              </a:lnSpc>
            </a:pPr>
            <a:r>
              <a:rPr sz="1900">
                <a:solidFill>
                  <a:srgbClr val="4F5D6A"/>
                </a:solidFill>
                <a:latin typeface="Consolas"/>
              </a:rPr>
              <a:t>69</a:t>
            </a:r>
          </a:p>
          <a:p>
            <a:pPr algn="r">
              <a:lnSpc>
                <a:spcPct val="100000"/>
              </a:lnSpc>
            </a:pPr>
            <a:r>
              <a:rPr sz="1900">
                <a:solidFill>
                  <a:srgbClr val="4F5D6A"/>
                </a:solidFill>
                <a:latin typeface="Consolas"/>
              </a:rPr>
              <a:t>70</a:t>
            </a:r>
          </a:p>
          <a:p>
            <a:pPr algn="r">
              <a:lnSpc>
                <a:spcPct val="100000"/>
              </a:lnSpc>
            </a:pPr>
            <a:r>
              <a:rPr sz="1900">
                <a:solidFill>
                  <a:srgbClr val="4F5D6A"/>
                </a:solidFill>
                <a:latin typeface="Consolas"/>
              </a:rPr>
              <a:t>71</a:t>
            </a:r>
          </a:p>
          <a:p>
            <a:pPr algn="r">
              <a:lnSpc>
                <a:spcPct val="100000"/>
              </a:lnSpc>
            </a:pPr>
            <a:r>
              <a:rPr sz="1900">
                <a:solidFill>
                  <a:srgbClr val="4F5D6A"/>
                </a:solidFill>
                <a:latin typeface="Consolas"/>
              </a:rPr>
              <a:t>72</a:t>
            </a:r>
          </a:p>
          <a:p>
            <a:pPr algn="r">
              <a:lnSpc>
                <a:spcPct val="100000"/>
              </a:lnSpc>
            </a:pPr>
            <a:r>
              <a:rPr sz="1900">
                <a:solidFill>
                  <a:srgbClr val="4F5D6A"/>
                </a:solidFill>
                <a:latin typeface="Consolas"/>
              </a:rPr>
              <a:t>73</a:t>
            </a:r>
          </a:p>
          <a:p>
            <a:pPr algn="r">
              <a:lnSpc>
                <a:spcPct val="100000"/>
              </a:lnSpc>
            </a:pPr>
            <a:r>
              <a:rPr sz="1900">
                <a:solidFill>
                  <a:srgbClr val="4F5D6A"/>
                </a:solidFill>
                <a:latin typeface="Consolas"/>
              </a:rPr>
              <a:t>74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3100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35     </a:t>
            </a:r>
            <a:fld id="{9A47A3C1-2048-4657-BDD4-4A025E8E6415}" type="slidenum">
              <a:rPr lang="en-GB" sz="1000">
                <a:solidFill>
                  <a:srgbClr val="8795A1"/>
                </a:solidFill>
                <a:latin typeface="Segoe UI"/>
              </a:rPr>
              <a:t>43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a:t>
            </a:r>
            <a:r>
              <a:rPr sz="2150" b="0" i="0">
                <a:solidFill>
                  <a:srgbClr val="1F4E79"/>
                </a:solidFill>
                <a:latin typeface="Consolas"/>
              </a:rPr>
              <a:t>invariant violated</a:t>
            </a:r>
            <a:r>
              <a:rPr sz="2300" b="0" i="0">
                <a:solidFill>
                  <a:srgbClr val="1C252B"/>
                </a:solidFill>
                <a:latin typeface="Segoe UI"/>
              </a:rPr>
              <a:t> line prints </a:t>
            </a:r>
            <a:r>
              <a:rPr sz="2150" b="0" i="0">
                <a:solidFill>
                  <a:srgbClr val="1F4E79"/>
                </a:solidFill>
                <a:latin typeface="Consolas"/>
              </a:rPr>
              <a:t>NO</a:t>
            </a:r>
            <a:r>
              <a:rPr sz="2300" b="0" i="0">
                <a:solidFill>
                  <a:srgbClr val="1C252B"/>
                </a:solidFill>
                <a:latin typeface="Segoe UI"/>
              </a:rPr>
              <a:t>, and it is the most important line in the output: the audit is not failing to find a violation because it is badly written, it is failing because there is none to find.</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Change the bug from </a:t>
            </a:r>
            <a:r>
              <a:rPr sz="2150" b="0" i="0">
                <a:solidFill>
                  <a:srgbClr val="1F4E79"/>
                </a:solidFill>
                <a:latin typeface="Consolas"/>
              </a:rPr>
              <a:t>lo = mid</a:t>
            </a:r>
            <a:r>
              <a:rPr sz="2300" b="0" i="0">
                <a:solidFill>
                  <a:srgbClr val="1C252B"/>
                </a:solidFill>
                <a:latin typeface="Segoe UI"/>
              </a:rPr>
              <a:t> to </a:t>
            </a:r>
            <a:r>
              <a:rPr sz="2150" b="0" i="0">
                <a:solidFill>
                  <a:srgbClr val="1F4E79"/>
                </a:solidFill>
                <a:latin typeface="Consolas"/>
              </a:rPr>
              <a:t>lo = mid + 2</a:t>
            </a:r>
            <a:r>
              <a:rPr sz="2300" b="0" i="0">
                <a:solidFill>
                  <a:srgbClr val="1C252B"/>
                </a:solidFill>
                <a:latin typeface="Segoe UI"/>
              </a:rPr>
              <a:t>. Now predict, before running it, which of the three obligations fails — and which column of the table changes. This mutation terminates and gives wrong answers, the exact mirror image of the one in the book, and it is the case an invariant proof catches immediately.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53168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State a loop invariant for a loop that computes </a:t>
            </a:r>
            <a:r>
              <a:rPr sz="3400" b="0" i="0">
                <a:solidFill>
                  <a:srgbClr val="FFFFFF"/>
                </a:solidFill>
                <a:latin typeface="Cambria"/>
              </a:rPr>
              <a:t>Σ</a:t>
            </a:r>
            <a:r>
              <a:rPr sz="2250" b="0" i="1" baseline="-25000">
                <a:solidFill>
                  <a:srgbClr val="FFFFFF"/>
                </a:solidFill>
                <a:latin typeface="Cambria"/>
              </a:rPr>
              <a:t>i</a:t>
            </a:r>
            <a:r>
              <a:rPr sz="2250" b="0" i="0" baseline="-25000">
                <a:solidFill>
                  <a:srgbClr val="FFFFFF"/>
                </a:solidFill>
                <a:latin typeface="Cambria"/>
              </a:rPr>
              <a:t>=1</a:t>
            </a:r>
            <a:r>
              <a:rPr sz="2250" b="0" i="1" baseline="30000">
                <a:solidFill>
                  <a:srgbClr val="FFFFFF"/>
                </a:solidFill>
                <a:latin typeface="Cambria"/>
              </a:rPr>
              <a:t>n</a:t>
            </a:r>
            <a:r>
              <a:rPr sz="3400" b="0" i="0">
                <a:solidFill>
                  <a:srgbClr val="FFFFFF"/>
                </a:solidFill>
                <a:latin typeface="Cambria"/>
              </a:rPr>
              <a:t> </a:t>
            </a:r>
            <a:r>
              <a:rPr sz="3400" b="0" i="1">
                <a:solidFill>
                  <a:srgbClr val="FFFFFF"/>
                </a:solidFill>
                <a:latin typeface="Cambria"/>
              </a:rPr>
              <a:t>A</a:t>
            </a:r>
            <a:r>
              <a:rPr sz="3400" b="0" i="0">
                <a:solidFill>
                  <a:srgbClr val="FFFFFF"/>
                </a:solidFill>
                <a:latin typeface="Cambria"/>
              </a:rPr>
              <a:t>[</a:t>
            </a:r>
            <a:r>
              <a:rPr sz="3400" b="0" i="1">
                <a:solidFill>
                  <a:srgbClr val="FFFFFF"/>
                </a:solidFill>
                <a:latin typeface="Cambria"/>
              </a:rPr>
              <a:t>i</a:t>
            </a:r>
            <a:r>
              <a:rPr sz="3400" b="0" i="0">
                <a:solidFill>
                  <a:srgbClr val="FFFFFF"/>
                </a:solidFill>
                <a:latin typeface="Cambria"/>
              </a:rPr>
              <a:t>]</a:t>
            </a:r>
            <a:r>
              <a:rPr sz="3400" b="0" i="0">
                <a:solidFill>
                  <a:srgbClr val="FFFFFF"/>
                </a:solidFill>
                <a:latin typeface="Segoe UI Semibold"/>
              </a:rPr>
              <a:t> into a variable </a:t>
            </a:r>
            <a:r>
              <a:rPr sz="3400" b="0" i="1">
                <a:solidFill>
                  <a:srgbClr val="FFFFFF"/>
                </a:solidFill>
                <a:latin typeface="Segoe UI Semibold"/>
              </a:rPr>
              <a:t>total</a:t>
            </a:r>
            <a:r>
              <a:rPr sz="3400" b="0" i="0">
                <a:solidFill>
                  <a:srgbClr val="FFFFFF"/>
                </a:solidFill>
                <a:latin typeface="Segoe UI Semibold"/>
              </a:rPr>
              <a:t>, and give the measure that proves it terminates.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4  ·  Correctness: Loop Invariants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40  ·  answers in Appendix D     </a:t>
            </a:r>
            <a:fld id="{9D6EA1CB-7C85-4A73-A0D5-F6034200DA36}"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State a loop invariant for a loop that computes </a:t>
            </a:r>
            <a:r>
              <a:rPr sz="2400" b="0" i="0">
                <a:solidFill>
                  <a:srgbClr val="1A5276"/>
                </a:solidFill>
                <a:latin typeface="Cambria"/>
              </a:rPr>
              <a:t>Σ</a:t>
            </a:r>
            <a:r>
              <a:rPr sz="1600" b="0" i="1" baseline="-25000">
                <a:solidFill>
                  <a:srgbClr val="1A5276"/>
                </a:solidFill>
                <a:latin typeface="Cambria"/>
              </a:rPr>
              <a:t>i</a:t>
            </a:r>
            <a:r>
              <a:rPr sz="1600" b="0" i="0" baseline="-25000">
                <a:solidFill>
                  <a:srgbClr val="1A5276"/>
                </a:solidFill>
                <a:latin typeface="Cambria"/>
              </a:rPr>
              <a:t>=1</a:t>
            </a:r>
            <a:r>
              <a:rPr sz="1600" b="0" i="1" baseline="30000">
                <a:solidFill>
                  <a:srgbClr val="1A5276"/>
                </a:solidFill>
                <a:latin typeface="Cambria"/>
              </a:rPr>
              <a:t>n</a:t>
            </a:r>
            <a:r>
              <a:rPr sz="2400" b="0" i="0">
                <a:solidFill>
                  <a:srgbClr val="1A5276"/>
                </a:solidFill>
                <a:latin typeface="Cambria"/>
              </a:rPr>
              <a:t> </a:t>
            </a:r>
            <a:r>
              <a:rPr sz="2400" b="0" i="1">
                <a:solidFill>
                  <a:srgbClr val="1A5276"/>
                </a:solidFill>
                <a:latin typeface="Cambria"/>
              </a:rPr>
              <a:t>A</a:t>
            </a:r>
            <a:r>
              <a:rPr sz="2400" b="0" i="0">
                <a:solidFill>
                  <a:srgbClr val="1A5276"/>
                </a:solidFill>
                <a:latin typeface="Cambria"/>
              </a:rPr>
              <a:t>[</a:t>
            </a:r>
            <a:r>
              <a:rPr sz="2400" b="0" i="1">
                <a:solidFill>
                  <a:srgbClr val="1A5276"/>
                </a:solidFill>
                <a:latin typeface="Cambria"/>
              </a:rPr>
              <a:t>i</a:t>
            </a:r>
            <a:r>
              <a:rPr sz="2400" b="0" i="0">
                <a:solidFill>
                  <a:srgbClr val="1A5276"/>
                </a:solidFill>
                <a:latin typeface="Cambria"/>
              </a:rPr>
              <a:t>]</a:t>
            </a:r>
            <a:r>
              <a:rPr sz="2400" b="0" i="0">
                <a:solidFill>
                  <a:srgbClr val="1A5276"/>
                </a:solidFill>
                <a:latin typeface="Segoe UI Semibold"/>
              </a:rPr>
              <a:t> into a variable </a:t>
            </a:r>
            <a:r>
              <a:rPr sz="2400" b="0" i="1">
                <a:solidFill>
                  <a:srgbClr val="1A5276"/>
                </a:solidFill>
                <a:latin typeface="Segoe UI Semibold"/>
              </a:rPr>
              <a:t>total</a:t>
            </a:r>
            <a:r>
              <a:rPr sz="2400" b="0" i="0">
                <a:solidFill>
                  <a:srgbClr val="1A5276"/>
                </a:solidFill>
                <a:latin typeface="Segoe UI Semibold"/>
              </a:rPr>
              <a:t>, and give the measure that proves it terminates.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42308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 name="!!ans-0" descr="Invariant: at the start of the iteration for i, total = Σk=1i−1 A[k]. Initialisation: i = 1 and the empty sum is 0. Maintenance: adding A[i] extends the sum by one term. Termination: i = n+1 gives Σk=1nA[k]. The measure is n + 1 − i, a non-negative integer strictly decreasing each iterati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7552" y="1762963"/>
            <a:ext cx="10509199" cy="1423080"/>
          </a:xfrm>
          <a:prstGeom prst="rect">
            <a:avLst/>
          </a:prstGeom>
        </p:spPr>
      </p:pic>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  answers in Appendix D     </a:t>
            </a:r>
            <a:fld id="{E350B5E3-F908-4485-9153-3F084A3B505F}" type="slidenum">
              <a:rPr lang="en-GB" sz="1000">
                <a:solidFill>
                  <a:srgbClr val="8795A1"/>
                </a:solidFill>
                <a:latin typeface="Segoe UI"/>
              </a:rPr>
              <a:t>45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750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classmate’s invariant for selection sort reads: “after each iteration, </a:t>
            </a:r>
            <a:r>
              <a:rPr sz="3400" b="0" i="1">
                <a:solidFill>
                  <a:srgbClr val="FFFFFF"/>
                </a:solidFill>
                <a:latin typeface="Cambria"/>
              </a:rPr>
              <a:t>A</a:t>
            </a:r>
            <a:r>
              <a:rPr sz="3400" b="0" i="0">
                <a:solidFill>
                  <a:srgbClr val="FFFFFF"/>
                </a:solidFill>
                <a:latin typeface="Cambria"/>
              </a:rPr>
              <a:t>[1</a:t>
            </a:r>
            <a:r>
              <a:rPr sz="3400" b="0" i="1">
                <a:solidFill>
                  <a:srgbClr val="FFFFFF"/>
                </a:solidFill>
                <a:latin typeface="Cambria"/>
              </a:rPr>
              <a:t>k</a:t>
            </a:r>
            <a:r>
              <a:rPr sz="3400" b="0" i="0">
                <a:solidFill>
                  <a:srgbClr val="FFFFFF"/>
                </a:solidFill>
                <a:latin typeface="Cambria"/>
              </a:rPr>
              <a:t>]</a:t>
            </a:r>
            <a:r>
              <a:rPr sz="3400" b="0" i="0">
                <a:solidFill>
                  <a:srgbClr val="FFFFFF"/>
                </a:solidFill>
                <a:latin typeface="Segoe UI Semibold"/>
              </a:rPr>
              <a:t> is sorted”. Give an incorrect program that satisfies it, and repair the invariant.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4  ·  Correctness: Loop Invariants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40  ·  answers in Appendix D     </a:t>
            </a:r>
            <a:fld id="{79DFAC2B-E539-4B2F-AE6D-8B89C3882BFB}"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classmate’s invariant for selection sort reads: “after each iteration, </a:t>
            </a:r>
            <a:r>
              <a:rPr sz="2400" b="0" i="1">
                <a:solidFill>
                  <a:srgbClr val="1A5276"/>
                </a:solidFill>
                <a:latin typeface="Cambria"/>
              </a:rPr>
              <a:t>A</a:t>
            </a:r>
            <a:r>
              <a:rPr sz="2400" b="0" i="0">
                <a:solidFill>
                  <a:srgbClr val="1A5276"/>
                </a:solidFill>
                <a:latin typeface="Cambria"/>
              </a:rPr>
              <a:t>[1</a:t>
            </a:r>
            <a:r>
              <a:rPr sz="2400" b="0" i="1">
                <a:solidFill>
                  <a:srgbClr val="1A5276"/>
                </a:solidFill>
                <a:latin typeface="Cambria"/>
              </a:rPr>
              <a:t>k</a:t>
            </a:r>
            <a:r>
              <a:rPr sz="2400" b="0" i="0">
                <a:solidFill>
                  <a:srgbClr val="1A5276"/>
                </a:solidFill>
                <a:latin typeface="Cambria"/>
              </a:rPr>
              <a:t>]</a:t>
            </a:r>
            <a:r>
              <a:rPr sz="2400" b="0" i="0">
                <a:solidFill>
                  <a:srgbClr val="1A5276"/>
                </a:solidFill>
                <a:latin typeface="Segoe UI Semibold"/>
              </a:rPr>
              <a:t> is sorted”. Give an incorrect program that satisfies it, and repair the invariant.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program that overwrites </a:t>
            </a:r>
            <a:r>
              <a:rPr sz="2200" b="0" i="1">
                <a:solidFill>
                  <a:srgbClr val="1C252B"/>
                </a:solidFill>
                <a:latin typeface="Cambria"/>
              </a:rPr>
              <a:t>A</a:t>
            </a:r>
            <a:r>
              <a:rPr sz="2200" b="0" i="0">
                <a:solidFill>
                  <a:srgbClr val="1C252B"/>
                </a:solidFill>
                <a:latin typeface="Cambria"/>
              </a:rPr>
              <a:t>[1 </a:t>
            </a:r>
            <a:r>
              <a:rPr sz="2200" b="0" i="1">
                <a:solidFill>
                  <a:srgbClr val="1C252B"/>
                </a:solidFill>
                <a:latin typeface="Cambria"/>
              </a:rPr>
              <a:t>k</a:t>
            </a:r>
            <a:r>
              <a:rPr sz="2200" b="0" i="0">
                <a:solidFill>
                  <a:srgbClr val="1C252B"/>
                </a:solidFill>
                <a:latin typeface="Cambria"/>
              </a:rPr>
              <a:t>]</a:t>
            </a:r>
            <a:r>
              <a:rPr sz="2200" b="0" i="0">
                <a:solidFill>
                  <a:srgbClr val="1C252B"/>
                </a:solidFill>
                <a:latin typeface="Segoe UI"/>
              </a:rPr>
              <a:t> with zeros satisfies it: the prefix is sorted at every step. Repair: </a:t>
            </a:r>
            <a:r>
              <a:rPr sz="2200" b="0" i="1">
                <a:solidFill>
                  <a:srgbClr val="1C252B"/>
                </a:solidFill>
                <a:latin typeface="Cambria"/>
              </a:rPr>
              <a:t>A</a:t>
            </a:r>
            <a:r>
              <a:rPr sz="2200" b="0" i="0">
                <a:solidFill>
                  <a:srgbClr val="1C252B"/>
                </a:solidFill>
                <a:latin typeface="Cambria"/>
              </a:rPr>
              <a:t>[1</a:t>
            </a:r>
            <a:r>
              <a:rPr sz="2200" b="0" i="1">
                <a:solidFill>
                  <a:srgbClr val="1C252B"/>
                </a:solidFill>
                <a:latin typeface="Cambria"/>
              </a:rPr>
              <a:t>k</a:t>
            </a:r>
            <a:r>
              <a:rPr sz="2200" b="0" i="0">
                <a:solidFill>
                  <a:srgbClr val="1C252B"/>
                </a:solidFill>
                <a:latin typeface="Cambria"/>
              </a:rPr>
              <a:t>]</a:t>
            </a:r>
            <a:r>
              <a:rPr sz="2200" b="0" i="1">
                <a:solidFill>
                  <a:srgbClr val="1C252B"/>
                </a:solidFill>
                <a:latin typeface="Segoe UI"/>
              </a:rPr>
              <a:t> is sorted </a:t>
            </a:r>
            <a:r>
              <a:rPr sz="2200" b="1" i="1">
                <a:solidFill>
                  <a:srgbClr val="1C252B"/>
                </a:solidFill>
                <a:latin typeface="Segoe UI"/>
              </a:rPr>
              <a:t>and</a:t>
            </a:r>
            <a:r>
              <a:rPr sz="2200" b="0" i="1">
                <a:solidFill>
                  <a:srgbClr val="1C252B"/>
                </a:solidFill>
                <a:latin typeface="Segoe UI"/>
              </a:rPr>
              <a:t> contains the </a:t>
            </a:r>
            <a:r>
              <a:rPr sz="2200" b="0" i="1">
                <a:solidFill>
                  <a:srgbClr val="1C252B"/>
                </a:solidFill>
                <a:latin typeface="Cambria"/>
              </a:rPr>
              <a:t>k</a:t>
            </a:r>
            <a:r>
              <a:rPr sz="2200" b="0" i="1">
                <a:solidFill>
                  <a:srgbClr val="1C252B"/>
                </a:solidFill>
                <a:latin typeface="Segoe UI"/>
              </a:rPr>
              <a:t> smallest elements of the original array, and </a:t>
            </a:r>
            <a:r>
              <a:rPr sz="2200" b="0" i="1">
                <a:solidFill>
                  <a:srgbClr val="1C252B"/>
                </a:solidFill>
                <a:latin typeface="Cambria"/>
              </a:rPr>
              <a:t>A</a:t>
            </a:r>
            <a:r>
              <a:rPr sz="2200" b="0" i="0">
                <a:solidFill>
                  <a:srgbClr val="1C252B"/>
                </a:solidFill>
                <a:latin typeface="Cambria"/>
              </a:rPr>
              <a:t>[</a:t>
            </a:r>
            <a:r>
              <a:rPr sz="2200" b="0" i="1">
                <a:solidFill>
                  <a:srgbClr val="1C252B"/>
                </a:solidFill>
                <a:latin typeface="Cambria"/>
              </a:rPr>
              <a:t>k</a:t>
            </a:r>
            <a:r>
              <a:rPr sz="2200" b="0" i="0">
                <a:solidFill>
                  <a:srgbClr val="1C252B"/>
                </a:solidFill>
                <a:latin typeface="Cambria"/>
              </a:rPr>
              <a:t>+1</a:t>
            </a:r>
            <a:r>
              <a:rPr sz="2200" b="0" i="1">
                <a:solidFill>
                  <a:srgbClr val="1C252B"/>
                </a:solidFill>
                <a:latin typeface="Cambria"/>
              </a:rPr>
              <a:t>n</a:t>
            </a:r>
            <a:r>
              <a:rPr sz="2200" b="0" i="0">
                <a:solidFill>
                  <a:srgbClr val="1C252B"/>
                </a:solidFill>
                <a:latin typeface="Cambria"/>
              </a:rPr>
              <a:t>]</a:t>
            </a:r>
            <a:r>
              <a:rPr sz="2200" b="0" i="1">
                <a:solidFill>
                  <a:srgbClr val="1C252B"/>
                </a:solidFill>
                <a:latin typeface="Segoe UI"/>
              </a:rPr>
              <a:t> holds the rest.</a:t>
            </a:r>
            <a:r>
              <a:rPr sz="2200" b="0" i="0">
                <a:solidFill>
                  <a:srgbClr val="1C252B"/>
                </a:solidFill>
                <a:latin typeface="Segoe UI"/>
              </a:rPr>
              <a:t> The second clause is what forbids inventing values.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  answers in Appendix D     </a:t>
            </a:r>
            <a:fld id="{26FD4341-FA57-47EA-8BEC-9B2B26DDEB3E}" type="slidenum">
              <a:rPr lang="en-GB" sz="1000">
                <a:solidFill>
                  <a:srgbClr val="8795A1"/>
                </a:solidFill>
                <a:latin typeface="Segoe UI"/>
              </a:rPr>
              <a:t>47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183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in terms of the three obligations, how a program can be partially correct but not totally correct, and give the measure whose absence causes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4  ·  Correctness: Loop Invariants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40  ·  answers in Appendix D     </a:t>
            </a:r>
            <a:fld id="{9CBFF2E3-CEA2-45B6-B4D3-960D7FE929EC}" type="slidenum">
              <a:rPr lang="en-GB" sz="1000">
                <a:solidFill>
                  <a:srgbClr val="D5DEE5"/>
                </a:solidFill>
                <a:latin typeface="Segoe UI"/>
              </a:rPr>
              <a:t>48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Explain, in terms of the three obligations, how a program can be partially correct but not totally correct, and give the measure whose absence causes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Initialisation and maintenance give </a:t>
            </a:r>
            <a:r>
              <a:rPr sz="2200" b="0" i="1">
                <a:solidFill>
                  <a:srgbClr val="1C252B"/>
                </a:solidFill>
                <a:latin typeface="Segoe UI"/>
              </a:rPr>
              <a:t>partial</a:t>
            </a:r>
            <a:r>
              <a:rPr sz="2200" b="0" i="0">
                <a:solidFill>
                  <a:srgbClr val="1C252B"/>
                </a:solidFill>
                <a:latin typeface="Segoe UI"/>
              </a:rPr>
              <a:t> correctness — if the loop halts, the invariant plus the exit condition give the postcondition. They say nothing about halting. What is missing is a </a:t>
            </a:r>
            <a:r>
              <a:rPr sz="2200" b="0" i="1">
                <a:solidFill>
                  <a:srgbClr val="1C252B"/>
                </a:solidFill>
                <a:latin typeface="Segoe UI"/>
              </a:rPr>
              <a:t>loop variant</a:t>
            </a:r>
            <a:r>
              <a:rPr sz="2200" b="0" i="0">
                <a:solidFill>
                  <a:srgbClr val="1C252B"/>
                </a:solidFill>
                <a:latin typeface="Segoe UI"/>
              </a:rPr>
              <a:t>: an integer-valued measure that strictly decreases and is bounded below. Section 4.6’s binary search has a valid invariant and no such measure, and it ran for ever on 13,228 of 20,000 trials.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  answers in Appendix D     </a:t>
            </a:r>
            <a:fld id="{31CB3710-1079-4863-A829-CF2972F39652}" type="slidenum">
              <a:rPr lang="en-GB" sz="1000">
                <a:solidFill>
                  <a:srgbClr val="8795A1"/>
                </a:solidFill>
                <a:latin typeface="Segoe UI"/>
              </a:rPr>
              <a:t>49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616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a:t>
            </a:r>
            <a:fld id="{5C61D146-C899-4961-A4EE-A292560699AD}" type="slidenum">
              <a:rPr lang="en-GB" sz="1000">
                <a:solidFill>
                  <a:srgbClr val="8795A1"/>
                </a:solidFill>
                <a:latin typeface="Segoe UI"/>
              </a:rPr>
              <a:t>50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Testing samples an infinite input space. For sorted arrays of 20 two-digit numbers, exhaustive testing needs </a:t>
            </a:r>
            <a:r>
              <a:rPr sz="1700" b="0" i="0">
                <a:solidFill>
                  <a:srgbClr val="1C252B"/>
                </a:solidFill>
                <a:latin typeface="Cambria"/>
              </a:rPr>
              <a:t>2.5 × 10</a:t>
            </a:r>
            <a:r>
              <a:rPr sz="1100" b="0" i="0" baseline="30000">
                <a:solidFill>
                  <a:srgbClr val="1C252B"/>
                </a:solidFill>
                <a:latin typeface="Cambria"/>
              </a:rPr>
              <a:t>24</a:t>
            </a:r>
            <a:r>
              <a:rPr sz="1700" b="0" i="0">
                <a:solidFill>
                  <a:srgbClr val="1C252B"/>
                </a:solidFill>
                <a:latin typeface="Segoe UI"/>
              </a:rPr>
              <a:t> cases — about 80 million years. A proof covers every </a:t>
            </a:r>
            <a:r>
              <a:rPr sz="1700" b="0" i="1">
                <a:solidFill>
                  <a:srgbClr val="1C252B"/>
                </a:solidFill>
                <a:latin typeface="Cambria"/>
              </a:rPr>
              <a:t>n</a:t>
            </a:r>
            <a:r>
              <a:rPr sz="1700" b="0" i="0">
                <a:solidFill>
                  <a:srgbClr val="1C252B"/>
                </a:solidFill>
                <a:latin typeface="Segoe UI"/>
              </a:rPr>
              <a:t> at once.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loop invariant proof has three obligations: initialisation, maintenance, termination. The first two are induction; the third has no counterpart in induction and is where the real content often lies.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Initialisation plus maintenance give </a:t>
            </a:r>
            <a:r>
              <a:rPr sz="1700" b="0" i="1">
                <a:solidFill>
                  <a:srgbClr val="1C252B"/>
                </a:solidFill>
                <a:latin typeface="Segoe UI"/>
              </a:rPr>
              <a:t>partial</a:t>
            </a:r>
            <a:r>
              <a:rPr sz="1700" b="0" i="0">
                <a:solidFill>
                  <a:srgbClr val="1C252B"/>
                </a:solidFill>
                <a:latin typeface="Segoe UI"/>
              </a:rPr>
              <a:t> correctness — if it halts, it is right. Termination upgrades that to total correctness.</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Insertion sort’s invariant must say the prefix holds </a:t>
            </a:r>
            <a:r>
              <a:rPr sz="1700" b="0" i="1">
                <a:solidFill>
                  <a:srgbClr val="1C252B"/>
                </a:solidFill>
                <a:latin typeface="Segoe UI"/>
              </a:rPr>
              <a:t>the elements originally there</a:t>
            </a:r>
            <a:r>
              <a:rPr sz="1700" b="0" i="0">
                <a:solidFill>
                  <a:srgbClr val="1C252B"/>
                </a:solidFill>
                <a:latin typeface="Segoe UI"/>
              </a:rPr>
              <a:t>, in order. Drop the permutation clause and the all-zeros “sort” satisfies it.</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Binary search’s invariant is about exclusion: if </a:t>
            </a:r>
            <a:r>
              <a:rPr sz="1700" b="0" i="1">
                <a:solidFill>
                  <a:srgbClr val="1C252B"/>
                </a:solidFill>
                <a:latin typeface="Cambria"/>
              </a:rPr>
              <a:t>x</a:t>
            </a:r>
            <a:r>
              <a:rPr sz="1700" b="0" i="0">
                <a:solidFill>
                  <a:srgbClr val="1C252B"/>
                </a:solidFill>
                <a:latin typeface="Segoe UI"/>
              </a:rPr>
              <a:t> is in </a:t>
            </a:r>
            <a:r>
              <a:rPr sz="1700" b="0" i="1">
                <a:solidFill>
                  <a:srgbClr val="1C252B"/>
                </a:solidFill>
                <a:latin typeface="Cambria"/>
              </a:rPr>
              <a:t>A</a:t>
            </a:r>
            <a:r>
              <a:rPr sz="1700" b="0" i="0">
                <a:solidFill>
                  <a:srgbClr val="1C252B"/>
                </a:solidFill>
                <a:latin typeface="Segoe UI"/>
              </a:rPr>
              <a:t> at all, it is in </a:t>
            </a:r>
            <a:r>
              <a:rPr sz="1700" b="0" i="1">
                <a:solidFill>
                  <a:srgbClr val="1C252B"/>
                </a:solidFill>
                <a:latin typeface="Cambria"/>
              </a:rPr>
              <a:t>A</a:t>
            </a:r>
            <a:r>
              <a:rPr sz="1700" b="0" i="0">
                <a:solidFill>
                  <a:srgbClr val="1C252B"/>
                </a:solidFill>
                <a:latin typeface="Cambria"/>
              </a:rPr>
              <a:t>[</a:t>
            </a:r>
            <a:r>
              <a:rPr sz="1700" b="0" i="1">
                <a:solidFill>
                  <a:srgbClr val="1C252B"/>
                </a:solidFill>
                <a:latin typeface="Cambria"/>
              </a:rPr>
              <a:t>lohi</a:t>
            </a:r>
            <a:r>
              <a:rPr sz="1700" b="0" i="0">
                <a:solidFill>
                  <a:srgbClr val="1C252B"/>
                </a:solidFill>
                <a:latin typeface="Cambria"/>
              </a:rPr>
              <a:t>]</a:t>
            </a:r>
            <a:r>
              <a:rPr sz="1700" b="0" i="0">
                <a:solidFill>
                  <a:srgbClr val="1C252B"/>
                </a:solidFill>
                <a:latin typeface="Segoe UI"/>
              </a:rPr>
              <a: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Termination is proved by a loop variant: an integer-valued measure that strictly decreases. Over the reals the argument fails — </a:t>
            </a:r>
            <a:r>
              <a:rPr sz="1700" b="0" i="1">
                <a:solidFill>
                  <a:srgbClr val="1C252B"/>
                </a:solidFill>
                <a:latin typeface="Cambria"/>
              </a:rPr>
              <a:t>x</a:t>
            </a:r>
            <a:r>
              <a:rPr sz="1700" b="0" i="0">
                <a:solidFill>
                  <a:srgbClr val="1C252B"/>
                </a:solidFill>
                <a:latin typeface="Cambria"/>
              </a:rPr>
              <a:t> </a:t>
            </a:r>
            <a:r>
              <a:rPr sz="1700" b="0" i="1">
                <a:solidFill>
                  <a:srgbClr val="1C252B"/>
                </a:solidFill>
                <a:latin typeface="Cambria"/>
              </a:rPr>
              <a:t>x</a:t>
            </a:r>
            <a:r>
              <a:rPr sz="1700" b="0" i="0">
                <a:solidFill>
                  <a:srgbClr val="1C252B"/>
                </a:solidFill>
                <a:latin typeface="Cambria"/>
              </a:rPr>
              <a:t>/2</a:t>
            </a:r>
            <a:r>
              <a:rPr sz="1700" b="0" i="0">
                <a:solidFill>
                  <a:srgbClr val="1C252B"/>
                </a:solidFill>
                <a:latin typeface="Segoe UI"/>
              </a:rPr>
              <a: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a:t>
            </a:r>
            <a:fld id="{2DFF2210-51BE-4CD0-A52E-6F46FC99B7A4}" type="slidenum">
              <a:rPr lang="en-GB" sz="1000">
                <a:solidFill>
                  <a:srgbClr val="8795A1"/>
                </a:solidFill>
                <a:latin typeface="Segoe UI"/>
              </a:rPr>
              <a:t>51</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 binary search with </a:t>
            </a:r>
            <a:r>
              <a:rPr sz="1700" b="0" i="1">
                <a:solidFill>
                  <a:srgbClr val="1C252B"/>
                </a:solidFill>
                <a:latin typeface="Cambria"/>
              </a:rPr>
              <a:t>lo</a:t>
            </a:r>
            <a:r>
              <a:rPr sz="1700" b="0" i="0">
                <a:solidFill>
                  <a:srgbClr val="1C252B"/>
                </a:solidFill>
                <a:latin typeface="Cambria"/>
              </a:rPr>
              <a:t> </a:t>
            </a:r>
            <a:r>
              <a:rPr sz="1700" b="0" i="1">
                <a:solidFill>
                  <a:srgbClr val="1C252B"/>
                </a:solidFill>
                <a:latin typeface="Cambria"/>
              </a:rPr>
              <a:t>mid</a:t>
            </a:r>
            <a:r>
              <a:rPr sz="1700" b="0" i="0">
                <a:solidFill>
                  <a:srgbClr val="1C252B"/>
                </a:solidFill>
                <a:latin typeface="Segoe UI"/>
              </a:rPr>
              <a:t> gave </a:t>
            </a:r>
            <a:r>
              <a:rPr sz="1700" b="1" i="0">
                <a:solidFill>
                  <a:srgbClr val="1C252B"/>
                </a:solidFill>
                <a:latin typeface="Segoe UI"/>
              </a:rPr>
              <a:t>zero</a:t>
            </a:r>
            <a:r>
              <a:rPr sz="1700" b="0" i="0">
                <a:solidFill>
                  <a:srgbClr val="1C252B"/>
                </a:solidFill>
                <a:latin typeface="Segoe UI"/>
              </a:rPr>
              <a:t> wrong answers in 20,000 trials and </a:t>
            </a:r>
            <a:r>
              <a:rPr sz="1700" b="1" i="0">
                <a:solidFill>
                  <a:srgbClr val="1C252B"/>
                </a:solidFill>
                <a:latin typeface="Segoe UI"/>
              </a:rPr>
              <a:t>zero</a:t>
            </a:r>
            <a:r>
              <a:rPr sz="1700" b="0" i="0">
                <a:solidFill>
                  <a:srgbClr val="1C252B"/>
                </a:solidFill>
                <a:latin typeface="Segoe UI"/>
              </a:rPr>
              <a:t> invariant violations across 132,311,650 audited iterations — and failed to terminate in 13,228 of those trials. Two obligations out of three is not correctness.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3050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a:t>
            </a:r>
            <a:fld id="{71AC4E12-2505-4A16-94F4-812B6580D48D}" type="slidenum">
              <a:rPr lang="en-GB" sz="1000">
                <a:solidFill>
                  <a:srgbClr val="8795A1"/>
                </a:solidFill>
                <a:latin typeface="Segoe UI"/>
              </a:rPr>
              <a:t>52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three obligations of a loop invariant proof are: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initialisation, iteration, conclusion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initialisation, maintenance, termination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precondition, invariant, postcondition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base case, inductive step, generalisation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266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a:t>
            </a:r>
            <a:fld id="{9AED6D5E-C299-44F7-B0E4-074D667CEACF}" type="slidenum">
              <a:rPr lang="en-GB" sz="1000">
                <a:solidFill>
                  <a:srgbClr val="8795A1"/>
                </a:solidFill>
                <a:latin typeface="Segoe UI"/>
              </a:rPr>
              <a:t>53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Initialisation and maintenance alone establish: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total correctness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partial correctness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termination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running-time bound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83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4  ·  Correctness: Loop Invariants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40     </a:t>
            </a:r>
            <a:fld id="{F03E71B7-438E-4AAE-95D3-FB5CDB39C80B}" type="slidenum">
              <a:rPr lang="en-GB" sz="1000">
                <a:solidFill>
                  <a:srgbClr val="8795A1"/>
                </a:solidFill>
                <a:latin typeface="Segoe UI"/>
              </a:rPr>
              <a:t>54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why a loop invariant proof is a proof by induction, and identify the one obligation that has no inductive counterpart.</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Why must a sorting algorithm’s invariant mention that the sorted prefix contains the original elements? Give the program that makes the point.</a:t>
            </a:r>
          </a:p>
        </p:txBody>
      </p:sp>
      <p:sp>
        <p:nvSpPr>
          <p:cNvPr id="13" name="!!rt2">
            <a:extLst>
              <a:ext uri="{C183D7F6-B498-43B3-948B-1728B52AA6E4}">
                <adec:decorative xmlns:adec="http://schemas.microsoft.com/office/drawing/2017/decorative" val="1"/>
              </a:ext>
            </a:extLst>
          </p:cNvPr>
          <p:cNvSpPr/>
          <p:nvPr/>
        </p:nvSpPr>
        <p:spPr>
          <a:xfrm>
            <a:off x="658368" y="333573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7687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17443"/>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the two conditions a loop variant must satisfy, and give an example of a measure satisfying the first but not the second.</a:t>
            </a:r>
          </a:p>
        </p:txBody>
      </p:sp>
      <p:sp>
        <p:nvSpPr>
          <p:cNvPr id="16" name="!!rt3">
            <a:extLst>
              <a:ext uri="{C183D7F6-B498-43B3-948B-1728B52AA6E4}">
                <adec:decorative xmlns:adec="http://schemas.microsoft.com/office/drawing/2017/decorative" val="1"/>
              </a:ext>
            </a:extLst>
          </p:cNvPr>
          <p:cNvSpPr/>
          <p:nvPr/>
        </p:nvSpPr>
        <p:spPr>
          <a:xfrm>
            <a:off x="658368" y="4125772"/>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16692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107484"/>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Prove that the following loop computes </a:t>
            </a:r>
            <a:r>
              <a:rPr sz="1800" b="0" i="1">
                <a:solidFill>
                  <a:srgbClr val="1C252B"/>
                </a:solidFill>
                <a:latin typeface="Cambria"/>
              </a:rPr>
              <a:t>a</a:t>
            </a:r>
            <a:r>
              <a:rPr sz="1200" b="0" i="1" baseline="30000">
                <a:solidFill>
                  <a:srgbClr val="1C252B"/>
                </a:solidFill>
                <a:latin typeface="Cambria"/>
              </a:rPr>
              <a:t>n</a:t>
            </a:r>
            <a:r>
              <a:rPr sz="1800" b="0" i="0">
                <a:solidFill>
                  <a:srgbClr val="1C252B"/>
                </a:solidFill>
                <a:latin typeface="Segoe UI"/>
              </a:rPr>
              <a:t> for integer </a:t>
            </a:r>
            <a:r>
              <a:rPr sz="1800" b="0" i="1">
                <a:solidFill>
                  <a:srgbClr val="1C252B"/>
                </a:solidFill>
                <a:latin typeface="Cambria"/>
              </a:rPr>
              <a:t>n</a:t>
            </a:r>
            <a:r>
              <a:rPr sz="1800" b="0" i="0">
                <a:solidFill>
                  <a:srgbClr val="1C252B"/>
                </a:solidFill>
                <a:latin typeface="Cambria"/>
              </a:rPr>
              <a:t> ≥ 0</a:t>
            </a:r>
            <a:r>
              <a:rPr sz="1800" b="0" i="0">
                <a:solidFill>
                  <a:srgbClr val="1C252B"/>
                </a:solidFill>
                <a:latin typeface="Segoe UI"/>
              </a:rPr>
              <a:t>, discharging all three obligations: </a:t>
            </a:r>
            <a:r>
              <a:rPr sz="1800" b="0" i="1">
                <a:solidFill>
                  <a:srgbClr val="1C252B"/>
                </a:solidFill>
                <a:latin typeface="Cambria"/>
              </a:rPr>
              <a:t>r</a:t>
            </a:r>
            <a:r>
              <a:rPr sz="1800" b="0" i="0">
                <a:solidFill>
                  <a:srgbClr val="1C252B"/>
                </a:solidFill>
                <a:latin typeface="Cambria"/>
              </a:rPr>
              <a:t> 1</a:t>
            </a:r>
            <a:r>
              <a:rPr sz="1800" b="0" i="1">
                <a:solidFill>
                  <a:srgbClr val="1C252B"/>
                </a:solidFill>
                <a:latin typeface="Segoe UI"/>
              </a:rPr>
              <a:t>; </a:t>
            </a:r>
            <a:r>
              <a:rPr sz="1800" b="0" i="1">
                <a:solidFill>
                  <a:srgbClr val="1C252B"/>
                </a:solidFill>
                <a:latin typeface="Cambria"/>
              </a:rPr>
              <a:t>k</a:t>
            </a:r>
            <a:r>
              <a:rPr sz="1800" b="0" i="0">
                <a:solidFill>
                  <a:srgbClr val="1C252B"/>
                </a:solidFill>
                <a:latin typeface="Cambria"/>
              </a:rPr>
              <a:t> </a:t>
            </a:r>
            <a:r>
              <a:rPr sz="1800" b="0" i="1">
                <a:solidFill>
                  <a:srgbClr val="1C252B"/>
                </a:solidFill>
                <a:latin typeface="Cambria"/>
              </a:rPr>
              <a:t>n</a:t>
            </a:r>
            <a:r>
              <a:rPr sz="1800" b="0" i="1">
                <a:solidFill>
                  <a:srgbClr val="1C252B"/>
                </a:solidFill>
                <a:latin typeface="Segoe UI"/>
              </a:rPr>
              <a:t>; while </a:t>
            </a:r>
            <a:r>
              <a:rPr sz="1800" b="0" i="1">
                <a:solidFill>
                  <a:srgbClr val="1C252B"/>
                </a:solidFill>
                <a:latin typeface="Cambria"/>
              </a:rPr>
              <a:t>k</a:t>
            </a:r>
            <a:r>
              <a:rPr sz="1800" b="0" i="0">
                <a:solidFill>
                  <a:srgbClr val="1C252B"/>
                </a:solidFill>
                <a:latin typeface="Cambria"/>
              </a:rPr>
              <a:t> &gt; 0</a:t>
            </a:r>
            <a:r>
              <a:rPr sz="1800" b="0" i="1">
                <a:solidFill>
                  <a:srgbClr val="1C252B"/>
                </a:solidFill>
                <a:latin typeface="Segoe UI"/>
              </a:rPr>
              <a:t> do </a:t>
            </a:r>
            <a:r>
              <a:rPr sz="1800" b="0" i="1">
                <a:solidFill>
                  <a:srgbClr val="1C252B"/>
                </a:solidFill>
                <a:latin typeface="Cambria"/>
              </a:rPr>
              <a:t>r</a:t>
            </a:r>
            <a:r>
              <a:rPr sz="1800" b="0" i="0">
                <a:solidFill>
                  <a:srgbClr val="1C252B"/>
                </a:solidFill>
                <a:latin typeface="Cambria"/>
              </a:rPr>
              <a:t> </a:t>
            </a:r>
            <a:r>
              <a:rPr sz="1800" b="0" i="1">
                <a:solidFill>
                  <a:srgbClr val="1C252B"/>
                </a:solidFill>
                <a:latin typeface="Cambria"/>
              </a:rPr>
              <a:t>r</a:t>
            </a:r>
            <a:r>
              <a:rPr sz="1800" b="0" i="0">
                <a:solidFill>
                  <a:srgbClr val="1C252B"/>
                </a:solidFill>
                <a:latin typeface="Cambria"/>
              </a:rPr>
              <a:t> · </a:t>
            </a:r>
            <a:r>
              <a:rPr sz="1800" b="0" i="1">
                <a:solidFill>
                  <a:srgbClr val="1C252B"/>
                </a:solidFill>
                <a:latin typeface="Cambria"/>
              </a:rPr>
              <a:t>a</a:t>
            </a:r>
            <a:r>
              <a:rPr sz="1800" b="0" i="1">
                <a:solidFill>
                  <a:srgbClr val="1C252B"/>
                </a:solidFill>
                <a:latin typeface="Segoe UI"/>
              </a:rPr>
              <a:t>; </a:t>
            </a:r>
            <a:r>
              <a:rPr sz="1800" b="0" i="1">
                <a:solidFill>
                  <a:srgbClr val="1C252B"/>
                </a:solidFill>
                <a:latin typeface="Cambria"/>
              </a:rPr>
              <a:t>k</a:t>
            </a:r>
            <a:r>
              <a:rPr sz="1800" b="0" i="0">
                <a:solidFill>
                  <a:srgbClr val="1C252B"/>
                </a:solidFill>
                <a:latin typeface="Cambria"/>
              </a:rPr>
              <a:t> </a:t>
            </a:r>
            <a:r>
              <a:rPr sz="1800" b="0" i="1">
                <a:solidFill>
                  <a:srgbClr val="1C252B"/>
                </a:solidFill>
                <a:latin typeface="Cambria"/>
              </a:rPr>
              <a:t>k</a:t>
            </a:r>
            <a:r>
              <a:rPr sz="1800" b="0" i="0">
                <a:solidFill>
                  <a:srgbClr val="1C252B"/>
                </a:solidFill>
                <a:latin typeface="Cambria"/>
              </a:rPr>
              <a:t> − 1</a:t>
            </a:r>
            <a:r>
              <a:rPr sz="18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measured experiment found a defect that is never wrong and sometimes never finishes. Construct the mirror-image defect — one that always terminates and is sometimes wrong — in binary search, say which obligation it violates, and describe the test that would find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700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5 — Recurrences I: Substitution and Recursion Trees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4, pages 30–40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bug that is never wrong and never finishes</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4  ·  Correctness: Loop Invariants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F6E769FB-35C0-462A-B078-9BA72746BEA4}" type="slidenum">
              <a:rPr lang="en-GB" sz="1000">
                <a:solidFill>
                  <a:srgbClr val="D5DEE5"/>
                </a:solidFill>
                <a:latin typeface="Segoe UI"/>
              </a:rPr>
              <a:t>55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Correctness: Loop Invariants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