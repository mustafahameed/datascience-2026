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4.svg" ContentType="image/svg+xml"/>
  <Override PartName="/ppt/media/image15.svg" ContentType="image/svg+xml"/>
  <Override PartName="/ppt/media/image17.svg" ContentType="image/svg+xml"/>
  <Override PartName="/ppt/media/image19.svg" ContentType="image/svg+xml"/>
  <Override PartName="/ppt/media/image20.svg" ContentType="image/svg+xml"/>
  <Override PartName="/ppt/media/image21.svg" ContentType="image/svg+xml"/>
  <Override PartName="/ppt/media/image23.svg" ContentType="image/svg+xml"/>
  <Override PartName="/ppt/media/image25.svg" ContentType="image/svg+xml"/>
  <Override PartName="/ppt/media/image27.svg" ContentType="image/svg+xml"/>
  <Override PartName="/ppt/media/image29.svg" ContentType="image/svg+xml"/>
  <Override PartName="/ppt/media/image30.svg" ContentType="image/svg+xml"/>
  <Override PartName="/ppt/media/image32.svg" ContentType="image/svg+xml"/>
  <Override PartName="/ppt/media/image33.svg" ContentType="image/svg+xml"/>
  <Override PartName="/ppt/media/image35.svg" ContentType="image/svg+xml"/>
  <Override PartName="/ppt/media/image36.svg" ContentType="image/svg+xml"/>
  <Override PartName="/ppt/media/image37.svg" ContentType="image/svg+xml"/>
  <Override PartName="/ppt/media/image39.svg" ContentType="image/svg+xml"/>
  <Override PartName="/ppt/media/image4.svg" ContentType="image/svg+xml"/>
  <Override PartName="/ppt/media/image40.svg" ContentType="image/svg+xml"/>
  <Override PartName="/ppt/media/image41.svg" ContentType="image/svg+xml"/>
  <Override PartName="/ppt/media/image42.svg" ContentType="image/svg+xml"/>
  <Override PartName="/ppt/media/image43.svg" ContentType="image/svg+xml"/>
  <Override PartName="/ppt/media/image45.svg" ContentType="image/svg+xml"/>
  <Override PartName="/ppt/media/image46.svg" ContentType="image/svg+xml"/>
  <Override PartName="/ppt/media/image48.svg" ContentType="image/svg+xml"/>
  <Override PartName="/ppt/media/image49.svg" ContentType="image/svg+xml"/>
  <Override PartName="/ppt/media/image50.svg" ContentType="image/svg+xml"/>
  <Override PartName="/ppt/media/image51.svg" ContentType="image/svg+xml"/>
  <Override PartName="/ppt/media/image52.svg" ContentType="image/svg+xml"/>
  <Override PartName="/ppt/media/image53.svg" ContentType="image/svg+xml"/>
  <Override PartName="/ppt/media/image54.svg" ContentType="image/svg+xml"/>
  <Override PartName="/ppt/media/image55.svg" ContentType="image/svg+xml"/>
  <Override PartName="/ppt/media/image56.svg" ContentType="image/svg+xml"/>
  <Override PartName="/ppt/media/image57.svg" ContentType="image/svg+xml"/>
  <Override PartName="/ppt/media/image59.svg" ContentType="image/svg+xml"/>
  <Override PartName="/ppt/media/image6.svg" ContentType="image/svg+xml"/>
  <Override PartName="/ppt/media/image60.svg" ContentType="image/svg+xml"/>
  <Override PartName="/ppt/media/image61.svg" ContentType="image/svg+xml"/>
  <Override PartName="/ppt/media/image63.svg" ContentType="image/svg+xml"/>
  <Override PartName="/ppt/media/image64.svg" ContentType="image/svg+xml"/>
  <Override PartName="/ppt/media/image66.svg" ContentType="image/svg+xml"/>
  <Override PartName="/ppt/media/image67.svg" ContentType="image/svg+xml"/>
  <Override PartName="/ppt/media/image68.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972425B-6D3E-4793-AF24-9911DC97CC94}">
          <p14:sldIdLst>
            <p14:sldId id="256"/>
            <p14:sldId id="257"/>
            <p14:sldId id="258"/>
            <p14:sldId id="259"/>
            <p14:sldId id="260"/>
          </p14:sldIdLst>
        </p14:section>
        <p14:section name="4.1 Why Testing Is Not Enough" id="{32979B84-E0C1-4132-800B-14361659B66C}">
          <p14:sldIdLst>
            <p14:sldId id="261"/>
            <p14:sldId id="262"/>
            <p14:sldId id="263"/>
            <p14:sldId id="264"/>
          </p14:sldIdLst>
        </p14:section>
        <p14:section name="4.2 The Loop Invariant" id="{061FA221-79E0-456B-8545-CCB50EA77883}">
          <p14:sldIdLst>
            <p14:sldId id="265"/>
            <p14:sldId id="266"/>
            <p14:sldId id="267"/>
            <p14:sldId id="268"/>
          </p14:sldIdLst>
        </p14:section>
        <p14:section name="4.3 Insertion Sort, Proved" id="{219C12C5-FA2B-4413-A480-CFA06CD4DC85}">
          <p14:sldIdLst>
            <p14:sldId id="269"/>
            <p14:sldId id="270"/>
            <p14:sldId id="271"/>
            <p14:sldId id="272"/>
          </p14:sldIdLst>
        </p14:section>
        <p14:section name="4.4 Binary Search, Where the Invariant Is About Exclusion" id="{516B03EB-FB1E-4AF3-A7D0-A140A651C8AA}">
          <p14:sldIdLst>
            <p14:sldId id="273"/>
            <p14:sldId id="274"/>
            <p14:sldId id="275"/>
            <p14:sldId id="276"/>
          </p14:sldIdLst>
        </p14:section>
        <p14:section name="4.5 Termination: The Obligation People Skip" id="{1C5C6CFD-0DA5-40D8-ACD0-A9EC5C8FF555}">
          <p14:sldIdLst>
            <p14:sldId id="277"/>
            <p14:sldId id="278"/>
            <p14:sldId id="279"/>
            <p14:sldId id="280"/>
            <p14:sldId id="281"/>
          </p14:sldIdLst>
        </p14:section>
        <p14:section name="4.6 A Loop Whose Invariant Holds and Which Never Finishes" id="{F7E636C8-0795-4843-86AA-ADB2404662E3}">
          <p14:sldIdLst>
            <p14:sldId id="282"/>
            <p14:sldId id="283"/>
            <p14:sldId id="284"/>
            <p14:sldId id="285"/>
            <p14:sldId id="286"/>
          </p14:sldIdLst>
        </p14:section>
        <p14:section name="Pitfalls" id="{D332B08C-20B9-48C4-992F-8873D7593D4B}">
          <p14:sldIdLst>
            <p14:sldId id="287"/>
            <p14:sldId id="288"/>
          </p14:sldIdLst>
        </p14:section>
        <p14:section name="Lab" id="{1EC32ECB-698F-4D70-B04B-B2685BE752A0}">
          <p14:sldIdLst>
            <p14:sldId id="289"/>
            <p14:sldId id="290"/>
            <p14:sldId id="291"/>
            <p14:sldId id="292"/>
            <p14:sldId id="293"/>
            <p14:sldId id="294"/>
            <p14:sldId id="295"/>
            <p14:sldId id="296"/>
            <p14:sldId id="297"/>
            <p14:sldId id="298"/>
          </p14:sldIdLst>
        </p14:section>
        <p14:section name="Checkpoint" id="{B071EE5C-4905-41BA-9EDF-A24930C18B92}">
          <p14:sldIdLst>
            <p14:sldId id="299"/>
            <p14:sldId id="300"/>
            <p14:sldId id="301"/>
          </p14:sldIdLst>
        </p14:section>
        <p14:section name="Wrap-up" id="{3A8F5647-62F7-4264-A5BA-662F78AB4DCD}">
          <p14:sldIdLst>
            <p14:sldId id="302"/>
            <p14:sldId id="303"/>
            <p14:sldId id="304"/>
            <p14:sldId id="305"/>
            <p14:sldId id="306"/>
            <p14:sldId id="307"/>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4: Correctness: Loop Invariants. Part 1 — Analysing an Algorithm. Week 3: Correctness and loop invariants. Handout pages 30–40.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chapter. Before you start: Chapter 1 for the vocabulary. Section 4.2 leans on mathematical induction; Appendix B has it if you want a refresher first.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they are the chapter's contract with the room. Each click adds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they arrive one at a time. This slide is for the students' notes. Terms: correctness; partial correctness; total correctness; loop invariant; initialisation; maintenance; termination; precondition; postcondition; permutation; loop variant; decreasing measure; well-founded.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 through the chapter. Each row is a link: click it to jump to that section in the slide show.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sorting routine takes any array of any length holding any values. That is an infinite set of inputs, and a test suite is a finite list. The gap between them is not a matter of diligence; it is a matter of cardinality.</a:t>
            </a:r>
          </a:p>
          <a:p/>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4.1 (handout p. 32): Insertion-Sort. The outer loop’s invariant concerns the prefix A[1j−1]; the inner loop’s concerns where key has got to. Lines are numbered so the proof can cite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algorithm is indexed from 1, as the pseudocode throughout this book is, and the C++ in the labs is indexed from 0. Appendix A explains the translation; the mathematics is cleaner from 1 and the code is cleaner from 0, and pretending otherwise helps nobody.</a:t>
            </a:r>
          </a:p>
          <a:p/>
          <a:p>
            <a:r>
              <a:t>Proof. Take as the invariant for the for loop: At the start of each iteration with index j, the subarray A[1 j−1] consists of the elements originally in A[1 j−1], in non-decreasing order. Initialisation. Before the first iteration j = 2, so the subarray is A[1 1]: one element, trivially sorted, and trivially the element originally there. Maintenance. Assume the invariant before the iteration with index j. The inner while loop shifts A[i] to A[i+1] for decreasing i while A[i] &gt; key, maintaining its own invariant: the entries A[i+2 j] are those originally in A[i+1 j−1], all of them &gt; key, and position A[i+1] is free. The loop exits when i = 0 or A[i] ≤ key; in either case every entry left of i+1 is ≤ key and every entry right of it is &gt; key, so writing key into the free slot A[i+1] leaves A[1 j] sorted. No element was overwritten without first being copied, and key was saved before the shifting began, so the subarray still holds exactly the original elements. Incrementing j makes this the invariant for the next iteration. Termination. The loop variable j increases by one each iteration and the loop ends when j = n+1. Substituting into the invariant: A[1 n] consists of the elements originally in A[1 n], in non-decreasing order — which is the postcondition. Termination itself is immediate because j strictly increases towards the fixed bound n+1, and the inner loop terminates because i strictly decreases towards the guard i &gt; 0.</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Insertion sort’s invariant describes what has been built. The other common shape describes what has been ruled out.</a:t>
            </a:r>
          </a:p>
          <a:p/>
          <a:p>
            <a:r>
              <a:t>Figure 4.2 (handout p. 33): Binary-Search on a sorted array. The +1 on line 7 and the −1 on line 9 are what make the search range strictly smaller every iteration — Section 4.5 is about what happens when one of them is missing.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Proof. Invariant: if x occurs anywhere in A, then it occurs in A[lo hi]. Initialisation. lo = 1 and hi = n, so the range is all of A and the implication is trivial. Maintenance. Suppose the invariant holds and the loop body runs. If A[mid] = x the procedure returns a correct index and there is nothing to maintain. If A[mid] &lt; x then, because A is sorted, every index k ≤ mid has A[k] ≤ A[mid] &lt; x, so no such position holds x; discarding them by setting lo mid+1 therefore cannot discard an occurrence of x, and the invariant survives. The case A[mid] &gt; x is symmetric. Termination. Each iteration either returns, or replaces hi−lo by a strictly smaller value: line 7 raises lo past mid ≥ lo, and line 9 lowers hi below mid ≤ hi. Since hi−lo is an integer that strictly decreases and the loop runs only while hi − lo ≥ 0, the loop performs finitely many iterations. If it exits, then lo &gt; hi, so the range A[lo hi] is empty; by the invariant x occurs in A only if it occurs in an empty range, so it does not occur at all, and not-found is correct.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termination argument above did real work, and it is worth isolating what kind of work.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variants used so far: n+1−j for insertion sort’s outer loop, i for its inner loop, and hi−lo+1 for binary search.</a:t>
            </a:r>
          </a:p>
          <a:p/>
          <a:p>
            <a:r>
              <a:t>Figure 4.3 (handout p. 34): Euclid-GCD. Here the invariant is an equality — gcd(a,b) never changes — and the variant is simply b, whose decrease is what makes the loop finite.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Proof. Invariant: gcd(a, b) equals the greatest common divisor of the original arguments, and not both of a,b are zero. Initialisation. Immediate — a and b are the original arguments. Maintenance. The body replaces (a,b) by (b,  a b). Write a = qb + r with r = a b. Any d dividing both b and r divides qb + r = a; any d dividing both a and b divides a − qb = r. So the pairs (a,b) and (b,r) have the same set of common divisors, hence the same greatest one, and the invariant is preserved. Termination. Take μ = b. Since b ≠ 0 in the body, r = a b satisfies 0 ≤ r &lt; b, so the new value of b is strictly less than the old one and never negative. A strictly decreasing sequence of non-negative integers is finite, so the loop ends — with b = 0. Then gcd(a,0) = a, and by the invariant a is the gcd of the original arguments, which is what line 6 returns.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case the three obligations exist to catch. Change one character of Binary-Search: on line 7 write lo mid instead of lo mid+1.</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pitfall, ask who has seen it happen. One real story beats five bullets.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pitfall, ask who has seen it happen. One real story beats five bullets.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Reproduces the table in Section 4.6. Expect twenty-five minutes; part C audits 132 million iterations and takes about a minute.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The correct version, and the invariant it maintains.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The same search with one character changed.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The same search with one character changed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The same search with one character changed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Ten thousand tests with keys that are present.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The same ten thousand tests, keys absent.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7: And the invariant? It never broke once..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8: Why proving beats testing, counted.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these for independent study. Model answers are not printed in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NEXT: Chapter 5 — Recurrences I: Substitution and Recursion Trees. READ: Handout Chapter 4, pages 30–40. THIS WEEK'S LAB: A bug that is never wrong and never finishes.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000" kern="1200" b="0">
          <a:solidFill>
            <a:srgbClr val="1A5276"/>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notesSlide" Target="../notesSlides/notesSlide5.xml"/><Relationship Id="rId5" Type="http://schemas.openxmlformats.org/officeDocument/2006/relationships/slide" Target="slide6.xml"/><Relationship Id="rId6" Type="http://schemas.openxmlformats.org/officeDocument/2006/relationships/slide" Target="slide10.xml"/><Relationship Id="rId7" Type="http://schemas.openxmlformats.org/officeDocument/2006/relationships/slide" Target="slide14.xml"/><Relationship Id="rId8" Type="http://schemas.openxmlformats.org/officeDocument/2006/relationships/slide" Target="slide18.xml"/><Relationship Id="rId9" Type="http://schemas.openxmlformats.org/officeDocument/2006/relationships/slide" Target="slide22.xml"/><Relationship Id="rId10" Type="http://schemas.openxmlformats.org/officeDocument/2006/relationships/slide" Target="slide2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image" Target="../media/image13.png"/><Relationship Id="rId5" Type="http://schemas.openxmlformats.org/officeDocument/2006/relationships/image" Target="../media/image14.sv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5.sv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image" Target="../media/image17.sv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image" Target="../media/image19.sv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image" Target="../media/image20.sv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image" Target="../media/image21.sv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23.sv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png"/><Relationship Id="rId3" Type="http://schemas.openxmlformats.org/officeDocument/2006/relationships/image" Target="../media/image25.sv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png"/><Relationship Id="rId3" Type="http://schemas.openxmlformats.org/officeDocument/2006/relationships/image" Target="../media/image27.sv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image" Target="../media/image29.sv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png"/><Relationship Id="rId3" Type="http://schemas.openxmlformats.org/officeDocument/2006/relationships/image" Target="../media/image30.sv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image" Target="../media/image32.sv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image" Target="../media/image33.sv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35.sv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png"/><Relationship Id="rId3" Type="http://schemas.openxmlformats.org/officeDocument/2006/relationships/image" Target="../media/image36.sv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png"/><Relationship Id="rId3" Type="http://schemas.openxmlformats.org/officeDocument/2006/relationships/image" Target="../media/image37.svg"/><Relationship Id="rId4" Type="http://schemas.openxmlformats.org/officeDocument/2006/relationships/image" Target="../media/image38.png"/><Relationship Id="rId5" Type="http://schemas.openxmlformats.org/officeDocument/2006/relationships/image" Target="../media/image39.sv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image" Target="../media/image40.sv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41.sv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42.sv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43.sv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4.png"/><Relationship Id="rId3" Type="http://schemas.openxmlformats.org/officeDocument/2006/relationships/image" Target="../media/image45.sv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4.png"/><Relationship Id="rId3" Type="http://schemas.openxmlformats.org/officeDocument/2006/relationships/image" Target="../media/image46.sv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7.png"/><Relationship Id="rId3" Type="http://schemas.openxmlformats.org/officeDocument/2006/relationships/image" Target="../media/image48.sv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7.png"/><Relationship Id="rId3" Type="http://schemas.openxmlformats.org/officeDocument/2006/relationships/image" Target="../media/image49.sv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7.png"/><Relationship Id="rId3" Type="http://schemas.openxmlformats.org/officeDocument/2006/relationships/image" Target="../media/image50.sv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7.png"/><Relationship Id="rId3" Type="http://schemas.openxmlformats.org/officeDocument/2006/relationships/image" Target="../media/image51.sv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7.png"/><Relationship Id="rId3" Type="http://schemas.openxmlformats.org/officeDocument/2006/relationships/image" Target="../media/image52.sv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7.png"/><Relationship Id="rId3" Type="http://schemas.openxmlformats.org/officeDocument/2006/relationships/image" Target="../media/image53.sv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7.png"/><Relationship Id="rId3" Type="http://schemas.openxmlformats.org/officeDocument/2006/relationships/image" Target="../media/image54.sv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7.png"/><Relationship Id="rId3" Type="http://schemas.openxmlformats.org/officeDocument/2006/relationships/image" Target="../media/image55.sv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7.png"/><Relationship Id="rId3" Type="http://schemas.openxmlformats.org/officeDocument/2006/relationships/image" Target="../media/image56.sv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7.png"/><Relationship Id="rId3" Type="http://schemas.openxmlformats.org/officeDocument/2006/relationships/image" Target="../media/image57.sv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8.png"/><Relationship Id="rId3" Type="http://schemas.openxmlformats.org/officeDocument/2006/relationships/image" Target="../media/image59.sv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8.png"/><Relationship Id="rId3" Type="http://schemas.openxmlformats.org/officeDocument/2006/relationships/image" Target="../media/image60.sv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8.png"/><Relationship Id="rId3" Type="http://schemas.openxmlformats.org/officeDocument/2006/relationships/image" Target="../media/image61.sv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2.png"/><Relationship Id="rId3" Type="http://schemas.openxmlformats.org/officeDocument/2006/relationships/image" Target="../media/image63.sv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2.png"/><Relationship Id="rId3" Type="http://schemas.openxmlformats.org/officeDocument/2006/relationships/image" Target="../media/image64.sv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5.png"/><Relationship Id="rId3" Type="http://schemas.openxmlformats.org/officeDocument/2006/relationships/image" Target="../media/image66.sv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5.png"/><Relationship Id="rId3" Type="http://schemas.openxmlformats.org/officeDocument/2006/relationships/image" Target="../media/image67.sv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5.png"/><Relationship Id="rId3" Type="http://schemas.openxmlformats.org/officeDocument/2006/relationships/image" Target="../media/image68.sv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316384"/>
                </a:solidFill>
                <a:latin typeface="Segoe UI Black"/>
              </a:rPr>
              <a:t>04</a:t>
            </a:r>
          </a:p>
        </p:txBody>
      </p:sp>
      <p:sp>
        <p:nvSpPr>
          <p:cNvPr id="2" name="!!title"/>
          <p:cNvSpPr>
            <a:spLocks noGrp="1"/>
          </p:cNvSpPr>
          <p:nvPr>
            <p:ph type="title"/>
          </p:nvPr>
        </p:nvSpPr>
        <p:spPr>
          <a:xfrm>
            <a:off x="658368" y="2304288"/>
            <a:ext cx="8503920" cy="1920240"/>
          </a:xfrm>
        </p:spPr>
        <p:txBody>
          <a:bodyPr wrap="square" lIns="0" rIns="0" tIns="0" bIns="0" anchor="t">
            <a:noAutofit/>
          </a:bodyPr>
          <a:lstStyle/>
          <a:p>
            <a:pPr algn="l">
              <a:lnSpc>
                <a:spcPct val="96000"/>
              </a:lnSpc>
            </a:pPr>
            <a:r>
              <a:rPr sz="4600" b="0">
                <a:solidFill>
                  <a:srgbClr val="FFFFFF"/>
                </a:solidFill>
                <a:latin typeface="Segoe UI Semibold"/>
              </a:rPr>
              <a:t>Correctness: Loop Invariants</a:t>
            </a:r>
          </a:p>
        </p:txBody>
      </p:sp>
      <p:sp>
        <p:nvSpPr>
          <p:cNvPr id="4" name="!!tbar">
            <a:extLst>
              <a:ext uri="{C183D7F6-B498-43B3-948B-1728B52AA6E4}">
                <adec:decorative xmlns:adec="http://schemas.microsoft.com/office/drawing/2017/decorative" val="1"/>
              </a:ext>
            </a:extLst>
          </p:cNvPr>
          <p:cNvSpPr/>
          <p:nvPr/>
        </p:nvSpPr>
        <p:spPr>
          <a:xfrm>
            <a:off x="658368" y="129844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part"/>
          <p:cNvSpPr txBox="1"/>
          <p:nvPr/>
        </p:nvSpPr>
        <p:spPr>
          <a:xfrm>
            <a:off x="658368" y="1517904"/>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FCFD9"/>
                </a:solidFill>
                <a:latin typeface="Segoe UI"/>
              </a:rPr>
              <a:t>PART I  ·  ANALYSING AN ALGORITHM</a:t>
            </a:r>
          </a:p>
        </p:txBody>
      </p:sp>
      <p:sp>
        <p:nvSpPr>
          <p:cNvPr id="6" name="!!tch"/>
          <p:cNvSpPr txBox="1"/>
          <p:nvPr/>
        </p:nvSpPr>
        <p:spPr>
          <a:xfrm>
            <a:off x="658368" y="1865376"/>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FCFD9"/>
                </a:solidFill>
                <a:latin typeface="Segoe UI"/>
              </a:rPr>
              <a:t>CHAPTER 4  ·  WEEK 3</a:t>
            </a:r>
          </a:p>
        </p:txBody>
      </p:sp>
      <p:sp>
        <p:nvSpPr>
          <p:cNvPr id="7" name="!!tsub"/>
          <p:cNvSpPr txBox="1"/>
          <p:nvPr/>
        </p:nvSpPr>
        <p:spPr>
          <a:xfrm>
            <a:off x="658368" y="4315968"/>
            <a:ext cx="850392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D1DCE4"/>
                </a:solidFill>
                <a:latin typeface="Segoe UI"/>
              </a:rPr>
              <a:t>Design, Proof and Measurement</a:t>
            </a:r>
          </a:p>
        </p:txBody>
      </p:sp>
      <p:sp>
        <p:nvSpPr>
          <p:cNvPr id="8" name="!!band">
            <a:extLst>
              <a:ext uri="{C183D7F6-B498-43B3-948B-1728B52AA6E4}">
                <adec:decorative xmlns:adec="http://schemas.microsoft.com/office/drawing/2017/decorative" val="1"/>
              </a:ext>
            </a:extLst>
          </p:cNvPr>
          <p:cNvSpPr/>
          <p:nvPr/>
        </p:nvSpPr>
        <p:spPr>
          <a:xfrm>
            <a:off x="0" y="5285232"/>
            <a:ext cx="12191695" cy="1572767"/>
          </a:xfrm>
          <a:prstGeom prst="rect">
            <a:avLst/>
          </a:prstGeom>
          <a:solidFill>
            <a:srgbClr val="133B5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ab"/>
          <p:cNvSpPr txBox="1"/>
          <p:nvPr/>
        </p:nvSpPr>
        <p:spPr>
          <a:xfrm>
            <a:off x="658368" y="5541264"/>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50" b="1" i="0" spc="160">
                <a:solidFill>
                  <a:srgbClr val="A5B5BE"/>
                </a:solidFill>
                <a:latin typeface="Segoe UI"/>
              </a:rPr>
              <a:t>LECTURER</a:t>
            </a:r>
          </a:p>
        </p:txBody>
      </p:sp>
      <p:sp>
        <p:nvSpPr>
          <p:cNvPr id="10" name="!!author"/>
          <p:cNvSpPr txBox="1"/>
          <p:nvPr/>
        </p:nvSpPr>
        <p:spPr>
          <a:xfrm>
            <a:off x="658368" y="5779008"/>
            <a:ext cx="548640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FFFFFF"/>
                </a:solidFill>
                <a:latin typeface="Segoe UI Semibold"/>
              </a:rPr>
              <a:t>Dr. Mustafa Hameed</a:t>
            </a:r>
          </a:p>
        </p:txBody>
      </p:sp>
      <p:sp>
        <p:nvSpPr>
          <p:cNvPr id="11" name="!!dept"/>
          <p:cNvSpPr txBox="1"/>
          <p:nvPr/>
        </p:nvSpPr>
        <p:spPr>
          <a:xfrm>
            <a:off x="658368" y="6181344"/>
            <a:ext cx="5852160" cy="274320"/>
          </a:xfrm>
          <a:prstGeom prst="rect">
            <a:avLst/>
          </a:prstGeom>
          <a:noFill/>
        </p:spPr>
        <p:txBody>
          <a:bodyPr wrap="square" anchor="t" lIns="0" rIns="0" tIns="0" bIns="0">
            <a:noAutofit/>
          </a:bodyPr>
          <a:lstStyle/>
          <a:p>
            <a:pPr algn="l">
              <a:lnSpc>
                <a:spcPct val="100000"/>
              </a:lnSpc>
              <a:spcBef>
                <a:spcPts val="0"/>
              </a:spcBef>
              <a:spcAft>
                <a:spcPts val="0"/>
              </a:spcAft>
            </a:pPr>
            <a:r>
              <a:rPr sz="1200" b="0" i="0">
                <a:solidFill>
                  <a:srgbClr val="BDC8CF"/>
                </a:solidFill>
                <a:latin typeface="Segoe UI"/>
              </a:rPr>
              <a:t>Department of Information Technology  ·  BSIT · Fall 2026</a:t>
            </a:r>
          </a:p>
        </p:txBody>
      </p:sp>
      <p:sp>
        <p:nvSpPr>
          <p:cNvPr id="12" name="!!uni"/>
          <p:cNvSpPr txBox="1"/>
          <p:nvPr/>
        </p:nvSpPr>
        <p:spPr>
          <a:xfrm>
            <a:off x="5205818" y="568756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150" b="1" i="0" spc="60">
                <a:solidFill>
                  <a:srgbClr val="FFFFFF"/>
                </a:solidFill>
                <a:latin typeface="Segoe UI"/>
              </a:rPr>
              <a:t>THE ISLAMIA UNIVERSITY OF BAHAWALPUR</a:t>
            </a:r>
          </a:p>
        </p:txBody>
      </p:sp>
      <p:sp>
        <p:nvSpPr>
          <p:cNvPr id="13" name="!!uni2"/>
          <p:cNvSpPr txBox="1"/>
          <p:nvPr/>
        </p:nvSpPr>
        <p:spPr>
          <a:xfrm>
            <a:off x="5205818" y="596188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050" b="0" i="0">
                <a:solidFill>
                  <a:srgbClr val="A5B5BE"/>
                </a:solidFill>
                <a:latin typeface="Segoe UI"/>
              </a:rPr>
              <a:t>Bahawalpur, Pakistan</a:t>
            </a:r>
          </a:p>
        </p:txBody>
      </p:sp>
      <p:pic>
        <p:nvPicPr>
          <p:cNvPr id="14" name="!!logo-iub-logo-white" descr="The Islamia University of Bahawalpur"/>
          <p:cNvPicPr>
            <a:picLocks noChangeAspect="1"/>
          </p:cNvPicPr>
          <p:nvPr/>
        </p:nvPicPr>
        <p:blipFill>
          <a:blip r:embed="rId2"/>
          <a:stretch>
            <a:fillRect/>
          </a:stretch>
        </p:blipFill>
        <p:spPr>
          <a:xfrm>
            <a:off x="9503498" y="5486400"/>
            <a:ext cx="904084" cy="896112"/>
          </a:xfrm>
          <a:prstGeom prst="rect">
            <a:avLst/>
          </a:prstGeom>
        </p:spPr>
      </p:pic>
      <p:pic>
        <p:nvPicPr>
          <p:cNvPr id="15" name="!!logo-dit-logo" descr="Department of Information Technology"/>
          <p:cNvPicPr>
            <a:picLocks noChangeAspect="1"/>
          </p:cNvPicPr>
          <p:nvPr/>
        </p:nvPicPr>
        <p:blipFill>
          <a:blip r:embed="rId3"/>
          <a:stretch>
            <a:fillRect/>
          </a:stretch>
        </p:blipFill>
        <p:spPr>
          <a:xfrm>
            <a:off x="10663614" y="5486400"/>
            <a:ext cx="869712" cy="8961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this chapter sits</a:t>
            </a:r>
          </a:p>
        </p:txBody>
      </p:sp>
      <p:pic>
        <p:nvPicPr>
          <p:cNvPr id="3" name="!!kicker-icon" descr="map-signs-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 COURSE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  ·  Correctness: Loop Invariants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30     </a:t>
            </a:r>
            <a:fld id="{F047F4B0-BFE3-4A16-9BCA-4F164093BD11}" type="slidenum">
              <a:rPr lang="en-GB" sz="1000">
                <a:solidFill>
                  <a:srgbClr val="8795A1"/>
                </a:solidFill>
                <a:latin typeface="Segoe UI"/>
              </a:rPr>
              <a:t>2</a:t>
            </a:fld>
          </a:p>
        </p:txBody>
      </p:sp>
      <p:sp>
        <p:nvSpPr>
          <p:cNvPr id="7" name="!!rp1"/>
          <p:cNvSpPr txBox="1"/>
          <p:nvPr/>
        </p:nvSpPr>
        <p:spPr>
          <a:xfrm>
            <a:off x="777240" y="1755648"/>
            <a:ext cx="1667468"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A5276"/>
                </a:solidFill>
                <a:latin typeface="Segoe UI"/>
              </a:rPr>
              <a:t>PART I</a:t>
            </a:r>
          </a:p>
        </p:txBody>
      </p:sp>
      <p:sp>
        <p:nvSpPr>
          <p:cNvPr id="8" name="!!rpl1">
            <a:extLst>
              <a:ext uri="{C183D7F6-B498-43B3-948B-1728B52AA6E4}">
                <adec:decorative xmlns:adec="http://schemas.microsoft.com/office/drawing/2017/decorative" val="1"/>
              </a:ext>
            </a:extLst>
          </p:cNvPr>
          <p:cNvSpPr/>
          <p:nvPr/>
        </p:nvSpPr>
        <p:spPr>
          <a:xfrm>
            <a:off x="777240" y="2029967"/>
            <a:ext cx="1667468" cy="4572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rp2"/>
          <p:cNvSpPr txBox="1"/>
          <p:nvPr/>
        </p:nvSpPr>
        <p:spPr>
          <a:xfrm>
            <a:off x="2929340" y="1755648"/>
            <a:ext cx="1903741"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a:t>
            </a:r>
          </a:p>
        </p:txBody>
      </p:sp>
      <p:sp>
        <p:nvSpPr>
          <p:cNvPr id="10" name="!!rpl2">
            <a:extLst>
              <a:ext uri="{C183D7F6-B498-43B3-948B-1728B52AA6E4}">
                <adec:decorative xmlns:adec="http://schemas.microsoft.com/office/drawing/2017/decorative" val="1"/>
              </a:ext>
            </a:extLst>
          </p:cNvPr>
          <p:cNvSpPr/>
          <p:nvPr/>
        </p:nvSpPr>
        <p:spPr>
          <a:xfrm>
            <a:off x="2929340" y="2029967"/>
            <a:ext cx="1903741"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p3"/>
          <p:cNvSpPr txBox="1"/>
          <p:nvPr/>
        </p:nvSpPr>
        <p:spPr>
          <a:xfrm>
            <a:off x="5162265" y="1755648"/>
            <a:ext cx="151202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III</a:t>
            </a:r>
          </a:p>
        </p:txBody>
      </p:sp>
      <p:sp>
        <p:nvSpPr>
          <p:cNvPr id="12" name="!!rpl3">
            <a:extLst>
              <a:ext uri="{C183D7F6-B498-43B3-948B-1728B52AA6E4}">
                <adec:decorative xmlns:adec="http://schemas.microsoft.com/office/drawing/2017/decorative" val="1"/>
              </a:ext>
            </a:extLst>
          </p:cNvPr>
          <p:cNvSpPr/>
          <p:nvPr/>
        </p:nvSpPr>
        <p:spPr>
          <a:xfrm>
            <a:off x="5162265" y="2029967"/>
            <a:ext cx="1512020"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p4"/>
          <p:cNvSpPr txBox="1"/>
          <p:nvPr/>
        </p:nvSpPr>
        <p:spPr>
          <a:xfrm>
            <a:off x="7003469" y="1755648"/>
            <a:ext cx="151202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IV</a:t>
            </a:r>
          </a:p>
        </p:txBody>
      </p:sp>
      <p:sp>
        <p:nvSpPr>
          <p:cNvPr id="14" name="!!rpl4">
            <a:extLst>
              <a:ext uri="{C183D7F6-B498-43B3-948B-1728B52AA6E4}">
                <adec:decorative xmlns:adec="http://schemas.microsoft.com/office/drawing/2017/decorative" val="1"/>
              </a:ext>
            </a:extLst>
          </p:cNvPr>
          <p:cNvSpPr/>
          <p:nvPr/>
        </p:nvSpPr>
        <p:spPr>
          <a:xfrm>
            <a:off x="7003469" y="2029967"/>
            <a:ext cx="1512020"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rp5"/>
          <p:cNvSpPr txBox="1"/>
          <p:nvPr/>
        </p:nvSpPr>
        <p:spPr>
          <a:xfrm>
            <a:off x="8844673" y="1755648"/>
            <a:ext cx="1120299"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a:t>
            </a:r>
          </a:p>
        </p:txBody>
      </p:sp>
      <p:sp>
        <p:nvSpPr>
          <p:cNvPr id="16" name="!!rpl5">
            <a:extLst>
              <a:ext uri="{C183D7F6-B498-43B3-948B-1728B52AA6E4}">
                <adec:decorative xmlns:adec="http://schemas.microsoft.com/office/drawing/2017/decorative" val="1"/>
              </a:ext>
            </a:extLst>
          </p:cNvPr>
          <p:cNvSpPr/>
          <p:nvPr/>
        </p:nvSpPr>
        <p:spPr>
          <a:xfrm>
            <a:off x="8844673" y="2029967"/>
            <a:ext cx="1120299"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p6"/>
          <p:cNvSpPr txBox="1"/>
          <p:nvPr/>
        </p:nvSpPr>
        <p:spPr>
          <a:xfrm>
            <a:off x="10294156" y="1755648"/>
            <a:ext cx="1120299"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VI</a:t>
            </a:r>
          </a:p>
        </p:txBody>
      </p:sp>
      <p:sp>
        <p:nvSpPr>
          <p:cNvPr id="18" name="!!rpl6">
            <a:extLst>
              <a:ext uri="{C183D7F6-B498-43B3-948B-1728B52AA6E4}">
                <adec:decorative xmlns:adec="http://schemas.microsoft.com/office/drawing/2017/decorative" val="1"/>
              </a:ext>
            </a:extLst>
          </p:cNvPr>
          <p:cNvSpPr/>
          <p:nvPr/>
        </p:nvSpPr>
        <p:spPr>
          <a:xfrm>
            <a:off x="10294156" y="2029967"/>
            <a:ext cx="1120299"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dot1">
            <a:extLst>
              <a:ext uri="{C183D7F6-B498-43B3-948B-1728B52AA6E4}">
                <adec:decorative xmlns:adec="http://schemas.microsoft.com/office/drawing/2017/decorative" val="1"/>
              </a:ext>
            </a:extLst>
          </p:cNvPr>
          <p:cNvSpPr/>
          <p:nvPr/>
        </p:nvSpPr>
        <p:spPr>
          <a:xfrm>
            <a:off x="808508"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dotn1"/>
          <p:cNvSpPr txBox="1"/>
          <p:nvPr/>
        </p:nvSpPr>
        <p:spPr>
          <a:xfrm>
            <a:off x="71706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a:t>
            </a:r>
          </a:p>
        </p:txBody>
      </p:sp>
      <p:sp>
        <p:nvSpPr>
          <p:cNvPr id="21" name="!!dot2">
            <a:extLst>
              <a:ext uri="{C183D7F6-B498-43B3-948B-1728B52AA6E4}">
                <adec:decorative xmlns:adec="http://schemas.microsoft.com/office/drawing/2017/decorative" val="1"/>
              </a:ext>
            </a:extLst>
          </p:cNvPr>
          <p:cNvSpPr/>
          <p:nvPr/>
        </p:nvSpPr>
        <p:spPr>
          <a:xfrm>
            <a:off x="1200229"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dotn2"/>
          <p:cNvSpPr txBox="1"/>
          <p:nvPr/>
        </p:nvSpPr>
        <p:spPr>
          <a:xfrm>
            <a:off x="110878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2</a:t>
            </a:r>
          </a:p>
        </p:txBody>
      </p:sp>
      <p:sp>
        <p:nvSpPr>
          <p:cNvPr id="23" name="!!dot3">
            <a:extLst>
              <a:ext uri="{C183D7F6-B498-43B3-948B-1728B52AA6E4}">
                <adec:decorative xmlns:adec="http://schemas.microsoft.com/office/drawing/2017/decorative" val="1"/>
              </a:ext>
            </a:extLst>
          </p:cNvPr>
          <p:cNvSpPr/>
          <p:nvPr/>
        </p:nvSpPr>
        <p:spPr>
          <a:xfrm>
            <a:off x="1591950"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dotn3"/>
          <p:cNvSpPr txBox="1"/>
          <p:nvPr/>
        </p:nvSpPr>
        <p:spPr>
          <a:xfrm>
            <a:off x="150051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3</a:t>
            </a:r>
          </a:p>
        </p:txBody>
      </p:sp>
      <p:sp>
        <p:nvSpPr>
          <p:cNvPr id="25" name="!!dot4">
            <a:extLst>
              <a:ext uri="{C183D7F6-B498-43B3-948B-1728B52AA6E4}">
                <adec:decorative xmlns:adec="http://schemas.microsoft.com/office/drawing/2017/decorative" val="1"/>
              </a:ext>
            </a:extLst>
          </p:cNvPr>
          <p:cNvSpPr/>
          <p:nvPr/>
        </p:nvSpPr>
        <p:spPr>
          <a:xfrm>
            <a:off x="1992815" y="2112264"/>
            <a:ext cx="566928" cy="566928"/>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dotn4"/>
          <p:cNvSpPr txBox="1"/>
          <p:nvPr/>
        </p:nvSpPr>
        <p:spPr>
          <a:xfrm>
            <a:off x="1992815" y="2240280"/>
            <a:ext cx="566928"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27" name="!!dot5">
            <a:extLst>
              <a:ext uri="{C183D7F6-B498-43B3-948B-1728B52AA6E4}">
                <adec:decorative xmlns:adec="http://schemas.microsoft.com/office/drawing/2017/decorative" val="1"/>
              </a:ext>
            </a:extLst>
          </p:cNvPr>
          <p:cNvSpPr/>
          <p:nvPr/>
        </p:nvSpPr>
        <p:spPr>
          <a:xfrm>
            <a:off x="2960608" y="2258568"/>
            <a:ext cx="274320" cy="274320"/>
          </a:xfrm>
          <a:prstGeom prst="ellipse">
            <a:avLst/>
          </a:prstGeom>
          <a:solidFill>
            <a:srgbClr val="FFFFFF"/>
          </a:solidFill>
          <a:ln w="15875">
            <a:solidFill>
              <a:srgbClr val="8CBCD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dotn5"/>
          <p:cNvSpPr txBox="1"/>
          <p:nvPr/>
        </p:nvSpPr>
        <p:spPr>
          <a:xfrm>
            <a:off x="286916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A73A3"/>
                </a:solidFill>
                <a:latin typeface="Segoe UI"/>
              </a:rPr>
              <a:t>5</a:t>
            </a:r>
          </a:p>
        </p:txBody>
      </p:sp>
      <p:sp>
        <p:nvSpPr>
          <p:cNvPr id="29" name="!!dot6">
            <a:extLst>
              <a:ext uri="{C183D7F6-B498-43B3-948B-1728B52AA6E4}">
                <adec:decorative xmlns:adec="http://schemas.microsoft.com/office/drawing/2017/decorative" val="1"/>
              </a:ext>
            </a:extLst>
          </p:cNvPr>
          <p:cNvSpPr/>
          <p:nvPr/>
        </p:nvSpPr>
        <p:spPr>
          <a:xfrm>
            <a:off x="3352329" y="2258568"/>
            <a:ext cx="274320" cy="274320"/>
          </a:xfrm>
          <a:prstGeom prst="ellipse">
            <a:avLst/>
          </a:prstGeom>
          <a:solidFill>
            <a:srgbClr val="FFFFFF"/>
          </a:solidFill>
          <a:ln w="15875">
            <a:solidFill>
              <a:srgbClr val="8CBCD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dotn6"/>
          <p:cNvSpPr txBox="1"/>
          <p:nvPr/>
        </p:nvSpPr>
        <p:spPr>
          <a:xfrm>
            <a:off x="326088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A73A3"/>
                </a:solidFill>
                <a:latin typeface="Segoe UI"/>
              </a:rPr>
              <a:t>6</a:t>
            </a:r>
          </a:p>
        </p:txBody>
      </p:sp>
      <p:sp>
        <p:nvSpPr>
          <p:cNvPr id="31" name="!!dot7">
            <a:extLst>
              <a:ext uri="{C183D7F6-B498-43B3-948B-1728B52AA6E4}">
                <adec:decorative xmlns:adec="http://schemas.microsoft.com/office/drawing/2017/decorative" val="1"/>
              </a:ext>
            </a:extLst>
          </p:cNvPr>
          <p:cNvSpPr/>
          <p:nvPr/>
        </p:nvSpPr>
        <p:spPr>
          <a:xfrm>
            <a:off x="3744050" y="2258568"/>
            <a:ext cx="274320" cy="274320"/>
          </a:xfrm>
          <a:prstGeom prst="ellipse">
            <a:avLst/>
          </a:prstGeom>
          <a:solidFill>
            <a:srgbClr val="FFFFFF"/>
          </a:solidFill>
          <a:ln w="15875">
            <a:solidFill>
              <a:srgbClr val="8CBCD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dotn7"/>
          <p:cNvSpPr txBox="1"/>
          <p:nvPr/>
        </p:nvSpPr>
        <p:spPr>
          <a:xfrm>
            <a:off x="365261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A73A3"/>
                </a:solidFill>
                <a:latin typeface="Segoe UI"/>
              </a:rPr>
              <a:t>7</a:t>
            </a:r>
          </a:p>
        </p:txBody>
      </p:sp>
      <p:sp>
        <p:nvSpPr>
          <p:cNvPr id="33" name="!!dot8">
            <a:extLst>
              <a:ext uri="{C183D7F6-B498-43B3-948B-1728B52AA6E4}">
                <adec:decorative xmlns:adec="http://schemas.microsoft.com/office/drawing/2017/decorative" val="1"/>
              </a:ext>
            </a:extLst>
          </p:cNvPr>
          <p:cNvSpPr/>
          <p:nvPr/>
        </p:nvSpPr>
        <p:spPr>
          <a:xfrm>
            <a:off x="4135771" y="2258568"/>
            <a:ext cx="274320" cy="274320"/>
          </a:xfrm>
          <a:prstGeom prst="ellipse">
            <a:avLst/>
          </a:prstGeom>
          <a:solidFill>
            <a:srgbClr val="FFFFFF"/>
          </a:solidFill>
          <a:ln w="15875">
            <a:solidFill>
              <a:srgbClr val="8CBCD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dotn8"/>
          <p:cNvSpPr txBox="1"/>
          <p:nvPr/>
        </p:nvSpPr>
        <p:spPr>
          <a:xfrm>
            <a:off x="404433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A73A3"/>
                </a:solidFill>
                <a:latin typeface="Segoe UI"/>
              </a:rPr>
              <a:t>8</a:t>
            </a:r>
          </a:p>
        </p:txBody>
      </p:sp>
      <p:sp>
        <p:nvSpPr>
          <p:cNvPr id="35" name="!!dot9">
            <a:extLst>
              <a:ext uri="{C183D7F6-B498-43B3-948B-1728B52AA6E4}">
                <adec:decorative xmlns:adec="http://schemas.microsoft.com/office/drawing/2017/decorative" val="1"/>
              </a:ext>
            </a:extLst>
          </p:cNvPr>
          <p:cNvSpPr/>
          <p:nvPr/>
        </p:nvSpPr>
        <p:spPr>
          <a:xfrm>
            <a:off x="4527492" y="2258568"/>
            <a:ext cx="274320" cy="274320"/>
          </a:xfrm>
          <a:prstGeom prst="ellipse">
            <a:avLst/>
          </a:prstGeom>
          <a:solidFill>
            <a:srgbClr val="FFFFFF"/>
          </a:solidFill>
          <a:ln w="15875">
            <a:solidFill>
              <a:srgbClr val="8CBCD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dotn9"/>
          <p:cNvSpPr txBox="1"/>
          <p:nvPr/>
        </p:nvSpPr>
        <p:spPr>
          <a:xfrm>
            <a:off x="443605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A73A3"/>
                </a:solidFill>
                <a:latin typeface="Segoe UI"/>
              </a:rPr>
              <a:t>9</a:t>
            </a:r>
          </a:p>
        </p:txBody>
      </p:sp>
      <p:sp>
        <p:nvSpPr>
          <p:cNvPr id="37" name="!!dot10">
            <a:extLst>
              <a:ext uri="{C183D7F6-B498-43B3-948B-1728B52AA6E4}">
                <adec:decorative xmlns:adec="http://schemas.microsoft.com/office/drawing/2017/decorative" val="1"/>
              </a:ext>
            </a:extLst>
          </p:cNvPr>
          <p:cNvSpPr/>
          <p:nvPr/>
        </p:nvSpPr>
        <p:spPr>
          <a:xfrm>
            <a:off x="5193533"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dotn10"/>
          <p:cNvSpPr txBox="1"/>
          <p:nvPr/>
        </p:nvSpPr>
        <p:spPr>
          <a:xfrm>
            <a:off x="510209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10</a:t>
            </a:r>
          </a:p>
        </p:txBody>
      </p:sp>
      <p:sp>
        <p:nvSpPr>
          <p:cNvPr id="39" name="!!dot11">
            <a:extLst>
              <a:ext uri="{C183D7F6-B498-43B3-948B-1728B52AA6E4}">
                <adec:decorative xmlns:adec="http://schemas.microsoft.com/office/drawing/2017/decorative" val="1"/>
              </a:ext>
            </a:extLst>
          </p:cNvPr>
          <p:cNvSpPr/>
          <p:nvPr/>
        </p:nvSpPr>
        <p:spPr>
          <a:xfrm>
            <a:off x="5585254"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dotn11"/>
          <p:cNvSpPr txBox="1"/>
          <p:nvPr/>
        </p:nvSpPr>
        <p:spPr>
          <a:xfrm>
            <a:off x="549381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11</a:t>
            </a:r>
          </a:p>
        </p:txBody>
      </p:sp>
      <p:sp>
        <p:nvSpPr>
          <p:cNvPr id="41" name="!!dot12">
            <a:extLst>
              <a:ext uri="{C183D7F6-B498-43B3-948B-1728B52AA6E4}">
                <adec:decorative xmlns:adec="http://schemas.microsoft.com/office/drawing/2017/decorative" val="1"/>
              </a:ext>
            </a:extLst>
          </p:cNvPr>
          <p:cNvSpPr/>
          <p:nvPr/>
        </p:nvSpPr>
        <p:spPr>
          <a:xfrm>
            <a:off x="5976975"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dotn12"/>
          <p:cNvSpPr txBox="1"/>
          <p:nvPr/>
        </p:nvSpPr>
        <p:spPr>
          <a:xfrm>
            <a:off x="588553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12</a:t>
            </a:r>
          </a:p>
        </p:txBody>
      </p:sp>
      <p:sp>
        <p:nvSpPr>
          <p:cNvPr id="43" name="!!dot13">
            <a:extLst>
              <a:ext uri="{C183D7F6-B498-43B3-948B-1728B52AA6E4}">
                <adec:decorative xmlns:adec="http://schemas.microsoft.com/office/drawing/2017/decorative" val="1"/>
              </a:ext>
            </a:extLst>
          </p:cNvPr>
          <p:cNvSpPr/>
          <p:nvPr/>
        </p:nvSpPr>
        <p:spPr>
          <a:xfrm>
            <a:off x="6368696"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dotn13"/>
          <p:cNvSpPr txBox="1"/>
          <p:nvPr/>
        </p:nvSpPr>
        <p:spPr>
          <a:xfrm>
            <a:off x="627725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13</a:t>
            </a:r>
          </a:p>
        </p:txBody>
      </p:sp>
      <p:sp>
        <p:nvSpPr>
          <p:cNvPr id="45" name="!!dot14">
            <a:extLst>
              <a:ext uri="{C183D7F6-B498-43B3-948B-1728B52AA6E4}">
                <adec:decorative xmlns:adec="http://schemas.microsoft.com/office/drawing/2017/decorative" val="1"/>
              </a:ext>
            </a:extLst>
          </p:cNvPr>
          <p:cNvSpPr/>
          <p:nvPr/>
        </p:nvSpPr>
        <p:spPr>
          <a:xfrm>
            <a:off x="7034737"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dotn14"/>
          <p:cNvSpPr txBox="1"/>
          <p:nvPr/>
        </p:nvSpPr>
        <p:spPr>
          <a:xfrm>
            <a:off x="69432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14</a:t>
            </a:r>
          </a:p>
        </p:txBody>
      </p:sp>
      <p:sp>
        <p:nvSpPr>
          <p:cNvPr id="47" name="!!dot15">
            <a:extLst>
              <a:ext uri="{C183D7F6-B498-43B3-948B-1728B52AA6E4}">
                <adec:decorative xmlns:adec="http://schemas.microsoft.com/office/drawing/2017/decorative" val="1"/>
              </a:ext>
            </a:extLst>
          </p:cNvPr>
          <p:cNvSpPr/>
          <p:nvPr/>
        </p:nvSpPr>
        <p:spPr>
          <a:xfrm>
            <a:off x="7426458"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dotn15"/>
          <p:cNvSpPr txBox="1"/>
          <p:nvPr/>
        </p:nvSpPr>
        <p:spPr>
          <a:xfrm>
            <a:off x="733501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15</a:t>
            </a:r>
          </a:p>
        </p:txBody>
      </p:sp>
      <p:sp>
        <p:nvSpPr>
          <p:cNvPr id="49" name="!!dot16">
            <a:extLst>
              <a:ext uri="{C183D7F6-B498-43B3-948B-1728B52AA6E4}">
                <adec:decorative xmlns:adec="http://schemas.microsoft.com/office/drawing/2017/decorative" val="1"/>
              </a:ext>
            </a:extLst>
          </p:cNvPr>
          <p:cNvSpPr/>
          <p:nvPr/>
        </p:nvSpPr>
        <p:spPr>
          <a:xfrm>
            <a:off x="7818179"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dotn16"/>
          <p:cNvSpPr txBox="1"/>
          <p:nvPr/>
        </p:nvSpPr>
        <p:spPr>
          <a:xfrm>
            <a:off x="772673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16</a:t>
            </a:r>
          </a:p>
        </p:txBody>
      </p:sp>
      <p:sp>
        <p:nvSpPr>
          <p:cNvPr id="51" name="!!dot17">
            <a:extLst>
              <a:ext uri="{C183D7F6-B498-43B3-948B-1728B52AA6E4}">
                <adec:decorative xmlns:adec="http://schemas.microsoft.com/office/drawing/2017/decorative" val="1"/>
              </a:ext>
            </a:extLst>
          </p:cNvPr>
          <p:cNvSpPr/>
          <p:nvPr/>
        </p:nvSpPr>
        <p:spPr>
          <a:xfrm>
            <a:off x="8209900"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dotn17"/>
          <p:cNvSpPr txBox="1"/>
          <p:nvPr/>
        </p:nvSpPr>
        <p:spPr>
          <a:xfrm>
            <a:off x="811846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17</a:t>
            </a:r>
          </a:p>
        </p:txBody>
      </p:sp>
      <p:sp>
        <p:nvSpPr>
          <p:cNvPr id="53" name="!!dot18">
            <a:extLst>
              <a:ext uri="{C183D7F6-B498-43B3-948B-1728B52AA6E4}">
                <adec:decorative xmlns:adec="http://schemas.microsoft.com/office/drawing/2017/decorative" val="1"/>
              </a:ext>
            </a:extLst>
          </p:cNvPr>
          <p:cNvSpPr/>
          <p:nvPr/>
        </p:nvSpPr>
        <p:spPr>
          <a:xfrm>
            <a:off x="8875941"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dotn18"/>
          <p:cNvSpPr txBox="1"/>
          <p:nvPr/>
        </p:nvSpPr>
        <p:spPr>
          <a:xfrm>
            <a:off x="878450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18</a:t>
            </a:r>
          </a:p>
        </p:txBody>
      </p:sp>
      <p:sp>
        <p:nvSpPr>
          <p:cNvPr id="55" name="!!dot19">
            <a:extLst>
              <a:ext uri="{C183D7F6-B498-43B3-948B-1728B52AA6E4}">
                <adec:decorative xmlns:adec="http://schemas.microsoft.com/office/drawing/2017/decorative" val="1"/>
              </a:ext>
            </a:extLst>
          </p:cNvPr>
          <p:cNvSpPr/>
          <p:nvPr/>
        </p:nvSpPr>
        <p:spPr>
          <a:xfrm>
            <a:off x="9267662"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dotn19"/>
          <p:cNvSpPr txBox="1"/>
          <p:nvPr/>
        </p:nvSpPr>
        <p:spPr>
          <a:xfrm>
            <a:off x="917622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19</a:t>
            </a:r>
          </a:p>
        </p:txBody>
      </p:sp>
      <p:sp>
        <p:nvSpPr>
          <p:cNvPr id="57" name="!!dot20">
            <a:extLst>
              <a:ext uri="{C183D7F6-B498-43B3-948B-1728B52AA6E4}">
                <adec:decorative xmlns:adec="http://schemas.microsoft.com/office/drawing/2017/decorative" val="1"/>
              </a:ext>
            </a:extLst>
          </p:cNvPr>
          <p:cNvSpPr/>
          <p:nvPr/>
        </p:nvSpPr>
        <p:spPr>
          <a:xfrm>
            <a:off x="9659383"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dotn20"/>
          <p:cNvSpPr txBox="1"/>
          <p:nvPr/>
        </p:nvSpPr>
        <p:spPr>
          <a:xfrm>
            <a:off x="956794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20</a:t>
            </a:r>
          </a:p>
        </p:txBody>
      </p:sp>
      <p:sp>
        <p:nvSpPr>
          <p:cNvPr id="59" name="!!dot21">
            <a:extLst>
              <a:ext uri="{C183D7F6-B498-43B3-948B-1728B52AA6E4}">
                <adec:decorative xmlns:adec="http://schemas.microsoft.com/office/drawing/2017/decorative" val="1"/>
              </a:ext>
            </a:extLst>
          </p:cNvPr>
          <p:cNvSpPr/>
          <p:nvPr/>
        </p:nvSpPr>
        <p:spPr>
          <a:xfrm>
            <a:off x="10325424"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dotn21"/>
          <p:cNvSpPr txBox="1"/>
          <p:nvPr/>
        </p:nvSpPr>
        <p:spPr>
          <a:xfrm>
            <a:off x="1023398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21</a:t>
            </a:r>
          </a:p>
        </p:txBody>
      </p:sp>
      <p:sp>
        <p:nvSpPr>
          <p:cNvPr id="61" name="!!dot22">
            <a:extLst>
              <a:ext uri="{C183D7F6-B498-43B3-948B-1728B52AA6E4}">
                <adec:decorative xmlns:adec="http://schemas.microsoft.com/office/drawing/2017/decorative" val="1"/>
              </a:ext>
            </a:extLst>
          </p:cNvPr>
          <p:cNvSpPr/>
          <p:nvPr/>
        </p:nvSpPr>
        <p:spPr>
          <a:xfrm>
            <a:off x="10717145"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dotn22"/>
          <p:cNvSpPr txBox="1"/>
          <p:nvPr/>
        </p:nvSpPr>
        <p:spPr>
          <a:xfrm>
            <a:off x="1062570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22</a:t>
            </a:r>
          </a:p>
        </p:txBody>
      </p:sp>
      <p:sp>
        <p:nvSpPr>
          <p:cNvPr id="63" name="!!dot23">
            <a:extLst>
              <a:ext uri="{C183D7F6-B498-43B3-948B-1728B52AA6E4}">
                <adec:decorative xmlns:adec="http://schemas.microsoft.com/office/drawing/2017/decorative" val="1"/>
              </a:ext>
            </a:extLst>
          </p:cNvPr>
          <p:cNvSpPr/>
          <p:nvPr/>
        </p:nvSpPr>
        <p:spPr>
          <a:xfrm>
            <a:off x="11108866"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4" name="!!dotn23"/>
          <p:cNvSpPr txBox="1"/>
          <p:nvPr/>
        </p:nvSpPr>
        <p:spPr>
          <a:xfrm>
            <a:off x="1101742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23</a:t>
            </a:r>
          </a:p>
        </p:txBody>
      </p:sp>
      <p:sp>
        <p:nvSpPr>
          <p:cNvPr id="65" name="!!dotlabel"/>
          <p:cNvSpPr txBox="1"/>
          <p:nvPr/>
        </p:nvSpPr>
        <p:spPr>
          <a:xfrm>
            <a:off x="658368" y="2798064"/>
            <a:ext cx="5852160"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1A5276"/>
                </a:solidFill>
                <a:latin typeface="Segoe UI"/>
              </a:rPr>
              <a:t>Correctness: Loop Invariants</a:t>
            </a:r>
          </a:p>
        </p:txBody>
      </p:sp>
      <p:sp>
        <p:nvSpPr>
          <p:cNvPr id="66" name="!!dep-BUILD"/>
          <p:cNvSpPr txBox="1"/>
          <p:nvPr/>
        </p:nvSpPr>
        <p:spPr>
          <a:xfrm>
            <a:off x="658368"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BUILDS ON</a:t>
            </a:r>
          </a:p>
        </p:txBody>
      </p:sp>
      <p:sp>
        <p:nvSpPr>
          <p:cNvPr id="67" name="!!chipBU1">
            <a:extLst>
              <a:ext uri="{C183D7F6-B498-43B3-948B-1728B52AA6E4}">
                <adec:decorative xmlns:adec="http://schemas.microsoft.com/office/drawing/2017/decorative" val="1"/>
              </a:ext>
            </a:extLst>
          </p:cNvPr>
          <p:cNvSpPr/>
          <p:nvPr/>
        </p:nvSpPr>
        <p:spPr>
          <a:xfrm>
            <a:off x="658368" y="3785616"/>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8" name="!!chipbBU1">
            <a:extLst>
              <a:ext uri="{C183D7F6-B498-43B3-948B-1728B52AA6E4}">
                <adec:decorative xmlns:adec="http://schemas.microsoft.com/office/drawing/2017/decorative" val="1"/>
              </a:ext>
            </a:extLst>
          </p:cNvPr>
          <p:cNvSpPr/>
          <p:nvPr/>
        </p:nvSpPr>
        <p:spPr>
          <a:xfrm>
            <a:off x="658368" y="3785616"/>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chiptBU1"/>
          <p:cNvSpPr txBox="1"/>
          <p:nvPr/>
        </p:nvSpPr>
        <p:spPr>
          <a:xfrm>
            <a:off x="859536"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1  </a:t>
            </a:r>
            <a:r>
              <a:rPr sz="1400" b="0" i="0">
                <a:solidFill>
                  <a:srgbClr val="1C252B"/>
                </a:solidFill>
                <a:latin typeface="Segoe UI"/>
              </a:rPr>
              <a:t>The Role of Algorithms, and What Efficient Means</a:t>
            </a:r>
          </a:p>
        </p:txBody>
      </p:sp>
      <p:sp>
        <p:nvSpPr>
          <p:cNvPr id="70" name="!!dep-USED "/>
          <p:cNvSpPr txBox="1"/>
          <p:nvPr/>
        </p:nvSpPr>
        <p:spPr>
          <a:xfrm>
            <a:off x="6324447"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USED LATER IN</a:t>
            </a:r>
          </a:p>
        </p:txBody>
      </p:sp>
      <p:sp>
        <p:nvSpPr>
          <p:cNvPr id="71" name="!!dep-none-USED "/>
          <p:cNvSpPr txBox="1"/>
          <p:nvPr/>
        </p:nvSpPr>
        <p:spPr>
          <a:xfrm>
            <a:off x="6324447" y="3785616"/>
            <a:ext cx="520887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0" i="0">
                <a:solidFill>
                  <a:srgbClr val="98A4AE"/>
                </a:solidFill>
                <a:latin typeface="Segoe UI"/>
              </a:rPr>
              <a:t>—  no later chapter depends on it</a:t>
            </a:r>
          </a:p>
        </p:txBody>
      </p:sp>
      <p:sp>
        <p:nvSpPr>
          <p:cNvPr id="7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pfill">
            <a:extLst>
              <a:ext uri="{C183D7F6-B498-43B3-948B-1728B52AA6E4}">
                <adec:decorative xmlns:adec="http://schemas.microsoft.com/office/drawing/2017/decorative" val="1"/>
              </a:ext>
            </a:extLst>
          </p:cNvPr>
          <p:cNvSpPr/>
          <p:nvPr/>
        </p:nvSpPr>
        <p:spPr>
          <a:xfrm>
            <a:off x="0" y="0"/>
            <a:ext cx="46891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you will be able to do</a:t>
            </a:r>
          </a:p>
        </p:txBody>
      </p:sp>
      <p:pic>
        <p:nvPicPr>
          <p:cNvPr id="3" name="!!kicker-icon" descr="bullsey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LEARNING OUTCOMES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  ·  Correctness: Loop Invariants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30     </a:t>
            </a:r>
            <a:fld id="{E4CB317F-B7E6-4945-880D-47FB1A062696}" type="slidenum">
              <a:rPr lang="en-GB" sz="1000">
                <a:solidFill>
                  <a:srgbClr val="8795A1"/>
                </a:solidFill>
                <a:latin typeface="Segoe UI"/>
              </a:rPr>
              <a:t>3</a:t>
            </a:fld>
          </a:p>
        </p:txBody>
      </p:sp>
      <p:sp>
        <p:nvSpPr>
          <p:cNvPr id="7" name="!!olead"/>
          <p:cNvSpPr txBox="1"/>
          <p:nvPr/>
        </p:nvSpPr>
        <p:spPr>
          <a:xfrm>
            <a:off x="658368" y="1737360"/>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5F6F7B"/>
                </a:solidFill>
                <a:latin typeface="Segoe UI"/>
              </a:rPr>
              <a:t>By the end of this chapter you will be able to:</a:t>
            </a:r>
          </a:p>
        </p:txBody>
      </p:sp>
      <p:sp>
        <p:nvSpPr>
          <p:cNvPr id="8" name="!!ob0">
            <a:extLst>
              <a:ext uri="{C183D7F6-B498-43B3-948B-1728B52AA6E4}">
                <adec:decorative xmlns:adec="http://schemas.microsoft.com/office/drawing/2017/decorative" val="1"/>
              </a:ext>
            </a:extLst>
          </p:cNvPr>
          <p:cNvSpPr/>
          <p:nvPr/>
        </p:nvSpPr>
        <p:spPr>
          <a:xfrm>
            <a:off x="658368" y="2221991"/>
            <a:ext cx="420624" cy="420624"/>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obn0"/>
          <p:cNvSpPr txBox="1"/>
          <p:nvPr/>
        </p:nvSpPr>
        <p:spPr>
          <a:xfrm>
            <a:off x="658368" y="228142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10" name="!!ot0"/>
          <p:cNvSpPr txBox="1"/>
          <p:nvPr/>
        </p:nvSpPr>
        <p:spPr>
          <a:xfrm>
            <a:off x="1316736" y="221284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Explain</a:t>
            </a:r>
            <a:r>
              <a:rPr sz="2100" b="0" i="0">
                <a:solidFill>
                  <a:srgbClr val="1C252B"/>
                </a:solidFill>
                <a:latin typeface="Segoe UI"/>
              </a:rPr>
              <a:t> why testing cannot establish that an algorithm is correct, and </a:t>
            </a:r>
            <a:r>
              <a:rPr sz="2100" b="1" i="0">
                <a:solidFill>
                  <a:srgbClr val="1C252B"/>
                </a:solidFill>
                <a:latin typeface="Segoe UI"/>
              </a:rPr>
              <a:t>quantify</a:t>
            </a:r>
            <a:r>
              <a:rPr sz="2100" b="0" i="0">
                <a:solidFill>
                  <a:srgbClr val="1C252B"/>
                </a:solidFill>
                <a:latin typeface="Segoe UI"/>
              </a:rPr>
              <a:t> the input space it would have to cover.</a:t>
            </a:r>
          </a:p>
        </p:txBody>
      </p:sp>
      <p:sp>
        <p:nvSpPr>
          <p:cNvPr id="11" name="!!ob1">
            <a:extLst>
              <a:ext uri="{C183D7F6-B498-43B3-948B-1728B52AA6E4}">
                <adec:decorative xmlns:adec="http://schemas.microsoft.com/office/drawing/2017/decorative" val="1"/>
              </a:ext>
            </a:extLst>
          </p:cNvPr>
          <p:cNvSpPr/>
          <p:nvPr/>
        </p:nvSpPr>
        <p:spPr>
          <a:xfrm>
            <a:off x="658368" y="3070555"/>
            <a:ext cx="420624" cy="420624"/>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obn1"/>
          <p:cNvSpPr txBox="1"/>
          <p:nvPr/>
        </p:nvSpPr>
        <p:spPr>
          <a:xfrm>
            <a:off x="658368" y="312999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3" name="!!ot1"/>
          <p:cNvSpPr txBox="1"/>
          <p:nvPr/>
        </p:nvSpPr>
        <p:spPr>
          <a:xfrm>
            <a:off x="1316736" y="3061411"/>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State</a:t>
            </a:r>
            <a:r>
              <a:rPr sz="2100" b="0" i="0">
                <a:solidFill>
                  <a:srgbClr val="1C252B"/>
                </a:solidFill>
                <a:latin typeface="Segoe UI"/>
              </a:rPr>
              <a:t> a loop invariant for a given loop, and </a:t>
            </a:r>
            <a:r>
              <a:rPr sz="2100" b="1" i="0">
                <a:solidFill>
                  <a:srgbClr val="1C252B"/>
                </a:solidFill>
                <a:latin typeface="Segoe UI"/>
              </a:rPr>
              <a:t>name</a:t>
            </a:r>
            <a:r>
              <a:rPr sz="2100" b="0" i="0">
                <a:solidFill>
                  <a:srgbClr val="1C252B"/>
                </a:solidFill>
                <a:latin typeface="Segoe UI"/>
              </a:rPr>
              <a:t> the three obligations a proof must discharge.</a:t>
            </a:r>
          </a:p>
        </p:txBody>
      </p:sp>
      <p:sp>
        <p:nvSpPr>
          <p:cNvPr id="14" name="!!ob2">
            <a:extLst>
              <a:ext uri="{C183D7F6-B498-43B3-948B-1728B52AA6E4}">
                <adec:decorative xmlns:adec="http://schemas.microsoft.com/office/drawing/2017/decorative" val="1"/>
              </a:ext>
            </a:extLst>
          </p:cNvPr>
          <p:cNvSpPr/>
          <p:nvPr/>
        </p:nvSpPr>
        <p:spPr>
          <a:xfrm>
            <a:off x="658368" y="3919118"/>
            <a:ext cx="420624" cy="420624"/>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bn2"/>
          <p:cNvSpPr txBox="1"/>
          <p:nvPr/>
        </p:nvSpPr>
        <p:spPr>
          <a:xfrm>
            <a:off x="658368" y="3978554"/>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6" name="!!ot2"/>
          <p:cNvSpPr txBox="1"/>
          <p:nvPr/>
        </p:nvSpPr>
        <p:spPr>
          <a:xfrm>
            <a:off x="1316736" y="3909974"/>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Prove</a:t>
            </a:r>
            <a:r>
              <a:rPr sz="2100" b="0" i="0">
                <a:solidFill>
                  <a:srgbClr val="1C252B"/>
                </a:solidFill>
                <a:latin typeface="Segoe UI"/>
              </a:rPr>
              <a:t> insertion sort and binary search correct from their invariants, including the permutation clause.</a:t>
            </a:r>
          </a:p>
        </p:txBody>
      </p:sp>
      <p:sp>
        <p:nvSpPr>
          <p:cNvPr id="17" name="!!ob3">
            <a:extLst>
              <a:ext uri="{C183D7F6-B498-43B3-948B-1728B52AA6E4}">
                <adec:decorative xmlns:adec="http://schemas.microsoft.com/office/drawing/2017/decorative" val="1"/>
              </a:ext>
            </a:extLst>
          </p:cNvPr>
          <p:cNvSpPr/>
          <p:nvPr/>
        </p:nvSpPr>
        <p:spPr>
          <a:xfrm>
            <a:off x="658368" y="4767681"/>
            <a:ext cx="420624" cy="420624"/>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bn3"/>
          <p:cNvSpPr txBox="1"/>
          <p:nvPr/>
        </p:nvSpPr>
        <p:spPr>
          <a:xfrm>
            <a:off x="658368" y="4827117"/>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9" name="!!ot3"/>
          <p:cNvSpPr txBox="1"/>
          <p:nvPr/>
        </p:nvSpPr>
        <p:spPr>
          <a:xfrm>
            <a:off x="1316736" y="4758537"/>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Distinguish</a:t>
            </a:r>
            <a:r>
              <a:rPr sz="2100" b="0" i="0">
                <a:solidFill>
                  <a:srgbClr val="1C252B"/>
                </a:solidFill>
                <a:latin typeface="Segoe UI"/>
              </a:rPr>
              <a:t> partial correctness from total correctness, and </a:t>
            </a:r>
            <a:r>
              <a:rPr sz="2100" b="1" i="0">
                <a:solidFill>
                  <a:srgbClr val="1C252B"/>
                </a:solidFill>
                <a:latin typeface="Segoe UI"/>
              </a:rPr>
              <a:t>prove</a:t>
            </a:r>
            <a:r>
              <a:rPr sz="2100" b="0" i="0">
                <a:solidFill>
                  <a:srgbClr val="1C252B"/>
                </a:solidFill>
                <a:latin typeface="Segoe UI"/>
              </a:rPr>
              <a:t> termination by exhibiting a decreasing measure.</a:t>
            </a:r>
          </a:p>
        </p:txBody>
      </p:sp>
      <p:sp>
        <p:nvSpPr>
          <p:cNvPr id="20" name="!!ob4">
            <a:extLst>
              <a:ext uri="{C183D7F6-B498-43B3-948B-1728B52AA6E4}">
                <adec:decorative xmlns:adec="http://schemas.microsoft.com/office/drawing/2017/decorative" val="1"/>
              </a:ext>
            </a:extLst>
          </p:cNvPr>
          <p:cNvSpPr/>
          <p:nvPr/>
        </p:nvSpPr>
        <p:spPr>
          <a:xfrm>
            <a:off x="658368" y="5616244"/>
            <a:ext cx="420624" cy="420624"/>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obn4"/>
          <p:cNvSpPr txBox="1"/>
          <p:nvPr/>
        </p:nvSpPr>
        <p:spPr>
          <a:xfrm>
            <a:off x="658368" y="5675680"/>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2" name="!!ot4"/>
          <p:cNvSpPr txBox="1"/>
          <p:nvPr/>
        </p:nvSpPr>
        <p:spPr>
          <a:xfrm>
            <a:off x="1316736" y="5657392"/>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Diagnose</a:t>
            </a:r>
            <a:r>
              <a:rPr sz="2100" b="0" i="0">
                <a:solidFill>
                  <a:srgbClr val="1C252B"/>
                </a:solidFill>
                <a:latin typeface="Segoe UI"/>
              </a:rPr>
              <a:t> a loop whose invariant holds but which fails to terminate.</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703367"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zoom(in)">
                                      <p:cBhvr>
                                        <p:cTn id="8" dur="3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42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zoom(in)">
                                      <p:cBhvr>
                                        <p:cTn id="19" dur="3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00"/>
                                        <p:tgtEl>
                                          <p:spTgt spid="12"/>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right)">
                                      <p:cBhvr>
                                        <p:cTn id="25" dur="42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zoom(in)">
                                      <p:cBhvr>
                                        <p:cTn id="30" dur="3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00"/>
                                        <p:tgtEl>
                                          <p:spTgt spid="15"/>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zoom(in)">
                                      <p:cBhvr>
                                        <p:cTn id="41" dur="3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00"/>
                                        <p:tgtEl>
                                          <p:spTgt spid="18"/>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right)">
                                      <p:cBhvr>
                                        <p:cTn id="47" dur="420"/>
                                        <p:tgtEl>
                                          <p:spTgt spid="19"/>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zoom(in)">
                                      <p:cBhvr>
                                        <p:cTn id="52" dur="3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00"/>
                                        <p:tgtEl>
                                          <p:spTgt spid="2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Vocabulary for this chapter</a:t>
            </a:r>
          </a:p>
        </p:txBody>
      </p:sp>
      <p:pic>
        <p:nvPicPr>
          <p:cNvPr id="3" name="!!kicker-icon" descr="tags-8E44A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8E44AD"/>
                </a:solidFill>
                <a:latin typeface="Segoe UI"/>
              </a:rPr>
              <a:t>KEY TERMS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  ·  Correctness: Loop Invariants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30     </a:t>
            </a:r>
            <a:fld id="{A00C5664-7663-46C3-8D28-23E30E439013}" type="slidenum">
              <a:rPr lang="en-GB" sz="1000">
                <a:solidFill>
                  <a:srgbClr val="8795A1"/>
                </a:solidFill>
                <a:latin typeface="Segoe UI"/>
              </a:rPr>
              <a:t>4</a:t>
            </a:fld>
          </a:p>
        </p:txBody>
      </p:sp>
      <p:sp>
        <p:nvSpPr>
          <p:cNvPr id="7" name="!!term-correctness">
            <a:extLst>
              <a:ext uri="{C183D7F6-B498-43B3-948B-1728B52AA6E4}">
                <adec:decorative xmlns:adec="http://schemas.microsoft.com/office/drawing/2017/decorative" val="1"/>
              </a:ext>
            </a:extLst>
          </p:cNvPr>
          <p:cNvSpPr/>
          <p:nvPr/>
        </p:nvSpPr>
        <p:spPr>
          <a:xfrm>
            <a:off x="658368" y="1847088"/>
            <a:ext cx="147622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rmd-correctness">
            <a:extLst>
              <a:ext uri="{C183D7F6-B498-43B3-948B-1728B52AA6E4}">
                <adec:decorative xmlns:adec="http://schemas.microsoft.com/office/drawing/2017/decorative" val="1"/>
              </a:ext>
            </a:extLst>
          </p:cNvPr>
          <p:cNvSpPr/>
          <p:nvPr/>
        </p:nvSpPr>
        <p:spPr>
          <a:xfrm>
            <a:off x="7863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rmt-correctness"/>
          <p:cNvSpPr txBox="1"/>
          <p:nvPr/>
        </p:nvSpPr>
        <p:spPr>
          <a:xfrm>
            <a:off x="950976" y="1962911"/>
            <a:ext cx="1293346"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correctness</a:t>
            </a:r>
          </a:p>
        </p:txBody>
      </p:sp>
      <p:sp>
        <p:nvSpPr>
          <p:cNvPr id="10" name="!!term-partial correc">
            <a:extLst>
              <a:ext uri="{C183D7F6-B498-43B3-948B-1728B52AA6E4}">
                <adec:decorative xmlns:adec="http://schemas.microsoft.com/office/drawing/2017/decorative" val="1"/>
              </a:ext>
            </a:extLst>
          </p:cNvPr>
          <p:cNvSpPr/>
          <p:nvPr/>
        </p:nvSpPr>
        <p:spPr>
          <a:xfrm>
            <a:off x="2280898" y="1847088"/>
            <a:ext cx="210864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rmd-partial correc">
            <a:extLst>
              <a:ext uri="{C183D7F6-B498-43B3-948B-1728B52AA6E4}">
                <adec:decorative xmlns:adec="http://schemas.microsoft.com/office/drawing/2017/decorative" val="1"/>
              </a:ext>
            </a:extLst>
          </p:cNvPr>
          <p:cNvSpPr/>
          <p:nvPr/>
        </p:nvSpPr>
        <p:spPr>
          <a:xfrm>
            <a:off x="240891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rmt-partial correc"/>
          <p:cNvSpPr txBox="1"/>
          <p:nvPr/>
        </p:nvSpPr>
        <p:spPr>
          <a:xfrm>
            <a:off x="2573506" y="1962911"/>
            <a:ext cx="1925760"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partial correctness</a:t>
            </a:r>
          </a:p>
        </p:txBody>
      </p:sp>
      <p:sp>
        <p:nvSpPr>
          <p:cNvPr id="13" name="!!term-total correctn">
            <a:extLst>
              <a:ext uri="{C183D7F6-B498-43B3-948B-1728B52AA6E4}">
                <adec:decorative xmlns:adec="http://schemas.microsoft.com/office/drawing/2017/decorative" val="1"/>
              </a:ext>
            </a:extLst>
          </p:cNvPr>
          <p:cNvSpPr/>
          <p:nvPr/>
        </p:nvSpPr>
        <p:spPr>
          <a:xfrm>
            <a:off x="4535842" y="1847088"/>
            <a:ext cx="195062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rmd-total correctn">
            <a:extLst>
              <a:ext uri="{C183D7F6-B498-43B3-948B-1728B52AA6E4}">
                <adec:decorative xmlns:adec="http://schemas.microsoft.com/office/drawing/2017/decorative" val="1"/>
              </a:ext>
            </a:extLst>
          </p:cNvPr>
          <p:cNvSpPr/>
          <p:nvPr/>
        </p:nvSpPr>
        <p:spPr>
          <a:xfrm>
            <a:off x="4663858"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rmt-total correctn"/>
          <p:cNvSpPr txBox="1"/>
          <p:nvPr/>
        </p:nvSpPr>
        <p:spPr>
          <a:xfrm>
            <a:off x="4828450" y="1962911"/>
            <a:ext cx="1767747"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total correctness</a:t>
            </a:r>
          </a:p>
        </p:txBody>
      </p:sp>
      <p:sp>
        <p:nvSpPr>
          <p:cNvPr id="16" name="!!term-loop invariant">
            <a:extLst>
              <a:ext uri="{C183D7F6-B498-43B3-948B-1728B52AA6E4}">
                <adec:decorative xmlns:adec="http://schemas.microsoft.com/office/drawing/2017/decorative" val="1"/>
              </a:ext>
            </a:extLst>
          </p:cNvPr>
          <p:cNvSpPr/>
          <p:nvPr/>
        </p:nvSpPr>
        <p:spPr>
          <a:xfrm>
            <a:off x="6632774" y="1847088"/>
            <a:ext cx="169818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rmd-loop invariant">
            <a:extLst>
              <a:ext uri="{C183D7F6-B498-43B3-948B-1728B52AA6E4}">
                <adec:decorative xmlns:adec="http://schemas.microsoft.com/office/drawing/2017/decorative" val="1"/>
              </a:ext>
            </a:extLst>
          </p:cNvPr>
          <p:cNvSpPr/>
          <p:nvPr/>
        </p:nvSpPr>
        <p:spPr>
          <a:xfrm>
            <a:off x="6760790"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rmt-loop invariant"/>
          <p:cNvSpPr txBox="1"/>
          <p:nvPr/>
        </p:nvSpPr>
        <p:spPr>
          <a:xfrm>
            <a:off x="6925382" y="1962911"/>
            <a:ext cx="1515309"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loop invariant</a:t>
            </a:r>
          </a:p>
        </p:txBody>
      </p:sp>
      <p:sp>
        <p:nvSpPr>
          <p:cNvPr id="19" name="!!term-initialisation">
            <a:extLst>
              <a:ext uri="{C183D7F6-B498-43B3-948B-1728B52AA6E4}">
                <adec:decorative xmlns:adec="http://schemas.microsoft.com/office/drawing/2017/decorative" val="1"/>
              </a:ext>
            </a:extLst>
          </p:cNvPr>
          <p:cNvSpPr/>
          <p:nvPr/>
        </p:nvSpPr>
        <p:spPr>
          <a:xfrm>
            <a:off x="8477268" y="1847088"/>
            <a:ext cx="153533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rmd-initialisation">
            <a:extLst>
              <a:ext uri="{C183D7F6-B498-43B3-948B-1728B52AA6E4}">
                <adec:decorative xmlns:adec="http://schemas.microsoft.com/office/drawing/2017/decorative" val="1"/>
              </a:ext>
            </a:extLst>
          </p:cNvPr>
          <p:cNvSpPr/>
          <p:nvPr/>
        </p:nvSpPr>
        <p:spPr>
          <a:xfrm>
            <a:off x="86052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rmt-initialisation"/>
          <p:cNvSpPr txBox="1"/>
          <p:nvPr/>
        </p:nvSpPr>
        <p:spPr>
          <a:xfrm>
            <a:off x="8769876" y="1962911"/>
            <a:ext cx="1352458"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initialisation</a:t>
            </a:r>
          </a:p>
        </p:txBody>
      </p:sp>
      <p:sp>
        <p:nvSpPr>
          <p:cNvPr id="22" name="!!term-maintenance">
            <a:extLst>
              <a:ext uri="{C183D7F6-B498-43B3-948B-1728B52AA6E4}">
                <adec:decorative xmlns:adec="http://schemas.microsoft.com/office/drawing/2017/decorative" val="1"/>
              </a:ext>
            </a:extLst>
          </p:cNvPr>
          <p:cNvSpPr/>
          <p:nvPr/>
        </p:nvSpPr>
        <p:spPr>
          <a:xfrm>
            <a:off x="658368" y="2468880"/>
            <a:ext cx="161324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rmd-maintenance">
            <a:extLst>
              <a:ext uri="{C183D7F6-B498-43B3-948B-1728B52AA6E4}">
                <adec:decorative xmlns:adec="http://schemas.microsoft.com/office/drawing/2017/decorative" val="1"/>
              </a:ext>
            </a:extLst>
          </p:cNvPr>
          <p:cNvSpPr/>
          <p:nvPr/>
        </p:nvSpPr>
        <p:spPr>
          <a:xfrm>
            <a:off x="78638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rmt-maintenance"/>
          <p:cNvSpPr txBox="1"/>
          <p:nvPr/>
        </p:nvSpPr>
        <p:spPr>
          <a:xfrm>
            <a:off x="950976" y="2584704"/>
            <a:ext cx="1430363"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maintenance</a:t>
            </a:r>
          </a:p>
        </p:txBody>
      </p:sp>
      <p:sp>
        <p:nvSpPr>
          <p:cNvPr id="25" name="!!term-termination">
            <a:extLst>
              <a:ext uri="{C183D7F6-B498-43B3-948B-1728B52AA6E4}">
                <adec:decorative xmlns:adec="http://schemas.microsoft.com/office/drawing/2017/decorative" val="1"/>
              </a:ext>
            </a:extLst>
          </p:cNvPr>
          <p:cNvSpPr/>
          <p:nvPr/>
        </p:nvSpPr>
        <p:spPr>
          <a:xfrm>
            <a:off x="2417915" y="2468880"/>
            <a:ext cx="150027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rmd-termination">
            <a:extLst>
              <a:ext uri="{C183D7F6-B498-43B3-948B-1728B52AA6E4}">
                <adec:decorative xmlns:adec="http://schemas.microsoft.com/office/drawing/2017/decorative" val="1"/>
              </a:ext>
            </a:extLst>
          </p:cNvPr>
          <p:cNvSpPr/>
          <p:nvPr/>
        </p:nvSpPr>
        <p:spPr>
          <a:xfrm>
            <a:off x="2545931"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rmt-termination"/>
          <p:cNvSpPr txBox="1"/>
          <p:nvPr/>
        </p:nvSpPr>
        <p:spPr>
          <a:xfrm>
            <a:off x="2710523" y="2584704"/>
            <a:ext cx="1317398"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termination</a:t>
            </a:r>
          </a:p>
        </p:txBody>
      </p:sp>
      <p:sp>
        <p:nvSpPr>
          <p:cNvPr id="28" name="!!term-precondition">
            <a:extLst>
              <a:ext uri="{C183D7F6-B498-43B3-948B-1728B52AA6E4}">
                <adec:decorative xmlns:adec="http://schemas.microsoft.com/office/drawing/2017/decorative" val="1"/>
              </a:ext>
            </a:extLst>
          </p:cNvPr>
          <p:cNvSpPr/>
          <p:nvPr/>
        </p:nvSpPr>
        <p:spPr>
          <a:xfrm>
            <a:off x="4064498" y="2468880"/>
            <a:ext cx="160721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rmd-precondition">
            <a:extLst>
              <a:ext uri="{C183D7F6-B498-43B3-948B-1728B52AA6E4}">
                <adec:decorative xmlns:adec="http://schemas.microsoft.com/office/drawing/2017/decorative" val="1"/>
              </a:ext>
            </a:extLst>
          </p:cNvPr>
          <p:cNvSpPr/>
          <p:nvPr/>
        </p:nvSpPr>
        <p:spPr>
          <a:xfrm>
            <a:off x="419251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rmt-precondition"/>
          <p:cNvSpPr txBox="1"/>
          <p:nvPr/>
        </p:nvSpPr>
        <p:spPr>
          <a:xfrm>
            <a:off x="4357106" y="2584704"/>
            <a:ext cx="1424337"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precondition</a:t>
            </a:r>
          </a:p>
        </p:txBody>
      </p:sp>
      <p:sp>
        <p:nvSpPr>
          <p:cNvPr id="31" name="!!term-postcondition">
            <a:extLst>
              <a:ext uri="{C183D7F6-B498-43B3-948B-1728B52AA6E4}">
                <adec:decorative xmlns:adec="http://schemas.microsoft.com/office/drawing/2017/decorative" val="1"/>
              </a:ext>
            </a:extLst>
          </p:cNvPr>
          <p:cNvSpPr/>
          <p:nvPr/>
        </p:nvSpPr>
        <p:spPr>
          <a:xfrm>
            <a:off x="5818019" y="2468880"/>
            <a:ext cx="170628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rmd-postcondition">
            <a:extLst>
              <a:ext uri="{C183D7F6-B498-43B3-948B-1728B52AA6E4}">
                <adec:decorative xmlns:adec="http://schemas.microsoft.com/office/drawing/2017/decorative" val="1"/>
              </a:ext>
            </a:extLst>
          </p:cNvPr>
          <p:cNvSpPr/>
          <p:nvPr/>
        </p:nvSpPr>
        <p:spPr>
          <a:xfrm>
            <a:off x="5946035"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rmt-postcondition"/>
          <p:cNvSpPr txBox="1"/>
          <p:nvPr/>
        </p:nvSpPr>
        <p:spPr>
          <a:xfrm>
            <a:off x="6110627" y="2584704"/>
            <a:ext cx="1523409"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postcondition</a:t>
            </a:r>
          </a:p>
        </p:txBody>
      </p:sp>
      <p:sp>
        <p:nvSpPr>
          <p:cNvPr id="34" name="!!term-permutation">
            <a:extLst>
              <a:ext uri="{C183D7F6-B498-43B3-948B-1728B52AA6E4}">
                <adec:decorative xmlns:adec="http://schemas.microsoft.com/office/drawing/2017/decorative" val="1"/>
              </a:ext>
            </a:extLst>
          </p:cNvPr>
          <p:cNvSpPr/>
          <p:nvPr/>
        </p:nvSpPr>
        <p:spPr>
          <a:xfrm>
            <a:off x="7670612" y="2468880"/>
            <a:ext cx="157201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rmd-permutation">
            <a:extLst>
              <a:ext uri="{C183D7F6-B498-43B3-948B-1728B52AA6E4}">
                <adec:decorative xmlns:adec="http://schemas.microsoft.com/office/drawing/2017/decorative" val="1"/>
              </a:ext>
            </a:extLst>
          </p:cNvPr>
          <p:cNvSpPr/>
          <p:nvPr/>
        </p:nvSpPr>
        <p:spPr>
          <a:xfrm>
            <a:off x="7798628"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rmt-permutation"/>
          <p:cNvSpPr txBox="1"/>
          <p:nvPr/>
        </p:nvSpPr>
        <p:spPr>
          <a:xfrm>
            <a:off x="7963220" y="2584704"/>
            <a:ext cx="1389137"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permutation</a:t>
            </a:r>
          </a:p>
        </p:txBody>
      </p:sp>
      <p:sp>
        <p:nvSpPr>
          <p:cNvPr id="37" name="!!term-loop variant">
            <a:extLst>
              <a:ext uri="{C183D7F6-B498-43B3-948B-1728B52AA6E4}">
                <adec:decorative xmlns:adec="http://schemas.microsoft.com/office/drawing/2017/decorative" val="1"/>
              </a:ext>
            </a:extLst>
          </p:cNvPr>
          <p:cNvSpPr/>
          <p:nvPr/>
        </p:nvSpPr>
        <p:spPr>
          <a:xfrm>
            <a:off x="9388934" y="2468880"/>
            <a:ext cx="153072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rmd-loop variant">
            <a:extLst>
              <a:ext uri="{C183D7F6-B498-43B3-948B-1728B52AA6E4}">
                <adec:decorative xmlns:adec="http://schemas.microsoft.com/office/drawing/2017/decorative" val="1"/>
              </a:ext>
            </a:extLst>
          </p:cNvPr>
          <p:cNvSpPr/>
          <p:nvPr/>
        </p:nvSpPr>
        <p:spPr>
          <a:xfrm>
            <a:off x="9516950"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rmt-loop variant"/>
          <p:cNvSpPr txBox="1"/>
          <p:nvPr/>
        </p:nvSpPr>
        <p:spPr>
          <a:xfrm>
            <a:off x="9681542" y="2584704"/>
            <a:ext cx="1347840"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loop variant</a:t>
            </a:r>
          </a:p>
        </p:txBody>
      </p:sp>
      <p:sp>
        <p:nvSpPr>
          <p:cNvPr id="40" name="!!term-decreasing mea">
            <a:extLst>
              <a:ext uri="{C183D7F6-B498-43B3-948B-1728B52AA6E4}">
                <adec:decorative xmlns:adec="http://schemas.microsoft.com/office/drawing/2017/decorative" val="1"/>
              </a:ext>
            </a:extLst>
          </p:cNvPr>
          <p:cNvSpPr/>
          <p:nvPr/>
        </p:nvSpPr>
        <p:spPr>
          <a:xfrm>
            <a:off x="658368" y="3090672"/>
            <a:ext cx="226337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rmd-decreasing mea">
            <a:extLst>
              <a:ext uri="{C183D7F6-B498-43B3-948B-1728B52AA6E4}">
                <adec:decorative xmlns:adec="http://schemas.microsoft.com/office/drawing/2017/decorative" val="1"/>
              </a:ext>
            </a:extLst>
          </p:cNvPr>
          <p:cNvSpPr/>
          <p:nvPr/>
        </p:nvSpPr>
        <p:spPr>
          <a:xfrm>
            <a:off x="78638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rmt-decreasing mea"/>
          <p:cNvSpPr txBox="1"/>
          <p:nvPr/>
        </p:nvSpPr>
        <p:spPr>
          <a:xfrm>
            <a:off x="950976" y="3206496"/>
            <a:ext cx="2080492"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decreasing measure</a:t>
            </a:r>
          </a:p>
        </p:txBody>
      </p:sp>
      <p:sp>
        <p:nvSpPr>
          <p:cNvPr id="43" name="!!term-well-founded">
            <a:extLst>
              <a:ext uri="{C183D7F6-B498-43B3-948B-1728B52AA6E4}">
                <adec:decorative xmlns:adec="http://schemas.microsoft.com/office/drawing/2017/decorative" val="1"/>
              </a:ext>
            </a:extLst>
          </p:cNvPr>
          <p:cNvSpPr/>
          <p:nvPr/>
        </p:nvSpPr>
        <p:spPr>
          <a:xfrm>
            <a:off x="3068044" y="3090672"/>
            <a:ext cx="165387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rmd-well-founded">
            <a:extLst>
              <a:ext uri="{C183D7F6-B498-43B3-948B-1728B52AA6E4}">
                <adec:decorative xmlns:adec="http://schemas.microsoft.com/office/drawing/2017/decorative" val="1"/>
              </a:ext>
            </a:extLst>
          </p:cNvPr>
          <p:cNvSpPr/>
          <p:nvPr/>
        </p:nvSpPr>
        <p:spPr>
          <a:xfrm>
            <a:off x="3196060"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rmt-well-founded"/>
          <p:cNvSpPr txBox="1"/>
          <p:nvPr/>
        </p:nvSpPr>
        <p:spPr>
          <a:xfrm>
            <a:off x="3360652" y="3206496"/>
            <a:ext cx="1470997"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well-founded</a:t>
            </a:r>
          </a:p>
        </p:txBody>
      </p:sp>
      <p:sp>
        <p:nvSpPr>
          <p:cNvPr id="46" name="!!termnote"/>
          <p:cNvSpPr txBox="1"/>
          <p:nvPr/>
        </p:nvSpPr>
        <p:spPr>
          <a:xfrm>
            <a:off x="658368" y="3913632"/>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350" b="0" i="1">
                <a:solidFill>
                  <a:srgbClr val="5F6F7B"/>
                </a:solidFill>
                <a:latin typeface="Segoe UI"/>
              </a:rPr>
              <a:t>Each term is defined where it first matters — not here.</a:t>
            </a:r>
          </a:p>
        </p:txBody>
      </p:sp>
      <p:sp>
        <p:nvSpPr>
          <p:cNvPr id="4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pfill">
            <a:extLst>
              <a:ext uri="{C183D7F6-B498-43B3-948B-1728B52AA6E4}">
                <adec:decorative xmlns:adec="http://schemas.microsoft.com/office/drawing/2017/decorative" val="1"/>
              </a:ext>
            </a:extLst>
          </p:cNvPr>
          <p:cNvSpPr/>
          <p:nvPr/>
        </p:nvSpPr>
        <p:spPr>
          <a:xfrm>
            <a:off x="0" y="0"/>
            <a:ext cx="937822"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 this chapter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THIS CHAPTER</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  ·  Correctness: Loop Invariants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pp. 30–40     </a:t>
            </a:r>
            <a:fld id="{2DE028B0-CE5B-4820-929C-4DC4DCF5EDDD}" type="slidenum">
              <a:rPr lang="en-GB" sz="1000">
                <a:solidFill>
                  <a:srgbClr val="8795A1"/>
                </a:solidFill>
                <a:latin typeface="Segoe UI"/>
              </a:rPr>
              <a:t>5</a:t>
            </a:fld>
          </a:p>
        </p:txBody>
      </p:sp>
      <p:sp>
        <p:nvSpPr>
          <p:cNvPr id="7" name="!!ag0" descr="Go to section 4.1 Why Testing Is Not Enough">
            <a:hlinkClick action="ppaction://hlinksldjump" r:id="rId5"/>
          </p:cNvPr>
          <p:cNvSpPr/>
          <p:nvPr/>
        </p:nvSpPr>
        <p:spPr>
          <a:xfrm>
            <a:off x="658368" y="17739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agb0">
            <a:extLst>
              <a:ext uri="{C183D7F6-B498-43B3-948B-1728B52AA6E4}">
                <adec:decorative xmlns:adec="http://schemas.microsoft.com/office/drawing/2017/decorative" val="1"/>
              </a:ext>
            </a:extLst>
          </p:cNvPr>
          <p:cNvSpPr/>
          <p:nvPr/>
        </p:nvSpPr>
        <p:spPr>
          <a:xfrm>
            <a:off x="658368" y="1773936"/>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agn0"/>
          <p:cNvSpPr txBox="1"/>
          <p:nvPr/>
        </p:nvSpPr>
        <p:spPr>
          <a:xfrm>
            <a:off x="932688" y="19202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4.1</a:t>
            </a:r>
          </a:p>
        </p:txBody>
      </p:sp>
      <p:sp>
        <p:nvSpPr>
          <p:cNvPr id="10" name="!!agt0"/>
          <p:cNvSpPr txBox="1"/>
          <p:nvPr/>
        </p:nvSpPr>
        <p:spPr>
          <a:xfrm>
            <a:off x="1847088" y="19202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Why Testing Is Not Enough</a:t>
            </a:r>
          </a:p>
        </p:txBody>
      </p:sp>
      <p:sp>
        <p:nvSpPr>
          <p:cNvPr id="11" name="!!agp0"/>
          <p:cNvSpPr txBox="1"/>
          <p:nvPr/>
        </p:nvSpPr>
        <p:spPr>
          <a:xfrm>
            <a:off x="9795967" y="19476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30  ›</a:t>
            </a:r>
          </a:p>
        </p:txBody>
      </p:sp>
      <p:sp>
        <p:nvSpPr>
          <p:cNvPr id="12" name="!!ag1" descr="Go to section 4.2 The Loop Invariant">
            <a:hlinkClick action="ppaction://hlinksldjump" r:id="rId6"/>
          </p:cNvPr>
          <p:cNvSpPr/>
          <p:nvPr/>
        </p:nvSpPr>
        <p:spPr>
          <a:xfrm>
            <a:off x="658368" y="2414015"/>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agb1">
            <a:extLst>
              <a:ext uri="{C183D7F6-B498-43B3-948B-1728B52AA6E4}">
                <adec:decorative xmlns:adec="http://schemas.microsoft.com/office/drawing/2017/decorative" val="1"/>
              </a:ext>
            </a:extLst>
          </p:cNvPr>
          <p:cNvSpPr/>
          <p:nvPr/>
        </p:nvSpPr>
        <p:spPr>
          <a:xfrm>
            <a:off x="658368" y="2414015"/>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agn1"/>
          <p:cNvSpPr txBox="1"/>
          <p:nvPr/>
        </p:nvSpPr>
        <p:spPr>
          <a:xfrm>
            <a:off x="932688" y="25603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4.2</a:t>
            </a:r>
          </a:p>
        </p:txBody>
      </p:sp>
      <p:sp>
        <p:nvSpPr>
          <p:cNvPr id="15" name="!!agt1"/>
          <p:cNvSpPr txBox="1"/>
          <p:nvPr/>
        </p:nvSpPr>
        <p:spPr>
          <a:xfrm>
            <a:off x="1847088" y="25603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The Loop Invariant</a:t>
            </a:r>
          </a:p>
        </p:txBody>
      </p:sp>
      <p:sp>
        <p:nvSpPr>
          <p:cNvPr id="16" name="!!agp1"/>
          <p:cNvSpPr txBox="1"/>
          <p:nvPr/>
        </p:nvSpPr>
        <p:spPr>
          <a:xfrm>
            <a:off x="9795967" y="2587751"/>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31  ›</a:t>
            </a:r>
          </a:p>
        </p:txBody>
      </p:sp>
      <p:sp>
        <p:nvSpPr>
          <p:cNvPr id="17" name="!!ag2" descr="Go to section 4.3 Insertion Sort, Proved">
            <a:hlinkClick action="ppaction://hlinksldjump" r:id="rId7"/>
          </p:cNvPr>
          <p:cNvSpPr/>
          <p:nvPr/>
        </p:nvSpPr>
        <p:spPr>
          <a:xfrm>
            <a:off x="658368" y="305409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agb2">
            <a:extLst>
              <a:ext uri="{C183D7F6-B498-43B3-948B-1728B52AA6E4}">
                <adec:decorative xmlns:adec="http://schemas.microsoft.com/office/drawing/2017/decorative" val="1"/>
              </a:ext>
            </a:extLst>
          </p:cNvPr>
          <p:cNvSpPr/>
          <p:nvPr/>
        </p:nvSpPr>
        <p:spPr>
          <a:xfrm>
            <a:off x="658368" y="3054096"/>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agn2"/>
          <p:cNvSpPr txBox="1"/>
          <p:nvPr/>
        </p:nvSpPr>
        <p:spPr>
          <a:xfrm>
            <a:off x="932688" y="320040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4.3</a:t>
            </a:r>
          </a:p>
        </p:txBody>
      </p:sp>
      <p:sp>
        <p:nvSpPr>
          <p:cNvPr id="20" name="!!agt2"/>
          <p:cNvSpPr txBox="1"/>
          <p:nvPr/>
        </p:nvSpPr>
        <p:spPr>
          <a:xfrm>
            <a:off x="1847088" y="320040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Insertion Sort, Proved</a:t>
            </a:r>
          </a:p>
        </p:txBody>
      </p:sp>
      <p:sp>
        <p:nvSpPr>
          <p:cNvPr id="21" name="!!agp2"/>
          <p:cNvSpPr txBox="1"/>
          <p:nvPr/>
        </p:nvSpPr>
        <p:spPr>
          <a:xfrm>
            <a:off x="9795967" y="322783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32  ›</a:t>
            </a:r>
          </a:p>
        </p:txBody>
      </p:sp>
      <p:sp>
        <p:nvSpPr>
          <p:cNvPr id="22" name="!!ag3" descr="Go to section 4.4 Binary Search, Where the Invariant Is About Exclusion">
            <a:hlinkClick action="ppaction://hlinksldjump" r:id="rId8"/>
          </p:cNvPr>
          <p:cNvSpPr/>
          <p:nvPr/>
        </p:nvSpPr>
        <p:spPr>
          <a:xfrm>
            <a:off x="658368" y="369417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agb3">
            <a:extLst>
              <a:ext uri="{C183D7F6-B498-43B3-948B-1728B52AA6E4}">
                <adec:decorative xmlns:adec="http://schemas.microsoft.com/office/drawing/2017/decorative" val="1"/>
              </a:ext>
            </a:extLst>
          </p:cNvPr>
          <p:cNvSpPr/>
          <p:nvPr/>
        </p:nvSpPr>
        <p:spPr>
          <a:xfrm>
            <a:off x="658368" y="3694176"/>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agn3"/>
          <p:cNvSpPr txBox="1"/>
          <p:nvPr/>
        </p:nvSpPr>
        <p:spPr>
          <a:xfrm>
            <a:off x="932688" y="384048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4.4</a:t>
            </a:r>
          </a:p>
        </p:txBody>
      </p:sp>
      <p:sp>
        <p:nvSpPr>
          <p:cNvPr id="25" name="!!agt3"/>
          <p:cNvSpPr txBox="1"/>
          <p:nvPr/>
        </p:nvSpPr>
        <p:spPr>
          <a:xfrm>
            <a:off x="1847088" y="384048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Binary Search, Where the Invariant Is About Exclusion</a:t>
            </a:r>
          </a:p>
        </p:txBody>
      </p:sp>
      <p:sp>
        <p:nvSpPr>
          <p:cNvPr id="26" name="!!agp3"/>
          <p:cNvSpPr txBox="1"/>
          <p:nvPr/>
        </p:nvSpPr>
        <p:spPr>
          <a:xfrm>
            <a:off x="9795967" y="386791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33  ›</a:t>
            </a:r>
          </a:p>
        </p:txBody>
      </p:sp>
      <p:sp>
        <p:nvSpPr>
          <p:cNvPr id="27" name="!!ag4" descr="Go to section 4.5 Termination: The Obligation People Skip">
            <a:hlinkClick action="ppaction://hlinksldjump" r:id="rId9"/>
          </p:cNvPr>
          <p:cNvSpPr/>
          <p:nvPr/>
        </p:nvSpPr>
        <p:spPr>
          <a:xfrm>
            <a:off x="658368" y="433425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agb4">
            <a:extLst>
              <a:ext uri="{C183D7F6-B498-43B3-948B-1728B52AA6E4}">
                <adec:decorative xmlns:adec="http://schemas.microsoft.com/office/drawing/2017/decorative" val="1"/>
              </a:ext>
            </a:extLst>
          </p:cNvPr>
          <p:cNvSpPr/>
          <p:nvPr/>
        </p:nvSpPr>
        <p:spPr>
          <a:xfrm>
            <a:off x="658368" y="4334256"/>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agn4"/>
          <p:cNvSpPr txBox="1"/>
          <p:nvPr/>
        </p:nvSpPr>
        <p:spPr>
          <a:xfrm>
            <a:off x="932688" y="448056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4.5</a:t>
            </a:r>
          </a:p>
        </p:txBody>
      </p:sp>
      <p:sp>
        <p:nvSpPr>
          <p:cNvPr id="30" name="!!agt4"/>
          <p:cNvSpPr txBox="1"/>
          <p:nvPr/>
        </p:nvSpPr>
        <p:spPr>
          <a:xfrm>
            <a:off x="1847088" y="448056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Termination: The Obligation People Skip</a:t>
            </a:r>
          </a:p>
        </p:txBody>
      </p:sp>
      <p:sp>
        <p:nvSpPr>
          <p:cNvPr id="31" name="!!agp4"/>
          <p:cNvSpPr txBox="1"/>
          <p:nvPr/>
        </p:nvSpPr>
        <p:spPr>
          <a:xfrm>
            <a:off x="9795967" y="450799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34  ›</a:t>
            </a:r>
          </a:p>
        </p:txBody>
      </p:sp>
      <p:sp>
        <p:nvSpPr>
          <p:cNvPr id="32" name="!!ag5" descr="Go to section 4.6 A Loop Whose Invariant Holds and Which Never Finishes">
            <a:hlinkClick action="ppaction://hlinksldjump" r:id="rId10"/>
          </p:cNvPr>
          <p:cNvSpPr/>
          <p:nvPr/>
        </p:nvSpPr>
        <p:spPr>
          <a:xfrm>
            <a:off x="658368" y="49743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agb5">
            <a:extLst>
              <a:ext uri="{C183D7F6-B498-43B3-948B-1728B52AA6E4}">
                <adec:decorative xmlns:adec="http://schemas.microsoft.com/office/drawing/2017/decorative" val="1"/>
              </a:ext>
            </a:extLst>
          </p:cNvPr>
          <p:cNvSpPr/>
          <p:nvPr/>
        </p:nvSpPr>
        <p:spPr>
          <a:xfrm>
            <a:off x="658368" y="4974336"/>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agn5"/>
          <p:cNvSpPr txBox="1"/>
          <p:nvPr/>
        </p:nvSpPr>
        <p:spPr>
          <a:xfrm>
            <a:off x="932688" y="51206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4.6</a:t>
            </a:r>
          </a:p>
        </p:txBody>
      </p:sp>
      <p:sp>
        <p:nvSpPr>
          <p:cNvPr id="35" name="!!agt5"/>
          <p:cNvSpPr txBox="1"/>
          <p:nvPr/>
        </p:nvSpPr>
        <p:spPr>
          <a:xfrm>
            <a:off x="1847088" y="51206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A Loop Whose Invariant Holds and Which Never Finishes</a:t>
            </a:r>
          </a:p>
        </p:txBody>
      </p:sp>
      <p:sp>
        <p:nvSpPr>
          <p:cNvPr id="36" name="!!agp5"/>
          <p:cNvSpPr txBox="1"/>
          <p:nvPr/>
        </p:nvSpPr>
        <p:spPr>
          <a:xfrm>
            <a:off x="9795967" y="51480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35  ›</a:t>
            </a:r>
          </a:p>
        </p:txBody>
      </p:sp>
      <p:sp>
        <p:nvSpPr>
          <p:cNvPr id="3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pfill">
            <a:extLst>
              <a:ext uri="{C183D7F6-B498-43B3-948B-1728B52AA6E4}">
                <adec:decorative xmlns:adec="http://schemas.microsoft.com/office/drawing/2017/decorative" val="1"/>
              </a:ext>
            </a:extLst>
          </p:cNvPr>
          <p:cNvSpPr/>
          <p:nvPr/>
        </p:nvSpPr>
        <p:spPr>
          <a:xfrm>
            <a:off x="0" y="0"/>
            <a:ext cx="1172278"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Why Testing Is Not Enough</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ACBD6"/>
                </a:solidFill>
                <a:latin typeface="Segoe UI"/>
              </a:rPr>
              <a:t>SECTION 1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4.1</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A5276"/>
                </a:solidFill>
                <a:latin typeface="Segoe UI"/>
              </a:rPr>
              <a:t>4.1   Why Testing Is Not Enough</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4.2   The Loop Invariant</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4.3   Insertion Sort, Proved</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4.4   Binary Search, Where the Invariant Is About Exclusion</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4.5   Termination: The Obligation People Skip</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4.6   A Loop Whose Invariant Holds and Which Never Finishes</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§4.1     </a:t>
            </a:r>
            <a:fld id="{F523DCEC-1915-4073-A255-DD60D6D8B328}" type="slidenum">
              <a:rPr lang="en-GB" sz="1000">
                <a:solidFill>
                  <a:srgbClr val="8795A1"/>
                </a:solidFill>
                <a:latin typeface="Segoe UI"/>
              </a:rPr>
              <a:t>6</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1406734"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Counting What Exhaustive Testing Would Cost</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  ·  Correctness: Loop Invariants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§4.1  ·  Handout p. 30     </a:t>
            </a:r>
            <a:fld id="{551BE614-DA6D-4456-BE20-51BD89DAA8F9}" type="slidenum">
              <a:rPr lang="en-GB" sz="1000">
                <a:solidFill>
                  <a:srgbClr val="8795A1"/>
                </a:solidFill>
                <a:latin typeface="Segoe UI"/>
              </a:rPr>
              <a:t>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415665"/>
          </a:xfrm>
          <a:prstGeom prst="roundRect">
            <a:avLst>
              <a:gd name="adj" fmla="val 2677"/>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415665"/>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Restrict the problem absurdly: arrays of exactly </a:t>
            </a:r>
            <a:r>
              <a:rPr sz="1900" b="0" i="1">
                <a:solidFill>
                  <a:srgbClr val="1C252B"/>
                </a:solidFill>
                <a:latin typeface="Cambria"/>
              </a:rPr>
              <a:t>n</a:t>
            </a:r>
            <a:r>
              <a:rPr sz="1900" b="0" i="0">
                <a:solidFill>
                  <a:srgbClr val="1C252B"/>
                </a:solidFill>
                <a:latin typeface="Segoe UI"/>
              </a:rPr>
              <a:t> elements, each value drawn from </a:t>
            </a:r>
            <a:r>
              <a:rPr sz="1900" b="0" i="0">
                <a:solidFill>
                  <a:srgbClr val="1C252B"/>
                </a:solidFill>
                <a:latin typeface="Cambria"/>
              </a:rPr>
              <a:t>0</a:t>
            </a:r>
            <a:r>
              <a:rPr sz="1900" b="0" i="0">
                <a:solidFill>
                  <a:srgbClr val="1C252B"/>
                </a:solidFill>
                <a:latin typeface="Segoe UI"/>
              </a:rPr>
              <a:t> to </a:t>
            </a:r>
            <a:r>
              <a:rPr sz="1900" b="0" i="0">
                <a:solidFill>
                  <a:srgbClr val="1C252B"/>
                </a:solidFill>
                <a:latin typeface="Cambria"/>
              </a:rPr>
              <a:t>99</a:t>
            </a:r>
            <a:r>
              <a:rPr sz="1900" b="0" i="0">
                <a:solidFill>
                  <a:srgbClr val="1C252B"/>
                </a:solidFill>
                <a:latin typeface="Segoe UI"/>
              </a:rPr>
              <a:t>. How many distinct sorted inputs must a binary search be tested against?</a:t>
            </a:r>
          </a:p>
        </p:txBody>
      </p:sp>
      <p:sp>
        <p:nvSpPr>
          <p:cNvPr id="10" name="body-1"/>
          <p:cNvSpPr txBox="1"/>
          <p:nvPr/>
        </p:nvSpPr>
        <p:spPr>
          <a:xfrm>
            <a:off x="1042416" y="2746679"/>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Step 1.</a:t>
            </a:r>
            <a:r>
              <a:rPr sz="1900" b="0" i="0">
                <a:solidFill>
                  <a:srgbClr val="1C252B"/>
                </a:solidFill>
                <a:latin typeface="Segoe UI"/>
              </a:rPr>
              <a:t> Only the multiset of values matters, so the count is the number of multisets of size </a:t>
            </a:r>
            <a:r>
              <a:rPr sz="1900" b="0" i="1">
                <a:solidFill>
                  <a:srgbClr val="1C252B"/>
                </a:solidFill>
                <a:latin typeface="Cambria"/>
              </a:rPr>
              <a:t>n</a:t>
            </a:r>
            <a:r>
              <a:rPr sz="1900" b="0" i="0">
                <a:solidFill>
                  <a:srgbClr val="1C252B"/>
                </a:solidFill>
                <a:latin typeface="Segoe UI"/>
              </a:rPr>
              <a:t> from an alphabet of </a:t>
            </a:r>
            <a:r>
              <a:rPr sz="1900" b="0" i="1">
                <a:solidFill>
                  <a:srgbClr val="1C252B"/>
                </a:solidFill>
                <a:latin typeface="Cambria"/>
              </a:rPr>
              <a:t>m</a:t>
            </a:r>
            <a:r>
              <a:rPr sz="1900" b="0" i="0">
                <a:solidFill>
                  <a:srgbClr val="1C252B"/>
                </a:solidFill>
                <a:latin typeface="Cambria"/>
              </a:rPr>
              <a:t> = 100</a:t>
            </a:r>
            <a:r>
              <a:rPr sz="1900" b="0" i="0">
                <a:solidFill>
                  <a:srgbClr val="1C252B"/>
                </a:solidFill>
                <a:latin typeface="Segoe UI"/>
              </a:rPr>
              <a:t>:</a:t>
            </a:r>
          </a:p>
        </p:txBody>
      </p:sp>
      <p:pic>
        <p:nvPicPr>
          <p:cNvPr id="11" name="body-2" descr="\binom{m + n - 1}{n}."/>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6" y="3481679"/>
            <a:ext cx="10234879" cy="662025"/>
          </a:xfrm>
          <a:prstGeom prst="rect">
            <a:avLst/>
          </a:prstGeom>
        </p:spPr>
      </p:pic>
      <p:sp>
        <p:nvSpPr>
          <p:cNvPr id="12" name="body-3"/>
          <p:cNvSpPr txBox="1"/>
          <p:nvPr/>
        </p:nvSpPr>
        <p:spPr>
          <a:xfrm>
            <a:off x="1042416" y="4276420"/>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Step 2.</a:t>
            </a:r>
            <a:r>
              <a:rPr sz="1900" b="0" i="0">
                <a:solidFill>
                  <a:srgbClr val="1C252B"/>
                </a:solidFill>
                <a:latin typeface="Segoe UI"/>
              </a:rPr>
              <a:t> Evaluated by </a:t>
            </a:r>
            <a:r>
              <a:rPr sz="1800" b="0" i="0">
                <a:solidFill>
                  <a:srgbClr val="1F4E79"/>
                </a:solidFill>
                <a:latin typeface="Consolas"/>
              </a:rPr>
              <a:t>code/ch04_invariant.cpp</a:t>
            </a:r>
            <a:r>
              <a:rPr sz="1900" b="0" i="0">
                <a:solidFill>
                  <a:srgbClr val="1C252B"/>
                </a:solidFill>
                <a:latin typeface="Segoe UI"/>
              </a:rPr>
              <a:t>, and each array must then be tried against all 100 possible keys:</a:t>
            </a:r>
          </a:p>
        </p:txBody>
      </p:sp>
      <p:sp>
        <p:nvSpPr>
          <p:cNvPr id="13" name="body-3bar">
            <a:extLst>
              <a:ext uri="{C183D7F6-B498-43B3-948B-1728B52AA6E4}">
                <adec:decorative xmlns:adec="http://schemas.microsoft.com/office/drawing/2017/decorative" val="1"/>
              </a:ext>
            </a:extLst>
          </p:cNvPr>
          <p:cNvSpPr/>
          <p:nvPr/>
        </p:nvSpPr>
        <p:spPr>
          <a:xfrm>
            <a:off x="841248" y="4294708"/>
            <a:ext cx="54864" cy="583996"/>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fill">
            <a:extLst>
              <a:ext uri="{C183D7F6-B498-43B3-948B-1728B52AA6E4}">
                <adec:decorative xmlns:adec="http://schemas.microsoft.com/office/drawing/2017/decorative" val="1"/>
              </a:ext>
            </a:extLst>
          </p:cNvPr>
          <p:cNvSpPr/>
          <p:nvPr/>
        </p:nvSpPr>
        <p:spPr>
          <a:xfrm>
            <a:off x="0" y="0"/>
            <a:ext cx="1641189"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wipe(right)">
                                      <p:cBhvr>
                                        <p:cTn id="18" dur="420"/>
                                        <p:tgtEl>
                                          <p:spTgt spid="13"/>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42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Counting What Exhaustive Testing Would Cost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  ·  Correctness: Loop Invariants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§4.1  ·  Handout p. 30     </a:t>
            </a:r>
            <a:fld id="{6F93A23A-4B0B-45CB-9D93-7AA3B20A739B}" type="slidenum">
              <a:rPr lang="en-GB" sz="1000">
                <a:solidFill>
                  <a:srgbClr val="8795A1"/>
                </a:solidFill>
                <a:latin typeface="Segoe UI"/>
              </a:rPr>
              <a:t>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270501"/>
          </a:xfrm>
          <a:prstGeom prst="roundRect">
            <a:avLst>
              <a:gd name="adj" fmla="val 2141"/>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270501"/>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graphicFrame>
        <p:nvGraphicFramePr>
          <p:cNvPr id="9" name="body-0"/>
          <p:cNvGraphicFramePr>
            <a:graphicFrameLocks noGrp="1"/>
          </p:cNvGraphicFramePr>
          <p:nvPr/>
        </p:nvGraphicFramePr>
        <p:xfrm>
          <a:off x="1042416" y="2011679"/>
          <a:ext cx="3171155" cy="1950720"/>
        </p:xfrm>
        <a:graphic>
          <a:graphicData uri="http://schemas.openxmlformats.org/drawingml/2006/table">
            <a:tbl>
              <a:tblPr firstRow="0" bandRow="0" firstCol="0" lastRow="0" lastCol="0" bandCol="0">
                <a:tableStyleId>{2D5ABB26-0587-4C30-8999-92F81FD0307C}</a:tableStyleId>
              </a:tblPr>
              <a:tblGrid>
                <a:gridCol w="530352"/>
                <a:gridCol w="1525397"/>
                <a:gridCol w="1115406"/>
              </a:tblGrid>
              <a:tr h="390144">
                <a:tc>
                  <a:txBody>
                    <a:bodyPr wrap="square"/>
                    <a:lstStyle/>
                    <a:p>
                      <a:pPr algn="r"/>
                      <a:r>
                        <a:rPr sz="1600" b="1" i="1">
                          <a:solidFill>
                            <a:srgbClr val="1A5276"/>
                          </a:solidFill>
                          <a:latin typeface="Cambria"/>
                        </a:rPr>
                        <a:t>n</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600" b="1" i="0">
                          <a:solidFill>
                            <a:srgbClr val="1A5276"/>
                          </a:solidFill>
                          <a:latin typeface="Segoe UI"/>
                        </a:rPr>
                        <a:t>sorted arrays</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600" b="1" i="0">
                          <a:solidFill>
                            <a:srgbClr val="1A5276"/>
                          </a:solidFill>
                          <a:latin typeface="Cambria"/>
                        </a:rPr>
                        <a:t>×</a:t>
                      </a:r>
                      <a:r>
                        <a:rPr sz="1600" b="1" i="0">
                          <a:solidFill>
                            <a:srgbClr val="1A5276"/>
                          </a:solidFill>
                          <a:latin typeface="Segoe UI"/>
                        </a:rPr>
                        <a:t> keys</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390144">
                <a:tc>
                  <a:txBody>
                    <a:bodyPr wrap="square"/>
                    <a:lstStyle/>
                    <a:p>
                      <a:pPr algn="r"/>
                      <a:r>
                        <a:rPr sz="1600" b="0" i="0">
                          <a:solidFill>
                            <a:srgbClr val="1C252B"/>
                          </a:solidFill>
                          <a:latin typeface="Segoe UI"/>
                        </a:rPr>
                        <a:t>4</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Cambria"/>
                        </a:rPr>
                        <a:t>4.42 × 10</a:t>
                      </a:r>
                      <a:r>
                        <a:rPr sz="1050" b="0" i="0" baseline="30000">
                          <a:solidFill>
                            <a:srgbClr val="1C252B"/>
                          </a:solidFill>
                          <a:latin typeface="Cambria"/>
                        </a:rPr>
                        <a:t>6</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Cambria"/>
                        </a:rPr>
                        <a:t>4.4 × 10</a:t>
                      </a:r>
                      <a:r>
                        <a:rPr sz="1050" b="0" i="0" baseline="30000">
                          <a:solidFill>
                            <a:srgbClr val="1C252B"/>
                          </a:solidFill>
                          <a:latin typeface="Cambria"/>
                        </a:rPr>
                        <a:t>8</a:t>
                      </a:r>
                      <a:endParaRPr sz="1600"/>
                    </a:p>
                  </a:txBody>
                  <a:tcPr marL="109728" marR="109728" marT="64008" marB="45720" anchor="t">
                    <a:lnL w="0" cmpd="sng">
                      <a:noFill/>
                    </a:lnL>
                    <a:lnR w="0" cmpd="sng">
                      <a:noFill/>
                    </a:lnR>
                    <a:lnT w="9525" cmpd="sng">
                      <a:noFill/>
                    </a:lnT>
                    <a:lnB w="9525" cmpd="sng">
                      <a:noFill/>
                    </a:lnB>
                    <a:solidFill>
                      <a:srgbClr val="FFFFFF"/>
                    </a:solidFill>
                  </a:tcPr>
                </a:tc>
              </a:tr>
              <a:tr h="390144">
                <a:tc>
                  <a:txBody>
                    <a:bodyPr wrap="square"/>
                    <a:lstStyle/>
                    <a:p>
                      <a:pPr algn="r"/>
                      <a:r>
                        <a:rPr sz="1600" b="0" i="0">
                          <a:solidFill>
                            <a:srgbClr val="1C252B"/>
                          </a:solidFill>
                          <a:latin typeface="Segoe UI"/>
                        </a:rPr>
                        <a:t>8</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600" b="0" i="0">
                          <a:solidFill>
                            <a:srgbClr val="1C252B"/>
                          </a:solidFill>
                          <a:latin typeface="Cambria"/>
                        </a:rPr>
                        <a:t>3.26 × 10</a:t>
                      </a:r>
                      <a:r>
                        <a:rPr sz="1050" b="0" i="0" baseline="30000">
                          <a:solidFill>
                            <a:srgbClr val="1C252B"/>
                          </a:solidFill>
                          <a:latin typeface="Cambria"/>
                        </a:rPr>
                        <a:t>11</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600" b="0" i="0">
                          <a:solidFill>
                            <a:srgbClr val="1C252B"/>
                          </a:solidFill>
                          <a:latin typeface="Cambria"/>
                        </a:rPr>
                        <a:t>3.3 × 10</a:t>
                      </a:r>
                      <a:r>
                        <a:rPr sz="1050" b="0" i="0" baseline="30000">
                          <a:solidFill>
                            <a:srgbClr val="1C252B"/>
                          </a:solidFill>
                          <a:latin typeface="Cambria"/>
                        </a:rPr>
                        <a:t>13</a:t>
                      </a:r>
                      <a:endParaRPr sz="1600"/>
                    </a:p>
                  </a:txBody>
                  <a:tcPr marL="109728" marR="109728" marT="64008" marB="45720" anchor="t">
                    <a:lnL w="0" cmpd="sng">
                      <a:noFill/>
                    </a:lnL>
                    <a:lnR w="0" cmpd="sng">
                      <a:noFill/>
                    </a:lnR>
                    <a:lnT w="9525" cmpd="sng">
                      <a:noFill/>
                    </a:lnT>
                    <a:lnB w="9525" cmpd="sng">
                      <a:noFill/>
                    </a:lnB>
                    <a:solidFill>
                      <a:srgbClr val="F2F8FC"/>
                    </a:solidFill>
                  </a:tcPr>
                </a:tc>
              </a:tr>
              <a:tr h="390144">
                <a:tc>
                  <a:txBody>
                    <a:bodyPr wrap="square"/>
                    <a:lstStyle/>
                    <a:p>
                      <a:pPr algn="r"/>
                      <a:r>
                        <a:rPr sz="1600" b="0" i="0">
                          <a:solidFill>
                            <a:srgbClr val="1C252B"/>
                          </a:solidFill>
                          <a:latin typeface="Segoe UI"/>
                        </a:rPr>
                        <a:t>16</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Cambria"/>
                        </a:rPr>
                        <a:t>1.50 × 10</a:t>
                      </a:r>
                      <a:r>
                        <a:rPr sz="1050" b="0" i="0" baseline="30000">
                          <a:solidFill>
                            <a:srgbClr val="1C252B"/>
                          </a:solidFill>
                          <a:latin typeface="Cambria"/>
                        </a:rPr>
                        <a:t>19</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Cambria"/>
                        </a:rPr>
                        <a:t>1.5 × 10</a:t>
                      </a:r>
                      <a:r>
                        <a:rPr sz="1050" b="0" i="0" baseline="30000">
                          <a:solidFill>
                            <a:srgbClr val="1C252B"/>
                          </a:solidFill>
                          <a:latin typeface="Cambria"/>
                        </a:rPr>
                        <a:t>21</a:t>
                      </a:r>
                      <a:endParaRPr sz="1600"/>
                    </a:p>
                  </a:txBody>
                  <a:tcPr marL="109728" marR="109728" marT="64008" marB="45720" anchor="t">
                    <a:lnL w="0" cmpd="sng">
                      <a:noFill/>
                    </a:lnL>
                    <a:lnR w="0" cmpd="sng">
                      <a:noFill/>
                    </a:lnR>
                    <a:lnT w="9525" cmpd="sng">
                      <a:noFill/>
                    </a:lnT>
                    <a:lnB w="9525" cmpd="sng">
                      <a:noFill/>
                    </a:lnB>
                    <a:solidFill>
                      <a:srgbClr val="FFFFFF"/>
                    </a:solidFill>
                  </a:tcPr>
                </a:tc>
              </a:tr>
              <a:tr h="390144">
                <a:tc>
                  <a:txBody>
                    <a:bodyPr wrap="square"/>
                    <a:lstStyle/>
                    <a:p>
                      <a:pPr algn="r"/>
                      <a:r>
                        <a:rPr sz="1600" b="0" i="0">
                          <a:solidFill>
                            <a:srgbClr val="1C252B"/>
                          </a:solidFill>
                          <a:latin typeface="Segoe UI"/>
                        </a:rPr>
                        <a:t>20</a:t>
                      </a:r>
                      <a:endParaRPr sz="16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r"/>
                      <a:r>
                        <a:rPr sz="1600" b="0" i="0">
                          <a:solidFill>
                            <a:srgbClr val="1C252B"/>
                          </a:solidFill>
                          <a:latin typeface="Cambria"/>
                        </a:rPr>
                        <a:t>2.46 × 10</a:t>
                      </a:r>
                      <a:r>
                        <a:rPr sz="1050" b="0" i="0" baseline="30000">
                          <a:solidFill>
                            <a:srgbClr val="1C252B"/>
                          </a:solidFill>
                          <a:latin typeface="Cambria"/>
                        </a:rPr>
                        <a:t>22</a:t>
                      </a:r>
                      <a:endParaRPr sz="16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r"/>
                      <a:r>
                        <a:rPr sz="1600" b="0" i="0">
                          <a:solidFill>
                            <a:srgbClr val="1C252B"/>
                          </a:solidFill>
                          <a:latin typeface="Cambria"/>
                        </a:rPr>
                        <a:t>2.5 × 10</a:t>
                      </a:r>
                      <a:r>
                        <a:rPr sz="1050" b="0" i="0" baseline="30000">
                          <a:solidFill>
                            <a:srgbClr val="1C252B"/>
                          </a:solidFill>
                          <a:latin typeface="Cambria"/>
                        </a:rPr>
                        <a:t>24</a:t>
                      </a:r>
                      <a:endParaRPr sz="16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r>
            </a:tbl>
          </a:graphicData>
        </a:graphic>
      </p:graphicFrame>
      <p:sp>
        <p:nvSpPr>
          <p:cNvPr id="10" name="body-1"/>
          <p:cNvSpPr txBox="1"/>
          <p:nvPr/>
        </p:nvSpPr>
        <p:spPr>
          <a:xfrm>
            <a:off x="1042416" y="4095114"/>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Step 3.</a:t>
            </a:r>
            <a:r>
              <a:rPr sz="1900" b="0" i="0">
                <a:solidFill>
                  <a:srgbClr val="1C252B"/>
                </a:solidFill>
                <a:latin typeface="Segoe UI"/>
              </a:rPr>
              <a:t> At a billion tests a second, the </a:t>
            </a:r>
            <a:r>
              <a:rPr sz="1900" b="0" i="1">
                <a:solidFill>
                  <a:srgbClr val="1C252B"/>
                </a:solidFill>
                <a:latin typeface="Cambria"/>
              </a:rPr>
              <a:t>n</a:t>
            </a:r>
            <a:r>
              <a:rPr sz="1900" b="0" i="0">
                <a:solidFill>
                  <a:srgbClr val="1C252B"/>
                </a:solidFill>
                <a:latin typeface="Cambria"/>
              </a:rPr>
              <a:t> = 20</a:t>
            </a:r>
            <a:r>
              <a:rPr sz="1900" b="0" i="0">
                <a:solidFill>
                  <a:srgbClr val="1C252B"/>
                </a:solidFill>
                <a:latin typeface="Segoe UI"/>
              </a:rPr>
              <a:t> row takes </a:t>
            </a:r>
            <a:r>
              <a:rPr sz="1900" b="0" i="0">
                <a:solidFill>
                  <a:srgbClr val="1C252B"/>
                </a:solidFill>
                <a:latin typeface="Cambria"/>
              </a:rPr>
              <a:t>2.5 × 10</a:t>
            </a:r>
            <a:r>
              <a:rPr sz="1250" b="0" i="0" baseline="30000">
                <a:solidFill>
                  <a:srgbClr val="1C252B"/>
                </a:solidFill>
                <a:latin typeface="Cambria"/>
              </a:rPr>
              <a:t>15</a:t>
            </a:r>
            <a:r>
              <a:rPr sz="1900" b="0" i="0">
                <a:solidFill>
                  <a:srgbClr val="1C252B"/>
                </a:solidFill>
                <a:latin typeface="Segoe UI"/>
              </a:rPr>
              <a:t> seconds — about </a:t>
            </a:r>
            <a:r>
              <a:rPr sz="1900" b="1" i="0">
                <a:solidFill>
                  <a:srgbClr val="1C252B"/>
                </a:solidFill>
                <a:latin typeface="Segoe UI"/>
              </a:rPr>
              <a:t>80 million years</a:t>
            </a:r>
            <a:r>
              <a:rPr sz="1900" b="0" i="0">
                <a:solidFill>
                  <a:srgbClr val="1C252B"/>
                </a:solidFill>
                <a:latin typeface="Segoe UI"/>
              </a:rPr>
              <a:t>. And that is for arrays of twenty elements holding two-digit numbers.</a:t>
            </a:r>
          </a:p>
        </p:txBody>
      </p:sp>
      <p:sp>
        <p:nvSpPr>
          <p:cNvPr id="11" name="body-1bar">
            <a:extLst>
              <a:ext uri="{C183D7F6-B498-43B3-948B-1728B52AA6E4}">
                <adec:decorative xmlns:adec="http://schemas.microsoft.com/office/drawing/2017/decorative" val="1"/>
              </a:ext>
            </a:extLst>
          </p:cNvPr>
          <p:cNvSpPr/>
          <p:nvPr/>
        </p:nvSpPr>
        <p:spPr>
          <a:xfrm>
            <a:off x="841248" y="4113402"/>
            <a:ext cx="54864" cy="583996"/>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body-2"/>
          <p:cNvSpPr txBox="1"/>
          <p:nvPr/>
        </p:nvSpPr>
        <p:spPr>
          <a:xfrm>
            <a:off x="1042416" y="4830114"/>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Step 4 — the conclusion.</a:t>
            </a:r>
            <a:r>
              <a:rPr sz="1900" b="0" i="0">
                <a:solidFill>
                  <a:srgbClr val="1C252B"/>
                </a:solidFill>
                <a:latin typeface="Segoe UI"/>
              </a:rPr>
              <a:t> Testing samples the input space; it cannot cover it. A proof covers it, in half a page, for every </a:t>
            </a:r>
            <a:r>
              <a:rPr sz="1900" b="0" i="1">
                <a:solidFill>
                  <a:srgbClr val="1C252B"/>
                </a:solidFill>
                <a:latin typeface="Cambria"/>
              </a:rPr>
              <a:t>n</a:t>
            </a:r>
            <a:r>
              <a:rPr sz="1900" b="0" i="0">
                <a:solidFill>
                  <a:srgbClr val="1C252B"/>
                </a:solidFill>
                <a:latin typeface="Segoe UI"/>
              </a:rPr>
              <a:t> and every alphabet at once. The two activities answer different questions, and this chapter is about the one testing cannot answer.</a:t>
            </a:r>
          </a:p>
        </p:txBody>
      </p:sp>
      <p:sp>
        <p:nvSpPr>
          <p:cNvPr id="13" name="body-2bar">
            <a:extLst>
              <a:ext uri="{C183D7F6-B498-43B3-948B-1728B52AA6E4}">
                <adec:decorative xmlns:adec="http://schemas.microsoft.com/office/drawing/2017/decorative" val="1"/>
              </a:ext>
            </a:extLst>
          </p:cNvPr>
          <p:cNvSpPr/>
          <p:nvPr/>
        </p:nvSpPr>
        <p:spPr>
          <a:xfrm>
            <a:off x="841248" y="4848402"/>
            <a:ext cx="54864" cy="88513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pfill">
            <a:extLst>
              <a:ext uri="{C183D7F6-B498-43B3-948B-1728B52AA6E4}">
                <adec:decorative xmlns:adec="http://schemas.microsoft.com/office/drawing/2017/decorative" val="1"/>
              </a:ext>
            </a:extLst>
          </p:cNvPr>
          <p:cNvSpPr/>
          <p:nvPr/>
        </p:nvSpPr>
        <p:spPr>
          <a:xfrm>
            <a:off x="0" y="0"/>
            <a:ext cx="1875645"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wipe(right)">
                                      <p:cBhvr>
                                        <p:cTn id="8" dur="420"/>
                                        <p:tgtEl>
                                          <p:spTgt spid="9"/>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20"/>
                                        <p:tgtEl>
                                          <p:spTgt spid="10"/>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wipe(right)">
                                      <p:cBhvr>
                                        <p:cTn id="21" dur="42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2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testing is still for</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  ·  Correctness: Loop Invariants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§4.1  ·  Handout p. 30     </a:t>
            </a:r>
            <a:fld id="{ADE74E99-D6BE-4505-968D-85750C2C97EE}" type="slidenum">
              <a:rPr lang="en-GB" sz="1000">
                <a:solidFill>
                  <a:srgbClr val="8795A1"/>
                </a:solidFill>
                <a:latin typeface="Segoe UI"/>
              </a:rPr>
              <a:t>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334232"/>
          </a:xfrm>
          <a:prstGeom prst="roundRect">
            <a:avLst>
              <a:gd name="adj" fmla="val 2742"/>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334232"/>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None of this says do not test. A proof establishes that the </a:t>
            </a:r>
            <a:r>
              <a:rPr sz="2300" b="0" i="1">
                <a:solidFill>
                  <a:srgbClr val="1C252B"/>
                </a:solidFill>
                <a:latin typeface="Segoe UI"/>
              </a:rPr>
              <a:t>algorithm</a:t>
            </a:r>
            <a:r>
              <a:rPr sz="2300" b="0" i="0">
                <a:solidFill>
                  <a:srgbClr val="1C252B"/>
                </a:solidFill>
                <a:latin typeface="Segoe UI"/>
              </a:rPr>
              <a:t> is correct; it says nothing about whether your </a:t>
            </a:r>
            <a:r>
              <a:rPr sz="2300" b="0" i="1">
                <a:solidFill>
                  <a:srgbClr val="1C252B"/>
                </a:solidFill>
                <a:latin typeface="Segoe UI"/>
              </a:rPr>
              <a:t>program</a:t>
            </a:r>
            <a:r>
              <a:rPr sz="2300" b="0" i="0">
                <a:solidFill>
                  <a:srgbClr val="1C252B"/>
                </a:solidFill>
                <a:latin typeface="Segoe UI"/>
              </a:rPr>
              <a:t> implements that algorithm, which is where most real defects live — an off-by-one in a loop bound, a wrong variable name, an integer overflow the model ignored.</a:t>
            </a:r>
          </a:p>
        </p:txBody>
      </p:sp>
      <p:sp>
        <p:nvSpPr>
          <p:cNvPr id="10" name="body-1"/>
          <p:cNvSpPr txBox="1"/>
          <p:nvPr/>
        </p:nvSpPr>
        <p:spPr>
          <a:xfrm>
            <a:off x="1060704" y="3667074"/>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Proof and testing catch disjoint classes of bug. The lab in this chapter contains a defect that </a:t>
            </a:r>
            <a:r>
              <a:rPr sz="2300" b="0" i="1">
                <a:solidFill>
                  <a:srgbClr val="1C252B"/>
                </a:solidFill>
                <a:latin typeface="Segoe UI"/>
              </a:rPr>
              <a:t>testing found in a third of its trials and a careless proof would have missed</a:t>
            </a:r>
            <a:r>
              <a:rPr sz="2300" b="0" i="0">
                <a:solidFill>
                  <a:srgbClr val="1C252B"/>
                </a:solidFill>
                <a:latin typeface="Segoe UI"/>
              </a:rPr>
              <a:t>, and Chapter 16’s lab contains the reverse. Use both.</a:t>
            </a:r>
          </a:p>
        </p:txBody>
      </p:sp>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211010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The Loop Invariant</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ACBD6"/>
                </a:solidFill>
                <a:latin typeface="Segoe UI"/>
              </a:rPr>
              <a:t>SECTION 2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4.2</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4.1   Why Testing Is Not Enough</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A5276"/>
                </a:solidFill>
                <a:latin typeface="Segoe UI"/>
              </a:rPr>
              <a:t>4.2   The Loop Invariant</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4.3   Insertion Sort, Proved</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4.4   Binary Search, Where the Invariant Is About Exclusion</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4.5   Termination: The Obligation People Skip</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4.6   A Loop Whose Invariant Holds and Which Never Finishes</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§4.2     </a:t>
            </a:r>
            <a:fld id="{12EBBBDF-F78D-4981-A7B4-DA3640DDC4E5}" type="slidenum">
              <a:rPr lang="en-GB" sz="1000">
                <a:solidFill>
                  <a:srgbClr val="8795A1"/>
                </a:solidFill>
                <a:latin typeface="Segoe UI"/>
              </a:rPr>
              <a:t>10</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2344556"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Loop Invariant</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  ·  Correctness: Loop Invariants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§4.2  ·  Handout p. 31     </a:t>
            </a:r>
            <a:fld id="{7E57390A-6B69-4635-9605-7821966E8A0B}" type="slidenum">
              <a:rPr lang="en-GB" sz="1000">
                <a:solidFill>
                  <a:srgbClr val="8795A1"/>
                </a:solidFill>
                <a:latin typeface="Segoe UI"/>
              </a:rPr>
              <a:t>11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28439"/>
          </a:xfrm>
          <a:prstGeom prst="roundRect">
            <a:avLst>
              <a:gd name="adj" fmla="val 2064"/>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28439"/>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 </a:t>
            </a:r>
            <a:r>
              <a:rPr sz="2300" b="1" i="0">
                <a:solidFill>
                  <a:srgbClr val="1A5276"/>
                </a:solidFill>
                <a:latin typeface="Segoe UI"/>
              </a:rPr>
              <a:t>loop invariant</a:t>
            </a:r>
            <a:r>
              <a:rPr sz="2300" b="0" i="0">
                <a:solidFill>
                  <a:srgbClr val="1C252B"/>
                </a:solidFill>
                <a:latin typeface="Segoe UI"/>
              </a:rPr>
              <a:t> is an assertion about the program’s state that is true immediately before the loop’s first iteration and immediately before every subsequent one.</a:t>
            </a:r>
          </a:p>
        </p:txBody>
      </p:sp>
      <p:sp>
        <p:nvSpPr>
          <p:cNvPr id="10" name="body-1"/>
          <p:cNvSpPr txBox="1"/>
          <p:nvPr/>
        </p:nvSpPr>
        <p:spPr>
          <a:xfrm>
            <a:off x="1060704" y="3302533"/>
            <a:ext cx="10161727" cy="410260"/>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 proof by loop invariant has </a:t>
            </a:r>
            <a:r>
              <a:rPr sz="2300" b="1" i="0">
                <a:solidFill>
                  <a:srgbClr val="1C252B"/>
                </a:solidFill>
                <a:latin typeface="Segoe UI"/>
              </a:rPr>
              <a:t>three obligations</a:t>
            </a:r>
            <a:r>
              <a:rPr sz="2300" b="0" i="0">
                <a:solidFill>
                  <a:srgbClr val="1C252B"/>
                </a:solidFill>
                <a:latin typeface="Segoe UI"/>
              </a:rPr>
              <a:t>:</a:t>
            </a:r>
          </a:p>
        </p:txBody>
      </p:sp>
      <p:sp>
        <p:nvSpPr>
          <p:cNvPr id="11" name="body-2"/>
          <p:cNvSpPr txBox="1"/>
          <p:nvPr/>
        </p:nvSpPr>
        <p:spPr>
          <a:xfrm>
            <a:off x="1060704" y="3827729"/>
            <a:ext cx="10161727" cy="2072893"/>
          </a:xfrm>
          <a:prstGeom prst="rect">
            <a:avLst/>
          </a:prstGeom>
          <a:noFill/>
        </p:spPr>
        <p:txBody>
          <a:bodyPr wrap="square" anchor="t" lIns="0" rIns="0" tIns="0" bIns="0">
            <a:noAutofit/>
          </a:bodyPr>
          <a:lstStyle/>
          <a:p>
            <a:pPr algn="l" marL="554820" indent="-554820">
              <a:lnSpc>
                <a:spcPct val="104000"/>
              </a:lnSpc>
              <a:spcBef>
                <a:spcPts val="0"/>
              </a:spcBef>
              <a:spcAft>
                <a:spcPts val="804"/>
              </a:spcAft>
            </a:pPr>
            <a:r>
              <a:rPr sz="2300" b="1">
                <a:solidFill>
                  <a:srgbClr val="8A4500"/>
                </a:solidFill>
                <a:latin typeface="Segoe UI"/>
              </a:rPr>
              <a:t>1.	</a:t>
            </a:r>
            <a:r>
              <a:rPr sz="2300" b="1" i="0">
                <a:solidFill>
                  <a:srgbClr val="8A4500"/>
                </a:solidFill>
                <a:latin typeface="Segoe UI"/>
              </a:rPr>
              <a:t>Initialisation.</a:t>
            </a:r>
            <a:r>
              <a:rPr sz="2300" b="0" i="0">
                <a:solidFill>
                  <a:srgbClr val="1C252B"/>
                </a:solidFill>
                <a:latin typeface="Segoe UI"/>
              </a:rPr>
              <a:t> The invariant is true before the first iteration.</a:t>
            </a:r>
          </a:p>
          <a:p>
            <a:pPr algn="l" marL="554820" indent="-554820">
              <a:lnSpc>
                <a:spcPct val="104000"/>
              </a:lnSpc>
              <a:spcBef>
                <a:spcPts val="0"/>
              </a:spcBef>
              <a:spcAft>
                <a:spcPts val="804"/>
              </a:spcAft>
            </a:pPr>
            <a:r>
              <a:rPr sz="2300" b="1">
                <a:solidFill>
                  <a:srgbClr val="8A4500"/>
                </a:solidFill>
                <a:latin typeface="Segoe UI"/>
              </a:rPr>
              <a:t>2.	</a:t>
            </a:r>
            <a:r>
              <a:rPr sz="2300" b="1" i="0">
                <a:solidFill>
                  <a:srgbClr val="8A4500"/>
                </a:solidFill>
                <a:latin typeface="Segoe UI"/>
              </a:rPr>
              <a:t>Maintenance.</a:t>
            </a:r>
            <a:r>
              <a:rPr sz="2300" b="0" i="0">
                <a:solidFill>
                  <a:srgbClr val="1C252B"/>
                </a:solidFill>
                <a:latin typeface="Segoe UI"/>
              </a:rPr>
              <a:t> If it is true before an iteration, it is true before the next one.</a:t>
            </a:r>
          </a:p>
          <a:p>
            <a:pPr algn="l" marL="554820" indent="-554820">
              <a:lnSpc>
                <a:spcPct val="104000"/>
              </a:lnSpc>
              <a:spcBef>
                <a:spcPts val="0"/>
              </a:spcBef>
              <a:spcAft>
                <a:spcPts val="0"/>
              </a:spcAft>
            </a:pPr>
            <a:r>
              <a:rPr sz="2300" b="1">
                <a:solidFill>
                  <a:srgbClr val="8A4500"/>
                </a:solidFill>
                <a:latin typeface="Segoe UI"/>
              </a:rPr>
              <a:t>3.	</a:t>
            </a:r>
            <a:r>
              <a:rPr sz="2300" b="1" i="0">
                <a:solidFill>
                  <a:srgbClr val="8A4500"/>
                </a:solidFill>
                <a:latin typeface="Segoe UI"/>
              </a:rPr>
              <a:t>Termination.</a:t>
            </a:r>
            <a:r>
              <a:rPr sz="2300" b="0" i="0">
                <a:solidFill>
                  <a:srgbClr val="1C252B"/>
                </a:solidFill>
                <a:latin typeface="Segoe UI"/>
              </a:rPr>
              <a:t> The loop ends, and when it does the invariant — together with the reason the loop stopped — gives the result you wanted.</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2579012"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11">
                                            <p:txEl>
                                              <p:pRg st="0" end="0"/>
                                            </p:txEl>
                                          </p:spTgt>
                                        </p:tgtEl>
                                        <p:attrNameLst>
                                          <p:attrName>style.visibility</p:attrName>
                                        </p:attrNameLst>
                                      </p:cBhvr>
                                      <p:to>
                                        <p:strVal val="visible"/>
                                      </p:to>
                                    </p:set>
                                    <p:animEffect transition="in" filter="fade">
                                      <p:cBhvr>
                                        <p:cTn id="8" dur="380"/>
                                        <p:tgtEl>
                                          <p:spTgt spid="11">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1">
                                            <p:txEl>
                                              <p:pRg st="1" end="1"/>
                                            </p:txEl>
                                          </p:spTgt>
                                        </p:tgtEl>
                                        <p:attrNameLst>
                                          <p:attrName>style.visibility</p:attrName>
                                        </p:attrNameLst>
                                      </p:cBhvr>
                                      <p:to>
                                        <p:strVal val="visible"/>
                                      </p:to>
                                    </p:set>
                                    <p:animEffect transition="in" filter="fade">
                                      <p:cBhvr>
                                        <p:cTn id="13" dur="380"/>
                                        <p:tgtEl>
                                          <p:spTgt spid="11">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1">
                                            <p:txEl>
                                              <p:pRg st="2" end="2"/>
                                            </p:txEl>
                                          </p:spTgt>
                                        </p:tgtEl>
                                        <p:attrNameLst>
                                          <p:attrName>style.visibility</p:attrName>
                                        </p:attrNameLst>
                                      </p:cBhvr>
                                      <p:to>
                                        <p:strVal val="visible"/>
                                      </p:to>
                                    </p:set>
                                    <p:animEffect transition="in" filter="fade">
                                      <p:cBhvr>
                                        <p:cTn id="18" dur="380"/>
                                        <p:tgtEl>
                                          <p:spTgt spid="11">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uild="p"/>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It is induction, wearing different clothes</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  ·  Correctness: Loop Invariants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§4.2  ·  Handout p. 31     </a:t>
            </a:r>
            <a:fld id="{977472CC-5F1A-4674-A024-06D34C0EF2F2}" type="slidenum">
              <a:rPr lang="en-GB" sz="1000">
                <a:solidFill>
                  <a:srgbClr val="8795A1"/>
                </a:solidFill>
                <a:latin typeface="Segoe UI"/>
              </a:rPr>
              <a:t>12</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92802"/>
          </a:xfrm>
          <a:prstGeom prst="roundRect">
            <a:avLst>
              <a:gd name="adj" fmla="val 2035"/>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92802"/>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graphicFrame>
        <p:nvGraphicFramePr>
          <p:cNvPr id="9" name="body-0"/>
          <p:cNvGraphicFramePr>
            <a:graphicFrameLocks noGrp="1"/>
          </p:cNvGraphicFramePr>
          <p:nvPr/>
        </p:nvGraphicFramePr>
        <p:xfrm>
          <a:off x="1060704" y="2048255"/>
          <a:ext cx="10161725" cy="2322575"/>
        </p:xfrm>
        <a:graphic>
          <a:graphicData uri="http://schemas.openxmlformats.org/drawingml/2006/table">
            <a:tbl>
              <a:tblPr firstRow="0" bandRow="0" firstCol="0" lastRow="0" lastCol="0" bandCol="0">
                <a:tableStyleId>{2D5ABB26-0587-4C30-8999-92F81FD0307C}</a:tableStyleId>
              </a:tblPr>
              <a:tblGrid>
                <a:gridCol w="2903350"/>
                <a:gridCol w="2903350"/>
                <a:gridCol w="4355025"/>
              </a:tblGrid>
              <a:tr h="435864">
                <a:tc>
                  <a:txBody>
                    <a:bodyPr wrap="square"/>
                    <a:lstStyle/>
                    <a:p>
                      <a:pPr algn="l"/>
                      <a:r>
                        <a:rPr sz="1900" b="1" i="0">
                          <a:solidFill>
                            <a:srgbClr val="1A5276"/>
                          </a:solidFill>
                          <a:latin typeface="Segoe UI"/>
                        </a:rPr>
                        <a:t>Invariant proof</a:t>
                      </a:r>
                      <a:endParaRPr sz="19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900" b="1" i="0">
                          <a:solidFill>
                            <a:srgbClr val="1A5276"/>
                          </a:solidFill>
                          <a:latin typeface="Segoe UI"/>
                        </a:rPr>
                        <a:t>Induction</a:t>
                      </a:r>
                      <a:endParaRPr sz="19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900" b="1" i="0">
                          <a:solidFill>
                            <a:srgbClr val="1A5276"/>
                          </a:solidFill>
                          <a:latin typeface="Segoe UI"/>
                        </a:rPr>
                        <a:t>On what</a:t>
                      </a:r>
                      <a:endParaRPr sz="19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435864">
                <a:tc>
                  <a:txBody>
                    <a:bodyPr wrap="square"/>
                    <a:lstStyle/>
                    <a:p>
                      <a:pPr algn="l"/>
                      <a:r>
                        <a:rPr sz="1900" b="0" i="0">
                          <a:solidFill>
                            <a:srgbClr val="1C252B"/>
                          </a:solidFill>
                          <a:latin typeface="Segoe UI"/>
                        </a:rPr>
                        <a:t>initialisation</a:t>
                      </a:r>
                      <a:endParaRPr sz="19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900" b="0" i="0">
                          <a:solidFill>
                            <a:srgbClr val="1C252B"/>
                          </a:solidFill>
                          <a:latin typeface="Segoe UI"/>
                        </a:rPr>
                        <a:t>base case</a:t>
                      </a:r>
                      <a:endParaRPr sz="19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900" b="0" i="0">
                          <a:solidFill>
                            <a:srgbClr val="1C252B"/>
                          </a:solidFill>
                          <a:latin typeface="Segoe UI"/>
                        </a:rPr>
                        <a:t>the loop has run 0 times</a:t>
                      </a:r>
                      <a:endParaRPr sz="1900"/>
                    </a:p>
                  </a:txBody>
                  <a:tcPr marL="109728" marR="109728" marT="64008" marB="45720" anchor="t">
                    <a:lnL w="0" cmpd="sng">
                      <a:noFill/>
                    </a:lnL>
                    <a:lnR w="0" cmpd="sng">
                      <a:noFill/>
                    </a:lnR>
                    <a:lnT w="9525" cmpd="sng">
                      <a:noFill/>
                    </a:lnT>
                    <a:lnB w="9525" cmpd="sng">
                      <a:noFill/>
                    </a:lnB>
                    <a:solidFill>
                      <a:srgbClr val="FFFFFF"/>
                    </a:solidFill>
                  </a:tcPr>
                </a:tc>
              </a:tr>
              <a:tr h="435864">
                <a:tc>
                  <a:txBody>
                    <a:bodyPr wrap="square"/>
                    <a:lstStyle/>
                    <a:p>
                      <a:pPr algn="l"/>
                      <a:r>
                        <a:rPr sz="1900" b="0" i="0">
                          <a:solidFill>
                            <a:srgbClr val="1C252B"/>
                          </a:solidFill>
                          <a:latin typeface="Segoe UI"/>
                        </a:rPr>
                        <a:t>maintenance</a:t>
                      </a:r>
                      <a:endParaRPr sz="19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900" b="0" i="0">
                          <a:solidFill>
                            <a:srgbClr val="1C252B"/>
                          </a:solidFill>
                          <a:latin typeface="Segoe UI"/>
                        </a:rPr>
                        <a:t>inductive step</a:t>
                      </a:r>
                      <a:endParaRPr sz="19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900" b="0" i="0">
                          <a:solidFill>
                            <a:srgbClr val="1C252B"/>
                          </a:solidFill>
                          <a:latin typeface="Segoe UI"/>
                        </a:rPr>
                        <a:t>assume after </a:t>
                      </a:r>
                      <a:r>
                        <a:rPr sz="1900" b="0" i="1">
                          <a:solidFill>
                            <a:srgbClr val="1C252B"/>
                          </a:solidFill>
                          <a:latin typeface="Cambria"/>
                        </a:rPr>
                        <a:t>k</a:t>
                      </a:r>
                      <a:r>
                        <a:rPr sz="1900" b="0" i="0">
                          <a:solidFill>
                            <a:srgbClr val="1C252B"/>
                          </a:solidFill>
                          <a:latin typeface="Segoe UI"/>
                        </a:rPr>
                        <a:t>, show after </a:t>
                      </a:r>
                      <a:r>
                        <a:rPr sz="1900" b="0" i="1">
                          <a:solidFill>
                            <a:srgbClr val="1C252B"/>
                          </a:solidFill>
                          <a:latin typeface="Cambria"/>
                        </a:rPr>
                        <a:t>k</a:t>
                      </a:r>
                      <a:r>
                        <a:rPr sz="1900" b="0" i="0">
                          <a:solidFill>
                            <a:srgbClr val="1C252B"/>
                          </a:solidFill>
                          <a:latin typeface="Cambria"/>
                        </a:rPr>
                        <a:t>+1</a:t>
                      </a:r>
                      <a:endParaRPr sz="1900"/>
                    </a:p>
                  </a:txBody>
                  <a:tcPr marL="109728" marR="109728" marT="64008" marB="45720" anchor="t">
                    <a:lnL w="0" cmpd="sng">
                      <a:noFill/>
                    </a:lnL>
                    <a:lnR w="0" cmpd="sng">
                      <a:noFill/>
                    </a:lnR>
                    <a:lnT w="9525" cmpd="sng">
                      <a:noFill/>
                    </a:lnT>
                    <a:lnB w="9525" cmpd="sng">
                      <a:noFill/>
                    </a:lnB>
                    <a:solidFill>
                      <a:srgbClr val="F2F8FC"/>
                    </a:solidFill>
                  </a:tcPr>
                </a:tc>
              </a:tr>
              <a:tr h="1014983">
                <a:tc>
                  <a:txBody>
                    <a:bodyPr wrap="square"/>
                    <a:lstStyle/>
                    <a:p>
                      <a:pPr algn="l"/>
                      <a:r>
                        <a:rPr sz="1900" b="0" i="0">
                          <a:solidFill>
                            <a:srgbClr val="1C252B"/>
                          </a:solidFill>
                          <a:latin typeface="Segoe UI"/>
                        </a:rPr>
                        <a:t>termination</a:t>
                      </a:r>
                      <a:endParaRPr sz="19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900" b="0" i="0">
                          <a:solidFill>
                            <a:srgbClr val="1C252B"/>
                          </a:solidFill>
                          <a:latin typeface="Segoe UI"/>
                        </a:rPr>
                        <a:t>—</a:t>
                      </a:r>
                      <a:endParaRPr sz="19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900" b="0" i="0">
                          <a:solidFill>
                            <a:srgbClr val="1C252B"/>
                          </a:solidFill>
                          <a:latin typeface="Segoe UI"/>
                        </a:rPr>
                        <a:t>no counterpart: induction proves a property for all </a:t>
                      </a:r>
                      <a:r>
                        <a:rPr sz="1900" b="0" i="1">
                          <a:solidFill>
                            <a:srgbClr val="1C252B"/>
                          </a:solidFill>
                          <a:latin typeface="Cambria"/>
                        </a:rPr>
                        <a:t>k</a:t>
                      </a:r>
                      <a:r>
                        <a:rPr sz="1900" b="0" i="0">
                          <a:solidFill>
                            <a:srgbClr val="1C252B"/>
                          </a:solidFill>
                          <a:latin typeface="Segoe UI"/>
                        </a:rPr>
                        <a:t>, and says nothing about the loop stopping</a:t>
                      </a:r>
                      <a:endParaRPr sz="19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r>
            </a:tbl>
          </a:graphicData>
        </a:graphic>
      </p:graphicFrame>
      <p:sp>
        <p:nvSpPr>
          <p:cNvPr id="10" name="body-1"/>
          <p:cNvSpPr txBox="1"/>
          <p:nvPr/>
        </p:nvSpPr>
        <p:spPr>
          <a:xfrm>
            <a:off x="1060704" y="4524502"/>
            <a:ext cx="10161727" cy="1440484"/>
          </a:xfrm>
          <a:prstGeom prst="rect">
            <a:avLst/>
          </a:prstGeom>
          <a:noFill/>
        </p:spPr>
        <p:txBody>
          <a:bodyPr wrap="square" anchor="t" lIns="0" rIns="0" tIns="0" bIns="0">
            <a:noAutofit/>
          </a:bodyPr>
          <a:lstStyle/>
          <a:p>
            <a:pPr algn="l">
              <a:lnSpc>
                <a:spcPct val="104000"/>
              </a:lnSpc>
              <a:spcBef>
                <a:spcPts val="0"/>
              </a:spcBef>
              <a:spcAft>
                <a:spcPts val="0"/>
              </a:spcAft>
            </a:pPr>
            <a:r>
              <a:rPr sz="2200" b="1" i="0">
                <a:solidFill>
                  <a:srgbClr val="1F618D"/>
                </a:solidFill>
                <a:latin typeface="Segoe UI"/>
              </a:rPr>
              <a:t>The missing row is the whole point of Section 4.5.</a:t>
            </a:r>
            <a:r>
              <a:rPr sz="2200" b="0" i="0">
                <a:solidFill>
                  <a:srgbClr val="1C252B"/>
                </a:solidFill>
                <a:latin typeface="Segoe UI"/>
              </a:rPr>
              <a:t> Induction on the iteration count gives you “the invariant holds after every iteration that happens”. Whether any particular iteration happens is a different question, and nothing in the first two obligations answers it.</a:t>
            </a:r>
          </a:p>
        </p:txBody>
      </p:sp>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2813468"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Partial and Total Correctness</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  ·  Correctness: Loop Invariants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§4.2  ·  Handout p. 31     </a:t>
            </a:r>
            <a:fld id="{388CBEE9-F259-47D5-9D73-B192614EFA3D}" type="slidenum">
              <a:rPr lang="en-GB" sz="1000">
                <a:solidFill>
                  <a:srgbClr val="8795A1"/>
                </a:solidFill>
                <a:latin typeface="Segoe UI"/>
              </a:rPr>
              <a:t>13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494887"/>
          </a:xfrm>
          <a:prstGeom prst="roundRect">
            <a:avLst>
              <a:gd name="adj" fmla="val 2616"/>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494887"/>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An algorithm is </a:t>
            </a:r>
            <a:r>
              <a:rPr sz="2300" b="1" i="0">
                <a:solidFill>
                  <a:srgbClr val="1A5276"/>
                </a:solidFill>
                <a:latin typeface="Segoe UI"/>
              </a:rPr>
              <a:t>partially correct</a:t>
            </a:r>
            <a:r>
              <a:rPr sz="2300" b="0" i="0">
                <a:solidFill>
                  <a:srgbClr val="1C252B"/>
                </a:solidFill>
                <a:latin typeface="Segoe UI"/>
              </a:rPr>
              <a:t> if, </a:t>
            </a:r>
            <a:r>
              <a:rPr sz="2300" b="0" i="1">
                <a:solidFill>
                  <a:srgbClr val="1C252B"/>
                </a:solidFill>
                <a:latin typeface="Segoe UI"/>
              </a:rPr>
              <a:t>whenever it halts</a:t>
            </a:r>
            <a:r>
              <a:rPr sz="2300" b="0" i="0">
                <a:solidFill>
                  <a:srgbClr val="1C252B"/>
                </a:solidFill>
                <a:latin typeface="Segoe UI"/>
              </a:rPr>
              <a:t>, its output satisfies the postcondition.</a:t>
            </a:r>
          </a:p>
        </p:txBody>
      </p:sp>
      <p:sp>
        <p:nvSpPr>
          <p:cNvPr id="10" name="body-1"/>
          <p:cNvSpPr txBox="1"/>
          <p:nvPr/>
        </p:nvSpPr>
        <p:spPr>
          <a:xfrm>
            <a:off x="1060704" y="2937992"/>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It is </a:t>
            </a:r>
            <a:r>
              <a:rPr sz="2300" b="1" i="0">
                <a:solidFill>
                  <a:srgbClr val="1A5276"/>
                </a:solidFill>
                <a:latin typeface="Segoe UI"/>
              </a:rPr>
              <a:t>totally correct</a:t>
            </a:r>
            <a:r>
              <a:rPr sz="2300" b="0" i="0">
                <a:solidFill>
                  <a:srgbClr val="1C252B"/>
                </a:solidFill>
                <a:latin typeface="Segoe UI"/>
              </a:rPr>
              <a:t> if it is partially correct </a:t>
            </a:r>
            <a:r>
              <a:rPr sz="2300" b="0" i="1">
                <a:solidFill>
                  <a:srgbClr val="1C252B"/>
                </a:solidFill>
                <a:latin typeface="Segoe UI"/>
              </a:rPr>
              <a:t>and</a:t>
            </a:r>
            <a:r>
              <a:rPr sz="2300" b="0" i="0">
                <a:solidFill>
                  <a:srgbClr val="1C252B"/>
                </a:solidFill>
                <a:latin typeface="Segoe UI"/>
              </a:rPr>
              <a:t> halts on every input satisfying the precondition.</a:t>
            </a:r>
          </a:p>
        </p:txBody>
      </p:sp>
      <p:sp>
        <p:nvSpPr>
          <p:cNvPr id="11" name="body-2"/>
          <p:cNvSpPr txBox="1"/>
          <p:nvPr/>
        </p:nvSpPr>
        <p:spPr>
          <a:xfrm>
            <a:off x="1060704" y="3827729"/>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Initialisation and maintenance establish partial correctness. Termination is what upgrades it, and Section 4.6 measures a program that has the first and not the second.</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304792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Insertion Sort, Proved</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ACBD6"/>
                </a:solidFill>
                <a:latin typeface="Segoe UI"/>
              </a:rPr>
              <a:t>SECTION 3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4.3</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4.1   Why Testing Is Not Enough</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4.2   The Loop Invariant</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A5276"/>
                </a:solidFill>
                <a:latin typeface="Segoe UI"/>
              </a:rPr>
              <a:t>4.3   Insertion Sort, Proved</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4.4   Binary Search, Where the Invariant Is About Exclusion</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4.5   Termination: The Obligation People Skip</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4.6   A Loop Whose Invariant Holds and Which Never Finishes</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§4.3     </a:t>
            </a:r>
            <a:fld id="{9784503F-414F-4138-A3D0-202BE7E320C7}" type="slidenum">
              <a:rPr lang="en-GB" sz="1000">
                <a:solidFill>
                  <a:srgbClr val="8795A1"/>
                </a:solidFill>
                <a:latin typeface="Segoe UI"/>
              </a:rPr>
              <a:t>14</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3282379"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Insertion-Sort</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FIGURE 4.1</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  ·  Correctness: Loop Invariants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§4.3  ·  Handout p. 32     </a:t>
            </a:r>
            <a:fld id="{17A359BA-BB83-47F1-B6F8-838C477000E6}" type="slidenum">
              <a:rPr lang="en-GB" sz="1000">
                <a:solidFill>
                  <a:srgbClr val="8795A1"/>
                </a:solidFill>
                <a:latin typeface="Segoe UI"/>
              </a:rPr>
              <a:t>15</a:t>
            </a:fld>
          </a:p>
        </p:txBody>
      </p:sp>
      <p:pic>
        <p:nvPicPr>
          <p:cNvPr id="6" name="!!figure" descr="Figure 4.1. Insertion-Sort. The outer loop’s invariant concerns the prefix A[1j−1]; the inner loop’s concerns where key has got to. Lines are numbered so the proof can cite them."/>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22243" y="1737360"/>
            <a:ext cx="9947208"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The outer loop’s invariant concerns the prefix A[1j−1]; the inner loop’s concerns where key has got to. Lines are numbered so the proof can cite them.</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3516835"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Insertion sort is correct</a:t>
            </a:r>
          </a:p>
        </p:txBody>
      </p:sp>
      <p:pic>
        <p:nvPicPr>
          <p:cNvPr id="3" name="!!kicker-icon" descr="award-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THEOREM 4.1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  ·  Correctness: Loop Invariants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§4.3  ·  Handout p. 32     </a:t>
            </a:r>
            <a:fld id="{1B84AFB8-B5BE-4C6C-B0FE-DB02BD345A3F}" type="slidenum">
              <a:rPr lang="en-GB" sz="1000">
                <a:solidFill>
                  <a:srgbClr val="8795A1"/>
                </a:solidFill>
                <a:latin typeface="Segoe UI"/>
              </a:rPr>
              <a:t>16</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350873"/>
          </a:xfrm>
          <a:prstGeom prst="roundRect">
            <a:avLst>
              <a:gd name="adj" fmla="val 6768"/>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350873"/>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Given an array </a:t>
            </a:r>
            <a:r>
              <a:rPr sz="2300" b="0" i="1">
                <a:solidFill>
                  <a:srgbClr val="1C252B"/>
                </a:solidFill>
                <a:latin typeface="Cambria"/>
              </a:rPr>
              <a:t>A</a:t>
            </a:r>
            <a:r>
              <a:rPr sz="2300" b="0" i="0">
                <a:solidFill>
                  <a:srgbClr val="1C252B"/>
                </a:solidFill>
                <a:latin typeface="Cambria"/>
              </a:rPr>
              <a:t>[1 </a:t>
            </a:r>
            <a:r>
              <a:rPr sz="2300" b="0" i="1">
                <a:solidFill>
                  <a:srgbClr val="1C252B"/>
                </a:solidFill>
                <a:latin typeface="Cambria"/>
              </a:rPr>
              <a:t>n</a:t>
            </a:r>
            <a:r>
              <a:rPr sz="2300" b="0" i="0">
                <a:solidFill>
                  <a:srgbClr val="1C252B"/>
                </a:solidFill>
                <a:latin typeface="Cambria"/>
              </a:rPr>
              <a:t>]</a:t>
            </a:r>
            <a:r>
              <a:rPr sz="2300" b="0" i="0">
                <a:solidFill>
                  <a:srgbClr val="1C252B"/>
                </a:solidFill>
                <a:latin typeface="Segoe UI"/>
              </a:rPr>
              <a:t> of </a:t>
            </a:r>
            <a:r>
              <a:rPr sz="2300" b="0" i="1">
                <a:solidFill>
                  <a:srgbClr val="1C252B"/>
                </a:solidFill>
                <a:latin typeface="Cambria"/>
              </a:rPr>
              <a:t>n</a:t>
            </a:r>
            <a:r>
              <a:rPr sz="2300" b="0" i="0">
                <a:solidFill>
                  <a:srgbClr val="1C252B"/>
                </a:solidFill>
                <a:latin typeface="Cambria"/>
              </a:rPr>
              <a:t> ≥ 1</a:t>
            </a:r>
            <a:r>
              <a:rPr sz="2300" b="0" i="0">
                <a:solidFill>
                  <a:srgbClr val="1C252B"/>
                </a:solidFill>
                <a:latin typeface="Segoe UI"/>
              </a:rPr>
              <a:t> numbers, Insertion-Sort terminates with </a:t>
            </a:r>
            <a:r>
              <a:rPr sz="2300" b="0" i="1">
                <a:solidFill>
                  <a:srgbClr val="1C252B"/>
                </a:solidFill>
                <a:latin typeface="Cambria"/>
              </a:rPr>
              <a:t>A</a:t>
            </a:r>
            <a:r>
              <a:rPr sz="2300" b="0" i="0">
                <a:solidFill>
                  <a:srgbClr val="1C252B"/>
                </a:solidFill>
                <a:latin typeface="Segoe UI"/>
              </a:rPr>
              <a:t> holding a permutation of its original contents, in non-decreasing order.</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3751290"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Do not drop the permutation clause</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  ·  Correctness: Loop Invariants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§4.3  ·  Handout p. 32     </a:t>
            </a:r>
            <a:fld id="{7AFFE1CE-B6A6-4D00-A737-2E3FE65C8920}" type="slidenum">
              <a:rPr lang="en-GB" sz="1000">
                <a:solidFill>
                  <a:srgbClr val="8795A1"/>
                </a:solidFill>
                <a:latin typeface="Segoe UI"/>
              </a:rPr>
              <a:t>17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020083"/>
          </a:xfrm>
          <a:prstGeom prst="roundRect">
            <a:avLst>
              <a:gd name="adj" fmla="val 2274"/>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020083"/>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It is tempting to state the invariant as “</a:t>
            </a:r>
            <a:r>
              <a:rPr sz="2300" b="0" i="1">
                <a:solidFill>
                  <a:srgbClr val="1C252B"/>
                </a:solidFill>
                <a:latin typeface="Cambria"/>
              </a:rPr>
              <a:t>A</a:t>
            </a:r>
            <a:r>
              <a:rPr sz="2300" b="0" i="0">
                <a:solidFill>
                  <a:srgbClr val="1C252B"/>
                </a:solidFill>
                <a:latin typeface="Cambria"/>
              </a:rPr>
              <a:t>[1</a:t>
            </a:r>
            <a:r>
              <a:rPr sz="2300" b="0" i="1">
                <a:solidFill>
                  <a:srgbClr val="1C252B"/>
                </a:solidFill>
                <a:latin typeface="Cambria"/>
              </a:rPr>
              <a:t>j</a:t>
            </a:r>
            <a:r>
              <a:rPr sz="2300" b="0" i="0">
                <a:solidFill>
                  <a:srgbClr val="1C252B"/>
                </a:solidFill>
                <a:latin typeface="Cambria"/>
              </a:rPr>
              <a:t>−1]</a:t>
            </a:r>
            <a:r>
              <a:rPr sz="2300" b="0" i="0">
                <a:solidFill>
                  <a:srgbClr val="1C252B"/>
                </a:solidFill>
                <a:latin typeface="Segoe UI"/>
              </a:rPr>
              <a:t> is sorted” and save eleven words. Then consider this implementation:</a:t>
            </a:r>
          </a:p>
        </p:txBody>
      </p:sp>
      <p:sp>
        <p:nvSpPr>
          <p:cNvPr id="10" name="body-1"/>
          <p:cNvSpPr txBox="1"/>
          <p:nvPr/>
        </p:nvSpPr>
        <p:spPr>
          <a:xfrm>
            <a:off x="1060704" y="2937992"/>
            <a:ext cx="10161727" cy="410260"/>
          </a:xfrm>
          <a:prstGeom prst="rect">
            <a:avLst/>
          </a:prstGeom>
          <a:noFill/>
        </p:spPr>
        <p:txBody>
          <a:bodyPr wrap="square" anchor="t" lIns="0" rIns="0" tIns="0" bIns="0">
            <a:noAutofit/>
          </a:bodyPr>
          <a:lstStyle/>
          <a:p>
            <a:pPr algn="l">
              <a:lnSpc>
                <a:spcPct val="104000"/>
              </a:lnSpc>
              <a:spcBef>
                <a:spcPts val="0"/>
              </a:spcBef>
              <a:spcAft>
                <a:spcPts val="0"/>
              </a:spcAft>
            </a:pPr>
            <a:r>
              <a:rPr sz="2300" b="0" i="1">
                <a:solidFill>
                  <a:srgbClr val="1C252B"/>
                </a:solidFill>
                <a:latin typeface="Segoe UI"/>
              </a:rPr>
              <a:t>overwrite every element of </a:t>
            </a:r>
            <a:r>
              <a:rPr sz="2300" b="0" i="1">
                <a:solidFill>
                  <a:srgbClr val="1C252B"/>
                </a:solidFill>
                <a:latin typeface="Cambria"/>
              </a:rPr>
              <a:t>A</a:t>
            </a:r>
            <a:r>
              <a:rPr sz="2300" b="0" i="1">
                <a:solidFill>
                  <a:srgbClr val="1C252B"/>
                </a:solidFill>
                <a:latin typeface="Segoe UI"/>
              </a:rPr>
              <a:t> with zero.</a:t>
            </a:r>
          </a:p>
        </p:txBody>
      </p:sp>
      <p:sp>
        <p:nvSpPr>
          <p:cNvPr id="11" name="body-2"/>
          <p:cNvSpPr txBox="1"/>
          <p:nvPr/>
        </p:nvSpPr>
        <p:spPr>
          <a:xfrm>
            <a:off x="1060704" y="3463188"/>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Its output is sorted. It satisfies the shortened invariant at every iteration and terminates. It is not a sorting algorithm.</a:t>
            </a:r>
          </a:p>
        </p:txBody>
      </p:sp>
      <p:sp>
        <p:nvSpPr>
          <p:cNvPr id="12" name="body-3"/>
          <p:cNvSpPr txBox="1"/>
          <p:nvPr/>
        </p:nvSpPr>
        <p:spPr>
          <a:xfrm>
            <a:off x="1060704" y="4352924"/>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“Sorted” is only half the postcondition; “a permutation of the input” is the other half, and a proof that omits it proves the wrong theorem. This is the single most common error in student invariant proofs.</a:t>
            </a:r>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3985746"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Binary Search, Where the Invariant Is About Exclusion</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ACBD6"/>
                </a:solidFill>
                <a:latin typeface="Segoe UI"/>
              </a:rPr>
              <a:t>SECTION 4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4.4</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4.1   Why Testing Is Not Enough</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4.2   The Loop Invariant</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4.3   Insertion Sort, Proved</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A5276"/>
                </a:solidFill>
                <a:latin typeface="Segoe UI"/>
              </a:rPr>
              <a:t>4.4   Binary Search, Where the Invariant Is About Exclusion</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4.5   Termination: The Obligation People Skip</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4.6   A Loop Whose Invariant Holds and Which Never Finishes</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§4.4     </a:t>
            </a:r>
            <a:fld id="{4B8DB66C-9140-4945-A60F-ECFA12E6A899}" type="slidenum">
              <a:rPr lang="en-GB" sz="1000">
                <a:solidFill>
                  <a:srgbClr val="8795A1"/>
                </a:solidFill>
                <a:latin typeface="Segoe UI"/>
              </a:rPr>
              <a:t>18</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4220202"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Binary-Search on a sorted array</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FIGURE 4.2</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  ·  Correctness: Loop Invariants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§4.4  ·  Handout p. 33     </a:t>
            </a:r>
            <a:fld id="{008333ED-ED65-4463-82B5-99708462CFD8}" type="slidenum">
              <a:rPr lang="en-GB" sz="1000">
                <a:solidFill>
                  <a:srgbClr val="8795A1"/>
                </a:solidFill>
                <a:latin typeface="Segoe UI"/>
              </a:rPr>
              <a:t>19</a:t>
            </a:fld>
          </a:p>
        </p:txBody>
      </p:sp>
      <p:pic>
        <p:nvPicPr>
          <p:cNvPr id="6" name="!!figure" descr="Figure 4.2. Binary-Search on a sorted array. The +1 on line 7 and the −1 on line 9 are what make the search range strictly smaller every iteration — Section 4.5 is about what happens when one of them is missing."/>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25040" y="1737360"/>
            <a:ext cx="7941614"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The +1 on line 7 and the −1 on line 9 are what make the search range strictly smaller every iteration — Section 4.5 is about what happens when one of them is missing.</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4454657"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Binary search is correct</a:t>
            </a:r>
          </a:p>
        </p:txBody>
      </p:sp>
      <p:pic>
        <p:nvPicPr>
          <p:cNvPr id="3" name="!!kicker-icon" descr="award-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THEOREM 4.2</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  ·  Correctness: Loop Invariants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§4.4  ·  Handout p. 33     </a:t>
            </a:r>
            <a:fld id="{4DE6AF5F-C9A7-485F-8271-E5EC63A68823}" type="slidenum">
              <a:rPr lang="en-GB" sz="1000">
                <a:solidFill>
                  <a:srgbClr val="8795A1"/>
                </a:solidFill>
                <a:latin typeface="Segoe UI"/>
              </a:rPr>
              <a:t>20</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350873"/>
          </a:xfrm>
          <a:prstGeom prst="roundRect">
            <a:avLst>
              <a:gd name="adj" fmla="val 6768"/>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350873"/>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Let </a:t>
            </a:r>
            <a:r>
              <a:rPr sz="2300" b="0" i="1">
                <a:solidFill>
                  <a:srgbClr val="1C252B"/>
                </a:solidFill>
                <a:latin typeface="Cambria"/>
              </a:rPr>
              <a:t>A</a:t>
            </a:r>
            <a:r>
              <a:rPr sz="2300" b="0" i="0">
                <a:solidFill>
                  <a:srgbClr val="1C252B"/>
                </a:solidFill>
                <a:latin typeface="Cambria"/>
              </a:rPr>
              <a:t>[1 </a:t>
            </a:r>
            <a:r>
              <a:rPr sz="2300" b="0" i="1">
                <a:solidFill>
                  <a:srgbClr val="1C252B"/>
                </a:solidFill>
                <a:latin typeface="Cambria"/>
              </a:rPr>
              <a:t>n</a:t>
            </a:r>
            <a:r>
              <a:rPr sz="2300" b="0" i="0">
                <a:solidFill>
                  <a:srgbClr val="1C252B"/>
                </a:solidFill>
                <a:latin typeface="Cambria"/>
              </a:rPr>
              <a:t>]</a:t>
            </a:r>
            <a:r>
              <a:rPr sz="2300" b="0" i="0">
                <a:solidFill>
                  <a:srgbClr val="1C252B"/>
                </a:solidFill>
                <a:latin typeface="Segoe UI"/>
              </a:rPr>
              <a:t> be sorted in non-decreasing order. Binary-Search returns an index </a:t>
            </a:r>
            <a:r>
              <a:rPr sz="2300" b="0" i="1">
                <a:solidFill>
                  <a:srgbClr val="1C252B"/>
                </a:solidFill>
                <a:latin typeface="Cambria"/>
              </a:rPr>
              <a:t>mid</a:t>
            </a:r>
            <a:r>
              <a:rPr sz="2300" b="0" i="0">
                <a:solidFill>
                  <a:srgbClr val="1C252B"/>
                </a:solidFill>
                <a:latin typeface="Segoe UI"/>
              </a:rPr>
              <a:t> with </a:t>
            </a:r>
            <a:r>
              <a:rPr sz="2300" b="0" i="1">
                <a:solidFill>
                  <a:srgbClr val="1C252B"/>
                </a:solidFill>
                <a:latin typeface="Cambria"/>
              </a:rPr>
              <a:t>A</a:t>
            </a:r>
            <a:r>
              <a:rPr sz="2300" b="0" i="0">
                <a:solidFill>
                  <a:srgbClr val="1C252B"/>
                </a:solidFill>
                <a:latin typeface="Cambria"/>
              </a:rPr>
              <a:t>[</a:t>
            </a:r>
            <a:r>
              <a:rPr sz="2300" b="0" i="1">
                <a:solidFill>
                  <a:srgbClr val="1C252B"/>
                </a:solidFill>
                <a:latin typeface="Cambria"/>
              </a:rPr>
              <a:t>mid</a:t>
            </a:r>
            <a:r>
              <a:rPr sz="2300" b="0" i="0">
                <a:solidFill>
                  <a:srgbClr val="1C252B"/>
                </a:solidFill>
                <a:latin typeface="Cambria"/>
              </a:rPr>
              <a:t>] = </a:t>
            </a:r>
            <a:r>
              <a:rPr sz="2300" b="0" i="1">
                <a:solidFill>
                  <a:srgbClr val="1C252B"/>
                </a:solidFill>
                <a:latin typeface="Cambria"/>
              </a:rPr>
              <a:t>x</a:t>
            </a:r>
            <a:r>
              <a:rPr sz="2300" b="0" i="0">
                <a:solidFill>
                  <a:srgbClr val="1C252B"/>
                </a:solidFill>
                <a:latin typeface="Segoe UI"/>
              </a:rPr>
              <a:t> if </a:t>
            </a:r>
            <a:r>
              <a:rPr sz="2300" b="0" i="1">
                <a:solidFill>
                  <a:srgbClr val="1C252B"/>
                </a:solidFill>
                <a:latin typeface="Cambria"/>
              </a:rPr>
              <a:t>x</a:t>
            </a:r>
            <a:r>
              <a:rPr sz="2300" b="0" i="0">
                <a:solidFill>
                  <a:srgbClr val="1C252B"/>
                </a:solidFill>
                <a:latin typeface="Segoe UI"/>
              </a:rPr>
              <a:t> occurs in </a:t>
            </a:r>
            <a:r>
              <a:rPr sz="2300" b="0" i="1">
                <a:solidFill>
                  <a:srgbClr val="1C252B"/>
                </a:solidFill>
                <a:latin typeface="Cambria"/>
              </a:rPr>
              <a:t>A</a:t>
            </a:r>
            <a:r>
              <a:rPr sz="2300" b="0" i="0">
                <a:solidFill>
                  <a:srgbClr val="1C252B"/>
                </a:solidFill>
                <a:latin typeface="Segoe UI"/>
              </a:rPr>
              <a:t>, and not-found otherwise.</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468911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Binary search is logarithmic</a:t>
            </a:r>
          </a:p>
        </p:txBody>
      </p:sp>
      <p:pic>
        <p:nvPicPr>
          <p:cNvPr id="3" name="!!kicker-icon" descr="angle-double-right-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638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COROLLARY 4.3</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  ·  Correctness: Loop Invariants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§4.4  ·  Handout p. 33     </a:t>
            </a:r>
            <a:fld id="{37DCECE7-7194-4B4B-9A44-B16220DCD132}" type="slidenum">
              <a:rPr lang="en-GB" sz="1000">
                <a:solidFill>
                  <a:srgbClr val="8795A1"/>
                </a:solidFill>
                <a:latin typeface="Segoe UI"/>
              </a:rPr>
              <a:t>21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350873"/>
          </a:xfrm>
          <a:prstGeom prst="roundRect">
            <a:avLst>
              <a:gd name="adj" fmla="val 6768"/>
            </a:avLst>
          </a:prstGeom>
          <a:solidFill>
            <a:srgbClr val="EEF6F4"/>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350873"/>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Binary search performs at most </a:t>
            </a:r>
            <a:r>
              <a:rPr sz="2300" b="0" i="0">
                <a:solidFill>
                  <a:srgbClr val="1C252B"/>
                </a:solidFill>
                <a:latin typeface="Cambria"/>
              </a:rPr>
              <a:t>⌊ lg </a:t>
            </a:r>
            <a:r>
              <a:rPr sz="2300" b="0" i="1">
                <a:solidFill>
                  <a:srgbClr val="1C252B"/>
                </a:solidFill>
                <a:latin typeface="Cambria"/>
              </a:rPr>
              <a:t>n</a:t>
            </a:r>
            <a:r>
              <a:rPr sz="2300" b="0" i="0">
                <a:solidFill>
                  <a:srgbClr val="1C252B"/>
                </a:solidFill>
                <a:latin typeface="Cambria"/>
              </a:rPr>
              <a:t> ⌋ + 1</a:t>
            </a:r>
            <a:r>
              <a:rPr sz="2300" b="0" i="0">
                <a:solidFill>
                  <a:srgbClr val="1C252B"/>
                </a:solidFill>
                <a:latin typeface="Segoe UI"/>
              </a:rPr>
              <a:t> iterations, since </a:t>
            </a:r>
            <a:r>
              <a:rPr sz="2300" b="0" i="1">
                <a:solidFill>
                  <a:srgbClr val="1C252B"/>
                </a:solidFill>
                <a:latin typeface="Cambria"/>
              </a:rPr>
              <a:t>hi</a:t>
            </a:r>
            <a:r>
              <a:rPr sz="2300" b="0" i="0">
                <a:solidFill>
                  <a:srgbClr val="1C252B"/>
                </a:solidFill>
                <a:latin typeface="Cambria"/>
              </a:rPr>
              <a:t>−</a:t>
            </a:r>
            <a:r>
              <a:rPr sz="2300" b="0" i="1">
                <a:solidFill>
                  <a:srgbClr val="1C252B"/>
                </a:solidFill>
                <a:latin typeface="Cambria"/>
              </a:rPr>
              <a:t>lo</a:t>
            </a:r>
            <a:r>
              <a:rPr sz="2300" b="0" i="0">
                <a:solidFill>
                  <a:srgbClr val="1C252B"/>
                </a:solidFill>
                <a:latin typeface="Cambria"/>
              </a:rPr>
              <a:t>+1</a:t>
            </a:r>
            <a:r>
              <a:rPr sz="2300" b="0" i="0">
                <a:solidFill>
                  <a:srgbClr val="1C252B"/>
                </a:solidFill>
                <a:latin typeface="Segoe UI"/>
              </a:rPr>
              <a:t> at least halves each time and the loop stops when it reaches </a:t>
            </a:r>
            <a:r>
              <a:rPr sz="2300" b="0" i="0">
                <a:solidFill>
                  <a:srgbClr val="1C252B"/>
                </a:solidFill>
                <a:latin typeface="Cambria"/>
              </a:rPr>
              <a:t>0</a:t>
            </a:r>
            <a:r>
              <a:rPr sz="2300" b="0" i="0">
                <a:solidFill>
                  <a:srgbClr val="1C252B"/>
                </a:solidFill>
                <a:latin typeface="Segoe UI"/>
              </a:rPr>
              <a:t>.</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4923569"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Termination: The Obligation People Skip</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ACBD6"/>
                </a:solidFill>
                <a:latin typeface="Segoe UI"/>
              </a:rPr>
              <a:t>SECTION 5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4.5</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4.1   Why Testing Is Not Enough</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4.2   The Loop Invariant</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4.3   Insertion Sort, Proved</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4.4   Binary Search, Where the Invariant Is About Exclusion</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A5276"/>
                </a:solidFill>
                <a:latin typeface="Segoe UI"/>
              </a:rPr>
              <a:t>4.5   Termination: The Obligation People Skip</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4.6   A Loop Whose Invariant Holds and Which Never Finishes</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§4.5     </a:t>
            </a:r>
            <a:fld id="{67292BDD-3BA5-4EAF-986D-3304D46E5E5A}" type="slidenum">
              <a:rPr lang="en-GB" sz="1000">
                <a:solidFill>
                  <a:srgbClr val="8795A1"/>
                </a:solidFill>
                <a:latin typeface="Segoe UI"/>
              </a:rPr>
              <a:t>22</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5158024"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Loop Variant</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  ·  Correctness: Loop Invariants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§4.5  ·  Handout p. 34     </a:t>
            </a:r>
            <a:fld id="{16319C50-B718-4E96-86C6-680376DF9973}" type="slidenum">
              <a:rPr lang="en-GB" sz="1000">
                <a:solidFill>
                  <a:srgbClr val="8795A1"/>
                </a:solidFill>
                <a:latin typeface="Segoe UI"/>
              </a:rPr>
              <a:t>23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597122"/>
          </a:xfrm>
          <a:prstGeom prst="roundRect">
            <a:avLst>
              <a:gd name="adj" fmla="val 2542"/>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597122"/>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 </a:t>
            </a:r>
            <a:r>
              <a:rPr sz="2300" b="1" i="0">
                <a:solidFill>
                  <a:srgbClr val="1A5276"/>
                </a:solidFill>
                <a:latin typeface="Segoe UI"/>
              </a:rPr>
              <a:t>loop variant</a:t>
            </a:r>
            <a:r>
              <a:rPr sz="2300" b="0" i="0">
                <a:solidFill>
                  <a:srgbClr val="1C252B"/>
                </a:solidFill>
                <a:latin typeface="Segoe UI"/>
              </a:rPr>
              <a:t>, or decreasing measure, is a quantity </a:t>
            </a:r>
            <a:r>
              <a:rPr sz="2300" b="0" i="0">
                <a:solidFill>
                  <a:srgbClr val="1C252B"/>
                </a:solidFill>
                <a:latin typeface="Cambria"/>
              </a:rPr>
              <a:t>μ</a:t>
            </a:r>
            <a:r>
              <a:rPr sz="2300" b="0" i="0">
                <a:solidFill>
                  <a:srgbClr val="1C252B"/>
                </a:solidFill>
                <a:latin typeface="Segoe UI"/>
              </a:rPr>
              <a:t> computed from the program state such that</a:t>
            </a:r>
          </a:p>
        </p:txBody>
      </p:sp>
      <p:sp>
        <p:nvSpPr>
          <p:cNvPr id="10" name="body-1"/>
          <p:cNvSpPr txBox="1"/>
          <p:nvPr/>
        </p:nvSpPr>
        <p:spPr>
          <a:xfrm>
            <a:off x="1060704" y="2937992"/>
            <a:ext cx="10161727" cy="1241577"/>
          </a:xfrm>
          <a:prstGeom prst="rect">
            <a:avLst/>
          </a:prstGeom>
          <a:noFill/>
        </p:spPr>
        <p:txBody>
          <a:bodyPr wrap="square" anchor="t" lIns="0" rIns="0" tIns="0" bIns="0">
            <a:noAutofit/>
          </a:bodyPr>
          <a:lstStyle/>
          <a:p>
            <a:pPr algn="l" marL="257176" indent="-257176">
              <a:lnSpc>
                <a:spcPct val="104000"/>
              </a:lnSpc>
              <a:spcBef>
                <a:spcPts val="0"/>
              </a:spcBef>
              <a:spcAft>
                <a:spcPts val="804"/>
              </a:spcAft>
            </a:pPr>
            <a:r>
              <a:rPr sz="2300" b="1">
                <a:solidFill>
                  <a:srgbClr val="8A4500"/>
                </a:solidFill>
                <a:latin typeface="Segoe UI"/>
              </a:rPr>
              <a:t>•	</a:t>
            </a:r>
            <a:r>
              <a:rPr sz="2300" b="0" i="0">
                <a:solidFill>
                  <a:srgbClr val="1C252B"/>
                </a:solidFill>
                <a:latin typeface="Cambria"/>
              </a:rPr>
              <a:t>μ</a:t>
            </a:r>
            <a:r>
              <a:rPr sz="2300" b="0" i="0">
                <a:solidFill>
                  <a:srgbClr val="1C252B"/>
                </a:solidFill>
                <a:latin typeface="Segoe UI"/>
              </a:rPr>
              <a:t> takes values in a </a:t>
            </a:r>
            <a:r>
              <a:rPr sz="2300" b="1" i="0">
                <a:solidFill>
                  <a:srgbClr val="1A5276"/>
                </a:solidFill>
                <a:latin typeface="Segoe UI"/>
              </a:rPr>
              <a:t>well-founded</a:t>
            </a:r>
            <a:r>
              <a:rPr sz="2300" b="0" i="0">
                <a:solidFill>
                  <a:srgbClr val="1C252B"/>
                </a:solidFill>
                <a:latin typeface="Segoe UI"/>
              </a:rPr>
              <a:t> set — for our purposes, the non-negative integers;</a:t>
            </a:r>
          </a:p>
          <a:p>
            <a:pPr algn="l" marL="257176" indent="-257176">
              <a:lnSpc>
                <a:spcPct val="104000"/>
              </a:lnSpc>
              <a:spcBef>
                <a:spcPts val="0"/>
              </a:spcBef>
              <a:spcAft>
                <a:spcPts val="0"/>
              </a:spcAft>
            </a:pPr>
            <a:r>
              <a:rPr sz="2300" b="1">
                <a:solidFill>
                  <a:srgbClr val="8A4500"/>
                </a:solidFill>
                <a:latin typeface="Segoe UI"/>
              </a:rPr>
              <a:t>•	</a:t>
            </a:r>
            <a:r>
              <a:rPr sz="2300" b="0" i="0">
                <a:solidFill>
                  <a:srgbClr val="1C252B"/>
                </a:solidFill>
                <a:latin typeface="Segoe UI"/>
              </a:rPr>
              <a:t>every iteration strictly decreases </a:t>
            </a:r>
            <a:r>
              <a:rPr sz="2300" b="0" i="0">
                <a:solidFill>
                  <a:srgbClr val="1C252B"/>
                </a:solidFill>
                <a:latin typeface="Cambria"/>
              </a:rPr>
              <a:t>μ</a:t>
            </a:r>
            <a:r>
              <a:rPr sz="2300" b="0" i="0">
                <a:solidFill>
                  <a:srgbClr val="1C252B"/>
                </a:solidFill>
                <a:latin typeface="Segoe UI"/>
              </a:rPr>
              <a:t>.</a:t>
            </a:r>
          </a:p>
        </p:txBody>
      </p:sp>
      <p:sp>
        <p:nvSpPr>
          <p:cNvPr id="11" name="body-2"/>
          <p:cNvSpPr txBox="1"/>
          <p:nvPr/>
        </p:nvSpPr>
        <p:spPr>
          <a:xfrm>
            <a:off x="1060704" y="429450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Then the loop terminates, because a strictly decreasing sequence of non-negative integers must be finite.</a:t>
            </a:r>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5392480"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10">
                                            <p:txEl>
                                              <p:pRg st="0" end="0"/>
                                            </p:txEl>
                                          </p:spTgt>
                                        </p:tgtEl>
                                        <p:attrNameLst>
                                          <p:attrName>style.visibility</p:attrName>
                                        </p:attrNameLst>
                                      </p:cBhvr>
                                      <p:to>
                                        <p:strVal val="visible"/>
                                      </p:to>
                                    </p:set>
                                    <p:animEffect transition="in" filter="fade">
                                      <p:cBhvr>
                                        <p:cTn id="8" dur="380"/>
                                        <p:tgtEl>
                                          <p:spTgt spid="10">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xEl>
                                              <p:pRg st="1" end="1"/>
                                            </p:txEl>
                                          </p:spTgt>
                                        </p:tgtEl>
                                        <p:attrNameLst>
                                          <p:attrName>style.visibility</p:attrName>
                                        </p:attrNameLst>
                                      </p:cBhvr>
                                      <p:to>
                                        <p:strVal val="visible"/>
                                      </p:to>
                                    </p:set>
                                    <p:animEffect transition="in" filter="fade">
                                      <p:cBhvr>
                                        <p:cTn id="13" dur="38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Termination: The Obligation People Skip</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FIGURE 4.3</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  ·  Correctness: Loop Invariants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§4.5  ·  Handout p. 34     </a:t>
            </a:r>
            <a:fld id="{023BD289-692C-4BB8-8B47-E0214572B586}" type="slidenum">
              <a:rPr lang="en-GB" sz="1000">
                <a:solidFill>
                  <a:srgbClr val="8795A1"/>
                </a:solidFill>
                <a:latin typeface="Segoe UI"/>
              </a:rPr>
              <a:t>24</a:t>
            </a:fld>
          </a:p>
        </p:txBody>
      </p:sp>
      <p:pic>
        <p:nvPicPr>
          <p:cNvPr id="6" name="!!figure" descr="Figure 4.3. Euclid-GCD. Here the invariant is an equality — gcd(a,b) never changes — and the variant is simply b, whose decrease is what makes the loop finite."/>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797603"/>
            <a:ext cx="10874959" cy="3396258"/>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Euclid-GCD. Here the invariant is an equality — gcd(a,b) never changes — and the variant is simply b, whose decrease is what makes the loop finite.</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5626936"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Euclid’s algorithm is totally correct</a:t>
            </a:r>
          </a:p>
        </p:txBody>
      </p:sp>
      <p:pic>
        <p:nvPicPr>
          <p:cNvPr id="3" name="!!kicker-icon" descr="award-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THEOREM 4.4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  ·  Correctness: Loop Invariants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§4.5  ·  Handout p. 34     </a:t>
            </a:r>
            <a:fld id="{B41933ED-E748-4708-89D2-F0B5667BED14}" type="slidenum">
              <a:rPr lang="en-GB" sz="1000">
                <a:solidFill>
                  <a:srgbClr val="8795A1"/>
                </a:solidFill>
                <a:latin typeface="Segoe UI"/>
              </a:rPr>
              <a:t>25</a:t>
            </a:fld>
          </a:p>
        </p:txBody>
      </p:sp>
      <p:sp>
        <p:nvSpPr>
          <p:cNvPr id="7" name="!!card">
            <a:extLst>
              <a:ext uri="{C183D7F6-B498-43B3-948B-1728B52AA6E4}">
                <adec:decorative xmlns:adec="http://schemas.microsoft.com/office/drawing/2017/decorative" val="1"/>
              </a:ext>
            </a:extLst>
          </p:cNvPr>
          <p:cNvSpPr/>
          <p:nvPr/>
        </p:nvSpPr>
        <p:spPr>
          <a:xfrm>
            <a:off x="658368" y="1737360"/>
            <a:ext cx="10874959" cy="986332"/>
          </a:xfrm>
          <a:prstGeom prst="roundRect">
            <a:avLst>
              <a:gd name="adj" fmla="val 9270"/>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986332"/>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410260"/>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Euclid-GCD</a:t>
            </a:r>
            <a:r>
              <a:rPr sz="2300" b="0" i="0">
                <a:solidFill>
                  <a:srgbClr val="1C252B"/>
                </a:solidFill>
                <a:latin typeface="Cambria"/>
              </a:rPr>
              <a:t>(</a:t>
            </a:r>
            <a:r>
              <a:rPr sz="2300" b="0" i="1">
                <a:solidFill>
                  <a:srgbClr val="1C252B"/>
                </a:solidFill>
                <a:latin typeface="Cambria"/>
              </a:rPr>
              <a:t>a</a:t>
            </a:r>
            <a:r>
              <a:rPr sz="2300" b="0" i="0">
                <a:solidFill>
                  <a:srgbClr val="1C252B"/>
                </a:solidFill>
                <a:latin typeface="Cambria"/>
              </a:rPr>
              <a:t>,</a:t>
            </a:r>
            <a:r>
              <a:rPr sz="2300" b="0" i="1">
                <a:solidFill>
                  <a:srgbClr val="1C252B"/>
                </a:solidFill>
                <a:latin typeface="Cambria"/>
              </a:rPr>
              <a:t>b</a:t>
            </a:r>
            <a:r>
              <a:rPr sz="2300" b="0" i="0">
                <a:solidFill>
                  <a:srgbClr val="1C252B"/>
                </a:solidFill>
                <a:latin typeface="Cambria"/>
              </a:rPr>
              <a:t>)</a:t>
            </a:r>
            <a:r>
              <a:rPr sz="2300" b="0" i="0">
                <a:solidFill>
                  <a:srgbClr val="1C252B"/>
                </a:solidFill>
                <a:latin typeface="Segoe UI"/>
              </a:rPr>
              <a:t> terminates and returns </a:t>
            </a:r>
            <a:r>
              <a:rPr sz="2300" b="0" i="0">
                <a:solidFill>
                  <a:srgbClr val="1C252B"/>
                </a:solidFill>
                <a:latin typeface="Cambria"/>
              </a:rPr>
              <a:t>gcd(</a:t>
            </a:r>
            <a:r>
              <a:rPr sz="2300" b="0" i="1">
                <a:solidFill>
                  <a:srgbClr val="1C252B"/>
                </a:solidFill>
                <a:latin typeface="Cambria"/>
              </a:rPr>
              <a:t>a</a:t>
            </a:r>
            <a:r>
              <a:rPr sz="2300" b="0" i="0">
                <a:solidFill>
                  <a:srgbClr val="1C252B"/>
                </a:solidFill>
                <a:latin typeface="Cambria"/>
              </a:rPr>
              <a:t>,</a:t>
            </a:r>
            <a:r>
              <a:rPr sz="2300" b="0" i="1">
                <a:solidFill>
                  <a:srgbClr val="1C252B"/>
                </a:solidFill>
                <a:latin typeface="Cambria"/>
              </a:rPr>
              <a:t>b</a:t>
            </a:r>
            <a:r>
              <a:rPr sz="2300" b="0" i="0">
                <a:solidFill>
                  <a:srgbClr val="1C252B"/>
                </a:solidFill>
                <a:latin typeface="Cambria"/>
              </a:rPr>
              <a:t>)</a:t>
            </a:r>
            <a:r>
              <a:rPr sz="2300" b="0" i="0">
                <a:solidFill>
                  <a:srgbClr val="1C252B"/>
                </a:solidFill>
                <a:latin typeface="Segoe UI"/>
              </a:rPr>
              <a:t>.</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586139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the measure must live</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  ·  Correctness: Loop Invariants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§4.5  ·  Handout p. 34     </a:t>
            </a:r>
            <a:fld id="{DAD85CD0-7080-4CFA-8C19-6AD22359D7BE}" type="slidenum">
              <a:rPr lang="en-GB" sz="1000">
                <a:solidFill>
                  <a:srgbClr val="8795A1"/>
                </a:solidFill>
                <a:latin typeface="Segoe UI"/>
              </a:rPr>
              <a:t>26</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683828"/>
          </a:xfrm>
          <a:prstGeom prst="roundRect">
            <a:avLst>
              <a:gd name="adj" fmla="val 2482"/>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683828"/>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“Strictly decreasing” is not enough on its own; the measure must decrease within a </a:t>
            </a:r>
            <a:r>
              <a:rPr sz="2300" b="0" i="1">
                <a:solidFill>
                  <a:srgbClr val="1C252B"/>
                </a:solidFill>
                <a:latin typeface="Segoe UI"/>
              </a:rPr>
              <a:t>well-founded</a:t>
            </a:r>
            <a:r>
              <a:rPr sz="2300" b="0" i="0">
                <a:solidFill>
                  <a:srgbClr val="1C252B"/>
                </a:solidFill>
                <a:latin typeface="Segoe UI"/>
              </a:rPr>
              <a:t> set. Over the non-negative reals it is not:</a:t>
            </a:r>
          </a:p>
        </p:txBody>
      </p:sp>
      <p:pic>
        <p:nvPicPr>
          <p:cNvPr id="10" name="body-1" descr="x \gets x/2 \qquad \text{from } x = 1"/>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937992"/>
            <a:ext cx="10161727" cy="392826"/>
          </a:xfrm>
          <a:prstGeom prst="rect">
            <a:avLst/>
          </a:prstGeom>
        </p:spPr>
      </p:pic>
      <p:sp>
        <p:nvSpPr>
          <p:cNvPr id="11" name="body-2"/>
          <p:cNvSpPr txBox="1"/>
          <p:nvPr/>
        </p:nvSpPr>
        <p:spPr>
          <a:xfrm>
            <a:off x="1060704" y="3491473"/>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strictly decreases forever and never terminates. Over the non-negative integers no such sequence exists, which is the entire force of the argument.</a:t>
            </a:r>
          </a:p>
        </p:txBody>
      </p:sp>
      <p:sp>
        <p:nvSpPr>
          <p:cNvPr id="12" name="body-3"/>
          <p:cNvSpPr txBox="1"/>
          <p:nvPr/>
        </p:nvSpPr>
        <p:spPr>
          <a:xfrm>
            <a:off x="1060704" y="4381210"/>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Use integers, and if your measure is naturally a real number, find an integer that bounds it.</a:t>
            </a:r>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6095847"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A Loop Whose Invariant Holds and Which Never Finishes</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ACBD6"/>
                </a:solidFill>
                <a:latin typeface="Segoe UI"/>
              </a:rPr>
              <a:t>SECTION 6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4.6</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4.1   Why Testing Is Not Enough</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4.2   The Loop Invariant</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4.3   Insertion Sort, Proved</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4.4   Binary Search, Where the Invariant Is About Exclusion</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4.5   Termination: The Obligation People Skip</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A5276"/>
                </a:solidFill>
                <a:latin typeface="Segoe UI"/>
              </a:rPr>
              <a:t>4.6   A Loop Whose Invariant Holds and Which Never Finishes</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§4.6     </a:t>
            </a:r>
            <a:fld id="{05B998A1-AC4C-4D30-8449-27E2DE073B7F}" type="slidenum">
              <a:rPr lang="en-GB" sz="1000">
                <a:solidFill>
                  <a:srgbClr val="8795A1"/>
                </a:solidFill>
                <a:latin typeface="Segoe UI"/>
              </a:rPr>
              <a:t>27</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633030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invariant still holds — and that is the problem</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  ·  Correctness: Loop Invariants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§4.6  ·  Handout p. 35     </a:t>
            </a:r>
            <a:fld id="{A447F91B-E7E4-4625-90A7-78422C0F9021}" type="slidenum">
              <a:rPr lang="en-GB" sz="1000">
                <a:solidFill>
                  <a:srgbClr val="8795A1"/>
                </a:solidFill>
                <a:latin typeface="Segoe UI"/>
              </a:rPr>
              <a:t>28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223969"/>
          </a:xfrm>
          <a:prstGeom prst="roundRect">
            <a:avLst>
              <a:gd name="adj" fmla="val 2164"/>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223969"/>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Re-read the maintenance argument of Theorem 4.2. It establishes that positions </a:t>
            </a:r>
            <a:r>
              <a:rPr sz="2300" b="0" i="1">
                <a:solidFill>
                  <a:srgbClr val="1C252B"/>
                </a:solidFill>
                <a:latin typeface="Cambria"/>
              </a:rPr>
              <a:t>k</a:t>
            </a:r>
            <a:r>
              <a:rPr sz="2300" b="0" i="0">
                <a:solidFill>
                  <a:srgbClr val="1C252B"/>
                </a:solidFill>
                <a:latin typeface="Cambria"/>
              </a:rPr>
              <a:t> ≤ </a:t>
            </a:r>
            <a:r>
              <a:rPr sz="2300" b="0" i="1">
                <a:solidFill>
                  <a:srgbClr val="1C252B"/>
                </a:solidFill>
                <a:latin typeface="Cambria"/>
              </a:rPr>
              <a:t>mid</a:t>
            </a:r>
            <a:r>
              <a:rPr sz="2300" b="0" i="0">
                <a:solidFill>
                  <a:srgbClr val="1C252B"/>
                </a:solidFill>
                <a:latin typeface="Segoe UI"/>
              </a:rPr>
              <a:t> cannot hold </a:t>
            </a:r>
            <a:r>
              <a:rPr sz="2300" b="0" i="1">
                <a:solidFill>
                  <a:srgbClr val="1C252B"/>
                </a:solidFill>
                <a:latin typeface="Cambria"/>
              </a:rPr>
              <a:t>x</a:t>
            </a:r>
            <a:r>
              <a:rPr sz="2300" b="0" i="0">
                <a:solidFill>
                  <a:srgbClr val="1C252B"/>
                </a:solidFill>
                <a:latin typeface="Segoe UI"/>
              </a:rPr>
              <a:t>, and therefore that discarding them is safe. Setting </a:t>
            </a:r>
            <a:r>
              <a:rPr sz="2300" b="0" i="1">
                <a:solidFill>
                  <a:srgbClr val="1C252B"/>
                </a:solidFill>
                <a:latin typeface="Cambria"/>
              </a:rPr>
              <a:t>lo</a:t>
            </a:r>
            <a:r>
              <a:rPr sz="2300" b="0" i="0">
                <a:solidFill>
                  <a:srgbClr val="1C252B"/>
                </a:solidFill>
                <a:latin typeface="Cambria"/>
              </a:rPr>
              <a:t> </a:t>
            </a:r>
            <a:r>
              <a:rPr sz="2300" b="0" i="1">
                <a:solidFill>
                  <a:srgbClr val="1C252B"/>
                </a:solidFill>
                <a:latin typeface="Cambria"/>
              </a:rPr>
              <a:t>mid</a:t>
            </a:r>
            <a:r>
              <a:rPr sz="2300" b="0" i="0">
                <a:solidFill>
                  <a:srgbClr val="1C252B"/>
                </a:solidFill>
                <a:latin typeface="Segoe UI"/>
              </a:rPr>
              <a:t> discards </a:t>
            </a:r>
            <a:r>
              <a:rPr sz="2300" b="0" i="1">
                <a:solidFill>
                  <a:srgbClr val="1C252B"/>
                </a:solidFill>
                <a:latin typeface="Segoe UI"/>
              </a:rPr>
              <a:t>fewer</a:t>
            </a:r>
            <a:r>
              <a:rPr sz="2300" b="0" i="0">
                <a:solidFill>
                  <a:srgbClr val="1C252B"/>
                </a:solidFill>
                <a:latin typeface="Segoe UI"/>
              </a:rPr>
              <a:t> positions than that — it keeps </a:t>
            </a:r>
            <a:r>
              <a:rPr sz="2300" b="0" i="1">
                <a:solidFill>
                  <a:srgbClr val="1C252B"/>
                </a:solidFill>
                <a:latin typeface="Cambria"/>
              </a:rPr>
              <a:t>mid</a:t>
            </a:r>
            <a:r>
              <a:rPr sz="2300" b="0" i="0">
                <a:solidFill>
                  <a:srgbClr val="1C252B"/>
                </a:solidFill>
                <a:latin typeface="Segoe UI"/>
              </a:rPr>
              <a:t> itself. Keeping a position cannot lose an occurrence of </a:t>
            </a:r>
            <a:r>
              <a:rPr sz="2300" b="0" i="1">
                <a:solidFill>
                  <a:srgbClr val="1C252B"/>
                </a:solidFill>
                <a:latin typeface="Cambria"/>
              </a:rPr>
              <a:t>x</a:t>
            </a:r>
            <a:r>
              <a:rPr sz="2300" b="0" i="0">
                <a:solidFill>
                  <a:srgbClr val="1C252B"/>
                </a:solidFill>
                <a:latin typeface="Segoe UI"/>
              </a:rPr>
              <a:t>, so:</a:t>
            </a:r>
          </a:p>
        </p:txBody>
      </p:sp>
      <p:sp>
        <p:nvSpPr>
          <p:cNvPr id="10" name="body-1"/>
          <p:cNvSpPr txBox="1"/>
          <p:nvPr/>
        </p:nvSpPr>
        <p:spPr>
          <a:xfrm>
            <a:off x="1060704" y="3667074"/>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1" i="0">
                <a:solidFill>
                  <a:srgbClr val="1F618D"/>
                </a:solidFill>
                <a:latin typeface="Segoe UI"/>
              </a:rPr>
              <a:t>Initialisation still holds. Maintenance still holds.</a:t>
            </a:r>
            <a:r>
              <a:rPr sz="2300" b="0" i="0">
                <a:solidFill>
                  <a:srgbClr val="1C252B"/>
                </a:solidFill>
                <a:latin typeface="Segoe UI"/>
              </a:rPr>
              <a:t> The modified program is </a:t>
            </a:r>
            <a:r>
              <a:rPr sz="2300" b="0" i="1">
                <a:solidFill>
                  <a:srgbClr val="1C252B"/>
                </a:solidFill>
                <a:latin typeface="Segoe UI"/>
              </a:rPr>
              <a:t>partially correct</a:t>
            </a:r>
            <a:r>
              <a:rPr sz="2300" b="0" i="0">
                <a:solidFill>
                  <a:srgbClr val="1C252B"/>
                </a:solidFill>
                <a:latin typeface="Segoe UI"/>
              </a:rPr>
              <a:t>: if it answers, the answer is right.</a:t>
            </a:r>
          </a:p>
        </p:txBody>
      </p:sp>
      <p:sp>
        <p:nvSpPr>
          <p:cNvPr id="11" name="body-2"/>
          <p:cNvSpPr txBox="1"/>
          <p:nvPr/>
        </p:nvSpPr>
        <p:spPr>
          <a:xfrm>
            <a:off x="1060704" y="4556810"/>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1" i="0">
                <a:solidFill>
                  <a:srgbClr val="1F618D"/>
                </a:solidFill>
                <a:latin typeface="Segoe UI"/>
              </a:rPr>
              <a:t>Termination fails.</a:t>
            </a:r>
            <a:r>
              <a:rPr sz="2300" b="0" i="0">
                <a:solidFill>
                  <a:srgbClr val="1C252B"/>
                </a:solidFill>
                <a:latin typeface="Segoe UI"/>
              </a:rPr>
              <a:t> When </a:t>
            </a:r>
            <a:r>
              <a:rPr sz="2300" b="0" i="1">
                <a:solidFill>
                  <a:srgbClr val="1C252B"/>
                </a:solidFill>
                <a:latin typeface="Cambria"/>
              </a:rPr>
              <a:t>hi</a:t>
            </a:r>
            <a:r>
              <a:rPr sz="2300" b="0" i="0">
                <a:solidFill>
                  <a:srgbClr val="1C252B"/>
                </a:solidFill>
                <a:latin typeface="Cambria"/>
              </a:rPr>
              <a:t> = </a:t>
            </a:r>
            <a:r>
              <a:rPr sz="2300" b="0" i="1">
                <a:solidFill>
                  <a:srgbClr val="1C252B"/>
                </a:solidFill>
                <a:latin typeface="Cambria"/>
              </a:rPr>
              <a:t>lo</a:t>
            </a:r>
            <a:r>
              <a:rPr sz="2300" b="0" i="0">
                <a:solidFill>
                  <a:srgbClr val="1C252B"/>
                </a:solidFill>
                <a:latin typeface="Cambria"/>
              </a:rPr>
              <a:t>+1</a:t>
            </a:r>
            <a:r>
              <a:rPr sz="2300" b="0" i="0">
                <a:solidFill>
                  <a:srgbClr val="1C252B"/>
                </a:solidFill>
                <a:latin typeface="Segoe UI"/>
              </a:rPr>
              <a:t> we get </a:t>
            </a:r>
            <a:r>
              <a:rPr sz="2300" b="0" i="1">
                <a:solidFill>
                  <a:srgbClr val="1C252B"/>
                </a:solidFill>
                <a:latin typeface="Cambria"/>
              </a:rPr>
              <a:t>mid</a:t>
            </a:r>
            <a:r>
              <a:rPr sz="2300" b="0" i="0">
                <a:solidFill>
                  <a:srgbClr val="1C252B"/>
                </a:solidFill>
                <a:latin typeface="Cambria"/>
              </a:rPr>
              <a:t> = ⌊ (2</a:t>
            </a:r>
            <a:r>
              <a:rPr sz="2300" b="0" i="1">
                <a:solidFill>
                  <a:srgbClr val="1C252B"/>
                </a:solidFill>
                <a:latin typeface="Cambria"/>
              </a:rPr>
              <a:t>lo</a:t>
            </a:r>
            <a:r>
              <a:rPr sz="2300" b="0" i="0">
                <a:solidFill>
                  <a:srgbClr val="1C252B"/>
                </a:solidFill>
                <a:latin typeface="Cambria"/>
              </a:rPr>
              <a:t>+1)/2 ⌋ = </a:t>
            </a:r>
            <a:r>
              <a:rPr sz="2300" b="0" i="1">
                <a:solidFill>
                  <a:srgbClr val="1C252B"/>
                </a:solidFill>
                <a:latin typeface="Cambria"/>
              </a:rPr>
              <a:t>lo</a:t>
            </a:r>
            <a:r>
              <a:rPr sz="2300" b="0" i="0">
                <a:solidFill>
                  <a:srgbClr val="1C252B"/>
                </a:solidFill>
                <a:latin typeface="Segoe UI"/>
              </a:rPr>
              <a:t>, so </a:t>
            </a:r>
            <a:r>
              <a:rPr sz="2300" b="0" i="1">
                <a:solidFill>
                  <a:srgbClr val="1C252B"/>
                </a:solidFill>
                <a:latin typeface="Cambria"/>
              </a:rPr>
              <a:t>lo</a:t>
            </a:r>
            <a:r>
              <a:rPr sz="2300" b="0" i="0">
                <a:solidFill>
                  <a:srgbClr val="1C252B"/>
                </a:solidFill>
                <a:latin typeface="Cambria"/>
              </a:rPr>
              <a:t> </a:t>
            </a:r>
            <a:r>
              <a:rPr sz="2300" b="0" i="1">
                <a:solidFill>
                  <a:srgbClr val="1C252B"/>
                </a:solidFill>
                <a:latin typeface="Cambria"/>
              </a:rPr>
              <a:t>mid</a:t>
            </a:r>
            <a:r>
              <a:rPr sz="2300" b="0" i="0">
                <a:solidFill>
                  <a:srgbClr val="1C252B"/>
                </a:solidFill>
                <a:latin typeface="Segoe UI"/>
              </a:rPr>
              <a:t> leaves </a:t>
            </a:r>
            <a:r>
              <a:rPr sz="2300" b="0" i="1">
                <a:solidFill>
                  <a:srgbClr val="1C252B"/>
                </a:solidFill>
                <a:latin typeface="Cambria"/>
              </a:rPr>
              <a:t>lo</a:t>
            </a:r>
            <a:r>
              <a:rPr sz="2300" b="0" i="0">
                <a:solidFill>
                  <a:srgbClr val="1C252B"/>
                </a:solidFill>
                <a:latin typeface="Segoe UI"/>
              </a:rPr>
              <a:t> and </a:t>
            </a:r>
            <a:r>
              <a:rPr sz="2300" b="0" i="1">
                <a:solidFill>
                  <a:srgbClr val="1C252B"/>
                </a:solidFill>
                <a:latin typeface="Cambria"/>
              </a:rPr>
              <a:t>hi</a:t>
            </a:r>
            <a:r>
              <a:rPr sz="2300" b="0" i="0">
                <a:solidFill>
                  <a:srgbClr val="1C252B"/>
                </a:solidFill>
                <a:latin typeface="Segoe UI"/>
              </a:rPr>
              <a:t> unchanged and the next iteration is identical. The measure </a:t>
            </a:r>
            <a:r>
              <a:rPr sz="2300" b="0" i="1">
                <a:solidFill>
                  <a:srgbClr val="1C252B"/>
                </a:solidFill>
                <a:latin typeface="Cambria"/>
              </a:rPr>
              <a:t>hi</a:t>
            </a:r>
            <a:r>
              <a:rPr sz="2300" b="0" i="0">
                <a:solidFill>
                  <a:srgbClr val="1C252B"/>
                </a:solidFill>
                <a:latin typeface="Cambria"/>
              </a:rPr>
              <a:t>−</a:t>
            </a:r>
            <a:r>
              <a:rPr sz="2300" b="0" i="1">
                <a:solidFill>
                  <a:srgbClr val="1C252B"/>
                </a:solidFill>
                <a:latin typeface="Cambria"/>
              </a:rPr>
              <a:t>lo</a:t>
            </a:r>
            <a:r>
              <a:rPr sz="2300" b="0" i="0">
                <a:solidFill>
                  <a:srgbClr val="1C252B"/>
                </a:solidFill>
                <a:latin typeface="Segoe UI"/>
              </a:rPr>
              <a:t> no longer strictly decreases, and the loop spins forever.</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6564758"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Measured: 132 Million Iterations, Zero Wrong Answers</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  ·  Correctness: Loop Invariants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§4.6  ·  Handout p. 35     </a:t>
            </a:r>
            <a:fld id="{EA1AB5AB-69E3-4FA5-B211-F5FCF6B88A60}" type="slidenum">
              <a:rPr lang="en-GB" sz="1000">
                <a:solidFill>
                  <a:srgbClr val="8795A1"/>
                </a:solidFill>
                <a:latin typeface="Segoe UI"/>
              </a:rPr>
              <a:t>29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836644"/>
          </a:xfrm>
          <a:prstGeom prst="roundRect">
            <a:avLst>
              <a:gd name="adj" fmla="val 2383"/>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83664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1250289"/>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F4E79"/>
                </a:solidFill>
                <a:latin typeface="Consolas"/>
              </a:rPr>
              <a:t>code/ch04_invariant.cpp</a:t>
            </a:r>
            <a:r>
              <a:rPr sz="1900" b="0" i="0">
                <a:solidFill>
                  <a:srgbClr val="1C252B"/>
                </a:solidFill>
                <a:latin typeface="Segoe UI"/>
              </a:rPr>
              <a:t> runs the broken search on a 64-element sorted array, 10,000 trials with keys known to be present and 10,000 with keys known to be absent, and </a:t>
            </a:r>
            <a:r>
              <a:rPr sz="1900" b="0" i="1">
                <a:solidFill>
                  <a:srgbClr val="1C252B"/>
                </a:solidFill>
                <a:latin typeface="Segoe UI"/>
              </a:rPr>
              <a:t>audits the invariant on every single iteration</a:t>
            </a:r>
            <a:r>
              <a:rPr sz="1900" b="0" i="0">
                <a:solidFill>
                  <a:srgbClr val="1C252B"/>
                </a:solidFill>
                <a:latin typeface="Segoe UI"/>
              </a:rPr>
              <a:t>. A run that exceeds 10,000 iterations is recorded as non-terminating.</a:t>
            </a:r>
          </a:p>
        </p:txBody>
      </p:sp>
      <p:graphicFrame>
        <p:nvGraphicFramePr>
          <p:cNvPr id="10" name="body-1"/>
          <p:cNvGraphicFramePr>
            <a:graphicFrameLocks noGrp="1"/>
          </p:cNvGraphicFramePr>
          <p:nvPr/>
        </p:nvGraphicFramePr>
        <p:xfrm>
          <a:off x="1042416" y="3348964"/>
          <a:ext cx="5629818" cy="1950720"/>
        </p:xfrm>
        <a:graphic>
          <a:graphicData uri="http://schemas.openxmlformats.org/drawingml/2006/table">
            <a:tbl>
              <a:tblPr firstRow="0" bandRow="0" firstCol="0" lastRow="0" lastCol="0" bandCol="0">
                <a:tableStyleId>{2D5ABB26-0587-4C30-8999-92F81FD0307C}</a:tableStyleId>
              </a:tblPr>
              <a:tblGrid>
                <a:gridCol w="2131113"/>
                <a:gridCol w="1869579"/>
                <a:gridCol w="1629126"/>
              </a:tblGrid>
              <a:tr h="390144">
                <a:tc>
                  <a:txBody>
                    <a:bodyPr wrap="square"/>
                    <a:lstStyle/>
                    <a:p>
                      <a:pPr algn="l"/>
                      <a:r>
                        <a:rPr sz="1600" b="1" i="0">
                          <a:solidFill>
                            <a:srgbClr val="1A5276"/>
                          </a:solidFill>
                          <a:latin typeface="Segoe UI"/>
                        </a:rPr>
                        <a:t>10,000 trials each</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600" b="1" i="0">
                          <a:solidFill>
                            <a:srgbClr val="1A5276"/>
                          </a:solidFill>
                          <a:latin typeface="Segoe UI"/>
                        </a:rPr>
                        <a:t>non-termination</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600" b="1" i="0">
                          <a:solidFill>
                            <a:srgbClr val="1A5276"/>
                          </a:solidFill>
                          <a:latin typeface="Segoe UI"/>
                        </a:rPr>
                        <a:t>wrong answer</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390144">
                <a:tc>
                  <a:txBody>
                    <a:bodyPr wrap="square"/>
                    <a:lstStyle/>
                    <a:p>
                      <a:pPr algn="l"/>
                      <a:r>
                        <a:rPr sz="1600" b="0" i="0">
                          <a:solidFill>
                            <a:srgbClr val="1C252B"/>
                          </a:solidFill>
                          <a:latin typeface="Segoe UI"/>
                        </a:rPr>
                        <a:t>keys always present</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3,228</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0</a:t>
                      </a:r>
                      <a:endParaRPr sz="1600"/>
                    </a:p>
                  </a:txBody>
                  <a:tcPr marL="109728" marR="109728" marT="64008" marB="45720" anchor="t">
                    <a:lnL w="0" cmpd="sng">
                      <a:noFill/>
                    </a:lnL>
                    <a:lnR w="0" cmpd="sng">
                      <a:noFill/>
                    </a:lnR>
                    <a:lnT w="9525" cmpd="sng">
                      <a:noFill/>
                    </a:lnT>
                    <a:lnB w="9525" cmpd="sng">
                      <a:noFill/>
                    </a:lnB>
                    <a:solidFill>
                      <a:srgbClr val="FFFFFF"/>
                    </a:solidFill>
                  </a:tcPr>
                </a:tc>
              </a:tr>
              <a:tr h="390144">
                <a:tc>
                  <a:txBody>
                    <a:bodyPr wrap="square"/>
                    <a:lstStyle/>
                    <a:p>
                      <a:pPr algn="l"/>
                      <a:r>
                        <a:rPr sz="1600" b="0" i="0">
                          <a:solidFill>
                            <a:srgbClr val="1C252B"/>
                          </a:solidFill>
                          <a:latin typeface="Segoe UI"/>
                        </a:rPr>
                        <a:t>keys always absent</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600" b="0" i="0">
                          <a:solidFill>
                            <a:srgbClr val="1C252B"/>
                          </a:solidFill>
                          <a:latin typeface="Segoe UI"/>
                        </a:rPr>
                        <a:t>10,000</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600" b="0" i="0">
                          <a:solidFill>
                            <a:srgbClr val="1C252B"/>
                          </a:solidFill>
                          <a:latin typeface="Segoe UI"/>
                        </a:rPr>
                        <a:t>0</a:t>
                      </a:r>
                      <a:endParaRPr sz="1600"/>
                    </a:p>
                  </a:txBody>
                  <a:tcPr marL="109728" marR="109728" marT="64008" marB="45720" anchor="t">
                    <a:lnL w="0" cmpd="sng">
                      <a:noFill/>
                    </a:lnL>
                    <a:lnR w="0" cmpd="sng">
                      <a:noFill/>
                    </a:lnR>
                    <a:lnT w="9525" cmpd="sng">
                      <a:noFill/>
                    </a:lnT>
                    <a:lnB w="9525" cmpd="sng">
                      <a:noFill/>
                    </a:lnB>
                    <a:solidFill>
                      <a:srgbClr val="F2F8FC"/>
                    </a:solidFill>
                  </a:tcPr>
                </a:tc>
              </a:tr>
              <a:tr h="390144">
                <a:tc>
                  <a:txBody>
                    <a:bodyPr wrap="square"/>
                    <a:lstStyle/>
                    <a:p>
                      <a:pPr algn="l"/>
                      <a:r>
                        <a:rPr sz="1600" b="1" i="0">
                          <a:solidFill>
                            <a:srgbClr val="1C252B"/>
                          </a:solidFill>
                          <a:latin typeface="Segoe UI"/>
                        </a:rPr>
                        <a:t>iterations audited</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2r</a:t>
                      </a:r>
                      <a:r>
                        <a:rPr sz="1600" b="1" i="0">
                          <a:solidFill>
                            <a:srgbClr val="1C252B"/>
                          </a:solidFill>
                          <a:latin typeface="Segoe UI"/>
                        </a:rPr>
                        <a:t>132,311,650</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endParaRPr sz="1600"/>
                    </a:p>
                  </a:txBody>
                  <a:tcPr marL="109728" marR="109728" marT="64008" marB="45720" anchor="t">
                    <a:lnL w="0" cmpd="sng">
                      <a:noFill/>
                    </a:lnL>
                    <a:lnR w="0" cmpd="sng">
                      <a:noFill/>
                    </a:lnR>
                    <a:lnT w="9525" cmpd="sng">
                      <a:noFill/>
                    </a:lnT>
                    <a:lnB w="9525" cmpd="sng">
                      <a:noFill/>
                    </a:lnB>
                    <a:solidFill>
                      <a:srgbClr val="FFFFFF"/>
                    </a:solidFill>
                  </a:tcPr>
                </a:tc>
              </a:tr>
              <a:tr h="390144">
                <a:tc>
                  <a:txBody>
                    <a:bodyPr wrap="square"/>
                    <a:lstStyle/>
                    <a:p>
                      <a:pPr algn="l"/>
                      <a:r>
                        <a:rPr sz="1600" b="1" i="0">
                          <a:solidFill>
                            <a:srgbClr val="1C252B"/>
                          </a:solidFill>
                          <a:latin typeface="Segoe UI"/>
                        </a:rPr>
                        <a:t>invariant violations</a:t>
                      </a:r>
                      <a:endParaRPr sz="16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r"/>
                      <a:r>
                        <a:rPr sz="1600" b="0" i="0">
                          <a:solidFill>
                            <a:srgbClr val="1C252B"/>
                          </a:solidFill>
                          <a:latin typeface="Segoe UI"/>
                        </a:rPr>
                        <a:t>2r</a:t>
                      </a:r>
                      <a:r>
                        <a:rPr sz="1600" b="1" i="0">
                          <a:solidFill>
                            <a:srgbClr val="1C252B"/>
                          </a:solidFill>
                          <a:latin typeface="Segoe UI"/>
                        </a:rPr>
                        <a:t>0</a:t>
                      </a:r>
                      <a:endParaRPr sz="16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r"/>
                      <a:endParaRPr sz="16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r>
            </a:tbl>
          </a:graphicData>
        </a:graphic>
      </p:graphicFrame>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6799214"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Measured: 132 Million Iterations, Zero Wrong Answers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  ·  Correctness: Loop Invariants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§4.6  ·  Handout p. 35     </a:t>
            </a:r>
            <a:fld id="{BA54229A-5869-4ECA-98E3-0C86E340C3EE}" type="slidenum">
              <a:rPr lang="en-GB" sz="1000">
                <a:solidFill>
                  <a:srgbClr val="8795A1"/>
                </a:solidFill>
                <a:latin typeface="Segoe UI"/>
              </a:rPr>
              <a:t>30</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825494"/>
          </a:xfrm>
          <a:prstGeom prst="roundRect">
            <a:avLst>
              <a:gd name="adj" fmla="val 2390"/>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82549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Read the second column first.</a:t>
            </a:r>
            <a:r>
              <a:rPr sz="1900" b="0" i="0">
                <a:solidFill>
                  <a:srgbClr val="1C252B"/>
                </a:solidFill>
                <a:latin typeface="Segoe UI"/>
              </a:rPr>
              <a:t> In 20,000 trials the broken search returned a wrong answer </a:t>
            </a:r>
            <a:r>
              <a:rPr sz="1900" b="1" i="0">
                <a:solidFill>
                  <a:srgbClr val="1C252B"/>
                </a:solidFill>
                <a:latin typeface="Segoe UI"/>
              </a:rPr>
              <a:t>not once</a:t>
            </a:r>
            <a:r>
              <a:rPr sz="1900" b="0" i="0">
                <a:solidFill>
                  <a:srgbClr val="1C252B"/>
                </a:solidFill>
                <a:latin typeface="Segoe UI"/>
              </a:rPr>
              <a:t>. That is not luck; it is precisely what the invariant guarantees, and the audit confirms the invariant never broke across 132 million iterations.</a:t>
            </a:r>
          </a:p>
        </p:txBody>
      </p:sp>
      <p:sp>
        <p:nvSpPr>
          <p:cNvPr id="10" name="body-0bar">
            <a:extLst>
              <a:ext uri="{C183D7F6-B498-43B3-948B-1728B52AA6E4}">
                <adec:decorative xmlns:adec="http://schemas.microsoft.com/office/drawing/2017/decorative" val="1"/>
              </a:ext>
            </a:extLst>
          </p:cNvPr>
          <p:cNvSpPr/>
          <p:nvPr/>
        </p:nvSpPr>
        <p:spPr>
          <a:xfrm>
            <a:off x="841248" y="2029967"/>
            <a:ext cx="54864" cy="88513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body-1"/>
          <p:cNvSpPr txBox="1"/>
          <p:nvPr/>
        </p:nvSpPr>
        <p:spPr>
          <a:xfrm>
            <a:off x="1042416" y="3047822"/>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Now read the first column.</a:t>
            </a:r>
            <a:r>
              <a:rPr sz="1900" b="0" i="0">
                <a:solidFill>
                  <a:srgbClr val="1C252B"/>
                </a:solidFill>
                <a:latin typeface="Segoe UI"/>
              </a:rPr>
              <a:t> 13,228 of the 20,000 runs never finished. The program is partially correct and totally useless.</a:t>
            </a:r>
          </a:p>
        </p:txBody>
      </p:sp>
      <p:sp>
        <p:nvSpPr>
          <p:cNvPr id="12" name="body-1bar">
            <a:extLst>
              <a:ext uri="{C183D7F6-B498-43B3-948B-1728B52AA6E4}">
                <adec:decorative xmlns:adec="http://schemas.microsoft.com/office/drawing/2017/decorative" val="1"/>
              </a:ext>
            </a:extLst>
          </p:cNvPr>
          <p:cNvSpPr/>
          <p:nvPr/>
        </p:nvSpPr>
        <p:spPr>
          <a:xfrm>
            <a:off x="841248" y="3066110"/>
            <a:ext cx="54864" cy="583996"/>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body-2"/>
          <p:cNvSpPr txBox="1"/>
          <p:nvPr/>
        </p:nvSpPr>
        <p:spPr>
          <a:xfrm>
            <a:off x="1042416" y="3782822"/>
            <a:ext cx="10234879" cy="155143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The distribution matters for how fast you find it.</a:t>
            </a:r>
            <a:r>
              <a:rPr sz="1900" b="0" i="0">
                <a:solidFill>
                  <a:srgbClr val="1C252B"/>
                </a:solidFill>
                <a:latin typeface="Segoe UI"/>
              </a:rPr>
              <a:t> Keys drawn from inside the array hang about a third of the time; keys known to be absent hang every time. A test suite built only from present keys would still have caught this — in roughly three trials — which is worth saying plainly, because the tidier story would be that testing misses it. Testing found this bug easily.</a:t>
            </a:r>
          </a:p>
        </p:txBody>
      </p:sp>
      <p:sp>
        <p:nvSpPr>
          <p:cNvPr id="14" name="body-2bar">
            <a:extLst>
              <a:ext uri="{C183D7F6-B498-43B3-948B-1728B52AA6E4}">
                <adec:decorative xmlns:adec="http://schemas.microsoft.com/office/drawing/2017/decorative" val="1"/>
              </a:ext>
            </a:extLst>
          </p:cNvPr>
          <p:cNvSpPr/>
          <p:nvPr/>
        </p:nvSpPr>
        <p:spPr>
          <a:xfrm>
            <a:off x="841248" y="3801109"/>
            <a:ext cx="54864" cy="148742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7033670"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20"/>
                                        <p:tgtEl>
                                          <p:spTgt spid="9"/>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wipe(right)">
                                      <p:cBhvr>
                                        <p:cTn id="16" dur="42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2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wipe(right)">
                                      <p:cBhvr>
                                        <p:cTn id="24" dur="42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2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Measured: 132 Million Iterations, Zero Wrong Answers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  ·  Correctness: Loop Invariants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§4.6  ·  Handout p. 35     </a:t>
            </a:r>
            <a:fld id="{F2E9DE9C-6DB2-42FA-8AA0-4D097F78DB7C}" type="slidenum">
              <a:rPr lang="en-GB" sz="1000">
                <a:solidFill>
                  <a:srgbClr val="8795A1"/>
                </a:solidFill>
                <a:latin typeface="Segoe UI"/>
              </a:rPr>
              <a:t>31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753209"/>
          </a:xfrm>
          <a:prstGeom prst="roundRect">
            <a:avLst>
              <a:gd name="adj" fmla="val 5215"/>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75320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1250289"/>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What testing could not have told you is </a:t>
            </a:r>
            <a:r>
              <a:rPr sz="1900" b="1" i="1">
                <a:solidFill>
                  <a:srgbClr val="1C252B"/>
                </a:solidFill>
                <a:latin typeface="Segoe UI"/>
              </a:rPr>
              <a:t>why</a:t>
            </a:r>
            <a:r>
              <a:rPr sz="1900" b="0" i="0">
                <a:solidFill>
                  <a:srgbClr val="1C252B"/>
                </a:solidFill>
                <a:latin typeface="Segoe UI"/>
              </a:rPr>
              <a:t>, or that the defect is confined entirely to termination with partial correctness intact. And a proof that checked only initialisation and maintenance — which is what most students write — would have certified this program as correct.</a:t>
            </a:r>
          </a:p>
        </p:txBody>
      </p:sp>
      <p:sp>
        <p:nvSpPr>
          <p:cNvPr id="10" name="body-0bar">
            <a:extLst>
              <a:ext uri="{C183D7F6-B498-43B3-948B-1728B52AA6E4}">
                <adec:decorative xmlns:adec="http://schemas.microsoft.com/office/drawing/2017/decorative" val="1"/>
              </a:ext>
            </a:extLst>
          </p:cNvPr>
          <p:cNvSpPr/>
          <p:nvPr/>
        </p:nvSpPr>
        <p:spPr>
          <a:xfrm>
            <a:off x="841248" y="2029967"/>
            <a:ext cx="54864" cy="1186281"/>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7268125"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2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  ·  Correctness: Loop Invariants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§4.6  ·  Handout p. 35     </a:t>
            </a:r>
            <a:fld id="{91E439FF-0CC3-41E7-9B89-26769680C8F4}" type="slidenum">
              <a:rPr lang="en-GB" sz="1000">
                <a:solidFill>
                  <a:srgbClr val="8795A1"/>
                </a:solidFill>
                <a:latin typeface="Segoe UI"/>
              </a:rPr>
              <a:t>32</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Omitting the permutation clause</a:t>
            </a:r>
            <a:r>
              <a:rPr sz="1700" b="0" i="0">
                <a:solidFill>
                  <a:srgbClr val="1C252B"/>
                </a:solidFill>
                <a:latin typeface="Segoe UI"/>
              </a:rPr>
              <a:t> from a sorting invariant. The all-zeros “sort” satisfies the weakened version.</a:t>
            </a:r>
          </a:p>
        </p:txBody>
      </p:sp>
      <p:sp>
        <p:nvSpPr>
          <p:cNvPr id="10" name="!!pb1">
            <a:extLst>
              <a:ext uri="{C183D7F6-B498-43B3-948B-1728B52AA6E4}">
                <adec:decorative xmlns:adec="http://schemas.microsoft.com/office/drawing/2017/decorative" val="1"/>
              </a:ext>
            </a:extLst>
          </p:cNvPr>
          <p:cNvSpPr/>
          <p:nvPr/>
        </p:nvSpPr>
        <p:spPr>
          <a:xfrm>
            <a:off x="658368" y="2495702"/>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518562"/>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477414"/>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Stating an invariant that mentions no loop variable.</a:t>
            </a:r>
            <a:r>
              <a:rPr sz="1700" b="0" i="0">
                <a:solidFill>
                  <a:srgbClr val="1C252B"/>
                </a:solidFill>
                <a:latin typeface="Segoe UI"/>
              </a:rPr>
              <a:t> “</a:t>
            </a:r>
            <a:r>
              <a:rPr sz="1700" b="0" i="1">
                <a:solidFill>
                  <a:srgbClr val="1C252B"/>
                </a:solidFill>
                <a:latin typeface="Cambria"/>
              </a:rPr>
              <a:t>A</a:t>
            </a:r>
            <a:r>
              <a:rPr sz="1700" b="0" i="0">
                <a:solidFill>
                  <a:srgbClr val="1C252B"/>
                </a:solidFill>
                <a:latin typeface="Segoe UI"/>
              </a:rPr>
              <a:t> is an array of numbers” is true throughout and proves nothing. A useful invariant relates the work done so far to the loop index.</a:t>
            </a:r>
          </a:p>
        </p:txBody>
      </p:sp>
      <p:sp>
        <p:nvSpPr>
          <p:cNvPr id="13" name="!!pb2">
            <a:extLst>
              <a:ext uri="{C183D7F6-B498-43B3-948B-1728B52AA6E4}">
                <adec:decorative xmlns:adec="http://schemas.microsoft.com/office/drawing/2017/decorative" val="1"/>
              </a:ext>
            </a:extLst>
          </p:cNvPr>
          <p:cNvSpPr/>
          <p:nvPr/>
        </p:nvSpPr>
        <p:spPr>
          <a:xfrm>
            <a:off x="658368" y="3235756"/>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x2"/>
          <p:cNvSpPr txBox="1"/>
          <p:nvPr/>
        </p:nvSpPr>
        <p:spPr>
          <a:xfrm>
            <a:off x="658368" y="3258616"/>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5" name="!!pt2"/>
          <p:cNvSpPr txBox="1"/>
          <p:nvPr/>
        </p:nvSpPr>
        <p:spPr>
          <a:xfrm>
            <a:off x="1261872" y="3217468"/>
            <a:ext cx="10271455" cy="808329"/>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Checking the invariant at the wrong moment.</a:t>
            </a:r>
            <a:r>
              <a:rPr sz="1700" b="0" i="0">
                <a:solidFill>
                  <a:srgbClr val="1C252B"/>
                </a:solidFill>
                <a:latin typeface="Segoe UI"/>
              </a:rPr>
              <a:t> It is asserted </a:t>
            </a:r>
            <a:r>
              <a:rPr sz="1700" b="0" i="1">
                <a:solidFill>
                  <a:srgbClr val="1C252B"/>
                </a:solidFill>
                <a:latin typeface="Segoe UI"/>
              </a:rPr>
              <a:t>before</a:t>
            </a:r>
            <a:r>
              <a:rPr sz="1700" b="0" i="0">
                <a:solidFill>
                  <a:srgbClr val="1C252B"/>
                </a:solidFill>
                <a:latin typeface="Segoe UI"/>
              </a:rPr>
              <a:t> each iteration, not in the middle of the body, where it is routinely false — insertion sort’s prefix is genuinely unsorted while the shifting is in progress.</a:t>
            </a:r>
          </a:p>
        </p:txBody>
      </p:sp>
      <p:sp>
        <p:nvSpPr>
          <p:cNvPr id="16" name="!!pb3">
            <a:extLst>
              <a:ext uri="{C183D7F6-B498-43B3-948B-1728B52AA6E4}">
                <adec:decorative xmlns:adec="http://schemas.microsoft.com/office/drawing/2017/decorative" val="1"/>
              </a:ext>
            </a:extLst>
          </p:cNvPr>
          <p:cNvSpPr/>
          <p:nvPr/>
        </p:nvSpPr>
        <p:spPr>
          <a:xfrm>
            <a:off x="658368" y="4245254"/>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x3"/>
          <p:cNvSpPr txBox="1"/>
          <p:nvPr/>
        </p:nvSpPr>
        <p:spPr>
          <a:xfrm>
            <a:off x="658368" y="4268114"/>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8" name="!!pt3"/>
          <p:cNvSpPr txBox="1"/>
          <p:nvPr/>
        </p:nvSpPr>
        <p:spPr>
          <a:xfrm>
            <a:off x="1261872" y="4226966"/>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Treating termination as a formality.</a:t>
            </a:r>
            <a:r>
              <a:rPr sz="1700" b="0" i="0">
                <a:solidFill>
                  <a:srgbClr val="1C252B"/>
                </a:solidFill>
                <a:latin typeface="Segoe UI"/>
              </a:rPr>
              <a:t> Section 4.6 is a program that passes the other two obligations and runs forever.</a:t>
            </a:r>
          </a:p>
        </p:txBody>
      </p:sp>
      <p:sp>
        <p:nvSpPr>
          <p:cNvPr id="19" name="!!pb4">
            <a:extLst>
              <a:ext uri="{C183D7F6-B498-43B3-948B-1728B52AA6E4}">
                <adec:decorative xmlns:adec="http://schemas.microsoft.com/office/drawing/2017/decorative" val="1"/>
              </a:ext>
            </a:extLst>
          </p:cNvPr>
          <p:cNvSpPr/>
          <p:nvPr/>
        </p:nvSpPr>
        <p:spPr>
          <a:xfrm>
            <a:off x="658368" y="498530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x4"/>
          <p:cNvSpPr txBox="1"/>
          <p:nvPr/>
        </p:nvSpPr>
        <p:spPr>
          <a:xfrm>
            <a:off x="658368" y="5008168"/>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1" name="!!pt4"/>
          <p:cNvSpPr txBox="1"/>
          <p:nvPr/>
        </p:nvSpPr>
        <p:spPr>
          <a:xfrm>
            <a:off x="1261872" y="4967020"/>
            <a:ext cx="10271455" cy="365760"/>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A measure that decreases but not in a well-founded set.</a:t>
            </a:r>
            <a:r>
              <a:rPr sz="1700" b="0" i="0">
                <a:solidFill>
                  <a:srgbClr val="1C252B"/>
                </a:solidFill>
                <a:latin typeface="Segoe UI"/>
              </a:rPr>
              <a:t> </a:t>
            </a:r>
            <a:r>
              <a:rPr sz="1700" b="0" i="1">
                <a:solidFill>
                  <a:srgbClr val="1C252B"/>
                </a:solidFill>
                <a:latin typeface="Cambria"/>
              </a:rPr>
              <a:t>x</a:t>
            </a:r>
            <a:r>
              <a:rPr sz="1700" b="0" i="0">
                <a:solidFill>
                  <a:srgbClr val="1C252B"/>
                </a:solidFill>
                <a:latin typeface="Cambria"/>
              </a:rPr>
              <a:t> </a:t>
            </a:r>
            <a:r>
              <a:rPr sz="1700" b="0" i="1">
                <a:solidFill>
                  <a:srgbClr val="1C252B"/>
                </a:solidFill>
                <a:latin typeface="Cambria"/>
              </a:rPr>
              <a:t>x</a:t>
            </a:r>
            <a:r>
              <a:rPr sz="1700" b="0" i="0">
                <a:solidFill>
                  <a:srgbClr val="1C252B"/>
                </a:solidFill>
                <a:latin typeface="Cambria"/>
              </a:rPr>
              <a:t>/2</a:t>
            </a:r>
            <a:r>
              <a:rPr sz="1700" b="0" i="0">
                <a:solidFill>
                  <a:srgbClr val="1C252B"/>
                </a:solidFill>
                <a:latin typeface="Segoe UI"/>
              </a:rPr>
              <a:t> over the reals.</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750258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 (continued)</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  ·  Correctness: Loop Invariants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§4.6  ·  Handout p. 35     </a:t>
            </a:r>
            <a:fld id="{77FCC0CB-7C3E-47EB-ABC3-1D7B067B0840}" type="slidenum">
              <a:rPr lang="en-GB" sz="1000">
                <a:solidFill>
                  <a:srgbClr val="8795A1"/>
                </a:solidFill>
                <a:latin typeface="Segoe UI"/>
              </a:rPr>
              <a:t>33</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808329"/>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Proving the loop correct and forgetting the exit condition.</a:t>
            </a:r>
            <a:r>
              <a:rPr sz="1700" b="0" i="0">
                <a:solidFill>
                  <a:srgbClr val="1C252B"/>
                </a:solidFill>
                <a:latin typeface="Segoe UI"/>
              </a:rPr>
              <a:t> The invariant alone is not the postcondition; you need the invariant </a:t>
            </a:r>
            <a:r>
              <a:rPr sz="1700" b="0" i="1">
                <a:solidFill>
                  <a:srgbClr val="1C252B"/>
                </a:solidFill>
                <a:latin typeface="Segoe UI"/>
              </a:rPr>
              <a:t>and</a:t>
            </a:r>
            <a:r>
              <a:rPr sz="1700" b="0" i="0">
                <a:solidFill>
                  <a:srgbClr val="1C252B"/>
                </a:solidFill>
                <a:latin typeface="Segoe UI"/>
              </a:rPr>
              <a:t> the reason the loop stopped, which is why every termination paragraph above substitutes the final index back in.</a:t>
            </a:r>
          </a:p>
        </p:txBody>
      </p:sp>
      <p:sp>
        <p:nvSpPr>
          <p:cNvPr id="10" name="!!pb1">
            <a:extLst>
              <a:ext uri="{C183D7F6-B498-43B3-948B-1728B52AA6E4}">
                <adec:decorative xmlns:adec="http://schemas.microsoft.com/office/drawing/2017/decorative" val="1"/>
              </a:ext>
            </a:extLst>
          </p:cNvPr>
          <p:cNvSpPr/>
          <p:nvPr/>
        </p:nvSpPr>
        <p:spPr>
          <a:xfrm>
            <a:off x="658368" y="2765145"/>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788005"/>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746857"/>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Assuming a proved algorithm gives a correct program.</a:t>
            </a:r>
            <a:r>
              <a:rPr sz="1700" b="0" i="0">
                <a:solidFill>
                  <a:srgbClr val="1C252B"/>
                </a:solidFill>
                <a:latin typeface="Segoe UI"/>
              </a:rPr>
              <a:t> The proof is about the algorithm; overflow, off-by-one and typing errors live below it.</a:t>
            </a:r>
          </a:p>
        </p:txBody>
      </p:sp>
      <p:sp>
        <p:nvSpPr>
          <p:cNvPr id="2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pfill">
            <a:extLst>
              <a:ext uri="{C183D7F6-B498-43B3-948B-1728B52AA6E4}">
                <adec:decorative xmlns:adec="http://schemas.microsoft.com/office/drawing/2017/decorative" val="1"/>
              </a:ext>
            </a:extLst>
          </p:cNvPr>
          <p:cNvSpPr/>
          <p:nvPr/>
        </p:nvSpPr>
        <p:spPr>
          <a:xfrm>
            <a:off x="0" y="0"/>
            <a:ext cx="7737037"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Try it yourself: A Bug That Is Never Wrong</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  ·  Correctness: Loop Invariants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§4.6  ·  Handout p. 35     </a:t>
            </a:r>
            <a:fld id="{45631FC1-D1BF-44A3-A381-841C7A453BE8}" type="slidenum">
              <a:rPr lang="en-GB" sz="1000">
                <a:solidFill>
                  <a:srgbClr val="8795A1"/>
                </a:solidFill>
                <a:latin typeface="Segoe UI"/>
              </a:rPr>
              <a:t>34</a:t>
            </a:fld>
          </a:p>
        </p:txBody>
      </p:sp>
      <p:sp>
        <p:nvSpPr>
          <p:cNvPr id="7" name="body-0"/>
          <p:cNvSpPr txBox="1"/>
          <p:nvPr/>
        </p:nvSpPr>
        <p:spPr>
          <a:xfrm>
            <a:off x="658368" y="1737360"/>
            <a:ext cx="10874959" cy="67970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Reproduces the table in Section 4.6. Expect twenty-five minutes; part C audits 132 million iterations and takes about a minute.</a:t>
            </a:r>
          </a:p>
        </p:txBody>
      </p:sp>
      <p:sp>
        <p:nvSpPr>
          <p:cNvPr id="8" name="!!labsteps-h"/>
          <p:cNvSpPr txBox="1"/>
          <p:nvPr/>
        </p:nvSpPr>
        <p:spPr>
          <a:xfrm>
            <a:off x="658368" y="2682240"/>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0E6655"/>
                </a:solidFill>
                <a:latin typeface="Segoe UI"/>
              </a:rPr>
              <a:t>WHAT YOU WILL DO</a:t>
            </a:r>
          </a:p>
        </p:txBody>
      </p:sp>
      <p:sp>
        <p:nvSpPr>
          <p:cNvPr id="9" name="!!labsteps"/>
          <p:cNvSpPr txBox="1"/>
          <p:nvPr/>
        </p:nvSpPr>
        <p:spPr>
          <a:xfrm>
            <a:off x="658368" y="3066288"/>
            <a:ext cx="10874959" cy="1859280"/>
          </a:xfrm>
          <a:prstGeom prst="rect">
            <a:avLst/>
          </a:prstGeom>
          <a:noFill/>
        </p:spPr>
        <p:txBody>
          <a:bodyPr wrap="square" anchor="t" lIns="0" rIns="0" tIns="0" bIns="0">
            <a:noAutofit/>
          </a:bodyPr>
          <a:lstStyle/>
          <a:p>
            <a:pPr algn="l" marL="404250" indent="-404250">
              <a:lnSpc>
                <a:spcPct val="100000"/>
              </a:lnSpc>
              <a:spcBef>
                <a:spcPts val="0"/>
              </a:spcBef>
              <a:spcAft>
                <a:spcPts val="480"/>
              </a:spcAft>
            </a:pPr>
            <a:r>
              <a:rPr sz="1600" b="1">
                <a:solidFill>
                  <a:srgbClr val="117A65"/>
                </a:solidFill>
                <a:latin typeface="Segoe UI"/>
              </a:rPr>
              <a:t>1.	</a:t>
            </a:r>
            <a:r>
              <a:rPr sz="1600" b="0" i="0">
                <a:solidFill>
                  <a:srgbClr val="1C252B"/>
                </a:solidFill>
                <a:latin typeface="Segoe UI"/>
              </a:rPr>
              <a:t>The correct version, and the invariant it maintains</a:t>
            </a:r>
          </a:p>
          <a:p>
            <a:pPr algn="l" marL="404250" indent="-404250">
              <a:lnSpc>
                <a:spcPct val="100000"/>
              </a:lnSpc>
              <a:spcBef>
                <a:spcPts val="0"/>
              </a:spcBef>
              <a:spcAft>
                <a:spcPts val="480"/>
              </a:spcAft>
            </a:pPr>
            <a:r>
              <a:rPr sz="1600" b="1">
                <a:solidFill>
                  <a:srgbClr val="117A65"/>
                </a:solidFill>
                <a:latin typeface="Segoe UI"/>
              </a:rPr>
              <a:t>2.	</a:t>
            </a:r>
            <a:r>
              <a:rPr sz="1600" b="0" i="0">
                <a:solidFill>
                  <a:srgbClr val="1C252B"/>
                </a:solidFill>
                <a:latin typeface="Segoe UI"/>
              </a:rPr>
              <a:t>The same search with one character changed</a:t>
            </a:r>
          </a:p>
          <a:p>
            <a:pPr algn="l" marL="404250" indent="-404250">
              <a:lnSpc>
                <a:spcPct val="100000"/>
              </a:lnSpc>
              <a:spcBef>
                <a:spcPts val="0"/>
              </a:spcBef>
              <a:spcAft>
                <a:spcPts val="480"/>
              </a:spcAft>
            </a:pPr>
            <a:r>
              <a:rPr sz="1600" b="1">
                <a:solidFill>
                  <a:srgbClr val="117A65"/>
                </a:solidFill>
                <a:latin typeface="Segoe UI"/>
              </a:rPr>
              <a:t>3.	</a:t>
            </a:r>
            <a:r>
              <a:rPr sz="1600" b="0" i="0">
                <a:solidFill>
                  <a:srgbClr val="1C252B"/>
                </a:solidFill>
                <a:latin typeface="Segoe UI"/>
              </a:rPr>
              <a:t>Ten thousand tests with keys that are present</a:t>
            </a:r>
          </a:p>
          <a:p>
            <a:pPr algn="l" marL="404250" indent="-404250">
              <a:lnSpc>
                <a:spcPct val="100000"/>
              </a:lnSpc>
              <a:spcBef>
                <a:spcPts val="0"/>
              </a:spcBef>
              <a:spcAft>
                <a:spcPts val="480"/>
              </a:spcAft>
            </a:pPr>
            <a:r>
              <a:rPr sz="1600" b="1">
                <a:solidFill>
                  <a:srgbClr val="117A65"/>
                </a:solidFill>
                <a:latin typeface="Segoe UI"/>
              </a:rPr>
              <a:t>4.	</a:t>
            </a:r>
            <a:r>
              <a:rPr sz="1600" b="0" i="0">
                <a:solidFill>
                  <a:srgbClr val="1C252B"/>
                </a:solidFill>
                <a:latin typeface="Segoe UI"/>
              </a:rPr>
              <a:t>The same ten thousand tests, keys absent</a:t>
            </a:r>
          </a:p>
          <a:p>
            <a:pPr algn="l" marL="404250" indent="-404250">
              <a:lnSpc>
                <a:spcPct val="100000"/>
              </a:lnSpc>
              <a:spcBef>
                <a:spcPts val="0"/>
              </a:spcBef>
              <a:spcAft>
                <a:spcPts val="480"/>
              </a:spcAft>
            </a:pPr>
            <a:r>
              <a:rPr sz="1600" b="1">
                <a:solidFill>
                  <a:srgbClr val="117A65"/>
                </a:solidFill>
                <a:latin typeface="Segoe UI"/>
              </a:rPr>
              <a:t>5.	</a:t>
            </a:r>
            <a:r>
              <a:rPr sz="1600" b="0" i="0">
                <a:solidFill>
                  <a:srgbClr val="1C252B"/>
                </a:solidFill>
                <a:latin typeface="Segoe UI"/>
              </a:rPr>
              <a:t>And the invariant? It never broke once.</a:t>
            </a:r>
          </a:p>
          <a:p>
            <a:pPr algn="l" marL="404250" indent="-404250">
              <a:lnSpc>
                <a:spcPct val="100000"/>
              </a:lnSpc>
              <a:spcBef>
                <a:spcPts val="0"/>
              </a:spcBef>
              <a:spcAft>
                <a:spcPts val="0"/>
              </a:spcAft>
            </a:pPr>
            <a:r>
              <a:rPr sz="1600" b="1">
                <a:solidFill>
                  <a:srgbClr val="117A65"/>
                </a:solidFill>
                <a:latin typeface="Segoe UI"/>
              </a:rPr>
              <a:t>6.	</a:t>
            </a:r>
            <a:r>
              <a:rPr sz="1600" b="0" i="0">
                <a:solidFill>
                  <a:srgbClr val="1C252B"/>
                </a:solidFill>
                <a:latin typeface="Segoe UI"/>
              </a:rPr>
              <a:t>Why proving beats testing, counted</a:t>
            </a:r>
          </a:p>
        </p:txBody>
      </p:sp>
      <p:sp>
        <p:nvSpPr>
          <p:cNvPr id="34" name="!!lfTHIS">
            <a:extLst>
              <a:ext uri="{C183D7F6-B498-43B3-948B-1728B52AA6E4}">
                <adec:decorative xmlns:adec="http://schemas.microsoft.com/office/drawing/2017/decorative" val="1"/>
              </a:ext>
            </a:extLst>
          </p:cNvPr>
          <p:cNvSpPr/>
          <p:nvPr/>
        </p:nvSpPr>
        <p:spPr>
          <a:xfrm>
            <a:off x="658368"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lfbTHIS">
            <a:extLst>
              <a:ext uri="{C183D7F6-B498-43B3-948B-1728B52AA6E4}">
                <adec:decorative xmlns:adec="http://schemas.microsoft.com/office/drawing/2017/decorative" val="1"/>
              </a:ext>
            </a:extLst>
          </p:cNvPr>
          <p:cNvSpPr/>
          <p:nvPr/>
        </p:nvSpPr>
        <p:spPr>
          <a:xfrm>
            <a:off x="658368"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lflTHIS"/>
          <p:cNvSpPr txBox="1"/>
          <p:nvPr/>
        </p:nvSpPr>
        <p:spPr>
          <a:xfrm>
            <a:off x="932688"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THIS WEEK'S LAB</a:t>
            </a:r>
          </a:p>
        </p:txBody>
      </p:sp>
      <p:sp>
        <p:nvSpPr>
          <p:cNvPr id="37" name="!!lfvTHIS"/>
          <p:cNvSpPr txBox="1"/>
          <p:nvPr/>
        </p:nvSpPr>
        <p:spPr>
          <a:xfrm>
            <a:off x="932688"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Week 3: A bug that is never wrong and never finishes</a:t>
            </a:r>
          </a:p>
        </p:txBody>
      </p:sp>
      <p:sp>
        <p:nvSpPr>
          <p:cNvPr id="38" name="!!lfWHAT">
            <a:extLst>
              <a:ext uri="{C183D7F6-B498-43B3-948B-1728B52AA6E4}">
                <adec:decorative xmlns:adec="http://schemas.microsoft.com/office/drawing/2017/decorative" val="1"/>
              </a:ext>
            </a:extLst>
          </p:cNvPr>
          <p:cNvSpPr/>
          <p:nvPr/>
        </p:nvSpPr>
        <p:spPr>
          <a:xfrm>
            <a:off x="4374794"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lfbWHAT">
            <a:extLst>
              <a:ext uri="{C183D7F6-B498-43B3-948B-1728B52AA6E4}">
                <adec:decorative xmlns:adec="http://schemas.microsoft.com/office/drawing/2017/decorative" val="1"/>
              </a:ext>
            </a:extLst>
          </p:cNvPr>
          <p:cNvSpPr/>
          <p:nvPr/>
        </p:nvSpPr>
        <p:spPr>
          <a:xfrm>
            <a:off x="4374794"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lflWHAT"/>
          <p:cNvSpPr txBox="1"/>
          <p:nvPr/>
        </p:nvSpPr>
        <p:spPr>
          <a:xfrm>
            <a:off x="4649114"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WHAT YOU WILL RUN</a:t>
            </a:r>
          </a:p>
        </p:txBody>
      </p:sp>
      <p:sp>
        <p:nvSpPr>
          <p:cNvPr id="41" name="!!lfvWHAT"/>
          <p:cNvSpPr txBox="1"/>
          <p:nvPr/>
        </p:nvSpPr>
        <p:spPr>
          <a:xfrm>
            <a:off x="4649114"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1 listing, 73 lines of C++</a:t>
            </a:r>
          </a:p>
        </p:txBody>
      </p:sp>
      <p:sp>
        <p:nvSpPr>
          <p:cNvPr id="42" name="!!lfRUNN">
            <a:extLst>
              <a:ext uri="{C183D7F6-B498-43B3-948B-1728B52AA6E4}">
                <adec:decorative xmlns:adec="http://schemas.microsoft.com/office/drawing/2017/decorative" val="1"/>
              </a:ext>
            </a:extLst>
          </p:cNvPr>
          <p:cNvSpPr/>
          <p:nvPr/>
        </p:nvSpPr>
        <p:spPr>
          <a:xfrm>
            <a:off x="8091220"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lfbRUNN">
            <a:extLst>
              <a:ext uri="{C183D7F6-B498-43B3-948B-1728B52AA6E4}">
                <adec:decorative xmlns:adec="http://schemas.microsoft.com/office/drawing/2017/decorative" val="1"/>
              </a:ext>
            </a:extLst>
          </p:cNvPr>
          <p:cNvSpPr/>
          <p:nvPr/>
        </p:nvSpPr>
        <p:spPr>
          <a:xfrm>
            <a:off x="8091220"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lflRUNN"/>
          <p:cNvSpPr txBox="1"/>
          <p:nvPr/>
        </p:nvSpPr>
        <p:spPr>
          <a:xfrm>
            <a:off x="8365540"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RUNNABLE COPY</a:t>
            </a:r>
          </a:p>
        </p:txBody>
      </p:sp>
      <p:sp>
        <p:nvSpPr>
          <p:cNvPr id="45" name="!!lfvRUNN"/>
          <p:cNvSpPr txBox="1"/>
          <p:nvPr/>
        </p:nvSpPr>
        <p:spPr>
          <a:xfrm>
            <a:off x="8365540"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Consolas"/>
              </a:rPr>
              <a:t>code/ch04_invariant.cpp</a:t>
            </a:r>
          </a:p>
        </p:txBody>
      </p:sp>
      <p:sp>
        <p:nvSpPr>
          <p:cNvPr id="4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pfill">
            <a:extLst>
              <a:ext uri="{C183D7F6-B498-43B3-948B-1728B52AA6E4}">
                <adec:decorative xmlns:adec="http://schemas.microsoft.com/office/drawing/2017/decorative" val="1"/>
              </a:ext>
            </a:extLst>
          </p:cNvPr>
          <p:cNvSpPr/>
          <p:nvPr/>
        </p:nvSpPr>
        <p:spPr>
          <a:xfrm>
            <a:off x="0" y="0"/>
            <a:ext cx="797149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xEl>
                                              <p:pRg st="0" end="0"/>
                                            </p:txEl>
                                          </p:spTgt>
                                        </p:tgtEl>
                                        <p:attrNameLst>
                                          <p:attrName>style.visibility</p:attrName>
                                        </p:attrNameLst>
                                      </p:cBhvr>
                                      <p:to>
                                        <p:strVal val="visible"/>
                                      </p:to>
                                    </p:set>
                                    <p:animEffect transition="in" filter="fade">
                                      <p:cBhvr>
                                        <p:cTn id="8" dur="300"/>
                                        <p:tgtEl>
                                          <p:spTgt spid="9">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fade">
                                      <p:cBhvr>
                                        <p:cTn id="13" dur="300"/>
                                        <p:tgtEl>
                                          <p:spTgt spid="9">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xEl>
                                              <p:pRg st="2" end="2"/>
                                            </p:txEl>
                                          </p:spTgt>
                                        </p:tgtEl>
                                        <p:attrNameLst>
                                          <p:attrName>style.visibility</p:attrName>
                                        </p:attrNameLst>
                                      </p:cBhvr>
                                      <p:to>
                                        <p:strVal val="visible"/>
                                      </p:to>
                                    </p:set>
                                    <p:animEffect transition="in" filter="fade">
                                      <p:cBhvr>
                                        <p:cTn id="18" dur="300"/>
                                        <p:tgtEl>
                                          <p:spTgt spid="9">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xEl>
                                              <p:pRg st="3" end="3"/>
                                            </p:txEl>
                                          </p:spTgt>
                                        </p:tgtEl>
                                        <p:attrNameLst>
                                          <p:attrName>style.visibility</p:attrName>
                                        </p:attrNameLst>
                                      </p:cBhvr>
                                      <p:to>
                                        <p:strVal val="visible"/>
                                      </p:to>
                                    </p:set>
                                    <p:animEffect transition="in" filter="fade">
                                      <p:cBhvr>
                                        <p:cTn id="23" dur="300"/>
                                        <p:tgtEl>
                                          <p:spTgt spid="9">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9">
                                            <p:txEl>
                                              <p:pRg st="4" end="4"/>
                                            </p:txEl>
                                          </p:spTgt>
                                        </p:tgtEl>
                                        <p:attrNameLst>
                                          <p:attrName>style.visibility</p:attrName>
                                        </p:attrNameLst>
                                      </p:cBhvr>
                                      <p:to>
                                        <p:strVal val="visible"/>
                                      </p:to>
                                    </p:set>
                                    <p:animEffect transition="in" filter="fade">
                                      <p:cBhvr>
                                        <p:cTn id="28" dur="300"/>
                                        <p:tgtEl>
                                          <p:spTgt spid="9">
                                            <p:txEl>
                                              <p:pRg st="4" end="4"/>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9">
                                            <p:txEl>
                                              <p:pRg st="5" end="5"/>
                                            </p:txEl>
                                          </p:spTgt>
                                        </p:tgtEl>
                                        <p:attrNameLst>
                                          <p:attrName>style.visibility</p:attrName>
                                        </p:attrNameLst>
                                      </p:cBhvr>
                                      <p:to>
                                        <p:strVal val="visible"/>
                                      </p:to>
                                    </p:set>
                                    <p:animEffect transition="in" filter="fade">
                                      <p:cBhvr>
                                        <p:cTn id="33" dur="300"/>
                                        <p:tgtEl>
                                          <p:spTgt spid="9">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Bug That Is Never Wrong</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 OF 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  ·  Correctness: Loop Invariants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§4.6  ·  Handout p. 35     </a:t>
            </a:r>
            <a:fld id="{15EFDAC6-10CA-4650-AED9-7689279A1B9A}" type="slidenum">
              <a:rPr lang="en-GB" sz="1000">
                <a:solidFill>
                  <a:srgbClr val="8795A1"/>
                </a:solidFill>
                <a:latin typeface="Segoe UI"/>
              </a:rPr>
              <a:t>35</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correct version, and the invariant it maintains</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78224"/>
          </a:xfrm>
          <a:prstGeom prst="roundRect">
            <a:avLst>
              <a:gd name="adj" fmla="val 224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C++  ·  code/ch04_invariant.cpp</a:t>
            </a:r>
          </a:p>
        </p:txBody>
      </p:sp>
      <p:sp>
        <p:nvSpPr>
          <p:cNvPr id="14" name="!!code-text" descr="// ch04_invariant.cpp -- why the THIRD obligation is not decoration. // Build: cl /O2 /EHsc /std:c++17 ch04_invariant.cpp (see Appendix A) // --- 1. The correct version, and the invariant it maintains -------- // Invariant: if x occurs in a, then it occurs in a[lo..hi]. // Initialisation: lo = 0, hi = n-1, so the range is all of a. // Maintenance: a is sorted, so discarding the half that cannot // contain x preserves the invariant. // Termination: hi - lo strictly decreases and is bounded below. static int bsearch_ok(const std::vector&lt;int&gt;&amp; a, int x) { int lo = 0, hi = (int)a.size() - 1; while (lo &lt;= hi) { int mid = lo + (hi - lo) / 2; if (a[mid] == x) return mid; if (a[mid] &lt; x) lo = mid + 1; // the correct step else hi = mid - 1; } return -1; }"/>
          <p:cNvSpPr txBox="1"/>
          <p:nvPr/>
        </p:nvSpPr>
        <p:spPr>
          <a:xfrm>
            <a:off x="1362456" y="2523744"/>
            <a:ext cx="9987991" cy="3584447"/>
          </a:xfrm>
          <a:prstGeom prst="rect">
            <a:avLst/>
          </a:prstGeom>
          <a:noFill/>
        </p:spPr>
        <p:txBody>
          <a:bodyPr wrap="none" anchor="t" lIns="0" rIns="0" tIns="0" bIns="0">
            <a:noAutofit/>
          </a:bodyPr>
          <a:lstStyle/>
          <a:p>
            <a:pPr>
              <a:lnSpc>
                <a:spcPct val="100000"/>
              </a:lnSpc>
              <a:spcAft>
                <a:spcPts val="0"/>
              </a:spcAft>
            </a:pPr>
            <a:r>
              <a:rPr sz="1200" i="1">
                <a:solidFill>
                  <a:srgbClr val="8795A1"/>
                </a:solidFill>
                <a:latin typeface="Consolas"/>
              </a:rPr>
              <a:t>// ch04_invariant.cpp -- why the THIRD obligation is not decoration.</a:t>
            </a:r>
          </a:p>
          <a:p>
            <a:pPr>
              <a:lnSpc>
                <a:spcPct val="100000"/>
              </a:lnSpc>
              <a:spcAft>
                <a:spcPts val="0"/>
              </a:spcAft>
            </a:pPr>
            <a:r>
              <a:rPr sz="1200" i="1">
                <a:solidFill>
                  <a:srgbClr val="8795A1"/>
                </a:solidFill>
                <a:latin typeface="Consolas"/>
              </a:rPr>
              <a:t>// Build: cl /O2 /EHsc /std:c++17 ch04_invariant.cpp  (see Appendix A)</a:t>
            </a:r>
          </a:p>
          <a:p>
            <a:pPr>
              <a:lnSpc>
                <a:spcPct val="100000"/>
              </a:lnSpc>
              <a:spcAft>
                <a:spcPts val="0"/>
              </a:spcAft>
            </a:pPr>
            <a:r>
              <a:rPr sz="1200">
                <a:latin typeface="Consolas"/>
              </a:rPr>
              <a:t> </a:t>
            </a:r>
          </a:p>
          <a:p>
            <a:pPr>
              <a:lnSpc>
                <a:spcPct val="100000"/>
              </a:lnSpc>
              <a:spcAft>
                <a:spcPts val="0"/>
              </a:spcAft>
            </a:pPr>
            <a:r>
              <a:rPr sz="1200" i="1">
                <a:solidFill>
                  <a:srgbClr val="8795A1"/>
                </a:solidFill>
                <a:latin typeface="Consolas"/>
              </a:rPr>
              <a:t>// --- 1. The correct version, and the invariant it maintains --------</a:t>
            </a:r>
          </a:p>
          <a:p>
            <a:pPr>
              <a:lnSpc>
                <a:spcPct val="100000"/>
              </a:lnSpc>
              <a:spcAft>
                <a:spcPts val="0"/>
              </a:spcAft>
            </a:pPr>
            <a:r>
              <a:rPr sz="1200" i="1">
                <a:solidFill>
                  <a:srgbClr val="8795A1"/>
                </a:solidFill>
                <a:latin typeface="Consolas"/>
              </a:rPr>
              <a:t>// Invariant: if x occurs in a, then it occurs in a[lo..hi].</a:t>
            </a:r>
          </a:p>
          <a:p>
            <a:pPr>
              <a:lnSpc>
                <a:spcPct val="100000"/>
              </a:lnSpc>
              <a:spcAft>
                <a:spcPts val="0"/>
              </a:spcAft>
            </a:pPr>
            <a:r>
              <a:rPr sz="1200" i="1">
                <a:solidFill>
                  <a:srgbClr val="8795A1"/>
                </a:solidFill>
                <a:latin typeface="Consolas"/>
              </a:rPr>
              <a:t>//   Initialisation: lo = 0, hi = n-1, so the range is all of a.</a:t>
            </a:r>
          </a:p>
          <a:p>
            <a:pPr>
              <a:lnSpc>
                <a:spcPct val="100000"/>
              </a:lnSpc>
              <a:spcAft>
                <a:spcPts val="0"/>
              </a:spcAft>
            </a:pPr>
            <a:r>
              <a:rPr sz="1200" i="1">
                <a:solidFill>
                  <a:srgbClr val="8795A1"/>
                </a:solidFill>
                <a:latin typeface="Consolas"/>
              </a:rPr>
              <a:t>//   Maintenance:    a is sorted, so discarding the half that cannot</a:t>
            </a:r>
          </a:p>
          <a:p>
            <a:pPr>
              <a:lnSpc>
                <a:spcPct val="100000"/>
              </a:lnSpc>
              <a:spcAft>
                <a:spcPts val="0"/>
              </a:spcAft>
            </a:pPr>
            <a:r>
              <a:rPr sz="1200" i="1">
                <a:solidFill>
                  <a:srgbClr val="8795A1"/>
                </a:solidFill>
                <a:latin typeface="Consolas"/>
              </a:rPr>
              <a:t>//                   contain x preserves the invariant.</a:t>
            </a:r>
          </a:p>
          <a:p>
            <a:pPr>
              <a:lnSpc>
                <a:spcPct val="100000"/>
              </a:lnSpc>
              <a:spcAft>
                <a:spcPts val="0"/>
              </a:spcAft>
            </a:pPr>
            <a:r>
              <a:rPr sz="1200" i="1">
                <a:solidFill>
                  <a:srgbClr val="8795A1"/>
                </a:solidFill>
                <a:latin typeface="Consolas"/>
              </a:rPr>
              <a:t>//   Termination:    hi - lo strictly decreases and is bounded below.</a:t>
            </a:r>
          </a:p>
          <a:p>
            <a:pPr>
              <a:lnSpc>
                <a:spcPct val="100000"/>
              </a:lnSpc>
              <a:spcAft>
                <a:spcPts val="0"/>
              </a:spcAft>
            </a:pPr>
            <a:r>
              <a:rPr sz="1200" i="0">
                <a:solidFill>
                  <a:srgbClr val="5DADE2"/>
                </a:solidFill>
                <a:latin typeface="Consolas"/>
              </a:rPr>
              <a:t>static</a:t>
            </a:r>
            <a:r>
              <a:rPr sz="1200" i="0">
                <a:solidFill>
                  <a:srgbClr val="E8EDF2"/>
                </a:solidFill>
                <a:latin typeface="Consolas"/>
              </a:rPr>
              <a:t> </a:t>
            </a:r>
            <a:r>
              <a:rPr sz="1200" i="0">
                <a:solidFill>
                  <a:srgbClr val="5DADE2"/>
                </a:solidFill>
                <a:latin typeface="Consolas"/>
              </a:rPr>
              <a:t>int</a:t>
            </a:r>
            <a:r>
              <a:rPr sz="1200" i="0">
                <a:solidFill>
                  <a:srgbClr val="E8EDF2"/>
                </a:solidFill>
                <a:latin typeface="Consolas"/>
              </a:rPr>
              <a:t> </a:t>
            </a:r>
            <a:r>
              <a:rPr sz="1200" i="0">
                <a:solidFill>
                  <a:srgbClr val="C39BD3"/>
                </a:solidFill>
                <a:latin typeface="Consolas"/>
              </a:rPr>
              <a:t>bsearch_ok</a:t>
            </a:r>
            <a:r>
              <a:rPr sz="1200" i="0">
                <a:solidFill>
                  <a:srgbClr val="AEB6BF"/>
                </a:solidFill>
                <a:latin typeface="Consolas"/>
              </a:rPr>
              <a:t>(</a:t>
            </a:r>
            <a:r>
              <a:rPr sz="1200" i="0">
                <a:solidFill>
                  <a:srgbClr val="5DADE2"/>
                </a:solidFill>
                <a:latin typeface="Consolas"/>
              </a:rPr>
              <a:t>const</a:t>
            </a:r>
            <a:r>
              <a:rPr sz="1200" i="0">
                <a:solidFill>
                  <a:srgbClr val="E8EDF2"/>
                </a:solidFill>
                <a:latin typeface="Consolas"/>
              </a:rPr>
              <a:t> </a:t>
            </a:r>
            <a:r>
              <a:rPr sz="1200" i="0">
                <a:solidFill>
                  <a:srgbClr val="E8EDF2"/>
                </a:solidFill>
                <a:latin typeface="Consolas"/>
              </a:rPr>
              <a:t>std</a:t>
            </a:r>
            <a:r>
              <a:rPr sz="1200" i="0">
                <a:solidFill>
                  <a:srgbClr val="AEB6BF"/>
                </a:solidFill>
                <a:latin typeface="Consolas"/>
              </a:rPr>
              <a:t>:</a:t>
            </a:r>
            <a:r>
              <a:rPr sz="1200" i="0">
                <a:solidFill>
                  <a:srgbClr val="AEB6BF"/>
                </a:solidFill>
                <a:latin typeface="Consolas"/>
              </a:rPr>
              <a:t>:</a:t>
            </a:r>
            <a:r>
              <a:rPr sz="1200" i="0">
                <a:solidFill>
                  <a:srgbClr val="E8EDF2"/>
                </a:solidFill>
                <a:latin typeface="Consolas"/>
              </a:rPr>
              <a:t>vector</a:t>
            </a:r>
            <a:r>
              <a:rPr sz="1200" i="0">
                <a:solidFill>
                  <a:srgbClr val="AEB6BF"/>
                </a:solidFill>
                <a:latin typeface="Consolas"/>
              </a:rPr>
              <a:t>&lt;</a:t>
            </a:r>
            <a:r>
              <a:rPr sz="1200" i="0">
                <a:solidFill>
                  <a:srgbClr val="5DADE2"/>
                </a:solidFill>
                <a:latin typeface="Consolas"/>
              </a:rPr>
              <a:t>int</a:t>
            </a:r>
            <a:r>
              <a:rPr sz="1200" i="0">
                <a:solidFill>
                  <a:srgbClr val="AEB6BF"/>
                </a:solidFill>
                <a:latin typeface="Consolas"/>
              </a:rPr>
              <a:t>&gt;</a:t>
            </a:r>
            <a:r>
              <a:rPr sz="1200" i="0">
                <a:solidFill>
                  <a:srgbClr val="AEB6BF"/>
                </a:solidFill>
                <a:latin typeface="Consolas"/>
              </a:rPr>
              <a:t>&amp;</a:t>
            </a:r>
            <a:r>
              <a:rPr sz="1200" i="0">
                <a:solidFill>
                  <a:srgbClr val="E8EDF2"/>
                </a:solidFill>
                <a:latin typeface="Consolas"/>
              </a:rPr>
              <a:t> </a:t>
            </a:r>
            <a:r>
              <a:rPr sz="1200" i="0">
                <a:solidFill>
                  <a:srgbClr val="E8EDF2"/>
                </a:solidFill>
                <a:latin typeface="Consolas"/>
              </a:rPr>
              <a:t>a</a:t>
            </a:r>
            <a:r>
              <a:rPr sz="1200" i="0">
                <a:solidFill>
                  <a:srgbClr val="AEB6BF"/>
                </a:solidFill>
                <a:latin typeface="Consolas"/>
              </a:rPr>
              <a:t>,</a:t>
            </a:r>
            <a:r>
              <a:rPr sz="1200" i="0">
                <a:solidFill>
                  <a:srgbClr val="E8EDF2"/>
                </a:solidFill>
                <a:latin typeface="Consolas"/>
              </a:rPr>
              <a:t> </a:t>
            </a:r>
            <a:r>
              <a:rPr sz="1200" i="0">
                <a:solidFill>
                  <a:srgbClr val="5DADE2"/>
                </a:solidFill>
                <a:latin typeface="Consolas"/>
              </a:rPr>
              <a:t>int</a:t>
            </a:r>
            <a:r>
              <a:rPr sz="1200" i="0">
                <a:solidFill>
                  <a:srgbClr val="E8EDF2"/>
                </a:solidFill>
                <a:latin typeface="Consolas"/>
              </a:rPr>
              <a:t> </a:t>
            </a:r>
            <a:r>
              <a:rPr sz="1200" i="0">
                <a:solidFill>
                  <a:srgbClr val="E8EDF2"/>
                </a:solidFill>
                <a:latin typeface="Consolas"/>
              </a:rPr>
              <a:t>x</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5DADE2"/>
                </a:solidFill>
                <a:latin typeface="Consolas"/>
              </a:rPr>
              <a:t>int</a:t>
            </a:r>
            <a:r>
              <a:rPr sz="1200" i="0">
                <a:solidFill>
                  <a:srgbClr val="E8EDF2"/>
                </a:solidFill>
                <a:latin typeface="Consolas"/>
              </a:rPr>
              <a:t> </a:t>
            </a:r>
            <a:r>
              <a:rPr sz="1200" i="0">
                <a:solidFill>
                  <a:srgbClr val="E8EDF2"/>
                </a:solidFill>
                <a:latin typeface="Consolas"/>
              </a:rPr>
              <a:t>lo</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F7DC6F"/>
                </a:solidFill>
                <a:latin typeface="Consolas"/>
              </a:rPr>
              <a:t>0</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hi</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5DADE2"/>
                </a:solidFill>
                <a:latin typeface="Consolas"/>
              </a:rPr>
              <a:t>int</a:t>
            </a:r>
            <a:r>
              <a:rPr sz="1200" i="0">
                <a:solidFill>
                  <a:srgbClr val="AEB6BF"/>
                </a:solidFill>
                <a:latin typeface="Consolas"/>
              </a:rPr>
              <a:t>)</a:t>
            </a:r>
            <a:r>
              <a:rPr sz="1200" i="0">
                <a:solidFill>
                  <a:srgbClr val="E8EDF2"/>
                </a:solidFill>
                <a:latin typeface="Consolas"/>
              </a:rPr>
              <a:t>a</a:t>
            </a:r>
            <a:r>
              <a:rPr sz="1200" i="0">
                <a:solidFill>
                  <a:srgbClr val="AEB6BF"/>
                </a:solidFill>
                <a:latin typeface="Consolas"/>
              </a:rPr>
              <a:t>.</a:t>
            </a:r>
            <a:r>
              <a:rPr sz="1200" i="0">
                <a:solidFill>
                  <a:srgbClr val="E8EDF2"/>
                </a:solidFill>
                <a:latin typeface="Consolas"/>
              </a:rPr>
              <a:t>size</a:t>
            </a:r>
            <a:r>
              <a:rPr sz="1200" i="0">
                <a:solidFill>
                  <a:srgbClr val="AEB6BF"/>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F7DC6F"/>
                </a:solidFill>
                <a:latin typeface="Consolas"/>
              </a:rPr>
              <a:t>1</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5DADE2"/>
                </a:solidFill>
                <a:latin typeface="Consolas"/>
              </a:rPr>
              <a:t>while</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lo</a:t>
            </a:r>
            <a:r>
              <a:rPr sz="1200" i="0">
                <a:solidFill>
                  <a:srgbClr val="E8EDF2"/>
                </a:solidFill>
                <a:latin typeface="Consolas"/>
              </a:rPr>
              <a:t> </a:t>
            </a:r>
            <a:r>
              <a:rPr sz="1200" i="0">
                <a:solidFill>
                  <a:srgbClr val="AEB6BF"/>
                </a:solidFill>
                <a:latin typeface="Consolas"/>
              </a:rPr>
              <a:t>&lt;</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hi</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5DADE2"/>
                </a:solidFill>
                <a:latin typeface="Consolas"/>
              </a:rPr>
              <a:t>int</a:t>
            </a:r>
            <a:r>
              <a:rPr sz="1200" i="0">
                <a:solidFill>
                  <a:srgbClr val="E8EDF2"/>
                </a:solidFill>
                <a:latin typeface="Consolas"/>
              </a:rPr>
              <a:t> </a:t>
            </a:r>
            <a:r>
              <a:rPr sz="1200" i="0">
                <a:solidFill>
                  <a:srgbClr val="E8EDF2"/>
                </a:solidFill>
                <a:latin typeface="Consolas"/>
              </a:rPr>
              <a:t>mid</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lo</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hi</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lo</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F7DC6F"/>
                </a:solidFill>
                <a:latin typeface="Consolas"/>
              </a:rPr>
              <a:t>2</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5DADE2"/>
                </a:solidFill>
                <a:latin typeface="Consolas"/>
              </a:rPr>
              <a:t>if</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a</a:t>
            </a:r>
            <a:r>
              <a:rPr sz="1200" i="0">
                <a:solidFill>
                  <a:srgbClr val="AEB6BF"/>
                </a:solidFill>
                <a:latin typeface="Consolas"/>
              </a:rPr>
              <a:t>[</a:t>
            </a:r>
            <a:r>
              <a:rPr sz="1200" i="0">
                <a:solidFill>
                  <a:srgbClr val="E8EDF2"/>
                </a:solidFill>
                <a:latin typeface="Consolas"/>
              </a:rPr>
              <a:t>mid</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x</a:t>
            </a:r>
            <a:r>
              <a:rPr sz="1200" i="0">
                <a:solidFill>
                  <a:srgbClr val="AEB6BF"/>
                </a:solidFill>
                <a:latin typeface="Consolas"/>
              </a:rPr>
              <a:t>)</a:t>
            </a:r>
            <a:r>
              <a:rPr sz="1200" i="0">
                <a:solidFill>
                  <a:srgbClr val="E8EDF2"/>
                </a:solidFill>
                <a:latin typeface="Consolas"/>
              </a:rPr>
              <a:t> </a:t>
            </a:r>
            <a:r>
              <a:rPr sz="1200" i="0">
                <a:solidFill>
                  <a:srgbClr val="5DADE2"/>
                </a:solidFill>
                <a:latin typeface="Consolas"/>
              </a:rPr>
              <a:t>return</a:t>
            </a:r>
            <a:r>
              <a:rPr sz="1200" i="0">
                <a:solidFill>
                  <a:srgbClr val="E8EDF2"/>
                </a:solidFill>
                <a:latin typeface="Consolas"/>
              </a:rPr>
              <a:t> </a:t>
            </a:r>
            <a:r>
              <a:rPr sz="1200" i="0">
                <a:solidFill>
                  <a:srgbClr val="E8EDF2"/>
                </a:solidFill>
                <a:latin typeface="Consolas"/>
              </a:rPr>
              <a:t>mid</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5DADE2"/>
                </a:solidFill>
                <a:latin typeface="Consolas"/>
              </a:rPr>
              <a:t>if</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a</a:t>
            </a:r>
            <a:r>
              <a:rPr sz="1200" i="0">
                <a:solidFill>
                  <a:srgbClr val="AEB6BF"/>
                </a:solidFill>
                <a:latin typeface="Consolas"/>
              </a:rPr>
              <a:t>[</a:t>
            </a:r>
            <a:r>
              <a:rPr sz="1200" i="0">
                <a:solidFill>
                  <a:srgbClr val="E8EDF2"/>
                </a:solidFill>
                <a:latin typeface="Consolas"/>
              </a:rPr>
              <a:t>mid</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&lt;</a:t>
            </a:r>
            <a:r>
              <a:rPr sz="1200" i="0">
                <a:solidFill>
                  <a:srgbClr val="E8EDF2"/>
                </a:solidFill>
                <a:latin typeface="Consolas"/>
              </a:rPr>
              <a:t> </a:t>
            </a:r>
            <a:r>
              <a:rPr sz="1200" i="0">
                <a:solidFill>
                  <a:srgbClr val="E8EDF2"/>
                </a:solidFill>
                <a:latin typeface="Consolas"/>
              </a:rPr>
              <a:t>x</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lo</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mid</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F7DC6F"/>
                </a:solidFill>
                <a:latin typeface="Consolas"/>
              </a:rPr>
              <a:t>1</a:t>
            </a:r>
            <a:r>
              <a:rPr sz="1200" i="0">
                <a:solidFill>
                  <a:srgbClr val="AEB6BF"/>
                </a:solidFill>
                <a:latin typeface="Consolas"/>
              </a:rPr>
              <a:t>;</a:t>
            </a:r>
            <a:r>
              <a:rPr sz="1200" i="0">
                <a:solidFill>
                  <a:srgbClr val="E8EDF2"/>
                </a:solidFill>
                <a:latin typeface="Consolas"/>
              </a:rPr>
              <a:t>   </a:t>
            </a:r>
            <a:r>
              <a:rPr sz="1200" i="1">
                <a:solidFill>
                  <a:srgbClr val="8795A1"/>
                </a:solidFill>
                <a:latin typeface="Consolas"/>
              </a:rPr>
              <a:t>// the correct step</a:t>
            </a:r>
          </a:p>
          <a:p>
            <a:pPr>
              <a:lnSpc>
                <a:spcPct val="100000"/>
              </a:lnSpc>
              <a:spcAft>
                <a:spcPts val="0"/>
              </a:spcAft>
            </a:pPr>
            <a:r>
              <a:rPr sz="1200" i="0">
                <a:solidFill>
                  <a:srgbClr val="E8EDF2"/>
                </a:solidFill>
                <a:latin typeface="Consolas"/>
              </a:rPr>
              <a:t>        </a:t>
            </a:r>
            <a:r>
              <a:rPr sz="1200" i="0">
                <a:solidFill>
                  <a:srgbClr val="5DADE2"/>
                </a:solidFill>
                <a:latin typeface="Consolas"/>
              </a:rPr>
              <a:t>else</a:t>
            </a:r>
            <a:r>
              <a:rPr sz="1200" i="0">
                <a:solidFill>
                  <a:srgbClr val="E8EDF2"/>
                </a:solidFill>
                <a:latin typeface="Consolas"/>
              </a:rPr>
              <a:t>            </a:t>
            </a:r>
            <a:r>
              <a:rPr sz="1200" i="0">
                <a:solidFill>
                  <a:srgbClr val="E8EDF2"/>
                </a:solidFill>
                <a:latin typeface="Consolas"/>
              </a:rPr>
              <a:t>hi</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mid</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F7DC6F"/>
                </a:solidFill>
                <a:latin typeface="Consolas"/>
              </a:rPr>
              <a:t>1</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5DADE2"/>
                </a:solidFill>
                <a:latin typeface="Consolas"/>
              </a:rPr>
              <a:t>return</a:t>
            </a:r>
            <a:r>
              <a:rPr sz="1200" i="0">
                <a:solidFill>
                  <a:srgbClr val="E8EDF2"/>
                </a:solidFill>
                <a:latin typeface="Consolas"/>
              </a:rPr>
              <a:t> </a:t>
            </a:r>
            <a:r>
              <a:rPr sz="1200" i="0">
                <a:solidFill>
                  <a:srgbClr val="F7DC6F"/>
                </a:solidFill>
                <a:latin typeface="Consolas"/>
              </a:rPr>
              <a:t>-1</a:t>
            </a:r>
            <a:r>
              <a:rPr sz="1200" i="0">
                <a:solidFill>
                  <a:srgbClr val="AEB6BF"/>
                </a:solidFill>
                <a:latin typeface="Consolas"/>
              </a:rPr>
              <a:t>;</a:t>
            </a:r>
          </a:p>
          <a:p>
            <a:pPr>
              <a:lnSpc>
                <a:spcPct val="100000"/>
              </a:lnSpc>
              <a:spcAft>
                <a:spcPts val="0"/>
              </a:spcAft>
            </a:pPr>
            <a:r>
              <a:rPr sz="1200" i="0">
                <a:solidFill>
                  <a:srgbClr val="AEB6BF"/>
                </a:solidFill>
                <a:latin typeface="Consolas"/>
              </a:rPr>
              <a:t>}</a:t>
            </a:r>
          </a:p>
        </p:txBody>
      </p:sp>
      <p:sp>
        <p:nvSpPr>
          <p:cNvPr id="15" name="!!code-num"/>
          <p:cNvSpPr txBox="1"/>
          <p:nvPr/>
        </p:nvSpPr>
        <p:spPr>
          <a:xfrm>
            <a:off x="768096" y="2523744"/>
            <a:ext cx="393192" cy="3584447"/>
          </a:xfrm>
          <a:prstGeom prst="rect">
            <a:avLst/>
          </a:prstGeom>
          <a:noFill/>
        </p:spPr>
        <p:txBody>
          <a:bodyPr wrap="none" anchor="t" lIns="0" rIns="0" tIns="0" bIns="0">
            <a:noAutofit/>
          </a:bodyPr>
          <a:lstStyle/>
          <a:p>
            <a:pPr algn="r">
              <a:lnSpc>
                <a:spcPct val="100000"/>
              </a:lnSpc>
            </a:pPr>
            <a:r>
              <a:rPr sz="1200">
                <a:solidFill>
                  <a:srgbClr val="4F5D6A"/>
                </a:solidFill>
                <a:latin typeface="Consolas"/>
              </a:rPr>
              <a:t>1</a:t>
            </a:r>
          </a:p>
          <a:p>
            <a:pPr algn="r">
              <a:lnSpc>
                <a:spcPct val="100000"/>
              </a:lnSpc>
            </a:pPr>
            <a:r>
              <a:rPr sz="1200">
                <a:solidFill>
                  <a:srgbClr val="4F5D6A"/>
                </a:solidFill>
                <a:latin typeface="Consolas"/>
              </a:rPr>
              <a:t>2</a:t>
            </a:r>
          </a:p>
          <a:p>
            <a:pPr algn="r">
              <a:lnSpc>
                <a:spcPct val="100000"/>
              </a:lnSpc>
            </a:pPr>
            <a:r>
              <a:rPr sz="1200">
                <a:solidFill>
                  <a:srgbClr val="4F5D6A"/>
                </a:solidFill>
                <a:latin typeface="Consolas"/>
              </a:rPr>
              <a:t>3</a:t>
            </a:r>
          </a:p>
          <a:p>
            <a:pPr algn="r">
              <a:lnSpc>
                <a:spcPct val="100000"/>
              </a:lnSpc>
            </a:pPr>
            <a:r>
              <a:rPr sz="1200">
                <a:solidFill>
                  <a:srgbClr val="4F5D6A"/>
                </a:solidFill>
                <a:latin typeface="Consolas"/>
              </a:rPr>
              <a:t>4</a:t>
            </a:r>
          </a:p>
          <a:p>
            <a:pPr algn="r">
              <a:lnSpc>
                <a:spcPct val="100000"/>
              </a:lnSpc>
            </a:pPr>
            <a:r>
              <a:rPr sz="1200">
                <a:solidFill>
                  <a:srgbClr val="4F5D6A"/>
                </a:solidFill>
                <a:latin typeface="Consolas"/>
              </a:rPr>
              <a:t>5</a:t>
            </a:r>
          </a:p>
          <a:p>
            <a:pPr algn="r">
              <a:lnSpc>
                <a:spcPct val="100000"/>
              </a:lnSpc>
            </a:pPr>
            <a:r>
              <a:rPr sz="1200">
                <a:solidFill>
                  <a:srgbClr val="4F5D6A"/>
                </a:solidFill>
                <a:latin typeface="Consolas"/>
              </a:rPr>
              <a:t>6</a:t>
            </a:r>
          </a:p>
          <a:p>
            <a:pPr algn="r">
              <a:lnSpc>
                <a:spcPct val="100000"/>
              </a:lnSpc>
            </a:pPr>
            <a:r>
              <a:rPr sz="1200">
                <a:solidFill>
                  <a:srgbClr val="4F5D6A"/>
                </a:solidFill>
                <a:latin typeface="Consolas"/>
              </a:rPr>
              <a:t>7</a:t>
            </a:r>
          </a:p>
          <a:p>
            <a:pPr algn="r">
              <a:lnSpc>
                <a:spcPct val="100000"/>
              </a:lnSpc>
            </a:pPr>
            <a:r>
              <a:rPr sz="1200">
                <a:solidFill>
                  <a:srgbClr val="4F5D6A"/>
                </a:solidFill>
                <a:latin typeface="Consolas"/>
              </a:rPr>
              <a:t>8</a:t>
            </a:r>
          </a:p>
          <a:p>
            <a:pPr algn="r">
              <a:lnSpc>
                <a:spcPct val="100000"/>
              </a:lnSpc>
            </a:pPr>
            <a:r>
              <a:rPr sz="1200">
                <a:solidFill>
                  <a:srgbClr val="4F5D6A"/>
                </a:solidFill>
                <a:latin typeface="Consolas"/>
              </a:rPr>
              <a:t>9</a:t>
            </a:r>
          </a:p>
          <a:p>
            <a:pPr algn="r">
              <a:lnSpc>
                <a:spcPct val="100000"/>
              </a:lnSpc>
            </a:pPr>
            <a:r>
              <a:rPr sz="1200">
                <a:solidFill>
                  <a:srgbClr val="4F5D6A"/>
                </a:solidFill>
                <a:latin typeface="Consolas"/>
              </a:rPr>
              <a:t>10</a:t>
            </a:r>
          </a:p>
          <a:p>
            <a:pPr algn="r">
              <a:lnSpc>
                <a:spcPct val="100000"/>
              </a:lnSpc>
            </a:pPr>
            <a:r>
              <a:rPr sz="1200">
                <a:solidFill>
                  <a:srgbClr val="4F5D6A"/>
                </a:solidFill>
                <a:latin typeface="Consolas"/>
              </a:rPr>
              <a:t>11</a:t>
            </a:r>
          </a:p>
          <a:p>
            <a:pPr algn="r">
              <a:lnSpc>
                <a:spcPct val="100000"/>
              </a:lnSpc>
            </a:pPr>
            <a:r>
              <a:rPr sz="1200">
                <a:solidFill>
                  <a:srgbClr val="4F5D6A"/>
                </a:solidFill>
                <a:latin typeface="Consolas"/>
              </a:rPr>
              <a:t>12</a:t>
            </a:r>
          </a:p>
          <a:p>
            <a:pPr algn="r">
              <a:lnSpc>
                <a:spcPct val="100000"/>
              </a:lnSpc>
            </a:pPr>
            <a:r>
              <a:rPr sz="1200">
                <a:solidFill>
                  <a:srgbClr val="4F5D6A"/>
                </a:solidFill>
                <a:latin typeface="Consolas"/>
              </a:rPr>
              <a:t>13</a:t>
            </a:r>
          </a:p>
          <a:p>
            <a:pPr algn="r">
              <a:lnSpc>
                <a:spcPct val="100000"/>
              </a:lnSpc>
            </a:pPr>
            <a:r>
              <a:rPr sz="1200">
                <a:solidFill>
                  <a:srgbClr val="4F5D6A"/>
                </a:solidFill>
                <a:latin typeface="Consolas"/>
              </a:rPr>
              <a:t>14</a:t>
            </a:r>
          </a:p>
          <a:p>
            <a:pPr algn="r">
              <a:lnSpc>
                <a:spcPct val="100000"/>
              </a:lnSpc>
            </a:pPr>
            <a:r>
              <a:rPr sz="1200">
                <a:solidFill>
                  <a:srgbClr val="4F5D6A"/>
                </a:solidFill>
                <a:latin typeface="Consolas"/>
              </a:rPr>
              <a:t>15</a:t>
            </a:r>
          </a:p>
          <a:p>
            <a:pPr algn="r">
              <a:lnSpc>
                <a:spcPct val="100000"/>
              </a:lnSpc>
            </a:pPr>
            <a:r>
              <a:rPr sz="1200">
                <a:solidFill>
                  <a:srgbClr val="4F5D6A"/>
                </a:solidFill>
                <a:latin typeface="Consolas"/>
              </a:rPr>
              <a:t>16</a:t>
            </a:r>
          </a:p>
          <a:p>
            <a:pPr algn="r">
              <a:lnSpc>
                <a:spcPct val="100000"/>
              </a:lnSpc>
            </a:pPr>
            <a:r>
              <a:rPr sz="1200">
                <a:solidFill>
                  <a:srgbClr val="4F5D6A"/>
                </a:solidFill>
                <a:latin typeface="Consolas"/>
              </a:rPr>
              <a:t>17</a:t>
            </a:r>
          </a:p>
          <a:p>
            <a:pPr algn="r">
              <a:lnSpc>
                <a:spcPct val="100000"/>
              </a:lnSpc>
            </a:pPr>
            <a:r>
              <a:rPr sz="1200">
                <a:solidFill>
                  <a:srgbClr val="4F5D6A"/>
                </a:solidFill>
                <a:latin typeface="Consolas"/>
              </a:rPr>
              <a:t>18</a:t>
            </a:r>
          </a:p>
          <a:p>
            <a:pPr algn="r">
              <a:lnSpc>
                <a:spcPct val="100000"/>
              </a:lnSpc>
            </a:pPr>
            <a:r>
              <a:rPr sz="1200">
                <a:solidFill>
                  <a:srgbClr val="4F5D6A"/>
                </a:solidFill>
                <a:latin typeface="Consolas"/>
              </a:rPr>
              <a:t>19</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205948"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Bug That Is Never Wrong</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 OF 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  ·  Correctness: Loop Invariants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§4.6  ·  Handout p. 35     </a:t>
            </a:r>
            <a:fld id="{EBB36791-1B6C-47C8-A911-70A9F7B8FD67}" type="slidenum">
              <a:rPr lang="en-GB" sz="1000">
                <a:solidFill>
                  <a:srgbClr val="8795A1"/>
                </a:solidFill>
                <a:latin typeface="Segoe UI"/>
              </a:rPr>
              <a:t>36</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same search with one character changed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051303"/>
          </a:xfrm>
          <a:prstGeom prst="roundRect">
            <a:avLst>
              <a:gd name="adj" fmla="val 445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C++  ·  code/ch04_invariant.cpp</a:t>
            </a:r>
          </a:p>
        </p:txBody>
      </p:sp>
      <p:sp>
        <p:nvSpPr>
          <p:cNvPr id="14" name="!!code-text" descr="// --- 2. The same search with one character changed ----------------- // &quot;lo = mid&quot; still discards nothing that could hold x, so the // invariant SURVIVES. But when hi == lo + 1 and a[mid] &lt; x, mid // computes to lo, so lo = mid leaves lo and hi UNCHANGED and the loop // makes no progress. It is not wrong; it is non-terminating."/>
          <p:cNvSpPr txBox="1"/>
          <p:nvPr/>
        </p:nvSpPr>
        <p:spPr>
          <a:xfrm>
            <a:off x="1362456" y="2523744"/>
            <a:ext cx="9987991" cy="1557528"/>
          </a:xfrm>
          <a:prstGeom prst="rect">
            <a:avLst/>
          </a:prstGeom>
          <a:noFill/>
        </p:spPr>
        <p:txBody>
          <a:bodyPr wrap="none" anchor="t" lIns="0" rIns="0" tIns="0" bIns="0">
            <a:noAutofit/>
          </a:bodyPr>
          <a:lstStyle/>
          <a:p>
            <a:pPr>
              <a:lnSpc>
                <a:spcPct val="100000"/>
              </a:lnSpc>
              <a:spcAft>
                <a:spcPts val="0"/>
              </a:spcAft>
            </a:pPr>
            <a:r>
              <a:rPr sz="1900" i="1">
                <a:solidFill>
                  <a:srgbClr val="8795A1"/>
                </a:solidFill>
                <a:latin typeface="Consolas"/>
              </a:rPr>
              <a:t>// --- 2. The same search with one character changed -----------------</a:t>
            </a:r>
          </a:p>
          <a:p>
            <a:pPr>
              <a:lnSpc>
                <a:spcPct val="100000"/>
              </a:lnSpc>
              <a:spcAft>
                <a:spcPts val="0"/>
              </a:spcAft>
            </a:pPr>
            <a:r>
              <a:rPr sz="1900" i="1">
                <a:solidFill>
                  <a:srgbClr val="8795A1"/>
                </a:solidFill>
                <a:latin typeface="Consolas"/>
              </a:rPr>
              <a:t>// "lo = mid" still discards nothing that could hold x, so the</a:t>
            </a:r>
          </a:p>
          <a:p>
            <a:pPr>
              <a:lnSpc>
                <a:spcPct val="100000"/>
              </a:lnSpc>
              <a:spcAft>
                <a:spcPts val="0"/>
              </a:spcAft>
            </a:pPr>
            <a:r>
              <a:rPr sz="1900" i="1">
                <a:solidFill>
                  <a:srgbClr val="8795A1"/>
                </a:solidFill>
                <a:latin typeface="Consolas"/>
              </a:rPr>
              <a:t>// invariant SURVIVES. But when hi == lo + 1 and a[mid] &lt; x, mid</a:t>
            </a:r>
          </a:p>
          <a:p>
            <a:pPr>
              <a:lnSpc>
                <a:spcPct val="100000"/>
              </a:lnSpc>
              <a:spcAft>
                <a:spcPts val="0"/>
              </a:spcAft>
            </a:pPr>
            <a:r>
              <a:rPr sz="1900" i="1">
                <a:solidFill>
                  <a:srgbClr val="8795A1"/>
                </a:solidFill>
                <a:latin typeface="Consolas"/>
              </a:rPr>
              <a:t>// computes to lo, so lo = mid leaves lo and hi UNCHANGED and the loop</a:t>
            </a:r>
          </a:p>
          <a:p>
            <a:pPr>
              <a:lnSpc>
                <a:spcPct val="100000"/>
              </a:lnSpc>
              <a:spcAft>
                <a:spcPts val="0"/>
              </a:spcAft>
            </a:pPr>
            <a:r>
              <a:rPr sz="1900" i="1">
                <a:solidFill>
                  <a:srgbClr val="8795A1"/>
                </a:solidFill>
                <a:latin typeface="Consolas"/>
              </a:rPr>
              <a:t>// makes no progress. It is not wrong; it is non-terminating.</a:t>
            </a:r>
          </a:p>
        </p:txBody>
      </p:sp>
      <p:sp>
        <p:nvSpPr>
          <p:cNvPr id="15" name="!!code-num"/>
          <p:cNvSpPr txBox="1"/>
          <p:nvPr/>
        </p:nvSpPr>
        <p:spPr>
          <a:xfrm>
            <a:off x="768096" y="2523744"/>
            <a:ext cx="393192" cy="1557528"/>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21</a:t>
            </a:r>
          </a:p>
          <a:p>
            <a:pPr algn="r">
              <a:lnSpc>
                <a:spcPct val="100000"/>
              </a:lnSpc>
            </a:pPr>
            <a:r>
              <a:rPr sz="1900">
                <a:solidFill>
                  <a:srgbClr val="4F5D6A"/>
                </a:solidFill>
                <a:latin typeface="Consolas"/>
              </a:rPr>
              <a:t>22</a:t>
            </a:r>
          </a:p>
          <a:p>
            <a:pPr algn="r">
              <a:lnSpc>
                <a:spcPct val="100000"/>
              </a:lnSpc>
            </a:pPr>
            <a:r>
              <a:rPr sz="1900">
                <a:solidFill>
                  <a:srgbClr val="4F5D6A"/>
                </a:solidFill>
                <a:latin typeface="Consolas"/>
              </a:rPr>
              <a:t>23</a:t>
            </a:r>
          </a:p>
          <a:p>
            <a:pPr algn="r">
              <a:lnSpc>
                <a:spcPct val="100000"/>
              </a:lnSpc>
            </a:pPr>
            <a:r>
              <a:rPr sz="1900">
                <a:solidFill>
                  <a:srgbClr val="4F5D6A"/>
                </a:solidFill>
                <a:latin typeface="Consolas"/>
              </a:rPr>
              <a:t>24</a:t>
            </a:r>
          </a:p>
          <a:p>
            <a:pPr algn="r">
              <a:lnSpc>
                <a:spcPct val="100000"/>
              </a:lnSpc>
            </a:pPr>
            <a:r>
              <a:rPr sz="1900">
                <a:solidFill>
                  <a:srgbClr val="4F5D6A"/>
                </a:solidFill>
                <a:latin typeface="Consolas"/>
              </a:rPr>
              <a:t>25</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440404"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Bug That Is Never Wrong</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3 OF 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  ·  Correctness: Loop Invariants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§4.6  ·  Handout p. 35     </a:t>
            </a:r>
            <a:fld id="{10D1C394-7A14-4A33-9688-D9E4664DD408}" type="slidenum">
              <a:rPr lang="en-GB" sz="1000">
                <a:solidFill>
                  <a:srgbClr val="8795A1"/>
                </a:solidFill>
                <a:latin typeface="Segoe UI"/>
              </a:rPr>
              <a:t>37</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same search with one character changed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56303"/>
          </a:xfrm>
          <a:prstGeom prst="roundRect">
            <a:avLst>
              <a:gd name="adj" fmla="val 2311"/>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C++  ·  code/ch04_invariant.cpp</a:t>
            </a:r>
          </a:p>
        </p:txBody>
      </p:sp>
      <p:sp>
        <p:nvSpPr>
          <p:cNvPr id="14" name="!!code-text" descr="static int bsearch_bug(const std::vector&lt;int&gt;&amp; a, int x, bool* inv_ever_broken, long long* iters) { int lo = 0, hi = (int)a.size() - 1; for (int step = 0; step &lt; CAP; ++step) { if (lo &gt; hi) return -1; int mid = lo + (hi - lo) / 2; // Audit the invariant itself, every single iteration: if x is // present in the whole array, is it still inside [lo, hi]? if (std::binary_search(a.begin(), a.end(), x)) { bool in_window = false; for (int i = lo; i &lt;= hi; ++i) if (a[i] == x) { in_window = true; break; } if (!in_window) *inv_ever_broken = true; } ++*iters; if (a[mid] == x) return mid; if (a[mid] &lt; x) lo = mid; // &lt;-- the one-character bug else hi = mid - 1;"/>
          <p:cNvSpPr txBox="1"/>
          <p:nvPr/>
        </p:nvSpPr>
        <p:spPr>
          <a:xfrm>
            <a:off x="1362456" y="2523744"/>
            <a:ext cx="9987991" cy="3462527"/>
          </a:xfrm>
          <a:prstGeom prst="rect">
            <a:avLst/>
          </a:prstGeom>
          <a:noFill/>
        </p:spPr>
        <p:txBody>
          <a:bodyPr wrap="none" anchor="t" lIns="0" rIns="0" tIns="0" bIns="0">
            <a:noAutofit/>
          </a:bodyPr>
          <a:lstStyle/>
          <a:p>
            <a:pPr>
              <a:lnSpc>
                <a:spcPct val="100000"/>
              </a:lnSpc>
              <a:spcAft>
                <a:spcPts val="0"/>
              </a:spcAft>
            </a:pPr>
            <a:r>
              <a:rPr sz="1100" i="0">
                <a:solidFill>
                  <a:srgbClr val="5DADE2"/>
                </a:solidFill>
                <a:latin typeface="Consolas"/>
              </a:rPr>
              <a:t>static</a:t>
            </a:r>
            <a:r>
              <a:rPr sz="1100" i="0">
                <a:solidFill>
                  <a:srgbClr val="E8EDF2"/>
                </a:solidFill>
                <a:latin typeface="Consolas"/>
              </a:rPr>
              <a:t> </a:t>
            </a:r>
            <a:r>
              <a:rPr sz="1100" i="0">
                <a:solidFill>
                  <a:srgbClr val="5DADE2"/>
                </a:solidFill>
                <a:latin typeface="Consolas"/>
              </a:rPr>
              <a:t>int</a:t>
            </a:r>
            <a:r>
              <a:rPr sz="1100" i="0">
                <a:solidFill>
                  <a:srgbClr val="E8EDF2"/>
                </a:solidFill>
                <a:latin typeface="Consolas"/>
              </a:rPr>
              <a:t> </a:t>
            </a:r>
            <a:r>
              <a:rPr sz="1100" i="0">
                <a:solidFill>
                  <a:srgbClr val="C39BD3"/>
                </a:solidFill>
                <a:latin typeface="Consolas"/>
              </a:rPr>
              <a:t>bsearch_bug</a:t>
            </a:r>
            <a:r>
              <a:rPr sz="1100" i="0">
                <a:solidFill>
                  <a:srgbClr val="AEB6BF"/>
                </a:solidFill>
                <a:latin typeface="Consolas"/>
              </a:rPr>
              <a:t>(</a:t>
            </a:r>
            <a:r>
              <a:rPr sz="1100" i="0">
                <a:solidFill>
                  <a:srgbClr val="5DADE2"/>
                </a:solidFill>
                <a:latin typeface="Consolas"/>
              </a:rPr>
              <a:t>const</a:t>
            </a:r>
            <a:r>
              <a:rPr sz="1100" i="0">
                <a:solidFill>
                  <a:srgbClr val="E8EDF2"/>
                </a:solidFill>
                <a:latin typeface="Consolas"/>
              </a:rPr>
              <a:t> </a:t>
            </a:r>
            <a:r>
              <a:rPr sz="1100" i="0">
                <a:solidFill>
                  <a:srgbClr val="E8EDF2"/>
                </a:solidFill>
                <a:latin typeface="Consolas"/>
              </a:rPr>
              <a:t>std</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vector</a:t>
            </a:r>
            <a:r>
              <a:rPr sz="1100" i="0">
                <a:solidFill>
                  <a:srgbClr val="AEB6BF"/>
                </a:solidFill>
                <a:latin typeface="Consolas"/>
              </a:rPr>
              <a:t>&lt;</a:t>
            </a:r>
            <a:r>
              <a:rPr sz="1100" i="0">
                <a:solidFill>
                  <a:srgbClr val="5DADE2"/>
                </a:solidFill>
                <a:latin typeface="Consolas"/>
              </a:rPr>
              <a:t>int</a:t>
            </a:r>
            <a:r>
              <a:rPr sz="1100" i="0">
                <a:solidFill>
                  <a:srgbClr val="AEB6BF"/>
                </a:solidFill>
                <a:latin typeface="Consolas"/>
              </a:rPr>
              <a:t>&gt;</a:t>
            </a:r>
            <a:r>
              <a:rPr sz="1100" i="0">
                <a:solidFill>
                  <a:srgbClr val="AEB6BF"/>
                </a:solidFill>
                <a:latin typeface="Consolas"/>
              </a:rPr>
              <a:t>&amp;</a:t>
            </a:r>
            <a:r>
              <a:rPr sz="1100" i="0">
                <a:solidFill>
                  <a:srgbClr val="E8EDF2"/>
                </a:solidFill>
                <a:latin typeface="Consolas"/>
              </a:rPr>
              <a:t> </a:t>
            </a:r>
            <a:r>
              <a:rPr sz="1100" i="0">
                <a:solidFill>
                  <a:srgbClr val="E8EDF2"/>
                </a:solidFill>
                <a:latin typeface="Consolas"/>
              </a:rPr>
              <a:t>a</a:t>
            </a:r>
            <a:r>
              <a:rPr sz="1100" i="0">
                <a:solidFill>
                  <a:srgbClr val="AEB6BF"/>
                </a:solidFill>
                <a:latin typeface="Consolas"/>
              </a:rPr>
              <a:t>,</a:t>
            </a:r>
            <a:r>
              <a:rPr sz="1100" i="0">
                <a:solidFill>
                  <a:srgbClr val="E8EDF2"/>
                </a:solidFill>
                <a:latin typeface="Consolas"/>
              </a:rPr>
              <a:t> </a:t>
            </a:r>
            <a:r>
              <a:rPr sz="1100" i="0">
                <a:solidFill>
                  <a:srgbClr val="5DADE2"/>
                </a:solidFill>
                <a:latin typeface="Consolas"/>
              </a:rPr>
              <a:t>int</a:t>
            </a:r>
            <a:r>
              <a:rPr sz="1100" i="0">
                <a:solidFill>
                  <a:srgbClr val="E8EDF2"/>
                </a:solidFill>
                <a:latin typeface="Consolas"/>
              </a:rPr>
              <a:t> </a:t>
            </a:r>
            <a:r>
              <a:rPr sz="1100" i="0">
                <a:solidFill>
                  <a:srgbClr val="E8EDF2"/>
                </a:solidFill>
                <a:latin typeface="Consolas"/>
              </a:rPr>
              <a:t>x</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bool</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inv_ever_broken</a:t>
            </a:r>
            <a:r>
              <a:rPr sz="1100" i="0">
                <a:solidFill>
                  <a:srgbClr val="AEB6BF"/>
                </a:solidFill>
                <a:latin typeface="Consolas"/>
              </a:rPr>
              <a:t>,</a:t>
            </a:r>
            <a:r>
              <a:rPr sz="1100" i="0">
                <a:solidFill>
                  <a:srgbClr val="E8EDF2"/>
                </a:solidFill>
                <a:latin typeface="Consolas"/>
              </a:rPr>
              <a:t> </a:t>
            </a:r>
            <a:r>
              <a:rPr sz="1100" i="0">
                <a:solidFill>
                  <a:srgbClr val="5DADE2"/>
                </a:solidFill>
                <a:latin typeface="Consolas"/>
              </a:rPr>
              <a:t>long</a:t>
            </a:r>
            <a:r>
              <a:rPr sz="1100" i="0">
                <a:solidFill>
                  <a:srgbClr val="E8EDF2"/>
                </a:solidFill>
                <a:latin typeface="Consolas"/>
              </a:rPr>
              <a:t> </a:t>
            </a:r>
            <a:r>
              <a:rPr sz="1100" i="0">
                <a:solidFill>
                  <a:srgbClr val="5DADE2"/>
                </a:solidFill>
                <a:latin typeface="Consolas"/>
              </a:rPr>
              <a:t>long</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iters</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int</a:t>
            </a:r>
            <a:r>
              <a:rPr sz="1100" i="0">
                <a:solidFill>
                  <a:srgbClr val="E8EDF2"/>
                </a:solidFill>
                <a:latin typeface="Consolas"/>
              </a:rPr>
              <a:t> </a:t>
            </a:r>
            <a:r>
              <a:rPr sz="1100" i="0">
                <a:solidFill>
                  <a:srgbClr val="E8EDF2"/>
                </a:solidFill>
                <a:latin typeface="Consolas"/>
              </a:rPr>
              <a:t>lo</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F7DC6F"/>
                </a:solidFill>
                <a:latin typeface="Consolas"/>
              </a:rPr>
              <a:t>0</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hi</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5DADE2"/>
                </a:solidFill>
                <a:latin typeface="Consolas"/>
              </a:rPr>
              <a:t>int</a:t>
            </a:r>
            <a:r>
              <a:rPr sz="1100" i="0">
                <a:solidFill>
                  <a:srgbClr val="AEB6BF"/>
                </a:solidFill>
                <a:latin typeface="Consolas"/>
              </a:rPr>
              <a:t>)</a:t>
            </a:r>
            <a:r>
              <a:rPr sz="1100" i="0">
                <a:solidFill>
                  <a:srgbClr val="E8EDF2"/>
                </a:solidFill>
                <a:latin typeface="Consolas"/>
              </a:rPr>
              <a:t>a</a:t>
            </a:r>
            <a:r>
              <a:rPr sz="1100" i="0">
                <a:solidFill>
                  <a:srgbClr val="AEB6BF"/>
                </a:solidFill>
                <a:latin typeface="Consolas"/>
              </a:rPr>
              <a:t>.</a:t>
            </a:r>
            <a:r>
              <a:rPr sz="1100" i="0">
                <a:solidFill>
                  <a:srgbClr val="E8EDF2"/>
                </a:solidFill>
                <a:latin typeface="Consolas"/>
              </a:rPr>
              <a:t>size</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F7DC6F"/>
                </a:solidFill>
                <a:latin typeface="Consolas"/>
              </a:rPr>
              <a:t>1</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for</a:t>
            </a:r>
            <a:r>
              <a:rPr sz="1100" i="0">
                <a:solidFill>
                  <a:srgbClr val="E8EDF2"/>
                </a:solidFill>
                <a:latin typeface="Consolas"/>
              </a:rPr>
              <a:t> </a:t>
            </a:r>
            <a:r>
              <a:rPr sz="1100" i="0">
                <a:solidFill>
                  <a:srgbClr val="AEB6BF"/>
                </a:solidFill>
                <a:latin typeface="Consolas"/>
              </a:rPr>
              <a:t>(</a:t>
            </a:r>
            <a:r>
              <a:rPr sz="1100" i="0">
                <a:solidFill>
                  <a:srgbClr val="5DADE2"/>
                </a:solidFill>
                <a:latin typeface="Consolas"/>
              </a:rPr>
              <a:t>int</a:t>
            </a:r>
            <a:r>
              <a:rPr sz="1100" i="0">
                <a:solidFill>
                  <a:srgbClr val="E8EDF2"/>
                </a:solidFill>
                <a:latin typeface="Consolas"/>
              </a:rPr>
              <a:t> </a:t>
            </a:r>
            <a:r>
              <a:rPr sz="1100" i="0">
                <a:solidFill>
                  <a:srgbClr val="E8EDF2"/>
                </a:solidFill>
                <a:latin typeface="Consolas"/>
              </a:rPr>
              <a:t>step</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F7DC6F"/>
                </a:solidFill>
                <a:latin typeface="Consolas"/>
              </a:rPr>
              <a:t>0</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step</a:t>
            </a:r>
            <a:r>
              <a:rPr sz="1100" i="0">
                <a:solidFill>
                  <a:srgbClr val="E8EDF2"/>
                </a:solidFill>
                <a:latin typeface="Consolas"/>
              </a:rPr>
              <a:t> </a:t>
            </a:r>
            <a:r>
              <a:rPr sz="1100" i="0">
                <a:solidFill>
                  <a:srgbClr val="AEB6BF"/>
                </a:solidFill>
                <a:latin typeface="Consolas"/>
              </a:rPr>
              <a:t>&lt;</a:t>
            </a:r>
            <a:r>
              <a:rPr sz="1100" i="0">
                <a:solidFill>
                  <a:srgbClr val="E8EDF2"/>
                </a:solidFill>
                <a:latin typeface="Consolas"/>
              </a:rPr>
              <a:t> </a:t>
            </a:r>
            <a:r>
              <a:rPr sz="1100" i="0">
                <a:solidFill>
                  <a:srgbClr val="E8EDF2"/>
                </a:solidFill>
                <a:latin typeface="Consolas"/>
              </a:rPr>
              <a:t>CAP</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step</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if</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lo</a:t>
            </a:r>
            <a:r>
              <a:rPr sz="1100" i="0">
                <a:solidFill>
                  <a:srgbClr val="E8EDF2"/>
                </a:solidFill>
                <a:latin typeface="Consolas"/>
              </a:rPr>
              <a:t> </a:t>
            </a:r>
            <a:r>
              <a:rPr sz="1100" i="0">
                <a:solidFill>
                  <a:srgbClr val="AEB6BF"/>
                </a:solidFill>
                <a:latin typeface="Consolas"/>
              </a:rPr>
              <a:t>&gt;</a:t>
            </a:r>
            <a:r>
              <a:rPr sz="1100" i="0">
                <a:solidFill>
                  <a:srgbClr val="E8EDF2"/>
                </a:solidFill>
                <a:latin typeface="Consolas"/>
              </a:rPr>
              <a:t> </a:t>
            </a:r>
            <a:r>
              <a:rPr sz="1100" i="0">
                <a:solidFill>
                  <a:srgbClr val="E8EDF2"/>
                </a:solidFill>
                <a:latin typeface="Consolas"/>
              </a:rPr>
              <a:t>hi</a:t>
            </a:r>
            <a:r>
              <a:rPr sz="1100" i="0">
                <a:solidFill>
                  <a:srgbClr val="AEB6BF"/>
                </a:solidFill>
                <a:latin typeface="Consolas"/>
              </a:rPr>
              <a:t>)</a:t>
            </a:r>
            <a:r>
              <a:rPr sz="1100" i="0">
                <a:solidFill>
                  <a:srgbClr val="E8EDF2"/>
                </a:solidFill>
                <a:latin typeface="Consolas"/>
              </a:rPr>
              <a:t> </a:t>
            </a:r>
            <a:r>
              <a:rPr sz="1100" i="0">
                <a:solidFill>
                  <a:srgbClr val="5DADE2"/>
                </a:solidFill>
                <a:latin typeface="Consolas"/>
              </a:rPr>
              <a:t>return</a:t>
            </a:r>
            <a:r>
              <a:rPr sz="1100" i="0">
                <a:solidFill>
                  <a:srgbClr val="E8EDF2"/>
                </a:solidFill>
                <a:latin typeface="Consolas"/>
              </a:rPr>
              <a:t> </a:t>
            </a:r>
            <a:r>
              <a:rPr sz="1100" i="0">
                <a:solidFill>
                  <a:srgbClr val="F7DC6F"/>
                </a:solidFill>
                <a:latin typeface="Consolas"/>
              </a:rPr>
              <a:t>-1</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int</a:t>
            </a:r>
            <a:r>
              <a:rPr sz="1100" i="0">
                <a:solidFill>
                  <a:srgbClr val="E8EDF2"/>
                </a:solidFill>
                <a:latin typeface="Consolas"/>
              </a:rPr>
              <a:t> </a:t>
            </a:r>
            <a:r>
              <a:rPr sz="1100" i="0">
                <a:solidFill>
                  <a:srgbClr val="E8EDF2"/>
                </a:solidFill>
                <a:latin typeface="Consolas"/>
              </a:rPr>
              <a:t>mid</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lo</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hi</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lo</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F7DC6F"/>
                </a:solidFill>
                <a:latin typeface="Consolas"/>
              </a:rPr>
              <a:t>2</a:t>
            </a:r>
            <a:r>
              <a:rPr sz="1100" i="0">
                <a:solidFill>
                  <a:srgbClr val="AEB6BF"/>
                </a:solidFill>
                <a:latin typeface="Consolas"/>
              </a:rPr>
              <a:t>;</a:t>
            </a:r>
          </a:p>
          <a:p>
            <a:pPr>
              <a:lnSpc>
                <a:spcPct val="100000"/>
              </a:lnSpc>
              <a:spcAft>
                <a:spcPts val="0"/>
              </a:spcAft>
            </a:pPr>
            <a:r>
              <a:rPr sz="1100">
                <a:latin typeface="Consolas"/>
              </a:rPr>
              <a:t> </a:t>
            </a:r>
          </a:p>
          <a:p>
            <a:pPr>
              <a:lnSpc>
                <a:spcPct val="100000"/>
              </a:lnSpc>
              <a:spcAft>
                <a:spcPts val="0"/>
              </a:spcAft>
            </a:pPr>
            <a:r>
              <a:rPr sz="1100" i="0">
                <a:solidFill>
                  <a:srgbClr val="E8EDF2"/>
                </a:solidFill>
                <a:latin typeface="Consolas"/>
              </a:rPr>
              <a:t>        </a:t>
            </a:r>
            <a:r>
              <a:rPr sz="1100" i="1">
                <a:solidFill>
                  <a:srgbClr val="8795A1"/>
                </a:solidFill>
                <a:latin typeface="Consolas"/>
              </a:rPr>
              <a:t>// Audit the invariant itself, every single iteration: if x is</a:t>
            </a:r>
          </a:p>
          <a:p>
            <a:pPr>
              <a:lnSpc>
                <a:spcPct val="100000"/>
              </a:lnSpc>
              <a:spcAft>
                <a:spcPts val="0"/>
              </a:spcAft>
            </a:pPr>
            <a:r>
              <a:rPr sz="1100" i="0">
                <a:solidFill>
                  <a:srgbClr val="E8EDF2"/>
                </a:solidFill>
                <a:latin typeface="Consolas"/>
              </a:rPr>
              <a:t>        </a:t>
            </a:r>
            <a:r>
              <a:rPr sz="1100" i="1">
                <a:solidFill>
                  <a:srgbClr val="8795A1"/>
                </a:solidFill>
                <a:latin typeface="Consolas"/>
              </a:rPr>
              <a:t>// present in the whole array, is it still inside [lo, hi]?</a:t>
            </a:r>
          </a:p>
          <a:p>
            <a:pPr>
              <a:lnSpc>
                <a:spcPct val="100000"/>
              </a:lnSpc>
              <a:spcAft>
                <a:spcPts val="0"/>
              </a:spcAft>
            </a:pPr>
            <a:r>
              <a:rPr sz="1100" i="0">
                <a:solidFill>
                  <a:srgbClr val="E8EDF2"/>
                </a:solidFill>
                <a:latin typeface="Consolas"/>
              </a:rPr>
              <a:t>        </a:t>
            </a:r>
            <a:r>
              <a:rPr sz="1100" i="0">
                <a:solidFill>
                  <a:srgbClr val="5DADE2"/>
                </a:solidFill>
                <a:latin typeface="Consolas"/>
              </a:rPr>
              <a:t>if</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std</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binary_search</a:t>
            </a:r>
            <a:r>
              <a:rPr sz="1100" i="0">
                <a:solidFill>
                  <a:srgbClr val="AEB6BF"/>
                </a:solidFill>
                <a:latin typeface="Consolas"/>
              </a:rPr>
              <a:t>(</a:t>
            </a:r>
            <a:r>
              <a:rPr sz="1100" i="0">
                <a:solidFill>
                  <a:srgbClr val="E8EDF2"/>
                </a:solidFill>
                <a:latin typeface="Consolas"/>
              </a:rPr>
              <a:t>a</a:t>
            </a:r>
            <a:r>
              <a:rPr sz="1100" i="0">
                <a:solidFill>
                  <a:srgbClr val="AEB6BF"/>
                </a:solidFill>
                <a:latin typeface="Consolas"/>
              </a:rPr>
              <a:t>.</a:t>
            </a:r>
            <a:r>
              <a:rPr sz="1100" i="0">
                <a:solidFill>
                  <a:srgbClr val="E8EDF2"/>
                </a:solidFill>
                <a:latin typeface="Consolas"/>
              </a:rPr>
              <a:t>begin</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a</a:t>
            </a:r>
            <a:r>
              <a:rPr sz="1100" i="0">
                <a:solidFill>
                  <a:srgbClr val="AEB6BF"/>
                </a:solidFill>
                <a:latin typeface="Consolas"/>
              </a:rPr>
              <a:t>.</a:t>
            </a:r>
            <a:r>
              <a:rPr sz="1100" i="0">
                <a:solidFill>
                  <a:srgbClr val="E8EDF2"/>
                </a:solidFill>
                <a:latin typeface="Consolas"/>
              </a:rPr>
              <a:t>end</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x</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bool</a:t>
            </a:r>
            <a:r>
              <a:rPr sz="1100" i="0">
                <a:solidFill>
                  <a:srgbClr val="E8EDF2"/>
                </a:solidFill>
                <a:latin typeface="Consolas"/>
              </a:rPr>
              <a:t> </a:t>
            </a:r>
            <a:r>
              <a:rPr sz="1100" i="0">
                <a:solidFill>
                  <a:srgbClr val="E8EDF2"/>
                </a:solidFill>
                <a:latin typeface="Consolas"/>
              </a:rPr>
              <a:t>in_window</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C39BD3"/>
                </a:solidFill>
                <a:latin typeface="Consolas"/>
              </a:rPr>
              <a:t>false</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for</a:t>
            </a:r>
            <a:r>
              <a:rPr sz="1100" i="0">
                <a:solidFill>
                  <a:srgbClr val="E8EDF2"/>
                </a:solidFill>
                <a:latin typeface="Consolas"/>
              </a:rPr>
              <a:t> </a:t>
            </a:r>
            <a:r>
              <a:rPr sz="1100" i="0">
                <a:solidFill>
                  <a:srgbClr val="AEB6BF"/>
                </a:solidFill>
                <a:latin typeface="Consolas"/>
              </a:rPr>
              <a:t>(</a:t>
            </a:r>
            <a:r>
              <a:rPr sz="1100" i="0">
                <a:solidFill>
                  <a:srgbClr val="5DADE2"/>
                </a:solidFill>
                <a:latin typeface="Consolas"/>
              </a:rPr>
              <a:t>int</a:t>
            </a:r>
            <a:r>
              <a:rPr sz="1100" i="0">
                <a:solidFill>
                  <a:srgbClr val="E8EDF2"/>
                </a:solidFill>
                <a:latin typeface="Consolas"/>
              </a:rPr>
              <a:t> </a:t>
            </a:r>
            <a:r>
              <a:rPr sz="1100" i="0">
                <a:solidFill>
                  <a:srgbClr val="E8EDF2"/>
                </a:solidFill>
                <a:latin typeface="Consolas"/>
              </a:rPr>
              <a:t>i</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lo</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i</a:t>
            </a:r>
            <a:r>
              <a:rPr sz="1100" i="0">
                <a:solidFill>
                  <a:srgbClr val="E8EDF2"/>
                </a:solidFill>
                <a:latin typeface="Consolas"/>
              </a:rPr>
              <a:t> </a:t>
            </a:r>
            <a:r>
              <a:rPr sz="1100" i="0">
                <a:solidFill>
                  <a:srgbClr val="AEB6BF"/>
                </a:solidFill>
                <a:latin typeface="Consolas"/>
              </a:rPr>
              <a:t>&lt;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hi</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i</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if</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a</a:t>
            </a:r>
            <a:r>
              <a:rPr sz="1100" i="0">
                <a:solidFill>
                  <a:srgbClr val="AEB6BF"/>
                </a:solidFill>
                <a:latin typeface="Consolas"/>
              </a:rPr>
              <a:t>[</a:t>
            </a:r>
            <a:r>
              <a:rPr sz="1100" i="0">
                <a:solidFill>
                  <a:srgbClr val="E8EDF2"/>
                </a:solidFill>
                <a:latin typeface="Consolas"/>
              </a:rPr>
              <a:t>i</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x</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in_window</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C39BD3"/>
                </a:solidFill>
                <a:latin typeface="Consolas"/>
              </a:rPr>
              <a:t>true</a:t>
            </a:r>
            <a:r>
              <a:rPr sz="1100" i="0">
                <a:solidFill>
                  <a:srgbClr val="AEB6BF"/>
                </a:solidFill>
                <a:latin typeface="Consolas"/>
              </a:rPr>
              <a:t>;</a:t>
            </a:r>
            <a:r>
              <a:rPr sz="1100" i="0">
                <a:solidFill>
                  <a:srgbClr val="E8EDF2"/>
                </a:solidFill>
                <a:latin typeface="Consolas"/>
              </a:rPr>
              <a:t> </a:t>
            </a:r>
            <a:r>
              <a:rPr sz="1100" i="0">
                <a:solidFill>
                  <a:srgbClr val="5DADE2"/>
                </a:solidFill>
                <a:latin typeface="Consolas"/>
              </a:rPr>
              <a:t>break</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if</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in_window</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inv_ever_broken</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C39BD3"/>
                </a:solidFill>
                <a:latin typeface="Consolas"/>
              </a:rPr>
              <a:t>true</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iters</a:t>
            </a:r>
            <a:r>
              <a:rPr sz="1100" i="0">
                <a:solidFill>
                  <a:srgbClr val="AEB6BF"/>
                </a:solidFill>
                <a:latin typeface="Consolas"/>
              </a:rPr>
              <a:t>;</a:t>
            </a:r>
          </a:p>
          <a:p>
            <a:pPr>
              <a:lnSpc>
                <a:spcPct val="100000"/>
              </a:lnSpc>
              <a:spcAft>
                <a:spcPts val="0"/>
              </a:spcAft>
            </a:pPr>
            <a:r>
              <a:rPr sz="1100">
                <a:latin typeface="Consolas"/>
              </a:rPr>
              <a:t> </a:t>
            </a:r>
          </a:p>
          <a:p>
            <a:pPr>
              <a:lnSpc>
                <a:spcPct val="100000"/>
              </a:lnSpc>
              <a:spcAft>
                <a:spcPts val="0"/>
              </a:spcAft>
            </a:pPr>
            <a:r>
              <a:rPr sz="1100" i="0">
                <a:solidFill>
                  <a:srgbClr val="E8EDF2"/>
                </a:solidFill>
                <a:latin typeface="Consolas"/>
              </a:rPr>
              <a:t>        </a:t>
            </a:r>
            <a:r>
              <a:rPr sz="1100" i="0">
                <a:solidFill>
                  <a:srgbClr val="5DADE2"/>
                </a:solidFill>
                <a:latin typeface="Consolas"/>
              </a:rPr>
              <a:t>if</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a</a:t>
            </a:r>
            <a:r>
              <a:rPr sz="1100" i="0">
                <a:solidFill>
                  <a:srgbClr val="AEB6BF"/>
                </a:solidFill>
                <a:latin typeface="Consolas"/>
              </a:rPr>
              <a:t>[</a:t>
            </a:r>
            <a:r>
              <a:rPr sz="1100" i="0">
                <a:solidFill>
                  <a:srgbClr val="E8EDF2"/>
                </a:solidFill>
                <a:latin typeface="Consolas"/>
              </a:rPr>
              <a:t>mid</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x</a:t>
            </a:r>
            <a:r>
              <a:rPr sz="1100" i="0">
                <a:solidFill>
                  <a:srgbClr val="AEB6BF"/>
                </a:solidFill>
                <a:latin typeface="Consolas"/>
              </a:rPr>
              <a:t>)</a:t>
            </a:r>
            <a:r>
              <a:rPr sz="1100" i="0">
                <a:solidFill>
                  <a:srgbClr val="E8EDF2"/>
                </a:solidFill>
                <a:latin typeface="Consolas"/>
              </a:rPr>
              <a:t> </a:t>
            </a:r>
            <a:r>
              <a:rPr sz="1100" i="0">
                <a:solidFill>
                  <a:srgbClr val="5DADE2"/>
                </a:solidFill>
                <a:latin typeface="Consolas"/>
              </a:rPr>
              <a:t>return</a:t>
            </a:r>
            <a:r>
              <a:rPr sz="1100" i="0">
                <a:solidFill>
                  <a:srgbClr val="E8EDF2"/>
                </a:solidFill>
                <a:latin typeface="Consolas"/>
              </a:rPr>
              <a:t> </a:t>
            </a:r>
            <a:r>
              <a:rPr sz="1100" i="0">
                <a:solidFill>
                  <a:srgbClr val="E8EDF2"/>
                </a:solidFill>
                <a:latin typeface="Consolas"/>
              </a:rPr>
              <a:t>mid</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if</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a</a:t>
            </a:r>
            <a:r>
              <a:rPr sz="1100" i="0">
                <a:solidFill>
                  <a:srgbClr val="AEB6BF"/>
                </a:solidFill>
                <a:latin typeface="Consolas"/>
              </a:rPr>
              <a:t>[</a:t>
            </a:r>
            <a:r>
              <a:rPr sz="1100" i="0">
                <a:solidFill>
                  <a:srgbClr val="E8EDF2"/>
                </a:solidFill>
                <a:latin typeface="Consolas"/>
              </a:rPr>
              <a:t>mid</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&lt;</a:t>
            </a:r>
            <a:r>
              <a:rPr sz="1100" i="0">
                <a:solidFill>
                  <a:srgbClr val="E8EDF2"/>
                </a:solidFill>
                <a:latin typeface="Consolas"/>
              </a:rPr>
              <a:t> </a:t>
            </a:r>
            <a:r>
              <a:rPr sz="1100" i="0">
                <a:solidFill>
                  <a:srgbClr val="E8EDF2"/>
                </a:solidFill>
                <a:latin typeface="Consolas"/>
              </a:rPr>
              <a:t>x</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lo</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mid</a:t>
            </a:r>
            <a:r>
              <a:rPr sz="1100" i="0">
                <a:solidFill>
                  <a:srgbClr val="AEB6BF"/>
                </a:solidFill>
                <a:latin typeface="Consolas"/>
              </a:rPr>
              <a:t>;</a:t>
            </a:r>
            <a:r>
              <a:rPr sz="1100" i="0">
                <a:solidFill>
                  <a:srgbClr val="E8EDF2"/>
                </a:solidFill>
                <a:latin typeface="Consolas"/>
              </a:rPr>
              <a:t>       </a:t>
            </a:r>
            <a:r>
              <a:rPr sz="1100" i="1">
                <a:solidFill>
                  <a:srgbClr val="8795A1"/>
                </a:solidFill>
                <a:latin typeface="Consolas"/>
              </a:rPr>
              <a:t>// &lt;-- the one-character bug</a:t>
            </a:r>
          </a:p>
          <a:p>
            <a:pPr>
              <a:lnSpc>
                <a:spcPct val="100000"/>
              </a:lnSpc>
              <a:spcAft>
                <a:spcPts val="0"/>
              </a:spcAft>
            </a:pPr>
            <a:r>
              <a:rPr sz="1100" i="0">
                <a:solidFill>
                  <a:srgbClr val="E8EDF2"/>
                </a:solidFill>
                <a:latin typeface="Consolas"/>
              </a:rPr>
              <a:t>        </a:t>
            </a:r>
            <a:r>
              <a:rPr sz="1100" i="0">
                <a:solidFill>
                  <a:srgbClr val="5DADE2"/>
                </a:solidFill>
                <a:latin typeface="Consolas"/>
              </a:rPr>
              <a:t>else</a:t>
            </a:r>
            <a:r>
              <a:rPr sz="1100" i="0">
                <a:solidFill>
                  <a:srgbClr val="E8EDF2"/>
                </a:solidFill>
                <a:latin typeface="Consolas"/>
              </a:rPr>
              <a:t>            </a:t>
            </a:r>
            <a:r>
              <a:rPr sz="1100" i="0">
                <a:solidFill>
                  <a:srgbClr val="E8EDF2"/>
                </a:solidFill>
                <a:latin typeface="Consolas"/>
              </a:rPr>
              <a:t>hi</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mid</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F7DC6F"/>
                </a:solidFill>
                <a:latin typeface="Consolas"/>
              </a:rPr>
              <a:t>1</a:t>
            </a:r>
            <a:r>
              <a:rPr sz="1100" i="0">
                <a:solidFill>
                  <a:srgbClr val="AEB6BF"/>
                </a:solidFill>
                <a:latin typeface="Consolas"/>
              </a:rPr>
              <a:t>;</a:t>
            </a:r>
          </a:p>
        </p:txBody>
      </p:sp>
      <p:sp>
        <p:nvSpPr>
          <p:cNvPr id="15" name="!!code-num"/>
          <p:cNvSpPr txBox="1"/>
          <p:nvPr/>
        </p:nvSpPr>
        <p:spPr>
          <a:xfrm>
            <a:off x="768096" y="2523744"/>
            <a:ext cx="393192" cy="3462527"/>
          </a:xfrm>
          <a:prstGeom prst="rect">
            <a:avLst/>
          </a:prstGeom>
          <a:noFill/>
        </p:spPr>
        <p:txBody>
          <a:bodyPr wrap="none" anchor="t" lIns="0" rIns="0" tIns="0" bIns="0">
            <a:noAutofit/>
          </a:bodyPr>
          <a:lstStyle/>
          <a:p>
            <a:pPr algn="r">
              <a:lnSpc>
                <a:spcPct val="100000"/>
              </a:lnSpc>
            </a:pPr>
            <a:r>
              <a:rPr sz="1100">
                <a:solidFill>
                  <a:srgbClr val="4F5D6A"/>
                </a:solidFill>
                <a:latin typeface="Consolas"/>
              </a:rPr>
              <a:t>26</a:t>
            </a:r>
          </a:p>
          <a:p>
            <a:pPr algn="r">
              <a:lnSpc>
                <a:spcPct val="100000"/>
              </a:lnSpc>
            </a:pPr>
            <a:r>
              <a:rPr sz="1100">
                <a:solidFill>
                  <a:srgbClr val="4F5D6A"/>
                </a:solidFill>
                <a:latin typeface="Consolas"/>
              </a:rPr>
              <a:t>27</a:t>
            </a:r>
          </a:p>
          <a:p>
            <a:pPr algn="r">
              <a:lnSpc>
                <a:spcPct val="100000"/>
              </a:lnSpc>
            </a:pPr>
            <a:r>
              <a:rPr sz="1100">
                <a:solidFill>
                  <a:srgbClr val="4F5D6A"/>
                </a:solidFill>
                <a:latin typeface="Consolas"/>
              </a:rPr>
              <a:t>28</a:t>
            </a:r>
          </a:p>
          <a:p>
            <a:pPr algn="r">
              <a:lnSpc>
                <a:spcPct val="100000"/>
              </a:lnSpc>
            </a:pPr>
            <a:r>
              <a:rPr sz="1100">
                <a:solidFill>
                  <a:srgbClr val="4F5D6A"/>
                </a:solidFill>
                <a:latin typeface="Consolas"/>
              </a:rPr>
              <a:t>29</a:t>
            </a:r>
          </a:p>
          <a:p>
            <a:pPr algn="r">
              <a:lnSpc>
                <a:spcPct val="100000"/>
              </a:lnSpc>
            </a:pPr>
            <a:r>
              <a:rPr sz="1100">
                <a:solidFill>
                  <a:srgbClr val="4F5D6A"/>
                </a:solidFill>
                <a:latin typeface="Consolas"/>
              </a:rPr>
              <a:t>30</a:t>
            </a:r>
          </a:p>
          <a:p>
            <a:pPr algn="r">
              <a:lnSpc>
                <a:spcPct val="100000"/>
              </a:lnSpc>
            </a:pPr>
            <a:r>
              <a:rPr sz="1100">
                <a:solidFill>
                  <a:srgbClr val="4F5D6A"/>
                </a:solidFill>
                <a:latin typeface="Consolas"/>
              </a:rPr>
              <a:t>31</a:t>
            </a:r>
          </a:p>
          <a:p>
            <a:pPr algn="r">
              <a:lnSpc>
                <a:spcPct val="100000"/>
              </a:lnSpc>
            </a:pPr>
            <a:r>
              <a:rPr sz="1100">
                <a:solidFill>
                  <a:srgbClr val="4F5D6A"/>
                </a:solidFill>
                <a:latin typeface="Consolas"/>
              </a:rPr>
              <a:t>32</a:t>
            </a:r>
          </a:p>
          <a:p>
            <a:pPr algn="r">
              <a:lnSpc>
                <a:spcPct val="100000"/>
              </a:lnSpc>
            </a:pPr>
            <a:r>
              <a:rPr sz="1100">
                <a:solidFill>
                  <a:srgbClr val="4F5D6A"/>
                </a:solidFill>
                <a:latin typeface="Consolas"/>
              </a:rPr>
              <a:t>33</a:t>
            </a:r>
          </a:p>
          <a:p>
            <a:pPr algn="r">
              <a:lnSpc>
                <a:spcPct val="100000"/>
              </a:lnSpc>
            </a:pPr>
            <a:r>
              <a:rPr sz="1100">
                <a:solidFill>
                  <a:srgbClr val="4F5D6A"/>
                </a:solidFill>
                <a:latin typeface="Consolas"/>
              </a:rPr>
              <a:t>34</a:t>
            </a:r>
          </a:p>
          <a:p>
            <a:pPr algn="r">
              <a:lnSpc>
                <a:spcPct val="100000"/>
              </a:lnSpc>
            </a:pPr>
            <a:r>
              <a:rPr sz="1100">
                <a:solidFill>
                  <a:srgbClr val="4F5D6A"/>
                </a:solidFill>
                <a:latin typeface="Consolas"/>
              </a:rPr>
              <a:t>35</a:t>
            </a:r>
          </a:p>
          <a:p>
            <a:pPr algn="r">
              <a:lnSpc>
                <a:spcPct val="100000"/>
              </a:lnSpc>
            </a:pPr>
            <a:r>
              <a:rPr sz="1100">
                <a:solidFill>
                  <a:srgbClr val="4F5D6A"/>
                </a:solidFill>
                <a:latin typeface="Consolas"/>
              </a:rPr>
              <a:t>36</a:t>
            </a:r>
          </a:p>
          <a:p>
            <a:pPr algn="r">
              <a:lnSpc>
                <a:spcPct val="100000"/>
              </a:lnSpc>
            </a:pPr>
            <a:r>
              <a:rPr sz="1100">
                <a:solidFill>
                  <a:srgbClr val="4F5D6A"/>
                </a:solidFill>
                <a:latin typeface="Consolas"/>
              </a:rPr>
              <a:t>37</a:t>
            </a:r>
          </a:p>
          <a:p>
            <a:pPr algn="r">
              <a:lnSpc>
                <a:spcPct val="100000"/>
              </a:lnSpc>
            </a:pPr>
            <a:r>
              <a:rPr sz="1100">
                <a:solidFill>
                  <a:srgbClr val="4F5D6A"/>
                </a:solidFill>
                <a:latin typeface="Consolas"/>
              </a:rPr>
              <a:t>38</a:t>
            </a:r>
          </a:p>
          <a:p>
            <a:pPr algn="r">
              <a:lnSpc>
                <a:spcPct val="100000"/>
              </a:lnSpc>
            </a:pPr>
            <a:r>
              <a:rPr sz="1100">
                <a:solidFill>
                  <a:srgbClr val="4F5D6A"/>
                </a:solidFill>
                <a:latin typeface="Consolas"/>
              </a:rPr>
              <a:t>39</a:t>
            </a:r>
          </a:p>
          <a:p>
            <a:pPr algn="r">
              <a:lnSpc>
                <a:spcPct val="100000"/>
              </a:lnSpc>
            </a:pPr>
            <a:r>
              <a:rPr sz="1100">
                <a:solidFill>
                  <a:srgbClr val="4F5D6A"/>
                </a:solidFill>
                <a:latin typeface="Consolas"/>
              </a:rPr>
              <a:t>40</a:t>
            </a:r>
          </a:p>
          <a:p>
            <a:pPr algn="r">
              <a:lnSpc>
                <a:spcPct val="100000"/>
              </a:lnSpc>
            </a:pPr>
            <a:r>
              <a:rPr sz="1100">
                <a:solidFill>
                  <a:srgbClr val="4F5D6A"/>
                </a:solidFill>
                <a:latin typeface="Consolas"/>
              </a:rPr>
              <a:t>41</a:t>
            </a:r>
          </a:p>
          <a:p>
            <a:pPr algn="r">
              <a:lnSpc>
                <a:spcPct val="100000"/>
              </a:lnSpc>
            </a:pPr>
            <a:r>
              <a:rPr sz="1100">
                <a:solidFill>
                  <a:srgbClr val="4F5D6A"/>
                </a:solidFill>
                <a:latin typeface="Consolas"/>
              </a:rPr>
              <a:t>42</a:t>
            </a:r>
          </a:p>
          <a:p>
            <a:pPr algn="r">
              <a:lnSpc>
                <a:spcPct val="100000"/>
              </a:lnSpc>
            </a:pPr>
            <a:r>
              <a:rPr sz="1100">
                <a:solidFill>
                  <a:srgbClr val="4F5D6A"/>
                </a:solidFill>
                <a:latin typeface="Consolas"/>
              </a:rPr>
              <a:t>43</a:t>
            </a:r>
          </a:p>
          <a:p>
            <a:pPr algn="r">
              <a:lnSpc>
                <a:spcPct val="100000"/>
              </a:lnSpc>
            </a:pPr>
            <a:r>
              <a:rPr sz="1100">
                <a:solidFill>
                  <a:srgbClr val="4F5D6A"/>
                </a:solidFill>
                <a:latin typeface="Consolas"/>
              </a:rPr>
              <a:t>44</a:t>
            </a:r>
          </a:p>
          <a:p>
            <a:pPr algn="r">
              <a:lnSpc>
                <a:spcPct val="100000"/>
              </a:lnSpc>
            </a:pPr>
            <a:r>
              <a:rPr sz="1100">
                <a:solidFill>
                  <a:srgbClr val="4F5D6A"/>
                </a:solidFill>
                <a:latin typeface="Consolas"/>
              </a:rPr>
              <a:t>45</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674860"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Bug That Is Never Wrong</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4 OF 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  ·  Correctness: Loop Invariants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§4.6  ·  Handout p. 35     </a:t>
            </a:r>
            <a:fld id="{95EA4014-58CE-4CA6-ADA2-EC4E7C902ABA}" type="slidenum">
              <a:rPr lang="en-GB" sz="1000">
                <a:solidFill>
                  <a:srgbClr val="8795A1"/>
                </a:solidFill>
                <a:latin typeface="Segoe UI"/>
              </a:rPr>
              <a:t>38</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same search with one character changed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1517904"/>
          </a:xfrm>
          <a:prstGeom prst="roundRect">
            <a:avLst>
              <a:gd name="adj" fmla="val 6024"/>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C++  ·  code/ch04_invariant.cpp</a:t>
            </a:r>
          </a:p>
        </p:txBody>
      </p:sp>
      <p:sp>
        <p:nvSpPr>
          <p:cNvPr id="14" name="!!code-text" descr="} return -2; // stands in for &quot;forever&quot; }"/>
          <p:cNvSpPr txBox="1"/>
          <p:nvPr/>
        </p:nvSpPr>
        <p:spPr>
          <a:xfrm>
            <a:off x="1362456" y="2523744"/>
            <a:ext cx="9987991" cy="1024127"/>
          </a:xfrm>
          <a:prstGeom prst="rect">
            <a:avLst/>
          </a:prstGeom>
          <a:noFill/>
        </p:spPr>
        <p:txBody>
          <a:bodyPr wrap="none" anchor="t" lIns="0" rIns="0" tIns="0" bIns="0">
            <a:noAutofit/>
          </a:bodyPr>
          <a:lstStyle/>
          <a:p>
            <a:pPr>
              <a:lnSpc>
                <a:spcPct val="100000"/>
              </a:lnSpc>
              <a:spcAft>
                <a:spcPts val="0"/>
              </a:spcAft>
            </a:pPr>
            <a:r>
              <a:rPr sz="2000" i="0">
                <a:solidFill>
                  <a:srgbClr val="E8EDF2"/>
                </a:solidFill>
                <a:latin typeface="Consolas"/>
              </a:rPr>
              <a:t>    </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F7DC6F"/>
                </a:solidFill>
                <a:latin typeface="Consolas"/>
              </a:rPr>
              <a:t>-2</a:t>
            </a:r>
            <a:r>
              <a:rPr sz="2000" i="0">
                <a:solidFill>
                  <a:srgbClr val="AEB6BF"/>
                </a:solidFill>
                <a:latin typeface="Consolas"/>
              </a:rPr>
              <a:t>;</a:t>
            </a:r>
            <a:r>
              <a:rPr sz="2000" i="0">
                <a:solidFill>
                  <a:srgbClr val="E8EDF2"/>
                </a:solidFill>
                <a:latin typeface="Consolas"/>
              </a:rPr>
              <a:t>                          </a:t>
            </a:r>
            <a:r>
              <a:rPr sz="2000" i="1">
                <a:solidFill>
                  <a:srgbClr val="8795A1"/>
                </a:solidFill>
                <a:latin typeface="Consolas"/>
              </a:rPr>
              <a:t>// stands in for "forever"</a:t>
            </a:r>
          </a:p>
          <a:p>
            <a:pPr>
              <a:lnSpc>
                <a:spcPct val="100000"/>
              </a:lnSpc>
              <a:spcAft>
                <a:spcPts val="0"/>
              </a:spcAft>
            </a:pPr>
            <a:r>
              <a:rPr sz="2000" i="0">
                <a:solidFill>
                  <a:srgbClr val="AEB6BF"/>
                </a:solidFill>
                <a:latin typeface="Consolas"/>
              </a:rPr>
              <a:t>}</a:t>
            </a:r>
          </a:p>
        </p:txBody>
      </p:sp>
      <p:sp>
        <p:nvSpPr>
          <p:cNvPr id="15" name="!!code-num"/>
          <p:cNvSpPr txBox="1"/>
          <p:nvPr/>
        </p:nvSpPr>
        <p:spPr>
          <a:xfrm>
            <a:off x="768096" y="2523744"/>
            <a:ext cx="393192" cy="1024127"/>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46</a:t>
            </a:r>
          </a:p>
          <a:p>
            <a:pPr algn="r">
              <a:lnSpc>
                <a:spcPct val="100000"/>
              </a:lnSpc>
            </a:pPr>
            <a:r>
              <a:rPr sz="2000">
                <a:solidFill>
                  <a:srgbClr val="4F5D6A"/>
                </a:solidFill>
                <a:latin typeface="Consolas"/>
              </a:rPr>
              <a:t>47</a:t>
            </a:r>
          </a:p>
          <a:p>
            <a:pPr algn="r">
              <a:lnSpc>
                <a:spcPct val="100000"/>
              </a:lnSpc>
            </a:pPr>
            <a:r>
              <a:rPr sz="2000">
                <a:solidFill>
                  <a:srgbClr val="4F5D6A"/>
                </a:solidFill>
                <a:latin typeface="Consolas"/>
              </a:rPr>
              <a:t>48</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909315"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Bug That Is Never Wrong</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5 OF 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  ·  Correctness: Loop Invariants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§4.6  ·  Handout p. 35     </a:t>
            </a:r>
            <a:fld id="{D64CE37A-F685-45FF-9202-2FD898277E0B}" type="slidenum">
              <a:rPr lang="en-GB" sz="1000">
                <a:solidFill>
                  <a:srgbClr val="8795A1"/>
                </a:solidFill>
                <a:latin typeface="Segoe UI"/>
              </a:rPr>
              <a:t>39</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Ten thousand tests with keys that are present</a:t>
            </a:r>
          </a:p>
        </p:txBody>
      </p:sp>
      <p:sp>
        <p:nvSpPr>
          <p:cNvPr id="8" name="!!code-bg">
            <a:extLst>
              <a:ext uri="{C183D7F6-B498-43B3-948B-1728B52AA6E4}">
                <adec:decorative xmlns:adec="http://schemas.microsoft.com/office/drawing/2017/decorative" val="1"/>
              </a:ext>
            </a:extLst>
          </p:cNvPr>
          <p:cNvSpPr/>
          <p:nvPr/>
        </p:nvSpPr>
        <p:spPr>
          <a:xfrm>
            <a:off x="658368" y="2084831"/>
            <a:ext cx="10874959" cy="893063"/>
          </a:xfrm>
          <a:prstGeom prst="roundRect">
            <a:avLst>
              <a:gd name="adj" fmla="val 10238"/>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C++  ·  code/ch04_invariant.cpp</a:t>
            </a:r>
          </a:p>
        </p:txBody>
      </p:sp>
      <p:sp>
        <p:nvSpPr>
          <p:cNvPr id="14" name="!!code-text" descr="// --- 3. Ten thousand tests with keys that are present --------------"/>
          <p:cNvSpPr txBox="1"/>
          <p:nvPr/>
        </p:nvSpPr>
        <p:spPr>
          <a:xfrm>
            <a:off x="1362456" y="2523744"/>
            <a:ext cx="9987991" cy="399287"/>
          </a:xfrm>
          <a:prstGeom prst="rect">
            <a:avLst/>
          </a:prstGeom>
          <a:noFill/>
        </p:spPr>
        <p:txBody>
          <a:bodyPr wrap="none" anchor="t" lIns="0" rIns="0" tIns="0" bIns="0">
            <a:noAutofit/>
          </a:bodyPr>
          <a:lstStyle/>
          <a:p>
            <a:pPr>
              <a:lnSpc>
                <a:spcPct val="100000"/>
              </a:lnSpc>
              <a:spcAft>
                <a:spcPts val="0"/>
              </a:spcAft>
            </a:pPr>
            <a:r>
              <a:rPr sz="1900" i="1">
                <a:solidFill>
                  <a:srgbClr val="8795A1"/>
                </a:solidFill>
                <a:latin typeface="Consolas"/>
              </a:rPr>
              <a:t>// --- 3. Ten thousand tests with keys that are present --------------</a:t>
            </a:r>
          </a:p>
        </p:txBody>
      </p:sp>
      <p:sp>
        <p:nvSpPr>
          <p:cNvPr id="15" name="!!code-num"/>
          <p:cNvSpPr txBox="1"/>
          <p:nvPr/>
        </p:nvSpPr>
        <p:spPr>
          <a:xfrm>
            <a:off x="768096" y="2523744"/>
            <a:ext cx="393192" cy="399287"/>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50</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914377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Bug That Is Never Wrong</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6 OF 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  ·  Correctness: Loop Invariants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§4.6  ·  Handout p. 35     </a:t>
            </a:r>
            <a:fld id="{112402D3-FEF7-49E2-9C33-C681E246C11C}" type="slidenum">
              <a:rPr lang="en-GB" sz="1000">
                <a:solidFill>
                  <a:srgbClr val="8795A1"/>
                </a:solidFill>
                <a:latin typeface="Segoe UI"/>
              </a:rPr>
              <a:t>40</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same ten thousand tests, keys absent</a:t>
            </a:r>
          </a:p>
        </p:txBody>
      </p:sp>
      <p:sp>
        <p:nvSpPr>
          <p:cNvPr id="8" name="!!code-bg">
            <a:extLst>
              <a:ext uri="{C183D7F6-B498-43B3-948B-1728B52AA6E4}">
                <adec:decorative xmlns:adec="http://schemas.microsoft.com/office/drawing/2017/decorative" val="1"/>
              </a:ext>
            </a:extLst>
          </p:cNvPr>
          <p:cNvSpPr/>
          <p:nvPr/>
        </p:nvSpPr>
        <p:spPr>
          <a:xfrm>
            <a:off x="658368" y="2084831"/>
            <a:ext cx="10874959" cy="1472184"/>
          </a:xfrm>
          <a:prstGeom prst="roundRect">
            <a:avLst>
              <a:gd name="adj" fmla="val 6211"/>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C++  ·  code/ch04_invariant.cpp</a:t>
            </a:r>
          </a:p>
        </p:txBody>
      </p:sp>
      <p:sp>
        <p:nvSpPr>
          <p:cNvPr id="14" name="!!code-text" descr="// --- 4. The same ten thousand tests, keys absent ------------------- // The only change between parts 3 and 4 is the distribution the keys // are drawn from, and it changes the hang rate from 32% to 100%."/>
          <p:cNvSpPr txBox="1"/>
          <p:nvPr/>
        </p:nvSpPr>
        <p:spPr>
          <a:xfrm>
            <a:off x="1362456" y="2523744"/>
            <a:ext cx="9987991" cy="978408"/>
          </a:xfrm>
          <a:prstGeom prst="rect">
            <a:avLst/>
          </a:prstGeom>
          <a:noFill/>
        </p:spPr>
        <p:txBody>
          <a:bodyPr wrap="none" anchor="t" lIns="0" rIns="0" tIns="0" bIns="0">
            <a:noAutofit/>
          </a:bodyPr>
          <a:lstStyle/>
          <a:p>
            <a:pPr>
              <a:lnSpc>
                <a:spcPct val="100000"/>
              </a:lnSpc>
              <a:spcAft>
                <a:spcPts val="0"/>
              </a:spcAft>
            </a:pPr>
            <a:r>
              <a:rPr sz="1900" i="1">
                <a:solidFill>
                  <a:srgbClr val="8795A1"/>
                </a:solidFill>
                <a:latin typeface="Consolas"/>
              </a:rPr>
              <a:t>// --- 4. The same ten thousand tests, keys absent -------------------</a:t>
            </a:r>
          </a:p>
          <a:p>
            <a:pPr>
              <a:lnSpc>
                <a:spcPct val="100000"/>
              </a:lnSpc>
              <a:spcAft>
                <a:spcPts val="0"/>
              </a:spcAft>
            </a:pPr>
            <a:r>
              <a:rPr sz="1900" i="1">
                <a:solidFill>
                  <a:srgbClr val="8795A1"/>
                </a:solidFill>
                <a:latin typeface="Consolas"/>
              </a:rPr>
              <a:t>// The only change between parts 3 and 4 is the distribution the keys</a:t>
            </a:r>
          </a:p>
          <a:p>
            <a:pPr>
              <a:lnSpc>
                <a:spcPct val="100000"/>
              </a:lnSpc>
              <a:spcAft>
                <a:spcPts val="0"/>
              </a:spcAft>
            </a:pPr>
            <a:r>
              <a:rPr sz="1900" i="1">
                <a:solidFill>
                  <a:srgbClr val="8795A1"/>
                </a:solidFill>
                <a:latin typeface="Consolas"/>
              </a:rPr>
              <a:t>// are drawn from, and it changes the hang rate from 32% to 100%.</a:t>
            </a:r>
          </a:p>
        </p:txBody>
      </p:sp>
      <p:sp>
        <p:nvSpPr>
          <p:cNvPr id="15" name="!!code-num"/>
          <p:cNvSpPr txBox="1"/>
          <p:nvPr/>
        </p:nvSpPr>
        <p:spPr>
          <a:xfrm>
            <a:off x="768096" y="2523744"/>
            <a:ext cx="393192" cy="978408"/>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51</a:t>
            </a:r>
          </a:p>
          <a:p>
            <a:pPr algn="r">
              <a:lnSpc>
                <a:spcPct val="100000"/>
              </a:lnSpc>
            </a:pPr>
            <a:r>
              <a:rPr sz="1900">
                <a:solidFill>
                  <a:srgbClr val="4F5D6A"/>
                </a:solidFill>
                <a:latin typeface="Consolas"/>
              </a:rPr>
              <a:t>52</a:t>
            </a:r>
          </a:p>
          <a:p>
            <a:pPr algn="r">
              <a:lnSpc>
                <a:spcPct val="100000"/>
              </a:lnSpc>
            </a:pPr>
            <a:r>
              <a:rPr sz="1900">
                <a:solidFill>
                  <a:srgbClr val="4F5D6A"/>
                </a:solidFill>
                <a:latin typeface="Consolas"/>
              </a:rPr>
              <a:t>53</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9378227"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Bug That Is Never Wrong</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7 OF 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  ·  Correctness: Loop Invariants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§4.6  ·  Handout p. 35     </a:t>
            </a:r>
            <a:fld id="{4FC74B3A-C4EB-4584-BAF7-07AA557A369C}" type="slidenum">
              <a:rPr lang="en-GB" sz="1000">
                <a:solidFill>
                  <a:srgbClr val="8795A1"/>
                </a:solidFill>
                <a:latin typeface="Segoe UI"/>
              </a:rPr>
              <a:t>41</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And the invariant? It never broke once.</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630424"/>
          </a:xfrm>
          <a:prstGeom prst="roundRect">
            <a:avLst>
              <a:gd name="adj" fmla="val 34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C++  ·  code/ch04_invariant.cpp</a:t>
            </a:r>
          </a:p>
        </p:txBody>
      </p:sp>
      <p:sp>
        <p:nvSpPr>
          <p:cNvPr id="14" name="!!code-text" descr="// --- 5. And the invariant? It never broke once. -------------------- // inv_ever_broken is set by the audit in part 2 and is never set. // Printing that zero beside the 13,228 hangs IS the experiment: the // two numbers together say &quot;partially correct, and useless&quot;. printf(&quot; iterations audited : %lld\n&quot;, iters); printf(&quot; invariant violated : %s\n&quot;, broken ? &quot;YES&quot; : &quot;NO&quot;); printf(&quot; wrong answers, A+B : %d\n&quot;, wrong_present + wrong_absent);"/>
          <p:cNvSpPr txBox="1"/>
          <p:nvPr/>
        </p:nvSpPr>
        <p:spPr>
          <a:xfrm>
            <a:off x="1362456" y="2523744"/>
            <a:ext cx="9987991" cy="2136648"/>
          </a:xfrm>
          <a:prstGeom prst="rect">
            <a:avLst/>
          </a:prstGeom>
          <a:noFill/>
        </p:spPr>
        <p:txBody>
          <a:bodyPr wrap="none" anchor="t" lIns="0" rIns="0" tIns="0" bIns="0">
            <a:noAutofit/>
          </a:bodyPr>
          <a:lstStyle/>
          <a:p>
            <a:pPr>
              <a:lnSpc>
                <a:spcPct val="100000"/>
              </a:lnSpc>
              <a:spcAft>
                <a:spcPts val="0"/>
              </a:spcAft>
            </a:pPr>
            <a:r>
              <a:rPr sz="1900" i="1">
                <a:solidFill>
                  <a:srgbClr val="8795A1"/>
                </a:solidFill>
                <a:latin typeface="Consolas"/>
              </a:rPr>
              <a:t>// --- 5. And the invariant? It never broke once. --------------------</a:t>
            </a:r>
          </a:p>
          <a:p>
            <a:pPr>
              <a:lnSpc>
                <a:spcPct val="100000"/>
              </a:lnSpc>
              <a:spcAft>
                <a:spcPts val="0"/>
              </a:spcAft>
            </a:pPr>
            <a:r>
              <a:rPr sz="1900" i="1">
                <a:solidFill>
                  <a:srgbClr val="8795A1"/>
                </a:solidFill>
                <a:latin typeface="Consolas"/>
              </a:rPr>
              <a:t>// inv_ever_broken is set by the audit in part 2 and is never set.</a:t>
            </a:r>
          </a:p>
          <a:p>
            <a:pPr>
              <a:lnSpc>
                <a:spcPct val="100000"/>
              </a:lnSpc>
              <a:spcAft>
                <a:spcPts val="0"/>
              </a:spcAft>
            </a:pPr>
            <a:r>
              <a:rPr sz="1900" i="1">
                <a:solidFill>
                  <a:srgbClr val="8795A1"/>
                </a:solidFill>
                <a:latin typeface="Consolas"/>
              </a:rPr>
              <a:t>// Printing that zero beside the 13,228 hangs IS the experiment: the</a:t>
            </a:r>
          </a:p>
          <a:p>
            <a:pPr>
              <a:lnSpc>
                <a:spcPct val="100000"/>
              </a:lnSpc>
              <a:spcAft>
                <a:spcPts val="0"/>
              </a:spcAft>
            </a:pPr>
            <a:r>
              <a:rPr sz="1900" i="1">
                <a:solidFill>
                  <a:srgbClr val="8795A1"/>
                </a:solidFill>
                <a:latin typeface="Consolas"/>
              </a:rPr>
              <a:t>// two numbers together say "partially correct, and useless".</a:t>
            </a:r>
          </a:p>
          <a:p>
            <a:pPr>
              <a:lnSpc>
                <a:spcPct val="100000"/>
              </a:lnSpc>
              <a:spcAft>
                <a:spcPts val="0"/>
              </a:spcAft>
            </a:pPr>
            <a:r>
              <a:rPr sz="1900" i="0">
                <a:solidFill>
                  <a:srgbClr val="E8EDF2"/>
                </a:solidFill>
                <a:latin typeface="Consolas"/>
              </a:rPr>
              <a:t>printf</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iterations audited : %lld</a:t>
            </a:r>
            <a:r>
              <a:rPr sz="1900" i="0">
                <a:solidFill>
                  <a:srgbClr val="7DCEA0"/>
                </a:solidFill>
                <a:latin typeface="Consolas"/>
              </a:rPr>
              <a:t>\n</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iters</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printf</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invariant violated : %s</a:t>
            </a:r>
            <a:r>
              <a:rPr sz="1900" i="0">
                <a:solidFill>
                  <a:srgbClr val="7DCEA0"/>
                </a:solidFill>
                <a:latin typeface="Consolas"/>
              </a:rPr>
              <a:t>\n</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broken</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YES</a:t>
            </a:r>
            <a:r>
              <a:rPr sz="1900" i="0">
                <a:solidFill>
                  <a:srgbClr val="7DCEA0"/>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NO</a:t>
            </a:r>
            <a:r>
              <a:rPr sz="1900" i="0">
                <a:solidFill>
                  <a:srgbClr val="7DCEA0"/>
                </a:solidFill>
                <a:latin typeface="Consolas"/>
              </a:rPr>
              <a: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printf</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wrong answers, A+B : %d</a:t>
            </a:r>
            <a:r>
              <a:rPr sz="1900" i="0">
                <a:solidFill>
                  <a:srgbClr val="7DCEA0"/>
                </a:solidFill>
                <a:latin typeface="Consolas"/>
              </a:rPr>
              <a:t>\n</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wrong_present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wrong_absent</a:t>
            </a:r>
            <a:r>
              <a:rPr sz="1900" i="0">
                <a:solidFill>
                  <a:srgbClr val="AEB6BF"/>
                </a:solidFill>
                <a:latin typeface="Consolas"/>
              </a:rPr>
              <a:t>)</a:t>
            </a:r>
            <a:r>
              <a:rPr sz="1900" i="0">
                <a:solidFill>
                  <a:srgbClr val="AEB6BF"/>
                </a:solidFill>
                <a:latin typeface="Consolas"/>
              </a:rPr>
              <a:t>;</a:t>
            </a:r>
          </a:p>
        </p:txBody>
      </p:sp>
      <p:sp>
        <p:nvSpPr>
          <p:cNvPr id="15" name="!!code-num"/>
          <p:cNvSpPr txBox="1"/>
          <p:nvPr/>
        </p:nvSpPr>
        <p:spPr>
          <a:xfrm>
            <a:off x="768096" y="2523744"/>
            <a:ext cx="393192" cy="2136648"/>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55</a:t>
            </a:r>
          </a:p>
          <a:p>
            <a:pPr algn="r">
              <a:lnSpc>
                <a:spcPct val="100000"/>
              </a:lnSpc>
            </a:pPr>
            <a:r>
              <a:rPr sz="1900">
                <a:solidFill>
                  <a:srgbClr val="4F5D6A"/>
                </a:solidFill>
                <a:latin typeface="Consolas"/>
              </a:rPr>
              <a:t>56</a:t>
            </a:r>
          </a:p>
          <a:p>
            <a:pPr algn="r">
              <a:lnSpc>
                <a:spcPct val="100000"/>
              </a:lnSpc>
            </a:pPr>
            <a:r>
              <a:rPr sz="1900">
                <a:solidFill>
                  <a:srgbClr val="4F5D6A"/>
                </a:solidFill>
                <a:latin typeface="Consolas"/>
              </a:rPr>
              <a:t>57</a:t>
            </a:r>
          </a:p>
          <a:p>
            <a:pPr algn="r">
              <a:lnSpc>
                <a:spcPct val="100000"/>
              </a:lnSpc>
            </a:pPr>
            <a:r>
              <a:rPr sz="1900">
                <a:solidFill>
                  <a:srgbClr val="4F5D6A"/>
                </a:solidFill>
                <a:latin typeface="Consolas"/>
              </a:rPr>
              <a:t>58</a:t>
            </a:r>
          </a:p>
          <a:p>
            <a:pPr algn="r">
              <a:lnSpc>
                <a:spcPct val="100000"/>
              </a:lnSpc>
            </a:pPr>
            <a:r>
              <a:rPr sz="1900">
                <a:solidFill>
                  <a:srgbClr val="4F5D6A"/>
                </a:solidFill>
                <a:latin typeface="Consolas"/>
              </a:rPr>
              <a:t>59</a:t>
            </a:r>
          </a:p>
          <a:p>
            <a:pPr algn="r">
              <a:lnSpc>
                <a:spcPct val="100000"/>
              </a:lnSpc>
            </a:pPr>
            <a:r>
              <a:rPr sz="1900">
                <a:solidFill>
                  <a:srgbClr val="4F5D6A"/>
                </a:solidFill>
                <a:latin typeface="Consolas"/>
              </a:rPr>
              <a:t>60</a:t>
            </a:r>
          </a:p>
          <a:p>
            <a:pPr algn="r">
              <a:lnSpc>
                <a:spcPct val="100000"/>
              </a:lnSpc>
            </a:pPr>
            <a:r>
              <a:rPr sz="1900">
                <a:solidFill>
                  <a:srgbClr val="4F5D6A"/>
                </a:solidFill>
                <a:latin typeface="Consolas"/>
              </a:rPr>
              <a:t>61</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9612682"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Bug That Is Never Wrong</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8 OF 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  ·  Correctness: Loop Invariants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§4.6  ·  Handout p. 35     </a:t>
            </a:r>
            <a:fld id="{C9590C75-64F1-4421-A652-79C8E06D7194}" type="slidenum">
              <a:rPr lang="en-GB" sz="1000">
                <a:solidFill>
                  <a:srgbClr val="8795A1"/>
                </a:solidFill>
                <a:latin typeface="Segoe UI"/>
              </a:rPr>
              <a:t>42</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Why proving beats testing, counted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788663"/>
          </a:xfrm>
          <a:prstGeom prst="roundRect">
            <a:avLst>
              <a:gd name="adj" fmla="val 2413"/>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C++  ·  code/ch04_invariant.cpp</a:t>
            </a:r>
          </a:p>
        </p:txBody>
      </p:sp>
      <p:sp>
        <p:nvSpPr>
          <p:cNvPr id="14" name="!!code-text" descr="// --- 6. Why proving beats testing, counted ------------------------- // Exhaustive testing means every sorted array and every key. The // number of sorted arrays of length n over an alphabet of size m is // the multiset coefficient C(m+n-1, n). for (int n : {4, 8, 16, 20}) { const int m = 100; double c = 1.0; for (int i = 1; i &lt;= n; ++i) c *= (double)(m + n - i) / i; printf(&quot; n=%2d, values 0..99 : %.3g sorted arrays x %d keys\n&quot;, n, c, m); }"/>
          <p:cNvSpPr txBox="1"/>
          <p:nvPr/>
        </p:nvSpPr>
        <p:spPr>
          <a:xfrm>
            <a:off x="1362456" y="2523744"/>
            <a:ext cx="9987991" cy="3294887"/>
          </a:xfrm>
          <a:prstGeom prst="rect">
            <a:avLst/>
          </a:prstGeom>
          <a:noFill/>
        </p:spPr>
        <p:txBody>
          <a:bodyPr wrap="none" anchor="t" lIns="0" rIns="0" tIns="0" bIns="0">
            <a:noAutofit/>
          </a:bodyPr>
          <a:lstStyle/>
          <a:p>
            <a:pPr>
              <a:lnSpc>
                <a:spcPct val="100000"/>
              </a:lnSpc>
              <a:spcAft>
                <a:spcPts val="0"/>
              </a:spcAft>
            </a:pPr>
            <a:r>
              <a:rPr sz="1900" i="1">
                <a:solidFill>
                  <a:srgbClr val="8795A1"/>
                </a:solidFill>
                <a:latin typeface="Consolas"/>
              </a:rPr>
              <a:t>// --- 6. Why proving beats testing, counted -------------------------</a:t>
            </a:r>
          </a:p>
          <a:p>
            <a:pPr>
              <a:lnSpc>
                <a:spcPct val="100000"/>
              </a:lnSpc>
              <a:spcAft>
                <a:spcPts val="0"/>
              </a:spcAft>
            </a:pPr>
            <a:r>
              <a:rPr sz="1900" i="1">
                <a:solidFill>
                  <a:srgbClr val="8795A1"/>
                </a:solidFill>
                <a:latin typeface="Consolas"/>
              </a:rPr>
              <a:t>// Exhaustive testing means every sorted array and every key. The</a:t>
            </a:r>
          </a:p>
          <a:p>
            <a:pPr>
              <a:lnSpc>
                <a:spcPct val="100000"/>
              </a:lnSpc>
              <a:spcAft>
                <a:spcPts val="0"/>
              </a:spcAft>
            </a:pPr>
            <a:r>
              <a:rPr sz="1900" i="1">
                <a:solidFill>
                  <a:srgbClr val="8795A1"/>
                </a:solidFill>
                <a:latin typeface="Consolas"/>
              </a:rPr>
              <a:t>// number of sorted arrays of length n over an alphabet of size m is</a:t>
            </a:r>
          </a:p>
          <a:p>
            <a:pPr>
              <a:lnSpc>
                <a:spcPct val="100000"/>
              </a:lnSpc>
              <a:spcAft>
                <a:spcPts val="0"/>
              </a:spcAft>
            </a:pPr>
            <a:r>
              <a:rPr sz="1900" i="1">
                <a:solidFill>
                  <a:srgbClr val="8795A1"/>
                </a:solidFill>
                <a:latin typeface="Consolas"/>
              </a:rPr>
              <a:t>// the multiset coefficient C(m+n-1, n).</a:t>
            </a:r>
          </a:p>
          <a:p>
            <a:pPr>
              <a:lnSpc>
                <a:spcPct val="100000"/>
              </a:lnSpc>
              <a:spcAft>
                <a:spcPts val="0"/>
              </a:spcAft>
            </a:pPr>
            <a:r>
              <a:rPr sz="1900" i="0">
                <a:solidFill>
                  <a:srgbClr val="5DADE2"/>
                </a:solidFill>
                <a:latin typeface="Consolas"/>
              </a:rPr>
              <a:t>for</a:t>
            </a:r>
            <a:r>
              <a:rPr sz="1900" i="0">
                <a:solidFill>
                  <a:srgbClr val="E8EDF2"/>
                </a:solidFill>
                <a:latin typeface="Consolas"/>
              </a:rPr>
              <a:t> </a:t>
            </a:r>
            <a:r>
              <a:rPr sz="1900" i="0">
                <a:solidFill>
                  <a:srgbClr val="AEB6BF"/>
                </a:solidFill>
                <a:latin typeface="Consolas"/>
              </a:rPr>
              <a:t>(</a:t>
            </a:r>
            <a:r>
              <a:rPr sz="1900" i="0">
                <a:solidFill>
                  <a:srgbClr val="5DADE2"/>
                </a:solidFill>
                <a:latin typeface="Consolas"/>
              </a:rPr>
              <a:t>int</a:t>
            </a:r>
            <a:r>
              <a:rPr sz="1900" i="0">
                <a:solidFill>
                  <a:srgbClr val="E8EDF2"/>
                </a:solidFill>
                <a:latin typeface="Consolas"/>
              </a:rPr>
              <a:t> </a:t>
            </a:r>
            <a:r>
              <a:rPr sz="1900" i="0">
                <a:solidFill>
                  <a:srgbClr val="E8EDF2"/>
                </a:solidFill>
                <a:latin typeface="Consolas"/>
              </a:rPr>
              <a:t>n</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F7DC6F"/>
                </a:solidFill>
                <a:latin typeface="Consolas"/>
              </a:rPr>
              <a:t>4</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8</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16</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20</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const</a:t>
            </a:r>
            <a:r>
              <a:rPr sz="1900" i="0">
                <a:solidFill>
                  <a:srgbClr val="E8EDF2"/>
                </a:solidFill>
                <a:latin typeface="Consolas"/>
              </a:rPr>
              <a:t> </a:t>
            </a:r>
            <a:r>
              <a:rPr sz="1900" i="0">
                <a:solidFill>
                  <a:srgbClr val="5DADE2"/>
                </a:solidFill>
                <a:latin typeface="Consolas"/>
              </a:rPr>
              <a:t>int</a:t>
            </a:r>
            <a:r>
              <a:rPr sz="1900" i="0">
                <a:solidFill>
                  <a:srgbClr val="E8EDF2"/>
                </a:solidFill>
                <a:latin typeface="Consolas"/>
              </a:rPr>
              <a:t> </a:t>
            </a:r>
            <a:r>
              <a:rPr sz="1900" i="0">
                <a:solidFill>
                  <a:srgbClr val="E8EDF2"/>
                </a:solidFill>
                <a:latin typeface="Consolas"/>
              </a:rPr>
              <a:t>m</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100</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double</a:t>
            </a:r>
            <a:r>
              <a:rPr sz="1900" i="0">
                <a:solidFill>
                  <a:srgbClr val="E8EDF2"/>
                </a:solidFill>
                <a:latin typeface="Consolas"/>
              </a:rPr>
              <a:t> </a:t>
            </a:r>
            <a:r>
              <a:rPr sz="1900" i="0">
                <a:solidFill>
                  <a:srgbClr val="E8EDF2"/>
                </a:solidFill>
                <a:latin typeface="Consolas"/>
              </a:rPr>
              <a:t>c</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1.0</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for</a:t>
            </a:r>
            <a:r>
              <a:rPr sz="1900" i="0">
                <a:solidFill>
                  <a:srgbClr val="E8EDF2"/>
                </a:solidFill>
                <a:latin typeface="Consolas"/>
              </a:rPr>
              <a:t> </a:t>
            </a:r>
            <a:r>
              <a:rPr sz="1900" i="0">
                <a:solidFill>
                  <a:srgbClr val="AEB6BF"/>
                </a:solidFill>
                <a:latin typeface="Consolas"/>
              </a:rPr>
              <a:t>(</a:t>
            </a:r>
            <a:r>
              <a:rPr sz="1900" i="0">
                <a:solidFill>
                  <a:srgbClr val="5DADE2"/>
                </a:solidFill>
                <a:latin typeface="Consolas"/>
              </a:rPr>
              <a:t>int</a:t>
            </a:r>
            <a:r>
              <a:rPr sz="1900" i="0">
                <a:solidFill>
                  <a:srgbClr val="E8EDF2"/>
                </a:solidFill>
                <a:latin typeface="Consolas"/>
              </a:rPr>
              <a:t> </a:t>
            </a:r>
            <a:r>
              <a:rPr sz="1900" i="0">
                <a:solidFill>
                  <a:srgbClr val="E8EDF2"/>
                </a:solidFill>
                <a:latin typeface="Consolas"/>
              </a:rPr>
              <a:t>i</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1</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i</a:t>
            </a:r>
            <a:r>
              <a:rPr sz="1900" i="0">
                <a:solidFill>
                  <a:srgbClr val="E8EDF2"/>
                </a:solidFill>
                <a:latin typeface="Consolas"/>
              </a:rPr>
              <a:t> </a:t>
            </a:r>
            <a:r>
              <a:rPr sz="1900" i="0">
                <a:solidFill>
                  <a:srgbClr val="AEB6BF"/>
                </a:solidFill>
                <a:latin typeface="Consolas"/>
              </a:rPr>
              <a:t>&lt;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n</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i</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c</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5DADE2"/>
                </a:solidFill>
                <a:latin typeface="Consolas"/>
              </a:rPr>
              <a:t>double</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m</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n</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i</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i</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printf</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n=%2d, values 0..99 : %.3g sorted arrays x %d keys</a:t>
            </a:r>
            <a:r>
              <a:rPr sz="1900" i="0">
                <a:solidFill>
                  <a:srgbClr val="7DCEA0"/>
                </a:solidFill>
                <a:latin typeface="Consolas"/>
              </a:rPr>
              <a:t>\n</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n</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c</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m</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AEB6BF"/>
                </a:solidFill>
                <a:latin typeface="Consolas"/>
              </a:rPr>
              <a:t>}</a:t>
            </a:r>
          </a:p>
        </p:txBody>
      </p:sp>
      <p:sp>
        <p:nvSpPr>
          <p:cNvPr id="15" name="!!code-num"/>
          <p:cNvSpPr txBox="1"/>
          <p:nvPr/>
        </p:nvSpPr>
        <p:spPr>
          <a:xfrm>
            <a:off x="768096" y="2523744"/>
            <a:ext cx="393192" cy="3294887"/>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63</a:t>
            </a:r>
          </a:p>
          <a:p>
            <a:pPr algn="r">
              <a:lnSpc>
                <a:spcPct val="100000"/>
              </a:lnSpc>
            </a:pPr>
            <a:r>
              <a:rPr sz="1900">
                <a:solidFill>
                  <a:srgbClr val="4F5D6A"/>
                </a:solidFill>
                <a:latin typeface="Consolas"/>
              </a:rPr>
              <a:t>64</a:t>
            </a:r>
          </a:p>
          <a:p>
            <a:pPr algn="r">
              <a:lnSpc>
                <a:spcPct val="100000"/>
              </a:lnSpc>
            </a:pPr>
            <a:r>
              <a:rPr sz="1900">
                <a:solidFill>
                  <a:srgbClr val="4F5D6A"/>
                </a:solidFill>
                <a:latin typeface="Consolas"/>
              </a:rPr>
              <a:t>65</a:t>
            </a:r>
          </a:p>
          <a:p>
            <a:pPr algn="r">
              <a:lnSpc>
                <a:spcPct val="100000"/>
              </a:lnSpc>
            </a:pPr>
            <a:r>
              <a:rPr sz="1900">
                <a:solidFill>
                  <a:srgbClr val="4F5D6A"/>
                </a:solidFill>
                <a:latin typeface="Consolas"/>
              </a:rPr>
              <a:t>66</a:t>
            </a:r>
          </a:p>
          <a:p>
            <a:pPr algn="r">
              <a:lnSpc>
                <a:spcPct val="100000"/>
              </a:lnSpc>
            </a:pPr>
            <a:r>
              <a:rPr sz="1900">
                <a:solidFill>
                  <a:srgbClr val="4F5D6A"/>
                </a:solidFill>
                <a:latin typeface="Consolas"/>
              </a:rPr>
              <a:t>67</a:t>
            </a:r>
          </a:p>
          <a:p>
            <a:pPr algn="r">
              <a:lnSpc>
                <a:spcPct val="100000"/>
              </a:lnSpc>
            </a:pPr>
            <a:r>
              <a:rPr sz="1900">
                <a:solidFill>
                  <a:srgbClr val="4F5D6A"/>
                </a:solidFill>
                <a:latin typeface="Consolas"/>
              </a:rPr>
              <a:t>68</a:t>
            </a:r>
          </a:p>
          <a:p>
            <a:pPr algn="r">
              <a:lnSpc>
                <a:spcPct val="100000"/>
              </a:lnSpc>
            </a:pPr>
            <a:r>
              <a:rPr sz="1900">
                <a:solidFill>
                  <a:srgbClr val="4F5D6A"/>
                </a:solidFill>
                <a:latin typeface="Consolas"/>
              </a:rPr>
              <a:t>69</a:t>
            </a:r>
          </a:p>
          <a:p>
            <a:pPr algn="r">
              <a:lnSpc>
                <a:spcPct val="100000"/>
              </a:lnSpc>
            </a:pPr>
            <a:r>
              <a:rPr sz="1900">
                <a:solidFill>
                  <a:srgbClr val="4F5D6A"/>
                </a:solidFill>
                <a:latin typeface="Consolas"/>
              </a:rPr>
              <a:t>70</a:t>
            </a:r>
          </a:p>
          <a:p>
            <a:pPr algn="r">
              <a:lnSpc>
                <a:spcPct val="100000"/>
              </a:lnSpc>
            </a:pPr>
            <a:r>
              <a:rPr sz="1900">
                <a:solidFill>
                  <a:srgbClr val="4F5D6A"/>
                </a:solidFill>
                <a:latin typeface="Consolas"/>
              </a:rPr>
              <a:t>71</a:t>
            </a:r>
          </a:p>
          <a:p>
            <a:pPr algn="r">
              <a:lnSpc>
                <a:spcPct val="100000"/>
              </a:lnSpc>
            </a:pPr>
            <a:r>
              <a:rPr sz="1900">
                <a:solidFill>
                  <a:srgbClr val="4F5D6A"/>
                </a:solidFill>
                <a:latin typeface="Consolas"/>
              </a:rPr>
              <a:t>72</a:t>
            </a:r>
          </a:p>
          <a:p>
            <a:pPr algn="r">
              <a:lnSpc>
                <a:spcPct val="100000"/>
              </a:lnSpc>
            </a:pPr>
            <a:r>
              <a:rPr sz="1900">
                <a:solidFill>
                  <a:srgbClr val="4F5D6A"/>
                </a:solidFill>
                <a:latin typeface="Consolas"/>
              </a:rPr>
              <a:t>73</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9847138"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lab shows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  ·  Correctness: Loop Invariants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§4.6  ·  Handout p. 35     </a:t>
            </a:r>
            <a:fld id="{9BB7D524-DC44-45B7-A08E-C211248132BB}" type="slidenum">
              <a:rPr lang="en-GB" sz="1000">
                <a:solidFill>
                  <a:srgbClr val="8795A1"/>
                </a:solidFill>
                <a:latin typeface="Segoe UI"/>
              </a:rPr>
              <a:t>43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698773"/>
          </a:xfrm>
          <a:prstGeom prst="roundRect">
            <a:avLst>
              <a:gd name="adj" fmla="val 2472"/>
            </a:avLst>
          </a:prstGeom>
          <a:solidFill>
            <a:srgbClr val="EEF6F4"/>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698773"/>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1" i="0">
                <a:solidFill>
                  <a:srgbClr val="0E6655"/>
                </a:solidFill>
                <a:latin typeface="Segoe UI"/>
              </a:rPr>
              <a:t>What to notice.</a:t>
            </a:r>
            <a:r>
              <a:rPr sz="2300" b="0" i="0">
                <a:solidFill>
                  <a:srgbClr val="1C252B"/>
                </a:solidFill>
                <a:latin typeface="Segoe UI"/>
              </a:rPr>
              <a:t> The </a:t>
            </a:r>
            <a:r>
              <a:rPr sz="2150" b="0" i="0">
                <a:solidFill>
                  <a:srgbClr val="1F4E79"/>
                </a:solidFill>
                <a:latin typeface="Consolas"/>
              </a:rPr>
              <a:t>invariant violated</a:t>
            </a:r>
            <a:r>
              <a:rPr sz="2300" b="0" i="0">
                <a:solidFill>
                  <a:srgbClr val="1C252B"/>
                </a:solidFill>
                <a:latin typeface="Segoe UI"/>
              </a:rPr>
              <a:t> line prints </a:t>
            </a:r>
            <a:r>
              <a:rPr sz="2150" b="0" i="0">
                <a:solidFill>
                  <a:srgbClr val="1F4E79"/>
                </a:solidFill>
                <a:latin typeface="Consolas"/>
              </a:rPr>
              <a:t>NO</a:t>
            </a:r>
            <a:r>
              <a:rPr sz="2300" b="0" i="0">
                <a:solidFill>
                  <a:srgbClr val="1C252B"/>
                </a:solidFill>
                <a:latin typeface="Segoe UI"/>
              </a:rPr>
              <a:t>, and it is the most important line in the output: the audit is not failing to find a violation because it is badly written, it is failing because there is none to find.</a:t>
            </a:r>
          </a:p>
        </p:txBody>
      </p:sp>
      <p:sp>
        <p:nvSpPr>
          <p:cNvPr id="10" name="body-1"/>
          <p:cNvSpPr txBox="1"/>
          <p:nvPr/>
        </p:nvSpPr>
        <p:spPr>
          <a:xfrm>
            <a:off x="1060704" y="3302533"/>
            <a:ext cx="10161727" cy="1868424"/>
          </a:xfrm>
          <a:prstGeom prst="rect">
            <a:avLst/>
          </a:prstGeom>
          <a:noFill/>
        </p:spPr>
        <p:txBody>
          <a:bodyPr wrap="square" anchor="t" lIns="0" rIns="0" tIns="0" bIns="0">
            <a:noAutofit/>
          </a:bodyPr>
          <a:lstStyle/>
          <a:p>
            <a:pPr algn="l">
              <a:lnSpc>
                <a:spcPct val="104000"/>
              </a:lnSpc>
              <a:spcBef>
                <a:spcPts val="0"/>
              </a:spcBef>
              <a:spcAft>
                <a:spcPts val="0"/>
              </a:spcAft>
            </a:pPr>
            <a:r>
              <a:rPr sz="2300" b="1" i="0">
                <a:solidFill>
                  <a:srgbClr val="0E6655"/>
                </a:solidFill>
                <a:latin typeface="Segoe UI"/>
              </a:rPr>
              <a:t>Then try to break it.</a:t>
            </a:r>
            <a:r>
              <a:rPr sz="2300" b="0" i="0">
                <a:solidFill>
                  <a:srgbClr val="1C252B"/>
                </a:solidFill>
                <a:latin typeface="Segoe UI"/>
              </a:rPr>
              <a:t> Change the bug from </a:t>
            </a:r>
            <a:r>
              <a:rPr sz="2150" b="0" i="0">
                <a:solidFill>
                  <a:srgbClr val="1F4E79"/>
                </a:solidFill>
                <a:latin typeface="Consolas"/>
              </a:rPr>
              <a:t>lo = mid</a:t>
            </a:r>
            <a:r>
              <a:rPr sz="2300" b="0" i="0">
                <a:solidFill>
                  <a:srgbClr val="1C252B"/>
                </a:solidFill>
                <a:latin typeface="Segoe UI"/>
              </a:rPr>
              <a:t> to </a:t>
            </a:r>
            <a:r>
              <a:rPr sz="2150" b="0" i="0">
                <a:solidFill>
                  <a:srgbClr val="1F4E79"/>
                </a:solidFill>
                <a:latin typeface="Consolas"/>
              </a:rPr>
              <a:t>lo = mid + 2</a:t>
            </a:r>
            <a:r>
              <a:rPr sz="2300" b="0" i="0">
                <a:solidFill>
                  <a:srgbClr val="1C252B"/>
                </a:solidFill>
                <a:latin typeface="Segoe UI"/>
              </a:rPr>
              <a:t>. Now predict, before running it, which of the three obligations fails — and which column of the table changes. This mutation terminates and gives wrong answers, the exact mirror image of the one in the book, and it is the case an invariant proof catches immediately.</a:t>
            </a:r>
          </a:p>
        </p:txBody>
      </p:sp>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10081594"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State a loop invariant for a loop that computes </a:t>
            </a:r>
            <a:r>
              <a:rPr sz="3400" b="0" i="0">
                <a:solidFill>
                  <a:srgbClr val="FFFFFF"/>
                </a:solidFill>
                <a:latin typeface="Cambria"/>
              </a:rPr>
              <a:t>Σ</a:t>
            </a:r>
            <a:r>
              <a:rPr sz="2250" b="0" i="1" baseline="-25000">
                <a:solidFill>
                  <a:srgbClr val="FFFFFF"/>
                </a:solidFill>
                <a:latin typeface="Cambria"/>
              </a:rPr>
              <a:t>i</a:t>
            </a:r>
            <a:r>
              <a:rPr sz="2250" b="0" i="0" baseline="-25000">
                <a:solidFill>
                  <a:srgbClr val="FFFFFF"/>
                </a:solidFill>
                <a:latin typeface="Cambria"/>
              </a:rPr>
              <a:t>=1</a:t>
            </a:r>
            <a:r>
              <a:rPr sz="2250" b="0" i="1" baseline="30000">
                <a:solidFill>
                  <a:srgbClr val="FFFFFF"/>
                </a:solidFill>
                <a:latin typeface="Cambria"/>
              </a:rPr>
              <a:t>n</a:t>
            </a:r>
            <a:r>
              <a:rPr sz="3400" b="0" i="0">
                <a:solidFill>
                  <a:srgbClr val="FFFFFF"/>
                </a:solidFill>
                <a:latin typeface="Cambria"/>
              </a:rPr>
              <a:t> </a:t>
            </a:r>
            <a:r>
              <a:rPr sz="3400" b="0" i="1">
                <a:solidFill>
                  <a:srgbClr val="FFFFFF"/>
                </a:solidFill>
                <a:latin typeface="Cambria"/>
              </a:rPr>
              <a:t>A</a:t>
            </a:r>
            <a:r>
              <a:rPr sz="3400" b="0" i="0">
                <a:solidFill>
                  <a:srgbClr val="FFFFFF"/>
                </a:solidFill>
                <a:latin typeface="Cambria"/>
              </a:rPr>
              <a:t>[</a:t>
            </a:r>
            <a:r>
              <a:rPr sz="3400" b="0" i="1">
                <a:solidFill>
                  <a:srgbClr val="FFFFFF"/>
                </a:solidFill>
                <a:latin typeface="Cambria"/>
              </a:rPr>
              <a:t>i</a:t>
            </a:r>
            <a:r>
              <a:rPr sz="3400" b="0" i="0">
                <a:solidFill>
                  <a:srgbClr val="FFFFFF"/>
                </a:solidFill>
                <a:latin typeface="Cambria"/>
              </a:rPr>
              <a:t>]</a:t>
            </a:r>
            <a:r>
              <a:rPr sz="3400" b="0" i="0">
                <a:solidFill>
                  <a:srgbClr val="FFFFFF"/>
                </a:solidFill>
                <a:latin typeface="Segoe UI Semibold"/>
              </a:rPr>
              <a:t> into a variable </a:t>
            </a:r>
            <a:r>
              <a:rPr sz="3400" b="0" i="1">
                <a:solidFill>
                  <a:srgbClr val="FFFFFF"/>
                </a:solidFill>
                <a:latin typeface="Segoe UI Semibold"/>
              </a:rPr>
              <a:t>total</a:t>
            </a:r>
            <a:r>
              <a:rPr sz="3400" b="0" i="0">
                <a:solidFill>
                  <a:srgbClr val="FFFFFF"/>
                </a:solidFill>
                <a:latin typeface="Segoe UI Semibold"/>
              </a:rPr>
              <a:t>, and give the measure that proves it terminates.</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1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Analysis of Algorithms  ·  Chapter 4  ·  Correctness: Loop Invariants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40  ·  answers in Appendix D     </a:t>
            </a:r>
            <a:fld id="{5D29F48F-95CB-48C2-81F7-CA5719997F2F}" type="slidenum">
              <a:rPr lang="en-GB" sz="1000">
                <a:solidFill>
                  <a:srgbClr val="D5DEE5"/>
                </a:solidFill>
                <a:latin typeface="Segoe UI"/>
              </a:rPr>
              <a:t>44</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A classmate’s invariant for selection sort reads: “after each iteration, </a:t>
            </a:r>
            <a:r>
              <a:rPr sz="3400" b="0" i="1">
                <a:solidFill>
                  <a:srgbClr val="FFFFFF"/>
                </a:solidFill>
                <a:latin typeface="Cambria"/>
              </a:rPr>
              <a:t>A</a:t>
            </a:r>
            <a:r>
              <a:rPr sz="3400" b="0" i="0">
                <a:solidFill>
                  <a:srgbClr val="FFFFFF"/>
                </a:solidFill>
                <a:latin typeface="Cambria"/>
              </a:rPr>
              <a:t>[1</a:t>
            </a:r>
            <a:r>
              <a:rPr sz="3400" b="0" i="1">
                <a:solidFill>
                  <a:srgbClr val="FFFFFF"/>
                </a:solidFill>
                <a:latin typeface="Cambria"/>
              </a:rPr>
              <a:t>k</a:t>
            </a:r>
            <a:r>
              <a:rPr sz="3400" b="0" i="0">
                <a:solidFill>
                  <a:srgbClr val="FFFFFF"/>
                </a:solidFill>
                <a:latin typeface="Cambria"/>
              </a:rPr>
              <a:t>]</a:t>
            </a:r>
            <a:r>
              <a:rPr sz="3400" b="0" i="0">
                <a:solidFill>
                  <a:srgbClr val="FFFFFF"/>
                </a:solidFill>
                <a:latin typeface="Segoe UI Semibold"/>
              </a:rPr>
              <a:t> is sorted”. Give an incorrect program that satisfies it, and repair the invariant.</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2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Analysis of Algorithms  ·  Chapter 4  ·  Correctness: Loop Invariants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40  ·  answers in Appendix D     </a:t>
            </a:r>
            <a:fld id="{E3F9C155-725C-4AE7-8076-D58307BAA47F}" type="slidenum">
              <a:rPr lang="en-GB" sz="1000">
                <a:solidFill>
                  <a:srgbClr val="D5DEE5"/>
                </a:solidFill>
                <a:latin typeface="Segoe UI"/>
              </a:rPr>
              <a:t>45</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Explain, in terms of the three obligations, how a program can be partially correct but not totally correct, and give the measure whose absence causes it.</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3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Analysis of Algorithms  ·  Chapter 4  ·  Correctness: Loop Invariants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40  ·  answers in Appendix D     </a:t>
            </a:r>
            <a:fld id="{3C4D7BB1-AB88-4A86-ADDB-64AC8892BCBF}" type="slidenum">
              <a:rPr lang="en-GB" sz="1000">
                <a:solidFill>
                  <a:srgbClr val="D5DEE5"/>
                </a:solidFill>
                <a:latin typeface="Segoe UI"/>
              </a:rPr>
              <a:t>46</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  ·  Correctness: Loop Invariants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40     </a:t>
            </a:r>
            <a:fld id="{BAB05BCD-70A3-4EA6-9CF4-446D5D65C293}" type="slidenum">
              <a:rPr lang="en-GB" sz="1000">
                <a:solidFill>
                  <a:srgbClr val="8795A1"/>
                </a:solidFill>
                <a:latin typeface="Segoe UI"/>
              </a:rPr>
              <a:t>47</a:t>
            </a:fld>
          </a:p>
        </p:txBody>
      </p:sp>
      <p:sp>
        <p:nvSpPr>
          <p:cNvPr id="7" name="!!sb0">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0"/>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9" name="!!st0"/>
          <p:cNvSpPr txBox="1"/>
          <p:nvPr/>
        </p:nvSpPr>
        <p:spPr>
          <a:xfrm>
            <a:off x="1298448" y="1737360"/>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Testing samples an infinite input space. For sorted arrays of 20 two-digit numbers, exhaustive testing needs </a:t>
            </a:r>
            <a:r>
              <a:rPr sz="1700" b="0" i="0">
                <a:solidFill>
                  <a:srgbClr val="1C252B"/>
                </a:solidFill>
                <a:latin typeface="Cambria"/>
              </a:rPr>
              <a:t>2.5 × 10</a:t>
            </a:r>
            <a:r>
              <a:rPr sz="1100" b="0" i="0" baseline="30000">
                <a:solidFill>
                  <a:srgbClr val="1C252B"/>
                </a:solidFill>
                <a:latin typeface="Cambria"/>
              </a:rPr>
              <a:t>24</a:t>
            </a:r>
            <a:r>
              <a:rPr sz="1700" b="0" i="0">
                <a:solidFill>
                  <a:srgbClr val="1C252B"/>
                </a:solidFill>
                <a:latin typeface="Segoe UI"/>
              </a:rPr>
              <a:t> cases — about 80 million years. A proof covers every </a:t>
            </a:r>
            <a:r>
              <a:rPr sz="1700" b="0" i="1">
                <a:solidFill>
                  <a:srgbClr val="1C252B"/>
                </a:solidFill>
                <a:latin typeface="Cambria"/>
              </a:rPr>
              <a:t>n</a:t>
            </a:r>
            <a:r>
              <a:rPr sz="1700" b="0" i="0">
                <a:solidFill>
                  <a:srgbClr val="1C252B"/>
                </a:solidFill>
                <a:latin typeface="Segoe UI"/>
              </a:rPr>
              <a:t> at once.</a:t>
            </a:r>
          </a:p>
        </p:txBody>
      </p:sp>
      <p:sp>
        <p:nvSpPr>
          <p:cNvPr id="10" name="!!sb1">
            <a:extLst>
              <a:ext uri="{C183D7F6-B498-43B3-948B-1728B52AA6E4}">
                <adec:decorative xmlns:adec="http://schemas.microsoft.com/office/drawing/2017/decorative" val="1"/>
              </a:ext>
            </a:extLst>
          </p:cNvPr>
          <p:cNvSpPr/>
          <p:nvPr/>
        </p:nvSpPr>
        <p:spPr>
          <a:xfrm>
            <a:off x="658368" y="2468270"/>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1"/>
          <p:cNvSpPr txBox="1"/>
          <p:nvPr/>
        </p:nvSpPr>
        <p:spPr>
          <a:xfrm>
            <a:off x="658368" y="2523134"/>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2" name="!!st1"/>
          <p:cNvSpPr txBox="1"/>
          <p:nvPr/>
        </p:nvSpPr>
        <p:spPr>
          <a:xfrm>
            <a:off x="1298448" y="2459126"/>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A loop invariant proof has three obligations: initialisation, maintenance, termination. The first two are induction; the third has no counterpart in induction and is where the real content often lies.</a:t>
            </a:r>
          </a:p>
        </p:txBody>
      </p:sp>
      <p:sp>
        <p:nvSpPr>
          <p:cNvPr id="13" name="!!sb2">
            <a:extLst>
              <a:ext uri="{C183D7F6-B498-43B3-948B-1728B52AA6E4}">
                <adec:decorative xmlns:adec="http://schemas.microsoft.com/office/drawing/2017/decorative" val="1"/>
              </a:ext>
            </a:extLst>
          </p:cNvPr>
          <p:cNvSpPr/>
          <p:nvPr/>
        </p:nvSpPr>
        <p:spPr>
          <a:xfrm>
            <a:off x="658368" y="3190036"/>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2"/>
          <p:cNvSpPr txBox="1"/>
          <p:nvPr/>
        </p:nvSpPr>
        <p:spPr>
          <a:xfrm>
            <a:off x="658368" y="3244900"/>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5" name="!!st2"/>
          <p:cNvSpPr txBox="1"/>
          <p:nvPr/>
        </p:nvSpPr>
        <p:spPr>
          <a:xfrm>
            <a:off x="1298448" y="3180892"/>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Initialisation plus maintenance give </a:t>
            </a:r>
            <a:r>
              <a:rPr sz="1700" b="0" i="1">
                <a:solidFill>
                  <a:srgbClr val="1C252B"/>
                </a:solidFill>
                <a:latin typeface="Segoe UI"/>
              </a:rPr>
              <a:t>partial</a:t>
            </a:r>
            <a:r>
              <a:rPr sz="1700" b="0" i="0">
                <a:solidFill>
                  <a:srgbClr val="1C252B"/>
                </a:solidFill>
                <a:latin typeface="Segoe UI"/>
              </a:rPr>
              <a:t> correctness — if it halts, it is right. Termination upgrades that to total correctness.</a:t>
            </a:r>
          </a:p>
        </p:txBody>
      </p:sp>
      <p:sp>
        <p:nvSpPr>
          <p:cNvPr id="16" name="!!sb3">
            <a:extLst>
              <a:ext uri="{C183D7F6-B498-43B3-948B-1728B52AA6E4}">
                <adec:decorative xmlns:adec="http://schemas.microsoft.com/office/drawing/2017/decorative" val="1"/>
              </a:ext>
            </a:extLst>
          </p:cNvPr>
          <p:cNvSpPr/>
          <p:nvPr/>
        </p:nvSpPr>
        <p:spPr>
          <a:xfrm>
            <a:off x="658368" y="3911803"/>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sbn3"/>
          <p:cNvSpPr txBox="1"/>
          <p:nvPr/>
        </p:nvSpPr>
        <p:spPr>
          <a:xfrm>
            <a:off x="658368" y="3966667"/>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8" name="!!st3"/>
          <p:cNvSpPr txBox="1"/>
          <p:nvPr/>
        </p:nvSpPr>
        <p:spPr>
          <a:xfrm>
            <a:off x="1298448" y="3902659"/>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Insertion sort’s invariant must say the prefix holds </a:t>
            </a:r>
            <a:r>
              <a:rPr sz="1700" b="0" i="1">
                <a:solidFill>
                  <a:srgbClr val="1C252B"/>
                </a:solidFill>
                <a:latin typeface="Segoe UI"/>
              </a:rPr>
              <a:t>the elements originally there</a:t>
            </a:r>
            <a:r>
              <a:rPr sz="1700" b="0" i="0">
                <a:solidFill>
                  <a:srgbClr val="1C252B"/>
                </a:solidFill>
                <a:latin typeface="Segoe UI"/>
              </a:rPr>
              <a:t>, in order. Drop the permutation clause and the all-zeros “sort” satisfies it.</a:t>
            </a:r>
          </a:p>
        </p:txBody>
      </p:sp>
      <p:sp>
        <p:nvSpPr>
          <p:cNvPr id="19" name="!!sb4">
            <a:extLst>
              <a:ext uri="{C183D7F6-B498-43B3-948B-1728B52AA6E4}">
                <adec:decorative xmlns:adec="http://schemas.microsoft.com/office/drawing/2017/decorative" val="1"/>
              </a:ext>
            </a:extLst>
          </p:cNvPr>
          <p:cNvSpPr/>
          <p:nvPr/>
        </p:nvSpPr>
        <p:spPr>
          <a:xfrm>
            <a:off x="658368" y="4633569"/>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sbn4"/>
          <p:cNvSpPr txBox="1"/>
          <p:nvPr/>
        </p:nvSpPr>
        <p:spPr>
          <a:xfrm>
            <a:off x="658368" y="4688433"/>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1" name="!!st4"/>
          <p:cNvSpPr txBox="1"/>
          <p:nvPr/>
        </p:nvSpPr>
        <p:spPr>
          <a:xfrm>
            <a:off x="1298448" y="4624425"/>
            <a:ext cx="10234879" cy="40233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Binary search’s invariant is about exclusion: if </a:t>
            </a:r>
            <a:r>
              <a:rPr sz="1700" b="0" i="1">
                <a:solidFill>
                  <a:srgbClr val="1C252B"/>
                </a:solidFill>
                <a:latin typeface="Cambria"/>
              </a:rPr>
              <a:t>x</a:t>
            </a:r>
            <a:r>
              <a:rPr sz="1700" b="0" i="0">
                <a:solidFill>
                  <a:srgbClr val="1C252B"/>
                </a:solidFill>
                <a:latin typeface="Segoe UI"/>
              </a:rPr>
              <a:t> is in </a:t>
            </a:r>
            <a:r>
              <a:rPr sz="1700" b="0" i="1">
                <a:solidFill>
                  <a:srgbClr val="1C252B"/>
                </a:solidFill>
                <a:latin typeface="Cambria"/>
              </a:rPr>
              <a:t>A</a:t>
            </a:r>
            <a:r>
              <a:rPr sz="1700" b="0" i="0">
                <a:solidFill>
                  <a:srgbClr val="1C252B"/>
                </a:solidFill>
                <a:latin typeface="Segoe UI"/>
              </a:rPr>
              <a:t> at all, it is in </a:t>
            </a:r>
            <a:r>
              <a:rPr sz="1700" b="0" i="1">
                <a:solidFill>
                  <a:srgbClr val="1C252B"/>
                </a:solidFill>
                <a:latin typeface="Cambria"/>
              </a:rPr>
              <a:t>A</a:t>
            </a:r>
            <a:r>
              <a:rPr sz="1700" b="0" i="0">
                <a:solidFill>
                  <a:srgbClr val="1C252B"/>
                </a:solidFill>
                <a:latin typeface="Cambria"/>
              </a:rPr>
              <a:t>[</a:t>
            </a:r>
            <a:r>
              <a:rPr sz="1700" b="0" i="1">
                <a:solidFill>
                  <a:srgbClr val="1C252B"/>
                </a:solidFill>
                <a:latin typeface="Cambria"/>
              </a:rPr>
              <a:t>lohi</a:t>
            </a:r>
            <a:r>
              <a:rPr sz="1700" b="0" i="0">
                <a:solidFill>
                  <a:srgbClr val="1C252B"/>
                </a:solidFill>
                <a:latin typeface="Cambria"/>
              </a:rPr>
              <a:t>]</a:t>
            </a:r>
            <a:r>
              <a:rPr sz="1700" b="0" i="0">
                <a:solidFill>
                  <a:srgbClr val="1C252B"/>
                </a:solidFill>
                <a:latin typeface="Segoe UI"/>
              </a:rPr>
              <a:t>.</a:t>
            </a:r>
          </a:p>
        </p:txBody>
      </p:sp>
      <p:sp>
        <p:nvSpPr>
          <p:cNvPr id="22" name="!!sb5">
            <a:extLst>
              <a:ext uri="{C183D7F6-B498-43B3-948B-1728B52AA6E4}">
                <adec:decorative xmlns:adec="http://schemas.microsoft.com/office/drawing/2017/decorative" val="1"/>
              </a:ext>
            </a:extLst>
          </p:cNvPr>
          <p:cNvSpPr/>
          <p:nvPr/>
        </p:nvSpPr>
        <p:spPr>
          <a:xfrm>
            <a:off x="658368" y="5218785"/>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sbn5"/>
          <p:cNvSpPr txBox="1"/>
          <p:nvPr/>
        </p:nvSpPr>
        <p:spPr>
          <a:xfrm>
            <a:off x="658368" y="5273649"/>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6</a:t>
            </a:r>
          </a:p>
        </p:txBody>
      </p:sp>
      <p:sp>
        <p:nvSpPr>
          <p:cNvPr id="24" name="!!st5"/>
          <p:cNvSpPr txBox="1"/>
          <p:nvPr/>
        </p:nvSpPr>
        <p:spPr>
          <a:xfrm>
            <a:off x="1298448" y="5209641"/>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Termination is proved by a loop variant: an integer-valued measure that strictly decreases. Over the reals the argument fails — </a:t>
            </a:r>
            <a:r>
              <a:rPr sz="1700" b="0" i="1">
                <a:solidFill>
                  <a:srgbClr val="1C252B"/>
                </a:solidFill>
                <a:latin typeface="Cambria"/>
              </a:rPr>
              <a:t>x</a:t>
            </a:r>
            <a:r>
              <a:rPr sz="1700" b="0" i="0">
                <a:solidFill>
                  <a:srgbClr val="1C252B"/>
                </a:solidFill>
                <a:latin typeface="Cambria"/>
              </a:rPr>
              <a:t> </a:t>
            </a:r>
            <a:r>
              <a:rPr sz="1700" b="0" i="1">
                <a:solidFill>
                  <a:srgbClr val="1C252B"/>
                </a:solidFill>
                <a:latin typeface="Cambria"/>
              </a:rPr>
              <a:t>x</a:t>
            </a:r>
            <a:r>
              <a:rPr sz="1700" b="0" i="0">
                <a:solidFill>
                  <a:srgbClr val="1C252B"/>
                </a:solidFill>
                <a:latin typeface="Cambria"/>
              </a:rPr>
              <a:t>/2</a:t>
            </a:r>
            <a:r>
              <a:rPr sz="1700" b="0" i="0">
                <a:solidFill>
                  <a:srgbClr val="1C252B"/>
                </a:solidFill>
                <a:latin typeface="Segoe UI"/>
              </a:rPr>
              <a:t>.</a:t>
            </a:r>
          </a:p>
        </p:txBody>
      </p:sp>
      <p:sp>
        <p:nvSpPr>
          <p:cNvPr id="7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pfill">
            <a:extLst>
              <a:ext uri="{C183D7F6-B498-43B3-948B-1728B52AA6E4}">
                <adec:decorative xmlns:adec="http://schemas.microsoft.com/office/drawing/2017/decorative" val="1"/>
              </a:ext>
            </a:extLst>
          </p:cNvPr>
          <p:cNvSpPr/>
          <p:nvPr/>
        </p:nvSpPr>
        <p:spPr>
          <a:xfrm>
            <a:off x="0" y="0"/>
            <a:ext cx="11019416"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23" presetClass="entr" presetSubtype="16"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zoom(in)">
                                      <p:cBhvr>
                                        <p:cTn id="63" dur="26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260"/>
                                        <p:tgtEl>
                                          <p:spTgt spid="23"/>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wipe(right)">
                                      <p:cBhvr>
                                        <p:cTn id="69"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 (continued)</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  ·  Correctness: Loop Invariants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40     </a:t>
            </a:r>
            <a:fld id="{F929A404-C2C7-4372-A392-0DD6CDCFB12E}" type="slidenum">
              <a:rPr lang="en-GB" sz="1000">
                <a:solidFill>
                  <a:srgbClr val="8795A1"/>
                </a:solidFill>
                <a:latin typeface="Segoe UI"/>
              </a:rPr>
              <a:t>48</a:t>
            </a:fld>
          </a:p>
        </p:txBody>
      </p:sp>
      <p:sp>
        <p:nvSpPr>
          <p:cNvPr id="7" name="!!sb6">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6"/>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7</a:t>
            </a:r>
          </a:p>
        </p:txBody>
      </p:sp>
      <p:sp>
        <p:nvSpPr>
          <p:cNvPr id="9" name="!!st6"/>
          <p:cNvSpPr txBox="1"/>
          <p:nvPr/>
        </p:nvSpPr>
        <p:spPr>
          <a:xfrm>
            <a:off x="1298448" y="1737360"/>
            <a:ext cx="10234879" cy="80832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Measured: a binary search with </a:t>
            </a:r>
            <a:r>
              <a:rPr sz="1700" b="0" i="1">
                <a:solidFill>
                  <a:srgbClr val="1C252B"/>
                </a:solidFill>
                <a:latin typeface="Cambria"/>
              </a:rPr>
              <a:t>lo</a:t>
            </a:r>
            <a:r>
              <a:rPr sz="1700" b="0" i="0">
                <a:solidFill>
                  <a:srgbClr val="1C252B"/>
                </a:solidFill>
                <a:latin typeface="Cambria"/>
              </a:rPr>
              <a:t> </a:t>
            </a:r>
            <a:r>
              <a:rPr sz="1700" b="0" i="1">
                <a:solidFill>
                  <a:srgbClr val="1C252B"/>
                </a:solidFill>
                <a:latin typeface="Cambria"/>
              </a:rPr>
              <a:t>mid</a:t>
            </a:r>
            <a:r>
              <a:rPr sz="1700" b="0" i="0">
                <a:solidFill>
                  <a:srgbClr val="1C252B"/>
                </a:solidFill>
                <a:latin typeface="Segoe UI"/>
              </a:rPr>
              <a:t> gave </a:t>
            </a:r>
            <a:r>
              <a:rPr sz="1700" b="1" i="0">
                <a:solidFill>
                  <a:srgbClr val="1C252B"/>
                </a:solidFill>
                <a:latin typeface="Segoe UI"/>
              </a:rPr>
              <a:t>zero</a:t>
            </a:r>
            <a:r>
              <a:rPr sz="1700" b="0" i="0">
                <a:solidFill>
                  <a:srgbClr val="1C252B"/>
                </a:solidFill>
                <a:latin typeface="Segoe UI"/>
              </a:rPr>
              <a:t> wrong answers in 20,000 trials and </a:t>
            </a:r>
            <a:r>
              <a:rPr sz="1700" b="1" i="0">
                <a:solidFill>
                  <a:srgbClr val="1C252B"/>
                </a:solidFill>
                <a:latin typeface="Segoe UI"/>
              </a:rPr>
              <a:t>zero</a:t>
            </a:r>
            <a:r>
              <a:rPr sz="1700" b="0" i="0">
                <a:solidFill>
                  <a:srgbClr val="1C252B"/>
                </a:solidFill>
                <a:latin typeface="Segoe UI"/>
              </a:rPr>
              <a:t> invariant violations across 132,311,650 audited iterations — and failed to terminate in 13,228 of those trials. Two obligations out of three is not correctness.</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11253872"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1 of 2</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  ·  Correctness: Loop Invariants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40     </a:t>
            </a:r>
            <a:fld id="{67236297-EB68-4399-939B-898CBD8947C4}" type="slidenum">
              <a:rPr lang="en-GB" sz="1000">
                <a:solidFill>
                  <a:srgbClr val="8795A1"/>
                </a:solidFill>
                <a:latin typeface="Segoe UI"/>
              </a:rPr>
              <a:t>49</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The three obligations of a loop invariant proof are:</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initialisation, iteration, conclusion</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7133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initialisation, maintenance, termination</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precondition, invariant, postcondition</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39020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base case, inductive step, generalisation</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488328"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2 of 2</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  ·  Correctness: Loop Invariants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40     </a:t>
            </a:r>
            <a:fld id="{D79FBB7D-C20D-4B00-877E-E955041D4CC2}" type="slidenum">
              <a:rPr lang="en-GB" sz="1000">
                <a:solidFill>
                  <a:srgbClr val="8795A1"/>
                </a:solidFill>
                <a:latin typeface="Segoe UI"/>
              </a:rPr>
              <a:t>50</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Initialisation and maintenance alone establish:</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total correctness</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partial correctness</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termination</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running-time bound</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72278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 your notebook</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QUESTIONS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4  ·  Correctness: Loop Invariants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40     </a:t>
            </a:r>
            <a:fld id="{9EEC0D20-6569-4D4E-B012-8BF5CC5104BE}" type="slidenum">
              <a:rPr lang="en-GB" sz="1000">
                <a:solidFill>
                  <a:srgbClr val="8795A1"/>
                </a:solidFill>
                <a:latin typeface="Segoe UI"/>
              </a:rPr>
              <a:t>51</a:t>
            </a:fld>
          </a:p>
        </p:txBody>
      </p:sp>
      <p:sp>
        <p:nvSpPr>
          <p:cNvPr id="7" name="!!rt0">
            <a:extLst>
              <a:ext uri="{C183D7F6-B498-43B3-948B-1728B52AA6E4}">
                <adec:decorative xmlns:adec="http://schemas.microsoft.com/office/drawing/2017/decorative" val="1"/>
              </a:ext>
            </a:extLst>
          </p:cNvPr>
          <p:cNvSpPr/>
          <p:nvPr/>
        </p:nvSpPr>
        <p:spPr>
          <a:xfrm>
            <a:off x="658368" y="175564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rtt0"/>
          <p:cNvSpPr txBox="1"/>
          <p:nvPr/>
        </p:nvSpPr>
        <p:spPr>
          <a:xfrm>
            <a:off x="658368" y="179679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9" name="!!rq0"/>
          <p:cNvSpPr txBox="1"/>
          <p:nvPr/>
        </p:nvSpPr>
        <p:spPr>
          <a:xfrm>
            <a:off x="1892807" y="1737360"/>
            <a:ext cx="9549079" cy="570585"/>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Explain why a loop invariant proof is a proof by induction, and identify the one obligation that has no inductive counterpart.</a:t>
            </a:r>
          </a:p>
        </p:txBody>
      </p:sp>
      <p:sp>
        <p:nvSpPr>
          <p:cNvPr id="10" name="!!rt1">
            <a:extLst>
              <a:ext uri="{C183D7F6-B498-43B3-948B-1728B52AA6E4}">
                <adec:decorative xmlns:adec="http://schemas.microsoft.com/office/drawing/2017/decorative" val="1"/>
              </a:ext>
            </a:extLst>
          </p:cNvPr>
          <p:cNvSpPr/>
          <p:nvPr/>
        </p:nvSpPr>
        <p:spPr>
          <a:xfrm>
            <a:off x="658368" y="2545689"/>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tt1"/>
          <p:cNvSpPr txBox="1"/>
          <p:nvPr/>
        </p:nvSpPr>
        <p:spPr>
          <a:xfrm>
            <a:off x="658368" y="2586837"/>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2" name="!!rq1"/>
          <p:cNvSpPr txBox="1"/>
          <p:nvPr/>
        </p:nvSpPr>
        <p:spPr>
          <a:xfrm>
            <a:off x="1892807" y="2527401"/>
            <a:ext cx="9549079" cy="570585"/>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Why must a sorting algorithm’s invariant mention that the sorted prefix contains the original elements? Give the program that makes the point.</a:t>
            </a:r>
          </a:p>
        </p:txBody>
      </p:sp>
      <p:sp>
        <p:nvSpPr>
          <p:cNvPr id="13" name="!!rt2">
            <a:extLst>
              <a:ext uri="{C183D7F6-B498-43B3-948B-1728B52AA6E4}">
                <adec:decorative xmlns:adec="http://schemas.microsoft.com/office/drawing/2017/decorative" val="1"/>
              </a:ext>
            </a:extLst>
          </p:cNvPr>
          <p:cNvSpPr/>
          <p:nvPr/>
        </p:nvSpPr>
        <p:spPr>
          <a:xfrm>
            <a:off x="658368" y="3335731"/>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tt2"/>
          <p:cNvSpPr txBox="1"/>
          <p:nvPr/>
        </p:nvSpPr>
        <p:spPr>
          <a:xfrm>
            <a:off x="658368" y="3376879"/>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5" name="!!rq2"/>
          <p:cNvSpPr txBox="1"/>
          <p:nvPr/>
        </p:nvSpPr>
        <p:spPr>
          <a:xfrm>
            <a:off x="1892807" y="3317443"/>
            <a:ext cx="9549079" cy="570585"/>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State the two conditions a loop variant must satisfy, and give an example of a measure satisfying the first but not the second.</a:t>
            </a:r>
          </a:p>
        </p:txBody>
      </p:sp>
      <p:sp>
        <p:nvSpPr>
          <p:cNvPr id="16" name="!!rt3">
            <a:extLst>
              <a:ext uri="{C183D7F6-B498-43B3-948B-1728B52AA6E4}">
                <adec:decorative xmlns:adec="http://schemas.microsoft.com/office/drawing/2017/decorative" val="1"/>
              </a:ext>
            </a:extLst>
          </p:cNvPr>
          <p:cNvSpPr/>
          <p:nvPr/>
        </p:nvSpPr>
        <p:spPr>
          <a:xfrm>
            <a:off x="658368" y="4125772"/>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tt3"/>
          <p:cNvSpPr txBox="1"/>
          <p:nvPr/>
        </p:nvSpPr>
        <p:spPr>
          <a:xfrm>
            <a:off x="658368" y="4166920"/>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18" name="!!rq3"/>
          <p:cNvSpPr txBox="1"/>
          <p:nvPr/>
        </p:nvSpPr>
        <p:spPr>
          <a:xfrm>
            <a:off x="1892807" y="4107484"/>
            <a:ext cx="9549079" cy="570585"/>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Prove that the following loop computes </a:t>
            </a:r>
            <a:r>
              <a:rPr sz="1800" b="0" i="1">
                <a:solidFill>
                  <a:srgbClr val="1C252B"/>
                </a:solidFill>
                <a:latin typeface="Cambria"/>
              </a:rPr>
              <a:t>a</a:t>
            </a:r>
            <a:r>
              <a:rPr sz="1200" b="0" i="1" baseline="30000">
                <a:solidFill>
                  <a:srgbClr val="1C252B"/>
                </a:solidFill>
                <a:latin typeface="Cambria"/>
              </a:rPr>
              <a:t>n</a:t>
            </a:r>
            <a:r>
              <a:rPr sz="1800" b="0" i="0">
                <a:solidFill>
                  <a:srgbClr val="1C252B"/>
                </a:solidFill>
                <a:latin typeface="Segoe UI"/>
              </a:rPr>
              <a:t> for integer </a:t>
            </a:r>
            <a:r>
              <a:rPr sz="1800" b="0" i="1">
                <a:solidFill>
                  <a:srgbClr val="1C252B"/>
                </a:solidFill>
                <a:latin typeface="Cambria"/>
              </a:rPr>
              <a:t>n</a:t>
            </a:r>
            <a:r>
              <a:rPr sz="1800" b="0" i="0">
                <a:solidFill>
                  <a:srgbClr val="1C252B"/>
                </a:solidFill>
                <a:latin typeface="Cambria"/>
              </a:rPr>
              <a:t> ≥ 0</a:t>
            </a:r>
            <a:r>
              <a:rPr sz="1800" b="0" i="0">
                <a:solidFill>
                  <a:srgbClr val="1C252B"/>
                </a:solidFill>
                <a:latin typeface="Segoe UI"/>
              </a:rPr>
              <a:t>, discharging all three obligations: </a:t>
            </a:r>
            <a:r>
              <a:rPr sz="1800" b="0" i="1">
                <a:solidFill>
                  <a:srgbClr val="1C252B"/>
                </a:solidFill>
                <a:latin typeface="Cambria"/>
              </a:rPr>
              <a:t>r</a:t>
            </a:r>
            <a:r>
              <a:rPr sz="1800" b="0" i="0">
                <a:solidFill>
                  <a:srgbClr val="1C252B"/>
                </a:solidFill>
                <a:latin typeface="Cambria"/>
              </a:rPr>
              <a:t> 1</a:t>
            </a:r>
            <a:r>
              <a:rPr sz="1800" b="0" i="1">
                <a:solidFill>
                  <a:srgbClr val="1C252B"/>
                </a:solidFill>
                <a:latin typeface="Segoe UI"/>
              </a:rPr>
              <a:t>; </a:t>
            </a:r>
            <a:r>
              <a:rPr sz="1800" b="0" i="1">
                <a:solidFill>
                  <a:srgbClr val="1C252B"/>
                </a:solidFill>
                <a:latin typeface="Cambria"/>
              </a:rPr>
              <a:t>k</a:t>
            </a:r>
            <a:r>
              <a:rPr sz="1800" b="0" i="0">
                <a:solidFill>
                  <a:srgbClr val="1C252B"/>
                </a:solidFill>
                <a:latin typeface="Cambria"/>
              </a:rPr>
              <a:t> </a:t>
            </a:r>
            <a:r>
              <a:rPr sz="1800" b="0" i="1">
                <a:solidFill>
                  <a:srgbClr val="1C252B"/>
                </a:solidFill>
                <a:latin typeface="Cambria"/>
              </a:rPr>
              <a:t>n</a:t>
            </a:r>
            <a:r>
              <a:rPr sz="1800" b="0" i="1">
                <a:solidFill>
                  <a:srgbClr val="1C252B"/>
                </a:solidFill>
                <a:latin typeface="Segoe UI"/>
              </a:rPr>
              <a:t>; while </a:t>
            </a:r>
            <a:r>
              <a:rPr sz="1800" b="0" i="1">
                <a:solidFill>
                  <a:srgbClr val="1C252B"/>
                </a:solidFill>
                <a:latin typeface="Cambria"/>
              </a:rPr>
              <a:t>k</a:t>
            </a:r>
            <a:r>
              <a:rPr sz="1800" b="0" i="0">
                <a:solidFill>
                  <a:srgbClr val="1C252B"/>
                </a:solidFill>
                <a:latin typeface="Cambria"/>
              </a:rPr>
              <a:t> &gt; 0</a:t>
            </a:r>
            <a:r>
              <a:rPr sz="1800" b="0" i="1">
                <a:solidFill>
                  <a:srgbClr val="1C252B"/>
                </a:solidFill>
                <a:latin typeface="Segoe UI"/>
              </a:rPr>
              <a:t> do </a:t>
            </a:r>
            <a:r>
              <a:rPr sz="1800" b="0" i="1">
                <a:solidFill>
                  <a:srgbClr val="1C252B"/>
                </a:solidFill>
                <a:latin typeface="Cambria"/>
              </a:rPr>
              <a:t>r</a:t>
            </a:r>
            <a:r>
              <a:rPr sz="1800" b="0" i="0">
                <a:solidFill>
                  <a:srgbClr val="1C252B"/>
                </a:solidFill>
                <a:latin typeface="Cambria"/>
              </a:rPr>
              <a:t> </a:t>
            </a:r>
            <a:r>
              <a:rPr sz="1800" b="0" i="1">
                <a:solidFill>
                  <a:srgbClr val="1C252B"/>
                </a:solidFill>
                <a:latin typeface="Cambria"/>
              </a:rPr>
              <a:t>r</a:t>
            </a:r>
            <a:r>
              <a:rPr sz="1800" b="0" i="0">
                <a:solidFill>
                  <a:srgbClr val="1C252B"/>
                </a:solidFill>
                <a:latin typeface="Cambria"/>
              </a:rPr>
              <a:t> · </a:t>
            </a:r>
            <a:r>
              <a:rPr sz="1800" b="0" i="1">
                <a:solidFill>
                  <a:srgbClr val="1C252B"/>
                </a:solidFill>
                <a:latin typeface="Cambria"/>
              </a:rPr>
              <a:t>a</a:t>
            </a:r>
            <a:r>
              <a:rPr sz="1800" b="0" i="1">
                <a:solidFill>
                  <a:srgbClr val="1C252B"/>
                </a:solidFill>
                <a:latin typeface="Segoe UI"/>
              </a:rPr>
              <a:t>; </a:t>
            </a:r>
            <a:r>
              <a:rPr sz="1800" b="0" i="1">
                <a:solidFill>
                  <a:srgbClr val="1C252B"/>
                </a:solidFill>
                <a:latin typeface="Cambria"/>
              </a:rPr>
              <a:t>k</a:t>
            </a:r>
            <a:r>
              <a:rPr sz="1800" b="0" i="0">
                <a:solidFill>
                  <a:srgbClr val="1C252B"/>
                </a:solidFill>
                <a:latin typeface="Cambria"/>
              </a:rPr>
              <a:t> </a:t>
            </a:r>
            <a:r>
              <a:rPr sz="1800" b="0" i="1">
                <a:solidFill>
                  <a:srgbClr val="1C252B"/>
                </a:solidFill>
                <a:latin typeface="Cambria"/>
              </a:rPr>
              <a:t>k</a:t>
            </a:r>
            <a:r>
              <a:rPr sz="1800" b="0" i="0">
                <a:solidFill>
                  <a:srgbClr val="1C252B"/>
                </a:solidFill>
                <a:latin typeface="Cambria"/>
              </a:rPr>
              <a:t> − 1</a:t>
            </a:r>
            <a:r>
              <a:rPr sz="1800" b="0" i="0">
                <a:solidFill>
                  <a:srgbClr val="1C252B"/>
                </a:solidFill>
                <a:latin typeface="Segoe UI"/>
              </a:rPr>
              <a:t>.</a:t>
            </a:r>
          </a:p>
        </p:txBody>
      </p:sp>
      <p:sp>
        <p:nvSpPr>
          <p:cNvPr id="19" name="!!rt4">
            <a:extLst>
              <a:ext uri="{C183D7F6-B498-43B3-948B-1728B52AA6E4}">
                <adec:decorative xmlns:adec="http://schemas.microsoft.com/office/drawing/2017/decorative" val="1"/>
              </a:ext>
            </a:extLst>
          </p:cNvPr>
          <p:cNvSpPr/>
          <p:nvPr/>
        </p:nvSpPr>
        <p:spPr>
          <a:xfrm>
            <a:off x="658368" y="4915814"/>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rtt4"/>
          <p:cNvSpPr txBox="1"/>
          <p:nvPr/>
        </p:nvSpPr>
        <p:spPr>
          <a:xfrm>
            <a:off x="658368" y="4956962"/>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21" name="!!rq4"/>
          <p:cNvSpPr txBox="1"/>
          <p:nvPr/>
        </p:nvSpPr>
        <p:spPr>
          <a:xfrm>
            <a:off x="1892807" y="4897526"/>
            <a:ext cx="9549079" cy="855878"/>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The measured experiment found a defect that is never wrong and sometimes never finishes. Construct the mirror-image defect — one that always terminates and is sometimes wrong — in binary search, say which obligation it violates, and describe the test that would find it.</a:t>
            </a:r>
          </a:p>
        </p:txBody>
      </p:sp>
      <p:sp>
        <p:nvSpPr>
          <p:cNvPr id="2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fill">
            <a:extLst>
              <a:ext uri="{C183D7F6-B498-43B3-948B-1728B52AA6E4}">
                <adec:decorative xmlns:adec="http://schemas.microsoft.com/office/drawing/2017/decorative" val="1"/>
              </a:ext>
            </a:extLst>
          </p:cNvPr>
          <p:cNvSpPr/>
          <p:nvPr/>
        </p:nvSpPr>
        <p:spPr>
          <a:xfrm>
            <a:off x="0" y="0"/>
            <a:ext cx="11957239"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2C6081"/>
                </a:solidFill>
                <a:latin typeface="Segoe UI Black"/>
              </a:rPr>
              <a:t>04</a:t>
            </a:r>
          </a:p>
        </p:txBody>
      </p:sp>
      <p:sp>
        <p:nvSpPr>
          <p:cNvPr id="2" name="!!title"/>
          <p:cNvSpPr>
            <a:spLocks noGrp="1"/>
          </p:cNvSpPr>
          <p:nvPr>
            <p:ph type="title"/>
          </p:nvPr>
        </p:nvSpPr>
        <p:spPr>
          <a:xfrm>
            <a:off x="658368" y="1243584"/>
            <a:ext cx="8229600" cy="822960"/>
          </a:xfrm>
        </p:spPr>
        <p:txBody>
          <a:bodyPr wrap="square" lIns="0" rIns="0" tIns="0" bIns="0" anchor="t">
            <a:noAutofit/>
          </a:bodyPr>
          <a:lstStyle/>
          <a:p>
            <a:pPr algn="l">
              <a:lnSpc>
                <a:spcPct val="96000"/>
              </a:lnSpc>
            </a:pPr>
            <a:r>
              <a:rPr sz="4000" b="0">
                <a:solidFill>
                  <a:srgbClr val="FFFFFF"/>
                </a:solidFill>
                <a:latin typeface="Segoe UI Semibold"/>
              </a:rPr>
              <a:t>End of Chapter 4</a:t>
            </a:r>
          </a:p>
        </p:txBody>
      </p:sp>
      <p:sp>
        <p:nvSpPr>
          <p:cNvPr id="4" name="!!tbar">
            <a:extLst>
              <a:ext uri="{C183D7F6-B498-43B3-948B-1728B52AA6E4}">
                <adec:decorative xmlns:adec="http://schemas.microsoft.com/office/drawing/2017/decorative" val="1"/>
              </a:ext>
            </a:extLst>
          </p:cNvPr>
          <p:cNvSpPr/>
          <p:nvPr/>
        </p:nvSpPr>
        <p:spPr>
          <a:xfrm>
            <a:off x="658368" y="102412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cl0">
            <a:extLst>
              <a:ext uri="{C183D7F6-B498-43B3-948B-1728B52AA6E4}">
                <adec:decorative xmlns:adec="http://schemas.microsoft.com/office/drawing/2017/decorative" val="1"/>
              </a:ext>
            </a:extLst>
          </p:cNvPr>
          <p:cNvSpPr/>
          <p:nvPr/>
        </p:nvSpPr>
        <p:spPr>
          <a:xfrm>
            <a:off x="658368" y="2286000"/>
            <a:ext cx="5300319" cy="1097280"/>
          </a:xfrm>
          <a:prstGeom prst="roundRect">
            <a:avLst>
              <a:gd name="adj" fmla="val 8333"/>
            </a:avLst>
          </a:prstGeom>
          <a:solidFill>
            <a:srgbClr val="144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cll0"/>
          <p:cNvSpPr txBox="1"/>
          <p:nvPr/>
        </p:nvSpPr>
        <p:spPr>
          <a:xfrm>
            <a:off x="932688"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BDCB"/>
                </a:solidFill>
                <a:latin typeface="Segoe UI"/>
              </a:rPr>
              <a:t>NEXT</a:t>
            </a:r>
          </a:p>
        </p:txBody>
      </p:sp>
      <p:sp>
        <p:nvSpPr>
          <p:cNvPr id="7" name="!!clv0"/>
          <p:cNvSpPr txBox="1"/>
          <p:nvPr/>
        </p:nvSpPr>
        <p:spPr>
          <a:xfrm>
            <a:off x="932688"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Chapter 5 — Recurrences I: Substitution and Recursion Trees</a:t>
            </a:r>
          </a:p>
        </p:txBody>
      </p:sp>
      <p:sp>
        <p:nvSpPr>
          <p:cNvPr id="8" name="!!cl1">
            <a:extLst>
              <a:ext uri="{C183D7F6-B498-43B3-948B-1728B52AA6E4}">
                <adec:decorative xmlns:adec="http://schemas.microsoft.com/office/drawing/2017/decorative" val="1"/>
              </a:ext>
            </a:extLst>
          </p:cNvPr>
          <p:cNvSpPr/>
          <p:nvPr/>
        </p:nvSpPr>
        <p:spPr>
          <a:xfrm>
            <a:off x="6233007" y="2286000"/>
            <a:ext cx="5300319" cy="1097280"/>
          </a:xfrm>
          <a:prstGeom prst="roundRect">
            <a:avLst>
              <a:gd name="adj" fmla="val 8333"/>
            </a:avLst>
          </a:prstGeom>
          <a:solidFill>
            <a:srgbClr val="144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ll1"/>
          <p:cNvSpPr txBox="1"/>
          <p:nvPr/>
        </p:nvSpPr>
        <p:spPr>
          <a:xfrm>
            <a:off x="6507327"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BDCB"/>
                </a:solidFill>
                <a:latin typeface="Segoe UI"/>
              </a:rPr>
              <a:t>READ</a:t>
            </a:r>
          </a:p>
        </p:txBody>
      </p:sp>
      <p:sp>
        <p:nvSpPr>
          <p:cNvPr id="10" name="!!clv1"/>
          <p:cNvSpPr txBox="1"/>
          <p:nvPr/>
        </p:nvSpPr>
        <p:spPr>
          <a:xfrm>
            <a:off x="6507327"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Handout Chapter 4, pages 30–40</a:t>
            </a:r>
          </a:p>
        </p:txBody>
      </p:sp>
      <p:sp>
        <p:nvSpPr>
          <p:cNvPr id="11" name="!!cl2">
            <a:extLst>
              <a:ext uri="{C183D7F6-B498-43B3-948B-1728B52AA6E4}">
                <adec:decorative xmlns:adec="http://schemas.microsoft.com/office/drawing/2017/decorative" val="1"/>
              </a:ext>
            </a:extLst>
          </p:cNvPr>
          <p:cNvSpPr/>
          <p:nvPr/>
        </p:nvSpPr>
        <p:spPr>
          <a:xfrm>
            <a:off x="658368" y="3584448"/>
            <a:ext cx="5300319" cy="1097280"/>
          </a:xfrm>
          <a:prstGeom prst="roundRect">
            <a:avLst>
              <a:gd name="adj" fmla="val 8333"/>
            </a:avLst>
          </a:prstGeom>
          <a:solidFill>
            <a:srgbClr val="144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ll2"/>
          <p:cNvSpPr txBox="1"/>
          <p:nvPr/>
        </p:nvSpPr>
        <p:spPr>
          <a:xfrm>
            <a:off x="932688"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BDCB"/>
                </a:solidFill>
                <a:latin typeface="Segoe UI"/>
              </a:rPr>
              <a:t>THIS WEEK'S LAB</a:t>
            </a:r>
          </a:p>
        </p:txBody>
      </p:sp>
      <p:sp>
        <p:nvSpPr>
          <p:cNvPr id="13" name="!!clv2"/>
          <p:cNvSpPr txBox="1"/>
          <p:nvPr/>
        </p:nvSpPr>
        <p:spPr>
          <a:xfrm>
            <a:off x="932688"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A bug that is never wrong and never finishes</a:t>
            </a:r>
          </a:p>
        </p:txBody>
      </p:sp>
      <p:sp>
        <p:nvSpPr>
          <p:cNvPr id="1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Analysis of Algorithms  ·  Chapter 4  ·  Correctness: Loop Invariants</a:t>
            </a:r>
          </a:p>
        </p:txBody>
      </p:sp>
      <p:sp>
        <p:nvSpPr>
          <p:cNvPr id="15" name="!!footR"/>
          <p:cNvSpPr txBox="1"/>
          <p:nvPr/>
        </p:nvSpPr>
        <p:spPr>
          <a:xfrm>
            <a:off x="6639595" y="6437376"/>
            <a:ext cx="4893731" cy="237744"/>
          </a:xfrm>
          <a:prstGeom prst="rect">
            <a:avLst/>
          </a:prstGeom>
          <a:noFill/>
        </p:spPr>
        <p:txBody>
          <a:bodyPr wrap="square" anchor="t" lIns="0" rIns="0" tIns="0" bIns="0">
            <a:noAutofit/>
          </a:bodyPr>
          <a:lstStyle/>
          <a:p>
            <a:pPr algn="r"/>
            <a:fld id="{CD0228E8-C2B5-4DC1-BBD4-6A912AEE4DFF}" type="slidenum">
              <a:rPr lang="en-GB" sz="1000">
                <a:solidFill>
                  <a:srgbClr val="D5DEE5"/>
                </a:solidFill>
                <a:latin typeface="Segoe UI"/>
              </a:rPr>
              <a:t>52</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theme/theme1.xml><?xml version="1.0" encoding="utf-8"?>
<a:theme xmlns:a="http://schemas.openxmlformats.org/drawingml/2006/main" name="Analysis of Algorithms Fall 2026">
  <a:themeElements>
    <a:clrScheme name="Analysis of Algorithms Fall 2026">
      <a:dk1>
        <a:srgbClr val="1C252B"/>
      </a:dk1>
      <a:lt1>
        <a:srgbClr val="FFFFFF"/>
      </a:lt1>
      <a:dk2>
        <a:srgbClr val="1A5276"/>
      </a:dk2>
      <a:lt2>
        <a:srgbClr val="EBF5FB"/>
      </a:lt2>
      <a:accent1>
        <a:srgbClr val="1A5276"/>
      </a:accent1>
      <a:accent2>
        <a:srgbClr val="2E86C1"/>
      </a:accent2>
      <a:accent3>
        <a:srgbClr val="E74C3C"/>
      </a:accent3>
      <a:accent4>
        <a:srgbClr val="27AE60"/>
      </a:accent4>
      <a:accent5>
        <a:srgbClr val="8E44AD"/>
      </a:accent5>
      <a:accent6>
        <a:srgbClr val="B7950B"/>
      </a:accent6>
      <a:hlink>
        <a:srgbClr val="2E86C1"/>
      </a:hlink>
      <a:folHlink>
        <a:srgbClr val="8E44AD"/>
      </a:folHlink>
    </a:clrScheme>
    <a:fontScheme name="Analysis of Algorithms Fall 2026">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4: Correctness: Loop Invariants</dc:title>
  <dc:subject>Analysis of Algorithms — Design, Proof and Measurement · BSIT · Fall 2026</dc:subject>
  <dc:creator>Dr. Mustafa Hameed</dc:creator>
  <cp:keywords>artificial intelligence; lecture slides; BSIT; HEC; Fall 2026</cp:keywords>
  <dc:description>generated using python-pptx</dc:description>
  <cp:lastModifiedBy>Steve Canny</cp:lastModifiedBy>
  <cp:revision>1</cp:revision>
  <dcterms:created xsi:type="dcterms:W3CDTF">2013-01-27T09:14:16Z</dcterms:created>
  <dcterms:modified xsi:type="dcterms:W3CDTF">2013-01-27T09:15:58Z</dcterms:modified>
  <cp:category>Lecture slides</cp:category>
</cp:coreProperties>
</file>