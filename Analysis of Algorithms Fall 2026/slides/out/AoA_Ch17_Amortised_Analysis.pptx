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7.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1.svg" ContentType="image/svg+xml"/>
  <Override PartName="/ppt/media/image72.svg" ContentType="image/svg+xml"/>
  <Override PartName="/ppt/media/image73.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AE86843-6674-46BD-A837-10243B35FA0D}">
          <p14:sldIdLst>
            <p14:sldId id="256"/>
            <p14:sldId id="257"/>
            <p14:sldId id="258"/>
            <p14:sldId id="259"/>
            <p14:sldId id="260"/>
            <p14:sldId id="261"/>
          </p14:sldIdLst>
        </p14:section>
        <p14:section name="17.1 A Loose Bound" id="{3F89A453-2CD6-4A13-B6E8-F01F44AD6C43}">
          <p14:sldIdLst>
            <p14:sldId id="262"/>
            <p14:sldId id="263"/>
            <p14:sldId id="264"/>
            <p14:sldId id="265"/>
          </p14:sldIdLst>
        </p14:section>
        <p14:section name="17.2 Three Methods, One Answer" id="{0B1AE3DF-DB3C-411A-974C-BAB1B1B75475}">
          <p14:sldIdLst>
            <p14:sldId id="266"/>
            <p14:sldId id="267"/>
            <p14:sldId id="268"/>
            <p14:sldId id="269"/>
            <p14:sldId id="270"/>
            <p14:sldId id="271"/>
            <p14:sldId id="272"/>
          </p14:sldIdLst>
        </p14:section>
        <p14:section name="17.3 Measured" id="{6232C76A-AA43-4B46-A255-D93D1973CE9D}">
          <p14:sldIdLst>
            <p14:sldId id="273"/>
            <p14:sldId id="274"/>
            <p14:sldId id="275"/>
            <p14:sldId id="276"/>
            <p14:sldId id="277"/>
            <p14:sldId id="278"/>
            <p14:sldId id="279"/>
          </p14:sldIdLst>
        </p14:section>
        <p14:section name="17.4 Where Else This Pattern Appears" id="{A7CE33BB-1FEF-48F7-BD0B-754F1953E772}">
          <p14:sldIdLst>
            <p14:sldId id="280"/>
          </p14:sldIdLst>
        </p14:section>
        <p14:section name="Pitfalls" id="{A82A9FE5-4035-4B97-A2AB-5641A3790BC8}">
          <p14:sldIdLst>
            <p14:sldId id="281"/>
            <p14:sldId id="282"/>
          </p14:sldIdLst>
        </p14:section>
        <p14:section name="Lab" id="{5D0BDB24-B2A3-40FD-8B73-5CE4D9D6A153}">
          <p14:sldIdLst>
            <p14:sldId id="283"/>
            <p14:sldId id="284"/>
            <p14:sldId id="285"/>
            <p14:sldId id="286"/>
            <p14:sldId id="287"/>
            <p14:sldId id="288"/>
            <p14:sldId id="289"/>
          </p14:sldIdLst>
        </p14:section>
        <p14:section name="Checkpoint" id="{AEEE7DFF-A3B0-46E4-BAF2-14E4EF7C57DD}">
          <p14:sldIdLst>
            <p14:sldId id="290"/>
            <p14:sldId id="291"/>
            <p14:sldId id="292"/>
            <p14:sldId id="293"/>
            <p14:sldId id="294"/>
            <p14:sldId id="295"/>
          </p14:sldIdLst>
        </p14:section>
        <p14:section name="Wrap-up" id="{0C7B57B6-12B6-4CAC-856E-E99EF7E34DFC}">
          <p14:sldIdLst>
            <p14:sldId id="296"/>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17: Amortised Analysis. Part 4 — The Design Paradigms. Week 12: Amortised analysis. Handout pages 137–146.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for the three cases — amortised cost is a fourth thing and must be kept apart from all of them. Chapter 12 for the Build-Heap analysis, which is the same looseness in miniature.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amortised analysis; aggregate method; accounting method; credit; potential method; potential function; dynamic array; growth factor; table doubling; worst case versus amortised.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17.1 (handout p. 138): Append with table doubling. Line 4 runs rarely, and when it does it costs Θ(n). The three methods below are three ways of saying that the rarity exactly pays for the cost.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Copying happens only when the length reaches the capacity, which with doubling occurs at lengths 1, 2, 4, 8, … — the powers of two up to n. The copy at length 2ᵏ moves 2ᵏ elements. So the total copying over n appends is Σₖ₌₀⌊ ˡᵍ ⁿ ⌋ 2ᵏ  =  2⌊ ˡᵍ ⁿ⌋⁺¹−1     &lt;  2n. Adding the n constant-time writes gives total cost under 3n = Θ(n), and dividing by n gives Θ(1) amortised.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five tables. Expect twenty-five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 dynamic array with an adjustable growth policy.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Total copies: the aggregate method, measured.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Amortised O(1) does not mean every operation is cheap.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growth factor is a real engineering choice.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And in seconds, against the real thing.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Copying happens at lengths 1, 2, 4, …, the powers of two up to n, and the copy at length 2k moves 2k elements. So the total is Σk=0⌊ lg n⌋ 2k = 2⌊ lg n⌋+1−1 &lt; 2n. The measured 1.024 is just over 1n, not 2n, because when n is a power of two the sum is exactly n−1; the bound of 2n is the worst position within a doubling interval.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Cheap: c = 1, len rises by 1 so Φ rises by 2, giving c = 1 + 2 = 3. Expensive (resize from m to 2m with len = m): c = m+1; before, Φ = 2m − m = m; after, Φ = 2(m+1) − 2m = 2; so c = (m+1) + 2 − m = 3. They must come out equal, or the potential function would not be doing its job — the whole point is to choose Φ so that the expensive operation’s real cost is exactly paid for by the potential the cheap ones accumulated.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Any latency-bounded context: a 16 ms frame deadline, an interrupt handler, an audio callback, a trading system. Measured, the amortised cost was 1.049 copies per append and the worst single append copied 524,288 elements — half a million times the average. And only 20 of a million appends were expensive, so a latency histogram with a thousand samples would very likely contain none of them, and the system would look fine until it was not.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18 — Graphs: Representation, Traversal and Sparsity. READ: Handout Chapter 17, pages 137–146. THIS WEEK'S LAB: A growing array: aggregate cost against worst-case cost. ASSESSMENT: Quiz 2 (Ch 10–16).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7.xml"/><Relationship Id="rId6" Type="http://schemas.openxmlformats.org/officeDocument/2006/relationships/slide" Target="slide11.xml"/><Relationship Id="rId7" Type="http://schemas.openxmlformats.org/officeDocument/2006/relationships/slide" Target="slide18.xml"/><Relationship Id="rId8" Type="http://schemas.openxmlformats.org/officeDocument/2006/relationships/slide" Target="slide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9.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61.png"/><Relationship Id="rId5" Type="http://schemas.openxmlformats.org/officeDocument/2006/relationships/image" Target="../media/image62.svg"/><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4.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5.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6.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9.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2.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3.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Amortised Analysis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THE DESIGN PARADIGMS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17  ·  WEEK 12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137     </a:t>
            </a:r>
            <a:fld id="{02420E34-7421-40C0-A7F9-759F91788926}"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692573"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692573" y="2029967"/>
            <a:ext cx="166746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50728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4158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7908148"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790814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265532"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Amortised Analysis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Input Size, Input Nature, and the Three Cases</a:t>
            </a:r>
          </a:p>
        </p:txBody>
      </p:sp>
      <p:sp>
        <p:nvSpPr>
          <p:cNvPr id="70" name="!!chipBU1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Heaps and Search Trees, Revisited for Analysis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Minimum Spanning Trees</a:t>
            </a:r>
          </a:p>
        </p:txBody>
      </p:sp>
      <p:sp>
        <p:nvSpPr>
          <p:cNvPr id="77" name="!!chipUS2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2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2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String Matching</a:t>
            </a:r>
          </a:p>
        </p:txBody>
      </p:sp>
      <p:sp>
        <p:nvSpPr>
          <p:cNvPr id="8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137     </a:t>
            </a:r>
            <a:fld id="{52D2A7B8-6AAC-4475-9D47-B869A75DDE8B}"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why multiplying a worst-case operation cost by the number of operations can give a badly loose bound.</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Apply</a:t>
            </a:r>
            <a:r>
              <a:rPr sz="2100" b="0" i="0">
                <a:solidFill>
                  <a:srgbClr val="1C252B"/>
                </a:solidFill>
                <a:latin typeface="Segoe UI"/>
              </a:rPr>
              <a:t> the aggregate, accounting and potential methods to a sequence of operations </a:t>
            </a:r>
            <a:r>
              <a:rPr sz="2100" b="0" i="1">
                <a:solidFill>
                  <a:srgbClr val="1C252B"/>
                </a:solidFill>
                <a:latin typeface="Segoe UI"/>
              </a:rPr>
              <a:t>(CLO-3)</a:t>
            </a:r>
            <a:r>
              <a:rPr sz="2100" b="0" i="0">
                <a:solidFill>
                  <a:srgbClr val="1C252B"/>
                </a:solidFill>
                <a:latin typeface="Segoe UI"/>
              </a:rPr>
              <a:t>.</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Prove</a:t>
            </a:r>
            <a:r>
              <a:rPr sz="2100" b="0" i="0">
                <a:solidFill>
                  <a:srgbClr val="1C252B"/>
                </a:solidFill>
                <a:latin typeface="Segoe UI"/>
              </a:rPr>
              <a:t> that </a:t>
            </a:r>
            <a:r>
              <a:rPr sz="2100" b="0" i="1">
                <a:solidFill>
                  <a:srgbClr val="1C252B"/>
                </a:solidFill>
                <a:latin typeface="Cambria"/>
              </a:rPr>
              <a:t>n</a:t>
            </a:r>
            <a:r>
              <a:rPr sz="2100" b="0" i="0">
                <a:solidFill>
                  <a:srgbClr val="1C252B"/>
                </a:solidFill>
                <a:latin typeface="Segoe UI"/>
              </a:rPr>
              <a:t> appends to a doubling array cost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in total.</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amortised cost from average-case and worst-case cost.</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Judge</a:t>
            </a:r>
            <a:r>
              <a:rPr sz="2100" b="0" i="0">
                <a:solidFill>
                  <a:srgbClr val="1C252B"/>
                </a:solidFill>
                <a:latin typeface="Segoe UI"/>
              </a:rPr>
              <a:t> when an amortised guarantee is adequate and when it is not.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137     </a:t>
            </a:r>
            <a:fld id="{E870D0E8-9F08-41AA-AD69-AA1D800A957F}" type="slidenum">
              <a:rPr lang="en-GB" sz="1000">
                <a:solidFill>
                  <a:srgbClr val="8795A1"/>
                </a:solidFill>
                <a:latin typeface="Segoe UI"/>
              </a:rPr>
              <a:t>4</a:t>
            </a:fld>
          </a:p>
        </p:txBody>
      </p:sp>
      <p:sp>
        <p:nvSpPr>
          <p:cNvPr id="7" name="!!term-amortised anal">
            <a:extLst>
              <a:ext uri="{C183D7F6-B498-43B3-948B-1728B52AA6E4}">
                <adec:decorative xmlns:adec="http://schemas.microsoft.com/office/drawing/2017/decorative" val="1"/>
              </a:ext>
            </a:extLst>
          </p:cNvPr>
          <p:cNvSpPr/>
          <p:nvPr/>
        </p:nvSpPr>
        <p:spPr>
          <a:xfrm>
            <a:off x="658368" y="1847088"/>
            <a:ext cx="22216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mortised anal">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mortised anal"/>
          <p:cNvSpPr txBox="1"/>
          <p:nvPr/>
        </p:nvSpPr>
        <p:spPr>
          <a:xfrm>
            <a:off x="950976" y="1955291"/>
            <a:ext cx="203879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amortised analysis</a:t>
            </a:r>
          </a:p>
        </p:txBody>
      </p:sp>
      <p:sp>
        <p:nvSpPr>
          <p:cNvPr id="10" name="!!term-aggregate meth">
            <a:extLst>
              <a:ext uri="{C183D7F6-B498-43B3-948B-1728B52AA6E4}">
                <adec:decorative xmlns:adec="http://schemas.microsoft.com/office/drawing/2017/decorative" val="1"/>
              </a:ext>
            </a:extLst>
          </p:cNvPr>
          <p:cNvSpPr/>
          <p:nvPr/>
        </p:nvSpPr>
        <p:spPr>
          <a:xfrm>
            <a:off x="3026348" y="1847088"/>
            <a:ext cx="22569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aggregate meth">
            <a:extLst>
              <a:ext uri="{C183D7F6-B498-43B3-948B-1728B52AA6E4}">
                <adec:decorative xmlns:adec="http://schemas.microsoft.com/office/drawing/2017/decorative" val="1"/>
              </a:ext>
            </a:extLst>
          </p:cNvPr>
          <p:cNvSpPr/>
          <p:nvPr/>
        </p:nvSpPr>
        <p:spPr>
          <a:xfrm>
            <a:off x="315436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aggregate meth"/>
          <p:cNvSpPr txBox="1"/>
          <p:nvPr/>
        </p:nvSpPr>
        <p:spPr>
          <a:xfrm>
            <a:off x="3318956" y="1955291"/>
            <a:ext cx="207407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aggregate method</a:t>
            </a:r>
          </a:p>
        </p:txBody>
      </p:sp>
      <p:sp>
        <p:nvSpPr>
          <p:cNvPr id="13" name="!!term-accounting met">
            <a:extLst>
              <a:ext uri="{C183D7F6-B498-43B3-948B-1728B52AA6E4}">
                <adec:decorative xmlns:adec="http://schemas.microsoft.com/office/drawing/2017/decorative" val="1"/>
              </a:ext>
            </a:extLst>
          </p:cNvPr>
          <p:cNvSpPr/>
          <p:nvPr/>
        </p:nvSpPr>
        <p:spPr>
          <a:xfrm>
            <a:off x="5429612" y="1847088"/>
            <a:ext cx="23382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accounting met">
            <a:extLst>
              <a:ext uri="{C183D7F6-B498-43B3-948B-1728B52AA6E4}">
                <adec:decorative xmlns:adec="http://schemas.microsoft.com/office/drawing/2017/decorative" val="1"/>
              </a:ext>
            </a:extLst>
          </p:cNvPr>
          <p:cNvSpPr/>
          <p:nvPr/>
        </p:nvSpPr>
        <p:spPr>
          <a:xfrm>
            <a:off x="55576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accounting met"/>
          <p:cNvSpPr txBox="1"/>
          <p:nvPr/>
        </p:nvSpPr>
        <p:spPr>
          <a:xfrm>
            <a:off x="5722220" y="1955291"/>
            <a:ext cx="215541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accounting method</a:t>
            </a:r>
          </a:p>
        </p:txBody>
      </p:sp>
      <p:sp>
        <p:nvSpPr>
          <p:cNvPr id="16" name="!!term-credit">
            <a:extLst>
              <a:ext uri="{C183D7F6-B498-43B3-948B-1728B52AA6E4}">
                <adec:decorative xmlns:adec="http://schemas.microsoft.com/office/drawing/2017/decorative" val="1"/>
              </a:ext>
            </a:extLst>
          </p:cNvPr>
          <p:cNvSpPr/>
          <p:nvPr/>
        </p:nvSpPr>
        <p:spPr>
          <a:xfrm>
            <a:off x="7914208" y="1847088"/>
            <a:ext cx="9900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redit">
            <a:extLst>
              <a:ext uri="{C183D7F6-B498-43B3-948B-1728B52AA6E4}">
                <adec:decorative xmlns:adec="http://schemas.microsoft.com/office/drawing/2017/decorative" val="1"/>
              </a:ext>
            </a:extLst>
          </p:cNvPr>
          <p:cNvSpPr/>
          <p:nvPr/>
        </p:nvSpPr>
        <p:spPr>
          <a:xfrm>
            <a:off x="804222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redit"/>
          <p:cNvSpPr txBox="1"/>
          <p:nvPr/>
        </p:nvSpPr>
        <p:spPr>
          <a:xfrm>
            <a:off x="8206816" y="1955291"/>
            <a:ext cx="80719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credit</a:t>
            </a:r>
          </a:p>
        </p:txBody>
      </p:sp>
      <p:sp>
        <p:nvSpPr>
          <p:cNvPr id="19" name="!!term-potential meth">
            <a:extLst>
              <a:ext uri="{C183D7F6-B498-43B3-948B-1728B52AA6E4}">
                <adec:decorative xmlns:adec="http://schemas.microsoft.com/office/drawing/2017/decorative" val="1"/>
              </a:ext>
            </a:extLst>
          </p:cNvPr>
          <p:cNvSpPr/>
          <p:nvPr/>
        </p:nvSpPr>
        <p:spPr>
          <a:xfrm>
            <a:off x="9050585" y="1847088"/>
            <a:ext cx="21283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potential meth">
            <a:extLst>
              <a:ext uri="{C183D7F6-B498-43B3-948B-1728B52AA6E4}">
                <adec:decorative xmlns:adec="http://schemas.microsoft.com/office/drawing/2017/decorative" val="1"/>
              </a:ext>
            </a:extLst>
          </p:cNvPr>
          <p:cNvSpPr/>
          <p:nvPr/>
        </p:nvSpPr>
        <p:spPr>
          <a:xfrm>
            <a:off x="917860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potential meth"/>
          <p:cNvSpPr txBox="1"/>
          <p:nvPr/>
        </p:nvSpPr>
        <p:spPr>
          <a:xfrm>
            <a:off x="9343193" y="1955291"/>
            <a:ext cx="194551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potential method</a:t>
            </a:r>
          </a:p>
        </p:txBody>
      </p:sp>
      <p:sp>
        <p:nvSpPr>
          <p:cNvPr id="22" name="!!term-potential func">
            <a:extLst>
              <a:ext uri="{C183D7F6-B498-43B3-948B-1728B52AA6E4}">
                <adec:decorative xmlns:adec="http://schemas.microsoft.com/office/drawing/2017/decorative" val="1"/>
              </a:ext>
            </a:extLst>
          </p:cNvPr>
          <p:cNvSpPr/>
          <p:nvPr/>
        </p:nvSpPr>
        <p:spPr>
          <a:xfrm>
            <a:off x="658368" y="2468880"/>
            <a:ext cx="21671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potential func">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potential func"/>
          <p:cNvSpPr txBox="1"/>
          <p:nvPr/>
        </p:nvSpPr>
        <p:spPr>
          <a:xfrm>
            <a:off x="950976" y="2577084"/>
            <a:ext cx="198427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potential function</a:t>
            </a:r>
          </a:p>
        </p:txBody>
      </p:sp>
      <p:sp>
        <p:nvSpPr>
          <p:cNvPr id="25" name="!!term-dynamic array">
            <a:extLst>
              <a:ext uri="{C183D7F6-B498-43B3-948B-1728B52AA6E4}">
                <adec:decorative xmlns:adec="http://schemas.microsoft.com/office/drawing/2017/decorative" val="1"/>
              </a:ext>
            </a:extLst>
          </p:cNvPr>
          <p:cNvSpPr/>
          <p:nvPr/>
        </p:nvSpPr>
        <p:spPr>
          <a:xfrm>
            <a:off x="2971827" y="2468880"/>
            <a:ext cx="18009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dynamic array">
            <a:extLst>
              <a:ext uri="{C183D7F6-B498-43B3-948B-1728B52AA6E4}">
                <adec:decorative xmlns:adec="http://schemas.microsoft.com/office/drawing/2017/decorative" val="1"/>
              </a:ext>
            </a:extLst>
          </p:cNvPr>
          <p:cNvSpPr/>
          <p:nvPr/>
        </p:nvSpPr>
        <p:spPr>
          <a:xfrm>
            <a:off x="309984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dynamic array"/>
          <p:cNvSpPr txBox="1"/>
          <p:nvPr/>
        </p:nvSpPr>
        <p:spPr>
          <a:xfrm>
            <a:off x="3264435" y="2577084"/>
            <a:ext cx="161808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dynamic array</a:t>
            </a:r>
          </a:p>
        </p:txBody>
      </p:sp>
      <p:sp>
        <p:nvSpPr>
          <p:cNvPr id="28" name="!!term-growth factor">
            <a:extLst>
              <a:ext uri="{C183D7F6-B498-43B3-948B-1728B52AA6E4}">
                <adec:decorative xmlns:adec="http://schemas.microsoft.com/office/drawing/2017/decorative" val="1"/>
              </a:ext>
            </a:extLst>
          </p:cNvPr>
          <p:cNvSpPr/>
          <p:nvPr/>
        </p:nvSpPr>
        <p:spPr>
          <a:xfrm>
            <a:off x="4919091" y="2468880"/>
            <a:ext cx="17561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growth factor">
            <a:extLst>
              <a:ext uri="{C183D7F6-B498-43B3-948B-1728B52AA6E4}">
                <adec:decorative xmlns:adec="http://schemas.microsoft.com/office/drawing/2017/decorative" val="1"/>
              </a:ext>
            </a:extLst>
          </p:cNvPr>
          <p:cNvSpPr/>
          <p:nvPr/>
        </p:nvSpPr>
        <p:spPr>
          <a:xfrm>
            <a:off x="504710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growth factor"/>
          <p:cNvSpPr txBox="1"/>
          <p:nvPr/>
        </p:nvSpPr>
        <p:spPr>
          <a:xfrm>
            <a:off x="5211699" y="2577084"/>
            <a:ext cx="157330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growth factor</a:t>
            </a:r>
          </a:p>
        </p:txBody>
      </p:sp>
      <p:sp>
        <p:nvSpPr>
          <p:cNvPr id="31" name="!!term-table doubling">
            <a:extLst>
              <a:ext uri="{C183D7F6-B498-43B3-948B-1728B52AA6E4}">
                <adec:decorative xmlns:adec="http://schemas.microsoft.com/office/drawing/2017/decorative" val="1"/>
              </a:ext>
            </a:extLst>
          </p:cNvPr>
          <p:cNvSpPr/>
          <p:nvPr/>
        </p:nvSpPr>
        <p:spPr>
          <a:xfrm>
            <a:off x="6821579" y="2468880"/>
            <a:ext cx="18577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table doubling">
            <a:extLst>
              <a:ext uri="{C183D7F6-B498-43B3-948B-1728B52AA6E4}">
                <adec:decorative xmlns:adec="http://schemas.microsoft.com/office/drawing/2017/decorative" val="1"/>
              </a:ext>
            </a:extLst>
          </p:cNvPr>
          <p:cNvSpPr/>
          <p:nvPr/>
        </p:nvSpPr>
        <p:spPr>
          <a:xfrm>
            <a:off x="69495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table doubling"/>
          <p:cNvSpPr txBox="1"/>
          <p:nvPr/>
        </p:nvSpPr>
        <p:spPr>
          <a:xfrm>
            <a:off x="7114187" y="2577084"/>
            <a:ext cx="167489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table doubling</a:t>
            </a:r>
          </a:p>
        </p:txBody>
      </p:sp>
      <p:sp>
        <p:nvSpPr>
          <p:cNvPr id="34" name="!!term-worst case ver">
            <a:extLst>
              <a:ext uri="{C183D7F6-B498-43B3-948B-1728B52AA6E4}">
                <adec:decorative xmlns:adec="http://schemas.microsoft.com/office/drawing/2017/decorative" val="1"/>
              </a:ext>
            </a:extLst>
          </p:cNvPr>
          <p:cNvSpPr/>
          <p:nvPr/>
        </p:nvSpPr>
        <p:spPr>
          <a:xfrm>
            <a:off x="658368" y="3090672"/>
            <a:ext cx="31576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worst case ver">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worst case ver"/>
          <p:cNvSpPr txBox="1"/>
          <p:nvPr/>
        </p:nvSpPr>
        <p:spPr>
          <a:xfrm>
            <a:off x="950976" y="3198876"/>
            <a:ext cx="297474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worst case versus amortised</a:t>
            </a:r>
          </a:p>
        </p:txBody>
      </p:sp>
      <p:sp>
        <p:nvSpPr>
          <p:cNvPr id="37"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137–146     </a:t>
            </a:r>
            <a:fld id="{BB444BFF-3A90-44E0-992F-DC06D3F31CDA}" type="slidenum">
              <a:rPr lang="en-GB" sz="1000">
                <a:solidFill>
                  <a:srgbClr val="8795A1"/>
                </a:solidFill>
                <a:latin typeface="Segoe UI"/>
              </a:rPr>
              <a:t>5</a:t>
            </a:fld>
          </a:p>
        </p:txBody>
      </p:sp>
      <p:sp>
        <p:nvSpPr>
          <p:cNvPr id="7" name="!!ag0" descr="Go to section 17.1 A Loose Bound">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Loose Bound</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137  ›</a:t>
            </a:r>
          </a:p>
        </p:txBody>
      </p:sp>
      <p:sp>
        <p:nvSpPr>
          <p:cNvPr id="12" name="!!ag1" descr="Go to section 17.2 Three Methods, One Answer">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Three Methods, One Answer</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138  ›</a:t>
            </a:r>
          </a:p>
        </p:txBody>
      </p:sp>
      <p:sp>
        <p:nvSpPr>
          <p:cNvPr id="17" name="!!ag2" descr="Go to section 17.3 Measure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140  ›</a:t>
            </a:r>
          </a:p>
        </p:txBody>
      </p:sp>
      <p:sp>
        <p:nvSpPr>
          <p:cNvPr id="22" name="!!ag3" descr="Go to section 17.4 Where Else This Pattern Appear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Else This Pattern Appears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142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chapter is here, when HEC does not name it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137     </a:t>
            </a:r>
            <a:fld id="{E1E59E17-34F6-45F2-A0D6-11FFB53E208C}"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9262"/>
          </a:xfrm>
          <a:prstGeom prst="roundRect">
            <a:avLst>
              <a:gd name="adj" fmla="val 222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926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published outline does not list amortised analysis. It is taught anyway, for three reasons, and the Course Specification in the front matter records them:</a:t>
            </a:r>
          </a:p>
        </p:txBody>
      </p:sp>
      <p:sp>
        <p:nvSpPr>
          <p:cNvPr id="10" name="body-1"/>
          <p:cNvSpPr txBox="1"/>
          <p:nvPr/>
        </p:nvSpPr>
        <p:spPr>
          <a:xfrm>
            <a:off x="1060704" y="2899308"/>
            <a:ext cx="10161727" cy="2682138"/>
          </a:xfrm>
          <a:prstGeom prst="rect">
            <a:avLst/>
          </a:prstGeom>
          <a:noFill/>
        </p:spPr>
        <p:txBody>
          <a:bodyPr wrap="square" anchor="t" lIns="0" rIns="0" tIns="0" bIns="0">
            <a:noAutofit/>
          </a:bodyPr>
          <a:lstStyle/>
          <a:p>
            <a:pPr algn="l" marL="530697" indent="-530697">
              <a:lnSpc>
                <a:spcPct val="104000"/>
              </a:lnSpc>
              <a:spcBef>
                <a:spcPts val="0"/>
              </a:spcBef>
              <a:spcAft>
                <a:spcPts val="769"/>
              </a:spcAft>
            </a:pPr>
            <a:r>
              <a:rPr sz="2200" b="1">
                <a:solidFill>
                  <a:srgbClr val="A93226"/>
                </a:solidFill>
                <a:latin typeface="Segoe UI"/>
              </a:rPr>
              <a:t>1.	</a:t>
            </a:r>
            <a:r>
              <a:rPr sz="2200" b="0" i="0">
                <a:solidFill>
                  <a:srgbClr val="1C252B"/>
                </a:solidFill>
                <a:latin typeface="Segoe UI"/>
              </a:rPr>
              <a:t>Chapter 13’s claim that a hash table keeps </a:t>
            </a:r>
            <a:r>
              <a:rPr sz="2200" b="0" i="0">
                <a:solidFill>
                  <a:srgbClr val="1C252B"/>
                </a:solidFill>
                <a:latin typeface="Cambria"/>
              </a:rPr>
              <a:t>α</a:t>
            </a:r>
            <a:r>
              <a:rPr sz="2200" b="0" i="0">
                <a:solidFill>
                  <a:srgbClr val="1C252B"/>
                </a:solidFill>
                <a:latin typeface="Segoe UI"/>
              </a:rPr>
              <a:t> bounded depends on resizing, whose cost is amortised. Without this chapter that claim is an assertion.</a:t>
            </a:r>
          </a:p>
          <a:p>
            <a:pPr algn="l" marL="530697" indent="-530697">
              <a:lnSpc>
                <a:spcPct val="104000"/>
              </a:lnSpc>
              <a:spcBef>
                <a:spcPts val="0"/>
              </a:spcBef>
              <a:spcAft>
                <a:spcPts val="769"/>
              </a:spcAft>
            </a:pPr>
            <a:r>
              <a:rPr sz="2200" b="1">
                <a:solidFill>
                  <a:srgbClr val="A93226"/>
                </a:solidFill>
                <a:latin typeface="Segoe UI"/>
              </a:rPr>
              <a:t>2.	</a:t>
            </a:r>
            <a:r>
              <a:rPr sz="2200" b="0" i="0">
                <a:solidFill>
                  <a:srgbClr val="1C252B"/>
                </a:solidFill>
                <a:latin typeface="Segoe UI"/>
              </a:rPr>
              <a:t>Chapter 19’s union–find is the standard example of a structure whose cost is </a:t>
            </a:r>
            <a:r>
              <a:rPr sz="2200" b="0" i="1">
                <a:solidFill>
                  <a:srgbClr val="1C252B"/>
                </a:solidFill>
                <a:latin typeface="Segoe UI"/>
              </a:rPr>
              <a:t>only</a:t>
            </a:r>
            <a:r>
              <a:rPr sz="2200" b="0" i="0">
                <a:solidFill>
                  <a:srgbClr val="1C252B"/>
                </a:solidFill>
                <a:latin typeface="Segoe UI"/>
              </a:rPr>
              <a:t> meaningful amortised.</a:t>
            </a:r>
          </a:p>
          <a:p>
            <a:pPr algn="l" marL="530697" indent="-530697">
              <a:lnSpc>
                <a:spcPct val="104000"/>
              </a:lnSpc>
              <a:spcBef>
                <a:spcPts val="0"/>
              </a:spcBef>
              <a:spcAft>
                <a:spcPts val="0"/>
              </a:spcAft>
            </a:pPr>
            <a:r>
              <a:rPr sz="2200" b="1">
                <a:solidFill>
                  <a:srgbClr val="A93226"/>
                </a:solidFill>
                <a:latin typeface="Segoe UI"/>
              </a:rPr>
              <a:t>3.	</a:t>
            </a:r>
            <a:r>
              <a:rPr sz="2200" b="0" i="0">
                <a:solidFill>
                  <a:srgbClr val="1C252B"/>
                </a:solidFill>
                <a:latin typeface="Segoe UI"/>
              </a:rPr>
              <a:t>CLO-3 asks for the time complexity of simple algorithms, and for a sequence of operations on a growing structure that is an amortised question. Answering it per-operation gives the wrong answer.</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Loose Bound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17.1   A Loose Bound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Three Methods, One Answer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Measured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Where Else This Pattern Appears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§17.1     </a:t>
            </a:r>
            <a:fld id="{1EF2A8E5-BEC2-476A-A991-2F8023913016}"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problem, stated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137     </a:t>
            </a:r>
            <a:fld id="{C85B8E69-507C-4FE6-B6C7-41CC072A5658}"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5139"/>
          </a:xfrm>
          <a:prstGeom prst="roundRect">
            <a:avLst>
              <a:gd name="adj" fmla="val 208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513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Appending to a dynamic array is almost always </a:t>
            </a:r>
            <a:r>
              <a:rPr sz="2000" b="0" i="0">
                <a:solidFill>
                  <a:srgbClr val="1C252B"/>
                </a:solidFill>
                <a:latin typeface="Cambria"/>
              </a:rPr>
              <a:t>O(1)</a:t>
            </a:r>
            <a:r>
              <a:rPr sz="2000" b="0" i="0">
                <a:solidFill>
                  <a:srgbClr val="1C252B"/>
                </a:solidFill>
                <a:latin typeface="Segoe UI"/>
              </a:rPr>
              <a:t>: write at the end, increment the length. Occasionally the buffer is full, and then the append costs </a:t>
            </a: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 allocate a bigger buffer and copy everything.</a:t>
            </a:r>
          </a:p>
        </p:txBody>
      </p:sp>
      <p:sp>
        <p:nvSpPr>
          <p:cNvPr id="10" name="body-1"/>
          <p:cNvSpPr txBox="1"/>
          <p:nvPr/>
        </p:nvSpPr>
        <p:spPr>
          <a:xfrm>
            <a:off x="1060704" y="3138931"/>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So the worst case of a single append is </a:t>
            </a: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and</a:t>
            </a:r>
          </a:p>
        </p:txBody>
      </p:sp>
      <p:pic>
        <p:nvPicPr>
          <p:cNvPr id="11" name="body-2" descr="n \text{ appends} \;\le\; n \times \bigTh{n} = \bigTh{n^{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595623"/>
            <a:ext cx="10161727" cy="341619"/>
          </a:xfrm>
          <a:prstGeom prst="rect">
            <a:avLst/>
          </a:prstGeom>
        </p:spPr>
      </p:pic>
      <p:sp>
        <p:nvSpPr>
          <p:cNvPr id="12" name="body-3"/>
          <p:cNvSpPr txBox="1"/>
          <p:nvPr/>
        </p:nvSpPr>
        <p:spPr>
          <a:xfrm>
            <a:off x="1060704" y="4076943"/>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That bound is </a:t>
            </a:r>
            <a:r>
              <a:rPr sz="2000" b="1" i="0">
                <a:solidFill>
                  <a:srgbClr val="1C252B"/>
                </a:solidFill>
                <a:latin typeface="Segoe UI"/>
              </a:rPr>
              <a:t>correct and useless</a:t>
            </a:r>
            <a:r>
              <a:rPr sz="2000" b="0" i="0">
                <a:solidFill>
                  <a:srgbClr val="1C252B"/>
                </a:solidFill>
                <a:latin typeface="Segoe UI"/>
              </a:rPr>
              <a:t>. It is correct because no append exceeds </a:t>
            </a:r>
            <a:r>
              <a:rPr sz="2000" b="0" i="0">
                <a:solidFill>
                  <a:srgbClr val="1C252B"/>
                </a:solidFill>
                <a:latin typeface="Cambria"/>
              </a:rPr>
              <a:t>O(</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it is useless because the expensive appends cannot all happen — after one, the buffer is twice as big and cannot fill again for another </a:t>
            </a:r>
            <a:r>
              <a:rPr sz="2000" b="0" i="1">
                <a:solidFill>
                  <a:srgbClr val="1C252B"/>
                </a:solidFill>
                <a:latin typeface="Cambria"/>
              </a:rPr>
              <a:t>n</a:t>
            </a:r>
            <a:r>
              <a:rPr sz="2000" b="0" i="0">
                <a:solidFill>
                  <a:srgbClr val="1C252B"/>
                </a:solidFill>
                <a:latin typeface="Segoe UI"/>
              </a:rPr>
              <a:t> appends.</a:t>
            </a:r>
          </a:p>
        </p:txBody>
      </p:sp>
      <p:sp>
        <p:nvSpPr>
          <p:cNvPr id="13" name="body-4"/>
          <p:cNvSpPr txBox="1"/>
          <p:nvPr/>
        </p:nvSpPr>
        <p:spPr>
          <a:xfrm>
            <a:off x="1060704" y="5167619"/>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Amortised analysis</a:t>
            </a:r>
            <a:r>
              <a:rPr sz="2000" b="0" i="0">
                <a:solidFill>
                  <a:srgbClr val="1C252B"/>
                </a:solidFill>
                <a:latin typeface="Segoe UI"/>
              </a:rPr>
              <a:t> bounds the </a:t>
            </a:r>
            <a:r>
              <a:rPr sz="2000" b="0" i="1">
                <a:solidFill>
                  <a:srgbClr val="1C252B"/>
                </a:solidFill>
                <a:latin typeface="Segoe UI"/>
              </a:rPr>
              <a:t>total</a:t>
            </a:r>
            <a:r>
              <a:rPr sz="2000" b="0" i="0">
                <a:solidFill>
                  <a:srgbClr val="1C252B"/>
                </a:solidFill>
                <a:latin typeface="Segoe UI"/>
              </a:rPr>
              <a:t> cost of a sequence directly, without pretending every operation is the worst one.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Amortised Cost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137     </a:t>
            </a:r>
            <a:fld id="{28E232C9-1E28-49C2-9109-0490B31217A7}"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amortised cost</a:t>
            </a:r>
            <a:r>
              <a:rPr sz="2300" b="0" i="0">
                <a:solidFill>
                  <a:srgbClr val="1C252B"/>
                </a:solidFill>
                <a:latin typeface="Segoe UI"/>
              </a:rPr>
              <a:t> of an operation is the total cost of a worst-case sequence of </a:t>
            </a:r>
            <a:r>
              <a:rPr sz="2300" b="0" i="1">
                <a:solidFill>
                  <a:srgbClr val="1C252B"/>
                </a:solidFill>
                <a:latin typeface="Cambria"/>
              </a:rPr>
              <a:t>n</a:t>
            </a:r>
            <a:r>
              <a:rPr sz="2300" b="0" i="0">
                <a:solidFill>
                  <a:srgbClr val="1C252B"/>
                </a:solidFill>
                <a:latin typeface="Segoe UI"/>
              </a:rPr>
              <a:t> operations, divided by </a:t>
            </a:r>
            <a:r>
              <a:rPr sz="2300" b="0" i="1">
                <a:solidFill>
                  <a:srgbClr val="1C252B"/>
                </a:solidFill>
                <a:latin typeface="Cambria"/>
              </a:rPr>
              <a:t>n</a:t>
            </a:r>
            <a:r>
              <a:rPr sz="2300" b="0" i="0">
                <a:solidFill>
                  <a:srgbClr val="1C252B"/>
                </a:solidFill>
                <a:latin typeface="Segoe UI"/>
              </a:rPr>
              <a:t>.</a:t>
            </a:r>
          </a:p>
        </p:txBody>
      </p:sp>
      <p:sp>
        <p:nvSpPr>
          <p:cNvPr id="10" name="body-1"/>
          <p:cNvSpPr txBox="1"/>
          <p:nvPr/>
        </p:nvSpPr>
        <p:spPr>
          <a:xfrm>
            <a:off x="1060704" y="293799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a </a:t>
            </a:r>
            <a:r>
              <a:rPr sz="2300" b="1" i="0">
                <a:solidFill>
                  <a:srgbClr val="1C252B"/>
                </a:solidFill>
                <a:latin typeface="Segoe UI"/>
              </a:rPr>
              <a:t>worst-case</a:t>
            </a:r>
            <a:r>
              <a:rPr sz="2300" b="0" i="0">
                <a:solidFill>
                  <a:srgbClr val="1C252B"/>
                </a:solidFill>
                <a:latin typeface="Segoe UI"/>
              </a:rPr>
              <a:t> quantity, not an average over a distribution. No probability is involved and no assumption about the input is made — which is what distinguishes it sharply from the average case of Chapter 2 and from the expected time of Chapter 9.</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costs, kept apart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137     </a:t>
            </a:r>
            <a:fld id="{C97F0F75-3274-4FE9-8B97-FD2E1E80EB64}"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6130"/>
          </a:xfrm>
          <a:prstGeom prst="roundRect">
            <a:avLst>
              <a:gd name="adj" fmla="val 203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613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8808193" cy="2255515"/>
        </p:xfrm>
        <a:graphic>
          <a:graphicData uri="http://schemas.openxmlformats.org/drawingml/2006/table">
            <a:tbl>
              <a:tblPr firstRow="0" bandRow="0" firstCol="0" lastRow="0" lastCol="0" bandCol="0">
                <a:tableStyleId>{2D5ABB26-0587-4C30-8999-92F81FD0307C}</a:tableStyleId>
              </a:tblPr>
              <a:tblGrid>
                <a:gridCol w="1725509"/>
                <a:gridCol w="3623582"/>
                <a:gridCol w="3459102"/>
              </a:tblGrid>
              <a:tr h="451103">
                <a:tc>
                  <a:txBody>
                    <a:bodyPr wrap="square"/>
                    <a:lstStyle/>
                    <a:p>
                      <a:pPr algn="l"/>
                      <a:r>
                        <a:rPr sz="2000" b="1" i="0">
                          <a:solidFill>
                            <a:srgbClr val="1A5276"/>
                          </a:solidFill>
                          <a:latin typeface="Segoe UI"/>
                        </a:rPr>
                        <a:t>Cost</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2000" b="1" i="0">
                          <a:solidFill>
                            <a:srgbClr val="1A5276"/>
                          </a:solidFill>
                          <a:latin typeface="Segoe UI"/>
                        </a:rPr>
                        <a:t>Averaged over</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2000" b="1" i="0">
                          <a:solidFill>
                            <a:srgbClr val="1A5276"/>
                          </a:solidFill>
                          <a:latin typeface="Segoe UI"/>
                        </a:rPr>
                        <a:t>Assumes</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51103">
                <a:tc>
                  <a:txBody>
                    <a:bodyPr wrap="square"/>
                    <a:lstStyle/>
                    <a:p>
                      <a:pPr algn="l"/>
                      <a:r>
                        <a:rPr sz="2000" b="0" i="0">
                          <a:solidFill>
                            <a:srgbClr val="1C252B"/>
                          </a:solidFill>
                          <a:latin typeface="Segoe UI"/>
                        </a:rPr>
                        <a:t>worst case</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Segoe UI"/>
                        </a:rPr>
                        <a:t>nothing — it is a maximum</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Segoe UI"/>
                        </a:rPr>
                        <a:t>nothing</a:t>
                      </a:r>
                      <a:endParaRPr sz="2000"/>
                    </a:p>
                  </a:txBody>
                  <a:tcPr marL="109728" marR="109728" marT="64008" marB="45720" anchor="t">
                    <a:lnL w="0" cmpd="sng">
                      <a:noFill/>
                    </a:lnL>
                    <a:lnR w="0" cmpd="sng">
                      <a:noFill/>
                    </a:lnR>
                    <a:lnT w="9525" cmpd="sng">
                      <a:noFill/>
                    </a:lnT>
                    <a:lnB w="9525" cmpd="sng">
                      <a:noFill/>
                    </a:lnB>
                    <a:solidFill>
                      <a:srgbClr val="FFFFFF"/>
                    </a:solidFill>
                  </a:tcPr>
                </a:tc>
              </a:tr>
              <a:tr h="451103">
                <a:tc>
                  <a:txBody>
                    <a:bodyPr wrap="square"/>
                    <a:lstStyle/>
                    <a:p>
                      <a:pPr algn="l"/>
                      <a:r>
                        <a:rPr sz="2000" b="0" i="0">
                          <a:solidFill>
                            <a:srgbClr val="1C252B"/>
                          </a:solidFill>
                          <a:latin typeface="Segoe UI"/>
                        </a:rPr>
                        <a:t>average case</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2000" b="0" i="0">
                          <a:solidFill>
                            <a:srgbClr val="1C252B"/>
                          </a:solidFill>
                          <a:latin typeface="Segoe UI"/>
                        </a:rPr>
                        <a:t>a distribution on inputs</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2000" b="0" i="0">
                          <a:solidFill>
                            <a:srgbClr val="1C252B"/>
                          </a:solidFill>
                          <a:latin typeface="Segoe UI"/>
                        </a:rPr>
                        <a:t>that distribution</a:t>
                      </a:r>
                      <a:endParaRPr sz="2000"/>
                    </a:p>
                  </a:txBody>
                  <a:tcPr marL="109728" marR="109728" marT="64008" marB="45720" anchor="t">
                    <a:lnL w="0" cmpd="sng">
                      <a:noFill/>
                    </a:lnL>
                    <a:lnR w="0" cmpd="sng">
                      <a:noFill/>
                    </a:lnR>
                    <a:lnT w="9525" cmpd="sng">
                      <a:noFill/>
                    </a:lnT>
                    <a:lnB w="9525" cmpd="sng">
                      <a:noFill/>
                    </a:lnB>
                    <a:solidFill>
                      <a:srgbClr val="F2F8FC"/>
                    </a:solidFill>
                  </a:tcPr>
                </a:tc>
              </a:tr>
              <a:tr h="451103">
                <a:tc>
                  <a:txBody>
                    <a:bodyPr wrap="square"/>
                    <a:lstStyle/>
                    <a:p>
                      <a:pPr algn="l"/>
                      <a:r>
                        <a:rPr sz="2000" b="0" i="0">
                          <a:solidFill>
                            <a:srgbClr val="1C252B"/>
                          </a:solidFill>
                          <a:latin typeface="Segoe UI"/>
                        </a:rPr>
                        <a:t>expected</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Segoe UI"/>
                        </a:rPr>
                        <a:t>the algorithm’s own coin flips</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Segoe UI"/>
                        </a:rPr>
                        <a:t>nothing about the input</a:t>
                      </a:r>
                      <a:endParaRPr sz="2000"/>
                    </a:p>
                  </a:txBody>
                  <a:tcPr marL="109728" marR="109728" marT="64008" marB="45720" anchor="t">
                    <a:lnL w="0" cmpd="sng">
                      <a:noFill/>
                    </a:lnL>
                    <a:lnR w="0" cmpd="sng">
                      <a:noFill/>
                    </a:lnR>
                    <a:lnT w="9525" cmpd="sng">
                      <a:noFill/>
                    </a:lnT>
                    <a:lnB w="9525" cmpd="sng">
                      <a:noFill/>
                    </a:lnB>
                    <a:solidFill>
                      <a:srgbClr val="FFFFFF"/>
                    </a:solidFill>
                  </a:tcPr>
                </a:tc>
              </a:tr>
              <a:tr h="451103">
                <a:tc>
                  <a:txBody>
                    <a:bodyPr wrap="square"/>
                    <a:lstStyle/>
                    <a:p>
                      <a:pPr algn="l"/>
                      <a:r>
                        <a:rPr sz="2000" b="1" i="0">
                          <a:solidFill>
                            <a:srgbClr val="1C252B"/>
                          </a:solidFill>
                          <a:latin typeface="Segoe UI"/>
                        </a:rPr>
                        <a:t>amortised</a:t>
                      </a:r>
                      <a:endParaRPr sz="20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2000" b="0" i="0">
                          <a:solidFill>
                            <a:srgbClr val="1C252B"/>
                          </a:solidFill>
                          <a:latin typeface="Segoe UI"/>
                        </a:rPr>
                        <a:t>a </a:t>
                      </a:r>
                      <a:r>
                        <a:rPr sz="2000" b="0" i="1">
                          <a:solidFill>
                            <a:srgbClr val="1C252B"/>
                          </a:solidFill>
                          <a:latin typeface="Segoe UI"/>
                        </a:rPr>
                        <a:t>sequence</a:t>
                      </a:r>
                      <a:r>
                        <a:rPr sz="2000" b="0" i="0">
                          <a:solidFill>
                            <a:srgbClr val="1C252B"/>
                          </a:solidFill>
                          <a:latin typeface="Segoe UI"/>
                        </a:rPr>
                        <a:t> of operations</a:t>
                      </a:r>
                      <a:endParaRPr sz="20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2000" b="0" i="0">
                          <a:solidFill>
                            <a:srgbClr val="1C252B"/>
                          </a:solidFill>
                          <a:latin typeface="Segoe UI"/>
                        </a:rPr>
                        <a:t>nothing at all</a:t>
                      </a:r>
                      <a:endParaRPr sz="20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60704" y="4464431"/>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amortised bound is as strong as a worst-case one: it holds for every sequence, with no probability anywhere. What it does </a:t>
            </a:r>
            <a:r>
              <a:rPr sz="2300" b="0" i="1">
                <a:solidFill>
                  <a:srgbClr val="1C252B"/>
                </a:solidFill>
                <a:latin typeface="Segoe UI"/>
              </a:rPr>
              <a:t>not</a:t>
            </a:r>
            <a:r>
              <a:rPr sz="2300" b="0" i="0">
                <a:solidFill>
                  <a:srgbClr val="1C252B"/>
                </a:solidFill>
                <a:latin typeface="Segoe UI"/>
              </a:rPr>
              <a:t> promise is that any individual operation is fast, and Section 17.4 measures exactly how slow one of them gets.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Three Methods, One Answer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A Loose Bound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17.2   Three Methods, One Answer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Measured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Where Else This Pattern Appears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§17.2     </a:t>
            </a:r>
            <a:fld id="{B5F192B5-699A-4EFE-A6C7-CF2BBAB50A94}" type="slidenum">
              <a:rPr lang="en-GB" sz="1000">
                <a:solidFill>
                  <a:srgbClr val="8795A1"/>
                </a:solidFill>
                <a:latin typeface="Segoe UI"/>
              </a:rPr>
              <a:t>11</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Append with table doubling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138     </a:t>
            </a:r>
            <a:fld id="{54D5727B-75D8-4C4C-9633-F1A8DFC5ED11}" type="slidenum">
              <a:rPr lang="en-GB" sz="1000">
                <a:solidFill>
                  <a:srgbClr val="8795A1"/>
                </a:solidFill>
                <a:latin typeface="Segoe UI"/>
              </a:rPr>
              <a:t>12</a:t>
            </a:fld>
          </a:p>
        </p:txBody>
      </p:sp>
      <p:pic>
        <p:nvPicPr>
          <p:cNvPr id="6" name="!!figure" descr="Figure 17.1. Append with table doubling. Line 4 runs rarely, and when it does it costs Θ(n). The three methods below are three ways of saying that the rarity exactly pays for the cos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85473"/>
            <a:ext cx="10874959" cy="346557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Line 4 runs rarely, and when it does it costs Θ(n). The three methods below are three ways of saying that the rarity exactly pays for the cost.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Doubling array</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17.1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138     </a:t>
            </a:r>
            <a:fld id="{FE8709E5-2A1A-485D-93B5-D70767526107}"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Starting from an empty array, </a:t>
            </a:r>
            <a:r>
              <a:rPr sz="2300" b="0" i="1">
                <a:solidFill>
                  <a:srgbClr val="1C252B"/>
                </a:solidFill>
                <a:latin typeface="Cambria"/>
              </a:rPr>
              <a:t>n</a:t>
            </a:r>
            <a:r>
              <a:rPr sz="2300" b="0" i="0">
                <a:solidFill>
                  <a:srgbClr val="1C252B"/>
                </a:solidFill>
                <a:latin typeface="Segoe UI"/>
              </a:rPr>
              <a:t> calls to Append cost </a:t>
            </a:r>
            <a:r>
              <a:rPr sz="2300" b="0" i="0">
                <a:solidFill>
                  <a:srgbClr val="1C252B"/>
                </a:solidFill>
                <a:latin typeface="Cambria"/>
              </a:rPr>
              <a:t>Θ(</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in total, so the amortised cost per append is </a:t>
            </a:r>
            <a:r>
              <a:rPr sz="2300" b="0" i="0">
                <a:solidFill>
                  <a:srgbClr val="1C252B"/>
                </a:solidFill>
                <a:latin typeface="Cambria"/>
              </a:rPr>
              <a:t>Θ(1)</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accounting method: pay in advance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138     </a:t>
            </a:r>
            <a:fld id="{B6832FC9-54E7-42DB-B685-178D38F02D16}"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612"/>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61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Charge each append </a:t>
            </a:r>
            <a:r>
              <a:rPr sz="2000" b="1" i="0">
                <a:solidFill>
                  <a:srgbClr val="1C252B"/>
                </a:solidFill>
                <a:latin typeface="Segoe UI"/>
              </a:rPr>
              <a:t>3 units</a:t>
            </a:r>
            <a:r>
              <a:rPr sz="2000" b="0" i="0">
                <a:solidFill>
                  <a:srgbClr val="1C252B"/>
                </a:solidFill>
                <a:latin typeface="Segoe UI"/>
              </a:rPr>
              <a:t> of amortised cost, and spend them like this:</a:t>
            </a:r>
          </a:p>
        </p:txBody>
      </p:sp>
      <p:sp>
        <p:nvSpPr>
          <p:cNvPr id="10" name="body-1"/>
          <p:cNvSpPr txBox="1"/>
          <p:nvPr/>
        </p:nvSpPr>
        <p:spPr>
          <a:xfrm>
            <a:off x="1060704" y="2504947"/>
            <a:ext cx="10161727" cy="1174496"/>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1F618D"/>
                </a:solidFill>
                <a:latin typeface="Segoe UI"/>
              </a:rPr>
              <a:t>•	</a:t>
            </a:r>
            <a:r>
              <a:rPr sz="2000" b="0" i="0">
                <a:solidFill>
                  <a:srgbClr val="1C252B"/>
                </a:solidFill>
                <a:latin typeface="Segoe UI"/>
              </a:rPr>
              <a:t>1 unit pays for writing the new element — the actual work;</a:t>
            </a:r>
          </a:p>
          <a:p>
            <a:pPr algn="l" marL="223631" indent="-223631">
              <a:lnSpc>
                <a:spcPct val="104000"/>
              </a:lnSpc>
              <a:spcBef>
                <a:spcPts val="0"/>
              </a:spcBef>
              <a:spcAft>
                <a:spcPts val="700"/>
              </a:spcAft>
            </a:pPr>
            <a:r>
              <a:rPr sz="2000" b="1">
                <a:solidFill>
                  <a:srgbClr val="1F618D"/>
                </a:solidFill>
                <a:latin typeface="Segoe UI"/>
              </a:rPr>
              <a:t>•	</a:t>
            </a:r>
            <a:r>
              <a:rPr sz="2000" b="0" i="0">
                <a:solidFill>
                  <a:srgbClr val="1C252B"/>
                </a:solidFill>
                <a:latin typeface="Segoe UI"/>
              </a:rPr>
              <a:t>1 unit is saved as </a:t>
            </a:r>
            <a:r>
              <a:rPr sz="2000" b="1" i="0">
                <a:solidFill>
                  <a:srgbClr val="1A5276"/>
                </a:solidFill>
                <a:latin typeface="Segoe UI"/>
              </a:rPr>
              <a:t>credit</a:t>
            </a:r>
            <a:r>
              <a:rPr sz="2000" b="0" i="0">
                <a:solidFill>
                  <a:srgbClr val="1C252B"/>
                </a:solidFill>
                <a:latin typeface="Segoe UI"/>
              </a:rPr>
              <a:t> on the new element;</a:t>
            </a:r>
          </a:p>
          <a:p>
            <a:pPr algn="l" marL="223631" indent="-223631">
              <a:lnSpc>
                <a:spcPct val="104000"/>
              </a:lnSpc>
              <a:spcBef>
                <a:spcPts val="0"/>
              </a:spcBef>
              <a:spcAft>
                <a:spcPts val="0"/>
              </a:spcAft>
            </a:pPr>
            <a:r>
              <a:rPr sz="2000" b="1">
                <a:solidFill>
                  <a:srgbClr val="1F618D"/>
                </a:solidFill>
                <a:latin typeface="Segoe UI"/>
              </a:rPr>
              <a:t>•	</a:t>
            </a:r>
            <a:r>
              <a:rPr sz="2000" b="0" i="0">
                <a:solidFill>
                  <a:srgbClr val="1C252B"/>
                </a:solidFill>
                <a:latin typeface="Segoe UI"/>
              </a:rPr>
              <a:t>1 unit is saved as credit on an element in the older half of the array.</a:t>
            </a:r>
          </a:p>
        </p:txBody>
      </p:sp>
      <p:sp>
        <p:nvSpPr>
          <p:cNvPr id="11" name="body-2"/>
          <p:cNvSpPr txBox="1"/>
          <p:nvPr/>
        </p:nvSpPr>
        <p:spPr>
          <a:xfrm>
            <a:off x="1060704" y="3773424"/>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When the array of capacity </a:t>
            </a:r>
            <a:r>
              <a:rPr sz="2000" b="0" i="1">
                <a:solidFill>
                  <a:srgbClr val="1C252B"/>
                </a:solidFill>
                <a:latin typeface="Cambria"/>
              </a:rPr>
              <a:t>m</a:t>
            </a:r>
            <a:r>
              <a:rPr sz="2000" b="0" i="0">
                <a:solidFill>
                  <a:srgbClr val="1C252B"/>
                </a:solidFill>
                <a:latin typeface="Segoe UI"/>
              </a:rPr>
              <a:t> fills, it last doubled at size </a:t>
            </a:r>
            <a:r>
              <a:rPr sz="2000" b="0" i="1">
                <a:solidFill>
                  <a:srgbClr val="1C252B"/>
                </a:solidFill>
                <a:latin typeface="Cambria"/>
              </a:rPr>
              <a:t>m</a:t>
            </a:r>
            <a:r>
              <a:rPr sz="2000" b="0" i="0">
                <a:solidFill>
                  <a:srgbClr val="1C252B"/>
                </a:solidFill>
                <a:latin typeface="Cambria"/>
              </a:rPr>
              <a:t>/2</a:t>
            </a:r>
            <a:r>
              <a:rPr sz="2000" b="0" i="0">
                <a:solidFill>
                  <a:srgbClr val="1C252B"/>
                </a:solidFill>
                <a:latin typeface="Segoe UI"/>
              </a:rPr>
              <a:t>, so the </a:t>
            </a:r>
            <a:r>
              <a:rPr sz="2000" b="0" i="1">
                <a:solidFill>
                  <a:srgbClr val="1C252B"/>
                </a:solidFill>
                <a:latin typeface="Cambria"/>
              </a:rPr>
              <a:t>m</a:t>
            </a:r>
            <a:r>
              <a:rPr sz="2000" b="0" i="0">
                <a:solidFill>
                  <a:srgbClr val="1C252B"/>
                </a:solidFill>
                <a:latin typeface="Cambria"/>
              </a:rPr>
              <a:t>/2</a:t>
            </a:r>
            <a:r>
              <a:rPr sz="2000" b="0" i="0">
                <a:solidFill>
                  <a:srgbClr val="1C252B"/>
                </a:solidFill>
                <a:latin typeface="Segoe UI"/>
              </a:rPr>
              <a:t> most recent elements have each saved 2 units: </a:t>
            </a:r>
            <a:r>
              <a:rPr sz="2000" b="0" i="1">
                <a:solidFill>
                  <a:srgbClr val="1C252B"/>
                </a:solidFill>
                <a:latin typeface="Cambria"/>
              </a:rPr>
              <a:t>m</a:t>
            </a:r>
            <a:r>
              <a:rPr sz="2000" b="0" i="0">
                <a:solidFill>
                  <a:srgbClr val="1C252B"/>
                </a:solidFill>
                <a:latin typeface="Segoe UI"/>
              </a:rPr>
              <a:t> units of credit in all, exactly enough to pay for copying </a:t>
            </a:r>
            <a:r>
              <a:rPr sz="2000" b="0" i="1">
                <a:solidFill>
                  <a:srgbClr val="1C252B"/>
                </a:solidFill>
                <a:latin typeface="Cambria"/>
              </a:rPr>
              <a:t>m</a:t>
            </a:r>
            <a:r>
              <a:rPr sz="2000" b="0" i="0">
                <a:solidFill>
                  <a:srgbClr val="1C252B"/>
                </a:solidFill>
                <a:latin typeface="Segoe UI"/>
              </a:rPr>
              <a:t> elements.</a:t>
            </a:r>
          </a:p>
        </p:txBody>
      </p:sp>
      <p:sp>
        <p:nvSpPr>
          <p:cNvPr id="12" name="body-3"/>
          <p:cNvSpPr txBox="1"/>
          <p:nvPr/>
        </p:nvSpPr>
        <p:spPr>
          <a:xfrm>
            <a:off x="1060704" y="4864100"/>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credit never goes negative, so the total charged (</a:t>
            </a:r>
            <a:r>
              <a:rPr sz="2000" b="0" i="0">
                <a:solidFill>
                  <a:srgbClr val="1C252B"/>
                </a:solidFill>
                <a:latin typeface="Cambria"/>
              </a:rPr>
              <a:t>3</a:t>
            </a:r>
            <a:r>
              <a:rPr sz="2000" b="0" i="1">
                <a:solidFill>
                  <a:srgbClr val="1C252B"/>
                </a:solidFill>
                <a:latin typeface="Cambria"/>
              </a:rPr>
              <a:t>n</a:t>
            </a:r>
            <a:r>
              <a:rPr sz="2000" b="0" i="0">
                <a:solidFill>
                  <a:srgbClr val="1C252B"/>
                </a:solidFill>
                <a:latin typeface="Segoe UI"/>
              </a:rPr>
              <a:t>) is an upper bound on the total spent, giving </a:t>
            </a:r>
            <a:r>
              <a:rPr sz="2000" b="0" i="0">
                <a:solidFill>
                  <a:srgbClr val="1C252B"/>
                </a:solidFill>
                <a:latin typeface="Cambria"/>
              </a:rPr>
              <a:t>O(1)</a:t>
            </a:r>
            <a:r>
              <a:rPr sz="2000" b="0" i="0">
                <a:solidFill>
                  <a:srgbClr val="1C252B"/>
                </a:solidFill>
                <a:latin typeface="Segoe UI"/>
              </a:rPr>
              <a:t> amortised. This is the same accounting a business does when it sets aside money each month against an annual bill.</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potential method: a bank balance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138     </a:t>
            </a:r>
            <a:fld id="{3D7132B2-9397-444D-89EC-93820AF0B14A}"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36863"/>
          </a:xfrm>
          <a:prstGeom prst="roundRect">
            <a:avLst>
              <a:gd name="adj" fmla="val 244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3686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Define a </a:t>
            </a:r>
            <a:r>
              <a:rPr sz="2100" b="1" i="0">
                <a:solidFill>
                  <a:srgbClr val="1A5276"/>
                </a:solidFill>
                <a:latin typeface="Segoe UI"/>
              </a:rPr>
              <a:t>potential function</a:t>
            </a:r>
            <a:r>
              <a:rPr sz="2100" b="0" i="0">
                <a:solidFill>
                  <a:srgbClr val="1C252B"/>
                </a:solidFill>
                <a:latin typeface="Segoe UI"/>
              </a:rPr>
              <a:t> </a:t>
            </a:r>
            <a:r>
              <a:rPr sz="2100" b="0" i="0">
                <a:solidFill>
                  <a:srgbClr val="1C252B"/>
                </a:solidFill>
                <a:latin typeface="Cambria"/>
              </a:rPr>
              <a:t>Φ</a:t>
            </a:r>
            <a:r>
              <a:rPr sz="2100" b="0" i="0">
                <a:solidFill>
                  <a:srgbClr val="1C252B"/>
                </a:solidFill>
                <a:latin typeface="Segoe UI"/>
              </a:rPr>
              <a:t> on the data structure’s state — roughly, how much trouble it is currently storing up. For the dynamic array,</a:t>
            </a:r>
          </a:p>
        </p:txBody>
      </p:sp>
      <p:pic>
        <p:nvPicPr>
          <p:cNvPr id="10" name="body-1" descr="\Phi = 2\,\mathit{len} - \mathit{ca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860624"/>
            <a:ext cx="10161727" cy="358719"/>
          </a:xfrm>
          <a:prstGeom prst="rect">
            <a:avLst/>
          </a:prstGeom>
        </p:spPr>
      </p:pic>
      <p:sp>
        <p:nvSpPr>
          <p:cNvPr id="11" name="body-2"/>
          <p:cNvSpPr txBox="1"/>
          <p:nvPr/>
        </p:nvSpPr>
        <p:spPr>
          <a:xfrm>
            <a:off x="1060704" y="3366028"/>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amortised cost of an operation is</a:t>
            </a:r>
          </a:p>
        </p:txBody>
      </p:sp>
      <p:pic>
        <p:nvPicPr>
          <p:cNvPr id="12" name="body-3" descr="\hat{c}_{i} = c_{i} + \Phi_{i} - \Phi_{i-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3845554"/>
            <a:ext cx="10161727" cy="358719"/>
          </a:xfrm>
          <a:prstGeom prst="rect">
            <a:avLst/>
          </a:prstGeom>
        </p:spPr>
      </p:pic>
      <p:sp>
        <p:nvSpPr>
          <p:cNvPr id="13" name="body-4"/>
          <p:cNvSpPr txBox="1"/>
          <p:nvPr/>
        </p:nvSpPr>
        <p:spPr>
          <a:xfrm>
            <a:off x="1060704" y="4350959"/>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its real cost plus the change in potential.</a:t>
            </a:r>
          </a:p>
        </p:txBody>
      </p:sp>
      <p:sp>
        <p:nvSpPr>
          <p:cNvPr id="14" name="body-5"/>
          <p:cNvSpPr txBox="1"/>
          <p:nvPr/>
        </p:nvSpPr>
        <p:spPr>
          <a:xfrm>
            <a:off x="1060704" y="483048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Cheap append</a:t>
            </a:r>
            <a:r>
              <a:rPr sz="2100" b="0" i="0">
                <a:solidFill>
                  <a:srgbClr val="1C252B"/>
                </a:solidFill>
                <a:latin typeface="Segoe UI"/>
              </a:rPr>
              <a:t> (no resize): </a:t>
            </a:r>
            <a:r>
              <a:rPr sz="2100" b="0" i="1">
                <a:solidFill>
                  <a:srgbClr val="1C252B"/>
                </a:solidFill>
                <a:latin typeface="Cambria"/>
              </a:rPr>
              <a:t>c</a:t>
            </a:r>
            <a:r>
              <a:rPr sz="1400" b="0" i="1" baseline="-25000">
                <a:solidFill>
                  <a:srgbClr val="1C252B"/>
                </a:solidFill>
                <a:latin typeface="Cambria"/>
              </a:rPr>
              <a:t>i</a:t>
            </a:r>
            <a:r>
              <a:rPr sz="2100" b="0" i="0">
                <a:solidFill>
                  <a:srgbClr val="1C252B"/>
                </a:solidFill>
                <a:latin typeface="Cambria"/>
              </a:rPr>
              <a:t> = 1</a:t>
            </a:r>
            <a:r>
              <a:rPr sz="2100" b="0" i="0">
                <a:solidFill>
                  <a:srgbClr val="1C252B"/>
                </a:solidFill>
                <a:latin typeface="Segoe UI"/>
              </a:rPr>
              <a:t>, </a:t>
            </a:r>
            <a:r>
              <a:rPr sz="2100" b="0" i="1">
                <a:solidFill>
                  <a:srgbClr val="1C252B"/>
                </a:solidFill>
                <a:latin typeface="Cambria"/>
              </a:rPr>
              <a:t>len</a:t>
            </a:r>
            <a:r>
              <a:rPr sz="2100" b="0" i="0">
                <a:solidFill>
                  <a:srgbClr val="1C252B"/>
                </a:solidFill>
                <a:latin typeface="Segoe UI"/>
              </a:rPr>
              <a:t> rises by 1 so </a:t>
            </a:r>
            <a:r>
              <a:rPr sz="2100" b="0" i="0">
                <a:solidFill>
                  <a:srgbClr val="1C252B"/>
                </a:solidFill>
                <a:latin typeface="Cambria"/>
              </a:rPr>
              <a:t>Φ</a:t>
            </a:r>
            <a:r>
              <a:rPr sz="2100" b="0" i="0">
                <a:solidFill>
                  <a:srgbClr val="1C252B"/>
                </a:solidFill>
                <a:latin typeface="Segoe UI"/>
              </a:rPr>
              <a:t> rises by 2, giving </a:t>
            </a:r>
            <a:r>
              <a:rPr sz="2100" b="0" i="1">
                <a:solidFill>
                  <a:srgbClr val="1C252B"/>
                </a:solidFill>
                <a:latin typeface="Cambria"/>
              </a:rPr>
              <a:t>ĉ</a:t>
            </a:r>
            <a:r>
              <a:rPr sz="1400" b="0" i="1" baseline="-25000">
                <a:solidFill>
                  <a:srgbClr val="1C252B"/>
                </a:solidFill>
                <a:latin typeface="Cambria"/>
              </a:rPr>
              <a:t>i</a:t>
            </a:r>
            <a:r>
              <a:rPr sz="2100" b="0" i="0">
                <a:solidFill>
                  <a:srgbClr val="1C252B"/>
                </a:solidFill>
                <a:latin typeface="Cambria"/>
              </a:rPr>
              <a:t> = 1 + 2 = 3</a:t>
            </a:r>
            <a:r>
              <a:rPr sz="2100" b="0" i="0">
                <a:solidFill>
                  <a:srgbClr val="1C252B"/>
                </a:solidFill>
                <a:latin typeface="Segoe UI"/>
              </a:rPr>
              <a: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potential method: a bank balance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138     </a:t>
            </a:r>
            <a:fld id="{A5A4BB2A-4BE9-4123-8319-CE88FFC739EC}"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38089"/>
          </a:xfrm>
          <a:prstGeom prst="roundRect">
            <a:avLst>
              <a:gd name="adj" fmla="val 311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3808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Expensive append</a:t>
            </a:r>
            <a:r>
              <a:rPr sz="2100" b="0" i="0">
                <a:solidFill>
                  <a:srgbClr val="1C252B"/>
                </a:solidFill>
                <a:latin typeface="Segoe UI"/>
              </a:rPr>
              <a:t> (resize from </a:t>
            </a:r>
            <a:r>
              <a:rPr sz="2100" b="0" i="1">
                <a:solidFill>
                  <a:srgbClr val="1C252B"/>
                </a:solidFill>
                <a:latin typeface="Cambria"/>
              </a:rPr>
              <a:t>m</a:t>
            </a:r>
            <a:r>
              <a:rPr sz="2100" b="0" i="0">
                <a:solidFill>
                  <a:srgbClr val="1C252B"/>
                </a:solidFill>
                <a:latin typeface="Segoe UI"/>
              </a:rPr>
              <a:t> to </a:t>
            </a:r>
            <a:r>
              <a:rPr sz="2100" b="0" i="0">
                <a:solidFill>
                  <a:srgbClr val="1C252B"/>
                </a:solidFill>
                <a:latin typeface="Cambria"/>
              </a:rPr>
              <a:t>2</a:t>
            </a:r>
            <a:r>
              <a:rPr sz="2100" b="0" i="1">
                <a:solidFill>
                  <a:srgbClr val="1C252B"/>
                </a:solidFill>
                <a:latin typeface="Cambria"/>
              </a:rPr>
              <a:t>m</a:t>
            </a:r>
            <a:r>
              <a:rPr sz="2100" b="0" i="0">
                <a:solidFill>
                  <a:srgbClr val="1C252B"/>
                </a:solidFill>
                <a:latin typeface="Segoe UI"/>
              </a:rPr>
              <a:t>, with </a:t>
            </a:r>
            <a:r>
              <a:rPr sz="2100" b="0" i="1">
                <a:solidFill>
                  <a:srgbClr val="1C252B"/>
                </a:solidFill>
                <a:latin typeface="Cambria"/>
              </a:rPr>
              <a:t>len</a:t>
            </a:r>
            <a:r>
              <a:rPr sz="2100" b="0" i="0">
                <a:solidFill>
                  <a:srgbClr val="1C252B"/>
                </a:solidFill>
                <a:latin typeface="Cambria"/>
              </a:rPr>
              <a:t> = </a:t>
            </a:r>
            <a:r>
              <a:rPr sz="2100" b="0" i="1">
                <a:solidFill>
                  <a:srgbClr val="1C252B"/>
                </a:solidFill>
                <a:latin typeface="Cambria"/>
              </a:rPr>
              <a:t>m</a:t>
            </a:r>
            <a:r>
              <a:rPr sz="2100" b="0" i="0">
                <a:solidFill>
                  <a:srgbClr val="1C252B"/>
                </a:solidFill>
                <a:latin typeface="Segoe UI"/>
              </a:rPr>
              <a:t> before): </a:t>
            </a:r>
            <a:r>
              <a:rPr sz="2100" b="0" i="1">
                <a:solidFill>
                  <a:srgbClr val="1C252B"/>
                </a:solidFill>
                <a:latin typeface="Cambria"/>
              </a:rPr>
              <a:t>c</a:t>
            </a:r>
            <a:r>
              <a:rPr sz="1400" b="0" i="1" baseline="-25000">
                <a:solidFill>
                  <a:srgbClr val="1C252B"/>
                </a:solidFill>
                <a:latin typeface="Cambria"/>
              </a:rPr>
              <a:t>i</a:t>
            </a:r>
            <a:r>
              <a:rPr sz="2100" b="0" i="0">
                <a:solidFill>
                  <a:srgbClr val="1C252B"/>
                </a:solidFill>
                <a:latin typeface="Cambria"/>
              </a:rPr>
              <a:t> = </a:t>
            </a:r>
            <a:r>
              <a:rPr sz="2100" b="0" i="1">
                <a:solidFill>
                  <a:srgbClr val="1C252B"/>
                </a:solidFill>
                <a:latin typeface="Cambria"/>
              </a:rPr>
              <a:t>m</a:t>
            </a:r>
            <a:r>
              <a:rPr sz="2100" b="0" i="0">
                <a:solidFill>
                  <a:srgbClr val="1C252B"/>
                </a:solidFill>
                <a:latin typeface="Cambria"/>
              </a:rPr>
              <a:t> + 1</a:t>
            </a:r>
            <a:r>
              <a:rPr sz="2100" b="0" i="0">
                <a:solidFill>
                  <a:srgbClr val="1C252B"/>
                </a:solidFill>
                <a:latin typeface="Segoe UI"/>
              </a:rPr>
              <a:t>. Before, </a:t>
            </a:r>
            <a:r>
              <a:rPr sz="2100" b="0" i="0">
                <a:solidFill>
                  <a:srgbClr val="1C252B"/>
                </a:solidFill>
                <a:latin typeface="Cambria"/>
              </a:rPr>
              <a:t>Φ = 2</a:t>
            </a:r>
            <a:r>
              <a:rPr sz="2100" b="0" i="1">
                <a:solidFill>
                  <a:srgbClr val="1C252B"/>
                </a:solidFill>
                <a:latin typeface="Cambria"/>
              </a:rPr>
              <a:t>m</a:t>
            </a:r>
            <a:r>
              <a:rPr sz="2100" b="0" i="0">
                <a:solidFill>
                  <a:srgbClr val="1C252B"/>
                </a:solidFill>
                <a:latin typeface="Cambria"/>
              </a:rPr>
              <a:t> − </a:t>
            </a:r>
            <a:r>
              <a:rPr sz="2100" b="0" i="1">
                <a:solidFill>
                  <a:srgbClr val="1C252B"/>
                </a:solidFill>
                <a:latin typeface="Cambria"/>
              </a:rPr>
              <a:t>m</a:t>
            </a:r>
            <a:r>
              <a:rPr sz="2100" b="0" i="0">
                <a:solidFill>
                  <a:srgbClr val="1C252B"/>
                </a:solidFill>
                <a:latin typeface="Cambria"/>
              </a:rPr>
              <a:t> = </a:t>
            </a:r>
            <a:r>
              <a:rPr sz="2100" b="0" i="1">
                <a:solidFill>
                  <a:srgbClr val="1C252B"/>
                </a:solidFill>
                <a:latin typeface="Cambria"/>
              </a:rPr>
              <a:t>m</a:t>
            </a:r>
            <a:r>
              <a:rPr sz="2100" b="0" i="0">
                <a:solidFill>
                  <a:srgbClr val="1C252B"/>
                </a:solidFill>
                <a:latin typeface="Segoe UI"/>
              </a:rPr>
              <a:t>; after, </a:t>
            </a:r>
            <a:r>
              <a:rPr sz="2100" b="0" i="0">
                <a:solidFill>
                  <a:srgbClr val="1C252B"/>
                </a:solidFill>
                <a:latin typeface="Cambria"/>
              </a:rPr>
              <a:t>Φ = 2(</a:t>
            </a:r>
            <a:r>
              <a:rPr sz="2100" b="0" i="1">
                <a:solidFill>
                  <a:srgbClr val="1C252B"/>
                </a:solidFill>
                <a:latin typeface="Cambria"/>
              </a:rPr>
              <a:t>m</a:t>
            </a:r>
            <a:r>
              <a:rPr sz="2100" b="0" i="0">
                <a:solidFill>
                  <a:srgbClr val="1C252B"/>
                </a:solidFill>
                <a:latin typeface="Cambria"/>
              </a:rPr>
              <a:t>+1) − 2</a:t>
            </a:r>
            <a:r>
              <a:rPr sz="2100" b="0" i="1">
                <a:solidFill>
                  <a:srgbClr val="1C252B"/>
                </a:solidFill>
                <a:latin typeface="Cambria"/>
              </a:rPr>
              <a:t>m</a:t>
            </a:r>
            <a:r>
              <a:rPr sz="2100" b="0" i="0">
                <a:solidFill>
                  <a:srgbClr val="1C252B"/>
                </a:solidFill>
                <a:latin typeface="Cambria"/>
              </a:rPr>
              <a:t> = 2</a:t>
            </a:r>
            <a:r>
              <a:rPr sz="2100" b="0" i="0">
                <a:solidFill>
                  <a:srgbClr val="1C252B"/>
                </a:solidFill>
                <a:latin typeface="Segoe UI"/>
              </a:rPr>
              <a:t>. So</a:t>
            </a:r>
          </a:p>
        </p:txBody>
      </p:sp>
      <p:pic>
        <p:nvPicPr>
          <p:cNvPr id="10" name="body-1" descr="\hat{c}_{i} = (m+1) + 2 - m =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860624"/>
            <a:ext cx="10161727" cy="358719"/>
          </a:xfrm>
          <a:prstGeom prst="rect">
            <a:avLst/>
          </a:prstGeom>
        </p:spPr>
      </p:pic>
      <p:sp>
        <p:nvSpPr>
          <p:cNvPr id="11" name="body-2"/>
          <p:cNvSpPr txBox="1"/>
          <p:nvPr/>
        </p:nvSpPr>
        <p:spPr>
          <a:xfrm>
            <a:off x="1060704" y="3366028"/>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Both cases give exactly 3.</a:t>
            </a:r>
            <a:r>
              <a:rPr sz="2100" b="0" i="0">
                <a:solidFill>
                  <a:srgbClr val="1C252B"/>
                </a:solidFill>
                <a:latin typeface="Segoe UI"/>
              </a:rPr>
              <a:t> The potential was built up by the cheap operations and spent by the expensive one. Since </a:t>
            </a:r>
            <a:r>
              <a:rPr sz="2100" b="0" i="0">
                <a:solidFill>
                  <a:srgbClr val="1C252B"/>
                </a:solidFill>
                <a:latin typeface="Cambria"/>
              </a:rPr>
              <a:t>Φ ≥ 0</a:t>
            </a:r>
            <a:r>
              <a:rPr sz="2100" b="0" i="0">
                <a:solidFill>
                  <a:srgbClr val="1C252B"/>
                </a:solidFill>
                <a:latin typeface="Segoe UI"/>
              </a:rPr>
              <a:t> always (the array is at least half full after any doubling) and </a:t>
            </a:r>
            <a:r>
              <a:rPr sz="2100" b="0" i="0">
                <a:solidFill>
                  <a:srgbClr val="1C252B"/>
                </a:solidFill>
                <a:latin typeface="Cambria"/>
              </a:rPr>
              <a:t>Φ</a:t>
            </a:r>
            <a:r>
              <a:rPr sz="1400" b="0" i="0" baseline="-25000">
                <a:solidFill>
                  <a:srgbClr val="1C252B"/>
                </a:solidFill>
                <a:latin typeface="Cambria"/>
              </a:rPr>
              <a:t>0</a:t>
            </a:r>
            <a:r>
              <a:rPr sz="2100" b="0" i="0">
                <a:solidFill>
                  <a:srgbClr val="1C252B"/>
                </a:solidFill>
                <a:latin typeface="Cambria"/>
              </a:rPr>
              <a:t> = 0</a:t>
            </a:r>
            <a:r>
              <a:rPr sz="2100" b="0" i="0">
                <a:solidFill>
                  <a:srgbClr val="1C252B"/>
                </a:solidFill>
                <a:latin typeface="Segoe UI"/>
              </a:rPr>
              <a:t>, the total real cost is at most the total amortised cost, </a:t>
            </a:r>
            <a:r>
              <a:rPr sz="2100" b="0" i="0">
                <a:solidFill>
                  <a:srgbClr val="1C252B"/>
                </a:solidFill>
                <a:latin typeface="Cambria"/>
              </a:rPr>
              <a:t>3</a:t>
            </a:r>
            <a:r>
              <a:rPr sz="2100" b="0" i="1">
                <a:solidFill>
                  <a:srgbClr val="1C252B"/>
                </a:solidFill>
                <a:latin typeface="Cambria"/>
              </a:rPr>
              <a:t>n</a:t>
            </a:r>
            <a:r>
              <a:rPr sz="21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potential method: a bank balance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138     </a:t>
            </a:r>
            <a:fld id="{3B255B43-CA08-402C-BCAC-728852BA23C4}"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86000"/>
          </a:xfrm>
          <a:prstGeom prst="roundRect">
            <a:avLst>
              <a:gd name="adj" fmla="val 400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860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Why bother with a third method?</a:t>
            </a:r>
            <a:r>
              <a:rPr sz="2100" b="0" i="0">
                <a:solidFill>
                  <a:srgbClr val="1C252B"/>
                </a:solidFill>
                <a:latin typeface="Segoe UI"/>
              </a:rPr>
              <a:t> Because the potential method is the one that generalises. The aggregate method needs you to see the whole sequence; the accounting method needs a story about who pays. The potential method needs only a function, and it is how the union–find bound in Chapter 19 and the Fibonacci heap bound in Chapter 20 are proved.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A Loose Bound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Three Methods, One Answer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17.3   Measured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Where Else This Pattern Appears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§17.3     </a:t>
            </a:r>
            <a:fld id="{E7B5B6AB-3A04-4593-9853-2DC04B1A22DE}" type="slidenum">
              <a:rPr lang="en-GB" sz="1000">
                <a:solidFill>
                  <a:srgbClr val="8795A1"/>
                </a:solidFill>
                <a:latin typeface="Segoe UI"/>
              </a:rPr>
              <a:t>18</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Total, Counted Exactly</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140     </a:t>
            </a:r>
            <a:fld id="{516ECC6A-2582-4531-A268-D4BA0165917D}"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36815"/>
          </a:xfrm>
          <a:prstGeom prst="roundRect">
            <a:avLst>
              <a:gd name="adj" fmla="val 20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3681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500" b="0" i="0">
                <a:solidFill>
                  <a:srgbClr val="1F4E79"/>
                </a:solidFill>
                <a:latin typeface="Consolas"/>
              </a:rPr>
              <a:t>code/ch17_amortised.cpp</a:t>
            </a:r>
            <a:r>
              <a:rPr sz="1600" b="0" i="0">
                <a:solidFill>
                  <a:srgbClr val="1C252B"/>
                </a:solidFill>
                <a:latin typeface="Segoe UI"/>
              </a:rPr>
              <a:t> counts every element copy.</a:t>
            </a:r>
          </a:p>
        </p:txBody>
      </p:sp>
      <p:graphicFrame>
        <p:nvGraphicFramePr>
          <p:cNvPr id="10" name="body-1"/>
          <p:cNvGraphicFramePr>
            <a:graphicFrameLocks noGrp="1"/>
          </p:cNvGraphicFramePr>
          <p:nvPr/>
        </p:nvGraphicFramePr>
        <p:xfrm>
          <a:off x="1042416" y="2377033"/>
          <a:ext cx="5587486" cy="1722120"/>
        </p:xfrm>
        <a:graphic>
          <a:graphicData uri="http://schemas.openxmlformats.org/drawingml/2006/table">
            <a:tbl>
              <a:tblPr firstRow="0" bandRow="0" firstCol="0" lastRow="0" lastCol="0" bandCol="0">
                <a:tableStyleId>{2D5ABB26-0587-4C30-8999-92F81FD0307C}</a:tableStyleId>
              </a:tblPr>
              <a:tblGrid>
                <a:gridCol w="746418"/>
                <a:gridCol w="1518878"/>
                <a:gridCol w="655649"/>
                <a:gridCol w="1839000"/>
                <a:gridCol w="827541"/>
              </a:tblGrid>
              <a:tr h="344424">
                <a:tc>
                  <a:txBody>
                    <a:bodyPr wrap="square"/>
                    <a:lstStyle/>
                    <a:p>
                      <a:pPr algn="r"/>
                      <a:r>
                        <a:rPr sz="1300" b="1" i="1">
                          <a:solidFill>
                            <a:srgbClr val="1A5276"/>
                          </a:solidFill>
                          <a:latin typeface="Cambria"/>
                        </a:rPr>
                        <a:t>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doubling copies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Cambria"/>
                        </a:rPr>
                        <a:t>/</a:t>
                      </a:r>
                      <a:r>
                        <a:rPr sz="1300" b="1" i="1">
                          <a:solidFill>
                            <a:srgbClr val="1A5276"/>
                          </a:solidFill>
                          <a:latin typeface="Cambria"/>
                        </a:rPr>
                        <a:t>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grow-by-one copies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Cambria"/>
                        </a:rPr>
                        <a:t>/(</a:t>
                      </a:r>
                      <a:r>
                        <a:rPr sz="1300" b="1" i="1">
                          <a:solidFill>
                            <a:srgbClr val="1A5276"/>
                          </a:solidFill>
                          <a:latin typeface="Cambria"/>
                        </a:rPr>
                        <a:t>n</a:t>
                      </a:r>
                      <a:r>
                        <a:rPr sz="850" b="1" i="0" baseline="30000">
                          <a:solidFill>
                            <a:srgbClr val="1A5276"/>
                          </a:solidFill>
                          <a:latin typeface="Cambria"/>
                        </a:rPr>
                        <a:t>2</a:t>
                      </a:r>
                      <a:r>
                        <a:rPr sz="1300" b="1" i="0">
                          <a:solidFill>
                            <a:srgbClr val="1A5276"/>
                          </a:solidFill>
                          <a:latin typeface="Cambria"/>
                        </a:rPr>
                        <a:t>/2)</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r"/>
                      <a:r>
                        <a:rPr sz="1300" b="0" i="0">
                          <a:solidFill>
                            <a:srgbClr val="1C252B"/>
                          </a:solidFill>
                          <a:latin typeface="Segoe UI"/>
                        </a:rPr>
                        <a:t>1,000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1,023</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1.023</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499,500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0.9990</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8,000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8,191</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1.024</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31,996,000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0.9999</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r"/>
                      <a:r>
                        <a:rPr sz="1300" b="0" i="0">
                          <a:solidFill>
                            <a:srgbClr val="1C252B"/>
                          </a:solidFill>
                          <a:latin typeface="Segoe UI"/>
                        </a:rPr>
                        <a:t>32,000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32,767</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1.024</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511,984,000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1.0000</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64,000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65,535</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1.024</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2,047,968,000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1.0000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pic>
        <p:nvPicPr>
          <p:cNvPr id="11" name="body-2" descr="Doubling: copies/n is 1.024, flat. Theorem 17.1 predicted under 2; the actual constant is just over 1, because Σk&lt; lg n 2k = n−1 when n is a power of two."/>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210913"/>
            <a:ext cx="10234879" cy="529346"/>
          </a:xfrm>
          <a:prstGeom prst="rect">
            <a:avLst/>
          </a:prstGeom>
        </p:spPr>
      </p:pic>
      <p:pic>
        <p:nvPicPr>
          <p:cNvPr id="12" name="body-3" descr="Grow-by-one: exactly n2/2. The quotient is 0.9990 → 1.0000, confirming Σk=1n−1 k = n(n−1)/2 to four decimal pla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852019"/>
            <a:ext cx="10234879" cy="528888"/>
          </a:xfrm>
          <a:prstGeom prst="rect">
            <a:avLst/>
          </a:prstGeom>
        </p:spPr>
      </p:pic>
      <p:sp>
        <p:nvSpPr>
          <p:cNvPr id="13" name="body-4"/>
          <p:cNvSpPr txBox="1"/>
          <p:nvPr/>
        </p:nvSpPr>
        <p:spPr>
          <a:xfrm>
            <a:off x="1042416" y="5492668"/>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So the </a:t>
            </a:r>
            <a:r>
              <a:rPr sz="1600" b="1" i="0">
                <a:solidFill>
                  <a:srgbClr val="1C252B"/>
                </a:solidFill>
                <a:latin typeface="Cambria"/>
              </a:rPr>
              <a:t>Θ(</a:t>
            </a:r>
            <a:r>
              <a:rPr sz="1600" b="1" i="1">
                <a:solidFill>
                  <a:srgbClr val="1C252B"/>
                </a:solidFill>
                <a:latin typeface="Cambria"/>
              </a:rPr>
              <a:t>n</a:t>
            </a:r>
            <a:r>
              <a:rPr sz="1050" b="1" i="0" baseline="30000">
                <a:solidFill>
                  <a:srgbClr val="1C252B"/>
                </a:solidFill>
                <a:latin typeface="Cambria"/>
              </a:rPr>
              <a:t>2</a:t>
            </a:r>
            <a:r>
              <a:rPr sz="1600" b="1" i="0">
                <a:solidFill>
                  <a:srgbClr val="1C252B"/>
                </a:solidFill>
                <a:latin typeface="Cambria"/>
              </a:rPr>
              <a:t>)</a:t>
            </a:r>
            <a:r>
              <a:rPr sz="1600" b="1" i="0">
                <a:solidFill>
                  <a:srgbClr val="1C252B"/>
                </a:solidFill>
                <a:latin typeface="Segoe UI"/>
              </a:rPr>
              <a:t> bound was not paranoia</a:t>
            </a:r>
            <a:r>
              <a:rPr sz="1600" b="0" i="0">
                <a:solidFill>
                  <a:srgbClr val="1C252B"/>
                </a:solidFill>
                <a:latin typeface="Segoe UI"/>
              </a:rPr>
              <a:t> — it is exactly right for the wrong growth policy. What amortised analysis shows is that it is </a:t>
            </a:r>
            <a:r>
              <a:rPr sz="1600" b="0" i="1">
                <a:solidFill>
                  <a:srgbClr val="1C252B"/>
                </a:solidFill>
                <a:latin typeface="Segoe UI"/>
              </a:rPr>
              <a:t>not</a:t>
            </a:r>
            <a:r>
              <a:rPr sz="1600" b="0" i="0">
                <a:solidFill>
                  <a:srgbClr val="1C252B"/>
                </a:solidFill>
                <a:latin typeface="Segoe UI"/>
              </a:rPr>
              <a:t> right for doubling, and the difference between the two policies is one line of code.</a:t>
            </a:r>
          </a:p>
        </p:txBody>
      </p:sp>
      <p:sp>
        <p:nvSpPr>
          <p:cNvPr id="14" name="body-4bar">
            <a:extLst>
              <a:ext uri="{C183D7F6-B498-43B3-948B-1728B52AA6E4}">
                <adec:decorative xmlns:adec="http://schemas.microsoft.com/office/drawing/2017/decorative" val="1"/>
              </a:ext>
            </a:extLst>
          </p:cNvPr>
          <p:cNvSpPr/>
          <p:nvPr/>
        </p:nvSpPr>
        <p:spPr>
          <a:xfrm>
            <a:off x="841248" y="5510956"/>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Amortised O(1) Does Not Mean Every Operation Is Fast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140     </a:t>
            </a:r>
            <a:fld id="{6163592B-E0D1-410F-A8D7-EFF525B5C9F2}"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8505"/>
          </a:xfrm>
          <a:prstGeom prst="roundRect">
            <a:avLst>
              <a:gd name="adj" fmla="val 205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85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One million appends, doubling:</a:t>
            </a:r>
          </a:p>
        </p:txBody>
      </p:sp>
      <p:graphicFrame>
        <p:nvGraphicFramePr>
          <p:cNvPr id="10" name="body-1"/>
          <p:cNvGraphicFramePr>
            <a:graphicFrameLocks noGrp="1"/>
          </p:cNvGraphicFramePr>
          <p:nvPr/>
        </p:nvGraphicFramePr>
        <p:xfrm>
          <a:off x="1042416" y="2445537"/>
          <a:ext cx="6328940" cy="2731008"/>
        </p:xfrm>
        <a:graphic>
          <a:graphicData uri="http://schemas.openxmlformats.org/drawingml/2006/table">
            <a:tbl>
              <a:tblPr firstRow="0" bandRow="0" firstCol="0" lastRow="0" lastCol="0" bandCol="0">
                <a:tableStyleId>{2D5ABB26-0587-4C30-8999-92F81FD0307C}</a:tableStyleId>
              </a:tblPr>
              <a:tblGrid>
                <a:gridCol w="3414126"/>
                <a:gridCol w="2914814"/>
              </a:tblGrid>
              <a:tr h="390144">
                <a:tc>
                  <a:txBody>
                    <a:bodyPr wrap="square"/>
                    <a:lstStyle/>
                    <a:p>
                      <a:pPr algn="l"/>
                      <a:r>
                        <a:rPr sz="1600" b="1" i="0">
                          <a:solidFill>
                            <a:srgbClr val="1A5276"/>
                          </a:solidFill>
                          <a:latin typeface="Segoe UI"/>
                        </a:rPr>
                        <a:t>quantity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value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appends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1,000,000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reallocations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appends that copied anything</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 (0.0020%)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total copies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1,048,575 (1.049 per append)</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1" i="0">
                          <a:solidFill>
                            <a:srgbClr val="1C252B"/>
                          </a:solidFill>
                          <a:latin typeface="Segoe UI"/>
                        </a:rPr>
                        <a:t>most expensive single append</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524,288 copies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worst case </a:t>
                      </a:r>
                      <a:r>
                        <a:rPr sz="1600" b="0" i="0">
                          <a:solidFill>
                            <a:srgbClr val="1C252B"/>
                          </a:solidFill>
                          <a:latin typeface="Cambria"/>
                        </a:rPr>
                        <a:t>×  </a:t>
                      </a:r>
                      <a:r>
                        <a:rPr sz="1600" b="0" i="1">
                          <a:solidFill>
                            <a:srgbClr val="1C252B"/>
                          </a:solidFill>
                          <a:latin typeface="Cambria"/>
                        </a:rPr>
                        <a:t>n</a:t>
                      </a:r>
                      <a:r>
                        <a:rPr sz="1600" b="0" i="0">
                          <a:solidFill>
                            <a:srgbClr val="1C252B"/>
                          </a:solidFill>
                          <a:latin typeface="Segoe UI"/>
                        </a:rPr>
                        <a:t> (the useless bound)</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524,288,000,000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530926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 the last two rows together.</a:t>
            </a:r>
            <a:r>
              <a:rPr sz="1900" b="0" i="0">
                <a:solidFill>
                  <a:srgbClr val="1C252B"/>
                </a:solidFill>
                <a:latin typeface="Segoe UI"/>
              </a:rPr>
              <a:t> The amortised cost is 1.049 copies per append. The worst single append copied 524,288 elements — half a million times the amortised figure.</a:t>
            </a:r>
          </a:p>
        </p:txBody>
      </p:sp>
      <p:sp>
        <p:nvSpPr>
          <p:cNvPr id="12" name="body-2bar">
            <a:extLst>
              <a:ext uri="{C183D7F6-B498-43B3-948B-1728B52AA6E4}">
                <adec:decorative xmlns:adec="http://schemas.microsoft.com/office/drawing/2017/decorative" val="1"/>
              </a:ext>
            </a:extLst>
          </p:cNvPr>
          <p:cNvSpPr/>
          <p:nvPr/>
        </p:nvSpPr>
        <p:spPr>
          <a:xfrm>
            <a:off x="841248" y="532754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Amortised O(1) Does Not Mean Every Operation Is Fast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140     </a:t>
            </a:r>
            <a:fld id="{E048EA90-F002-4C0B-8292-5D0AEB2829A7}"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6636"/>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6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Both numbers are true and they describe different things.</a:t>
            </a:r>
            <a:r>
              <a:rPr sz="1900" b="0" i="0">
                <a:solidFill>
                  <a:srgbClr val="1C252B"/>
                </a:solidFill>
                <a:latin typeface="Segoe UI"/>
              </a:rPr>
              <a:t> If you are computing throughput, 1.049 is the number you want. If you are meeting a latency budget — a frame deadline, an interrupt handler, a trading system — then 1.049 is irrelevant and 524,288 is the number that will end your career.</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This is the chapter’s main caution.</a:t>
            </a:r>
            <a:r>
              <a:rPr sz="1900" b="0" i="0">
                <a:solidFill>
                  <a:srgbClr val="1C252B"/>
                </a:solidFill>
                <a:latin typeface="Segoe UI"/>
              </a:rPr>
              <a:t> Amortised </a:t>
            </a:r>
            <a:r>
              <a:rPr sz="1900" b="0" i="0">
                <a:solidFill>
                  <a:srgbClr val="1C252B"/>
                </a:solidFill>
                <a:latin typeface="Cambria"/>
              </a:rPr>
              <a:t>O(1)</a:t>
            </a:r>
            <a:r>
              <a:rPr sz="1900" b="0" i="0">
                <a:solidFill>
                  <a:srgbClr val="1C252B"/>
                </a:solidFill>
                <a:latin typeface="Segoe UI"/>
              </a:rPr>
              <a:t> is a guarantee about totals. When individual operations must be bounded, the answer is a different structure — an incrementally resized array that copies a few elements on every append, trading a worse constant for a real worst-case bound.</a:t>
            </a:r>
          </a:p>
        </p:txBody>
      </p:sp>
      <p:sp>
        <p:nvSpPr>
          <p:cNvPr id="12" name="body-1bar">
            <a:extLst>
              <a:ext uri="{C183D7F6-B498-43B3-948B-1728B52AA6E4}">
                <adec:decorative xmlns:adec="http://schemas.microsoft.com/office/drawing/2017/decorative" val="1"/>
              </a:ext>
            </a:extLst>
          </p:cNvPr>
          <p:cNvSpPr/>
          <p:nvPr/>
        </p:nvSpPr>
        <p:spPr>
          <a:xfrm>
            <a:off x="841248" y="336725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68624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note how rare the expensive ones are:</a:t>
            </a:r>
            <a:r>
              <a:rPr sz="1900" b="0" i="0">
                <a:solidFill>
                  <a:srgbClr val="1C252B"/>
                </a:solidFill>
                <a:latin typeface="Segoe UI"/>
              </a:rPr>
              <a:t> 20 of a million appends, 0.002%. A latency histogram with 1,000 samples would very likely contain none of them, and the system would look fine until it was not.</a:t>
            </a:r>
          </a:p>
        </p:txBody>
      </p:sp>
      <p:sp>
        <p:nvSpPr>
          <p:cNvPr id="14" name="body-2bar">
            <a:extLst>
              <a:ext uri="{C183D7F6-B498-43B3-948B-1728B52AA6E4}">
                <adec:decorative xmlns:adec="http://schemas.microsoft.com/office/drawing/2017/decorative" val="1"/>
              </a:ext>
            </a:extLst>
          </p:cNvPr>
          <p:cNvSpPr/>
          <p:nvPr/>
        </p:nvSpPr>
        <p:spPr>
          <a:xfrm>
            <a:off x="841248" y="470453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Growth Factor Is a Real Decision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140     </a:t>
            </a:r>
            <a:fld id="{1F48F6F3-6F35-4E26-8781-4A3E54F83E2D}"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8505"/>
          </a:xfrm>
          <a:prstGeom prst="roundRect">
            <a:avLst>
              <a:gd name="adj" fmla="val 205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85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n</a:t>
            </a:r>
            <a:r>
              <a:rPr sz="1900" b="0" i="0">
                <a:solidFill>
                  <a:srgbClr val="1C252B"/>
                </a:solidFill>
                <a:latin typeface="Cambria"/>
              </a:rPr>
              <a:t> = 1,000,000</a:t>
            </a:r>
            <a:r>
              <a:rPr sz="1900" b="0" i="0">
                <a:solidFill>
                  <a:srgbClr val="1C252B"/>
                </a:solidFill>
                <a:latin typeface="Segoe UI"/>
              </a:rPr>
              <a:t> appends under different growth factors:</a:t>
            </a:r>
          </a:p>
        </p:txBody>
      </p:sp>
      <p:graphicFrame>
        <p:nvGraphicFramePr>
          <p:cNvPr id="10" name="body-1"/>
          <p:cNvGraphicFramePr>
            <a:graphicFrameLocks noGrp="1"/>
          </p:cNvGraphicFramePr>
          <p:nvPr/>
        </p:nvGraphicFramePr>
        <p:xfrm>
          <a:off x="1042416" y="2445537"/>
          <a:ext cx="5398775" cy="2731008"/>
        </p:xfrm>
        <a:graphic>
          <a:graphicData uri="http://schemas.openxmlformats.org/drawingml/2006/table">
            <a:tbl>
              <a:tblPr firstRow="0" bandRow="0" firstCol="0" lastRow="0" lastCol="0" bandCol="0">
                <a:tableStyleId>{2D5ABB26-0587-4C30-8999-92F81FD0307C}</a:tableStyleId>
              </a:tblPr>
              <a:tblGrid>
                <a:gridCol w="836150"/>
                <a:gridCol w="1388302"/>
                <a:gridCol w="1370697"/>
                <a:gridCol w="1803626"/>
              </a:tblGrid>
              <a:tr h="390144">
                <a:tc>
                  <a:txBody>
                    <a:bodyPr wrap="square"/>
                    <a:lstStyle/>
                    <a:p>
                      <a:pPr algn="r"/>
                      <a:r>
                        <a:rPr sz="1600" b="1" i="0">
                          <a:solidFill>
                            <a:srgbClr val="1A5276"/>
                          </a:solidFill>
                          <a:latin typeface="Segoe UI"/>
                        </a:rPr>
                        <a:t>factor</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total copies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per append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wasted capacity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10,170,704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10.171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1.7%</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1.25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4,489,047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4.489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12.2%</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1.50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2,099,753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5.0%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1,048,575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1.049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797,161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0.797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59.4%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349,525</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0.350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4.9%</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530926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Every factor above 1 gives </a:t>
            </a:r>
            <a:r>
              <a:rPr sz="1900" b="1" i="0">
                <a:solidFill>
                  <a:srgbClr val="1C252B"/>
                </a:solidFill>
                <a:latin typeface="Cambria"/>
              </a:rPr>
              <a:t>Θ(1)</a:t>
            </a:r>
            <a:r>
              <a:rPr sz="1900" b="1" i="0">
                <a:solidFill>
                  <a:srgbClr val="1C252B"/>
                </a:solidFill>
                <a:latin typeface="Segoe UI"/>
              </a:rPr>
              <a:t> amortised</a:t>
            </a:r>
            <a:r>
              <a:rPr sz="1900" b="0" i="0">
                <a:solidFill>
                  <a:srgbClr val="1C252B"/>
                </a:solidFill>
                <a:latin typeface="Segoe UI"/>
              </a:rPr>
              <a:t> — the sum is geometric with ratio </a:t>
            </a:r>
            <a:r>
              <a:rPr sz="1900" b="0" i="0">
                <a:solidFill>
                  <a:srgbClr val="1C252B"/>
                </a:solidFill>
                <a:latin typeface="Cambria"/>
              </a:rPr>
              <a:t>1/</a:t>
            </a:r>
            <a:r>
              <a:rPr sz="1900" b="0" i="1">
                <a:solidFill>
                  <a:srgbClr val="1C252B"/>
                </a:solidFill>
                <a:latin typeface="Cambria"/>
              </a:rPr>
              <a:t>f</a:t>
            </a:r>
            <a:r>
              <a:rPr sz="1900" b="0" i="0">
                <a:solidFill>
                  <a:srgbClr val="1C252B"/>
                </a:solidFill>
                <a:latin typeface="Segoe UI"/>
              </a:rPr>
              <a:t> and converges for any </a:t>
            </a:r>
            <a:r>
              <a:rPr sz="1900" b="0" i="1">
                <a:solidFill>
                  <a:srgbClr val="1C252B"/>
                </a:solidFill>
                <a:latin typeface="Cambria"/>
              </a:rPr>
              <a:t>f</a:t>
            </a:r>
            <a:r>
              <a:rPr sz="1900" b="0" i="0">
                <a:solidFill>
                  <a:srgbClr val="1C252B"/>
                </a:solidFill>
                <a:latin typeface="Cambria"/>
              </a:rPr>
              <a:t> &gt; 1</a:t>
            </a:r>
            <a:r>
              <a:rPr sz="1900" b="0" i="0">
                <a:solidFill>
                  <a:srgbClr val="1C252B"/>
                </a:solidFill>
                <a:latin typeface="Segoe UI"/>
              </a:rPr>
              <a:t>. The asymptotics cannot distinguish these rows at all.</a:t>
            </a:r>
          </a:p>
        </p:txBody>
      </p:sp>
      <p:sp>
        <p:nvSpPr>
          <p:cNvPr id="12" name="body-2bar">
            <a:extLst>
              <a:ext uri="{C183D7F6-B498-43B3-948B-1728B52AA6E4}">
                <adec:decorative xmlns:adec="http://schemas.microsoft.com/office/drawing/2017/decorative" val="1"/>
              </a:ext>
            </a:extLst>
          </p:cNvPr>
          <p:cNvSpPr/>
          <p:nvPr/>
        </p:nvSpPr>
        <p:spPr>
          <a:xfrm>
            <a:off x="841248" y="532754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Growth Factor Is a Real Decision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140     </a:t>
            </a:r>
            <a:fld id="{93EC8132-65E8-43A9-8C96-26C6FA17096C}"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91636"/>
          </a:xfrm>
          <a:prstGeom prst="roundRect">
            <a:avLst>
              <a:gd name="adj" fmla="val 269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91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distinguishes them is the constant and the memory.</a:t>
            </a:r>
            <a:r>
              <a:rPr sz="1900" b="0" i="0">
                <a:solidFill>
                  <a:srgbClr val="1C252B"/>
                </a:solidFill>
                <a:latin typeface="Segoe UI"/>
              </a:rPr>
              <a:t> A factor of 1.1 does ten times as much copying as doubling; a factor of 3 wastes 59% of its memory at this particular </a:t>
            </a:r>
            <a:r>
              <a:rPr sz="1900" b="0" i="1">
                <a:solidFill>
                  <a:srgbClr val="1C252B"/>
                </a:solidFill>
                <a:latin typeface="Cambria"/>
              </a:rPr>
              <a:t>n</a:t>
            </a:r>
            <a:r>
              <a:rPr sz="1900" b="0" i="0">
                <a:solidFill>
                  <a:srgbClr val="1C252B"/>
                </a:solidFill>
                <a:latin typeface="Segoe UI"/>
              </a:rPr>
              <a:t>. (The waste figures are lumpy because they depend on where </a:t>
            </a:r>
            <a:r>
              <a:rPr sz="1900" b="0" i="1">
                <a:solidFill>
                  <a:srgbClr val="1C252B"/>
                </a:solidFill>
                <a:latin typeface="Cambria"/>
              </a:rPr>
              <a:t>n</a:t>
            </a:r>
            <a:r>
              <a:rPr sz="1900" b="0" i="0">
                <a:solidFill>
                  <a:srgbClr val="1C252B"/>
                </a:solidFill>
                <a:latin typeface="Segoe UI"/>
              </a:rPr>
              <a:t> falls relative to the growth sequence — 2.0 and 4.0 both land near a power of two here.)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Several standard libraries use 1.5 rather than 2</a:t>
            </a:r>
            <a:r>
              <a:rPr sz="1900" b="0" i="0">
                <a:solidFill>
                  <a:srgbClr val="1C252B"/>
                </a:solidFill>
                <a:latin typeface="Segoe UI"/>
              </a:rPr>
              <a:t>, and the reason is not in this table: with a factor of 2, the new block is always larger than the sum of all previously freed blocks, so the allocator can never reuse them. With 1.5 it eventually can. That is an argument about the allocator, not about the algorithm, and it is a good example of a decision that asymptotic analysis cannot reach.</a:t>
            </a:r>
          </a:p>
        </p:txBody>
      </p:sp>
      <p:sp>
        <p:nvSpPr>
          <p:cNvPr id="12" name="body-1bar">
            <a:extLst>
              <a:ext uri="{C183D7F6-B498-43B3-948B-1728B52AA6E4}">
                <adec:decorative xmlns:adec="http://schemas.microsoft.com/office/drawing/2017/decorative" val="1"/>
              </a:ext>
            </a:extLst>
          </p:cNvPr>
          <p:cNvSpPr/>
          <p:nvPr/>
        </p:nvSpPr>
        <p:spPr>
          <a:xfrm>
            <a:off x="841248" y="3367252"/>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in Seconds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140     </a:t>
            </a:r>
            <a:fld id="{A594A126-CBB4-450B-B10B-ED1D1A6A8271}"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71644"/>
          </a:xfrm>
          <a:prstGeom prst="roundRect">
            <a:avLst>
              <a:gd name="adj" fmla="val 200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716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6576154" cy="1950720"/>
        </p:xfrm>
        <a:graphic>
          <a:graphicData uri="http://schemas.openxmlformats.org/drawingml/2006/table">
            <a:tbl>
              <a:tblPr firstRow="0" bandRow="0" firstCol="0" lastRow="0" lastCol="0" bandCol="0">
                <a:tableStyleId>{2D5ABB26-0587-4C30-8999-92F81FD0307C}</a:tableStyleId>
              </a:tblPr>
              <a:tblGrid>
                <a:gridCol w="1239706"/>
                <a:gridCol w="1627497"/>
                <a:gridCol w="716158"/>
                <a:gridCol w="971300"/>
                <a:gridCol w="2021493"/>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doubling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grow-by-one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84.1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4,000,000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14.7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350.5</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16,000,000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58.2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1,432.8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32,000,000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119.3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2.05</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160,000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5,759.3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42416" y="409511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Doubling’s ratios average 2.03 — linear. Grow-by-one’s average 4.09 — quadratic. At </a:t>
            </a:r>
            <a:r>
              <a:rPr sz="1900" b="0" i="1">
                <a:solidFill>
                  <a:srgbClr val="1C252B"/>
                </a:solidFill>
                <a:latin typeface="Cambria"/>
              </a:rPr>
              <a:t>n</a:t>
            </a:r>
            <a:r>
              <a:rPr sz="1900" b="0" i="0">
                <a:solidFill>
                  <a:srgbClr val="1C252B"/>
                </a:solidFill>
                <a:latin typeface="Cambria"/>
              </a:rPr>
              <a:t> = 160,000</a:t>
            </a:r>
            <a:r>
              <a:rPr sz="1900" b="0" i="0">
                <a:solidFill>
                  <a:srgbClr val="1C252B"/>
                </a:solidFill>
                <a:latin typeface="Segoe UI"/>
              </a:rPr>
              <a:t> the grow-by-one version takes 5.8 seconds; the doubling version handles 32 million elements in 119 milliseconds.</a:t>
            </a:r>
          </a:p>
        </p:txBody>
      </p:sp>
      <p:sp>
        <p:nvSpPr>
          <p:cNvPr id="11" name="body-2"/>
          <p:cNvSpPr txBox="1"/>
          <p:nvPr/>
        </p:nvSpPr>
        <p:spPr>
          <a:xfrm>
            <a:off x="1042416" y="513125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Note the two columns use different ranges of </a:t>
            </a:r>
            <a:r>
              <a:rPr sz="1900" b="0" i="1">
                <a:solidFill>
                  <a:srgbClr val="1C252B"/>
                </a:solidFill>
                <a:latin typeface="Cambria"/>
              </a:rPr>
              <a:t>n</a:t>
            </a:r>
            <a:r>
              <a:rPr sz="1900" b="0" i="0">
                <a:solidFill>
                  <a:srgbClr val="1C252B"/>
                </a:solidFill>
                <a:latin typeface="Segoe UI"/>
              </a:rPr>
              <a:t>. Doubling at </a:t>
            </a:r>
            <a:r>
              <a:rPr sz="1900" b="0" i="1">
                <a:solidFill>
                  <a:srgbClr val="1C252B"/>
                </a:solidFill>
                <a:latin typeface="Cambria"/>
              </a:rPr>
              <a:t>n</a:t>
            </a:r>
            <a:r>
              <a:rPr sz="1900" b="0" i="0">
                <a:solidFill>
                  <a:srgbClr val="1C252B"/>
                </a:solidFill>
                <a:latin typeface="Cambria"/>
              </a:rPr>
              <a:t> = 160,000</a:t>
            </a:r>
            <a:r>
              <a:rPr sz="1900" b="0" i="0">
                <a:solidFill>
                  <a:srgbClr val="1C252B"/>
                </a:solidFill>
                <a:latin typeface="Segoe UI"/>
              </a:rPr>
              <a:t> takes under a millisecond, which is too small to measure — the first version of this experiment reported ratios of 0.92, 1.19, 1.81 and 4.04 for a linear algorithm, all of it noise.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list worth keeping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EEC9041F-802B-4D7B-AF49-DF8AC4F5AABD}"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24248"/>
          </a:xfrm>
          <a:prstGeom prst="roundRect">
            <a:avLst>
              <a:gd name="adj" fmla="val 202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2424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6421447" cy="2410968"/>
        </p:xfrm>
        <a:graphic>
          <a:graphicData uri="http://schemas.openxmlformats.org/drawingml/2006/table">
            <a:tbl>
              <a:tblPr firstRow="0" bandRow="0" firstCol="0" lastRow="0" lastCol="0" bandCol="0">
                <a:tableStyleId>{2D5ABB26-0587-4C30-8999-92F81FD0307C}</a:tableStyleId>
              </a:tblPr>
              <a:tblGrid>
                <a:gridCol w="1997948"/>
                <a:gridCol w="1531360"/>
                <a:gridCol w="1351200"/>
                <a:gridCol w="1540939"/>
              </a:tblGrid>
              <a:tr h="344424">
                <a:tc>
                  <a:txBody>
                    <a:bodyPr wrap="square"/>
                    <a:lstStyle/>
                    <a:p>
                      <a:pPr algn="l"/>
                      <a:r>
                        <a:rPr sz="1300" b="1" i="0">
                          <a:solidFill>
                            <a:srgbClr val="1A5276"/>
                          </a:solidFill>
                          <a:latin typeface="Segoe UI"/>
                        </a:rPr>
                        <a:t>Structure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Operation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Worst case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Amortised</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Segoe UI"/>
                        </a:rPr>
                        <a:t>dynamic array</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append</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Cambria"/>
                        </a:rPr>
                        <a:t>Θ(</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Cambria"/>
                        </a:rPr>
                        <a:t>Θ(1)</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hash table with resizing</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insert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Cambria"/>
                        </a:rPr>
                        <a:t>Θ(</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Cambria"/>
                        </a:rPr>
                        <a:t>Θ(1)</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binary counter</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increment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Cambria"/>
                        </a:rPr>
                        <a:t>Θ(lg </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Cambria"/>
                        </a:rPr>
                        <a:t>Θ(1)</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union–find</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find</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Cambria"/>
                        </a:rPr>
                        <a:t>Θ(lg </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Cambria"/>
                        </a:rPr>
                        <a:t>O(α(</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splay tree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search</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Cambria"/>
                        </a:rPr>
                        <a:t>Θ(</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Cambria"/>
                        </a:rPr>
                        <a:t>Θ(lg </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Build-Heap</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whole operation</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Cambria"/>
                        </a:rPr>
                        <a:t>Θ(</a:t>
                      </a:r>
                      <a:r>
                        <a:rPr sz="1300" b="0" i="1">
                          <a:solidFill>
                            <a:srgbClr val="1C252B"/>
                          </a:solidFill>
                          <a:latin typeface="Cambria"/>
                        </a:rPr>
                        <a:t>n</a:t>
                      </a:r>
                      <a:r>
                        <a:rPr sz="1300" b="0" i="0">
                          <a:solidFill>
                            <a:srgbClr val="1C252B"/>
                          </a:solidFill>
                          <a:latin typeface="Cambria"/>
                        </a:rPr>
                        <a:t>)</a:t>
                      </a:r>
                      <a:r>
                        <a:rPr sz="1300" b="0" i="0">
                          <a:solidFill>
                            <a:srgbClr val="1C252B"/>
                          </a:solidFill>
                          <a:latin typeface="Segoe UI"/>
                        </a:rPr>
                        <a:t> not </a:t>
                      </a:r>
                      <a:r>
                        <a:rPr sz="1300" b="0" i="0">
                          <a:solidFill>
                            <a:srgbClr val="1C252B"/>
                          </a:solidFill>
                          <a:latin typeface="Cambria"/>
                        </a:rPr>
                        <a:t>Θ(</a:t>
                      </a:r>
                      <a:r>
                        <a:rPr sz="1300" b="0" i="1">
                          <a:solidFill>
                            <a:srgbClr val="1C252B"/>
                          </a:solidFill>
                          <a:latin typeface="Cambria"/>
                        </a:rPr>
                        <a:t>n</a:t>
                      </a:r>
                      <a:r>
                        <a:rPr sz="1300" b="0" i="0">
                          <a:solidFill>
                            <a:srgbClr val="1C252B"/>
                          </a:solidFill>
                          <a:latin typeface="Cambria"/>
                        </a:rPr>
                        <a:t> lg </a:t>
                      </a:r>
                      <a:r>
                        <a:rPr sz="1300" b="0" i="1">
                          <a:solidFill>
                            <a:srgbClr val="1C252B"/>
                          </a:solidFill>
                          <a:latin typeface="Cambria"/>
                        </a:rPr>
                        <a:t>n</a:t>
                      </a:r>
                      <a:r>
                        <a:rPr sz="1300" b="0" i="0">
                          <a:solidFill>
                            <a:srgbClr val="1C252B"/>
                          </a:solidFill>
                          <a:latin typeface="Cambria"/>
                        </a:rPr>
                        <a:t>)</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60704" y="4570984"/>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last row is Chapter 12’s result, and it is the same phenomenon: multiplying a count by a worst case gave </a:t>
            </a:r>
            <a:r>
              <a:rPr sz="1600" b="0" i="0">
                <a:solidFill>
                  <a:srgbClr val="1C252B"/>
                </a:solidFill>
                <a:latin typeface="Cambria"/>
              </a:rPr>
              <a:t>O(</a:t>
            </a:r>
            <a:r>
              <a:rPr sz="1600" b="0" i="1">
                <a:solidFill>
                  <a:srgbClr val="1C252B"/>
                </a:solidFill>
                <a:latin typeface="Cambria"/>
              </a:rPr>
              <a:t>n</a:t>
            </a:r>
            <a:r>
              <a:rPr sz="1600" b="0" i="0">
                <a:solidFill>
                  <a:srgbClr val="1C252B"/>
                </a:solidFill>
                <a:latin typeface="Cambria"/>
              </a:rPr>
              <a:t> lg </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and the truth was </a:t>
            </a:r>
            <a:r>
              <a:rPr sz="1600" b="0" i="0">
                <a:solidFill>
                  <a:srgbClr val="1C252B"/>
                </a:solidFill>
                <a:latin typeface="Cambria"/>
              </a:rPr>
              <a:t>Θ(</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because the expensive cases are rare.</a:t>
            </a:r>
          </a:p>
        </p:txBody>
      </p:sp>
      <p:sp>
        <p:nvSpPr>
          <p:cNvPr id="11" name="body-2"/>
          <p:cNvSpPr txBox="1"/>
          <p:nvPr/>
        </p:nvSpPr>
        <p:spPr>
          <a:xfrm>
            <a:off x="1060704" y="5189931"/>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union–find row is Chapter 19’s, where </a:t>
            </a:r>
            <a:r>
              <a:rPr sz="1600" b="0" i="0">
                <a:solidFill>
                  <a:srgbClr val="1C252B"/>
                </a:solidFill>
                <a:latin typeface="Cambria"/>
              </a:rPr>
              <a:t>α(</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is the inverse Ackermann function — below 5 for any </a:t>
            </a:r>
            <a:r>
              <a:rPr sz="1600" b="0" i="1">
                <a:solidFill>
                  <a:srgbClr val="1C252B"/>
                </a:solidFill>
                <a:latin typeface="Cambria"/>
              </a:rPr>
              <a:t>n</a:t>
            </a:r>
            <a:r>
              <a:rPr sz="1600" b="0" i="0">
                <a:solidFill>
                  <a:srgbClr val="1C252B"/>
                </a:solidFill>
                <a:latin typeface="Segoe UI"/>
              </a:rPr>
              <a:t> that can be written down. It is the most dramatic amortised bound in common use, and it is proved by the potential method.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6D5E14BC-E880-417E-836E-730B5E037536}"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Multiplying worst case by count.</a:t>
            </a:r>
            <a:r>
              <a:rPr sz="1700" b="0" i="0">
                <a:solidFill>
                  <a:srgbClr val="1C252B"/>
                </a:solidFill>
                <a:latin typeface="Segoe UI"/>
              </a:rPr>
              <a:t> Measured, that bound was 524,288,000,000 against a true cost of 1,048,575 — a factor of half a million.</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Calling amortised cost an average case.</a:t>
            </a:r>
            <a:r>
              <a:rPr sz="1700" b="0" i="0">
                <a:solidFill>
                  <a:srgbClr val="1C252B"/>
                </a:solidFill>
                <a:latin typeface="Segoe UI"/>
              </a:rPr>
              <a:t> There is no distribution and no probability; it is a worst-case bound on a total.</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Promising low latency from an amortised bound.</a:t>
            </a:r>
            <a:r>
              <a:rPr sz="1700" b="0" i="0">
                <a:solidFill>
                  <a:srgbClr val="1C252B"/>
                </a:solidFill>
                <a:latin typeface="Segoe UI"/>
              </a:rPr>
              <a:t> The worst single append copied 524,288 elements.</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Growing by a constant amount.</a:t>
            </a:r>
            <a:r>
              <a:rPr sz="1700" b="0" i="0">
                <a:solidFill>
                  <a:srgbClr val="1C252B"/>
                </a:solidFill>
                <a:latin typeface="Segoe UI"/>
              </a:rPr>
              <a:t> Measured exactly </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/2</a:t>
            </a:r>
            <a:r>
              <a:rPr sz="1700" b="0" i="0">
                <a:solidFill>
                  <a:srgbClr val="1C252B"/>
                </a:solidFill>
                <a:latin typeface="Segoe UI"/>
              </a:rPr>
              <a:t> copies. The policy, not the structure, is what makes it quadratic.</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 potential function that can go negative.</a:t>
            </a:r>
            <a:r>
              <a:rPr sz="1700" b="0" i="0">
                <a:solidFill>
                  <a:srgbClr val="1C252B"/>
                </a:solidFill>
                <a:latin typeface="Segoe UI"/>
              </a:rPr>
              <a:t> The argument requires </a:t>
            </a:r>
            <a:r>
              <a:rPr sz="1700" b="0" i="0">
                <a:solidFill>
                  <a:srgbClr val="1C252B"/>
                </a:solidFill>
                <a:latin typeface="Cambria"/>
              </a:rPr>
              <a:t>Φ ≥ Φ</a:t>
            </a:r>
            <a:r>
              <a:rPr sz="1100" b="0" i="0" baseline="-25000">
                <a:solidFill>
                  <a:srgbClr val="1C252B"/>
                </a:solidFill>
                <a:latin typeface="Cambria"/>
              </a:rPr>
              <a:t>0</a:t>
            </a:r>
            <a:r>
              <a:rPr sz="1700" b="0" i="0">
                <a:solidFill>
                  <a:srgbClr val="1C252B"/>
                </a:solidFill>
                <a:latin typeface="Segoe UI"/>
              </a:rPr>
              <a:t>, or the total is not bounded.</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the growth factor does not matter because the asymptotics agree.</a:t>
            </a:r>
            <a:r>
              <a:rPr sz="1700" b="0" i="0">
                <a:solidFill>
                  <a:srgbClr val="1C252B"/>
                </a:solidFill>
                <a:latin typeface="Segoe UI"/>
              </a:rPr>
              <a:t> Measured, 1.1 did ten times the copying of 2.0.</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AB1168B8-E54F-4DFC-8F70-3F67D7674095}" type="slidenum">
              <a:rPr lang="en-GB" sz="1000">
                <a:solidFill>
                  <a:srgbClr val="8795A1"/>
                </a:solidFill>
                <a:latin typeface="Segoe UI"/>
              </a:rPr>
              <a:t>27</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with too few samples to see the rare case.</a:t>
            </a:r>
            <a:r>
              <a:rPr sz="1700" b="0" i="0">
                <a:solidFill>
                  <a:srgbClr val="1C252B"/>
                </a:solidFill>
                <a:latin typeface="Segoe UI"/>
              </a:rPr>
              <a:t> 0.002% of appends were expensive; most histograms will miss them entirely.</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Rare Expensive Operation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BAB56A90-3E29-43B8-BF0B-B130A4EDB3A6}" type="slidenum">
              <a:rPr lang="en-GB" sz="1000">
                <a:solidFill>
                  <a:srgbClr val="8795A1"/>
                </a:solidFill>
                <a:latin typeface="Segoe UI"/>
              </a:rPr>
              <a:t>28</a:t>
            </a:fld>
          </a:p>
        </p:txBody>
      </p:sp>
      <p:sp>
        <p:nvSpPr>
          <p:cNvPr id="7" name="body-0"/>
          <p:cNvSpPr txBox="1"/>
          <p:nvPr/>
        </p:nvSpPr>
        <p:spPr>
          <a:xfrm>
            <a:off x="658368" y="1737360"/>
            <a:ext cx="1087495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five tables. Expect twenty-five minutes.</a:t>
            </a:r>
          </a:p>
        </p:txBody>
      </p:sp>
      <p:sp>
        <p:nvSpPr>
          <p:cNvPr id="8" name="!!labsteps-h"/>
          <p:cNvSpPr txBox="1"/>
          <p:nvPr/>
        </p:nvSpPr>
        <p:spPr>
          <a:xfrm>
            <a:off x="658368" y="2365248"/>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2749296"/>
            <a:ext cx="10874959" cy="182879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A dynamic array with an adjustable growth policy</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Total copies: the aggregate method, measured</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Amortised O(1) does not mean every operation is cheap</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The growth factor is a real engineering choice</a:t>
            </a:r>
          </a:p>
          <a:p>
            <a:pPr algn="l" marL="459473" indent="-459473">
              <a:lnSpc>
                <a:spcPct val="100000"/>
              </a:lnSpc>
              <a:spcBef>
                <a:spcPts val="0"/>
              </a:spcBef>
              <a:spcAft>
                <a:spcPts val="0"/>
              </a:spcAft>
            </a:pPr>
            <a:r>
              <a:rPr sz="1900" b="1">
                <a:solidFill>
                  <a:srgbClr val="117A65"/>
                </a:solidFill>
                <a:latin typeface="Segoe UI"/>
              </a:rPr>
              <a:t>5.	</a:t>
            </a:r>
            <a:r>
              <a:rPr sz="1900" b="0" i="0">
                <a:solidFill>
                  <a:srgbClr val="1C252B"/>
                </a:solidFill>
                <a:latin typeface="Segoe UI"/>
              </a:rPr>
              <a:t>And in seconds, against the real thing</a:t>
            </a:r>
          </a:p>
        </p:txBody>
      </p:sp>
      <p:sp>
        <p:nvSpPr>
          <p:cNvPr id="2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Week 12: A growing array: aggregate cost against worst-case cost</a:t>
            </a:r>
          </a:p>
        </p:txBody>
      </p:sp>
      <p:sp>
        <p:nvSpPr>
          <p:cNvPr id="3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44 lines of C++</a:t>
            </a:r>
          </a:p>
        </p:txBody>
      </p:sp>
      <p:sp>
        <p:nvSpPr>
          <p:cNvPr id="3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code/ch17_amortised.cpp</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Rare Expensive Operation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314E07B5-B88E-46B2-8503-CC7E29C7AA62}"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dynamic array with an adjustable growth policy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code/ch17_amortised.cpp</a:t>
            </a:r>
          </a:p>
        </p:txBody>
      </p:sp>
      <p:sp>
        <p:nvSpPr>
          <p:cNvPr id="14" name="!!code-text" descr="// ch17_amortised.cpp -- a sequence of operations, costed as a sequence. // Build: cl /O2 /EHsc /std:c++17 ch17_amortised.cpp (see Appendix A) // --- 1. A dynamic array with an adjustable growth policy ----------- // Deliberately hand-rolled so every copy can be counted. &quot;factor&quot; is // the multiplier on resize; a factor of 0 means &quot;grow by one&quot;, which // is the policy the quadratic analysis describes. void push(int x) { if (len == cap) { size_t ncap = (factor &lt;= 1.0) ? cap + 1 : std::max&lt;size_t&gt;(1, (size_t)(cap * factor)); if (ncap == cap) ncap = cap + 1; std::vector&lt;int&gt; nb(ncap); for (size_t i = 0; i &lt; len; ++i) { nb[i] = buf[i]; ++copies; } buf.swap(nb); cap = ncap; ++reallocs; } buf[len++] = x; }"/>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1">
                <a:solidFill>
                  <a:srgbClr val="8795A1"/>
                </a:solidFill>
                <a:latin typeface="Consolas"/>
              </a:rPr>
              <a:t>// ch17_amortised.cpp -- a sequence of operations, costed as a sequence.</a:t>
            </a:r>
          </a:p>
          <a:p>
            <a:pPr>
              <a:lnSpc>
                <a:spcPct val="100000"/>
              </a:lnSpc>
              <a:spcAft>
                <a:spcPts val="0"/>
              </a:spcAft>
            </a:pPr>
            <a:r>
              <a:rPr sz="1100" i="1">
                <a:solidFill>
                  <a:srgbClr val="8795A1"/>
                </a:solidFill>
                <a:latin typeface="Consolas"/>
              </a:rPr>
              <a:t>// Build: cl /O2 /EHsc /std:c++17 ch17_amortised.cpp  (see Appendix A)</a:t>
            </a:r>
          </a:p>
          <a:p>
            <a:pPr>
              <a:lnSpc>
                <a:spcPct val="100000"/>
              </a:lnSpc>
              <a:spcAft>
                <a:spcPts val="0"/>
              </a:spcAft>
            </a:pPr>
            <a:r>
              <a:rPr sz="1100">
                <a:latin typeface="Consolas"/>
              </a:rPr>
              <a:t> </a:t>
            </a:r>
          </a:p>
          <a:p>
            <a:pPr>
              <a:lnSpc>
                <a:spcPct val="100000"/>
              </a:lnSpc>
              <a:spcAft>
                <a:spcPts val="0"/>
              </a:spcAft>
            </a:pPr>
            <a:r>
              <a:rPr sz="1100" i="1">
                <a:solidFill>
                  <a:srgbClr val="8795A1"/>
                </a:solidFill>
                <a:latin typeface="Consolas"/>
              </a:rPr>
              <a:t>// --- 1. A dynamic array with an adjustable growth policy -----------</a:t>
            </a:r>
          </a:p>
          <a:p>
            <a:pPr>
              <a:lnSpc>
                <a:spcPct val="100000"/>
              </a:lnSpc>
              <a:spcAft>
                <a:spcPts val="0"/>
              </a:spcAft>
            </a:pPr>
            <a:r>
              <a:rPr sz="1100" i="1">
                <a:solidFill>
                  <a:srgbClr val="8795A1"/>
                </a:solidFill>
                <a:latin typeface="Consolas"/>
              </a:rPr>
              <a:t>// Deliberately hand-rolled so every copy can be counted. "factor" is</a:t>
            </a:r>
          </a:p>
          <a:p>
            <a:pPr>
              <a:lnSpc>
                <a:spcPct val="100000"/>
              </a:lnSpc>
              <a:spcAft>
                <a:spcPts val="0"/>
              </a:spcAft>
            </a:pPr>
            <a:r>
              <a:rPr sz="1100" i="1">
                <a:solidFill>
                  <a:srgbClr val="8795A1"/>
                </a:solidFill>
                <a:latin typeface="Consolas"/>
              </a:rPr>
              <a:t>// the multiplier on resize; a factor of 0 means "grow by one", which</a:t>
            </a:r>
          </a:p>
          <a:p>
            <a:pPr>
              <a:lnSpc>
                <a:spcPct val="100000"/>
              </a:lnSpc>
              <a:spcAft>
                <a:spcPts val="0"/>
              </a:spcAft>
            </a:pPr>
            <a:r>
              <a:rPr sz="1100" i="1">
                <a:solidFill>
                  <a:srgbClr val="8795A1"/>
                </a:solidFill>
                <a:latin typeface="Consolas"/>
              </a:rPr>
              <a:t>// is the policy the quadratic analysis describes.</a:t>
            </a:r>
          </a:p>
          <a:p>
            <a:pPr>
              <a:lnSpc>
                <a:spcPct val="100000"/>
              </a:lnSpc>
              <a:spcAft>
                <a:spcPts val="0"/>
              </a:spcAft>
            </a:pPr>
            <a:r>
              <a:rPr sz="1100" i="0">
                <a:solidFill>
                  <a:srgbClr val="E8EDF2"/>
                </a:solidFill>
                <a:latin typeface="Consolas"/>
              </a:rPr>
              <a:t>    </a:t>
            </a:r>
            <a:r>
              <a:rPr sz="1100" i="0">
                <a:solidFill>
                  <a:srgbClr val="5DADE2"/>
                </a:solidFill>
                <a:latin typeface="Consolas"/>
              </a:rPr>
              <a:t>void</a:t>
            </a:r>
            <a:r>
              <a:rPr sz="1100" i="0">
                <a:solidFill>
                  <a:srgbClr val="E8EDF2"/>
                </a:solidFill>
                <a:latin typeface="Consolas"/>
              </a:rPr>
              <a:t> </a:t>
            </a:r>
            <a:r>
              <a:rPr sz="1100" i="0">
                <a:solidFill>
                  <a:srgbClr val="C39BD3"/>
                </a:solidFill>
                <a:latin typeface="Consolas"/>
              </a:rPr>
              <a:t>push</a:t>
            </a:r>
            <a:r>
              <a:rPr sz="1100" i="0">
                <a:solidFill>
                  <a:srgbClr val="AEB6BF"/>
                </a:solidFill>
                <a:latin typeface="Consolas"/>
              </a:rPr>
              <a:t>(</a:t>
            </a:r>
            <a:r>
              <a:rPr sz="1100" i="0">
                <a:solidFill>
                  <a:srgbClr val="5DADE2"/>
                </a:solidFill>
                <a:latin typeface="Consolas"/>
              </a:rPr>
              <a:t>int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len</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cap</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size_t</a:t>
            </a:r>
            <a:r>
              <a:rPr sz="1100" i="0">
                <a:solidFill>
                  <a:srgbClr val="E8EDF2"/>
                </a:solidFill>
                <a:latin typeface="Consolas"/>
              </a:rPr>
              <a:t> </a:t>
            </a:r>
            <a:r>
              <a:rPr sz="1100" i="0">
                <a:solidFill>
                  <a:srgbClr val="E8EDF2"/>
                </a:solidFill>
                <a:latin typeface="Consolas"/>
              </a:rPr>
              <a:t>ncap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factor</a:t>
            </a:r>
            <a:r>
              <a:rPr sz="1100" i="0">
                <a:solidFill>
                  <a:srgbClr val="E8EDF2"/>
                </a:solidFill>
                <a:latin typeface="Consolas"/>
              </a:rPr>
              <a:t> </a:t>
            </a:r>
            <a:r>
              <a:rPr sz="1100" i="0">
                <a:solidFill>
                  <a:srgbClr val="AEB6BF"/>
                </a:solidFill>
                <a:latin typeface="Consolas"/>
              </a:rPr>
              <a:t>&lt;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1.0</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cap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std</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max</a:t>
            </a:r>
            <a:r>
              <a:rPr sz="1100" i="0">
                <a:solidFill>
                  <a:srgbClr val="AEB6BF"/>
                </a:solidFill>
                <a:latin typeface="Consolas"/>
              </a:rPr>
              <a:t>&lt;</a:t>
            </a:r>
            <a:r>
              <a:rPr sz="1100" i="0">
                <a:solidFill>
                  <a:srgbClr val="5DADE2"/>
                </a:solidFill>
                <a:latin typeface="Consolas"/>
              </a:rPr>
              <a:t>size_t</a:t>
            </a:r>
            <a:r>
              <a:rPr sz="1100" i="0">
                <a:solidFill>
                  <a:srgbClr val="AEB6BF"/>
                </a:solidFill>
                <a:latin typeface="Consolas"/>
              </a:rPr>
              <a:t>&gt;</a:t>
            </a:r>
            <a:r>
              <a:rPr sz="1100" i="0">
                <a:solidFill>
                  <a:srgbClr val="AEB6BF"/>
                </a:solidFill>
                <a:latin typeface="Consolas"/>
              </a:rPr>
              <a:t>(</a:t>
            </a:r>
            <a:r>
              <a:rPr sz="1100" i="0">
                <a:solidFill>
                  <a:srgbClr val="F7DC6F"/>
                </a:solidFill>
                <a:latin typeface="Consolas"/>
              </a:rPr>
              <a:t>1</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5DADE2"/>
                </a:solidFill>
                <a:latin typeface="Consolas"/>
              </a:rPr>
              <a:t>size_t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cap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factor</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ncap</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cap</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ncap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cap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std</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vector</a:t>
            </a:r>
            <a:r>
              <a:rPr sz="1100" i="0">
                <a:solidFill>
                  <a:srgbClr val="AEB6BF"/>
                </a:solidFill>
                <a:latin typeface="Consolas"/>
              </a:rPr>
              <a:t>&lt;</a:t>
            </a:r>
            <a:r>
              <a:rPr sz="1100" i="0">
                <a:solidFill>
                  <a:srgbClr val="5DADE2"/>
                </a:solidFill>
                <a:latin typeface="Consolas"/>
              </a:rPr>
              <a:t>int</a:t>
            </a:r>
            <a:r>
              <a:rPr sz="1100" i="0">
                <a:solidFill>
                  <a:srgbClr val="AEB6BF"/>
                </a:solidFill>
                <a:latin typeface="Consolas"/>
              </a:rPr>
              <a:t>&gt;</a:t>
            </a:r>
            <a:r>
              <a:rPr sz="1100" i="0">
                <a:solidFill>
                  <a:srgbClr val="E8EDF2"/>
                </a:solidFill>
                <a:latin typeface="Consolas"/>
              </a:rPr>
              <a:t> </a:t>
            </a:r>
            <a:r>
              <a:rPr sz="1100" i="0">
                <a:solidFill>
                  <a:srgbClr val="E8EDF2"/>
                </a:solidFill>
                <a:latin typeface="Consolas"/>
              </a:rPr>
              <a:t>nb</a:t>
            </a:r>
            <a:r>
              <a:rPr sz="1100" i="0">
                <a:solidFill>
                  <a:srgbClr val="AEB6BF"/>
                </a:solidFill>
                <a:latin typeface="Consolas"/>
              </a:rPr>
              <a:t>(</a:t>
            </a:r>
            <a:r>
              <a:rPr sz="1100" i="0">
                <a:solidFill>
                  <a:srgbClr val="E8EDF2"/>
                </a:solidFill>
                <a:latin typeface="Consolas"/>
              </a:rPr>
              <a:t>ncap</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AEB6BF"/>
                </a:solidFill>
                <a:latin typeface="Consolas"/>
              </a:rPr>
              <a:t>(</a:t>
            </a:r>
            <a:r>
              <a:rPr sz="1100" i="0">
                <a:solidFill>
                  <a:srgbClr val="5DADE2"/>
                </a:solidFill>
                <a:latin typeface="Consolas"/>
              </a:rPr>
              <a:t>size_t</a:t>
            </a:r>
            <a:r>
              <a:rPr sz="1100" i="0">
                <a:solidFill>
                  <a:srgbClr val="E8EDF2"/>
                </a:solidFill>
                <a:latin typeface="Consolas"/>
              </a:rPr>
              <a:t> </a:t>
            </a:r>
            <a:r>
              <a:rPr sz="1100" i="0">
                <a:solidFill>
                  <a:srgbClr val="E8EDF2"/>
                </a:solidFill>
                <a:latin typeface="Consolas"/>
              </a:rPr>
              <a:t>i</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i</a:t>
            </a:r>
            <a:r>
              <a:rPr sz="1100" i="0">
                <a:solidFill>
                  <a:srgbClr val="E8EDF2"/>
                </a:solidFill>
                <a:latin typeface="Consolas"/>
              </a:rPr>
              <a:t> </a:t>
            </a:r>
            <a:r>
              <a:rPr sz="1100" i="0">
                <a:solidFill>
                  <a:srgbClr val="AEB6BF"/>
                </a:solidFill>
                <a:latin typeface="Consolas"/>
              </a:rPr>
              <a:t>&lt;</a:t>
            </a:r>
            <a:r>
              <a:rPr sz="1100" i="0">
                <a:solidFill>
                  <a:srgbClr val="E8EDF2"/>
                </a:solidFill>
                <a:latin typeface="Consolas"/>
              </a:rPr>
              <a:t> </a:t>
            </a:r>
            <a:r>
              <a:rPr sz="1100" i="0">
                <a:solidFill>
                  <a:srgbClr val="E8EDF2"/>
                </a:solidFill>
                <a:latin typeface="Consolas"/>
              </a:rPr>
              <a:t>len</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i</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nb</a:t>
            </a:r>
            <a:r>
              <a:rPr sz="1100" i="0">
                <a:solidFill>
                  <a:srgbClr val="AEB6BF"/>
                </a:solidFill>
                <a:latin typeface="Consolas"/>
              </a:rPr>
              <a:t>[</a:t>
            </a:r>
            <a:r>
              <a:rPr sz="1100" i="0">
                <a:solidFill>
                  <a:srgbClr val="E8EDF2"/>
                </a:solidFill>
                <a:latin typeface="Consolas"/>
              </a:rPr>
              <a:t>i</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buf</a:t>
            </a:r>
            <a:r>
              <a:rPr sz="1100" i="0">
                <a:solidFill>
                  <a:srgbClr val="AEB6BF"/>
                </a:solidFill>
                <a:latin typeface="Consolas"/>
              </a:rPr>
              <a:t>[</a:t>
            </a:r>
            <a:r>
              <a:rPr sz="1100" i="0">
                <a:solidFill>
                  <a:srgbClr val="E8EDF2"/>
                </a:solidFill>
                <a:latin typeface="Consolas"/>
              </a:rPr>
              <a:t>i</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copies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buf</a:t>
            </a:r>
            <a:r>
              <a:rPr sz="1100" i="0">
                <a:solidFill>
                  <a:srgbClr val="AEB6BF"/>
                </a:solidFill>
                <a:latin typeface="Consolas"/>
              </a:rPr>
              <a:t>.</a:t>
            </a:r>
            <a:r>
              <a:rPr sz="1100" i="0">
                <a:solidFill>
                  <a:srgbClr val="E8EDF2"/>
                </a:solidFill>
                <a:latin typeface="Consolas"/>
              </a:rPr>
              <a:t>swap</a:t>
            </a:r>
            <a:r>
              <a:rPr sz="1100" i="0">
                <a:solidFill>
                  <a:srgbClr val="AEB6BF"/>
                </a:solidFill>
                <a:latin typeface="Consolas"/>
              </a:rPr>
              <a:t>(</a:t>
            </a:r>
            <a:r>
              <a:rPr sz="1100" i="0">
                <a:solidFill>
                  <a:srgbClr val="E8EDF2"/>
                </a:solidFill>
                <a:latin typeface="Consolas"/>
              </a:rPr>
              <a:t>nb</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cap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ncap</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reallocs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buf</a:t>
            </a:r>
            <a:r>
              <a:rPr sz="1100" i="0">
                <a:solidFill>
                  <a:srgbClr val="AEB6BF"/>
                </a:solidFill>
                <a:latin typeface="Consolas"/>
              </a:rPr>
              <a:t>[</a:t>
            </a:r>
            <a:r>
              <a:rPr sz="1100" i="0">
                <a:solidFill>
                  <a:srgbClr val="E8EDF2"/>
                </a:solidFill>
                <a:latin typeface="Consolas"/>
              </a:rPr>
              <a:t>len</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1</a:t>
            </a:r>
          </a:p>
          <a:p>
            <a:pPr algn="r">
              <a:lnSpc>
                <a:spcPct val="100000"/>
              </a:lnSpc>
            </a:pPr>
            <a:r>
              <a:rPr sz="1100">
                <a:solidFill>
                  <a:srgbClr val="4F5D6A"/>
                </a:solidFill>
                <a:latin typeface="Consolas"/>
              </a:rPr>
              <a:t>2</a:t>
            </a:r>
          </a:p>
          <a:p>
            <a:pPr algn="r">
              <a:lnSpc>
                <a:spcPct val="100000"/>
              </a:lnSpc>
            </a:pPr>
            <a:r>
              <a:rPr sz="1100">
                <a:solidFill>
                  <a:srgbClr val="4F5D6A"/>
                </a:solidFill>
                <a:latin typeface="Consolas"/>
              </a:rPr>
              <a:t>3</a:t>
            </a:r>
          </a:p>
          <a:p>
            <a:pPr algn="r">
              <a:lnSpc>
                <a:spcPct val="100000"/>
              </a:lnSpc>
            </a:pPr>
            <a:r>
              <a:rPr sz="1100">
                <a:solidFill>
                  <a:srgbClr val="4F5D6A"/>
                </a:solidFill>
                <a:latin typeface="Consolas"/>
              </a:rPr>
              <a:t>4</a:t>
            </a:r>
          </a:p>
          <a:p>
            <a:pPr algn="r">
              <a:lnSpc>
                <a:spcPct val="100000"/>
              </a:lnSpc>
            </a:pPr>
            <a:r>
              <a:rPr sz="1100">
                <a:solidFill>
                  <a:srgbClr val="4F5D6A"/>
                </a:solidFill>
                <a:latin typeface="Consolas"/>
              </a:rPr>
              <a:t>5</a:t>
            </a:r>
          </a:p>
          <a:p>
            <a:pPr algn="r">
              <a:lnSpc>
                <a:spcPct val="100000"/>
              </a:lnSpc>
            </a:pPr>
            <a:r>
              <a:rPr sz="1100">
                <a:solidFill>
                  <a:srgbClr val="4F5D6A"/>
                </a:solidFill>
                <a:latin typeface="Consolas"/>
              </a:rPr>
              <a:t>6</a:t>
            </a:r>
          </a:p>
          <a:p>
            <a:pPr algn="r">
              <a:lnSpc>
                <a:spcPct val="100000"/>
              </a:lnSpc>
            </a:pPr>
            <a:r>
              <a:rPr sz="1100">
                <a:solidFill>
                  <a:srgbClr val="4F5D6A"/>
                </a:solidFill>
                <a:latin typeface="Consolas"/>
              </a:rPr>
              <a:t>7</a:t>
            </a:r>
          </a:p>
          <a:p>
            <a:pPr algn="r">
              <a:lnSpc>
                <a:spcPct val="100000"/>
              </a:lnSpc>
            </a:pPr>
            <a:r>
              <a:rPr sz="1100">
                <a:solidFill>
                  <a:srgbClr val="4F5D6A"/>
                </a:solidFill>
                <a:latin typeface="Consolas"/>
              </a:rPr>
              <a:t>8</a:t>
            </a:r>
          </a:p>
          <a:p>
            <a:pPr algn="r">
              <a:lnSpc>
                <a:spcPct val="100000"/>
              </a:lnSpc>
            </a:pPr>
            <a:r>
              <a:rPr sz="1100">
                <a:solidFill>
                  <a:srgbClr val="4F5D6A"/>
                </a:solidFill>
                <a:latin typeface="Consolas"/>
              </a:rPr>
              <a:t>9</a:t>
            </a:r>
          </a:p>
          <a:p>
            <a:pPr algn="r">
              <a:lnSpc>
                <a:spcPct val="100000"/>
              </a:lnSpc>
            </a:pPr>
            <a:r>
              <a:rPr sz="1100">
                <a:solidFill>
                  <a:srgbClr val="4F5D6A"/>
                </a:solidFill>
                <a:latin typeface="Consolas"/>
              </a:rPr>
              <a:t>10</a:t>
            </a:r>
          </a:p>
          <a:p>
            <a:pPr algn="r">
              <a:lnSpc>
                <a:spcPct val="100000"/>
              </a:lnSpc>
            </a:pPr>
            <a:r>
              <a:rPr sz="1100">
                <a:solidFill>
                  <a:srgbClr val="4F5D6A"/>
                </a:solidFill>
                <a:latin typeface="Consolas"/>
              </a:rPr>
              <a:t>11</a:t>
            </a:r>
          </a:p>
          <a:p>
            <a:pPr algn="r">
              <a:lnSpc>
                <a:spcPct val="100000"/>
              </a:lnSpc>
            </a:pPr>
            <a:r>
              <a:rPr sz="1100">
                <a:solidFill>
                  <a:srgbClr val="4F5D6A"/>
                </a:solidFill>
                <a:latin typeface="Consolas"/>
              </a:rPr>
              <a:t>12</a:t>
            </a:r>
          </a:p>
          <a:p>
            <a:pPr algn="r">
              <a:lnSpc>
                <a:spcPct val="100000"/>
              </a:lnSpc>
            </a:pPr>
            <a:r>
              <a:rPr sz="1100">
                <a:solidFill>
                  <a:srgbClr val="4F5D6A"/>
                </a:solidFill>
                <a:latin typeface="Consolas"/>
              </a:rPr>
              <a:t>13</a:t>
            </a:r>
          </a:p>
          <a:p>
            <a:pPr algn="r">
              <a:lnSpc>
                <a:spcPct val="100000"/>
              </a:lnSpc>
            </a:pPr>
            <a:r>
              <a:rPr sz="1100">
                <a:solidFill>
                  <a:srgbClr val="4F5D6A"/>
                </a:solidFill>
                <a:latin typeface="Consolas"/>
              </a:rPr>
              <a:t>14</a:t>
            </a:r>
          </a:p>
          <a:p>
            <a:pPr algn="r">
              <a:lnSpc>
                <a:spcPct val="100000"/>
              </a:lnSpc>
            </a:pPr>
            <a:r>
              <a:rPr sz="1100">
                <a:solidFill>
                  <a:srgbClr val="4F5D6A"/>
                </a:solidFill>
                <a:latin typeface="Consolas"/>
              </a:rPr>
              <a:t>15</a:t>
            </a:r>
          </a:p>
          <a:p>
            <a:pPr algn="r">
              <a:lnSpc>
                <a:spcPct val="100000"/>
              </a:lnSpc>
            </a:pPr>
            <a:r>
              <a:rPr sz="1100">
                <a:solidFill>
                  <a:srgbClr val="4F5D6A"/>
                </a:solidFill>
                <a:latin typeface="Consolas"/>
              </a:rPr>
              <a:t>16</a:t>
            </a:r>
          </a:p>
          <a:p>
            <a:pPr algn="r">
              <a:lnSpc>
                <a:spcPct val="100000"/>
              </a:lnSpc>
            </a:pPr>
            <a:r>
              <a:rPr sz="1100">
                <a:solidFill>
                  <a:srgbClr val="4F5D6A"/>
                </a:solidFill>
                <a:latin typeface="Consolas"/>
              </a:rPr>
              <a:t>17</a:t>
            </a:r>
          </a:p>
          <a:p>
            <a:pPr algn="r">
              <a:lnSpc>
                <a:spcPct val="100000"/>
              </a:lnSpc>
            </a:pPr>
            <a:r>
              <a:rPr sz="1100">
                <a:solidFill>
                  <a:srgbClr val="4F5D6A"/>
                </a:solidFill>
                <a:latin typeface="Consolas"/>
              </a:rPr>
              <a:t>18</a:t>
            </a:r>
          </a:p>
          <a:p>
            <a:pPr algn="r">
              <a:lnSpc>
                <a:spcPct val="100000"/>
              </a:lnSpc>
            </a:pPr>
            <a:r>
              <a:rPr sz="1100">
                <a:solidFill>
                  <a:srgbClr val="4F5D6A"/>
                </a:solidFill>
                <a:latin typeface="Consolas"/>
              </a:rPr>
              <a:t>19</a:t>
            </a:r>
          </a:p>
          <a:p>
            <a:pPr algn="r">
              <a:lnSpc>
                <a:spcPct val="100000"/>
              </a:lnSpc>
            </a:pPr>
            <a:r>
              <a:rPr sz="11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Rare Expensive Operation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630CB7C3-B421-40A4-94F5-5EFA02C8BEA7}"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Total copies: the aggregate method, measured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code/ch17_amortised.cpp</a:t>
            </a:r>
          </a:p>
        </p:txBody>
      </p:sp>
      <p:sp>
        <p:nvSpPr>
          <p:cNvPr id="14" name="!!code-text" descr="// --- 2. Total copies: the aggregate method, measured --------------- // Doubling: the copies are 1 + 2 + 4 + ... + n/2 &lt; n, so the total // work for n appends is under 2n and the amortised cost per append is // under 2. Grow-by-one: 1 + 2 + ... + (n-1) = n(n-1)/2."/>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Total copies: the aggregate method, measured ---------------</a:t>
            </a:r>
          </a:p>
          <a:p>
            <a:pPr>
              <a:lnSpc>
                <a:spcPct val="100000"/>
              </a:lnSpc>
              <a:spcAft>
                <a:spcPts val="0"/>
              </a:spcAft>
            </a:pPr>
            <a:r>
              <a:rPr sz="1900" i="1">
                <a:solidFill>
                  <a:srgbClr val="8795A1"/>
                </a:solidFill>
                <a:latin typeface="Consolas"/>
              </a:rPr>
              <a:t>// Doubling: the copies are 1 + 2 + 4 + ... + n/2 &lt; n, so the total</a:t>
            </a:r>
          </a:p>
          <a:p>
            <a:pPr>
              <a:lnSpc>
                <a:spcPct val="100000"/>
              </a:lnSpc>
              <a:spcAft>
                <a:spcPts val="0"/>
              </a:spcAft>
            </a:pPr>
            <a:r>
              <a:rPr sz="1900" i="1">
                <a:solidFill>
                  <a:srgbClr val="8795A1"/>
                </a:solidFill>
                <a:latin typeface="Consolas"/>
              </a:rPr>
              <a:t>// work for n appends is under 2n and the amortised cost per append is</a:t>
            </a:r>
          </a:p>
          <a:p>
            <a:pPr>
              <a:lnSpc>
                <a:spcPct val="100000"/>
              </a:lnSpc>
              <a:spcAft>
                <a:spcPts val="0"/>
              </a:spcAft>
            </a:pPr>
            <a:r>
              <a:rPr sz="1900" i="1">
                <a:solidFill>
                  <a:srgbClr val="8795A1"/>
                </a:solidFill>
                <a:latin typeface="Consolas"/>
              </a:rPr>
              <a:t>// under 2. Grow-by-one: 1 + 2 + ... + (n-1) = n(n-1)/2.</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Rare Expensive Operation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3918682E-2B9B-4293-B874-90CD758F4505}"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Amortised O(1) does not mean every operation is cheap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code/ch17_amortised.cpp</a:t>
            </a:r>
          </a:p>
        </p:txBody>
      </p:sp>
      <p:sp>
        <p:nvSpPr>
          <p:cNvPr id="14" name="!!code-text" descr="// --- 3. Amortised O(1) does not mean every operation is cheap ------ // Print the cost of the single most expensive append, and how many // appends are expensive at all. This is the distinction between // amortised and worst-case that the chapter exists for. long long worst = *std::max_element(cost.begin(), cost.end()); size_t expensive = 0; for (long long c : cost) if (c &gt; 0) ++expensive;"/>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Amortised O(1) does not mean every operation is cheap ------</a:t>
            </a:r>
          </a:p>
          <a:p>
            <a:pPr>
              <a:lnSpc>
                <a:spcPct val="100000"/>
              </a:lnSpc>
              <a:spcAft>
                <a:spcPts val="0"/>
              </a:spcAft>
            </a:pPr>
            <a:r>
              <a:rPr sz="1900" i="1">
                <a:solidFill>
                  <a:srgbClr val="8795A1"/>
                </a:solidFill>
                <a:latin typeface="Consolas"/>
              </a:rPr>
              <a:t>// Print the cost of the single most expensive append, and how many</a:t>
            </a:r>
          </a:p>
          <a:p>
            <a:pPr>
              <a:lnSpc>
                <a:spcPct val="100000"/>
              </a:lnSpc>
              <a:spcAft>
                <a:spcPts val="0"/>
              </a:spcAft>
            </a:pPr>
            <a:r>
              <a:rPr sz="1900" i="1">
                <a:solidFill>
                  <a:srgbClr val="8795A1"/>
                </a:solidFill>
                <a:latin typeface="Consolas"/>
              </a:rPr>
              <a:t>// appends are expensive at all. This is the distinction between</a:t>
            </a:r>
          </a:p>
          <a:p>
            <a:pPr>
              <a:lnSpc>
                <a:spcPct val="100000"/>
              </a:lnSpc>
              <a:spcAft>
                <a:spcPts val="0"/>
              </a:spcAft>
            </a:pPr>
            <a:r>
              <a:rPr sz="1900" i="1">
                <a:solidFill>
                  <a:srgbClr val="8795A1"/>
                </a:solidFill>
                <a:latin typeface="Consolas"/>
              </a:rPr>
              <a:t>// amortised and worst-case that the chapter exists for.</a:t>
            </a:r>
          </a:p>
          <a:p>
            <a:pPr>
              <a:lnSpc>
                <a:spcPct val="100000"/>
              </a:lnSpc>
              <a:spcAft>
                <a:spcPts val="0"/>
              </a:spcAft>
            </a:pPr>
            <a:r>
              <a:rPr sz="1900" i="0">
                <a:solidFill>
                  <a:srgbClr val="E8EDF2"/>
                </a:solidFill>
                <a:latin typeface="Consolas"/>
              </a:rPr>
              <a:t>        </a:t>
            </a:r>
            <a:r>
              <a:rPr sz="1900" i="0">
                <a:solidFill>
                  <a:srgbClr val="5DADE2"/>
                </a:solidFill>
                <a:latin typeface="Consolas"/>
              </a:rPr>
              <a:t>long</a:t>
            </a:r>
            <a:r>
              <a:rPr sz="1900" i="0">
                <a:solidFill>
                  <a:srgbClr val="E8EDF2"/>
                </a:solidFill>
                <a:latin typeface="Consolas"/>
              </a:rPr>
              <a:t> </a:t>
            </a:r>
            <a:r>
              <a:rPr sz="1900" i="0">
                <a:solidFill>
                  <a:srgbClr val="5DADE2"/>
                </a:solidFill>
                <a:latin typeface="Consolas"/>
              </a:rPr>
              <a:t>long</a:t>
            </a:r>
            <a:r>
              <a:rPr sz="1900" i="0">
                <a:solidFill>
                  <a:srgbClr val="E8EDF2"/>
                </a:solidFill>
                <a:latin typeface="Consolas"/>
              </a:rPr>
              <a:t> </a:t>
            </a:r>
            <a:r>
              <a:rPr sz="1900" i="0">
                <a:solidFill>
                  <a:srgbClr val="E8EDF2"/>
                </a:solidFill>
                <a:latin typeface="Consolas"/>
              </a:rPr>
              <a:t>worst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max_element</a:t>
            </a:r>
            <a:r>
              <a:rPr sz="1900" i="0">
                <a:solidFill>
                  <a:srgbClr val="AEB6BF"/>
                </a:solidFill>
                <a:latin typeface="Consolas"/>
              </a:rPr>
              <a:t>(</a:t>
            </a:r>
            <a:r>
              <a:rPr sz="1900" i="0">
                <a:solidFill>
                  <a:srgbClr val="E8EDF2"/>
                </a:solidFill>
                <a:latin typeface="Consolas"/>
              </a:rPr>
              <a:t>cost</a:t>
            </a:r>
            <a:r>
              <a:rPr sz="1900" i="0">
                <a:solidFill>
                  <a:srgbClr val="AEB6BF"/>
                </a:solidFill>
                <a:latin typeface="Consolas"/>
              </a:rPr>
              <a:t>.</a:t>
            </a:r>
            <a:r>
              <a:rPr sz="1900" i="0">
                <a:solidFill>
                  <a:srgbClr val="E8EDF2"/>
                </a:solidFill>
                <a:latin typeface="Consolas"/>
              </a:rPr>
              <a:t>begin</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cost</a:t>
            </a:r>
            <a:r>
              <a:rPr sz="1900" i="0">
                <a:solidFill>
                  <a:srgbClr val="AEB6BF"/>
                </a:solidFill>
                <a:latin typeface="Consolas"/>
              </a:rPr>
              <a:t>.</a:t>
            </a:r>
            <a:r>
              <a:rPr sz="1900" i="0">
                <a:solidFill>
                  <a:srgbClr val="E8EDF2"/>
                </a:solidFill>
                <a:latin typeface="Consolas"/>
              </a:rPr>
              <a:t>end</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expensive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long</a:t>
            </a:r>
            <a:r>
              <a:rPr sz="1900" i="0">
                <a:solidFill>
                  <a:srgbClr val="E8EDF2"/>
                </a:solidFill>
                <a:latin typeface="Consolas"/>
              </a:rPr>
              <a:t> </a:t>
            </a:r>
            <a:r>
              <a:rPr sz="1900" i="0">
                <a:solidFill>
                  <a:srgbClr val="5DADE2"/>
                </a:solidFill>
                <a:latin typeface="Consolas"/>
              </a:rPr>
              <a:t>long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cost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expensive</a:t>
            </a:r>
            <a:r>
              <a:rPr sz="1900" i="0">
                <a:solidFill>
                  <a:srgbClr val="AEB6BF"/>
                </a:solidFill>
                <a:latin typeface="Consolas"/>
              </a:rPr>
              <a:t>;</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Rare Expensive Operation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63193336-734A-440B-9C58-FF149B8A3DAA}"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growth factor is a real engineering choice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code/ch17_amortised.cpp</a:t>
            </a:r>
          </a:p>
        </p:txBody>
      </p:sp>
      <p:sp>
        <p:nvSpPr>
          <p:cNvPr id="14" name="!!code-text" descr="// --- 4. The growth factor is a real engineering choice ------------- // Larger factor: fewer copies, more wasted space. Smaller factor: the // reverse. 1.5 is what several standard libraries use; 2.0 is what // most textbooks describ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The growth factor is a real engineering choice -------------</a:t>
            </a:r>
          </a:p>
          <a:p>
            <a:pPr>
              <a:lnSpc>
                <a:spcPct val="100000"/>
              </a:lnSpc>
              <a:spcAft>
                <a:spcPts val="0"/>
              </a:spcAft>
            </a:pPr>
            <a:r>
              <a:rPr sz="1900" i="1">
                <a:solidFill>
                  <a:srgbClr val="8795A1"/>
                </a:solidFill>
                <a:latin typeface="Consolas"/>
              </a:rPr>
              <a:t>// Larger factor: fewer copies, more wasted space. Smaller factor: the</a:t>
            </a:r>
          </a:p>
          <a:p>
            <a:pPr>
              <a:lnSpc>
                <a:spcPct val="100000"/>
              </a:lnSpc>
              <a:spcAft>
                <a:spcPts val="0"/>
              </a:spcAft>
            </a:pPr>
            <a:r>
              <a:rPr sz="1900" i="1">
                <a:solidFill>
                  <a:srgbClr val="8795A1"/>
                </a:solidFill>
                <a:latin typeface="Consolas"/>
              </a:rPr>
              <a:t>// reverse. 1.5 is what several standard libraries use; 2.0 is what</a:t>
            </a:r>
          </a:p>
          <a:p>
            <a:pPr>
              <a:lnSpc>
                <a:spcPct val="100000"/>
              </a:lnSpc>
              <a:spcAft>
                <a:spcPts val="0"/>
              </a:spcAft>
            </a:pPr>
            <a:r>
              <a:rPr sz="1900" i="1">
                <a:solidFill>
                  <a:srgbClr val="8795A1"/>
                </a:solidFill>
                <a:latin typeface="Consolas"/>
              </a:rPr>
              <a:t>// most textbooks describe.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Rare Expensive Operation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1AE7B897-4C4C-42D8-9E29-1BAC06C88833}"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in seconds, against the real thing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code/ch17_amortised.cpp</a:t>
            </a:r>
          </a:p>
        </p:txBody>
      </p:sp>
      <p:sp>
        <p:nvSpPr>
          <p:cNvPr id="14" name="!!code-text" descr="// --- 5. And in seconds, against the real thing --------------------- // The two policies need different ranges. Doubling at n = 160,000 // takes under a millisecond, too small to measure -- the first // version of this table reported ratios of 0.92, 1.19, 1.81 and 4.04 // for a linear algorithm, all of it noise."/>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And in seconds, against the real thing ---------------------</a:t>
            </a:r>
          </a:p>
          <a:p>
            <a:pPr>
              <a:lnSpc>
                <a:spcPct val="100000"/>
              </a:lnSpc>
              <a:spcAft>
                <a:spcPts val="0"/>
              </a:spcAft>
            </a:pPr>
            <a:r>
              <a:rPr sz="1900" i="1">
                <a:solidFill>
                  <a:srgbClr val="8795A1"/>
                </a:solidFill>
                <a:latin typeface="Consolas"/>
              </a:rPr>
              <a:t>// The two policies need different ranges. Doubling at n = 160,000</a:t>
            </a:r>
          </a:p>
          <a:p>
            <a:pPr>
              <a:lnSpc>
                <a:spcPct val="100000"/>
              </a:lnSpc>
              <a:spcAft>
                <a:spcPts val="0"/>
              </a:spcAft>
            </a:pPr>
            <a:r>
              <a:rPr sz="1900" i="1">
                <a:solidFill>
                  <a:srgbClr val="8795A1"/>
                </a:solidFill>
                <a:latin typeface="Consolas"/>
              </a:rPr>
              <a:t>// takes under a millisecond, too small to measure -- the first</a:t>
            </a:r>
          </a:p>
          <a:p>
            <a:pPr>
              <a:lnSpc>
                <a:spcPct val="100000"/>
              </a:lnSpc>
              <a:spcAft>
                <a:spcPts val="0"/>
              </a:spcAft>
            </a:pPr>
            <a:r>
              <a:rPr sz="1900" i="1">
                <a:solidFill>
                  <a:srgbClr val="8795A1"/>
                </a:solidFill>
                <a:latin typeface="Consolas"/>
              </a:rPr>
              <a:t>// version of this table reported ratios of 0.92, 1.19, 1.81 and 4.04</a:t>
            </a:r>
          </a:p>
          <a:p>
            <a:pPr>
              <a:lnSpc>
                <a:spcPct val="100000"/>
              </a:lnSpc>
              <a:spcAft>
                <a:spcPts val="0"/>
              </a:spcAft>
            </a:pPr>
            <a:r>
              <a:rPr sz="1900" i="1">
                <a:solidFill>
                  <a:srgbClr val="8795A1"/>
                </a:solidFill>
                <a:latin typeface="Consolas"/>
              </a:rPr>
              <a:t>// for a linear algorithm, all of it noise.</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142     </a:t>
            </a:r>
            <a:fld id="{E3BFF80F-6EBD-46BA-9FEF-903ACC82C0FE}"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4"/>
          </a:xfrm>
          <a:prstGeom prst="roundRect">
            <a:avLst>
              <a:gd name="adj" fmla="val 206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Part 3 prints </a:t>
            </a:r>
            <a:r>
              <a:rPr sz="2150" b="0" i="0">
                <a:solidFill>
                  <a:srgbClr val="1F4E79"/>
                </a:solidFill>
                <a:latin typeface="Consolas"/>
              </a:rPr>
              <a:t>worst case x n</a:t>
            </a:r>
            <a:r>
              <a:rPr sz="2300" b="0" i="0">
                <a:solidFill>
                  <a:srgbClr val="1C252B"/>
                </a:solidFill>
                <a:latin typeface="Segoe UI"/>
              </a:rPr>
              <a:t> beside the true total. Those two numbers — 524 billion and 1.05 million — are the bound amortised analysis replaces and the answer it gives. The whole chapter is the gap between them.</a:t>
            </a:r>
          </a:p>
        </p:txBody>
      </p:sp>
      <p:sp>
        <p:nvSpPr>
          <p:cNvPr id="10" name="body-1"/>
          <p:cNvSpPr txBox="1"/>
          <p:nvPr/>
        </p:nvSpPr>
        <p:spPr>
          <a:xfrm>
            <a:off x="1060704" y="3667074"/>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Add a growth factor of exactly 1.0 and predict what happens before running. The guard </a:t>
            </a:r>
            <a:r>
              <a:rPr sz="2150" b="0" i="0">
                <a:solidFill>
                  <a:srgbClr val="1F4E79"/>
                </a:solidFill>
                <a:latin typeface="Consolas"/>
              </a:rPr>
              <a:t>if (ncap == cap) ncap = cap + 1</a:t>
            </a:r>
            <a:r>
              <a:rPr sz="2300" b="0" i="0">
                <a:solidFill>
                  <a:srgbClr val="1C252B"/>
                </a:solidFill>
                <a:latin typeface="Segoe UI"/>
              </a:rPr>
              <a:t> catches it and the policy degenerates to grow-by-one — but remove that guard and the capacity never increases, the </a:t>
            </a:r>
            <a:r>
              <a:rPr sz="2150" b="0" i="0">
                <a:solidFill>
                  <a:srgbClr val="1F4E79"/>
                </a:solidFill>
                <a:latin typeface="Consolas"/>
              </a:rPr>
              <a:t>push</a:t>
            </a:r>
            <a:r>
              <a:rPr sz="2300" b="0" i="0">
                <a:solidFill>
                  <a:srgbClr val="1C252B"/>
                </a:solidFill>
                <a:latin typeface="Segoe UI"/>
              </a:rPr>
              <a:t> never terminates its resize, and you have written Chapter 4’s non-terminating loop again. A measure that fails to decrease is still the commonest way to hang a program.</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Using the aggregate method, show that </a:t>
            </a:r>
            <a:r>
              <a:rPr sz="3400" b="0" i="1">
                <a:solidFill>
                  <a:srgbClr val="FFFFFF"/>
                </a:solidFill>
                <a:latin typeface="Cambria"/>
              </a:rPr>
              <a:t>n</a:t>
            </a:r>
            <a:r>
              <a:rPr sz="3400" b="0" i="0">
                <a:solidFill>
                  <a:srgbClr val="FFFFFF"/>
                </a:solidFill>
                <a:latin typeface="Segoe UI Semibold"/>
              </a:rPr>
              <a:t> appends to a doubling array perform fewer than </a:t>
            </a:r>
            <a:r>
              <a:rPr sz="3400" b="0" i="0">
                <a:solidFill>
                  <a:srgbClr val="FFFFFF"/>
                </a:solidFill>
                <a:latin typeface="Cambria"/>
              </a:rPr>
              <a:t>2</a:t>
            </a:r>
            <a:r>
              <a:rPr sz="3400" b="0" i="1">
                <a:solidFill>
                  <a:srgbClr val="FFFFFF"/>
                </a:solidFill>
                <a:latin typeface="Cambria"/>
              </a:rPr>
              <a:t>n</a:t>
            </a:r>
            <a:r>
              <a:rPr sz="3400" b="0" i="0">
                <a:solidFill>
                  <a:srgbClr val="FFFFFF"/>
                </a:solidFill>
                <a:latin typeface="Segoe UI Semibold"/>
              </a:rPr>
              <a:t> copies, and compare with the measured 1.024 per append.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17  ·  Amortised Analysis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146  ·  answers in Appendix D     </a:t>
            </a:r>
            <a:fld id="{53DE5673-132D-415E-AD2D-568ACAD637C6}"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Using the aggregate method, show that </a:t>
            </a:r>
            <a:r>
              <a:rPr sz="2400" b="0" i="1">
                <a:solidFill>
                  <a:srgbClr val="1A5276"/>
                </a:solidFill>
                <a:latin typeface="Cambria"/>
              </a:rPr>
              <a:t>n</a:t>
            </a:r>
            <a:r>
              <a:rPr sz="2400" b="0" i="0">
                <a:solidFill>
                  <a:srgbClr val="1A5276"/>
                </a:solidFill>
                <a:latin typeface="Segoe UI Semibold"/>
              </a:rPr>
              <a:t> appends to a doubling array perform fewer than </a:t>
            </a:r>
            <a:r>
              <a:rPr sz="2400" b="0" i="0">
                <a:solidFill>
                  <a:srgbClr val="1A5276"/>
                </a:solidFill>
                <a:latin typeface="Cambria"/>
              </a:rPr>
              <a:t>2</a:t>
            </a:r>
            <a:r>
              <a:rPr sz="2400" b="0" i="1">
                <a:solidFill>
                  <a:srgbClr val="1A5276"/>
                </a:solidFill>
                <a:latin typeface="Cambria"/>
              </a:rPr>
              <a:t>n</a:t>
            </a:r>
            <a:r>
              <a:rPr sz="2400" b="0" i="0">
                <a:solidFill>
                  <a:srgbClr val="1A5276"/>
                </a:solidFill>
                <a:latin typeface="Segoe UI Semibold"/>
              </a:rPr>
              <a:t> copies, and compare with the measured 1.024 per append.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44859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 name="!!ans-0" descr="Copying happens at lengths 1, 2, 4, …, the powers of two up to n, and the copy at length 2k moves 2k elements. So the total is Σk=0⌊ lg n⌋ 2k = 2⌊ lg n⌋+1−1 &lt; 2n. The measured 1.024 is just over 1n, not 2n, because when n is a power of two the sum is exactly n−1; the bound of 2n is the worst position within a doubling interva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7552" y="2114092"/>
            <a:ext cx="10509199" cy="1448592"/>
          </a:xfrm>
          <a:prstGeom prst="rect">
            <a:avLst/>
          </a:prstGeom>
        </p:spPr>
      </p:pic>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  answers in Appendix D     </a:t>
            </a:r>
            <a:fld id="{4329910D-A8FE-43BF-AF4C-5A97BB11D18D}"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4132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Compute the amortised cost of an append under the potential function </a:t>
            </a:r>
            <a:r>
              <a:rPr sz="3400" b="0" i="0">
                <a:solidFill>
                  <a:srgbClr val="FFFFFF"/>
                </a:solidFill>
                <a:latin typeface="Cambria"/>
              </a:rPr>
              <a:t>Φ = 2 </a:t>
            </a:r>
            <a:r>
              <a:rPr sz="3400" b="0" i="1">
                <a:solidFill>
                  <a:srgbClr val="FFFFFF"/>
                </a:solidFill>
                <a:latin typeface="Cambria"/>
              </a:rPr>
              <a:t>len</a:t>
            </a:r>
            <a:r>
              <a:rPr sz="3400" b="0" i="0">
                <a:solidFill>
                  <a:srgbClr val="FFFFFF"/>
                </a:solidFill>
                <a:latin typeface="Cambria"/>
              </a:rPr>
              <a:t> − </a:t>
            </a:r>
            <a:r>
              <a:rPr sz="3400" b="0" i="1">
                <a:solidFill>
                  <a:srgbClr val="FFFFFF"/>
                </a:solidFill>
                <a:latin typeface="Cambria"/>
              </a:rPr>
              <a:t>cap</a:t>
            </a:r>
            <a:r>
              <a:rPr sz="3400" b="0" i="0">
                <a:solidFill>
                  <a:srgbClr val="FFFFFF"/>
                </a:solidFill>
                <a:latin typeface="Segoe UI Semibold"/>
              </a:rPr>
              <a:t>, for both the cheap and the expensive case, and say why they must come out equal.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17  ·  Amortised Analysis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146  ·  answers in Appendix D     </a:t>
            </a:r>
            <a:fld id="{020D4DF7-56ED-4BBB-A8AC-0788DFB09D54}"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Compute the amortised cost of an append under the potential function </a:t>
            </a:r>
            <a:r>
              <a:rPr sz="2400" b="0" i="0">
                <a:solidFill>
                  <a:srgbClr val="1A5276"/>
                </a:solidFill>
                <a:latin typeface="Cambria"/>
              </a:rPr>
              <a:t>Φ = 2 </a:t>
            </a:r>
            <a:r>
              <a:rPr sz="2400" b="0" i="1">
                <a:solidFill>
                  <a:srgbClr val="1A5276"/>
                </a:solidFill>
                <a:latin typeface="Cambria"/>
              </a:rPr>
              <a:t>len</a:t>
            </a:r>
            <a:r>
              <a:rPr sz="2400" b="0" i="0">
                <a:solidFill>
                  <a:srgbClr val="1A5276"/>
                </a:solidFill>
                <a:latin typeface="Cambria"/>
              </a:rPr>
              <a:t> − </a:t>
            </a:r>
            <a:r>
              <a:rPr sz="2400" b="0" i="1">
                <a:solidFill>
                  <a:srgbClr val="1A5276"/>
                </a:solidFill>
                <a:latin typeface="Cambria"/>
              </a:rPr>
              <a:t>cap</a:t>
            </a:r>
            <a:r>
              <a:rPr sz="2400" b="0" i="0">
                <a:solidFill>
                  <a:srgbClr val="1A5276"/>
                </a:solidFill>
                <a:latin typeface="Segoe UI Semibold"/>
              </a:rPr>
              <a:t>, for both the cheap and the expensive case, and say why they must come out equal.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Cheap:</a:t>
            </a:r>
            <a:r>
              <a:rPr sz="2200" b="0" i="0">
                <a:solidFill>
                  <a:srgbClr val="1C252B"/>
                </a:solidFill>
                <a:latin typeface="Segoe UI"/>
              </a:rPr>
              <a:t> </a:t>
            </a:r>
            <a:r>
              <a:rPr sz="2200" b="0" i="1">
                <a:solidFill>
                  <a:srgbClr val="1C252B"/>
                </a:solidFill>
                <a:latin typeface="Cambria"/>
              </a:rPr>
              <a:t>c</a:t>
            </a:r>
            <a:r>
              <a:rPr sz="2200" b="0" i="0">
                <a:solidFill>
                  <a:srgbClr val="1C252B"/>
                </a:solidFill>
                <a:latin typeface="Cambria"/>
              </a:rPr>
              <a:t> = 1</a:t>
            </a:r>
            <a:r>
              <a:rPr sz="2200" b="0" i="0">
                <a:solidFill>
                  <a:srgbClr val="1C252B"/>
                </a:solidFill>
                <a:latin typeface="Segoe UI"/>
              </a:rPr>
              <a:t>, </a:t>
            </a:r>
            <a:r>
              <a:rPr sz="2200" b="0" i="1">
                <a:solidFill>
                  <a:srgbClr val="1C252B"/>
                </a:solidFill>
                <a:latin typeface="Segoe UI"/>
              </a:rPr>
              <a:t>len</a:t>
            </a:r>
            <a:r>
              <a:rPr sz="2200" b="0" i="0">
                <a:solidFill>
                  <a:srgbClr val="1C252B"/>
                </a:solidFill>
                <a:latin typeface="Segoe UI"/>
              </a:rPr>
              <a:t> rises by 1 so </a:t>
            </a:r>
            <a:r>
              <a:rPr sz="2200" b="0" i="0">
                <a:solidFill>
                  <a:srgbClr val="1C252B"/>
                </a:solidFill>
                <a:latin typeface="Cambria"/>
              </a:rPr>
              <a:t>Φ</a:t>
            </a:r>
            <a:r>
              <a:rPr sz="2200" b="0" i="0">
                <a:solidFill>
                  <a:srgbClr val="1C252B"/>
                </a:solidFill>
                <a:latin typeface="Segoe UI"/>
              </a:rPr>
              <a:t> rises by 2, giving </a:t>
            </a:r>
            <a:r>
              <a:rPr sz="2200" b="0" i="1">
                <a:solidFill>
                  <a:srgbClr val="1C252B"/>
                </a:solidFill>
                <a:latin typeface="Cambria"/>
              </a:rPr>
              <a:t>c</a:t>
            </a:r>
            <a:r>
              <a:rPr sz="2200" b="0" i="0">
                <a:solidFill>
                  <a:srgbClr val="1C252B"/>
                </a:solidFill>
                <a:latin typeface="Cambria"/>
              </a:rPr>
              <a:t> = 1 + 2 = 3</a:t>
            </a:r>
            <a:r>
              <a:rPr sz="2200" b="0" i="0">
                <a:solidFill>
                  <a:srgbClr val="1C252B"/>
                </a:solidFill>
                <a:latin typeface="Segoe UI"/>
              </a:rPr>
              <a:t>. </a:t>
            </a:r>
            <a:r>
              <a:rPr sz="2200" b="1" i="0">
                <a:solidFill>
                  <a:srgbClr val="1C252B"/>
                </a:solidFill>
                <a:latin typeface="Segoe UI"/>
              </a:rPr>
              <a:t>Expensive</a:t>
            </a:r>
            <a:r>
              <a:rPr sz="2200" b="0" i="0">
                <a:solidFill>
                  <a:srgbClr val="1C252B"/>
                </a:solidFill>
                <a:latin typeface="Segoe UI"/>
              </a:rPr>
              <a:t> (resize from </a:t>
            </a:r>
            <a:r>
              <a:rPr sz="2200" b="0" i="1">
                <a:solidFill>
                  <a:srgbClr val="1C252B"/>
                </a:solidFill>
                <a:latin typeface="Cambria"/>
              </a:rPr>
              <a:t>m</a:t>
            </a:r>
            <a:r>
              <a:rPr sz="2200" b="0" i="0">
                <a:solidFill>
                  <a:srgbClr val="1C252B"/>
                </a:solidFill>
                <a:latin typeface="Segoe UI"/>
              </a:rPr>
              <a:t> to </a:t>
            </a:r>
            <a:r>
              <a:rPr sz="2200" b="0" i="0">
                <a:solidFill>
                  <a:srgbClr val="1C252B"/>
                </a:solidFill>
                <a:latin typeface="Cambria"/>
              </a:rPr>
              <a:t>2</a:t>
            </a:r>
            <a:r>
              <a:rPr sz="2200" b="0" i="1">
                <a:solidFill>
                  <a:srgbClr val="1C252B"/>
                </a:solidFill>
                <a:latin typeface="Cambria"/>
              </a:rPr>
              <a:t>m</a:t>
            </a:r>
            <a:r>
              <a:rPr sz="2200" b="0" i="0">
                <a:solidFill>
                  <a:srgbClr val="1C252B"/>
                </a:solidFill>
                <a:latin typeface="Segoe UI"/>
              </a:rPr>
              <a:t> with </a:t>
            </a:r>
            <a:r>
              <a:rPr sz="2200" b="0" i="1">
                <a:solidFill>
                  <a:srgbClr val="1C252B"/>
                </a:solidFill>
                <a:latin typeface="Segoe UI"/>
              </a:rPr>
              <a:t>len</a:t>
            </a:r>
            <a:r>
              <a:rPr sz="2200" b="0" i="0">
                <a:solidFill>
                  <a:srgbClr val="1C252B"/>
                </a:solidFill>
                <a:latin typeface="Segoe UI"/>
              </a:rPr>
              <a:t> </a:t>
            </a:r>
            <a:r>
              <a:rPr sz="2200" b="0" i="0">
                <a:solidFill>
                  <a:srgbClr val="1C252B"/>
                </a:solidFill>
                <a:latin typeface="Cambria"/>
              </a:rPr>
              <a:t>= </a:t>
            </a:r>
            <a:r>
              <a:rPr sz="2200" b="0" i="1">
                <a:solidFill>
                  <a:srgbClr val="1C252B"/>
                </a:solidFill>
                <a:latin typeface="Cambria"/>
              </a:rPr>
              <a:t>m</a:t>
            </a:r>
            <a:r>
              <a:rPr sz="2200" b="0" i="0">
                <a:solidFill>
                  <a:srgbClr val="1C252B"/>
                </a:solidFill>
                <a:latin typeface="Segoe UI"/>
              </a:rPr>
              <a:t>): </a:t>
            </a:r>
            <a:r>
              <a:rPr sz="2200" b="0" i="1">
                <a:solidFill>
                  <a:srgbClr val="1C252B"/>
                </a:solidFill>
                <a:latin typeface="Cambria"/>
              </a:rPr>
              <a:t>c</a:t>
            </a:r>
            <a:r>
              <a:rPr sz="2200" b="0" i="0">
                <a:solidFill>
                  <a:srgbClr val="1C252B"/>
                </a:solidFill>
                <a:latin typeface="Cambria"/>
              </a:rPr>
              <a:t> = </a:t>
            </a:r>
            <a:r>
              <a:rPr sz="2200" b="0" i="1">
                <a:solidFill>
                  <a:srgbClr val="1C252B"/>
                </a:solidFill>
                <a:latin typeface="Cambria"/>
              </a:rPr>
              <a:t>m</a:t>
            </a:r>
            <a:r>
              <a:rPr sz="2200" b="0" i="0">
                <a:solidFill>
                  <a:srgbClr val="1C252B"/>
                </a:solidFill>
                <a:latin typeface="Cambria"/>
              </a:rPr>
              <a:t>+1</a:t>
            </a:r>
            <a:r>
              <a:rPr sz="2200" b="0" i="0">
                <a:solidFill>
                  <a:srgbClr val="1C252B"/>
                </a:solidFill>
                <a:latin typeface="Segoe UI"/>
              </a:rPr>
              <a:t>; before, </a:t>
            </a:r>
            <a:r>
              <a:rPr sz="2200" b="0" i="0">
                <a:solidFill>
                  <a:srgbClr val="1C252B"/>
                </a:solidFill>
                <a:latin typeface="Cambria"/>
              </a:rPr>
              <a:t>Φ = 2</a:t>
            </a:r>
            <a:r>
              <a:rPr sz="2200" b="0" i="1">
                <a:solidFill>
                  <a:srgbClr val="1C252B"/>
                </a:solidFill>
                <a:latin typeface="Cambria"/>
              </a:rPr>
              <a:t>m</a:t>
            </a:r>
            <a:r>
              <a:rPr sz="2200" b="0" i="0">
                <a:solidFill>
                  <a:srgbClr val="1C252B"/>
                </a:solidFill>
                <a:latin typeface="Cambria"/>
              </a:rPr>
              <a:t> − </a:t>
            </a:r>
            <a:r>
              <a:rPr sz="2200" b="0" i="1">
                <a:solidFill>
                  <a:srgbClr val="1C252B"/>
                </a:solidFill>
                <a:latin typeface="Cambria"/>
              </a:rPr>
              <a:t>m</a:t>
            </a:r>
            <a:r>
              <a:rPr sz="2200" b="0" i="0">
                <a:solidFill>
                  <a:srgbClr val="1C252B"/>
                </a:solidFill>
                <a:latin typeface="Cambria"/>
              </a:rPr>
              <a:t> = </a:t>
            </a:r>
            <a:r>
              <a:rPr sz="2200" b="0" i="1">
                <a:solidFill>
                  <a:srgbClr val="1C252B"/>
                </a:solidFill>
                <a:latin typeface="Cambria"/>
              </a:rPr>
              <a:t>m</a:t>
            </a:r>
            <a:r>
              <a:rPr sz="2200" b="0" i="0">
                <a:solidFill>
                  <a:srgbClr val="1C252B"/>
                </a:solidFill>
                <a:latin typeface="Segoe UI"/>
              </a:rPr>
              <a:t>; after, </a:t>
            </a:r>
            <a:r>
              <a:rPr sz="2200" b="0" i="0">
                <a:solidFill>
                  <a:srgbClr val="1C252B"/>
                </a:solidFill>
                <a:latin typeface="Cambria"/>
              </a:rPr>
              <a:t>Φ = 2(</a:t>
            </a:r>
            <a:r>
              <a:rPr sz="2200" b="0" i="1">
                <a:solidFill>
                  <a:srgbClr val="1C252B"/>
                </a:solidFill>
                <a:latin typeface="Cambria"/>
              </a:rPr>
              <a:t>m</a:t>
            </a:r>
            <a:r>
              <a:rPr sz="2200" b="0" i="0">
                <a:solidFill>
                  <a:srgbClr val="1C252B"/>
                </a:solidFill>
                <a:latin typeface="Cambria"/>
              </a:rPr>
              <a:t>+1) − 2</a:t>
            </a:r>
            <a:r>
              <a:rPr sz="2200" b="0" i="1">
                <a:solidFill>
                  <a:srgbClr val="1C252B"/>
                </a:solidFill>
                <a:latin typeface="Cambria"/>
              </a:rPr>
              <a:t>m</a:t>
            </a:r>
            <a:r>
              <a:rPr sz="2200" b="0" i="0">
                <a:solidFill>
                  <a:srgbClr val="1C252B"/>
                </a:solidFill>
                <a:latin typeface="Cambria"/>
              </a:rPr>
              <a:t> = 2</a:t>
            </a:r>
            <a:r>
              <a:rPr sz="2200" b="0" i="0">
                <a:solidFill>
                  <a:srgbClr val="1C252B"/>
                </a:solidFill>
                <a:latin typeface="Segoe UI"/>
              </a:rPr>
              <a:t>; so </a:t>
            </a:r>
            <a:r>
              <a:rPr sz="2200" b="0" i="1">
                <a:solidFill>
                  <a:srgbClr val="1C252B"/>
                </a:solidFill>
                <a:latin typeface="Cambria"/>
              </a:rPr>
              <a:t>c</a:t>
            </a:r>
            <a:r>
              <a:rPr sz="2200" b="0" i="0">
                <a:solidFill>
                  <a:srgbClr val="1C252B"/>
                </a:solidFill>
                <a:latin typeface="Cambria"/>
              </a:rPr>
              <a:t> = (</a:t>
            </a:r>
            <a:r>
              <a:rPr sz="2200" b="0" i="1">
                <a:solidFill>
                  <a:srgbClr val="1C252B"/>
                </a:solidFill>
                <a:latin typeface="Cambria"/>
              </a:rPr>
              <a:t>m</a:t>
            </a:r>
            <a:r>
              <a:rPr sz="2200" b="0" i="0">
                <a:solidFill>
                  <a:srgbClr val="1C252B"/>
                </a:solidFill>
                <a:latin typeface="Cambria"/>
              </a:rPr>
              <a:t>+1) + 2 − </a:t>
            </a:r>
            <a:r>
              <a:rPr sz="2200" b="0" i="1">
                <a:solidFill>
                  <a:srgbClr val="1C252B"/>
                </a:solidFill>
                <a:latin typeface="Cambria"/>
              </a:rPr>
              <a:t>m</a:t>
            </a:r>
            <a:r>
              <a:rPr sz="2200" b="0" i="0">
                <a:solidFill>
                  <a:srgbClr val="1C252B"/>
                </a:solidFill>
                <a:latin typeface="Cambria"/>
              </a:rPr>
              <a:t> = 3</a:t>
            </a:r>
            <a:r>
              <a:rPr sz="2200" b="0" i="0">
                <a:solidFill>
                  <a:srgbClr val="1C252B"/>
                </a:solidFill>
                <a:latin typeface="Segoe UI"/>
              </a:rPr>
              <a:t>. They </a:t>
            </a:r>
            <a:r>
              <a:rPr sz="2200" b="0" i="1">
                <a:solidFill>
                  <a:srgbClr val="1C252B"/>
                </a:solidFill>
                <a:latin typeface="Segoe UI"/>
              </a:rPr>
              <a:t>must</a:t>
            </a:r>
            <a:r>
              <a:rPr sz="2200" b="0" i="0">
                <a:solidFill>
                  <a:srgbClr val="1C252B"/>
                </a:solidFill>
                <a:latin typeface="Segoe UI"/>
              </a:rPr>
              <a:t> come out equal, or the potential function would not be doing its job — the whole point is to choose </a:t>
            </a:r>
            <a:r>
              <a:rPr sz="2200" b="0" i="0">
                <a:solidFill>
                  <a:srgbClr val="1C252B"/>
                </a:solidFill>
                <a:latin typeface="Cambria"/>
              </a:rPr>
              <a:t>Φ</a:t>
            </a:r>
            <a:r>
              <a:rPr sz="2200" b="0" i="0">
                <a:solidFill>
                  <a:srgbClr val="1C252B"/>
                </a:solidFill>
                <a:latin typeface="Segoe UI"/>
              </a:rPr>
              <a:t> so that the expensive operation’s real cost is exactly paid for by the potential the cheap ones accumulated.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  answers in Appendix D     </a:t>
            </a:r>
            <a:fld id="{31B014EA-58AF-4B67-8C8D-9DFA8BFB8E30}"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714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Give a situation in which an amortised </a:t>
            </a:r>
            <a:r>
              <a:rPr sz="3400" b="0" i="0">
                <a:solidFill>
                  <a:srgbClr val="FFFFFF"/>
                </a:solidFill>
                <a:latin typeface="Cambria"/>
              </a:rPr>
              <a:t>O(1)</a:t>
            </a:r>
            <a:r>
              <a:rPr sz="3400" b="0" i="0">
                <a:solidFill>
                  <a:srgbClr val="FFFFFF"/>
                </a:solidFill>
                <a:latin typeface="Segoe UI Semibold"/>
              </a:rPr>
              <a:t> guarantee is inadequate, and say what the measured data in Section 17.3 tells you about it </a:t>
            </a:r>
            <a:r>
              <a:rPr sz="3400" b="0" i="1">
                <a:solidFill>
                  <a:srgbClr val="FFFFFF"/>
                </a:solidFill>
                <a:latin typeface="Segoe UI Semibold"/>
              </a:rPr>
              <a:t>(CLO-3)</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17  ·  Amortised Analysis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146  ·  answers in Appendix D     </a:t>
            </a:r>
            <a:fld id="{C323BB95-1B26-46D6-9773-F7D54C152C5D}"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Give a situation in which an amortised </a:t>
            </a:r>
            <a:r>
              <a:rPr sz="2400" b="0" i="0">
                <a:solidFill>
                  <a:srgbClr val="1A5276"/>
                </a:solidFill>
                <a:latin typeface="Cambria"/>
              </a:rPr>
              <a:t>O(1)</a:t>
            </a:r>
            <a:r>
              <a:rPr sz="2400" b="0" i="0">
                <a:solidFill>
                  <a:srgbClr val="1A5276"/>
                </a:solidFill>
                <a:latin typeface="Segoe UI Semibold"/>
              </a:rPr>
              <a:t> guarantee is inadequate, and say what the measured data in Section 17.3 tells you about it </a:t>
            </a:r>
            <a:r>
              <a:rPr sz="2400" b="0" i="1">
                <a:solidFill>
                  <a:srgbClr val="1A5276"/>
                </a:solidFill>
                <a:latin typeface="Segoe UI Semibold"/>
              </a:rPr>
              <a:t>(CLO-3)</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Any </a:t>
            </a:r>
            <a:r>
              <a:rPr sz="2200" b="1" i="0">
                <a:solidFill>
                  <a:srgbClr val="1C252B"/>
                </a:solidFill>
                <a:latin typeface="Segoe UI"/>
              </a:rPr>
              <a:t>latency-bounded</a:t>
            </a:r>
            <a:r>
              <a:rPr sz="2200" b="0" i="0">
                <a:solidFill>
                  <a:srgbClr val="1C252B"/>
                </a:solidFill>
                <a:latin typeface="Segoe UI"/>
              </a:rPr>
              <a:t> context: a 16 ms frame deadline, an interrupt handler, an audio callback, a trading system. Measured, the amortised cost was 1.049 copies per append and the worst single append copied </a:t>
            </a:r>
            <a:r>
              <a:rPr sz="2200" b="1" i="0">
                <a:solidFill>
                  <a:srgbClr val="1C252B"/>
                </a:solidFill>
                <a:latin typeface="Segoe UI"/>
              </a:rPr>
              <a:t>524,288</a:t>
            </a:r>
            <a:r>
              <a:rPr sz="2200" b="0" i="0">
                <a:solidFill>
                  <a:srgbClr val="1C252B"/>
                </a:solidFill>
                <a:latin typeface="Segoe UI"/>
              </a:rPr>
              <a:t> elements — half a million times the average. And only 20 of a million appends were expensive, so a latency histogram with a thousand samples would very likely contain none of them, and the system would look fine until it was not.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  answers in Appendix D     </a:t>
            </a:r>
            <a:fld id="{DD2F9A14-5C05-4E27-A64D-2BE19C73C3EC}"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0147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4B0AF276-272C-4B6F-9FA3-A11F6CE6FFDC}"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Multiplying a worst-case operation cost by the number of operations can be enormously loose, because the expensive operations cannot all happen.</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Amortised cost is the total cost of a worst-case </a:t>
            </a:r>
            <a:r>
              <a:rPr sz="1700" b="0" i="1">
                <a:solidFill>
                  <a:srgbClr val="1C252B"/>
                </a:solidFill>
                <a:latin typeface="Segoe UI"/>
              </a:rPr>
              <a:t>sequence</a:t>
            </a:r>
            <a:r>
              <a:rPr sz="1700" b="0" i="0">
                <a:solidFill>
                  <a:srgbClr val="1C252B"/>
                </a:solidFill>
                <a:latin typeface="Segoe UI"/>
              </a:rPr>
              <a:t>, divided by its length. It assumes nothing about inputs and involves no probability — unlike average-case or expected cost.</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Three methods: aggregate (sum it), accounting (charge extra and save credit), potential (define </a:t>
            </a:r>
            <a:r>
              <a:rPr sz="1700" b="0" i="0">
                <a:solidFill>
                  <a:srgbClr val="1C252B"/>
                </a:solidFill>
                <a:latin typeface="Cambria"/>
              </a:rPr>
              <a:t>Φ</a:t>
            </a:r>
            <a:r>
              <a:rPr sz="1700" b="0" i="0">
                <a:solidFill>
                  <a:srgbClr val="1C252B"/>
                </a:solidFill>
                <a:latin typeface="Segoe UI"/>
              </a:rPr>
              <a:t> and let </a:t>
            </a:r>
            <a:r>
              <a:rPr sz="1700" b="0" i="1">
                <a:solidFill>
                  <a:srgbClr val="1C252B"/>
                </a:solidFill>
                <a:latin typeface="Cambria"/>
              </a:rPr>
              <a:t>c</a:t>
            </a:r>
            <a:r>
              <a:rPr sz="1700" b="0" i="0">
                <a:solidFill>
                  <a:srgbClr val="1C252B"/>
                </a:solidFill>
                <a:latin typeface="Cambria"/>
              </a:rPr>
              <a:t> = </a:t>
            </a:r>
            <a:r>
              <a:rPr sz="1700" b="0" i="1">
                <a:solidFill>
                  <a:srgbClr val="1C252B"/>
                </a:solidFill>
                <a:latin typeface="Cambria"/>
              </a:rPr>
              <a:t>c</a:t>
            </a:r>
            <a:r>
              <a:rPr sz="1700" b="0" i="0">
                <a:solidFill>
                  <a:srgbClr val="1C252B"/>
                </a:solidFill>
                <a:latin typeface="Cambria"/>
              </a:rPr>
              <a:t> + ΔΦ</a:t>
            </a:r>
            <a:r>
              <a:rPr sz="1700" b="0" i="0">
                <a:solidFill>
                  <a:srgbClr val="1C252B"/>
                </a:solidFill>
                <a:latin typeface="Segoe UI"/>
              </a:rPr>
              <a:t>). The potential method is the one that generalises.</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1">
                <a:solidFill>
                  <a:srgbClr val="1C252B"/>
                </a:solidFill>
                <a:latin typeface="Cambria"/>
              </a:rPr>
              <a:t>n</a:t>
            </a:r>
            <a:r>
              <a:rPr sz="1700" b="0" i="0">
                <a:solidFill>
                  <a:srgbClr val="1C252B"/>
                </a:solidFill>
                <a:latin typeface="Segoe UI"/>
              </a:rPr>
              <a:t> appends to a doubling array cost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the copies are </a:t>
            </a:r>
            <a:r>
              <a:rPr sz="1700" b="0" i="0">
                <a:solidFill>
                  <a:srgbClr val="1C252B"/>
                </a:solidFill>
                <a:latin typeface="Cambria"/>
              </a:rPr>
              <a:t>1+2+4+⋯ &lt; 2</a:t>
            </a:r>
            <a:r>
              <a:rPr sz="1700" b="0" i="1">
                <a:solidFill>
                  <a:srgbClr val="1C252B"/>
                </a:solidFill>
                <a:latin typeface="Cambria"/>
              </a:rPr>
              <a:t>n</a:t>
            </a:r>
            <a:r>
              <a:rPr sz="1700" b="0" i="0">
                <a:solidFill>
                  <a:srgbClr val="1C252B"/>
                </a:solidFill>
                <a:latin typeface="Segoe UI"/>
              </a:rPr>
              <a:t>. Measured exactly 1.024 copies per append.</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grow-by-one costs exactly </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/2</a:t>
            </a:r>
            <a:r>
              <a:rPr sz="1700" b="0" i="0">
                <a:solidFill>
                  <a:srgbClr val="1C252B"/>
                </a:solidFill>
                <a:latin typeface="Segoe UI"/>
              </a:rPr>
              <a:t> copies. The policy makes the difference, not the structure.</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of one million appends, 20 copied anything, the amortised cost was 1.049, and the worst single append copied 524,288 elements. Amortised </a:t>
            </a:r>
            <a:r>
              <a:rPr sz="1700" b="0" i="0">
                <a:solidFill>
                  <a:srgbClr val="1C252B"/>
                </a:solidFill>
                <a:latin typeface="Cambria"/>
              </a:rPr>
              <a:t>O(1)</a:t>
            </a:r>
            <a:r>
              <a:rPr sz="1700" b="0" i="0">
                <a:solidFill>
                  <a:srgbClr val="1C252B"/>
                </a:solidFill>
                <a:latin typeface="Segoe UI"/>
              </a:rPr>
              <a:t> says nothing about any individual operation.</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913DA9D0-55AE-45FB-97F3-03EA28112E94}" type="slidenum">
              <a:rPr lang="en-GB" sz="1000">
                <a:solidFill>
                  <a:srgbClr val="8795A1"/>
                </a:solidFill>
                <a:latin typeface="Segoe UI"/>
              </a:rPr>
              <a:t>42</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Any growth factor </a:t>
            </a:r>
            <a:r>
              <a:rPr sz="1700" b="0" i="0">
                <a:solidFill>
                  <a:srgbClr val="1C252B"/>
                </a:solidFill>
                <a:latin typeface="Cambria"/>
              </a:rPr>
              <a:t>&gt; 1</a:t>
            </a:r>
            <a:r>
              <a:rPr sz="1700" b="0" i="0">
                <a:solidFill>
                  <a:srgbClr val="1C252B"/>
                </a:solidFill>
                <a:latin typeface="Segoe UI"/>
              </a:rPr>
              <a:t> gives </a:t>
            </a:r>
            <a:r>
              <a:rPr sz="1700" b="0" i="0">
                <a:solidFill>
                  <a:srgbClr val="1C252B"/>
                </a:solidFill>
                <a:latin typeface="Cambria"/>
              </a:rPr>
              <a:t>Θ(1)</a:t>
            </a:r>
            <a:r>
              <a:rPr sz="1700" b="0" i="0">
                <a:solidFill>
                  <a:srgbClr val="1C252B"/>
                </a:solidFill>
                <a:latin typeface="Segoe UI"/>
              </a:rPr>
              <a:t> amortised; measured, a factor of 1.1 did ten times the copying of 2.0, and 3.0 wasted 59% of its memory.</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9EDD5F7A-AABB-49E3-B74A-994AFAFC08C0}"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amortised cost of an append to a doubling array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Θ(1)</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1300" b="0" i="0" baseline="30000">
                <a:solidFill>
                  <a:srgbClr val="1C252B"/>
                </a:solidFill>
                <a:latin typeface="Cambria"/>
              </a:rPr>
              <a:t>2</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1A8039C1-1867-4FC7-B21F-D1D9A986AB18}"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Amortised analysis differs from average-case analysis in that it: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assumes a uniform input distribution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assumes nothing about the input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applies only to randomised algorithms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gives a lower bound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17  ·  Amortised Analysis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70F83806-B616-4071-B662-DD91D4F0C8A7}"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three methods of amortised analysis and give the one-line idea of each </a:t>
            </a:r>
            <a:r>
              <a:rPr sz="1900" b="0" i="1">
                <a:solidFill>
                  <a:srgbClr val="1C252B"/>
                </a:solidFill>
                <a:latin typeface="Segoe UI"/>
              </a:rPr>
              <a:t>(CLO-3)</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an amortised </a:t>
            </a:r>
            <a:r>
              <a:rPr sz="1900" b="0" i="0">
                <a:solidFill>
                  <a:srgbClr val="1C252B"/>
                </a:solidFill>
                <a:latin typeface="Cambria"/>
              </a:rPr>
              <a:t>O(1)</a:t>
            </a:r>
            <a:r>
              <a:rPr sz="1900" b="0" i="0">
                <a:solidFill>
                  <a:srgbClr val="1C252B"/>
                </a:solidFill>
                <a:latin typeface="Segoe UI"/>
              </a:rPr>
              <a:t> guarantee may be unacceptable for a real-time system, citing the measured worst single append.</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any growth factor greater than 1 give </a:t>
            </a:r>
            <a:r>
              <a:rPr sz="1900" b="0" i="0">
                <a:solidFill>
                  <a:srgbClr val="1C252B"/>
                </a:solidFill>
                <a:latin typeface="Cambria"/>
              </a:rPr>
              <a:t>Θ(1)</a:t>
            </a:r>
            <a:r>
              <a:rPr sz="1900" b="0" i="0">
                <a:solidFill>
                  <a:srgbClr val="1C252B"/>
                </a:solidFill>
                <a:latin typeface="Segoe UI"/>
              </a:rPr>
              <a:t> amortised appends, while growing by a constant does not?</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Analyse the amortised cost of incrementing a binary counter </a:t>
            </a:r>
            <a:r>
              <a:rPr sz="1900" b="0" i="1">
                <a:solidFill>
                  <a:srgbClr val="1C252B"/>
                </a:solidFill>
                <a:latin typeface="Cambria"/>
              </a:rPr>
              <a:t>n</a:t>
            </a:r>
            <a:r>
              <a:rPr sz="1900" b="0" i="0">
                <a:solidFill>
                  <a:srgbClr val="1C252B"/>
                </a:solidFill>
                <a:latin typeface="Segoe UI"/>
              </a:rPr>
              <a:t> times, using both the aggregate and the potential method (take </a:t>
            </a:r>
            <a:r>
              <a:rPr sz="1900" b="0" i="0">
                <a:solidFill>
                  <a:srgbClr val="1C252B"/>
                </a:solidFill>
                <a:latin typeface="Cambria"/>
              </a:rPr>
              <a:t>Φ</a:t>
            </a:r>
            <a:r>
              <a:rPr sz="1900" b="0" i="0">
                <a:solidFill>
                  <a:srgbClr val="1C252B"/>
                </a:solidFill>
                <a:latin typeface="Segoe UI"/>
              </a:rPr>
              <a:t> = the number of 1 bits).</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team reports their append-heavy service has a 99.99th-percentile latency 500</a:t>
            </a:r>
            <a:r>
              <a:rPr sz="1900" b="0" i="0">
                <a:solidFill>
                  <a:srgbClr val="1C252B"/>
                </a:solidFill>
                <a:latin typeface="Cambria"/>
              </a:rPr>
              <a:t>×</a:t>
            </a:r>
            <a:r>
              <a:rPr sz="1900" b="0" i="0">
                <a:solidFill>
                  <a:srgbClr val="1C252B"/>
                </a:solidFill>
                <a:latin typeface="Segoe UI"/>
              </a:rPr>
              <a:t> its median. Explain the likely cause from this chapter, say what measurement would confirm it, and give two fixes with their trade-offs.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18 — Graphs: Representation, Traversal and Sparsity</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17, pages 137–146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growing array: aggregate cost against worst-case cost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2 (Ch 10–16)</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17  ·  Amortised Analysis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1E88EDB0-75C5-420A-B989-BE105FD52486}"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Amortised Analysis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