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3.svg" ContentType="image/svg+xml"/>
  <Override PartName="/ppt/media/image24.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1.svg" ContentType="image/svg+xml"/>
  <Override PartName="/ppt/media/image32.svg" ContentType="image/svg+xml"/>
  <Override PartName="/ppt/media/image33.svg" ContentType="image/svg+xml"/>
  <Override PartName="/ppt/media/image35.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3.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7.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media/image65.svg" ContentType="image/svg+xml"/>
  <Override PartName="/ppt/media/image66.svg" ContentType="image/svg+xml"/>
  <Override PartName="/ppt/media/image68.svg" ContentType="image/svg+xml"/>
  <Override PartName="/ppt/media/image69.svg" ContentType="image/svg+xml"/>
  <Override PartName="/ppt/media/image70.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5514A3F-2620-490C-A331-89CC4847A61A}">
          <p14:sldIdLst>
            <p14:sldId id="256"/>
            <p14:sldId id="257"/>
            <p14:sldId id="258"/>
            <p14:sldId id="259"/>
            <p14:sldId id="260"/>
          </p14:sldIdLst>
        </p14:section>
        <p14:section name="16.1 Longest Common Subsequence" id="{F857FD2D-CBC9-4384-8466-13B08D9E0EC6}">
          <p14:sldIdLst>
            <p14:sldId id="261"/>
            <p14:sldId id="262"/>
            <p14:sldId id="263"/>
            <p14:sldId id="264"/>
            <p14:sldId id="265"/>
            <p14:sldId id="266"/>
          </p14:sldIdLst>
        </p14:section>
        <p14:section name="16.2 Edit Distance" id="{CA436705-EF43-435E-B6F8-7FD42D108D92}">
          <p14:sldIdLst>
            <p14:sldId id="267"/>
            <p14:sldId id="268"/>
            <p14:sldId id="269"/>
            <p14:sldId id="270"/>
          </p14:sldIdLst>
        </p14:section>
        <p14:section name="16.3 Saving Space, and What It Costs" id="{5FF0E114-557E-4BBF-A4AF-0AE7E82ADAF2}">
          <p14:sldIdLst>
            <p14:sldId id="271"/>
          </p14:sldIdLst>
        </p14:section>
        <p14:section name="16.4 0/1 Knapsack, and a Word That Matters" id="{0D316E27-7456-4E91-831E-81EC3CF85C6D}">
          <p14:sldIdLst>
            <p14:sldId id="272"/>
            <p14:sldId id="273"/>
            <p14:sldId id="274"/>
            <p14:sldId id="275"/>
            <p14:sldId id="276"/>
            <p14:sldId id="277"/>
            <p14:sldId id="278"/>
            <p14:sldId id="279"/>
            <p14:sldId id="280"/>
            <p14:sldId id="281"/>
          </p14:sldIdLst>
        </p14:section>
        <p14:section name="Pitfalls" id="{3FB74166-FA47-477F-AB2E-669871995904}">
          <p14:sldIdLst>
            <p14:sldId id="282"/>
          </p14:sldIdLst>
        </p14:section>
        <p14:section name="Lab" id="{17E22146-F445-4F39-ABE0-CD3C12701FC5}">
          <p14:sldIdLst>
            <p14:sldId id="283"/>
            <p14:sldId id="284"/>
            <p14:sldId id="285"/>
            <p14:sldId id="286"/>
            <p14:sldId id="287"/>
            <p14:sldId id="288"/>
            <p14:sldId id="289"/>
            <p14:sldId id="290"/>
            <p14:sldId id="291"/>
            <p14:sldId id="292"/>
            <p14:sldId id="293"/>
          </p14:sldIdLst>
        </p14:section>
        <p14:section name="Checkpoint" id="{D0274556-9888-480D-B0D6-3CA8D5812564}">
          <p14:sldIdLst>
            <p14:sldId id="294"/>
            <p14:sldId id="295"/>
            <p14:sldId id="296"/>
            <p14:sldId id="297"/>
            <p14:sldId id="298"/>
            <p14:sldId id="299"/>
          </p14:sldIdLst>
        </p14:section>
        <p14:section name="Wrap-up" id="{38FD0B4E-89D4-41AA-B21F-C15C9C9CBE53}">
          <p14:sldIdLst>
            <p14:sldId id="300"/>
            <p14:sldId id="301"/>
            <p14:sldId id="302"/>
            <p14:sldId id="303"/>
            <p14:sldId id="304"/>
            <p14:sldId id="30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16: Dynamic Programming II: Classic Problems. Part 4 — The Design Paradigms. Week 11: Dynamic programming: elements and classics. Handout pages 129–136.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15 for the method. Chapter 2 is essential for Section 16.4 — the pseudo-polynomial argument is exactly that chapter’s point about a number’s size being its bit length.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longest common subsequence; edit distance; Levenshtein; alignment; 0/1 knapsack; matrix-chain multiplication; pseudo-polynomial; rolling array; reconstruction; subproblem parameters.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16.1 (handout p. 130): LCS-Length. mn subproblems, O(1) work each, so Θ(mn) time — and Θ(mn) space, which Section 16.3 reduces.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 The nested loops perform mn iterations with O(1) bodies, and the initialisation is Θ(m+n), giving Θ(mn) time; the table gives the space. Correctness follows by induction on i+j. For i = 0 or j = 0 one prefix is empty and the LCS length is 0. For i, j ≥ 1, assume the entries with smaller i+j are correct. If xᵢ = yⱼ: any common subsequence of X₁..ᵢ, Y₁..ⱼ not ending in that character can be extended by it, so some LCS does end in it, and removing it leaves an LCS of X₁..ᵢ−₁, Y₁..ⱼ−₁ — giving c[i−1][j−1]+1. If xᵢ ≠ yⱼ: an LCS cannot use both last characters, so it is an LCS of X₁..ᵢ−₁, Y₁..ⱼ or of X₁..ᵢ, Y₁..ⱼ−₁, and the maximum of the two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16.2 (handout p. 132): Knapsack, one row at a time. The inner loop counts down, which is what enforces 0/1: counting up would let item i be used more than once, solving the unbounded knapsack problem instead.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 There are nW subproblems — one per (item prefix, capacity) pair — each resolved by one comparison, giving Θ(nW) by the formula of Chapter 15. The single array gives Θ(W) space. For the downward inner loop: when b[cap] is updated it reads b[cap−wᵢ], which at that moment still holds the value from iteration i−1, because indices below cap have not yet been visited in this pass. So each item is considered at most once per capacity, as 0/1 requires.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Reproduces all four tables. Expect thirty minutes; part D takes about nine seconds in its last row.</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LCS: the full table, so the subsequence can be recovered.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LCS in two rows.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Edit distance: the same shape, three choices per cell.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0/1 knapsack: Theta(nW), and W is a number not a count.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The same problem by brute force, as an oracle.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LCS and edit distance are Theta(mn).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A worked instance, small enough to check by eye.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8: Knapsack: DP against brute force.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9: The surprise: doubling W doubles the time.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c[i][j] = c[i−1][j−1]+1 when xi = yj, else max(c[i−1][j], c[i][j−1]), with c[i][0] = c[0][j] = 0. No maximum is needed in the equal case because including the matching character can never hurt: given any common subsequence of X1..i, Y1..j not ending in it, appending it yields one at least as long. So some LCS does end in that character, and the rest is an LCS of the two shortened prefixes.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 running time is polynomial when polynomial in the size of the input, and a number’s size is its bit length (Chapter 2). W is one number of b ≈ lg W bits, so Θ(nW) = Θ(n2b) — exponential in b. Measured: eight doublings of W, each adding one bit, gave time ratios of mean 2.02. This is the same phenomenon as Chapter 2’s trial division, whose eight ratios averaged 2.02 per two bits, reached from the opposite direction.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Appropriate: computing only the length of an LCS, or only the edit distance, where the answer is the final table entry. Not appropriate: recovering the subsequence or the alignment itself, which requires walking backwards through the whole table. What distinguishes them is whether the answer is a single value or a path; a path needs the table that produced it. Hirschberg’s algorithm gets both, at twice the code.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17 — Amortised Analysis. READ: Handout Chapter 16, pages 129–136. THIS WEEK'S LAB: Memoised against bottom-up, timed and counted.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12.xml"/><Relationship Id="rId7" Type="http://schemas.openxmlformats.org/officeDocument/2006/relationships/slide" Target="slide16.xml"/><Relationship Id="rId8" Type="http://schemas.openxmlformats.org/officeDocument/2006/relationships/slide" Target="slide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image" Target="../media/image15.png"/><Relationship Id="rId5" Type="http://schemas.openxmlformats.org/officeDocument/2006/relationships/image" Target="../media/image16.sv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3.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4.svg"/><Relationship Id="rId4" Type="http://schemas.openxmlformats.org/officeDocument/2006/relationships/image" Target="../media/image25.png"/><Relationship Id="rId5" Type="http://schemas.openxmlformats.org/officeDocument/2006/relationships/image" Target="../media/image26.svg"/><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7.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8.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9.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1.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32.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33.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35.svg"/><Relationship Id="rId4" Type="http://schemas.openxmlformats.org/officeDocument/2006/relationships/image" Target="../media/image36.png"/><Relationship Id="rId5" Type="http://schemas.openxmlformats.org/officeDocument/2006/relationships/image" Target="../media/image37.svg"/><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38.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39.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40.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41.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5.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6.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7.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8.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9.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50.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51.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52.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53.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54.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55.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57.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59.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60.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61.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62.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63.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image" Target="../media/image65.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image" Target="../media/image66.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image" Target="../media/image68.sv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image" Target="../media/image69.sv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image" Target="../media/image70.sv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A3A95"/>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874EA0"/>
                </a:solidFill>
                <a:latin typeface="Segoe UI Black"/>
              </a:rPr>
              <a:t>16</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Dynamic Programming II: Classic Problems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AC8E1"/>
                </a:solidFill>
                <a:latin typeface="Segoe UI"/>
              </a:rPr>
              <a:t>PART IV  ·  THE DESIGN PARADIGMS</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AC8E1"/>
                </a:solidFill>
                <a:latin typeface="Segoe UI"/>
              </a:rPr>
              <a:t>CHAPTER 16  ·  WEEK 11</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E4D8EA"/>
                </a:solidFill>
                <a:latin typeface="Segoe UI"/>
              </a:rPr>
              <a:t>Design, Proof and Measurement</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582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C0AEC7"/>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D0C3D6"/>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C0AEC7"/>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129     </a:t>
            </a:r>
            <a:fld id="{61A4D612-3295-4E13-8091-4729443D465E}" type="slidenum">
              <a:rPr lang="en-GB" sz="1000">
                <a:solidFill>
                  <a:srgbClr val="8795A1"/>
                </a:solidFill>
                <a:latin typeface="Segoe UI"/>
              </a:rPr>
              <a:t>2</a:t>
            </a:fld>
          </a:p>
        </p:txBody>
      </p:sp>
      <p:sp>
        <p:nvSpPr>
          <p:cNvPr id="7" name="!!rp1"/>
          <p:cNvSpPr txBox="1"/>
          <p:nvPr/>
        </p:nvSpPr>
        <p:spPr>
          <a:xfrm>
            <a:off x="777240"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618444" y="1755648"/>
            <a:ext cx="1903741"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618444" y="2029967"/>
            <a:ext cx="1903741"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851369"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851369"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692573" y="1755648"/>
            <a:ext cx="1822916"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7A3A95"/>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692573" y="2029967"/>
            <a:ext cx="1822916" cy="4572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844673"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844673"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294156"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294156"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59195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005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9836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8922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649712"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5582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04143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9499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433154"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3417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3824875"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73343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216596"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12515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488263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7911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274358"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1829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666079"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57463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057800"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596636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6723841"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6324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11556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0241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7516427" y="2112264"/>
            <a:ext cx="566928" cy="566928"/>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7516427"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16</a:t>
            </a:r>
          </a:p>
        </p:txBody>
      </p:sp>
      <p:sp>
        <p:nvSpPr>
          <p:cNvPr id="51" name="!!dot17">
            <a:extLst>
              <a:ext uri="{C183D7F6-B498-43B3-948B-1728B52AA6E4}">
                <adec:decorative xmlns:adec="http://schemas.microsoft.com/office/drawing/2017/decorative" val="1"/>
              </a:ext>
            </a:extLst>
          </p:cNvPr>
          <p:cNvSpPr/>
          <p:nvPr/>
        </p:nvSpPr>
        <p:spPr>
          <a:xfrm>
            <a:off x="8209900"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11846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87594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7845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267662"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1762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659383"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56794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32542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339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4873811"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7A3A95"/>
                </a:solidFill>
                <a:latin typeface="Segoe UI"/>
              </a:rPr>
              <a:t>Dynamic Programming II: Classic Problems</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2">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2">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2"/>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2  </a:t>
            </a:r>
            <a:r>
              <a:rPr sz="1400" b="0" i="0">
                <a:solidFill>
                  <a:srgbClr val="1C252B"/>
                </a:solidFill>
                <a:latin typeface="Segoe UI"/>
              </a:rPr>
              <a:t>Input Size, Input Nature, and the Three Cases</a:t>
            </a:r>
          </a:p>
        </p:txBody>
      </p:sp>
      <p:sp>
        <p:nvSpPr>
          <p:cNvPr id="70" name="!!chipBU15">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bBU15">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tBU15"/>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15  </a:t>
            </a:r>
            <a:r>
              <a:rPr sz="1400" b="0" i="0">
                <a:solidFill>
                  <a:srgbClr val="1C252B"/>
                </a:solidFill>
                <a:latin typeface="Segoe UI"/>
              </a:rPr>
              <a:t>Dynamic Programming I: The Elements</a:t>
            </a:r>
          </a:p>
        </p:txBody>
      </p:sp>
      <p:sp>
        <p:nvSpPr>
          <p:cNvPr id="73"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4" name="!!chipUS22">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bUS22">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tUS22"/>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22  </a:t>
            </a:r>
            <a:r>
              <a:rPr sz="1400" b="0" i="0">
                <a:solidFill>
                  <a:srgbClr val="1C252B"/>
                </a:solidFill>
                <a:latin typeface="Segoe UI"/>
              </a:rPr>
              <a:t>Complexity Classes: P, NP and NP-Completeness</a:t>
            </a:r>
          </a:p>
        </p:txBody>
      </p:sp>
      <p:sp>
        <p:nvSpPr>
          <p:cNvPr id="77" name="!!chipUS23">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chipbUS23">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tUS23"/>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23  </a:t>
            </a:r>
            <a:r>
              <a:rPr sz="1400" b="0" i="0">
                <a:solidFill>
                  <a:srgbClr val="1C252B"/>
                </a:solidFill>
                <a:latin typeface="Segoe UI"/>
              </a:rPr>
              <a:t>The Semester Project</a:t>
            </a:r>
          </a:p>
        </p:txBody>
      </p:sp>
      <p:sp>
        <p:nvSpPr>
          <p:cNvPr id="8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1" name="!!pfill">
            <a:extLst>
              <a:ext uri="{C183D7F6-B498-43B3-948B-1728B52AA6E4}">
                <adec:decorative xmlns:adec="http://schemas.microsoft.com/office/drawing/2017/decorative" val="1"/>
              </a:ext>
            </a:extLst>
          </p:cNvPr>
          <p:cNvSpPr/>
          <p:nvPr/>
        </p:nvSpPr>
        <p:spPr>
          <a:xfrm>
            <a:off x="0" y="0"/>
            <a:ext cx="48766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129     </a:t>
            </a:r>
            <a:fld id="{FFD0A553-D8E8-4EF9-B2C0-248619923184}"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Derive</a:t>
            </a:r>
            <a:r>
              <a:rPr sz="2100" b="0" i="0">
                <a:solidFill>
                  <a:srgbClr val="1C252B"/>
                </a:solidFill>
                <a:latin typeface="Segoe UI"/>
              </a:rPr>
              <a:t> the recurrence for longest common subsequence and edit distance, and </a:t>
            </a:r>
            <a:r>
              <a:rPr sz="2100" b="1" i="0">
                <a:solidFill>
                  <a:srgbClr val="1C252B"/>
                </a:solidFill>
                <a:latin typeface="Segoe UI"/>
              </a:rPr>
              <a:t>implement</a:t>
            </a:r>
            <a:r>
              <a:rPr sz="2100" b="0" i="0">
                <a:solidFill>
                  <a:srgbClr val="1C252B"/>
                </a:solidFill>
                <a:latin typeface="Segoe UI"/>
              </a:rPr>
              <a:t> both </a:t>
            </a:r>
            <a:r>
              <a:rPr sz="2100" b="0" i="1">
                <a:solidFill>
                  <a:srgbClr val="1C252B"/>
                </a:solidFill>
                <a:latin typeface="Segoe UI"/>
              </a:rPr>
              <a:t>(CLO-6)</a:t>
            </a:r>
            <a:r>
              <a:rPr sz="2100" b="0" i="0">
                <a:solidFill>
                  <a:srgbClr val="1C252B"/>
                </a:solidFill>
                <a:latin typeface="Segoe UI"/>
              </a:rPr>
              <a:t>.</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Reduce</a:t>
            </a:r>
            <a:r>
              <a:rPr sz="2100" b="0" i="0">
                <a:solidFill>
                  <a:srgbClr val="1C252B"/>
                </a:solidFill>
                <a:latin typeface="Segoe UI"/>
              </a:rPr>
              <a:t> a dynamic program’s space from </a:t>
            </a:r>
            <a:r>
              <a:rPr sz="2100" b="0" i="0">
                <a:solidFill>
                  <a:srgbClr val="1C252B"/>
                </a:solidFill>
                <a:latin typeface="Cambria"/>
              </a:rPr>
              <a:t>Θ(</a:t>
            </a:r>
            <a:r>
              <a:rPr sz="2100" b="0" i="1">
                <a:solidFill>
                  <a:srgbClr val="1C252B"/>
                </a:solidFill>
                <a:latin typeface="Cambria"/>
              </a:rPr>
              <a:t>mn</a:t>
            </a:r>
            <a:r>
              <a:rPr sz="2100" b="0" i="0">
                <a:solidFill>
                  <a:srgbClr val="1C252B"/>
                </a:solidFill>
                <a:latin typeface="Cambria"/>
              </a:rPr>
              <a:t>)</a:t>
            </a:r>
            <a:r>
              <a:rPr sz="2100" b="0" i="0">
                <a:solidFill>
                  <a:srgbClr val="1C252B"/>
                </a:solidFill>
                <a:latin typeface="Segoe UI"/>
              </a:rPr>
              <a:t> to </a:t>
            </a:r>
            <a:r>
              <a:rPr sz="2100" b="0" i="0">
                <a:solidFill>
                  <a:srgbClr val="1C252B"/>
                </a:solidFill>
                <a:latin typeface="Cambria"/>
              </a:rPr>
              <a:t>Θ(min(</a:t>
            </a:r>
            <a:r>
              <a:rPr sz="2100" b="0" i="1">
                <a:solidFill>
                  <a:srgbClr val="1C252B"/>
                </a:solidFill>
                <a:latin typeface="Cambria"/>
              </a:rPr>
              <a:t>m</a:t>
            </a:r>
            <a:r>
              <a:rPr sz="2100" b="0" i="0">
                <a:solidFill>
                  <a:srgbClr val="1C252B"/>
                </a:solidFill>
                <a:latin typeface="Cambria"/>
              </a:rPr>
              <a:t>,</a:t>
            </a:r>
            <a:r>
              <a:rPr sz="2100" b="0" i="1">
                <a:solidFill>
                  <a:srgbClr val="1C252B"/>
                </a:solidFill>
                <a:latin typeface="Cambria"/>
              </a:rPr>
              <a:t>n</a:t>
            </a:r>
            <a:r>
              <a:rPr sz="2100" b="0" i="0">
                <a:solidFill>
                  <a:srgbClr val="1C252B"/>
                </a:solidFill>
                <a:latin typeface="Cambria"/>
              </a:rPr>
              <a:t>))</a:t>
            </a:r>
            <a:r>
              <a:rPr sz="2100" b="0" i="0">
                <a:solidFill>
                  <a:srgbClr val="1C252B"/>
                </a:solidFill>
                <a:latin typeface="Segoe UI"/>
              </a:rPr>
              <a:t>, and </a:t>
            </a:r>
            <a:r>
              <a:rPr sz="2100" b="1" i="0">
                <a:solidFill>
                  <a:srgbClr val="1C252B"/>
                </a:solidFill>
                <a:latin typeface="Segoe UI"/>
              </a:rPr>
              <a:t>state</a:t>
            </a:r>
            <a:r>
              <a:rPr sz="2100" b="0" i="0">
                <a:solidFill>
                  <a:srgbClr val="1C252B"/>
                </a:solidFill>
                <a:latin typeface="Segoe UI"/>
              </a:rPr>
              <a:t> what that costs.</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60266"/>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Formulate</a:t>
            </a:r>
            <a:r>
              <a:rPr sz="2100" b="0" i="0">
                <a:solidFill>
                  <a:srgbClr val="1C252B"/>
                </a:solidFill>
                <a:latin typeface="Segoe UI"/>
              </a:rPr>
              <a:t> 0/1 knapsack as a dynamic program and </a:t>
            </a:r>
            <a:r>
              <a:rPr sz="2100" b="1" i="0">
                <a:solidFill>
                  <a:srgbClr val="1C252B"/>
                </a:solidFill>
                <a:latin typeface="Segoe UI"/>
              </a:rPr>
              <a:t>analyse</a:t>
            </a:r>
            <a:r>
              <a:rPr sz="2100" b="0" i="0">
                <a:solidFill>
                  <a:srgbClr val="1C252B"/>
                </a:solidFill>
                <a:latin typeface="Segoe UI"/>
              </a:rPr>
              <a:t> its </a:t>
            </a:r>
            <a:r>
              <a:rPr sz="2100" b="0" i="0">
                <a:solidFill>
                  <a:srgbClr val="1C252B"/>
                </a:solidFill>
                <a:latin typeface="Cambria"/>
              </a:rPr>
              <a:t>Θ(</a:t>
            </a:r>
            <a:r>
              <a:rPr sz="2100" b="0" i="1">
                <a:solidFill>
                  <a:srgbClr val="1C252B"/>
                </a:solidFill>
                <a:latin typeface="Cambria"/>
              </a:rPr>
              <a:t>nW</a:t>
            </a:r>
            <a:r>
              <a:rPr sz="2100" b="0" i="0">
                <a:solidFill>
                  <a:srgbClr val="1C252B"/>
                </a:solidFill>
                <a:latin typeface="Cambria"/>
              </a:rPr>
              <a:t>)</a:t>
            </a:r>
            <a:r>
              <a:rPr sz="2100" b="0" i="0">
                <a:solidFill>
                  <a:srgbClr val="1C252B"/>
                </a:solidFill>
                <a:latin typeface="Segoe UI"/>
              </a:rPr>
              <a:t> running time.</a:t>
            </a:r>
          </a:p>
        </p:txBody>
      </p:sp>
      <p:sp>
        <p:nvSpPr>
          <p:cNvPr id="17" name="!!ob3">
            <a:extLst>
              <a:ext uri="{C183D7F6-B498-43B3-948B-1728B52AA6E4}">
                <adec:decorative xmlns:adec="http://schemas.microsoft.com/office/drawing/2017/decorative" val="1"/>
              </a:ext>
            </a:extLst>
          </p:cNvPr>
          <p:cNvSpPr/>
          <p:nvPr/>
        </p:nvSpPr>
        <p:spPr>
          <a:xfrm>
            <a:off x="658368" y="4522622"/>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58205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51347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Explain</a:t>
            </a:r>
            <a:r>
              <a:rPr sz="2100" b="0" i="0">
                <a:solidFill>
                  <a:srgbClr val="1C252B"/>
                </a:solidFill>
                <a:latin typeface="Segoe UI"/>
              </a:rPr>
              <a:t> why </a:t>
            </a:r>
            <a:r>
              <a:rPr sz="2100" b="0" i="0">
                <a:solidFill>
                  <a:srgbClr val="1C252B"/>
                </a:solidFill>
                <a:latin typeface="Cambria"/>
              </a:rPr>
              <a:t>Θ(</a:t>
            </a:r>
            <a:r>
              <a:rPr sz="2100" b="0" i="1">
                <a:solidFill>
                  <a:srgbClr val="1C252B"/>
                </a:solidFill>
                <a:latin typeface="Cambria"/>
              </a:rPr>
              <a:t>nW</a:t>
            </a:r>
            <a:r>
              <a:rPr sz="2100" b="0" i="0">
                <a:solidFill>
                  <a:srgbClr val="1C252B"/>
                </a:solidFill>
                <a:latin typeface="Cambria"/>
              </a:rPr>
              <a:t>)</a:t>
            </a:r>
            <a:r>
              <a:rPr sz="2100" b="0" i="0">
                <a:solidFill>
                  <a:srgbClr val="1C252B"/>
                </a:solidFill>
                <a:latin typeface="Segoe UI"/>
              </a:rPr>
              <a:t> is </a:t>
            </a:r>
            <a:r>
              <a:rPr sz="2100" b="0" i="1">
                <a:solidFill>
                  <a:srgbClr val="1C252B"/>
                </a:solidFill>
                <a:latin typeface="Segoe UI"/>
              </a:rPr>
              <a:t>pseudo-polynomial</a:t>
            </a:r>
            <a:r>
              <a:rPr sz="2100" b="0" i="0">
                <a:solidFill>
                  <a:srgbClr val="1C252B"/>
                </a:solidFill>
                <a:latin typeface="Segoe UI"/>
              </a:rPr>
              <a:t> rather than polynomial, in terms of input size.</a:t>
            </a:r>
          </a:p>
        </p:txBody>
      </p:sp>
      <p:sp>
        <p:nvSpPr>
          <p:cNvPr id="20" name="!!ob4">
            <a:extLst>
              <a:ext uri="{C183D7F6-B498-43B3-948B-1728B52AA6E4}">
                <adec:decorative xmlns:adec="http://schemas.microsoft.com/office/drawing/2017/decorative" val="1"/>
              </a:ext>
            </a:extLst>
          </p:cNvPr>
          <p:cNvSpPr/>
          <p:nvPr/>
        </p:nvSpPr>
        <p:spPr>
          <a:xfrm>
            <a:off x="658368" y="5371185"/>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43062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412333"/>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Choose</a:t>
            </a:r>
            <a:r>
              <a:rPr sz="2100" b="0" i="0">
                <a:solidFill>
                  <a:srgbClr val="1C252B"/>
                </a:solidFill>
                <a:latin typeface="Segoe UI"/>
              </a:rPr>
              <a:t> a DP formulation by identifying the subproblem parameters.</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3150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129     </a:t>
            </a:r>
            <a:fld id="{08F8D270-DBB8-49FF-A34C-DC3922E92758}" type="slidenum">
              <a:rPr lang="en-GB" sz="1000">
                <a:solidFill>
                  <a:srgbClr val="8795A1"/>
                </a:solidFill>
                <a:latin typeface="Segoe UI"/>
              </a:rPr>
              <a:t>4</a:t>
            </a:fld>
          </a:p>
        </p:txBody>
      </p:sp>
      <p:sp>
        <p:nvSpPr>
          <p:cNvPr id="7" name="!!term-longest common">
            <a:extLst>
              <a:ext uri="{C183D7F6-B498-43B3-948B-1728B52AA6E4}">
                <adec:decorative xmlns:adec="http://schemas.microsoft.com/office/drawing/2017/decorative" val="1"/>
              </a:ext>
            </a:extLst>
          </p:cNvPr>
          <p:cNvSpPr/>
          <p:nvPr/>
        </p:nvSpPr>
        <p:spPr>
          <a:xfrm>
            <a:off x="658368" y="1847088"/>
            <a:ext cx="341031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longest common">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longest common"/>
          <p:cNvSpPr txBox="1"/>
          <p:nvPr/>
        </p:nvSpPr>
        <p:spPr>
          <a:xfrm>
            <a:off x="950976" y="1955291"/>
            <a:ext cx="3227433"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longest common subsequence</a:t>
            </a:r>
          </a:p>
        </p:txBody>
      </p:sp>
      <p:sp>
        <p:nvSpPr>
          <p:cNvPr id="10" name="!!term-edit distance">
            <a:extLst>
              <a:ext uri="{C183D7F6-B498-43B3-948B-1728B52AA6E4}">
                <adec:decorative xmlns:adec="http://schemas.microsoft.com/office/drawing/2017/decorative" val="1"/>
              </a:ext>
            </a:extLst>
          </p:cNvPr>
          <p:cNvSpPr/>
          <p:nvPr/>
        </p:nvSpPr>
        <p:spPr>
          <a:xfrm>
            <a:off x="4214985" y="1847088"/>
            <a:ext cx="167675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edit distance">
            <a:extLst>
              <a:ext uri="{C183D7F6-B498-43B3-948B-1728B52AA6E4}">
                <adec:decorative xmlns:adec="http://schemas.microsoft.com/office/drawing/2017/decorative" val="1"/>
              </a:ext>
            </a:extLst>
          </p:cNvPr>
          <p:cNvSpPr/>
          <p:nvPr/>
        </p:nvSpPr>
        <p:spPr>
          <a:xfrm>
            <a:off x="434300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edit distance"/>
          <p:cNvSpPr txBox="1"/>
          <p:nvPr/>
        </p:nvSpPr>
        <p:spPr>
          <a:xfrm>
            <a:off x="4507593" y="1955291"/>
            <a:ext cx="1493877"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edit distance</a:t>
            </a:r>
          </a:p>
        </p:txBody>
      </p:sp>
      <p:sp>
        <p:nvSpPr>
          <p:cNvPr id="13" name="!!term-Levenshtein">
            <a:extLst>
              <a:ext uri="{C183D7F6-B498-43B3-948B-1728B52AA6E4}">
                <adec:decorative xmlns:adec="http://schemas.microsoft.com/office/drawing/2017/decorative" val="1"/>
              </a:ext>
            </a:extLst>
          </p:cNvPr>
          <p:cNvSpPr/>
          <p:nvPr/>
        </p:nvSpPr>
        <p:spPr>
          <a:xfrm>
            <a:off x="6038046" y="1847088"/>
            <a:ext cx="158884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Levenshtein">
            <a:extLst>
              <a:ext uri="{C183D7F6-B498-43B3-948B-1728B52AA6E4}">
                <adec:decorative xmlns:adec="http://schemas.microsoft.com/office/drawing/2017/decorative" val="1"/>
              </a:ext>
            </a:extLst>
          </p:cNvPr>
          <p:cNvSpPr/>
          <p:nvPr/>
        </p:nvSpPr>
        <p:spPr>
          <a:xfrm>
            <a:off x="616606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Levenshtein"/>
          <p:cNvSpPr txBox="1"/>
          <p:nvPr/>
        </p:nvSpPr>
        <p:spPr>
          <a:xfrm>
            <a:off x="6330654" y="1955291"/>
            <a:ext cx="1405962"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Levenshtein</a:t>
            </a:r>
          </a:p>
        </p:txBody>
      </p:sp>
      <p:sp>
        <p:nvSpPr>
          <p:cNvPr id="16" name="!!term-alignment">
            <a:extLst>
              <a:ext uri="{C183D7F6-B498-43B3-948B-1728B52AA6E4}">
                <adec:decorative xmlns:adec="http://schemas.microsoft.com/office/drawing/2017/decorative" val="1"/>
              </a:ext>
            </a:extLst>
          </p:cNvPr>
          <p:cNvSpPr/>
          <p:nvPr/>
        </p:nvSpPr>
        <p:spPr>
          <a:xfrm>
            <a:off x="7773193" y="1847088"/>
            <a:ext cx="141601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alignment">
            <a:extLst>
              <a:ext uri="{C183D7F6-B498-43B3-948B-1728B52AA6E4}">
                <adec:decorative xmlns:adec="http://schemas.microsoft.com/office/drawing/2017/decorative" val="1"/>
              </a:ext>
            </a:extLst>
          </p:cNvPr>
          <p:cNvSpPr/>
          <p:nvPr/>
        </p:nvSpPr>
        <p:spPr>
          <a:xfrm>
            <a:off x="790120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alignment"/>
          <p:cNvSpPr txBox="1"/>
          <p:nvPr/>
        </p:nvSpPr>
        <p:spPr>
          <a:xfrm>
            <a:off x="8065801" y="1955291"/>
            <a:ext cx="1233139"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alignment</a:t>
            </a:r>
          </a:p>
        </p:txBody>
      </p:sp>
      <p:sp>
        <p:nvSpPr>
          <p:cNvPr id="19" name="!!term-0/1 knapsack">
            <a:extLst>
              <a:ext uri="{C183D7F6-B498-43B3-948B-1728B52AA6E4}">
                <adec:decorative xmlns:adec="http://schemas.microsoft.com/office/drawing/2017/decorative" val="1"/>
              </a:ext>
            </a:extLst>
          </p:cNvPr>
          <p:cNvSpPr/>
          <p:nvPr/>
        </p:nvSpPr>
        <p:spPr>
          <a:xfrm>
            <a:off x="9335516" y="1847088"/>
            <a:ext cx="171485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0/1 knapsack">
            <a:extLst>
              <a:ext uri="{C183D7F6-B498-43B3-948B-1728B52AA6E4}">
                <adec:decorative xmlns:adec="http://schemas.microsoft.com/office/drawing/2017/decorative" val="1"/>
              </a:ext>
            </a:extLst>
          </p:cNvPr>
          <p:cNvSpPr/>
          <p:nvPr/>
        </p:nvSpPr>
        <p:spPr>
          <a:xfrm>
            <a:off x="946353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0/1 knapsack"/>
          <p:cNvSpPr txBox="1"/>
          <p:nvPr/>
        </p:nvSpPr>
        <p:spPr>
          <a:xfrm>
            <a:off x="9628124" y="1955291"/>
            <a:ext cx="153197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0/1 knapsack</a:t>
            </a:r>
          </a:p>
        </p:txBody>
      </p:sp>
      <p:sp>
        <p:nvSpPr>
          <p:cNvPr id="22" name="!!term-matrix-chain m">
            <a:extLst>
              <a:ext uri="{C183D7F6-B498-43B3-948B-1728B52AA6E4}">
                <adec:decorative xmlns:adec="http://schemas.microsoft.com/office/drawing/2017/decorative" val="1"/>
              </a:ext>
            </a:extLst>
          </p:cNvPr>
          <p:cNvSpPr/>
          <p:nvPr/>
        </p:nvSpPr>
        <p:spPr>
          <a:xfrm>
            <a:off x="658368" y="2468880"/>
            <a:ext cx="303814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matrix-chain m">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matrix-chain m"/>
          <p:cNvSpPr txBox="1"/>
          <p:nvPr/>
        </p:nvSpPr>
        <p:spPr>
          <a:xfrm>
            <a:off x="950976" y="2577084"/>
            <a:ext cx="285526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matrix-chain multiplication</a:t>
            </a:r>
          </a:p>
        </p:txBody>
      </p:sp>
      <p:sp>
        <p:nvSpPr>
          <p:cNvPr id="25" name="!!term-pseudo-polynom">
            <a:extLst>
              <a:ext uri="{C183D7F6-B498-43B3-948B-1728B52AA6E4}">
                <adec:decorative xmlns:adec="http://schemas.microsoft.com/office/drawing/2017/decorative" val="1"/>
              </a:ext>
            </a:extLst>
          </p:cNvPr>
          <p:cNvSpPr/>
          <p:nvPr/>
        </p:nvSpPr>
        <p:spPr>
          <a:xfrm>
            <a:off x="3842817" y="2468880"/>
            <a:ext cx="232882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pseudo-polynom">
            <a:extLst>
              <a:ext uri="{C183D7F6-B498-43B3-948B-1728B52AA6E4}">
                <adec:decorative xmlns:adec="http://schemas.microsoft.com/office/drawing/2017/decorative" val="1"/>
              </a:ext>
            </a:extLst>
          </p:cNvPr>
          <p:cNvSpPr/>
          <p:nvPr/>
        </p:nvSpPr>
        <p:spPr>
          <a:xfrm>
            <a:off x="397083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pseudo-polynom"/>
          <p:cNvSpPr txBox="1"/>
          <p:nvPr/>
        </p:nvSpPr>
        <p:spPr>
          <a:xfrm>
            <a:off x="4135425" y="2577084"/>
            <a:ext cx="2145942"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pseudo-polynomial</a:t>
            </a:r>
          </a:p>
        </p:txBody>
      </p:sp>
      <p:sp>
        <p:nvSpPr>
          <p:cNvPr id="28" name="!!term-rolling array">
            <a:extLst>
              <a:ext uri="{C183D7F6-B498-43B3-948B-1728B52AA6E4}">
                <adec:decorative xmlns:adec="http://schemas.microsoft.com/office/drawing/2017/decorative" val="1"/>
              </a:ext>
            </a:extLst>
          </p:cNvPr>
          <p:cNvSpPr/>
          <p:nvPr/>
        </p:nvSpPr>
        <p:spPr>
          <a:xfrm>
            <a:off x="6317943" y="2468880"/>
            <a:ext cx="160315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rolling array">
            <a:extLst>
              <a:ext uri="{C183D7F6-B498-43B3-948B-1728B52AA6E4}">
                <adec:decorative xmlns:adec="http://schemas.microsoft.com/office/drawing/2017/decorative" val="1"/>
              </a:ext>
            </a:extLst>
          </p:cNvPr>
          <p:cNvSpPr/>
          <p:nvPr/>
        </p:nvSpPr>
        <p:spPr>
          <a:xfrm>
            <a:off x="644595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rolling array"/>
          <p:cNvSpPr txBox="1"/>
          <p:nvPr/>
        </p:nvSpPr>
        <p:spPr>
          <a:xfrm>
            <a:off x="6610551" y="2577084"/>
            <a:ext cx="1420279"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rolling array</a:t>
            </a:r>
          </a:p>
        </p:txBody>
      </p:sp>
      <p:sp>
        <p:nvSpPr>
          <p:cNvPr id="31" name="!!term-reconstruction">
            <a:extLst>
              <a:ext uri="{C183D7F6-B498-43B3-948B-1728B52AA6E4}">
                <adec:decorative xmlns:adec="http://schemas.microsoft.com/office/drawing/2017/decorative" val="1"/>
              </a:ext>
            </a:extLst>
          </p:cNvPr>
          <p:cNvSpPr/>
          <p:nvPr/>
        </p:nvSpPr>
        <p:spPr>
          <a:xfrm>
            <a:off x="8067407" y="2468880"/>
            <a:ext cx="183879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reconstruction">
            <a:extLst>
              <a:ext uri="{C183D7F6-B498-43B3-948B-1728B52AA6E4}">
                <adec:decorative xmlns:adec="http://schemas.microsoft.com/office/drawing/2017/decorative" val="1"/>
              </a:ext>
            </a:extLst>
          </p:cNvPr>
          <p:cNvSpPr/>
          <p:nvPr/>
        </p:nvSpPr>
        <p:spPr>
          <a:xfrm>
            <a:off x="819542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reconstruction"/>
          <p:cNvSpPr txBox="1"/>
          <p:nvPr/>
        </p:nvSpPr>
        <p:spPr>
          <a:xfrm>
            <a:off x="8360015" y="2577084"/>
            <a:ext cx="1655913"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reconstruction</a:t>
            </a:r>
          </a:p>
        </p:txBody>
      </p:sp>
      <p:sp>
        <p:nvSpPr>
          <p:cNvPr id="34" name="!!term-subproblem par">
            <a:extLst>
              <a:ext uri="{C183D7F6-B498-43B3-948B-1728B52AA6E4}">
                <adec:decorative xmlns:adec="http://schemas.microsoft.com/office/drawing/2017/decorative" val="1"/>
              </a:ext>
            </a:extLst>
          </p:cNvPr>
          <p:cNvSpPr/>
          <p:nvPr/>
        </p:nvSpPr>
        <p:spPr>
          <a:xfrm>
            <a:off x="658368" y="3090672"/>
            <a:ext cx="276432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subproblem par">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subproblem par"/>
          <p:cNvSpPr txBox="1"/>
          <p:nvPr/>
        </p:nvSpPr>
        <p:spPr>
          <a:xfrm>
            <a:off x="950976" y="3198876"/>
            <a:ext cx="2581441"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subproblem parameters</a:t>
            </a:r>
          </a:p>
        </p:txBody>
      </p:sp>
      <p:sp>
        <p:nvSpPr>
          <p:cNvPr id="37"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3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pfill">
            <a:extLst>
              <a:ext uri="{C183D7F6-B498-43B3-948B-1728B52AA6E4}">
                <adec:decorative xmlns:adec="http://schemas.microsoft.com/office/drawing/2017/decorative" val="1"/>
              </a:ext>
            </a:extLst>
          </p:cNvPr>
          <p:cNvSpPr/>
          <p:nvPr/>
        </p:nvSpPr>
        <p:spPr>
          <a:xfrm>
            <a:off x="0" y="0"/>
            <a:ext cx="97533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129–136     </a:t>
            </a:r>
            <a:fld id="{1630F32A-BB79-440A-9888-BEAD81A36FF6}" type="slidenum">
              <a:rPr lang="en-GB" sz="1000">
                <a:solidFill>
                  <a:srgbClr val="8795A1"/>
                </a:solidFill>
                <a:latin typeface="Segoe UI"/>
              </a:rPr>
              <a:t>5</a:t>
            </a:fld>
          </a:p>
        </p:txBody>
      </p:sp>
      <p:sp>
        <p:nvSpPr>
          <p:cNvPr id="7" name="!!ag0" descr="Go to section 16.1 Longest Common Subsequence">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16.1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Longest Common Subsequence</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129  ›</a:t>
            </a:r>
          </a:p>
        </p:txBody>
      </p:sp>
      <p:sp>
        <p:nvSpPr>
          <p:cNvPr id="12" name="!!ag1" descr="Go to section 16.2 Edit Distance">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16.2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Edit Distance</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131  ›</a:t>
            </a:r>
          </a:p>
        </p:txBody>
      </p:sp>
      <p:sp>
        <p:nvSpPr>
          <p:cNvPr id="17" name="!!ag2" descr="Go to section 16.3 Saving Space, and What It Costs">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16.3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Saving Space, and What It Costs</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131  ›</a:t>
            </a:r>
          </a:p>
        </p:txBody>
      </p:sp>
      <p:sp>
        <p:nvSpPr>
          <p:cNvPr id="22" name="!!ag3" descr="Go to section 16.4 0/1 Knapsack, and a Word That Matters">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16.4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0/1 Knapsack, and a Word That Matters</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132  ›</a:t>
            </a: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121916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Longest Common Subsequence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1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16.1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16.1   Longest Common Subsequence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16.2   Edit Distance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16.3   Saving Space, and What It Costs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16.4   0/1 Knapsack, and a Word That Matters</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§16.1     </a:t>
            </a:r>
            <a:fld id="{53B3714A-9526-452E-A3DA-6469A40CAD6F}" type="slidenum">
              <a:rPr lang="en-GB" sz="1000">
                <a:solidFill>
                  <a:srgbClr val="8795A1"/>
                </a:solidFill>
                <a:latin typeface="Segoe UI"/>
              </a:rPr>
              <a:t>6</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146300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Subsequence, LCS</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§16.1  ·  Handout p. 129     </a:t>
            </a:r>
            <a:fld id="{A9187894-906B-4037-8EA9-82D828E4D285}"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605151"/>
          </a:xfrm>
          <a:prstGeom prst="roundRect">
            <a:avLst>
              <a:gd name="adj" fmla="val 3509"/>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605151"/>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a:t>
            </a:r>
            <a:r>
              <a:rPr sz="2300" b="1" i="0">
                <a:solidFill>
                  <a:srgbClr val="1A5276"/>
                </a:solidFill>
                <a:latin typeface="Segoe UI"/>
              </a:rPr>
              <a:t>subsequence</a:t>
            </a:r>
            <a:r>
              <a:rPr sz="2300" b="0" i="0">
                <a:solidFill>
                  <a:srgbClr val="1C252B"/>
                </a:solidFill>
                <a:latin typeface="Segoe UI"/>
              </a:rPr>
              <a:t> of a sequence is obtained by deleting zero or more elements without reordering the rest. </a:t>
            </a:r>
            <a:r>
              <a:rPr sz="2150" b="0" i="0">
                <a:solidFill>
                  <a:srgbClr val="1F4E79"/>
                </a:solidFill>
                <a:latin typeface="Consolas"/>
              </a:rPr>
              <a:t>ALRIT</a:t>
            </a:r>
            <a:r>
              <a:rPr sz="2300" b="0" i="0">
                <a:solidFill>
                  <a:srgbClr val="1C252B"/>
                </a:solidFill>
                <a:latin typeface="Segoe UI"/>
              </a:rPr>
              <a:t> is a subsequence of </a:t>
            </a:r>
            <a:r>
              <a:rPr sz="2150" b="0" i="0">
                <a:solidFill>
                  <a:srgbClr val="1F4E79"/>
                </a:solidFill>
                <a:latin typeface="Consolas"/>
              </a:rPr>
              <a:t>ALGORITHM</a:t>
            </a:r>
            <a:r>
              <a:rPr sz="2300" b="0" i="0">
                <a:solidFill>
                  <a:srgbClr val="1C252B"/>
                </a:solidFill>
                <a:latin typeface="Segoe UI"/>
              </a:rPr>
              <a:t>.</a:t>
            </a:r>
          </a:p>
        </p:txBody>
      </p:sp>
      <p:sp>
        <p:nvSpPr>
          <p:cNvPr id="10" name="body-1"/>
          <p:cNvSpPr txBox="1"/>
          <p:nvPr/>
        </p:nvSpPr>
        <p:spPr>
          <a:xfrm>
            <a:off x="1060704" y="2937992"/>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1" i="0">
                <a:solidFill>
                  <a:srgbClr val="1A5276"/>
                </a:solidFill>
                <a:latin typeface="Segoe UI"/>
              </a:rPr>
              <a:t>longest common subsequence</a:t>
            </a:r>
            <a:r>
              <a:rPr sz="2300" b="0" i="0">
                <a:solidFill>
                  <a:srgbClr val="1C252B"/>
                </a:solidFill>
                <a:latin typeface="Segoe UI"/>
              </a:rPr>
              <a:t> of </a:t>
            </a:r>
            <a:r>
              <a:rPr sz="2300" b="0" i="1">
                <a:solidFill>
                  <a:srgbClr val="1C252B"/>
                </a:solidFill>
                <a:latin typeface="Cambria"/>
              </a:rPr>
              <a:t>X</a:t>
            </a:r>
            <a:r>
              <a:rPr sz="2300" b="0" i="0">
                <a:solidFill>
                  <a:srgbClr val="1C252B"/>
                </a:solidFill>
                <a:latin typeface="Segoe UI"/>
              </a:rPr>
              <a:t> and </a:t>
            </a:r>
            <a:r>
              <a:rPr sz="2300" b="0" i="1">
                <a:solidFill>
                  <a:srgbClr val="1C252B"/>
                </a:solidFill>
                <a:latin typeface="Cambria"/>
              </a:rPr>
              <a:t>Y</a:t>
            </a:r>
            <a:r>
              <a:rPr sz="2300" b="0" i="0">
                <a:solidFill>
                  <a:srgbClr val="1C252B"/>
                </a:solidFill>
                <a:latin typeface="Segoe UI"/>
              </a:rPr>
              <a:t> is a longest sequence that is a subsequence of both. Note that it need not be contiguous — that would be the longest common </a:t>
            </a:r>
            <a:r>
              <a:rPr sz="2300" b="0" i="1">
                <a:solidFill>
                  <a:srgbClr val="1C252B"/>
                </a:solidFill>
                <a:latin typeface="Segoe UI"/>
              </a:rPr>
              <a:t>substring</a:t>
            </a:r>
            <a:r>
              <a:rPr sz="2300" b="0" i="0">
                <a:solidFill>
                  <a:srgbClr val="1C252B"/>
                </a:solidFill>
                <a:latin typeface="Segoe UI"/>
              </a:rPr>
              <a:t>, a different and easier problem.</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170683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Finding the recurrence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§16.1  ·  Handout p. 129     </a:t>
            </a:r>
            <a:fld id="{BDF58CFF-F1A8-4B44-A763-B3DAE9855F1A}"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13935"/>
          </a:xfrm>
          <a:prstGeom prst="roundRect">
            <a:avLst>
              <a:gd name="adj" fmla="val 2025"/>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1393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31012"/>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Let </a:t>
            </a:r>
            <a:r>
              <a:rPr sz="1800" b="0" i="1">
                <a:solidFill>
                  <a:srgbClr val="1C252B"/>
                </a:solidFill>
                <a:latin typeface="Cambria"/>
              </a:rPr>
              <a:t>c</a:t>
            </a:r>
            <a:r>
              <a:rPr sz="1800" b="0" i="0">
                <a:solidFill>
                  <a:srgbClr val="1C252B"/>
                </a:solidFill>
                <a:latin typeface="Cambria"/>
              </a:rPr>
              <a:t>[</a:t>
            </a:r>
            <a:r>
              <a:rPr sz="1800" b="0" i="1">
                <a:solidFill>
                  <a:srgbClr val="1C252B"/>
                </a:solidFill>
                <a:latin typeface="Cambria"/>
              </a:rPr>
              <a:t>i</a:t>
            </a:r>
            <a:r>
              <a:rPr sz="1800" b="0" i="0">
                <a:solidFill>
                  <a:srgbClr val="1C252B"/>
                </a:solidFill>
                <a:latin typeface="Cambria"/>
              </a:rPr>
              <a:t>][</a:t>
            </a:r>
            <a:r>
              <a:rPr sz="1800" b="0" i="1">
                <a:solidFill>
                  <a:srgbClr val="1C252B"/>
                </a:solidFill>
                <a:latin typeface="Cambria"/>
              </a:rPr>
              <a:t>j</a:t>
            </a:r>
            <a:r>
              <a:rPr sz="1800" b="0" i="0">
                <a:solidFill>
                  <a:srgbClr val="1C252B"/>
                </a:solidFill>
                <a:latin typeface="Cambria"/>
              </a:rPr>
              <a:t>]</a:t>
            </a:r>
            <a:r>
              <a:rPr sz="1800" b="0" i="0">
                <a:solidFill>
                  <a:srgbClr val="1C252B"/>
                </a:solidFill>
                <a:latin typeface="Segoe UI"/>
              </a:rPr>
              <a:t> be the LCS length of the prefixes </a:t>
            </a:r>
            <a:r>
              <a:rPr sz="1800" b="0" i="1">
                <a:solidFill>
                  <a:srgbClr val="1C252B"/>
                </a:solidFill>
                <a:latin typeface="Cambria"/>
              </a:rPr>
              <a:t>X</a:t>
            </a:r>
            <a:r>
              <a:rPr sz="1200" b="0" i="0" baseline="-25000">
                <a:solidFill>
                  <a:srgbClr val="1C252B"/>
                </a:solidFill>
                <a:latin typeface="Cambria"/>
              </a:rPr>
              <a:t>1..</a:t>
            </a:r>
            <a:r>
              <a:rPr sz="1200" b="0" i="1" baseline="-25000">
                <a:solidFill>
                  <a:srgbClr val="1C252B"/>
                </a:solidFill>
                <a:latin typeface="Cambria"/>
              </a:rPr>
              <a:t>i</a:t>
            </a:r>
            <a:r>
              <a:rPr sz="1800" b="0" i="0">
                <a:solidFill>
                  <a:srgbClr val="1C252B"/>
                </a:solidFill>
                <a:latin typeface="Segoe UI"/>
              </a:rPr>
              <a:t> and </a:t>
            </a:r>
            <a:r>
              <a:rPr sz="1800" b="0" i="1">
                <a:solidFill>
                  <a:srgbClr val="1C252B"/>
                </a:solidFill>
                <a:latin typeface="Cambria"/>
              </a:rPr>
              <a:t>Y</a:t>
            </a:r>
            <a:r>
              <a:rPr sz="1200" b="0" i="0" baseline="-25000">
                <a:solidFill>
                  <a:srgbClr val="1C252B"/>
                </a:solidFill>
                <a:latin typeface="Cambria"/>
              </a:rPr>
              <a:t>1..</a:t>
            </a:r>
            <a:r>
              <a:rPr sz="1200" b="0" i="1" baseline="-25000">
                <a:solidFill>
                  <a:srgbClr val="1C252B"/>
                </a:solidFill>
                <a:latin typeface="Cambria"/>
              </a:rPr>
              <a:t>j</a:t>
            </a:r>
            <a:r>
              <a:rPr sz="1800" b="0" i="0">
                <a:solidFill>
                  <a:srgbClr val="1C252B"/>
                </a:solidFill>
                <a:latin typeface="Segoe UI"/>
              </a:rPr>
              <a:t>. Consider the last characters.</a:t>
            </a:r>
          </a:p>
        </p:txBody>
      </p:sp>
      <p:sp>
        <p:nvSpPr>
          <p:cNvPr id="10" name="body-1"/>
          <p:cNvSpPr txBox="1"/>
          <p:nvPr/>
        </p:nvSpPr>
        <p:spPr>
          <a:xfrm>
            <a:off x="1060704" y="2459278"/>
            <a:ext cx="10161727" cy="61630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1F618D"/>
                </a:solidFill>
                <a:latin typeface="Segoe UI"/>
              </a:rPr>
              <a:t>If </a:t>
            </a:r>
            <a:r>
              <a:rPr sz="1800" b="1" i="1">
                <a:solidFill>
                  <a:srgbClr val="1C252B"/>
                </a:solidFill>
                <a:latin typeface="Cambria"/>
              </a:rPr>
              <a:t>x</a:t>
            </a:r>
            <a:r>
              <a:rPr sz="1200" b="1" i="1" baseline="-25000">
                <a:solidFill>
                  <a:srgbClr val="1C252B"/>
                </a:solidFill>
                <a:latin typeface="Cambria"/>
              </a:rPr>
              <a:t>i</a:t>
            </a:r>
            <a:r>
              <a:rPr sz="1800" b="1" i="0">
                <a:solidFill>
                  <a:srgbClr val="1C252B"/>
                </a:solidFill>
                <a:latin typeface="Cambria"/>
              </a:rPr>
              <a:t> = </a:t>
            </a:r>
            <a:r>
              <a:rPr sz="1800" b="1" i="1">
                <a:solidFill>
                  <a:srgbClr val="1C252B"/>
                </a:solidFill>
                <a:latin typeface="Cambria"/>
              </a:rPr>
              <a:t>y</a:t>
            </a:r>
            <a:r>
              <a:rPr sz="1200" b="1" i="1" baseline="-25000">
                <a:solidFill>
                  <a:srgbClr val="1C252B"/>
                </a:solidFill>
                <a:latin typeface="Cambria"/>
              </a:rPr>
              <a:t>j</a:t>
            </a:r>
            <a:r>
              <a:rPr sz="1800" b="0" i="0">
                <a:solidFill>
                  <a:srgbClr val="1C252B"/>
                </a:solidFill>
                <a:latin typeface="Segoe UI"/>
              </a:rPr>
              <a:t>, there is an LCS ending with that character — including it can never hurt — so </a:t>
            </a:r>
            <a:r>
              <a:rPr sz="1800" b="0" i="1">
                <a:solidFill>
                  <a:srgbClr val="1C252B"/>
                </a:solidFill>
                <a:latin typeface="Cambria"/>
              </a:rPr>
              <a:t>c</a:t>
            </a:r>
            <a:r>
              <a:rPr sz="1800" b="0" i="0">
                <a:solidFill>
                  <a:srgbClr val="1C252B"/>
                </a:solidFill>
                <a:latin typeface="Cambria"/>
              </a:rPr>
              <a:t>[</a:t>
            </a:r>
            <a:r>
              <a:rPr sz="1800" b="0" i="1">
                <a:solidFill>
                  <a:srgbClr val="1C252B"/>
                </a:solidFill>
                <a:latin typeface="Cambria"/>
              </a:rPr>
              <a:t>i</a:t>
            </a:r>
            <a:r>
              <a:rPr sz="1800" b="0" i="0">
                <a:solidFill>
                  <a:srgbClr val="1C252B"/>
                </a:solidFill>
                <a:latin typeface="Cambria"/>
              </a:rPr>
              <a:t>][</a:t>
            </a:r>
            <a:r>
              <a:rPr sz="1800" b="0" i="1">
                <a:solidFill>
                  <a:srgbClr val="1C252B"/>
                </a:solidFill>
                <a:latin typeface="Cambria"/>
              </a:rPr>
              <a:t>j</a:t>
            </a:r>
            <a:r>
              <a:rPr sz="1800" b="0" i="0">
                <a:solidFill>
                  <a:srgbClr val="1C252B"/>
                </a:solidFill>
                <a:latin typeface="Cambria"/>
              </a:rPr>
              <a:t>] = </a:t>
            </a:r>
            <a:r>
              <a:rPr sz="1800" b="0" i="1">
                <a:solidFill>
                  <a:srgbClr val="1C252B"/>
                </a:solidFill>
                <a:latin typeface="Cambria"/>
              </a:rPr>
              <a:t>c</a:t>
            </a:r>
            <a:r>
              <a:rPr sz="1800" b="0" i="0">
                <a:solidFill>
                  <a:srgbClr val="1C252B"/>
                </a:solidFill>
                <a:latin typeface="Cambria"/>
              </a:rPr>
              <a:t>[</a:t>
            </a:r>
            <a:r>
              <a:rPr sz="1800" b="0" i="1">
                <a:solidFill>
                  <a:srgbClr val="1C252B"/>
                </a:solidFill>
                <a:latin typeface="Cambria"/>
              </a:rPr>
              <a:t>i</a:t>
            </a:r>
            <a:r>
              <a:rPr sz="1800" b="0" i="0">
                <a:solidFill>
                  <a:srgbClr val="1C252B"/>
                </a:solidFill>
                <a:latin typeface="Cambria"/>
              </a:rPr>
              <a:t>−1][</a:t>
            </a:r>
            <a:r>
              <a:rPr sz="1800" b="0" i="1">
                <a:solidFill>
                  <a:srgbClr val="1C252B"/>
                </a:solidFill>
                <a:latin typeface="Cambria"/>
              </a:rPr>
              <a:t>j</a:t>
            </a:r>
            <a:r>
              <a:rPr sz="1800" b="0" i="0">
                <a:solidFill>
                  <a:srgbClr val="1C252B"/>
                </a:solidFill>
                <a:latin typeface="Cambria"/>
              </a:rPr>
              <a:t>−1] + 1</a:t>
            </a:r>
            <a:r>
              <a:rPr sz="1800" b="0" i="0">
                <a:solidFill>
                  <a:srgbClr val="1C252B"/>
                </a:solidFill>
                <a:latin typeface="Segoe UI"/>
              </a:rPr>
              <a:t>.</a:t>
            </a:r>
          </a:p>
        </p:txBody>
      </p:sp>
      <p:sp>
        <p:nvSpPr>
          <p:cNvPr id="11" name="body-2"/>
          <p:cNvSpPr txBox="1"/>
          <p:nvPr/>
        </p:nvSpPr>
        <p:spPr>
          <a:xfrm>
            <a:off x="1060704" y="3155594"/>
            <a:ext cx="10161727" cy="61630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1F618D"/>
                </a:solidFill>
                <a:latin typeface="Segoe UI"/>
              </a:rPr>
              <a:t>If </a:t>
            </a:r>
            <a:r>
              <a:rPr sz="1800" b="1" i="1">
                <a:solidFill>
                  <a:srgbClr val="1C252B"/>
                </a:solidFill>
                <a:latin typeface="Cambria"/>
              </a:rPr>
              <a:t>x</a:t>
            </a:r>
            <a:r>
              <a:rPr sz="1200" b="1" i="1" baseline="-25000">
                <a:solidFill>
                  <a:srgbClr val="1C252B"/>
                </a:solidFill>
                <a:latin typeface="Cambria"/>
              </a:rPr>
              <a:t>i</a:t>
            </a:r>
            <a:r>
              <a:rPr sz="1800" b="1" i="0">
                <a:solidFill>
                  <a:srgbClr val="1C252B"/>
                </a:solidFill>
                <a:latin typeface="Cambria"/>
              </a:rPr>
              <a:t> ≠ </a:t>
            </a:r>
            <a:r>
              <a:rPr sz="1800" b="1" i="1">
                <a:solidFill>
                  <a:srgbClr val="1C252B"/>
                </a:solidFill>
                <a:latin typeface="Cambria"/>
              </a:rPr>
              <a:t>y</a:t>
            </a:r>
            <a:r>
              <a:rPr sz="1200" b="1" i="1" baseline="-25000">
                <a:solidFill>
                  <a:srgbClr val="1C252B"/>
                </a:solidFill>
                <a:latin typeface="Cambria"/>
              </a:rPr>
              <a:t>j</a:t>
            </a:r>
            <a:r>
              <a:rPr sz="1800" b="0" i="0">
                <a:solidFill>
                  <a:srgbClr val="1C252B"/>
                </a:solidFill>
                <a:latin typeface="Segoe UI"/>
              </a:rPr>
              <a:t>, the LCS cannot end with both, so at least one of </a:t>
            </a:r>
            <a:r>
              <a:rPr sz="1800" b="0" i="1">
                <a:solidFill>
                  <a:srgbClr val="1C252B"/>
                </a:solidFill>
                <a:latin typeface="Cambria"/>
              </a:rPr>
              <a:t>x</a:t>
            </a:r>
            <a:r>
              <a:rPr sz="1200" b="0" i="1" baseline="-25000">
                <a:solidFill>
                  <a:srgbClr val="1C252B"/>
                </a:solidFill>
                <a:latin typeface="Cambria"/>
              </a:rPr>
              <a:t>i</a:t>
            </a:r>
            <a:r>
              <a:rPr sz="1800" b="0" i="0">
                <a:solidFill>
                  <a:srgbClr val="1C252B"/>
                </a:solidFill>
                <a:latin typeface="Cambria"/>
              </a:rPr>
              <a:t>, </a:t>
            </a:r>
            <a:r>
              <a:rPr sz="1800" b="0" i="1">
                <a:solidFill>
                  <a:srgbClr val="1C252B"/>
                </a:solidFill>
                <a:latin typeface="Cambria"/>
              </a:rPr>
              <a:t>y</a:t>
            </a:r>
            <a:r>
              <a:rPr sz="1200" b="0" i="1" baseline="-25000">
                <a:solidFill>
                  <a:srgbClr val="1C252B"/>
                </a:solidFill>
                <a:latin typeface="Cambria"/>
              </a:rPr>
              <a:t>j</a:t>
            </a:r>
            <a:r>
              <a:rPr sz="1800" b="0" i="0">
                <a:solidFill>
                  <a:srgbClr val="1C252B"/>
                </a:solidFill>
                <a:latin typeface="Segoe UI"/>
              </a:rPr>
              <a:t> is unused, and </a:t>
            </a:r>
            <a:r>
              <a:rPr sz="1800" b="0" i="1">
                <a:solidFill>
                  <a:srgbClr val="1C252B"/>
                </a:solidFill>
                <a:latin typeface="Cambria"/>
              </a:rPr>
              <a:t>c</a:t>
            </a:r>
            <a:r>
              <a:rPr sz="1800" b="0" i="0">
                <a:solidFill>
                  <a:srgbClr val="1C252B"/>
                </a:solidFill>
                <a:latin typeface="Cambria"/>
              </a:rPr>
              <a:t>[</a:t>
            </a:r>
            <a:r>
              <a:rPr sz="1800" b="0" i="1">
                <a:solidFill>
                  <a:srgbClr val="1C252B"/>
                </a:solidFill>
                <a:latin typeface="Cambria"/>
              </a:rPr>
              <a:t>i</a:t>
            </a:r>
            <a:r>
              <a:rPr sz="1800" b="0" i="0">
                <a:solidFill>
                  <a:srgbClr val="1C252B"/>
                </a:solidFill>
                <a:latin typeface="Cambria"/>
              </a:rPr>
              <a:t>][</a:t>
            </a:r>
            <a:r>
              <a:rPr sz="1800" b="0" i="1">
                <a:solidFill>
                  <a:srgbClr val="1C252B"/>
                </a:solidFill>
                <a:latin typeface="Cambria"/>
              </a:rPr>
              <a:t>j</a:t>
            </a:r>
            <a:r>
              <a:rPr sz="1800" b="0" i="0">
                <a:solidFill>
                  <a:srgbClr val="1C252B"/>
                </a:solidFill>
                <a:latin typeface="Cambria"/>
              </a:rPr>
              <a:t>] = max(</a:t>
            </a:r>
            <a:r>
              <a:rPr sz="1800" b="0" i="1">
                <a:solidFill>
                  <a:srgbClr val="1C252B"/>
                </a:solidFill>
                <a:latin typeface="Cambria"/>
              </a:rPr>
              <a:t>c</a:t>
            </a:r>
            <a:r>
              <a:rPr sz="1800" b="0" i="0">
                <a:solidFill>
                  <a:srgbClr val="1C252B"/>
                </a:solidFill>
                <a:latin typeface="Cambria"/>
              </a:rPr>
              <a:t>[</a:t>
            </a:r>
            <a:r>
              <a:rPr sz="1800" b="0" i="1">
                <a:solidFill>
                  <a:srgbClr val="1C252B"/>
                </a:solidFill>
                <a:latin typeface="Cambria"/>
              </a:rPr>
              <a:t>i</a:t>
            </a:r>
            <a:r>
              <a:rPr sz="1800" b="0" i="0">
                <a:solidFill>
                  <a:srgbClr val="1C252B"/>
                </a:solidFill>
                <a:latin typeface="Cambria"/>
              </a:rPr>
              <a:t>−1][</a:t>
            </a:r>
            <a:r>
              <a:rPr sz="1800" b="0" i="1">
                <a:solidFill>
                  <a:srgbClr val="1C252B"/>
                </a:solidFill>
                <a:latin typeface="Cambria"/>
              </a:rPr>
              <a:t>j</a:t>
            </a:r>
            <a:r>
              <a:rPr sz="1800" b="0" i="0">
                <a:solidFill>
                  <a:srgbClr val="1C252B"/>
                </a:solidFill>
                <a:latin typeface="Cambria"/>
              </a:rPr>
              <a:t>],  </a:t>
            </a:r>
            <a:r>
              <a:rPr sz="1800" b="0" i="1">
                <a:solidFill>
                  <a:srgbClr val="1C252B"/>
                </a:solidFill>
                <a:latin typeface="Cambria"/>
              </a:rPr>
              <a:t>c</a:t>
            </a:r>
            <a:r>
              <a:rPr sz="1800" b="0" i="0">
                <a:solidFill>
                  <a:srgbClr val="1C252B"/>
                </a:solidFill>
                <a:latin typeface="Cambria"/>
              </a:rPr>
              <a:t>[</a:t>
            </a:r>
            <a:r>
              <a:rPr sz="1800" b="0" i="1">
                <a:solidFill>
                  <a:srgbClr val="1C252B"/>
                </a:solidFill>
                <a:latin typeface="Cambria"/>
              </a:rPr>
              <a:t>i</a:t>
            </a:r>
            <a:r>
              <a:rPr sz="1800" b="0" i="0">
                <a:solidFill>
                  <a:srgbClr val="1C252B"/>
                </a:solidFill>
                <a:latin typeface="Cambria"/>
              </a:rPr>
              <a:t>][</a:t>
            </a:r>
            <a:r>
              <a:rPr sz="1800" b="0" i="1">
                <a:solidFill>
                  <a:srgbClr val="1C252B"/>
                </a:solidFill>
                <a:latin typeface="Cambria"/>
              </a:rPr>
              <a:t>j</a:t>
            </a:r>
            <a:r>
              <a:rPr sz="1800" b="0" i="0">
                <a:solidFill>
                  <a:srgbClr val="1C252B"/>
                </a:solidFill>
                <a:latin typeface="Cambria"/>
              </a:rPr>
              <a:t>−1])</a:t>
            </a:r>
            <a:r>
              <a:rPr sz="1800" b="0" i="0">
                <a:solidFill>
                  <a:srgbClr val="1C252B"/>
                </a:solidFill>
                <a:latin typeface="Segoe UI"/>
              </a:rPr>
              <a:t>.</a:t>
            </a:r>
          </a:p>
        </p:txBody>
      </p:sp>
      <p:pic>
        <p:nvPicPr>
          <p:cNvPr id="12" name="body-3" descr="c[i][j] = \begin{cases} 0 &amp; i = 0 \text{ or } j = 0, \\ c[i-1][j-1] + 1 &amp; x_{i} = y_{j}, \\ \max\bigl(c[i-1][j],\, c[i][j-1]\bigr) &amp; \text{otherwise.} \end{case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3851909"/>
            <a:ext cx="10161727" cy="1106881"/>
          </a:xfrm>
          <a:prstGeom prst="rect">
            <a:avLst/>
          </a:prstGeom>
        </p:spPr>
      </p:pic>
      <p:sp>
        <p:nvSpPr>
          <p:cNvPr id="13" name="body-4"/>
          <p:cNvSpPr txBox="1"/>
          <p:nvPr/>
        </p:nvSpPr>
        <p:spPr>
          <a:xfrm>
            <a:off x="1060704" y="5084521"/>
            <a:ext cx="10161727" cy="901598"/>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1F618D"/>
                </a:solidFill>
                <a:latin typeface="Segoe UI"/>
              </a:rPr>
              <a:t>Both conditions of Chapter 15 hold.</a:t>
            </a:r>
            <a:r>
              <a:rPr sz="1800" b="0" i="0">
                <a:solidFill>
                  <a:srgbClr val="1C252B"/>
                </a:solidFill>
                <a:latin typeface="Segoe UI"/>
              </a:rPr>
              <a:t> Optimal substructure is the argument above. Overlap is severe: </a:t>
            </a:r>
            <a:r>
              <a:rPr sz="1800" b="0" i="1">
                <a:solidFill>
                  <a:srgbClr val="1C252B"/>
                </a:solidFill>
                <a:latin typeface="Cambria"/>
              </a:rPr>
              <a:t>c</a:t>
            </a:r>
            <a:r>
              <a:rPr sz="1800" b="0" i="0">
                <a:solidFill>
                  <a:srgbClr val="1C252B"/>
                </a:solidFill>
                <a:latin typeface="Cambria"/>
              </a:rPr>
              <a:t>[</a:t>
            </a:r>
            <a:r>
              <a:rPr sz="1800" b="0" i="1">
                <a:solidFill>
                  <a:srgbClr val="1C252B"/>
                </a:solidFill>
                <a:latin typeface="Cambria"/>
              </a:rPr>
              <a:t>i</a:t>
            </a:r>
            <a:r>
              <a:rPr sz="1800" b="0" i="0">
                <a:solidFill>
                  <a:srgbClr val="1C252B"/>
                </a:solidFill>
                <a:latin typeface="Cambria"/>
              </a:rPr>
              <a:t>−1][</a:t>
            </a:r>
            <a:r>
              <a:rPr sz="1800" b="0" i="1">
                <a:solidFill>
                  <a:srgbClr val="1C252B"/>
                </a:solidFill>
                <a:latin typeface="Cambria"/>
              </a:rPr>
              <a:t>j</a:t>
            </a:r>
            <a:r>
              <a:rPr sz="1800" b="0" i="0">
                <a:solidFill>
                  <a:srgbClr val="1C252B"/>
                </a:solidFill>
                <a:latin typeface="Cambria"/>
              </a:rPr>
              <a:t>]</a:t>
            </a:r>
            <a:r>
              <a:rPr sz="1800" b="0" i="0">
                <a:solidFill>
                  <a:srgbClr val="1C252B"/>
                </a:solidFill>
                <a:latin typeface="Segoe UI"/>
              </a:rPr>
              <a:t> and </a:t>
            </a:r>
            <a:r>
              <a:rPr sz="1800" b="0" i="1">
                <a:solidFill>
                  <a:srgbClr val="1C252B"/>
                </a:solidFill>
                <a:latin typeface="Cambria"/>
              </a:rPr>
              <a:t>c</a:t>
            </a:r>
            <a:r>
              <a:rPr sz="1800" b="0" i="0">
                <a:solidFill>
                  <a:srgbClr val="1C252B"/>
                </a:solidFill>
                <a:latin typeface="Cambria"/>
              </a:rPr>
              <a:t>[</a:t>
            </a:r>
            <a:r>
              <a:rPr sz="1800" b="0" i="1">
                <a:solidFill>
                  <a:srgbClr val="1C252B"/>
                </a:solidFill>
                <a:latin typeface="Cambria"/>
              </a:rPr>
              <a:t>i</a:t>
            </a:r>
            <a:r>
              <a:rPr sz="1800" b="0" i="0">
                <a:solidFill>
                  <a:srgbClr val="1C252B"/>
                </a:solidFill>
                <a:latin typeface="Cambria"/>
              </a:rPr>
              <a:t>][</a:t>
            </a:r>
            <a:r>
              <a:rPr sz="1800" b="0" i="1">
                <a:solidFill>
                  <a:srgbClr val="1C252B"/>
                </a:solidFill>
                <a:latin typeface="Cambria"/>
              </a:rPr>
              <a:t>j</a:t>
            </a:r>
            <a:r>
              <a:rPr sz="1800" b="0" i="0">
                <a:solidFill>
                  <a:srgbClr val="1C252B"/>
                </a:solidFill>
                <a:latin typeface="Cambria"/>
              </a:rPr>
              <a:t>−1]</a:t>
            </a:r>
            <a:r>
              <a:rPr sz="1800" b="0" i="0">
                <a:solidFill>
                  <a:srgbClr val="1C252B"/>
                </a:solidFill>
                <a:latin typeface="Segoe UI"/>
              </a:rPr>
              <a:t> both depend on </a:t>
            </a:r>
            <a:r>
              <a:rPr sz="1800" b="0" i="1">
                <a:solidFill>
                  <a:srgbClr val="1C252B"/>
                </a:solidFill>
                <a:latin typeface="Cambria"/>
              </a:rPr>
              <a:t>c</a:t>
            </a:r>
            <a:r>
              <a:rPr sz="1800" b="0" i="0">
                <a:solidFill>
                  <a:srgbClr val="1C252B"/>
                </a:solidFill>
                <a:latin typeface="Cambria"/>
              </a:rPr>
              <a:t>[</a:t>
            </a:r>
            <a:r>
              <a:rPr sz="1800" b="0" i="1">
                <a:solidFill>
                  <a:srgbClr val="1C252B"/>
                </a:solidFill>
                <a:latin typeface="Cambria"/>
              </a:rPr>
              <a:t>i</a:t>
            </a:r>
            <a:r>
              <a:rPr sz="1800" b="0" i="0">
                <a:solidFill>
                  <a:srgbClr val="1C252B"/>
                </a:solidFill>
                <a:latin typeface="Cambria"/>
              </a:rPr>
              <a:t>−1][</a:t>
            </a:r>
            <a:r>
              <a:rPr sz="1800" b="0" i="1">
                <a:solidFill>
                  <a:srgbClr val="1C252B"/>
                </a:solidFill>
                <a:latin typeface="Cambria"/>
              </a:rPr>
              <a:t>j</a:t>
            </a:r>
            <a:r>
              <a:rPr sz="1800" b="0" i="0">
                <a:solidFill>
                  <a:srgbClr val="1C252B"/>
                </a:solidFill>
                <a:latin typeface="Cambria"/>
              </a:rPr>
              <a:t>−1]</a:t>
            </a:r>
            <a:r>
              <a:rPr sz="1800" b="0" i="0">
                <a:solidFill>
                  <a:srgbClr val="1C252B"/>
                </a:solidFill>
                <a:latin typeface="Segoe UI"/>
              </a:rPr>
              <a:t>, so a naive recursion solves it twice, and the duplication compounds exponentially.</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195067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Longest Common Subsequence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16.1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§16.1  ·  Handout p. 129     </a:t>
            </a:r>
            <a:fld id="{4E2A5EF5-56F0-43D5-BE85-89A073C82588}" type="slidenum">
              <a:rPr lang="en-GB" sz="1000">
                <a:solidFill>
                  <a:srgbClr val="8795A1"/>
                </a:solidFill>
                <a:latin typeface="Segoe UI"/>
              </a:rPr>
              <a:t>9</a:t>
            </a:fld>
          </a:p>
        </p:txBody>
      </p:sp>
      <p:pic>
        <p:nvPicPr>
          <p:cNvPr id="6" name="!!figure" descr="Figure 16.1. LCS-Length. mn subproblems, O(1) work each, so Θ(mn) time — and Θ(mn) space, which Section 16.3 reduce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003722" y="1737360"/>
            <a:ext cx="6184250"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LCS-Length. mn subproblems, O(1) work each, so Θ(mn) time — and Θ(mn) space, which Section 16.3 reduces.</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19450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LCS</a:t>
            </a:r>
          </a:p>
        </p:txBody>
      </p:sp>
      <p:pic>
        <p:nvPicPr>
          <p:cNvPr id="3" name="!!kicker-icon" descr="award-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THEOREM 16.1</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§16.1  ·  Handout p. 129     </a:t>
            </a:r>
            <a:fld id="{A239DE1F-B14C-4A98-A7C4-7EAEF08857BA}"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350873"/>
          </a:xfrm>
          <a:prstGeom prst="roundRect">
            <a:avLst>
              <a:gd name="adj" fmla="val 6768"/>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350873"/>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LCS-Length computes the LCS length of </a:t>
            </a:r>
            <a:r>
              <a:rPr sz="2300" b="0" i="1">
                <a:solidFill>
                  <a:srgbClr val="1C252B"/>
                </a:solidFill>
                <a:latin typeface="Cambria"/>
              </a:rPr>
              <a:t>X</a:t>
            </a:r>
            <a:r>
              <a:rPr sz="2300" b="0" i="0">
                <a:solidFill>
                  <a:srgbClr val="1C252B"/>
                </a:solidFill>
                <a:latin typeface="Segoe UI"/>
              </a:rPr>
              <a:t> and </a:t>
            </a:r>
            <a:r>
              <a:rPr sz="2300" b="0" i="1">
                <a:solidFill>
                  <a:srgbClr val="1C252B"/>
                </a:solidFill>
                <a:latin typeface="Cambria"/>
              </a:rPr>
              <a:t>Y</a:t>
            </a:r>
            <a:r>
              <a:rPr sz="2300" b="0" i="0">
                <a:solidFill>
                  <a:srgbClr val="1C252B"/>
                </a:solidFill>
                <a:latin typeface="Segoe UI"/>
              </a:rPr>
              <a:t> in </a:t>
            </a:r>
            <a:r>
              <a:rPr sz="2300" b="0" i="0">
                <a:solidFill>
                  <a:srgbClr val="1C252B"/>
                </a:solidFill>
                <a:latin typeface="Cambria"/>
              </a:rPr>
              <a:t>Θ(</a:t>
            </a:r>
            <a:r>
              <a:rPr sz="2300" b="0" i="1">
                <a:solidFill>
                  <a:srgbClr val="1C252B"/>
                </a:solidFill>
                <a:latin typeface="Cambria"/>
              </a:rPr>
              <a:t>mn</a:t>
            </a:r>
            <a:r>
              <a:rPr sz="2300" b="0" i="0">
                <a:solidFill>
                  <a:srgbClr val="1C252B"/>
                </a:solidFill>
                <a:latin typeface="Cambria"/>
              </a:rPr>
              <a:t>)</a:t>
            </a:r>
            <a:r>
              <a:rPr sz="2300" b="0" i="0">
                <a:solidFill>
                  <a:srgbClr val="1C252B"/>
                </a:solidFill>
                <a:latin typeface="Segoe UI"/>
              </a:rPr>
              <a:t> time and </a:t>
            </a:r>
            <a:r>
              <a:rPr sz="2300" b="0" i="0">
                <a:solidFill>
                  <a:srgbClr val="1C252B"/>
                </a:solidFill>
                <a:latin typeface="Cambria"/>
              </a:rPr>
              <a:t>Θ(</a:t>
            </a:r>
            <a:r>
              <a:rPr sz="2300" b="0" i="1">
                <a:solidFill>
                  <a:srgbClr val="1C252B"/>
                </a:solidFill>
                <a:latin typeface="Cambria"/>
              </a:rPr>
              <a:t>mn</a:t>
            </a:r>
            <a:r>
              <a:rPr sz="2300" b="0" i="0">
                <a:solidFill>
                  <a:srgbClr val="1C252B"/>
                </a:solidFill>
                <a:latin typeface="Cambria"/>
              </a:rPr>
              <a:t>)</a:t>
            </a:r>
            <a:r>
              <a:rPr sz="2300" b="0" i="0">
                <a:solidFill>
                  <a:srgbClr val="1C252B"/>
                </a:solidFill>
                <a:latin typeface="Segoe UI"/>
              </a:rPr>
              <a:t> space.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43833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Small Instance, Checkable by Eye</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§16.1  ·  Handout p. 129     </a:t>
            </a:r>
            <a:fld id="{1F11171C-BC59-4ED4-A514-274C314A979D}"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506218"/>
          </a:xfrm>
          <a:prstGeom prst="roundRect">
            <a:avLst>
              <a:gd name="adj" fmla="val 364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50621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78561"/>
          </a:xfrm>
          <a:prstGeom prst="rect">
            <a:avLst/>
          </a:prstGeom>
          <a:noFill/>
        </p:spPr>
        <p:txBody>
          <a:bodyPr wrap="square" anchor="t" lIns="0" rIns="0" tIns="0" bIns="0">
            <a:noAutofit/>
          </a:bodyPr>
          <a:lstStyle/>
          <a:p>
            <a:pPr algn="l">
              <a:lnSpc>
                <a:spcPct val="104000"/>
              </a:lnSpc>
              <a:spcBef>
                <a:spcPts val="0"/>
              </a:spcBef>
              <a:spcAft>
                <a:spcPts val="0"/>
              </a:spcAft>
            </a:pPr>
            <a:r>
              <a:rPr sz="1950" b="0" i="0">
                <a:solidFill>
                  <a:srgbClr val="1F4E79"/>
                </a:solidFill>
                <a:latin typeface="Consolas"/>
              </a:rPr>
              <a:t>code/ch16_dp2.cpp</a:t>
            </a:r>
            <a:r>
              <a:rPr sz="2100" b="0" i="0">
                <a:solidFill>
                  <a:srgbClr val="1C252B"/>
                </a:solidFill>
                <a:latin typeface="Segoe UI"/>
              </a:rPr>
              <a:t> on </a:t>
            </a:r>
            <a:r>
              <a:rPr sz="1950" b="0" i="0">
                <a:solidFill>
                  <a:srgbClr val="1F4E79"/>
                </a:solidFill>
                <a:latin typeface="Consolas"/>
              </a:rPr>
              <a:t>ALGORITHM</a:t>
            </a:r>
            <a:r>
              <a:rPr sz="2100" b="0" i="0">
                <a:solidFill>
                  <a:srgbClr val="1C252B"/>
                </a:solidFill>
                <a:latin typeface="Segoe UI"/>
              </a:rPr>
              <a:t> and </a:t>
            </a:r>
            <a:r>
              <a:rPr sz="1950" b="0" i="0">
                <a:solidFill>
                  <a:srgbClr val="1F4E79"/>
                </a:solidFill>
                <a:latin typeface="Consolas"/>
              </a:rPr>
              <a:t>ALTRUISTIC</a:t>
            </a:r>
            <a:r>
              <a:rPr sz="2100" b="0" i="0">
                <a:solidFill>
                  <a:srgbClr val="1C252B"/>
                </a:solidFill>
                <a:latin typeface="Segoe UI"/>
              </a:rPr>
              <a:t>:</a:t>
            </a:r>
          </a:p>
        </p:txBody>
      </p:sp>
      <p:sp>
        <p:nvSpPr>
          <p:cNvPr id="10" name="body-1"/>
          <p:cNvSpPr txBox="1"/>
          <p:nvPr/>
        </p:nvSpPr>
        <p:spPr>
          <a:xfrm>
            <a:off x="1042416" y="2491206"/>
            <a:ext cx="10234879" cy="378561"/>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LCS length </a:t>
            </a:r>
            <a:r>
              <a:rPr sz="2100" b="0" i="0">
                <a:solidFill>
                  <a:srgbClr val="1C252B"/>
                </a:solidFill>
                <a:latin typeface="Cambria"/>
              </a:rPr>
              <a:t>= 5</a:t>
            </a:r>
            <a:r>
              <a:rPr sz="2100" b="0" i="0">
                <a:solidFill>
                  <a:srgbClr val="1C252B"/>
                </a:solidFill>
                <a:latin typeface="Segoe UI"/>
              </a:rPr>
              <a:t>, the subsequence </a:t>
            </a:r>
            <a:r>
              <a:rPr sz="1950" b="0" i="0">
                <a:solidFill>
                  <a:srgbClr val="1F4E79"/>
                </a:solidFill>
                <a:latin typeface="Consolas"/>
              </a:rPr>
              <a:t>ALRIT</a:t>
            </a:r>
            <a:r>
              <a:rPr sz="2100" b="0" i="0">
                <a:solidFill>
                  <a:srgbClr val="1C252B"/>
                </a:solidFill>
                <a:latin typeface="Segoe UI"/>
              </a:rPr>
              <a:t>; edit distance </a:t>
            </a:r>
            <a:r>
              <a:rPr sz="2100" b="0" i="0">
                <a:solidFill>
                  <a:srgbClr val="1C252B"/>
                </a:solidFill>
                <a:latin typeface="Cambria"/>
              </a:rPr>
              <a:t>= 6</a:t>
            </a:r>
            <a:r>
              <a:rPr sz="2100" b="0" i="0">
                <a:solidFill>
                  <a:srgbClr val="1C252B"/>
                </a:solidFill>
                <a:latin typeface="Segoe UI"/>
              </a:rPr>
              <a:t>.</a:t>
            </a:r>
          </a:p>
        </p:txBody>
      </p:sp>
      <p:sp>
        <p:nvSpPr>
          <p:cNvPr id="11" name="body-2"/>
          <p:cNvSpPr txBox="1"/>
          <p:nvPr/>
        </p:nvSpPr>
        <p:spPr>
          <a:xfrm>
            <a:off x="1042416" y="2970733"/>
            <a:ext cx="10234879"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Trace </a:t>
            </a:r>
            <a:r>
              <a:rPr sz="1950" b="0" i="0">
                <a:solidFill>
                  <a:srgbClr val="1F4E79"/>
                </a:solidFill>
                <a:latin typeface="Consolas"/>
              </a:rPr>
              <a:t>ALRIT</a:t>
            </a:r>
            <a:r>
              <a:rPr sz="2100" b="0" i="0">
                <a:solidFill>
                  <a:srgbClr val="1C252B"/>
                </a:solidFill>
                <a:latin typeface="Segoe UI"/>
              </a:rPr>
              <a:t> through both words to confirm it is a subsequence of each, and satisfy yourself that no common subsequence of length 6 exists. Small instances you can check by hand are worth more than large ones you cannot.</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268217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Edit Distance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2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16.2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16.1   Longest Common Subsequence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16.2   Edit Distance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16.3   Saving Space, and What It Costs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16.4   0/1 Knapsack, and a Word That Matters</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§16.2     </a:t>
            </a:r>
            <a:fld id="{FBDE30A8-2B87-4FD1-A576-E3186F030B55}" type="slidenum">
              <a:rPr lang="en-GB" sz="1000">
                <a:solidFill>
                  <a:srgbClr val="8795A1"/>
                </a:solidFill>
                <a:latin typeface="Segoe UI"/>
              </a:rPr>
              <a:t>12</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92600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Edit Distance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§16.2  ·  Handout p. 131     </a:t>
            </a:r>
            <a:fld id="{6243E60D-704D-4F98-8CC7-703E3B2CAC71}"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1" i="0">
                <a:solidFill>
                  <a:srgbClr val="1A5276"/>
                </a:solidFill>
                <a:latin typeface="Segoe UI"/>
              </a:rPr>
              <a:t>edit distance</a:t>
            </a:r>
            <a:r>
              <a:rPr sz="2300" b="0" i="0">
                <a:solidFill>
                  <a:srgbClr val="1C252B"/>
                </a:solidFill>
                <a:latin typeface="Segoe UI"/>
              </a:rPr>
              <a:t> (Levenshtein distance) between two strings is the minimum number of single-character insertions, deletions and substitutions that turn one into the other.</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16984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same table, three choices instead of two</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§16.2  ·  Handout p. 131     </a:t>
            </a:r>
            <a:fld id="{DBED6CDF-A7DE-427E-84DA-5AABE8ECA0FF}"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72712"/>
          </a:xfrm>
          <a:prstGeom prst="roundRect">
            <a:avLst>
              <a:gd name="adj" fmla="val 2191"/>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7271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Let </a:t>
            </a:r>
            <a:r>
              <a:rPr sz="2000" b="0" i="1">
                <a:solidFill>
                  <a:srgbClr val="1C252B"/>
                </a:solidFill>
                <a:latin typeface="Cambria"/>
              </a:rPr>
              <a:t>d</a:t>
            </a:r>
            <a:r>
              <a:rPr sz="2000" b="0" i="0">
                <a:solidFill>
                  <a:srgbClr val="1C252B"/>
                </a:solidFill>
                <a:latin typeface="Cambria"/>
              </a:rPr>
              <a:t>[</a:t>
            </a:r>
            <a:r>
              <a:rPr sz="2000" b="0" i="1">
                <a:solidFill>
                  <a:srgbClr val="1C252B"/>
                </a:solidFill>
                <a:latin typeface="Cambria"/>
              </a:rPr>
              <a:t>i</a:t>
            </a:r>
            <a:r>
              <a:rPr sz="2000" b="0" i="0">
                <a:solidFill>
                  <a:srgbClr val="1C252B"/>
                </a:solidFill>
                <a:latin typeface="Cambria"/>
              </a:rPr>
              <a:t>][</a:t>
            </a:r>
            <a:r>
              <a:rPr sz="2000" b="0" i="1">
                <a:solidFill>
                  <a:srgbClr val="1C252B"/>
                </a:solidFill>
                <a:latin typeface="Cambria"/>
              </a:rPr>
              <a:t>j</a:t>
            </a:r>
            <a:r>
              <a:rPr sz="2000" b="0" i="0">
                <a:solidFill>
                  <a:srgbClr val="1C252B"/>
                </a:solidFill>
                <a:latin typeface="Cambria"/>
              </a:rPr>
              <a:t>]</a:t>
            </a:r>
            <a:r>
              <a:rPr sz="2000" b="0" i="0">
                <a:solidFill>
                  <a:srgbClr val="1C252B"/>
                </a:solidFill>
                <a:latin typeface="Segoe UI"/>
              </a:rPr>
              <a:t> be the distance between </a:t>
            </a:r>
            <a:r>
              <a:rPr sz="2000" b="0" i="1">
                <a:solidFill>
                  <a:srgbClr val="1C252B"/>
                </a:solidFill>
                <a:latin typeface="Cambria"/>
              </a:rPr>
              <a:t>X</a:t>
            </a:r>
            <a:r>
              <a:rPr sz="1300" b="0" i="0" baseline="-25000">
                <a:solidFill>
                  <a:srgbClr val="1C252B"/>
                </a:solidFill>
                <a:latin typeface="Cambria"/>
              </a:rPr>
              <a:t>1..</a:t>
            </a:r>
            <a:r>
              <a:rPr sz="1300" b="0" i="1" baseline="-25000">
                <a:solidFill>
                  <a:srgbClr val="1C252B"/>
                </a:solidFill>
                <a:latin typeface="Cambria"/>
              </a:rPr>
              <a:t>i</a:t>
            </a:r>
            <a:r>
              <a:rPr sz="2000" b="0" i="0">
                <a:solidFill>
                  <a:srgbClr val="1C252B"/>
                </a:solidFill>
                <a:latin typeface="Segoe UI"/>
              </a:rPr>
              <a:t> and </a:t>
            </a:r>
            <a:r>
              <a:rPr sz="2000" b="0" i="1">
                <a:solidFill>
                  <a:srgbClr val="1C252B"/>
                </a:solidFill>
                <a:latin typeface="Cambria"/>
              </a:rPr>
              <a:t>Y</a:t>
            </a:r>
            <a:r>
              <a:rPr sz="1300" b="0" i="0" baseline="-25000">
                <a:solidFill>
                  <a:srgbClr val="1C252B"/>
                </a:solidFill>
                <a:latin typeface="Cambria"/>
              </a:rPr>
              <a:t>1..</a:t>
            </a:r>
            <a:r>
              <a:rPr sz="1300" b="0" i="1" baseline="-25000">
                <a:solidFill>
                  <a:srgbClr val="1C252B"/>
                </a:solidFill>
                <a:latin typeface="Cambria"/>
              </a:rPr>
              <a:t>j</a:t>
            </a:r>
            <a:r>
              <a:rPr sz="2000" b="0" i="0">
                <a:solidFill>
                  <a:srgbClr val="1C252B"/>
                </a:solidFill>
                <a:latin typeface="Segoe UI"/>
              </a:rPr>
              <a:t>. To account for the last position there are exactly three possibilities:</a:t>
            </a:r>
          </a:p>
        </p:txBody>
      </p:sp>
      <p:pic>
        <p:nvPicPr>
          <p:cNvPr id="10" name="body-1" descr="d[i][j] = \min\begin{cases} d[i-1][j] + 1 &amp; \text{delete } x_{i}, \\ d[i][j-1] + 1 &amp; \text{insert } y_{j}, \\ d[i-1][j-1] + [\,x_{i} \ne y_{j}\,] &amp; \text{substitute, or match free.} \end{case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821939"/>
            <a:ext cx="10161727" cy="1229868"/>
          </a:xfrm>
          <a:prstGeom prst="rect">
            <a:avLst/>
          </a:prstGeom>
        </p:spPr>
      </p:pic>
      <p:sp>
        <p:nvSpPr>
          <p:cNvPr id="11" name="body-2"/>
          <p:cNvSpPr txBox="1"/>
          <p:nvPr/>
        </p:nvSpPr>
        <p:spPr>
          <a:xfrm>
            <a:off x="1060704" y="4191508"/>
            <a:ext cx="10161727" cy="362712"/>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with </a:t>
            </a:r>
            <a:r>
              <a:rPr sz="2000" b="0" i="1">
                <a:solidFill>
                  <a:srgbClr val="1C252B"/>
                </a:solidFill>
                <a:latin typeface="Cambria"/>
              </a:rPr>
              <a:t>d</a:t>
            </a:r>
            <a:r>
              <a:rPr sz="2000" b="0" i="0">
                <a:solidFill>
                  <a:srgbClr val="1C252B"/>
                </a:solidFill>
                <a:latin typeface="Cambria"/>
              </a:rPr>
              <a:t>[</a:t>
            </a:r>
            <a:r>
              <a:rPr sz="2000" b="0" i="1">
                <a:solidFill>
                  <a:srgbClr val="1C252B"/>
                </a:solidFill>
                <a:latin typeface="Cambria"/>
              </a:rPr>
              <a:t>i</a:t>
            </a:r>
            <a:r>
              <a:rPr sz="2000" b="0" i="0">
                <a:solidFill>
                  <a:srgbClr val="1C252B"/>
                </a:solidFill>
                <a:latin typeface="Cambria"/>
              </a:rPr>
              <a:t>][0] = </a:t>
            </a:r>
            <a:r>
              <a:rPr sz="2000" b="0" i="1">
                <a:solidFill>
                  <a:srgbClr val="1C252B"/>
                </a:solidFill>
                <a:latin typeface="Cambria"/>
              </a:rPr>
              <a:t>i</a:t>
            </a:r>
            <a:r>
              <a:rPr sz="2000" b="0" i="0">
                <a:solidFill>
                  <a:srgbClr val="1C252B"/>
                </a:solidFill>
                <a:latin typeface="Segoe UI"/>
              </a:rPr>
              <a:t> and </a:t>
            </a:r>
            <a:r>
              <a:rPr sz="2000" b="0" i="1">
                <a:solidFill>
                  <a:srgbClr val="1C252B"/>
                </a:solidFill>
                <a:latin typeface="Cambria"/>
              </a:rPr>
              <a:t>d</a:t>
            </a:r>
            <a:r>
              <a:rPr sz="2000" b="0" i="0">
                <a:solidFill>
                  <a:srgbClr val="1C252B"/>
                </a:solidFill>
                <a:latin typeface="Cambria"/>
              </a:rPr>
              <a:t>[0][</a:t>
            </a:r>
            <a:r>
              <a:rPr sz="2000" b="0" i="1">
                <a:solidFill>
                  <a:srgbClr val="1C252B"/>
                </a:solidFill>
                <a:latin typeface="Cambria"/>
              </a:rPr>
              <a:t>j</a:t>
            </a:r>
            <a:r>
              <a:rPr sz="2000" b="0" i="0">
                <a:solidFill>
                  <a:srgbClr val="1C252B"/>
                </a:solidFill>
                <a:latin typeface="Cambria"/>
              </a:rPr>
              <a:t>] = </a:t>
            </a:r>
            <a:r>
              <a:rPr sz="2000" b="0" i="1">
                <a:solidFill>
                  <a:srgbClr val="1C252B"/>
                </a:solidFill>
                <a:latin typeface="Cambria"/>
              </a:rPr>
              <a:t>j</a:t>
            </a:r>
            <a:r>
              <a:rPr sz="2000" b="0" i="0">
                <a:solidFill>
                  <a:srgbClr val="1C252B"/>
                </a:solidFill>
                <a:latin typeface="Segoe UI"/>
              </a:rPr>
              <a:t> — deleting or inserting everything.</a:t>
            </a:r>
          </a:p>
        </p:txBody>
      </p:sp>
      <p:sp>
        <p:nvSpPr>
          <p:cNvPr id="12" name="body-3"/>
          <p:cNvSpPr txBox="1"/>
          <p:nvPr/>
        </p:nvSpPr>
        <p:spPr>
          <a:xfrm>
            <a:off x="1060704" y="4648200"/>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1F618D"/>
                </a:solidFill>
                <a:latin typeface="Segoe UI"/>
              </a:rPr>
              <a:t>LCS and edit distance are the same algorithm with a different cost table</a:t>
            </a:r>
            <a:r>
              <a:rPr sz="2000" b="0" i="0">
                <a:solidFill>
                  <a:srgbClr val="1C252B"/>
                </a:solidFill>
                <a:latin typeface="Segoe UI"/>
              </a:rPr>
              <a:t>, which is worth noticing: once you can write one, you can write spell-checking, DNA alignment, </a:t>
            </a:r>
            <a:r>
              <a:rPr sz="1900" b="0" i="0">
                <a:solidFill>
                  <a:srgbClr val="1F4E79"/>
                </a:solidFill>
                <a:latin typeface="Consolas"/>
              </a:rPr>
              <a:t>diff</a:t>
            </a:r>
            <a:r>
              <a:rPr sz="2000" b="0" i="0">
                <a:solidFill>
                  <a:srgbClr val="1C252B"/>
                </a:solidFill>
                <a:latin typeface="Segoe UI"/>
              </a:rPr>
              <a:t>, and fuzzy search. All of them are </a:t>
            </a:r>
            <a:r>
              <a:rPr sz="2000" b="0" i="0">
                <a:solidFill>
                  <a:srgbClr val="1C252B"/>
                </a:solidFill>
                <a:latin typeface="Cambria"/>
              </a:rPr>
              <a:t>Θ(</a:t>
            </a:r>
            <a:r>
              <a:rPr sz="2000" b="0" i="1">
                <a:solidFill>
                  <a:srgbClr val="1C252B"/>
                </a:solidFill>
                <a:latin typeface="Cambria"/>
              </a:rPr>
              <a:t>mn</a:t>
            </a:r>
            <a:r>
              <a:rPr sz="2000" b="0" i="0">
                <a:solidFill>
                  <a:srgbClr val="1C252B"/>
                </a:solidFill>
                <a:latin typeface="Cambria"/>
              </a:rPr>
              <a:t>)</a:t>
            </a:r>
            <a:r>
              <a:rPr sz="2000" b="0" i="0">
                <a:solidFill>
                  <a:srgbClr val="1C252B"/>
                </a:solidFill>
                <a:latin typeface="Segoe UI"/>
              </a:rPr>
              <a:t> with different weights on the three moves.</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41367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Measured: Both Are Quadratic</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§16.2  ·  Handout p. 131     </a:t>
            </a:r>
            <a:fld id="{689759FB-477F-4B7D-966C-C07AD5A65E28}"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59503"/>
          </a:xfrm>
          <a:prstGeom prst="roundRect">
            <a:avLst>
              <a:gd name="adj" fmla="val 2097"/>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59503"/>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Random strings over a 4-letter alphabet; doubling both lengths should quadruple the time.</a:t>
            </a:r>
          </a:p>
        </p:txBody>
      </p:sp>
      <p:graphicFrame>
        <p:nvGraphicFramePr>
          <p:cNvPr id="10" name="body-1"/>
          <p:cNvGraphicFramePr>
            <a:graphicFrameLocks noGrp="1"/>
          </p:cNvGraphicFramePr>
          <p:nvPr/>
        </p:nvGraphicFramePr>
        <p:xfrm>
          <a:off x="1042416" y="2445537"/>
          <a:ext cx="6935035" cy="2340864"/>
        </p:xfrm>
        <a:graphic>
          <a:graphicData uri="http://schemas.openxmlformats.org/drawingml/2006/table">
            <a:tbl>
              <a:tblPr firstRow="0" bandRow="0" firstCol="0" lastRow="0" lastCol="0" bandCol="0">
                <a:tableStyleId>{2D5ABB26-0587-4C30-8999-92F81FD0307C}</a:tableStyleId>
              </a:tblPr>
              <a:tblGrid>
                <a:gridCol w="747869"/>
                <a:gridCol w="1478394"/>
                <a:gridCol w="716158"/>
                <a:gridCol w="1733108"/>
                <a:gridCol w="716158"/>
                <a:gridCol w="1543348"/>
              </a:tblGrid>
              <a:tr h="390144">
                <a:tc>
                  <a:txBody>
                    <a:bodyPr wrap="square"/>
                    <a:lstStyle/>
                    <a:p>
                      <a:pPr algn="r"/>
                      <a:r>
                        <a:rPr sz="1600" b="1" i="1">
                          <a:solidFill>
                            <a:srgbClr val="1A5276"/>
                          </a:solidFill>
                          <a:latin typeface="Cambria"/>
                        </a:rPr>
                        <a:t>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LCS full (ms)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ratio</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LCS 2-row (ms)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ratio</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edit dist (ms)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r"/>
                      <a:r>
                        <a:rPr sz="1600" b="0" i="0">
                          <a:solidFill>
                            <a:srgbClr val="1C252B"/>
                          </a:solidFill>
                          <a:latin typeface="Segoe UI"/>
                        </a:rPr>
                        <a:t>500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1.4</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0.7</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1.3</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1,000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5.5</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4.08</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3.2</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4.65</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5.2</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2,000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24.4</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4.43</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14.6</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4.59</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22.1</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4,000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107.0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4.39</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61.2</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4.19</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82.4</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8,000</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403.6</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3.77</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240.2</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3.93</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320.3</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1" name="body-2"/>
          <p:cNvSpPr txBox="1"/>
          <p:nvPr/>
        </p:nvSpPr>
        <p:spPr>
          <a:xfrm>
            <a:off x="1042416" y="4919116"/>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Mean ratios 4.17 and 4.34 against a predicted 4. The two-row version is consistently about 1.7</a:t>
            </a:r>
            <a:r>
              <a:rPr sz="1900" b="0" i="0">
                <a:solidFill>
                  <a:srgbClr val="1C252B"/>
                </a:solidFill>
                <a:latin typeface="Cambria"/>
              </a:rPr>
              <a:t>×</a:t>
            </a:r>
            <a:r>
              <a:rPr sz="1900" b="0" i="0">
                <a:solidFill>
                  <a:srgbClr val="1C252B"/>
                </a:solidFill>
                <a:latin typeface="Segoe UI"/>
              </a:rPr>
              <a:t> faster than the full table — not because it does less arithmetic, but because it touches </a:t>
            </a:r>
            <a:r>
              <a:rPr sz="1900" b="0" i="0">
                <a:solidFill>
                  <a:srgbClr val="1C252B"/>
                </a:solidFill>
                <a:latin typeface="Cambria"/>
              </a:rPr>
              <a:t>Θ(</a:t>
            </a:r>
            <a:r>
              <a:rPr sz="1900" b="0" i="1">
                <a:solidFill>
                  <a:srgbClr val="1C252B"/>
                </a:solidFill>
                <a:latin typeface="Cambria"/>
              </a:rPr>
              <a:t>n</a:t>
            </a:r>
            <a:r>
              <a:rPr sz="1900" b="0" i="0">
                <a:solidFill>
                  <a:srgbClr val="1C252B"/>
                </a:solidFill>
                <a:latin typeface="Cambria"/>
              </a:rPr>
              <a:t>)</a:t>
            </a:r>
            <a:r>
              <a:rPr sz="1900" b="0" i="0">
                <a:solidFill>
                  <a:srgbClr val="1C252B"/>
                </a:solidFill>
                <a:latin typeface="Segoe UI"/>
              </a:rPr>
              <a:t> memory instead of </a:t>
            </a:r>
            <a:r>
              <a:rPr sz="1900" b="0" i="0">
                <a:solidFill>
                  <a:srgbClr val="1C252B"/>
                </a:solidFill>
                <a:latin typeface="Cambria"/>
              </a:rPr>
              <a:t>Θ(</a:t>
            </a:r>
            <a:r>
              <a:rPr sz="1900" b="0" i="1">
                <a:solidFill>
                  <a:srgbClr val="1C252B"/>
                </a:solidFill>
                <a:latin typeface="Cambria"/>
              </a:rPr>
              <a:t>n</a:t>
            </a:r>
            <a:r>
              <a:rPr sz="1250" b="0" i="0" baseline="30000">
                <a:solidFill>
                  <a:srgbClr val="1C252B"/>
                </a:solidFill>
                <a:latin typeface="Cambria"/>
              </a:rPr>
              <a:t>2</a:t>
            </a:r>
            <a:r>
              <a:rPr sz="1900" b="0" i="0">
                <a:solidFill>
                  <a:srgbClr val="1C252B"/>
                </a:solidFill>
                <a:latin typeface="Cambria"/>
              </a:rPr>
              <a:t>)</a:t>
            </a:r>
            <a:r>
              <a:rPr sz="1900" b="0" i="0">
                <a:solidFill>
                  <a:srgbClr val="1C252B"/>
                </a:solidFill>
                <a:latin typeface="Segoe UI"/>
              </a:rPr>
              <a:t> and stays in cache.</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365750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rolling array</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§16.3  ·  Handout p. 131     </a:t>
            </a:r>
            <a:fld id="{F638026B-A843-4381-AD9F-36891FECD91E}"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07788"/>
          </a:xfrm>
          <a:prstGeom prst="roundRect">
            <a:avLst>
              <a:gd name="adj" fmla="val 2028"/>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0778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806500"/>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Row </a:t>
            </a:r>
            <a:r>
              <a:rPr sz="1600" b="0" i="1">
                <a:solidFill>
                  <a:srgbClr val="1C252B"/>
                </a:solidFill>
                <a:latin typeface="Cambria"/>
              </a:rPr>
              <a:t>i</a:t>
            </a:r>
            <a:r>
              <a:rPr sz="1600" b="0" i="0">
                <a:solidFill>
                  <a:srgbClr val="1C252B"/>
                </a:solidFill>
                <a:latin typeface="Segoe UI"/>
              </a:rPr>
              <a:t> of the LCS table depends only on row </a:t>
            </a:r>
            <a:r>
              <a:rPr sz="1600" b="0" i="1">
                <a:solidFill>
                  <a:srgbClr val="1C252B"/>
                </a:solidFill>
                <a:latin typeface="Cambria"/>
              </a:rPr>
              <a:t>i</a:t>
            </a:r>
            <a:r>
              <a:rPr sz="1600" b="0" i="0">
                <a:solidFill>
                  <a:srgbClr val="1C252B"/>
                </a:solidFill>
                <a:latin typeface="Cambria"/>
              </a:rPr>
              <a:t>−1</a:t>
            </a:r>
            <a:r>
              <a:rPr sz="1600" b="0" i="0">
                <a:solidFill>
                  <a:srgbClr val="1C252B"/>
                </a:solidFill>
                <a:latin typeface="Segoe UI"/>
              </a:rPr>
              <a:t> and on earlier entries of row </a:t>
            </a:r>
            <a:r>
              <a:rPr sz="1600" b="0" i="1">
                <a:solidFill>
                  <a:srgbClr val="1C252B"/>
                </a:solidFill>
                <a:latin typeface="Cambria"/>
              </a:rPr>
              <a:t>i</a:t>
            </a:r>
            <a:r>
              <a:rPr sz="1600" b="0" i="0">
                <a:solidFill>
                  <a:srgbClr val="1C252B"/>
                </a:solidFill>
                <a:latin typeface="Segoe UI"/>
              </a:rPr>
              <a:t>. So only two rows need exist at a time, and the space falls from </a:t>
            </a:r>
            <a:r>
              <a:rPr sz="1600" b="0" i="0">
                <a:solidFill>
                  <a:srgbClr val="1C252B"/>
                </a:solidFill>
                <a:latin typeface="Cambria"/>
              </a:rPr>
              <a:t>Θ(</a:t>
            </a:r>
            <a:r>
              <a:rPr sz="1600" b="0" i="1">
                <a:solidFill>
                  <a:srgbClr val="1C252B"/>
                </a:solidFill>
                <a:latin typeface="Cambria"/>
              </a:rPr>
              <a:t>mn</a:t>
            </a:r>
            <a:r>
              <a:rPr sz="1600" b="0" i="0">
                <a:solidFill>
                  <a:srgbClr val="1C252B"/>
                </a:solidFill>
                <a:latin typeface="Cambria"/>
              </a:rPr>
              <a:t>)</a:t>
            </a:r>
            <a:r>
              <a:rPr sz="1600" b="0" i="0">
                <a:solidFill>
                  <a:srgbClr val="1C252B"/>
                </a:solidFill>
                <a:latin typeface="Segoe UI"/>
              </a:rPr>
              <a:t> to </a:t>
            </a:r>
            <a:r>
              <a:rPr sz="1600" b="0" i="0">
                <a:solidFill>
                  <a:srgbClr val="1C252B"/>
                </a:solidFill>
                <a:latin typeface="Cambria"/>
              </a:rPr>
              <a:t>Θ(</a:t>
            </a:r>
            <a:r>
              <a:rPr sz="1600" b="0" i="1">
                <a:solidFill>
                  <a:srgbClr val="1C252B"/>
                </a:solidFill>
                <a:latin typeface="Cambria"/>
              </a:rPr>
              <a:t>n</a:t>
            </a:r>
            <a:r>
              <a:rPr sz="1600" b="0" i="0">
                <a:solidFill>
                  <a:srgbClr val="1C252B"/>
                </a:solidFill>
                <a:latin typeface="Cambria"/>
              </a:rPr>
              <a:t>)</a:t>
            </a:r>
            <a:r>
              <a:rPr sz="1600" b="0" i="0">
                <a:solidFill>
                  <a:srgbClr val="1C252B"/>
                </a:solidFill>
                <a:latin typeface="Segoe UI"/>
              </a:rPr>
              <a:t> — or </a:t>
            </a:r>
            <a:r>
              <a:rPr sz="1600" b="0" i="0">
                <a:solidFill>
                  <a:srgbClr val="1C252B"/>
                </a:solidFill>
                <a:latin typeface="Cambria"/>
              </a:rPr>
              <a:t>Θ(min(</a:t>
            </a:r>
            <a:r>
              <a:rPr sz="1600" b="0" i="1">
                <a:solidFill>
                  <a:srgbClr val="1C252B"/>
                </a:solidFill>
                <a:latin typeface="Cambria"/>
              </a:rPr>
              <a:t>m</a:t>
            </a:r>
            <a:r>
              <a:rPr sz="1600" b="0" i="0">
                <a:solidFill>
                  <a:srgbClr val="1C252B"/>
                </a:solidFill>
                <a:latin typeface="Cambria"/>
              </a:rPr>
              <a:t>,</a:t>
            </a:r>
            <a:r>
              <a:rPr sz="1600" b="0" i="1">
                <a:solidFill>
                  <a:srgbClr val="1C252B"/>
                </a:solidFill>
                <a:latin typeface="Cambria"/>
              </a:rPr>
              <a:t>n</a:t>
            </a:r>
            <a:r>
              <a:rPr sz="1600" b="0" i="0">
                <a:solidFill>
                  <a:srgbClr val="1C252B"/>
                </a:solidFill>
                <a:latin typeface="Cambria"/>
              </a:rPr>
              <a:t>))</a:t>
            </a:r>
            <a:r>
              <a:rPr sz="1600" b="0" i="0">
                <a:solidFill>
                  <a:srgbClr val="1C252B"/>
                </a:solidFill>
                <a:latin typeface="Segoe UI"/>
              </a:rPr>
              <a:t>, by iterating over the longer string in the outer loop.</a:t>
            </a:r>
          </a:p>
        </p:txBody>
      </p:sp>
      <p:sp>
        <p:nvSpPr>
          <p:cNvPr id="10" name="body-1"/>
          <p:cNvSpPr txBox="1"/>
          <p:nvPr/>
        </p:nvSpPr>
        <p:spPr>
          <a:xfrm>
            <a:off x="1060704" y="2920796"/>
            <a:ext cx="10161727" cy="552907"/>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At </a:t>
            </a:r>
            <a:r>
              <a:rPr sz="1600" b="0" i="1">
                <a:solidFill>
                  <a:srgbClr val="1C252B"/>
                </a:solidFill>
                <a:latin typeface="Cambria"/>
              </a:rPr>
              <a:t>m</a:t>
            </a:r>
            <a:r>
              <a:rPr sz="1600" b="0" i="0">
                <a:solidFill>
                  <a:srgbClr val="1C252B"/>
                </a:solidFill>
                <a:latin typeface="Cambria"/>
              </a:rPr>
              <a:t> = </a:t>
            </a:r>
            <a:r>
              <a:rPr sz="1600" b="0" i="1">
                <a:solidFill>
                  <a:srgbClr val="1C252B"/>
                </a:solidFill>
                <a:latin typeface="Cambria"/>
              </a:rPr>
              <a:t>n</a:t>
            </a:r>
            <a:r>
              <a:rPr sz="1600" b="0" i="0">
                <a:solidFill>
                  <a:srgbClr val="1C252B"/>
                </a:solidFill>
                <a:latin typeface="Cambria"/>
              </a:rPr>
              <a:t> = 100,000</a:t>
            </a:r>
            <a:r>
              <a:rPr sz="1600" b="0" i="0">
                <a:solidFill>
                  <a:srgbClr val="1C252B"/>
                </a:solidFill>
                <a:latin typeface="Segoe UI"/>
              </a:rPr>
              <a:t> that is the difference between 40 GB and 400 KB. It is not an optimisation; it is the difference between possible and impossible.</a:t>
            </a:r>
          </a:p>
        </p:txBody>
      </p:sp>
      <p:sp>
        <p:nvSpPr>
          <p:cNvPr id="11" name="body-2"/>
          <p:cNvSpPr txBox="1"/>
          <p:nvPr/>
        </p:nvSpPr>
        <p:spPr>
          <a:xfrm>
            <a:off x="1060704" y="3539743"/>
            <a:ext cx="10161727" cy="552907"/>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1F618D"/>
                </a:solidFill>
                <a:latin typeface="Segoe UI"/>
              </a:rPr>
              <a:t>And here is the cost.</a:t>
            </a:r>
            <a:r>
              <a:rPr sz="1600" b="0" i="0">
                <a:solidFill>
                  <a:srgbClr val="1C252B"/>
                </a:solidFill>
                <a:latin typeface="Segoe UI"/>
              </a:rPr>
              <a:t> Reconstructing the actual subsequence requires walking </a:t>
            </a:r>
            <a:r>
              <a:rPr sz="1600" b="0" i="1">
                <a:solidFill>
                  <a:srgbClr val="1C252B"/>
                </a:solidFill>
                <a:latin typeface="Segoe UI"/>
              </a:rPr>
              <a:t>backwards</a:t>
            </a:r>
            <a:r>
              <a:rPr sz="1600" b="0" i="0">
                <a:solidFill>
                  <a:srgbClr val="1C252B"/>
                </a:solidFill>
                <a:latin typeface="Segoe UI"/>
              </a:rPr>
              <a:t> through the table, which needs the whole table. With two rows you get the length and nothing else.</a:t>
            </a:r>
          </a:p>
        </p:txBody>
      </p:sp>
      <p:sp>
        <p:nvSpPr>
          <p:cNvPr id="12" name="body-3"/>
          <p:cNvSpPr txBox="1"/>
          <p:nvPr/>
        </p:nvSpPr>
        <p:spPr>
          <a:xfrm>
            <a:off x="1060704" y="4158691"/>
            <a:ext cx="10161727" cy="299313"/>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1F618D"/>
                </a:solidFill>
                <a:latin typeface="Segoe UI"/>
              </a:rPr>
              <a:t>So the choice is:</a:t>
            </a:r>
          </a:p>
        </p:txBody>
      </p:sp>
      <p:sp>
        <p:nvSpPr>
          <p:cNvPr id="13" name="body-4"/>
          <p:cNvSpPr txBox="1"/>
          <p:nvPr/>
        </p:nvSpPr>
        <p:spPr>
          <a:xfrm>
            <a:off x="1060704" y="4524044"/>
            <a:ext cx="10161727" cy="1455928"/>
          </a:xfrm>
          <a:prstGeom prst="rect">
            <a:avLst/>
          </a:prstGeom>
          <a:noFill/>
        </p:spPr>
        <p:txBody>
          <a:bodyPr wrap="square" anchor="t" lIns="0" rIns="0" tIns="0" bIns="0">
            <a:noAutofit/>
          </a:bodyPr>
          <a:lstStyle/>
          <a:p>
            <a:pPr algn="l" marL="178905" indent="-178905">
              <a:lnSpc>
                <a:spcPct val="104000"/>
              </a:lnSpc>
              <a:spcBef>
                <a:spcPts val="0"/>
              </a:spcBef>
              <a:spcAft>
                <a:spcPts val="560"/>
              </a:spcAft>
            </a:pPr>
            <a:r>
              <a:rPr sz="1600" b="1">
                <a:solidFill>
                  <a:srgbClr val="1F618D"/>
                </a:solidFill>
                <a:latin typeface="Segoe UI"/>
              </a:rPr>
              <a:t>•	</a:t>
            </a:r>
            <a:r>
              <a:rPr sz="1600" b="0" i="0">
                <a:solidFill>
                  <a:srgbClr val="1C252B"/>
                </a:solidFill>
                <a:latin typeface="Segoe UI"/>
              </a:rPr>
              <a:t>need the length only </a:t>
            </a:r>
            <a:r>
              <a:rPr sz="1600" b="0" i="0">
                <a:solidFill>
                  <a:srgbClr val="1C252B"/>
                </a:solidFill>
                <a:latin typeface="Cambria"/>
              </a:rPr>
              <a:t>⇒</a:t>
            </a:r>
            <a:r>
              <a:rPr sz="1600" b="0" i="0">
                <a:solidFill>
                  <a:srgbClr val="1C252B"/>
                </a:solidFill>
                <a:latin typeface="Segoe UI"/>
              </a:rPr>
              <a:t> two rows, </a:t>
            </a:r>
            <a:r>
              <a:rPr sz="1600" b="0" i="0">
                <a:solidFill>
                  <a:srgbClr val="1C252B"/>
                </a:solidFill>
                <a:latin typeface="Cambria"/>
              </a:rPr>
              <a:t>Θ(min(</a:t>
            </a:r>
            <a:r>
              <a:rPr sz="1600" b="0" i="1">
                <a:solidFill>
                  <a:srgbClr val="1C252B"/>
                </a:solidFill>
                <a:latin typeface="Cambria"/>
              </a:rPr>
              <a:t>m</a:t>
            </a:r>
            <a:r>
              <a:rPr sz="1600" b="0" i="0">
                <a:solidFill>
                  <a:srgbClr val="1C252B"/>
                </a:solidFill>
                <a:latin typeface="Cambria"/>
              </a:rPr>
              <a:t>,</a:t>
            </a:r>
            <a:r>
              <a:rPr sz="1600" b="0" i="1">
                <a:solidFill>
                  <a:srgbClr val="1C252B"/>
                </a:solidFill>
                <a:latin typeface="Cambria"/>
              </a:rPr>
              <a:t>n</a:t>
            </a:r>
            <a:r>
              <a:rPr sz="1600" b="0" i="0">
                <a:solidFill>
                  <a:srgbClr val="1C252B"/>
                </a:solidFill>
                <a:latin typeface="Cambria"/>
              </a:rPr>
              <a:t>))</a:t>
            </a:r>
            <a:r>
              <a:rPr sz="1600" b="0" i="0">
                <a:solidFill>
                  <a:srgbClr val="1C252B"/>
                </a:solidFill>
                <a:latin typeface="Segoe UI"/>
              </a:rPr>
              <a:t> space;</a:t>
            </a:r>
          </a:p>
          <a:p>
            <a:pPr algn="l" marL="178905" indent="-178905">
              <a:lnSpc>
                <a:spcPct val="104000"/>
              </a:lnSpc>
              <a:spcBef>
                <a:spcPts val="0"/>
              </a:spcBef>
              <a:spcAft>
                <a:spcPts val="560"/>
              </a:spcAft>
            </a:pPr>
            <a:r>
              <a:rPr sz="1600" b="1">
                <a:solidFill>
                  <a:srgbClr val="1F618D"/>
                </a:solidFill>
                <a:latin typeface="Segoe UI"/>
              </a:rPr>
              <a:t>•	</a:t>
            </a:r>
            <a:r>
              <a:rPr sz="1600" b="0" i="0">
                <a:solidFill>
                  <a:srgbClr val="1C252B"/>
                </a:solidFill>
                <a:latin typeface="Segoe UI"/>
              </a:rPr>
              <a:t>need the sequence </a:t>
            </a:r>
            <a:r>
              <a:rPr sz="1600" b="0" i="0">
                <a:solidFill>
                  <a:srgbClr val="1C252B"/>
                </a:solidFill>
                <a:latin typeface="Cambria"/>
              </a:rPr>
              <a:t>⇒</a:t>
            </a:r>
            <a:r>
              <a:rPr sz="1600" b="0" i="0">
                <a:solidFill>
                  <a:srgbClr val="1C252B"/>
                </a:solidFill>
                <a:latin typeface="Segoe UI"/>
              </a:rPr>
              <a:t> full table, </a:t>
            </a:r>
            <a:r>
              <a:rPr sz="1600" b="0" i="0">
                <a:solidFill>
                  <a:srgbClr val="1C252B"/>
                </a:solidFill>
                <a:latin typeface="Cambria"/>
              </a:rPr>
              <a:t>Θ(</a:t>
            </a:r>
            <a:r>
              <a:rPr sz="1600" b="0" i="1">
                <a:solidFill>
                  <a:srgbClr val="1C252B"/>
                </a:solidFill>
                <a:latin typeface="Cambria"/>
              </a:rPr>
              <a:t>mn</a:t>
            </a:r>
            <a:r>
              <a:rPr sz="1600" b="0" i="0">
                <a:solidFill>
                  <a:srgbClr val="1C252B"/>
                </a:solidFill>
                <a:latin typeface="Cambria"/>
              </a:rPr>
              <a:t>)</a:t>
            </a:r>
            <a:r>
              <a:rPr sz="1600" b="0" i="0">
                <a:solidFill>
                  <a:srgbClr val="1C252B"/>
                </a:solidFill>
                <a:latin typeface="Segoe UI"/>
              </a:rPr>
              <a:t> space;</a:t>
            </a:r>
          </a:p>
          <a:p>
            <a:pPr algn="l" marL="178905" indent="-178905">
              <a:lnSpc>
                <a:spcPct val="104000"/>
              </a:lnSpc>
              <a:spcBef>
                <a:spcPts val="0"/>
              </a:spcBef>
              <a:spcAft>
                <a:spcPts val="0"/>
              </a:spcAft>
            </a:pPr>
            <a:r>
              <a:rPr sz="1600" b="1">
                <a:solidFill>
                  <a:srgbClr val="1F618D"/>
                </a:solidFill>
                <a:latin typeface="Segoe UI"/>
              </a:rPr>
              <a:t>•	</a:t>
            </a:r>
            <a:r>
              <a:rPr sz="1600" b="0" i="0">
                <a:solidFill>
                  <a:srgbClr val="1C252B"/>
                </a:solidFill>
                <a:latin typeface="Segoe UI"/>
              </a:rPr>
              <a:t>need the sequence and cannot afford the table </a:t>
            </a:r>
            <a:r>
              <a:rPr sz="1600" b="0" i="0">
                <a:solidFill>
                  <a:srgbClr val="1C252B"/>
                </a:solidFill>
                <a:latin typeface="Cambria"/>
              </a:rPr>
              <a:t>⇒</a:t>
            </a:r>
            <a:r>
              <a:rPr sz="1600" b="0" i="0">
                <a:solidFill>
                  <a:srgbClr val="1C252B"/>
                </a:solidFill>
                <a:latin typeface="Segoe UI"/>
              </a:rPr>
              <a:t> Hirschberg’s algorithm, which combines the rolling array with divide-and-conquer to reconstruct in </a:t>
            </a:r>
            <a:r>
              <a:rPr sz="1600" b="0" i="0">
                <a:solidFill>
                  <a:srgbClr val="1C252B"/>
                </a:solidFill>
                <a:latin typeface="Cambria"/>
              </a:rPr>
              <a:t>Θ(</a:t>
            </a:r>
            <a:r>
              <a:rPr sz="1600" b="0" i="1">
                <a:solidFill>
                  <a:srgbClr val="1C252B"/>
                </a:solidFill>
                <a:latin typeface="Cambria"/>
              </a:rPr>
              <a:t>mn</a:t>
            </a:r>
            <a:r>
              <a:rPr sz="1600" b="0" i="0">
                <a:solidFill>
                  <a:srgbClr val="1C252B"/>
                </a:solidFill>
                <a:latin typeface="Cambria"/>
              </a:rPr>
              <a:t>)</a:t>
            </a:r>
            <a:r>
              <a:rPr sz="1600" b="0" i="0">
                <a:solidFill>
                  <a:srgbClr val="1C252B"/>
                </a:solidFill>
                <a:latin typeface="Segoe UI"/>
              </a:rPr>
              <a:t> time and </a:t>
            </a:r>
            <a:r>
              <a:rPr sz="1600" b="0" i="0">
                <a:solidFill>
                  <a:srgbClr val="1C252B"/>
                </a:solidFill>
                <a:latin typeface="Cambria"/>
              </a:rPr>
              <a:t>Θ(min(</a:t>
            </a:r>
            <a:r>
              <a:rPr sz="1600" b="0" i="1">
                <a:solidFill>
                  <a:srgbClr val="1C252B"/>
                </a:solidFill>
                <a:latin typeface="Cambria"/>
              </a:rPr>
              <a:t>m</a:t>
            </a:r>
            <a:r>
              <a:rPr sz="1600" b="0" i="0">
                <a:solidFill>
                  <a:srgbClr val="1C252B"/>
                </a:solidFill>
                <a:latin typeface="Cambria"/>
              </a:rPr>
              <a:t>,</a:t>
            </a:r>
            <a:r>
              <a:rPr sz="1600" b="0" i="1">
                <a:solidFill>
                  <a:srgbClr val="1C252B"/>
                </a:solidFill>
                <a:latin typeface="Cambria"/>
              </a:rPr>
              <a:t>n</a:t>
            </a:r>
            <a:r>
              <a:rPr sz="1600" b="0" i="0">
                <a:solidFill>
                  <a:srgbClr val="1C252B"/>
                </a:solidFill>
                <a:latin typeface="Cambria"/>
              </a:rPr>
              <a:t>))</a:t>
            </a:r>
            <a:r>
              <a:rPr sz="1600" b="0" i="0">
                <a:solidFill>
                  <a:srgbClr val="1C252B"/>
                </a:solidFill>
                <a:latin typeface="Segoe UI"/>
              </a:rPr>
              <a:t> space. It is the right answer and it is twice the code.</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390134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3">
                                            <p:txEl>
                                              <p:pRg st="0" end="0"/>
                                            </p:txEl>
                                          </p:spTgt>
                                        </p:tgtEl>
                                        <p:attrNameLst>
                                          <p:attrName>style.visibility</p:attrName>
                                        </p:attrNameLst>
                                      </p:cBhvr>
                                      <p:to>
                                        <p:strVal val="visible"/>
                                      </p:to>
                                    </p:set>
                                    <p:animEffect transition="in" filter="fade">
                                      <p:cBhvr>
                                        <p:cTn id="8" dur="380"/>
                                        <p:tgtEl>
                                          <p:spTgt spid="1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Effect transition="in" filter="fade">
                                      <p:cBhvr>
                                        <p:cTn id="13" dur="380"/>
                                        <p:tgtEl>
                                          <p:spTgt spid="13">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xEl>
                                              <p:pRg st="2" end="2"/>
                                            </p:txEl>
                                          </p:spTgt>
                                        </p:tgtEl>
                                        <p:attrNameLst>
                                          <p:attrName>style.visibility</p:attrName>
                                        </p:attrNameLst>
                                      </p:cBhvr>
                                      <p:to>
                                        <p:strVal val="visible"/>
                                      </p:to>
                                    </p:set>
                                    <p:animEffect transition="in" filter="fade">
                                      <p:cBhvr>
                                        <p:cTn id="18" dur="38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0/1 Knapsack, and a Word That Matters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4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16.4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16.1   Longest Common Subsequence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16.2   Edit Distance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16.3   Saving Space, and What It Costs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16.4   0/1 Knapsack, and a Word That Matters</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§16.4     </a:t>
            </a:r>
            <a:fld id="{D980D7E0-9839-4DFA-855E-86A28ACDF71F}" type="slidenum">
              <a:rPr lang="en-GB" sz="1000">
                <a:solidFill>
                  <a:srgbClr val="8795A1"/>
                </a:solidFill>
                <a:latin typeface="Segoe UI"/>
              </a:rPr>
              <a:t>17</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14517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0/1 Knapsack</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132     </a:t>
            </a:r>
            <a:fld id="{485E2620-F02D-4689-BDBB-09A3C0DB6B51}"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Given </a:t>
            </a:r>
            <a:r>
              <a:rPr sz="2300" b="0" i="1">
                <a:solidFill>
                  <a:srgbClr val="1C252B"/>
                </a:solidFill>
                <a:latin typeface="Cambria"/>
              </a:rPr>
              <a:t>n</a:t>
            </a:r>
            <a:r>
              <a:rPr sz="2300" b="0" i="0">
                <a:solidFill>
                  <a:srgbClr val="1C252B"/>
                </a:solidFill>
                <a:latin typeface="Segoe UI"/>
              </a:rPr>
              <a:t> items, item </a:t>
            </a:r>
            <a:r>
              <a:rPr sz="2300" b="0" i="1">
                <a:solidFill>
                  <a:srgbClr val="1C252B"/>
                </a:solidFill>
                <a:latin typeface="Cambria"/>
              </a:rPr>
              <a:t>i</a:t>
            </a:r>
            <a:r>
              <a:rPr sz="2300" b="0" i="0">
                <a:solidFill>
                  <a:srgbClr val="1C252B"/>
                </a:solidFill>
                <a:latin typeface="Segoe UI"/>
              </a:rPr>
              <a:t> having integer weight </a:t>
            </a:r>
            <a:r>
              <a:rPr sz="2300" b="0" i="1">
                <a:solidFill>
                  <a:srgbClr val="1C252B"/>
                </a:solidFill>
                <a:latin typeface="Cambria"/>
              </a:rPr>
              <a:t>w</a:t>
            </a:r>
            <a:r>
              <a:rPr sz="1500" b="0" i="1" baseline="-25000">
                <a:solidFill>
                  <a:srgbClr val="1C252B"/>
                </a:solidFill>
                <a:latin typeface="Cambria"/>
              </a:rPr>
              <a:t>i</a:t>
            </a:r>
            <a:r>
              <a:rPr sz="2300" b="0" i="0">
                <a:solidFill>
                  <a:srgbClr val="1C252B"/>
                </a:solidFill>
                <a:latin typeface="Segoe UI"/>
              </a:rPr>
              <a:t> and value </a:t>
            </a:r>
            <a:r>
              <a:rPr sz="2300" b="0" i="1">
                <a:solidFill>
                  <a:srgbClr val="1C252B"/>
                </a:solidFill>
                <a:latin typeface="Cambria"/>
              </a:rPr>
              <a:t>v</a:t>
            </a:r>
            <a:r>
              <a:rPr sz="1500" b="0" i="1" baseline="-25000">
                <a:solidFill>
                  <a:srgbClr val="1C252B"/>
                </a:solidFill>
                <a:latin typeface="Cambria"/>
              </a:rPr>
              <a:t>i</a:t>
            </a:r>
            <a:r>
              <a:rPr sz="2300" b="0" i="0">
                <a:solidFill>
                  <a:srgbClr val="1C252B"/>
                </a:solidFill>
                <a:latin typeface="Segoe UI"/>
              </a:rPr>
              <a:t>, and a knapsack of integer capacity </a:t>
            </a:r>
            <a:r>
              <a:rPr sz="2300" b="0" i="1">
                <a:solidFill>
                  <a:srgbClr val="1C252B"/>
                </a:solidFill>
                <a:latin typeface="Cambria"/>
              </a:rPr>
              <a:t>W</a:t>
            </a:r>
            <a:r>
              <a:rPr sz="2300" b="0" i="0">
                <a:solidFill>
                  <a:srgbClr val="1C252B"/>
                </a:solidFill>
                <a:latin typeface="Segoe UI"/>
              </a:rPr>
              <a:t>, choose a subset of maximum total value whose total weight is at most </a:t>
            </a:r>
            <a:r>
              <a:rPr sz="2300" b="0" i="1">
                <a:solidFill>
                  <a:srgbClr val="1C252B"/>
                </a:solidFill>
                <a:latin typeface="Cambria"/>
              </a:rPr>
              <a:t>W</a:t>
            </a:r>
            <a:r>
              <a:rPr sz="2300" b="0" i="0">
                <a:solidFill>
                  <a:srgbClr val="1C252B"/>
                </a:solidFill>
                <a:latin typeface="Segoe UI"/>
              </a:rPr>
              <a:t>. Each item is taken whole or not at all — hence 0/1.</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38901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Knapsack, one row at a time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16.2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132     </a:t>
            </a:r>
            <a:fld id="{B02A6642-090B-4870-8E42-D56E932ECA3F}" type="slidenum">
              <a:rPr lang="en-GB" sz="1000">
                <a:solidFill>
                  <a:srgbClr val="8795A1"/>
                </a:solidFill>
                <a:latin typeface="Segoe UI"/>
              </a:rPr>
              <a:t>19</a:t>
            </a:fld>
          </a:p>
        </p:txBody>
      </p:sp>
      <p:pic>
        <p:nvPicPr>
          <p:cNvPr id="6" name="!!figure" descr="Figure 16.2. Knapsack, one row at a time. The inner loop counts down, which is what enforces 0/1: counting up would let item i be used more than once, solving the unbounded knapsack problem instead."/>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05136" y="1737360"/>
            <a:ext cx="9781422"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inner loop counts down, which is what enforces 0/1: counting up would let item i be used more than once, solving the unbounded knapsack problem instead.</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63284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Knapsack</a:t>
            </a:r>
          </a:p>
        </p:txBody>
      </p:sp>
      <p:pic>
        <p:nvPicPr>
          <p:cNvPr id="3" name="!!kicker-icon" descr="award-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THEOREM 16.2</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132     </a:t>
            </a:r>
            <a:fld id="{93FFC3F2-3C98-499B-96D8-17EB36986CF3}"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986332"/>
          </a:xfrm>
          <a:prstGeom prst="roundRect">
            <a:avLst>
              <a:gd name="adj" fmla="val 9270"/>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98633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Knapsack computes the optimal value in </a:t>
            </a:r>
            <a:r>
              <a:rPr sz="2300" b="0" i="0">
                <a:solidFill>
                  <a:srgbClr val="1C252B"/>
                </a:solidFill>
                <a:latin typeface="Cambria"/>
              </a:rPr>
              <a:t>Θ(</a:t>
            </a:r>
            <a:r>
              <a:rPr sz="2300" b="0" i="1">
                <a:solidFill>
                  <a:srgbClr val="1C252B"/>
                </a:solidFill>
                <a:latin typeface="Cambria"/>
              </a:rPr>
              <a:t>nW</a:t>
            </a:r>
            <a:r>
              <a:rPr sz="2300" b="0" i="0">
                <a:solidFill>
                  <a:srgbClr val="1C252B"/>
                </a:solidFill>
                <a:latin typeface="Cambria"/>
              </a:rPr>
              <a:t>)</a:t>
            </a:r>
            <a:r>
              <a:rPr sz="2300" b="0" i="0">
                <a:solidFill>
                  <a:srgbClr val="1C252B"/>
                </a:solidFill>
                <a:latin typeface="Segoe UI"/>
              </a:rPr>
              <a:t> time and </a:t>
            </a:r>
            <a:r>
              <a:rPr sz="2300" b="0" i="0">
                <a:solidFill>
                  <a:srgbClr val="1C252B"/>
                </a:solidFill>
                <a:latin typeface="Cambria"/>
              </a:rPr>
              <a:t>Θ(</a:t>
            </a:r>
            <a:r>
              <a:rPr sz="2300" b="0" i="1">
                <a:solidFill>
                  <a:srgbClr val="1C252B"/>
                </a:solidFill>
                <a:latin typeface="Cambria"/>
              </a:rPr>
              <a:t>W</a:t>
            </a:r>
            <a:r>
              <a:rPr sz="2300" b="0" i="0">
                <a:solidFill>
                  <a:srgbClr val="1C252B"/>
                </a:solidFill>
                <a:latin typeface="Cambria"/>
              </a:rPr>
              <a:t>)</a:t>
            </a:r>
            <a:r>
              <a:rPr sz="2300" b="0" i="0">
                <a:solidFill>
                  <a:srgbClr val="1C252B"/>
                </a:solidFill>
                <a:latin typeface="Segoe UI"/>
              </a:rPr>
              <a:t> space.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87667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Checked Against an Oracle</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132     </a:t>
            </a:r>
            <a:fld id="{15E349AC-B5B0-4B0C-A147-C53FFCB4BAB7}" type="slidenum">
              <a:rPr lang="en-GB" sz="1000">
                <a:solidFill>
                  <a:srgbClr val="8795A1"/>
                </a:solidFill>
                <a:latin typeface="Segoe UI"/>
              </a:rPr>
              <a:t>21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506218"/>
          </a:xfrm>
          <a:prstGeom prst="roundRect">
            <a:avLst>
              <a:gd name="adj" fmla="val 364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50621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Chapter 7’s technique again: 300 random instances with </a:t>
            </a:r>
            <a:r>
              <a:rPr sz="2100" b="0" i="1">
                <a:solidFill>
                  <a:srgbClr val="1C252B"/>
                </a:solidFill>
                <a:latin typeface="Cambria"/>
              </a:rPr>
              <a:t>n</a:t>
            </a:r>
            <a:r>
              <a:rPr sz="2100" b="0" i="0">
                <a:solidFill>
                  <a:srgbClr val="1C252B"/>
                </a:solidFill>
                <a:latin typeface="Cambria"/>
              </a:rPr>
              <a:t> = 18</a:t>
            </a:r>
            <a:r>
              <a:rPr sz="2100" b="0" i="0">
                <a:solidFill>
                  <a:srgbClr val="1C252B"/>
                </a:solidFill>
                <a:latin typeface="Segoe UI"/>
              </a:rPr>
              <a:t>, where all </a:t>
            </a:r>
            <a:r>
              <a:rPr sz="2100" b="0" i="0">
                <a:solidFill>
                  <a:srgbClr val="1C252B"/>
                </a:solidFill>
                <a:latin typeface="Cambria"/>
              </a:rPr>
              <a:t>2</a:t>
            </a:r>
            <a:r>
              <a:rPr sz="1400" b="0" i="0" baseline="30000">
                <a:solidFill>
                  <a:srgbClr val="1C252B"/>
                </a:solidFill>
                <a:latin typeface="Cambria"/>
              </a:rPr>
              <a:t>18</a:t>
            </a:r>
            <a:r>
              <a:rPr sz="2100" b="0" i="0">
                <a:solidFill>
                  <a:srgbClr val="1C252B"/>
                </a:solidFill>
                <a:latin typeface="Segoe UI"/>
              </a:rPr>
              <a:t> subsets can be enumerated.</a:t>
            </a:r>
          </a:p>
        </p:txBody>
      </p:sp>
      <p:sp>
        <p:nvSpPr>
          <p:cNvPr id="10" name="body-1"/>
          <p:cNvSpPr txBox="1"/>
          <p:nvPr/>
        </p:nvSpPr>
        <p:spPr>
          <a:xfrm>
            <a:off x="1042416" y="2824048"/>
            <a:ext cx="10234879" cy="378561"/>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D6608"/>
                </a:solidFill>
                <a:latin typeface="Segoe UI"/>
              </a:rPr>
              <a:t>300 instances, 0 disagreements.</a:t>
            </a:r>
          </a:p>
        </p:txBody>
      </p:sp>
      <p:sp>
        <p:nvSpPr>
          <p:cNvPr id="11" name="body-2"/>
          <p:cNvSpPr txBox="1"/>
          <p:nvPr/>
        </p:nvSpPr>
        <p:spPr>
          <a:xfrm>
            <a:off x="1042416" y="3303574"/>
            <a:ext cx="10234879"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Worth the twenty lines. The downward loop is exactly the kind of detail that is easy to get backwards and produces plausible-but-wrong answers.</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512051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Θ(nW) is not a polynomial running time</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132     </a:t>
            </a:r>
            <a:fld id="{0F63A062-2C5E-4D40-852B-3B0679BB3F42}"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25498"/>
          </a:xfrm>
          <a:prstGeom prst="roundRect">
            <a:avLst>
              <a:gd name="adj" fmla="val 2216"/>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25498"/>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31012"/>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This is the most important sentence in the chapter, and it takes Chapter 2 to understand.</a:t>
            </a:r>
          </a:p>
        </p:txBody>
      </p:sp>
      <p:sp>
        <p:nvSpPr>
          <p:cNvPr id="10" name="body-1"/>
          <p:cNvSpPr txBox="1"/>
          <p:nvPr/>
        </p:nvSpPr>
        <p:spPr>
          <a:xfrm>
            <a:off x="1060704" y="2459278"/>
            <a:ext cx="10161727" cy="90159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Cambria"/>
              </a:rPr>
              <a:t>Θ(</a:t>
            </a:r>
            <a:r>
              <a:rPr sz="1800" b="0" i="1">
                <a:solidFill>
                  <a:srgbClr val="1C252B"/>
                </a:solidFill>
                <a:latin typeface="Cambria"/>
              </a:rPr>
              <a:t>nW</a:t>
            </a:r>
            <a:r>
              <a:rPr sz="1800" b="0" i="0">
                <a:solidFill>
                  <a:srgbClr val="1C252B"/>
                </a:solidFill>
                <a:latin typeface="Cambria"/>
              </a:rPr>
              <a:t>)</a:t>
            </a:r>
            <a:r>
              <a:rPr sz="1800" b="0" i="0">
                <a:solidFill>
                  <a:srgbClr val="1C252B"/>
                </a:solidFill>
                <a:latin typeface="Segoe UI"/>
              </a:rPr>
              <a:t> </a:t>
            </a:r>
            <a:r>
              <a:rPr sz="1800" b="0" i="1">
                <a:solidFill>
                  <a:srgbClr val="1C252B"/>
                </a:solidFill>
                <a:latin typeface="Segoe UI"/>
              </a:rPr>
              <a:t>looks</a:t>
            </a:r>
            <a:r>
              <a:rPr sz="1800" b="0" i="0">
                <a:solidFill>
                  <a:srgbClr val="1C252B"/>
                </a:solidFill>
                <a:latin typeface="Segoe UI"/>
              </a:rPr>
              <a:t> polynomial: no exponents, no factorials. But a running time is polynomial when it is polynomial in the </a:t>
            </a:r>
            <a:r>
              <a:rPr sz="1800" b="1" i="0">
                <a:solidFill>
                  <a:srgbClr val="1C252B"/>
                </a:solidFill>
                <a:latin typeface="Segoe UI"/>
              </a:rPr>
              <a:t>size of the input</a:t>
            </a:r>
            <a:r>
              <a:rPr sz="1800" b="0" i="0">
                <a:solidFill>
                  <a:srgbClr val="1C252B"/>
                </a:solidFill>
                <a:latin typeface="Segoe UI"/>
              </a:rPr>
              <a:t>, and Chapter 2 established that a number’s size is its </a:t>
            </a:r>
            <a:r>
              <a:rPr sz="1800" b="0" i="1">
                <a:solidFill>
                  <a:srgbClr val="1C252B"/>
                </a:solidFill>
                <a:latin typeface="Segoe UI"/>
              </a:rPr>
              <a:t>bit length</a:t>
            </a:r>
            <a:r>
              <a:rPr sz="1800" b="0" i="0">
                <a:solidFill>
                  <a:srgbClr val="1C252B"/>
                </a:solidFill>
                <a:latin typeface="Segoe UI"/>
              </a:rPr>
              <a:t>, not its value.</a:t>
            </a:r>
          </a:p>
        </p:txBody>
      </p:sp>
      <p:sp>
        <p:nvSpPr>
          <p:cNvPr id="11" name="body-2"/>
          <p:cNvSpPr txBox="1"/>
          <p:nvPr/>
        </p:nvSpPr>
        <p:spPr>
          <a:xfrm>
            <a:off x="1060704" y="3440887"/>
            <a:ext cx="10161727" cy="331012"/>
          </a:xfrm>
          <a:prstGeom prst="rect">
            <a:avLst/>
          </a:prstGeom>
          <a:noFill/>
        </p:spPr>
        <p:txBody>
          <a:bodyPr wrap="square" anchor="t" lIns="0" rIns="0" tIns="0" bIns="0">
            <a:noAutofit/>
          </a:bodyPr>
          <a:lstStyle/>
          <a:p>
            <a:pPr algn="l">
              <a:lnSpc>
                <a:spcPct val="104000"/>
              </a:lnSpc>
              <a:spcBef>
                <a:spcPts val="0"/>
              </a:spcBef>
              <a:spcAft>
                <a:spcPts val="0"/>
              </a:spcAft>
            </a:pPr>
            <a:r>
              <a:rPr sz="1800" b="0" i="1">
                <a:solidFill>
                  <a:srgbClr val="1C252B"/>
                </a:solidFill>
                <a:latin typeface="Cambria"/>
              </a:rPr>
              <a:t>W</a:t>
            </a:r>
            <a:r>
              <a:rPr sz="1800" b="0" i="0">
                <a:solidFill>
                  <a:srgbClr val="1C252B"/>
                </a:solidFill>
                <a:latin typeface="Segoe UI"/>
              </a:rPr>
              <a:t> is one number. Writing it takes </a:t>
            </a:r>
            <a:r>
              <a:rPr sz="1800" b="0" i="1">
                <a:solidFill>
                  <a:srgbClr val="1C252B"/>
                </a:solidFill>
                <a:latin typeface="Cambria"/>
              </a:rPr>
              <a:t>b</a:t>
            </a:r>
            <a:r>
              <a:rPr sz="1800" b="0" i="0">
                <a:solidFill>
                  <a:srgbClr val="1C252B"/>
                </a:solidFill>
                <a:latin typeface="Cambria"/>
              </a:rPr>
              <a:t> ≈ lg </a:t>
            </a:r>
            <a:r>
              <a:rPr sz="1800" b="0" i="1">
                <a:solidFill>
                  <a:srgbClr val="1C252B"/>
                </a:solidFill>
                <a:latin typeface="Cambria"/>
              </a:rPr>
              <a:t>W</a:t>
            </a:r>
            <a:r>
              <a:rPr sz="1800" b="0" i="0">
                <a:solidFill>
                  <a:srgbClr val="1C252B"/>
                </a:solidFill>
                <a:latin typeface="Segoe UI"/>
              </a:rPr>
              <a:t> bits. So</a:t>
            </a:r>
          </a:p>
        </p:txBody>
      </p:sp>
      <p:pic>
        <p:nvPicPr>
          <p:cNvPr id="12" name="body-3" descr="\bigTh{nW} = \bigTh{n \cdot 2^{b}}"/>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3851910"/>
            <a:ext cx="10161727" cy="307421"/>
          </a:xfrm>
          <a:prstGeom prst="rect">
            <a:avLst/>
          </a:prstGeom>
        </p:spPr>
      </p:pic>
      <p:sp>
        <p:nvSpPr>
          <p:cNvPr id="13" name="body-4"/>
          <p:cNvSpPr txBox="1"/>
          <p:nvPr/>
        </p:nvSpPr>
        <p:spPr>
          <a:xfrm>
            <a:off x="1060704" y="4285061"/>
            <a:ext cx="10161727" cy="331012"/>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 </a:t>
            </a:r>
            <a:r>
              <a:rPr sz="1800" b="1" i="0">
                <a:solidFill>
                  <a:srgbClr val="1C252B"/>
                </a:solidFill>
                <a:latin typeface="Segoe UI"/>
              </a:rPr>
              <a:t>exponential in the length of the input</a:t>
            </a:r>
            <a:r>
              <a:rPr sz="1800" b="0" i="0">
                <a:solidFill>
                  <a:srgbClr val="1C252B"/>
                </a:solidFill>
                <a:latin typeface="Segoe UI"/>
              </a:rPr>
              <a:t>. Add one bit to </a:t>
            </a:r>
            <a:r>
              <a:rPr sz="1800" b="0" i="1">
                <a:solidFill>
                  <a:srgbClr val="1C252B"/>
                </a:solidFill>
                <a:latin typeface="Cambria"/>
              </a:rPr>
              <a:t>W</a:t>
            </a:r>
            <a:r>
              <a:rPr sz="1800" b="0" i="0">
                <a:solidFill>
                  <a:srgbClr val="1C252B"/>
                </a:solidFill>
                <a:latin typeface="Segoe UI"/>
              </a:rPr>
              <a:t> and the running time doubles.</a:t>
            </a:r>
          </a:p>
        </p:txBody>
      </p:sp>
      <p:sp>
        <p:nvSpPr>
          <p:cNvPr id="14" name="body-5"/>
          <p:cNvSpPr txBox="1"/>
          <p:nvPr/>
        </p:nvSpPr>
        <p:spPr>
          <a:xfrm>
            <a:off x="1060704" y="4696084"/>
            <a:ext cx="10161727" cy="90159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An algorithm polynomial in the numeric value of its input but exponential in its length is called </a:t>
            </a:r>
            <a:r>
              <a:rPr sz="1800" b="1" i="0">
                <a:solidFill>
                  <a:srgbClr val="1A5276"/>
                </a:solidFill>
                <a:latin typeface="Segoe UI"/>
              </a:rPr>
              <a:t>pseudo-polynomial</a:t>
            </a:r>
            <a:r>
              <a:rPr sz="1800" b="0" i="0">
                <a:solidFill>
                  <a:srgbClr val="1C252B"/>
                </a:solidFill>
                <a:latin typeface="Segoe UI"/>
              </a:rPr>
              <a:t>. Chapter 22 explains why this distinction decides whether a problem counts as solved: 0/1 knapsack is NP-complete, and this algorithm is not a counter-example to that.</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536434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Claim, Measured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132     </a:t>
            </a:r>
            <a:fld id="{A1E81A73-9212-4E67-A783-75E7F3C2E02C}" type="slidenum">
              <a:rPr lang="en-GB" sz="1000">
                <a:solidFill>
                  <a:srgbClr val="8795A1"/>
                </a:solidFill>
                <a:latin typeface="Segoe UI"/>
              </a:rPr>
              <a:t>23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849782"/>
          </a:xfrm>
          <a:prstGeom prst="roundRect">
            <a:avLst>
              <a:gd name="adj" fmla="val 1076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84978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1">
                <a:solidFill>
                  <a:srgbClr val="1C252B"/>
                </a:solidFill>
                <a:latin typeface="Cambria"/>
              </a:rPr>
              <a:t>n</a:t>
            </a:r>
            <a:r>
              <a:rPr sz="1900" b="0" i="0">
                <a:solidFill>
                  <a:srgbClr val="1C252B"/>
                </a:solidFill>
                <a:latin typeface="Segoe UI"/>
              </a:rPr>
              <a:t> fixed at 200. Only the capacity changes, and the capacity is a single number.</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60817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Claim, Measured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132     </a:t>
            </a:r>
            <a:fld id="{4E444DB6-5205-452E-9FAF-4A3C817C0C5C}" type="slidenum">
              <a:rPr lang="en-GB" sz="1000">
                <a:solidFill>
                  <a:srgbClr val="8795A1"/>
                </a:solidFill>
                <a:latin typeface="Segoe UI"/>
              </a:rPr>
              <a:t>24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50080"/>
          </a:xfrm>
          <a:prstGeom prst="roundRect">
            <a:avLst>
              <a:gd name="adj" fmla="val 205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5008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graphicFrame>
        <p:nvGraphicFramePr>
          <p:cNvPr id="9" name="body-0"/>
          <p:cNvGraphicFramePr>
            <a:graphicFrameLocks noGrp="1"/>
          </p:cNvGraphicFramePr>
          <p:nvPr/>
        </p:nvGraphicFramePr>
        <p:xfrm>
          <a:off x="1042416" y="2011679"/>
          <a:ext cx="3759804" cy="3901440"/>
        </p:xfrm>
        <a:graphic>
          <a:graphicData uri="http://schemas.openxmlformats.org/drawingml/2006/table">
            <a:tbl>
              <a:tblPr firstRow="0" bandRow="0" firstCol="0" lastRow="0" lastCol="0" bandCol="0">
                <a:tableStyleId>{2D5ABB26-0587-4C30-8999-92F81FD0307C}</a:tableStyleId>
              </a:tblPr>
              <a:tblGrid>
                <a:gridCol w="1239706"/>
                <a:gridCol w="615220"/>
                <a:gridCol w="1188720"/>
                <a:gridCol w="716158"/>
              </a:tblGrid>
              <a:tr h="390144">
                <a:tc>
                  <a:txBody>
                    <a:bodyPr wrap="square"/>
                    <a:lstStyle/>
                    <a:p>
                      <a:pPr algn="r"/>
                      <a:r>
                        <a:rPr sz="1600" b="1" i="1">
                          <a:solidFill>
                            <a:srgbClr val="1A5276"/>
                          </a:solidFill>
                          <a:latin typeface="Cambria"/>
                        </a:rPr>
                        <a:t>W</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bits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time (ms)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ratio</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r"/>
                      <a:r>
                        <a:rPr sz="1600" b="0" i="0">
                          <a:solidFill>
                            <a:srgbClr val="1C252B"/>
                          </a:solidFill>
                          <a:latin typeface="Segoe UI"/>
                        </a:rPr>
                        <a:t>65,536</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17</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16.4</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131,072</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18</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34.9</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2.13</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262,144</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19</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64.1</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1.84</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524,288</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134.0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2.09</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1,048,576</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21</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275.9</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2.06</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2,097,152</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22</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630.5</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2.29</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4,194,304</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23</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1,138.3</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1.81</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8,388,608</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24</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2,278.9</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2.00</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16,777,216</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25</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4,540.1</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1.99</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85201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Claim, Measured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132     </a:t>
            </a:r>
            <a:fld id="{CFE283A3-F398-4E66-A1AB-3E08266476DD}" type="slidenum">
              <a:rPr lang="en-GB" sz="1000">
                <a:solidFill>
                  <a:srgbClr val="8795A1"/>
                </a:solidFill>
                <a:latin typeface="Segoe UI"/>
              </a:rPr>
              <a:t>25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825494"/>
          </a:xfrm>
          <a:prstGeom prst="roundRect">
            <a:avLst>
              <a:gd name="adj" fmla="val 239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82549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Eight ratios, mean 2.02. Each row adds exactly one bit of input and doubles the running time.</a:t>
            </a:r>
          </a:p>
        </p:txBody>
      </p:sp>
      <p:sp>
        <p:nvSpPr>
          <p:cNvPr id="10" name="body-0bar">
            <a:extLst>
              <a:ext uri="{C183D7F6-B498-43B3-948B-1728B52AA6E4}">
                <adec:decorative xmlns:adec="http://schemas.microsoft.com/office/drawing/2017/decorative" val="1"/>
              </a:ext>
            </a:extLst>
          </p:cNvPr>
          <p:cNvSpPr/>
          <p:nvPr/>
        </p:nvSpPr>
        <p:spPr>
          <a:xfrm>
            <a:off x="841248" y="2029967"/>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2746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Compare this table with Chapter 2’s trial-division table</a:t>
            </a:r>
            <a:r>
              <a:rPr sz="1900" b="0" i="0">
                <a:solidFill>
                  <a:srgbClr val="1C252B"/>
                </a:solidFill>
                <a:latin typeface="Segoe UI"/>
              </a:rPr>
              <a:t>, where adding two bits to a prime doubled the work, mean ratio 2.02. They are the same phenomenon, reached from opposite directions: there, an algorithm that looked exponential and was; here, an algorithm that looks polynomial and is not.</a:t>
            </a:r>
          </a:p>
        </p:txBody>
      </p:sp>
      <p:sp>
        <p:nvSpPr>
          <p:cNvPr id="12" name="body-1bar">
            <a:extLst>
              <a:ext uri="{C183D7F6-B498-43B3-948B-1728B52AA6E4}">
                <adec:decorative xmlns:adec="http://schemas.microsoft.com/office/drawing/2017/decorative" val="1"/>
              </a:ext>
            </a:extLst>
          </p:cNvPr>
          <p:cNvSpPr/>
          <p:nvPr/>
        </p:nvSpPr>
        <p:spPr>
          <a:xfrm>
            <a:off x="841248" y="2764967"/>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2"/>
          <p:cNvSpPr txBox="1"/>
          <p:nvPr/>
        </p:nvSpPr>
        <p:spPr>
          <a:xfrm>
            <a:off x="1042416" y="4083964"/>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Extrapolate.</a:t>
            </a:r>
            <a:r>
              <a:rPr sz="1900" b="0" i="0">
                <a:solidFill>
                  <a:srgbClr val="1C252B"/>
                </a:solidFill>
                <a:latin typeface="Segoe UI"/>
              </a:rPr>
              <a:t> A 64-bit capacity — an entirely ordinary thing to find in a struct — is </a:t>
            </a:r>
            <a:r>
              <a:rPr sz="1900" b="0" i="0">
                <a:solidFill>
                  <a:srgbClr val="1C252B"/>
                </a:solidFill>
                <a:latin typeface="Cambria"/>
              </a:rPr>
              <a:t>2</a:t>
            </a:r>
            <a:r>
              <a:rPr sz="1250" b="0" i="0" baseline="30000">
                <a:solidFill>
                  <a:srgbClr val="1C252B"/>
                </a:solidFill>
                <a:latin typeface="Cambria"/>
              </a:rPr>
              <a:t>39</a:t>
            </a:r>
            <a:r>
              <a:rPr sz="1900" b="0" i="0">
                <a:solidFill>
                  <a:srgbClr val="1C252B"/>
                </a:solidFill>
                <a:latin typeface="Segoe UI"/>
              </a:rPr>
              <a:t> times the last row: about </a:t>
            </a:r>
            <a:r>
              <a:rPr sz="1900" b="0" i="0">
                <a:solidFill>
                  <a:srgbClr val="1C252B"/>
                </a:solidFill>
                <a:latin typeface="Cambria"/>
              </a:rPr>
              <a:t>7 × 10</a:t>
            </a:r>
            <a:r>
              <a:rPr sz="1250" b="0" i="0" baseline="30000">
                <a:solidFill>
                  <a:srgbClr val="1C252B"/>
                </a:solidFill>
                <a:latin typeface="Cambria"/>
              </a:rPr>
              <a:t>11</a:t>
            </a:r>
            <a:r>
              <a:rPr sz="1900" b="0" i="0">
                <a:solidFill>
                  <a:srgbClr val="1C252B"/>
                </a:solidFill>
                <a:latin typeface="Segoe UI"/>
              </a:rPr>
              <a:t> seconds, or </a:t>
            </a:r>
            <a:r>
              <a:rPr sz="1900" b="1" i="0">
                <a:solidFill>
                  <a:srgbClr val="1C252B"/>
                </a:solidFill>
                <a:latin typeface="Segoe UI"/>
              </a:rPr>
              <a:t>22,000 years</a:t>
            </a:r>
            <a:r>
              <a:rPr sz="1900" b="0" i="0">
                <a:solidFill>
                  <a:srgbClr val="1C252B"/>
                </a:solidFill>
                <a:latin typeface="Segoe UI"/>
              </a:rPr>
              <a:t>. The algorithm is excellent for small capacities and useless for large ones, and no amount of optimisation changes that, because the table has </a:t>
            </a:r>
            <a:r>
              <a:rPr sz="1900" b="0" i="1">
                <a:solidFill>
                  <a:srgbClr val="1C252B"/>
                </a:solidFill>
                <a:latin typeface="Cambria"/>
              </a:rPr>
              <a:t>nW</a:t>
            </a:r>
            <a:r>
              <a:rPr sz="1900" b="0" i="0">
                <a:solidFill>
                  <a:srgbClr val="1C252B"/>
                </a:solidFill>
                <a:latin typeface="Segoe UI"/>
              </a:rPr>
              <a:t> entries and they must be written.</a:t>
            </a:r>
          </a:p>
        </p:txBody>
      </p:sp>
      <p:sp>
        <p:nvSpPr>
          <p:cNvPr id="14" name="body-2bar">
            <a:extLst>
              <a:ext uri="{C183D7F6-B498-43B3-948B-1728B52AA6E4}">
                <adec:decorative xmlns:adec="http://schemas.microsoft.com/office/drawing/2017/decorative" val="1"/>
              </a:ext>
            </a:extLst>
          </p:cNvPr>
          <p:cNvSpPr/>
          <p:nvPr/>
        </p:nvSpPr>
        <p:spPr>
          <a:xfrm>
            <a:off x="841248" y="4102252"/>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right)">
                                      <p:cBhvr>
                                        <p:cTn id="24" dur="42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How to find the subproblem parameters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132     </a:t>
            </a:r>
            <a:fld id="{A0D1DACC-3A46-4ADA-88E7-3408C81AB7CC}" type="slidenum">
              <a:rPr lang="en-GB" sz="1000">
                <a:solidFill>
                  <a:srgbClr val="8795A1"/>
                </a:solidFill>
                <a:latin typeface="Segoe UI"/>
              </a:rPr>
              <a:t>26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95038"/>
          </a:xfrm>
          <a:prstGeom prst="roundRect">
            <a:avLst>
              <a:gd name="adj" fmla="val 2232"/>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9503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58460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Every DP in this chapter is defined by </a:t>
            </a:r>
            <a:r>
              <a:rPr sz="1700" b="0" i="1">
                <a:solidFill>
                  <a:srgbClr val="1C252B"/>
                </a:solidFill>
                <a:latin typeface="Segoe UI"/>
              </a:rPr>
              <a:t>what the subproblems are indexed by</a:t>
            </a:r>
            <a:r>
              <a:rPr sz="1700" b="0" i="0">
                <a:solidFill>
                  <a:srgbClr val="1C252B"/>
                </a:solidFill>
                <a:latin typeface="Segoe UI"/>
              </a:rPr>
              <a:t>, and finding that is the whole design task.</a:t>
            </a:r>
          </a:p>
        </p:txBody>
      </p:sp>
      <p:graphicFrame>
        <p:nvGraphicFramePr>
          <p:cNvPr id="10" name="body-1"/>
          <p:cNvGraphicFramePr>
            <a:graphicFrameLocks noGrp="1"/>
          </p:cNvGraphicFramePr>
          <p:nvPr/>
        </p:nvGraphicFramePr>
        <p:xfrm>
          <a:off x="1060704" y="2705887"/>
          <a:ext cx="5954500" cy="2157984"/>
        </p:xfrm>
        <a:graphic>
          <a:graphicData uri="http://schemas.openxmlformats.org/drawingml/2006/table">
            <a:tbl>
              <a:tblPr firstRow="0" bandRow="0" firstCol="0" lastRow="0" lastCol="0" bandCol="0">
                <a:tableStyleId>{2D5ABB26-0587-4C30-8999-92F81FD0307C}</a:tableStyleId>
              </a:tblPr>
              <a:tblGrid>
                <a:gridCol w="1306808"/>
                <a:gridCol w="2295683"/>
                <a:gridCol w="1102504"/>
                <a:gridCol w="1249505"/>
              </a:tblGrid>
              <a:tr h="359664">
                <a:tc>
                  <a:txBody>
                    <a:bodyPr wrap="square"/>
                    <a:lstStyle/>
                    <a:p>
                      <a:pPr algn="l"/>
                      <a:r>
                        <a:rPr sz="1400" b="1" i="0">
                          <a:solidFill>
                            <a:srgbClr val="1A5276"/>
                          </a:solidFill>
                          <a:latin typeface="Segoe UI"/>
                        </a:rPr>
                        <a:t>Problem</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400" b="1" i="0">
                          <a:solidFill>
                            <a:srgbClr val="1A5276"/>
                          </a:solidFill>
                          <a:latin typeface="Segoe UI"/>
                        </a:rPr>
                        <a:t>Subproblem indexed by</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400" b="1" i="0">
                          <a:solidFill>
                            <a:srgbClr val="1A5276"/>
                          </a:solidFill>
                          <a:latin typeface="Segoe UI"/>
                        </a:rPr>
                        <a:t>Count</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400" b="1" i="0">
                          <a:solidFill>
                            <a:srgbClr val="1A5276"/>
                          </a:solidFill>
                          <a:latin typeface="Segoe UI"/>
                        </a:rPr>
                        <a:t>Time</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59664">
                <a:tc>
                  <a:txBody>
                    <a:bodyPr wrap="square"/>
                    <a:lstStyle/>
                    <a:p>
                      <a:pPr algn="l"/>
                      <a:r>
                        <a:rPr sz="1400" b="0" i="0">
                          <a:solidFill>
                            <a:srgbClr val="1C252B"/>
                          </a:solidFill>
                          <a:latin typeface="Segoe UI"/>
                        </a:rPr>
                        <a:t>rod cutting</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remaining length</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1">
                          <a:solidFill>
                            <a:srgbClr val="1C252B"/>
                          </a:solidFill>
                          <a:latin typeface="Cambria"/>
                        </a:rPr>
                        <a:t>n</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Cambria"/>
                        </a:rPr>
                        <a:t>Θ(</a:t>
                      </a:r>
                      <a:r>
                        <a:rPr sz="1400" b="0" i="1">
                          <a:solidFill>
                            <a:srgbClr val="1C252B"/>
                          </a:solidFill>
                          <a:latin typeface="Cambria"/>
                        </a:rPr>
                        <a:t>n</a:t>
                      </a:r>
                      <a:r>
                        <a:rPr sz="900" b="0" i="0" baseline="30000">
                          <a:solidFill>
                            <a:srgbClr val="1C252B"/>
                          </a:solidFill>
                          <a:latin typeface="Cambria"/>
                        </a:rPr>
                        <a:t>2</a:t>
                      </a:r>
                      <a:r>
                        <a:rPr sz="1400" b="0" i="0">
                          <a:solidFill>
                            <a:srgbClr val="1C252B"/>
                          </a:solidFill>
                          <a:latin typeface="Cambria"/>
                        </a:rPr>
                        <a:t>)</a:t>
                      </a:r>
                      <a:endParaRPr sz="1400"/>
                    </a:p>
                  </a:txBody>
                  <a:tcPr marL="109728" marR="109728" marT="64008" marB="45720" anchor="t">
                    <a:lnL w="0" cmpd="sng">
                      <a:noFill/>
                    </a:lnL>
                    <a:lnR w="0" cmpd="sng">
                      <a:noFill/>
                    </a:lnR>
                    <a:lnT w="9525" cmpd="sng">
                      <a:noFill/>
                    </a:lnT>
                    <a:lnB w="9525" cmpd="sng">
                      <a:noFill/>
                    </a:lnB>
                    <a:solidFill>
                      <a:srgbClr val="FFFFFF"/>
                    </a:solidFill>
                  </a:tcPr>
                </a:tc>
              </a:tr>
              <a:tr h="359664">
                <a:tc>
                  <a:txBody>
                    <a:bodyPr wrap="square"/>
                    <a:lstStyle/>
                    <a:p>
                      <a:pPr algn="l"/>
                      <a:r>
                        <a:rPr sz="1400" b="0" i="0">
                          <a:solidFill>
                            <a:srgbClr val="1C252B"/>
                          </a:solidFill>
                          <a:latin typeface="Segoe UI"/>
                        </a:rPr>
                        <a:t>LCS</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two prefix lengths</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1">
                          <a:solidFill>
                            <a:srgbClr val="1C252B"/>
                          </a:solidFill>
                          <a:latin typeface="Cambria"/>
                        </a:rPr>
                        <a:t>mn</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Cambria"/>
                        </a:rPr>
                        <a:t>Θ(</a:t>
                      </a:r>
                      <a:r>
                        <a:rPr sz="1400" b="0" i="1">
                          <a:solidFill>
                            <a:srgbClr val="1C252B"/>
                          </a:solidFill>
                          <a:latin typeface="Cambria"/>
                        </a:rPr>
                        <a:t>mn</a:t>
                      </a:r>
                      <a:r>
                        <a:rPr sz="1400" b="0" i="0">
                          <a:solidFill>
                            <a:srgbClr val="1C252B"/>
                          </a:solidFill>
                          <a:latin typeface="Cambria"/>
                        </a:rPr>
                        <a:t>)</a:t>
                      </a:r>
                      <a:endParaRPr sz="1400"/>
                    </a:p>
                  </a:txBody>
                  <a:tcPr marL="109728" marR="109728" marT="64008" marB="45720" anchor="t">
                    <a:lnL w="0" cmpd="sng">
                      <a:noFill/>
                    </a:lnL>
                    <a:lnR w="0" cmpd="sng">
                      <a:noFill/>
                    </a:lnR>
                    <a:lnT w="9525" cmpd="sng">
                      <a:noFill/>
                    </a:lnT>
                    <a:lnB w="9525" cmpd="sng">
                      <a:noFill/>
                    </a:lnB>
                    <a:solidFill>
                      <a:srgbClr val="F2F8FC"/>
                    </a:solidFill>
                  </a:tcPr>
                </a:tc>
              </a:tr>
              <a:tr h="359664">
                <a:tc>
                  <a:txBody>
                    <a:bodyPr wrap="square"/>
                    <a:lstStyle/>
                    <a:p>
                      <a:pPr algn="l"/>
                      <a:r>
                        <a:rPr sz="1400" b="0" i="0">
                          <a:solidFill>
                            <a:srgbClr val="1C252B"/>
                          </a:solidFill>
                          <a:latin typeface="Segoe UI"/>
                        </a:rPr>
                        <a:t>edit distance</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two prefix lengths</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1">
                          <a:solidFill>
                            <a:srgbClr val="1C252B"/>
                          </a:solidFill>
                          <a:latin typeface="Cambria"/>
                        </a:rPr>
                        <a:t>mn</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Cambria"/>
                        </a:rPr>
                        <a:t>Θ(</a:t>
                      </a:r>
                      <a:r>
                        <a:rPr sz="1400" b="0" i="1">
                          <a:solidFill>
                            <a:srgbClr val="1C252B"/>
                          </a:solidFill>
                          <a:latin typeface="Cambria"/>
                        </a:rPr>
                        <a:t>mn</a:t>
                      </a:r>
                      <a:r>
                        <a:rPr sz="1400" b="0" i="0">
                          <a:solidFill>
                            <a:srgbClr val="1C252B"/>
                          </a:solidFill>
                          <a:latin typeface="Cambria"/>
                        </a:rPr>
                        <a:t>)</a:t>
                      </a:r>
                      <a:endParaRPr sz="1400"/>
                    </a:p>
                  </a:txBody>
                  <a:tcPr marL="109728" marR="109728" marT="64008" marB="45720" anchor="t">
                    <a:lnL w="0" cmpd="sng">
                      <a:noFill/>
                    </a:lnL>
                    <a:lnR w="0" cmpd="sng">
                      <a:noFill/>
                    </a:lnR>
                    <a:lnT w="9525" cmpd="sng">
                      <a:noFill/>
                    </a:lnT>
                    <a:lnB w="9525" cmpd="sng">
                      <a:noFill/>
                    </a:lnB>
                    <a:solidFill>
                      <a:srgbClr val="FFFFFF"/>
                    </a:solidFill>
                  </a:tcPr>
                </a:tc>
              </a:tr>
              <a:tr h="359664">
                <a:tc>
                  <a:txBody>
                    <a:bodyPr wrap="square"/>
                    <a:lstStyle/>
                    <a:p>
                      <a:pPr algn="l"/>
                      <a:r>
                        <a:rPr sz="1400" b="0" i="0">
                          <a:solidFill>
                            <a:srgbClr val="1C252B"/>
                          </a:solidFill>
                          <a:latin typeface="Segoe UI"/>
                        </a:rPr>
                        <a:t>0/1 knapsack</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item prefix, capacity</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1">
                          <a:solidFill>
                            <a:srgbClr val="1C252B"/>
                          </a:solidFill>
                          <a:latin typeface="Cambria"/>
                        </a:rPr>
                        <a:t>nW</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Cambria"/>
                        </a:rPr>
                        <a:t>Θ(</a:t>
                      </a:r>
                      <a:r>
                        <a:rPr sz="1400" b="0" i="1">
                          <a:solidFill>
                            <a:srgbClr val="1C252B"/>
                          </a:solidFill>
                          <a:latin typeface="Cambria"/>
                        </a:rPr>
                        <a:t>nW</a:t>
                      </a:r>
                      <a:r>
                        <a:rPr sz="1400" b="0" i="0">
                          <a:solidFill>
                            <a:srgbClr val="1C252B"/>
                          </a:solidFill>
                          <a:latin typeface="Cambria"/>
                        </a:rPr>
                        <a:t>)</a:t>
                      </a:r>
                      <a:endParaRPr sz="1400"/>
                    </a:p>
                  </a:txBody>
                  <a:tcPr marL="109728" marR="109728" marT="64008" marB="45720" anchor="t">
                    <a:lnL w="0" cmpd="sng">
                      <a:noFill/>
                    </a:lnL>
                    <a:lnR w="0" cmpd="sng">
                      <a:noFill/>
                    </a:lnR>
                    <a:lnT w="9525" cmpd="sng">
                      <a:noFill/>
                    </a:lnT>
                    <a:lnB w="9525" cmpd="sng">
                      <a:noFill/>
                    </a:lnB>
                    <a:solidFill>
                      <a:srgbClr val="F2F8FC"/>
                    </a:solidFill>
                  </a:tcPr>
                </a:tc>
              </a:tr>
              <a:tr h="359664">
                <a:tc>
                  <a:txBody>
                    <a:bodyPr wrap="square"/>
                    <a:lstStyle/>
                    <a:p>
                      <a:pPr algn="l"/>
                      <a:r>
                        <a:rPr sz="1400" b="0" i="0">
                          <a:solidFill>
                            <a:srgbClr val="1C252B"/>
                          </a:solidFill>
                          <a:latin typeface="Segoe UI"/>
                        </a:rPr>
                        <a:t>matrix chain</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400" b="0" i="0">
                          <a:solidFill>
                            <a:srgbClr val="1C252B"/>
                          </a:solidFill>
                          <a:latin typeface="Segoe UI"/>
                        </a:rPr>
                        <a:t>a range </a:t>
                      </a:r>
                      <a:r>
                        <a:rPr sz="1400" b="0" i="0">
                          <a:solidFill>
                            <a:srgbClr val="1C252B"/>
                          </a:solidFill>
                          <a:latin typeface="Cambria"/>
                        </a:rPr>
                        <a:t>(</a:t>
                      </a:r>
                      <a:r>
                        <a:rPr sz="1400" b="0" i="1">
                          <a:solidFill>
                            <a:srgbClr val="1C252B"/>
                          </a:solidFill>
                          <a:latin typeface="Cambria"/>
                        </a:rPr>
                        <a:t>i</a:t>
                      </a:r>
                      <a:r>
                        <a:rPr sz="1400" b="0" i="0">
                          <a:solidFill>
                            <a:srgbClr val="1C252B"/>
                          </a:solidFill>
                          <a:latin typeface="Cambria"/>
                        </a:rPr>
                        <a:t>,</a:t>
                      </a:r>
                      <a:r>
                        <a:rPr sz="1400" b="0" i="1">
                          <a:solidFill>
                            <a:srgbClr val="1C252B"/>
                          </a:solidFill>
                          <a:latin typeface="Cambria"/>
                        </a:rPr>
                        <a:t>j</a:t>
                      </a:r>
                      <a:r>
                        <a:rPr sz="1400" b="0" i="0">
                          <a:solidFill>
                            <a:srgbClr val="1C252B"/>
                          </a:solidFill>
                          <a:latin typeface="Cambria"/>
                        </a:rPr>
                        <a:t>)</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400" b="0" i="1">
                          <a:solidFill>
                            <a:srgbClr val="1C252B"/>
                          </a:solidFill>
                          <a:latin typeface="Cambria"/>
                        </a:rPr>
                        <a:t>n</a:t>
                      </a:r>
                      <a:r>
                        <a:rPr sz="900" b="0" i="0" baseline="30000">
                          <a:solidFill>
                            <a:srgbClr val="1C252B"/>
                          </a:solidFill>
                          <a:latin typeface="Cambria"/>
                        </a:rPr>
                        <a:t>2</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400" b="0" i="0">
                          <a:solidFill>
                            <a:srgbClr val="1C252B"/>
                          </a:solidFill>
                          <a:latin typeface="Cambria"/>
                        </a:rPr>
                        <a:t>Θ(</a:t>
                      </a:r>
                      <a:r>
                        <a:rPr sz="1400" b="0" i="1">
                          <a:solidFill>
                            <a:srgbClr val="1C252B"/>
                          </a:solidFill>
                          <a:latin typeface="Cambria"/>
                        </a:rPr>
                        <a:t>n</a:t>
                      </a:r>
                      <a:r>
                        <a:rPr sz="900" b="0" i="0" baseline="30000">
                          <a:solidFill>
                            <a:srgbClr val="1C252B"/>
                          </a:solidFill>
                          <a:latin typeface="Cambria"/>
                        </a:rPr>
                        <a:t>3</a:t>
                      </a:r>
                      <a:r>
                        <a:rPr sz="1400" b="0" i="0">
                          <a:solidFill>
                            <a:srgbClr val="1C252B"/>
                          </a:solidFill>
                          <a:latin typeface="Cambria"/>
                        </a:rPr>
                        <a:t>)</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1" name="body-2"/>
          <p:cNvSpPr txBox="1"/>
          <p:nvPr/>
        </p:nvSpPr>
        <p:spPr>
          <a:xfrm>
            <a:off x="1060704" y="4982616"/>
            <a:ext cx="10161727" cy="58460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Matrix-chain multiplication is the one with </a:t>
            </a:r>
            <a:r>
              <a:rPr sz="1700" b="0" i="0">
                <a:solidFill>
                  <a:srgbClr val="1C252B"/>
                </a:solidFill>
                <a:latin typeface="Cambria"/>
              </a:rPr>
              <a:t>Θ(</a:t>
            </a:r>
            <a:r>
              <a:rPr sz="1700" b="0" i="1">
                <a:solidFill>
                  <a:srgbClr val="1C252B"/>
                </a:solidFill>
                <a:latin typeface="Cambria"/>
              </a:rPr>
              <a:t>n</a:t>
            </a:r>
            <a:r>
              <a:rPr sz="1100" b="0" i="0" baseline="30000">
                <a:solidFill>
                  <a:srgbClr val="1C252B"/>
                </a:solidFill>
                <a:latin typeface="Cambria"/>
              </a:rPr>
              <a:t>3</a:t>
            </a:r>
            <a:r>
              <a:rPr sz="1700" b="0" i="0">
                <a:solidFill>
                  <a:srgbClr val="1C252B"/>
                </a:solidFill>
                <a:latin typeface="Cambria"/>
              </a:rPr>
              <a:t>)</a:t>
            </a:r>
            <a:r>
              <a:rPr sz="1700" b="0" i="0">
                <a:solidFill>
                  <a:srgbClr val="1C252B"/>
                </a:solidFill>
                <a:latin typeface="Segoe UI"/>
              </a:rPr>
              <a:t>: there are </a:t>
            </a:r>
            <a:r>
              <a:rPr sz="1700" b="0" i="0">
                <a:solidFill>
                  <a:srgbClr val="1C252B"/>
                </a:solidFill>
                <a:latin typeface="Cambria"/>
              </a:rPr>
              <a:t>Θ(</a:t>
            </a:r>
            <a:r>
              <a:rPr sz="1700" b="0" i="1">
                <a:solidFill>
                  <a:srgbClr val="1C252B"/>
                </a:solidFill>
                <a:latin typeface="Cambria"/>
              </a:rPr>
              <a:t>n</a:t>
            </a:r>
            <a:r>
              <a:rPr sz="1100" b="0" i="0" baseline="30000">
                <a:solidFill>
                  <a:srgbClr val="1C252B"/>
                </a:solidFill>
                <a:latin typeface="Cambria"/>
              </a:rPr>
              <a:t>2</a:t>
            </a:r>
            <a:r>
              <a:rPr sz="1700" b="0" i="0">
                <a:solidFill>
                  <a:srgbClr val="1C252B"/>
                </a:solidFill>
                <a:latin typeface="Cambria"/>
              </a:rPr>
              <a:t>)</a:t>
            </a:r>
            <a:r>
              <a:rPr sz="1700" b="0" i="0">
                <a:solidFill>
                  <a:srgbClr val="1C252B"/>
                </a:solidFill>
                <a:latin typeface="Segoe UI"/>
              </a:rPr>
              <a:t> ranges and each requires a maximum over </a:t>
            </a:r>
            <a:r>
              <a:rPr sz="1700" b="0" i="0">
                <a:solidFill>
                  <a:srgbClr val="1C252B"/>
                </a:solidFill>
                <a:latin typeface="Cambria"/>
              </a:rPr>
              <a:t>O(</a:t>
            </a:r>
            <a:r>
              <a:rPr sz="1700" b="0" i="1">
                <a:solidFill>
                  <a:srgbClr val="1C252B"/>
                </a:solidFill>
                <a:latin typeface="Cambria"/>
              </a:rPr>
              <a:t>n</a:t>
            </a:r>
            <a:r>
              <a:rPr sz="1700" b="0" i="0">
                <a:solidFill>
                  <a:srgbClr val="1C252B"/>
                </a:solidFill>
                <a:latin typeface="Cambria"/>
              </a:rPr>
              <a:t>)</a:t>
            </a:r>
            <a:r>
              <a:rPr sz="1700" b="0" i="0">
                <a:solidFill>
                  <a:srgbClr val="1C252B"/>
                </a:solidFill>
                <a:latin typeface="Segoe UI"/>
              </a:rPr>
              <a:t> split points. The formula of Chapter 15 gives the time directly once the parameters are named.</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633968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132     </a:t>
            </a:r>
            <a:fld id="{A5A8CAA3-6C9D-4ECC-B70B-E22424051F20}" type="slidenum">
              <a:rPr lang="en-GB" sz="1000">
                <a:solidFill>
                  <a:srgbClr val="8795A1"/>
                </a:solidFill>
                <a:latin typeface="Segoe UI"/>
              </a:rPr>
              <a:t>27</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Calling </a:t>
            </a:r>
            <a:r>
              <a:rPr sz="1700" b="1" i="0">
                <a:solidFill>
                  <a:srgbClr val="1C252B"/>
                </a:solidFill>
                <a:latin typeface="Cambria"/>
              </a:rPr>
              <a:t>Θ(</a:t>
            </a:r>
            <a:r>
              <a:rPr sz="1700" b="1" i="1">
                <a:solidFill>
                  <a:srgbClr val="1C252B"/>
                </a:solidFill>
                <a:latin typeface="Cambria"/>
              </a:rPr>
              <a:t>nW</a:t>
            </a:r>
            <a:r>
              <a:rPr sz="1700" b="1" i="0">
                <a:solidFill>
                  <a:srgbClr val="1C252B"/>
                </a:solidFill>
                <a:latin typeface="Cambria"/>
              </a:rPr>
              <a:t>)</a:t>
            </a:r>
            <a:r>
              <a:rPr sz="1700" b="1" i="0">
                <a:solidFill>
                  <a:srgbClr val="1C252B"/>
                </a:solidFill>
                <a:latin typeface="Segoe UI"/>
              </a:rPr>
              <a:t> polynomial.</a:t>
            </a:r>
            <a:r>
              <a:rPr sz="1700" b="0" i="0">
                <a:solidFill>
                  <a:srgbClr val="1C252B"/>
                </a:solidFill>
                <a:latin typeface="Segoe UI"/>
              </a:rPr>
              <a:t> It is pseudo-polynomial, and measured, one more bit of </a:t>
            </a:r>
            <a:r>
              <a:rPr sz="1700" b="0" i="1">
                <a:solidFill>
                  <a:srgbClr val="1C252B"/>
                </a:solidFill>
                <a:latin typeface="Cambria"/>
              </a:rPr>
              <a:t>W</a:t>
            </a:r>
            <a:r>
              <a:rPr sz="1700" b="0" i="0">
                <a:solidFill>
                  <a:srgbClr val="1C252B"/>
                </a:solidFill>
                <a:latin typeface="Segoe UI"/>
              </a:rPr>
              <a:t> doubles the time.</a:t>
            </a:r>
          </a:p>
        </p:txBody>
      </p:sp>
      <p:sp>
        <p:nvSpPr>
          <p:cNvPr id="10" name="!!pb1">
            <a:extLst>
              <a:ext uri="{C183D7F6-B498-43B3-948B-1728B52AA6E4}">
                <adec:decorative xmlns:adec="http://schemas.microsoft.com/office/drawing/2017/decorative" val="1"/>
              </a:ext>
            </a:extLst>
          </p:cNvPr>
          <p:cNvSpPr/>
          <p:nvPr/>
        </p:nvSpPr>
        <p:spPr>
          <a:xfrm>
            <a:off x="658368" y="232257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34543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304288"/>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Counting the knapsack inner loop upwards.</a:t>
            </a:r>
            <a:r>
              <a:rPr sz="1700" b="0" i="0">
                <a:solidFill>
                  <a:srgbClr val="1C252B"/>
                </a:solidFill>
                <a:latin typeface="Segoe UI"/>
              </a:rPr>
              <a:t> That solves </a:t>
            </a:r>
            <a:r>
              <a:rPr sz="1700" b="0" i="1">
                <a:solidFill>
                  <a:srgbClr val="1C252B"/>
                </a:solidFill>
                <a:latin typeface="Segoe UI"/>
              </a:rPr>
              <a:t>unbounded</a:t>
            </a:r>
            <a:r>
              <a:rPr sz="1700" b="0" i="0">
                <a:solidFill>
                  <a:srgbClr val="1C252B"/>
                </a:solidFill>
                <a:latin typeface="Segoe UI"/>
              </a:rPr>
              <a:t> knapsack — each item reusable. Both are legitimate problems; they are not the same problem.</a:t>
            </a:r>
          </a:p>
        </p:txBody>
      </p:sp>
      <p:sp>
        <p:nvSpPr>
          <p:cNvPr id="13" name="!!pb2">
            <a:extLst>
              <a:ext uri="{C183D7F6-B498-43B3-948B-1728B52AA6E4}">
                <adec:decorative xmlns:adec="http://schemas.microsoft.com/office/drawing/2017/decorative" val="1"/>
              </a:ext>
            </a:extLst>
          </p:cNvPr>
          <p:cNvSpPr/>
          <p:nvPr/>
        </p:nvSpPr>
        <p:spPr>
          <a:xfrm>
            <a:off x="658368" y="306263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08549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044342"/>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Confusing subsequence with substring.</a:t>
            </a:r>
            <a:r>
              <a:rPr sz="1700" b="0" i="0">
                <a:solidFill>
                  <a:srgbClr val="1C252B"/>
                </a:solidFill>
                <a:latin typeface="Segoe UI"/>
              </a:rPr>
              <a:t> LCS allows gaps; longest common substring does not and has a different recurrence.</a:t>
            </a:r>
          </a:p>
        </p:txBody>
      </p:sp>
      <p:sp>
        <p:nvSpPr>
          <p:cNvPr id="16" name="!!pb3">
            <a:extLst>
              <a:ext uri="{C183D7F6-B498-43B3-948B-1728B52AA6E4}">
                <adec:decorative xmlns:adec="http://schemas.microsoft.com/office/drawing/2017/decorative" val="1"/>
              </a:ext>
            </a:extLst>
          </p:cNvPr>
          <p:cNvSpPr/>
          <p:nvPr/>
        </p:nvSpPr>
        <p:spPr>
          <a:xfrm>
            <a:off x="658368" y="380268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82554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784396"/>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Using the two-row trick and then trying to reconstruct.</a:t>
            </a:r>
            <a:r>
              <a:rPr sz="1700" b="0" i="0">
                <a:solidFill>
                  <a:srgbClr val="1C252B"/>
                </a:solidFill>
                <a:latin typeface="Segoe UI"/>
              </a:rPr>
              <a:t> The table is gone. Use the full table or Hirschberg’s algorithm.</a:t>
            </a:r>
          </a:p>
        </p:txBody>
      </p:sp>
      <p:sp>
        <p:nvSpPr>
          <p:cNvPr id="19" name="!!pb4">
            <a:extLst>
              <a:ext uri="{C183D7F6-B498-43B3-948B-1728B52AA6E4}">
                <adec:decorative xmlns:adec="http://schemas.microsoft.com/office/drawing/2017/decorative" val="1"/>
              </a:ext>
            </a:extLst>
          </p:cNvPr>
          <p:cNvSpPr/>
          <p:nvPr/>
        </p:nvSpPr>
        <p:spPr>
          <a:xfrm>
            <a:off x="658368" y="454273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56559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524451"/>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Getting the edit-distance base cases wrong.</a:t>
            </a:r>
            <a:r>
              <a:rPr sz="1700" b="0" i="0">
                <a:solidFill>
                  <a:srgbClr val="1C252B"/>
                </a:solidFill>
                <a:latin typeface="Segoe UI"/>
              </a:rPr>
              <a:t> </a:t>
            </a:r>
            <a:r>
              <a:rPr sz="1700" b="0" i="1">
                <a:solidFill>
                  <a:srgbClr val="1C252B"/>
                </a:solidFill>
                <a:latin typeface="Cambria"/>
              </a:rPr>
              <a:t>d</a:t>
            </a:r>
            <a:r>
              <a:rPr sz="1700" b="0" i="0">
                <a:solidFill>
                  <a:srgbClr val="1C252B"/>
                </a:solidFill>
                <a:latin typeface="Cambria"/>
              </a:rPr>
              <a:t>[</a:t>
            </a:r>
            <a:r>
              <a:rPr sz="1700" b="0" i="1">
                <a:solidFill>
                  <a:srgbClr val="1C252B"/>
                </a:solidFill>
                <a:latin typeface="Cambria"/>
              </a:rPr>
              <a:t>i</a:t>
            </a:r>
            <a:r>
              <a:rPr sz="1700" b="0" i="0">
                <a:solidFill>
                  <a:srgbClr val="1C252B"/>
                </a:solidFill>
                <a:latin typeface="Cambria"/>
              </a:rPr>
              <a:t>][0] = </a:t>
            </a:r>
            <a:r>
              <a:rPr sz="1700" b="0" i="1">
                <a:solidFill>
                  <a:srgbClr val="1C252B"/>
                </a:solidFill>
                <a:latin typeface="Cambria"/>
              </a:rPr>
              <a:t>i</a:t>
            </a:r>
            <a:r>
              <a:rPr sz="1700" b="0" i="0">
                <a:solidFill>
                  <a:srgbClr val="1C252B"/>
                </a:solidFill>
                <a:latin typeface="Segoe UI"/>
              </a:rPr>
              <a:t>, not 0 — deleting </a:t>
            </a:r>
            <a:r>
              <a:rPr sz="1700" b="0" i="1">
                <a:solidFill>
                  <a:srgbClr val="1C252B"/>
                </a:solidFill>
                <a:latin typeface="Cambria"/>
              </a:rPr>
              <a:t>i</a:t>
            </a:r>
            <a:r>
              <a:rPr sz="1700" b="0" i="0">
                <a:solidFill>
                  <a:srgbClr val="1C252B"/>
                </a:solidFill>
                <a:latin typeface="Segoe UI"/>
              </a:rPr>
              <a:t> characters costs </a:t>
            </a:r>
            <a:r>
              <a:rPr sz="1700" b="0" i="1">
                <a:solidFill>
                  <a:srgbClr val="1C252B"/>
                </a:solidFill>
                <a:latin typeface="Cambria"/>
              </a:rPr>
              <a:t>i</a:t>
            </a:r>
            <a:r>
              <a:rPr sz="1700" b="0" i="0">
                <a:solidFill>
                  <a:srgbClr val="1C252B"/>
                </a:solidFill>
                <a:latin typeface="Segoe UI"/>
              </a:rPr>
              <a:t>.</a:t>
            </a:r>
          </a:p>
        </p:txBody>
      </p:sp>
      <p:sp>
        <p:nvSpPr>
          <p:cNvPr id="22" name="!!pb5">
            <a:extLst>
              <a:ext uri="{C183D7F6-B498-43B3-948B-1728B52AA6E4}">
                <adec:decorative xmlns:adec="http://schemas.microsoft.com/office/drawing/2017/decorative" val="1"/>
              </a:ext>
            </a:extLst>
          </p:cNvPr>
          <p:cNvSpPr/>
          <p:nvPr/>
        </p:nvSpPr>
        <p:spPr>
          <a:xfrm>
            <a:off x="658368" y="5109667"/>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13252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091379"/>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Skipping the brute-force oracle.</a:t>
            </a:r>
            <a:r>
              <a:rPr sz="1700" b="0" i="0">
                <a:solidFill>
                  <a:srgbClr val="1C252B"/>
                </a:solidFill>
                <a:latin typeface="Segoe UI"/>
              </a:rPr>
              <a:t> 300 instances at </a:t>
            </a:r>
            <a:r>
              <a:rPr sz="1700" b="0" i="1">
                <a:solidFill>
                  <a:srgbClr val="1C252B"/>
                </a:solidFill>
                <a:latin typeface="Cambria"/>
              </a:rPr>
              <a:t>n</a:t>
            </a:r>
            <a:r>
              <a:rPr sz="1700" b="0" i="0">
                <a:solidFill>
                  <a:srgbClr val="1C252B"/>
                </a:solidFill>
                <a:latin typeface="Cambria"/>
              </a:rPr>
              <a:t> = 18</a:t>
            </a:r>
            <a:r>
              <a:rPr sz="1700" b="0" i="0">
                <a:solidFill>
                  <a:srgbClr val="1C252B"/>
                </a:solidFill>
                <a:latin typeface="Segoe UI"/>
              </a:rPr>
              <a:t> cost seconds and caught nothing here, which is the point: it is cheap evidence that the loop direction is right.</a:t>
            </a:r>
          </a:p>
        </p:txBody>
      </p:sp>
      <p:sp>
        <p:nvSpPr>
          <p:cNvPr id="25" name="!!pb6">
            <a:extLst>
              <a:ext uri="{C183D7F6-B498-43B3-948B-1728B52AA6E4}">
                <adec:decorative xmlns:adec="http://schemas.microsoft.com/office/drawing/2017/decorative" val="1"/>
              </a:ext>
            </a:extLst>
          </p:cNvPr>
          <p:cNvSpPr/>
          <p:nvPr/>
        </p:nvSpPr>
        <p:spPr>
          <a:xfrm>
            <a:off x="658368" y="584972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px6"/>
          <p:cNvSpPr txBox="1"/>
          <p:nvPr/>
        </p:nvSpPr>
        <p:spPr>
          <a:xfrm>
            <a:off x="658368" y="587258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7" name="!!pt6"/>
          <p:cNvSpPr txBox="1"/>
          <p:nvPr/>
        </p:nvSpPr>
        <p:spPr>
          <a:xfrm>
            <a:off x="1261872" y="5831433"/>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Assuming a DP’s space equals its time.</a:t>
            </a:r>
            <a:r>
              <a:rPr sz="1700" b="0" i="0">
                <a:solidFill>
                  <a:srgbClr val="1C252B"/>
                </a:solidFill>
                <a:latin typeface="Segoe UI"/>
              </a:rPr>
              <a:t> LCS is </a:t>
            </a:r>
            <a:r>
              <a:rPr sz="1700" b="0" i="0">
                <a:solidFill>
                  <a:srgbClr val="1C252B"/>
                </a:solidFill>
                <a:latin typeface="Cambria"/>
              </a:rPr>
              <a:t>Θ(</a:t>
            </a:r>
            <a:r>
              <a:rPr sz="1700" b="0" i="1">
                <a:solidFill>
                  <a:srgbClr val="1C252B"/>
                </a:solidFill>
                <a:latin typeface="Cambria"/>
              </a:rPr>
              <a:t>mn</a:t>
            </a:r>
            <a:r>
              <a:rPr sz="1700" b="0" i="0">
                <a:solidFill>
                  <a:srgbClr val="1C252B"/>
                </a:solidFill>
                <a:latin typeface="Cambria"/>
              </a:rPr>
              <a:t>)</a:t>
            </a:r>
            <a:r>
              <a:rPr sz="1700" b="0" i="0">
                <a:solidFill>
                  <a:srgbClr val="1C252B"/>
                </a:solidFill>
                <a:latin typeface="Segoe UI"/>
              </a:rPr>
              <a:t> time and can be </a:t>
            </a:r>
            <a:r>
              <a:rPr sz="1700" b="0" i="0">
                <a:solidFill>
                  <a:srgbClr val="1C252B"/>
                </a:solidFill>
                <a:latin typeface="Cambria"/>
              </a:rPr>
              <a:t>Θ(min(</a:t>
            </a:r>
            <a:r>
              <a:rPr sz="1700" b="0" i="1">
                <a:solidFill>
                  <a:srgbClr val="1C252B"/>
                </a:solidFill>
                <a:latin typeface="Cambria"/>
              </a:rPr>
              <a:t>m</a:t>
            </a:r>
            <a:r>
              <a:rPr sz="1700" b="0" i="0">
                <a:solidFill>
                  <a:srgbClr val="1C252B"/>
                </a:solidFill>
                <a:latin typeface="Cambria"/>
              </a:rPr>
              <a:t>,</a:t>
            </a:r>
            <a:r>
              <a:rPr sz="1700" b="0" i="1">
                <a:solidFill>
                  <a:srgbClr val="1C252B"/>
                </a:solidFill>
                <a:latin typeface="Cambria"/>
              </a:rPr>
              <a:t>n</a:t>
            </a:r>
            <a:r>
              <a:rPr sz="1700" b="0" i="0">
                <a:solidFill>
                  <a:srgbClr val="1C252B"/>
                </a:solidFill>
                <a:latin typeface="Cambria"/>
              </a:rPr>
              <a:t>))</a:t>
            </a:r>
            <a:r>
              <a:rPr sz="1700" b="0" i="0">
                <a:solidFill>
                  <a:srgbClr val="1C252B"/>
                </a:solidFill>
                <a:latin typeface="Segoe UI"/>
              </a:rPr>
              <a:t> space.</a:t>
            </a:r>
          </a:p>
        </p:txBody>
      </p:sp>
      <p:sp>
        <p:nvSpPr>
          <p:cNvPr id="8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pfill">
            <a:extLst>
              <a:ext uri="{C183D7F6-B498-43B3-948B-1728B52AA6E4}">
                <adec:decorative xmlns:adec="http://schemas.microsoft.com/office/drawing/2017/decorative" val="1"/>
              </a:ext>
            </a:extLst>
          </p:cNvPr>
          <p:cNvSpPr/>
          <p:nvPr/>
        </p:nvSpPr>
        <p:spPr>
          <a:xfrm>
            <a:off x="0" y="0"/>
            <a:ext cx="658351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par>
                    <p:cTn id="70" fill="hold">
                      <p:stCondLst>
                        <p:cond delay="indefinite"/>
                      </p:stCondLst>
                      <p:childTnLst>
                        <p:par>
                          <p:cTn id="71" fill="hold">
                            <p:stCondLst>
                              <p:cond delay="0"/>
                            </p:stCondLst>
                            <p:childTnLst>
                              <p:par>
                                <p:cTn id="72" presetID="23" presetClass="entr" presetSubtype="16" fill="hold" grpId="0"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zoom(in)">
                                      <p:cBhvr>
                                        <p:cTn id="74" dur="26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260"/>
                                        <p:tgtEl>
                                          <p:spTgt spid="26"/>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wipe(right)">
                                      <p:cBhvr>
                                        <p:cTn id="80"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Three Classics and One Surprise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132     </a:t>
            </a:r>
            <a:fld id="{58F9A2E2-67CC-46D3-A4F5-614E456A3078}" type="slidenum">
              <a:rPr lang="en-GB" sz="1000">
                <a:solidFill>
                  <a:srgbClr val="8795A1"/>
                </a:solidFill>
                <a:latin typeface="Segoe UI"/>
              </a:rPr>
              <a:t>28</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Reproduces all four tables. Expect thirty minutes; part D takes about nine seconds in its last row.</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2438400"/>
          </a:xfrm>
          <a:prstGeom prst="rect">
            <a:avLst/>
          </a:prstGeom>
          <a:noFill/>
        </p:spPr>
        <p:txBody>
          <a:bodyPr wrap="square" anchor="t" lIns="0" rIns="0" tIns="0" bIns="0">
            <a:noAutofit/>
          </a:bodyPr>
          <a:lstStyle/>
          <a:p>
            <a:pPr algn="l" marL="367434" indent="-367434">
              <a:lnSpc>
                <a:spcPct val="100000"/>
              </a:lnSpc>
              <a:spcBef>
                <a:spcPts val="0"/>
              </a:spcBef>
              <a:spcAft>
                <a:spcPts val="420"/>
              </a:spcAft>
            </a:pPr>
            <a:r>
              <a:rPr sz="1400" b="1">
                <a:solidFill>
                  <a:srgbClr val="117A65"/>
                </a:solidFill>
                <a:latin typeface="Segoe UI"/>
              </a:rPr>
              <a:t>1.	</a:t>
            </a:r>
            <a:r>
              <a:rPr sz="1400" b="0" i="0">
                <a:solidFill>
                  <a:srgbClr val="1C252B"/>
                </a:solidFill>
                <a:latin typeface="Segoe UI"/>
              </a:rPr>
              <a:t>LCS: the full table, so the subsequence can be recovered</a:t>
            </a:r>
          </a:p>
          <a:p>
            <a:pPr algn="l" marL="367434" indent="-367434">
              <a:lnSpc>
                <a:spcPct val="100000"/>
              </a:lnSpc>
              <a:spcBef>
                <a:spcPts val="0"/>
              </a:spcBef>
              <a:spcAft>
                <a:spcPts val="420"/>
              </a:spcAft>
            </a:pPr>
            <a:r>
              <a:rPr sz="1400" b="1">
                <a:solidFill>
                  <a:srgbClr val="117A65"/>
                </a:solidFill>
                <a:latin typeface="Segoe UI"/>
              </a:rPr>
              <a:t>2.	</a:t>
            </a:r>
            <a:r>
              <a:rPr sz="1400" b="0" i="0">
                <a:solidFill>
                  <a:srgbClr val="1C252B"/>
                </a:solidFill>
                <a:latin typeface="Segoe UI"/>
              </a:rPr>
              <a:t>LCS in two rows</a:t>
            </a:r>
          </a:p>
          <a:p>
            <a:pPr algn="l" marL="367434" indent="-367434">
              <a:lnSpc>
                <a:spcPct val="100000"/>
              </a:lnSpc>
              <a:spcBef>
                <a:spcPts val="0"/>
              </a:spcBef>
              <a:spcAft>
                <a:spcPts val="420"/>
              </a:spcAft>
            </a:pPr>
            <a:r>
              <a:rPr sz="1400" b="1">
                <a:solidFill>
                  <a:srgbClr val="117A65"/>
                </a:solidFill>
                <a:latin typeface="Segoe UI"/>
              </a:rPr>
              <a:t>3.	</a:t>
            </a:r>
            <a:r>
              <a:rPr sz="1400" b="0" i="0">
                <a:solidFill>
                  <a:srgbClr val="1C252B"/>
                </a:solidFill>
                <a:latin typeface="Segoe UI"/>
              </a:rPr>
              <a:t>Edit distance: the same shape, three choices per cell</a:t>
            </a:r>
          </a:p>
          <a:p>
            <a:pPr algn="l" marL="367434" indent="-367434">
              <a:lnSpc>
                <a:spcPct val="100000"/>
              </a:lnSpc>
              <a:spcBef>
                <a:spcPts val="0"/>
              </a:spcBef>
              <a:spcAft>
                <a:spcPts val="420"/>
              </a:spcAft>
            </a:pPr>
            <a:r>
              <a:rPr sz="1400" b="1">
                <a:solidFill>
                  <a:srgbClr val="117A65"/>
                </a:solidFill>
                <a:latin typeface="Segoe UI"/>
              </a:rPr>
              <a:t>4.	</a:t>
            </a:r>
            <a:r>
              <a:rPr sz="1400" b="0" i="0">
                <a:solidFill>
                  <a:srgbClr val="1C252B"/>
                </a:solidFill>
                <a:latin typeface="Segoe UI"/>
              </a:rPr>
              <a:t>0/1 knapsack: Theta(nW), and W is a number not a count</a:t>
            </a:r>
          </a:p>
          <a:p>
            <a:pPr algn="l" marL="367434" indent="-367434">
              <a:lnSpc>
                <a:spcPct val="100000"/>
              </a:lnSpc>
              <a:spcBef>
                <a:spcPts val="0"/>
              </a:spcBef>
              <a:spcAft>
                <a:spcPts val="420"/>
              </a:spcAft>
            </a:pPr>
            <a:r>
              <a:rPr sz="1400" b="1">
                <a:solidFill>
                  <a:srgbClr val="117A65"/>
                </a:solidFill>
                <a:latin typeface="Segoe UI"/>
              </a:rPr>
              <a:t>5.	</a:t>
            </a:r>
            <a:r>
              <a:rPr sz="1400" b="0" i="0">
                <a:solidFill>
                  <a:srgbClr val="1C252B"/>
                </a:solidFill>
                <a:latin typeface="Segoe UI"/>
              </a:rPr>
              <a:t>The same problem by brute force, as an oracle</a:t>
            </a:r>
          </a:p>
          <a:p>
            <a:pPr algn="l" marL="367434" indent="-367434">
              <a:lnSpc>
                <a:spcPct val="100000"/>
              </a:lnSpc>
              <a:spcBef>
                <a:spcPts val="0"/>
              </a:spcBef>
              <a:spcAft>
                <a:spcPts val="420"/>
              </a:spcAft>
            </a:pPr>
            <a:r>
              <a:rPr sz="1400" b="1">
                <a:solidFill>
                  <a:srgbClr val="117A65"/>
                </a:solidFill>
                <a:latin typeface="Segoe UI"/>
              </a:rPr>
              <a:t>6.	</a:t>
            </a:r>
            <a:r>
              <a:rPr sz="1400" b="0" i="0">
                <a:solidFill>
                  <a:srgbClr val="1C252B"/>
                </a:solidFill>
                <a:latin typeface="Segoe UI"/>
              </a:rPr>
              <a:t>LCS and edit distance are Theta(mn)</a:t>
            </a:r>
          </a:p>
          <a:p>
            <a:pPr algn="l" marL="367434" indent="-367434">
              <a:lnSpc>
                <a:spcPct val="100000"/>
              </a:lnSpc>
              <a:spcBef>
                <a:spcPts val="0"/>
              </a:spcBef>
              <a:spcAft>
                <a:spcPts val="420"/>
              </a:spcAft>
            </a:pPr>
            <a:r>
              <a:rPr sz="1400" b="1">
                <a:solidFill>
                  <a:srgbClr val="117A65"/>
                </a:solidFill>
                <a:latin typeface="Segoe UI"/>
              </a:rPr>
              <a:t>7.	</a:t>
            </a:r>
            <a:r>
              <a:rPr sz="1400" b="0" i="0">
                <a:solidFill>
                  <a:srgbClr val="1C252B"/>
                </a:solidFill>
                <a:latin typeface="Segoe UI"/>
              </a:rPr>
              <a:t>A worked instance, small enough to check by eye</a:t>
            </a:r>
          </a:p>
          <a:p>
            <a:pPr algn="l" marL="367434" indent="-367434">
              <a:lnSpc>
                <a:spcPct val="100000"/>
              </a:lnSpc>
              <a:spcBef>
                <a:spcPts val="0"/>
              </a:spcBef>
              <a:spcAft>
                <a:spcPts val="420"/>
              </a:spcAft>
            </a:pPr>
            <a:r>
              <a:rPr sz="1400" b="1">
                <a:solidFill>
                  <a:srgbClr val="117A65"/>
                </a:solidFill>
                <a:latin typeface="Segoe UI"/>
              </a:rPr>
              <a:t>8.	</a:t>
            </a:r>
            <a:r>
              <a:rPr sz="1400" b="0" i="0">
                <a:solidFill>
                  <a:srgbClr val="1C252B"/>
                </a:solidFill>
                <a:latin typeface="Segoe UI"/>
              </a:rPr>
              <a:t>Knapsack: DP against brute force</a:t>
            </a:r>
          </a:p>
          <a:p>
            <a:pPr algn="l" marL="367434" indent="-367434">
              <a:lnSpc>
                <a:spcPct val="100000"/>
              </a:lnSpc>
              <a:spcBef>
                <a:spcPts val="0"/>
              </a:spcBef>
              <a:spcAft>
                <a:spcPts val="0"/>
              </a:spcAft>
            </a:pPr>
            <a:r>
              <a:rPr sz="1400" b="1">
                <a:solidFill>
                  <a:srgbClr val="117A65"/>
                </a:solidFill>
                <a:latin typeface="Segoe UI"/>
              </a:rPr>
              <a:t>9.	</a:t>
            </a:r>
            <a:r>
              <a:rPr sz="1400" b="0" i="0">
                <a:solidFill>
                  <a:srgbClr val="1C252B"/>
                </a:solidFill>
                <a:latin typeface="Segoe UI"/>
              </a:rPr>
              <a:t>The surprise: doubling W doubles the time</a:t>
            </a:r>
          </a:p>
        </p:txBody>
      </p:sp>
      <p:sp>
        <p:nvSpPr>
          <p:cNvPr id="49" name="!!lfTHIS">
            <a:extLst>
              <a:ext uri="{C183D7F6-B498-43B3-948B-1728B52AA6E4}">
                <adec:decorative xmlns:adec="http://schemas.microsoft.com/office/drawing/2017/decorative" val="1"/>
              </a:ext>
            </a:extLst>
          </p:cNvPr>
          <p:cNvSpPr/>
          <p:nvPr/>
        </p:nvSpPr>
        <p:spPr>
          <a:xfrm>
            <a:off x="658368" y="5230368"/>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lfbTHIS">
            <a:extLst>
              <a:ext uri="{C183D7F6-B498-43B3-948B-1728B52AA6E4}">
                <adec:decorative xmlns:adec="http://schemas.microsoft.com/office/drawing/2017/decorative" val="1"/>
              </a:ext>
            </a:extLst>
          </p:cNvPr>
          <p:cNvSpPr/>
          <p:nvPr/>
        </p:nvSpPr>
        <p:spPr>
          <a:xfrm>
            <a:off x="658368"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lflTHIS"/>
          <p:cNvSpPr txBox="1"/>
          <p:nvPr/>
        </p:nvSpPr>
        <p:spPr>
          <a:xfrm>
            <a:off x="932688" y="5394960"/>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52" name="!!lfvTHIS"/>
          <p:cNvSpPr txBox="1"/>
          <p:nvPr/>
        </p:nvSpPr>
        <p:spPr>
          <a:xfrm>
            <a:off x="932688" y="5687568"/>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700" b="0" i="0">
                <a:solidFill>
                  <a:srgbClr val="1C252B"/>
                </a:solidFill>
                <a:latin typeface="Segoe UI"/>
              </a:rPr>
              <a:t>Week 11: Memoised against bottom-up, timed and counted</a:t>
            </a:r>
          </a:p>
        </p:txBody>
      </p:sp>
      <p:sp>
        <p:nvSpPr>
          <p:cNvPr id="53" name="!!lfWHAT">
            <a:extLst>
              <a:ext uri="{C183D7F6-B498-43B3-948B-1728B52AA6E4}">
                <adec:decorative xmlns:adec="http://schemas.microsoft.com/office/drawing/2017/decorative" val="1"/>
              </a:ext>
            </a:extLst>
          </p:cNvPr>
          <p:cNvSpPr/>
          <p:nvPr/>
        </p:nvSpPr>
        <p:spPr>
          <a:xfrm>
            <a:off x="4374794" y="5230368"/>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lfbWHAT">
            <a:extLst>
              <a:ext uri="{C183D7F6-B498-43B3-948B-1728B52AA6E4}">
                <adec:decorative xmlns:adec="http://schemas.microsoft.com/office/drawing/2017/decorative" val="1"/>
              </a:ext>
            </a:extLst>
          </p:cNvPr>
          <p:cNvSpPr/>
          <p:nvPr/>
        </p:nvSpPr>
        <p:spPr>
          <a:xfrm>
            <a:off x="4374794"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5" name="!!lflWHAT"/>
          <p:cNvSpPr txBox="1"/>
          <p:nvPr/>
        </p:nvSpPr>
        <p:spPr>
          <a:xfrm>
            <a:off x="4649114" y="5394960"/>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56" name="!!lfvWHAT"/>
          <p:cNvSpPr txBox="1"/>
          <p:nvPr/>
        </p:nvSpPr>
        <p:spPr>
          <a:xfrm>
            <a:off x="4649114" y="5687568"/>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46 lines of C++</a:t>
            </a:r>
          </a:p>
        </p:txBody>
      </p:sp>
      <p:sp>
        <p:nvSpPr>
          <p:cNvPr id="57" name="!!lfRUNN">
            <a:extLst>
              <a:ext uri="{C183D7F6-B498-43B3-948B-1728B52AA6E4}">
                <adec:decorative xmlns:adec="http://schemas.microsoft.com/office/drawing/2017/decorative" val="1"/>
              </a:ext>
            </a:extLst>
          </p:cNvPr>
          <p:cNvSpPr/>
          <p:nvPr/>
        </p:nvSpPr>
        <p:spPr>
          <a:xfrm>
            <a:off x="8091220" y="5230368"/>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lfbRUNN">
            <a:extLst>
              <a:ext uri="{C183D7F6-B498-43B3-948B-1728B52AA6E4}">
                <adec:decorative xmlns:adec="http://schemas.microsoft.com/office/drawing/2017/decorative" val="1"/>
              </a:ext>
            </a:extLst>
          </p:cNvPr>
          <p:cNvSpPr/>
          <p:nvPr/>
        </p:nvSpPr>
        <p:spPr>
          <a:xfrm>
            <a:off x="8091220"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lflRUNN"/>
          <p:cNvSpPr txBox="1"/>
          <p:nvPr/>
        </p:nvSpPr>
        <p:spPr>
          <a:xfrm>
            <a:off x="8365540" y="5394960"/>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60" name="!!lfvRUNN"/>
          <p:cNvSpPr txBox="1"/>
          <p:nvPr/>
        </p:nvSpPr>
        <p:spPr>
          <a:xfrm>
            <a:off x="8365540" y="5687568"/>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code/ch16_dp2.cpp</a:t>
            </a:r>
          </a:p>
        </p:txBody>
      </p:sp>
      <p:sp>
        <p:nvSpPr>
          <p:cNvPr id="6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pfill">
            <a:extLst>
              <a:ext uri="{C183D7F6-B498-43B3-948B-1728B52AA6E4}">
                <adec:decorative xmlns:adec="http://schemas.microsoft.com/office/drawing/2017/decorative" val="1"/>
              </a:ext>
            </a:extLst>
          </p:cNvPr>
          <p:cNvSpPr/>
          <p:nvPr/>
        </p:nvSpPr>
        <p:spPr>
          <a:xfrm>
            <a:off x="0" y="0"/>
            <a:ext cx="682734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00"/>
                                        <p:tgtEl>
                                          <p:spTgt spid="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xEl>
                                              <p:pRg st="6" end="6"/>
                                            </p:txEl>
                                          </p:spTgt>
                                        </p:tgtEl>
                                        <p:attrNameLst>
                                          <p:attrName>style.visibility</p:attrName>
                                        </p:attrNameLst>
                                      </p:cBhvr>
                                      <p:to>
                                        <p:strVal val="visible"/>
                                      </p:to>
                                    </p:set>
                                    <p:animEffect transition="in" filter="fade">
                                      <p:cBhvr>
                                        <p:cTn id="38" dur="300"/>
                                        <p:tgtEl>
                                          <p:spTgt spid="9">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9">
                                            <p:txEl>
                                              <p:pRg st="7" end="7"/>
                                            </p:txEl>
                                          </p:spTgt>
                                        </p:tgtEl>
                                        <p:attrNameLst>
                                          <p:attrName>style.visibility</p:attrName>
                                        </p:attrNameLst>
                                      </p:cBhvr>
                                      <p:to>
                                        <p:strVal val="visible"/>
                                      </p:to>
                                    </p:set>
                                    <p:animEffect transition="in" filter="fade">
                                      <p:cBhvr>
                                        <p:cTn id="43" dur="300"/>
                                        <p:tgtEl>
                                          <p:spTgt spid="9">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9">
                                            <p:txEl>
                                              <p:pRg st="8" end="8"/>
                                            </p:txEl>
                                          </p:spTgt>
                                        </p:tgtEl>
                                        <p:attrNameLst>
                                          <p:attrName>style.visibility</p:attrName>
                                        </p:attrNameLst>
                                      </p:cBhvr>
                                      <p:to>
                                        <p:strVal val="visible"/>
                                      </p:to>
                                    </p:set>
                                    <p:animEffect transition="in" filter="fade">
                                      <p:cBhvr>
                                        <p:cTn id="48" dur="300"/>
                                        <p:tgtEl>
                                          <p:spTgt spid="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Classics and One Surprise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132     </a:t>
            </a:r>
            <a:fld id="{84C8A05E-7D75-433C-A1EB-46059E8E22CE}"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LCS: the full table, so the subsequence can be recovered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798063"/>
          </a:xfrm>
          <a:prstGeom prst="roundRect">
            <a:avLst>
              <a:gd name="adj" fmla="val 32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code/ch16_dp2.cpp</a:t>
            </a:r>
          </a:p>
        </p:txBody>
      </p:sp>
      <p:sp>
        <p:nvSpPr>
          <p:cNvPr id="14" name="!!code-text" descr="// ch16_dp2.cpp -- the classic dynamic programs, and one nasty surprise. // Build: cl /O2 /EHsc /std:c++17 ch16_dp2.cpp (see Appendix A) // --- 1. LCS: the full table, so the subsequence can be recovered --- for (size_t i = 1; i &lt;= m; ++i) for (size_t j = 1; j &lt;= n; ++j) c[i][j] = (a[i-1] == b[j-1]) ? c[i-1][j-1] + 1 : std::max(c[i-1][j], c[i][j-1]);"/>
          <p:cNvSpPr txBox="1"/>
          <p:nvPr/>
        </p:nvSpPr>
        <p:spPr>
          <a:xfrm>
            <a:off x="1362456" y="2523744"/>
            <a:ext cx="9987991" cy="230428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ch16_dp2.cpp -- the classic dynamic programs, and one nasty surprise.</a:t>
            </a:r>
          </a:p>
          <a:p>
            <a:pPr>
              <a:lnSpc>
                <a:spcPct val="100000"/>
              </a:lnSpc>
              <a:spcAft>
                <a:spcPts val="0"/>
              </a:spcAft>
            </a:pPr>
            <a:r>
              <a:rPr sz="1800" i="1">
                <a:solidFill>
                  <a:srgbClr val="8795A1"/>
                </a:solidFill>
                <a:latin typeface="Consolas"/>
              </a:rPr>
              <a:t>// Build: cl /O2 /EHsc /std:c++17 ch16_dp2.cpp        (see Appendix A)</a:t>
            </a:r>
          </a:p>
          <a:p>
            <a:pPr>
              <a:lnSpc>
                <a:spcPct val="100000"/>
              </a:lnSpc>
              <a:spcAft>
                <a:spcPts val="0"/>
              </a:spcAft>
            </a:pPr>
            <a:r>
              <a:rPr sz="1800">
                <a:latin typeface="Consolas"/>
              </a:rPr>
              <a:t> </a:t>
            </a:r>
          </a:p>
          <a:p>
            <a:pPr>
              <a:lnSpc>
                <a:spcPct val="100000"/>
              </a:lnSpc>
              <a:spcAft>
                <a:spcPts val="0"/>
              </a:spcAft>
            </a:pPr>
            <a:r>
              <a:rPr sz="1800" i="1">
                <a:solidFill>
                  <a:srgbClr val="8795A1"/>
                </a:solidFill>
                <a:latin typeface="Consolas"/>
              </a:rPr>
              <a:t>// --- 1. LCS: the full table, so the subsequence can be recovered ---</a:t>
            </a:r>
          </a:p>
          <a:p>
            <a:pPr>
              <a:lnSpc>
                <a:spcPct val="100000"/>
              </a:lnSpc>
              <a:spcAft>
                <a:spcPts val="0"/>
              </a:spcAft>
            </a:pP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AEB6BF"/>
                </a:solidFill>
                <a:latin typeface="Consolas"/>
              </a:rPr>
              <a:t>(</a:t>
            </a:r>
            <a:r>
              <a:rPr sz="1800" i="0">
                <a:solidFill>
                  <a:srgbClr val="5DADE2"/>
                </a:solidFill>
                <a:latin typeface="Consolas"/>
              </a:rPr>
              <a:t>size_t</a:t>
            </a:r>
            <a:r>
              <a:rPr sz="1800" i="0">
                <a:solidFill>
                  <a:srgbClr val="E8EDF2"/>
                </a:solidFill>
                <a:latin typeface="Consolas"/>
              </a:rPr>
              <a:t> </a:t>
            </a:r>
            <a:r>
              <a:rPr sz="1800" i="0">
                <a:solidFill>
                  <a:srgbClr val="E8EDF2"/>
                </a:solidFill>
                <a:latin typeface="Consolas"/>
              </a:rPr>
              <a:t>i</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i</a:t>
            </a:r>
            <a:r>
              <a:rPr sz="1800" i="0">
                <a:solidFill>
                  <a:srgbClr val="E8EDF2"/>
                </a:solidFill>
                <a:latin typeface="Consolas"/>
              </a:rPr>
              <a:t> </a:t>
            </a:r>
            <a:r>
              <a:rPr sz="1800" i="0">
                <a:solidFill>
                  <a:srgbClr val="AEB6BF"/>
                </a:solidFill>
                <a:latin typeface="Consolas"/>
              </a:rPr>
              <a:t>&lt;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i</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AEB6BF"/>
                </a:solidFill>
                <a:latin typeface="Consolas"/>
              </a:rPr>
              <a:t>(</a:t>
            </a:r>
            <a:r>
              <a:rPr sz="1800" i="0">
                <a:solidFill>
                  <a:srgbClr val="5DADE2"/>
                </a:solidFill>
                <a:latin typeface="Consolas"/>
              </a:rPr>
              <a:t>size_t</a:t>
            </a:r>
            <a:r>
              <a:rPr sz="1800" i="0">
                <a:solidFill>
                  <a:srgbClr val="E8EDF2"/>
                </a:solidFill>
                <a:latin typeface="Consolas"/>
              </a:rPr>
              <a:t> </a:t>
            </a:r>
            <a:r>
              <a:rPr sz="1800" i="0">
                <a:solidFill>
                  <a:srgbClr val="E8EDF2"/>
                </a:solidFill>
                <a:latin typeface="Consolas"/>
              </a:rPr>
              <a:t>j</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j</a:t>
            </a:r>
            <a:r>
              <a:rPr sz="1800" i="0">
                <a:solidFill>
                  <a:srgbClr val="E8EDF2"/>
                </a:solidFill>
                <a:latin typeface="Consolas"/>
              </a:rPr>
              <a:t> </a:t>
            </a:r>
            <a:r>
              <a:rPr sz="1800" i="0">
                <a:solidFill>
                  <a:srgbClr val="AEB6BF"/>
                </a:solidFill>
                <a:latin typeface="Consolas"/>
              </a:rPr>
              <a:t>&lt;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j</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c</a:t>
            </a:r>
            <a:r>
              <a:rPr sz="1800" i="0">
                <a:solidFill>
                  <a:srgbClr val="AEB6BF"/>
                </a:solidFill>
                <a:latin typeface="Consolas"/>
              </a:rPr>
              <a:t>[</a:t>
            </a:r>
            <a:r>
              <a:rPr sz="1800" i="0">
                <a:solidFill>
                  <a:srgbClr val="E8EDF2"/>
                </a:solidFill>
                <a:latin typeface="Consolas"/>
              </a:rPr>
              <a:t>i</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j</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a</a:t>
            </a:r>
            <a:r>
              <a:rPr sz="1800" i="0">
                <a:solidFill>
                  <a:srgbClr val="AEB6BF"/>
                </a:solidFill>
                <a:latin typeface="Consolas"/>
              </a:rPr>
              <a:t>[</a:t>
            </a:r>
            <a:r>
              <a:rPr sz="1800" i="0">
                <a:solidFill>
                  <a:srgbClr val="E8EDF2"/>
                </a:solidFill>
                <a:latin typeface="Consolas"/>
              </a:rPr>
              <a:t>i</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a:t>
            </a:r>
            <a:r>
              <a:rPr sz="1800" i="0">
                <a:solidFill>
                  <a:srgbClr val="AEB6BF"/>
                </a:solidFill>
                <a:latin typeface="Consolas"/>
              </a:rPr>
              <a:t>[</a:t>
            </a:r>
            <a:r>
              <a:rPr sz="1800" i="0">
                <a:solidFill>
                  <a:srgbClr val="E8EDF2"/>
                </a:solidFill>
                <a:latin typeface="Consolas"/>
              </a:rPr>
              <a:t>j</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a:t>
            </a:r>
            <a:r>
              <a:rPr sz="1800" i="0">
                <a:solidFill>
                  <a:srgbClr val="AEB6BF"/>
                </a:solidFill>
                <a:latin typeface="Consolas"/>
              </a:rPr>
              <a:t>[</a:t>
            </a:r>
            <a:r>
              <a:rPr sz="1800" i="0">
                <a:solidFill>
                  <a:srgbClr val="E8EDF2"/>
                </a:solidFill>
                <a:latin typeface="Consolas"/>
              </a:rPr>
              <a:t>i</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j</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p>
          <a:p>
            <a:pPr>
              <a:lnSpc>
                <a:spcPct val="100000"/>
              </a:lnSpc>
              <a:spcAft>
                <a:spcPts val="0"/>
              </a:spcAft>
            </a:pP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std</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max</a:t>
            </a:r>
            <a:r>
              <a:rPr sz="1800" i="0">
                <a:solidFill>
                  <a:srgbClr val="AEB6BF"/>
                </a:solidFill>
                <a:latin typeface="Consolas"/>
              </a:rPr>
              <a:t>(</a:t>
            </a:r>
            <a:r>
              <a:rPr sz="1800" i="0">
                <a:solidFill>
                  <a:srgbClr val="E8EDF2"/>
                </a:solidFill>
                <a:latin typeface="Consolas"/>
              </a:rPr>
              <a:t>c</a:t>
            </a:r>
            <a:r>
              <a:rPr sz="1800" i="0">
                <a:solidFill>
                  <a:srgbClr val="AEB6BF"/>
                </a:solidFill>
                <a:latin typeface="Consolas"/>
              </a:rPr>
              <a:t>[</a:t>
            </a:r>
            <a:r>
              <a:rPr sz="1800" i="0">
                <a:solidFill>
                  <a:srgbClr val="E8EDF2"/>
                </a:solidFill>
                <a:latin typeface="Consolas"/>
              </a:rPr>
              <a:t>i</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j</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a:t>
            </a:r>
            <a:r>
              <a:rPr sz="1800" i="0">
                <a:solidFill>
                  <a:srgbClr val="AEB6BF"/>
                </a:solidFill>
                <a:latin typeface="Consolas"/>
              </a:rPr>
              <a:t>[</a:t>
            </a:r>
            <a:r>
              <a:rPr sz="1800" i="0">
                <a:solidFill>
                  <a:srgbClr val="E8EDF2"/>
                </a:solidFill>
                <a:latin typeface="Consolas"/>
              </a:rPr>
              <a:t>i</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j</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p:txBody>
      </p:sp>
      <p:sp>
        <p:nvSpPr>
          <p:cNvPr id="15" name="!!code-num"/>
          <p:cNvSpPr txBox="1"/>
          <p:nvPr/>
        </p:nvSpPr>
        <p:spPr>
          <a:xfrm>
            <a:off x="768096" y="2523744"/>
            <a:ext cx="393192" cy="230428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a:t>
            </a:r>
          </a:p>
          <a:p>
            <a:pPr algn="r">
              <a:lnSpc>
                <a:spcPct val="100000"/>
              </a:lnSpc>
            </a:pPr>
            <a:r>
              <a:rPr sz="1800">
                <a:solidFill>
                  <a:srgbClr val="4F5D6A"/>
                </a:solidFill>
                <a:latin typeface="Consolas"/>
              </a:rPr>
              <a:t>2</a:t>
            </a:r>
          </a:p>
          <a:p>
            <a:pPr algn="r">
              <a:lnSpc>
                <a:spcPct val="100000"/>
              </a:lnSpc>
            </a:pPr>
            <a:r>
              <a:rPr sz="1800">
                <a:solidFill>
                  <a:srgbClr val="4F5D6A"/>
                </a:solidFill>
                <a:latin typeface="Consolas"/>
              </a:rPr>
              <a:t>3</a:t>
            </a:r>
          </a:p>
          <a:p>
            <a:pPr algn="r">
              <a:lnSpc>
                <a:spcPct val="100000"/>
              </a:lnSpc>
            </a:pPr>
            <a:r>
              <a:rPr sz="1800">
                <a:solidFill>
                  <a:srgbClr val="4F5D6A"/>
                </a:solidFill>
                <a:latin typeface="Consolas"/>
              </a:rPr>
              <a:t>4</a:t>
            </a:r>
          </a:p>
          <a:p>
            <a:pPr algn="r">
              <a:lnSpc>
                <a:spcPct val="100000"/>
              </a:lnSpc>
            </a:pPr>
            <a:r>
              <a:rPr sz="1800">
                <a:solidFill>
                  <a:srgbClr val="4F5D6A"/>
                </a:solidFill>
                <a:latin typeface="Consolas"/>
              </a:rPr>
              <a:t>5</a:t>
            </a:r>
          </a:p>
          <a:p>
            <a:pPr algn="r">
              <a:lnSpc>
                <a:spcPct val="100000"/>
              </a:lnSpc>
            </a:pPr>
            <a:r>
              <a:rPr sz="1800">
                <a:solidFill>
                  <a:srgbClr val="4F5D6A"/>
                </a:solidFill>
                <a:latin typeface="Consolas"/>
              </a:rPr>
              <a:t>6</a:t>
            </a:r>
          </a:p>
          <a:p>
            <a:pPr algn="r">
              <a:lnSpc>
                <a:spcPct val="100000"/>
              </a:lnSpc>
            </a:pPr>
            <a:r>
              <a:rPr sz="1800">
                <a:solidFill>
                  <a:srgbClr val="4F5D6A"/>
                </a:solidFill>
                <a:latin typeface="Consolas"/>
              </a:rPr>
              <a:t>7</a:t>
            </a:r>
          </a:p>
          <a:p>
            <a:pPr algn="r">
              <a:lnSpc>
                <a:spcPct val="100000"/>
              </a:lnSpc>
            </a:pPr>
            <a:r>
              <a:rPr sz="1800">
                <a:solidFill>
                  <a:srgbClr val="4F5D6A"/>
                </a:solidFill>
                <a:latin typeface="Consolas"/>
              </a:rPr>
              <a:t>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07118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Classics and One Surprise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132     </a:t>
            </a:r>
            <a:fld id="{0C286FE2-3F69-42F3-A930-848C2270685B}"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LCS in two rows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code/ch16_dp2.cpp</a:t>
            </a:r>
          </a:p>
        </p:txBody>
      </p:sp>
      <p:sp>
        <p:nvSpPr>
          <p:cNvPr id="14" name="!!code-text" descr="// --- 2. LCS in two rows -------------------------------------------- // Row i depends only on row i-1, so only two rows need to exist. The // LENGTH survives; the subsequence does not, because reconstructing // it needs the whole table. That is the trade, and it is typical."/>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--- 2. LCS in two rows --------------------------------------------</a:t>
            </a:r>
          </a:p>
          <a:p>
            <a:pPr>
              <a:lnSpc>
                <a:spcPct val="100000"/>
              </a:lnSpc>
              <a:spcAft>
                <a:spcPts val="0"/>
              </a:spcAft>
            </a:pPr>
            <a:r>
              <a:rPr sz="1900" i="1">
                <a:solidFill>
                  <a:srgbClr val="8795A1"/>
                </a:solidFill>
                <a:latin typeface="Consolas"/>
              </a:rPr>
              <a:t>// Row i depends only on row i-1, so only two rows need to exist. The</a:t>
            </a:r>
          </a:p>
          <a:p>
            <a:pPr>
              <a:lnSpc>
                <a:spcPct val="100000"/>
              </a:lnSpc>
              <a:spcAft>
                <a:spcPts val="0"/>
              </a:spcAft>
            </a:pPr>
            <a:r>
              <a:rPr sz="1900" i="1">
                <a:solidFill>
                  <a:srgbClr val="8795A1"/>
                </a:solidFill>
                <a:latin typeface="Consolas"/>
              </a:rPr>
              <a:t>// LENGTH survives; the subsequence does not, because reconstructing</a:t>
            </a:r>
          </a:p>
          <a:p>
            <a:pPr>
              <a:lnSpc>
                <a:spcPct val="100000"/>
              </a:lnSpc>
              <a:spcAft>
                <a:spcPts val="0"/>
              </a:spcAft>
            </a:pPr>
            <a:r>
              <a:rPr sz="1900" i="1">
                <a:solidFill>
                  <a:srgbClr val="8795A1"/>
                </a:solidFill>
                <a:latin typeface="Consolas"/>
              </a:rPr>
              <a:t>// it needs the whole table. That is the trade, and it is typical.</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10</a:t>
            </a:r>
          </a:p>
          <a:p>
            <a:pPr algn="r">
              <a:lnSpc>
                <a:spcPct val="100000"/>
              </a:lnSpc>
            </a:pPr>
            <a:r>
              <a:rPr sz="1900">
                <a:solidFill>
                  <a:srgbClr val="4F5D6A"/>
                </a:solidFill>
                <a:latin typeface="Consolas"/>
              </a:rPr>
              <a:t>11</a:t>
            </a:r>
          </a:p>
          <a:p>
            <a:pPr algn="r">
              <a:lnSpc>
                <a:spcPct val="100000"/>
              </a:lnSpc>
            </a:pPr>
            <a:r>
              <a:rPr sz="1900">
                <a:solidFill>
                  <a:srgbClr val="4F5D6A"/>
                </a:solidFill>
                <a:latin typeface="Consolas"/>
              </a:rPr>
              <a:t>12</a:t>
            </a:r>
          </a:p>
          <a:p>
            <a:pPr algn="r">
              <a:lnSpc>
                <a:spcPct val="100000"/>
              </a:lnSpc>
            </a:pPr>
            <a:r>
              <a:rPr sz="1900">
                <a:solidFill>
                  <a:srgbClr val="4F5D6A"/>
                </a:solidFill>
                <a:latin typeface="Consolas"/>
              </a:rPr>
              <a:t>13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31501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Classics and One Surprise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132     </a:t>
            </a:r>
            <a:fld id="{FF34BEFA-FB4A-4089-8551-FDEA44596F02}"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Edit distance: the same shape, three choices per cell</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340863"/>
          </a:xfrm>
          <a:prstGeom prst="roundRect">
            <a:avLst>
              <a:gd name="adj" fmla="val 390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code/ch16_dp2.cpp</a:t>
            </a:r>
          </a:p>
        </p:txBody>
      </p:sp>
      <p:sp>
        <p:nvSpPr>
          <p:cNvPr id="14" name="!!code-text" descr="// --- 3. Edit distance: the same shape, three choices per cell ------ // Insert, delete or substitute. The recurrence differs from LCS only // in what the three predecessors cost. cur[j] = std::min({prev[j] + 1, // delete cur[j - 1] + 1, // insert prev[j-1] + (a[i-1] != b[j-1])});"/>
          <p:cNvSpPr txBox="1"/>
          <p:nvPr/>
        </p:nvSpPr>
        <p:spPr>
          <a:xfrm>
            <a:off x="1362456" y="2523744"/>
            <a:ext cx="9987991" cy="18470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--- 3. Edit distance: the same shape, three choices per cell ------</a:t>
            </a:r>
          </a:p>
          <a:p>
            <a:pPr>
              <a:lnSpc>
                <a:spcPct val="100000"/>
              </a:lnSpc>
              <a:spcAft>
                <a:spcPts val="0"/>
              </a:spcAft>
            </a:pPr>
            <a:r>
              <a:rPr sz="1900" i="1">
                <a:solidFill>
                  <a:srgbClr val="8795A1"/>
                </a:solidFill>
                <a:latin typeface="Consolas"/>
              </a:rPr>
              <a:t>// Insert, delete or substitute. The recurrence differs from LCS only</a:t>
            </a:r>
          </a:p>
          <a:p>
            <a:pPr>
              <a:lnSpc>
                <a:spcPct val="100000"/>
              </a:lnSpc>
              <a:spcAft>
                <a:spcPts val="0"/>
              </a:spcAft>
            </a:pPr>
            <a:r>
              <a:rPr sz="1900" i="1">
                <a:solidFill>
                  <a:srgbClr val="8795A1"/>
                </a:solidFill>
                <a:latin typeface="Consolas"/>
              </a:rPr>
              <a:t>// in what the three predecessors cost.</a:t>
            </a:r>
          </a:p>
          <a:p>
            <a:pPr>
              <a:lnSpc>
                <a:spcPct val="100000"/>
              </a:lnSpc>
              <a:spcAft>
                <a:spcPts val="0"/>
              </a:spcAft>
            </a:pPr>
            <a:r>
              <a:rPr sz="1900" i="0">
                <a:solidFill>
                  <a:srgbClr val="E8EDF2"/>
                </a:solidFill>
                <a:latin typeface="Consolas"/>
              </a:rPr>
              <a:t>            </a:t>
            </a:r>
            <a:r>
              <a:rPr sz="1900" i="0">
                <a:solidFill>
                  <a:srgbClr val="E8EDF2"/>
                </a:solidFill>
                <a:latin typeface="Consolas"/>
              </a:rPr>
              <a:t>cur</a:t>
            </a:r>
            <a:r>
              <a:rPr sz="1900" i="0">
                <a:solidFill>
                  <a:srgbClr val="AEB6BF"/>
                </a:solidFill>
                <a:latin typeface="Consolas"/>
              </a:rPr>
              <a:t>[</a:t>
            </a:r>
            <a:r>
              <a:rPr sz="1900" i="0">
                <a:solidFill>
                  <a:srgbClr val="E8EDF2"/>
                </a:solidFill>
                <a:latin typeface="Consolas"/>
              </a:rPr>
              <a:t>j</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std</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min</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prev</a:t>
            </a:r>
            <a:r>
              <a:rPr sz="1900" i="0">
                <a:solidFill>
                  <a:srgbClr val="AEB6BF"/>
                </a:solidFill>
                <a:latin typeface="Consolas"/>
              </a:rPr>
              <a:t>[</a:t>
            </a:r>
            <a:r>
              <a:rPr sz="1900" i="0">
                <a:solidFill>
                  <a:srgbClr val="E8EDF2"/>
                </a:solidFill>
                <a:latin typeface="Consolas"/>
              </a:rPr>
              <a:t>j</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1</a:t>
            </a:r>
            <a:r>
              <a:rPr sz="1900" i="0">
                <a:solidFill>
                  <a:srgbClr val="AEB6BF"/>
                </a:solidFill>
                <a:latin typeface="Consolas"/>
              </a:rPr>
              <a:t>,</a:t>
            </a:r>
            <a:r>
              <a:rPr sz="1900" i="0">
                <a:solidFill>
                  <a:srgbClr val="E8EDF2"/>
                </a:solidFill>
                <a:latin typeface="Consolas"/>
              </a:rPr>
              <a:t>            </a:t>
            </a:r>
            <a:r>
              <a:rPr sz="1900" i="1">
                <a:solidFill>
                  <a:srgbClr val="8795A1"/>
                </a:solidFill>
                <a:latin typeface="Consolas"/>
              </a:rPr>
              <a:t>// delete</a:t>
            </a:r>
          </a:p>
          <a:p>
            <a:pPr>
              <a:lnSpc>
                <a:spcPct val="100000"/>
              </a:lnSpc>
              <a:spcAft>
                <a:spcPts val="0"/>
              </a:spcAft>
            </a:pPr>
            <a:r>
              <a:rPr sz="1900" i="0">
                <a:solidFill>
                  <a:srgbClr val="E8EDF2"/>
                </a:solidFill>
                <a:latin typeface="Consolas"/>
              </a:rPr>
              <a:t>                               </a:t>
            </a:r>
            <a:r>
              <a:rPr sz="1900" i="0">
                <a:solidFill>
                  <a:srgbClr val="E8EDF2"/>
                </a:solidFill>
                <a:latin typeface="Consolas"/>
              </a:rPr>
              <a:t>cur</a:t>
            </a:r>
            <a:r>
              <a:rPr sz="1900" i="0">
                <a:solidFill>
                  <a:srgbClr val="AEB6BF"/>
                </a:solidFill>
                <a:latin typeface="Consolas"/>
              </a:rPr>
              <a:t>[</a:t>
            </a:r>
            <a:r>
              <a:rPr sz="1900" i="0">
                <a:solidFill>
                  <a:srgbClr val="E8EDF2"/>
                </a:solidFill>
                <a:latin typeface="Consolas"/>
              </a:rPr>
              <a:t>j</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1</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1</a:t>
            </a:r>
            <a:r>
              <a:rPr sz="1900" i="0">
                <a:solidFill>
                  <a:srgbClr val="AEB6BF"/>
                </a:solidFill>
                <a:latin typeface="Consolas"/>
              </a:rPr>
              <a:t>,</a:t>
            </a:r>
            <a:r>
              <a:rPr sz="1900" i="0">
                <a:solidFill>
                  <a:srgbClr val="E8EDF2"/>
                </a:solidFill>
                <a:latin typeface="Consolas"/>
              </a:rPr>
              <a:t>         </a:t>
            </a:r>
            <a:r>
              <a:rPr sz="1900" i="1">
                <a:solidFill>
                  <a:srgbClr val="8795A1"/>
                </a:solidFill>
                <a:latin typeface="Consolas"/>
              </a:rPr>
              <a:t>// insert</a:t>
            </a:r>
          </a:p>
          <a:p>
            <a:pPr>
              <a:lnSpc>
                <a:spcPct val="100000"/>
              </a:lnSpc>
              <a:spcAft>
                <a:spcPts val="0"/>
              </a:spcAft>
            </a:pPr>
            <a:r>
              <a:rPr sz="1900" i="0">
                <a:solidFill>
                  <a:srgbClr val="E8EDF2"/>
                </a:solidFill>
                <a:latin typeface="Consolas"/>
              </a:rPr>
              <a:t>                               </a:t>
            </a:r>
            <a:r>
              <a:rPr sz="1900" i="0">
                <a:solidFill>
                  <a:srgbClr val="E8EDF2"/>
                </a:solidFill>
                <a:latin typeface="Consolas"/>
              </a:rPr>
              <a:t>prev</a:t>
            </a:r>
            <a:r>
              <a:rPr sz="1900" i="0">
                <a:solidFill>
                  <a:srgbClr val="AEB6BF"/>
                </a:solidFill>
                <a:latin typeface="Consolas"/>
              </a:rPr>
              <a:t>[</a:t>
            </a:r>
            <a:r>
              <a:rPr sz="1900" i="0">
                <a:solidFill>
                  <a:srgbClr val="E8EDF2"/>
                </a:solidFill>
                <a:latin typeface="Consolas"/>
              </a:rPr>
              <a:t>j</a:t>
            </a:r>
            <a:r>
              <a:rPr sz="1900" i="0">
                <a:solidFill>
                  <a:srgbClr val="F7DC6F"/>
                </a:solidFill>
                <a:latin typeface="Consolas"/>
              </a:rPr>
              <a:t>-1</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a</a:t>
            </a:r>
            <a:r>
              <a:rPr sz="1900" i="0">
                <a:solidFill>
                  <a:srgbClr val="AEB6BF"/>
                </a:solidFill>
                <a:latin typeface="Consolas"/>
              </a:rPr>
              <a:t>[</a:t>
            </a:r>
            <a:r>
              <a:rPr sz="1900" i="0">
                <a:solidFill>
                  <a:srgbClr val="E8EDF2"/>
                </a:solidFill>
                <a:latin typeface="Consolas"/>
              </a:rPr>
              <a:t>i</a:t>
            </a:r>
            <a:r>
              <a:rPr sz="1900" i="0">
                <a:solidFill>
                  <a:srgbClr val="F7DC6F"/>
                </a:solidFill>
                <a:latin typeface="Consolas"/>
              </a:rPr>
              <a:t>-1</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b</a:t>
            </a:r>
            <a:r>
              <a:rPr sz="1900" i="0">
                <a:solidFill>
                  <a:srgbClr val="AEB6BF"/>
                </a:solidFill>
                <a:latin typeface="Consolas"/>
              </a:rPr>
              <a:t>[</a:t>
            </a:r>
            <a:r>
              <a:rPr sz="1900" i="0">
                <a:solidFill>
                  <a:srgbClr val="E8EDF2"/>
                </a:solidFill>
                <a:latin typeface="Consolas"/>
              </a:rPr>
              <a:t>j</a:t>
            </a:r>
            <a:r>
              <a:rPr sz="1900" i="0">
                <a:solidFill>
                  <a:srgbClr val="F7DC6F"/>
                </a:solidFill>
                <a:latin typeface="Consolas"/>
              </a:rPr>
              <a:t>-1</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p>
        </p:txBody>
      </p:sp>
      <p:sp>
        <p:nvSpPr>
          <p:cNvPr id="15" name="!!code-num"/>
          <p:cNvSpPr txBox="1"/>
          <p:nvPr/>
        </p:nvSpPr>
        <p:spPr>
          <a:xfrm>
            <a:off x="768096" y="2523744"/>
            <a:ext cx="393192" cy="18470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15</a:t>
            </a:r>
          </a:p>
          <a:p>
            <a:pPr algn="r">
              <a:lnSpc>
                <a:spcPct val="100000"/>
              </a:lnSpc>
            </a:pPr>
            <a:r>
              <a:rPr sz="1900">
                <a:solidFill>
                  <a:srgbClr val="4F5D6A"/>
                </a:solidFill>
                <a:latin typeface="Consolas"/>
              </a:rPr>
              <a:t>16</a:t>
            </a:r>
          </a:p>
          <a:p>
            <a:pPr algn="r">
              <a:lnSpc>
                <a:spcPct val="100000"/>
              </a:lnSpc>
            </a:pPr>
            <a:r>
              <a:rPr sz="1900">
                <a:solidFill>
                  <a:srgbClr val="4F5D6A"/>
                </a:solidFill>
                <a:latin typeface="Consolas"/>
              </a:rPr>
              <a:t>17</a:t>
            </a:r>
          </a:p>
          <a:p>
            <a:pPr algn="r">
              <a:lnSpc>
                <a:spcPct val="100000"/>
              </a:lnSpc>
            </a:pPr>
            <a:r>
              <a:rPr sz="1900">
                <a:solidFill>
                  <a:srgbClr val="4F5D6A"/>
                </a:solidFill>
                <a:latin typeface="Consolas"/>
              </a:rPr>
              <a:t>18</a:t>
            </a:r>
          </a:p>
          <a:p>
            <a:pPr algn="r">
              <a:lnSpc>
                <a:spcPct val="100000"/>
              </a:lnSpc>
            </a:pPr>
            <a:r>
              <a:rPr sz="1900">
                <a:solidFill>
                  <a:srgbClr val="4F5D6A"/>
                </a:solidFill>
                <a:latin typeface="Consolas"/>
              </a:rPr>
              <a:t>19</a:t>
            </a:r>
          </a:p>
          <a:p>
            <a:pPr algn="r">
              <a:lnSpc>
                <a:spcPct val="100000"/>
              </a:lnSpc>
            </a:pPr>
            <a:r>
              <a:rPr sz="1900">
                <a:solidFill>
                  <a:srgbClr val="4F5D6A"/>
                </a:solidFill>
                <a:latin typeface="Consolas"/>
              </a:rPr>
              <a:t>20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55885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Classics and One Surprise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132     </a:t>
            </a:r>
            <a:fld id="{B4472B01-1AE2-45E0-915B-3E0B0D30B7AE}"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0/1 knapsack: Theta(nW), and W is a number not a count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788663"/>
          </a:xfrm>
          <a:prstGeom prst="roundRect">
            <a:avLst>
              <a:gd name="adj" fmla="val 241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code/ch16_dp2.cpp</a:t>
            </a:r>
          </a:p>
        </p:txBody>
      </p:sp>
      <p:sp>
        <p:nvSpPr>
          <p:cNvPr id="14" name="!!code-text" descr="// --- 4. 0/1 knapsack: Theta(nW), and W is a number not a count ----- // The inner loop counts DOWN, which is what enforces 0/1: counting up // would let item i be used more than once. static long long knapsack(const std::vector&lt;int&gt;&amp; w, const std::vector&lt;long long&gt;&amp; v, int W) { std::vector&lt;long long&gt; best(W + 1, 0); for (size_t i = 0; i &lt; w.size(); ++i) for (int cap = W; cap &gt;= w[i]; --cap) best[cap] = std::max(best[cap], best[cap - w[i]] + v[i]); return best[W]; }"/>
          <p:cNvSpPr txBox="1"/>
          <p:nvPr/>
        </p:nvSpPr>
        <p:spPr>
          <a:xfrm>
            <a:off x="1362456" y="2523744"/>
            <a:ext cx="9987991" cy="32948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--- 4. 0/1 knapsack: Theta(nW), and W is a number not a count -----</a:t>
            </a:r>
          </a:p>
          <a:p>
            <a:pPr>
              <a:lnSpc>
                <a:spcPct val="100000"/>
              </a:lnSpc>
              <a:spcAft>
                <a:spcPts val="0"/>
              </a:spcAft>
            </a:pPr>
            <a:r>
              <a:rPr sz="1900" i="1">
                <a:solidFill>
                  <a:srgbClr val="8795A1"/>
                </a:solidFill>
                <a:latin typeface="Consolas"/>
              </a:rPr>
              <a:t>// The inner loop counts DOWN, which is what enforces 0/1: counting up</a:t>
            </a:r>
          </a:p>
          <a:p>
            <a:pPr>
              <a:lnSpc>
                <a:spcPct val="100000"/>
              </a:lnSpc>
              <a:spcAft>
                <a:spcPts val="0"/>
              </a:spcAft>
            </a:pPr>
            <a:r>
              <a:rPr sz="1900" i="1">
                <a:solidFill>
                  <a:srgbClr val="8795A1"/>
                </a:solidFill>
                <a:latin typeface="Consolas"/>
              </a:rPr>
              <a:t>// would let item i be used more than once.</a:t>
            </a:r>
          </a:p>
          <a:p>
            <a:pPr>
              <a:lnSpc>
                <a:spcPct val="100000"/>
              </a:lnSpc>
              <a:spcAft>
                <a:spcPts val="0"/>
              </a:spcAft>
            </a:pPr>
            <a:r>
              <a:rPr sz="1900" i="0">
                <a:solidFill>
                  <a:srgbClr val="5DADE2"/>
                </a:solidFill>
                <a:latin typeface="Consolas"/>
              </a:rPr>
              <a:t>static</a:t>
            </a:r>
            <a:r>
              <a:rPr sz="1900" i="0">
                <a:solidFill>
                  <a:srgbClr val="E8EDF2"/>
                </a:solidFill>
                <a:latin typeface="Consolas"/>
              </a:rPr>
              <a:t> </a:t>
            </a:r>
            <a:r>
              <a:rPr sz="1900" i="0">
                <a:solidFill>
                  <a:srgbClr val="5DADE2"/>
                </a:solidFill>
                <a:latin typeface="Consolas"/>
              </a:rPr>
              <a:t>long</a:t>
            </a:r>
            <a:r>
              <a:rPr sz="1900" i="0">
                <a:solidFill>
                  <a:srgbClr val="E8EDF2"/>
                </a:solidFill>
                <a:latin typeface="Consolas"/>
              </a:rPr>
              <a:t> </a:t>
            </a:r>
            <a:r>
              <a:rPr sz="1900" i="0">
                <a:solidFill>
                  <a:srgbClr val="5DADE2"/>
                </a:solidFill>
                <a:latin typeface="Consolas"/>
              </a:rPr>
              <a:t>long</a:t>
            </a:r>
            <a:r>
              <a:rPr sz="1900" i="0">
                <a:solidFill>
                  <a:srgbClr val="E8EDF2"/>
                </a:solidFill>
                <a:latin typeface="Consolas"/>
              </a:rPr>
              <a:t> </a:t>
            </a:r>
            <a:r>
              <a:rPr sz="1900" i="0">
                <a:solidFill>
                  <a:srgbClr val="C39BD3"/>
                </a:solidFill>
                <a:latin typeface="Consolas"/>
              </a:rPr>
              <a:t>knapsack</a:t>
            </a:r>
            <a:r>
              <a:rPr sz="1900" i="0">
                <a:solidFill>
                  <a:srgbClr val="AEB6BF"/>
                </a:solidFill>
                <a:latin typeface="Consolas"/>
              </a:rPr>
              <a:t>(</a:t>
            </a:r>
            <a:r>
              <a:rPr sz="1900" i="0">
                <a:solidFill>
                  <a:srgbClr val="5DADE2"/>
                </a:solidFill>
                <a:latin typeface="Consolas"/>
              </a:rPr>
              <a:t>const</a:t>
            </a:r>
            <a:r>
              <a:rPr sz="1900" i="0">
                <a:solidFill>
                  <a:srgbClr val="E8EDF2"/>
                </a:solidFill>
                <a:latin typeface="Consolas"/>
              </a:rPr>
              <a:t> </a:t>
            </a:r>
            <a:r>
              <a:rPr sz="1900" i="0">
                <a:solidFill>
                  <a:srgbClr val="E8EDF2"/>
                </a:solidFill>
                <a:latin typeface="Consolas"/>
              </a:rPr>
              <a:t>std</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vector</a:t>
            </a:r>
            <a:r>
              <a:rPr sz="1900" i="0">
                <a:solidFill>
                  <a:srgbClr val="AEB6BF"/>
                </a:solidFill>
                <a:latin typeface="Consolas"/>
              </a:rPr>
              <a:t>&lt;</a:t>
            </a:r>
            <a:r>
              <a:rPr sz="1900" i="0">
                <a:solidFill>
                  <a:srgbClr val="5DADE2"/>
                </a:solidFill>
                <a:latin typeface="Consolas"/>
              </a:rPr>
              <a:t>int</a:t>
            </a:r>
            <a:r>
              <a:rPr sz="1900" i="0">
                <a:solidFill>
                  <a:srgbClr val="AEB6BF"/>
                </a:solidFill>
                <a:latin typeface="Consolas"/>
              </a:rPr>
              <a:t>&gt;</a:t>
            </a:r>
            <a:r>
              <a:rPr sz="1900" i="0">
                <a:solidFill>
                  <a:srgbClr val="AEB6BF"/>
                </a:solidFill>
                <a:latin typeface="Consolas"/>
              </a:rPr>
              <a:t>&amp;</a:t>
            </a:r>
            <a:r>
              <a:rPr sz="1900" i="0">
                <a:solidFill>
                  <a:srgbClr val="E8EDF2"/>
                </a:solidFill>
                <a:latin typeface="Consolas"/>
              </a:rPr>
              <a:t> </a:t>
            </a:r>
            <a:r>
              <a:rPr sz="1900" i="0">
                <a:solidFill>
                  <a:srgbClr val="E8EDF2"/>
                </a:solidFill>
                <a:latin typeface="Consolas"/>
              </a:rPr>
              <a:t>w</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const</a:t>
            </a:r>
            <a:r>
              <a:rPr sz="1900" i="0">
                <a:solidFill>
                  <a:srgbClr val="E8EDF2"/>
                </a:solidFill>
                <a:latin typeface="Consolas"/>
              </a:rPr>
              <a:t> </a:t>
            </a:r>
            <a:r>
              <a:rPr sz="1900" i="0">
                <a:solidFill>
                  <a:srgbClr val="E8EDF2"/>
                </a:solidFill>
                <a:latin typeface="Consolas"/>
              </a:rPr>
              <a:t>std</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vector</a:t>
            </a:r>
            <a:r>
              <a:rPr sz="1900" i="0">
                <a:solidFill>
                  <a:srgbClr val="AEB6BF"/>
                </a:solidFill>
                <a:latin typeface="Consolas"/>
              </a:rPr>
              <a:t>&lt;</a:t>
            </a:r>
            <a:r>
              <a:rPr sz="1900" i="0">
                <a:solidFill>
                  <a:srgbClr val="5DADE2"/>
                </a:solidFill>
                <a:latin typeface="Consolas"/>
              </a:rPr>
              <a:t>long</a:t>
            </a:r>
            <a:r>
              <a:rPr sz="1900" i="0">
                <a:solidFill>
                  <a:srgbClr val="E8EDF2"/>
                </a:solidFill>
                <a:latin typeface="Consolas"/>
              </a:rPr>
              <a:t> </a:t>
            </a:r>
            <a:r>
              <a:rPr sz="1900" i="0">
                <a:solidFill>
                  <a:srgbClr val="5DADE2"/>
                </a:solidFill>
                <a:latin typeface="Consolas"/>
              </a:rPr>
              <a:t>long</a:t>
            </a:r>
            <a:r>
              <a:rPr sz="1900" i="0">
                <a:solidFill>
                  <a:srgbClr val="AEB6BF"/>
                </a:solidFill>
                <a:latin typeface="Consolas"/>
              </a:rPr>
              <a:t>&gt;</a:t>
            </a:r>
            <a:r>
              <a:rPr sz="1900" i="0">
                <a:solidFill>
                  <a:srgbClr val="AEB6BF"/>
                </a:solidFill>
                <a:latin typeface="Consolas"/>
              </a:rPr>
              <a:t>&amp;</a:t>
            </a:r>
            <a:r>
              <a:rPr sz="1900" i="0">
                <a:solidFill>
                  <a:srgbClr val="E8EDF2"/>
                </a:solidFill>
                <a:latin typeface="Consolas"/>
              </a:rPr>
              <a:t> </a:t>
            </a:r>
            <a:r>
              <a:rPr sz="1900" i="0">
                <a:solidFill>
                  <a:srgbClr val="E8EDF2"/>
                </a:solidFill>
                <a:latin typeface="Consolas"/>
              </a:rPr>
              <a:t>v</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int</a:t>
            </a:r>
            <a:r>
              <a:rPr sz="1900" i="0">
                <a:solidFill>
                  <a:srgbClr val="E8EDF2"/>
                </a:solidFill>
                <a:latin typeface="Consolas"/>
              </a:rPr>
              <a:t> </a:t>
            </a:r>
            <a:r>
              <a:rPr sz="1900" i="0">
                <a:solidFill>
                  <a:srgbClr val="E8EDF2"/>
                </a:solidFill>
                <a:latin typeface="Consolas"/>
              </a:rPr>
              <a:t>W</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std</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vector</a:t>
            </a:r>
            <a:r>
              <a:rPr sz="1900" i="0">
                <a:solidFill>
                  <a:srgbClr val="AEB6BF"/>
                </a:solidFill>
                <a:latin typeface="Consolas"/>
              </a:rPr>
              <a:t>&lt;</a:t>
            </a:r>
            <a:r>
              <a:rPr sz="1900" i="0">
                <a:solidFill>
                  <a:srgbClr val="5DADE2"/>
                </a:solidFill>
                <a:latin typeface="Consolas"/>
              </a:rPr>
              <a:t>long</a:t>
            </a:r>
            <a:r>
              <a:rPr sz="1900" i="0">
                <a:solidFill>
                  <a:srgbClr val="E8EDF2"/>
                </a:solidFill>
                <a:latin typeface="Consolas"/>
              </a:rPr>
              <a:t> </a:t>
            </a:r>
            <a:r>
              <a:rPr sz="1900" i="0">
                <a:solidFill>
                  <a:srgbClr val="5DADE2"/>
                </a:solidFill>
                <a:latin typeface="Consolas"/>
              </a:rPr>
              <a:t>long</a:t>
            </a:r>
            <a:r>
              <a:rPr sz="1900" i="0">
                <a:solidFill>
                  <a:srgbClr val="AEB6BF"/>
                </a:solidFill>
                <a:latin typeface="Consolas"/>
              </a:rPr>
              <a:t>&gt;</a:t>
            </a:r>
            <a:r>
              <a:rPr sz="1900" i="0">
                <a:solidFill>
                  <a:srgbClr val="E8EDF2"/>
                </a:solidFill>
                <a:latin typeface="Consolas"/>
              </a:rPr>
              <a:t> </a:t>
            </a:r>
            <a:r>
              <a:rPr sz="1900" i="0">
                <a:solidFill>
                  <a:srgbClr val="E8EDF2"/>
                </a:solidFill>
                <a:latin typeface="Consolas"/>
              </a:rPr>
              <a:t>best</a:t>
            </a:r>
            <a:r>
              <a:rPr sz="1900" i="0">
                <a:solidFill>
                  <a:srgbClr val="AEB6BF"/>
                </a:solidFill>
                <a:latin typeface="Consolas"/>
              </a:rPr>
              <a:t>(</a:t>
            </a:r>
            <a:r>
              <a:rPr sz="1900" i="0">
                <a:solidFill>
                  <a:srgbClr val="E8EDF2"/>
                </a:solidFill>
                <a:latin typeface="Consolas"/>
              </a:rPr>
              <a:t>W</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1</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0</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for</a:t>
            </a:r>
            <a:r>
              <a:rPr sz="1900" i="0">
                <a:solidFill>
                  <a:srgbClr val="E8EDF2"/>
                </a:solidFill>
                <a:latin typeface="Consolas"/>
              </a:rPr>
              <a:t> </a:t>
            </a:r>
            <a:r>
              <a:rPr sz="1900" i="0">
                <a:solidFill>
                  <a:srgbClr val="AEB6BF"/>
                </a:solidFill>
                <a:latin typeface="Consolas"/>
              </a:rPr>
              <a:t>(</a:t>
            </a:r>
            <a:r>
              <a:rPr sz="1900" i="0">
                <a:solidFill>
                  <a:srgbClr val="5DADE2"/>
                </a:solidFill>
                <a:latin typeface="Consolas"/>
              </a:rPr>
              <a:t>size_t</a:t>
            </a:r>
            <a:r>
              <a:rPr sz="1900" i="0">
                <a:solidFill>
                  <a:srgbClr val="E8EDF2"/>
                </a:solidFill>
                <a:latin typeface="Consolas"/>
              </a:rPr>
              <a:t> </a:t>
            </a:r>
            <a:r>
              <a:rPr sz="1900" i="0">
                <a:solidFill>
                  <a:srgbClr val="E8EDF2"/>
                </a:solidFill>
                <a:latin typeface="Consolas"/>
              </a:rPr>
              <a:t>i</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0</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i</a:t>
            </a:r>
            <a:r>
              <a:rPr sz="1900" i="0">
                <a:solidFill>
                  <a:srgbClr val="E8EDF2"/>
                </a:solidFill>
                <a:latin typeface="Consolas"/>
              </a:rPr>
              <a:t> </a:t>
            </a:r>
            <a:r>
              <a:rPr sz="1900" i="0">
                <a:solidFill>
                  <a:srgbClr val="AEB6BF"/>
                </a:solidFill>
                <a:latin typeface="Consolas"/>
              </a:rPr>
              <a:t>&lt;</a:t>
            </a:r>
            <a:r>
              <a:rPr sz="1900" i="0">
                <a:solidFill>
                  <a:srgbClr val="E8EDF2"/>
                </a:solidFill>
                <a:latin typeface="Consolas"/>
              </a:rPr>
              <a:t> </a:t>
            </a:r>
            <a:r>
              <a:rPr sz="1900" i="0">
                <a:solidFill>
                  <a:srgbClr val="E8EDF2"/>
                </a:solidFill>
                <a:latin typeface="Consolas"/>
              </a:rPr>
              <a:t>w</a:t>
            </a:r>
            <a:r>
              <a:rPr sz="1900" i="0">
                <a:solidFill>
                  <a:srgbClr val="AEB6BF"/>
                </a:solidFill>
                <a:latin typeface="Consolas"/>
              </a:rPr>
              <a:t>.</a:t>
            </a:r>
            <a:r>
              <a:rPr sz="1900" i="0">
                <a:solidFill>
                  <a:srgbClr val="E8EDF2"/>
                </a:solidFill>
                <a:latin typeface="Consolas"/>
              </a:rPr>
              <a:t>size</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i</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for</a:t>
            </a:r>
            <a:r>
              <a:rPr sz="1900" i="0">
                <a:solidFill>
                  <a:srgbClr val="E8EDF2"/>
                </a:solidFill>
                <a:latin typeface="Consolas"/>
              </a:rPr>
              <a:t> </a:t>
            </a:r>
            <a:r>
              <a:rPr sz="1900" i="0">
                <a:solidFill>
                  <a:srgbClr val="AEB6BF"/>
                </a:solidFill>
                <a:latin typeface="Consolas"/>
              </a:rPr>
              <a:t>(</a:t>
            </a:r>
            <a:r>
              <a:rPr sz="1900" i="0">
                <a:solidFill>
                  <a:srgbClr val="5DADE2"/>
                </a:solidFill>
                <a:latin typeface="Consolas"/>
              </a:rPr>
              <a:t>int</a:t>
            </a:r>
            <a:r>
              <a:rPr sz="1900" i="0">
                <a:solidFill>
                  <a:srgbClr val="E8EDF2"/>
                </a:solidFill>
                <a:latin typeface="Consolas"/>
              </a:rPr>
              <a:t> </a:t>
            </a:r>
            <a:r>
              <a:rPr sz="1900" i="0">
                <a:solidFill>
                  <a:srgbClr val="E8EDF2"/>
                </a:solidFill>
                <a:latin typeface="Consolas"/>
              </a:rPr>
              <a:t>cap</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W</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cap</a:t>
            </a:r>
            <a:r>
              <a:rPr sz="1900" i="0">
                <a:solidFill>
                  <a:srgbClr val="E8EDF2"/>
                </a:solidFill>
                <a:latin typeface="Consolas"/>
              </a:rPr>
              <a:t> </a:t>
            </a:r>
            <a:r>
              <a:rPr sz="1900" i="0">
                <a:solidFill>
                  <a:srgbClr val="AEB6BF"/>
                </a:solidFill>
                <a:latin typeface="Consolas"/>
              </a:rPr>
              <a:t>&gt;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w</a:t>
            </a:r>
            <a:r>
              <a:rPr sz="1900" i="0">
                <a:solidFill>
                  <a:srgbClr val="AEB6BF"/>
                </a:solidFill>
                <a:latin typeface="Consolas"/>
              </a:rPr>
              <a:t>[</a:t>
            </a:r>
            <a:r>
              <a:rPr sz="1900" i="0">
                <a:solidFill>
                  <a:srgbClr val="E8EDF2"/>
                </a:solidFill>
                <a:latin typeface="Consolas"/>
              </a:rPr>
              <a:t>i</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cap</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best</a:t>
            </a:r>
            <a:r>
              <a:rPr sz="1900" i="0">
                <a:solidFill>
                  <a:srgbClr val="AEB6BF"/>
                </a:solidFill>
                <a:latin typeface="Consolas"/>
              </a:rPr>
              <a:t>[</a:t>
            </a:r>
            <a:r>
              <a:rPr sz="1900" i="0">
                <a:solidFill>
                  <a:srgbClr val="E8EDF2"/>
                </a:solidFill>
                <a:latin typeface="Consolas"/>
              </a:rPr>
              <a:t>cap</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std</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max</a:t>
            </a:r>
            <a:r>
              <a:rPr sz="1900" i="0">
                <a:solidFill>
                  <a:srgbClr val="AEB6BF"/>
                </a:solidFill>
                <a:latin typeface="Consolas"/>
              </a:rPr>
              <a:t>(</a:t>
            </a:r>
            <a:r>
              <a:rPr sz="1900" i="0">
                <a:solidFill>
                  <a:srgbClr val="E8EDF2"/>
                </a:solidFill>
                <a:latin typeface="Consolas"/>
              </a:rPr>
              <a:t>best</a:t>
            </a:r>
            <a:r>
              <a:rPr sz="1900" i="0">
                <a:solidFill>
                  <a:srgbClr val="AEB6BF"/>
                </a:solidFill>
                <a:latin typeface="Consolas"/>
              </a:rPr>
              <a:t>[</a:t>
            </a:r>
            <a:r>
              <a:rPr sz="1900" i="0">
                <a:solidFill>
                  <a:srgbClr val="E8EDF2"/>
                </a:solidFill>
                <a:latin typeface="Consolas"/>
              </a:rPr>
              <a:t>cap</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best</a:t>
            </a:r>
            <a:r>
              <a:rPr sz="1900" i="0">
                <a:solidFill>
                  <a:srgbClr val="AEB6BF"/>
                </a:solidFill>
                <a:latin typeface="Consolas"/>
              </a:rPr>
              <a:t>[</a:t>
            </a:r>
            <a:r>
              <a:rPr sz="1900" i="0">
                <a:solidFill>
                  <a:srgbClr val="E8EDF2"/>
                </a:solidFill>
                <a:latin typeface="Consolas"/>
              </a:rPr>
              <a:t>cap</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w</a:t>
            </a:r>
            <a:r>
              <a:rPr sz="1900" i="0">
                <a:solidFill>
                  <a:srgbClr val="AEB6BF"/>
                </a:solidFill>
                <a:latin typeface="Consolas"/>
              </a:rPr>
              <a:t>[</a:t>
            </a:r>
            <a:r>
              <a:rPr sz="1900" i="0">
                <a:solidFill>
                  <a:srgbClr val="E8EDF2"/>
                </a:solidFill>
                <a:latin typeface="Consolas"/>
              </a:rPr>
              <a:t>i</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v</a:t>
            </a:r>
            <a:r>
              <a:rPr sz="1900" i="0">
                <a:solidFill>
                  <a:srgbClr val="AEB6BF"/>
                </a:solidFill>
                <a:latin typeface="Consolas"/>
              </a:rPr>
              <a:t>[</a:t>
            </a:r>
            <a:r>
              <a:rPr sz="1900" i="0">
                <a:solidFill>
                  <a:srgbClr val="E8EDF2"/>
                </a:solidFill>
                <a:latin typeface="Consolas"/>
              </a:rPr>
              <a:t>i</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return</a:t>
            </a:r>
            <a:r>
              <a:rPr sz="1900" i="0">
                <a:solidFill>
                  <a:srgbClr val="E8EDF2"/>
                </a:solidFill>
                <a:latin typeface="Consolas"/>
              </a:rPr>
              <a:t> </a:t>
            </a:r>
            <a:r>
              <a:rPr sz="1900" i="0">
                <a:solidFill>
                  <a:srgbClr val="E8EDF2"/>
                </a:solidFill>
                <a:latin typeface="Consolas"/>
              </a:rPr>
              <a:t>best</a:t>
            </a:r>
            <a:r>
              <a:rPr sz="1900" i="0">
                <a:solidFill>
                  <a:srgbClr val="AEB6BF"/>
                </a:solidFill>
                <a:latin typeface="Consolas"/>
              </a:rPr>
              <a:t>[</a:t>
            </a:r>
            <a:r>
              <a:rPr sz="1900" i="0">
                <a:solidFill>
                  <a:srgbClr val="E8EDF2"/>
                </a:solidFill>
                <a:latin typeface="Consolas"/>
              </a:rPr>
              <a:t>W</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AEB6BF"/>
                </a:solidFill>
                <a:latin typeface="Consolas"/>
              </a:rPr>
              <a:t>}</a:t>
            </a:r>
          </a:p>
        </p:txBody>
      </p:sp>
      <p:sp>
        <p:nvSpPr>
          <p:cNvPr id="15" name="!!code-num"/>
          <p:cNvSpPr txBox="1"/>
          <p:nvPr/>
        </p:nvSpPr>
        <p:spPr>
          <a:xfrm>
            <a:off x="768096" y="2523744"/>
            <a:ext cx="393192" cy="32948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22</a:t>
            </a:r>
          </a:p>
          <a:p>
            <a:pPr algn="r">
              <a:lnSpc>
                <a:spcPct val="100000"/>
              </a:lnSpc>
            </a:pPr>
            <a:r>
              <a:rPr sz="1900">
                <a:solidFill>
                  <a:srgbClr val="4F5D6A"/>
                </a:solidFill>
                <a:latin typeface="Consolas"/>
              </a:rPr>
              <a:t>23</a:t>
            </a:r>
          </a:p>
          <a:p>
            <a:pPr algn="r">
              <a:lnSpc>
                <a:spcPct val="100000"/>
              </a:lnSpc>
            </a:pPr>
            <a:r>
              <a:rPr sz="1900">
                <a:solidFill>
                  <a:srgbClr val="4F5D6A"/>
                </a:solidFill>
                <a:latin typeface="Consolas"/>
              </a:rPr>
              <a:t>24</a:t>
            </a:r>
          </a:p>
          <a:p>
            <a:pPr algn="r">
              <a:lnSpc>
                <a:spcPct val="100000"/>
              </a:lnSpc>
            </a:pPr>
            <a:r>
              <a:rPr sz="1900">
                <a:solidFill>
                  <a:srgbClr val="4F5D6A"/>
                </a:solidFill>
                <a:latin typeface="Consolas"/>
              </a:rPr>
              <a:t>25</a:t>
            </a:r>
          </a:p>
          <a:p>
            <a:pPr algn="r">
              <a:lnSpc>
                <a:spcPct val="100000"/>
              </a:lnSpc>
            </a:pPr>
            <a:r>
              <a:rPr sz="1900">
                <a:solidFill>
                  <a:srgbClr val="4F5D6A"/>
                </a:solidFill>
                <a:latin typeface="Consolas"/>
              </a:rPr>
              <a:t>26</a:t>
            </a:r>
          </a:p>
          <a:p>
            <a:pPr algn="r">
              <a:lnSpc>
                <a:spcPct val="100000"/>
              </a:lnSpc>
            </a:pPr>
            <a:r>
              <a:rPr sz="1900">
                <a:solidFill>
                  <a:srgbClr val="4F5D6A"/>
                </a:solidFill>
                <a:latin typeface="Consolas"/>
              </a:rPr>
              <a:t>27</a:t>
            </a:r>
          </a:p>
          <a:p>
            <a:pPr algn="r">
              <a:lnSpc>
                <a:spcPct val="100000"/>
              </a:lnSpc>
            </a:pPr>
            <a:r>
              <a:rPr sz="1900">
                <a:solidFill>
                  <a:srgbClr val="4F5D6A"/>
                </a:solidFill>
                <a:latin typeface="Consolas"/>
              </a:rPr>
              <a:t>28</a:t>
            </a:r>
          </a:p>
          <a:p>
            <a:pPr algn="r">
              <a:lnSpc>
                <a:spcPct val="100000"/>
              </a:lnSpc>
            </a:pPr>
            <a:r>
              <a:rPr sz="1900">
                <a:solidFill>
                  <a:srgbClr val="4F5D6A"/>
                </a:solidFill>
                <a:latin typeface="Consolas"/>
              </a:rPr>
              <a:t>29</a:t>
            </a:r>
          </a:p>
          <a:p>
            <a:pPr algn="r">
              <a:lnSpc>
                <a:spcPct val="100000"/>
              </a:lnSpc>
            </a:pPr>
            <a:r>
              <a:rPr sz="1900">
                <a:solidFill>
                  <a:srgbClr val="4F5D6A"/>
                </a:solidFill>
                <a:latin typeface="Consolas"/>
              </a:rPr>
              <a:t>30</a:t>
            </a:r>
          </a:p>
          <a:p>
            <a:pPr algn="r">
              <a:lnSpc>
                <a:spcPct val="100000"/>
              </a:lnSpc>
            </a:pPr>
            <a:r>
              <a:rPr sz="1900">
                <a:solidFill>
                  <a:srgbClr val="4F5D6A"/>
                </a:solidFill>
                <a:latin typeface="Consolas"/>
              </a:rPr>
              <a:t>31</a:t>
            </a:r>
          </a:p>
          <a:p>
            <a:pPr algn="r">
              <a:lnSpc>
                <a:spcPct val="100000"/>
              </a:lnSpc>
            </a:pPr>
            <a:r>
              <a:rPr sz="1900">
                <a:solidFill>
                  <a:srgbClr val="4F5D6A"/>
                </a:solidFill>
                <a:latin typeface="Consolas"/>
              </a:rPr>
              <a:t>32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80268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Classics and One Surprise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132     </a:t>
            </a:r>
            <a:fld id="{F51ADA3B-275F-4330-9B6E-A87CC76639A6}"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same problem by brute force, as an oracle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72184"/>
          </a:xfrm>
          <a:prstGeom prst="roundRect">
            <a:avLst>
              <a:gd name="adj" fmla="val 62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code/ch16_dp2.cpp</a:t>
            </a:r>
          </a:p>
        </p:txBody>
      </p:sp>
      <p:sp>
        <p:nvSpPr>
          <p:cNvPr id="14" name="!!code-text" descr="// --- 5. The same problem by brute force, as an oracle -------------- // 2^n subsets. Only usable for n &lt;= 22, which is exactly why DP // exists -- and exactly why it is a trustworthy oracle."/>
          <p:cNvSpPr txBox="1"/>
          <p:nvPr/>
        </p:nvSpPr>
        <p:spPr>
          <a:xfrm>
            <a:off x="1362456" y="2523744"/>
            <a:ext cx="9987991" cy="97840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--- 5. The same problem by brute force, as an oracle --------------</a:t>
            </a:r>
          </a:p>
          <a:p>
            <a:pPr>
              <a:lnSpc>
                <a:spcPct val="100000"/>
              </a:lnSpc>
              <a:spcAft>
                <a:spcPts val="0"/>
              </a:spcAft>
            </a:pPr>
            <a:r>
              <a:rPr sz="1900" i="1">
                <a:solidFill>
                  <a:srgbClr val="8795A1"/>
                </a:solidFill>
                <a:latin typeface="Consolas"/>
              </a:rPr>
              <a:t>// 2^n subsets. Only usable for n &lt;= 22, which is exactly why DP</a:t>
            </a:r>
          </a:p>
          <a:p>
            <a:pPr>
              <a:lnSpc>
                <a:spcPct val="100000"/>
              </a:lnSpc>
              <a:spcAft>
                <a:spcPts val="0"/>
              </a:spcAft>
            </a:pPr>
            <a:r>
              <a:rPr sz="1900" i="1">
                <a:solidFill>
                  <a:srgbClr val="8795A1"/>
                </a:solidFill>
                <a:latin typeface="Consolas"/>
              </a:rPr>
              <a:t>// exists -- and exactly why it is a trustworthy oracle.</a:t>
            </a:r>
          </a:p>
        </p:txBody>
      </p:sp>
      <p:sp>
        <p:nvSpPr>
          <p:cNvPr id="15" name="!!code-num"/>
          <p:cNvSpPr txBox="1"/>
          <p:nvPr/>
        </p:nvSpPr>
        <p:spPr>
          <a:xfrm>
            <a:off x="768096" y="2523744"/>
            <a:ext cx="393192" cy="97840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34</a:t>
            </a:r>
          </a:p>
          <a:p>
            <a:pPr algn="r">
              <a:lnSpc>
                <a:spcPct val="100000"/>
              </a:lnSpc>
            </a:pPr>
            <a:r>
              <a:rPr sz="1900">
                <a:solidFill>
                  <a:srgbClr val="4F5D6A"/>
                </a:solidFill>
                <a:latin typeface="Consolas"/>
              </a:rPr>
              <a:t>35</a:t>
            </a:r>
          </a:p>
          <a:p>
            <a:pPr algn="r">
              <a:lnSpc>
                <a:spcPct val="100000"/>
              </a:lnSpc>
            </a:pPr>
            <a:r>
              <a:rPr sz="1900">
                <a:solidFill>
                  <a:srgbClr val="4F5D6A"/>
                </a:solidFill>
                <a:latin typeface="Consolas"/>
              </a:rPr>
              <a:t>36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04651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Classics and One Surprise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132     </a:t>
            </a:r>
            <a:fld id="{18980C07-32DD-43AA-A822-1CEEC9EE7798}" type="slidenum">
              <a:rPr lang="en-GB" sz="1000">
                <a:solidFill>
                  <a:srgbClr val="8795A1"/>
                </a:solidFill>
                <a:latin typeface="Segoe UI"/>
              </a:rPr>
              <a:t>34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LCS and edit distance are Theta(mn)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893063"/>
          </a:xfrm>
          <a:prstGeom prst="roundRect">
            <a:avLst>
              <a:gd name="adj" fmla="val 10238"/>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code/ch16_dp2.cpp</a:t>
            </a:r>
          </a:p>
        </p:txBody>
      </p:sp>
      <p:sp>
        <p:nvSpPr>
          <p:cNvPr id="14" name="!!code-text" descr="// --- 6. LCS and edit distance are Theta(mn) ------------------------"/>
          <p:cNvSpPr txBox="1"/>
          <p:nvPr/>
        </p:nvSpPr>
        <p:spPr>
          <a:xfrm>
            <a:off x="1362456" y="2523744"/>
            <a:ext cx="9987991" cy="3992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--- 6. LCS and edit distance are Theta(mn) ------------------------</a:t>
            </a:r>
          </a:p>
        </p:txBody>
      </p:sp>
      <p:sp>
        <p:nvSpPr>
          <p:cNvPr id="15" name="!!code-num"/>
          <p:cNvSpPr txBox="1"/>
          <p:nvPr/>
        </p:nvSpPr>
        <p:spPr>
          <a:xfrm>
            <a:off x="768096" y="2523744"/>
            <a:ext cx="393192" cy="3992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38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29035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Classics and One Surprise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132     </a:t>
            </a:r>
            <a:fld id="{3E06A18A-FEF5-48BF-B13D-806940DD85A3}" type="slidenum">
              <a:rPr lang="en-GB" sz="1000">
                <a:solidFill>
                  <a:srgbClr val="8795A1"/>
                </a:solidFill>
                <a:latin typeface="Segoe UI"/>
              </a:rPr>
              <a:t>35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worked instance, small enough to check by eye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893063"/>
          </a:xfrm>
          <a:prstGeom prst="roundRect">
            <a:avLst>
              <a:gd name="adj" fmla="val 10238"/>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code/ch16_dp2.cpp</a:t>
            </a:r>
          </a:p>
        </p:txBody>
      </p:sp>
      <p:sp>
        <p:nvSpPr>
          <p:cNvPr id="14" name="!!code-text" descr="// --- 7. A worked instance, small enough to check by eye ------------"/>
          <p:cNvSpPr txBox="1"/>
          <p:nvPr/>
        </p:nvSpPr>
        <p:spPr>
          <a:xfrm>
            <a:off x="1362456" y="2523744"/>
            <a:ext cx="9987991" cy="3992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--- 7. A worked instance, small enough to check by eye ------------</a:t>
            </a:r>
          </a:p>
        </p:txBody>
      </p:sp>
      <p:sp>
        <p:nvSpPr>
          <p:cNvPr id="15" name="!!code-num"/>
          <p:cNvSpPr txBox="1"/>
          <p:nvPr/>
        </p:nvSpPr>
        <p:spPr>
          <a:xfrm>
            <a:off x="768096" y="2523744"/>
            <a:ext cx="393192" cy="3992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39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3418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Classics and One Surprise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132     </a:t>
            </a:r>
            <a:fld id="{C05E49D3-830A-4524-B1E2-4FDE5FF5C577}" type="slidenum">
              <a:rPr lang="en-GB" sz="1000">
                <a:solidFill>
                  <a:srgbClr val="8795A1"/>
                </a:solidFill>
                <a:latin typeface="Segoe UI"/>
              </a:rPr>
              <a:t>36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Knapsack: DP against brute force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893063"/>
          </a:xfrm>
          <a:prstGeom prst="roundRect">
            <a:avLst>
              <a:gd name="adj" fmla="val 10238"/>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code/ch16_dp2.cpp</a:t>
            </a:r>
          </a:p>
        </p:txBody>
      </p:sp>
      <p:sp>
        <p:nvSpPr>
          <p:cNvPr id="14" name="!!code-text" descr="// --- 8. Knapsack: DP against brute force ---------------------------"/>
          <p:cNvSpPr txBox="1"/>
          <p:nvPr/>
        </p:nvSpPr>
        <p:spPr>
          <a:xfrm>
            <a:off x="1362456" y="2523744"/>
            <a:ext cx="9987991" cy="3992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--- 8. Knapsack: DP against brute force ---------------------------</a:t>
            </a:r>
          </a:p>
        </p:txBody>
      </p:sp>
      <p:sp>
        <p:nvSpPr>
          <p:cNvPr id="15" name="!!code-num"/>
          <p:cNvSpPr txBox="1"/>
          <p:nvPr/>
        </p:nvSpPr>
        <p:spPr>
          <a:xfrm>
            <a:off x="768096" y="2523744"/>
            <a:ext cx="393192" cy="3992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77802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Classics and One Surprise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9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132     </a:t>
            </a:r>
            <a:fld id="{CC0F3D8A-FC26-4655-8CAA-DC83367CC294}" type="slidenum">
              <a:rPr lang="en-GB" sz="1000">
                <a:solidFill>
                  <a:srgbClr val="8795A1"/>
                </a:solidFill>
                <a:latin typeface="Segoe UI"/>
              </a:rPr>
              <a:t>37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surprise: doubling W doubles the time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051303"/>
          </a:xfrm>
          <a:prstGeom prst="roundRect">
            <a:avLst>
              <a:gd name="adj" fmla="val 445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code/ch16_dp2.cpp</a:t>
            </a:r>
          </a:p>
        </p:txBody>
      </p:sp>
      <p:sp>
        <p:nvSpPr>
          <p:cNvPr id="14" name="!!code-text" descr="// --- 9. The surprise: doubling W doubles the time ------------------ // n is FIXED at 200 here. Only the capacity changes, and the capacity // is one number. Writing 2W instead of W adds ONE BIT to the input // and doubles the running time. Theta(nW) is polynomial in the VALUE // of W and exponential in its LENGTH: pseudo-polynomial."/>
          <p:cNvSpPr txBox="1"/>
          <p:nvPr/>
        </p:nvSpPr>
        <p:spPr>
          <a:xfrm>
            <a:off x="1362456" y="2523744"/>
            <a:ext cx="9987991" cy="155752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--- 9. The surprise: doubling W doubles the time ------------------</a:t>
            </a:r>
          </a:p>
          <a:p>
            <a:pPr>
              <a:lnSpc>
                <a:spcPct val="100000"/>
              </a:lnSpc>
              <a:spcAft>
                <a:spcPts val="0"/>
              </a:spcAft>
            </a:pPr>
            <a:r>
              <a:rPr sz="1900" i="1">
                <a:solidFill>
                  <a:srgbClr val="8795A1"/>
                </a:solidFill>
                <a:latin typeface="Consolas"/>
              </a:rPr>
              <a:t>// n is FIXED at 200 here. Only the capacity changes, and the capacity</a:t>
            </a:r>
          </a:p>
          <a:p>
            <a:pPr>
              <a:lnSpc>
                <a:spcPct val="100000"/>
              </a:lnSpc>
              <a:spcAft>
                <a:spcPts val="0"/>
              </a:spcAft>
            </a:pPr>
            <a:r>
              <a:rPr sz="1900" i="1">
                <a:solidFill>
                  <a:srgbClr val="8795A1"/>
                </a:solidFill>
                <a:latin typeface="Consolas"/>
              </a:rPr>
              <a:t>// is one number. Writing 2W instead of W adds ONE BIT to the input</a:t>
            </a:r>
          </a:p>
          <a:p>
            <a:pPr>
              <a:lnSpc>
                <a:spcPct val="100000"/>
              </a:lnSpc>
              <a:spcAft>
                <a:spcPts val="0"/>
              </a:spcAft>
            </a:pPr>
            <a:r>
              <a:rPr sz="1900" i="1">
                <a:solidFill>
                  <a:srgbClr val="8795A1"/>
                </a:solidFill>
                <a:latin typeface="Consolas"/>
              </a:rPr>
              <a:t>// and doubles the running time. Theta(nW) is polynomial in the VALUE</a:t>
            </a:r>
          </a:p>
          <a:p>
            <a:pPr>
              <a:lnSpc>
                <a:spcPct val="100000"/>
              </a:lnSpc>
              <a:spcAft>
                <a:spcPts val="0"/>
              </a:spcAft>
            </a:pPr>
            <a:r>
              <a:rPr sz="1900" i="1">
                <a:solidFill>
                  <a:srgbClr val="8795A1"/>
                </a:solidFill>
                <a:latin typeface="Consolas"/>
              </a:rPr>
              <a:t>// of W and exponential in its LENGTH: pseudo-polynomial.</a:t>
            </a:r>
          </a:p>
        </p:txBody>
      </p:sp>
      <p:sp>
        <p:nvSpPr>
          <p:cNvPr id="15" name="!!code-num"/>
          <p:cNvSpPr txBox="1"/>
          <p:nvPr/>
        </p:nvSpPr>
        <p:spPr>
          <a:xfrm>
            <a:off x="768096" y="2523744"/>
            <a:ext cx="393192" cy="155752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42</a:t>
            </a:r>
          </a:p>
          <a:p>
            <a:pPr algn="r">
              <a:lnSpc>
                <a:spcPct val="100000"/>
              </a:lnSpc>
            </a:pPr>
            <a:r>
              <a:rPr sz="1900">
                <a:solidFill>
                  <a:srgbClr val="4F5D6A"/>
                </a:solidFill>
                <a:latin typeface="Consolas"/>
              </a:rPr>
              <a:t>43</a:t>
            </a:r>
          </a:p>
          <a:p>
            <a:pPr algn="r">
              <a:lnSpc>
                <a:spcPct val="100000"/>
              </a:lnSpc>
            </a:pPr>
            <a:r>
              <a:rPr sz="1900">
                <a:solidFill>
                  <a:srgbClr val="4F5D6A"/>
                </a:solidFill>
                <a:latin typeface="Consolas"/>
              </a:rPr>
              <a:t>44</a:t>
            </a:r>
          </a:p>
          <a:p>
            <a:pPr algn="r">
              <a:lnSpc>
                <a:spcPct val="100000"/>
              </a:lnSpc>
            </a:pPr>
            <a:r>
              <a:rPr sz="1900">
                <a:solidFill>
                  <a:srgbClr val="4F5D6A"/>
                </a:solidFill>
                <a:latin typeface="Consolas"/>
              </a:rPr>
              <a:t>45</a:t>
            </a:r>
          </a:p>
          <a:p>
            <a:pPr algn="r">
              <a:lnSpc>
                <a:spcPct val="100000"/>
              </a:lnSpc>
            </a:pPr>
            <a:r>
              <a:rPr sz="1900">
                <a:solidFill>
                  <a:srgbClr val="4F5D6A"/>
                </a:solidFill>
                <a:latin typeface="Consolas"/>
              </a:rPr>
              <a:t>46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02185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§16.4  ·  Handout p. 132     </a:t>
            </a:r>
            <a:fld id="{BF26CE84-D547-4831-A815-EAA01B1065C9}" type="slidenum">
              <a:rPr lang="en-GB" sz="1000">
                <a:solidFill>
                  <a:srgbClr val="8795A1"/>
                </a:solidFill>
                <a:latin typeface="Segoe UI"/>
              </a:rPr>
              <a:t>38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98773"/>
          </a:xfrm>
          <a:prstGeom prst="roundRect">
            <a:avLst>
              <a:gd name="adj" fmla="val 2472"/>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98773"/>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Part 9’s </a:t>
            </a:r>
            <a:r>
              <a:rPr sz="2150" b="0" i="0">
                <a:solidFill>
                  <a:srgbClr val="1F4E79"/>
                </a:solidFill>
                <a:latin typeface="Consolas"/>
              </a:rPr>
              <a:t>bits</a:t>
            </a:r>
            <a:r>
              <a:rPr sz="2300" b="0" i="0">
                <a:solidFill>
                  <a:srgbClr val="1C252B"/>
                </a:solidFill>
                <a:latin typeface="Segoe UI"/>
              </a:rPr>
              <a:t> column is the whole lesson. The input is not getting appreciably bigger — it gains one bit per row, while the 200 items stay fixed — and the running time doubles each time.</a:t>
            </a:r>
          </a:p>
        </p:txBody>
      </p:sp>
      <p:sp>
        <p:nvSpPr>
          <p:cNvPr id="10" name="body-1"/>
          <p:cNvSpPr txBox="1"/>
          <p:nvPr/>
        </p:nvSpPr>
        <p:spPr>
          <a:xfrm>
            <a:off x="1060704" y="3302533"/>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Then try to break it.</a:t>
            </a:r>
            <a:r>
              <a:rPr sz="2300" b="0" i="0">
                <a:solidFill>
                  <a:srgbClr val="1C252B"/>
                </a:solidFill>
                <a:latin typeface="Segoe UI"/>
              </a:rPr>
              <a:t> Change the inner loop of </a:t>
            </a:r>
            <a:r>
              <a:rPr sz="2150" b="0" i="0">
                <a:solidFill>
                  <a:srgbClr val="1F4E79"/>
                </a:solidFill>
                <a:latin typeface="Consolas"/>
              </a:rPr>
              <a:t>knapsack</a:t>
            </a:r>
            <a:r>
              <a:rPr sz="2300" b="0" i="0">
                <a:solidFill>
                  <a:srgbClr val="1C252B"/>
                </a:solidFill>
                <a:latin typeface="Segoe UI"/>
              </a:rPr>
              <a:t> to count </a:t>
            </a:r>
            <a:r>
              <a:rPr sz="2300" b="0" i="1">
                <a:solidFill>
                  <a:srgbClr val="1C252B"/>
                </a:solidFill>
                <a:latin typeface="Segoe UI"/>
              </a:rPr>
              <a:t>up</a:t>
            </a:r>
            <a:r>
              <a:rPr sz="2300" b="0" i="0">
                <a:solidFill>
                  <a:srgbClr val="1C252B"/>
                </a:solidFill>
                <a:latin typeface="Segoe UI"/>
              </a:rPr>
              <a:t> and re-run part 8 against the brute-force oracle. It will disagree, and the answers will be too </a:t>
            </a:r>
            <a:r>
              <a:rPr sz="2300" b="0" i="1">
                <a:solidFill>
                  <a:srgbClr val="1C252B"/>
                </a:solidFill>
                <a:latin typeface="Segoe UI"/>
              </a:rPr>
              <a:t>large</a:t>
            </a:r>
            <a:r>
              <a:rPr sz="2300" b="0" i="0">
                <a:solidFill>
                  <a:srgbClr val="1C252B"/>
                </a:solidFill>
                <a:latin typeface="Segoe UI"/>
              </a:rPr>
              <a:t> — the algorithm now takes some items repeatedly. Then work out which problem the upward loop solves, and note that it is a perfectly good algorithm for a different question.</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926568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Write the LCS recurrence and explain why the case </a:t>
            </a:r>
            <a:r>
              <a:rPr sz="3400" b="0" i="1">
                <a:solidFill>
                  <a:srgbClr val="FFFFFF"/>
                </a:solidFill>
                <a:latin typeface="Cambria"/>
              </a:rPr>
              <a:t>x</a:t>
            </a:r>
            <a:r>
              <a:rPr sz="2250" b="0" i="1" baseline="-25000">
                <a:solidFill>
                  <a:srgbClr val="FFFFFF"/>
                </a:solidFill>
                <a:latin typeface="Cambria"/>
              </a:rPr>
              <a:t>i</a:t>
            </a:r>
            <a:r>
              <a:rPr sz="3400" b="0" i="0">
                <a:solidFill>
                  <a:srgbClr val="FFFFFF"/>
                </a:solidFill>
                <a:latin typeface="Cambria"/>
              </a:rPr>
              <a:t> = </a:t>
            </a:r>
            <a:r>
              <a:rPr sz="3400" b="0" i="1">
                <a:solidFill>
                  <a:srgbClr val="FFFFFF"/>
                </a:solidFill>
                <a:latin typeface="Cambria"/>
              </a:rPr>
              <a:t>y</a:t>
            </a:r>
            <a:r>
              <a:rPr sz="2250" b="0" i="1" baseline="-25000">
                <a:solidFill>
                  <a:srgbClr val="FFFFFF"/>
                </a:solidFill>
                <a:latin typeface="Cambria"/>
              </a:rPr>
              <a:t>j</a:t>
            </a:r>
            <a:r>
              <a:rPr sz="3400" b="0" i="0">
                <a:solidFill>
                  <a:srgbClr val="FFFFFF"/>
                </a:solidFill>
                <a:latin typeface="Segoe UI Semibold"/>
              </a:rPr>
              <a:t> does not need a maximum.</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16  ·  Dynamic Programming II: Classic Problems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136  ·  answers in Appendix D     </a:t>
            </a:r>
            <a:fld id="{3C4AD110-7168-4F07-B483-C8D929094158}" type="slidenum">
              <a:rPr lang="en-GB" sz="1000">
                <a:solidFill>
                  <a:srgbClr val="D5DEE5"/>
                </a:solidFill>
                <a:latin typeface="Segoe UI"/>
              </a:rPr>
              <a:t>39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Write the LCS recurrence and explain why the case </a:t>
            </a:r>
            <a:r>
              <a:rPr sz="2400" b="0" i="1">
                <a:solidFill>
                  <a:srgbClr val="1A5276"/>
                </a:solidFill>
                <a:latin typeface="Cambria"/>
              </a:rPr>
              <a:t>x</a:t>
            </a:r>
            <a:r>
              <a:rPr sz="1600" b="0" i="1" baseline="-25000">
                <a:solidFill>
                  <a:srgbClr val="1A5276"/>
                </a:solidFill>
                <a:latin typeface="Cambria"/>
              </a:rPr>
              <a:t>i</a:t>
            </a:r>
            <a:r>
              <a:rPr sz="2400" b="0" i="0">
                <a:solidFill>
                  <a:srgbClr val="1A5276"/>
                </a:solidFill>
                <a:latin typeface="Cambria"/>
              </a:rPr>
              <a:t> = </a:t>
            </a:r>
            <a:r>
              <a:rPr sz="2400" b="0" i="1">
                <a:solidFill>
                  <a:srgbClr val="1A5276"/>
                </a:solidFill>
                <a:latin typeface="Cambria"/>
              </a:rPr>
              <a:t>y</a:t>
            </a:r>
            <a:r>
              <a:rPr sz="1600" b="0" i="1" baseline="-25000">
                <a:solidFill>
                  <a:srgbClr val="1A5276"/>
                </a:solidFill>
                <a:latin typeface="Cambria"/>
              </a:rPr>
              <a:t>j</a:t>
            </a:r>
            <a:r>
              <a:rPr sz="2400" b="0" i="0">
                <a:solidFill>
                  <a:srgbClr val="1A5276"/>
                </a:solidFill>
                <a:latin typeface="Segoe UI Semibold"/>
              </a:rPr>
              <a:t> does not need a maximum.</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Cambria"/>
              </a:rPr>
              <a:t>c</a:t>
            </a:r>
            <a:r>
              <a:rPr sz="2200" b="0" i="0">
                <a:solidFill>
                  <a:srgbClr val="1C252B"/>
                </a:solidFill>
                <a:latin typeface="Cambria"/>
              </a:rPr>
              <a:t>[</a:t>
            </a:r>
            <a:r>
              <a:rPr sz="2200" b="0" i="1">
                <a:solidFill>
                  <a:srgbClr val="1C252B"/>
                </a:solidFill>
                <a:latin typeface="Cambria"/>
              </a:rPr>
              <a:t>i</a:t>
            </a:r>
            <a:r>
              <a:rPr sz="2200" b="0" i="0">
                <a:solidFill>
                  <a:srgbClr val="1C252B"/>
                </a:solidFill>
                <a:latin typeface="Cambria"/>
              </a:rPr>
              <a:t>][</a:t>
            </a:r>
            <a:r>
              <a:rPr sz="2200" b="0" i="1">
                <a:solidFill>
                  <a:srgbClr val="1C252B"/>
                </a:solidFill>
                <a:latin typeface="Cambria"/>
              </a:rPr>
              <a:t>j</a:t>
            </a:r>
            <a:r>
              <a:rPr sz="2200" b="0" i="0">
                <a:solidFill>
                  <a:srgbClr val="1C252B"/>
                </a:solidFill>
                <a:latin typeface="Cambria"/>
              </a:rPr>
              <a:t>] = </a:t>
            </a:r>
            <a:r>
              <a:rPr sz="2200" b="0" i="1">
                <a:solidFill>
                  <a:srgbClr val="1C252B"/>
                </a:solidFill>
                <a:latin typeface="Cambria"/>
              </a:rPr>
              <a:t>c</a:t>
            </a:r>
            <a:r>
              <a:rPr sz="2200" b="0" i="0">
                <a:solidFill>
                  <a:srgbClr val="1C252B"/>
                </a:solidFill>
                <a:latin typeface="Cambria"/>
              </a:rPr>
              <a:t>[</a:t>
            </a:r>
            <a:r>
              <a:rPr sz="2200" b="0" i="1">
                <a:solidFill>
                  <a:srgbClr val="1C252B"/>
                </a:solidFill>
                <a:latin typeface="Cambria"/>
              </a:rPr>
              <a:t>i</a:t>
            </a:r>
            <a:r>
              <a:rPr sz="2200" b="0" i="0">
                <a:solidFill>
                  <a:srgbClr val="1C252B"/>
                </a:solidFill>
                <a:latin typeface="Cambria"/>
              </a:rPr>
              <a:t>−1][</a:t>
            </a:r>
            <a:r>
              <a:rPr sz="2200" b="0" i="1">
                <a:solidFill>
                  <a:srgbClr val="1C252B"/>
                </a:solidFill>
                <a:latin typeface="Cambria"/>
              </a:rPr>
              <a:t>j</a:t>
            </a:r>
            <a:r>
              <a:rPr sz="2200" b="0" i="0">
                <a:solidFill>
                  <a:srgbClr val="1C252B"/>
                </a:solidFill>
                <a:latin typeface="Cambria"/>
              </a:rPr>
              <a:t>−1]+1</a:t>
            </a:r>
            <a:r>
              <a:rPr sz="2200" b="0" i="0">
                <a:solidFill>
                  <a:srgbClr val="1C252B"/>
                </a:solidFill>
                <a:latin typeface="Segoe UI"/>
              </a:rPr>
              <a:t> when </a:t>
            </a:r>
            <a:r>
              <a:rPr sz="2200" b="0" i="1">
                <a:solidFill>
                  <a:srgbClr val="1C252B"/>
                </a:solidFill>
                <a:latin typeface="Cambria"/>
              </a:rPr>
              <a:t>x</a:t>
            </a:r>
            <a:r>
              <a:rPr sz="1450" b="0" i="1" baseline="-25000">
                <a:solidFill>
                  <a:srgbClr val="1C252B"/>
                </a:solidFill>
                <a:latin typeface="Cambria"/>
              </a:rPr>
              <a:t>i</a:t>
            </a:r>
            <a:r>
              <a:rPr sz="2200" b="0" i="0">
                <a:solidFill>
                  <a:srgbClr val="1C252B"/>
                </a:solidFill>
                <a:latin typeface="Cambria"/>
              </a:rPr>
              <a:t> = </a:t>
            </a:r>
            <a:r>
              <a:rPr sz="2200" b="0" i="1">
                <a:solidFill>
                  <a:srgbClr val="1C252B"/>
                </a:solidFill>
                <a:latin typeface="Cambria"/>
              </a:rPr>
              <a:t>y</a:t>
            </a:r>
            <a:r>
              <a:rPr sz="1450" b="0" i="1" baseline="-25000">
                <a:solidFill>
                  <a:srgbClr val="1C252B"/>
                </a:solidFill>
                <a:latin typeface="Cambria"/>
              </a:rPr>
              <a:t>j</a:t>
            </a:r>
            <a:r>
              <a:rPr sz="2200" b="0" i="0">
                <a:solidFill>
                  <a:srgbClr val="1C252B"/>
                </a:solidFill>
                <a:latin typeface="Segoe UI"/>
              </a:rPr>
              <a:t>, else </a:t>
            </a:r>
            <a:r>
              <a:rPr sz="2200" b="0" i="0">
                <a:solidFill>
                  <a:srgbClr val="1C252B"/>
                </a:solidFill>
                <a:latin typeface="Cambria"/>
              </a:rPr>
              <a:t>max(</a:t>
            </a:r>
            <a:r>
              <a:rPr sz="2200" b="0" i="1">
                <a:solidFill>
                  <a:srgbClr val="1C252B"/>
                </a:solidFill>
                <a:latin typeface="Cambria"/>
              </a:rPr>
              <a:t>c</a:t>
            </a:r>
            <a:r>
              <a:rPr sz="2200" b="0" i="0">
                <a:solidFill>
                  <a:srgbClr val="1C252B"/>
                </a:solidFill>
                <a:latin typeface="Cambria"/>
              </a:rPr>
              <a:t>[</a:t>
            </a:r>
            <a:r>
              <a:rPr sz="2200" b="0" i="1">
                <a:solidFill>
                  <a:srgbClr val="1C252B"/>
                </a:solidFill>
                <a:latin typeface="Cambria"/>
              </a:rPr>
              <a:t>i</a:t>
            </a:r>
            <a:r>
              <a:rPr sz="2200" b="0" i="0">
                <a:solidFill>
                  <a:srgbClr val="1C252B"/>
                </a:solidFill>
                <a:latin typeface="Cambria"/>
              </a:rPr>
              <a:t>−1][</a:t>
            </a:r>
            <a:r>
              <a:rPr sz="2200" b="0" i="1">
                <a:solidFill>
                  <a:srgbClr val="1C252B"/>
                </a:solidFill>
                <a:latin typeface="Cambria"/>
              </a:rPr>
              <a:t>j</a:t>
            </a:r>
            <a:r>
              <a:rPr sz="2200" b="0" i="0">
                <a:solidFill>
                  <a:srgbClr val="1C252B"/>
                </a:solidFill>
                <a:latin typeface="Cambria"/>
              </a:rPr>
              <a:t>], </a:t>
            </a:r>
            <a:r>
              <a:rPr sz="2200" b="0" i="1">
                <a:solidFill>
                  <a:srgbClr val="1C252B"/>
                </a:solidFill>
                <a:latin typeface="Cambria"/>
              </a:rPr>
              <a:t>c</a:t>
            </a:r>
            <a:r>
              <a:rPr sz="2200" b="0" i="0">
                <a:solidFill>
                  <a:srgbClr val="1C252B"/>
                </a:solidFill>
                <a:latin typeface="Cambria"/>
              </a:rPr>
              <a:t>[</a:t>
            </a:r>
            <a:r>
              <a:rPr sz="2200" b="0" i="1">
                <a:solidFill>
                  <a:srgbClr val="1C252B"/>
                </a:solidFill>
                <a:latin typeface="Cambria"/>
              </a:rPr>
              <a:t>i</a:t>
            </a:r>
            <a:r>
              <a:rPr sz="2200" b="0" i="0">
                <a:solidFill>
                  <a:srgbClr val="1C252B"/>
                </a:solidFill>
                <a:latin typeface="Cambria"/>
              </a:rPr>
              <a:t>][</a:t>
            </a:r>
            <a:r>
              <a:rPr sz="2200" b="0" i="1">
                <a:solidFill>
                  <a:srgbClr val="1C252B"/>
                </a:solidFill>
                <a:latin typeface="Cambria"/>
              </a:rPr>
              <a:t>j</a:t>
            </a:r>
            <a:r>
              <a:rPr sz="2200" b="0" i="0">
                <a:solidFill>
                  <a:srgbClr val="1C252B"/>
                </a:solidFill>
                <a:latin typeface="Cambria"/>
              </a:rPr>
              <a:t>−1])</a:t>
            </a:r>
            <a:r>
              <a:rPr sz="2200" b="0" i="0">
                <a:solidFill>
                  <a:srgbClr val="1C252B"/>
                </a:solidFill>
                <a:latin typeface="Segoe UI"/>
              </a:rPr>
              <a:t>, with </a:t>
            </a:r>
            <a:r>
              <a:rPr sz="2200" b="0" i="1">
                <a:solidFill>
                  <a:srgbClr val="1C252B"/>
                </a:solidFill>
                <a:latin typeface="Cambria"/>
              </a:rPr>
              <a:t>c</a:t>
            </a:r>
            <a:r>
              <a:rPr sz="2200" b="0" i="0">
                <a:solidFill>
                  <a:srgbClr val="1C252B"/>
                </a:solidFill>
                <a:latin typeface="Cambria"/>
              </a:rPr>
              <a:t>[</a:t>
            </a:r>
            <a:r>
              <a:rPr sz="2200" b="0" i="1">
                <a:solidFill>
                  <a:srgbClr val="1C252B"/>
                </a:solidFill>
                <a:latin typeface="Cambria"/>
              </a:rPr>
              <a:t>i</a:t>
            </a:r>
            <a:r>
              <a:rPr sz="2200" b="0" i="0">
                <a:solidFill>
                  <a:srgbClr val="1C252B"/>
                </a:solidFill>
                <a:latin typeface="Cambria"/>
              </a:rPr>
              <a:t>][0] = </a:t>
            </a:r>
            <a:r>
              <a:rPr sz="2200" b="0" i="1">
                <a:solidFill>
                  <a:srgbClr val="1C252B"/>
                </a:solidFill>
                <a:latin typeface="Cambria"/>
              </a:rPr>
              <a:t>c</a:t>
            </a:r>
            <a:r>
              <a:rPr sz="2200" b="0" i="0">
                <a:solidFill>
                  <a:srgbClr val="1C252B"/>
                </a:solidFill>
                <a:latin typeface="Cambria"/>
              </a:rPr>
              <a:t>[0][</a:t>
            </a:r>
            <a:r>
              <a:rPr sz="2200" b="0" i="1">
                <a:solidFill>
                  <a:srgbClr val="1C252B"/>
                </a:solidFill>
                <a:latin typeface="Cambria"/>
              </a:rPr>
              <a:t>j</a:t>
            </a:r>
            <a:r>
              <a:rPr sz="2200" b="0" i="0">
                <a:solidFill>
                  <a:srgbClr val="1C252B"/>
                </a:solidFill>
                <a:latin typeface="Cambria"/>
              </a:rPr>
              <a:t>] = 0</a:t>
            </a:r>
            <a:r>
              <a:rPr sz="2200" b="0" i="0">
                <a:solidFill>
                  <a:srgbClr val="1C252B"/>
                </a:solidFill>
                <a:latin typeface="Segoe UI"/>
              </a:rPr>
              <a:t>. No maximum is needed in the equal case because including the matching character can never hurt: given any common subsequence of </a:t>
            </a:r>
            <a:r>
              <a:rPr sz="2200" b="0" i="1">
                <a:solidFill>
                  <a:srgbClr val="1C252B"/>
                </a:solidFill>
                <a:latin typeface="Cambria"/>
              </a:rPr>
              <a:t>X</a:t>
            </a:r>
            <a:r>
              <a:rPr sz="1450" b="0" i="0" baseline="-25000">
                <a:solidFill>
                  <a:srgbClr val="1C252B"/>
                </a:solidFill>
                <a:latin typeface="Cambria"/>
              </a:rPr>
              <a:t>1..</a:t>
            </a:r>
            <a:r>
              <a:rPr sz="1450" b="0" i="1" baseline="-25000">
                <a:solidFill>
                  <a:srgbClr val="1C252B"/>
                </a:solidFill>
                <a:latin typeface="Cambria"/>
              </a:rPr>
              <a:t>i</a:t>
            </a:r>
            <a:r>
              <a:rPr sz="2200" b="0" i="0">
                <a:solidFill>
                  <a:srgbClr val="1C252B"/>
                </a:solidFill>
                <a:latin typeface="Cambria"/>
              </a:rPr>
              <a:t>, </a:t>
            </a:r>
            <a:r>
              <a:rPr sz="2200" b="0" i="1">
                <a:solidFill>
                  <a:srgbClr val="1C252B"/>
                </a:solidFill>
                <a:latin typeface="Cambria"/>
              </a:rPr>
              <a:t>Y</a:t>
            </a:r>
            <a:r>
              <a:rPr sz="1450" b="0" i="0" baseline="-25000">
                <a:solidFill>
                  <a:srgbClr val="1C252B"/>
                </a:solidFill>
                <a:latin typeface="Cambria"/>
              </a:rPr>
              <a:t>1..</a:t>
            </a:r>
            <a:r>
              <a:rPr sz="1450" b="0" i="1" baseline="-25000">
                <a:solidFill>
                  <a:srgbClr val="1C252B"/>
                </a:solidFill>
                <a:latin typeface="Cambria"/>
              </a:rPr>
              <a:t>j</a:t>
            </a:r>
            <a:r>
              <a:rPr sz="2200" b="0" i="0">
                <a:solidFill>
                  <a:srgbClr val="1C252B"/>
                </a:solidFill>
                <a:latin typeface="Segoe UI"/>
              </a:rPr>
              <a:t> not ending in it, appending it yields one at least as long. So some LCS does end in that character, and the rest is an LCS of the two shortened prefixes.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136  ·  answers in Appendix D     </a:t>
            </a:r>
            <a:fld id="{C27FD780-455E-4371-9B84-8388A9CEB4E9}" type="slidenum">
              <a:rPr lang="en-GB" sz="1000">
                <a:solidFill>
                  <a:srgbClr val="8795A1"/>
                </a:solidFill>
                <a:latin typeface="Segoe UI"/>
              </a:rPr>
              <a:t>40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75335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Explain why </a:t>
            </a:r>
            <a:r>
              <a:rPr sz="3400" b="0" i="0">
                <a:solidFill>
                  <a:srgbClr val="FFFFFF"/>
                </a:solidFill>
                <a:latin typeface="Cambria"/>
              </a:rPr>
              <a:t>Θ(</a:t>
            </a:r>
            <a:r>
              <a:rPr sz="3400" b="0" i="1">
                <a:solidFill>
                  <a:srgbClr val="FFFFFF"/>
                </a:solidFill>
                <a:latin typeface="Cambria"/>
              </a:rPr>
              <a:t>nW</a:t>
            </a:r>
            <a:r>
              <a:rPr sz="3400" b="0" i="0">
                <a:solidFill>
                  <a:srgbClr val="FFFFFF"/>
                </a:solidFill>
                <a:latin typeface="Cambria"/>
              </a:rPr>
              <a:t>)</a:t>
            </a:r>
            <a:r>
              <a:rPr sz="3400" b="0" i="0">
                <a:solidFill>
                  <a:srgbClr val="FFFFFF"/>
                </a:solidFill>
                <a:latin typeface="Segoe UI Semibold"/>
              </a:rPr>
              <a:t> is pseudo-polynomial, using the measured doubling table, and relate it to Chapter 2’s trial division.</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16  ·  Dynamic Programming II: Classic Problems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136  ·  answers in Appendix D     </a:t>
            </a:r>
            <a:fld id="{E1165263-6E1A-4C47-A626-E9A6FE9038A6}" type="slidenum">
              <a:rPr lang="en-GB" sz="1000">
                <a:solidFill>
                  <a:srgbClr val="D5DEE5"/>
                </a:solidFill>
                <a:latin typeface="Segoe UI"/>
              </a:rPr>
              <a:t>41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Explain why </a:t>
            </a:r>
            <a:r>
              <a:rPr sz="2400" b="0" i="0">
                <a:solidFill>
                  <a:srgbClr val="1A5276"/>
                </a:solidFill>
                <a:latin typeface="Cambria"/>
              </a:rPr>
              <a:t>Θ(</a:t>
            </a:r>
            <a:r>
              <a:rPr sz="2400" b="0" i="1">
                <a:solidFill>
                  <a:srgbClr val="1A5276"/>
                </a:solidFill>
                <a:latin typeface="Cambria"/>
              </a:rPr>
              <a:t>nW</a:t>
            </a:r>
            <a:r>
              <a:rPr sz="2400" b="0" i="0">
                <a:solidFill>
                  <a:srgbClr val="1A5276"/>
                </a:solidFill>
                <a:latin typeface="Cambria"/>
              </a:rPr>
              <a:t>)</a:t>
            </a:r>
            <a:r>
              <a:rPr sz="2400" b="0" i="0">
                <a:solidFill>
                  <a:srgbClr val="1A5276"/>
                </a:solidFill>
                <a:latin typeface="Segoe UI Semibold"/>
              </a:rPr>
              <a:t> is pseudo-polynomial, using the measured doubling table, and relate it to Chapter 2’s trial division.</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running time is polynomial when polynomial in the </a:t>
            </a:r>
            <a:r>
              <a:rPr sz="2200" b="0" i="1">
                <a:solidFill>
                  <a:srgbClr val="1C252B"/>
                </a:solidFill>
                <a:latin typeface="Segoe UI"/>
              </a:rPr>
              <a:t>size</a:t>
            </a:r>
            <a:r>
              <a:rPr sz="2200" b="0" i="0">
                <a:solidFill>
                  <a:srgbClr val="1C252B"/>
                </a:solidFill>
                <a:latin typeface="Segoe UI"/>
              </a:rPr>
              <a:t> of the input, and a number’s size is its bit length (Chapter 2). </a:t>
            </a:r>
            <a:r>
              <a:rPr sz="2200" b="0" i="1">
                <a:solidFill>
                  <a:srgbClr val="1C252B"/>
                </a:solidFill>
                <a:latin typeface="Cambria"/>
              </a:rPr>
              <a:t>W</a:t>
            </a:r>
            <a:r>
              <a:rPr sz="2200" b="0" i="0">
                <a:solidFill>
                  <a:srgbClr val="1C252B"/>
                </a:solidFill>
                <a:latin typeface="Segoe UI"/>
              </a:rPr>
              <a:t> is one number of </a:t>
            </a:r>
            <a:r>
              <a:rPr sz="2200" b="0" i="1">
                <a:solidFill>
                  <a:srgbClr val="1C252B"/>
                </a:solidFill>
                <a:latin typeface="Cambria"/>
              </a:rPr>
              <a:t>b</a:t>
            </a:r>
            <a:r>
              <a:rPr sz="2200" b="0" i="0">
                <a:solidFill>
                  <a:srgbClr val="1C252B"/>
                </a:solidFill>
                <a:latin typeface="Cambria"/>
              </a:rPr>
              <a:t> ≈ lg </a:t>
            </a:r>
            <a:r>
              <a:rPr sz="2200" b="0" i="1">
                <a:solidFill>
                  <a:srgbClr val="1C252B"/>
                </a:solidFill>
                <a:latin typeface="Cambria"/>
              </a:rPr>
              <a:t>W</a:t>
            </a:r>
            <a:r>
              <a:rPr sz="2200" b="0" i="0">
                <a:solidFill>
                  <a:srgbClr val="1C252B"/>
                </a:solidFill>
                <a:latin typeface="Segoe UI"/>
              </a:rPr>
              <a:t> bits, so </a:t>
            </a:r>
            <a:r>
              <a:rPr sz="2200" b="0" i="0">
                <a:solidFill>
                  <a:srgbClr val="1C252B"/>
                </a:solidFill>
                <a:latin typeface="Cambria"/>
              </a:rPr>
              <a:t>Θ(</a:t>
            </a:r>
            <a:r>
              <a:rPr sz="2200" b="0" i="1">
                <a:solidFill>
                  <a:srgbClr val="1C252B"/>
                </a:solidFill>
                <a:latin typeface="Cambria"/>
              </a:rPr>
              <a:t>nW</a:t>
            </a:r>
            <a:r>
              <a:rPr sz="2200" b="0" i="0">
                <a:solidFill>
                  <a:srgbClr val="1C252B"/>
                </a:solidFill>
                <a:latin typeface="Cambria"/>
              </a:rPr>
              <a:t>) = Θ(</a:t>
            </a:r>
            <a:r>
              <a:rPr sz="2200" b="0" i="1">
                <a:solidFill>
                  <a:srgbClr val="1C252B"/>
                </a:solidFill>
                <a:latin typeface="Cambria"/>
              </a:rPr>
              <a:t>n</a:t>
            </a:r>
            <a:r>
              <a:rPr sz="2200" b="0" i="0">
                <a:solidFill>
                  <a:srgbClr val="1C252B"/>
                </a:solidFill>
                <a:latin typeface="Cambria"/>
              </a:rPr>
              <a:t>2</a:t>
            </a:r>
            <a:r>
              <a:rPr sz="1450" b="0" i="1" baseline="30000">
                <a:solidFill>
                  <a:srgbClr val="1C252B"/>
                </a:solidFill>
                <a:latin typeface="Cambria"/>
              </a:rPr>
              <a:t>b</a:t>
            </a:r>
            <a:r>
              <a:rPr sz="2200" b="0" i="0">
                <a:solidFill>
                  <a:srgbClr val="1C252B"/>
                </a:solidFill>
                <a:latin typeface="Cambria"/>
              </a:rPr>
              <a:t>)</a:t>
            </a:r>
            <a:r>
              <a:rPr sz="2200" b="0" i="0">
                <a:solidFill>
                  <a:srgbClr val="1C252B"/>
                </a:solidFill>
                <a:latin typeface="Segoe UI"/>
              </a:rPr>
              <a:t> — exponential in </a:t>
            </a:r>
            <a:r>
              <a:rPr sz="2200" b="0" i="1">
                <a:solidFill>
                  <a:srgbClr val="1C252B"/>
                </a:solidFill>
                <a:latin typeface="Cambria"/>
              </a:rPr>
              <a:t>b</a:t>
            </a:r>
            <a:r>
              <a:rPr sz="2200" b="0" i="0">
                <a:solidFill>
                  <a:srgbClr val="1C252B"/>
                </a:solidFill>
                <a:latin typeface="Segoe UI"/>
              </a:rPr>
              <a:t>. Measured: eight doublings of </a:t>
            </a:r>
            <a:r>
              <a:rPr sz="2200" b="0" i="1">
                <a:solidFill>
                  <a:srgbClr val="1C252B"/>
                </a:solidFill>
                <a:latin typeface="Cambria"/>
              </a:rPr>
              <a:t>W</a:t>
            </a:r>
            <a:r>
              <a:rPr sz="2200" b="0" i="0">
                <a:solidFill>
                  <a:srgbClr val="1C252B"/>
                </a:solidFill>
                <a:latin typeface="Segoe UI"/>
              </a:rPr>
              <a:t>, each adding one bit, gave time ratios of mean </a:t>
            </a:r>
            <a:r>
              <a:rPr sz="2200" b="0" i="0">
                <a:solidFill>
                  <a:srgbClr val="1C252B"/>
                </a:solidFill>
                <a:latin typeface="Cambria"/>
              </a:rPr>
              <a:t>2.02</a:t>
            </a:r>
            <a:r>
              <a:rPr sz="2200" b="0" i="0">
                <a:solidFill>
                  <a:srgbClr val="1C252B"/>
                </a:solidFill>
                <a:latin typeface="Segoe UI"/>
              </a:rPr>
              <a:t>. This is the same phenomenon as Chapter 2’s trial division, whose eight ratios averaged </a:t>
            </a:r>
            <a:r>
              <a:rPr sz="2200" b="0" i="0">
                <a:solidFill>
                  <a:srgbClr val="1C252B"/>
                </a:solidFill>
                <a:latin typeface="Cambria"/>
              </a:rPr>
              <a:t>2.02</a:t>
            </a:r>
            <a:r>
              <a:rPr sz="2200" b="0" i="0">
                <a:solidFill>
                  <a:srgbClr val="1C252B"/>
                </a:solidFill>
                <a:latin typeface="Segoe UI"/>
              </a:rPr>
              <a:t> per two bits, reached from the opposite direction.</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136  ·  answers in Appendix D     </a:t>
            </a:r>
            <a:fld id="{D1088D9E-D4D5-4913-90B9-6260C6C971D2}" type="slidenum">
              <a:rPr lang="en-GB" sz="1000">
                <a:solidFill>
                  <a:srgbClr val="8795A1"/>
                </a:solidFill>
                <a:latin typeface="Segoe UI"/>
              </a:rPr>
              <a:t>42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24102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Give one problem for which the two-row space trick is appropriate and one for which it is not, and say what distinguishes them.</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16  ·  Dynamic Programming II: Classic Problems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136  ·  answers in Appendix D     </a:t>
            </a:r>
            <a:fld id="{2ED1102F-6B84-440B-9E85-D6001B3555E1}" type="slidenum">
              <a:rPr lang="en-GB" sz="1000">
                <a:solidFill>
                  <a:srgbClr val="D5DEE5"/>
                </a:solidFill>
                <a:latin typeface="Segoe UI"/>
              </a:rPr>
              <a:t>43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Give one problem for which the two-row space trick is appropriate and one for which it is not, and say what distinguishes them.</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256B9A"/>
                </a:solidFill>
                <a:latin typeface="Segoe UI"/>
              </a:rPr>
              <a:t>Appropriate:</a:t>
            </a:r>
            <a:r>
              <a:rPr sz="2200" b="0" i="0">
                <a:solidFill>
                  <a:srgbClr val="1C252B"/>
                </a:solidFill>
                <a:latin typeface="Segoe UI"/>
              </a:rPr>
              <a:t> computing only the </a:t>
            </a:r>
            <a:r>
              <a:rPr sz="2200" b="0" i="1">
                <a:solidFill>
                  <a:srgbClr val="1C252B"/>
                </a:solidFill>
                <a:latin typeface="Segoe UI"/>
              </a:rPr>
              <a:t>length</a:t>
            </a:r>
            <a:r>
              <a:rPr sz="2200" b="0" i="0">
                <a:solidFill>
                  <a:srgbClr val="1C252B"/>
                </a:solidFill>
                <a:latin typeface="Segoe UI"/>
              </a:rPr>
              <a:t> of an LCS, or only the edit </a:t>
            </a:r>
            <a:r>
              <a:rPr sz="2200" b="0" i="1">
                <a:solidFill>
                  <a:srgbClr val="1C252B"/>
                </a:solidFill>
                <a:latin typeface="Segoe UI"/>
              </a:rPr>
              <a:t>distance</a:t>
            </a:r>
            <a:r>
              <a:rPr sz="2200" b="0" i="0">
                <a:solidFill>
                  <a:srgbClr val="1C252B"/>
                </a:solidFill>
                <a:latin typeface="Segoe UI"/>
              </a:rPr>
              <a:t>, where the answer is the final table entry. </a:t>
            </a:r>
            <a:r>
              <a:rPr sz="2200" b="1" i="0">
                <a:solidFill>
                  <a:srgbClr val="1C252B"/>
                </a:solidFill>
                <a:latin typeface="Segoe UI"/>
              </a:rPr>
              <a:t>Not appropriate:</a:t>
            </a:r>
            <a:r>
              <a:rPr sz="2200" b="0" i="0">
                <a:solidFill>
                  <a:srgbClr val="1C252B"/>
                </a:solidFill>
                <a:latin typeface="Segoe UI"/>
              </a:rPr>
              <a:t> recovering the subsequence or the alignment itself, which requires walking backwards through the whole table. What distinguishes them is whether the answer is a single value or a </a:t>
            </a:r>
            <a:r>
              <a:rPr sz="2200" b="0" i="1">
                <a:solidFill>
                  <a:srgbClr val="1C252B"/>
                </a:solidFill>
                <a:latin typeface="Segoe UI"/>
              </a:rPr>
              <a:t>path</a:t>
            </a:r>
            <a:r>
              <a:rPr sz="2200" b="0" i="0">
                <a:solidFill>
                  <a:srgbClr val="1C252B"/>
                </a:solidFill>
                <a:latin typeface="Segoe UI"/>
              </a:rPr>
              <a:t>; a path needs the table that produced it. Hirschberg’s algorithm gets both, at twice the code.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136  ·  answers in Appendix D     </a:t>
            </a:r>
            <a:fld id="{4A1A5812-8D2E-45EA-B7A8-7A4A4DB4E24C}" type="slidenum">
              <a:rPr lang="en-GB" sz="1000">
                <a:solidFill>
                  <a:srgbClr val="8795A1"/>
                </a:solidFill>
                <a:latin typeface="Segoe UI"/>
              </a:rPr>
              <a:t>44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72869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136     </a:t>
            </a:r>
            <a:fld id="{1891DE2F-B87A-41F5-AD2B-9F6B7279B996}" type="slidenum">
              <a:rPr lang="en-GB" sz="1000">
                <a:solidFill>
                  <a:srgbClr val="8795A1"/>
                </a:solidFill>
                <a:latin typeface="Segoe UI"/>
              </a:rPr>
              <a:t>45</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LCS and edit distance share one table shape: </a:t>
            </a:r>
            <a:r>
              <a:rPr sz="1700" b="0" i="1">
                <a:solidFill>
                  <a:srgbClr val="1C252B"/>
                </a:solidFill>
                <a:latin typeface="Cambria"/>
              </a:rPr>
              <a:t>mn</a:t>
            </a:r>
            <a:r>
              <a:rPr sz="1700" b="0" i="0">
                <a:solidFill>
                  <a:srgbClr val="1C252B"/>
                </a:solidFill>
                <a:latin typeface="Segoe UI"/>
              </a:rPr>
              <a:t> subproblems indexed by two prefix lengths, </a:t>
            </a:r>
            <a:r>
              <a:rPr sz="1700" b="0" i="0">
                <a:solidFill>
                  <a:srgbClr val="1C252B"/>
                </a:solidFill>
                <a:latin typeface="Cambria"/>
              </a:rPr>
              <a:t>O(1)</a:t>
            </a:r>
            <a:r>
              <a:rPr sz="1700" b="0" i="0">
                <a:solidFill>
                  <a:srgbClr val="1C252B"/>
                </a:solidFill>
                <a:latin typeface="Segoe UI"/>
              </a:rPr>
              <a:t> work each, so </a:t>
            </a:r>
            <a:r>
              <a:rPr sz="1700" b="0" i="0">
                <a:solidFill>
                  <a:srgbClr val="1C252B"/>
                </a:solidFill>
                <a:latin typeface="Cambria"/>
              </a:rPr>
              <a:t>Θ(</a:t>
            </a:r>
            <a:r>
              <a:rPr sz="1700" b="0" i="1">
                <a:solidFill>
                  <a:srgbClr val="1C252B"/>
                </a:solidFill>
                <a:latin typeface="Cambria"/>
              </a:rPr>
              <a:t>mn</a:t>
            </a:r>
            <a:r>
              <a:rPr sz="1700" b="0" i="0">
                <a:solidFill>
                  <a:srgbClr val="1C252B"/>
                </a:solidFill>
                <a:latin typeface="Cambria"/>
              </a:rPr>
              <a:t>)</a:t>
            </a:r>
            <a:r>
              <a:rPr sz="1700" b="0" i="0">
                <a:solidFill>
                  <a:srgbClr val="1C252B"/>
                </a:solidFill>
                <a:latin typeface="Segoe UI"/>
              </a:rPr>
              <a:t>. They differ only in the cost of the three moves.</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both quadratic, mean ratios 4.17 and 4.34 on doubling against a predicted 4; the two-row version was 1.7</a:t>
            </a:r>
            <a:r>
              <a:rPr sz="1700" b="0" i="0">
                <a:solidFill>
                  <a:srgbClr val="1C252B"/>
                </a:solidFill>
                <a:latin typeface="Cambria"/>
              </a:rPr>
              <a:t>×</a:t>
            </a:r>
            <a:r>
              <a:rPr sz="1700" b="0" i="0">
                <a:solidFill>
                  <a:srgbClr val="1C252B"/>
                </a:solidFill>
                <a:latin typeface="Segoe UI"/>
              </a:rPr>
              <a:t> faster through cache behaviour alone.</a:t>
            </a:r>
          </a:p>
        </p:txBody>
      </p:sp>
      <p:sp>
        <p:nvSpPr>
          <p:cNvPr id="13" name="!!sb2">
            <a:extLst>
              <a:ext uri="{C183D7F6-B498-43B3-948B-1728B52AA6E4}">
                <adec:decorative xmlns:adec="http://schemas.microsoft.com/office/drawing/2017/decorative" val="1"/>
              </a:ext>
            </a:extLst>
          </p:cNvPr>
          <p:cNvSpPr/>
          <p:nvPr/>
        </p:nvSpPr>
        <p:spPr>
          <a:xfrm>
            <a:off x="658368" y="31900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449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8089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rolling array cuts space from </a:t>
            </a:r>
            <a:r>
              <a:rPr sz="1700" b="0" i="0">
                <a:solidFill>
                  <a:srgbClr val="1C252B"/>
                </a:solidFill>
                <a:latin typeface="Cambria"/>
              </a:rPr>
              <a:t>Θ(</a:t>
            </a:r>
            <a:r>
              <a:rPr sz="1700" b="0" i="1">
                <a:solidFill>
                  <a:srgbClr val="1C252B"/>
                </a:solidFill>
                <a:latin typeface="Cambria"/>
              </a:rPr>
              <a:t>mn</a:t>
            </a:r>
            <a:r>
              <a:rPr sz="1700" b="0" i="0">
                <a:solidFill>
                  <a:srgbClr val="1C252B"/>
                </a:solidFill>
                <a:latin typeface="Cambria"/>
              </a:rPr>
              <a:t>)</a:t>
            </a:r>
            <a:r>
              <a:rPr sz="1700" b="0" i="0">
                <a:solidFill>
                  <a:srgbClr val="1C252B"/>
                </a:solidFill>
                <a:latin typeface="Segoe UI"/>
              </a:rPr>
              <a:t> to </a:t>
            </a:r>
            <a:r>
              <a:rPr sz="1700" b="0" i="0">
                <a:solidFill>
                  <a:srgbClr val="1C252B"/>
                </a:solidFill>
                <a:latin typeface="Cambria"/>
              </a:rPr>
              <a:t>Θ(min(</a:t>
            </a:r>
            <a:r>
              <a:rPr sz="1700" b="0" i="1">
                <a:solidFill>
                  <a:srgbClr val="1C252B"/>
                </a:solidFill>
                <a:latin typeface="Cambria"/>
              </a:rPr>
              <a:t>m</a:t>
            </a:r>
            <a:r>
              <a:rPr sz="1700" b="0" i="0">
                <a:solidFill>
                  <a:srgbClr val="1C252B"/>
                </a:solidFill>
                <a:latin typeface="Cambria"/>
              </a:rPr>
              <a:t>,</a:t>
            </a:r>
            <a:r>
              <a:rPr sz="1700" b="0" i="1">
                <a:solidFill>
                  <a:srgbClr val="1C252B"/>
                </a:solidFill>
                <a:latin typeface="Cambria"/>
              </a:rPr>
              <a:t>n</a:t>
            </a:r>
            <a:r>
              <a:rPr sz="1700" b="0" i="0">
                <a:solidFill>
                  <a:srgbClr val="1C252B"/>
                </a:solidFill>
                <a:latin typeface="Cambria"/>
              </a:rPr>
              <a:t>))</a:t>
            </a:r>
            <a:r>
              <a:rPr sz="1700" b="0" i="0">
                <a:solidFill>
                  <a:srgbClr val="1C252B"/>
                </a:solidFill>
                <a:latin typeface="Segoe UI"/>
              </a:rPr>
              <a:t> and makes reconstruction impossible. Hirschberg’s algorithm gets both, at twice the code.</a:t>
            </a:r>
          </a:p>
        </p:txBody>
      </p:sp>
      <p:sp>
        <p:nvSpPr>
          <p:cNvPr id="16" name="!!sb3">
            <a:extLst>
              <a:ext uri="{C183D7F6-B498-43B3-948B-1728B52AA6E4}">
                <adec:decorative xmlns:adec="http://schemas.microsoft.com/office/drawing/2017/decorative" val="1"/>
              </a:ext>
            </a:extLst>
          </p:cNvPr>
          <p:cNvSpPr/>
          <p:nvPr/>
        </p:nvSpPr>
        <p:spPr>
          <a:xfrm>
            <a:off x="658368" y="391180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96666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02659"/>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0/1 knapsack is </a:t>
            </a:r>
            <a:r>
              <a:rPr sz="1700" b="0" i="0">
                <a:solidFill>
                  <a:srgbClr val="1C252B"/>
                </a:solidFill>
                <a:latin typeface="Cambria"/>
              </a:rPr>
              <a:t>Θ(</a:t>
            </a:r>
            <a:r>
              <a:rPr sz="1700" b="0" i="1">
                <a:solidFill>
                  <a:srgbClr val="1C252B"/>
                </a:solidFill>
                <a:latin typeface="Cambria"/>
              </a:rPr>
              <a:t>nW</a:t>
            </a:r>
            <a:r>
              <a:rPr sz="1700" b="0" i="0">
                <a:solidFill>
                  <a:srgbClr val="1C252B"/>
                </a:solidFill>
                <a:latin typeface="Cambria"/>
              </a:rPr>
              <a:t>)</a:t>
            </a:r>
            <a:r>
              <a:rPr sz="1700" b="0" i="0">
                <a:solidFill>
                  <a:srgbClr val="1C252B"/>
                </a:solidFill>
                <a:latin typeface="Segoe UI"/>
              </a:rPr>
              <a:t> with </a:t>
            </a:r>
            <a:r>
              <a:rPr sz="1700" b="0" i="1">
                <a:solidFill>
                  <a:srgbClr val="1C252B"/>
                </a:solidFill>
                <a:latin typeface="Cambria"/>
              </a:rPr>
              <a:t>nW</a:t>
            </a:r>
            <a:r>
              <a:rPr sz="1700" b="0" i="0">
                <a:solidFill>
                  <a:srgbClr val="1C252B"/>
                </a:solidFill>
                <a:latin typeface="Segoe UI"/>
              </a:rPr>
              <a:t> subproblems. The inner loop must count down, or it solves the unbounded problem instead.</a:t>
            </a:r>
          </a:p>
        </p:txBody>
      </p:sp>
      <p:sp>
        <p:nvSpPr>
          <p:cNvPr id="19" name="!!sb4">
            <a:extLst>
              <a:ext uri="{C183D7F6-B498-43B3-948B-1728B52AA6E4}">
                <adec:decorative xmlns:adec="http://schemas.microsoft.com/office/drawing/2017/decorative" val="1"/>
              </a:ext>
            </a:extLst>
          </p:cNvPr>
          <p:cNvSpPr/>
          <p:nvPr/>
        </p:nvSpPr>
        <p:spPr>
          <a:xfrm>
            <a:off x="658368" y="463356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68843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624425"/>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Cambria"/>
              </a:rPr>
              <a:t>Θ(</a:t>
            </a:r>
            <a:r>
              <a:rPr sz="1700" b="0" i="1">
                <a:solidFill>
                  <a:srgbClr val="1C252B"/>
                </a:solidFill>
                <a:latin typeface="Cambria"/>
              </a:rPr>
              <a:t>nW</a:t>
            </a:r>
            <a:r>
              <a:rPr sz="1700" b="0" i="0">
                <a:solidFill>
                  <a:srgbClr val="1C252B"/>
                </a:solidFill>
                <a:latin typeface="Cambria"/>
              </a:rPr>
              <a:t>)</a:t>
            </a:r>
            <a:r>
              <a:rPr sz="1700" b="0" i="0">
                <a:solidFill>
                  <a:srgbClr val="1C252B"/>
                </a:solidFill>
                <a:latin typeface="Segoe UI"/>
              </a:rPr>
              <a:t> is </a:t>
            </a:r>
            <a:r>
              <a:rPr sz="1700" b="1" i="0">
                <a:solidFill>
                  <a:srgbClr val="1C252B"/>
                </a:solidFill>
                <a:latin typeface="Segoe UI"/>
              </a:rPr>
              <a:t>pseudo-polynomial</a:t>
            </a:r>
            <a:r>
              <a:rPr sz="1700" b="0" i="0">
                <a:solidFill>
                  <a:srgbClr val="1C252B"/>
                </a:solidFill>
                <a:latin typeface="Segoe UI"/>
              </a:rPr>
              <a:t>: </a:t>
            </a:r>
            <a:r>
              <a:rPr sz="1700" b="0" i="1">
                <a:solidFill>
                  <a:srgbClr val="1C252B"/>
                </a:solidFill>
                <a:latin typeface="Cambria"/>
              </a:rPr>
              <a:t>W</a:t>
            </a:r>
            <a:r>
              <a:rPr sz="1700" b="0" i="0">
                <a:solidFill>
                  <a:srgbClr val="1C252B"/>
                </a:solidFill>
                <a:latin typeface="Segoe UI"/>
              </a:rPr>
              <a:t> is a value, its input size is </a:t>
            </a:r>
            <a:r>
              <a:rPr sz="1700" b="0" i="0">
                <a:solidFill>
                  <a:srgbClr val="1C252B"/>
                </a:solidFill>
                <a:latin typeface="Cambria"/>
              </a:rPr>
              <a:t>lg </a:t>
            </a:r>
            <a:r>
              <a:rPr sz="1700" b="0" i="1">
                <a:solidFill>
                  <a:srgbClr val="1C252B"/>
                </a:solidFill>
                <a:latin typeface="Cambria"/>
              </a:rPr>
              <a:t>W</a:t>
            </a:r>
            <a:r>
              <a:rPr sz="1700" b="0" i="0">
                <a:solidFill>
                  <a:srgbClr val="1C252B"/>
                </a:solidFill>
                <a:latin typeface="Segoe UI"/>
              </a:rPr>
              <a:t> bits, so the time is </a:t>
            </a:r>
            <a:r>
              <a:rPr sz="1700" b="0" i="0">
                <a:solidFill>
                  <a:srgbClr val="1C252B"/>
                </a:solidFill>
                <a:latin typeface="Cambria"/>
              </a:rPr>
              <a:t>Θ(</a:t>
            </a:r>
            <a:r>
              <a:rPr sz="1700" b="0" i="1">
                <a:solidFill>
                  <a:srgbClr val="1C252B"/>
                </a:solidFill>
                <a:latin typeface="Cambria"/>
              </a:rPr>
              <a:t>n</a:t>
            </a:r>
            <a:r>
              <a:rPr sz="1700" b="0" i="0">
                <a:solidFill>
                  <a:srgbClr val="1C252B"/>
                </a:solidFill>
                <a:latin typeface="Cambria"/>
              </a:rPr>
              <a:t>2</a:t>
            </a:r>
            <a:r>
              <a:rPr sz="1100" b="0" i="1" baseline="30000">
                <a:solidFill>
                  <a:srgbClr val="1C252B"/>
                </a:solidFill>
                <a:latin typeface="Cambria"/>
              </a:rPr>
              <a:t>b</a:t>
            </a:r>
            <a:r>
              <a:rPr sz="1700" b="0" i="0">
                <a:solidFill>
                  <a:srgbClr val="1C252B"/>
                </a:solidFill>
                <a:latin typeface="Cambria"/>
              </a:rPr>
              <a:t>)</a:t>
            </a:r>
            <a:r>
              <a:rPr sz="1700" b="0" i="0">
                <a:solidFill>
                  <a:srgbClr val="1C252B"/>
                </a:solidFill>
                <a:latin typeface="Segoe UI"/>
              </a:rPr>
              <a:t>.</a:t>
            </a:r>
          </a:p>
        </p:txBody>
      </p:sp>
      <p:sp>
        <p:nvSpPr>
          <p:cNvPr id="22" name="!!sb5">
            <a:extLst>
              <a:ext uri="{C183D7F6-B498-43B3-948B-1728B52AA6E4}">
                <adec:decorative xmlns:adec="http://schemas.microsoft.com/office/drawing/2017/decorative" val="1"/>
              </a:ext>
            </a:extLst>
          </p:cNvPr>
          <p:cNvSpPr/>
          <p:nvPr/>
        </p:nvSpPr>
        <p:spPr>
          <a:xfrm>
            <a:off x="658368" y="521878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27364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209641"/>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with </a:t>
            </a:r>
            <a:r>
              <a:rPr sz="1700" b="0" i="1">
                <a:solidFill>
                  <a:srgbClr val="1C252B"/>
                </a:solidFill>
                <a:latin typeface="Cambria"/>
              </a:rPr>
              <a:t>n</a:t>
            </a:r>
            <a:r>
              <a:rPr sz="1700" b="0" i="0">
                <a:solidFill>
                  <a:srgbClr val="1C252B"/>
                </a:solidFill>
                <a:latin typeface="Segoe UI"/>
              </a:rPr>
              <a:t> fixed at 200: eight doublings of </a:t>
            </a:r>
            <a:r>
              <a:rPr sz="1700" b="0" i="1">
                <a:solidFill>
                  <a:srgbClr val="1C252B"/>
                </a:solidFill>
                <a:latin typeface="Cambria"/>
              </a:rPr>
              <a:t>W</a:t>
            </a:r>
            <a:r>
              <a:rPr sz="1700" b="0" i="0">
                <a:solidFill>
                  <a:srgbClr val="1C252B"/>
                </a:solidFill>
                <a:latin typeface="Segoe UI"/>
              </a:rPr>
              <a:t> gave time ratios of mean 2.02, each row adding one bit of input. A 64-bit capacity would take about 22,000 years.</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97252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136     </a:t>
            </a:r>
            <a:fld id="{830FC13E-9914-431F-9EC3-3E88DA224450}" type="slidenum">
              <a:rPr lang="en-GB" sz="1000">
                <a:solidFill>
                  <a:srgbClr val="8795A1"/>
                </a:solidFill>
                <a:latin typeface="Segoe UI"/>
              </a:rPr>
              <a:t>46</a:t>
            </a:fld>
          </a:p>
        </p:txBody>
      </p:sp>
      <p:sp>
        <p:nvSpPr>
          <p:cNvPr id="7" name="!!sb6">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6"/>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9" name="!!st6"/>
          <p:cNvSpPr txBox="1"/>
          <p:nvPr/>
        </p:nvSpPr>
        <p:spPr>
          <a:xfrm>
            <a:off x="1298448" y="1737360"/>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Find the subproblem parameters first; the running time follows from (count) </a:t>
            </a:r>
            <a:r>
              <a:rPr sz="1700" b="0" i="0">
                <a:solidFill>
                  <a:srgbClr val="1C252B"/>
                </a:solidFill>
                <a:latin typeface="Cambria"/>
              </a:rPr>
              <a:t>×</a:t>
            </a:r>
            <a:r>
              <a:rPr sz="1700" b="0" i="0">
                <a:solidFill>
                  <a:srgbClr val="1C252B"/>
                </a:solidFill>
                <a:latin typeface="Segoe UI"/>
              </a:rPr>
              <a:t> (work each).</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121635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136     </a:t>
            </a:r>
            <a:fld id="{82851D8A-6B99-4A13-A96A-3C4F96ED3AC0}" type="slidenum">
              <a:rPr lang="en-GB" sz="1000">
                <a:solidFill>
                  <a:srgbClr val="8795A1"/>
                </a:solidFill>
                <a:latin typeface="Segoe UI"/>
              </a:rPr>
              <a:t>47</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LCS of two strings of lengths </a:t>
            </a:r>
            <a:r>
              <a:rPr sz="2600" b="0" i="1">
                <a:solidFill>
                  <a:srgbClr val="1C252B"/>
                </a:solidFill>
                <a:latin typeface="Cambria"/>
              </a:rPr>
              <a:t>m</a:t>
            </a:r>
            <a:r>
              <a:rPr sz="2600" b="0" i="0">
                <a:solidFill>
                  <a:srgbClr val="1C252B"/>
                </a:solidFill>
                <a:latin typeface="Segoe UI"/>
              </a:rPr>
              <a:t> and </a:t>
            </a:r>
            <a:r>
              <a:rPr sz="2600" b="0" i="1">
                <a:solidFill>
                  <a:srgbClr val="1C252B"/>
                </a:solidFill>
                <a:latin typeface="Cambria"/>
              </a:rPr>
              <a:t>n</a:t>
            </a:r>
            <a:r>
              <a:rPr sz="2600" b="0" i="0">
                <a:solidFill>
                  <a:srgbClr val="1C252B"/>
                </a:solidFill>
                <a:latin typeface="Segoe UI"/>
              </a:rPr>
              <a:t> is computed in:</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Θ(</a:t>
            </a:r>
            <a:r>
              <a:rPr sz="2000" b="0" i="1">
                <a:solidFill>
                  <a:srgbClr val="1C252B"/>
                </a:solidFill>
                <a:latin typeface="Cambria"/>
              </a:rPr>
              <a:t>m</a:t>
            </a:r>
            <a:r>
              <a:rPr sz="2000" b="0" i="0">
                <a:solidFill>
                  <a:srgbClr val="1C252B"/>
                </a:solidFill>
                <a:latin typeface="Cambria"/>
              </a:rPr>
              <a:t>+</a:t>
            </a:r>
            <a:r>
              <a:rPr sz="2000" b="0" i="1">
                <a:solidFill>
                  <a:srgbClr val="1C252B"/>
                </a:solidFill>
                <a:latin typeface="Cambria"/>
              </a:rPr>
              <a:t>n</a:t>
            </a:r>
            <a:r>
              <a:rPr sz="2000" b="0" i="0">
                <a:solidFill>
                  <a:srgbClr val="1C252B"/>
                </a:solidFill>
                <a:latin typeface="Cambria"/>
              </a:rPr>
              <a:t>)</a:t>
            </a:r>
            <a:r>
              <a:rPr sz="2000" b="0" i="0">
                <a:solidFill>
                  <a:srgbClr val="1C252B"/>
                </a:solidFill>
                <a:latin typeface="Segoe UI"/>
              </a:rPr>
              <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Θ(</a:t>
            </a:r>
            <a:r>
              <a:rPr sz="2000" b="0" i="1">
                <a:solidFill>
                  <a:srgbClr val="1C252B"/>
                </a:solidFill>
                <a:latin typeface="Cambria"/>
              </a:rPr>
              <a:t>mn</a:t>
            </a:r>
            <a:r>
              <a:rPr sz="2000" b="0" i="0">
                <a:solidFill>
                  <a:srgbClr val="1C252B"/>
                </a:solidFill>
                <a:latin typeface="Cambria"/>
              </a:rPr>
              <a:t>)</a:t>
            </a:r>
            <a:r>
              <a:rPr sz="2000" b="0" i="0">
                <a:solidFill>
                  <a:srgbClr val="1C252B"/>
                </a:solidFill>
                <a:latin typeface="Segoe UI"/>
              </a:rPr>
              <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Θ(</a:t>
            </a:r>
            <a:r>
              <a:rPr sz="2000" b="0" i="1">
                <a:solidFill>
                  <a:srgbClr val="1C252B"/>
                </a:solidFill>
                <a:latin typeface="Cambria"/>
              </a:rPr>
              <a:t>mn</a:t>
            </a:r>
            <a:r>
              <a:rPr sz="2000" b="0" i="0">
                <a:solidFill>
                  <a:srgbClr val="1C252B"/>
                </a:solidFill>
                <a:latin typeface="Cambria"/>
              </a:rPr>
              <a:t> lg </a:t>
            </a:r>
            <a:r>
              <a:rPr sz="2000" b="0" i="1">
                <a:solidFill>
                  <a:srgbClr val="1C252B"/>
                </a:solidFill>
                <a:latin typeface="Cambria"/>
              </a:rPr>
              <a:t>n</a:t>
            </a:r>
            <a:r>
              <a:rPr sz="2000" b="0" i="0">
                <a:solidFill>
                  <a:srgbClr val="1C252B"/>
                </a:solidFill>
                <a:latin typeface="Cambria"/>
              </a:rPr>
              <a:t>)</a:t>
            </a:r>
            <a:r>
              <a:rPr sz="2000" b="0" i="0">
                <a:solidFill>
                  <a:srgbClr val="1C252B"/>
                </a:solidFill>
                <a:latin typeface="Segoe UI"/>
              </a:rPr>
              <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Θ(2</a:t>
            </a:r>
            <a:r>
              <a:rPr sz="1300" b="0" i="1" baseline="30000">
                <a:solidFill>
                  <a:srgbClr val="1C252B"/>
                </a:solidFill>
                <a:latin typeface="Cambria"/>
              </a:rPr>
              <a:t>n</a:t>
            </a:r>
            <a:r>
              <a:rPr sz="2000" b="0" i="0">
                <a:solidFill>
                  <a:srgbClr val="1C252B"/>
                </a:solidFill>
                <a:latin typeface="Cambria"/>
              </a:rPr>
              <a:t>)</a:t>
            </a:r>
            <a:r>
              <a:rPr sz="2000" b="0" i="0">
                <a:solidFill>
                  <a:srgbClr val="1C252B"/>
                </a:solidFill>
                <a:latin typeface="Segoe UI"/>
              </a:rPr>
              <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46019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136     </a:t>
            </a:r>
            <a:fld id="{50B91C27-9A86-4551-A058-5285A5CAA677}" type="slidenum">
              <a:rPr lang="en-GB" sz="1000">
                <a:solidFill>
                  <a:srgbClr val="8795A1"/>
                </a:solidFill>
                <a:latin typeface="Segoe UI"/>
              </a:rPr>
              <a:t>48</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Cambria"/>
              </a:rPr>
              <a:t>Θ(</a:t>
            </a:r>
            <a:r>
              <a:rPr sz="2600" b="0" i="1">
                <a:solidFill>
                  <a:srgbClr val="1C252B"/>
                </a:solidFill>
                <a:latin typeface="Cambria"/>
              </a:rPr>
              <a:t>nW</a:t>
            </a:r>
            <a:r>
              <a:rPr sz="2600" b="0" i="0">
                <a:solidFill>
                  <a:srgbClr val="1C252B"/>
                </a:solidFill>
                <a:latin typeface="Cambria"/>
              </a:rPr>
              <a:t>)</a:t>
            </a:r>
            <a:r>
              <a:rPr sz="2600" b="0" i="0">
                <a:solidFill>
                  <a:srgbClr val="1C252B"/>
                </a:solidFill>
                <a:latin typeface="Segoe UI"/>
              </a:rPr>
              <a:t> for 0/1 knapsack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polynomial</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pseudo-polynomial</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logarithmic</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constant in </a:t>
            </a:r>
            <a:r>
              <a:rPr sz="2000" b="0" i="1">
                <a:solidFill>
                  <a:srgbClr val="1C252B"/>
                </a:solidFill>
                <a:latin typeface="Cambria"/>
              </a:rPr>
              <a:t>W</a:t>
            </a:r>
            <a:r>
              <a:rPr sz="2000" b="0" i="0">
                <a:solidFill>
                  <a:srgbClr val="1C252B"/>
                </a:solidFill>
                <a:latin typeface="Segoe UI"/>
              </a:rPr>
              <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70402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16  ·  Dynamic Programming II: Classic Problems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136     </a:t>
            </a:r>
            <a:fld id="{21C5CA49-F047-42D0-B1FB-AE9C2052188E}" type="slidenum">
              <a:rPr lang="en-GB" sz="1000">
                <a:solidFill>
                  <a:srgbClr val="8795A1"/>
                </a:solidFill>
                <a:latin typeface="Segoe UI"/>
              </a:rPr>
              <a:t>49</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Derive the edit-distance recurrence, naming the three operations and their costs </a:t>
            </a:r>
            <a:r>
              <a:rPr sz="1900" b="0" i="1">
                <a:solidFill>
                  <a:srgbClr val="1C252B"/>
                </a:solidFill>
                <a:latin typeface="Segoe UI"/>
              </a:rPr>
              <a:t>(CLO-6)</a:t>
            </a:r>
            <a:r>
              <a:rPr sz="1900" b="0" i="0">
                <a:solidFill>
                  <a:srgbClr val="1C252B"/>
                </a:solidFill>
                <a:latin typeface="Segoe UI"/>
              </a:rPr>
              <a:t>.</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must the knapsack inner loop count downwards? State what the upward version computes.</a:t>
            </a:r>
          </a:p>
        </p:txBody>
      </p:sp>
      <p:sp>
        <p:nvSpPr>
          <p:cNvPr id="13" name="!!rt2">
            <a:extLst>
              <a:ext uri="{C183D7F6-B498-43B3-948B-1728B52AA6E4}">
                <adec:decorative xmlns:adec="http://schemas.microsoft.com/office/drawing/2017/decorative" val="1"/>
              </a:ext>
            </a:extLst>
          </p:cNvPr>
          <p:cNvSpPr/>
          <p:nvPr/>
        </p:nvSpPr>
        <p:spPr>
          <a:xfrm>
            <a:off x="658368" y="3399129"/>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440277"/>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380841"/>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the trade-off between the full LCS table and the two-row version.</a:t>
            </a:r>
          </a:p>
        </p:txBody>
      </p:sp>
      <p:sp>
        <p:nvSpPr>
          <p:cNvPr id="16" name="!!rt3">
            <a:extLst>
              <a:ext uri="{C183D7F6-B498-43B3-948B-1728B52AA6E4}">
                <adec:decorative xmlns:adec="http://schemas.microsoft.com/office/drawing/2017/decorative" val="1"/>
              </a:ext>
            </a:extLst>
          </p:cNvPr>
          <p:cNvSpPr/>
          <p:nvPr/>
        </p:nvSpPr>
        <p:spPr>
          <a:xfrm>
            <a:off x="658368" y="391972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96087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90144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the dynamic program for matrix-chain multiplication: state the subproblem parameters, the recurrence, the number of subproblems and the running time.</a:t>
            </a:r>
          </a:p>
        </p:txBody>
      </p:sp>
      <p:sp>
        <p:nvSpPr>
          <p:cNvPr id="19" name="!!rt4">
            <a:extLst>
              <a:ext uri="{C183D7F6-B498-43B3-948B-1728B52AA6E4}">
                <adec:decorative xmlns:adec="http://schemas.microsoft.com/office/drawing/2017/decorative" val="1"/>
              </a:ext>
            </a:extLst>
          </p:cNvPr>
          <p:cNvSpPr/>
          <p:nvPr/>
        </p:nvSpPr>
        <p:spPr>
          <a:xfrm>
            <a:off x="658368" y="474146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78261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2318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colleague proposes shipping the </a:t>
            </a:r>
            <a:r>
              <a:rPr sz="1900" b="0" i="0">
                <a:solidFill>
                  <a:srgbClr val="1C252B"/>
                </a:solidFill>
                <a:latin typeface="Cambria"/>
              </a:rPr>
              <a:t>Θ(</a:t>
            </a:r>
            <a:r>
              <a:rPr sz="1900" b="0" i="1">
                <a:solidFill>
                  <a:srgbClr val="1C252B"/>
                </a:solidFill>
                <a:latin typeface="Cambria"/>
              </a:rPr>
              <a:t>nW</a:t>
            </a:r>
            <a:r>
              <a:rPr sz="1900" b="0" i="0">
                <a:solidFill>
                  <a:srgbClr val="1C252B"/>
                </a:solidFill>
                <a:latin typeface="Cambria"/>
              </a:rPr>
              <a:t>)</a:t>
            </a:r>
            <a:r>
              <a:rPr sz="1900" b="0" i="0">
                <a:solidFill>
                  <a:srgbClr val="1C252B"/>
                </a:solidFill>
                <a:latin typeface="Segoe UI"/>
              </a:rPr>
              <a:t> knapsack solver for a logistics system where capacities are given in grams and can reach </a:t>
            </a:r>
            <a:r>
              <a:rPr sz="1900" b="0" i="0">
                <a:solidFill>
                  <a:srgbClr val="1C252B"/>
                </a:solidFill>
                <a:latin typeface="Cambria"/>
              </a:rPr>
              <a:t>10</a:t>
            </a:r>
            <a:r>
              <a:rPr sz="1250" b="0" i="0" baseline="30000">
                <a:solidFill>
                  <a:srgbClr val="1C252B"/>
                </a:solidFill>
                <a:latin typeface="Cambria"/>
              </a:rPr>
              <a:t>8</a:t>
            </a:r>
            <a:r>
              <a:rPr sz="1900" b="0" i="0">
                <a:solidFill>
                  <a:srgbClr val="1C252B"/>
                </a:solidFill>
                <a:latin typeface="Segoe UI"/>
              </a:rPr>
              <a:t>. Using the measured table, estimate the running time, and propose two alternatives.</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4786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7A3A95"/>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854A9D"/>
                </a:solidFill>
                <a:latin typeface="Segoe UI Black"/>
              </a:rPr>
              <a:t>16</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16</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Chapter 17 — Amortised Analysis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16, pages 129–136</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Memoised against bottom-up, timed and counted</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16  ·  Dynamic Programming II: Classic Problems</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71513D78-A7F0-4AF7-9ECC-679FC63DC845}" type="slidenum">
              <a:rPr lang="en-GB" sz="1000">
                <a:solidFill>
                  <a:srgbClr val="D5DEE5"/>
                </a:solidFill>
                <a:latin typeface="Segoe UI"/>
              </a:rPr>
              <a:t>50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Analysis of Algorithms Fall 2026">
  <a:themeElements>
    <a:clrScheme name="Analysis of Algorithm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Analysis of Algorithm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16: Dynamic Programming II: Classic Problems</dc:title>
  <dc:subject>Analysis of Algorithms — Design, Proof and Measurement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