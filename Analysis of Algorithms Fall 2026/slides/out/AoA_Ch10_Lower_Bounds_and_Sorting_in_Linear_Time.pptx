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5.svg" ContentType="image/svg+xml"/>
  <Override PartName="/ppt/media/image36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31E0D8A-B1A7-4FE7-9F38-B2B35D208F43}">
          <p14:sldIdLst>
            <p14:sldId id="256"/>
            <p14:sldId id="257"/>
            <p14:sldId id="258"/>
            <p14:sldId id="259"/>
            <p14:sldId id="260"/>
          </p14:sldIdLst>
        </p14:section>
        <p14:section name="10.1 A Different Kind of Question" id="{FD5C5CEA-5B62-4213-9345-03BB6308C070}">
          <p14:sldIdLst>
            <p14:sldId id="261"/>
          </p14:sldIdLst>
        </p14:section>
        <p14:section name="10.2 The Decision Tree" id="{CE5ECD25-4492-4A26-8029-73A3330A64D9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10.3 How Close Does a Real Sort Get?" id="{8D909328-5186-485B-A633-3E28D693B862}">
          <p14:sldIdLst>
            <p14:sldId id="269"/>
            <p14:sldId id="270"/>
            <p14:sldId id="271"/>
          </p14:sldIdLst>
        </p14:section>
        <p14:section name="10.4 Sorting Without Comparing" id="{77E9D001-B1BA-4BD1-9B4B-E029313C1286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itfalls" id="{375FF949-A0A0-4B56-BCF2-FD74555349CC}">
          <p14:sldIdLst>
            <p14:sldId id="279"/>
            <p14:sldId id="280"/>
          </p14:sldIdLst>
        </p14:section>
        <p14:section name="Lab" id="{2D61E02D-16AB-4213-A3C2-7AFA2495FC3D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Checkpoint" id="{E805E949-C928-43EE-A41B-085828BD4C3F}">
          <p14:sldIdLst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Wrap-up" id="{8B525DC8-5D74-413E-9B8C-D9AAA4BF6B3D}">
          <p14:sldIdLst>
            <p14:sldId id="297"/>
            <p14:sldId id="298"/>
            <p14:sldId id="299"/>
            <p14:sldId id="300"/>
            <p14:sldId id="301"/>
            <p14:sldId id="30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10: Lower Bounds and Sorting in Linear Time. Part 3 — Sorting, Selection and the Structures Beneath. Week 7: The comparison lower bound; linear-time sorting. Handout pages 82–89.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3 for Ω, and Chapter 8 for a sort that attains the bound. Appendix B has Stirling’s approximation, which Section 10.2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decision tree; comparison sort; lower bound; information-theoretic bound; leaf; height; Stirling’s approximation; counting sort; radix sort; bucket sort; stability; key universe.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result so far has been about an algorithm: this sort takes Θ(n lg n), that one Θ(n2). This chapter asks something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10.1 (handout p. 83): The decision tree of a comparison sort on three elements. Every one of the 3! = 6 orderings must appear as a leaf, or some input would be sorted wrongly — and a binary tree with 6 leaves must have height at least ⌈ lg 6 ⌉ 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Consider the decision tree of any comparison sort on n elements, and let h be its height and  its number of leaves. Every permutation must appear as a leaf. There are n! distinct orderings of n distinct elements. If some ordering labelled no leaf, then on the input requiring that ordering the algorithm would reach a leaf labelled with a different permutation and output it — producing an unsorted array. So ≥ n!. A binary tree of height h has at most 2ʰ leaves, by induction on h: a tree of height 0 is a single leaf, and a tree of height h has two subtrees of height at most h−1, hence at most 2 · 2ʰ−¹ = 2ʰ leaves between them. Combining, 2ʰ ≥ ≥ n!, so h  ≥  lg(n!). And lg(n!) = Ω(n lg n), by Stirling’s approximation n! &gt; (n/e)ⁿ: lg(n!)  &gt;  lg(n/e)ⁿ     =  n lg n − n lg e     =  n lg n − 1.4427 n  =  Ω(n lg n). Since h is the worst-case number of comparisons, the bound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 says at least lg(n!) comparisons. Merge sort achieves O(n lg n). Those agree asymptotically — but by what constant does a real sort miss the floor?</a:t>
            </a:r>
          </a:p>
          <a:p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beat Ω(n lg n) you must leave the comparison model. Both ways of doing so buy linearity with an assumption about what the keys are.</a:t>
            </a:r>
          </a:p>
          <a:p/>
          <a:p>
            <a:r>
              <a:t>Figure 10.2 (handout p. 85): Counting-Sort. No element is ever compared with another: line 3 uses a key as an index, which the decision-tree model does not permit and which is why the bound does not apply. Running time Θ(n + 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The three loops run n, K−1 and n times respectively with O(1) bodies, giving Θ(n+K); the arrays B and C give the space. For correctness, observe after the second loop that C[v] holds the number of keys ≤ v. Hence the keys equal to v belong in positions C[v−1], …, C[v]−1 of the output. The third loop places each key A[i] at C[A[i]] − 1 and then decrements C[A[i]], so successive keys of the same value fill that block from its top downwards. Scanning i from n down to 1 therefore places the last occurrence highest, preserving input order among equal keys — which is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all three tables. Expect twenty-five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Lg(n!) exactly, by summing logs.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A comparison sort, counting every comparison.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Counting sort: no comparisons at all.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Radix sort: counting sort, one digit at a time.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The bound itself, and Stirling's sharper form.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How close does a real sort get to the floor?.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Beating the bound, by not comparing.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8: And they really did sort.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At least 4! = 24 leaves, so height ≥ ⌈ lg 24 ⌉ = ⌈ 4.585 ⌉ = 5. And lg(4!) = 4.585, so the bound says at least 5 comparisons in the worst case. (Five is in fact achievable, so the bound is tight here.)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step that fails is “a binary tree of height h has at most 2h leaves” — or rather, the premise that counting sort’s execution is modelled by a binary decision tree at all. Counting sort uses a key as an array index, an operation with K possible outcomes rather than 2, so it extracts more than one bit per step and the tree is not binary. The theorem’s hypothesis, not its conclusion, is what it escapes.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comparison count cannot improve by more than 1%, so essentially none of std::sort’s 39% comes from doing fewer comparisons. It comes from everything the comparison model does not charge for: sorting in place and so touching half as much memory, better locality, and fewer branch mispredictions. The lower bound tells you where the remaining performance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11 — Selection and Order Statistics. READ: Handout Chapter 10, pages 82–89. THIS WEEK'S LAB: Counting and radix sort against std::sort. ASSESSMENT: Assignment 1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14.xml"/><Relationship Id="rId8" Type="http://schemas.openxmlformats.org/officeDocument/2006/relationships/slide" Target="slide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5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6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image" Target="../media/image28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32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33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6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39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0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2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3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4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5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6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7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49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2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53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4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55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8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Relationship Id="rId3" Type="http://schemas.openxmlformats.org/officeDocument/2006/relationships/image" Target="../media/image60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Relationship Id="rId3" Type="http://schemas.openxmlformats.org/officeDocument/2006/relationships/image" Target="../media/image61.sv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Relationship Id="rId3" Type="http://schemas.openxmlformats.org/officeDocument/2006/relationships/image" Target="../media/image62.sv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7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28756"/>
                </a:solidFill>
                <a:latin typeface="Segoe UI Black"/>
              </a:rPr>
              <a:t>10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Lower Bounds and Sorting in Linear Time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DACA"/>
                </a:solidFill>
                <a:latin typeface="Segoe UI"/>
              </a:rPr>
              <a:t>PART III  ·  SORTING, SELECTION AND THE STRUCTURES BENEATH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DACA"/>
                </a:solidFill>
                <a:latin typeface="Segoe UI"/>
              </a:rPr>
              <a:t>CHAPTER 10  ·  WEEK 7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E4D9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35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5C0B0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DD0C5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C0B0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82     </a:t>
            </a:r>
            <a:fld id="{9851E50B-C477-4362-9799-F68A0F14C367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618444" y="1755648"/>
            <a:ext cx="19037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8444" y="2029967"/>
            <a:ext cx="1903741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5006817" y="1755648"/>
            <a:ext cx="16674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B7A43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06817" y="2029967"/>
            <a:ext cx="1667468" cy="4572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70034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34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844673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4673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195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005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36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922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9712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55827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143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9499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3154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3417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4875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37334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6596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1251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1781" y="2112264"/>
            <a:ext cx="566928" cy="566928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4891781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52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4938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697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8855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869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2772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47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9432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64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3350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7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7267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99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1184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594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7845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2249165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7A43"/>
                </a:solidFill>
                <a:latin typeface="Segoe UI"/>
              </a:rPr>
              <a:t>Lower Bounds and Sorting in Linear Time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3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Asymptotic Notation</a:t>
            </a:r>
          </a:p>
        </p:txBody>
      </p:sp>
      <p:sp>
        <p:nvSpPr>
          <p:cNvPr id="70" name="!!chipBU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bBU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tBU8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8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Divide and Conquer: Merge Sort and the Pattern</a:t>
            </a:r>
          </a:p>
        </p:txBody>
      </p:sp>
      <p:sp>
        <p:nvSpPr>
          <p:cNvPr id="73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4" name="!!chipUS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bUS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tUS11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Selection and Order Statistics</a:t>
            </a:r>
          </a:p>
        </p:txBody>
      </p:sp>
      <p:sp>
        <p:nvSpPr>
          <p:cNvPr id="77" name="!!chipUS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chipbUS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tUS14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Greedy Algorithms</a:t>
            </a:r>
          </a:p>
        </p:txBody>
      </p:sp>
      <p:sp>
        <p:nvSpPr>
          <p:cNvPr id="80" name="!!chipUS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!!chipbUS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chiptUS22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Complexity Classes: P, NP and NP-Completeness</a:t>
            </a:r>
          </a:p>
        </p:txBody>
      </p:sp>
      <p:sp>
        <p:nvSpPr>
          <p:cNvPr id="8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879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82     </a:t>
            </a:r>
            <a:fld id="{03E0FF03-AF55-46CE-BBE3-A4F18CA48A42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a decision tree models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a comparison sort’s execution corresponds to a root-to-leaf path.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06141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Prove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lower bound for comparison sorting,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precisely which algorithms it binds.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118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97855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960266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Distinguish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lower bound on a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problem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from an upper bound on an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algorithm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22622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58205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51347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Describe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counting sort and radix sort,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name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assumption each buys in exchange for linearity.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71185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43062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41233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Assess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how close a real comparison sort comes to the information-theoretic floor.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819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82     </a:t>
            </a:r>
            <a:fld id="{8C8A0FAA-2A7C-4492-837C-339D66DFBAA4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decision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68111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decision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decision tree"/>
          <p:cNvSpPr txBox="1"/>
          <p:nvPr/>
        </p:nvSpPr>
        <p:spPr>
          <a:xfrm>
            <a:off x="950976" y="1955291"/>
            <a:ext cx="149823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decision tree</a:t>
            </a:r>
          </a:p>
        </p:txBody>
      </p:sp>
      <p:sp>
        <p:nvSpPr>
          <p:cNvPr id="10" name="!!term-comparison s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85789" y="1847088"/>
            <a:ext cx="201198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comparison s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3805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comparison sor"/>
          <p:cNvSpPr txBox="1"/>
          <p:nvPr/>
        </p:nvSpPr>
        <p:spPr>
          <a:xfrm>
            <a:off x="2778397" y="1955291"/>
            <a:ext cx="182910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comparison sort</a:t>
            </a:r>
          </a:p>
        </p:txBody>
      </p:sp>
      <p:sp>
        <p:nvSpPr>
          <p:cNvPr id="13" name="!!term-lower b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4077" y="1847088"/>
            <a:ext cx="167013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lower b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209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lower bound"/>
          <p:cNvSpPr txBox="1"/>
          <p:nvPr/>
        </p:nvSpPr>
        <p:spPr>
          <a:xfrm>
            <a:off x="4936685" y="1955291"/>
            <a:ext cx="148725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lower bound</a:t>
            </a:r>
          </a:p>
        </p:txBody>
      </p:sp>
      <p:sp>
        <p:nvSpPr>
          <p:cNvPr id="16" name="!!term-information-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0514" y="1847088"/>
            <a:ext cx="322571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information-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853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information-th"/>
          <p:cNvSpPr txBox="1"/>
          <p:nvPr/>
        </p:nvSpPr>
        <p:spPr>
          <a:xfrm>
            <a:off x="6753122" y="1955291"/>
            <a:ext cx="304283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information-theoretic bound</a:t>
            </a:r>
          </a:p>
        </p:txBody>
      </p:sp>
      <p:sp>
        <p:nvSpPr>
          <p:cNvPr id="19" name="!!term-lea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32538" y="1847088"/>
            <a:ext cx="78839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lea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6055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leaf"/>
          <p:cNvSpPr txBox="1"/>
          <p:nvPr/>
        </p:nvSpPr>
        <p:spPr>
          <a:xfrm>
            <a:off x="10125146" y="1955291"/>
            <a:ext cx="60551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leaf</a:t>
            </a:r>
          </a:p>
        </p:txBody>
      </p:sp>
      <p:sp>
        <p:nvSpPr>
          <p:cNvPr id="22" name="!!term-he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06102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he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height"/>
          <p:cNvSpPr txBox="1"/>
          <p:nvPr/>
        </p:nvSpPr>
        <p:spPr>
          <a:xfrm>
            <a:off x="950976" y="2577084"/>
            <a:ext cx="87814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height</a:t>
            </a:r>
          </a:p>
        </p:txBody>
      </p:sp>
      <p:sp>
        <p:nvSpPr>
          <p:cNvPr id="25" name="!!term-Stirling’s ap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65699" y="2468880"/>
            <a:ext cx="273957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Stirling’s ap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9371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Stirling’s app"/>
          <p:cNvSpPr txBox="1"/>
          <p:nvPr/>
        </p:nvSpPr>
        <p:spPr>
          <a:xfrm>
            <a:off x="2158307" y="2577084"/>
            <a:ext cx="255669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Stirling’s approximation</a:t>
            </a:r>
          </a:p>
        </p:txBody>
      </p:sp>
      <p:sp>
        <p:nvSpPr>
          <p:cNvPr id="28" name="!!term-counting s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1581" y="2468880"/>
            <a:ext cx="173543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counting s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9597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counting sort"/>
          <p:cNvSpPr txBox="1"/>
          <p:nvPr/>
        </p:nvSpPr>
        <p:spPr>
          <a:xfrm>
            <a:off x="5044189" y="2577084"/>
            <a:ext cx="155255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counting sort</a:t>
            </a:r>
          </a:p>
        </p:txBody>
      </p:sp>
      <p:sp>
        <p:nvSpPr>
          <p:cNvPr id="31" name="!!term-radix s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33320" y="2468880"/>
            <a:ext cx="134586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radix s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1336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radix sort"/>
          <p:cNvSpPr txBox="1"/>
          <p:nvPr/>
        </p:nvSpPr>
        <p:spPr>
          <a:xfrm>
            <a:off x="6925928" y="2577084"/>
            <a:ext cx="116298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radix sort</a:t>
            </a:r>
          </a:p>
        </p:txBody>
      </p:sp>
      <p:sp>
        <p:nvSpPr>
          <p:cNvPr id="34" name="!!term-bucket s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5494" y="2468880"/>
            <a:ext cx="152814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bucket s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3510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bucket sort"/>
          <p:cNvSpPr txBox="1"/>
          <p:nvPr/>
        </p:nvSpPr>
        <p:spPr>
          <a:xfrm>
            <a:off x="8418102" y="2577084"/>
            <a:ext cx="134526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bucket sort</a:t>
            </a:r>
          </a:p>
        </p:txBody>
      </p:sp>
      <p:sp>
        <p:nvSpPr>
          <p:cNvPr id="37" name="!!term-st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99939" y="2468880"/>
            <a:ext cx="118963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st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2795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stability"/>
          <p:cNvSpPr txBox="1"/>
          <p:nvPr/>
        </p:nvSpPr>
        <p:spPr>
          <a:xfrm>
            <a:off x="10092547" y="2577084"/>
            <a:ext cx="100675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stability</a:t>
            </a:r>
          </a:p>
        </p:txBody>
      </p:sp>
      <p:sp>
        <p:nvSpPr>
          <p:cNvPr id="40" name="!!term-key univer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163881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key univer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key universe"/>
          <p:cNvSpPr txBox="1"/>
          <p:nvPr/>
        </p:nvSpPr>
        <p:spPr>
          <a:xfrm>
            <a:off x="950976" y="3198876"/>
            <a:ext cx="145593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key universe</a:t>
            </a:r>
          </a:p>
        </p:txBody>
      </p:sp>
      <p:sp>
        <p:nvSpPr>
          <p:cNvPr id="43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3759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82–89     </a:t>
            </a:r>
            <a:fld id="{934BCCCA-11AF-4639-9C3A-433FD6DE4D2F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0.1 A Different Kind of Question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10.1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 Different Kind of Question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82  ›</a:t>
            </a:r>
          </a:p>
        </p:txBody>
      </p:sp>
      <p:sp>
        <p:nvSpPr>
          <p:cNvPr id="12" name="!!ag1" descr="Go to section 10.2 The Decision Tree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10.2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Decision Tree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83  ›</a:t>
            </a:r>
          </a:p>
        </p:txBody>
      </p:sp>
      <p:sp>
        <p:nvSpPr>
          <p:cNvPr id="17" name="!!ag2" descr="Go to section 10.3 How Close Does a Real Sort Get?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10.3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How Close Does a Real Sort Get?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84  ›</a:t>
            </a:r>
          </a:p>
        </p:txBody>
      </p:sp>
      <p:sp>
        <p:nvSpPr>
          <p:cNvPr id="22" name="!!ag3" descr="Go to section 10.4 Sorting Without Comparing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10.4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Sorting Without Comparing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85  ›</a:t>
            </a:r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9698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Algorithms and problems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§10.1  ·  Handout p. 82     </a:t>
            </a:r>
            <a:fld id="{98B82BEC-101D-478D-A727-7783E100A0FE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16043"/>
          </a:xfrm>
          <a:prstGeom prst="roundRect">
            <a:avLst>
              <a:gd name="adj" fmla="val 207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16043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618D"/>
                </a:solidFill>
                <a:latin typeface="Segoe UI"/>
              </a:rPr>
              <a:t>An upper bound is a statement about an algorithm.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“Merge sort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” is proved by exhibiting merge sort and analysing it. It says sorting can be done at least this fast.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247999"/>
            <a:ext cx="10161727" cy="1440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618D"/>
                </a:solidFill>
                <a:latin typeface="Segoe UI"/>
              </a:rPr>
              <a:t>A lower bound is a statement about a problem.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“Comparison sorting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” must hold for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every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comparison sort — including the ones nobody has invented yet. It cannot be proved by examining algorithms one at a time, because there are infinitely many.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796434"/>
            <a:ext cx="10161727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That difference is why this chapter is the hinge of the book. Up to here the subject has been ingenuity; from here it also has limits, and Chapter 22 is about the largest open question concerning them.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55638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Decision Tree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2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10.2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10.1   A Different Kind of Question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10.2   The Decision Tree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10.3   How Close Does a Real Sort Get?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10.4   Sorting Without Comparing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§10.2     </a:t>
            </a:r>
            <a:fld id="{210CA9E1-03EB-420A-92CA-9E4B132D9D94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1578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Comparison Sort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§10.2  ·  Handout p. 83     </a:t>
            </a:r>
            <a:fld id="{11DBD9F7-BF3C-44A3-9F94-D18DA5D86E1B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69691"/>
          </a:xfrm>
          <a:prstGeom prst="roundRect">
            <a:avLst>
              <a:gd name="adj" fmla="val 3079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69691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comparison sort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determines the order of its input using only comparisons between pairs of elements. It may ask “is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≤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j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?” and move elements about, and it may do nothing else with their values — no arithmetic on them, no indexing by them, no inspection of their bits.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667074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Insertion sort, merge sort, quicksort, heapsort and every sort in Part II are comparison sorts.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7518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Decision Tree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§10.2  ·  Handout p. 83     </a:t>
            </a:r>
            <a:fld id="{F8B9B01B-2119-4821-BF4F-33819791C9C9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334232"/>
          </a:xfrm>
          <a:prstGeom prst="roundRect">
            <a:avLst>
              <a:gd name="adj" fmla="val 2742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334232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Fix a comparison sort and an input size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Its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decision tree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a binary tree in which each internal node is a comparison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: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j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the two edges are the two outcomes, and each leaf is a permutation — the answer the algorithm outputs when it reaches that leaf.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667074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Running the algorithm on an input traces one root-to-leaf path. The number of comparisons made is the length of that path, and the worst-case number of comparisons is the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height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of the tree.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33457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decision tree of a comparison sort on three elements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B7A43"/>
                </a:solidFill>
                <a:latin typeface="Segoe UI"/>
              </a:rPr>
              <a:t>FIGURE 10.1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§10.2  ·  Handout p. 83     </a:t>
            </a:r>
            <a:fld id="{0987D70D-D154-4E77-873E-AEF13D494822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pic>
        <p:nvPicPr>
          <p:cNvPr id="6" name="!!figure" descr="Figure 10.1. The decision tree of a comparison sort on three elements. Every one of the 3! = 6 orderings must appear as a leaf, or some input would be sorted wrongly — and a binary tree with 6 leaves must have height at least ⌈ lg 6 ⌉ = 3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5970" y="1737360"/>
            <a:ext cx="7619753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Every one of the 3! = 6 orderings must appear as a leaf, or some input would be sorted wrongly — and a binary tree with 6 leaves must have height at least ⌈ lg 6 ⌉ = 3.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9397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comparison sorting lower bound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10.1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§10.2  ·  Handout p. 83     </a:t>
            </a:r>
            <a:fld id="{E100EEB1-959C-4F77-AAAD-985A2C512CB4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Any comparison sort requires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comparisons in the worst case.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5337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Corollary 10.2</a:t>
            </a:r>
          </a:p>
        </p:txBody>
      </p:sp>
      <p:pic>
        <p:nvPicPr>
          <p:cNvPr id="3" name="!!kicker-icon" descr="angle-double-right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638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COROLLARY 10.2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§10.2  ·  Handout p. 83     </a:t>
            </a:r>
            <a:fld id="{7DCBCBE1-ADDA-445B-8B28-F3F7DCBB16EC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350873"/>
          </a:xfrm>
          <a:prstGeom prst="roundRect">
            <a:avLst>
              <a:gd name="adj" fmla="val 6768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350873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Merge sort and heapsort are asymptotically optimal comparison sorts, and randomised quicksort is optimal in expectation.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11277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theorem does not say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§10.2  ·  Handout p. 83     </a:t>
            </a:r>
            <a:fld id="{20404708-336D-41E8-8B1F-1D22891ED442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334232"/>
          </a:xfrm>
          <a:prstGeom prst="roundRect">
            <a:avLst>
              <a:gd name="adj" fmla="val 2742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33423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It does not say sorting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Ω(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It says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comparison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sorting is.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73451"/>
            <a:ext cx="10161727" cy="22329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proof’s entire force comes from the branching factor being 2: each comparison yields one bit, and distinguishing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!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possibilities needs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lg(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!)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bits. An algorithm that extracts more than one bit per operation — by using a key’s value as an array index, say — is not modelled by this tree at all, and Section 10.4 presents two such algorithms. They are not counter-examples; they are outside the hypothesis.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37217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How Close Does a Real Sort Get?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3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10.3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10.1   A Different Kind of Question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10.2   The Decision Tree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10.3   How Close Does a Real Sort Get?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10.4   Sorting Without Comparing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§10.3     </a:t>
            </a:r>
            <a:fld id="{CBC2DE71-A49B-4D2F-AB25-AE0CBE38E170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3156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Floor Itself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§10.3  ·  Handout p. 84     </a:t>
            </a:r>
            <a:fld id="{8FCF94CE-B10B-453C-BD65-F14E94110F34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19854"/>
          </a:xfrm>
          <a:prstGeom prst="roundRect">
            <a:avLst>
              <a:gd name="adj" fmla="val 2116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198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584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4E79"/>
                </a:solidFill>
                <a:latin typeface="Consolas"/>
              </a:rPr>
              <a:t>code/ch10_lowerbound.cpp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computes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lg(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!)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by summing logarithms (forming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!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would overflow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21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).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669311"/>
          <a:ext cx="5950981" cy="17983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18996"/>
                <a:gridCol w="1116747"/>
                <a:gridCol w="1116747"/>
                <a:gridCol w="1453344"/>
                <a:gridCol w="1245147"/>
              </a:tblGrid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1A5276"/>
                          </a:solidFill>
                          <a:latin typeface="Cambria"/>
                        </a:rPr>
                        <a:t>lg(</a:t>
                      </a:r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400" b="1" i="0">
                          <a:solidFill>
                            <a:srgbClr val="1A5276"/>
                          </a:solidFill>
                          <a:latin typeface="Cambria"/>
                        </a:rPr>
                        <a:t>!)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400" b="1" i="0">
                          <a:solidFill>
                            <a:srgbClr val="1A5276"/>
                          </a:solidFill>
                          <a:latin typeface="Cambria"/>
                        </a:rPr>
                        <a:t> lg </a:t>
                      </a:r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400" b="1" i="0">
                          <a:solidFill>
                            <a:srgbClr val="1A5276"/>
                          </a:solidFill>
                          <a:latin typeface="Cambria"/>
                        </a:rPr>
                        <a:t> lg </a:t>
                      </a:r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400" b="1" i="0">
                          <a:solidFill>
                            <a:srgbClr val="1A5276"/>
                          </a:solidFill>
                          <a:latin typeface="Cambria"/>
                        </a:rPr>
                        <a:t> − 1.443</a:t>
                      </a:r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1A5276"/>
                          </a:solidFill>
                          <a:latin typeface="Cambria"/>
                        </a:rPr>
                        <a:t>lg(</a:t>
                      </a:r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400" b="1" i="0">
                          <a:solidFill>
                            <a:srgbClr val="1A5276"/>
                          </a:solidFill>
                          <a:latin typeface="Cambria"/>
                        </a:rPr>
                        <a:t>!)/</a:t>
                      </a:r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400" b="1" i="0">
                          <a:solidFill>
                            <a:srgbClr val="1A5276"/>
                          </a:solidFill>
                          <a:latin typeface="Cambria"/>
                        </a:rPr>
                        <a:t> lg </a:t>
                      </a:r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1,000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8,529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9,966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8,523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0.8559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10,000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118,458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132,877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118,450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0.8915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100,000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1,516,704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1,660,964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1,516,695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0.9131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1,000,000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18,488,885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19,931,569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18,488,874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0.9276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586376"/>
            <a:ext cx="10234879" cy="584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6608"/>
                </a:solidFill>
                <a:latin typeface="Segoe UI"/>
              </a:rPr>
              <a:t>Stirling’s form is essentially exact.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− 1.443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differs from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lg(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!)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by 11 out of 18 million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— a relative error of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6 × 10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−7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604664"/>
            <a:ext cx="54864" cy="52059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3"/>
          <p:cNvSpPr txBox="1"/>
          <p:nvPr/>
        </p:nvSpPr>
        <p:spPr>
          <a:xfrm>
            <a:off x="1042416" y="5244007"/>
            <a:ext cx="10234879" cy="584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6608"/>
                </a:solidFill>
                <a:latin typeface="Segoe UI"/>
              </a:rPr>
              <a:t>The crude form is not.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lg(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!)/(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only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0.86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creeping to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0.93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at a million. The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−1.443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term matters at every size you will ever sort, which is why the sharper form is the one to quote.</a:t>
            </a:r>
          </a:p>
        </p:txBody>
      </p:sp>
      <p:sp>
        <p:nvSpPr>
          <p:cNvPr id="14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262295"/>
            <a:ext cx="54864" cy="52059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9096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Merge Sort Against the Floor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§10.3  ·  Handout p. 84     </a:t>
            </a:r>
            <a:fld id="{D7A557C9-8BE5-4B5E-BC3D-80378700B4F0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81195"/>
          </a:xfrm>
          <a:prstGeom prst="roundRect">
            <a:avLst>
              <a:gd name="adj" fmla="val 2087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8119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4947055" cy="17221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964499"/>
                <a:gridCol w="2167107"/>
                <a:gridCol w="1055267"/>
                <a:gridCol w="760182"/>
              </a:tblGrid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merge sort comparisons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Cambria"/>
                        </a:rPr>
                        <a:t>lg(</a:t>
                      </a:r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300" b="1" i="0">
                          <a:solidFill>
                            <a:srgbClr val="1A5276"/>
                          </a:solidFill>
                          <a:latin typeface="Cambria"/>
                        </a:rPr>
                        <a:t>!)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excess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8,702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8,529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2.0%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10,000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120,505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118,458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1.7%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100,000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1,536,346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1,516,704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1.3%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1,000,000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18,672,689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18,488,885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C252B"/>
                          </a:solidFill>
                          <a:latin typeface="Segoe UI"/>
                        </a:rPr>
                        <a:t>1.0%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body-1"/>
          <p:cNvSpPr txBox="1"/>
          <p:nvPr/>
        </p:nvSpPr>
        <p:spPr>
          <a:xfrm>
            <a:off x="1042416" y="3845560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Merge sort is within 1% of the information-theoretic minimum at </a:t>
            </a:r>
            <a:r>
              <a:rPr sz="16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1" i="0">
                <a:solidFill>
                  <a:srgbClr val="1C252B"/>
                </a:solidFill>
                <a:latin typeface="Cambria"/>
              </a:rPr>
              <a:t> = 10</a:t>
            </a:r>
            <a:r>
              <a:rPr sz="1050" b="1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600" b="1" i="0">
                <a:solidFill>
                  <a:srgbClr val="1C252B"/>
                </a:solidFill>
                <a:latin typeface="Segoe UI"/>
              </a:rPr>
              <a:t>, and the gap is shrinking.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863847"/>
            <a:ext cx="54864" cy="23530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body-2"/>
          <p:cNvSpPr txBox="1"/>
          <p:nvPr/>
        </p:nvSpPr>
        <p:spPr>
          <a:xfrm>
            <a:off x="1042416" y="4210913"/>
            <a:ext cx="10234879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That is a stronger statement than “asymptotically optimal”. Asymptotic optimality permits a constant factor of 10; this is a constant factor of 1.01. No comparison sort — none that exists, none that will ever be invented — can beat merge sort’s comparison count by more than one per cent at this size.</a:t>
            </a:r>
          </a:p>
        </p:txBody>
      </p:sp>
      <p:sp>
        <p:nvSpPr>
          <p:cNvPr id="13" name="body-3"/>
          <p:cNvSpPr txBox="1"/>
          <p:nvPr/>
        </p:nvSpPr>
        <p:spPr>
          <a:xfrm>
            <a:off x="1042416" y="5083454"/>
            <a:ext cx="10234879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Which puts the remaining engineering in its place.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Chapter 8 found </a:t>
            </a:r>
            <a:r>
              <a:rPr sz="1500" b="0" i="0">
                <a:solidFill>
                  <a:srgbClr val="1F4E79"/>
                </a:solidFill>
                <a:latin typeface="Consolas"/>
              </a:rPr>
              <a:t>std::sort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beating merge sort by 39% in </a:t>
            </a:r>
            <a:r>
              <a:rPr sz="1600" b="0" i="1">
                <a:solidFill>
                  <a:srgbClr val="1C252B"/>
                </a:solidFill>
                <a:latin typeface="Segoe UI"/>
              </a:rPr>
              <a:t>time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 Since the comparison count cannot improve by more than 1%, essentially all of that 39% is memory traffic and branch behaviour — not comparisons. The lower bound tells you where the remaining performance is </a:t>
            </a:r>
            <a:r>
              <a:rPr sz="16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4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101742"/>
            <a:ext cx="54864" cy="74249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5036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Sorting Without Comparing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4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10.4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10.1   A Different Kind of Question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10.2   The Decision Tree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10.3   How Close Does a Real Sort Get?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10.4   Sorting Without Comparing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§10.4     </a:t>
            </a:r>
            <a:fld id="{CE25F475-FA7F-48B4-B3A5-1CC49C78FD08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0976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Counting-Sort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B7A43"/>
                </a:solidFill>
                <a:latin typeface="Segoe UI"/>
              </a:rPr>
              <a:t>FIGURE 10.2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D5616BCC-05EB-44B4-B7B5-5C4C3E98DABA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pic>
        <p:nvPicPr>
          <p:cNvPr id="6" name="!!figure" descr="Figure 10.2. Counting-Sort. No element is ever compared with another: line 3 uses a key as an index, which the decision-tree model does not permit and which is why the bound does not apply. Running time Θ(n + K)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5757" y="1737360"/>
            <a:ext cx="7920179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No element is ever compared with another: line 3 uses a key as an index, which the decision-tree model does not permit and which is why the bound does not apply. Running time Θ(n + K).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6915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Counting sort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10.3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2EC46755-49A7-4E82-99CC-53FF8506CA86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350873"/>
          </a:xfrm>
          <a:prstGeom prst="roundRect">
            <a:avLst>
              <a:gd name="adj" fmla="val 6768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350873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If every key is an integer in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[0,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Counting-Sort sorts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keys in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time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space, and is stable.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92855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Read the hypothesis, which is where the cost went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2693B2E2-2322-4DF2-946E-CD4BBE3BD217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494887"/>
          </a:xfrm>
          <a:prstGeom prst="roundRect">
            <a:avLst>
              <a:gd name="adj" fmla="val 261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494887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linear only when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73451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Sorting a million 32-bit integers with counting sort means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32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an array of four billion counters — 16 GB, to sort 4 MB of data. The algorithm is not fast there; it is unusable.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827729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Counting sort is the right choice for ages, exam marks, pixel values, bytes, days of the year — small known universes. Radix sort is what lifts the restriction.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8795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Radix sort: counting sort, one digit at a time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EEA9311C-88F3-4A51-A835-70142BF6BFB6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88104"/>
          </a:xfrm>
          <a:prstGeom prst="roundRect">
            <a:avLst>
              <a:gd name="adj" fmla="val 2083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8810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3136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Treat a 32-bit key as four 8-bit digits. Counting-sort the keys by the least significant digit, then by the next, and so on. Each pass has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256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so each is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+ 256) = 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and there are 4 passes, giving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overall — more precisely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R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for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digits of radix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455923"/>
            <a:ext cx="10161727" cy="13136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18D"/>
                </a:solidFill>
                <a:latin typeface="Segoe UI"/>
              </a:rPr>
              <a:t>Stability is not a nicety here; it is the mechanism.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pass on digit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must not disturb the relative order established by the passes on digits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0 …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−1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or the earlier work is destroyed. This is why Theorem 10.3 bothered to prove stability, and why the third loop of Counting-Sort counts downwards.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863592"/>
            <a:ext cx="10161727" cy="9966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18D"/>
                </a:solidFill>
                <a:latin typeface="Segoe UI"/>
              </a:rPr>
              <a:t>And the assumption has not vanished, only changed shape: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from “keys come from a small universe” to “keys have a fixed width”. Sorting variable-length strings by radix is a more delicate business.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4735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Beating the Bound, Measured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F7D7652E-CF51-4F7B-950F-E32CD2D49E6B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969359"/>
          </a:xfrm>
          <a:prstGeom prst="roundRect">
            <a:avLst>
              <a:gd name="adj" fmla="val 2303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96935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One million to 6.4 million keys drawn uniformly from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[0, 1000)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so counting sort’s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genuinely small. Times in milliseconds, median of 5.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746679"/>
          <a:ext cx="5861729" cy="19507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127991"/>
                <a:gridCol w="1220431"/>
                <a:gridCol w="1126126"/>
                <a:gridCol w="751600"/>
                <a:gridCol w="1635581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Consolas"/>
                        </a:rPr>
                        <a:t>std::sort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counting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radix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best speed-up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4.0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6.74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17.1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4.7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9.64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1,600,000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68.6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7.3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23.2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9.45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6,400,000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259.7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29.0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81.0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8.94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830114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Counting sort is 7–10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×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 faster than the best comparison sort in the standard library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all three produce identical output.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848402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70675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Beating the Bound, Measured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94EDBD51-A0A7-43A9-9189-7A84AAF6993E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488209"/>
          </a:xfrm>
          <a:prstGeom prst="roundRect">
            <a:avLst>
              <a:gd name="adj" fmla="val 367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48820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No theorem was violated.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std::sort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bound by Theorem 10.1; counting sort is not, because it never compares two keys. The speed-up is the price the comparison model was charging, made visible.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3047822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And the ratio is roughly constant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at about 9, not growing — because both algorithms are within a logarithmic factor here and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moves slowly. The gain is a large constant, not a change of order;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6.4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million,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22.6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counting sort recovers about 40% of that.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066110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6614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89ED7B7C-0102-446D-90C6-006168AC6DEB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Stating the bound as “sorting is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Ω(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”.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comparison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sorting. Dropping the qualifier makes Section 10.4 look like a contradiction.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9570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51856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477414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Thinking counting sort breaks the theorem.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outside the hypothesis, not a counter-example to the conclusion.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23575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2586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21746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Forgetting the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+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K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Counting sort on 32-bit keys needs a four-billion-entry array.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02684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38255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3784396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An unstable counting sort inside a radix sort.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radix passes then destroy each other’s work and the output is wrong, not merely slow.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42739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56559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524451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Quoting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lg(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!) ≈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 lg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at small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ratio is 0.86. Use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− 1.443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109667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513252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5091379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Hunting for a faster comparison sort.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Merge sort is within 1% of the floor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; the remaining performance is in memory behaviour, not comparisons.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22554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 (continued)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E8FFD294-A37E-4F62-8EA6-D43A1661732F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Assuming linear-time sorts are always faster.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They were 9× faster here on a 1000-value universe. Widen the universe and counting sort loses, then becomes impossible.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8494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102D53A3-1DD9-41AB-A48A-3CFECA42E4EF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all three tables. Expect twenty-five minutes.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3652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2749296"/>
            <a:ext cx="10874959" cy="2171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1.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Lg(n!) exactly, by summing logs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2.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 comparison sort, counting every comparison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3.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Counting sort: no comparisons at all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4.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Radix sort: counting sort, one digit at a time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5.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bound itself, and Stirling's sharper form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6.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How close does a real sort get to the floor?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7.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Beating the bound, by not comparing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8.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And they really did sort</a:t>
            </a:r>
          </a:p>
        </p:txBody>
      </p:sp>
      <p:sp>
        <p:nvSpPr>
          <p:cNvPr id="44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lflTHIS"/>
          <p:cNvSpPr txBox="1"/>
          <p:nvPr/>
        </p:nvSpPr>
        <p:spPr>
          <a:xfrm>
            <a:off x="932688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47" name="!!lfvTHIS"/>
          <p:cNvSpPr txBox="1"/>
          <p:nvPr/>
        </p:nvSpPr>
        <p:spPr>
          <a:xfrm>
            <a:off x="932688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7: Counting and radix sort against std::sort</a:t>
            </a:r>
          </a:p>
        </p:txBody>
      </p:sp>
      <p:sp>
        <p:nvSpPr>
          <p:cNvPr id="48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lflWHAT"/>
          <p:cNvSpPr txBox="1"/>
          <p:nvPr/>
        </p:nvSpPr>
        <p:spPr>
          <a:xfrm>
            <a:off x="4649114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51" name="!!lfvWHAT"/>
          <p:cNvSpPr txBox="1"/>
          <p:nvPr/>
        </p:nvSpPr>
        <p:spPr>
          <a:xfrm>
            <a:off x="4649114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59 lines of C++</a:t>
            </a:r>
          </a:p>
        </p:txBody>
      </p:sp>
      <p:sp>
        <p:nvSpPr>
          <p:cNvPr id="52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lflRUNN"/>
          <p:cNvSpPr txBox="1"/>
          <p:nvPr/>
        </p:nvSpPr>
        <p:spPr>
          <a:xfrm>
            <a:off x="8365540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55" name="!!lfvRUNN"/>
          <p:cNvSpPr txBox="1"/>
          <p:nvPr/>
        </p:nvSpPr>
        <p:spPr>
          <a:xfrm>
            <a:off x="8365540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code/ch10_lowerbound.cpp</a:t>
            </a:r>
          </a:p>
        </p:txBody>
      </p:sp>
      <p:sp>
        <p:nvSpPr>
          <p:cNvPr id="5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4434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B033BB31-0206-46D3-9C9F-0B3710E61EEC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Lg(n!) exactly, by summing logs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621024"/>
          </a:xfrm>
          <a:prstGeom prst="roundRect">
            <a:avLst>
              <a:gd name="adj" fmla="val 2525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code/ch10_lowerbound.cpp</a:t>
            </a:r>
          </a:p>
        </p:txBody>
      </p:sp>
      <p:sp>
        <p:nvSpPr>
          <p:cNvPr id="14" name="!!code-text" descr="// ch10_lowerbound.cpp -- the comparison lower bound, and sorting past it. // Build: cl /O2 /EHsc /std:c++17 ch10_lowerbound.cpp (see Appendix A) // --- 1. lg(n!) exactly, by summing logs ---------------------------- // n! overflows at n = 21, so the factorial is never formed: the log of // a product is the sum of the logs, and that stays in range for ever. static double lg_factorial(long long n) { double s = 0; for (long long k = 2; k &lt;= n; ++k) s += std::log2((double)k); return s; }"/>
          <p:cNvSpPr txBox="1"/>
          <p:nvPr/>
        </p:nvSpPr>
        <p:spPr>
          <a:xfrm>
            <a:off x="1362456" y="2523744"/>
            <a:ext cx="9987991" cy="31272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ch10_lowerbound.cpp -- the comparison lower bound, and sorting past it.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Build: cl /O2 /EHsc /std:c++17 ch10_lowerbound.cpp  (see Appendix 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--- 1. lg(n!) exactly, by summing logs 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n! overflows at n = 21, so the factorial is never formed: the log of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a product is the sum of the logs, and that stays in range for ever.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lg_factorial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0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for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k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2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k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k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log2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k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1272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11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0373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EA9CF74C-01F8-4CDF-9F0D-093901B4C813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 comparison sort, counting every comparison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code/ch10_lowerbound.cpp</a:t>
            </a:r>
          </a:p>
        </p:txBody>
      </p:sp>
      <p:sp>
        <p:nvSpPr>
          <p:cNvPr id="14" name="!!code-text" descr="// --- 2. A comparison sort, counting every comparison --------------- // Merge sort, because Chapter 8 proved it Theta(n lg n) in every case. // The question here is how close its CONSTANT is to the floor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--- 2. A comparison sort, counting every comparison 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Merge sort, because Chapter 8 proved it Theta(n lg n) in every case.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question here is how close its CONSTANT is to the floor.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15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6313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52AE35EC-172D-4C3C-BE21-6AC99C418F9A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Counting sort: no comparisons at all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788663"/>
          </a:xfrm>
          <a:prstGeom prst="roundRect">
            <a:avLst>
              <a:gd name="adj" fmla="val 2413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code/ch10_lowerbound.cpp</a:t>
            </a:r>
          </a:p>
        </p:txBody>
      </p:sp>
      <p:sp>
        <p:nvSpPr>
          <p:cNvPr id="14" name="!!code-text" descr="// --- 3. Counting sort: no comparisons at all ----------------------- // It never asks &quot;is x &lt; y&quot;. It asks &quot;how many keys equal v&quot;, which is // a different question and not covered by the theorem. The price is // the assumption that keys are integers in a known, small range. static void counting_sort(const std::vector&lt;int&gt;&amp; in, std::vector&lt;int&gt;&amp; out, int K) { std::vector&lt;int&gt; cnt(K, 0); for (int x : in) ++cnt[x]; for (int v = 1; v &lt; K; ++v) cnt[v] += cnt[v - 1]; for (size_t i = in.size(); i-- &gt; 0;) out[--cnt[in[i]]] = in[i]; }"/>
          <p:cNvSpPr txBox="1"/>
          <p:nvPr/>
        </p:nvSpPr>
        <p:spPr>
          <a:xfrm>
            <a:off x="1362456" y="2523744"/>
            <a:ext cx="9987991" cy="3294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--- 3. Counting sort: no comparisons at all 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It never asks "is x &lt; y". It asks "how many keys equal v", which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a different question and not covered by the theorem. The price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assumption that keys are integers in a known, small range.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void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C39BD3"/>
                </a:solidFill>
                <a:latin typeface="Consolas"/>
              </a:rPr>
              <a:t>counting_sort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const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std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900" i="0">
                <a:solidFill>
                  <a:srgbClr val="AEB6BF"/>
                </a:solidFill>
                <a:latin typeface="Consolas"/>
              </a:rPr>
              <a:t>&lt;</a:t>
            </a:r>
            <a:r>
              <a:rPr sz="1900" i="0">
                <a:solidFill>
                  <a:srgbClr val="5DADE2"/>
                </a:solidFill>
                <a:latin typeface="Consolas"/>
              </a:rPr>
              <a:t>int</a:t>
            </a:r>
            <a:r>
              <a:rPr sz="1900" i="0">
                <a:solidFill>
                  <a:srgbClr val="AEB6BF"/>
                </a:solidFill>
                <a:latin typeface="Consolas"/>
              </a:rPr>
              <a:t>&gt;</a:t>
            </a:r>
            <a:r>
              <a:rPr sz="19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in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                      </a:t>
            </a:r>
            <a:r>
              <a:rPr sz="1900" i="0">
                <a:solidFill>
                  <a:srgbClr val="E8EDF2"/>
                </a:solidFill>
                <a:latin typeface="Consolas"/>
              </a:rPr>
              <a:t>std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900" i="0">
                <a:solidFill>
                  <a:srgbClr val="AEB6BF"/>
                </a:solidFill>
                <a:latin typeface="Consolas"/>
              </a:rPr>
              <a:t>&lt;</a:t>
            </a:r>
            <a:r>
              <a:rPr sz="1900" i="0">
                <a:solidFill>
                  <a:srgbClr val="5DADE2"/>
                </a:solidFill>
                <a:latin typeface="Consolas"/>
              </a:rPr>
              <a:t>int</a:t>
            </a:r>
            <a:r>
              <a:rPr sz="1900" i="0">
                <a:solidFill>
                  <a:srgbClr val="AEB6BF"/>
                </a:solidFill>
                <a:latin typeface="Consolas"/>
              </a:rPr>
              <a:t>&gt;</a:t>
            </a:r>
            <a:r>
              <a:rPr sz="19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out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int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K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E8EDF2"/>
                </a:solidFill>
                <a:latin typeface="Consolas"/>
              </a:rPr>
              <a:t>std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900" i="0">
                <a:solidFill>
                  <a:srgbClr val="AEB6BF"/>
                </a:solidFill>
                <a:latin typeface="Consolas"/>
              </a:rPr>
              <a:t>&lt;</a:t>
            </a:r>
            <a:r>
              <a:rPr sz="1900" i="0">
                <a:solidFill>
                  <a:srgbClr val="5DADE2"/>
                </a:solidFill>
                <a:latin typeface="Consolas"/>
              </a:rPr>
              <a:t>int</a:t>
            </a:r>
            <a:r>
              <a:rPr sz="1900" i="0">
                <a:solidFill>
                  <a:srgbClr val="AEB6BF"/>
                </a:solidFill>
                <a:latin typeface="Consolas"/>
              </a:rPr>
              <a:t>&gt;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cnt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K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0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for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int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x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: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in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E8EDF2"/>
                </a:solidFill>
                <a:latin typeface="Consolas"/>
              </a:rPr>
              <a:t>cnt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E8EDF2"/>
                </a:solidFill>
                <a:latin typeface="Consolas"/>
              </a:rPr>
              <a:t>x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for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int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v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v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&lt;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K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E8EDF2"/>
                </a:solidFill>
                <a:latin typeface="Consolas"/>
              </a:rPr>
              <a:t>v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cnt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E8EDF2"/>
                </a:solidFill>
                <a:latin typeface="Consolas"/>
              </a:rPr>
              <a:t>v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cnt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E8EDF2"/>
                </a:solidFill>
                <a:latin typeface="Consolas"/>
              </a:rPr>
              <a:t>v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-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for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i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in</a:t>
            </a:r>
            <a:r>
              <a:rPr sz="1900" i="0">
                <a:solidFill>
                  <a:srgbClr val="AEB6BF"/>
                </a:solidFill>
                <a:latin typeface="Consolas"/>
              </a:rPr>
              <a:t>.</a:t>
            </a:r>
            <a:r>
              <a:rPr sz="1900" i="0">
                <a:solidFill>
                  <a:srgbClr val="E8EDF2"/>
                </a:solidFill>
                <a:latin typeface="Consolas"/>
              </a:rPr>
              <a:t>size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i</a:t>
            </a:r>
            <a:r>
              <a:rPr sz="1900" i="0">
                <a:solidFill>
                  <a:srgbClr val="AEB6BF"/>
                </a:solidFill>
                <a:latin typeface="Consolas"/>
              </a:rPr>
              <a:t>-</a:t>
            </a:r>
            <a:r>
              <a:rPr sz="1900" i="0">
                <a:solidFill>
                  <a:srgbClr val="AEB6BF"/>
                </a:solidFill>
                <a:latin typeface="Consolas"/>
              </a:rPr>
              <a:t>-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&gt;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0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out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AEB6BF"/>
                </a:solidFill>
                <a:latin typeface="Consolas"/>
              </a:rPr>
              <a:t>-</a:t>
            </a:r>
            <a:r>
              <a:rPr sz="1900" i="0">
                <a:solidFill>
                  <a:srgbClr val="AEB6BF"/>
                </a:solidFill>
                <a:latin typeface="Consolas"/>
              </a:rPr>
              <a:t>-</a:t>
            </a:r>
            <a:r>
              <a:rPr sz="1900" i="0">
                <a:solidFill>
                  <a:srgbClr val="E8EDF2"/>
                </a:solidFill>
                <a:latin typeface="Consolas"/>
              </a:rPr>
              <a:t>cnt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E8EDF2"/>
                </a:solidFill>
                <a:latin typeface="Consolas"/>
              </a:rPr>
              <a:t>in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E8EDF2"/>
                </a:solidFill>
                <a:latin typeface="Consolas"/>
              </a:rPr>
              <a:t>i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in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E8EDF2"/>
                </a:solidFill>
                <a:latin typeface="Consolas"/>
              </a:rPr>
              <a:t>i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294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27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52253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B5F83DCA-00D7-46CA-AD07-3B01E79606EA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Radix sort: counting sort, one digit at a time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971543"/>
          </a:xfrm>
          <a:prstGeom prst="roundRect">
            <a:avLst>
              <a:gd name="adj" fmla="val 230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code/ch10_lowerbound.cpp</a:t>
            </a:r>
          </a:p>
        </p:txBody>
      </p:sp>
      <p:sp>
        <p:nvSpPr>
          <p:cNvPr id="14" name="!!code-text" descr="// --- 4. Radix sort: counting sort, one digit at a time ------------- // Lifts counting sort's &quot;small range&quot; assumption to &quot;fixed width&quot;: // 32-bit keys in four passes of an 8-bit counting sort. Still no // comparisons, so still outside the theorem. static void radix_sort(std::vector&lt;int&gt;&amp; a, std::vector&lt;int&gt;&amp; tmp) { const int BITS = 8, R = 1 &lt;&lt; BITS; size_t n = a.size(); for (int shift = 0; shift &lt; 32; shift += BITS) { std::vector&lt;size_t&gt; cnt(R + 1, 0); for (size_t i = 0; i &lt; n; ++i) ++cnt[((unsigned)a[i] &gt;&gt; shift &amp; (R - 1)) + 1]; for (int v = 0; v &lt; R; ++v) cnt[v + 1] += cnt[v]; for (size_t i = 0; i &lt; n; ++i) tmp[cnt[(unsigned)a[i] &gt;&gt; shift &amp; (R - 1)]++] = a[i]; a.swap(tmp); } }"/>
          <p:cNvSpPr txBox="1"/>
          <p:nvPr/>
        </p:nvSpPr>
        <p:spPr>
          <a:xfrm>
            <a:off x="1362456" y="2523744"/>
            <a:ext cx="9987991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--- 4. Radix sort: counting sort, one digit at a time 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Lifts counting sort's "small range" assumption to "fixed width":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32-bit keys in four passes of an 8-bit counting sort. Still no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comparisons, so still outside the theorem.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void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radix_sort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tmp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const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BITS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8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BITS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size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32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BITS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cnt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unsigned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-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v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v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v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cnt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v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cnt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v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tmp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cnt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unsigned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shift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-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swap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tmp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45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8193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F79353E8-D54B-4430-BD0F-2A93E1DE2798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bound itself, and Stirling's sharper form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182624"/>
          </a:xfrm>
          <a:prstGeom prst="roundRect">
            <a:avLst>
              <a:gd name="adj" fmla="val 773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code/ch10_lowerbound.cpp</a:t>
            </a:r>
          </a:p>
        </p:txBody>
      </p:sp>
      <p:sp>
        <p:nvSpPr>
          <p:cNvPr id="14" name="!!code-text" descr="// --- 5. The bound itself, and Stirling's sharper form -------------- // lg(n!) &gt;= n lg n - n lg e = n lg n - 1.4427n."/>
          <p:cNvSpPr txBox="1"/>
          <p:nvPr/>
        </p:nvSpPr>
        <p:spPr>
          <a:xfrm>
            <a:off x="1362456" y="2523744"/>
            <a:ext cx="9987991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--- 5. The bound itself, and Stirling's sharper form 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lg(n!) &gt;= n lg n - n lg e = n lg n - 1.4427n.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04133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6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ECD7B0E5-D9CC-4A30-B63E-3D5039ED9E86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How close does a real sort get to the floor?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code/ch10_lowerbound.cpp</a:t>
            </a:r>
          </a:p>
        </p:txBody>
      </p:sp>
      <p:sp>
        <p:nvSpPr>
          <p:cNvPr id="14" name="!!code-text" descr="// --- 6. How close does a real sort get to the floor? --------------- // Merge sort is Theta(n lg n); so is the bound. The question is the // constant, and the answer is &quot;within a few per cent&quot;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--- 6. How close does a real sort get to the floor? 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Merge sort is Theta(n lg n); so is the bound. The question is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constant, and the answer is "within a few per cent".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0072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7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BEC9F8B0-BEB4-44B4-81DC-ACAD53018CB0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Beating the bound, by not comparing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761743"/>
          </a:xfrm>
          <a:prstGeom prst="roundRect">
            <a:avLst>
              <a:gd name="adj" fmla="val 5190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code/ch10_lowerbound.cpp</a:t>
            </a:r>
          </a:p>
        </p:txBody>
      </p:sp>
      <p:sp>
        <p:nvSpPr>
          <p:cNvPr id="14" name="!!code-text" descr="// --- 7. Beating the bound, by not comparing ------------------------ // Counting and radix sort are not counter-examples to the theorem. // They are outside it: they never compare two keys. What they pay // instead is an assumption about what the keys ARE."/>
          <p:cNvSpPr txBox="1"/>
          <p:nvPr/>
        </p:nvSpPr>
        <p:spPr>
          <a:xfrm>
            <a:off x="1362456" y="2523744"/>
            <a:ext cx="9987991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--- 7. Beating the bound, by not comparing 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Counting and radix sort are not counter-examples to the theorem.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They are outside it: they never compare two keys. What they pay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instead is an assumption about what the keys ARE.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57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6012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Floor, and Going Under 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8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999D16B5-7519-491B-A705-51B6614DB162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And they really did sort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893063"/>
          </a:xfrm>
          <a:prstGeom prst="roundRect">
            <a:avLst>
              <a:gd name="adj" fmla="val 10238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code/ch10_lowerbound.cpp</a:t>
            </a:r>
          </a:p>
        </p:txBody>
      </p:sp>
      <p:sp>
        <p:nvSpPr>
          <p:cNvPr id="14" name="!!code-text" descr="// --- 8. And they really did sort -----------------------------------"/>
          <p:cNvSpPr txBox="1"/>
          <p:nvPr/>
        </p:nvSpPr>
        <p:spPr>
          <a:xfrm>
            <a:off x="1362456" y="2523744"/>
            <a:ext cx="9987991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--- 8. And they really did sort -----------------------------------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81952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§10.4  ·  Handout p. 85     </a:t>
            </a:r>
            <a:fld id="{85DBF8E4-9BEC-4E50-AA77-CD790B147E0C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98773"/>
          </a:xfrm>
          <a:prstGeom prst="roundRect">
            <a:avLst>
              <a:gd name="adj" fmla="val 2472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98773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Part 6’s excess column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falls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2.0%, 1.7%, 1.3%, 1.0%. Merge sort is not merely within a constant factor of optimal; it is converging to optimal. There is nothing left to win in comparisons.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Change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K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from 1000 to 10,000,000 and re-run part 7. Counting sort’s time should barely move for small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then be dominated entirely by the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term — at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100,000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it will be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slower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than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std::sort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because it is allocating and sweeping an array a hundred times longer than its input. The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not a footnote.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07892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comparison sort’s decision tree on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= 4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elements must have at least how many leaves, and hence what minimum height? Compare with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lg(4!)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89  ·  answers in Appendix D     </a:t>
            </a:r>
            <a:fld id="{712AF744-FC5C-4D78-AF25-F82797516E4C}" type="slidenum">
              <a:rPr lang="en-GB" sz="1000">
                <a:solidFill>
                  <a:srgbClr val="D5DEE5"/>
                </a:solidFill>
                <a:latin typeface="Segoe UI"/>
              </a:rPr>
              <a:t>36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 comparison sort’s decision tree on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 = 4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elements must have at least how many leaves, and hence what minimum height? Compare with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lg(4!)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At least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4! = 24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leaves, so height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≥ ⌈ lg 24 ⌉ = ⌈ 4.585 ⌉ = </a:t>
            </a:r>
            <a:r>
              <a:rPr sz="2200" b="1" i="0">
                <a:solidFill>
                  <a:srgbClr val="1C252B"/>
                </a:solidFill>
                <a:latin typeface="Cambria"/>
              </a:rPr>
              <a:t>5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And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lg(4!) = 4.585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so the bound says at least 5 comparisons in the worst case. (Five is in fact achievable, so the bound is tight here.)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89  ·  answers in Appendix D     </a:t>
            </a:r>
            <a:fld id="{96916D1B-E653-4EE7-A9F7-62012301FAC6}" type="slidenum">
              <a:rPr lang="en-GB" sz="1000">
                <a:solidFill>
                  <a:srgbClr val="8795A1"/>
                </a:solidFill>
                <a:latin typeface="Segoe UI"/>
              </a:rPr>
              <a:t>37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59771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Explain why counting sort does not contradict Theorem 10.1, naming the step of the proof that fails for it.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89  ·  answers in Appendix D     </a:t>
            </a:r>
            <a:fld id="{A7A8D79C-2AEE-409E-9141-BA3D433B3CE5}" type="slidenum">
              <a:rPr lang="en-GB" sz="1000">
                <a:solidFill>
                  <a:srgbClr val="D5DEE5"/>
                </a:solidFill>
                <a:latin typeface="Segoe UI"/>
              </a:rPr>
              <a:t>38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Explain why counting sort does not contradict Theorem 10.1, naming the step of the proof that fails for it.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The step that fails is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“a binary tree of height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 has at most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450" b="0" i="1" baseline="30000">
                <a:solidFill>
                  <a:srgbClr val="1C252B"/>
                </a:solidFill>
                <a:latin typeface="Cambria"/>
              </a:rPr>
              <a:t>h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 leaves”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— or rather, the premise that counting sort’s execution is modelled by a binary decision tree at all. Counting sort uses a key as an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array index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an operation with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possible outcomes rather than 2, so it extracts more than one bit per step and the tree is not binary. The theorem’s hypothesis, not its conclusion, is what it escapes.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89  ·  answers in Appendix D     </a:t>
            </a:r>
            <a:fld id="{B8B6E08C-F352-4752-9673-16BDD9C2193E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11651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Merge sort was measured 1.0% above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lg(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!)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at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= 10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6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yet </a:t>
            </a:r>
            <a:r>
              <a:rPr sz="3200" b="0" i="0">
                <a:solidFill>
                  <a:srgbClr val="FFFFFF"/>
                </a:solidFill>
                <a:latin typeface="Consolas"/>
              </a:rPr>
              <a:t>std::sort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is 39% faster in time. Reconcile these.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89  ·  answers in Appendix D     </a:t>
            </a:r>
            <a:fld id="{69C01501-A4D6-46B8-B006-A19A05943FD6}" type="slidenum">
              <a:rPr lang="en-GB" sz="1000">
                <a:solidFill>
                  <a:srgbClr val="D5DEE5"/>
                </a:solidFill>
                <a:latin typeface="Segoe UI"/>
              </a:rPr>
              <a:t>40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Merge sort was measured 1.0% above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lg(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!)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at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 = 10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6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yet </a:t>
            </a:r>
            <a:r>
              <a:rPr sz="2250" b="0" i="0">
                <a:solidFill>
                  <a:srgbClr val="1A5276"/>
                </a:solidFill>
                <a:latin typeface="Consolas"/>
              </a:rPr>
              <a:t>std::sort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is 39% faster in time. Reconcile these.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The comparison count cannot improve by more than 1%, so essentially none of </a:t>
            </a:r>
            <a:r>
              <a:rPr sz="2050" b="0" i="0">
                <a:solidFill>
                  <a:srgbClr val="1F4E79"/>
                </a:solidFill>
                <a:latin typeface="Consolas"/>
              </a:rPr>
              <a:t>std::sort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’s 39% comes from doing fewer comparisons. It comes from everything the comparison model does not charge for: sorting in place and so touching half as much memory, better locality, and fewer branch mispredictions. The lower bound tells you where the remaining performance is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89  ·  answers in Appendix D     </a:t>
            </a:r>
            <a:fld id="{9342ACF2-1AB9-4236-9839-4EC4A3175261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63530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89     </a:t>
            </a:r>
            <a:fld id="{8817775D-45CE-43C4-89CD-90FEFFBB1F52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 lower bound is a statement about a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problem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must hold for every algorithm, including undiscovered ones. This is the first such result in the book.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 comparison sort’s decision tree must have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!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leaves; a binary tree of height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has at most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h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; hence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≥ lg(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!) = Ω(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900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449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808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Merge sort, heapsort and randomised quicksort are therefore asymptotically optimal comparison sorts.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752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8301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766108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lg(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!)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matches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− 1.443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a relative error of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6×10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−7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while the crude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14% high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49701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55188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487875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merge sort uses 1.0% more comparisons than the floor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and the excess is falling. No comparison sort can do appreciably better.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878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27364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209641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Counting sort (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) and radix sort (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R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) are linear because they never compare keys — they index by them. Each buys that with an assumption: a small universe, or a fixed width.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9470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 (continued)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89     </a:t>
            </a:r>
            <a:fld id="{EF35FE47-1A26-4938-AB3C-80E5C038F28A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6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9" name="!!st6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counting sort beat </a:t>
            </a:r>
            <a:r>
              <a:rPr sz="1600" b="0" i="0">
                <a:solidFill>
                  <a:srgbClr val="1F4E79"/>
                </a:solidFill>
                <a:latin typeface="Consolas"/>
              </a:rPr>
              <a:t>std::sort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by 7–10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 a 1000-value universe, with identical output and no theorem harmed.</a:t>
            </a:r>
          </a:p>
        </p:txBody>
      </p:sp>
      <p:sp>
        <p:nvSpPr>
          <p:cNvPr id="10" name="!!sb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7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12" name="!!st7"/>
          <p:cNvSpPr txBox="1"/>
          <p:nvPr/>
        </p:nvSpPr>
        <p:spPr>
          <a:xfrm>
            <a:off x="1298448" y="245912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Radix sort requires its per-digit pass to be stable, or earlier passes are destroyed.</a:t>
            </a:r>
          </a:p>
        </p:txBody>
      </p:sp>
      <p:sp>
        <p:nvSpPr>
          <p:cNvPr id="2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5410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89     </a:t>
            </a:r>
            <a:fld id="{676AB117-59C7-4358-AB4D-2349F838FB95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The decision tree of a comparison sort on 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 elements must have at least: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leaves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leaves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!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leaves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3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leaves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41350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89     </a:t>
            </a:r>
            <a:fld id="{9CAC9839-79F8-4CBB-AE8F-063E0B02077F}" type="slidenum">
              <a:rPr lang="en-GB" sz="1000">
                <a:solidFill>
                  <a:srgbClr val="8795A1"/>
                </a:solidFill>
                <a:latin typeface="Segoe UI"/>
              </a:rPr>
              <a:t>45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Counting sort runs in: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always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K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7289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89     </a:t>
            </a:r>
            <a:fld id="{6B482B13-B224-4AB2-ABD0-BF5E084AD3A3}" type="slidenum">
              <a:rPr lang="en-GB" sz="1000">
                <a:solidFill>
                  <a:srgbClr val="8795A1"/>
                </a:solidFill>
                <a:latin typeface="Segoe UI"/>
              </a:rPr>
              <a:t>46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Explain the difference between a lower bound on a problem and an upper bound on an algorithm, with an example of each.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45689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586837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27401"/>
            <a:ext cx="9549079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Why must the counting sort inside a radix sort be stable? Describe what goes wrong if it is not.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33573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376879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317443"/>
            <a:ext cx="9549079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State the assumption counting sort buys in exchange for linearity, and give a key type for which it is a bad bargain.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2577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41669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4107484"/>
            <a:ext cx="9549079" cy="8558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Prove that any comparison-based algorithm for finding the </a:t>
            </a:r>
            <a:r>
              <a:rPr sz="1800" b="0" i="1">
                <a:solidFill>
                  <a:srgbClr val="1C252B"/>
                </a:solidFill>
                <a:latin typeface="Segoe UI"/>
              </a:rPr>
              <a:t>minimum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of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elements requires at least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−1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comparisons. (The decision-tree argument is not the easiest route; think about what an adversary can arrange.)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0110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524225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5182819"/>
            <a:ext cx="9549079" cy="8558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You must sort 50 million 64-bit timestamps spanning one year. Decide between </a:t>
            </a:r>
            <a:r>
              <a:rPr sz="1700" b="0" i="0">
                <a:solidFill>
                  <a:srgbClr val="1F4E79"/>
                </a:solidFill>
                <a:latin typeface="Consolas"/>
              </a:rPr>
              <a:t>std::sort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counting sort and radix sort, giving the arithmetic for each, and state what you would measure before committing.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3229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7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D8552"/>
                </a:solidFill>
                <a:latin typeface="Segoe UI Black"/>
              </a:rPr>
              <a:t>10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10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11 — Selection and Order Statistics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10, pages 82–89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Semibold"/>
              </a:rPr>
              <a:t>Counting and radix sort against std::sort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Assignment 1 set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10  ·  Lower Bounds and Sorting in Linear Time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9D689587-D612-4914-A01A-737B204EA20F}" type="slidenum">
              <a:rPr lang="en-GB" sz="1000">
                <a:solidFill>
                  <a:srgbClr val="D5DEE5"/>
                </a:solidFill>
                <a:latin typeface="Segoe UI"/>
              </a:rPr>
              <a:t>47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Lower Bounds and Sorting in Linear Time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