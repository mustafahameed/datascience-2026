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985455" y="0"/>
            <a:ext cx="4206240"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005840" y="1371600"/>
            <a:ext cx="6766560" cy="365760"/>
          </a:xfrm>
          <a:prstGeom prst="rect">
            <a:avLst/>
          </a:prstGeom>
          <a:noFill/>
        </p:spPr>
        <p:txBody>
          <a:bodyPr wrap="square" anchor="t" lIns="0" rIns="0" tIns="0" bIns="0">
            <a:spAutoFit/>
          </a:bodyPr>
          <a:lstStyle/>
          <a:p>
            <a:r>
              <a:rPr sz="1400" b="1" i="0">
                <a:solidFill>
                  <a:srgbClr val="E8F6F3"/>
                </a:solidFill>
                <a:latin typeface="Segoe UI"/>
              </a:rPr>
              <a:t>CHAPTER 30</a:t>
            </a:r>
          </a:p>
        </p:txBody>
      </p:sp>
      <p:sp>
        <p:nvSpPr>
          <p:cNvPr id="6" name="TextBox 5"/>
          <p:cNvSpPr txBox="1"/>
          <p:nvPr/>
        </p:nvSpPr>
        <p:spPr>
          <a:xfrm>
            <a:off x="1005840" y="1828800"/>
            <a:ext cx="6675120" cy="2194560"/>
          </a:xfrm>
          <a:prstGeom prst="rect">
            <a:avLst/>
          </a:prstGeom>
          <a:noFill/>
        </p:spPr>
        <p:txBody>
          <a:bodyPr wrap="square" anchor="t" lIns="0" rIns="0" tIns="0" bIns="0">
            <a:spAutoFit/>
          </a:bodyPr>
          <a:lstStyle/>
          <a:p>
            <a:r>
              <a:rPr sz="4000" b="1" i="0">
                <a:solidFill>
                  <a:srgbClr val="FFFFFF"/>
                </a:solidFill>
                <a:latin typeface="Georgia"/>
              </a:rPr>
              <a:t>The Synopsis and the Research Proposal</a:t>
            </a:r>
          </a:p>
        </p:txBody>
      </p:sp>
      <p:sp>
        <p:nvSpPr>
          <p:cNvPr id="7" name="Rectangle 6"/>
          <p:cNvSpPr/>
          <p:nvPr/>
        </p:nvSpPr>
        <p:spPr>
          <a:xfrm>
            <a:off x="1005840" y="4206240"/>
            <a:ext cx="118872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05840" y="4480560"/>
            <a:ext cx="6675120" cy="914400"/>
          </a:xfrm>
          <a:prstGeom prst="rect">
            <a:avLst/>
          </a:prstGeom>
          <a:noFill/>
        </p:spPr>
        <p:txBody>
          <a:bodyPr wrap="square" anchor="t" lIns="0" rIns="0" tIns="0" bIns="0">
            <a:spAutoFit/>
          </a:bodyPr>
          <a:lstStyle/>
          <a:p>
            <a:r>
              <a:rPr sz="1600" b="0" i="0">
                <a:solidFill>
                  <a:srgbClr val="E8F6F3"/>
                </a:solidFill>
                <a:latin typeface="Segoe UI"/>
              </a:rPr>
              <a:t>Part 6 — Producing and Defending Research</a:t>
            </a:r>
          </a:p>
          <a:p>
            <a:r>
              <a:rPr sz="1300" b="0" i="1">
                <a:solidFill>
                  <a:srgbClr val="E8F6F3"/>
                </a:solidFill>
                <a:latin typeface="Segoe UI"/>
              </a:rPr>
              <a:t>Advanced Research Methodology · Fall 2026</a:t>
            </a:r>
          </a:p>
        </p:txBody>
      </p:sp>
      <p:sp>
        <p:nvSpPr>
          <p:cNvPr id="9" name="TextBox 8"/>
          <p:cNvSpPr txBox="1"/>
          <p:nvPr/>
        </p:nvSpPr>
        <p:spPr>
          <a:xfrm>
            <a:off x="8442656" y="2194560"/>
            <a:ext cx="2834640" cy="2743200"/>
          </a:xfrm>
          <a:prstGeom prst="rect">
            <a:avLst/>
          </a:prstGeom>
          <a:noFill/>
        </p:spPr>
        <p:txBody>
          <a:bodyPr wrap="square" anchor="t" lIns="0" rIns="0" tIns="0" bIns="0">
            <a:spAutoFit/>
          </a:bodyPr>
          <a:lstStyle/>
          <a:p>
            <a:r>
              <a:rPr sz="1500" b="1" i="0">
                <a:solidFill>
                  <a:srgbClr val="FFFFFF"/>
                </a:solidFill>
                <a:latin typeface="Segoe UI"/>
              </a:rPr>
              <a:t>MS IT / PhD IT</a:t>
            </a:r>
          </a:p>
          <a:p>
            <a:pPr>
              <a:spcBef>
                <a:spcPts val="600"/>
              </a:spcBef>
            </a:pPr>
            <a:r>
              <a:rPr sz="1200" b="0" i="0">
                <a:solidFill>
                  <a:srgbClr val="E8F6F3"/>
                </a:solidFill>
                <a:latin typeface="Segoe UI"/>
              </a:rPr>
              <a:t>Department of Information Technology
The Islamia University of Bahawalpur</a:t>
            </a:r>
          </a:p>
          <a:p>
            <a:pPr>
              <a:spcBef>
                <a:spcPts val="1400"/>
              </a:spcBef>
            </a:pPr>
            <a:r>
              <a:rPr sz="1200" b="0" i="0">
                <a:solidFill>
                  <a:srgbClr val="E8F6F3"/>
                </a:solidFill>
                <a:latin typeface="Segoe UI"/>
              </a:rPr>
              <a:t>Fall 2026</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slide(fromBottom)">
                                      <p:cBhvr>
                                        <p:cTn id="13" dur="6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right)">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LEARNING OUTCOMES</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By the end of this chapter</a:t>
            </a:r>
          </a:p>
        </p:txBody>
      </p:sp>
      <p:sp>
        <p:nvSpPr>
          <p:cNvPr id="7" name="TextBox 6"/>
          <p:cNvSpPr txBox="1"/>
          <p:nvPr/>
        </p:nvSpPr>
        <p:spPr>
          <a:xfrm>
            <a:off x="777240" y="1828800"/>
            <a:ext cx="10637215" cy="4114800"/>
          </a:xfrm>
          <a:prstGeom prst="rect">
            <a:avLst/>
          </a:prstGeom>
          <a:noFill/>
        </p:spPr>
        <p:txBody>
          <a:bodyPr wrap="square" anchor="t" lIns="0" rIns="0" tIns="0" bIns="0">
            <a:spAutoFit/>
          </a:bodyPr>
          <a:lstStyle/>
          <a:p>
            <a:pPr>
              <a:spcAft>
                <a:spcPts val="1400"/>
              </a:spcAft>
            </a:pPr>
            <a:r>
              <a:rPr sz="1700" b="1" i="0">
                <a:solidFill>
                  <a:srgbClr val="C84B31"/>
                </a:solidFill>
                <a:latin typeface="Segoe UI"/>
              </a:rPr>
              <a:t>▸  </a:t>
            </a:r>
            <a:r>
              <a:rPr sz="1700" b="1" i="0">
                <a:solidFill>
                  <a:srgbClr val="0E4D64"/>
                </a:solidFill>
                <a:latin typeface="Segoe UI"/>
              </a:rPr>
              <a:t>Assemble </a:t>
            </a:r>
            <a:r>
              <a:rPr sz="1700" b="0" i="0">
                <a:solidFill>
                  <a:srgbClr val="1C2833"/>
                </a:solidFill>
                <a:latin typeface="Segoe UI"/>
              </a:rPr>
              <a:t>a synopsis in the structure IUB requires, section by section.</a:t>
            </a:r>
          </a:p>
          <a:p>
            <a:pPr>
              <a:spcAft>
                <a:spcPts val="1400"/>
              </a:spcAft>
            </a:pPr>
            <a:r>
              <a:rPr sz="1700" b="1" i="0">
                <a:solidFill>
                  <a:srgbClr val="C84B31"/>
                </a:solidFill>
                <a:latin typeface="Segoe UI"/>
              </a:rPr>
              <a:t>▸  </a:t>
            </a:r>
            <a:r>
              <a:rPr sz="1700" b="1" i="0">
                <a:solidFill>
                  <a:srgbClr val="0E4D64"/>
                </a:solidFill>
                <a:latin typeface="Segoe UI"/>
              </a:rPr>
              <a:t>Distinguish </a:t>
            </a:r>
            <a:r>
              <a:rPr sz="1700" b="0" i="0">
                <a:solidFill>
                  <a:srgbClr val="1C2833"/>
                </a:solidFill>
                <a:latin typeface="Segoe UI"/>
              </a:rPr>
              <a:t>the four sections students most often conflate — problem, rationale, significance and novelty.</a:t>
            </a:r>
          </a:p>
          <a:p>
            <a:pPr>
              <a:spcAft>
                <a:spcPts val="1400"/>
              </a:spcAft>
            </a:pPr>
            <a:r>
              <a:rPr sz="1700" b="1" i="0">
                <a:solidFill>
                  <a:srgbClr val="C84B31"/>
                </a:solidFill>
                <a:latin typeface="Segoe UI"/>
              </a:rPr>
              <a:t>▸  </a:t>
            </a:r>
            <a:r>
              <a:rPr sz="1700" b="1" i="0">
                <a:solidFill>
                  <a:srgbClr val="0E4D64"/>
                </a:solidFill>
                <a:latin typeface="Segoe UI"/>
              </a:rPr>
              <a:t>Navigate </a:t>
            </a:r>
            <a:r>
              <a:rPr sz="1700" b="0" i="0">
                <a:solidFill>
                  <a:srgbClr val="1C2833"/>
                </a:solidFill>
                <a:latin typeface="Segoe UI"/>
              </a:rPr>
              <a:t>the approval path for your degree, with its deadlines.</a:t>
            </a:r>
          </a:p>
          <a:p>
            <a:pPr>
              <a:spcAft>
                <a:spcPts val="1400"/>
              </a:spcAft>
            </a:pPr>
            <a:r>
              <a:rPr sz="1700" b="1" i="0">
                <a:solidFill>
                  <a:srgbClr val="C84B31"/>
                </a:solidFill>
                <a:latin typeface="Segoe UI"/>
              </a:rPr>
              <a:t>▸  </a:t>
            </a:r>
            <a:r>
              <a:rPr sz="1700" b="1" i="0">
                <a:solidFill>
                  <a:srgbClr val="0E4D64"/>
                </a:solidFill>
                <a:latin typeface="Segoe UI"/>
              </a:rPr>
              <a:t>Anticipate </a:t>
            </a:r>
            <a:r>
              <a:rPr sz="1700" b="0" i="0">
                <a:solidFill>
                  <a:srgbClr val="1C2833"/>
                </a:solidFill>
                <a:latin typeface="Segoe UI"/>
              </a:rPr>
              <a:t>what the Departmental Research Committee and the external referee will ask.</a:t>
            </a:r>
          </a:p>
        </p:txBody>
      </p:sp>
      <p:sp>
        <p:nvSpPr>
          <p:cNvPr id="8" name="Rectangle 7"/>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30 · The Synopsis and the Research Proposal</a:t>
            </a: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Outcomes</a:t>
            </a:r>
          </a:p>
        </p:txBody>
      </p:sp>
    </p:spTree>
  </p:cSld>
  <p:clrMapOvr>
    <a:masterClrMapping/>
  </p:clrMapOvr>
  <p:transition spd="med">
    <p:push dir="u"/>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wipe(up)">
                                      <p:cBhvr>
                                        <p:cTn id="8" dur="350"/>
                                        <p:tgtEl>
                                          <p:spTgt spid="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wipe(up)">
                                      <p:cBhvr>
                                        <p:cTn id="13" dur="350"/>
                                        <p:tgtEl>
                                          <p:spTgt spid="7">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wipe(up)">
                                      <p:cBhvr>
                                        <p:cTn id="18" dur="350"/>
                                        <p:tgtEl>
                                          <p:spTgt spid="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wipe(up)">
                                      <p:cBhvr>
                                        <p:cTn id="23" dur="35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KEY TERMS</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The vocabulary of this chapter</a:t>
            </a:r>
          </a:p>
        </p:txBody>
      </p:sp>
      <p:sp>
        <p:nvSpPr>
          <p:cNvPr id="7" name="TextBox 6"/>
          <p:cNvSpPr txBox="1"/>
          <p:nvPr/>
        </p:nvSpPr>
        <p:spPr>
          <a:xfrm>
            <a:off x="777240" y="1828800"/>
            <a:ext cx="3423818" cy="4114800"/>
          </a:xfrm>
          <a:prstGeom prst="rect">
            <a:avLst/>
          </a:prstGeom>
          <a:noFill/>
        </p:spPr>
        <p:txBody>
          <a:bodyPr wrap="square" anchor="t" lIns="0" rIns="0" tIns="0" bIns="0">
            <a:spAutoFit/>
          </a:bodyPr>
          <a:lstStyle/>
          <a:p>
            <a:pPr>
              <a:spcAft>
                <a:spcPts val="1100"/>
              </a:spcAft>
            </a:pPr>
            <a:r>
              <a:rPr sz="1400" b="0" i="0">
                <a:solidFill>
                  <a:srgbClr val="C84B31"/>
                </a:solidFill>
                <a:latin typeface="Segoe UI"/>
              </a:rPr>
              <a:t>▪  </a:t>
            </a:r>
            <a:r>
              <a:rPr sz="1400" b="0" i="0">
                <a:solidFill>
                  <a:srgbClr val="1C2833"/>
                </a:solidFill>
                <a:latin typeface="Segoe UI"/>
              </a:rPr>
              <a:t>synopsis</a:t>
            </a:r>
          </a:p>
          <a:p>
            <a:pPr>
              <a:spcAft>
                <a:spcPts val="1100"/>
              </a:spcAft>
            </a:pPr>
            <a:r>
              <a:rPr sz="1400" b="0" i="0">
                <a:solidFill>
                  <a:srgbClr val="C84B31"/>
                </a:solidFill>
                <a:latin typeface="Segoe UI"/>
              </a:rPr>
              <a:t>▪  </a:t>
            </a:r>
            <a:r>
              <a:rPr sz="1400" b="0" i="0">
                <a:solidFill>
                  <a:srgbClr val="1C2833"/>
                </a:solidFill>
                <a:latin typeface="Segoe UI"/>
              </a:rPr>
              <a:t>statement of the problem</a:t>
            </a:r>
          </a:p>
          <a:p>
            <a:pPr>
              <a:spcAft>
                <a:spcPts val="1100"/>
              </a:spcAft>
            </a:pPr>
            <a:r>
              <a:rPr sz="1400" b="0" i="0">
                <a:solidFill>
                  <a:srgbClr val="C84B31"/>
                </a:solidFill>
                <a:latin typeface="Segoe UI"/>
              </a:rPr>
              <a:t>▪  </a:t>
            </a:r>
            <a:r>
              <a:rPr sz="1400" b="0" i="0">
                <a:solidFill>
                  <a:srgbClr val="1C2833"/>
                </a:solidFill>
                <a:latin typeface="Segoe UI"/>
              </a:rPr>
              <a:t>rationale</a:t>
            </a:r>
          </a:p>
          <a:p>
            <a:pPr>
              <a:spcAft>
                <a:spcPts val="1100"/>
              </a:spcAft>
            </a:pPr>
            <a:r>
              <a:rPr sz="1400" b="0" i="0">
                <a:solidFill>
                  <a:srgbClr val="C84B31"/>
                </a:solidFill>
                <a:latin typeface="Segoe UI"/>
              </a:rPr>
              <a:t>▪  </a:t>
            </a:r>
            <a:r>
              <a:rPr sz="1400" b="0" i="0">
                <a:solidFill>
                  <a:srgbClr val="1C2833"/>
                </a:solidFill>
                <a:latin typeface="Segoe UI"/>
              </a:rPr>
              <a:t>significance</a:t>
            </a:r>
          </a:p>
        </p:txBody>
      </p:sp>
      <p:sp>
        <p:nvSpPr>
          <p:cNvPr id="8" name="TextBox 7"/>
          <p:cNvSpPr txBox="1"/>
          <p:nvPr/>
        </p:nvSpPr>
        <p:spPr>
          <a:xfrm>
            <a:off x="4383938" y="1828800"/>
            <a:ext cx="3423818" cy="4114800"/>
          </a:xfrm>
          <a:prstGeom prst="rect">
            <a:avLst/>
          </a:prstGeom>
          <a:noFill/>
        </p:spPr>
        <p:txBody>
          <a:bodyPr wrap="square" anchor="t" lIns="0" rIns="0" tIns="0" bIns="0">
            <a:spAutoFit/>
          </a:bodyPr>
          <a:lstStyle/>
          <a:p>
            <a:pPr>
              <a:spcAft>
                <a:spcPts val="1100"/>
              </a:spcAft>
            </a:pPr>
            <a:r>
              <a:rPr sz="1400" b="0" i="0">
                <a:solidFill>
                  <a:srgbClr val="C84B31"/>
                </a:solidFill>
                <a:latin typeface="Segoe UI"/>
              </a:rPr>
              <a:t>▪  </a:t>
            </a:r>
            <a:r>
              <a:rPr sz="1400" b="0" i="0">
                <a:solidFill>
                  <a:srgbClr val="1C2833"/>
                </a:solidFill>
                <a:latin typeface="Segoe UI"/>
              </a:rPr>
              <a:t>novelty statement</a:t>
            </a:r>
          </a:p>
          <a:p>
            <a:pPr>
              <a:spcAft>
                <a:spcPts val="1100"/>
              </a:spcAft>
            </a:pPr>
            <a:r>
              <a:rPr sz="1400" b="0" i="0">
                <a:solidFill>
                  <a:srgbClr val="C84B31"/>
                </a:solidFill>
                <a:latin typeface="Segoe UI"/>
              </a:rPr>
              <a:t>▪  </a:t>
            </a:r>
            <a:r>
              <a:rPr sz="1400" b="0" i="0">
                <a:solidFill>
                  <a:srgbClr val="1C2833"/>
                </a:solidFill>
                <a:latin typeface="Segoe UI"/>
              </a:rPr>
              <a:t>plan of work</a:t>
            </a:r>
          </a:p>
          <a:p>
            <a:pPr>
              <a:spcAft>
                <a:spcPts val="1100"/>
              </a:spcAft>
            </a:pPr>
            <a:r>
              <a:rPr sz="1400" b="0" i="0">
                <a:solidFill>
                  <a:srgbClr val="C84B31"/>
                </a:solidFill>
                <a:latin typeface="Segoe UI"/>
              </a:rPr>
              <a:t>▪  </a:t>
            </a:r>
            <a:r>
              <a:rPr sz="1400" b="0" i="0">
                <a:solidFill>
                  <a:srgbClr val="1C2833"/>
                </a:solidFill>
                <a:latin typeface="Segoe UI"/>
              </a:rPr>
              <a:t>Gantt chart</a:t>
            </a:r>
          </a:p>
          <a:p>
            <a:pPr>
              <a:spcAft>
                <a:spcPts val="1100"/>
              </a:spcAft>
            </a:pPr>
            <a:r>
              <a:rPr sz="1400" b="0" i="0">
                <a:solidFill>
                  <a:srgbClr val="C84B31"/>
                </a:solidFill>
                <a:latin typeface="Segoe UI"/>
              </a:rPr>
              <a:t>▪  </a:t>
            </a:r>
            <a:r>
              <a:rPr sz="1400" b="0" i="0">
                <a:solidFill>
                  <a:srgbClr val="1C2833"/>
                </a:solidFill>
                <a:latin typeface="Segoe UI"/>
              </a:rPr>
              <a:t>Departmental Research Committee</a:t>
            </a:r>
          </a:p>
        </p:txBody>
      </p:sp>
      <p:sp>
        <p:nvSpPr>
          <p:cNvPr id="9" name="TextBox 8"/>
          <p:cNvSpPr txBox="1"/>
          <p:nvPr/>
        </p:nvSpPr>
        <p:spPr>
          <a:xfrm>
            <a:off x="7990636" y="1828800"/>
            <a:ext cx="3423818" cy="4114800"/>
          </a:xfrm>
          <a:prstGeom prst="rect">
            <a:avLst/>
          </a:prstGeom>
          <a:noFill/>
        </p:spPr>
        <p:txBody>
          <a:bodyPr wrap="square" anchor="t" lIns="0" rIns="0" tIns="0" bIns="0">
            <a:spAutoFit/>
          </a:bodyPr>
          <a:lstStyle/>
          <a:p>
            <a:pPr>
              <a:spcAft>
                <a:spcPts val="1100"/>
              </a:spcAft>
            </a:pPr>
            <a:r>
              <a:rPr sz="1400" b="0" i="0">
                <a:solidFill>
                  <a:srgbClr val="C84B31"/>
                </a:solidFill>
                <a:latin typeface="Segoe UI"/>
              </a:rPr>
              <a:t>▪  </a:t>
            </a:r>
            <a:r>
              <a:rPr sz="1400" b="0" i="0">
                <a:solidFill>
                  <a:srgbClr val="1C2833"/>
                </a:solidFill>
                <a:latin typeface="Segoe UI"/>
              </a:rPr>
              <a:t>external referee</a:t>
            </a:r>
          </a:p>
          <a:p>
            <a:pPr>
              <a:spcAft>
                <a:spcPts val="1100"/>
              </a:spcAft>
            </a:pPr>
            <a:r>
              <a:rPr sz="1400" b="0" i="0">
                <a:solidFill>
                  <a:srgbClr val="C84B31"/>
                </a:solidFill>
                <a:latin typeface="Segoe UI"/>
              </a:rPr>
              <a:t>▪  </a:t>
            </a:r>
            <a:r>
              <a:rPr sz="1400" b="0" i="0">
                <a:solidFill>
                  <a:srgbClr val="1C2833"/>
                </a:solidFill>
                <a:latin typeface="Segoe UI"/>
              </a:rPr>
              <a:t>in-principle approval</a:t>
            </a:r>
          </a:p>
        </p:txBody>
      </p:sp>
      <p:sp>
        <p:nvSpPr>
          <p:cNvPr id="10" name="Rectangle 9"/>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30 · The Synopsis and the Research Proposal</a:t>
            </a:r>
          </a:p>
        </p:txBody>
      </p:sp>
      <p:sp>
        <p:nvSpPr>
          <p:cNvPr id="12" name="TextBox 11"/>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Key terms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400"/>
                                        <p:tgtEl>
                                          <p:spTgt spid="7"/>
                                        </p:tgtEl>
                                      </p:cBhvr>
                                    </p:animEffect>
                                  </p:childTnLst>
                                </p:cTn>
                              </p:par>
                              <p:par>
                                <p:cTn id="9" presetID="23" presetClass="entr" presetSubtype="16"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zoom(in)">
                                      <p:cBhvr>
                                        <p:cTn id="11" dur="400"/>
                                        <p:tgtEl>
                                          <p:spTgt spid="8"/>
                                        </p:tgtEl>
                                      </p:cBhvr>
                                    </p:animEffect>
                                  </p:childTnLst>
                                </p:cTn>
                              </p:par>
                              <p:par>
                                <p:cTn id="12" presetID="23" presetClass="entr" presetSubtype="16"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zoom(in)">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1 OF 4</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What the Synopsis Is For</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6 · CH. 30</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What the Synopsis Is For</a:t>
            </a:r>
          </a:p>
        </p:txBody>
      </p:sp>
      <p:sp>
        <p:nvSpPr>
          <p:cNvPr id="7" name="Rectangle 6"/>
          <p:cNvSpPr/>
          <p:nvPr/>
        </p:nvSpPr>
        <p:spPr>
          <a:xfrm>
            <a:off x="777240" y="3282696"/>
            <a:ext cx="54864" cy="1207008"/>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pPr>
              <a:spcAft>
                <a:spcPts val="400"/>
              </a:spcAft>
            </a:pPr>
            <a:r>
              <a:rPr sz="1000" b="1" i="0">
                <a:solidFill>
                  <a:srgbClr val="C84B31"/>
                </a:solidFill>
                <a:latin typeface="Segoe UI"/>
              </a:rPr>
              <a:t>REGULATION   </a:t>
            </a:r>
            <a:r>
              <a:rPr sz="1700" b="1" i="0">
                <a:solidFill>
                  <a:srgbClr val="0E4D64"/>
                </a:solidFill>
                <a:latin typeface="Segoe UI"/>
              </a:rPr>
              <a:t>The approval path</a:t>
            </a:r>
          </a:p>
          <a:p>
            <a:r>
              <a:rPr sz="1400" b="0" i="0">
                <a:solidFill>
                  <a:srgbClr val="1C2833"/>
                </a:solidFill>
                <a:latin typeface="Segoe UI"/>
              </a:rPr>
              <a:t>PhD (§13). Prepare the synopsis under your supervisor; defend it before the Departmental Research Committee; on success the DRC recommends it to AS&amp;RB through the Board of Studies.</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30 · The Synopsis and the Research Proposal</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What the Synopsis Is For</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2 OF 4</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The Structure</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6 · CH. 30</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The Structure</a:t>
            </a:r>
          </a:p>
        </p:txBody>
      </p:sp>
      <p:sp>
        <p:nvSpPr>
          <p:cNvPr id="7" name="Rectangle 6"/>
          <p:cNvSpPr/>
          <p:nvPr/>
        </p:nvSpPr>
        <p:spPr>
          <a:xfrm>
            <a:off x="777240" y="3282696"/>
            <a:ext cx="54864" cy="120700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pPr>
              <a:spcAft>
                <a:spcPts val="400"/>
              </a:spcAft>
            </a:pPr>
            <a:r>
              <a:rPr sz="1000" b="1" i="0">
                <a:solidFill>
                  <a:srgbClr val="B7950B"/>
                </a:solidFill>
                <a:latin typeface="Segoe UI"/>
              </a:rPr>
              <a:t>WATCH OUT   </a:t>
            </a:r>
            <a:r>
              <a:rPr sz="1700" b="1" i="0">
                <a:solidFill>
                  <a:srgbClr val="0E4D64"/>
                </a:solidFill>
                <a:latin typeface="Segoe UI"/>
              </a:rPr>
              <a:t>Four sections, four different jobs</a:t>
            </a:r>
          </a:p>
          <a:p>
            <a:r>
              <a:rPr sz="1400" b="0" i="0">
                <a:solidFill>
                  <a:srgbClr val="1C2833"/>
                </a:solidFill>
                <a:latin typeface="Segoe UI"/>
              </a:rPr>
              <a:t>These are the ones students merge, and merging them is the commonest reason a synopsis reads as vague. Each answers a different question.</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30 · The Synopsis and the Research Proposal</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The Structure</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3 OF 4</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The Sections That Decide the Outcome</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6 · CH. 30</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The Sections That Decide the Outcome</a:t>
            </a:r>
          </a:p>
        </p:txBody>
      </p:sp>
      <p:sp>
        <p:nvSpPr>
          <p:cNvPr id="7" name="Rectangle 6"/>
          <p:cNvSpPr/>
          <p:nvPr/>
        </p:nvSpPr>
        <p:spPr>
          <a:xfrm>
            <a:off x="777240" y="3282696"/>
            <a:ext cx="54864" cy="1207008"/>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pPr>
              <a:spcAft>
                <a:spcPts val="400"/>
              </a:spcAft>
            </a:pPr>
            <a:r>
              <a:rPr sz="1000" b="1" i="0">
                <a:solidFill>
                  <a:srgbClr val="137177"/>
                </a:solidFill>
                <a:latin typeface="Segoe UI"/>
              </a:rPr>
              <a:t>CONCEPT   </a:t>
            </a:r>
            <a:r>
              <a:rPr sz="1700" b="1" i="0">
                <a:solidFill>
                  <a:srgbClr val="0E4D64"/>
                </a:solidFill>
                <a:latin typeface="Segoe UI"/>
              </a:rPr>
              <a:t>Make the timeline honest, and it becomes an argument</a:t>
            </a:r>
          </a:p>
          <a:p>
            <a:r>
              <a:rPr sz="1400" b="0" i="0">
                <a:solidFill>
                  <a:srgbClr val="1C2833"/>
                </a:solidFill>
                <a:latin typeface="Segoe UI"/>
              </a:rPr>
              <a:t>A Gantt chart showing data collection finishing the week before submission tells the committee you have no slack, and they will say so.</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30 · The Synopsis and the Research Proposal</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The Sections That Decide the Outcome</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371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777240" y="2377440"/>
            <a:ext cx="10637215" cy="365760"/>
          </a:xfrm>
          <a:prstGeom prst="rect">
            <a:avLst/>
          </a:prstGeom>
          <a:noFill/>
        </p:spPr>
        <p:txBody>
          <a:bodyPr wrap="square" anchor="t" lIns="0" rIns="0" tIns="0" bIns="0">
            <a:spAutoFit/>
          </a:bodyPr>
          <a:lstStyle/>
          <a:p>
            <a:r>
              <a:rPr sz="1300" b="1" i="0">
                <a:solidFill>
                  <a:srgbClr val="E8F6F3"/>
                </a:solidFill>
                <a:latin typeface="Segoe UI"/>
              </a:rPr>
              <a:t>SECTION 4 OF 4</a:t>
            </a:r>
          </a:p>
        </p:txBody>
      </p:sp>
      <p:sp>
        <p:nvSpPr>
          <p:cNvPr id="5" name="TextBox 4"/>
          <p:cNvSpPr txBox="1"/>
          <p:nvPr/>
        </p:nvSpPr>
        <p:spPr>
          <a:xfrm>
            <a:off x="777240" y="2788920"/>
            <a:ext cx="9722815" cy="1645920"/>
          </a:xfrm>
          <a:prstGeom prst="rect">
            <a:avLst/>
          </a:prstGeom>
          <a:noFill/>
        </p:spPr>
        <p:txBody>
          <a:bodyPr wrap="square" anchor="t" lIns="0" rIns="0" tIns="0" bIns="0">
            <a:spAutoFit/>
          </a:bodyPr>
          <a:lstStyle/>
          <a:p>
            <a:r>
              <a:rPr sz="3400" b="1" i="0">
                <a:solidFill>
                  <a:srgbClr val="FFFFFF"/>
                </a:solidFill>
                <a:latin typeface="Georgia"/>
              </a:rPr>
              <a:t>Defending It</a:t>
            </a:r>
          </a:p>
        </p:txBody>
      </p:sp>
      <p:sp>
        <p:nvSpPr>
          <p:cNvPr id="6" name="Rectangle 5"/>
          <p:cNvSpPr/>
          <p:nvPr/>
        </p:nvSpPr>
        <p:spPr>
          <a:xfrm>
            <a:off x="777240" y="4343400"/>
            <a:ext cx="1463040" cy="508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transition spd="med">
    <p:wipe dir="d"/>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fade">
                                      <p:cBhvr>
                                        <p:cTn id="8" dur="300"/>
                                        <p:tgtEl>
                                          <p:spTgt spid="4"/>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right)">
                                      <p:cBhvr>
                                        <p:cTn id="14"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PART 6 · CH. 30</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Defending It</a:t>
            </a:r>
          </a:p>
        </p:txBody>
      </p:sp>
      <p:sp>
        <p:nvSpPr>
          <p:cNvPr id="7" name="Rectangle 6"/>
          <p:cNvSpPr/>
          <p:nvPr/>
        </p:nvSpPr>
        <p:spPr>
          <a:xfrm>
            <a:off x="777240" y="3282696"/>
            <a:ext cx="54864" cy="120700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33272" y="3282696"/>
            <a:ext cx="10381183" cy="1207008"/>
          </a:xfrm>
          <a:prstGeom prst="rect">
            <a:avLst/>
          </a:prstGeom>
          <a:noFill/>
        </p:spPr>
        <p:txBody>
          <a:bodyPr wrap="square" anchor="t" lIns="0" rIns="0" tIns="0" bIns="0">
            <a:spAutoFit/>
          </a:bodyPr>
          <a:lstStyle/>
          <a:p>
            <a:pPr>
              <a:spcAft>
                <a:spcPts val="400"/>
              </a:spcAft>
            </a:pPr>
            <a:r>
              <a:rPr sz="1000" b="1" i="0">
                <a:solidFill>
                  <a:srgbClr val="B7950B"/>
                </a:solidFill>
                <a:latin typeface="Segoe UI"/>
              </a:rPr>
              <a:t>WATCH OUT   </a:t>
            </a:r>
            <a:r>
              <a:rPr sz="1700" b="1" i="0">
                <a:solidFill>
                  <a:srgbClr val="0E4D64"/>
                </a:solidFill>
                <a:latin typeface="Segoe UI"/>
              </a:rPr>
              <a:t>The question that most often goes badly</a:t>
            </a:r>
          </a:p>
          <a:p>
            <a:r>
              <a:rPr sz="1400" b="0" i="0">
                <a:solidFill>
                  <a:srgbClr val="1C2833"/>
                </a:solidFill>
                <a:latin typeface="Segoe UI"/>
              </a:rPr>
              <a:t>“What if your hypothesis is not supported?” The wrong answer is that you expect it will be.</a:t>
            </a:r>
          </a:p>
        </p:txBody>
      </p:sp>
      <p:sp>
        <p:nvSpPr>
          <p:cNvPr id="9" name="Rectangle 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30 · The Synopsis and the Research Proposal</a:t>
            </a: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Defending It</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up)">
                                      <p:cBhvr>
                                        <p:cTn id="8" dur="3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PITFALLS</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“Little research has been done in this area”</a:t>
            </a:r>
          </a:p>
        </p:txBody>
      </p:sp>
      <p:sp>
        <p:nvSpPr>
          <p:cNvPr id="7" name="TextBox 6"/>
          <p:cNvSpPr txBox="1"/>
          <p:nvPr/>
        </p:nvSpPr>
        <p:spPr>
          <a:xfrm>
            <a:off x="868680" y="1828800"/>
            <a:ext cx="10454335" cy="4114800"/>
          </a:xfrm>
          <a:prstGeom prst="rect">
            <a:avLst/>
          </a:prstGeom>
          <a:noFill/>
        </p:spPr>
        <p:txBody>
          <a:bodyPr wrap="square" anchor="t" lIns="0" rIns="0" tIns="0" bIns="0">
            <a:spAutoFit/>
          </a:bodyPr>
          <a:lstStyle/>
          <a:p>
            <a:pPr>
              <a:spcAft>
                <a:spcPts val="1500"/>
              </a:spcAft>
            </a:pPr>
            <a:r>
              <a:rPr sz="1500" b="1" i="0">
                <a:solidFill>
                  <a:srgbClr val="C84B31"/>
                </a:solidFill>
                <a:latin typeface="Segoe UI"/>
              </a:rPr>
              <a:t>✖  </a:t>
            </a:r>
            <a:r>
              <a:rPr sz="1500" b="0" i="0">
                <a:solidFill>
                  <a:srgbClr val="1C2833"/>
                </a:solidFill>
                <a:latin typeface="Segoe UI"/>
              </a:rPr>
              <a:t>This sentence appears in a large fraction of synopses and is the one an external referee is most likely to challenge — often by naming three papers that did it.</a:t>
            </a:r>
          </a:p>
        </p:txBody>
      </p:sp>
      <p:sp>
        <p:nvSpPr>
          <p:cNvPr id="8" name="Rectangle 7"/>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30 · The Synopsis and the Research Proposal</a:t>
            </a: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Pitfalls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 presetClass="entr" presetSubtype="8"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slide(fromLeft)">
                                      <p:cBhvr>
                                        <p:cTn id="8" dur="35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WHAT THE REGULATIONS SAY</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Rules that bind you, quoted</a:t>
            </a:r>
          </a:p>
        </p:txBody>
      </p:sp>
      <p:sp>
        <p:nvSpPr>
          <p:cNvPr id="7" name="Rectangle 6"/>
          <p:cNvSpPr/>
          <p:nvPr/>
        </p:nvSpPr>
        <p:spPr>
          <a:xfrm>
            <a:off x="777240" y="3268980"/>
            <a:ext cx="10637215" cy="1234440"/>
          </a:xfrm>
          <a:prstGeom prst="rect">
            <a:avLst/>
          </a:prstGeom>
          <a:solidFill>
            <a:srgbClr val="FFFFFF"/>
          </a:solidFill>
          <a:ln w="12700">
            <a:solidFill>
              <a:srgbClr val="C84B3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77240" y="3268980"/>
            <a:ext cx="64008" cy="123444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3415284"/>
            <a:ext cx="10088575" cy="960120"/>
          </a:xfrm>
          <a:prstGeom prst="rect">
            <a:avLst/>
          </a:prstGeom>
          <a:noFill/>
        </p:spPr>
        <p:txBody>
          <a:bodyPr wrap="square" anchor="t" lIns="0" rIns="0" tIns="0" bIns="0">
            <a:spAutoFit/>
          </a:bodyPr>
          <a:lstStyle/>
          <a:p>
            <a:pPr>
              <a:spcAft>
                <a:spcPts val="400"/>
              </a:spcAft>
            </a:pPr>
            <a:r>
              <a:rPr sz="1200" b="1" i="0">
                <a:solidFill>
                  <a:srgbClr val="C84B31"/>
                </a:solidFill>
                <a:latin typeface="Segoe UI"/>
              </a:rPr>
              <a:t>The approval path</a:t>
            </a:r>
          </a:p>
          <a:p>
            <a:r>
              <a:rPr sz="1300" b="0" i="0">
                <a:solidFill>
                  <a:srgbClr val="1C2833"/>
                </a:solidFill>
                <a:latin typeface="Segoe UI"/>
              </a:rPr>
              <a:t>PhD (§13). Prepare the synopsis under your supervisor; defend it before the Departmental Research Committee; on success the DRC recommends it to AS&amp;RB through the Board of Studies.</a:t>
            </a:r>
          </a:p>
        </p:txBody>
      </p:sp>
      <p:sp>
        <p:nvSpPr>
          <p:cNvPr id="10" name="Rectangle 9"/>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30 · The Synopsis and the Research Proposal</a:t>
            </a:r>
          </a:p>
        </p:txBody>
      </p:sp>
      <p:sp>
        <p:nvSpPr>
          <p:cNvPr id="12" name="TextBox 11"/>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Regulations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wipe(right)">
                                      <p:cBhvr>
                                        <p:cTn id="8" dur="35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FOUR TRADITIONS</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How this lands in the proposal</a:t>
            </a:r>
          </a:p>
        </p:txBody>
      </p:sp>
      <p:sp>
        <p:nvSpPr>
          <p:cNvPr id="7" name="Rectangle 6"/>
          <p:cNvSpPr/>
          <p:nvPr/>
        </p:nvSpPr>
        <p:spPr>
          <a:xfrm>
            <a:off x="777240" y="1874519"/>
            <a:ext cx="5158587" cy="1783080"/>
          </a:xfrm>
          <a:prstGeom prst="rect">
            <a:avLst/>
          </a:prstGeom>
          <a:solidFill>
            <a:srgbClr val="FFFFFF"/>
          </a:solidFill>
          <a:ln w="12700">
            <a:solidFill>
              <a:srgbClr val="E8F6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777240" y="1874519"/>
            <a:ext cx="5158587" cy="50800"/>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78408" y="2075687"/>
            <a:ext cx="4756251" cy="1417320"/>
          </a:xfrm>
          <a:prstGeom prst="rect">
            <a:avLst/>
          </a:prstGeom>
          <a:noFill/>
        </p:spPr>
        <p:txBody>
          <a:bodyPr wrap="square" anchor="t" lIns="0" rIns="0" tIns="0" bIns="0">
            <a:spAutoFit/>
          </a:bodyPr>
          <a:lstStyle/>
          <a:p>
            <a:pPr>
              <a:spcAft>
                <a:spcPts val="500"/>
              </a:spcAft>
            </a:pPr>
            <a:r>
              <a:rPr sz="1100" b="1" i="0">
                <a:solidFill>
                  <a:srgbClr val="1F618D"/>
                </a:solidFill>
                <a:latin typeface="Segoe UI"/>
              </a:rPr>
              <a:t>EMPIRICAL</a:t>
            </a:r>
          </a:p>
          <a:p>
            <a:r>
              <a:rPr sz="1250" b="0" i="0">
                <a:solidFill>
                  <a:srgbClr val="1C2833"/>
                </a:solidFill>
                <a:latin typeface="Segoe UI"/>
              </a:rPr>
              <a:t>Hypotheses, power, instruments and analysis plan stated in advance. The synopsis is a pre-registration with a committee attached.</a:t>
            </a:r>
          </a:p>
        </p:txBody>
      </p:sp>
      <p:sp>
        <p:nvSpPr>
          <p:cNvPr id="10" name="Rectangle 9"/>
          <p:cNvSpPr/>
          <p:nvPr/>
        </p:nvSpPr>
        <p:spPr>
          <a:xfrm>
            <a:off x="6255867" y="1874519"/>
            <a:ext cx="5158587" cy="1783080"/>
          </a:xfrm>
          <a:prstGeom prst="rect">
            <a:avLst/>
          </a:prstGeom>
          <a:solidFill>
            <a:srgbClr val="FFFFFF"/>
          </a:solidFill>
          <a:ln w="12700">
            <a:solidFill>
              <a:srgbClr val="E8F6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6255867" y="1874519"/>
            <a:ext cx="5158587" cy="50800"/>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57035" y="2075687"/>
            <a:ext cx="4756251" cy="1417320"/>
          </a:xfrm>
          <a:prstGeom prst="rect">
            <a:avLst/>
          </a:prstGeom>
          <a:noFill/>
        </p:spPr>
        <p:txBody>
          <a:bodyPr wrap="square" anchor="t" lIns="0" rIns="0" tIns="0" bIns="0">
            <a:spAutoFit/>
          </a:bodyPr>
          <a:lstStyle/>
          <a:p>
            <a:pPr>
              <a:spcAft>
                <a:spcPts val="500"/>
              </a:spcAft>
            </a:pPr>
            <a:r>
              <a:rPr sz="1100" b="1" i="0">
                <a:solidFill>
                  <a:srgbClr val="117864"/>
                </a:solidFill>
                <a:latin typeface="Segoe UI"/>
              </a:rPr>
              <a:t>DESIGN SCIENCE</a:t>
            </a:r>
          </a:p>
          <a:p>
            <a:r>
              <a:rPr sz="1250" b="0" i="0">
                <a:solidFill>
                  <a:srgbClr val="1C2833"/>
                </a:solidFill>
                <a:latin typeface="Segoe UI"/>
              </a:rPr>
              <a:t>Objectives become the artefact's requirements, and the evaluation criteria are stated before building (Ch. 9).</a:t>
            </a:r>
          </a:p>
        </p:txBody>
      </p:sp>
      <p:sp>
        <p:nvSpPr>
          <p:cNvPr id="13" name="Rectangle 12"/>
          <p:cNvSpPr/>
          <p:nvPr/>
        </p:nvSpPr>
        <p:spPr>
          <a:xfrm>
            <a:off x="777240" y="3931919"/>
            <a:ext cx="5158587" cy="1783080"/>
          </a:xfrm>
          <a:prstGeom prst="rect">
            <a:avLst/>
          </a:prstGeom>
          <a:solidFill>
            <a:srgbClr val="FFFFFF"/>
          </a:solidFill>
          <a:ln w="12700">
            <a:solidFill>
              <a:srgbClr val="E8F6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77240" y="3931919"/>
            <a:ext cx="5158587" cy="50800"/>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78408" y="4133087"/>
            <a:ext cx="4756251" cy="1417320"/>
          </a:xfrm>
          <a:prstGeom prst="rect">
            <a:avLst/>
          </a:prstGeom>
          <a:noFill/>
        </p:spPr>
        <p:txBody>
          <a:bodyPr wrap="square" anchor="t" lIns="0" rIns="0" tIns="0" bIns="0">
            <a:spAutoFit/>
          </a:bodyPr>
          <a:lstStyle/>
          <a:p>
            <a:pPr>
              <a:spcAft>
                <a:spcPts val="500"/>
              </a:spcAft>
            </a:pPr>
            <a:r>
              <a:rPr sz="1100" b="1" i="0">
                <a:solidFill>
                  <a:srgbClr val="6C3483"/>
                </a:solidFill>
                <a:latin typeface="Segoe UI"/>
              </a:rPr>
              <a:t>QUALITATIVE</a:t>
            </a:r>
          </a:p>
          <a:p>
            <a:r>
              <a:rPr sz="1250" b="0" i="0">
                <a:solidFill>
                  <a:srgbClr val="1C2833"/>
                </a:solidFill>
                <a:latin typeface="Segoe UI"/>
              </a:rPr>
              <a:t>Objectives are framed as areas of inquiry rather than fixed questions, with the sampling logic and stopping rule given. Say explicitly that the design is emergent, so that later adaptation is not read as drift.</a:t>
            </a:r>
          </a:p>
        </p:txBody>
      </p:sp>
      <p:sp>
        <p:nvSpPr>
          <p:cNvPr id="16" name="Rectangle 15"/>
          <p:cNvSpPr/>
          <p:nvPr/>
        </p:nvSpPr>
        <p:spPr>
          <a:xfrm>
            <a:off x="6255867" y="3931919"/>
            <a:ext cx="5158587" cy="1783080"/>
          </a:xfrm>
          <a:prstGeom prst="rect">
            <a:avLst/>
          </a:prstGeom>
          <a:solidFill>
            <a:srgbClr val="FFFFFF"/>
          </a:solidFill>
          <a:ln w="12700">
            <a:solidFill>
              <a:srgbClr val="E8F6F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255867" y="3931919"/>
            <a:ext cx="5158587" cy="50800"/>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57035" y="4133087"/>
            <a:ext cx="4756251" cy="1417320"/>
          </a:xfrm>
          <a:prstGeom prst="rect">
            <a:avLst/>
          </a:prstGeom>
          <a:noFill/>
        </p:spPr>
        <p:txBody>
          <a:bodyPr wrap="square" anchor="t" lIns="0" rIns="0" tIns="0" bIns="0">
            <a:spAutoFit/>
          </a:bodyPr>
          <a:lstStyle/>
          <a:p>
            <a:pPr>
              <a:spcAft>
                <a:spcPts val="500"/>
              </a:spcAft>
            </a:pPr>
            <a:r>
              <a:rPr sz="1100" b="1" i="0">
                <a:solidFill>
                  <a:srgbClr val="922B21"/>
                </a:solidFill>
                <a:latin typeface="Segoe UI"/>
              </a:rPr>
              <a:t>FORMAL</a:t>
            </a:r>
          </a:p>
          <a:p>
            <a:r>
              <a:rPr sz="1250" b="0" i="0">
                <a:solidFill>
                  <a:srgbClr val="1C2833"/>
                </a:solidFill>
                <a:latin typeface="Segoe UI"/>
              </a:rPr>
              <a:t>States the conjecture, the model, and the proof strategy; feasibility is the argument that the strategy can be carried through.</a:t>
            </a:r>
          </a:p>
        </p:txBody>
      </p:sp>
      <p:sp>
        <p:nvSpPr>
          <p:cNvPr id="19" name="Rectangle 18"/>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30 · The Synopsis and the Research Proposal</a:t>
            </a:r>
          </a:p>
        </p:txBody>
      </p:sp>
      <p:sp>
        <p:nvSpPr>
          <p:cNvPr id="21" name="TextBox 20"/>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Four traditions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35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3" presetClass="entr" presetSubtype="16"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zoom(in)">
                                      <p:cBhvr>
                                        <p:cTn id="16" dur="35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zoom(in)">
                                      <p:cBhvr>
                                        <p:cTn id="24" dur="35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23" presetClass="entr" presetSubtype="16"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zoom(in)">
                                      <p:cBhvr>
                                        <p:cTn id="32" dur="35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SUMMARY</a:t>
            </a:r>
          </a:p>
        </p:txBody>
      </p:sp>
      <p:sp>
        <p:nvSpPr>
          <p:cNvPr id="6" name="TextBox 5"/>
          <p:cNvSpPr txBox="1"/>
          <p:nvPr/>
        </p:nvSpPr>
        <p:spPr>
          <a:xfrm>
            <a:off x="777240" y="914400"/>
            <a:ext cx="10637215" cy="731520"/>
          </a:xfrm>
          <a:prstGeom prst="rect">
            <a:avLst/>
          </a:prstGeom>
          <a:noFill/>
        </p:spPr>
        <p:txBody>
          <a:bodyPr wrap="square" anchor="t" lIns="0" rIns="0" tIns="0" bIns="0">
            <a:spAutoFit/>
          </a:bodyPr>
          <a:lstStyle/>
          <a:p>
            <a:r>
              <a:rPr sz="3000" b="1" i="0">
                <a:solidFill>
                  <a:srgbClr val="0E4D64"/>
                </a:solidFill>
                <a:latin typeface="Georgia"/>
              </a:rPr>
              <a:t>What to take away</a:t>
            </a:r>
          </a:p>
        </p:txBody>
      </p:sp>
      <p:sp>
        <p:nvSpPr>
          <p:cNvPr id="7" name="TextBox 6"/>
          <p:cNvSpPr txBox="1"/>
          <p:nvPr/>
        </p:nvSpPr>
        <p:spPr>
          <a:xfrm>
            <a:off x="777240" y="1828800"/>
            <a:ext cx="10637215" cy="4114800"/>
          </a:xfrm>
          <a:prstGeom prst="rect">
            <a:avLst/>
          </a:prstGeom>
          <a:noFill/>
        </p:spPr>
        <p:txBody>
          <a:bodyPr wrap="square" anchor="t" lIns="0" rIns="0" tIns="0" bIns="0">
            <a:spAutoFit/>
          </a:bodyPr>
          <a:lstStyle/>
          <a:p>
            <a:pPr>
              <a:spcAft>
                <a:spcPts val="1400"/>
              </a:spcAft>
            </a:pPr>
            <a:r>
              <a:rPr sz="1500" b="1" i="0">
                <a:solidFill>
                  <a:srgbClr val="C84B31"/>
                </a:solidFill>
                <a:latin typeface="Segoe UI"/>
              </a:rPr>
              <a:t>1. </a:t>
            </a:r>
            <a:r>
              <a:rPr sz="1500" b="0" i="0">
                <a:solidFill>
                  <a:srgbClr val="1C2833"/>
                </a:solidFill>
                <a:latin typeface="Segoe UI"/>
              </a:rPr>
              <a:t>The synopsis is a contract and a pre-registration. Changing it later costs an approval cycle.</a:t>
            </a:r>
          </a:p>
          <a:p>
            <a:pPr>
              <a:spcAft>
                <a:spcPts val="1400"/>
              </a:spcAft>
            </a:pPr>
            <a:r>
              <a:rPr sz="1500" b="1" i="0">
                <a:solidFill>
                  <a:srgbClr val="C84B31"/>
                </a:solidFill>
                <a:latin typeface="Segoe UI"/>
              </a:rPr>
              <a:t>2. </a:t>
            </a:r>
            <a:r>
              <a:rPr sz="1500" b="0" i="0">
                <a:solidFill>
                  <a:srgbClr val="1C2833"/>
                </a:solidFill>
                <a:latin typeface="Segoe UI"/>
              </a:rPr>
              <a:t>PhD: DRC defence, then BoS/BoF and AS&amp;RB, plus an external referee from a panel of six, by end of semester 6. MS: to the supervisor within 8 weeks of semester 3…</a:t>
            </a:r>
          </a:p>
          <a:p>
            <a:pPr>
              <a:spcAft>
                <a:spcPts val="1400"/>
              </a:spcAft>
            </a:pPr>
            <a:r>
              <a:rPr sz="1500" b="1" i="0">
                <a:solidFill>
                  <a:srgbClr val="C84B31"/>
                </a:solidFill>
                <a:latin typeface="Segoe UI"/>
              </a:rPr>
              <a:t>3. </a:t>
            </a:r>
            <a:r>
              <a:rPr sz="1500" b="0" i="0">
                <a:solidFill>
                  <a:srgbClr val="1C2833"/>
                </a:solidFill>
                <a:latin typeface="Segoe UI"/>
              </a:rPr>
              <a:t>Follow the IUB section order exactly, and keep problem, rationale, significance and novelty as four distinct answers.</a:t>
            </a:r>
          </a:p>
          <a:p>
            <a:pPr>
              <a:spcAft>
                <a:spcPts val="1400"/>
              </a:spcAft>
            </a:pPr>
            <a:r>
              <a:rPr sz="1500" b="1" i="0">
                <a:solidFill>
                  <a:srgbClr val="C84B31"/>
                </a:solidFill>
                <a:latin typeface="Segoe UI"/>
              </a:rPr>
              <a:t>4. </a:t>
            </a:r>
            <a:r>
              <a:rPr sz="1500" b="0" i="0">
                <a:solidFill>
                  <a:srgbClr val="1C2833"/>
                </a:solidFill>
                <a:latin typeface="Segoe UI"/>
              </a:rPr>
              <a:t>Objectives must be checkable: measure, compare, design and evaluate — not study or explore.</a:t>
            </a:r>
          </a:p>
          <a:p>
            <a:pPr>
              <a:spcAft>
                <a:spcPts val="1400"/>
              </a:spcAft>
            </a:pPr>
            <a:r>
              <a:rPr sz="1500" b="1" i="0">
                <a:solidFill>
                  <a:srgbClr val="C84B31"/>
                </a:solidFill>
                <a:latin typeface="Segoe UI"/>
              </a:rPr>
              <a:t>5. </a:t>
            </a:r>
            <a:r>
              <a:rPr sz="1500" b="0" i="0">
                <a:solidFill>
                  <a:srgbClr val="1C2833"/>
                </a:solidFill>
                <a:latin typeface="Segoe UI"/>
              </a:rPr>
              <a:t>“Little research exists” is not a gap. Evidence it with a search protocol and a PRISMA flow.</a:t>
            </a:r>
          </a:p>
          <a:p>
            <a:pPr>
              <a:spcAft>
                <a:spcPts val="1400"/>
              </a:spcAft>
            </a:pPr>
            <a:r>
              <a:rPr sz="1500" b="1" i="0">
                <a:solidFill>
                  <a:srgbClr val="C84B31"/>
                </a:solidFill>
                <a:latin typeface="Segoe UI"/>
              </a:rPr>
              <a:t>6. </a:t>
            </a:r>
            <a:r>
              <a:rPr sz="1500" b="0" i="0">
                <a:solidFill>
                  <a:srgbClr val="1C2833"/>
                </a:solidFill>
                <a:latin typeface="Segoe UI"/>
              </a:rPr>
              <a:t>The methodology section is where feasibility shows. Include the power analysis, the analysis plan and an honest timeline with named risks.</a:t>
            </a:r>
          </a:p>
          <a:p>
            <a:pPr>
              <a:spcAft>
                <a:spcPts val="1400"/>
              </a:spcAft>
            </a:pPr>
            <a:r>
              <a:rPr sz="1500" b="1" i="0">
                <a:solidFill>
                  <a:srgbClr val="C84B31"/>
                </a:solidFill>
                <a:latin typeface="Segoe UI"/>
              </a:rPr>
              <a:t>7. </a:t>
            </a:r>
            <a:r>
              <a:rPr sz="1500" b="0" i="0">
                <a:solidFill>
                  <a:srgbClr val="1C2833"/>
                </a:solidFill>
                <a:latin typeface="Segoe UI"/>
              </a:rPr>
              <a:t>Be able to say what you will report if the hypothesis fails.</a:t>
            </a:r>
          </a:p>
        </p:txBody>
      </p:sp>
      <p:sp>
        <p:nvSpPr>
          <p:cNvPr id="8" name="Rectangle 7"/>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30 · The Synopsis and the Research Proposal</a:t>
            </a: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Summary</a:t>
            </a:r>
          </a:p>
        </p:txBody>
      </p:sp>
    </p:spTree>
  </p:cSld>
  <p:clrMapOvr>
    <a:masterClrMapping/>
  </p:clrMapOvr>
  <p:transition spd="med">
    <p:push dir="u"/>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4"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wipe(up)">
                                      <p:cBhvr>
                                        <p:cTn id="8" dur="320"/>
                                        <p:tgtEl>
                                          <p:spTgt spid="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wipe(up)">
                                      <p:cBhvr>
                                        <p:cTn id="13" dur="320"/>
                                        <p:tgtEl>
                                          <p:spTgt spid="7">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wipe(up)">
                                      <p:cBhvr>
                                        <p:cTn id="18" dur="320"/>
                                        <p:tgtEl>
                                          <p:spTgt spid="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wipe(up)">
                                      <p:cBhvr>
                                        <p:cTn id="23" dur="320"/>
                                        <p:tgtEl>
                                          <p:spTgt spid="7">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7">
                                            <p:txEl>
                                              <p:pRg st="4" end="4"/>
                                            </p:txEl>
                                          </p:spTgt>
                                        </p:tgtEl>
                                        <p:attrNameLst>
                                          <p:attrName>style.visibility</p:attrName>
                                        </p:attrNameLst>
                                      </p:cBhvr>
                                      <p:to>
                                        <p:strVal val="visible"/>
                                      </p:to>
                                    </p:set>
                                    <p:animEffect transition="in" filter="wipe(up)">
                                      <p:cBhvr>
                                        <p:cTn id="28" dur="320"/>
                                        <p:tgtEl>
                                          <p:spTgt spid="7">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7">
                                            <p:txEl>
                                              <p:pRg st="5" end="5"/>
                                            </p:txEl>
                                          </p:spTgt>
                                        </p:tgtEl>
                                        <p:attrNameLst>
                                          <p:attrName>style.visibility</p:attrName>
                                        </p:attrNameLst>
                                      </p:cBhvr>
                                      <p:to>
                                        <p:strVal val="visible"/>
                                      </p:to>
                                    </p:set>
                                    <p:animEffect transition="in" filter="wipe(up)">
                                      <p:cBhvr>
                                        <p:cTn id="33" dur="320"/>
                                        <p:tgtEl>
                                          <p:spTgt spid="7">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7">
                                            <p:txEl>
                                              <p:pRg st="6" end="6"/>
                                            </p:txEl>
                                          </p:spTgt>
                                        </p:tgtEl>
                                        <p:attrNameLst>
                                          <p:attrName>style.visibility</p:attrName>
                                        </p:attrNameLst>
                                      </p:cBhvr>
                                      <p:to>
                                        <p:strVal val="visible"/>
                                      </p:to>
                                    </p:set>
                                    <p:animEffect transition="in" filter="wipe(up)">
                                      <p:cBhvr>
                                        <p:cTn id="38" dur="32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C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46304"/>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777240" y="475488"/>
            <a:ext cx="548640" cy="381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777240" y="621792"/>
            <a:ext cx="10637215" cy="292608"/>
          </a:xfrm>
          <a:prstGeom prst="rect">
            <a:avLst/>
          </a:prstGeom>
          <a:noFill/>
        </p:spPr>
        <p:txBody>
          <a:bodyPr wrap="square" anchor="t" lIns="0" rIns="0" tIns="0" bIns="0">
            <a:spAutoFit/>
          </a:bodyPr>
          <a:lstStyle/>
          <a:p>
            <a:r>
              <a:rPr sz="1100" b="1" i="0">
                <a:solidFill>
                  <a:srgbClr val="C84B31"/>
                </a:solidFill>
                <a:latin typeface="Segoe UI"/>
              </a:rPr>
              <a:t>REVIEW</a:t>
            </a:r>
          </a:p>
        </p:txBody>
      </p:sp>
      <p:sp>
        <p:nvSpPr>
          <p:cNvPr id="6" name="TextBox 5"/>
          <p:cNvSpPr txBox="1"/>
          <p:nvPr/>
        </p:nvSpPr>
        <p:spPr>
          <a:xfrm>
            <a:off x="777240" y="914400"/>
            <a:ext cx="10637215" cy="868680"/>
          </a:xfrm>
          <a:prstGeom prst="rect">
            <a:avLst/>
          </a:prstGeom>
          <a:noFill/>
        </p:spPr>
        <p:txBody>
          <a:bodyPr wrap="square" anchor="t" lIns="0" rIns="0" tIns="0" bIns="0">
            <a:spAutoFit/>
          </a:bodyPr>
          <a:lstStyle/>
          <a:p>
            <a:r>
              <a:rPr sz="3000" b="1" i="0">
                <a:solidFill>
                  <a:srgbClr val="0E4D64"/>
                </a:solidFill>
                <a:latin typeface="Georgia"/>
              </a:rPr>
              <a:t>Questions to think with</a:t>
            </a:r>
          </a:p>
        </p:txBody>
      </p:sp>
      <p:sp>
        <p:nvSpPr>
          <p:cNvPr id="7" name="TextBox 6"/>
          <p:cNvSpPr txBox="1"/>
          <p:nvPr/>
        </p:nvSpPr>
        <p:spPr>
          <a:xfrm>
            <a:off x="777240" y="1828800"/>
            <a:ext cx="10637215" cy="4114800"/>
          </a:xfrm>
          <a:prstGeom prst="rect">
            <a:avLst/>
          </a:prstGeom>
          <a:noFill/>
        </p:spPr>
        <p:txBody>
          <a:bodyPr wrap="square" anchor="t" lIns="0" rIns="0" tIns="0" bIns="0">
            <a:spAutoFit/>
          </a:bodyPr>
          <a:lstStyle/>
          <a:p>
            <a:pPr>
              <a:spcAft>
                <a:spcPts val="1800"/>
              </a:spcAft>
            </a:pPr>
            <a:r>
              <a:rPr sz="1500" b="1" i="0">
                <a:solidFill>
                  <a:srgbClr val="C84B31"/>
                </a:solidFill>
                <a:latin typeface="Segoe UI"/>
              </a:rPr>
              <a:t>Q1  </a:t>
            </a:r>
            <a:r>
              <a:rPr sz="1500" b="0" i="0">
                <a:solidFill>
                  <a:srgbClr val="1C2833"/>
                </a:solidFill>
                <a:latin typeface="Segoe UI"/>
              </a:rPr>
              <a:t>The synopsis functions as a pre-registration but is not public. What would be gained and lost by requiring approved synopses to be publicly deposited?</a:t>
            </a:r>
          </a:p>
          <a:p>
            <a:pPr>
              <a:spcAft>
                <a:spcPts val="1800"/>
              </a:spcAft>
            </a:pPr>
            <a:r>
              <a:rPr sz="1500" b="1" i="0">
                <a:solidFill>
                  <a:srgbClr val="C84B31"/>
                </a:solidFill>
                <a:latin typeface="Segoe UI"/>
              </a:rPr>
              <a:t>Q2  </a:t>
            </a:r>
            <a:r>
              <a:rPr sz="1500" b="0" i="0">
                <a:solidFill>
                  <a:srgbClr val="1C2833"/>
                </a:solidFill>
                <a:latin typeface="Segoe UI"/>
              </a:rPr>
              <a:t>§13 requires PhD synopsis approval by the sixth semester, and §15 requires publication after synopsis approval and before submission. Analyse the timing pressure this creates and how a…</a:t>
            </a:r>
          </a:p>
          <a:p>
            <a:pPr>
              <a:spcAft>
                <a:spcPts val="1800"/>
              </a:spcAft>
            </a:pPr>
            <a:r>
              <a:rPr sz="1500" b="1" i="0">
                <a:solidFill>
                  <a:srgbClr val="C84B31"/>
                </a:solidFill>
                <a:latin typeface="Segoe UI"/>
              </a:rPr>
              <a:t>Q3  </a:t>
            </a:r>
            <a:r>
              <a:rPr sz="1500" b="0" i="0">
                <a:solidFill>
                  <a:srgbClr val="1C2833"/>
                </a:solidFill>
                <a:latin typeface="Segoe UI"/>
              </a:rPr>
              <a:t>An external referee rejects your synopsis on grounds you believe are mistaken. What are your options under the regulations, and what would you do?</a:t>
            </a:r>
          </a:p>
          <a:p>
            <a:pPr>
              <a:spcAft>
                <a:spcPts val="1800"/>
              </a:spcAft>
            </a:pPr>
            <a:r>
              <a:rPr sz="1500" b="1" i="0">
                <a:solidFill>
                  <a:srgbClr val="C84B31"/>
                </a:solidFill>
                <a:latin typeface="Segoe UI"/>
              </a:rPr>
              <a:t>Q4  </a:t>
            </a:r>
            <a:r>
              <a:rPr sz="1500" b="0" i="0">
                <a:solidFill>
                  <a:srgbClr val="1C2833"/>
                </a:solidFill>
                <a:latin typeface="Segoe UI"/>
              </a:rPr>
              <a:t>Committees assess feasibility, but a study that is certainly feasible may be unambitious. How should a DRC balance the two, and what would you want them to ask?</a:t>
            </a:r>
          </a:p>
        </p:txBody>
      </p:sp>
      <p:sp>
        <p:nvSpPr>
          <p:cNvPr id="8" name="Rectangle 7"/>
          <p:cNvSpPr/>
          <p:nvPr/>
        </p:nvSpPr>
        <p:spPr>
          <a:xfrm>
            <a:off x="0" y="6473952"/>
            <a:ext cx="12191695" cy="25400"/>
          </a:xfrm>
          <a:prstGeom prst="rect">
            <a:avLst/>
          </a:prstGeom>
          <a:solidFill>
            <a:srgbClr val="E8F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77240" y="6510528"/>
            <a:ext cx="10637215" cy="274320"/>
          </a:xfrm>
          <a:prstGeom prst="rect">
            <a:avLst/>
          </a:prstGeom>
          <a:noFill/>
        </p:spPr>
        <p:txBody>
          <a:bodyPr wrap="square" anchor="t" lIns="0" rIns="0" tIns="0" bIns="0">
            <a:spAutoFit/>
          </a:bodyPr>
          <a:lstStyle/>
          <a:p>
            <a:r>
              <a:rPr sz="1000" b="0" i="0">
                <a:solidFill>
                  <a:srgbClr val="707B7C"/>
                </a:solidFill>
                <a:latin typeface="Segoe UI"/>
              </a:rPr>
              <a:t>Ch. 30 · The Synopsis and the Research Proposal</a:t>
            </a:r>
          </a:p>
        </p:txBody>
      </p:sp>
      <p:sp>
        <p:nvSpPr>
          <p:cNvPr id="10" name="TextBox 9"/>
          <p:cNvSpPr txBox="1"/>
          <p:nvPr/>
        </p:nvSpPr>
        <p:spPr>
          <a:xfrm>
            <a:off x="777240" y="6510528"/>
            <a:ext cx="10637215" cy="274320"/>
          </a:xfrm>
          <a:prstGeom prst="rect">
            <a:avLst/>
          </a:prstGeom>
          <a:noFill/>
        </p:spPr>
        <p:txBody>
          <a:bodyPr wrap="square" anchor="t" lIns="0" rIns="0" tIns="0" bIns="0">
            <a:spAutoFit/>
          </a:bodyPr>
          <a:lstStyle/>
          <a:p>
            <a:pPr algn="r"/>
            <a:r>
              <a:rPr sz="1000" b="0" i="0">
                <a:solidFill>
                  <a:srgbClr val="707B7C"/>
                </a:solidFill>
                <a:latin typeface="Segoe UI"/>
              </a:rPr>
              <a:t>Review questions</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7">
                                            <p:txEl>
                                              <p:pRg st="0" end="0"/>
                                            </p:txEl>
                                          </p:spTgt>
                                        </p:tgtEl>
                                        <p:attrNameLst>
                                          <p:attrName>style.visibility</p:attrName>
                                        </p:attrNameLst>
                                      </p:cBhvr>
                                      <p:to>
                                        <p:strVal val="visible"/>
                                      </p:to>
                                    </p:set>
                                    <p:animEffect transition="in" filter="fade">
                                      <p:cBhvr>
                                        <p:cTn id="8" dur="350"/>
                                        <p:tgtEl>
                                          <p:spTgt spid="7">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Effect transition="in" filter="fade">
                                      <p:cBhvr>
                                        <p:cTn id="13" dur="350"/>
                                        <p:tgtEl>
                                          <p:spTgt spid="7">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xEl>
                                              <p:pRg st="2" end="2"/>
                                            </p:txEl>
                                          </p:spTgt>
                                        </p:tgtEl>
                                        <p:attrNameLst>
                                          <p:attrName>style.visibility</p:attrName>
                                        </p:attrNameLst>
                                      </p:cBhvr>
                                      <p:to>
                                        <p:strVal val="visible"/>
                                      </p:to>
                                    </p:set>
                                    <p:animEffect transition="in" filter="fade">
                                      <p:cBhvr>
                                        <p:cTn id="18" dur="350"/>
                                        <p:tgtEl>
                                          <p:spTgt spid="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animEffect transition="in" filter="fade">
                                      <p:cBhvr>
                                        <p:cTn id="23" dur="35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4D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201168" cy="6858000"/>
          </a:xfrm>
          <a:prstGeom prst="rect">
            <a:avLst/>
          </a:prstGeom>
          <a:solidFill>
            <a:srgbClr val="C84B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280160" y="2468880"/>
            <a:ext cx="8229600" cy="914400"/>
          </a:xfrm>
          <a:prstGeom prst="rect">
            <a:avLst/>
          </a:prstGeom>
          <a:noFill/>
        </p:spPr>
        <p:txBody>
          <a:bodyPr wrap="square" anchor="t" lIns="0" rIns="0" tIns="0" bIns="0">
            <a:spAutoFit/>
          </a:bodyPr>
          <a:lstStyle/>
          <a:p>
            <a:r>
              <a:rPr sz="3400" b="1" i="0">
                <a:solidFill>
                  <a:srgbClr val="FFFFFF"/>
                </a:solidFill>
                <a:latin typeface="Georgia"/>
              </a:rPr>
              <a:t>End of Chapter 30</a:t>
            </a:r>
          </a:p>
        </p:txBody>
      </p:sp>
      <p:sp>
        <p:nvSpPr>
          <p:cNvPr id="5" name="TextBox 4"/>
          <p:cNvSpPr txBox="1"/>
          <p:nvPr/>
        </p:nvSpPr>
        <p:spPr>
          <a:xfrm>
            <a:off x="1280160" y="3566160"/>
            <a:ext cx="8686800" cy="1280160"/>
          </a:xfrm>
          <a:prstGeom prst="rect">
            <a:avLst/>
          </a:prstGeom>
          <a:noFill/>
        </p:spPr>
        <p:txBody>
          <a:bodyPr wrap="square" anchor="t" lIns="0" rIns="0" tIns="0" bIns="0">
            <a:spAutoFit/>
          </a:bodyPr>
          <a:lstStyle/>
          <a:p>
            <a:r>
              <a:rPr sz="1700" b="0" i="0">
                <a:solidFill>
                  <a:srgbClr val="E8F6F3"/>
                </a:solidFill>
                <a:latin typeface="Segoe UI"/>
              </a:rPr>
              <a:t>Next: </a:t>
            </a:r>
            <a:r>
              <a:rPr sz="1700" b="1" i="0">
                <a:solidFill>
                  <a:srgbClr val="FFFFFF"/>
                </a:solidFill>
                <a:latin typeface="Segoe UI"/>
              </a:rPr>
              <a:t>Ch. 31 — Writing the Thesis and the Paper</a:t>
            </a:r>
          </a:p>
          <a:p>
            <a:pPr>
              <a:spcBef>
                <a:spcPts val="1200"/>
              </a:spcBef>
            </a:pPr>
            <a:r>
              <a:rPr sz="1300" b="0" i="1">
                <a:solidFill>
                  <a:srgbClr val="E8F6F3"/>
                </a:solidFill>
                <a:latin typeface="Segoe UI"/>
              </a:rPr>
              <a:t>Read the chapter in the handout before the next session.</a:t>
            </a:r>
          </a:p>
        </p:txBody>
      </p:sp>
    </p:spTree>
  </p:cSld>
  <p:clrMapOvr>
    <a:masterClrMapping/>
  </p:clrMapOvr>
  <p:transition spd="med">
    <p:fade/>
  </p:transition>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 presetClass="entr" presetSubtype="4" fill="hold" grpId="0" nodeType="clickEffect">
                                  <p:stCondLst>
                                    <p:cond delay="0"/>
                                  </p:stCondLst>
                                  <p:childTnLst>
                                    <p:set>
                                      <p:cBhvr>
                                        <p:cTn id="7" dur="1" fill="hold">
                                          <p:stCondLst>
                                            <p:cond delay="0"/>
                                          </p:stCondLst>
                                        </p:cTn>
                                        <p:tgtEl>
                                          <p:spTgt spid="4"/>
                                        </p:tgtEl>
                                        <p:attrNameLst>
                                          <p:attrName>style.visibility</p:attrName>
                                        </p:attrNameLst>
                                      </p:cBhvr>
                                      <p:to>
                                        <p:strVal val="visible"/>
                                      </p:to>
                                    </p:set>
                                    <p:animEffect transition="in" filter="slide(fromBottom)">
                                      <p:cBhvr>
                                        <p:cTn id="8" dur="5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