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985455" y="0"/>
            <a:ext cx="4206240" cy="6858000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371600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E8F6F3"/>
                </a:solidFill>
                <a:latin typeface="Segoe UI"/>
              </a:rPr>
              <a:t>CHAPTER 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66751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Georgia"/>
              </a:rPr>
              <a:t>Statistical Inference Done Properly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4206240"/>
            <a:ext cx="118872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480560"/>
            <a:ext cx="6675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0" i="0">
                <a:solidFill>
                  <a:srgbClr val="E8F6F3"/>
                </a:solidFill>
                <a:latin typeface="Segoe UI"/>
              </a:rPr>
              <a:t>Part 4 — Measurement, Data and Analysis</a:t>
            </a:r>
          </a:p>
          <a:p>
            <a:r>
              <a:rPr sz="1300" b="0" i="1">
                <a:solidFill>
                  <a:srgbClr val="E8F6F3"/>
                </a:solidFill>
                <a:latin typeface="Segoe UI"/>
              </a:rPr>
              <a:t>Advanced Research Methodology · Fall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42656" y="2194560"/>
            <a:ext cx="283464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Segoe UI"/>
              </a:rPr>
              <a:t>MS IT / PhD IT</a:t>
            </a:r>
          </a:p>
          <a:p>
            <a:pPr>
              <a:spcBef>
                <a:spcPts val="600"/>
              </a:spcBef>
            </a:pPr>
            <a:r>
              <a:rPr sz="1200" b="0" i="0">
                <a:solidFill>
                  <a:srgbClr val="E8F6F3"/>
                </a:solidFill>
                <a:latin typeface="Segoe UI"/>
              </a:rPr>
              <a:t>Department of Information Technology
The Islamia University of Bahawalpur</a:t>
            </a:r>
          </a:p>
          <a:p>
            <a:pPr>
              <a:spcBef>
                <a:spcPts val="1400"/>
              </a:spcBef>
            </a:pPr>
            <a:r>
              <a:rPr sz="1200" b="0" i="0">
                <a:solidFill>
                  <a:srgbClr val="E8F6F3"/>
                </a:solidFill>
                <a:latin typeface="Segoe UI"/>
              </a:rPr>
              <a:t>Fall 2026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LEARNING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By the end of this chapter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10637215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700" b="1" i="0">
                <a:solidFill>
                  <a:srgbClr val="C84B31"/>
                </a:solidFill>
                <a:latin typeface="Segoe UI"/>
              </a:rPr>
              <a:t>▸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State </a:t>
            </a:r>
            <a:r>
              <a:rPr sz="1700" b="0" i="0">
                <a:solidFill>
                  <a:srgbClr val="1C2833"/>
                </a:solidFill>
                <a:latin typeface="Segoe UI"/>
              </a:rPr>
              <a:t>what a p-value is, and identify the common misinterpretations of it.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C84B31"/>
                </a:solidFill>
                <a:latin typeface="Segoe UI"/>
              </a:rPr>
              <a:t>▸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Report </a:t>
            </a:r>
            <a:r>
              <a:rPr sz="1700" b="0" i="0">
                <a:solidFill>
                  <a:srgbClr val="1C2833"/>
                </a:solidFill>
                <a:latin typeface="Segoe UI"/>
              </a:rPr>
              <a:t>a result as an effect size with a confidence interval rather than a significance verdict.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C84B31"/>
                </a:solidFill>
                <a:latin typeface="Segoe UI"/>
              </a:rPr>
              <a:t>▸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Check </a:t>
            </a:r>
            <a:r>
              <a:rPr sz="1700" b="0" i="0">
                <a:solidFill>
                  <a:srgbClr val="1C2833"/>
                </a:solidFill>
                <a:latin typeface="Segoe UI"/>
              </a:rPr>
              <a:t>the assumptions a test actually makes, and choose a robust alternative when they fail.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C84B31"/>
                </a:solidFill>
                <a:latin typeface="Segoe UI"/>
              </a:rPr>
              <a:t>▸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Correct </a:t>
            </a:r>
            <a:r>
              <a:rPr sz="1700" b="0" i="0">
                <a:solidFill>
                  <a:srgbClr val="1C2833"/>
                </a:solidFill>
                <a:latin typeface="Segoe UI"/>
              </a:rPr>
              <a:t>for multiple comparisons, choosing between family-wise and false-discovery control.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C84B31"/>
                </a:solidFill>
                <a:latin typeface="Segoe UI"/>
              </a:rPr>
              <a:t>▸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Test </a:t>
            </a:r>
            <a:r>
              <a:rPr sz="1700" b="0" i="0">
                <a:solidFill>
                  <a:srgbClr val="1C2833"/>
                </a:solidFill>
                <a:latin typeface="Segoe UI"/>
              </a:rPr>
              <a:t>for equivalence when your claim is that there is no meaningful difference.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19 · Statistical Inference Done Properly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Outcomes</a:t>
            </a:r>
          </a:p>
        </p:txBody>
      </p:sp>
    </p:spTree>
  </p:cSld>
  <p:clrMapOvr>
    <a:masterClrMapping/>
  </p:clrMapOvr>
  <p:transition spd="med">
    <p:push dir="u"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" dur="35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35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35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35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35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KEY TERMS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The vocabulary of this chapter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3423818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null hypothesis significance testing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p-value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confidence interval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effect size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assumption checking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normality of residuals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3938" y="1828800"/>
            <a:ext cx="3423818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non-parametric test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bootstrap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family-wise error rate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false discovery rate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Bonferroni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Holm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90636" y="1828800"/>
            <a:ext cx="3423818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Benjamini–Hochberg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equivalence testing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TOST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garden of forking paths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19 · Statistical Inference Done Properly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Key terms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8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1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1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F6F3"/>
                </a:solidFill>
                <a:latin typeface="Segoe UI"/>
              </a:rPr>
              <a:t>SECTION 1 OF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788920"/>
            <a:ext cx="972281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Georgia"/>
              </a:rPr>
              <a:t>What a p-Value 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4343400"/>
            <a:ext cx="1463040" cy="508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  <p:transition spd="med">
    <p:wipe dir="d"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PART 4 · CH. 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What a p-Value Is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574036"/>
            <a:ext cx="54864" cy="1207008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2574036"/>
            <a:ext cx="10381183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00" b="1" i="0">
                <a:solidFill>
                  <a:srgbClr val="C84B31"/>
                </a:solidFill>
                <a:latin typeface="Segoe UI"/>
              </a:rPr>
              <a:t>DEFINITION 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The p-value</a:t>
            </a:r>
          </a:p>
          <a:p>
            <a:r>
              <a:rPr sz="1400" b="0" i="0">
                <a:solidFill>
                  <a:srgbClr val="1C2833"/>
                </a:solidFill>
                <a:latin typeface="Segoe UI"/>
              </a:rPr>
              <a:t>The probability of obtaining data at least as extreme as what you observed, if the null hypothesis were true and all other assumptions of the model held.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3991356"/>
            <a:ext cx="54864" cy="1207008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3991356"/>
            <a:ext cx="10381183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00" b="1" i="0">
                <a:solidFill>
                  <a:srgbClr val="B7950B"/>
                </a:solidFill>
                <a:latin typeface="Segoe UI"/>
              </a:rPr>
              <a:t>WATCH OUT 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The ASA's six principles, compressed</a:t>
            </a:r>
          </a:p>
          <a:p>
            <a:r>
              <a:rPr sz="1400" b="0" i="0">
                <a:solidFill>
                  <a:srgbClr val="1C2833"/>
                </a:solidFill>
                <a:latin typeface="Segoe UI"/>
              </a:rPr>
              <a:t>tightnum P-values can indicate how incompatible the data are with a specified model. P-values do not measure the probability that the hypothesis is true, or that the data were produced by chance alone.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19 · Statistical Inference Done Properly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What a p-Value Is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F6F3"/>
                </a:solidFill>
                <a:latin typeface="Segoe UI"/>
              </a:rPr>
              <a:t>SECTION 2 OF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788920"/>
            <a:ext cx="972281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Georgia"/>
              </a:rPr>
              <a:t>Report the Estimate, Not the Verdict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4343400"/>
            <a:ext cx="1463040" cy="508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  <p:transition spd="med">
    <p:wipe dir="d"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PART 4 · CH. 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Report the Estimate, Not the Verdict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3282696"/>
            <a:ext cx="54864" cy="1207008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3282696"/>
            <a:ext cx="10381183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00" b="1" i="0">
                <a:solidFill>
                  <a:srgbClr val="137177"/>
                </a:solidFill>
                <a:latin typeface="Segoe UI"/>
              </a:rPr>
              <a:t>CONCEPT 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Why the interval carries more information</a:t>
            </a:r>
          </a:p>
          <a:p>
            <a:r>
              <a:rPr sz="1400" b="0" i="0">
                <a:solidFill>
                  <a:srgbClr val="1C2833"/>
                </a:solidFill>
                <a:latin typeface="Segoe UI"/>
              </a:rPr>
              <a:t>A confidence interval tells you the effect size, the precision, and the significance verdict all at once — if the interval excludes zero, p &lt; 0.05. Nothing is lost by reporting it, and two things are gained.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19 · Statistical Inference Done Properly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Report the Estimate, Not the Verdict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F6F3"/>
                </a:solidFill>
                <a:latin typeface="Segoe UI"/>
              </a:rPr>
              <a:t>SECTION 3 OF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788920"/>
            <a:ext cx="972281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Georgia"/>
              </a:rPr>
              <a:t>Multiple Comparisons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4343400"/>
            <a:ext cx="1463040" cy="508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  <p:transition spd="med">
    <p:wipe dir="d"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PART 4 · CH. 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Multiple Comparisons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574036"/>
            <a:ext cx="54864" cy="1207008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2574036"/>
            <a:ext cx="10381183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00" b="1" i="0">
                <a:solidFill>
                  <a:srgbClr val="137177"/>
                </a:solidFill>
                <a:latin typeface="Segoe UI"/>
              </a:rPr>
              <a:t>CONCEPT 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Declaring a primary outcome is the cleanest solution</a:t>
            </a:r>
          </a:p>
          <a:p>
            <a:r>
              <a:rPr sz="1400" b="0" i="0">
                <a:solidFill>
                  <a:srgbClr val="1C2833"/>
                </a:solidFill>
                <a:latin typeface="Segoe UI"/>
              </a:rPr>
              <a:t>The strongest option is not a correction at all. Nominate one primary outcome and one primary comparison in advance (Ch.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3991356"/>
            <a:ext cx="54864" cy="1207008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3991356"/>
            <a:ext cx="10381183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00" b="1" i="0">
                <a:solidFill>
                  <a:srgbClr val="B7950B"/>
                </a:solidFill>
                <a:latin typeface="Segoe UI"/>
              </a:rPr>
              <a:t>WATCH OUT 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The garden of forking paths</a:t>
            </a:r>
          </a:p>
          <a:p>
            <a:r>
              <a:rPr sz="1400" b="0" i="0">
                <a:solidFill>
                  <a:srgbClr val="1C2833"/>
                </a:solidFill>
                <a:latin typeface="Segoe UI"/>
              </a:rPr>
              <a:t>Multiplicity is not only about the tests you ran. It is also about the tests you would have run had the data looked different.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19 · Statistical Inference Done Properly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Multiple Comparisons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F6F3"/>
                </a:solidFill>
                <a:latin typeface="Segoe UI"/>
              </a:rPr>
              <a:t>SECTION 4 OF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788920"/>
            <a:ext cx="972281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Georgia"/>
              </a:rPr>
              <a:t>Claiming There Is No Difference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4343400"/>
            <a:ext cx="1463040" cy="508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  <p:transition spd="med">
    <p:wipe dir="d"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PART 4 · CH. 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Claiming There Is No Difference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3282696"/>
            <a:ext cx="54864" cy="1207008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3282696"/>
            <a:ext cx="10381183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00" b="1" i="0">
                <a:solidFill>
                  <a:srgbClr val="137177"/>
                </a:solidFill>
                <a:latin typeface="Segoe UI"/>
              </a:rPr>
              <a:t>CONCEPT 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Two one-sided tests</a:t>
            </a:r>
          </a:p>
          <a:p>
            <a:r>
              <a:rPr sz="1400" b="0" i="0">
                <a:solidFill>
                  <a:srgbClr val="1C2833"/>
                </a:solidFill>
                <a:latin typeface="Segoe UI"/>
              </a:rPr>
              <a:t>TOST specifies equivalence bounds — the range within which any difference is too small to matter, which is your SESOI from Ch. 18 — and tests whether the effect is significantly inside both bounds 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19 · Statistical Inference Done Properly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Claiming There Is No Difference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F6F3"/>
                </a:solidFill>
                <a:latin typeface="Segoe UI"/>
              </a:rPr>
              <a:t>SECTION 5 OF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788920"/>
            <a:ext cx="972281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Georgia"/>
              </a:rPr>
              <a:t>A Word on Bayesian Methods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4343400"/>
            <a:ext cx="1463040" cy="508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  <p:transition spd="med">
    <p:wipe dir="d"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PART 4 · CH. 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A Word on Bayesian Methods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3282696"/>
            <a:ext cx="54864" cy="1207008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3282696"/>
            <a:ext cx="10381183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0" i="0">
                <a:solidFill>
                  <a:srgbClr val="1C2833"/>
                </a:solidFill>
                <a:latin typeface="Segoe UI"/>
              </a:rPr>
              <a:t>Bayesian analysis answers the question researchers actually want answered — how probable is this hypothesis given my data — rather than the inverted one NHST answers.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19 · Statistical Inference Done Properly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A Word on Bayesian Methods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PITFALLS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Testing for normality is usually the wrong move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828800"/>
            <a:ext cx="10454335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5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✖ 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The reflex is to run Shapiro–Wilk and choose a test based on the outcome. This is doubly unhelpful. With a small sample the normality test has no power, so it passes…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19 · Statistical Inference Done Properly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Pitfalls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8" dur="35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FOUR TRADITIONS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How this lands in statistical inference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874519"/>
            <a:ext cx="5158587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6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74519"/>
            <a:ext cx="5158587" cy="50800"/>
          </a:xfrm>
          <a:prstGeom prst="rect">
            <a:avLst/>
          </a:prstGeom>
          <a:solidFill>
            <a:srgbClr val="1F6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075687"/>
            <a:ext cx="4756251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100" b="1" i="0">
                <a:solidFill>
                  <a:srgbClr val="1F618D"/>
                </a:solidFill>
                <a:latin typeface="Segoe UI"/>
              </a:rPr>
              <a:t>EMPIRICAL</a:t>
            </a:r>
          </a:p>
          <a:p>
            <a:r>
              <a:rPr sz="1250" b="0" i="0">
                <a:solidFill>
                  <a:srgbClr val="1C2833"/>
                </a:solidFill>
                <a:latin typeface="Segoe UI"/>
              </a:rPr>
              <a:t>Central. The discipline is to report estimates with uncertainty, check assumptions, pre-specify comparisons, and treat significance as one piece of information rather than a verdict.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55867" y="1874519"/>
            <a:ext cx="5158587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6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55867" y="1874519"/>
            <a:ext cx="5158587" cy="50800"/>
          </a:xfrm>
          <a:prstGeom prst="rect">
            <a:avLst/>
          </a:prstGeom>
          <a:solidFill>
            <a:srgbClr val="117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57035" y="2075687"/>
            <a:ext cx="4756251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100" b="1" i="0">
                <a:solidFill>
                  <a:srgbClr val="117864"/>
                </a:solidFill>
                <a:latin typeface="Segoe UI"/>
              </a:rPr>
              <a:t>DESIGN SCIENCE</a:t>
            </a:r>
          </a:p>
          <a:p>
            <a:r>
              <a:rPr sz="1250" b="0" i="0">
                <a:solidFill>
                  <a:srgbClr val="1C2833"/>
                </a:solidFill>
                <a:latin typeface="Segoe UI"/>
              </a:rPr>
              <a:t>Applies to evaluation results. A performance improvement demonstrated without an interval is an anecdote (Ch.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931919"/>
            <a:ext cx="5158587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6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3931919"/>
            <a:ext cx="5158587" cy="50800"/>
          </a:xfrm>
          <a:prstGeom prst="rect">
            <a:avLst/>
          </a:prstGeom>
          <a:solidFill>
            <a:srgbClr val="6C3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" y="4133087"/>
            <a:ext cx="4756251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100" b="1" i="0">
                <a:solidFill>
                  <a:srgbClr val="6C3483"/>
                </a:solidFill>
                <a:latin typeface="Segoe UI"/>
              </a:rPr>
              <a:t>QUALITATIVE</a:t>
            </a:r>
          </a:p>
          <a:p>
            <a:r>
              <a:rPr sz="1250" b="0" i="0">
                <a:solidFill>
                  <a:srgbClr val="1C2833"/>
                </a:solidFill>
                <a:latin typeface="Segoe UI"/>
              </a:rPr>
              <a:t>Not applicable, and importing it is the category error of Ch. 14.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55867" y="3931919"/>
            <a:ext cx="5158587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6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55867" y="3931919"/>
            <a:ext cx="5158587" cy="50800"/>
          </a:xfrm>
          <a:prstGeom prst="rect">
            <a:avLst/>
          </a:prstGeom>
          <a:solidFill>
            <a:srgbClr val="922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57035" y="4133087"/>
            <a:ext cx="4756251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100" b="1" i="0">
                <a:solidFill>
                  <a:srgbClr val="922B21"/>
                </a:solidFill>
                <a:latin typeface="Segoe UI"/>
              </a:rPr>
              <a:t>FORMAL</a:t>
            </a:r>
          </a:p>
          <a:p>
            <a:r>
              <a:rPr sz="1250" b="0" i="0">
                <a:solidFill>
                  <a:srgbClr val="1C2833"/>
                </a:solidFill>
                <a:latin typeface="Segoe UI"/>
              </a:rPr>
              <a:t>Probability appears as an object of study rather than a tool of inference. Randomised algorithms have provable bounds, not confidence intervals.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19 · Statistical Inference Done Properly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Four traditions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8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16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24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3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What to take away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10637215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1.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A p-value is the probability of data this extreme under the whole model, not the probability that a hypothesis is true.</a:t>
            </a:r>
          </a:p>
          <a:p>
            <a:pPr>
              <a:spcAft>
                <a:spcPts val="14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2.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Report effect sizes with confidence intervals. A null result is interpretable only through its interval, and only interval-reporting studies can be pooled.</a:t>
            </a:r>
          </a:p>
          <a:p>
            <a:pPr>
              <a:spcAft>
                <a:spcPts val="14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3.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Check assumptions by looking at residuals, not by testing normality. Prefer Welch, rank-based methods and the bootstrap.</a:t>
            </a:r>
          </a:p>
          <a:p>
            <a:pPr>
              <a:spcAft>
                <a:spcPts val="14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4.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Correct for multiplicity, preferring Holm to Bonferroni and Benjamini–Hochberg for exploratory work — or declare a single primary outcome and label the rest…</a:t>
            </a:r>
          </a:p>
          <a:p>
            <a:pPr>
              <a:spcAft>
                <a:spcPts val="14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5.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The garden of forking paths means your effective multiplicity includes analyses you did not run. Only pre-specification defends against it.</a:t>
            </a:r>
          </a:p>
          <a:p>
            <a:pPr>
              <a:spcAft>
                <a:spcPts val="14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6.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To claim no difference, test for equivalence against a justified bound. Non-significance is not evidence of absence.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19 · Statistical Inference Done Properly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Summary</a:t>
            </a:r>
          </a:p>
        </p:txBody>
      </p:sp>
    </p:spTree>
  </p:cSld>
  <p:clrMapOvr>
    <a:masterClrMapping/>
  </p:clrMapOvr>
  <p:transition spd="med">
    <p:push dir="u"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" dur="32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32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32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32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32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32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Questions to think with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10637215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8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Q1 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The ASA states that scientific conclusions should not be based on whether a p-value passes a threshold, yet thresholds remain universal. Identify the institutional forces sustaining this…</a:t>
            </a:r>
          </a:p>
          <a:p>
            <a:pPr>
              <a:spcAft>
                <a:spcPts val="18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Q2 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Equivalence testing requires specifying a bound, which is a judgement about practical importance. Critics say this makes it subjective. Is that a weakness, given that the alternative is a…</a:t>
            </a:r>
          </a:p>
          <a:p>
            <a:pPr>
              <a:spcAft>
                <a:spcPts val="18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Q3 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Software engineering data is frequently skewed and heteroscedastic, and parametric tests dominate anyway. What accounts for the gap between the field's data and its methods, and what would…</a:t>
            </a:r>
          </a:p>
          <a:p>
            <a:pPr>
              <a:spcAft>
                <a:spcPts val="18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Q4 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Bayesian methods answer the question researchers want answered but require a prior. For a specific question in your area, specify a prior you could defend to an examiner, and say what you…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19 · Statistical Inference Done Properly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Review questions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5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2468880"/>
            <a:ext cx="8229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Georgia"/>
              </a:rPr>
              <a:t>End of Chapter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566160"/>
            <a:ext cx="8686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700" b="0" i="0">
                <a:solidFill>
                  <a:srgbClr val="E8F6F3"/>
                </a:solidFill>
                <a:latin typeface="Segoe UI"/>
              </a:rPr>
              <a:t>Next: </a:t>
            </a:r>
            <a:r>
              <a:rPr sz="1700" b="1" i="0">
                <a:solidFill>
                  <a:srgbClr val="FFFFFF"/>
                </a:solidFill>
                <a:latin typeface="Segoe UI"/>
              </a:rPr>
              <a:t>Ch. 20 — Regression and Modelling for Inference</a:t>
            </a:r>
          </a:p>
          <a:p>
            <a:pPr>
              <a:spcBef>
                <a:spcPts val="1200"/>
              </a:spcBef>
            </a:pPr>
            <a:r>
              <a:rPr sz="1300" b="0" i="1">
                <a:solidFill>
                  <a:srgbClr val="E8F6F3"/>
                </a:solidFill>
                <a:latin typeface="Segoe UI"/>
              </a:rPr>
              <a:t>Read the chapter in the handout before the next session.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