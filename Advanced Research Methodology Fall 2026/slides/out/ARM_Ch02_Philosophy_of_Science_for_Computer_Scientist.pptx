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E8F6F3"/>
                </a:solidFill>
                <a:latin typeface="Segoe UI"/>
              </a:rPr>
              <a:t>CHAPTER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6751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Georgia"/>
              </a:rPr>
              <a:t>Philosophy of Science for Computer Scientists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206240"/>
            <a:ext cx="118872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48056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E8F6F3"/>
                </a:solidFill>
                <a:latin typeface="Segoe UI"/>
              </a:rPr>
              <a:t>Part 1 — Foundations of Inquiry in Computing</a:t>
            </a:r>
          </a:p>
          <a:p>
            <a:r>
              <a:rPr sz="1300" b="0" i="1">
                <a:solidFill>
                  <a:srgbClr val="E8F6F3"/>
                </a:solidFill>
                <a:latin typeface="Segoe UI"/>
              </a:rPr>
              <a:t>Advanced Research Methodology ·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2656" y="2194560"/>
            <a:ext cx="2834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Segoe UI"/>
              </a:rPr>
              <a:t>MS IT / PhD IT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Department of Information Technology
The Islamia University of Bahawalpur</a:t>
            </a:r>
          </a:p>
          <a:p>
            <a:pPr>
              <a:spcBef>
                <a:spcPts val="14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Fall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By the end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Define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ontology, epistemology and methodology, and explain how a choice at one level constrains the next.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Locate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 computing study within five research paradigms from its methods alone.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Distinguish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deduction, induction and abduction, and identify which one design science actually uses.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Justify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your own paradigm choice in the terms a Departmental Research Committee will use.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Recognise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the two paradigms already encoded in the IUB dissertation quality criteria.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 · Philosophy of Science for Computer Scientists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Outcomes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5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KEY 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vocabulary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ontology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epistemology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axiology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methodology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paradigm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3938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positivism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post-positivism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interpretivism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critical realism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pragmatism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0636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deduction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induction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abduction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falsification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demarcation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 · Philosophy of Science for Computer Scientists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Key terms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1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Why This Chapter Is Not Optional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1 · CH.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Why This Chapter Is Not Optional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C84B31"/>
                </a:solidFill>
                <a:latin typeface="Segoe UI"/>
              </a:rPr>
              <a:t>DEFINITION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The four questions, in order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tight Ontology — what kinds of thing exist? Is “technical debt” a real property of a codebase, or a metaphor practitioners use to talk about their discomfort?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 · Philosophy of Science for Computer Scientists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Why This Chapter Is Not Optional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Five Paradigms, and What They Look Like in Computing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1 · CH.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Five Paradigms, and What They Look Like in Computing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The honest position of most computing research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Very little computing research is strictly positivist, though a great many theses claim to be.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 · Philosophy of Science for Computer Scientists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Five Paradigms, and What They Look Like in Com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3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Three Ways to Reason, and the One Nobody Teaches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1 · CH.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Three Ways to Reason, and the One Nobody Teaches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Design science is abductive, not inductive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This matters for how you write up design science work (Ch. 9).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 · Philosophy of Science for Computer Scientists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Three Ways to Reason, and the One Nobody Teach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4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Falsification, and Its Limits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1 · CH.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Falsification, and Its Limits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1C2833"/>
                </a:solidFill>
                <a:latin typeface="Segoe UI"/>
              </a:rPr>
              <a:t>Popper's answer to the problem of induction is the intellectual backbone of Ch. 1's falsifier line: no number of confirming observations establishes a universal claim, but one genuine counter-example refutes it, so science advances by proposing bold conjectures and trying hard to break them 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 · Philosophy of Science for Computer Scientists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Falsification, and Its Limits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5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Is Computing a Science?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1 · CH.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Is Computing a Science?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C84B31"/>
                </a:solidFill>
                <a:latin typeface="Segoe UI"/>
              </a:rPr>
              <a:t>REGULATION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Two paradigms, written into the regulations — PhD §14.3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The regulations do not use the word paradigm, but they encode the distinction exactly, by giving separate quality criteria for the two kinds of work.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 · Philosophy of Science for Computer Scientists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Is Computing a Science?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Locating a study from its methods alone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994660"/>
            <a:ext cx="10637215" cy="1325880"/>
          </a:xfrm>
          <a:prstGeom prst="rect">
            <a:avLst/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994660"/>
            <a:ext cx="64008" cy="132588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95828"/>
            <a:ext cx="9997135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1C2833"/>
                </a:solidFill>
                <a:latin typeface="Segoe UI"/>
              </a:rPr>
              <a:t>A paper reports: semi-structured interviews with 14 developers at three firms, transcripts coded openly then axially, categories member-checked with participants, no statistical testing, findings presented as five themes with extended quotations.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466844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1">
                <a:solidFill>
                  <a:srgbClr val="707B7C"/>
                </a:solidFill>
                <a:latin typeface="Segoe UI"/>
              </a:rPr>
              <a:t>Constructed for teaching — the numbers are invented, as in the handout.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 · Philosophy of Science for Computer Scientists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Worked example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PITFALLS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Three ways the philosophy chapter goes wrong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5433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1" i="0">
                <a:solidFill>
                  <a:srgbClr val="0E4D64"/>
                </a:solidFill>
                <a:latin typeface="Segoe UI"/>
              </a:rPr>
              <a:t>Paradigm as decoration.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A paragraph asserting a paradigm, followed by a study that ignores it. The test: delete the paragraph.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 · Philosophy of Science for Computer Scientists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Pitfalls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WHAT THE REGULATIONS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Rules that bind you, quoted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68980"/>
            <a:ext cx="10637215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4B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3268980"/>
            <a:ext cx="64008" cy="123444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415284"/>
            <a:ext cx="1008857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C84B31"/>
                </a:solidFill>
                <a:latin typeface="Segoe UI"/>
              </a:rPr>
              <a:t>Two paradigms, written into the regulations — PhD §14.3</a:t>
            </a:r>
          </a:p>
          <a:p>
            <a:r>
              <a:rPr sz="1300" b="0" i="0">
                <a:solidFill>
                  <a:srgbClr val="1C2833"/>
                </a:solidFill>
                <a:latin typeface="Segoe UI"/>
              </a:rPr>
              <a:t>The regulations do not use the word paradigm, but they encode the distinction exactly, by giving separate quality criteria for the two kinds of 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 · Philosophy of Science for Computer Scientists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Regulations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FOUR TRADITIONS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How this lands in philosophical commitment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5158587" cy="50800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F618D"/>
                </a:solidFill>
                <a:latin typeface="Segoe UI"/>
              </a:rPr>
              <a:t>EMPIRICAL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Post-positivist by default. A real effect exists; our estimate of it is uncertain; we report the uncertainty and expect to be replicated.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5867" y="1874519"/>
            <a:ext cx="5158587" cy="50800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7035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17864"/>
                </a:solidFill>
                <a:latin typeface="Segoe UI"/>
              </a:rPr>
              <a:t>DESIGN SCIENCE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Pragmatist. Truth is deferred in favour of utility for a purpose; the artefact is an abductive conjecture and evaluation is its test.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931919"/>
            <a:ext cx="5158587" cy="5080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6C3483"/>
                </a:solidFill>
                <a:latin typeface="Segoe UI"/>
              </a:rPr>
              <a:t>QUALITATIVE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Interpretivist or critical realist. Either meaning is constructed and must be understood in context, or real mechanisms underlie observed events and the task is to explain them.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5867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5867" y="3931919"/>
            <a:ext cx="5158587" cy="5080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7035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922B21"/>
                </a:solidFill>
                <a:latin typeface="Segoe UI"/>
              </a:rPr>
              <a:t>FORMAL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Rationalist. Knowledge is a priori, evidence is proof, and empirical observation is irrelevant to the truth of the theorem — though very relevant to whether anyone should care about 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 · Philosophy of Science for Computer Scientists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Four traditions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6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2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What to take 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1.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Your methods commit you to a philosophy whether you state one or not. The purpose of stating it is to keep the thesis internally consistent.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2.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Ontology constrains epistemology, which constrains methodology. Choose in that order; back-filling is visible to examiners.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3.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Five paradigms cover nearly all computing research. Most quantitative computing work is post-positivist, not positivist, and should say so.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4.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Abduction generates hypotheses; deduction and induction test them. Design science is abductive, and reads better when written that way.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5.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Falsification is the right discipline for empirical work but is complicated by the Duhem–Quine problem and does not apply to formal or purely exploratory work.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6.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PhD Regs 2024 §14.3 already encodes the qualitative / quantitative split as two separate quality checklists, and §14.3(C) penalises a mismatch between the paradigm…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 · Philosophy of Science for Computer Scientists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Summary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2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2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2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2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2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2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Questions to think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Q1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A thesis states a positivist paradigm, uses a survey instrument validated in another country without re-validation, and reports significance tests without effect sizes. Identify the…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Q2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Critical realism is sometimes proposed as the natural paradigm for software engineering case study research. Construct the argument for that claim, then give the strongest objection to it.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Q3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Is a formal proof of an algorithm's correctness a scientific contribution under Popper's demarcation criterion? Does your answer embarrass the criterion, or the question?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Q4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PhD Regs 2024 §14.3(A) treats “subjective perceptions and experiences as knowledge in their own right”. Reconcile this with §14.3(B)'s demand for replicability, given that a single…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 · Philosophy of Science for Computer Scientists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Review questions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End of Chapter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566160"/>
            <a:ext cx="8686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 i="0">
                <a:solidFill>
                  <a:srgbClr val="E8F6F3"/>
                </a:solidFill>
                <a:latin typeface="Segoe UI"/>
              </a:rPr>
              <a:t>Next: </a:t>
            </a:r>
            <a:r>
              <a:rPr sz="1700" b="1" i="0">
                <a:solidFill>
                  <a:srgbClr val="FFFFFF"/>
                </a:solidFill>
                <a:latin typeface="Segoe UI"/>
              </a:rPr>
              <a:t>Ch. 3 — Research Questions, Hypotheses and Constructs</a:t>
            </a:r>
          </a:p>
          <a:p>
            <a:pPr>
              <a:spcBef>
                <a:spcPts val="1200"/>
              </a:spcBef>
            </a:pPr>
            <a:r>
              <a:rPr sz="1300" b="0" i="1">
                <a:solidFill>
                  <a:srgbClr val="E8F6F3"/>
                </a:solidFill>
                <a:latin typeface="Segoe UI"/>
              </a:rPr>
              <a:t>Read the chapter in the handout before the next session.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