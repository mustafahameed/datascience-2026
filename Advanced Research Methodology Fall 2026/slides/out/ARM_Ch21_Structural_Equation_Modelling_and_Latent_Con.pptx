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E8F6F3"/>
                </a:solidFill>
                <a:latin typeface="Segoe UI"/>
              </a:rPr>
              <a:t>CHAPTER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675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Georgia"/>
              </a:rPr>
              <a:t>Structural Equation Modelling and Latent Constructs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206240"/>
            <a:ext cx="118872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8056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E8F6F3"/>
                </a:solidFill>
                <a:latin typeface="Segoe UI"/>
              </a:rPr>
              <a:t>Part 4 — Measurement, Data and Analysis</a:t>
            </a:r>
          </a:p>
          <a:p>
            <a:r>
              <a:rPr sz="1300" b="0" i="1">
                <a:solidFill>
                  <a:srgbClr val="E8F6F3"/>
                </a:solidFill>
                <a:latin typeface="Segoe UI"/>
              </a:rPr>
              <a:t>Advanced Research Methodology ·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2656" y="2194560"/>
            <a:ext cx="2834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Segoe UI"/>
              </a:rPr>
              <a:t>MS IT / PhD IT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Department of Information Technology
The Islamia University of Bahawalpur</a:t>
            </a:r>
          </a:p>
          <a:p>
            <a:pPr>
              <a:spcBef>
                <a:spcPts val="14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Fall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By the end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Explain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what a latent variable is and why measurement error matters for estimating relationships.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Separate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the measurement model from the structural model.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Choose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between covariance-based and partial least squares SEM on defensible grounds.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Assess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convergent and discriminant validity, including HTMT.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Detect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and address common method bias.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Report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an SEM study to the standard reviewers expect.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21 · Structural Equation Modelling and Latent Constructs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Outcomes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5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5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KEY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vocabulary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latent variable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indicator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measurement model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structural model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reflective and formative indicators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3938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confirmatory factor analysis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CB-SEM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PLS-SEM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composite reliability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average variance extracted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0636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Fornell–Larcker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HTMT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common method bias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fit index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21 · Structural Equation Modelling and Latent Constructs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Key terms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1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Why This Chapter Exists for an IT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4 · CH.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Why This Chapter Exists for an IT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74036"/>
            <a:ext cx="54864" cy="1207008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7403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C84B31"/>
                </a:solidFill>
                <a:latin typeface="Segoe UI"/>
              </a:rPr>
              <a:t>DEFINITION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Latent variable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A latent variable is a construct that cannot be observed directly and is inferred from multiple observed indicators. “Perceived usefulness” is latent; the four questionnaire items measuring it are indicators.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99135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99135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What SEM buys over regression on scale means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Averaging four items and running a regression treats the average as if it were the construct, measured without error.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21 · Structural Equation Modelling and Latent Constructs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Why This Chapter Exists for an IT Course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2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Two Models in 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4 · CH.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Two Models in 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Assess the measurement model first, and be willing to stop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If the indicators do not measure the constructs adequately, the structural paths between them are meaningless — you would be estimating relationships between things you have not measured.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21 · Structural Equation Modelling and Latent Constructs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Two Models in One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3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Assessing the Measurement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4 · CH.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Assessing the Measurement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Report HTMT, and understand what failing it means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Fornell–Larcker was the standard for two decades and has been shown to miss discriminant validity problems in exactly the situations where they matter.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21 · Structural Equation Modelling and Latent Constructs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Assessing the Measurement Model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4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Common Method Bias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4 · CH.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Common Method Bias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Harman's single-factor test proves almost nothing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It is reported in a large fraction of IS theses, usually as a single sentence concluding that common method bias is not a concern.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21 · Structural Equation Modelling and Latent Constructs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Common Method Bias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PITFALLS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PLS-SEM is not a way to escape a small sample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5433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It is chosen for that reason constantly, and the justification does not hold. PLS tolerates smaller samples than CB-SEM, but small-sample PLS estimates are still…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21 · Structural Equation Modelling and Latent Constructs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Pitfalls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FOUR TRADITIONS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How this lands in latent variable modelling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5158587" cy="50800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F618D"/>
                </a:solidFill>
                <a:latin typeface="Segoe UI"/>
              </a:rPr>
              <a:t>EMPIRICAL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Its natural extension: measurement error is modelled rather than ignored, and theory is tested against a covariance structure.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1874519"/>
            <a:ext cx="5158587" cy="50800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7035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17864"/>
                </a:solidFill>
                <a:latin typeface="Segoe UI"/>
              </a:rPr>
              <a:t>DESIGN SCIENCE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Used to evaluate an artefact's perceived qualities and their relation to intention to use — formative naturalistic evaluation, and weak evidence of actual use.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931919"/>
            <a:ext cx="5158587" cy="5080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6C3483"/>
                </a:solidFill>
                <a:latin typeface="Segoe UI"/>
              </a:rPr>
              <a:t>QUALITATIVE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Would object that constructs like “perceived usefulness” are imposed on respondents rather than derived from them, and that an exploratory sequential design (Ch. 15) should establish the constructs first.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5867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5867" y="3931919"/>
            <a:ext cx="5158587" cy="5080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7035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922B21"/>
                </a:solidFill>
                <a:latin typeface="Segoe UI"/>
              </a:rPr>
              <a:t>FORMAL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Identification — whether parameters can be uniquely determined — is a formal question with a formal answer, and an unidentified model is not a statistical problem but an algebraic one.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21 · Structural Equation Modelling and Latent Constructs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Four traditions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6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2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What to take 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1.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Latent constructs measured with error attenuate relationships; SEM corrects for this by modelling the error.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2.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Measurement model first, structural model only if it passes.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3.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Reflective and formative indicators require different assessment; misspecifying the direction invalidates the assessment.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4.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Choose CB-SEM or PLS-SEM for a substantive reason. Small sample size is not one.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5.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Report HTMT, not only Fornell–Larcker. Failing it means merging constructs or redesigning items.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6.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Design common method bias out procedurally; Harman's single-factor test is weak evidence.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7.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Disclose every dropped item and every modification index followed. Fit obtained by data-driven revision is not evidence for the theory.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21 · Structural Equation Modelling and Latent Constructs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Summary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2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2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2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2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2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2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32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Questions to think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Q1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Technology acceptance models are among the most replicated in IS and among the most criticised as theoretically thin. Assess that criticism, and say what a genuinely novel contribution…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Q2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Equivalent models can fit identically while asserting opposite causal directions. What does this imply about the evidential value of a well-fitting cross-sectional SEM, and what design…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Q3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PLS-SEM's sample size rules of thumb have been shown to be far too permissive. Why do they persist, and what should replace them?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Q4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PhD Regs 2024 §14.2(v) requires that “quantitative research proposals must include a valid statistical design for data analysis”. What would a valid design section for an SEM study contain…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21 · Structural Equation Modelling and Latent Constructs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Review questions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End of Chapter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566160"/>
            <a:ext cx="8686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 i="0">
                <a:solidFill>
                  <a:srgbClr val="E8F6F3"/>
                </a:solidFill>
                <a:latin typeface="Segoe UI"/>
              </a:rPr>
              <a:t>Next: </a:t>
            </a:r>
            <a:r>
              <a:rPr sz="1700" b="1" i="0">
                <a:solidFill>
                  <a:srgbClr val="FFFFFF"/>
                </a:solidFill>
                <a:latin typeface="Segoe UI"/>
              </a:rPr>
              <a:t>Ch. 22 — Evaluating Machine Learning Research</a:t>
            </a:r>
          </a:p>
          <a:p>
            <a:pPr>
              <a:spcBef>
                <a:spcPts val="1200"/>
              </a:spcBef>
            </a:pPr>
            <a:r>
              <a:rPr sz="1300" b="0" i="1">
                <a:solidFill>
                  <a:srgbClr val="E8F6F3"/>
                </a:solidFill>
                <a:latin typeface="Segoe UI"/>
              </a:rPr>
              <a:t>Read the chapter in the handout before the next session.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