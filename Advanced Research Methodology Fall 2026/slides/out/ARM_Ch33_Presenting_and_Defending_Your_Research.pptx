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85455" y="0"/>
            <a:ext cx="4206240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E8F6F3"/>
                </a:solidFill>
                <a:latin typeface="Segoe UI"/>
              </a:rPr>
              <a:t>CHAPTER 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66751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Georgia"/>
              </a:rPr>
              <a:t>Presenting and Defending Your Research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4206240"/>
            <a:ext cx="118872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48056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 i="0">
                <a:solidFill>
                  <a:srgbClr val="E8F6F3"/>
                </a:solidFill>
                <a:latin typeface="Segoe UI"/>
              </a:rPr>
              <a:t>Part 6 — Producing and Defending Research</a:t>
            </a:r>
          </a:p>
          <a:p>
            <a:r>
              <a:rPr sz="1300" b="0" i="1">
                <a:solidFill>
                  <a:srgbClr val="E8F6F3"/>
                </a:solidFill>
                <a:latin typeface="Segoe UI"/>
              </a:rPr>
              <a:t>Advanced Research Methodology · Fall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42656" y="2194560"/>
            <a:ext cx="28346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Segoe UI"/>
              </a:rPr>
              <a:t>MS IT / PhD IT</a:t>
            </a:r>
          </a:p>
          <a:p>
            <a:pPr>
              <a:spcBef>
                <a:spcPts val="600"/>
              </a:spcBef>
            </a:pPr>
            <a:r>
              <a:rPr sz="1200" b="0" i="0">
                <a:solidFill>
                  <a:srgbClr val="E8F6F3"/>
                </a:solidFill>
                <a:latin typeface="Segoe UI"/>
              </a:rPr>
              <a:t>Department of Information Technology
The Islamia University of Bahawalpur</a:t>
            </a:r>
          </a:p>
          <a:p>
            <a:pPr>
              <a:spcBef>
                <a:spcPts val="1400"/>
              </a:spcBef>
            </a:pPr>
            <a:r>
              <a:rPr sz="1200" b="0" i="0">
                <a:solidFill>
                  <a:srgbClr val="E8F6F3"/>
                </a:solidFill>
                <a:latin typeface="Segoe UI"/>
              </a:rPr>
              <a:t>Fall 2026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By the end of this 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Describe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each examination you will face and what it assesses.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Prepare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for the comprehensive examination against its actual paper pattern.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Build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a defence presentation that survives interruption.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Answer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the six question types examiners use.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Interpret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the four verdicts and what follows from each.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33 · Presenting and Defending Your 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Outcomes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3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35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35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KEY TERMS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The vocabulary of this 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342381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comprehensive examination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synopsis defence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viva voce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3938" y="1828800"/>
            <a:ext cx="342381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open defence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internal and external examiner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minor amendments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0636" y="1828800"/>
            <a:ext cx="342381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deferred for resubmission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mock defence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33 · Presenting and Defending Your Research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Key terms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1 OF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Three Examinations, Different Purposes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6 · CH. 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Three Examinations, Different Purposes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57403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7403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137177"/>
                </a:solidFill>
                <a:latin typeface="Segoe UI"/>
              </a:rPr>
              <a:t>CONCEPT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What the comprehensive examination is really testing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§11(ii) says it “should be based on recapitulation of the conceptual knowledge of the discipline to which the student is admitted.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991356"/>
            <a:ext cx="54864" cy="1207008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399135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C84B31"/>
                </a:solidFill>
                <a:latin typeface="Segoe UI"/>
              </a:rPr>
              <a:t>REGULATION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The comprehensive examination paper pattern — MPhil/MS §12(v)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Where a comprehensive examination is held, the pattern is specified: True/False 20 marks, Multiple Choice 20 marks, Short Questions 20 marks, and an Oral Examination separately worth 40 marks.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33 · Presenting and Defending Your Research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Three Examinations, Different Purposes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2 OF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The Defence 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6 · CH. 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The Defence Presentation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B7950B"/>
                </a:solidFill>
                <a:latin typeface="Segoe UI"/>
              </a:rPr>
              <a:t>WATCH OUT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Backup slides are the preparation that shows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When an examiner asks “did you check whether the effect holds for the subgroup?” there are two possible answers. “No, but that would be interesting future work” is survivable.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33 · Presenting and Defending Your Research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The Defence Presentation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3 OF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6 · CH. 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Questions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57403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7403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137177"/>
                </a:solidFill>
                <a:latin typeface="Segoe UI"/>
              </a:rPr>
              <a:t>CONCEPT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Four habits worth rehearsing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tightnum Pause before answering. Two seconds of thought reads as consideration, not hesitation.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991356"/>
            <a:ext cx="54864" cy="120700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399135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B7950B"/>
                </a:solidFill>
                <a:latin typeface="Segoe UI"/>
              </a:rPr>
              <a:t>WATCH OUT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The two questions that come up almost always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“What is your contribution?” Have one sentence ready (Ch. 1, Ch.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33 · Presenting and Defending Your Research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Questions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4 OF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The Verdicts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6 · CH. 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The Verdicts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137177"/>
                </a:solidFill>
                <a:latin typeface="Segoe UI"/>
              </a:rPr>
              <a:t>CONCEPT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Deferred is not failed, and the clock is real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Most deferrals are recoverable. What ends them badly is the deadline: the PhD regulation is explicit that if the corrected version is not acknowledged within 180 days, the candidate “will be considered fail”.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33 · Presenting and Defending Your Research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The Verdicts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WHAT THE REGULATIONS SAY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Rules that bind you, quoted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68980"/>
            <a:ext cx="10637215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4B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3268980"/>
            <a:ext cx="64008" cy="123444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415284"/>
            <a:ext cx="1008857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C84B31"/>
                </a:solidFill>
                <a:latin typeface="Segoe UI"/>
              </a:rPr>
              <a:t>The comprehensive examination paper pattern — MPhil/MS §12(v)</a:t>
            </a:r>
          </a:p>
          <a:p>
            <a:r>
              <a:rPr sz="1300" b="0" i="0">
                <a:solidFill>
                  <a:srgbClr val="1C2833"/>
                </a:solidFill>
                <a:latin typeface="Segoe UI"/>
              </a:rPr>
              <a:t>Where a comprehensive examination is held, the pattern is specified: True/False 20 marks, Multiple Choice 20 marks, Short Questions 20 marks, and an Oral Examination separately worth 40 marks.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33 · Presenting and Defending Your Research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Regulations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FOUR TRADITIONS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How this lands in the defence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5158587" cy="50800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0756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1F618D"/>
                </a:solidFill>
                <a:latin typeface="Segoe UI"/>
              </a:rPr>
              <a:t>EMPIRICAL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Expect challenges to power, measurement and causal warrant. Have the interval, the reliability coefficient and the identification argument ready.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5867" y="18745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55867" y="1874519"/>
            <a:ext cx="5158587" cy="50800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7035" y="20756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117864"/>
                </a:solidFill>
                <a:latin typeface="Segoe UI"/>
              </a:rPr>
              <a:t>DESIGN SCIENCE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Expect “what is the contribution beyond the artefact?”. Have the design knowledge sentence (Ch.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9319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931919"/>
            <a:ext cx="5158587" cy="50800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41330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6C3483"/>
                </a:solidFill>
                <a:latin typeface="Segoe UI"/>
              </a:rPr>
              <a:t>QUALITATIVE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Expect questions about sample size and generalisability framed in quantitative terms. Answer with saturation evidence and analytic generalisation, and do so without conceding the frame (Ch.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55867" y="39319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55867" y="3931919"/>
            <a:ext cx="5158587" cy="50800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7035" y="41330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922B21"/>
                </a:solidFill>
                <a:latin typeface="Segoe UI"/>
              </a:rPr>
              <a:t>FORMAL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Expect the assumptions to be attacked rather than the proof. Know which assumptions are essential and which are convenience.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33 · Presenting and Defending Your Research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Four traditions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6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24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What to take 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1.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Three examinations: comprehensive (PhD, breadth, 65% written and oral, one retake), synopsis defence (should this proceed), viva (does this merit the degree).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2.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The comprehensive oral can carry as much weight as the whole written paper. Prepare it accordingly.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3.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Thirteen slides, contribution by slide 4, threats included, and a large set of backup slides. Backup slides are where defences are won.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4.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Six question types. Pause, answer what was asked, say “I don't know” when true, and concede what is true.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5.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Have the contribution sentence and the “what would you do differently” answer ready.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6.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Deferred is recoverable but the clock is real — 180 days for PhD, six months for MS. Start immediately.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7.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Mock defence with hostile colleagues, twice.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33 · Presenting and Defending Your 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Summary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2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32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2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32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32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32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32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Questions to think with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Q1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The PhD open defence is publicly announced and anyone may attend and question (§33(v)–(vi)). What does public defence add over a closed examination, and what does it cost the candidate?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Q2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Qualitative theses are routinely challenged on sample size by examiners applying quantitative criteria. How should a candidate respond in the moment — and whose responsibility is it that…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Q3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§11 allows one retake of the comprehensive examination, after which the scholar is dropped. Is a single retake the right policy? Consider both standards and the sunk investment of scholar…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Q4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Design a mock defence programme for your department. Who participates, at what stage, and how would you know whether it improved outcomes?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33 · Presenting and Defending Your 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Review questions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End of Chapter 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566160"/>
            <a:ext cx="8686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>
              <a:spcBef>
                <a:spcPts val="1200"/>
              </a:spcBef>
            </a:pPr>
            <a:r>
              <a:rPr sz="1300" b="0" i="1">
                <a:solidFill>
                  <a:srgbClr val="E8F6F3"/>
                </a:solidFill>
                <a:latin typeface="Segoe UI"/>
              </a:rPr>
              <a:t>Read the chapter in the handout before the next session.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