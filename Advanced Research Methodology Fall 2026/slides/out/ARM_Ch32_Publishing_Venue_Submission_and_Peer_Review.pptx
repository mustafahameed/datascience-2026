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E8F6F3"/>
                </a:solidFill>
                <a:latin typeface="Segoe UI"/>
              </a:rPr>
              <a:t>CHAPTER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675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eorgia"/>
              </a:rPr>
              <a:t>Publishing: Venue, Submission and Peer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206240"/>
            <a:ext cx="118872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E8F6F3"/>
                </a:solidFill>
                <a:latin typeface="Segoe UI"/>
              </a:rPr>
              <a:t>Part 6 — Producing and Defending Research</a:t>
            </a:r>
          </a:p>
          <a:p>
            <a:r>
              <a:rPr sz="1300" b="0" i="1">
                <a:solidFill>
                  <a:srgbClr val="E8F6F3"/>
                </a:solidFill>
                <a:latin typeface="Segoe UI"/>
              </a:rPr>
              <a:t>Advanced Research Methodology ·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2656" y="2194560"/>
            <a:ext cx="2834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Segoe UI"/>
              </a:rPr>
              <a:t>MS IT / PhD IT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Department of Information Technology
The Islamia University of Bahawalpur</a:t>
            </a:r>
          </a:p>
          <a:p>
            <a:pPr>
              <a:spcBef>
                <a:spcPts val="14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Fall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By the end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Select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venue on fit as well as on category.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Write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cover letter that does its one job.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Respond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to reviewers so that a revision is accepted.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Handle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rejection as a step rather than a verdict.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Plan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publication sequence that satisfies §15 without slicing one study into two.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32 · Publishing: Venue, Submission and Peer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Outcomes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KEY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vocabulary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cover letter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desk rejection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major and minor revision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3938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response letter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rebuttal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appeal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0636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reviewer 2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resubmission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publication sequence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32 · Publishing: Venue, Submission and Peer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Key terms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Choosing Where to Send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6 · CH.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Choosing Where to Send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Aim one level above where you expect to land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Review at a stronger venue is usually more thorough, and a rejection with three substantive reviews improves the paper before it goes elsewhere.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32 · Publishing: Venue, Submission and Peer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Choosing Where to Send It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The Cover Letter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6 · CH.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Cover Letter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1C2833"/>
                </a:solidFill>
                <a:latin typeface="Segoe UI"/>
              </a:rPr>
              <a:t>Its job is to tell the editor why this paper belongs in this venue. Nothing else.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32 · Publishing: Venue, Submission and Peer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The Cover Letter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Responding to Reviewers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6 · CH.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Responding to Reviewers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7403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7403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When a reviewer is simply wrong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It happens. They misread a section, or they are not expert in the specific method.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9135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99135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Restate the objection before answering it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The single most effective move in a response letter: begin each disputed point by stating the reviewer's concern in your own words, accurately and sympathetically, before disagreeing.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32 · Publishing: Venue, Submission and Peer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Responding to Reviewers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6 · CH.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Outcomes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Rejection is the normal case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Selective venues reject three-quarters or more of submissions. Most published papers were rejected somewhere first, by authors far more experienced than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32 · Publishing: Venue, Submission and Peer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Outcomes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Planning the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6 · CH.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Planning the Sequence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7403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7403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sequencing trap, stated once more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A paper accepted before your synopsis is approved does not count towards §15. Scholars arriving with work already in progress lose it this way routinely.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91356"/>
            <a:ext cx="54864" cy="1207008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99135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C84B31"/>
                </a:solidFill>
                <a:latin typeface="Segoe UI"/>
              </a:rPr>
              <a:t>REGULATION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constraint you are planning around — PhD §15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One W-category paper, or two X-category papers, for Science disciplines. First author.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32 · Publishing: Venue, Submission and Peer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Planning the Sequence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not to put in a cover letter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5433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1" i="0">
                <a:solidFill>
                  <a:srgbClr val="0E4D64"/>
                </a:solidFill>
                <a:latin typeface="Segoe UI"/>
              </a:rPr>
              <a:t>Do not summarise the abstract — the editor has it.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Do not claim the work is groundbreaking; editors read that in most letters and discount it. Do not explain why the topic is important at…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32 · Publishing: Venue, Submission and Peer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Pitfalls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WHAT THE REGULATIONS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Rules that bind you, quoted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68980"/>
            <a:ext cx="1063721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4B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268980"/>
            <a:ext cx="64008" cy="123444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415284"/>
            <a:ext cx="1008857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C84B31"/>
                </a:solidFill>
                <a:latin typeface="Segoe UI"/>
              </a:rPr>
              <a:t>The constraint you are planning around — PhD §15</a:t>
            </a:r>
          </a:p>
          <a:p>
            <a:r>
              <a:rPr sz="1300" b="0" i="0">
                <a:solidFill>
                  <a:srgbClr val="1C2833"/>
                </a:solidFill>
                <a:latin typeface="Segoe UI"/>
              </a:rPr>
              <a:t>One W-category paper, or two X-category papers, for Science disciplines. First author. Relevant to the dissertation.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32 · Publishing: Venue, Submission and Peer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Regulations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FOUR TRADITIONS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How this lands in publishing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158587" cy="508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F618D"/>
                </a:solidFill>
                <a:latin typeface="Segoe UI"/>
              </a:rPr>
              <a:t>EMPIRICAL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Journals and archival conferences. Reviewers increasingly expect data and analysis scripts alongside the manuscript.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874519"/>
            <a:ext cx="5158587" cy="508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7035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17864"/>
                </a:solidFill>
                <a:latin typeface="Segoe UI"/>
              </a:rPr>
              <a:t>DESIGN SCIENCE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Information systems and design-oriented venues; the artefact is submitted for badging alongside the paper (Ch. 25).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31919"/>
            <a:ext cx="5158587" cy="508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6C3483"/>
                </a:solidFill>
                <a:latin typeface="Segoe UI"/>
              </a:rPr>
              <a:t>QUALITATIVE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Venues that allow the length the method requires. A page limit that forces the removal of thick description damages the work rather than compressing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5867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3931919"/>
            <a:ext cx="5158587" cy="5080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035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922B21"/>
                </a:solidFill>
                <a:latin typeface="Segoe UI"/>
              </a:rPr>
              <a:t>FORMAL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Theory venues with full proofs in appendices; correctness is refereed in detail and the review cycle is correspondingly slow.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32 · Publishing: Venue, Submission and Peer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Four traditions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2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to take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Clear the HJRS category floor, then choose on fit. The venues publishing work you cite are where your readers are.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The cover letter says why this paper belongs in this venue. One page.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3.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Answer every comment, quote it, point to the changed lines, and restate an objection before disagreeing with it.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4.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Major revision is an opportunity, not a soft rejection. Rejection is the normal case; extract the actionable points and resubmit within two weeks.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5.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Plan the sequence: review paper, then study paper, both after synopsis approval. Two genuine contributions, not one sliced in half.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32 · Publishing: Venue, Submission and Peer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Summary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2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2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2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2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2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Questions to think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Q1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Response letters are rarely taught and heavily weighted in editorial decisions. Why is this skill invisible in graduate training, and what would it take to teach it?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Q2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Aiming above your expected level buys better reviews at the cost of time. For a PhD scholar under §15's sequencing constraint, model that trade-off concretely.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Q3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Reviewer anonymity permits honesty and enables carelessness. Would open review improve computing research? Consider the effect on junior reviewers specifically.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Q4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§15 requires publication before dissertation submission, which places a scholar's graduation at the mercy of journal timelines they do not control. Propose an alternative that preserves the…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32 · Publishing: Venue, Submission and Peer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Review questions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End of Chapter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56616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E8F6F3"/>
                </a:solidFill>
                <a:latin typeface="Segoe UI"/>
              </a:rPr>
              <a:t>Next: </a:t>
            </a:r>
            <a:r>
              <a:rPr sz="1700" b="1" i="0">
                <a:solidFill>
                  <a:srgbClr val="FFFFFF"/>
                </a:solidFill>
                <a:latin typeface="Segoe UI"/>
              </a:rPr>
              <a:t>Ch. 33 — Presenting and Defending Your Research</a:t>
            </a:r>
          </a:p>
          <a:p>
            <a:pPr>
              <a:spcBef>
                <a:spcPts val="1200"/>
              </a:spcBef>
            </a:pPr>
            <a:r>
              <a:rPr sz="1300" b="0" i="1">
                <a:solidFill>
                  <a:srgbClr val="E8F6F3"/>
                </a:solidFill>
                <a:latin typeface="Segoe UI"/>
              </a:rPr>
              <a:t>Read the chapter in the handout before the next session.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