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11</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Quasi-Experiments and Repository Mining</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3 — Research Designs for Computing</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Explain </a:t>
            </a:r>
            <a:r>
              <a:rPr sz="1700" b="0" i="0">
                <a:solidFill>
                  <a:srgbClr val="1C2833"/>
                </a:solidFill>
                <a:latin typeface="Segoe UI"/>
              </a:rPr>
              <a:t>the selection problem and why it, not sample size, is the central difficulty in observational research.</a:t>
            </a:r>
          </a:p>
          <a:p>
            <a:pPr>
              <a:spcAft>
                <a:spcPts val="1400"/>
              </a:spcAft>
            </a:pPr>
            <a:r>
              <a:rPr sz="1700" b="1" i="0">
                <a:solidFill>
                  <a:srgbClr val="C84B31"/>
                </a:solidFill>
                <a:latin typeface="Segoe UI"/>
              </a:rPr>
              <a:t>▸  </a:t>
            </a:r>
            <a:r>
              <a:rPr sz="1700" b="1" i="0">
                <a:solidFill>
                  <a:srgbClr val="0E4D64"/>
                </a:solidFill>
                <a:latin typeface="Segoe UI"/>
              </a:rPr>
              <a:t>Choose </a:t>
            </a:r>
            <a:r>
              <a:rPr sz="1700" b="0" i="0">
                <a:solidFill>
                  <a:srgbClr val="1C2833"/>
                </a:solidFill>
                <a:latin typeface="Segoe UI"/>
              </a:rPr>
              <a:t>an identification strategy — difference-in-differences, interrupted time series, regression discontinuity or matching — and state the assumption it…</a:t>
            </a:r>
          </a:p>
          <a:p>
            <a:pPr>
              <a:spcAft>
                <a:spcPts val="1400"/>
              </a:spcAft>
            </a:pPr>
            <a:r>
              <a:rPr sz="1700" b="1" i="0">
                <a:solidFill>
                  <a:srgbClr val="C84B31"/>
                </a:solidFill>
                <a:latin typeface="Segoe UI"/>
              </a:rPr>
              <a:t>▸  </a:t>
            </a:r>
            <a:r>
              <a:rPr sz="1700" b="1" i="0">
                <a:solidFill>
                  <a:srgbClr val="0E4D64"/>
                </a:solidFill>
                <a:latin typeface="Segoe UI"/>
              </a:rPr>
              <a:t>Design </a:t>
            </a:r>
            <a:r>
              <a:rPr sz="1700" b="0" i="0">
                <a:solidFill>
                  <a:srgbClr val="1C2833"/>
                </a:solidFill>
                <a:latin typeface="Segoe UI"/>
              </a:rPr>
              <a:t>a repository mining study and enumerate its data quality threats.</a:t>
            </a:r>
          </a:p>
          <a:p>
            <a:pPr>
              <a:spcAft>
                <a:spcPts val="1400"/>
              </a:spcAft>
            </a:pPr>
            <a:r>
              <a:rPr sz="1700" b="1" i="0">
                <a:solidFill>
                  <a:srgbClr val="C84B31"/>
                </a:solidFill>
                <a:latin typeface="Segoe UI"/>
              </a:rPr>
              <a:t>▸  </a:t>
            </a:r>
            <a:r>
              <a:rPr sz="1700" b="1" i="0">
                <a:solidFill>
                  <a:srgbClr val="0E4D64"/>
                </a:solidFill>
                <a:latin typeface="Segoe UI"/>
              </a:rPr>
              <a:t>Judge </a:t>
            </a:r>
            <a:r>
              <a:rPr sz="1700" b="0" i="0">
                <a:solidFill>
                  <a:srgbClr val="1C2833"/>
                </a:solidFill>
                <a:latin typeface="Segoe UI"/>
              </a:rPr>
              <a:t>when an observational claim may legitimately be phrased causally.</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quasi-experiment</a:t>
            </a:r>
          </a:p>
          <a:p>
            <a:pPr>
              <a:spcAft>
                <a:spcPts val="1100"/>
              </a:spcAft>
            </a:pPr>
            <a:r>
              <a:rPr sz="1400" b="0" i="0">
                <a:solidFill>
                  <a:srgbClr val="C84B31"/>
                </a:solidFill>
                <a:latin typeface="Segoe UI"/>
              </a:rPr>
              <a:t>▪  </a:t>
            </a:r>
            <a:r>
              <a:rPr sz="1400" b="0" i="0">
                <a:solidFill>
                  <a:srgbClr val="1C2833"/>
                </a:solidFill>
                <a:latin typeface="Segoe UI"/>
              </a:rPr>
              <a:t>selection bias</a:t>
            </a:r>
          </a:p>
          <a:p>
            <a:pPr>
              <a:spcAft>
                <a:spcPts val="1100"/>
              </a:spcAft>
            </a:pPr>
            <a:r>
              <a:rPr sz="1400" b="0" i="0">
                <a:solidFill>
                  <a:srgbClr val="C84B31"/>
                </a:solidFill>
                <a:latin typeface="Segoe UI"/>
              </a:rPr>
              <a:t>▪  </a:t>
            </a:r>
            <a:r>
              <a:rPr sz="1400" b="0" i="0">
                <a:solidFill>
                  <a:srgbClr val="1C2833"/>
                </a:solidFill>
                <a:latin typeface="Segoe UI"/>
              </a:rPr>
              <a:t>identification strategy</a:t>
            </a:r>
          </a:p>
          <a:p>
            <a:pPr>
              <a:spcAft>
                <a:spcPts val="1100"/>
              </a:spcAft>
            </a:pPr>
            <a:r>
              <a:rPr sz="1400" b="0" i="0">
                <a:solidFill>
                  <a:srgbClr val="C84B31"/>
                </a:solidFill>
                <a:latin typeface="Segoe UI"/>
              </a:rPr>
              <a:t>▪  </a:t>
            </a:r>
            <a:r>
              <a:rPr sz="1400" b="0" i="0">
                <a:solidFill>
                  <a:srgbClr val="1C2833"/>
                </a:solidFill>
                <a:latin typeface="Segoe UI"/>
              </a:rPr>
              <a:t>counterfactual</a:t>
            </a:r>
          </a:p>
          <a:p>
            <a:pPr>
              <a:spcAft>
                <a:spcPts val="1100"/>
              </a:spcAft>
            </a:pPr>
            <a:r>
              <a:rPr sz="1400" b="0" i="0">
                <a:solidFill>
                  <a:srgbClr val="C84B31"/>
                </a:solidFill>
                <a:latin typeface="Segoe UI"/>
              </a:rPr>
              <a:t>▪  </a:t>
            </a:r>
            <a:r>
              <a:rPr sz="1400" b="0" i="0">
                <a:solidFill>
                  <a:srgbClr val="1C2833"/>
                </a:solidFill>
                <a:latin typeface="Segoe UI"/>
              </a:rPr>
              <a:t>difference-in-differences</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parallel trends</a:t>
            </a:r>
          </a:p>
          <a:p>
            <a:pPr>
              <a:spcAft>
                <a:spcPts val="1100"/>
              </a:spcAft>
            </a:pPr>
            <a:r>
              <a:rPr sz="1400" b="0" i="0">
                <a:solidFill>
                  <a:srgbClr val="C84B31"/>
                </a:solidFill>
                <a:latin typeface="Segoe UI"/>
              </a:rPr>
              <a:t>▪  </a:t>
            </a:r>
            <a:r>
              <a:rPr sz="1400" b="0" i="0">
                <a:solidFill>
                  <a:srgbClr val="1C2833"/>
                </a:solidFill>
                <a:latin typeface="Segoe UI"/>
              </a:rPr>
              <a:t>interrupted time series</a:t>
            </a:r>
          </a:p>
          <a:p>
            <a:pPr>
              <a:spcAft>
                <a:spcPts val="1100"/>
              </a:spcAft>
            </a:pPr>
            <a:r>
              <a:rPr sz="1400" b="0" i="0">
                <a:solidFill>
                  <a:srgbClr val="C84B31"/>
                </a:solidFill>
                <a:latin typeface="Segoe UI"/>
              </a:rPr>
              <a:t>▪  </a:t>
            </a:r>
            <a:r>
              <a:rPr sz="1400" b="0" i="0">
                <a:solidFill>
                  <a:srgbClr val="1C2833"/>
                </a:solidFill>
                <a:latin typeface="Segoe UI"/>
              </a:rPr>
              <a:t>regression discontinuity</a:t>
            </a:r>
          </a:p>
          <a:p>
            <a:pPr>
              <a:spcAft>
                <a:spcPts val="1100"/>
              </a:spcAft>
            </a:pPr>
            <a:r>
              <a:rPr sz="1400" b="0" i="0">
                <a:solidFill>
                  <a:srgbClr val="C84B31"/>
                </a:solidFill>
                <a:latin typeface="Segoe UI"/>
              </a:rPr>
              <a:t>▪  </a:t>
            </a:r>
            <a:r>
              <a:rPr sz="1400" b="0" i="0">
                <a:solidFill>
                  <a:srgbClr val="1C2833"/>
                </a:solidFill>
                <a:latin typeface="Segoe UI"/>
              </a:rPr>
              <a:t>propensity score matching</a:t>
            </a:r>
          </a:p>
          <a:p>
            <a:pPr>
              <a:spcAft>
                <a:spcPts val="1100"/>
              </a:spcAft>
            </a:pPr>
            <a:r>
              <a:rPr sz="1400" b="0" i="0">
                <a:solidFill>
                  <a:srgbClr val="C84B31"/>
                </a:solidFill>
                <a:latin typeface="Segoe UI"/>
              </a:rPr>
              <a:t>▪  </a:t>
            </a:r>
            <a:r>
              <a:rPr sz="1400" b="0" i="0">
                <a:solidFill>
                  <a:srgbClr val="1C2833"/>
                </a:solidFill>
                <a:latin typeface="Segoe UI"/>
              </a:rPr>
              <a:t>instrumental variable</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natural experiment</a:t>
            </a:r>
          </a:p>
          <a:p>
            <a:pPr>
              <a:spcAft>
                <a:spcPts val="1100"/>
              </a:spcAft>
            </a:pPr>
            <a:r>
              <a:rPr sz="1400" b="0" i="0">
                <a:solidFill>
                  <a:srgbClr val="C84B31"/>
                </a:solidFill>
                <a:latin typeface="Segoe UI"/>
              </a:rPr>
              <a:t>▪  </a:t>
            </a:r>
            <a:r>
              <a:rPr sz="1400" b="0" i="0">
                <a:solidFill>
                  <a:srgbClr val="1C2833"/>
                </a:solidFill>
                <a:latin typeface="Segoe UI"/>
              </a:rPr>
              <a:t>mining software repositories</a:t>
            </a:r>
          </a:p>
          <a:p>
            <a:pPr>
              <a:spcAft>
                <a:spcPts val="1100"/>
              </a:spcAft>
            </a:pPr>
            <a:r>
              <a:rPr sz="1400" b="0" i="0">
                <a:solidFill>
                  <a:srgbClr val="C84B31"/>
                </a:solidFill>
                <a:latin typeface="Segoe UI"/>
              </a:rPr>
              <a:t>▪  </a:t>
            </a:r>
            <a:r>
              <a:rPr sz="1400" b="0" i="0">
                <a:solidFill>
                  <a:srgbClr val="1C2833"/>
                </a:solidFill>
                <a:latin typeface="Segoe UI"/>
              </a:rPr>
              <a:t>survivorship bias</a:t>
            </a:r>
          </a:p>
          <a:p>
            <a:pPr>
              <a:spcAft>
                <a:spcPts val="1100"/>
              </a:spcAft>
            </a:pPr>
            <a:r>
              <a:rPr sz="1400" b="0" i="0">
                <a:solidFill>
                  <a:srgbClr val="C84B31"/>
                </a:solidFill>
                <a:latin typeface="Segoe UI"/>
              </a:rPr>
              <a:t>▪  </a:t>
            </a:r>
            <a:r>
              <a:rPr sz="1400" b="0" i="0">
                <a:solidFill>
                  <a:srgbClr val="1C2833"/>
                </a:solidFill>
                <a:latin typeface="Segoe UI"/>
              </a:rPr>
              <a:t>tangled commit</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The Problem Is Selection, Not Size</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11</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Problem Is Selection, Not Size</a:t>
            </a:r>
          </a:p>
        </p:txBody>
      </p:sp>
      <p:sp>
        <p:nvSpPr>
          <p:cNvPr id="7" name="Rectangle 6"/>
          <p:cNvSpPr/>
          <p:nvPr/>
        </p:nvSpPr>
        <p:spPr>
          <a:xfrm>
            <a:off x="777240" y="2574036"/>
            <a:ext cx="54864" cy="1207008"/>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2574036"/>
            <a:ext cx="10381183" cy="1207008"/>
          </a:xfrm>
          <a:prstGeom prst="rect">
            <a:avLst/>
          </a:prstGeom>
          <a:noFill/>
        </p:spPr>
        <p:txBody>
          <a:bodyPr wrap="square" anchor="t" lIns="0" rIns="0" tIns="0" bIns="0">
            <a:spAutoFit/>
          </a:bodyPr>
          <a:lstStyle/>
          <a:p>
            <a:pPr>
              <a:spcAft>
                <a:spcPts val="400"/>
              </a:spcAft>
            </a:pPr>
            <a:r>
              <a:rPr sz="1000" b="1" i="0">
                <a:solidFill>
                  <a:srgbClr val="C84B31"/>
                </a:solidFill>
                <a:latin typeface="Segoe UI"/>
              </a:rPr>
              <a:t>DEFINITION   </a:t>
            </a:r>
            <a:r>
              <a:rPr sz="1700" b="1" i="0">
                <a:solidFill>
                  <a:srgbClr val="0E4D64"/>
                </a:solidFill>
                <a:latin typeface="Segoe UI"/>
              </a:rPr>
              <a:t>The selection problem</a:t>
            </a:r>
          </a:p>
          <a:p>
            <a:r>
              <a:rPr sz="1400" b="0" i="0">
                <a:solidFill>
                  <a:srgbClr val="1C2833"/>
                </a:solidFill>
                <a:latin typeface="Segoe UI"/>
              </a:rPr>
              <a:t>When units choose their own treatment, the treated and untreated groups differ in every respect that influenced the choice — including respects you cannot observe.</a:t>
            </a:r>
          </a:p>
        </p:txBody>
      </p:sp>
      <p:sp>
        <p:nvSpPr>
          <p:cNvPr id="9" name="Rectangle 8"/>
          <p:cNvSpPr/>
          <p:nvPr/>
        </p:nvSpPr>
        <p:spPr>
          <a:xfrm>
            <a:off x="777240" y="399135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33272" y="399135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What an identification strategy is</a:t>
            </a:r>
          </a:p>
          <a:p>
            <a:r>
              <a:rPr sz="1400" b="0" i="0">
                <a:solidFill>
                  <a:srgbClr val="1C2833"/>
                </a:solidFill>
                <a:latin typeface="Segoe UI"/>
              </a:rPr>
              <a:t>An identification strategy is an argument — not a statistical technique — that the comparison you are making approximates the counterfactual: what would have happened to the treated units had they not been treated.</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The Problem Is Selection, Not Size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3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Four Strategies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11</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Four Strategies</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Matching is the weakest of the four, and the most used</a:t>
            </a:r>
          </a:p>
          <a:p>
            <a:r>
              <a:rPr sz="1400" b="0" i="0">
                <a:solidFill>
                  <a:srgbClr val="1C2833"/>
                </a:solidFill>
                <a:latin typeface="Segoe UI"/>
              </a:rPr>
              <a:t>Propensity score matching is popular because it is easy to run and produces balanced-looking tables. But it only balances what you measured.</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Strategies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Mining Software Repositories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11</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Mining Software Repositories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r>
              <a:rPr sz="1400" b="0" i="0">
                <a:solidFill>
                  <a:srgbClr val="1C2833"/>
                </a:solidFill>
                <a:latin typeface="Segoe UI"/>
              </a:rPr>
              <a:t>Software development leaves an unusually rich trace: version control, issue trackers, code review, CI logs, package registries. Mining it is cheap, scales to thousands of projects, and is entirely unobtrusive. It is also, as data, far messier than it appears.</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Mining Software Repositories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When May You Say “Causes”?</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3 · CH. 11</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When May You Say “Causes”?</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The title is part of the claim</a:t>
            </a:r>
          </a:p>
          <a:p>
            <a:r>
              <a:rPr sz="1400" b="0" i="0">
                <a:solidFill>
                  <a:srgbClr val="1C2833"/>
                </a:solidFill>
                <a:latin typeface="Segoe UI"/>
              </a:rPr>
              <a:t>A paper whose body carefully says “associated with” and whose title says “improves” has made a causal claim. Titles are what get read, cited and repeated.</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When May You Say “Causes”?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WORKED EXAMPLE</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Repairing the static analysis study</a:t>
            </a:r>
          </a:p>
        </p:txBody>
      </p:sp>
      <p:sp>
        <p:nvSpPr>
          <p:cNvPr id="7" name="Rectangle 6"/>
          <p:cNvSpPr/>
          <p:nvPr/>
        </p:nvSpPr>
        <p:spPr>
          <a:xfrm>
            <a:off x="777240" y="3040380"/>
            <a:ext cx="10637215" cy="1234440"/>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3040380"/>
            <a:ext cx="64008" cy="123444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3241548"/>
            <a:ext cx="9997135" cy="832104"/>
          </a:xfrm>
          <a:prstGeom prst="rect">
            <a:avLst/>
          </a:prstGeom>
          <a:noFill/>
        </p:spPr>
        <p:txBody>
          <a:bodyPr wrap="square" anchor="t" lIns="0" rIns="0" tIns="0" bIns="0">
            <a:spAutoFit/>
          </a:bodyPr>
          <a:lstStyle/>
          <a:p>
            <a:pPr>
              <a:spcAft>
                <a:spcPts val="1000"/>
              </a:spcAft>
            </a:pPr>
            <a:r>
              <a:rPr sz="1500" b="0" i="0">
                <a:solidFill>
                  <a:srgbClr val="1C2833"/>
                </a:solidFill>
                <a:latin typeface="Segoe UI"/>
              </a:rPr>
              <a:t>Ch. 8 appraised a constructed paper claiming that adopting static analysis reduces post-release defects, comparing 100 adopting projects with 100 non-adopting ones. The design supports association only.</a:t>
            </a:r>
          </a:p>
        </p:txBody>
      </p:sp>
      <p:sp>
        <p:nvSpPr>
          <p:cNvPr id="10" name="TextBox 9"/>
          <p:cNvSpPr txBox="1"/>
          <p:nvPr/>
        </p:nvSpPr>
        <p:spPr>
          <a:xfrm>
            <a:off x="777240" y="4421124"/>
            <a:ext cx="10637215" cy="365760"/>
          </a:xfrm>
          <a:prstGeom prst="rect">
            <a:avLst/>
          </a:prstGeom>
          <a:noFill/>
        </p:spPr>
        <p:txBody>
          <a:bodyPr wrap="square" anchor="t" lIns="0" rIns="0" tIns="0" bIns="0">
            <a:spAutoFit/>
          </a:bodyPr>
          <a:lstStyle/>
          <a:p>
            <a:r>
              <a:rPr sz="1100" b="0" i="1">
                <a:solidFill>
                  <a:srgbClr val="707B7C"/>
                </a:solidFill>
                <a:latin typeface="Segoe UI"/>
              </a:rPr>
              <a:t>Constructed for teaching — the numbers are invented, as in the handout.</a:t>
            </a:r>
          </a:p>
        </p:txBody>
      </p:sp>
      <p:sp>
        <p:nvSpPr>
          <p:cNvPr id="11" name="Rectangle 10"/>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3" name="TextBox 12"/>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Worked example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400"/>
                                        <p:tgtEl>
                                          <p:spTgt spid="7"/>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350"/>
                                        <p:tgtEl>
                                          <p:spTgt spid="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Generalising from GitHub to software engineering</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0" i="0">
                <a:solidFill>
                  <a:srgbClr val="1C2833"/>
                </a:solidFill>
                <a:latin typeface="Segoe UI"/>
              </a:rPr>
              <a:t>Open-source projects on one platform are not a random sample of software development. They differ in ownership, incentives, review practice, team stability and above all…</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observational study</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The natural home. The entire methodological effort goes into constructing a credible counterfactual, and the reporting standard is that a reader can judge the identifying assumption for themselves.</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Repository data characterises the problem space before an artefact is designed, and can supply the naturalistic evaluation baseline afterwards.</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Trace data shows what happened but never why. Pairing mining with interviews of the developers involved is one of the strongest mixed designs available in our field (Ch.</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Treats the artefacts as formal objects — dependency graphs, call graphs, change histories — where properties can be computed exactly rather than estimated.</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The obstacle in observational research is selection, not sample size. Precision does not fix bias.</a:t>
            </a:r>
          </a:p>
          <a:p>
            <a:pPr>
              <a:spcAft>
                <a:spcPts val="1400"/>
              </a:spcAft>
            </a:pPr>
            <a:r>
              <a:rPr sz="1500" b="1" i="0">
                <a:solidFill>
                  <a:srgbClr val="C84B31"/>
                </a:solidFill>
                <a:latin typeface="Segoe UI"/>
              </a:rPr>
              <a:t>2. </a:t>
            </a:r>
            <a:r>
              <a:rPr sz="1500" b="0" i="0">
                <a:solidFill>
                  <a:srgbClr val="1C2833"/>
                </a:solidFill>
                <a:latin typeface="Segoe UI"/>
              </a:rPr>
              <a:t>An identification strategy is an argument about a counterfactual, and every one rests on an untestable assumption. State it, defend it, and say what happens if it…</a:t>
            </a:r>
          </a:p>
          <a:p>
            <a:pPr>
              <a:spcAft>
                <a:spcPts val="1400"/>
              </a:spcAft>
            </a:pPr>
            <a:r>
              <a:rPr sz="1500" b="1" i="0">
                <a:solidFill>
                  <a:srgbClr val="C84B31"/>
                </a:solidFill>
                <a:latin typeface="Segoe UI"/>
              </a:rPr>
              <a:t>3. </a:t>
            </a:r>
            <a:r>
              <a:rPr sz="1500" b="0" i="0">
                <a:solidFill>
                  <a:srgbClr val="1C2833"/>
                </a:solidFill>
                <a:latin typeface="Segoe UI"/>
              </a:rPr>
              <a:t>Prefer difference-in-differences where a before and after exist: it removes all time-invariant unmeasured differences. Matching removes only what you measured.</a:t>
            </a:r>
          </a:p>
          <a:p>
            <a:pPr>
              <a:spcAft>
                <a:spcPts val="1400"/>
              </a:spcAft>
            </a:pPr>
            <a:r>
              <a:rPr sz="1500" b="1" i="0">
                <a:solidFill>
                  <a:srgbClr val="C84B31"/>
                </a:solidFill>
                <a:latin typeface="Segoe UI"/>
              </a:rPr>
              <a:t>4. </a:t>
            </a:r>
            <a:r>
              <a:rPr sz="1500" b="0" i="0">
                <a:solidFill>
                  <a:srgbClr val="1C2833"/>
                </a:solidFill>
                <a:latin typeface="Segoe UI"/>
              </a:rPr>
              <a:t>Repository data is cheap and scales, and carries specific known threats — non-projects, survivorship, tangled commits, bots, missing links, label semantics. Handle…</a:t>
            </a:r>
          </a:p>
          <a:p>
            <a:pPr>
              <a:spcAft>
                <a:spcPts val="1400"/>
              </a:spcAft>
            </a:pPr>
            <a:r>
              <a:rPr sz="1500" b="1" i="0">
                <a:solidFill>
                  <a:srgbClr val="C84B31"/>
                </a:solidFill>
                <a:latin typeface="Segoe UI"/>
              </a:rPr>
              <a:t>5. </a:t>
            </a:r>
            <a:r>
              <a:rPr sz="1500" b="0" i="0">
                <a:solidFill>
                  <a:srgbClr val="1C2833"/>
                </a:solidFill>
                <a:latin typeface="Segoe UI"/>
              </a:rPr>
              <a:t>GitHub is not a sample of software engineering. State the population your inference actually reaches.</a:t>
            </a:r>
          </a:p>
          <a:p>
            <a:pPr>
              <a:spcAft>
                <a:spcPts val="1400"/>
              </a:spcAft>
            </a:pPr>
            <a:r>
              <a:rPr sz="1500" b="1" i="0">
                <a:solidFill>
                  <a:srgbClr val="C84B31"/>
                </a:solidFill>
                <a:latin typeface="Segoe UI"/>
              </a:rPr>
              <a:t>6. </a:t>
            </a:r>
            <a:r>
              <a:rPr sz="1500" b="0" i="0">
                <a:solidFill>
                  <a:srgbClr val="1C2833"/>
                </a:solidFill>
                <a:latin typeface="Segoe UI"/>
              </a:rPr>
              <a:t>Match the causal strength of your language — in the title as well as the text — to the design.</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Parallel trends cannot be verified for the post-treatment period, only made plausible for the pre-treatment period. Does this make difference-in-differences unscientific? Answer with…</a:t>
            </a:r>
          </a:p>
          <a:p>
            <a:pPr>
              <a:spcAft>
                <a:spcPts val="1800"/>
              </a:spcAft>
            </a:pPr>
            <a:r>
              <a:rPr sz="1500" b="1" i="0">
                <a:solidFill>
                  <a:srgbClr val="C84B31"/>
                </a:solidFill>
                <a:latin typeface="Segoe UI"/>
              </a:rPr>
              <a:t>Q2  </a:t>
            </a:r>
            <a:r>
              <a:rPr sz="1500" b="0" i="0">
                <a:solidFill>
                  <a:srgbClr val="1C2833"/>
                </a:solidFill>
                <a:latin typeface="Segoe UI"/>
              </a:rPr>
              <a:t>Mining studies routinely analyse thousands of projects and report very small p-values. Explain why this is not reassuring, and what should be reported instead.</a:t>
            </a:r>
          </a:p>
          <a:p>
            <a:pPr>
              <a:spcAft>
                <a:spcPts val="1800"/>
              </a:spcAft>
            </a:pPr>
            <a:r>
              <a:rPr sz="1500" b="1" i="0">
                <a:solidFill>
                  <a:srgbClr val="C84B31"/>
                </a:solidFill>
                <a:latin typeface="Segoe UI"/>
              </a:rPr>
              <a:t>Q3  </a:t>
            </a:r>
            <a:r>
              <a:rPr sz="1500" b="0" i="0">
                <a:solidFill>
                  <a:srgbClr val="1C2833"/>
                </a:solidFill>
                <a:latin typeface="Segoe UI"/>
              </a:rPr>
              <a:t>Design a natural experiment in software engineering: identify a real event that assigned something close to randomly, and say what it could identify.</a:t>
            </a:r>
          </a:p>
          <a:p>
            <a:pPr>
              <a:spcAft>
                <a:spcPts val="1800"/>
              </a:spcAft>
            </a:pPr>
            <a:r>
              <a:rPr sz="1500" b="1" i="0">
                <a:solidFill>
                  <a:srgbClr val="C84B31"/>
                </a:solidFill>
                <a:latin typeface="Segoe UI"/>
              </a:rPr>
              <a:t>Q4  </a:t>
            </a:r>
            <a:r>
              <a:rPr sz="1500" b="0" i="0">
                <a:solidFill>
                  <a:srgbClr val="1C2833"/>
                </a:solidFill>
                <a:latin typeface="Segoe UI"/>
              </a:rPr>
              <a:t>Industrial software leaves little public trace, so the mining literature describes open source. What does this systematically distort in the field's collective picture of software…</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11 · Quasi-Experiments and Repository Mining</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11</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12 — Case Study Research</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