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6</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Snowballing, Scoping Reviews and Grey Literature</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2 — Finding and Synthesising Knowledge</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Conduct </a:t>
            </a:r>
            <a:r>
              <a:rPr sz="1700" b="0" i="0">
                <a:solidFill>
                  <a:srgbClr val="1C2833"/>
                </a:solidFill>
                <a:latin typeface="Segoe UI"/>
              </a:rPr>
              <a:t>backward and forward snowballing from a defensible start set, and state a stopping rule.</a:t>
            </a:r>
          </a:p>
          <a:p>
            <a:pPr>
              <a:spcAft>
                <a:spcPts val="1400"/>
              </a:spcAft>
            </a:pPr>
            <a:r>
              <a:rPr sz="1700" b="1" i="0">
                <a:solidFill>
                  <a:srgbClr val="C84B31"/>
                </a:solidFill>
                <a:latin typeface="Segoe UI"/>
              </a:rPr>
              <a:t>▸  </a:t>
            </a:r>
            <a:r>
              <a:rPr sz="1700" b="1" i="0">
                <a:solidFill>
                  <a:srgbClr val="0E4D64"/>
                </a:solidFill>
                <a:latin typeface="Segoe UI"/>
              </a:rPr>
              <a:t>Choose </a:t>
            </a:r>
            <a:r>
              <a:rPr sz="1700" b="0" i="0">
                <a:solidFill>
                  <a:srgbClr val="1C2833"/>
                </a:solidFill>
                <a:latin typeface="Segoe UI"/>
              </a:rPr>
              <a:t>between a systematic review, a scoping review, a rapid review and a multivocal review.</a:t>
            </a:r>
          </a:p>
          <a:p>
            <a:pPr>
              <a:spcAft>
                <a:spcPts val="1400"/>
              </a:spcAft>
            </a:pPr>
            <a:r>
              <a:rPr sz="1700" b="1" i="0">
                <a:solidFill>
                  <a:srgbClr val="C84B31"/>
                </a:solidFill>
                <a:latin typeface="Segoe UI"/>
              </a:rPr>
              <a:t>▸  </a:t>
            </a:r>
            <a:r>
              <a:rPr sz="1700" b="1" i="0">
                <a:solidFill>
                  <a:srgbClr val="0E4D64"/>
                </a:solidFill>
                <a:latin typeface="Segoe UI"/>
              </a:rPr>
              <a:t>Justify </a:t>
            </a:r>
            <a:r>
              <a:rPr sz="1700" b="0" i="0">
                <a:solidFill>
                  <a:srgbClr val="1C2833"/>
                </a:solidFill>
                <a:latin typeface="Segoe UI"/>
              </a:rPr>
              <a:t>the inclusion of grey literature, and appraise it with criteria designed for it.</a:t>
            </a:r>
          </a:p>
          <a:p>
            <a:pPr>
              <a:spcAft>
                <a:spcPts val="1400"/>
              </a:spcAft>
            </a:pPr>
            <a:r>
              <a:rPr sz="1700" b="1" i="0">
                <a:solidFill>
                  <a:srgbClr val="C84B31"/>
                </a:solidFill>
                <a:latin typeface="Segoe UI"/>
              </a:rPr>
              <a:t>▸  </a:t>
            </a:r>
            <a:r>
              <a:rPr sz="1700" b="1" i="0">
                <a:solidFill>
                  <a:srgbClr val="0E4D64"/>
                </a:solidFill>
                <a:latin typeface="Segoe UI"/>
              </a:rPr>
              <a:t>Explain </a:t>
            </a:r>
            <a:r>
              <a:rPr sz="1700" b="0" i="0">
                <a:solidFill>
                  <a:srgbClr val="1C2833"/>
                </a:solidFill>
                <a:latin typeface="Segoe UI"/>
              </a:rPr>
              <a:t>how publication bias distorts a database-only search, and what partially corrects it.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snowballing</a:t>
            </a:r>
          </a:p>
          <a:p>
            <a:pPr>
              <a:spcAft>
                <a:spcPts val="1100"/>
              </a:spcAft>
            </a:pPr>
            <a:r>
              <a:rPr sz="1400" b="0" i="0">
                <a:solidFill>
                  <a:srgbClr val="C84B31"/>
                </a:solidFill>
                <a:latin typeface="Segoe UI"/>
              </a:rPr>
              <a:t>▪  </a:t>
            </a:r>
            <a:r>
              <a:rPr sz="1400" b="0" i="0">
                <a:solidFill>
                  <a:srgbClr val="1C2833"/>
                </a:solidFill>
                <a:latin typeface="Segoe UI"/>
              </a:rPr>
              <a:t>backward and forward snowballing</a:t>
            </a:r>
          </a:p>
          <a:p>
            <a:pPr>
              <a:spcAft>
                <a:spcPts val="1100"/>
              </a:spcAft>
            </a:pPr>
            <a:r>
              <a:rPr sz="1400" b="0" i="0">
                <a:solidFill>
                  <a:srgbClr val="C84B31"/>
                </a:solidFill>
                <a:latin typeface="Segoe UI"/>
              </a:rPr>
              <a:t>▪  </a:t>
            </a:r>
            <a:r>
              <a:rPr sz="1400" b="0" i="0">
                <a:solidFill>
                  <a:srgbClr val="1C2833"/>
                </a:solidFill>
                <a:latin typeface="Segoe UI"/>
              </a:rPr>
              <a:t>start set</a:t>
            </a:r>
          </a:p>
          <a:p>
            <a:pPr>
              <a:spcAft>
                <a:spcPts val="1100"/>
              </a:spcAft>
            </a:pPr>
            <a:r>
              <a:rPr sz="1400" b="0" i="0">
                <a:solidFill>
                  <a:srgbClr val="C84B31"/>
                </a:solidFill>
                <a:latin typeface="Segoe UI"/>
              </a:rPr>
              <a:t>▪  </a:t>
            </a:r>
            <a:r>
              <a:rPr sz="1400" b="0" i="0">
                <a:solidFill>
                  <a:srgbClr val="1C2833"/>
                </a:solidFill>
                <a:latin typeface="Segoe UI"/>
              </a:rPr>
              <a:t>scoping review</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rapid review</a:t>
            </a:r>
          </a:p>
          <a:p>
            <a:pPr>
              <a:spcAft>
                <a:spcPts val="1100"/>
              </a:spcAft>
            </a:pPr>
            <a:r>
              <a:rPr sz="1400" b="0" i="0">
                <a:solidFill>
                  <a:srgbClr val="C84B31"/>
                </a:solidFill>
                <a:latin typeface="Segoe UI"/>
              </a:rPr>
              <a:t>▪  </a:t>
            </a:r>
            <a:r>
              <a:rPr sz="1400" b="0" i="0">
                <a:solidFill>
                  <a:srgbClr val="1C2833"/>
                </a:solidFill>
                <a:latin typeface="Segoe UI"/>
              </a:rPr>
              <a:t>grey literature</a:t>
            </a:r>
          </a:p>
          <a:p>
            <a:pPr>
              <a:spcAft>
                <a:spcPts val="1100"/>
              </a:spcAft>
            </a:pPr>
            <a:r>
              <a:rPr sz="1400" b="0" i="0">
                <a:solidFill>
                  <a:srgbClr val="C84B31"/>
                </a:solidFill>
                <a:latin typeface="Segoe UI"/>
              </a:rPr>
              <a:t>▪  </a:t>
            </a:r>
            <a:r>
              <a:rPr sz="1400" b="0" i="0">
                <a:solidFill>
                  <a:srgbClr val="1C2833"/>
                </a:solidFill>
                <a:latin typeface="Segoe UI"/>
              </a:rPr>
              <a:t>multivocal literature review</a:t>
            </a:r>
          </a:p>
          <a:p>
            <a:pPr>
              <a:spcAft>
                <a:spcPts val="1100"/>
              </a:spcAft>
            </a:pPr>
            <a:r>
              <a:rPr sz="1400" b="0" i="0">
                <a:solidFill>
                  <a:srgbClr val="C84B31"/>
                </a:solidFill>
                <a:latin typeface="Segoe UI"/>
              </a:rPr>
              <a:t>▪  </a:t>
            </a:r>
            <a:r>
              <a:rPr sz="1400" b="0" i="0">
                <a:solidFill>
                  <a:srgbClr val="1C2833"/>
                </a:solidFill>
                <a:latin typeface="Segoe UI"/>
              </a:rPr>
              <a:t>publication bias</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file drawer problem</a:t>
            </a:r>
          </a:p>
          <a:p>
            <a:pPr>
              <a:spcAft>
                <a:spcPts val="1100"/>
              </a:spcAft>
            </a:pPr>
            <a:r>
              <a:rPr sz="1400" b="0" i="0">
                <a:solidFill>
                  <a:srgbClr val="C84B31"/>
                </a:solidFill>
                <a:latin typeface="Segoe UI"/>
              </a:rPr>
              <a:t>▪  </a:t>
            </a:r>
            <a:r>
              <a:rPr sz="1400" b="0" i="0">
                <a:solidFill>
                  <a:srgbClr val="1C2833"/>
                </a:solidFill>
                <a:latin typeface="Segoe UI"/>
              </a:rPr>
              <a:t>saturation of search</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Why the Database Search Is Never Enough</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6</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Why the Database Search Is Never Enough</a:t>
            </a:r>
          </a:p>
        </p:txBody>
      </p:sp>
      <p:sp>
        <p:nvSpPr>
          <p:cNvPr id="7" name="Rectangle 6"/>
          <p:cNvSpPr/>
          <p:nvPr/>
        </p:nvSpPr>
        <p:spPr>
          <a:xfrm>
            <a:off x="777240" y="257403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257403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DEFINITION   </a:t>
            </a:r>
            <a:r>
              <a:rPr sz="1700" b="1" i="0">
                <a:solidFill>
                  <a:srgbClr val="0E4D64"/>
                </a:solidFill>
                <a:latin typeface="Segoe UI"/>
              </a:rPr>
              <a:t>Backward and forward snowballing</a:t>
            </a:r>
          </a:p>
          <a:p>
            <a:r>
              <a:rPr sz="1400" b="0" i="0">
                <a:solidFill>
                  <a:srgbClr val="1C2833"/>
                </a:solidFill>
                <a:latin typeface="Segoe UI"/>
              </a:rPr>
              <a:t>Backward snowballing follows the reference list of an included paper to find earlier work it drew on. Forward snowballing finds later papers that cite it, using Google Scholar, Scopus or Semantic Scholar.</a:t>
            </a:r>
          </a:p>
        </p:txBody>
      </p:sp>
      <p:sp>
        <p:nvSpPr>
          <p:cNvPr id="9" name="Rectangle 8"/>
          <p:cNvSpPr/>
          <p:nvPr/>
        </p:nvSpPr>
        <p:spPr>
          <a:xfrm>
            <a:off x="777240" y="399135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33272" y="399135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Reading the citation context is the trick</a:t>
            </a:r>
          </a:p>
          <a:p>
            <a:r>
              <a:rPr sz="1400" b="0" i="0">
                <a:solidFill>
                  <a:srgbClr val="1C2833"/>
                </a:solidFill>
                <a:latin typeface="Segoe UI"/>
              </a:rPr>
              <a:t>The single most useful habit in snowballing: do not screen a reference by its title. Screen it by what the citing paper says about it.</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Why the Database Search Is Never Enough</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Four Kinds of Review, and When Each Is Right</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6</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Four Kinds of Review, and When Each Is Right</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A rapid review is legitimate; a sloppy review called rapid is not</a:t>
            </a:r>
          </a:p>
          <a:p>
            <a:r>
              <a:rPr sz="1400" b="0" i="0">
                <a:solidFill>
                  <a:srgbClr val="1C2833"/>
                </a:solidFill>
                <a:latin typeface="Segoe UI"/>
              </a:rPr>
              <a:t>Rapid reviews shorten the process deliberately and say exactly where. Acceptable shortcuts: fewer databases, a restricted date range, single screening with a sampled check, no formal quality scoring.</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Kinds of Review, and When Each Is Right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Grey Literature</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6</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Grey Literature</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Grey literature is everything produced outside commercial and academic publishing: technical reports, standards, white papers, engineering blogs, conference talks, documentation, Stack Overflow, theses, and preprints. For large parts of computing this is not a marginal supplement.</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Grey Literature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Publication Bias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6</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Publication Bias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What you can actually do about it</a:t>
            </a:r>
          </a:p>
          <a:p>
            <a:r>
              <a:rPr sz="1400" b="0" i="0">
                <a:solidFill>
                  <a:srgbClr val="1C2833"/>
                </a:solidFill>
                <a:latin typeface="Segoe UI"/>
              </a:rPr>
              <a:t>tightnum Search for the unpublished. Theses, technical reports and preprints are where negative results in computing usually end up.</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Publication Bias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Three ways grey literature is misused</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1" i="0">
                <a:solidFill>
                  <a:srgbClr val="0E4D64"/>
                </a:solidFill>
                <a:latin typeface="Segoe UI"/>
              </a:rPr>
              <a:t>Cited as if it were a study. </a:t>
            </a:r>
            <a:r>
              <a:rPr sz="1500" b="0" i="0">
                <a:solidFill>
                  <a:srgbClr val="1C2833"/>
                </a:solidFill>
                <a:latin typeface="Segoe UI"/>
              </a:rPr>
              <a:t>“Blogs report that microservices improve scalability [17]” treats an opinion as a finding. Attribute it: “a practitioner account…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extending the search</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Snowballing improves coverage of comparable studies; grey literature matters mainly as a source of unpublished nulls and of effect sizes omitted from published abstracts.</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Practitioner sources often are the state of the art. Design knowledge frequently appears first in engineering blogs and standards, and a DSR review that ignores them misdescribes the problem space.</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Practitioner writing is data about how a community understands its own work, and can be analysed as documents rather than merely cited as evidence.</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Snowballing is the primary method: results are connected by citation far more reliably than by keyword, and terminology in theory papers is comparatively stable.</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Boolean search matches terminology; snowballing follows what authors themselves judged relevant. Use both, and report the yield of each.</a:t>
            </a:r>
          </a:p>
          <a:p>
            <a:pPr>
              <a:spcAft>
                <a:spcPts val="1400"/>
              </a:spcAft>
            </a:pPr>
            <a:r>
              <a:rPr sz="1500" b="1" i="0">
                <a:solidFill>
                  <a:srgbClr val="C84B31"/>
                </a:solidFill>
                <a:latin typeface="Segoe UI"/>
              </a:rPr>
              <a:t>2. </a:t>
            </a:r>
            <a:r>
              <a:rPr sz="1500" b="0" i="0">
                <a:solidFill>
                  <a:srgbClr val="1C2833"/>
                </a:solidFill>
                <a:latin typeface="Segoe UI"/>
              </a:rPr>
              <a:t>Screen references by citation context, not by title.</a:t>
            </a:r>
          </a:p>
          <a:p>
            <a:pPr>
              <a:spcAft>
                <a:spcPts val="1400"/>
              </a:spcAft>
            </a:pPr>
            <a:r>
              <a:rPr sz="1500" b="1" i="0">
                <a:solidFill>
                  <a:srgbClr val="C84B31"/>
                </a:solidFill>
                <a:latin typeface="Segoe UI"/>
              </a:rPr>
              <a:t>3. </a:t>
            </a:r>
            <a:r>
              <a:rPr sz="1500" b="0" i="0">
                <a:solidFill>
                  <a:srgbClr val="1C2833"/>
                </a:solidFill>
                <a:latin typeface="Segoe UI"/>
              </a:rPr>
              <a:t>Mapping, scoping, rapid and multivocal reviews are legitimate types with different purposes. Speed is bought from coverage, never from transparency.</a:t>
            </a:r>
          </a:p>
          <a:p>
            <a:pPr>
              <a:spcAft>
                <a:spcPts val="1400"/>
              </a:spcAft>
            </a:pPr>
            <a:r>
              <a:rPr sz="1500" b="1" i="0">
                <a:solidFill>
                  <a:srgbClr val="C84B31"/>
                </a:solidFill>
                <a:latin typeface="Segoe UI"/>
              </a:rPr>
              <a:t>4. </a:t>
            </a:r>
            <a:r>
              <a:rPr sz="1500" b="0" i="0">
                <a:solidFill>
                  <a:srgbClr val="1C2833"/>
                </a:solidFill>
                <a:latin typeface="Segoe UI"/>
              </a:rPr>
              <a:t>In practice-led computing topics grey literature is not a supplement; excluding it describes a different world.</a:t>
            </a:r>
          </a:p>
          <a:p>
            <a:pPr>
              <a:spcAft>
                <a:spcPts val="1400"/>
              </a:spcAft>
            </a:pPr>
            <a:r>
              <a:rPr sz="1500" b="1" i="0">
                <a:solidFill>
                  <a:srgbClr val="C84B31"/>
                </a:solidFill>
                <a:latin typeface="Segoe UI"/>
              </a:rPr>
              <a:t>5. </a:t>
            </a:r>
            <a:r>
              <a:rPr sz="1500" b="0" i="0">
                <a:solidFill>
                  <a:srgbClr val="1C2833"/>
                </a:solidFill>
                <a:latin typeface="Segoe UI"/>
              </a:rPr>
              <a:t>Appraise grey sources on authority, methodology, objectivity, date, novelty, impact and outlet tier — and archive them, or they will vanish.</a:t>
            </a:r>
          </a:p>
          <a:p>
            <a:pPr>
              <a:spcAft>
                <a:spcPts val="1400"/>
              </a:spcAft>
            </a:pPr>
            <a:r>
              <a:rPr sz="1500" b="1" i="0">
                <a:solidFill>
                  <a:srgbClr val="C84B31"/>
                </a:solidFill>
                <a:latin typeface="Segoe UI"/>
              </a:rPr>
              <a:t>6. </a:t>
            </a:r>
            <a:r>
              <a:rPr sz="1500" b="0" i="0">
                <a:solidFill>
                  <a:srgbClr val="1C2833"/>
                </a:solidFill>
                <a:latin typeface="Segoe UI"/>
              </a:rPr>
              <a:t>Publication bias means the findable literature is not the research done. Search for theses and preprints, look at the shape of the evidence, declare the limitation…</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Wohlin reports snowballing producing results comparable to database search. If that is so, why do guidelines still require the database search? Give the strongest argument for keeping both.</a:t>
            </a:r>
          </a:p>
          <a:p>
            <a:pPr>
              <a:spcAft>
                <a:spcPts val="1800"/>
              </a:spcAft>
            </a:pPr>
            <a:r>
              <a:rPr sz="1500" b="1" i="0">
                <a:solidFill>
                  <a:srgbClr val="C84B31"/>
                </a:solidFill>
                <a:latin typeface="Segoe UI"/>
              </a:rPr>
              <a:t>Q2  </a:t>
            </a:r>
            <a:r>
              <a:rPr sz="1500" b="0" i="0">
                <a:solidFill>
                  <a:srgbClr val="1C2833"/>
                </a:solidFill>
                <a:latin typeface="Segoe UI"/>
              </a:rPr>
              <a:t>Grey literature inclusion is contested: critics say it imports unreviewed claims into the evidence base. Argue the case against inclusion as strongly as you can, then say what would answer…</a:t>
            </a:r>
          </a:p>
          <a:p>
            <a:pPr>
              <a:spcAft>
                <a:spcPts val="1800"/>
              </a:spcAft>
            </a:pPr>
            <a:r>
              <a:rPr sz="1500" b="1" i="0">
                <a:solidFill>
                  <a:srgbClr val="C84B31"/>
                </a:solidFill>
                <a:latin typeface="Segoe UI"/>
              </a:rPr>
              <a:t>Q3  </a:t>
            </a:r>
            <a:r>
              <a:rPr sz="1500" b="0" i="0">
                <a:solidFill>
                  <a:srgbClr val="1C2833"/>
                </a:solidFill>
                <a:latin typeface="Segoe UI"/>
              </a:rPr>
              <a:t>Computing has no trial registry. Design one that could plausibly be adopted by a software engineering conference, and identify the incentive problem that would most likely defeat it.</a:t>
            </a:r>
          </a:p>
          <a:p>
            <a:pPr>
              <a:spcAft>
                <a:spcPts val="1800"/>
              </a:spcAft>
            </a:pPr>
            <a:r>
              <a:rPr sz="1500" b="1" i="0">
                <a:solidFill>
                  <a:srgbClr val="C84B31"/>
                </a:solidFill>
                <a:latin typeface="Segoe UI"/>
              </a:rPr>
              <a:t>Q4  </a:t>
            </a:r>
            <a:r>
              <a:rPr sz="1500" b="0" i="0">
                <a:solidFill>
                  <a:srgbClr val="1C2833"/>
                </a:solidFill>
                <a:latin typeface="Segoe UI"/>
              </a:rPr>
              <a:t>A multivocal review finds that practitioners and researchers disagree about whether a technique works. Is that a limitation of the review, or a finding? Defend your answer.</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6 · Snowballing, Scoping Reviews and Grey Literature</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6</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7 — Reference Management and Bibliometrics</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