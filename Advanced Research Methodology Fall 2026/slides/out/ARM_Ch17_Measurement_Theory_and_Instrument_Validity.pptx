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985455" y="0"/>
            <a:ext cx="4206240"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05840" y="1371600"/>
            <a:ext cx="6766560" cy="365760"/>
          </a:xfrm>
          <a:prstGeom prst="rect">
            <a:avLst/>
          </a:prstGeom>
          <a:noFill/>
        </p:spPr>
        <p:txBody>
          <a:bodyPr wrap="square" anchor="t" lIns="0" rIns="0" tIns="0" bIns="0">
            <a:spAutoFit/>
          </a:bodyPr>
          <a:lstStyle/>
          <a:p>
            <a:r>
              <a:rPr sz="1400" b="1" i="0">
                <a:solidFill>
                  <a:srgbClr val="E8F6F3"/>
                </a:solidFill>
                <a:latin typeface="Segoe UI"/>
              </a:rPr>
              <a:t>CHAPTER 17</a:t>
            </a:r>
          </a:p>
        </p:txBody>
      </p:sp>
      <p:sp>
        <p:nvSpPr>
          <p:cNvPr id="6" name="TextBox 5"/>
          <p:cNvSpPr txBox="1"/>
          <p:nvPr/>
        </p:nvSpPr>
        <p:spPr>
          <a:xfrm>
            <a:off x="1005840" y="1828800"/>
            <a:ext cx="6675120" cy="2194560"/>
          </a:xfrm>
          <a:prstGeom prst="rect">
            <a:avLst/>
          </a:prstGeom>
          <a:noFill/>
        </p:spPr>
        <p:txBody>
          <a:bodyPr wrap="square" anchor="t" lIns="0" rIns="0" tIns="0" bIns="0">
            <a:spAutoFit/>
          </a:bodyPr>
          <a:lstStyle/>
          <a:p>
            <a:r>
              <a:rPr sz="4000" b="1" i="0">
                <a:solidFill>
                  <a:srgbClr val="FFFFFF"/>
                </a:solidFill>
                <a:latin typeface="Georgia"/>
              </a:rPr>
              <a:t>Measurement Theory and Instrument Validity</a:t>
            </a:r>
          </a:p>
        </p:txBody>
      </p:sp>
      <p:sp>
        <p:nvSpPr>
          <p:cNvPr id="7" name="Rectangle 6"/>
          <p:cNvSpPr/>
          <p:nvPr/>
        </p:nvSpPr>
        <p:spPr>
          <a:xfrm>
            <a:off x="1005840" y="4206240"/>
            <a:ext cx="118872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4480560"/>
            <a:ext cx="6675120" cy="914400"/>
          </a:xfrm>
          <a:prstGeom prst="rect">
            <a:avLst/>
          </a:prstGeom>
          <a:noFill/>
        </p:spPr>
        <p:txBody>
          <a:bodyPr wrap="square" anchor="t" lIns="0" rIns="0" tIns="0" bIns="0">
            <a:spAutoFit/>
          </a:bodyPr>
          <a:lstStyle/>
          <a:p>
            <a:r>
              <a:rPr sz="1600" b="0" i="0">
                <a:solidFill>
                  <a:srgbClr val="E8F6F3"/>
                </a:solidFill>
                <a:latin typeface="Segoe UI"/>
              </a:rPr>
              <a:t>Part 4 — Measurement, Data and Analysis</a:t>
            </a:r>
          </a:p>
          <a:p>
            <a:r>
              <a:rPr sz="1300" b="0" i="1">
                <a:solidFill>
                  <a:srgbClr val="E8F6F3"/>
                </a:solidFill>
                <a:latin typeface="Segoe UI"/>
              </a:rPr>
              <a:t>Advanced Research Methodology · Fall 2026</a:t>
            </a:r>
          </a:p>
        </p:txBody>
      </p:sp>
      <p:sp>
        <p:nvSpPr>
          <p:cNvPr id="9" name="TextBox 8"/>
          <p:cNvSpPr txBox="1"/>
          <p:nvPr/>
        </p:nvSpPr>
        <p:spPr>
          <a:xfrm>
            <a:off x="8442656" y="2194560"/>
            <a:ext cx="2834640" cy="2743200"/>
          </a:xfrm>
          <a:prstGeom prst="rect">
            <a:avLst/>
          </a:prstGeom>
          <a:noFill/>
        </p:spPr>
        <p:txBody>
          <a:bodyPr wrap="square" anchor="t" lIns="0" rIns="0" tIns="0" bIns="0">
            <a:spAutoFit/>
          </a:bodyPr>
          <a:lstStyle/>
          <a:p>
            <a:r>
              <a:rPr sz="1500" b="1" i="0">
                <a:solidFill>
                  <a:srgbClr val="FFFFFF"/>
                </a:solidFill>
                <a:latin typeface="Segoe UI"/>
              </a:rPr>
              <a:t>MS IT / PhD IT</a:t>
            </a:r>
          </a:p>
          <a:p>
            <a:pPr>
              <a:spcBef>
                <a:spcPts val="600"/>
              </a:spcBef>
            </a:pPr>
            <a:r>
              <a:rPr sz="1200" b="0" i="0">
                <a:solidFill>
                  <a:srgbClr val="E8F6F3"/>
                </a:solidFill>
                <a:latin typeface="Segoe UI"/>
              </a:rPr>
              <a:t>Department of Information Technology
The Islamia University of Bahawalpur</a:t>
            </a:r>
          </a:p>
          <a:p>
            <a:pPr>
              <a:spcBef>
                <a:spcPts val="1400"/>
              </a:spcBef>
            </a:pPr>
            <a:r>
              <a:rPr sz="1200" b="0" i="0">
                <a:solidFill>
                  <a:srgbClr val="E8F6F3"/>
                </a:solidFill>
                <a:latin typeface="Segoe UI"/>
              </a:rPr>
              <a:t>Fall 2026</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righ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LEARNING OUTCOMES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By the end of this chapter</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700" b="1" i="0">
                <a:solidFill>
                  <a:srgbClr val="C84B31"/>
                </a:solidFill>
                <a:latin typeface="Segoe UI"/>
              </a:rPr>
              <a:t>▸  </a:t>
            </a:r>
            <a:r>
              <a:rPr sz="1700" b="1" i="0">
                <a:solidFill>
                  <a:srgbClr val="0E4D64"/>
                </a:solidFill>
                <a:latin typeface="Segoe UI"/>
              </a:rPr>
              <a:t>Classify </a:t>
            </a:r>
            <a:r>
              <a:rPr sz="1700" b="0" i="0">
                <a:solidFill>
                  <a:srgbClr val="1C2833"/>
                </a:solidFill>
                <a:latin typeface="Segoe UI"/>
              </a:rPr>
              <a:t>a measure by scale type and say what that permits.</a:t>
            </a:r>
          </a:p>
          <a:p>
            <a:pPr>
              <a:spcAft>
                <a:spcPts val="1400"/>
              </a:spcAft>
            </a:pPr>
            <a:r>
              <a:rPr sz="1700" b="1" i="0">
                <a:solidFill>
                  <a:srgbClr val="C84B31"/>
                </a:solidFill>
                <a:latin typeface="Segoe UI"/>
              </a:rPr>
              <a:t>▸  </a:t>
            </a:r>
            <a:r>
              <a:rPr sz="1700" b="1" i="0">
                <a:solidFill>
                  <a:srgbClr val="0E4D64"/>
                </a:solidFill>
                <a:latin typeface="Segoe UI"/>
              </a:rPr>
              <a:t>Distinguish </a:t>
            </a:r>
            <a:r>
              <a:rPr sz="1700" b="0" i="0">
                <a:solidFill>
                  <a:srgbClr val="1C2833"/>
                </a:solidFill>
                <a:latin typeface="Segoe UI"/>
              </a:rPr>
              <a:t>the forms of validity and name a threat to each.</a:t>
            </a:r>
          </a:p>
          <a:p>
            <a:pPr>
              <a:spcAft>
                <a:spcPts val="1400"/>
              </a:spcAft>
            </a:pPr>
            <a:r>
              <a:rPr sz="1700" b="1" i="0">
                <a:solidFill>
                  <a:srgbClr val="C84B31"/>
                </a:solidFill>
                <a:latin typeface="Segoe UI"/>
              </a:rPr>
              <a:t>▸  </a:t>
            </a:r>
            <a:r>
              <a:rPr sz="1700" b="1" i="0">
                <a:solidFill>
                  <a:srgbClr val="0E4D64"/>
                </a:solidFill>
                <a:latin typeface="Segoe UI"/>
              </a:rPr>
              <a:t>Compute </a:t>
            </a:r>
            <a:r>
              <a:rPr sz="1700" b="0" i="0">
                <a:solidFill>
                  <a:srgbClr val="1C2833"/>
                </a:solidFill>
                <a:latin typeface="Segoe UI"/>
              </a:rPr>
              <a:t>and interpret a reliability coefficient, and explain why Cronbach's alpha is weaker evidence than it appears.</a:t>
            </a:r>
          </a:p>
          <a:p>
            <a:pPr>
              <a:spcAft>
                <a:spcPts val="1400"/>
              </a:spcAft>
            </a:pPr>
            <a:r>
              <a:rPr sz="1700" b="1" i="0">
                <a:solidFill>
                  <a:srgbClr val="C84B31"/>
                </a:solidFill>
                <a:latin typeface="Segoe UI"/>
              </a:rPr>
              <a:t>▸  </a:t>
            </a:r>
            <a:r>
              <a:rPr sz="1700" b="1" i="0">
                <a:solidFill>
                  <a:srgbClr val="0E4D64"/>
                </a:solidFill>
                <a:latin typeface="Segoe UI"/>
              </a:rPr>
              <a:t>Derive </a:t>
            </a:r>
            <a:r>
              <a:rPr sz="1700" b="0" i="0">
                <a:solidFill>
                  <a:srgbClr val="1C2833"/>
                </a:solidFill>
                <a:latin typeface="Segoe UI"/>
              </a:rPr>
              <a:t>measures from goals using GQM rather than measuring what is convenient.</a:t>
            </a:r>
          </a:p>
          <a:p>
            <a:pPr>
              <a:spcAft>
                <a:spcPts val="1400"/>
              </a:spcAft>
            </a:pPr>
            <a:r>
              <a:rPr sz="1700" b="1" i="0">
                <a:solidFill>
                  <a:srgbClr val="C84B31"/>
                </a:solidFill>
                <a:latin typeface="Segoe UI"/>
              </a:rPr>
              <a:t>▸  </a:t>
            </a:r>
            <a:r>
              <a:rPr sz="1700" b="1" i="0">
                <a:solidFill>
                  <a:srgbClr val="0E4D64"/>
                </a:solidFill>
                <a:latin typeface="Segoe UI"/>
              </a:rPr>
              <a:t>Defend </a:t>
            </a:r>
            <a:r>
              <a:rPr sz="1700" b="0" i="0">
                <a:solidFill>
                  <a:srgbClr val="1C2833"/>
                </a:solidFill>
                <a:latin typeface="Segoe UI"/>
              </a:rPr>
              <a:t>a proxy measure, or abandon it.</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17 · Measurement Theory and Instrument Validity</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Outcomes</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5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5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KEY TERMS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vocabulary of this chapter</a:t>
            </a:r>
          </a:p>
        </p:txBody>
      </p:sp>
      <p:sp>
        <p:nvSpPr>
          <p:cNvPr id="7" name="TextBox 6"/>
          <p:cNvSpPr txBox="1"/>
          <p:nvPr/>
        </p:nvSpPr>
        <p:spPr>
          <a:xfrm>
            <a:off x="777240"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construct</a:t>
            </a:r>
          </a:p>
          <a:p>
            <a:pPr>
              <a:spcAft>
                <a:spcPts val="1100"/>
              </a:spcAft>
            </a:pPr>
            <a:r>
              <a:rPr sz="1400" b="0" i="0">
                <a:solidFill>
                  <a:srgbClr val="C84B31"/>
                </a:solidFill>
                <a:latin typeface="Segoe UI"/>
              </a:rPr>
              <a:t>▪  </a:t>
            </a:r>
            <a:r>
              <a:rPr sz="1400" b="0" i="0">
                <a:solidFill>
                  <a:srgbClr val="1C2833"/>
                </a:solidFill>
                <a:latin typeface="Segoe UI"/>
              </a:rPr>
              <a:t>measure</a:t>
            </a:r>
          </a:p>
          <a:p>
            <a:pPr>
              <a:spcAft>
                <a:spcPts val="1100"/>
              </a:spcAft>
            </a:pPr>
            <a:r>
              <a:rPr sz="1400" b="0" i="0">
                <a:solidFill>
                  <a:srgbClr val="C84B31"/>
                </a:solidFill>
                <a:latin typeface="Segoe UI"/>
              </a:rPr>
              <a:t>▪  </a:t>
            </a:r>
            <a:r>
              <a:rPr sz="1400" b="0" i="0">
                <a:solidFill>
                  <a:srgbClr val="1C2833"/>
                </a:solidFill>
                <a:latin typeface="Segoe UI"/>
              </a:rPr>
              <a:t>nominal, ordinal, interval, ratio</a:t>
            </a:r>
          </a:p>
          <a:p>
            <a:pPr>
              <a:spcAft>
                <a:spcPts val="1100"/>
              </a:spcAft>
            </a:pPr>
            <a:r>
              <a:rPr sz="1400" b="0" i="0">
                <a:solidFill>
                  <a:srgbClr val="C84B31"/>
                </a:solidFill>
                <a:latin typeface="Segoe UI"/>
              </a:rPr>
              <a:t>▪  </a:t>
            </a:r>
            <a:r>
              <a:rPr sz="1400" b="0" i="0">
                <a:solidFill>
                  <a:srgbClr val="1C2833"/>
                </a:solidFill>
                <a:latin typeface="Segoe UI"/>
              </a:rPr>
              <a:t>face validity</a:t>
            </a:r>
          </a:p>
          <a:p>
            <a:pPr>
              <a:spcAft>
                <a:spcPts val="1100"/>
              </a:spcAft>
            </a:pPr>
            <a:r>
              <a:rPr sz="1400" b="0" i="0">
                <a:solidFill>
                  <a:srgbClr val="C84B31"/>
                </a:solidFill>
                <a:latin typeface="Segoe UI"/>
              </a:rPr>
              <a:t>▪  </a:t>
            </a:r>
            <a:r>
              <a:rPr sz="1400" b="0" i="0">
                <a:solidFill>
                  <a:srgbClr val="1C2833"/>
                </a:solidFill>
                <a:latin typeface="Segoe UI"/>
              </a:rPr>
              <a:t>content validity</a:t>
            </a:r>
          </a:p>
        </p:txBody>
      </p:sp>
      <p:sp>
        <p:nvSpPr>
          <p:cNvPr id="8" name="TextBox 7"/>
          <p:cNvSpPr txBox="1"/>
          <p:nvPr/>
        </p:nvSpPr>
        <p:spPr>
          <a:xfrm>
            <a:off x="4383938"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construct validity</a:t>
            </a:r>
          </a:p>
          <a:p>
            <a:pPr>
              <a:spcAft>
                <a:spcPts val="1100"/>
              </a:spcAft>
            </a:pPr>
            <a:r>
              <a:rPr sz="1400" b="0" i="0">
                <a:solidFill>
                  <a:srgbClr val="C84B31"/>
                </a:solidFill>
                <a:latin typeface="Segoe UI"/>
              </a:rPr>
              <a:t>▪  </a:t>
            </a:r>
            <a:r>
              <a:rPr sz="1400" b="0" i="0">
                <a:solidFill>
                  <a:srgbClr val="1C2833"/>
                </a:solidFill>
                <a:latin typeface="Segoe UI"/>
              </a:rPr>
              <a:t>convergent and discriminant validity</a:t>
            </a:r>
          </a:p>
          <a:p>
            <a:pPr>
              <a:spcAft>
                <a:spcPts val="1100"/>
              </a:spcAft>
            </a:pPr>
            <a:r>
              <a:rPr sz="1400" b="0" i="0">
                <a:solidFill>
                  <a:srgbClr val="C84B31"/>
                </a:solidFill>
                <a:latin typeface="Segoe UI"/>
              </a:rPr>
              <a:t>▪  </a:t>
            </a:r>
            <a:r>
              <a:rPr sz="1400" b="0" i="0">
                <a:solidFill>
                  <a:srgbClr val="1C2833"/>
                </a:solidFill>
                <a:latin typeface="Segoe UI"/>
              </a:rPr>
              <a:t>criterion validity</a:t>
            </a:r>
          </a:p>
          <a:p>
            <a:pPr>
              <a:spcAft>
                <a:spcPts val="1100"/>
              </a:spcAft>
            </a:pPr>
            <a:r>
              <a:rPr sz="1400" b="0" i="0">
                <a:solidFill>
                  <a:srgbClr val="C84B31"/>
                </a:solidFill>
                <a:latin typeface="Segoe UI"/>
              </a:rPr>
              <a:t>▪  </a:t>
            </a:r>
            <a:r>
              <a:rPr sz="1400" b="0" i="0">
                <a:solidFill>
                  <a:srgbClr val="1C2833"/>
                </a:solidFill>
                <a:latin typeface="Segoe UI"/>
              </a:rPr>
              <a:t>reliability</a:t>
            </a:r>
          </a:p>
          <a:p>
            <a:pPr>
              <a:spcAft>
                <a:spcPts val="1100"/>
              </a:spcAft>
            </a:pPr>
            <a:r>
              <a:rPr sz="1400" b="0" i="0">
                <a:solidFill>
                  <a:srgbClr val="C84B31"/>
                </a:solidFill>
                <a:latin typeface="Segoe UI"/>
              </a:rPr>
              <a:t>▪  </a:t>
            </a:r>
            <a:r>
              <a:rPr sz="1400" b="0" i="0">
                <a:solidFill>
                  <a:srgbClr val="1C2833"/>
                </a:solidFill>
                <a:latin typeface="Segoe UI"/>
              </a:rPr>
              <a:t>test–retest</a:t>
            </a:r>
          </a:p>
        </p:txBody>
      </p:sp>
      <p:sp>
        <p:nvSpPr>
          <p:cNvPr id="9" name="TextBox 8"/>
          <p:cNvSpPr txBox="1"/>
          <p:nvPr/>
        </p:nvSpPr>
        <p:spPr>
          <a:xfrm>
            <a:off x="7990636"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internal consistency</a:t>
            </a:r>
          </a:p>
          <a:p>
            <a:pPr>
              <a:spcAft>
                <a:spcPts val="1100"/>
              </a:spcAft>
            </a:pPr>
            <a:r>
              <a:rPr sz="1400" b="0" i="0">
                <a:solidFill>
                  <a:srgbClr val="C84B31"/>
                </a:solidFill>
                <a:latin typeface="Segoe UI"/>
              </a:rPr>
              <a:t>▪  </a:t>
            </a:r>
            <a:r>
              <a:rPr sz="1400" b="0" i="0">
                <a:solidFill>
                  <a:srgbClr val="1C2833"/>
                </a:solidFill>
                <a:latin typeface="Segoe UI"/>
              </a:rPr>
              <a:t>Cronbach's alpha</a:t>
            </a:r>
          </a:p>
          <a:p>
            <a:pPr>
              <a:spcAft>
                <a:spcPts val="1100"/>
              </a:spcAft>
            </a:pPr>
            <a:r>
              <a:rPr sz="1400" b="0" i="0">
                <a:solidFill>
                  <a:srgbClr val="C84B31"/>
                </a:solidFill>
                <a:latin typeface="Segoe UI"/>
              </a:rPr>
              <a:t>▪  </a:t>
            </a:r>
            <a:r>
              <a:rPr sz="1400" b="0" i="0">
                <a:solidFill>
                  <a:srgbClr val="1C2833"/>
                </a:solidFill>
                <a:latin typeface="Segoe UI"/>
              </a:rPr>
              <a:t>McDonald's omega</a:t>
            </a:r>
          </a:p>
          <a:p>
            <a:pPr>
              <a:spcAft>
                <a:spcPts val="1100"/>
              </a:spcAft>
            </a:pPr>
            <a:r>
              <a:rPr sz="1400" b="0" i="0">
                <a:solidFill>
                  <a:srgbClr val="C84B31"/>
                </a:solidFill>
                <a:latin typeface="Segoe UI"/>
              </a:rPr>
              <a:t>▪  </a:t>
            </a:r>
            <a:r>
              <a:rPr sz="1400" b="0" i="0">
                <a:solidFill>
                  <a:srgbClr val="1C2833"/>
                </a:solidFill>
                <a:latin typeface="Segoe UI"/>
              </a:rPr>
              <a:t>GQM</a:t>
            </a:r>
          </a:p>
          <a:p>
            <a:pPr>
              <a:spcAft>
                <a:spcPts val="1100"/>
              </a:spcAft>
            </a:pPr>
            <a:r>
              <a:rPr sz="1400" b="0" i="0">
                <a:solidFill>
                  <a:srgbClr val="C84B31"/>
                </a:solidFill>
                <a:latin typeface="Segoe UI"/>
              </a:rPr>
              <a:t>▪  </a:t>
            </a:r>
            <a:r>
              <a:rPr sz="1400" b="0" i="0">
                <a:solidFill>
                  <a:srgbClr val="1C2833"/>
                </a:solidFill>
                <a:latin typeface="Segoe UI"/>
              </a:rPr>
              <a:t>proxy measure</a:t>
            </a:r>
          </a:p>
        </p:txBody>
      </p:sp>
      <p:sp>
        <p:nvSpPr>
          <p:cNvPr id="10" name="Rectangle 9"/>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17 · Measurement Theory and Instrument Validity</a:t>
            </a: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Key terms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400"/>
                                        <p:tgtEl>
                                          <p:spTgt spid="7"/>
                                        </p:tgtEl>
                                      </p:cBhvr>
                                    </p:animEffect>
                                  </p:childTnLst>
                                </p:cTn>
                              </p:par>
                              <p:par>
                                <p:cTn id="9" presetID="2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zoom(in)">
                                      <p:cBhvr>
                                        <p:cTn id="11" dur="400"/>
                                        <p:tgtEl>
                                          <p:spTgt spid="8"/>
                                        </p:tgtEl>
                                      </p:cBhvr>
                                    </p:animEffect>
                                  </p:childTnLst>
                                </p:cTn>
                              </p:par>
                              <p:par>
                                <p:cTn id="12" presetID="23" presetClass="entr" presetSubtype="16"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zoom(in)">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1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The Weakest Link</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17</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Weakest Link</a:t>
            </a:r>
          </a:p>
        </p:txBody>
      </p:sp>
      <p:sp>
        <p:nvSpPr>
          <p:cNvPr id="7" name="Rectangle 6"/>
          <p:cNvSpPr/>
          <p:nvPr/>
        </p:nvSpPr>
        <p:spPr>
          <a:xfrm>
            <a:off x="777240" y="328269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Analysis cannot repair measurement</a:t>
            </a:r>
          </a:p>
          <a:p>
            <a:r>
              <a:rPr sz="1400" b="0" i="0">
                <a:solidFill>
                  <a:srgbClr val="1C2833"/>
                </a:solidFill>
                <a:latin typeface="Segoe UI"/>
              </a:rPr>
              <a:t>No statistical technique recovers a construct that was never captured. If your measure of “code quality” is comment density, then a sophisticated mixed-effects model on comment density tells you about comment density.</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17 · Measurement Theory and Instrument Validity</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The Weakest Link</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2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Scales, and What Each Permits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17</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Scales, and What Each Permits</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The Likert controversy, settled practically</a:t>
            </a:r>
          </a:p>
          <a:p>
            <a:r>
              <a:rPr sz="1400" b="0" i="0">
                <a:solidFill>
                  <a:srgbClr val="1C2833"/>
                </a:solidFill>
                <a:latin typeface="Segoe UI"/>
              </a:rPr>
              <a:t>Is it legitimate to take the mean of responses coded 1 to 5? Strictly, no: the distance between “disagree” and “neutral” is not known to equal that between “neutral” and “agree”.</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17 · Measurement Theory and Instrument Validity</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Scales, and What Each Permits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3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Reliability, and the Alpha Problem</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17</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Reliability, and the Alpha Problem</a:t>
            </a:r>
          </a:p>
        </p:txBody>
      </p:sp>
      <p:sp>
        <p:nvSpPr>
          <p:cNvPr id="7" name="Rectangle 6"/>
          <p:cNvSpPr/>
          <p:nvPr/>
        </p:nvSpPr>
        <p:spPr>
          <a:xfrm>
            <a:off x="777240" y="328269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What Cronbach's alpha does not tell you</a:t>
            </a:r>
          </a:p>
          <a:p>
            <a:r>
              <a:rPr sz="1400" b="0" i="0">
                <a:solidFill>
                  <a:srgbClr val="1C2833"/>
                </a:solidFill>
                <a:latin typeface="Segoe UI"/>
              </a:rPr>
              <a:t>α 0.7 is quoted as though it certified a scale. It does not, for three reasons that are well established and widely ignored.</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17 · Measurement Theory and Instrument Validity</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Reliability, and the Alpha Problem</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4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Deriving Measures from Goals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17</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Deriving Measures from Goals</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r>
              <a:rPr sz="1400" b="0" i="0">
                <a:solidFill>
                  <a:srgbClr val="1C2833"/>
                </a:solidFill>
                <a:latin typeface="Segoe UI"/>
              </a:rPr>
              <a:t>The alternative to measuring what is convenient is to derive measures from what you want to know. The Goal–Question–Metric approach does this in three levels. The value of the goal template is that it forces the viewpoint and context to be stated.</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17 · Measurement Theory and Instrument Validity</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Deriving Measures from Goals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WORKED EXAMPLE</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Operationalising “developer productivity”</a:t>
            </a:r>
          </a:p>
        </p:txBody>
      </p:sp>
      <p:sp>
        <p:nvSpPr>
          <p:cNvPr id="7" name="Rectangle 6"/>
          <p:cNvSpPr/>
          <p:nvPr/>
        </p:nvSpPr>
        <p:spPr>
          <a:xfrm>
            <a:off x="777240" y="3040380"/>
            <a:ext cx="10637215" cy="12344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3040380"/>
            <a:ext cx="64008" cy="123444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3241548"/>
            <a:ext cx="9997135" cy="832104"/>
          </a:xfrm>
          <a:prstGeom prst="rect">
            <a:avLst/>
          </a:prstGeom>
          <a:noFill/>
        </p:spPr>
        <p:txBody>
          <a:bodyPr wrap="square" anchor="t" lIns="0" rIns="0" tIns="0" bIns="0">
            <a:spAutoFit/>
          </a:bodyPr>
          <a:lstStyle/>
          <a:p>
            <a:pPr>
              <a:spcAft>
                <a:spcPts val="1000"/>
              </a:spcAft>
            </a:pPr>
            <a:r>
              <a:rPr sz="1500" b="0" i="0">
                <a:solidFill>
                  <a:srgbClr val="1C2833"/>
                </a:solidFill>
                <a:latin typeface="Segoe UI"/>
              </a:rPr>
              <a:t>A candidate for the least valid construct in common use. Watch it fail four times. Attempt 1: lines of code per week.</a:t>
            </a:r>
          </a:p>
        </p:txBody>
      </p:sp>
      <p:sp>
        <p:nvSpPr>
          <p:cNvPr id="10" name="TextBox 9"/>
          <p:cNvSpPr txBox="1"/>
          <p:nvPr/>
        </p:nvSpPr>
        <p:spPr>
          <a:xfrm>
            <a:off x="777240" y="4421124"/>
            <a:ext cx="10637215" cy="365760"/>
          </a:xfrm>
          <a:prstGeom prst="rect">
            <a:avLst/>
          </a:prstGeom>
          <a:noFill/>
        </p:spPr>
        <p:txBody>
          <a:bodyPr wrap="square" anchor="t" lIns="0" rIns="0" tIns="0" bIns="0">
            <a:spAutoFit/>
          </a:bodyPr>
          <a:lstStyle/>
          <a:p>
            <a:r>
              <a:rPr sz="1100" b="0" i="1">
                <a:solidFill>
                  <a:srgbClr val="707B7C"/>
                </a:solidFill>
                <a:latin typeface="Segoe UI"/>
              </a:rPr>
              <a:t>Constructed for teaching — the numbers are invented, as in the handout.</a:t>
            </a:r>
          </a:p>
        </p:txBody>
      </p:sp>
      <p:sp>
        <p:nvSpPr>
          <p:cNvPr id="11" name="Rectangle 10"/>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17 · Measurement Theory and Instrument Validity</a:t>
            </a:r>
          </a:p>
        </p:txBody>
      </p:sp>
      <p:sp>
        <p:nvSpPr>
          <p:cNvPr id="13" name="TextBox 12"/>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Worked example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4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350"/>
                                        <p:tgtEl>
                                          <p:spTgt spid="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PITFALLS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2600" b="1" i="0">
                <a:solidFill>
                  <a:srgbClr val="0E4D64"/>
                </a:solidFill>
                <a:latin typeface="Georgia"/>
              </a:rPr>
              <a:t>Proxy measures: three questions before you accept one</a:t>
            </a:r>
          </a:p>
        </p:txBody>
      </p:sp>
      <p:sp>
        <p:nvSpPr>
          <p:cNvPr id="7" name="TextBox 6"/>
          <p:cNvSpPr txBox="1"/>
          <p:nvPr/>
        </p:nvSpPr>
        <p:spPr>
          <a:xfrm>
            <a:off x="868680" y="1828800"/>
            <a:ext cx="10454335" cy="4114800"/>
          </a:xfrm>
          <a:prstGeom prst="rect">
            <a:avLst/>
          </a:prstGeom>
          <a:noFill/>
        </p:spPr>
        <p:txBody>
          <a:bodyPr wrap="square" anchor="t" lIns="0" rIns="0" tIns="0" bIns="0">
            <a:spAutoFit/>
          </a:bodyPr>
          <a:lstStyle/>
          <a:p>
            <a:pPr>
              <a:spcAft>
                <a:spcPts val="1500"/>
              </a:spcAft>
            </a:pPr>
            <a:r>
              <a:rPr sz="1500" b="1" i="0">
                <a:solidFill>
                  <a:srgbClr val="C84B31"/>
                </a:solidFill>
                <a:latin typeface="Segoe UI"/>
              </a:rPr>
              <a:t>✖  </a:t>
            </a:r>
            <a:r>
              <a:rPr sz="1500" b="0" i="0">
                <a:solidFill>
                  <a:srgbClr val="1C2833"/>
                </a:solidFill>
                <a:latin typeface="Segoe UI"/>
              </a:rPr>
              <a:t>What is the evidence the proxy tracks the construct? A citation, or a validation in your own data. Not plausibility.</a:t>
            </a:r>
          </a:p>
          <a:p>
            <a:pPr>
              <a:spcAft>
                <a:spcPts val="1500"/>
              </a:spcAft>
            </a:pPr>
            <a:r>
              <a:rPr sz="1500" b="1" i="0">
                <a:solidFill>
                  <a:srgbClr val="C84B31"/>
                </a:solidFill>
                <a:latin typeface="Segoe UI"/>
              </a:rPr>
              <a:t>✖  </a:t>
            </a:r>
            <a:r>
              <a:rPr sz="1500" b="0" i="0">
                <a:solidFill>
                  <a:srgbClr val="1C2833"/>
                </a:solidFill>
                <a:latin typeface="Segoe UI"/>
              </a:rPr>
              <a:t>What else does it track? Cyclomatic complexity correlates with lines of code, so “complexity predicts defects” may be “size predicts defects”.</a:t>
            </a:r>
          </a:p>
          <a:p>
            <a:pPr>
              <a:spcAft>
                <a:spcPts val="1500"/>
              </a:spcAft>
            </a:pPr>
            <a:r>
              <a:rPr sz="1500" b="1" i="0">
                <a:solidFill>
                  <a:srgbClr val="C84B31"/>
                </a:solidFill>
                <a:latin typeface="Segoe UI"/>
              </a:rPr>
              <a:t>✖  </a:t>
            </a:r>
            <a:r>
              <a:rPr sz="1500" b="0" i="0">
                <a:solidFill>
                  <a:srgbClr val="1C2833"/>
                </a:solidFill>
                <a:latin typeface="Segoe UI"/>
              </a:rPr>
              <a:t>Does it change when people know it is measured? If yes, Goodhart's law applies: it will stop measuring the construct precisely when it starts mattering.</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17 · Measurement Theory and Instrument Validity</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Pitfalls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8"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slide(fromLeft)">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slide(fromLeft)">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slide(fromLeft)">
                                      <p:cBhvr>
                                        <p:cTn id="18" dur="35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FOUR TRADITIONS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How this lands in measurement</a:t>
            </a:r>
          </a:p>
        </p:txBody>
      </p:sp>
      <p:sp>
        <p:nvSpPr>
          <p:cNvPr id="7" name="Rectangle 6"/>
          <p:cNvSpPr/>
          <p:nvPr/>
        </p:nvSpPr>
        <p:spPr>
          <a:xfrm>
            <a:off x="777240"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1874519"/>
            <a:ext cx="5158587" cy="50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78408" y="2075687"/>
            <a:ext cx="4756251" cy="1417320"/>
          </a:xfrm>
          <a:prstGeom prst="rect">
            <a:avLst/>
          </a:prstGeom>
          <a:noFill/>
        </p:spPr>
        <p:txBody>
          <a:bodyPr wrap="square" anchor="t" lIns="0" rIns="0" tIns="0" bIns="0">
            <a:spAutoFit/>
          </a:bodyPr>
          <a:lstStyle/>
          <a:p>
            <a:pPr>
              <a:spcAft>
                <a:spcPts val="500"/>
              </a:spcAft>
            </a:pPr>
            <a:r>
              <a:rPr sz="1100" b="1" i="0">
                <a:solidFill>
                  <a:srgbClr val="1F618D"/>
                </a:solidFill>
                <a:latin typeface="Segoe UI"/>
              </a:rPr>
              <a:t>EMPIRICAL</a:t>
            </a:r>
          </a:p>
          <a:p>
            <a:r>
              <a:rPr sz="1250" b="0" i="0">
                <a:solidFill>
                  <a:srgbClr val="1C2833"/>
                </a:solidFill>
                <a:latin typeface="Segoe UI"/>
              </a:rPr>
              <a:t>Validity and reliability are technical properties with tests. Report both for every measure, and treat unvalidated measures as a threat.</a:t>
            </a:r>
          </a:p>
        </p:txBody>
      </p:sp>
      <p:sp>
        <p:nvSpPr>
          <p:cNvPr id="10" name="Rectangle 9"/>
          <p:cNvSpPr/>
          <p:nvPr/>
        </p:nvSpPr>
        <p:spPr>
          <a:xfrm>
            <a:off x="6255867"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55867" y="1874519"/>
            <a:ext cx="5158587" cy="50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7035" y="2075687"/>
            <a:ext cx="4756251" cy="1417320"/>
          </a:xfrm>
          <a:prstGeom prst="rect">
            <a:avLst/>
          </a:prstGeom>
          <a:noFill/>
        </p:spPr>
        <p:txBody>
          <a:bodyPr wrap="square" anchor="t" lIns="0" rIns="0" tIns="0" bIns="0">
            <a:spAutoFit/>
          </a:bodyPr>
          <a:lstStyle/>
          <a:p>
            <a:pPr>
              <a:spcAft>
                <a:spcPts val="500"/>
              </a:spcAft>
            </a:pPr>
            <a:r>
              <a:rPr sz="1100" b="1" i="0">
                <a:solidFill>
                  <a:srgbClr val="117864"/>
                </a:solidFill>
                <a:latin typeface="Segoe UI"/>
              </a:rPr>
              <a:t>DESIGN SCIENCE</a:t>
            </a:r>
          </a:p>
          <a:p>
            <a:r>
              <a:rPr sz="1250" b="0" i="0">
                <a:solidFill>
                  <a:srgbClr val="1C2833"/>
                </a:solidFill>
                <a:latin typeface="Segoe UI"/>
              </a:rPr>
              <a:t>Evaluation criteria are measures too, and inherit every problem here. An artefact evaluated on an invalid measure has not been evaluated.</a:t>
            </a:r>
          </a:p>
        </p:txBody>
      </p:sp>
      <p:sp>
        <p:nvSpPr>
          <p:cNvPr id="13" name="Rectangle 12"/>
          <p:cNvSpPr/>
          <p:nvPr/>
        </p:nvSpPr>
        <p:spPr>
          <a:xfrm>
            <a:off x="777240"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77240" y="3931919"/>
            <a:ext cx="5158587" cy="50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78408" y="4133087"/>
            <a:ext cx="4756251" cy="1417320"/>
          </a:xfrm>
          <a:prstGeom prst="rect">
            <a:avLst/>
          </a:prstGeom>
          <a:noFill/>
        </p:spPr>
        <p:txBody>
          <a:bodyPr wrap="square" anchor="t" lIns="0" rIns="0" tIns="0" bIns="0">
            <a:spAutoFit/>
          </a:bodyPr>
          <a:lstStyle/>
          <a:p>
            <a:pPr>
              <a:spcAft>
                <a:spcPts val="500"/>
              </a:spcAft>
            </a:pPr>
            <a:r>
              <a:rPr sz="1100" b="1" i="0">
                <a:solidFill>
                  <a:srgbClr val="6C3483"/>
                </a:solidFill>
                <a:latin typeface="Segoe UI"/>
              </a:rPr>
              <a:t>QUALITATIVE</a:t>
            </a:r>
          </a:p>
          <a:p>
            <a:r>
              <a:rPr sz="1250" b="0" i="0">
                <a:solidFill>
                  <a:srgbClr val="1C2833"/>
                </a:solidFill>
                <a:latin typeface="Segoe UI"/>
              </a:rPr>
              <a:t>Rejects the framing: the analogue is trustworthiness — credibility, transferability, dependability, confirmability — established by audit trail and member checking rather than by coefficients (Ch. 23).</a:t>
            </a:r>
          </a:p>
        </p:txBody>
      </p:sp>
      <p:sp>
        <p:nvSpPr>
          <p:cNvPr id="16" name="Rectangle 15"/>
          <p:cNvSpPr/>
          <p:nvPr/>
        </p:nvSpPr>
        <p:spPr>
          <a:xfrm>
            <a:off x="6255867"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55867" y="3931919"/>
            <a:ext cx="5158587" cy="50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57035" y="4133087"/>
            <a:ext cx="4756251" cy="1417320"/>
          </a:xfrm>
          <a:prstGeom prst="rect">
            <a:avLst/>
          </a:prstGeom>
          <a:noFill/>
        </p:spPr>
        <p:txBody>
          <a:bodyPr wrap="square" anchor="t" lIns="0" rIns="0" tIns="0" bIns="0">
            <a:spAutoFit/>
          </a:bodyPr>
          <a:lstStyle/>
          <a:p>
            <a:pPr>
              <a:spcAft>
                <a:spcPts val="500"/>
              </a:spcAft>
            </a:pPr>
            <a:r>
              <a:rPr sz="1100" b="1" i="0">
                <a:solidFill>
                  <a:srgbClr val="922B21"/>
                </a:solidFill>
                <a:latin typeface="Segoe UI"/>
              </a:rPr>
              <a:t>FORMAL</a:t>
            </a:r>
          </a:p>
          <a:p>
            <a:r>
              <a:rPr sz="1250" b="0" i="0">
                <a:solidFill>
                  <a:srgbClr val="1C2833"/>
                </a:solidFill>
                <a:latin typeface="Segoe UI"/>
              </a:rPr>
              <a:t>Measurement is definitional: the quantity is what the definition says. The validity question reappears as whether the formal definition captures the informal notion.</a:t>
            </a:r>
          </a:p>
        </p:txBody>
      </p:sp>
      <p:sp>
        <p:nvSpPr>
          <p:cNvPr id="19" name="Rectangle 1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17 · Measurement Theory and Instrument Validity</a:t>
            </a:r>
          </a:p>
        </p:txBody>
      </p:sp>
      <p:sp>
        <p:nvSpPr>
          <p:cNvPr id="21" name="TextBox 2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Four traditions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35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zoom(in)">
                                      <p:cBhvr>
                                        <p:cTn id="16" dur="3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zoom(in)">
                                      <p:cBhvr>
                                        <p:cTn id="24" dur="35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zoom(in)">
                                      <p:cBhvr>
                                        <p:cTn id="32" dur="3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SUMMARY</a:t>
            </a:r>
          </a:p>
        </p:txBody>
      </p:sp>
      <p:sp>
        <p:nvSpPr>
          <p:cNvPr id="6" name="TextBox 5"/>
          <p:cNvSpPr txBox="1"/>
          <p:nvPr/>
        </p:nvSpPr>
        <p:spPr>
          <a:xfrm>
            <a:off x="777240" y="914400"/>
            <a:ext cx="10637215" cy="731520"/>
          </a:xfrm>
          <a:prstGeom prst="rect">
            <a:avLst/>
          </a:prstGeom>
          <a:noFill/>
        </p:spPr>
        <p:txBody>
          <a:bodyPr wrap="square" anchor="t" lIns="0" rIns="0" tIns="0" bIns="0">
            <a:spAutoFit/>
          </a:bodyPr>
          <a:lstStyle/>
          <a:p>
            <a:r>
              <a:rPr sz="3000" b="1" i="0">
                <a:solidFill>
                  <a:srgbClr val="0E4D64"/>
                </a:solidFill>
                <a:latin typeface="Georgia"/>
              </a:rPr>
              <a:t>What to take away</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500" b="1" i="0">
                <a:solidFill>
                  <a:srgbClr val="C84B31"/>
                </a:solidFill>
                <a:latin typeface="Segoe UI"/>
              </a:rPr>
              <a:t>1. </a:t>
            </a:r>
            <a:r>
              <a:rPr sz="1500" b="0" i="0">
                <a:solidFill>
                  <a:srgbClr val="1C2833"/>
                </a:solidFill>
                <a:latin typeface="Segoe UI"/>
              </a:rPr>
              <a:t>Analysis cannot repair measurement, and bad measures produce respectable-looking output. §14.3(B) assesses validity explicitly.</a:t>
            </a:r>
          </a:p>
          <a:p>
            <a:pPr>
              <a:spcAft>
                <a:spcPts val="1400"/>
              </a:spcAft>
            </a:pPr>
            <a:r>
              <a:rPr sz="1500" b="1" i="0">
                <a:solidFill>
                  <a:srgbClr val="C84B31"/>
                </a:solidFill>
                <a:latin typeface="Segoe UI"/>
              </a:rPr>
              <a:t>2. </a:t>
            </a:r>
            <a:r>
              <a:rPr sz="1500" b="0" i="0">
                <a:solidFill>
                  <a:srgbClr val="1C2833"/>
                </a:solidFill>
                <a:latin typeface="Segoe UI"/>
              </a:rPr>
              <a:t>Scale type determines permissible operations. Single Likert items are ordinal; multi-item scales are treated as interval, which is why constructs need several items.</a:t>
            </a:r>
          </a:p>
          <a:p>
            <a:pPr>
              <a:spcAft>
                <a:spcPts val="1400"/>
              </a:spcAft>
            </a:pPr>
            <a:r>
              <a:rPr sz="1500" b="1" i="0">
                <a:solidFill>
                  <a:srgbClr val="C84B31"/>
                </a:solidFill>
                <a:latin typeface="Segoe UI"/>
              </a:rPr>
              <a:t>3. </a:t>
            </a:r>
            <a:r>
              <a:rPr sz="1500" b="0" i="0">
                <a:solidFill>
                  <a:srgbClr val="1C2833"/>
                </a:solidFill>
                <a:latin typeface="Segoe UI"/>
              </a:rPr>
              <a:t>Five validity questions; construct validity, split into convergent and discriminant, is the one that matters most and is checked least.</a:t>
            </a:r>
          </a:p>
          <a:p>
            <a:pPr>
              <a:spcAft>
                <a:spcPts val="1400"/>
              </a:spcAft>
            </a:pPr>
            <a:r>
              <a:rPr sz="1500" b="1" i="0">
                <a:solidFill>
                  <a:srgbClr val="C84B31"/>
                </a:solidFill>
                <a:latin typeface="Segoe UI"/>
              </a:rPr>
              <a:t>4. </a:t>
            </a:r>
            <a:r>
              <a:rPr sz="1500" b="0" i="0">
                <a:solidFill>
                  <a:srgbClr val="1C2833"/>
                </a:solidFill>
                <a:latin typeface="Segoe UI"/>
              </a:rPr>
              <a:t>Reliability is necessary and not sufficient. Cronbach's alpha does not establish unidimensionality, rises with item count, and assumes tau-equivalence. Check…</a:t>
            </a:r>
          </a:p>
          <a:p>
            <a:pPr>
              <a:spcAft>
                <a:spcPts val="1400"/>
              </a:spcAft>
            </a:pPr>
            <a:r>
              <a:rPr sz="1500" b="1" i="0">
                <a:solidFill>
                  <a:srgbClr val="C84B31"/>
                </a:solidFill>
                <a:latin typeface="Segoe UI"/>
              </a:rPr>
              <a:t>5. </a:t>
            </a:r>
            <a:r>
              <a:rPr sz="1500" b="0" i="0">
                <a:solidFill>
                  <a:srgbClr val="1C2833"/>
                </a:solidFill>
                <a:latin typeface="Segoe UI"/>
              </a:rPr>
              <a:t>GQM derives metrics from goals with a stated viewpoint and context, instead of measuring what is available.</a:t>
            </a:r>
          </a:p>
          <a:p>
            <a:pPr>
              <a:spcAft>
                <a:spcPts val="1400"/>
              </a:spcAft>
            </a:pPr>
            <a:r>
              <a:rPr sz="1500" b="1" i="0">
                <a:solidFill>
                  <a:srgbClr val="C84B31"/>
                </a:solidFill>
                <a:latin typeface="Segoe UI"/>
              </a:rPr>
              <a:t>6. </a:t>
            </a:r>
            <a:r>
              <a:rPr sz="1500" b="0" i="0">
                <a:solidFill>
                  <a:srgbClr val="1C2833"/>
                </a:solidFill>
                <a:latin typeface="Segoe UI"/>
              </a:rPr>
              <a:t>Some constructs in common use — individual developer productivity among them — may not be validly measurable. Narrow the construct, raise the level, or change the…</a:t>
            </a:r>
          </a:p>
          <a:p>
            <a:pPr>
              <a:spcAft>
                <a:spcPts val="1400"/>
              </a:spcAft>
            </a:pPr>
            <a:r>
              <a:rPr sz="1500" b="1" i="0">
                <a:solidFill>
                  <a:srgbClr val="C84B31"/>
                </a:solidFill>
                <a:latin typeface="Segoe UI"/>
              </a:rPr>
              <a:t>7. </a:t>
            </a:r>
            <a:r>
              <a:rPr sz="1500" b="0" i="0">
                <a:solidFill>
                  <a:srgbClr val="1C2833"/>
                </a:solidFill>
                <a:latin typeface="Segoe UI"/>
              </a:rPr>
              <a:t>For every proxy: what is the evidence, what else does it track, and does it change under observation?</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17 · Measurement Theory and Instrument Validity</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Summary</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2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2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2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2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2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up)">
                                      <p:cBhvr>
                                        <p:cTn id="33" dur="320"/>
                                        <p:tgtEl>
                                          <p:spTgt spid="7">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
                                            <p:txEl>
                                              <p:pRg st="6" end="6"/>
                                            </p:txEl>
                                          </p:spTgt>
                                        </p:tgtEl>
                                        <p:attrNameLst>
                                          <p:attrName>style.visibility</p:attrName>
                                        </p:attrNameLst>
                                      </p:cBhvr>
                                      <p:to>
                                        <p:strVal val="visible"/>
                                      </p:to>
                                    </p:set>
                                    <p:animEffect transition="in" filter="wipe(up)">
                                      <p:cBhvr>
                                        <p:cTn id="38" dur="32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REVIEW</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Questions to think with</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800"/>
              </a:spcAft>
            </a:pPr>
            <a:r>
              <a:rPr sz="1500" b="1" i="0">
                <a:solidFill>
                  <a:srgbClr val="C84B31"/>
                </a:solidFill>
                <a:latin typeface="Segoe UI"/>
              </a:rPr>
              <a:t>Q1  </a:t>
            </a:r>
            <a:r>
              <a:rPr sz="1500" b="0" i="0">
                <a:solidFill>
                  <a:srgbClr val="1C2833"/>
                </a:solidFill>
                <a:latin typeface="Segoe UI"/>
              </a:rPr>
              <a:t>Flake and Fried argue that unvalidated measures are as damaging as p-hacking, and far less discussed. Assess this claim for computing research, and identify which of our subfields is most…</a:t>
            </a:r>
          </a:p>
          <a:p>
            <a:pPr>
              <a:spcAft>
                <a:spcPts val="1800"/>
              </a:spcAft>
            </a:pPr>
            <a:r>
              <a:rPr sz="1500" b="1" i="0">
                <a:solidFill>
                  <a:srgbClr val="C84B31"/>
                </a:solidFill>
                <a:latin typeface="Segoe UI"/>
              </a:rPr>
              <a:t>Q2  </a:t>
            </a:r>
            <a:r>
              <a:rPr sz="1500" b="0" i="0">
                <a:solidFill>
                  <a:srgbClr val="1C2833"/>
                </a:solidFill>
                <a:latin typeface="Segoe UI"/>
              </a:rPr>
              <a:t>Goodhart's law says a measure that becomes a target ceases to be a good measure. What follows for research that studies organisations already using the metric you intend to measure?</a:t>
            </a:r>
          </a:p>
          <a:p>
            <a:pPr>
              <a:spcAft>
                <a:spcPts val="1800"/>
              </a:spcAft>
            </a:pPr>
            <a:r>
              <a:rPr sz="1500" b="1" i="0">
                <a:solidFill>
                  <a:srgbClr val="C84B31"/>
                </a:solidFill>
                <a:latin typeface="Segoe UI"/>
              </a:rPr>
              <a:t>Q3  </a:t>
            </a:r>
            <a:r>
              <a:rPr sz="1500" b="0" i="0">
                <a:solidFill>
                  <a:srgbClr val="1C2833"/>
                </a:solidFill>
                <a:latin typeface="Segoe UI"/>
              </a:rPr>
              <a:t>Construct a case for the position that “developer productivity” is a coherent construct that we simply measure badly, and then the case that it is incoherent. Which do you find stronger…</a:t>
            </a:r>
          </a:p>
          <a:p>
            <a:pPr>
              <a:spcAft>
                <a:spcPts val="1800"/>
              </a:spcAft>
            </a:pPr>
            <a:r>
              <a:rPr sz="1500" b="1" i="0">
                <a:solidFill>
                  <a:srgbClr val="C84B31"/>
                </a:solidFill>
                <a:latin typeface="Segoe UI"/>
              </a:rPr>
              <a:t>Q4  </a:t>
            </a:r>
            <a:r>
              <a:rPr sz="1500" b="0" i="0">
                <a:solidFill>
                  <a:srgbClr val="1C2833"/>
                </a:solidFill>
                <a:latin typeface="Segoe UI"/>
              </a:rPr>
              <a:t>PhD Regs 2024 §14.3(B) lists reliability and validity as separate criteria. Design a dissertation-level demonstration that a new measure in your area satisfies both, and estimate what it…</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17 · Measurement Theory and Instrument Validity</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Review questions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fade">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35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468880"/>
            <a:ext cx="8229600" cy="914400"/>
          </a:xfrm>
          <a:prstGeom prst="rect">
            <a:avLst/>
          </a:prstGeom>
          <a:noFill/>
        </p:spPr>
        <p:txBody>
          <a:bodyPr wrap="square" anchor="t" lIns="0" rIns="0" tIns="0" bIns="0">
            <a:spAutoFit/>
          </a:bodyPr>
          <a:lstStyle/>
          <a:p>
            <a:r>
              <a:rPr sz="3400" b="1" i="0">
                <a:solidFill>
                  <a:srgbClr val="FFFFFF"/>
                </a:solidFill>
                <a:latin typeface="Georgia"/>
              </a:rPr>
              <a:t>End of Chapter 17</a:t>
            </a:r>
          </a:p>
        </p:txBody>
      </p:sp>
      <p:sp>
        <p:nvSpPr>
          <p:cNvPr id="5" name="TextBox 4"/>
          <p:cNvSpPr txBox="1"/>
          <p:nvPr/>
        </p:nvSpPr>
        <p:spPr>
          <a:xfrm>
            <a:off x="1280160" y="3566160"/>
            <a:ext cx="8686800" cy="1280160"/>
          </a:xfrm>
          <a:prstGeom prst="rect">
            <a:avLst/>
          </a:prstGeom>
          <a:noFill/>
        </p:spPr>
        <p:txBody>
          <a:bodyPr wrap="square" anchor="t" lIns="0" rIns="0" tIns="0" bIns="0">
            <a:spAutoFit/>
          </a:bodyPr>
          <a:lstStyle/>
          <a:p>
            <a:r>
              <a:rPr sz="1700" b="0" i="0">
                <a:solidFill>
                  <a:srgbClr val="E8F6F3"/>
                </a:solidFill>
                <a:latin typeface="Segoe UI"/>
              </a:rPr>
              <a:t>Next: </a:t>
            </a:r>
            <a:r>
              <a:rPr sz="1700" b="1" i="0">
                <a:solidFill>
                  <a:srgbClr val="FFFFFF"/>
                </a:solidFill>
                <a:latin typeface="Segoe UI"/>
              </a:rPr>
              <a:t>Ch. 18 — Sampling and Study Power</a:t>
            </a:r>
          </a:p>
          <a:p>
            <a:pPr>
              <a:spcBef>
                <a:spcPts val="1200"/>
              </a:spcBef>
            </a:pPr>
            <a:r>
              <a:rPr sz="1300" b="0" i="1">
                <a:solidFill>
                  <a:srgbClr val="E8F6F3"/>
                </a:solidFill>
                <a:latin typeface="Segoe UI"/>
              </a:rPr>
              <a:t>Read the chapter in the handout before the next session.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4"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slide(fromBottom)">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