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201168" cy="68580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985455" y="0"/>
            <a:ext cx="4206240" cy="6858000"/>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005840" y="1371600"/>
            <a:ext cx="6766560" cy="365760"/>
          </a:xfrm>
          <a:prstGeom prst="rect">
            <a:avLst/>
          </a:prstGeom>
          <a:noFill/>
        </p:spPr>
        <p:txBody>
          <a:bodyPr wrap="square" anchor="t" lIns="0" rIns="0" tIns="0" bIns="0">
            <a:spAutoFit/>
          </a:bodyPr>
          <a:lstStyle/>
          <a:p>
            <a:r>
              <a:rPr sz="1400" b="1" i="0">
                <a:solidFill>
                  <a:srgbClr val="E8F6F3"/>
                </a:solidFill>
                <a:latin typeface="Segoe UI"/>
              </a:rPr>
              <a:t>CHAPTER 20</a:t>
            </a:r>
          </a:p>
        </p:txBody>
      </p:sp>
      <p:sp>
        <p:nvSpPr>
          <p:cNvPr id="6" name="TextBox 5"/>
          <p:cNvSpPr txBox="1"/>
          <p:nvPr/>
        </p:nvSpPr>
        <p:spPr>
          <a:xfrm>
            <a:off x="1005840" y="1828800"/>
            <a:ext cx="6675120" cy="2194560"/>
          </a:xfrm>
          <a:prstGeom prst="rect">
            <a:avLst/>
          </a:prstGeom>
          <a:noFill/>
        </p:spPr>
        <p:txBody>
          <a:bodyPr wrap="square" anchor="t" lIns="0" rIns="0" tIns="0" bIns="0">
            <a:spAutoFit/>
          </a:bodyPr>
          <a:lstStyle/>
          <a:p>
            <a:r>
              <a:rPr sz="4000" b="1" i="0">
                <a:solidFill>
                  <a:srgbClr val="FFFFFF"/>
                </a:solidFill>
                <a:latin typeface="Georgia"/>
              </a:rPr>
              <a:t>Regression and Modelling for Inference</a:t>
            </a:r>
          </a:p>
        </p:txBody>
      </p:sp>
      <p:sp>
        <p:nvSpPr>
          <p:cNvPr id="7" name="Rectangle 6"/>
          <p:cNvSpPr/>
          <p:nvPr/>
        </p:nvSpPr>
        <p:spPr>
          <a:xfrm>
            <a:off x="1005840" y="4206240"/>
            <a:ext cx="118872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05840" y="4480560"/>
            <a:ext cx="6675120" cy="914400"/>
          </a:xfrm>
          <a:prstGeom prst="rect">
            <a:avLst/>
          </a:prstGeom>
          <a:noFill/>
        </p:spPr>
        <p:txBody>
          <a:bodyPr wrap="square" anchor="t" lIns="0" rIns="0" tIns="0" bIns="0">
            <a:spAutoFit/>
          </a:bodyPr>
          <a:lstStyle/>
          <a:p>
            <a:r>
              <a:rPr sz="1600" b="0" i="0">
                <a:solidFill>
                  <a:srgbClr val="E8F6F3"/>
                </a:solidFill>
                <a:latin typeface="Segoe UI"/>
              </a:rPr>
              <a:t>Part 4 — Measurement, Data and Analysis</a:t>
            </a:r>
          </a:p>
          <a:p>
            <a:r>
              <a:rPr sz="1300" b="0" i="1">
                <a:solidFill>
                  <a:srgbClr val="E8F6F3"/>
                </a:solidFill>
                <a:latin typeface="Segoe UI"/>
              </a:rPr>
              <a:t>Advanced Research Methodology · Fall 2026</a:t>
            </a:r>
          </a:p>
        </p:txBody>
      </p:sp>
      <p:sp>
        <p:nvSpPr>
          <p:cNvPr id="9" name="TextBox 8"/>
          <p:cNvSpPr txBox="1"/>
          <p:nvPr/>
        </p:nvSpPr>
        <p:spPr>
          <a:xfrm>
            <a:off x="8442656" y="2194560"/>
            <a:ext cx="2834640" cy="2743200"/>
          </a:xfrm>
          <a:prstGeom prst="rect">
            <a:avLst/>
          </a:prstGeom>
          <a:noFill/>
        </p:spPr>
        <p:txBody>
          <a:bodyPr wrap="square" anchor="t" lIns="0" rIns="0" tIns="0" bIns="0">
            <a:spAutoFit/>
          </a:bodyPr>
          <a:lstStyle/>
          <a:p>
            <a:r>
              <a:rPr sz="1500" b="1" i="0">
                <a:solidFill>
                  <a:srgbClr val="FFFFFF"/>
                </a:solidFill>
                <a:latin typeface="Segoe UI"/>
              </a:rPr>
              <a:t>MS IT / PhD IT</a:t>
            </a:r>
          </a:p>
          <a:p>
            <a:pPr>
              <a:spcBef>
                <a:spcPts val="600"/>
              </a:spcBef>
            </a:pPr>
            <a:r>
              <a:rPr sz="1200" b="0" i="0">
                <a:solidFill>
                  <a:srgbClr val="E8F6F3"/>
                </a:solidFill>
                <a:latin typeface="Segoe UI"/>
              </a:rPr>
              <a:t>Department of Information Technology
The Islamia University of Bahawalpur</a:t>
            </a:r>
          </a:p>
          <a:p>
            <a:pPr>
              <a:spcBef>
                <a:spcPts val="1400"/>
              </a:spcBef>
            </a:pPr>
            <a:r>
              <a:rPr sz="1200" b="0" i="0">
                <a:solidFill>
                  <a:srgbClr val="E8F6F3"/>
                </a:solidFill>
                <a:latin typeface="Segoe UI"/>
              </a:rPr>
              <a:t>Fall 2026</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slide(fromBottom)">
                                      <p:cBhvr>
                                        <p:cTn id="13" dur="6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right)">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LEARNING OUTCOMES</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By the end of this chapter</a:t>
            </a:r>
          </a:p>
        </p:txBody>
      </p:sp>
      <p:sp>
        <p:nvSpPr>
          <p:cNvPr id="7" name="TextBox 6"/>
          <p:cNvSpPr txBox="1"/>
          <p:nvPr/>
        </p:nvSpPr>
        <p:spPr>
          <a:xfrm>
            <a:off x="777240" y="1828800"/>
            <a:ext cx="10637215" cy="4114800"/>
          </a:xfrm>
          <a:prstGeom prst="rect">
            <a:avLst/>
          </a:prstGeom>
          <a:noFill/>
        </p:spPr>
        <p:txBody>
          <a:bodyPr wrap="square" anchor="t" lIns="0" rIns="0" tIns="0" bIns="0">
            <a:spAutoFit/>
          </a:bodyPr>
          <a:lstStyle/>
          <a:p>
            <a:pPr>
              <a:spcAft>
                <a:spcPts val="1400"/>
              </a:spcAft>
            </a:pPr>
            <a:r>
              <a:rPr sz="1700" b="1" i="0">
                <a:solidFill>
                  <a:srgbClr val="C84B31"/>
                </a:solidFill>
                <a:latin typeface="Segoe UI"/>
              </a:rPr>
              <a:t>▸  </a:t>
            </a:r>
            <a:r>
              <a:rPr sz="1700" b="1" i="0">
                <a:solidFill>
                  <a:srgbClr val="0E4D64"/>
                </a:solidFill>
                <a:latin typeface="Segoe UI"/>
              </a:rPr>
              <a:t>Interpret </a:t>
            </a:r>
            <a:r>
              <a:rPr sz="1700" b="0" i="0">
                <a:solidFill>
                  <a:srgbClr val="1C2833"/>
                </a:solidFill>
                <a:latin typeface="Segoe UI"/>
              </a:rPr>
              <a:t>a regression coefficient correctly, including the conditioning clause everyone omits.</a:t>
            </a:r>
          </a:p>
          <a:p>
            <a:pPr>
              <a:spcAft>
                <a:spcPts val="1400"/>
              </a:spcAft>
            </a:pPr>
            <a:r>
              <a:rPr sz="1700" b="1" i="0">
                <a:solidFill>
                  <a:srgbClr val="C84B31"/>
                </a:solidFill>
                <a:latin typeface="Segoe UI"/>
              </a:rPr>
              <a:t>▸  </a:t>
            </a:r>
            <a:r>
              <a:rPr sz="1700" b="1" i="0">
                <a:solidFill>
                  <a:srgbClr val="0E4D64"/>
                </a:solidFill>
                <a:latin typeface="Segoe UI"/>
              </a:rPr>
              <a:t>Choose </a:t>
            </a:r>
            <a:r>
              <a:rPr sz="1700" b="0" i="0">
                <a:solidFill>
                  <a:srgbClr val="1C2833"/>
                </a:solidFill>
                <a:latin typeface="Segoe UI"/>
              </a:rPr>
              <a:t>among linear, logistic, Poisson and negative binomial models by the shape of the outcome.</a:t>
            </a:r>
          </a:p>
          <a:p>
            <a:pPr>
              <a:spcAft>
                <a:spcPts val="1400"/>
              </a:spcAft>
            </a:pPr>
            <a:r>
              <a:rPr sz="1700" b="1" i="0">
                <a:solidFill>
                  <a:srgbClr val="C84B31"/>
                </a:solidFill>
                <a:latin typeface="Segoe UI"/>
              </a:rPr>
              <a:t>▸  </a:t>
            </a:r>
            <a:r>
              <a:rPr sz="1700" b="1" i="0">
                <a:solidFill>
                  <a:srgbClr val="0E4D64"/>
                </a:solidFill>
                <a:latin typeface="Segoe UI"/>
              </a:rPr>
              <a:t>Specify </a:t>
            </a:r>
            <a:r>
              <a:rPr sz="1700" b="0" i="0">
                <a:solidFill>
                  <a:srgbClr val="1C2833"/>
                </a:solidFill>
                <a:latin typeface="Segoe UI"/>
              </a:rPr>
              <a:t>a mixed-effects model when observations are nested.</a:t>
            </a:r>
          </a:p>
          <a:p>
            <a:pPr>
              <a:spcAft>
                <a:spcPts val="1400"/>
              </a:spcAft>
            </a:pPr>
            <a:r>
              <a:rPr sz="1700" b="1" i="0">
                <a:solidFill>
                  <a:srgbClr val="C84B31"/>
                </a:solidFill>
                <a:latin typeface="Segoe UI"/>
              </a:rPr>
              <a:t>▸  </a:t>
            </a:r>
            <a:r>
              <a:rPr sz="1700" b="1" i="0">
                <a:solidFill>
                  <a:srgbClr val="0E4D64"/>
                </a:solidFill>
                <a:latin typeface="Segoe UI"/>
              </a:rPr>
              <a:t>Distinguish </a:t>
            </a:r>
            <a:r>
              <a:rPr sz="1700" b="0" i="0">
                <a:solidFill>
                  <a:srgbClr val="1C2833"/>
                </a:solidFill>
                <a:latin typeface="Segoe UI"/>
              </a:rPr>
              <a:t>modelling for explanation from modelling for prediction, and stop using the tools of one for the other.</a:t>
            </a:r>
          </a:p>
          <a:p>
            <a:pPr>
              <a:spcAft>
                <a:spcPts val="1400"/>
              </a:spcAft>
            </a:pPr>
            <a:r>
              <a:rPr sz="1700" b="1" i="0">
                <a:solidFill>
                  <a:srgbClr val="C84B31"/>
                </a:solidFill>
                <a:latin typeface="Segoe UI"/>
              </a:rPr>
              <a:t>▸  </a:t>
            </a:r>
            <a:r>
              <a:rPr sz="1700" b="1" i="0">
                <a:solidFill>
                  <a:srgbClr val="0E4D64"/>
                </a:solidFill>
                <a:latin typeface="Segoe UI"/>
              </a:rPr>
              <a:t>Report </a:t>
            </a:r>
            <a:r>
              <a:rPr sz="1700" b="0" i="0">
                <a:solidFill>
                  <a:srgbClr val="1C2833"/>
                </a:solidFill>
                <a:latin typeface="Segoe UI"/>
              </a:rPr>
              <a:t>a model completely enough to be reproduced.</a:t>
            </a:r>
          </a:p>
        </p:txBody>
      </p:sp>
      <p:sp>
        <p:nvSpPr>
          <p:cNvPr id="8" name="Rectangle 7"/>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20 · Regression and Modelling for Inference</a:t>
            </a: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Outcomes</a:t>
            </a:r>
          </a:p>
        </p:txBody>
      </p:sp>
    </p:spTree>
  </p:cSld>
  <p:clrMapOvr>
    <a:masterClrMapping/>
  </p:clrMapOvr>
  <p:transition spd="med">
    <p:push dir="u"/>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xEl>
                                              <p:pRg st="0" end="0"/>
                                            </p:txEl>
                                          </p:spTgt>
                                        </p:tgtEl>
                                        <p:attrNameLst>
                                          <p:attrName>style.visibility</p:attrName>
                                        </p:attrNameLst>
                                      </p:cBhvr>
                                      <p:to>
                                        <p:strVal val="visible"/>
                                      </p:to>
                                    </p:set>
                                    <p:animEffect transition="in" filter="wipe(up)">
                                      <p:cBhvr>
                                        <p:cTn id="8" dur="350"/>
                                        <p:tgtEl>
                                          <p:spTgt spid="7">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Effect transition="in" filter="wipe(up)">
                                      <p:cBhvr>
                                        <p:cTn id="13" dur="350"/>
                                        <p:tgtEl>
                                          <p:spTgt spid="7">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7">
                                            <p:txEl>
                                              <p:pRg st="2" end="2"/>
                                            </p:txEl>
                                          </p:spTgt>
                                        </p:tgtEl>
                                        <p:attrNameLst>
                                          <p:attrName>style.visibility</p:attrName>
                                        </p:attrNameLst>
                                      </p:cBhvr>
                                      <p:to>
                                        <p:strVal val="visible"/>
                                      </p:to>
                                    </p:set>
                                    <p:animEffect transition="in" filter="wipe(up)">
                                      <p:cBhvr>
                                        <p:cTn id="18" dur="350"/>
                                        <p:tgtEl>
                                          <p:spTgt spid="7">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animEffect transition="in" filter="wipe(up)">
                                      <p:cBhvr>
                                        <p:cTn id="23" dur="350"/>
                                        <p:tgtEl>
                                          <p:spTgt spid="7">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7">
                                            <p:txEl>
                                              <p:pRg st="4" end="4"/>
                                            </p:txEl>
                                          </p:spTgt>
                                        </p:tgtEl>
                                        <p:attrNameLst>
                                          <p:attrName>style.visibility</p:attrName>
                                        </p:attrNameLst>
                                      </p:cBhvr>
                                      <p:to>
                                        <p:strVal val="visible"/>
                                      </p:to>
                                    </p:set>
                                    <p:animEffect transition="in" filter="wipe(up)">
                                      <p:cBhvr>
                                        <p:cTn id="28" dur="35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KEY TERMS</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The vocabulary of this chapter</a:t>
            </a:r>
          </a:p>
        </p:txBody>
      </p:sp>
      <p:sp>
        <p:nvSpPr>
          <p:cNvPr id="7" name="TextBox 6"/>
          <p:cNvSpPr txBox="1"/>
          <p:nvPr/>
        </p:nvSpPr>
        <p:spPr>
          <a:xfrm>
            <a:off x="777240" y="1828800"/>
            <a:ext cx="3423818" cy="4114800"/>
          </a:xfrm>
          <a:prstGeom prst="rect">
            <a:avLst/>
          </a:prstGeom>
          <a:noFill/>
        </p:spPr>
        <p:txBody>
          <a:bodyPr wrap="square" anchor="t" lIns="0" rIns="0" tIns="0" bIns="0">
            <a:spAutoFit/>
          </a:bodyPr>
          <a:lstStyle/>
          <a:p>
            <a:pPr>
              <a:spcAft>
                <a:spcPts val="1100"/>
              </a:spcAft>
            </a:pPr>
            <a:r>
              <a:rPr sz="1400" b="0" i="0">
                <a:solidFill>
                  <a:srgbClr val="C84B31"/>
                </a:solidFill>
                <a:latin typeface="Segoe UI"/>
              </a:rPr>
              <a:t>▪  </a:t>
            </a:r>
            <a:r>
              <a:rPr sz="1400" b="0" i="0">
                <a:solidFill>
                  <a:srgbClr val="1C2833"/>
                </a:solidFill>
                <a:latin typeface="Segoe UI"/>
              </a:rPr>
              <a:t>linear model</a:t>
            </a:r>
          </a:p>
          <a:p>
            <a:pPr>
              <a:spcAft>
                <a:spcPts val="1100"/>
              </a:spcAft>
            </a:pPr>
            <a:r>
              <a:rPr sz="1400" b="0" i="0">
                <a:solidFill>
                  <a:srgbClr val="C84B31"/>
                </a:solidFill>
                <a:latin typeface="Segoe UI"/>
              </a:rPr>
              <a:t>▪  </a:t>
            </a:r>
            <a:r>
              <a:rPr sz="1400" b="0" i="0">
                <a:solidFill>
                  <a:srgbClr val="1C2833"/>
                </a:solidFill>
                <a:latin typeface="Segoe UI"/>
              </a:rPr>
              <a:t>coefficient</a:t>
            </a:r>
          </a:p>
          <a:p>
            <a:pPr>
              <a:spcAft>
                <a:spcPts val="1100"/>
              </a:spcAft>
            </a:pPr>
            <a:r>
              <a:rPr sz="1400" b="0" i="0">
                <a:solidFill>
                  <a:srgbClr val="C84B31"/>
                </a:solidFill>
                <a:latin typeface="Segoe UI"/>
              </a:rPr>
              <a:t>▪  </a:t>
            </a:r>
            <a:r>
              <a:rPr sz="1400" b="0" i="0">
                <a:solidFill>
                  <a:srgbClr val="1C2833"/>
                </a:solidFill>
                <a:latin typeface="Segoe UI"/>
              </a:rPr>
              <a:t>residual</a:t>
            </a:r>
          </a:p>
          <a:p>
            <a:pPr>
              <a:spcAft>
                <a:spcPts val="1100"/>
              </a:spcAft>
            </a:pPr>
            <a:r>
              <a:rPr sz="1400" b="0" i="0">
                <a:solidFill>
                  <a:srgbClr val="C84B31"/>
                </a:solidFill>
                <a:latin typeface="Segoe UI"/>
              </a:rPr>
              <a:t>▪  </a:t>
            </a:r>
            <a:r>
              <a:rPr sz="1400" b="0" i="0">
                <a:solidFill>
                  <a:srgbClr val="1C2833"/>
                </a:solidFill>
                <a:latin typeface="Segoe UI"/>
              </a:rPr>
              <a:t>logistic regression</a:t>
            </a:r>
          </a:p>
          <a:p>
            <a:pPr>
              <a:spcAft>
                <a:spcPts val="1100"/>
              </a:spcAft>
            </a:pPr>
            <a:r>
              <a:rPr sz="1400" b="0" i="0">
                <a:solidFill>
                  <a:srgbClr val="C84B31"/>
                </a:solidFill>
                <a:latin typeface="Segoe UI"/>
              </a:rPr>
              <a:t>▪  </a:t>
            </a:r>
            <a:r>
              <a:rPr sz="1400" b="0" i="0">
                <a:solidFill>
                  <a:srgbClr val="1C2833"/>
                </a:solidFill>
                <a:latin typeface="Segoe UI"/>
              </a:rPr>
              <a:t>odds ratio</a:t>
            </a:r>
          </a:p>
        </p:txBody>
      </p:sp>
      <p:sp>
        <p:nvSpPr>
          <p:cNvPr id="8" name="TextBox 7"/>
          <p:cNvSpPr txBox="1"/>
          <p:nvPr/>
        </p:nvSpPr>
        <p:spPr>
          <a:xfrm>
            <a:off x="4383938" y="1828800"/>
            <a:ext cx="3423818" cy="4114800"/>
          </a:xfrm>
          <a:prstGeom prst="rect">
            <a:avLst/>
          </a:prstGeom>
          <a:noFill/>
        </p:spPr>
        <p:txBody>
          <a:bodyPr wrap="square" anchor="t" lIns="0" rIns="0" tIns="0" bIns="0">
            <a:spAutoFit/>
          </a:bodyPr>
          <a:lstStyle/>
          <a:p>
            <a:pPr>
              <a:spcAft>
                <a:spcPts val="1100"/>
              </a:spcAft>
            </a:pPr>
            <a:r>
              <a:rPr sz="1400" b="0" i="0">
                <a:solidFill>
                  <a:srgbClr val="C84B31"/>
                </a:solidFill>
                <a:latin typeface="Segoe UI"/>
              </a:rPr>
              <a:t>▪  </a:t>
            </a:r>
            <a:r>
              <a:rPr sz="1400" b="0" i="0">
                <a:solidFill>
                  <a:srgbClr val="1C2833"/>
                </a:solidFill>
                <a:latin typeface="Segoe UI"/>
              </a:rPr>
              <a:t>Poisson and negative binomial</a:t>
            </a:r>
          </a:p>
          <a:p>
            <a:pPr>
              <a:spcAft>
                <a:spcPts val="1100"/>
              </a:spcAft>
            </a:pPr>
            <a:r>
              <a:rPr sz="1400" b="0" i="0">
                <a:solidFill>
                  <a:srgbClr val="C84B31"/>
                </a:solidFill>
                <a:latin typeface="Segoe UI"/>
              </a:rPr>
              <a:t>▪  </a:t>
            </a:r>
            <a:r>
              <a:rPr sz="1400" b="0" i="0">
                <a:solidFill>
                  <a:srgbClr val="1C2833"/>
                </a:solidFill>
                <a:latin typeface="Segoe UI"/>
              </a:rPr>
              <a:t>overdispersion</a:t>
            </a:r>
          </a:p>
          <a:p>
            <a:pPr>
              <a:spcAft>
                <a:spcPts val="1100"/>
              </a:spcAft>
            </a:pPr>
            <a:r>
              <a:rPr sz="1400" b="0" i="0">
                <a:solidFill>
                  <a:srgbClr val="C84B31"/>
                </a:solidFill>
                <a:latin typeface="Segoe UI"/>
              </a:rPr>
              <a:t>▪  </a:t>
            </a:r>
            <a:r>
              <a:rPr sz="1400" b="0" i="0">
                <a:solidFill>
                  <a:srgbClr val="1C2833"/>
                </a:solidFill>
                <a:latin typeface="Segoe UI"/>
              </a:rPr>
              <a:t>mixed-effects model</a:t>
            </a:r>
          </a:p>
          <a:p>
            <a:pPr>
              <a:spcAft>
                <a:spcPts val="1100"/>
              </a:spcAft>
            </a:pPr>
            <a:r>
              <a:rPr sz="1400" b="0" i="0">
                <a:solidFill>
                  <a:srgbClr val="C84B31"/>
                </a:solidFill>
                <a:latin typeface="Segoe UI"/>
              </a:rPr>
              <a:t>▪  </a:t>
            </a:r>
            <a:r>
              <a:rPr sz="1400" b="0" i="0">
                <a:solidFill>
                  <a:srgbClr val="1C2833"/>
                </a:solidFill>
                <a:latin typeface="Segoe UI"/>
              </a:rPr>
              <a:t>random intercept and slope</a:t>
            </a:r>
          </a:p>
          <a:p>
            <a:pPr>
              <a:spcAft>
                <a:spcPts val="1100"/>
              </a:spcAft>
            </a:pPr>
            <a:r>
              <a:rPr sz="1400" b="0" i="0">
                <a:solidFill>
                  <a:srgbClr val="C84B31"/>
                </a:solidFill>
                <a:latin typeface="Segoe UI"/>
              </a:rPr>
              <a:t>▪  </a:t>
            </a:r>
            <a:r>
              <a:rPr sz="1400" b="0" i="0">
                <a:solidFill>
                  <a:srgbClr val="1C2833"/>
                </a:solidFill>
                <a:latin typeface="Segoe UI"/>
              </a:rPr>
              <a:t>collinearity</a:t>
            </a:r>
          </a:p>
        </p:txBody>
      </p:sp>
      <p:sp>
        <p:nvSpPr>
          <p:cNvPr id="9" name="TextBox 8"/>
          <p:cNvSpPr txBox="1"/>
          <p:nvPr/>
        </p:nvSpPr>
        <p:spPr>
          <a:xfrm>
            <a:off x="7990636" y="1828800"/>
            <a:ext cx="3423818" cy="4114800"/>
          </a:xfrm>
          <a:prstGeom prst="rect">
            <a:avLst/>
          </a:prstGeom>
          <a:noFill/>
        </p:spPr>
        <p:txBody>
          <a:bodyPr wrap="square" anchor="t" lIns="0" rIns="0" tIns="0" bIns="0">
            <a:spAutoFit/>
          </a:bodyPr>
          <a:lstStyle/>
          <a:p>
            <a:pPr>
              <a:spcAft>
                <a:spcPts val="1100"/>
              </a:spcAft>
            </a:pPr>
            <a:r>
              <a:rPr sz="1400" b="0" i="0">
                <a:solidFill>
                  <a:srgbClr val="C84B31"/>
                </a:solidFill>
                <a:latin typeface="Segoe UI"/>
              </a:rPr>
              <a:t>▪  </a:t>
            </a:r>
            <a:r>
              <a:rPr sz="1400" b="0" i="0">
                <a:solidFill>
                  <a:srgbClr val="1C2833"/>
                </a:solidFill>
                <a:latin typeface="Segoe UI"/>
              </a:rPr>
              <a:t>VIF</a:t>
            </a:r>
          </a:p>
          <a:p>
            <a:pPr>
              <a:spcAft>
                <a:spcPts val="1100"/>
              </a:spcAft>
            </a:pPr>
            <a:r>
              <a:rPr sz="1400" b="0" i="0">
                <a:solidFill>
                  <a:srgbClr val="C84B31"/>
                </a:solidFill>
                <a:latin typeface="Segoe UI"/>
              </a:rPr>
              <a:t>▪  </a:t>
            </a:r>
            <a:r>
              <a:rPr sz="1400" b="0" i="0">
                <a:solidFill>
                  <a:srgbClr val="1C2833"/>
                </a:solidFill>
                <a:latin typeface="Segoe UI"/>
              </a:rPr>
              <a:t>stepwise selection</a:t>
            </a:r>
          </a:p>
          <a:p>
            <a:pPr>
              <a:spcAft>
                <a:spcPts val="1100"/>
              </a:spcAft>
            </a:pPr>
            <a:r>
              <a:rPr sz="1400" b="0" i="0">
                <a:solidFill>
                  <a:srgbClr val="C84B31"/>
                </a:solidFill>
                <a:latin typeface="Segoe UI"/>
              </a:rPr>
              <a:t>▪  </a:t>
            </a:r>
            <a:r>
              <a:rPr sz="1400" b="0" i="0">
                <a:solidFill>
                  <a:srgbClr val="1C2833"/>
                </a:solidFill>
                <a:latin typeface="Segoe UI"/>
              </a:rPr>
              <a:t>explanation versus prediction</a:t>
            </a:r>
          </a:p>
        </p:txBody>
      </p:sp>
      <p:sp>
        <p:nvSpPr>
          <p:cNvPr id="10" name="Rectangle 9"/>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20 · Regression and Modelling for Inference</a:t>
            </a:r>
          </a:p>
        </p:txBody>
      </p:sp>
      <p:sp>
        <p:nvSpPr>
          <p:cNvPr id="12" name="TextBox 11"/>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Key terms</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400"/>
                                        <p:tgtEl>
                                          <p:spTgt spid="7"/>
                                        </p:tgtEl>
                                      </p:cBhvr>
                                    </p:animEffect>
                                  </p:childTnLst>
                                </p:cTn>
                              </p:par>
                              <p:par>
                                <p:cTn id="9" presetID="23" presetClass="entr" presetSubtype="16"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zoom(in)">
                                      <p:cBhvr>
                                        <p:cTn id="11" dur="400"/>
                                        <p:tgtEl>
                                          <p:spTgt spid="8"/>
                                        </p:tgtEl>
                                      </p:cBhvr>
                                    </p:animEffect>
                                  </p:childTnLst>
                                </p:cTn>
                              </p:par>
                              <p:par>
                                <p:cTn id="12" presetID="23" presetClass="entr" presetSubtype="16"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zoom(in)">
                                      <p:cBhvr>
                                        <p:cTn id="14"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2377440"/>
            <a:ext cx="10637215" cy="365760"/>
          </a:xfrm>
          <a:prstGeom prst="rect">
            <a:avLst/>
          </a:prstGeom>
          <a:noFill/>
        </p:spPr>
        <p:txBody>
          <a:bodyPr wrap="square" anchor="t" lIns="0" rIns="0" tIns="0" bIns="0">
            <a:spAutoFit/>
          </a:bodyPr>
          <a:lstStyle/>
          <a:p>
            <a:r>
              <a:rPr sz="1300" b="1" i="0">
                <a:solidFill>
                  <a:srgbClr val="E8F6F3"/>
                </a:solidFill>
                <a:latin typeface="Segoe UI"/>
              </a:rPr>
              <a:t>SECTION 1 OF 4</a:t>
            </a:r>
          </a:p>
        </p:txBody>
      </p:sp>
      <p:sp>
        <p:nvSpPr>
          <p:cNvPr id="5" name="TextBox 4"/>
          <p:cNvSpPr txBox="1"/>
          <p:nvPr/>
        </p:nvSpPr>
        <p:spPr>
          <a:xfrm>
            <a:off x="777240" y="2788920"/>
            <a:ext cx="9722815" cy="1645920"/>
          </a:xfrm>
          <a:prstGeom prst="rect">
            <a:avLst/>
          </a:prstGeom>
          <a:noFill/>
        </p:spPr>
        <p:txBody>
          <a:bodyPr wrap="square" anchor="t" lIns="0" rIns="0" tIns="0" bIns="0">
            <a:spAutoFit/>
          </a:bodyPr>
          <a:lstStyle/>
          <a:p>
            <a:r>
              <a:rPr sz="3400" b="1" i="0">
                <a:solidFill>
                  <a:srgbClr val="FFFFFF"/>
                </a:solidFill>
                <a:latin typeface="Georgia"/>
              </a:rPr>
              <a:t>What a Coefficient Means</a:t>
            </a:r>
          </a:p>
        </p:txBody>
      </p:sp>
      <p:sp>
        <p:nvSpPr>
          <p:cNvPr id="6" name="Rectangle 5"/>
          <p:cNvSpPr/>
          <p:nvPr/>
        </p:nvSpPr>
        <p:spPr>
          <a:xfrm>
            <a:off x="777240" y="4343400"/>
            <a:ext cx="1463040" cy="508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transition spd="med">
    <p:wipe dir="d"/>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300"/>
                                        <p:tgtEl>
                                          <p:spTgt spid="4"/>
                                        </p:tgtEl>
                                      </p:cBhvr>
                                    </p:animEffect>
                                  </p:childTnLst>
                                </p:cTn>
                              </p:par>
                              <p:par>
                                <p:cTn id="9" presetID="2" presetClass="entr" presetSubtype="8"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Left)">
                                      <p:cBhvr>
                                        <p:cTn id="11" dur="500"/>
                                        <p:tgtEl>
                                          <p:spTgt spid="5"/>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right)">
                                      <p:cBhvr>
                                        <p:cTn id="14"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PART 4 · CH. 20</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What a Coefficient Means</a:t>
            </a:r>
          </a:p>
        </p:txBody>
      </p:sp>
      <p:sp>
        <p:nvSpPr>
          <p:cNvPr id="7" name="Rectangle 6"/>
          <p:cNvSpPr/>
          <p:nvPr/>
        </p:nvSpPr>
        <p:spPr>
          <a:xfrm>
            <a:off x="777240" y="2574036"/>
            <a:ext cx="54864" cy="1207008"/>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33272" y="2574036"/>
            <a:ext cx="10381183" cy="1207008"/>
          </a:xfrm>
          <a:prstGeom prst="rect">
            <a:avLst/>
          </a:prstGeom>
          <a:noFill/>
        </p:spPr>
        <p:txBody>
          <a:bodyPr wrap="square" anchor="t" lIns="0" rIns="0" tIns="0" bIns="0">
            <a:spAutoFit/>
          </a:bodyPr>
          <a:lstStyle/>
          <a:p>
            <a:pPr>
              <a:spcAft>
                <a:spcPts val="400"/>
              </a:spcAft>
            </a:pPr>
            <a:r>
              <a:rPr sz="1000" b="1" i="0">
                <a:solidFill>
                  <a:srgbClr val="C84B31"/>
                </a:solidFill>
                <a:latin typeface="Segoe UI"/>
              </a:rPr>
              <a:t>DEFINITION   </a:t>
            </a:r>
            <a:r>
              <a:rPr sz="1700" b="1" i="0">
                <a:solidFill>
                  <a:srgbClr val="0E4D64"/>
                </a:solidFill>
                <a:latin typeface="Segoe UI"/>
              </a:rPr>
              <a:t>The conditioning clause</a:t>
            </a:r>
          </a:p>
          <a:p>
            <a:r>
              <a:rPr sz="1400" b="0" i="0">
                <a:solidFill>
                  <a:srgbClr val="1C2833"/>
                </a:solidFill>
                <a:latin typeface="Segoe UI"/>
              </a:rPr>
              <a:t>In y = β_0 + β_1 x_1 + β_2 x_2 +, the coefficient β_1 is the expected change in y for a one-unit increase in x_1 holding x_2 fixed.</a:t>
            </a:r>
          </a:p>
        </p:txBody>
      </p:sp>
      <p:sp>
        <p:nvSpPr>
          <p:cNvPr id="9" name="Rectangle 8"/>
          <p:cNvSpPr/>
          <p:nvPr/>
        </p:nvSpPr>
        <p:spPr>
          <a:xfrm>
            <a:off x="777240" y="3991356"/>
            <a:ext cx="54864" cy="120700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033272" y="3991356"/>
            <a:ext cx="10381183" cy="1207008"/>
          </a:xfrm>
          <a:prstGeom prst="rect">
            <a:avLst/>
          </a:prstGeom>
          <a:noFill/>
        </p:spPr>
        <p:txBody>
          <a:bodyPr wrap="square" anchor="t" lIns="0" rIns="0" tIns="0" bIns="0">
            <a:spAutoFit/>
          </a:bodyPr>
          <a:lstStyle/>
          <a:p>
            <a:pPr>
              <a:spcAft>
                <a:spcPts val="400"/>
              </a:spcAft>
            </a:pPr>
            <a:r>
              <a:rPr sz="1000" b="1" i="0">
                <a:solidFill>
                  <a:srgbClr val="B7950B"/>
                </a:solidFill>
                <a:latin typeface="Segoe UI"/>
              </a:rPr>
              <a:t>WATCH OUT   </a:t>
            </a:r>
            <a:r>
              <a:rPr sz="1700" b="1" i="0">
                <a:solidFill>
                  <a:srgbClr val="0E4D64"/>
                </a:solidFill>
                <a:latin typeface="Segoe UI"/>
              </a:rPr>
              <a:t>Which covariates to include is a causal question, not a statistical…</a:t>
            </a:r>
          </a:p>
          <a:p>
            <a:r>
              <a:rPr sz="1400" b="0" i="0">
                <a:solidFill>
                  <a:srgbClr val="1C2833"/>
                </a:solidFill>
                <a:latin typeface="Segoe UI"/>
              </a:rPr>
              <a:t>The habit of including every available variable “to control for them” is actively harmful, and which variables belong depends on their causal role (Ch. 3).</a:t>
            </a:r>
          </a:p>
        </p:txBody>
      </p:sp>
      <p:sp>
        <p:nvSpPr>
          <p:cNvPr id="11" name="Rectangle 10"/>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20 · Regression and Modelling for Inference</a:t>
            </a:r>
          </a:p>
        </p:txBody>
      </p:sp>
      <p:sp>
        <p:nvSpPr>
          <p:cNvPr id="13" name="TextBox 12"/>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What a Coefficient Means</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wipe(up)">
                                      <p:cBhvr>
                                        <p:cTn id="8" dur="3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up)">
                                      <p:cBhvr>
                                        <p:cTn id="16" dur="3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2377440"/>
            <a:ext cx="10637215" cy="365760"/>
          </a:xfrm>
          <a:prstGeom prst="rect">
            <a:avLst/>
          </a:prstGeom>
          <a:noFill/>
        </p:spPr>
        <p:txBody>
          <a:bodyPr wrap="square" anchor="t" lIns="0" rIns="0" tIns="0" bIns="0">
            <a:spAutoFit/>
          </a:bodyPr>
          <a:lstStyle/>
          <a:p>
            <a:r>
              <a:rPr sz="1300" b="1" i="0">
                <a:solidFill>
                  <a:srgbClr val="E8F6F3"/>
                </a:solidFill>
                <a:latin typeface="Segoe UI"/>
              </a:rPr>
              <a:t>SECTION 2 OF 4</a:t>
            </a:r>
          </a:p>
        </p:txBody>
      </p:sp>
      <p:sp>
        <p:nvSpPr>
          <p:cNvPr id="5" name="TextBox 4"/>
          <p:cNvSpPr txBox="1"/>
          <p:nvPr/>
        </p:nvSpPr>
        <p:spPr>
          <a:xfrm>
            <a:off x="777240" y="2788920"/>
            <a:ext cx="9722815" cy="1645920"/>
          </a:xfrm>
          <a:prstGeom prst="rect">
            <a:avLst/>
          </a:prstGeom>
          <a:noFill/>
        </p:spPr>
        <p:txBody>
          <a:bodyPr wrap="square" anchor="t" lIns="0" rIns="0" tIns="0" bIns="0">
            <a:spAutoFit/>
          </a:bodyPr>
          <a:lstStyle/>
          <a:p>
            <a:r>
              <a:rPr sz="3400" b="1" i="0">
                <a:solidFill>
                  <a:srgbClr val="FFFFFF"/>
                </a:solidFill>
                <a:latin typeface="Georgia"/>
              </a:rPr>
              <a:t>Nested Data and Mixed-Effects Models</a:t>
            </a:r>
          </a:p>
        </p:txBody>
      </p:sp>
      <p:sp>
        <p:nvSpPr>
          <p:cNvPr id="6" name="Rectangle 5"/>
          <p:cNvSpPr/>
          <p:nvPr/>
        </p:nvSpPr>
        <p:spPr>
          <a:xfrm>
            <a:off x="777240" y="4343400"/>
            <a:ext cx="1463040" cy="508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transition spd="med">
    <p:wipe dir="d"/>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300"/>
                                        <p:tgtEl>
                                          <p:spTgt spid="4"/>
                                        </p:tgtEl>
                                      </p:cBhvr>
                                    </p:animEffect>
                                  </p:childTnLst>
                                </p:cTn>
                              </p:par>
                              <p:par>
                                <p:cTn id="9" presetID="2" presetClass="entr" presetSubtype="8"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Left)">
                                      <p:cBhvr>
                                        <p:cTn id="11" dur="500"/>
                                        <p:tgtEl>
                                          <p:spTgt spid="5"/>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right)">
                                      <p:cBhvr>
                                        <p:cTn id="14"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PART 4 · CH. 20</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Nested Data and Mixed-Effects Models</a:t>
            </a:r>
          </a:p>
        </p:txBody>
      </p:sp>
      <p:sp>
        <p:nvSpPr>
          <p:cNvPr id="7" name="Rectangle 6"/>
          <p:cNvSpPr/>
          <p:nvPr/>
        </p:nvSpPr>
        <p:spPr>
          <a:xfrm>
            <a:off x="777240" y="3282696"/>
            <a:ext cx="54864" cy="1207008"/>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33272" y="3282696"/>
            <a:ext cx="10381183" cy="1207008"/>
          </a:xfrm>
          <a:prstGeom prst="rect">
            <a:avLst/>
          </a:prstGeom>
          <a:noFill/>
        </p:spPr>
        <p:txBody>
          <a:bodyPr wrap="square" anchor="t" lIns="0" rIns="0" tIns="0" bIns="0">
            <a:spAutoFit/>
          </a:bodyPr>
          <a:lstStyle/>
          <a:p>
            <a:pPr>
              <a:spcAft>
                <a:spcPts val="400"/>
              </a:spcAft>
            </a:pPr>
            <a:r>
              <a:rPr sz="1000" b="1" i="0">
                <a:solidFill>
                  <a:srgbClr val="137177"/>
                </a:solidFill>
                <a:latin typeface="Segoe UI"/>
              </a:rPr>
              <a:t>CONCEPT   </a:t>
            </a:r>
            <a:r>
              <a:rPr sz="1700" b="1" i="0">
                <a:solidFill>
                  <a:srgbClr val="0E4D64"/>
                </a:solidFill>
                <a:latin typeface="Segoe UI"/>
              </a:rPr>
              <a:t>When you must use a mixed model</a:t>
            </a:r>
          </a:p>
          <a:p>
            <a:r>
              <a:rPr sz="1400" b="0" i="0">
                <a:solidFill>
                  <a:srgbClr val="1C2833"/>
                </a:solidFill>
                <a:latin typeface="Segoe UI"/>
              </a:rPr>
              <a:t>Whenever observations share something that makes them more alike than observations from different groups: tight Several measurements from the same participant. Several files from the same repository.</a:t>
            </a:r>
          </a:p>
        </p:txBody>
      </p:sp>
      <p:sp>
        <p:nvSpPr>
          <p:cNvPr id="9" name="Rectangle 8"/>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20 · Regression and Modelling for Inference</a:t>
            </a:r>
          </a:p>
        </p:txBody>
      </p:sp>
      <p:sp>
        <p:nvSpPr>
          <p:cNvPr id="11" name="TextBox 10"/>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Nested Data and Mixed-Effects Models</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wipe(up)">
                                      <p:cBhvr>
                                        <p:cTn id="8" dur="3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2377440"/>
            <a:ext cx="10637215" cy="365760"/>
          </a:xfrm>
          <a:prstGeom prst="rect">
            <a:avLst/>
          </a:prstGeom>
          <a:noFill/>
        </p:spPr>
        <p:txBody>
          <a:bodyPr wrap="square" anchor="t" lIns="0" rIns="0" tIns="0" bIns="0">
            <a:spAutoFit/>
          </a:bodyPr>
          <a:lstStyle/>
          <a:p>
            <a:r>
              <a:rPr sz="1300" b="1" i="0">
                <a:solidFill>
                  <a:srgbClr val="E8F6F3"/>
                </a:solidFill>
                <a:latin typeface="Segoe UI"/>
              </a:rPr>
              <a:t>SECTION 3 OF 4</a:t>
            </a:r>
          </a:p>
        </p:txBody>
      </p:sp>
      <p:sp>
        <p:nvSpPr>
          <p:cNvPr id="5" name="TextBox 4"/>
          <p:cNvSpPr txBox="1"/>
          <p:nvPr/>
        </p:nvSpPr>
        <p:spPr>
          <a:xfrm>
            <a:off x="777240" y="2788920"/>
            <a:ext cx="9722815" cy="1645920"/>
          </a:xfrm>
          <a:prstGeom prst="rect">
            <a:avLst/>
          </a:prstGeom>
          <a:noFill/>
        </p:spPr>
        <p:txBody>
          <a:bodyPr wrap="square" anchor="t" lIns="0" rIns="0" tIns="0" bIns="0">
            <a:spAutoFit/>
          </a:bodyPr>
          <a:lstStyle/>
          <a:p>
            <a:r>
              <a:rPr sz="3400" b="1" i="0">
                <a:solidFill>
                  <a:srgbClr val="FFFFFF"/>
                </a:solidFill>
                <a:latin typeface="Georgia"/>
              </a:rPr>
              <a:t>Explanation Is Not Prediction</a:t>
            </a:r>
          </a:p>
        </p:txBody>
      </p:sp>
      <p:sp>
        <p:nvSpPr>
          <p:cNvPr id="6" name="Rectangle 5"/>
          <p:cNvSpPr/>
          <p:nvPr/>
        </p:nvSpPr>
        <p:spPr>
          <a:xfrm>
            <a:off x="777240" y="4343400"/>
            <a:ext cx="1463040" cy="508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transition spd="med">
    <p:wipe dir="d"/>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300"/>
                                        <p:tgtEl>
                                          <p:spTgt spid="4"/>
                                        </p:tgtEl>
                                      </p:cBhvr>
                                    </p:animEffect>
                                  </p:childTnLst>
                                </p:cTn>
                              </p:par>
                              <p:par>
                                <p:cTn id="9" presetID="2" presetClass="entr" presetSubtype="8"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Left)">
                                      <p:cBhvr>
                                        <p:cTn id="11" dur="500"/>
                                        <p:tgtEl>
                                          <p:spTgt spid="5"/>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right)">
                                      <p:cBhvr>
                                        <p:cTn id="14"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PART 4 · CH. 20</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Explanation Is Not Prediction</a:t>
            </a:r>
          </a:p>
        </p:txBody>
      </p:sp>
      <p:sp>
        <p:nvSpPr>
          <p:cNvPr id="7" name="Rectangle 6"/>
          <p:cNvSpPr/>
          <p:nvPr/>
        </p:nvSpPr>
        <p:spPr>
          <a:xfrm>
            <a:off x="777240" y="3282696"/>
            <a:ext cx="54864" cy="120700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33272" y="3282696"/>
            <a:ext cx="10381183" cy="1207008"/>
          </a:xfrm>
          <a:prstGeom prst="rect">
            <a:avLst/>
          </a:prstGeom>
          <a:noFill/>
        </p:spPr>
        <p:txBody>
          <a:bodyPr wrap="square" anchor="t" lIns="0" rIns="0" tIns="0" bIns="0">
            <a:spAutoFit/>
          </a:bodyPr>
          <a:lstStyle/>
          <a:p>
            <a:pPr>
              <a:spcAft>
                <a:spcPts val="400"/>
              </a:spcAft>
            </a:pPr>
            <a:r>
              <a:rPr sz="1000" b="1" i="0">
                <a:solidFill>
                  <a:srgbClr val="B7950B"/>
                </a:solidFill>
                <a:latin typeface="Segoe UI"/>
              </a:rPr>
              <a:t>WATCH OUT   </a:t>
            </a:r>
            <a:r>
              <a:rPr sz="1700" b="1" i="0">
                <a:solidFill>
                  <a:srgbClr val="0E4D64"/>
                </a:solidFill>
                <a:latin typeface="Segoe UI"/>
              </a:rPr>
              <a:t>Stepwise selection has no place in explanatory modelling</a:t>
            </a:r>
          </a:p>
          <a:p>
            <a:r>
              <a:rPr sz="1400" b="0" i="0">
                <a:solidFill>
                  <a:srgbClr val="1C2833"/>
                </a:solidFill>
                <a:latin typeface="Segoe UI"/>
              </a:rPr>
              <a:t>Automated forward, backward or stepwise selection on p-values produces biased coefficients, standard errors that are far too small, p-values that are meaningless, and R^2 that is inflated.</a:t>
            </a:r>
          </a:p>
        </p:txBody>
      </p:sp>
      <p:sp>
        <p:nvSpPr>
          <p:cNvPr id="9" name="Rectangle 8"/>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20 · Regression and Modelling for Inference</a:t>
            </a:r>
          </a:p>
        </p:txBody>
      </p:sp>
      <p:sp>
        <p:nvSpPr>
          <p:cNvPr id="11" name="TextBox 10"/>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Explanation Is Not Prediction</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wipe(up)">
                                      <p:cBhvr>
                                        <p:cTn id="8" dur="3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2377440"/>
            <a:ext cx="10637215" cy="365760"/>
          </a:xfrm>
          <a:prstGeom prst="rect">
            <a:avLst/>
          </a:prstGeom>
          <a:noFill/>
        </p:spPr>
        <p:txBody>
          <a:bodyPr wrap="square" anchor="t" lIns="0" rIns="0" tIns="0" bIns="0">
            <a:spAutoFit/>
          </a:bodyPr>
          <a:lstStyle/>
          <a:p>
            <a:r>
              <a:rPr sz="1300" b="1" i="0">
                <a:solidFill>
                  <a:srgbClr val="E8F6F3"/>
                </a:solidFill>
                <a:latin typeface="Segoe UI"/>
              </a:rPr>
              <a:t>SECTION 4 OF 4</a:t>
            </a:r>
          </a:p>
        </p:txBody>
      </p:sp>
      <p:sp>
        <p:nvSpPr>
          <p:cNvPr id="5" name="TextBox 4"/>
          <p:cNvSpPr txBox="1"/>
          <p:nvPr/>
        </p:nvSpPr>
        <p:spPr>
          <a:xfrm>
            <a:off x="777240" y="2788920"/>
            <a:ext cx="9722815" cy="1645920"/>
          </a:xfrm>
          <a:prstGeom prst="rect">
            <a:avLst/>
          </a:prstGeom>
          <a:noFill/>
        </p:spPr>
        <p:txBody>
          <a:bodyPr wrap="square" anchor="t" lIns="0" rIns="0" tIns="0" bIns="0">
            <a:spAutoFit/>
          </a:bodyPr>
          <a:lstStyle/>
          <a:p>
            <a:r>
              <a:rPr sz="3400" b="1" i="0">
                <a:solidFill>
                  <a:srgbClr val="FFFFFF"/>
                </a:solidFill>
                <a:latin typeface="Georgia"/>
              </a:rPr>
              <a:t>Collinearity</a:t>
            </a:r>
          </a:p>
        </p:txBody>
      </p:sp>
      <p:sp>
        <p:nvSpPr>
          <p:cNvPr id="6" name="Rectangle 5"/>
          <p:cNvSpPr/>
          <p:nvPr/>
        </p:nvSpPr>
        <p:spPr>
          <a:xfrm>
            <a:off x="777240" y="4343400"/>
            <a:ext cx="1463040" cy="508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transition spd="med">
    <p:wipe dir="d"/>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300"/>
                                        <p:tgtEl>
                                          <p:spTgt spid="4"/>
                                        </p:tgtEl>
                                      </p:cBhvr>
                                    </p:animEffect>
                                  </p:childTnLst>
                                </p:cTn>
                              </p:par>
                              <p:par>
                                <p:cTn id="9" presetID="2" presetClass="entr" presetSubtype="8"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Left)">
                                      <p:cBhvr>
                                        <p:cTn id="11" dur="500"/>
                                        <p:tgtEl>
                                          <p:spTgt spid="5"/>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right)">
                                      <p:cBhvr>
                                        <p:cTn id="14"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PART 4 · CH. 20</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Collinearity</a:t>
            </a:r>
          </a:p>
        </p:txBody>
      </p:sp>
      <p:sp>
        <p:nvSpPr>
          <p:cNvPr id="7" name="Rectangle 6"/>
          <p:cNvSpPr/>
          <p:nvPr/>
        </p:nvSpPr>
        <p:spPr>
          <a:xfrm>
            <a:off x="777240" y="3282696"/>
            <a:ext cx="54864" cy="1207008"/>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33272" y="3282696"/>
            <a:ext cx="10381183" cy="1207008"/>
          </a:xfrm>
          <a:prstGeom prst="rect">
            <a:avLst/>
          </a:prstGeom>
          <a:noFill/>
        </p:spPr>
        <p:txBody>
          <a:bodyPr wrap="square" anchor="t" lIns="0" rIns="0" tIns="0" bIns="0">
            <a:spAutoFit/>
          </a:bodyPr>
          <a:lstStyle/>
          <a:p>
            <a:r>
              <a:rPr sz="1400" b="0" i="0">
                <a:solidFill>
                  <a:srgbClr val="1C2833"/>
                </a:solidFill>
                <a:latin typeface="Segoe UI"/>
              </a:rPr>
              <a:t>When predictors are strongly correlated, the model cannot separate their contributions. Coefficients become unstable and their standard errors inflate, even though overall fit is unaffected. Note the classic case in software engineering: cyclomatic complexity and lines of code correlate strongly.</a:t>
            </a:r>
          </a:p>
        </p:txBody>
      </p:sp>
      <p:sp>
        <p:nvSpPr>
          <p:cNvPr id="9" name="Rectangle 8"/>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20 · Regression and Modelling for Inference</a:t>
            </a:r>
          </a:p>
        </p:txBody>
      </p:sp>
      <p:sp>
        <p:nvSpPr>
          <p:cNvPr id="11" name="TextBox 10"/>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Collinearity</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wipe(up)">
                                      <p:cBhvr>
                                        <p:cTn id="8" dur="3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PITFALLS</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Fitting Poisson to overdispersed counts</a:t>
            </a:r>
          </a:p>
        </p:txBody>
      </p:sp>
      <p:sp>
        <p:nvSpPr>
          <p:cNvPr id="7" name="TextBox 6"/>
          <p:cNvSpPr txBox="1"/>
          <p:nvPr/>
        </p:nvSpPr>
        <p:spPr>
          <a:xfrm>
            <a:off x="868680" y="1828800"/>
            <a:ext cx="10454335" cy="4114800"/>
          </a:xfrm>
          <a:prstGeom prst="rect">
            <a:avLst/>
          </a:prstGeom>
          <a:noFill/>
        </p:spPr>
        <p:txBody>
          <a:bodyPr wrap="square" anchor="t" lIns="0" rIns="0" tIns="0" bIns="0">
            <a:spAutoFit/>
          </a:bodyPr>
          <a:lstStyle/>
          <a:p>
            <a:pPr>
              <a:spcAft>
                <a:spcPts val="1500"/>
              </a:spcAft>
            </a:pPr>
            <a:r>
              <a:rPr sz="1500" b="1" i="0">
                <a:solidFill>
                  <a:srgbClr val="C84B31"/>
                </a:solidFill>
                <a:latin typeface="Segoe UI"/>
              </a:rPr>
              <a:t>✖  </a:t>
            </a:r>
            <a:r>
              <a:rPr sz="1500" b="0" i="0">
                <a:solidFill>
                  <a:srgbClr val="1C2833"/>
                </a:solidFill>
                <a:latin typeface="Segoe UI"/>
              </a:rPr>
              <a:t>Defect counts, commit counts and issue counts nearly always have variance substantially greater than their mean, because the units are heterogeneous — some modules are…</a:t>
            </a:r>
          </a:p>
        </p:txBody>
      </p:sp>
      <p:sp>
        <p:nvSpPr>
          <p:cNvPr id="8" name="Rectangle 7"/>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20 · Regression and Modelling for Inference</a:t>
            </a: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Pitfalls</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 presetClass="entr" presetSubtype="8" fill="hold" grpId="0" nodeType="clickEffect">
                                  <p:stCondLst>
                                    <p:cond delay="0"/>
                                  </p:stCondLst>
                                  <p:childTnLst>
                                    <p:set>
                                      <p:cBhvr>
                                        <p:cTn id="7" dur="1" fill="hold">
                                          <p:stCondLst>
                                            <p:cond delay="0"/>
                                          </p:stCondLst>
                                        </p:cTn>
                                        <p:tgtEl>
                                          <p:spTgt spid="7">
                                            <p:txEl>
                                              <p:pRg st="0" end="0"/>
                                            </p:txEl>
                                          </p:spTgt>
                                        </p:tgtEl>
                                        <p:attrNameLst>
                                          <p:attrName>style.visibility</p:attrName>
                                        </p:attrNameLst>
                                      </p:cBhvr>
                                      <p:to>
                                        <p:strVal val="visible"/>
                                      </p:to>
                                    </p:set>
                                    <p:animEffect transition="in" filter="slide(fromLeft)">
                                      <p:cBhvr>
                                        <p:cTn id="8" dur="35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FOUR TRADITIONS</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How this lands in regression modelling</a:t>
            </a:r>
          </a:p>
        </p:txBody>
      </p:sp>
      <p:sp>
        <p:nvSpPr>
          <p:cNvPr id="7" name="Rectangle 6"/>
          <p:cNvSpPr/>
          <p:nvPr/>
        </p:nvSpPr>
        <p:spPr>
          <a:xfrm>
            <a:off x="777240" y="1874519"/>
            <a:ext cx="5158587" cy="1783080"/>
          </a:xfrm>
          <a:prstGeom prst="rect">
            <a:avLst/>
          </a:prstGeom>
          <a:solidFill>
            <a:srgbClr val="FFFFFF"/>
          </a:solidFill>
          <a:ln w="12700">
            <a:solidFill>
              <a:srgbClr val="E8F6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777240" y="1874519"/>
            <a:ext cx="5158587" cy="50800"/>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78408" y="2075687"/>
            <a:ext cx="4756251" cy="1417320"/>
          </a:xfrm>
          <a:prstGeom prst="rect">
            <a:avLst/>
          </a:prstGeom>
          <a:noFill/>
        </p:spPr>
        <p:txBody>
          <a:bodyPr wrap="square" anchor="t" lIns="0" rIns="0" tIns="0" bIns="0">
            <a:spAutoFit/>
          </a:bodyPr>
          <a:lstStyle/>
          <a:p>
            <a:pPr>
              <a:spcAft>
                <a:spcPts val="500"/>
              </a:spcAft>
            </a:pPr>
            <a:r>
              <a:rPr sz="1100" b="1" i="0">
                <a:solidFill>
                  <a:srgbClr val="1F618D"/>
                </a:solidFill>
                <a:latin typeface="Segoe UI"/>
              </a:rPr>
              <a:t>EMPIRICAL</a:t>
            </a:r>
          </a:p>
          <a:p>
            <a:r>
              <a:rPr sz="1250" b="0" i="0">
                <a:solidFill>
                  <a:srgbClr val="1C2833"/>
                </a:solidFill>
                <a:latin typeface="Segoe UI"/>
              </a:rPr>
              <a:t>The workhorse. Model specification follows from the causal structure, and the report is coefficients with intervals plus diagnostics.</a:t>
            </a:r>
          </a:p>
        </p:txBody>
      </p:sp>
      <p:sp>
        <p:nvSpPr>
          <p:cNvPr id="10" name="Rectangle 9"/>
          <p:cNvSpPr/>
          <p:nvPr/>
        </p:nvSpPr>
        <p:spPr>
          <a:xfrm>
            <a:off x="6255867" y="1874519"/>
            <a:ext cx="5158587" cy="1783080"/>
          </a:xfrm>
          <a:prstGeom prst="rect">
            <a:avLst/>
          </a:prstGeom>
          <a:solidFill>
            <a:srgbClr val="FFFFFF"/>
          </a:solidFill>
          <a:ln w="12700">
            <a:solidFill>
              <a:srgbClr val="E8F6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255867" y="1874519"/>
            <a:ext cx="5158587" cy="50800"/>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57035" y="2075687"/>
            <a:ext cx="4756251" cy="1417320"/>
          </a:xfrm>
          <a:prstGeom prst="rect">
            <a:avLst/>
          </a:prstGeom>
          <a:noFill/>
        </p:spPr>
        <p:txBody>
          <a:bodyPr wrap="square" anchor="t" lIns="0" rIns="0" tIns="0" bIns="0">
            <a:spAutoFit/>
          </a:bodyPr>
          <a:lstStyle/>
          <a:p>
            <a:pPr>
              <a:spcAft>
                <a:spcPts val="500"/>
              </a:spcAft>
            </a:pPr>
            <a:r>
              <a:rPr sz="1100" b="1" i="0">
                <a:solidFill>
                  <a:srgbClr val="117864"/>
                </a:solidFill>
                <a:latin typeface="Segoe UI"/>
              </a:rPr>
              <a:t>DESIGN SCIENCE</a:t>
            </a:r>
          </a:p>
          <a:p>
            <a:r>
              <a:rPr sz="1250" b="0" i="0">
                <a:solidFill>
                  <a:srgbClr val="1C2833"/>
                </a:solidFill>
                <a:latin typeface="Segoe UI"/>
              </a:rPr>
              <a:t>Used to model the relationship between artefact configuration and outcome, and to identify which design parameters matter.</a:t>
            </a:r>
          </a:p>
        </p:txBody>
      </p:sp>
      <p:sp>
        <p:nvSpPr>
          <p:cNvPr id="13" name="Rectangle 12"/>
          <p:cNvSpPr/>
          <p:nvPr/>
        </p:nvSpPr>
        <p:spPr>
          <a:xfrm>
            <a:off x="777240" y="3931919"/>
            <a:ext cx="5158587" cy="1783080"/>
          </a:xfrm>
          <a:prstGeom prst="rect">
            <a:avLst/>
          </a:prstGeom>
          <a:solidFill>
            <a:srgbClr val="FFFFFF"/>
          </a:solidFill>
          <a:ln w="12700">
            <a:solidFill>
              <a:srgbClr val="E8F6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77240" y="3931919"/>
            <a:ext cx="5158587" cy="5080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78408" y="4133087"/>
            <a:ext cx="4756251" cy="1417320"/>
          </a:xfrm>
          <a:prstGeom prst="rect">
            <a:avLst/>
          </a:prstGeom>
          <a:noFill/>
        </p:spPr>
        <p:txBody>
          <a:bodyPr wrap="square" anchor="t" lIns="0" rIns="0" tIns="0" bIns="0">
            <a:spAutoFit/>
          </a:bodyPr>
          <a:lstStyle/>
          <a:p>
            <a:pPr>
              <a:spcAft>
                <a:spcPts val="500"/>
              </a:spcAft>
            </a:pPr>
            <a:r>
              <a:rPr sz="1100" b="1" i="0">
                <a:solidFill>
                  <a:srgbClr val="6C3483"/>
                </a:solidFill>
                <a:latin typeface="Segoe UI"/>
              </a:rPr>
              <a:t>QUALITATIVE</a:t>
            </a:r>
          </a:p>
          <a:p>
            <a:r>
              <a:rPr sz="1250" b="0" i="0">
                <a:solidFill>
                  <a:srgbClr val="1C2833"/>
                </a:solidFill>
                <a:latin typeface="Segoe UI"/>
              </a:rPr>
              <a:t>Not used. The nearest analogue — explaining variation by tracing mechanisms across cases — is Ch.</a:t>
            </a:r>
          </a:p>
        </p:txBody>
      </p:sp>
      <p:sp>
        <p:nvSpPr>
          <p:cNvPr id="16" name="Rectangle 15"/>
          <p:cNvSpPr/>
          <p:nvPr/>
        </p:nvSpPr>
        <p:spPr>
          <a:xfrm>
            <a:off x="6255867" y="3931919"/>
            <a:ext cx="5158587" cy="1783080"/>
          </a:xfrm>
          <a:prstGeom prst="rect">
            <a:avLst/>
          </a:prstGeom>
          <a:solidFill>
            <a:srgbClr val="FFFFFF"/>
          </a:solidFill>
          <a:ln w="12700">
            <a:solidFill>
              <a:srgbClr val="E8F6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255867" y="3931919"/>
            <a:ext cx="5158587" cy="50800"/>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457035" y="4133087"/>
            <a:ext cx="4756251" cy="1417320"/>
          </a:xfrm>
          <a:prstGeom prst="rect">
            <a:avLst/>
          </a:prstGeom>
          <a:noFill/>
        </p:spPr>
        <p:txBody>
          <a:bodyPr wrap="square" anchor="t" lIns="0" rIns="0" tIns="0" bIns="0">
            <a:spAutoFit/>
          </a:bodyPr>
          <a:lstStyle/>
          <a:p>
            <a:pPr>
              <a:spcAft>
                <a:spcPts val="500"/>
              </a:spcAft>
            </a:pPr>
            <a:r>
              <a:rPr sz="1100" b="1" i="0">
                <a:solidFill>
                  <a:srgbClr val="922B21"/>
                </a:solidFill>
                <a:latin typeface="Segoe UI"/>
              </a:rPr>
              <a:t>FORMAL</a:t>
            </a:r>
          </a:p>
          <a:p>
            <a:r>
              <a:rPr sz="1250" b="0" i="0">
                <a:solidFill>
                  <a:srgbClr val="1C2833"/>
                </a:solidFill>
                <a:latin typeface="Segoe UI"/>
              </a:rPr>
              <a:t>Regression models have properties that are proved: identifiability, consistency, asymptotic normality. Knowing which of these fail under your data is what distinguishes fitting from modelling.</a:t>
            </a:r>
          </a:p>
        </p:txBody>
      </p:sp>
      <p:sp>
        <p:nvSpPr>
          <p:cNvPr id="19" name="Rectangle 18"/>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20 · Regression and Modelling for Inference</a:t>
            </a:r>
          </a:p>
        </p:txBody>
      </p:sp>
      <p:sp>
        <p:nvSpPr>
          <p:cNvPr id="21" name="TextBox 20"/>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Four traditions</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35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3" presetClass="entr" presetSubtype="16"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zoom(in)">
                                      <p:cBhvr>
                                        <p:cTn id="16" dur="35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0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23" presetClass="entr" presetSubtype="16"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zoom(in)">
                                      <p:cBhvr>
                                        <p:cTn id="24" dur="350"/>
                                        <p:tgtEl>
                                          <p:spTgt spid="1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4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23" presetClass="entr" presetSubtype="16"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zoom(in)">
                                      <p:cBhvr>
                                        <p:cTn id="32" dur="350"/>
                                        <p:tgtEl>
                                          <p:spTgt spid="1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SUMMARY</a:t>
            </a:r>
          </a:p>
        </p:txBody>
      </p:sp>
      <p:sp>
        <p:nvSpPr>
          <p:cNvPr id="6" name="TextBox 5"/>
          <p:cNvSpPr txBox="1"/>
          <p:nvPr/>
        </p:nvSpPr>
        <p:spPr>
          <a:xfrm>
            <a:off x="777240" y="914400"/>
            <a:ext cx="10637215" cy="731520"/>
          </a:xfrm>
          <a:prstGeom prst="rect">
            <a:avLst/>
          </a:prstGeom>
          <a:noFill/>
        </p:spPr>
        <p:txBody>
          <a:bodyPr wrap="square" anchor="t" lIns="0" rIns="0" tIns="0" bIns="0">
            <a:spAutoFit/>
          </a:bodyPr>
          <a:lstStyle/>
          <a:p>
            <a:r>
              <a:rPr sz="3000" b="1" i="0">
                <a:solidFill>
                  <a:srgbClr val="0E4D64"/>
                </a:solidFill>
                <a:latin typeface="Georgia"/>
              </a:rPr>
              <a:t>What to take away</a:t>
            </a:r>
          </a:p>
        </p:txBody>
      </p:sp>
      <p:sp>
        <p:nvSpPr>
          <p:cNvPr id="7" name="TextBox 6"/>
          <p:cNvSpPr txBox="1"/>
          <p:nvPr/>
        </p:nvSpPr>
        <p:spPr>
          <a:xfrm>
            <a:off x="777240" y="1828800"/>
            <a:ext cx="10637215" cy="4114800"/>
          </a:xfrm>
          <a:prstGeom prst="rect">
            <a:avLst/>
          </a:prstGeom>
          <a:noFill/>
        </p:spPr>
        <p:txBody>
          <a:bodyPr wrap="square" anchor="t" lIns="0" rIns="0" tIns="0" bIns="0">
            <a:spAutoFit/>
          </a:bodyPr>
          <a:lstStyle/>
          <a:p>
            <a:pPr>
              <a:spcAft>
                <a:spcPts val="1400"/>
              </a:spcAft>
            </a:pPr>
            <a:r>
              <a:rPr sz="1500" b="1" i="0">
                <a:solidFill>
                  <a:srgbClr val="C84B31"/>
                </a:solidFill>
                <a:latin typeface="Segoe UI"/>
              </a:rPr>
              <a:t>1. </a:t>
            </a:r>
            <a:r>
              <a:rPr sz="1500" b="0" i="0">
                <a:solidFill>
                  <a:srgbClr val="1C2833"/>
                </a:solidFill>
                <a:latin typeface="Segoe UI"/>
              </a:rPr>
              <a:t>A coefficient means change in the outcome holding the other terms fixed. Which covariates to include is a causal question: include confounders, exclude mediators…</a:t>
            </a:r>
          </a:p>
          <a:p>
            <a:pPr>
              <a:spcAft>
                <a:spcPts val="1400"/>
              </a:spcAft>
            </a:pPr>
            <a:r>
              <a:rPr sz="1500" b="1" i="0">
                <a:solidFill>
                  <a:srgbClr val="C84B31"/>
                </a:solidFill>
                <a:latin typeface="Segoe UI"/>
              </a:rPr>
              <a:t>2. </a:t>
            </a:r>
            <a:r>
              <a:rPr sz="1500" b="0" i="0">
                <a:solidFill>
                  <a:srgbClr val="1C2833"/>
                </a:solidFill>
                <a:latin typeface="Segoe UI"/>
              </a:rPr>
              <a:t>Choose the model from the outcome's shape. Software counts are overdispersed; use negative binomial, not Poisson.</a:t>
            </a:r>
          </a:p>
          <a:p>
            <a:pPr>
              <a:spcAft>
                <a:spcPts val="1400"/>
              </a:spcAft>
            </a:pPr>
            <a:r>
              <a:rPr sz="1500" b="1" i="0">
                <a:solidFill>
                  <a:srgbClr val="C84B31"/>
                </a:solidFill>
                <a:latin typeface="Segoe UI"/>
              </a:rPr>
              <a:t>3. </a:t>
            </a:r>
            <a:r>
              <a:rPr sz="1500" b="0" i="0">
                <a:solidFill>
                  <a:srgbClr val="1C2833"/>
                </a:solidFill>
                <a:latin typeface="Segoe UI"/>
              </a:rPr>
              <a:t>Nested observations require a mixed-effects model, and the random structure follows from the design, not from fit statistics.</a:t>
            </a:r>
          </a:p>
          <a:p>
            <a:pPr>
              <a:spcAft>
                <a:spcPts val="1400"/>
              </a:spcAft>
            </a:pPr>
            <a:r>
              <a:rPr sz="1500" b="1" i="0">
                <a:solidFill>
                  <a:srgbClr val="C84B31"/>
                </a:solidFill>
                <a:latin typeface="Segoe UI"/>
              </a:rPr>
              <a:t>4. </a:t>
            </a:r>
            <a:r>
              <a:rPr sz="1500" b="0" i="0">
                <a:solidFill>
                  <a:srgbClr val="1C2833"/>
                </a:solidFill>
                <a:latin typeface="Segoe UI"/>
              </a:rPr>
              <a:t>Explanation and prediction have different goals, criteria and variable selection. Decide which you are doing before fitting.</a:t>
            </a:r>
          </a:p>
          <a:p>
            <a:pPr>
              <a:spcAft>
                <a:spcPts val="1400"/>
              </a:spcAft>
            </a:pPr>
            <a:r>
              <a:rPr sz="1500" b="1" i="0">
                <a:solidFill>
                  <a:srgbClr val="C84B31"/>
                </a:solidFill>
                <a:latin typeface="Segoe UI"/>
              </a:rPr>
              <a:t>5. </a:t>
            </a:r>
            <a:r>
              <a:rPr sz="1500" b="0" i="0">
                <a:solidFill>
                  <a:srgbClr val="1C2833"/>
                </a:solidFill>
                <a:latin typeface="Segoe UI"/>
              </a:rPr>
              <a:t>Stepwise selection invalidates inference. Specify from causal structure, or regularise and do not interpret coefficients.</a:t>
            </a:r>
          </a:p>
          <a:p>
            <a:pPr>
              <a:spcAft>
                <a:spcPts val="1400"/>
              </a:spcAft>
            </a:pPr>
            <a:r>
              <a:rPr sz="1500" b="1" i="0">
                <a:solidFill>
                  <a:srgbClr val="C84B31"/>
                </a:solidFill>
                <a:latin typeface="Segoe UI"/>
              </a:rPr>
              <a:t>6. </a:t>
            </a:r>
            <a:r>
              <a:rPr sz="1500" b="0" i="0">
                <a:solidFill>
                  <a:srgbClr val="1C2833"/>
                </a:solidFill>
                <a:latin typeface="Segoe UI"/>
              </a:rPr>
              <a:t>Report the full specification, intervals in interpretable units, diagnostics, sample sizes at every level, missing data handling, and software versions.</a:t>
            </a:r>
          </a:p>
        </p:txBody>
      </p:sp>
      <p:sp>
        <p:nvSpPr>
          <p:cNvPr id="8" name="Rectangle 7"/>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20 · Regression and Modelling for Inference</a:t>
            </a: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Summary</a:t>
            </a:r>
          </a:p>
        </p:txBody>
      </p:sp>
    </p:spTree>
  </p:cSld>
  <p:clrMapOvr>
    <a:masterClrMapping/>
  </p:clrMapOvr>
  <p:transition spd="med">
    <p:push dir="u"/>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xEl>
                                              <p:pRg st="0" end="0"/>
                                            </p:txEl>
                                          </p:spTgt>
                                        </p:tgtEl>
                                        <p:attrNameLst>
                                          <p:attrName>style.visibility</p:attrName>
                                        </p:attrNameLst>
                                      </p:cBhvr>
                                      <p:to>
                                        <p:strVal val="visible"/>
                                      </p:to>
                                    </p:set>
                                    <p:animEffect transition="in" filter="wipe(up)">
                                      <p:cBhvr>
                                        <p:cTn id="8" dur="320"/>
                                        <p:tgtEl>
                                          <p:spTgt spid="7">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Effect transition="in" filter="wipe(up)">
                                      <p:cBhvr>
                                        <p:cTn id="13" dur="320"/>
                                        <p:tgtEl>
                                          <p:spTgt spid="7">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7">
                                            <p:txEl>
                                              <p:pRg st="2" end="2"/>
                                            </p:txEl>
                                          </p:spTgt>
                                        </p:tgtEl>
                                        <p:attrNameLst>
                                          <p:attrName>style.visibility</p:attrName>
                                        </p:attrNameLst>
                                      </p:cBhvr>
                                      <p:to>
                                        <p:strVal val="visible"/>
                                      </p:to>
                                    </p:set>
                                    <p:animEffect transition="in" filter="wipe(up)">
                                      <p:cBhvr>
                                        <p:cTn id="18" dur="320"/>
                                        <p:tgtEl>
                                          <p:spTgt spid="7">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animEffect transition="in" filter="wipe(up)">
                                      <p:cBhvr>
                                        <p:cTn id="23" dur="320"/>
                                        <p:tgtEl>
                                          <p:spTgt spid="7">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7">
                                            <p:txEl>
                                              <p:pRg st="4" end="4"/>
                                            </p:txEl>
                                          </p:spTgt>
                                        </p:tgtEl>
                                        <p:attrNameLst>
                                          <p:attrName>style.visibility</p:attrName>
                                        </p:attrNameLst>
                                      </p:cBhvr>
                                      <p:to>
                                        <p:strVal val="visible"/>
                                      </p:to>
                                    </p:set>
                                    <p:animEffect transition="in" filter="wipe(up)">
                                      <p:cBhvr>
                                        <p:cTn id="28" dur="320"/>
                                        <p:tgtEl>
                                          <p:spTgt spid="7">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7">
                                            <p:txEl>
                                              <p:pRg st="5" end="5"/>
                                            </p:txEl>
                                          </p:spTgt>
                                        </p:tgtEl>
                                        <p:attrNameLst>
                                          <p:attrName>style.visibility</p:attrName>
                                        </p:attrNameLst>
                                      </p:cBhvr>
                                      <p:to>
                                        <p:strVal val="visible"/>
                                      </p:to>
                                    </p:set>
                                    <p:animEffect transition="in" filter="wipe(up)">
                                      <p:cBhvr>
                                        <p:cTn id="33" dur="32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REVIEW</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Questions to think with</a:t>
            </a:r>
          </a:p>
        </p:txBody>
      </p:sp>
      <p:sp>
        <p:nvSpPr>
          <p:cNvPr id="7" name="TextBox 6"/>
          <p:cNvSpPr txBox="1"/>
          <p:nvPr/>
        </p:nvSpPr>
        <p:spPr>
          <a:xfrm>
            <a:off x="777240" y="1828800"/>
            <a:ext cx="10637215" cy="4114800"/>
          </a:xfrm>
          <a:prstGeom prst="rect">
            <a:avLst/>
          </a:prstGeom>
          <a:noFill/>
        </p:spPr>
        <p:txBody>
          <a:bodyPr wrap="square" anchor="t" lIns="0" rIns="0" tIns="0" bIns="0">
            <a:spAutoFit/>
          </a:bodyPr>
          <a:lstStyle/>
          <a:p>
            <a:pPr>
              <a:spcAft>
                <a:spcPts val="1800"/>
              </a:spcAft>
            </a:pPr>
            <a:r>
              <a:rPr sz="1500" b="1" i="0">
                <a:solidFill>
                  <a:srgbClr val="C84B31"/>
                </a:solidFill>
                <a:latin typeface="Segoe UI"/>
              </a:rPr>
              <a:t>Q1  </a:t>
            </a:r>
            <a:r>
              <a:rPr sz="1500" b="0" i="0">
                <a:solidFill>
                  <a:srgbClr val="1C2833"/>
                </a:solidFill>
                <a:latin typeface="Segoe UI"/>
              </a:rPr>
              <a:t>Controlling for a mediator removes the effect you wanted to measure, yet “controlling for more variables” is widely treated as more rigorous. Explain the misconception and give a software…</a:t>
            </a:r>
          </a:p>
          <a:p>
            <a:pPr>
              <a:spcAft>
                <a:spcPts val="1800"/>
              </a:spcAft>
            </a:pPr>
            <a:r>
              <a:rPr sz="1500" b="1" i="0">
                <a:solidFill>
                  <a:srgbClr val="C84B31"/>
                </a:solidFill>
                <a:latin typeface="Segoe UI"/>
              </a:rPr>
              <a:t>Q2  </a:t>
            </a:r>
            <a:r>
              <a:rPr sz="1500" b="0" i="0">
                <a:solidFill>
                  <a:srgbClr val="1C2833"/>
                </a:solidFill>
                <a:latin typeface="Segoe UI"/>
              </a:rPr>
              <a:t>Shmueli argues explanation and prediction require different models. Computing research increasingly uses machine learning methods for inferential questions. What specifically goes wrong…</a:t>
            </a:r>
          </a:p>
          <a:p>
            <a:pPr>
              <a:spcAft>
                <a:spcPts val="1800"/>
              </a:spcAft>
            </a:pPr>
            <a:r>
              <a:rPr sz="1500" b="1" i="0">
                <a:solidFill>
                  <a:srgbClr val="C84B31"/>
                </a:solidFill>
                <a:latin typeface="Segoe UI"/>
              </a:rPr>
              <a:t>Q3  </a:t>
            </a:r>
            <a:r>
              <a:rPr sz="1500" b="0" i="0">
                <a:solidFill>
                  <a:srgbClr val="1C2833"/>
                </a:solidFill>
                <a:latin typeface="Segoe UI"/>
              </a:rPr>
              <a:t>Complexity metrics correlate strongly with size. Design a study that could establish whether complexity predicts defects independently of size, and say what data it would require.</a:t>
            </a:r>
          </a:p>
          <a:p>
            <a:pPr>
              <a:spcAft>
                <a:spcPts val="1800"/>
              </a:spcAft>
            </a:pPr>
            <a:r>
              <a:rPr sz="1500" b="1" i="0">
                <a:solidFill>
                  <a:srgbClr val="C84B31"/>
                </a:solidFill>
                <a:latin typeface="Segoe UI"/>
              </a:rPr>
              <a:t>Q4  </a:t>
            </a:r>
            <a:r>
              <a:rPr sz="1500" b="0" i="0">
                <a:solidFill>
                  <a:srgbClr val="1C2833"/>
                </a:solidFill>
                <a:latin typeface="Segoe UI"/>
              </a:rPr>
              <a:t>Mixed-effects models are standard in psychology and rare in software engineering, despite our data being at least as nested. Account for the gap, and say what would close it.</a:t>
            </a:r>
          </a:p>
        </p:txBody>
      </p:sp>
      <p:sp>
        <p:nvSpPr>
          <p:cNvPr id="8" name="Rectangle 7"/>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20 · Regression and Modelling for Inference</a:t>
            </a: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Review questions</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7">
                                            <p:txEl>
                                              <p:pRg st="0" end="0"/>
                                            </p:txEl>
                                          </p:spTgt>
                                        </p:tgtEl>
                                        <p:attrNameLst>
                                          <p:attrName>style.visibility</p:attrName>
                                        </p:attrNameLst>
                                      </p:cBhvr>
                                      <p:to>
                                        <p:strVal val="visible"/>
                                      </p:to>
                                    </p:set>
                                    <p:animEffect transition="in" filter="fade">
                                      <p:cBhvr>
                                        <p:cTn id="8" dur="350"/>
                                        <p:tgtEl>
                                          <p:spTgt spid="7">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Effect transition="in" filter="fade">
                                      <p:cBhvr>
                                        <p:cTn id="13" dur="350"/>
                                        <p:tgtEl>
                                          <p:spTgt spid="7">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xEl>
                                              <p:pRg st="2" end="2"/>
                                            </p:txEl>
                                          </p:spTgt>
                                        </p:tgtEl>
                                        <p:attrNameLst>
                                          <p:attrName>style.visibility</p:attrName>
                                        </p:attrNameLst>
                                      </p:cBhvr>
                                      <p:to>
                                        <p:strVal val="visible"/>
                                      </p:to>
                                    </p:set>
                                    <p:animEffect transition="in" filter="fade">
                                      <p:cBhvr>
                                        <p:cTn id="18" dur="350"/>
                                        <p:tgtEl>
                                          <p:spTgt spid="7">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animEffect transition="in" filter="fade">
                                      <p:cBhvr>
                                        <p:cTn id="23" dur="35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201168" cy="68580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280160" y="2468880"/>
            <a:ext cx="8229600" cy="914400"/>
          </a:xfrm>
          <a:prstGeom prst="rect">
            <a:avLst/>
          </a:prstGeom>
          <a:noFill/>
        </p:spPr>
        <p:txBody>
          <a:bodyPr wrap="square" anchor="t" lIns="0" rIns="0" tIns="0" bIns="0">
            <a:spAutoFit/>
          </a:bodyPr>
          <a:lstStyle/>
          <a:p>
            <a:r>
              <a:rPr sz="3400" b="1" i="0">
                <a:solidFill>
                  <a:srgbClr val="FFFFFF"/>
                </a:solidFill>
                <a:latin typeface="Georgia"/>
              </a:rPr>
              <a:t>End of Chapter 20</a:t>
            </a:r>
          </a:p>
        </p:txBody>
      </p:sp>
      <p:sp>
        <p:nvSpPr>
          <p:cNvPr id="5" name="TextBox 4"/>
          <p:cNvSpPr txBox="1"/>
          <p:nvPr/>
        </p:nvSpPr>
        <p:spPr>
          <a:xfrm>
            <a:off x="1280160" y="3566160"/>
            <a:ext cx="8686800" cy="1280160"/>
          </a:xfrm>
          <a:prstGeom prst="rect">
            <a:avLst/>
          </a:prstGeom>
          <a:noFill/>
        </p:spPr>
        <p:txBody>
          <a:bodyPr wrap="square" anchor="t" lIns="0" rIns="0" tIns="0" bIns="0">
            <a:spAutoFit/>
          </a:bodyPr>
          <a:lstStyle/>
          <a:p>
            <a:r>
              <a:rPr sz="1700" b="0" i="0">
                <a:solidFill>
                  <a:srgbClr val="E8F6F3"/>
                </a:solidFill>
                <a:latin typeface="Segoe UI"/>
              </a:rPr>
              <a:t>Next: </a:t>
            </a:r>
            <a:r>
              <a:rPr sz="1700" b="1" i="0">
                <a:solidFill>
                  <a:srgbClr val="FFFFFF"/>
                </a:solidFill>
                <a:latin typeface="Segoe UI"/>
              </a:rPr>
              <a:t>Ch. 21 — Structural Equation Modelling and Latent Constructs</a:t>
            </a:r>
          </a:p>
          <a:p>
            <a:pPr>
              <a:spcBef>
                <a:spcPts val="1200"/>
              </a:spcBef>
            </a:pPr>
            <a:r>
              <a:rPr sz="1300" b="0" i="1">
                <a:solidFill>
                  <a:srgbClr val="E8F6F3"/>
                </a:solidFill>
                <a:latin typeface="Segoe UI"/>
              </a:rPr>
              <a:t>Read the chapter in the handout before the next session.</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 presetClass="entr" presetSubtype="4" fill="hold" grpId="0" nodeType="click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slide(fromBottom)">
                                      <p:cBhvr>
                                        <p:cTn id="8" dur="500"/>
                                        <p:tgtEl>
                                          <p:spTgt spid="4"/>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