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985455" y="0"/>
            <a:ext cx="4206240"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005840" y="1371600"/>
            <a:ext cx="6766560" cy="365760"/>
          </a:xfrm>
          <a:prstGeom prst="rect">
            <a:avLst/>
          </a:prstGeom>
          <a:noFill/>
        </p:spPr>
        <p:txBody>
          <a:bodyPr wrap="square" anchor="t" lIns="0" rIns="0" tIns="0" bIns="0">
            <a:spAutoFit/>
          </a:bodyPr>
          <a:lstStyle/>
          <a:p>
            <a:r>
              <a:rPr sz="1400" b="1" i="0">
                <a:solidFill>
                  <a:srgbClr val="E8F6F3"/>
                </a:solidFill>
                <a:latin typeface="Segoe UI"/>
              </a:rPr>
              <a:t>CHAPTER 5</a:t>
            </a:r>
          </a:p>
        </p:txBody>
      </p:sp>
      <p:sp>
        <p:nvSpPr>
          <p:cNvPr id="6" name="TextBox 5"/>
          <p:cNvSpPr txBox="1"/>
          <p:nvPr/>
        </p:nvSpPr>
        <p:spPr>
          <a:xfrm>
            <a:off x="1005840" y="1828800"/>
            <a:ext cx="6675120" cy="2194560"/>
          </a:xfrm>
          <a:prstGeom prst="rect">
            <a:avLst/>
          </a:prstGeom>
          <a:noFill/>
        </p:spPr>
        <p:txBody>
          <a:bodyPr wrap="square" anchor="t" lIns="0" rIns="0" tIns="0" bIns="0">
            <a:spAutoFit/>
          </a:bodyPr>
          <a:lstStyle/>
          <a:p>
            <a:r>
              <a:rPr sz="4000" b="1" i="0">
                <a:solidFill>
                  <a:srgbClr val="FFFFFF"/>
                </a:solidFill>
                <a:latin typeface="Georgia"/>
              </a:rPr>
              <a:t>Systematic Literature Review and Systematic Mapping</a:t>
            </a:r>
          </a:p>
        </p:txBody>
      </p:sp>
      <p:sp>
        <p:nvSpPr>
          <p:cNvPr id="7" name="Rectangle 6"/>
          <p:cNvSpPr/>
          <p:nvPr/>
        </p:nvSpPr>
        <p:spPr>
          <a:xfrm>
            <a:off x="1005840" y="4206240"/>
            <a:ext cx="118872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4480560"/>
            <a:ext cx="6675120" cy="914400"/>
          </a:xfrm>
          <a:prstGeom prst="rect">
            <a:avLst/>
          </a:prstGeom>
          <a:noFill/>
        </p:spPr>
        <p:txBody>
          <a:bodyPr wrap="square" anchor="t" lIns="0" rIns="0" tIns="0" bIns="0">
            <a:spAutoFit/>
          </a:bodyPr>
          <a:lstStyle/>
          <a:p>
            <a:r>
              <a:rPr sz="1600" b="0" i="0">
                <a:solidFill>
                  <a:srgbClr val="E8F6F3"/>
                </a:solidFill>
                <a:latin typeface="Segoe UI"/>
              </a:rPr>
              <a:t>Part 2 — Finding and Synthesising Knowledge</a:t>
            </a:r>
          </a:p>
          <a:p>
            <a:r>
              <a:rPr sz="1300" b="0" i="1">
                <a:solidFill>
                  <a:srgbClr val="E8F6F3"/>
                </a:solidFill>
                <a:latin typeface="Segoe UI"/>
              </a:rPr>
              <a:t>Advanced Research Methodology · Fall 2026</a:t>
            </a:r>
          </a:p>
        </p:txBody>
      </p:sp>
      <p:sp>
        <p:nvSpPr>
          <p:cNvPr id="9" name="TextBox 8"/>
          <p:cNvSpPr txBox="1"/>
          <p:nvPr/>
        </p:nvSpPr>
        <p:spPr>
          <a:xfrm>
            <a:off x="8442656" y="2194560"/>
            <a:ext cx="2834640" cy="2743200"/>
          </a:xfrm>
          <a:prstGeom prst="rect">
            <a:avLst/>
          </a:prstGeom>
          <a:noFill/>
        </p:spPr>
        <p:txBody>
          <a:bodyPr wrap="square" anchor="t" lIns="0" rIns="0" tIns="0" bIns="0">
            <a:spAutoFit/>
          </a:bodyPr>
          <a:lstStyle/>
          <a:p>
            <a:r>
              <a:rPr sz="1500" b="1" i="0">
                <a:solidFill>
                  <a:srgbClr val="FFFFFF"/>
                </a:solidFill>
                <a:latin typeface="Segoe UI"/>
              </a:rPr>
              <a:t>MS IT / PhD IT</a:t>
            </a:r>
          </a:p>
          <a:p>
            <a:pPr>
              <a:spcBef>
                <a:spcPts val="600"/>
              </a:spcBef>
            </a:pPr>
            <a:r>
              <a:rPr sz="1200" b="0" i="0">
                <a:solidFill>
                  <a:srgbClr val="E8F6F3"/>
                </a:solidFill>
                <a:latin typeface="Segoe UI"/>
              </a:rPr>
              <a:t>Department of Information Technology
The Islamia University of Bahawalpur</a:t>
            </a:r>
          </a:p>
          <a:p>
            <a:pPr>
              <a:spcBef>
                <a:spcPts val="1400"/>
              </a:spcBef>
            </a:pPr>
            <a:r>
              <a:rPr sz="1200" b="0" i="0">
                <a:solidFill>
                  <a:srgbClr val="E8F6F3"/>
                </a:solidFill>
                <a:latin typeface="Segoe UI"/>
              </a:rPr>
              <a:t>Fall 2026</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6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right)">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LEARNING OUTCOMES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By the end of this chapter</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400"/>
              </a:spcAft>
            </a:pPr>
            <a:r>
              <a:rPr sz="1700" b="1" i="0">
                <a:solidFill>
                  <a:srgbClr val="C84B31"/>
                </a:solidFill>
                <a:latin typeface="Segoe UI"/>
              </a:rPr>
              <a:t>▸  </a:t>
            </a:r>
            <a:r>
              <a:rPr sz="1700" b="1" i="0">
                <a:solidFill>
                  <a:srgbClr val="0E4D64"/>
                </a:solidFill>
                <a:latin typeface="Segoe UI"/>
              </a:rPr>
              <a:t>Distinguish </a:t>
            </a:r>
            <a:r>
              <a:rPr sz="1700" b="0" i="0">
                <a:solidFill>
                  <a:srgbClr val="1C2833"/>
                </a:solidFill>
                <a:latin typeface="Segoe UI"/>
              </a:rPr>
              <a:t>a systematic review, a systematic mapping study and a narrative review, and choose between them.</a:t>
            </a:r>
          </a:p>
          <a:p>
            <a:pPr>
              <a:spcAft>
                <a:spcPts val="1400"/>
              </a:spcAft>
            </a:pPr>
            <a:r>
              <a:rPr sz="1700" b="1" i="0">
                <a:solidFill>
                  <a:srgbClr val="C84B31"/>
                </a:solidFill>
                <a:latin typeface="Segoe UI"/>
              </a:rPr>
              <a:t>▸  </a:t>
            </a:r>
            <a:r>
              <a:rPr sz="1700" b="1" i="0">
                <a:solidFill>
                  <a:srgbClr val="0E4D64"/>
                </a:solidFill>
                <a:latin typeface="Segoe UI"/>
              </a:rPr>
              <a:t>Write </a:t>
            </a:r>
            <a:r>
              <a:rPr sz="1700" b="0" i="0">
                <a:solidFill>
                  <a:srgbClr val="1C2833"/>
                </a:solidFill>
                <a:latin typeface="Segoe UI"/>
              </a:rPr>
              <a:t>a review protocol before conducting the search.</a:t>
            </a:r>
          </a:p>
          <a:p>
            <a:pPr>
              <a:spcAft>
                <a:spcPts val="1400"/>
              </a:spcAft>
            </a:pPr>
            <a:r>
              <a:rPr sz="1700" b="1" i="0">
                <a:solidFill>
                  <a:srgbClr val="C84B31"/>
                </a:solidFill>
                <a:latin typeface="Segoe UI"/>
              </a:rPr>
              <a:t>▸  </a:t>
            </a:r>
            <a:r>
              <a:rPr sz="1700" b="1" i="0">
                <a:solidFill>
                  <a:srgbClr val="0E4D64"/>
                </a:solidFill>
                <a:latin typeface="Segoe UI"/>
              </a:rPr>
              <a:t>Construct </a:t>
            </a:r>
            <a:r>
              <a:rPr sz="1700" b="0" i="0">
                <a:solidFill>
                  <a:srgbClr val="1C2833"/>
                </a:solidFill>
                <a:latin typeface="Segoe UI"/>
              </a:rPr>
              <a:t>a search string from PICOC and adapt it to the syntax of four digital libraries.</a:t>
            </a:r>
          </a:p>
          <a:p>
            <a:pPr>
              <a:spcAft>
                <a:spcPts val="1400"/>
              </a:spcAft>
            </a:pPr>
            <a:r>
              <a:rPr sz="1700" b="1" i="0">
                <a:solidFill>
                  <a:srgbClr val="C84B31"/>
                </a:solidFill>
                <a:latin typeface="Segoe UI"/>
              </a:rPr>
              <a:t>▸  </a:t>
            </a:r>
            <a:r>
              <a:rPr sz="1700" b="1" i="0">
                <a:solidFill>
                  <a:srgbClr val="0E4D64"/>
                </a:solidFill>
                <a:latin typeface="Segoe UI"/>
              </a:rPr>
              <a:t>Screen </a:t>
            </a:r>
            <a:r>
              <a:rPr sz="1700" b="0" i="0">
                <a:solidFill>
                  <a:srgbClr val="1C2833"/>
                </a:solidFill>
                <a:latin typeface="Segoe UI"/>
              </a:rPr>
              <a:t>studies against explicit criteria and report inter-rater agreement.</a:t>
            </a:r>
          </a:p>
          <a:p>
            <a:pPr>
              <a:spcAft>
                <a:spcPts val="1400"/>
              </a:spcAft>
            </a:pPr>
            <a:r>
              <a:rPr sz="1700" b="1" i="0">
                <a:solidFill>
                  <a:srgbClr val="C84B31"/>
                </a:solidFill>
                <a:latin typeface="Segoe UI"/>
              </a:rPr>
              <a:t>▸  </a:t>
            </a:r>
            <a:r>
              <a:rPr sz="1700" b="1" i="0">
                <a:solidFill>
                  <a:srgbClr val="0E4D64"/>
                </a:solidFill>
                <a:latin typeface="Segoe UI"/>
              </a:rPr>
              <a:t>Appraise </a:t>
            </a:r>
            <a:r>
              <a:rPr sz="1700" b="0" i="0">
                <a:solidFill>
                  <a:srgbClr val="1C2833"/>
                </a:solidFill>
                <a:latin typeface="Segoe UI"/>
              </a:rPr>
              <a:t>study quality with an instrument appropriate to the designs under review.</a:t>
            </a:r>
          </a:p>
          <a:p>
            <a:pPr>
              <a:spcAft>
                <a:spcPts val="1400"/>
              </a:spcAft>
            </a:pPr>
            <a:r>
              <a:rPr sz="1700" b="1" i="0">
                <a:solidFill>
                  <a:srgbClr val="C84B31"/>
                </a:solidFill>
                <a:latin typeface="Segoe UI"/>
              </a:rPr>
              <a:t>▸  </a:t>
            </a:r>
            <a:r>
              <a:rPr sz="1700" b="1" i="0">
                <a:solidFill>
                  <a:srgbClr val="0E4D64"/>
                </a:solidFill>
                <a:latin typeface="Segoe UI"/>
              </a:rPr>
              <a:t>Synthesise </a:t>
            </a:r>
            <a:r>
              <a:rPr sz="1700" b="0" i="0">
                <a:solidFill>
                  <a:srgbClr val="1C2833"/>
                </a:solidFill>
                <a:latin typeface="Segoe UI"/>
              </a:rPr>
              <a:t>findings without resorting to vote counting.</a:t>
            </a:r>
          </a:p>
          <a:p>
            <a:pPr>
              <a:spcAft>
                <a:spcPts val="1400"/>
              </a:spcAft>
            </a:pPr>
            <a:r>
              <a:rPr sz="1700" b="1" i="0">
                <a:solidFill>
                  <a:srgbClr val="C84B31"/>
                </a:solidFill>
                <a:latin typeface="Segoe UI"/>
              </a:rPr>
              <a:t>▸  </a:t>
            </a:r>
            <a:r>
              <a:rPr sz="1700" b="1" i="0">
                <a:solidFill>
                  <a:srgbClr val="0E4D64"/>
                </a:solidFill>
                <a:latin typeface="Segoe UI"/>
              </a:rPr>
              <a:t>Report </a:t>
            </a:r>
            <a:r>
              <a:rPr sz="1700" b="0" i="0">
                <a:solidFill>
                  <a:srgbClr val="1C2833"/>
                </a:solidFill>
                <a:latin typeface="Segoe UI"/>
              </a:rPr>
              <a:t>the whole process as a PRISMA 2020 flow.</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5 · Systematic Literature Review and Systematic Mapping</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Outcomes</a:t>
            </a:r>
          </a:p>
        </p:txBody>
      </p:sp>
    </p:spTree>
  </p:cSld>
  <p:clrMapOvr>
    <a:masterClrMapping/>
  </p:clrMapOvr>
  <p:transition spd="med">
    <p:push dir="u"/>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wipe(up)">
                                      <p:cBhvr>
                                        <p:cTn id="8" dur="35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wipe(up)">
                                      <p:cBhvr>
                                        <p:cTn id="13" dur="35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wipe(up)">
                                      <p:cBhvr>
                                        <p:cTn id="18" dur="35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wipe(up)">
                                      <p:cBhvr>
                                        <p:cTn id="23" dur="350"/>
                                        <p:tgtEl>
                                          <p:spTgt spid="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wipe(up)">
                                      <p:cBhvr>
                                        <p:cTn id="28" dur="350"/>
                                        <p:tgtEl>
                                          <p:spTgt spid="7">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animEffect transition="in" filter="wipe(up)">
                                      <p:cBhvr>
                                        <p:cTn id="33" dur="350"/>
                                        <p:tgtEl>
                                          <p:spTgt spid="7">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7">
                                            <p:txEl>
                                              <p:pRg st="6" end="6"/>
                                            </p:txEl>
                                          </p:spTgt>
                                        </p:tgtEl>
                                        <p:attrNameLst>
                                          <p:attrName>style.visibility</p:attrName>
                                        </p:attrNameLst>
                                      </p:cBhvr>
                                      <p:to>
                                        <p:strVal val="visible"/>
                                      </p:to>
                                    </p:set>
                                    <p:animEffect transition="in" filter="wipe(up)">
                                      <p:cBhvr>
                                        <p:cTn id="38" dur="35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KEY TERMS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The vocabulary of this chapter</a:t>
            </a:r>
          </a:p>
        </p:txBody>
      </p:sp>
      <p:sp>
        <p:nvSpPr>
          <p:cNvPr id="7" name="TextBox 6"/>
          <p:cNvSpPr txBox="1"/>
          <p:nvPr/>
        </p:nvSpPr>
        <p:spPr>
          <a:xfrm>
            <a:off x="777240"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systematic review</a:t>
            </a:r>
          </a:p>
          <a:p>
            <a:pPr>
              <a:spcAft>
                <a:spcPts val="1100"/>
              </a:spcAft>
            </a:pPr>
            <a:r>
              <a:rPr sz="1400" b="0" i="0">
                <a:solidFill>
                  <a:srgbClr val="C84B31"/>
                </a:solidFill>
                <a:latin typeface="Segoe UI"/>
              </a:rPr>
              <a:t>▪  </a:t>
            </a:r>
            <a:r>
              <a:rPr sz="1400" b="0" i="0">
                <a:solidFill>
                  <a:srgbClr val="1C2833"/>
                </a:solidFill>
                <a:latin typeface="Segoe UI"/>
              </a:rPr>
              <a:t>systematic mapping study</a:t>
            </a:r>
          </a:p>
          <a:p>
            <a:pPr>
              <a:spcAft>
                <a:spcPts val="1100"/>
              </a:spcAft>
            </a:pPr>
            <a:r>
              <a:rPr sz="1400" b="0" i="0">
                <a:solidFill>
                  <a:srgbClr val="C84B31"/>
                </a:solidFill>
                <a:latin typeface="Segoe UI"/>
              </a:rPr>
              <a:t>▪  </a:t>
            </a:r>
            <a:r>
              <a:rPr sz="1400" b="0" i="0">
                <a:solidFill>
                  <a:srgbClr val="1C2833"/>
                </a:solidFill>
                <a:latin typeface="Segoe UI"/>
              </a:rPr>
              <a:t>protocol</a:t>
            </a:r>
          </a:p>
          <a:p>
            <a:pPr>
              <a:spcAft>
                <a:spcPts val="1100"/>
              </a:spcAft>
            </a:pPr>
            <a:r>
              <a:rPr sz="1400" b="0" i="0">
                <a:solidFill>
                  <a:srgbClr val="C84B31"/>
                </a:solidFill>
                <a:latin typeface="Segoe UI"/>
              </a:rPr>
              <a:t>▪  </a:t>
            </a:r>
            <a:r>
              <a:rPr sz="1400" b="0" i="0">
                <a:solidFill>
                  <a:srgbClr val="1C2833"/>
                </a:solidFill>
                <a:latin typeface="Segoe UI"/>
              </a:rPr>
              <a:t>primary study</a:t>
            </a:r>
          </a:p>
          <a:p>
            <a:pPr>
              <a:spcAft>
                <a:spcPts val="1100"/>
              </a:spcAft>
            </a:pPr>
            <a:r>
              <a:rPr sz="1400" b="0" i="0">
                <a:solidFill>
                  <a:srgbClr val="C84B31"/>
                </a:solidFill>
                <a:latin typeface="Segoe UI"/>
              </a:rPr>
              <a:t>▪  </a:t>
            </a:r>
            <a:r>
              <a:rPr sz="1400" b="0" i="0">
                <a:solidFill>
                  <a:srgbClr val="1C2833"/>
                </a:solidFill>
                <a:latin typeface="Segoe UI"/>
              </a:rPr>
              <a:t>search string</a:t>
            </a:r>
          </a:p>
          <a:p>
            <a:pPr>
              <a:spcAft>
                <a:spcPts val="1100"/>
              </a:spcAft>
            </a:pPr>
            <a:r>
              <a:rPr sz="1400" b="0" i="0">
                <a:solidFill>
                  <a:srgbClr val="C84B31"/>
                </a:solidFill>
                <a:latin typeface="Segoe UI"/>
              </a:rPr>
              <a:t>▪  </a:t>
            </a:r>
            <a:r>
              <a:rPr sz="1400" b="0" i="0">
                <a:solidFill>
                  <a:srgbClr val="1C2833"/>
                </a:solidFill>
                <a:latin typeface="Segoe UI"/>
              </a:rPr>
              <a:t>digital library</a:t>
            </a:r>
          </a:p>
        </p:txBody>
      </p:sp>
      <p:sp>
        <p:nvSpPr>
          <p:cNvPr id="8" name="TextBox 7"/>
          <p:cNvSpPr txBox="1"/>
          <p:nvPr/>
        </p:nvSpPr>
        <p:spPr>
          <a:xfrm>
            <a:off x="4383938"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inclusion and exclusion criteria</a:t>
            </a:r>
          </a:p>
          <a:p>
            <a:pPr>
              <a:spcAft>
                <a:spcPts val="1100"/>
              </a:spcAft>
            </a:pPr>
            <a:r>
              <a:rPr sz="1400" b="0" i="0">
                <a:solidFill>
                  <a:srgbClr val="C84B31"/>
                </a:solidFill>
                <a:latin typeface="Segoe UI"/>
              </a:rPr>
              <a:t>▪  </a:t>
            </a:r>
            <a:r>
              <a:rPr sz="1400" b="0" i="0">
                <a:solidFill>
                  <a:srgbClr val="1C2833"/>
                </a:solidFill>
                <a:latin typeface="Segoe UI"/>
              </a:rPr>
              <a:t>screening</a:t>
            </a:r>
          </a:p>
          <a:p>
            <a:pPr>
              <a:spcAft>
                <a:spcPts val="1100"/>
              </a:spcAft>
            </a:pPr>
            <a:r>
              <a:rPr sz="1400" b="0" i="0">
                <a:solidFill>
                  <a:srgbClr val="C84B31"/>
                </a:solidFill>
                <a:latin typeface="Segoe UI"/>
              </a:rPr>
              <a:t>▪  </a:t>
            </a:r>
            <a:r>
              <a:rPr sz="1400" b="0" i="0">
                <a:solidFill>
                  <a:srgbClr val="1C2833"/>
                </a:solidFill>
                <a:latin typeface="Segoe UI"/>
              </a:rPr>
              <a:t>inter-rater agreement</a:t>
            </a:r>
          </a:p>
          <a:p>
            <a:pPr>
              <a:spcAft>
                <a:spcPts val="1100"/>
              </a:spcAft>
            </a:pPr>
            <a:r>
              <a:rPr sz="1400" b="0" i="0">
                <a:solidFill>
                  <a:srgbClr val="C84B31"/>
                </a:solidFill>
                <a:latin typeface="Segoe UI"/>
              </a:rPr>
              <a:t>▪  </a:t>
            </a:r>
            <a:r>
              <a:rPr sz="1400" b="0" i="0">
                <a:solidFill>
                  <a:srgbClr val="1C2833"/>
                </a:solidFill>
                <a:latin typeface="Segoe UI"/>
              </a:rPr>
              <a:t>Cohen's kappa</a:t>
            </a:r>
          </a:p>
          <a:p>
            <a:pPr>
              <a:spcAft>
                <a:spcPts val="1100"/>
              </a:spcAft>
            </a:pPr>
            <a:r>
              <a:rPr sz="1400" b="0" i="0">
                <a:solidFill>
                  <a:srgbClr val="C84B31"/>
                </a:solidFill>
                <a:latin typeface="Segoe UI"/>
              </a:rPr>
              <a:t>▪  </a:t>
            </a:r>
            <a:r>
              <a:rPr sz="1400" b="0" i="0">
                <a:solidFill>
                  <a:srgbClr val="1C2833"/>
                </a:solidFill>
                <a:latin typeface="Segoe UI"/>
              </a:rPr>
              <a:t>quality assessment</a:t>
            </a:r>
          </a:p>
          <a:p>
            <a:pPr>
              <a:spcAft>
                <a:spcPts val="1100"/>
              </a:spcAft>
            </a:pPr>
            <a:r>
              <a:rPr sz="1400" b="0" i="0">
                <a:solidFill>
                  <a:srgbClr val="C84B31"/>
                </a:solidFill>
                <a:latin typeface="Segoe UI"/>
              </a:rPr>
              <a:t>▪  </a:t>
            </a:r>
            <a:r>
              <a:rPr sz="1400" b="0" i="0">
                <a:solidFill>
                  <a:srgbClr val="1C2833"/>
                </a:solidFill>
                <a:latin typeface="Segoe UI"/>
              </a:rPr>
              <a:t>data extraction</a:t>
            </a:r>
          </a:p>
        </p:txBody>
      </p:sp>
      <p:sp>
        <p:nvSpPr>
          <p:cNvPr id="9" name="TextBox 8"/>
          <p:cNvSpPr txBox="1"/>
          <p:nvPr/>
        </p:nvSpPr>
        <p:spPr>
          <a:xfrm>
            <a:off x="7990636"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synthesis</a:t>
            </a:r>
          </a:p>
          <a:p>
            <a:pPr>
              <a:spcAft>
                <a:spcPts val="1100"/>
              </a:spcAft>
            </a:pPr>
            <a:r>
              <a:rPr sz="1400" b="0" i="0">
                <a:solidFill>
                  <a:srgbClr val="C84B31"/>
                </a:solidFill>
                <a:latin typeface="Segoe UI"/>
              </a:rPr>
              <a:t>▪  </a:t>
            </a:r>
            <a:r>
              <a:rPr sz="1400" b="0" i="0">
                <a:solidFill>
                  <a:srgbClr val="1C2833"/>
                </a:solidFill>
                <a:latin typeface="Segoe UI"/>
              </a:rPr>
              <a:t>vote counting</a:t>
            </a:r>
          </a:p>
          <a:p>
            <a:pPr>
              <a:spcAft>
                <a:spcPts val="1100"/>
              </a:spcAft>
            </a:pPr>
            <a:r>
              <a:rPr sz="1400" b="0" i="0">
                <a:solidFill>
                  <a:srgbClr val="C84B31"/>
                </a:solidFill>
                <a:latin typeface="Segoe UI"/>
              </a:rPr>
              <a:t>▪  </a:t>
            </a:r>
            <a:r>
              <a:rPr sz="1400" b="0" i="0">
                <a:solidFill>
                  <a:srgbClr val="1C2833"/>
                </a:solidFill>
                <a:latin typeface="Segoe UI"/>
              </a:rPr>
              <a:t>publication bias</a:t>
            </a:r>
          </a:p>
          <a:p>
            <a:pPr>
              <a:spcAft>
                <a:spcPts val="1100"/>
              </a:spcAft>
            </a:pPr>
            <a:r>
              <a:rPr sz="1400" b="0" i="0">
                <a:solidFill>
                  <a:srgbClr val="C84B31"/>
                </a:solidFill>
                <a:latin typeface="Segoe UI"/>
              </a:rPr>
              <a:t>▪  </a:t>
            </a:r>
            <a:r>
              <a:rPr sz="1400" b="0" i="0">
                <a:solidFill>
                  <a:srgbClr val="1C2833"/>
                </a:solidFill>
                <a:latin typeface="Segoe UI"/>
              </a:rPr>
              <a:t>PRISMA</a:t>
            </a:r>
          </a:p>
        </p:txBody>
      </p:sp>
      <p:sp>
        <p:nvSpPr>
          <p:cNvPr id="10" name="Rectangle 9"/>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5 · Systematic Literature Review and Systematic Mapping</a:t>
            </a:r>
          </a:p>
        </p:txBody>
      </p:sp>
      <p:sp>
        <p:nvSpPr>
          <p:cNvPr id="12" name="TextBox 11"/>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Key terms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400"/>
                                        <p:tgtEl>
                                          <p:spTgt spid="7"/>
                                        </p:tgtEl>
                                      </p:cBhvr>
                                    </p:animEffect>
                                  </p:childTnLst>
                                </p:cTn>
                              </p:par>
                              <p:par>
                                <p:cTn id="9" presetID="23" presetClass="entr" presetSubtype="1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zoom(in)">
                                      <p:cBhvr>
                                        <p:cTn id="11" dur="400"/>
                                        <p:tgtEl>
                                          <p:spTgt spid="8"/>
                                        </p:tgtEl>
                                      </p:cBhvr>
                                    </p:animEffect>
                                  </p:childTnLst>
                                </p:cTn>
                              </p:par>
                              <p:par>
                                <p:cTn id="12" presetID="23" presetClass="entr" presetSubtype="16"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zoom(in)">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1 OF 7</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A Review Is a Study</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2 · CH. 5</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A Review Is a Study</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137177"/>
                </a:solidFill>
                <a:latin typeface="Segoe UI"/>
              </a:rPr>
              <a:t>CONCEPT   </a:t>
            </a:r>
            <a:r>
              <a:rPr sz="1700" b="1" i="0">
                <a:solidFill>
                  <a:srgbClr val="0E4D64"/>
                </a:solidFill>
                <a:latin typeface="Segoe UI"/>
              </a:rPr>
              <a:t>Which one does your synopsis need?</a:t>
            </a:r>
          </a:p>
          <a:p>
            <a:r>
              <a:rPr sz="1400" b="0" i="0">
                <a:solidFill>
                  <a:srgbClr val="1C2833"/>
                </a:solidFill>
                <a:latin typeface="Segoe UI"/>
              </a:rPr>
              <a:t>Almost always a mapping study first, then a systematic review if the map shows enough primary studies to answer a specific question.</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5 · Systematic Literature Review and Systematic Mapping</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A Review Is a Study</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2 OF 7</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The Protocol Comes First</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2 · CH. 5</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The Protocol Comes First</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r>
              <a:rPr sz="1400" b="0" i="0">
                <a:solidFill>
                  <a:srgbClr val="1C2833"/>
                </a:solidFill>
                <a:latin typeface="Segoe UI"/>
              </a:rPr>
              <a:t>The protocol is written, reviewed by your supervisor, and fixed before the search runs. This is not bureaucracy: it is the same device as pre-registration (Ch. 26), and it exists to stop you deciding what counts as relevant after you have seen which papers support the conclusion you were hoping for.</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5 · Systematic Literature Review and Systematic Mapping</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The Protocol Comes First</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3 OF 7</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Building the Search</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2 · CH. 5</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Building the Search</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r>
              <a:rPr sz="1400" b="0" i="0">
                <a:solidFill>
                  <a:srgbClr val="1C2833"/>
                </a:solidFill>
                <a:latin typeface="Segoe UI"/>
              </a:rPr>
              <a:t>From PICOC to a string Take the PICOC elements from template C2. For each element that will constrain the search — usually P, I and C — list synonyms, abbreviations, spelling variants and older terminology. Join synonyms with OR, join elements with AND.</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5 · Systematic Literature Review and Systematic Mapping</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Building the Search</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4 OF 7</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Screening</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2 · CH. 5</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Screening</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137177"/>
                </a:solidFill>
                <a:latin typeface="Segoe UI"/>
              </a:rPr>
              <a:t>CONCEPT   </a:t>
            </a:r>
            <a:r>
              <a:rPr sz="1700" b="1" i="0">
                <a:solidFill>
                  <a:srgbClr val="0E4D64"/>
                </a:solidFill>
                <a:latin typeface="Segoe UI"/>
              </a:rPr>
              <a:t>Measuring agreement, and what the number means</a:t>
            </a:r>
          </a:p>
          <a:p>
            <a:r>
              <a:rPr sz="1400" b="0" i="0">
                <a:solidFill>
                  <a:srgbClr val="1C2833"/>
                </a:solidFill>
                <a:latin typeface="Segoe UI"/>
              </a:rPr>
              <a:t>Have a second screener — your supervisor, a fellow scholar — independently screen a sample, typically 10–20% of records.</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5 · Systematic Literature Review and Systematic Mapping</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Screening</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5 OF 7</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Quality Appraisal</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2 · CH. 5</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Quality Appraisal</a:t>
            </a:r>
          </a:p>
        </p:txBody>
      </p:sp>
      <p:sp>
        <p:nvSpPr>
          <p:cNvPr id="7" name="Rectangle 6"/>
          <p:cNvSpPr/>
          <p:nvPr/>
        </p:nvSpPr>
        <p:spPr>
          <a:xfrm>
            <a:off x="777240" y="3282696"/>
            <a:ext cx="54864" cy="120700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B7950B"/>
                </a:solidFill>
                <a:latin typeface="Segoe UI"/>
              </a:rPr>
              <a:t>WATCH OUT   </a:t>
            </a:r>
            <a:r>
              <a:rPr sz="1700" b="1" i="0">
                <a:solidFill>
                  <a:srgbClr val="0E4D64"/>
                </a:solidFill>
                <a:latin typeface="Segoe UI"/>
              </a:rPr>
              <a:t>Decide the role of quality scores in the protocol</a:t>
            </a:r>
          </a:p>
          <a:p>
            <a:r>
              <a:rPr sz="1400" b="0" i="0">
                <a:solidFill>
                  <a:srgbClr val="1C2833"/>
                </a:solidFill>
                <a:latin typeface="Segoe UI"/>
              </a:rPr>
              <a:t>There are two defensible uses, and you must choose in advance: tight As an exclusion threshold — studies below a stated score are excluded. Simple, but discards evidence and the threshold is arbitrary.</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5 · Systematic Literature Review and Systematic Mapping</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Quality Appraisal</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6 OF 7</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Extraction and Synthesis</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2 · CH. 5</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Extraction and Synthesis</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r>
              <a:rPr sz="1400" b="0" i="0">
                <a:solidFill>
                  <a:srgbClr val="1C2833"/>
                </a:solidFill>
                <a:latin typeface="Segoe UI"/>
              </a:rPr>
              <a:t>Three ways to synthesise, and one to avoid Narrative synthesis groups studies and describes patterns in prose. It is the default in software engineering, because primary studies are rarely commensurable enough for anything stronger.</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5 · Systematic Literature Review and Systematic Mapping</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Extraction and Synthesis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7 OF 7</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Reporting: the PRISMA Flow</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2 · CH. 5</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Reporting: the PRISMA Flow</a:t>
            </a:r>
          </a:p>
        </p:txBody>
      </p:sp>
      <p:sp>
        <p:nvSpPr>
          <p:cNvPr id="7" name="Rectangle 6"/>
          <p:cNvSpPr/>
          <p:nvPr/>
        </p:nvSpPr>
        <p:spPr>
          <a:xfrm>
            <a:off x="777240" y="257403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2574036"/>
            <a:ext cx="10381183" cy="1207008"/>
          </a:xfrm>
          <a:prstGeom prst="rect">
            <a:avLst/>
          </a:prstGeom>
          <a:noFill/>
        </p:spPr>
        <p:txBody>
          <a:bodyPr wrap="square" anchor="t" lIns="0" rIns="0" tIns="0" bIns="0">
            <a:spAutoFit/>
          </a:bodyPr>
          <a:lstStyle/>
          <a:p>
            <a:pPr>
              <a:spcAft>
                <a:spcPts val="400"/>
              </a:spcAft>
            </a:pPr>
            <a:r>
              <a:rPr sz="1000" b="1" i="0">
                <a:solidFill>
                  <a:srgbClr val="137177"/>
                </a:solidFill>
                <a:latin typeface="Segoe UI"/>
              </a:rPr>
              <a:t>CONCEPT   </a:t>
            </a:r>
            <a:r>
              <a:rPr sz="1700" b="1" i="0">
                <a:solidFill>
                  <a:srgbClr val="0E4D64"/>
                </a:solidFill>
                <a:latin typeface="Segoe UI"/>
              </a:rPr>
              <a:t>What the numbers reveal to a reader</a:t>
            </a:r>
          </a:p>
          <a:p>
            <a:r>
              <a:rPr sz="1400" b="0" i="0">
                <a:solidFill>
                  <a:srgbClr val="1C2833"/>
                </a:solidFill>
                <a:latin typeface="Segoe UI"/>
              </a:rPr>
              <a:t>An experienced reviewer reads your flow diagram diagnostically. A very high title-screen exclusion rate — 4,000 down to 60 — suggests the search string was too broad and probably imprecise.</a:t>
            </a:r>
          </a:p>
        </p:txBody>
      </p:sp>
      <p:sp>
        <p:nvSpPr>
          <p:cNvPr id="9" name="Rectangle 8"/>
          <p:cNvSpPr/>
          <p:nvPr/>
        </p:nvSpPr>
        <p:spPr>
          <a:xfrm>
            <a:off x="777240" y="3991356"/>
            <a:ext cx="54864" cy="1207008"/>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33272" y="3991356"/>
            <a:ext cx="10381183" cy="1207008"/>
          </a:xfrm>
          <a:prstGeom prst="rect">
            <a:avLst/>
          </a:prstGeom>
          <a:noFill/>
        </p:spPr>
        <p:txBody>
          <a:bodyPr wrap="square" anchor="t" lIns="0" rIns="0" tIns="0" bIns="0">
            <a:spAutoFit/>
          </a:bodyPr>
          <a:lstStyle/>
          <a:p>
            <a:pPr>
              <a:spcAft>
                <a:spcPts val="400"/>
              </a:spcAft>
            </a:pPr>
            <a:r>
              <a:rPr sz="1000" b="1" i="0">
                <a:solidFill>
                  <a:srgbClr val="C84B31"/>
                </a:solidFill>
                <a:latin typeface="Segoe UI"/>
              </a:rPr>
              <a:t>REGULATION   </a:t>
            </a:r>
            <a:r>
              <a:rPr sz="1700" b="1" i="0">
                <a:solidFill>
                  <a:srgbClr val="0E4D64"/>
                </a:solidFill>
                <a:latin typeface="Segoe UI"/>
              </a:rPr>
              <a:t>Why this chapter matters for your synopsis — PhD §13, MS §8</a:t>
            </a:r>
          </a:p>
          <a:p>
            <a:r>
              <a:rPr sz="1400" b="0" i="0">
                <a:solidFill>
                  <a:srgbClr val="1C2833"/>
                </a:solidFill>
                <a:latin typeface="Segoe UI"/>
              </a:rPr>
              <a:t>The synopsis is defended before the Departmental Research Committee, and for PhD scholars additionally evaluated by an external referee from a national university, chosen from a panel of six experts supplied by your supervisor…</a:t>
            </a:r>
          </a:p>
        </p:txBody>
      </p:sp>
      <p:sp>
        <p:nvSpPr>
          <p:cNvPr id="11" name="Rectangle 10"/>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5 · Systematic Literature Review and Systematic Mapping</a:t>
            </a:r>
          </a:p>
        </p:txBody>
      </p:sp>
      <p:sp>
        <p:nvSpPr>
          <p:cNvPr id="13" name="TextBox 12"/>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Reporting: the PRISMA Flow</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3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WORKED EXAMPLE</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A search string, built and then repaired</a:t>
            </a:r>
          </a:p>
        </p:txBody>
      </p:sp>
      <p:sp>
        <p:nvSpPr>
          <p:cNvPr id="7" name="Rectangle 6"/>
          <p:cNvSpPr/>
          <p:nvPr/>
        </p:nvSpPr>
        <p:spPr>
          <a:xfrm>
            <a:off x="777240" y="3040380"/>
            <a:ext cx="10637215" cy="1234440"/>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3040380"/>
            <a:ext cx="64008" cy="123444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3241548"/>
            <a:ext cx="9997135" cy="832104"/>
          </a:xfrm>
          <a:prstGeom prst="rect">
            <a:avLst/>
          </a:prstGeom>
          <a:noFill/>
        </p:spPr>
        <p:txBody>
          <a:bodyPr wrap="square" anchor="t" lIns="0" rIns="0" tIns="0" bIns="0">
            <a:spAutoFit/>
          </a:bodyPr>
          <a:lstStyle/>
          <a:p>
            <a:pPr>
              <a:spcAft>
                <a:spcPts val="1000"/>
              </a:spcAft>
            </a:pPr>
            <a:r>
              <a:rPr sz="1500" b="0" i="0">
                <a:solidFill>
                  <a:srgbClr val="1C2833"/>
                </a:solidFill>
                <a:latin typeface="Segoe UI"/>
              </a:rPr>
              <a:t>Question. What techniques are used to test microservice-based systems, and which have been evaluated in industrial settings?</a:t>
            </a:r>
          </a:p>
        </p:txBody>
      </p:sp>
      <p:sp>
        <p:nvSpPr>
          <p:cNvPr id="10" name="TextBox 9"/>
          <p:cNvSpPr txBox="1"/>
          <p:nvPr/>
        </p:nvSpPr>
        <p:spPr>
          <a:xfrm>
            <a:off x="777240" y="4421124"/>
            <a:ext cx="10637215" cy="365760"/>
          </a:xfrm>
          <a:prstGeom prst="rect">
            <a:avLst/>
          </a:prstGeom>
          <a:noFill/>
        </p:spPr>
        <p:txBody>
          <a:bodyPr wrap="square" anchor="t" lIns="0" rIns="0" tIns="0" bIns="0">
            <a:spAutoFit/>
          </a:bodyPr>
          <a:lstStyle/>
          <a:p>
            <a:r>
              <a:rPr sz="1100" b="0" i="1">
                <a:solidFill>
                  <a:srgbClr val="707B7C"/>
                </a:solidFill>
                <a:latin typeface="Segoe UI"/>
              </a:rPr>
              <a:t>Constructed for teaching — the numbers are invented, as in the handout.</a:t>
            </a:r>
          </a:p>
        </p:txBody>
      </p:sp>
      <p:sp>
        <p:nvSpPr>
          <p:cNvPr id="11" name="Rectangle 10"/>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5 · Systematic Literature Review and Systematic Mapping</a:t>
            </a:r>
          </a:p>
        </p:txBody>
      </p:sp>
      <p:sp>
        <p:nvSpPr>
          <p:cNvPr id="13" name="TextBox 12"/>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Worked example</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400"/>
                                        <p:tgtEl>
                                          <p:spTgt spid="7"/>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Effect transition="in" filter="fade">
                                      <p:cBhvr>
                                        <p:cTn id="13" dur="350"/>
                                        <p:tgtEl>
                                          <p:spTgt spid="9">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PITFALLS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2600" b="1" i="0">
                <a:solidFill>
                  <a:srgbClr val="0E4D64"/>
                </a:solidFill>
                <a:latin typeface="Georgia"/>
              </a:rPr>
              <a:t>Every database has different syntax, and the differences bite</a:t>
            </a:r>
          </a:p>
        </p:txBody>
      </p:sp>
      <p:sp>
        <p:nvSpPr>
          <p:cNvPr id="7" name="TextBox 6"/>
          <p:cNvSpPr txBox="1"/>
          <p:nvPr/>
        </p:nvSpPr>
        <p:spPr>
          <a:xfrm>
            <a:off x="868680" y="1828800"/>
            <a:ext cx="10454335" cy="4114800"/>
          </a:xfrm>
          <a:prstGeom prst="rect">
            <a:avLst/>
          </a:prstGeom>
          <a:noFill/>
        </p:spPr>
        <p:txBody>
          <a:bodyPr wrap="square" anchor="t" lIns="0" rIns="0" tIns="0" bIns="0">
            <a:spAutoFit/>
          </a:bodyPr>
          <a:lstStyle/>
          <a:p>
            <a:pPr>
              <a:spcAft>
                <a:spcPts val="1500"/>
              </a:spcAft>
            </a:pPr>
            <a:r>
              <a:rPr sz="1500" b="1" i="0">
                <a:solidFill>
                  <a:srgbClr val="C84B31"/>
                </a:solidFill>
                <a:latin typeface="Segoe UI"/>
              </a:rPr>
              <a:t>✖  </a:t>
            </a:r>
            <a:r>
              <a:rPr sz="1500" b="0" i="0">
                <a:solidFill>
                  <a:srgbClr val="1C2833"/>
                </a:solidFill>
                <a:latin typeface="Segoe UI"/>
              </a:rPr>
              <a:t>IEEE Xplore supports nested parentheses and * wildcards, but caps command-search string length — long strings must be split and the results unioned.</a:t>
            </a:r>
          </a:p>
          <a:p>
            <a:pPr>
              <a:spcAft>
                <a:spcPts val="1500"/>
              </a:spcAft>
            </a:pPr>
            <a:r>
              <a:rPr sz="1500" b="1" i="0">
                <a:solidFill>
                  <a:srgbClr val="C84B31"/>
                </a:solidFill>
                <a:latin typeface="Segoe UI"/>
              </a:rPr>
              <a:t>✖  </a:t>
            </a:r>
            <a:r>
              <a:rPr sz="1500" b="0" i="0">
                <a:solidFill>
                  <a:srgbClr val="1C2833"/>
                </a:solidFill>
                <a:latin typeface="Segoe UI"/>
              </a:rPr>
              <a:t>ACM Digital Library changed its search interface and syntax; strings written for the old one silently return different results.</a:t>
            </a:r>
          </a:p>
          <a:p>
            <a:pPr>
              <a:spcAft>
                <a:spcPts val="1500"/>
              </a:spcAft>
            </a:pPr>
            <a:r>
              <a:rPr sz="1500" b="1" i="0">
                <a:solidFill>
                  <a:srgbClr val="C84B31"/>
                </a:solidFill>
                <a:latin typeface="Segoe UI"/>
              </a:rPr>
              <a:t>✖  </a:t>
            </a:r>
            <a:r>
              <a:rPr sz="1500" b="0" i="0">
                <a:solidFill>
                  <a:srgbClr val="1C2833"/>
                </a:solidFill>
                <a:latin typeface="Segoe UI"/>
              </a:rPr>
              <a:t>Scopus and Web of Science use field codes (TITLE-ABS-KEY, TS=). Omitting the field code searches full text and returns thousands of irrelevant hits.</a:t>
            </a:r>
          </a:p>
          <a:p>
            <a:pPr>
              <a:spcAft>
                <a:spcPts val="1500"/>
              </a:spcAft>
            </a:pPr>
            <a:r>
              <a:rPr sz="1500" b="1" i="0">
                <a:solidFill>
                  <a:srgbClr val="C84B31"/>
                </a:solidFill>
                <a:latin typeface="Segoe UI"/>
              </a:rPr>
              <a:t>✖  </a:t>
            </a:r>
            <a:r>
              <a:rPr sz="1500" b="0" i="0">
                <a:solidFill>
                  <a:srgbClr val="1C2833"/>
                </a:solidFill>
                <a:latin typeface="Segoe UI"/>
              </a:rPr>
              <a:t>SpringerLink handles Boolean operators inconsistently across content types.</a:t>
            </a:r>
          </a:p>
          <a:p>
            <a:pPr>
              <a:spcAft>
                <a:spcPts val="1500"/>
              </a:spcAft>
            </a:pPr>
            <a:r>
              <a:rPr sz="1500" b="1" i="0">
                <a:solidFill>
                  <a:srgbClr val="C84B31"/>
                </a:solidFill>
                <a:latin typeface="Segoe UI"/>
              </a:rPr>
              <a:t>✖  </a:t>
            </a:r>
            <a:r>
              <a:rPr sz="1500" b="1" i="0">
                <a:solidFill>
                  <a:srgbClr val="0E4D64"/>
                </a:solidFill>
                <a:latin typeface="Segoe UI"/>
              </a:rPr>
              <a:t>Google Scholar should not be used as a primary source: </a:t>
            </a:r>
            <a:r>
              <a:rPr sz="1500" b="0" i="0">
                <a:solidFill>
                  <a:srgbClr val="1C2833"/>
                </a:solidFill>
                <a:latin typeface="Segoe UI"/>
              </a:rPr>
              <a:t>results are not reproducible between users or dates, and there is no export of a complete result set. Use it for snowballing (Ch. 6), not…</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5 · Systematic Literature Review and Systematic Mapping</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Pitfalls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 presetClass="entr" presetSubtype="8"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slide(fromLeft)">
                                      <p:cBhvr>
                                        <p:cTn id="8" dur="35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slide(fromLeft)">
                                      <p:cBhvr>
                                        <p:cTn id="13" dur="35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slide(fromLeft)">
                                      <p:cBhvr>
                                        <p:cTn id="18" dur="35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slide(fromLeft)">
                                      <p:cBhvr>
                                        <p:cTn id="23" dur="350"/>
                                        <p:tgtEl>
                                          <p:spTgt spid="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slide(fromLeft)">
                                      <p:cBhvr>
                                        <p:cTn id="28" dur="35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WHAT THE REGULATIONS SAY</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Rules that bind you, quoted</a:t>
            </a:r>
          </a:p>
        </p:txBody>
      </p:sp>
      <p:sp>
        <p:nvSpPr>
          <p:cNvPr id="7" name="Rectangle 6"/>
          <p:cNvSpPr/>
          <p:nvPr/>
        </p:nvSpPr>
        <p:spPr>
          <a:xfrm>
            <a:off x="777240" y="3268980"/>
            <a:ext cx="10637215" cy="1234440"/>
          </a:xfrm>
          <a:prstGeom prst="rect">
            <a:avLst/>
          </a:prstGeom>
          <a:solidFill>
            <a:srgbClr val="FFFFFF"/>
          </a:solidFill>
          <a:ln w="12700">
            <a:solidFill>
              <a:srgbClr val="C84B3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3268980"/>
            <a:ext cx="64008" cy="123444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3415284"/>
            <a:ext cx="10088575" cy="960120"/>
          </a:xfrm>
          <a:prstGeom prst="rect">
            <a:avLst/>
          </a:prstGeom>
          <a:noFill/>
        </p:spPr>
        <p:txBody>
          <a:bodyPr wrap="square" anchor="t" lIns="0" rIns="0" tIns="0" bIns="0">
            <a:spAutoFit/>
          </a:bodyPr>
          <a:lstStyle/>
          <a:p>
            <a:pPr>
              <a:spcAft>
                <a:spcPts val="400"/>
              </a:spcAft>
            </a:pPr>
            <a:r>
              <a:rPr sz="1200" b="1" i="0">
                <a:solidFill>
                  <a:srgbClr val="C84B31"/>
                </a:solidFill>
                <a:latin typeface="Segoe UI"/>
              </a:rPr>
              <a:t>Why this chapter matters for your synopsis — PhD §13, MS §8</a:t>
            </a:r>
          </a:p>
          <a:p>
            <a:r>
              <a:rPr sz="1300" b="0" i="0">
                <a:solidFill>
                  <a:srgbClr val="1C2833"/>
                </a:solidFill>
                <a:latin typeface="Segoe UI"/>
              </a:rPr>
              <a:t>The synopsis is defended before the Departmental Research Committee, and for PhD scholars additionally evaluated by an external referee from a national university, chosen from a panel of six experts supplied by your supervisor (PhD Regs 2024…</a:t>
            </a:r>
          </a:p>
        </p:txBody>
      </p:sp>
      <p:sp>
        <p:nvSpPr>
          <p:cNvPr id="10" name="Rectangle 9"/>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5 · Systematic Literature Review and Systematic Mapping</a:t>
            </a:r>
          </a:p>
        </p:txBody>
      </p:sp>
      <p:sp>
        <p:nvSpPr>
          <p:cNvPr id="12" name="TextBox 11"/>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Regulations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right)">
                                      <p:cBhvr>
                                        <p:cTn id="8" dur="35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FOUR TRADITIONS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How this lands in reviewing the literature</a:t>
            </a:r>
          </a:p>
        </p:txBody>
      </p:sp>
      <p:sp>
        <p:nvSpPr>
          <p:cNvPr id="7" name="Rectangle 6"/>
          <p:cNvSpPr/>
          <p:nvPr/>
        </p:nvSpPr>
        <p:spPr>
          <a:xfrm>
            <a:off x="777240" y="18745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1874519"/>
            <a:ext cx="5158587" cy="508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78408" y="2075687"/>
            <a:ext cx="4756251" cy="1417320"/>
          </a:xfrm>
          <a:prstGeom prst="rect">
            <a:avLst/>
          </a:prstGeom>
          <a:noFill/>
        </p:spPr>
        <p:txBody>
          <a:bodyPr wrap="square" anchor="t" lIns="0" rIns="0" tIns="0" bIns="0">
            <a:spAutoFit/>
          </a:bodyPr>
          <a:lstStyle/>
          <a:p>
            <a:pPr>
              <a:spcAft>
                <a:spcPts val="500"/>
              </a:spcAft>
            </a:pPr>
            <a:r>
              <a:rPr sz="1100" b="1" i="0">
                <a:solidFill>
                  <a:srgbClr val="1F618D"/>
                </a:solidFill>
                <a:latin typeface="Segoe UI"/>
              </a:rPr>
              <a:t>EMPIRICAL</a:t>
            </a:r>
          </a:p>
          <a:p>
            <a:r>
              <a:rPr sz="1250" b="0" i="0">
                <a:solidFill>
                  <a:srgbClr val="1C2833"/>
                </a:solidFill>
                <a:latin typeface="Segoe UI"/>
              </a:rPr>
              <a:t>Pool effect sizes where the primary studies permit it; where they do not, report why not, and treat the incommensurability as a finding about the field's measurement practices.</a:t>
            </a:r>
          </a:p>
        </p:txBody>
      </p:sp>
      <p:sp>
        <p:nvSpPr>
          <p:cNvPr id="10" name="Rectangle 9"/>
          <p:cNvSpPr/>
          <p:nvPr/>
        </p:nvSpPr>
        <p:spPr>
          <a:xfrm>
            <a:off x="6255867" y="18745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55867" y="1874519"/>
            <a:ext cx="5158587" cy="508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57035" y="2075687"/>
            <a:ext cx="4756251" cy="1417320"/>
          </a:xfrm>
          <a:prstGeom prst="rect">
            <a:avLst/>
          </a:prstGeom>
          <a:noFill/>
        </p:spPr>
        <p:txBody>
          <a:bodyPr wrap="square" anchor="t" lIns="0" rIns="0" tIns="0" bIns="0">
            <a:spAutoFit/>
          </a:bodyPr>
          <a:lstStyle/>
          <a:p>
            <a:pPr>
              <a:spcAft>
                <a:spcPts val="500"/>
              </a:spcAft>
            </a:pPr>
            <a:r>
              <a:rPr sz="1100" b="1" i="0">
                <a:solidFill>
                  <a:srgbClr val="117864"/>
                </a:solidFill>
                <a:latin typeface="Segoe UI"/>
              </a:rPr>
              <a:t>DESIGN SCIENCE</a:t>
            </a:r>
          </a:p>
          <a:p>
            <a:r>
              <a:rPr sz="1250" b="0" i="0">
                <a:solidFill>
                  <a:srgbClr val="1C2833"/>
                </a:solidFill>
                <a:latin typeface="Segoe UI"/>
              </a:rPr>
              <a:t>Review artefacts and design knowledge rather than effects: what has been built, for which problem class, evaluated how convincingly.</a:t>
            </a:r>
          </a:p>
        </p:txBody>
      </p:sp>
      <p:sp>
        <p:nvSpPr>
          <p:cNvPr id="13" name="Rectangle 12"/>
          <p:cNvSpPr/>
          <p:nvPr/>
        </p:nvSpPr>
        <p:spPr>
          <a:xfrm>
            <a:off x="777240" y="39319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77240" y="3931919"/>
            <a:ext cx="5158587" cy="508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78408" y="4133087"/>
            <a:ext cx="4756251" cy="1417320"/>
          </a:xfrm>
          <a:prstGeom prst="rect">
            <a:avLst/>
          </a:prstGeom>
          <a:noFill/>
        </p:spPr>
        <p:txBody>
          <a:bodyPr wrap="square" anchor="t" lIns="0" rIns="0" tIns="0" bIns="0">
            <a:spAutoFit/>
          </a:bodyPr>
          <a:lstStyle/>
          <a:p>
            <a:pPr>
              <a:spcAft>
                <a:spcPts val="500"/>
              </a:spcAft>
            </a:pPr>
            <a:r>
              <a:rPr sz="1100" b="1" i="0">
                <a:solidFill>
                  <a:srgbClr val="6C3483"/>
                </a:solidFill>
                <a:latin typeface="Segoe UI"/>
              </a:rPr>
              <a:t>QUALITATIVE</a:t>
            </a:r>
          </a:p>
          <a:p>
            <a:r>
              <a:rPr sz="1250" b="0" i="0">
                <a:solidFill>
                  <a:srgbClr val="1C2833"/>
                </a:solidFill>
                <a:latin typeface="Segoe UI"/>
              </a:rPr>
              <a:t>Thematic or meta-ethnographic synthesis, building second-order constructs across studies. Aims at interpretation, not at a pooled estimate.</a:t>
            </a:r>
          </a:p>
        </p:txBody>
      </p:sp>
      <p:sp>
        <p:nvSpPr>
          <p:cNvPr id="16" name="Rectangle 15"/>
          <p:cNvSpPr/>
          <p:nvPr/>
        </p:nvSpPr>
        <p:spPr>
          <a:xfrm>
            <a:off x="6255867" y="39319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55867" y="3931919"/>
            <a:ext cx="5158587" cy="508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57035" y="4133087"/>
            <a:ext cx="4756251" cy="1417320"/>
          </a:xfrm>
          <a:prstGeom prst="rect">
            <a:avLst/>
          </a:prstGeom>
          <a:noFill/>
        </p:spPr>
        <p:txBody>
          <a:bodyPr wrap="square" anchor="t" lIns="0" rIns="0" tIns="0" bIns="0">
            <a:spAutoFit/>
          </a:bodyPr>
          <a:lstStyle/>
          <a:p>
            <a:pPr>
              <a:spcAft>
                <a:spcPts val="500"/>
              </a:spcAft>
            </a:pPr>
            <a:r>
              <a:rPr sz="1100" b="1" i="0">
                <a:solidFill>
                  <a:srgbClr val="922B21"/>
                </a:solidFill>
                <a:latin typeface="Segoe UI"/>
              </a:rPr>
              <a:t>FORMAL</a:t>
            </a:r>
          </a:p>
          <a:p>
            <a:r>
              <a:rPr sz="1250" b="0" i="0">
                <a:solidFill>
                  <a:srgbClr val="1C2833"/>
                </a:solidFill>
                <a:latin typeface="Segoe UI"/>
              </a:rPr>
              <a:t>Review results and their assumptions: which bounds are known, under which models, and where the open problems sit. Exhaustiveness matters more than sampling.</a:t>
            </a:r>
          </a:p>
        </p:txBody>
      </p:sp>
      <p:sp>
        <p:nvSpPr>
          <p:cNvPr id="19" name="Rectangle 1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5 · Systematic Literature Review and Systematic Mapping</a:t>
            </a:r>
          </a:p>
        </p:txBody>
      </p:sp>
      <p:sp>
        <p:nvSpPr>
          <p:cNvPr id="21" name="TextBox 2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Four traditions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35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16"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zoom(in)">
                                      <p:cBhvr>
                                        <p:cTn id="16" dur="35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zoom(in)">
                                      <p:cBhvr>
                                        <p:cTn id="24" dur="35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zoom(in)">
                                      <p:cBhvr>
                                        <p:cTn id="32" dur="35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SUMMARY</a:t>
            </a:r>
          </a:p>
        </p:txBody>
      </p:sp>
      <p:sp>
        <p:nvSpPr>
          <p:cNvPr id="6" name="TextBox 5"/>
          <p:cNvSpPr txBox="1"/>
          <p:nvPr/>
        </p:nvSpPr>
        <p:spPr>
          <a:xfrm>
            <a:off x="777240" y="914400"/>
            <a:ext cx="10637215" cy="731520"/>
          </a:xfrm>
          <a:prstGeom prst="rect">
            <a:avLst/>
          </a:prstGeom>
          <a:noFill/>
        </p:spPr>
        <p:txBody>
          <a:bodyPr wrap="square" anchor="t" lIns="0" rIns="0" tIns="0" bIns="0">
            <a:spAutoFit/>
          </a:bodyPr>
          <a:lstStyle/>
          <a:p>
            <a:r>
              <a:rPr sz="3000" b="1" i="0">
                <a:solidFill>
                  <a:srgbClr val="0E4D64"/>
                </a:solidFill>
                <a:latin typeface="Georgia"/>
              </a:rPr>
              <a:t>What to take away</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400"/>
              </a:spcAft>
            </a:pPr>
            <a:r>
              <a:rPr sz="1500" b="1" i="0">
                <a:solidFill>
                  <a:srgbClr val="C84B31"/>
                </a:solidFill>
                <a:latin typeface="Segoe UI"/>
              </a:rPr>
              <a:t>1. </a:t>
            </a:r>
            <a:r>
              <a:rPr sz="1500" b="0" i="0">
                <a:solidFill>
                  <a:srgbClr val="1C2833"/>
                </a:solidFill>
                <a:latin typeface="Segoe UI"/>
              </a:rPr>
              <a:t>A systematic review is a study whose subjects are papers; it has a protocol, a reproducible search and an appraisal stage, and it can be checked.</a:t>
            </a:r>
          </a:p>
          <a:p>
            <a:pPr>
              <a:spcAft>
                <a:spcPts val="1400"/>
              </a:spcAft>
            </a:pPr>
            <a:r>
              <a:rPr sz="1500" b="1" i="0">
                <a:solidFill>
                  <a:srgbClr val="C84B31"/>
                </a:solidFill>
                <a:latin typeface="Segoe UI"/>
              </a:rPr>
              <a:t>2. </a:t>
            </a:r>
            <a:r>
              <a:rPr sz="1500" b="0" i="0">
                <a:solidFill>
                  <a:srgbClr val="1C2833"/>
                </a:solidFill>
                <a:latin typeface="Segoe UI"/>
              </a:rPr>
              <a:t>Map first when the area is unfamiliar; the map generates the specific question a review needs.</a:t>
            </a:r>
          </a:p>
          <a:p>
            <a:pPr>
              <a:spcAft>
                <a:spcPts val="1400"/>
              </a:spcAft>
            </a:pPr>
            <a:r>
              <a:rPr sz="1500" b="1" i="0">
                <a:solidFill>
                  <a:srgbClr val="C84B31"/>
                </a:solidFill>
                <a:latin typeface="Segoe UI"/>
              </a:rPr>
              <a:t>3. </a:t>
            </a:r>
            <a:r>
              <a:rPr sz="1500" b="0" i="0">
                <a:solidFill>
                  <a:srgbClr val="1C2833"/>
                </a:solidFill>
                <a:latin typeface="Segoe UI"/>
              </a:rPr>
              <a:t>Write the protocol before searching. It is pre-registration for a review.</a:t>
            </a:r>
          </a:p>
          <a:p>
            <a:pPr>
              <a:spcAft>
                <a:spcPts val="1400"/>
              </a:spcAft>
            </a:pPr>
            <a:r>
              <a:rPr sz="1500" b="1" i="0">
                <a:solidFill>
                  <a:srgbClr val="C84B31"/>
                </a:solidFill>
                <a:latin typeface="Segoe UI"/>
              </a:rPr>
              <a:t>4. </a:t>
            </a:r>
            <a:r>
              <a:rPr sz="1500" b="0" i="0">
                <a:solidFill>
                  <a:srgbClr val="1C2833"/>
                </a:solidFill>
                <a:latin typeface="Segoe UI"/>
              </a:rPr>
              <a:t>Build the string from PICOC, calibrate it against a quasi-gold standard, and record string, fields, date and hits per database.</a:t>
            </a:r>
          </a:p>
          <a:p>
            <a:pPr>
              <a:spcAft>
                <a:spcPts val="1400"/>
              </a:spcAft>
            </a:pPr>
            <a:r>
              <a:rPr sz="1500" b="1" i="0">
                <a:solidFill>
                  <a:srgbClr val="C84B31"/>
                </a:solidFill>
                <a:latin typeface="Segoe UI"/>
              </a:rPr>
              <a:t>5. </a:t>
            </a:r>
            <a:r>
              <a:rPr sz="1500" b="0" i="0">
                <a:solidFill>
                  <a:srgbClr val="1C2833"/>
                </a:solidFill>
                <a:latin typeface="Segoe UI"/>
              </a:rPr>
              <a:t>Screen with criteria two people can apply identically; report κ and repair the criteria, not the disagreement.</a:t>
            </a:r>
          </a:p>
          <a:p>
            <a:pPr>
              <a:spcAft>
                <a:spcPts val="1400"/>
              </a:spcAft>
            </a:pPr>
            <a:r>
              <a:rPr sz="1500" b="1" i="0">
                <a:solidFill>
                  <a:srgbClr val="C84B31"/>
                </a:solidFill>
                <a:latin typeface="Segoe UI"/>
              </a:rPr>
              <a:t>6. </a:t>
            </a:r>
            <a:r>
              <a:rPr sz="1500" b="0" i="0">
                <a:solidFill>
                  <a:srgbClr val="1C2833"/>
                </a:solidFill>
                <a:latin typeface="Segoe UI"/>
              </a:rPr>
              <a:t>Decide the role of quality scores in advance — exclusion threshold or moderator.</a:t>
            </a:r>
          </a:p>
          <a:p>
            <a:pPr>
              <a:spcAft>
                <a:spcPts val="1400"/>
              </a:spcAft>
            </a:pPr>
            <a:r>
              <a:rPr sz="1500" b="1" i="0">
                <a:solidFill>
                  <a:srgbClr val="C84B31"/>
                </a:solidFill>
                <a:latin typeface="Segoe UI"/>
              </a:rPr>
              <a:t>7. </a:t>
            </a:r>
            <a:r>
              <a:rPr sz="1500" b="0" i="0">
                <a:solidFill>
                  <a:srgbClr val="1C2833"/>
                </a:solidFill>
                <a:latin typeface="Segoe UI"/>
              </a:rPr>
              <a:t>Synthesise; do not vote count. If effect sizes exist, pool them; if not, explain the disagreement.</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5 · Systematic Literature Review and Systematic Mapping</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Summary</a:t>
            </a:r>
          </a:p>
        </p:txBody>
      </p:sp>
    </p:spTree>
  </p:cSld>
  <p:clrMapOvr>
    <a:masterClrMapping/>
  </p:clrMapOvr>
  <p:transition spd="med">
    <p:push dir="u"/>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wipe(up)">
                                      <p:cBhvr>
                                        <p:cTn id="8" dur="32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wipe(up)">
                                      <p:cBhvr>
                                        <p:cTn id="13" dur="32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wipe(up)">
                                      <p:cBhvr>
                                        <p:cTn id="18" dur="32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wipe(up)">
                                      <p:cBhvr>
                                        <p:cTn id="23" dur="320"/>
                                        <p:tgtEl>
                                          <p:spTgt spid="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wipe(up)">
                                      <p:cBhvr>
                                        <p:cTn id="28" dur="320"/>
                                        <p:tgtEl>
                                          <p:spTgt spid="7">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animEffect transition="in" filter="wipe(up)">
                                      <p:cBhvr>
                                        <p:cTn id="33" dur="320"/>
                                        <p:tgtEl>
                                          <p:spTgt spid="7">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7">
                                            <p:txEl>
                                              <p:pRg st="6" end="6"/>
                                            </p:txEl>
                                          </p:spTgt>
                                        </p:tgtEl>
                                        <p:attrNameLst>
                                          <p:attrName>style.visibility</p:attrName>
                                        </p:attrNameLst>
                                      </p:cBhvr>
                                      <p:to>
                                        <p:strVal val="visible"/>
                                      </p:to>
                                    </p:set>
                                    <p:animEffect transition="in" filter="wipe(up)">
                                      <p:cBhvr>
                                        <p:cTn id="38" dur="32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REVIEW</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Questions to think with</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800"/>
              </a:spcAft>
            </a:pPr>
            <a:r>
              <a:rPr sz="1500" b="1" i="0">
                <a:solidFill>
                  <a:srgbClr val="C84B31"/>
                </a:solidFill>
                <a:latin typeface="Segoe UI"/>
              </a:rPr>
              <a:t>Q1  </a:t>
            </a:r>
            <a:r>
              <a:rPr sz="1500" b="0" i="0">
                <a:solidFill>
                  <a:srgbClr val="1C2833"/>
                </a:solidFill>
                <a:latin typeface="Segoe UI"/>
              </a:rPr>
              <a:t>Systematic reviews were imported into software engineering from evidence-based medicine. Identify two features of computing research that make the transfer imperfect, and say how the…</a:t>
            </a:r>
          </a:p>
          <a:p>
            <a:pPr>
              <a:spcAft>
                <a:spcPts val="1800"/>
              </a:spcAft>
            </a:pPr>
            <a:r>
              <a:rPr sz="1500" b="1" i="0">
                <a:solidFill>
                  <a:srgbClr val="C84B31"/>
                </a:solidFill>
                <a:latin typeface="Segoe UI"/>
              </a:rPr>
              <a:t>Q2  </a:t>
            </a:r>
            <a:r>
              <a:rPr sz="1500" b="0" i="0">
                <a:solidFill>
                  <a:srgbClr val="1C2833"/>
                </a:solidFill>
                <a:latin typeface="Segoe UI"/>
              </a:rPr>
              <a:t>A reviewer excludes all studies scoring below 5 on a 7-point quality instrument, and the remaining studies agree. A critic argues this manufactured the agreement. Assess the criticism and…</a:t>
            </a:r>
          </a:p>
          <a:p>
            <a:pPr>
              <a:spcAft>
                <a:spcPts val="1800"/>
              </a:spcAft>
            </a:pPr>
            <a:r>
              <a:rPr sz="1500" b="1" i="0">
                <a:solidFill>
                  <a:srgbClr val="C84B31"/>
                </a:solidFill>
                <a:latin typeface="Segoe UI"/>
              </a:rPr>
              <a:t>Q3  </a:t>
            </a:r>
            <a:r>
              <a:rPr sz="1500" b="0" i="0">
                <a:solidFill>
                  <a:srgbClr val="1C2833"/>
                </a:solidFill>
                <a:latin typeface="Segoe UI"/>
              </a:rPr>
              <a:t>Google Scholar has the best coverage of any source and is excluded from systematic searches. Explain the tension, and propose a defensible policy for its use.</a:t>
            </a:r>
          </a:p>
          <a:p>
            <a:pPr>
              <a:spcAft>
                <a:spcPts val="1800"/>
              </a:spcAft>
            </a:pPr>
            <a:r>
              <a:rPr sz="1500" b="1" i="0">
                <a:solidFill>
                  <a:srgbClr val="C84B31"/>
                </a:solidFill>
                <a:latin typeface="Segoe UI"/>
              </a:rPr>
              <a:t>Q4  </a:t>
            </a:r>
            <a:r>
              <a:rPr sz="1500" b="0" i="0">
                <a:solidFill>
                  <a:srgbClr val="1C2833"/>
                </a:solidFill>
                <a:latin typeface="Segoe UI"/>
              </a:rPr>
              <a:t>Publication bias means the literature you can find is not the research that was done. What can a reviewer in computing actually do about this, given that trial registries do not exist for…</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5 · Systematic Literature Review and Systematic Mapping</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Review questions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fade">
                                      <p:cBhvr>
                                        <p:cTn id="8" dur="35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fade">
                                      <p:cBhvr>
                                        <p:cTn id="13" dur="35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fade">
                                      <p:cBhvr>
                                        <p:cTn id="18" dur="35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fade">
                                      <p:cBhvr>
                                        <p:cTn id="23" dur="35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280160" y="2468880"/>
            <a:ext cx="8229600" cy="914400"/>
          </a:xfrm>
          <a:prstGeom prst="rect">
            <a:avLst/>
          </a:prstGeom>
          <a:noFill/>
        </p:spPr>
        <p:txBody>
          <a:bodyPr wrap="square" anchor="t" lIns="0" rIns="0" tIns="0" bIns="0">
            <a:spAutoFit/>
          </a:bodyPr>
          <a:lstStyle/>
          <a:p>
            <a:r>
              <a:rPr sz="3400" b="1" i="0">
                <a:solidFill>
                  <a:srgbClr val="FFFFFF"/>
                </a:solidFill>
                <a:latin typeface="Georgia"/>
              </a:rPr>
              <a:t>End of Chapter 5</a:t>
            </a:r>
          </a:p>
        </p:txBody>
      </p:sp>
      <p:sp>
        <p:nvSpPr>
          <p:cNvPr id="5" name="TextBox 4"/>
          <p:cNvSpPr txBox="1"/>
          <p:nvPr/>
        </p:nvSpPr>
        <p:spPr>
          <a:xfrm>
            <a:off x="1280160" y="3566160"/>
            <a:ext cx="8686800" cy="1280160"/>
          </a:xfrm>
          <a:prstGeom prst="rect">
            <a:avLst/>
          </a:prstGeom>
          <a:noFill/>
        </p:spPr>
        <p:txBody>
          <a:bodyPr wrap="square" anchor="t" lIns="0" rIns="0" tIns="0" bIns="0">
            <a:spAutoFit/>
          </a:bodyPr>
          <a:lstStyle/>
          <a:p>
            <a:r>
              <a:rPr sz="1700" b="0" i="0">
                <a:solidFill>
                  <a:srgbClr val="E8F6F3"/>
                </a:solidFill>
                <a:latin typeface="Segoe UI"/>
              </a:rPr>
              <a:t>Next: </a:t>
            </a:r>
            <a:r>
              <a:rPr sz="1700" b="1" i="0">
                <a:solidFill>
                  <a:srgbClr val="FFFFFF"/>
                </a:solidFill>
                <a:latin typeface="Segoe UI"/>
              </a:rPr>
              <a:t>Ch. 6 — Snowballing, Scoping Reviews and Grey Literature</a:t>
            </a:r>
          </a:p>
          <a:p>
            <a:pPr>
              <a:spcBef>
                <a:spcPts val="1200"/>
              </a:spcBef>
            </a:pPr>
            <a:r>
              <a:rPr sz="1300" b="0" i="1">
                <a:solidFill>
                  <a:srgbClr val="E8F6F3"/>
                </a:solidFill>
                <a:latin typeface="Segoe UI"/>
              </a:rPr>
              <a:t>Read the chapter in the handout before the next session.</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 presetClass="entr" presetSubtype="4"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slide(fromBottom)">
                                      <p:cBhvr>
                                        <p:cTn id="8" dur="5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