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Writing the Thesis and the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6 — Producing and Defending Research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your contribution in one sentence and build the document around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Structure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IMRaD document and say what belongs in each part and what does not.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abstract in five sentences.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Separate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results from interpretation.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Assess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your own draft against the reporting criteria you will be marked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IMRaD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storyline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contribution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funnel introduction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related work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topic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hedging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signposting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One Sentence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One Sentence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Thesis and paper are different documents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They are not the same content at different lengths.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One Sentence First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IMRaD, and What Does Not Belong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IMRaD, and What Does Not Belong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two boundary violations that reviewers always catch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Interpretation in Results. “Checklist review found 1.3 more defects (p = 0.004), showing that structured guidance improves reviewer attention.” The italicised clause is a claim about mechanism and belongs in Discussion.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IMRaD, and What Does Not Belong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Introduction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Introduction Funnel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contributions as a list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Reviewers look for it, and writing it forces precision: “This paper makes three contributions.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Introduction Funnel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Paragraphs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Paragraphs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first-sentence test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Read only the first sentence of every paragraph in a section, in order. Does the argument hold together?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Writing in a second language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Most scholars here write in English as a second or third language, and the disadvantage is real. Three things help more than general advice to “improve your English”.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Paragraphs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Standard You Are Marked Against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Standard You Are Marked Against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Use it as a checklist, because it is one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Item (vi) is the one that causes avoidable returns: the IUB Theses/Synopses Guidelines-2023 specify formatting, and a thesis that deviates is sent back before anyone reads the research.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Quality in reporting — PhD §14.2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“The quality of presentation and reporting in the dissertation shall reflect the following characteristics: tight [(i)] The document should be well written.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Standard You Are Marked Against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Do these as separate passes. Fixing commas while deciding whether a chapter belongs is how drafts stall: the small work is comfortable and the large work is 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Revision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abstract that promises without delivering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“… The results are presented and discussed, and recommendations are made.” Sentence 4 has been replaced by a description of the fact that there is a sentence 4.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Quality in reporting — PhD §14.2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“The quality of presentation and reporting in the dissertation shall reflect the following characteristics: tight [(i)] The document should be well written. [(ii)] The contents should be balanced, well organized, appropriately styled; clearly…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writing it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IMRaD with a rigid Results/Discussion boundary, effect sizes with intervals, and a threats section that grades each threat (Ch. 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Problem, objectives, artefact, evaluation, design knowledge. The design knowledge must be stated as a separate claim, not left implicit in the artefact description (Ch.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Thick description, quotations as evidence with attribution, and the analytic ladder from data to interpretation (Ch. 23).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Definitions, theorem, proof, discussion of assumptions. The assumptions section is where a formal paper is most often weak and most often attacked.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Write the contribution sentence first. Everything either supports it or is cut.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Thesis and paper have different audiences and different content. Write the thesis, cut the paper.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Keep Results free of interpretation and Discussion free of repetition.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Five-sentence abstract, with an actual number in sentence 4.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State contributions as an explicit list.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Captions state findings; figures show uncertainty and, at small n, the data.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Topic sentence first, old before new, hedge once. Apply the first-sentence test to every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Results/Discussion boundary is a convention. What epistemic purpose does it serve, and are there computing subfields where it should be abandoned?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Second-language writers face a real disadvantage in a system where English is the language of publication, and Ch. 29 restricts the tooling that might offset it. What should an institution…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thesis by publication — stapled papers with a linking chapter — is permitted at some universities. Argue for and against, with reference to what §14.2(ii) means by “well cohered”.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§14.2(v) requires a valid statistical design in the proposal. What would it take to enforce this meaningfully at the DRC stage, and what would change if it were enforced?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31 · Writing the Thesis and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32 — Publishing: Venue, Submission and Peer Review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