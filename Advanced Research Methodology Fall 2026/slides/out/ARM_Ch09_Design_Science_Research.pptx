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Design Science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3 — Research Designs for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design science research from software development and from applied engineering.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Classify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artefact as a construct, model, method or instantiation.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DSRM process model to structure a project and a thesis.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Position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contribution as routine design, exaptation, improvement or invention.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Select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evaluation strategy using FEDS, and justify it against risk.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design knowledge your artefact produces, separately from the artefact.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design science research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artefact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construct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model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instantiation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design knowledge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relevance cycle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rigour cycle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design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exaptation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formative and summative evaluation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naturalistic and artificial evaluation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Tradition That Fits Computing Best, and Is Done Worst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The Tradition That Fits Computing Best, and Is Done Worst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Design science research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Design science research produces knowledge by building and evaluating an artefact intended to solve a class of problem, and by articulating what the building and evaluating taught that was not known before.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question that separates them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Ask: if my artefact were deleted tomorrow, what would remain? If the answer is “nothing”, it was 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Tradition That Fits Computing Best, and 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Counts as an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Counts as an Artefact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Most theses claim an instantiation and contribute a method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common and easily fixed problem. The thesis presents a system, evaluates the system, and buries the actual contribution — a novel scheduling method, a new way of decomposing the problem — inside the implementation chapter.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Counts as an Artefact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Hevner's Guidelines, Read as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Hevner's Guidelines, Read as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The seven guidelines are the most cited framing in the field. They are more useful as a checklist of questions to answer in the synopsis than as a description of process.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Hevner's Guidelines, Read as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DSRM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DSRM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the iterations, do not hide them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Theses routinely present DSRM as though it ran once, cleanly. Examiners know it did 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DSRM Process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Positioning the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Positioning the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Exaptation is where most “applied” theses live, and where they are…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“Applying deep learning to crop disease detection in Punjab” is exaptation. Whether it is research depends entirely on one thing: was the transfer non-obvious, and did making it work require solving something?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Positioning the Contribution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Evaluation: FEDS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Evaluation: FEDS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the strategy from the risk, and say so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reason FEDS is worth using is that it makes evaluation choice arguable. A thesis that says “we evaluated by simulation” invites the objection that simulation is unrealistic.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the regulations ask of a built artefact — PhD §14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§14(i) requires an “original and innovative contribution to knowledge that contributes to solving socioeconomic problems” — which is, almost exactly, Hevner's problem relevance guideline.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Evaluation: FEDS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Guideline 6 is the one that is skipped, and it is the one that…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Design is a search through a space of possible solutions.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thesis that presents one design, fully formed, with no account of what else was considered, has hidden the research. The alternatives you…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What the regulations ask of a built artefact — PhD §14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§14(i) requires an “original and innovative contribution to knowledge that contributes to solving socioeconomic problems” — which is, almost exactly, Hevner's problem relevance guideline.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building an artefact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Treats the artefact as a treatment: what is the effect of using it, compared with the alternative, measured how? This is the summative-artificial quadrant, and 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artefact is the vehicle of the contribution, and design knowledge is the contribution. Rigour comes from the design rationale and the evaluation, not from statistics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Asks how the artefact is understood and appropriated by the people using it — often revealing that it is used for something other than its designed purpose, which is itself a finding.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Asks what can be proved about the artefact: correctness, complexity, guarantees under stated assumptions. Complements empirical evaluation rather than replacing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science produces knowledge by building and evaluating an artefact for a class of problem, and stating what was learned.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If the artefact were deleted, what remains is the contribution. Write that sentence.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Four artefact types; most theses claim an instantiation and actually contribute a method. Separate them.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Hevner's guideline 6 — design as search — is the most skipped and the most transferable. Keep a design log.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DSRM's iteration loops are the substance. Report them.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Position with Gregor and Hevner: invention, improvement, exaptation, routine design. Applied theses are usually exaptation, and stand or fall on whether the…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Choose evaluation from risk using FEDS, and write the criteria before building. Demonstration, self-comparison and satisfied-user surveys are not evaluations.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science is sometimes accused of being unfalsifiable: an artefact that fails is redesigned rather than refuted. Is this a fair charge? Construct the criticism at its strongest and…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Naturalistic evaluation gives stronger evidence of utility but weaker control. For a specific artefact in your area, describe an evaluation programme that obtains both, and state its cost.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Gregor and Hevner treat exaptation as a legitimate contribution. Where exactly is the line between exaptation and routine design, and who decides — the author, the reviewer, or the problem?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§14.3(D) requires that research output be “significant enough to be published or patented”. What does this imply for a design science thesis whose artefact is released as open…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9 · Design Science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10 — Controlled Experiments in Software Engineering and HCI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