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985455" y="0"/>
            <a:ext cx="4206240"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05840" y="1371600"/>
            <a:ext cx="6766560" cy="365760"/>
          </a:xfrm>
          <a:prstGeom prst="rect">
            <a:avLst/>
          </a:prstGeom>
          <a:noFill/>
        </p:spPr>
        <p:txBody>
          <a:bodyPr wrap="square" anchor="t" lIns="0" rIns="0" tIns="0" bIns="0">
            <a:spAutoFit/>
          </a:bodyPr>
          <a:lstStyle/>
          <a:p>
            <a:r>
              <a:rPr sz="1400" b="1" i="0">
                <a:solidFill>
                  <a:srgbClr val="E8F6F3"/>
                </a:solidFill>
                <a:latin typeface="Segoe UI"/>
              </a:rPr>
              <a:t>CHAPTER 22</a:t>
            </a:r>
          </a:p>
        </p:txBody>
      </p:sp>
      <p:sp>
        <p:nvSpPr>
          <p:cNvPr id="6" name="TextBox 5"/>
          <p:cNvSpPr txBox="1"/>
          <p:nvPr/>
        </p:nvSpPr>
        <p:spPr>
          <a:xfrm>
            <a:off x="1005840" y="1828800"/>
            <a:ext cx="6675120" cy="2194560"/>
          </a:xfrm>
          <a:prstGeom prst="rect">
            <a:avLst/>
          </a:prstGeom>
          <a:noFill/>
        </p:spPr>
        <p:txBody>
          <a:bodyPr wrap="square" anchor="t" lIns="0" rIns="0" tIns="0" bIns="0">
            <a:spAutoFit/>
          </a:bodyPr>
          <a:lstStyle/>
          <a:p>
            <a:r>
              <a:rPr sz="4000" b="1" i="0">
                <a:solidFill>
                  <a:srgbClr val="FFFFFF"/>
                </a:solidFill>
                <a:latin typeface="Georgia"/>
              </a:rPr>
              <a:t>Evaluating Machine Learning Research</a:t>
            </a:r>
          </a:p>
        </p:txBody>
      </p:sp>
      <p:sp>
        <p:nvSpPr>
          <p:cNvPr id="7" name="Rectangle 6"/>
          <p:cNvSpPr/>
          <p:nvPr/>
        </p:nvSpPr>
        <p:spPr>
          <a:xfrm>
            <a:off x="1005840" y="4206240"/>
            <a:ext cx="118872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4480560"/>
            <a:ext cx="6675120" cy="914400"/>
          </a:xfrm>
          <a:prstGeom prst="rect">
            <a:avLst/>
          </a:prstGeom>
          <a:noFill/>
        </p:spPr>
        <p:txBody>
          <a:bodyPr wrap="square" anchor="t" lIns="0" rIns="0" tIns="0" bIns="0">
            <a:spAutoFit/>
          </a:bodyPr>
          <a:lstStyle/>
          <a:p>
            <a:r>
              <a:rPr sz="1600" b="0" i="0">
                <a:solidFill>
                  <a:srgbClr val="E8F6F3"/>
                </a:solidFill>
                <a:latin typeface="Segoe UI"/>
              </a:rPr>
              <a:t>Part 4 — Measurement, Data and Analysis</a:t>
            </a:r>
          </a:p>
          <a:p>
            <a:r>
              <a:rPr sz="1300" b="0" i="1">
                <a:solidFill>
                  <a:srgbClr val="E8F6F3"/>
                </a:solidFill>
                <a:latin typeface="Segoe UI"/>
              </a:rPr>
              <a:t>Advanced Research Methodology · Fall 2026</a:t>
            </a:r>
          </a:p>
        </p:txBody>
      </p:sp>
      <p:sp>
        <p:nvSpPr>
          <p:cNvPr id="9" name="TextBox 8"/>
          <p:cNvSpPr txBox="1"/>
          <p:nvPr/>
        </p:nvSpPr>
        <p:spPr>
          <a:xfrm>
            <a:off x="8442656" y="2194560"/>
            <a:ext cx="2834640" cy="2743200"/>
          </a:xfrm>
          <a:prstGeom prst="rect">
            <a:avLst/>
          </a:prstGeom>
          <a:noFill/>
        </p:spPr>
        <p:txBody>
          <a:bodyPr wrap="square" anchor="t" lIns="0" rIns="0" tIns="0" bIns="0">
            <a:spAutoFit/>
          </a:bodyPr>
          <a:lstStyle/>
          <a:p>
            <a:r>
              <a:rPr sz="1500" b="1" i="0">
                <a:solidFill>
                  <a:srgbClr val="FFFFFF"/>
                </a:solidFill>
                <a:latin typeface="Segoe UI"/>
              </a:rPr>
              <a:t>MS IT / PhD IT</a:t>
            </a:r>
          </a:p>
          <a:p>
            <a:pPr>
              <a:spcBef>
                <a:spcPts val="600"/>
              </a:spcBef>
            </a:pPr>
            <a:r>
              <a:rPr sz="1200" b="0" i="0">
                <a:solidFill>
                  <a:srgbClr val="E8F6F3"/>
                </a:solidFill>
                <a:latin typeface="Segoe UI"/>
              </a:rPr>
              <a:t>Department of Information Technology
The Islamia University of Bahawalpur</a:t>
            </a:r>
          </a:p>
          <a:p>
            <a:pPr>
              <a:spcBef>
                <a:spcPts val="1400"/>
              </a:spcBef>
            </a:pPr>
            <a:r>
              <a:rPr sz="1200" b="0" i="0">
                <a:solidFill>
                  <a:srgbClr val="E8F6F3"/>
                </a:solidFill>
                <a:latin typeface="Segoe UI"/>
              </a:rPr>
              <a:t>Fall 2026</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righ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LEARNING OUTCOMES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By the end of this chapter</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700" b="1" i="0">
                <a:solidFill>
                  <a:srgbClr val="C84B31"/>
                </a:solidFill>
                <a:latin typeface="Segoe UI"/>
              </a:rPr>
              <a:t>▸  </a:t>
            </a:r>
            <a:r>
              <a:rPr sz="1700" b="1" i="0">
                <a:solidFill>
                  <a:srgbClr val="0E4D64"/>
                </a:solidFill>
                <a:latin typeface="Segoe UI"/>
              </a:rPr>
              <a:t>Audit </a:t>
            </a:r>
            <a:r>
              <a:rPr sz="1700" b="0" i="0">
                <a:solidFill>
                  <a:srgbClr val="1C2833"/>
                </a:solidFill>
                <a:latin typeface="Segoe UI"/>
              </a:rPr>
              <a:t>a pipeline for the eight forms of data leakage.</a:t>
            </a:r>
          </a:p>
          <a:p>
            <a:pPr>
              <a:spcAft>
                <a:spcPts val="1400"/>
              </a:spcAft>
            </a:pPr>
            <a:r>
              <a:rPr sz="1700" b="1" i="0">
                <a:solidFill>
                  <a:srgbClr val="C84B31"/>
                </a:solidFill>
                <a:latin typeface="Segoe UI"/>
              </a:rPr>
              <a:t>▸  </a:t>
            </a:r>
            <a:r>
              <a:rPr sz="1700" b="1" i="0">
                <a:solidFill>
                  <a:srgbClr val="0E4D64"/>
                </a:solidFill>
                <a:latin typeface="Segoe UI"/>
              </a:rPr>
              <a:t>Choose </a:t>
            </a:r>
            <a:r>
              <a:rPr sz="1700" b="0" i="0">
                <a:solidFill>
                  <a:srgbClr val="1C2833"/>
                </a:solidFill>
                <a:latin typeface="Segoe UI"/>
              </a:rPr>
              <a:t>a validation scheme that matches how the model would be deployed.</a:t>
            </a:r>
          </a:p>
          <a:p>
            <a:pPr>
              <a:spcAft>
                <a:spcPts val="1400"/>
              </a:spcAft>
            </a:pPr>
            <a:r>
              <a:rPr sz="1700" b="1" i="0">
                <a:solidFill>
                  <a:srgbClr val="C84B31"/>
                </a:solidFill>
                <a:latin typeface="Segoe UI"/>
              </a:rPr>
              <a:t>▸  </a:t>
            </a:r>
            <a:r>
              <a:rPr sz="1700" b="1" i="0">
                <a:solidFill>
                  <a:srgbClr val="0E4D64"/>
                </a:solidFill>
                <a:latin typeface="Segoe UI"/>
              </a:rPr>
              <a:t>Select </a:t>
            </a:r>
            <a:r>
              <a:rPr sz="1700" b="0" i="0">
                <a:solidFill>
                  <a:srgbClr val="1C2833"/>
                </a:solidFill>
                <a:latin typeface="Segoe UI"/>
              </a:rPr>
              <a:t>metrics appropriate to the base rate and the costs of error.</a:t>
            </a:r>
          </a:p>
          <a:p>
            <a:pPr>
              <a:spcAft>
                <a:spcPts val="1400"/>
              </a:spcAft>
            </a:pPr>
            <a:r>
              <a:rPr sz="1700" b="1" i="0">
                <a:solidFill>
                  <a:srgbClr val="C84B31"/>
                </a:solidFill>
                <a:latin typeface="Segoe UI"/>
              </a:rPr>
              <a:t>▸  </a:t>
            </a:r>
            <a:r>
              <a:rPr sz="1700" b="1" i="0">
                <a:solidFill>
                  <a:srgbClr val="0E4D64"/>
                </a:solidFill>
                <a:latin typeface="Segoe UI"/>
              </a:rPr>
              <a:t>Compare </a:t>
            </a:r>
            <a:r>
              <a:rPr sz="1700" b="0" i="0">
                <a:solidFill>
                  <a:srgbClr val="1C2833"/>
                </a:solidFill>
                <a:latin typeface="Segoe UI"/>
              </a:rPr>
              <a:t>classifiers across datasets without running twenty t-tests.</a:t>
            </a:r>
          </a:p>
          <a:p>
            <a:pPr>
              <a:spcAft>
                <a:spcPts val="1400"/>
              </a:spcAft>
            </a:pPr>
            <a:r>
              <a:rPr sz="1700" b="1" i="0">
                <a:solidFill>
                  <a:srgbClr val="C84B31"/>
                </a:solidFill>
                <a:latin typeface="Segoe UI"/>
              </a:rPr>
              <a:t>▸  </a:t>
            </a:r>
            <a:r>
              <a:rPr sz="1700" b="1" i="0">
                <a:solidFill>
                  <a:srgbClr val="0E4D64"/>
                </a:solidFill>
                <a:latin typeface="Segoe UI"/>
              </a:rPr>
              <a:t>Design </a:t>
            </a:r>
            <a:r>
              <a:rPr sz="1700" b="0" i="0">
                <a:solidFill>
                  <a:srgbClr val="1C2833"/>
                </a:solidFill>
                <a:latin typeface="Segoe UI"/>
              </a:rPr>
              <a:t>an ablation that shows which component earns the gain.</a:t>
            </a:r>
          </a:p>
          <a:p>
            <a:pPr>
              <a:spcAft>
                <a:spcPts val="1400"/>
              </a:spcAft>
            </a:pPr>
            <a:r>
              <a:rPr sz="1700" b="1" i="0">
                <a:solidFill>
                  <a:srgbClr val="C84B31"/>
                </a:solidFill>
                <a:latin typeface="Segoe UI"/>
              </a:rPr>
              <a:t>▸  </a:t>
            </a:r>
            <a:r>
              <a:rPr sz="1700" b="1" i="0">
                <a:solidFill>
                  <a:srgbClr val="0E4D64"/>
                </a:solidFill>
                <a:latin typeface="Segoe UI"/>
              </a:rPr>
              <a:t>Document </a:t>
            </a:r>
            <a:r>
              <a:rPr sz="1700" b="0" i="0">
                <a:solidFill>
                  <a:srgbClr val="1C2833"/>
                </a:solidFill>
                <a:latin typeface="Segoe UI"/>
              </a:rPr>
              <a:t>a model and a dataset to a recognised standard.</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Outcomes</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5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5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up)">
                                      <p:cBhvr>
                                        <p:cTn id="33" dur="35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KEY TERMS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vocabulary of this chapter</a:t>
            </a:r>
          </a:p>
        </p:txBody>
      </p:sp>
      <p:sp>
        <p:nvSpPr>
          <p:cNvPr id="7" name="TextBox 6"/>
          <p:cNvSpPr txBox="1"/>
          <p:nvPr/>
        </p:nvSpPr>
        <p:spPr>
          <a:xfrm>
            <a:off x="777240"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data leakage</a:t>
            </a:r>
          </a:p>
          <a:p>
            <a:pPr>
              <a:spcAft>
                <a:spcPts val="1100"/>
              </a:spcAft>
            </a:pPr>
            <a:r>
              <a:rPr sz="1400" b="0" i="0">
                <a:solidFill>
                  <a:srgbClr val="C84B31"/>
                </a:solidFill>
                <a:latin typeface="Segoe UI"/>
              </a:rPr>
              <a:t>▪  </a:t>
            </a:r>
            <a:r>
              <a:rPr sz="1400" b="0" i="0">
                <a:solidFill>
                  <a:srgbClr val="1C2833"/>
                </a:solidFill>
                <a:latin typeface="Segoe UI"/>
              </a:rPr>
              <a:t>train–validation–test split</a:t>
            </a:r>
          </a:p>
          <a:p>
            <a:pPr>
              <a:spcAft>
                <a:spcPts val="1100"/>
              </a:spcAft>
            </a:pPr>
            <a:r>
              <a:rPr sz="1400" b="0" i="0">
                <a:solidFill>
                  <a:srgbClr val="C84B31"/>
                </a:solidFill>
                <a:latin typeface="Segoe UI"/>
              </a:rPr>
              <a:t>▪  </a:t>
            </a:r>
            <a:r>
              <a:rPr sz="1400" b="0" i="0">
                <a:solidFill>
                  <a:srgbClr val="1C2833"/>
                </a:solidFill>
                <a:latin typeface="Segoe UI"/>
              </a:rPr>
              <a:t>temporal split</a:t>
            </a:r>
          </a:p>
          <a:p>
            <a:pPr>
              <a:spcAft>
                <a:spcPts val="1100"/>
              </a:spcAft>
            </a:pPr>
            <a:r>
              <a:rPr sz="1400" b="0" i="0">
                <a:solidFill>
                  <a:srgbClr val="C84B31"/>
                </a:solidFill>
                <a:latin typeface="Segoe UI"/>
              </a:rPr>
              <a:t>▪  </a:t>
            </a:r>
            <a:r>
              <a:rPr sz="1400" b="0" i="0">
                <a:solidFill>
                  <a:srgbClr val="1C2833"/>
                </a:solidFill>
                <a:latin typeface="Segoe UI"/>
              </a:rPr>
              <a:t>group split</a:t>
            </a:r>
          </a:p>
          <a:p>
            <a:pPr>
              <a:spcAft>
                <a:spcPts val="1100"/>
              </a:spcAft>
            </a:pPr>
            <a:r>
              <a:rPr sz="1400" b="0" i="0">
                <a:solidFill>
                  <a:srgbClr val="C84B31"/>
                </a:solidFill>
                <a:latin typeface="Segoe UI"/>
              </a:rPr>
              <a:t>▪  </a:t>
            </a:r>
            <a:r>
              <a:rPr sz="1400" b="0" i="0">
                <a:solidFill>
                  <a:srgbClr val="1C2833"/>
                </a:solidFill>
                <a:latin typeface="Segoe UI"/>
              </a:rPr>
              <a:t>baseline</a:t>
            </a:r>
          </a:p>
        </p:txBody>
      </p:sp>
      <p:sp>
        <p:nvSpPr>
          <p:cNvPr id="8" name="TextBox 7"/>
          <p:cNvSpPr txBox="1"/>
          <p:nvPr/>
        </p:nvSpPr>
        <p:spPr>
          <a:xfrm>
            <a:off x="4383938"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class imbalance</a:t>
            </a:r>
          </a:p>
          <a:p>
            <a:pPr>
              <a:spcAft>
                <a:spcPts val="1100"/>
              </a:spcAft>
            </a:pPr>
            <a:r>
              <a:rPr sz="1400" b="0" i="0">
                <a:solidFill>
                  <a:srgbClr val="C84B31"/>
                </a:solidFill>
                <a:latin typeface="Segoe UI"/>
              </a:rPr>
              <a:t>▪  </a:t>
            </a:r>
            <a:r>
              <a:rPr sz="1400" b="0" i="0">
                <a:solidFill>
                  <a:srgbClr val="1C2833"/>
                </a:solidFill>
                <a:latin typeface="Segoe UI"/>
              </a:rPr>
              <a:t>precision and recall</a:t>
            </a:r>
          </a:p>
          <a:p>
            <a:pPr>
              <a:spcAft>
                <a:spcPts val="1100"/>
              </a:spcAft>
            </a:pPr>
            <a:r>
              <a:rPr sz="1400" b="0" i="0">
                <a:solidFill>
                  <a:srgbClr val="C84B31"/>
                </a:solidFill>
                <a:latin typeface="Segoe UI"/>
              </a:rPr>
              <a:t>▪  </a:t>
            </a:r>
            <a:r>
              <a:rPr sz="1400" b="0" i="0">
                <a:solidFill>
                  <a:srgbClr val="1C2833"/>
                </a:solidFill>
                <a:latin typeface="Segoe UI"/>
              </a:rPr>
              <a:t>ROC-AUC and PR-AUC</a:t>
            </a:r>
          </a:p>
          <a:p>
            <a:pPr>
              <a:spcAft>
                <a:spcPts val="1100"/>
              </a:spcAft>
            </a:pPr>
            <a:r>
              <a:rPr sz="1400" b="0" i="0">
                <a:solidFill>
                  <a:srgbClr val="C84B31"/>
                </a:solidFill>
                <a:latin typeface="Segoe UI"/>
              </a:rPr>
              <a:t>▪  </a:t>
            </a:r>
            <a:r>
              <a:rPr sz="1400" b="0" i="0">
                <a:solidFill>
                  <a:srgbClr val="1C2833"/>
                </a:solidFill>
                <a:latin typeface="Segoe UI"/>
              </a:rPr>
              <a:t>calibration</a:t>
            </a:r>
          </a:p>
          <a:p>
            <a:pPr>
              <a:spcAft>
                <a:spcPts val="1100"/>
              </a:spcAft>
            </a:pPr>
            <a:r>
              <a:rPr sz="1400" b="0" i="0">
                <a:solidFill>
                  <a:srgbClr val="C84B31"/>
                </a:solidFill>
                <a:latin typeface="Segoe UI"/>
              </a:rPr>
              <a:t>▪  </a:t>
            </a:r>
            <a:r>
              <a:rPr sz="1400" b="0" i="0">
                <a:solidFill>
                  <a:srgbClr val="1C2833"/>
                </a:solidFill>
                <a:latin typeface="Segoe UI"/>
              </a:rPr>
              <a:t>decision threshold</a:t>
            </a:r>
          </a:p>
        </p:txBody>
      </p:sp>
      <p:sp>
        <p:nvSpPr>
          <p:cNvPr id="9" name="TextBox 8"/>
          <p:cNvSpPr txBox="1"/>
          <p:nvPr/>
        </p:nvSpPr>
        <p:spPr>
          <a:xfrm>
            <a:off x="7990636"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ablation</a:t>
            </a:r>
          </a:p>
          <a:p>
            <a:pPr>
              <a:spcAft>
                <a:spcPts val="1100"/>
              </a:spcAft>
            </a:pPr>
            <a:r>
              <a:rPr sz="1400" b="0" i="0">
                <a:solidFill>
                  <a:srgbClr val="C84B31"/>
                </a:solidFill>
                <a:latin typeface="Segoe UI"/>
              </a:rPr>
              <a:t>▪  </a:t>
            </a:r>
            <a:r>
              <a:rPr sz="1400" b="0" i="0">
                <a:solidFill>
                  <a:srgbClr val="1C2833"/>
                </a:solidFill>
                <a:latin typeface="Segoe UI"/>
              </a:rPr>
              <a:t>Friedman test</a:t>
            </a:r>
          </a:p>
          <a:p>
            <a:pPr>
              <a:spcAft>
                <a:spcPts val="1100"/>
              </a:spcAft>
            </a:pPr>
            <a:r>
              <a:rPr sz="1400" b="0" i="0">
                <a:solidFill>
                  <a:srgbClr val="C84B31"/>
                </a:solidFill>
                <a:latin typeface="Segoe UI"/>
              </a:rPr>
              <a:t>▪  </a:t>
            </a:r>
            <a:r>
              <a:rPr sz="1400" b="0" i="0">
                <a:solidFill>
                  <a:srgbClr val="1C2833"/>
                </a:solidFill>
                <a:latin typeface="Segoe UI"/>
              </a:rPr>
              <a:t>test set reuse</a:t>
            </a:r>
          </a:p>
          <a:p>
            <a:pPr>
              <a:spcAft>
                <a:spcPts val="1100"/>
              </a:spcAft>
            </a:pPr>
            <a:r>
              <a:rPr sz="1400" b="0" i="0">
                <a:solidFill>
                  <a:srgbClr val="C84B31"/>
                </a:solidFill>
                <a:latin typeface="Segoe UI"/>
              </a:rPr>
              <a:t>▪  </a:t>
            </a:r>
            <a:r>
              <a:rPr sz="1400" b="0" i="0">
                <a:solidFill>
                  <a:srgbClr val="1C2833"/>
                </a:solidFill>
                <a:latin typeface="Segoe UI"/>
              </a:rPr>
              <a:t>model card</a:t>
            </a:r>
          </a:p>
          <a:p>
            <a:pPr>
              <a:spcAft>
                <a:spcPts val="1100"/>
              </a:spcAft>
            </a:pPr>
            <a:r>
              <a:rPr sz="1400" b="0" i="0">
                <a:solidFill>
                  <a:srgbClr val="C84B31"/>
                </a:solidFill>
                <a:latin typeface="Segoe UI"/>
              </a:rPr>
              <a:t>▪  </a:t>
            </a:r>
            <a:r>
              <a:rPr sz="1400" b="0" i="0">
                <a:solidFill>
                  <a:srgbClr val="1C2833"/>
                </a:solidFill>
                <a:latin typeface="Segoe UI"/>
              </a:rPr>
              <a:t>datasheet</a:t>
            </a:r>
          </a:p>
        </p:txBody>
      </p:sp>
      <p:sp>
        <p:nvSpPr>
          <p:cNvPr id="10" name="Rectangle 9"/>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Key terms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400"/>
                                        <p:tgtEl>
                                          <p:spTgt spid="7"/>
                                        </p:tgtEl>
                                      </p:cBhvr>
                                    </p:animEffect>
                                  </p:childTnLst>
                                </p:cTn>
                              </p:par>
                              <p:par>
                                <p:cTn id="9" presetID="2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zoom(in)">
                                      <p:cBhvr>
                                        <p:cTn id="11" dur="400"/>
                                        <p:tgtEl>
                                          <p:spTgt spid="8"/>
                                        </p:tgtEl>
                                      </p:cBhvr>
                                    </p:animEffect>
                                  </p:childTnLst>
                                </p:cTn>
                              </p:par>
                              <p:par>
                                <p:cTn id="12" presetID="23" presetClass="entr" presetSubtype="16"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zoom(in)">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1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The Claim a Model Makes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22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Claim a Model Makes</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r>
              <a:rPr sz="1400" b="0" i="0">
                <a:solidFill>
                  <a:srgbClr val="1C2833"/>
                </a:solidFill>
                <a:latin typeface="Segoe UI"/>
              </a:rPr>
              <a:t>A machine learning paper claims that a model will perform at some level on data it has not seen, drawn from some population, under some deployment conditions.</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The Claim a Model Makes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2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Eight Ways Information Leaks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22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Eight Ways Information Leaks</a:t>
            </a:r>
          </a:p>
        </p:txBody>
      </p:sp>
      <p:sp>
        <p:nvSpPr>
          <p:cNvPr id="7" name="Rectangle 6"/>
          <p:cNvSpPr/>
          <p:nvPr/>
        </p:nvSpPr>
        <p:spPr>
          <a:xfrm>
            <a:off x="777240" y="3282696"/>
            <a:ext cx="54864" cy="1207008"/>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C84B31"/>
                </a:solidFill>
                <a:latin typeface="Segoe UI"/>
              </a:rPr>
              <a:t>DEFINITION   </a:t>
            </a:r>
            <a:r>
              <a:rPr sz="1700" b="1" i="0">
                <a:solidFill>
                  <a:srgbClr val="0E4D64"/>
                </a:solidFill>
                <a:latin typeface="Segoe UI"/>
              </a:rPr>
              <a:t>Data leakage</a:t>
            </a:r>
          </a:p>
          <a:p>
            <a:r>
              <a:rPr sz="1400" b="0" i="0">
                <a:solidFill>
                  <a:srgbClr val="1C2833"/>
                </a:solidFill>
                <a:latin typeface="Segoe UI"/>
              </a:rPr>
              <a:t>Leakage occurs when information that would not be available at prediction time is used during training or model selection. The result is performance that is real on your test set and unattainable in deployment.</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Eight Ways Information Leaks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3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Validation Must Match Deployment</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22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Validation Must Match Deployment</a:t>
            </a:r>
          </a:p>
        </p:txBody>
      </p:sp>
      <p:sp>
        <p:nvSpPr>
          <p:cNvPr id="7" name="Rectangle 6"/>
          <p:cNvSpPr/>
          <p:nvPr/>
        </p:nvSpPr>
        <p:spPr>
          <a:xfrm>
            <a:off x="777240" y="328269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The question that settles the scheme</a:t>
            </a:r>
          </a:p>
          <a:p>
            <a:r>
              <a:rPr sz="1400" b="0" i="0">
                <a:solidFill>
                  <a:srgbClr val="1C2833"/>
                </a:solidFill>
                <a:latin typeface="Segoe UI"/>
              </a:rPr>
              <a:t>Ask: at prediction time in the real system, what would the model know? Then construct the validation so it knows exactly that and no more.</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Validation Must Match Deployment</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4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Metrics, and the Base Rate</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22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Metrics, and the Base Rate</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The threshold is a decision, not a default</a:t>
            </a:r>
          </a:p>
          <a:p>
            <a:r>
              <a:rPr sz="1400" b="0" i="0">
                <a:solidFill>
                  <a:srgbClr val="1C2833"/>
                </a:solidFill>
                <a:latin typeface="Segoe UI"/>
              </a:rPr>
              <a:t>Classifiers output scores; 0.5 is a convention with no claim to optimality. The right threshold follows from the costs of the two errors.</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Metrics, and the Base Rate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5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Comparing Across Datasets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22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Comparing Across Datasets</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The standard procedure</a:t>
            </a:r>
          </a:p>
          <a:p>
            <a:r>
              <a:rPr sz="1400" b="0" i="0">
                <a:solidFill>
                  <a:srgbClr val="1C2833"/>
                </a:solidFill>
                <a:latin typeface="Segoe UI"/>
              </a:rPr>
              <a:t>Demsar's recommended approach is now conventional and is two steps: tightnum Friedman test on the ranks of the classifiers across datasets.</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Comparing Across Datasets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6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Test Set Reuse</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22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Test Set Reuse</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r>
              <a:rPr sz="1400" b="0" i="0">
                <a:solidFill>
                  <a:srgbClr val="1C2833"/>
                </a:solidFill>
                <a:latin typeface="Segoe UI"/>
              </a:rPr>
              <a:t>Every time you look at test performance and change something, you leak a little information. Over a project — or over a community's decade of using one benchmark — this accumulates into overfitting the test set, and reported gains stop transferring.</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Test Set Reuse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7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Documenting Models and Data</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4 · CH. 22</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Documenting Models and Data</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r>
              <a:rPr sz="1400" b="0" i="0">
                <a:solidFill>
                  <a:srgbClr val="1C2833"/>
                </a:solidFill>
                <a:latin typeface="Segoe UI"/>
              </a:rPr>
              <a:t>Disaggregated evaluation is the part most often skipped and most often consequential: an aggregate accuracy of 0.90 can conceal 0.95 on one subgroup and 0.60 on another, and only reporting by subgroup reveals it.</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Documenting Models and Data</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WORKED EXAMPLE</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A leakage audit that changes the conclusion</a:t>
            </a:r>
          </a:p>
        </p:txBody>
      </p:sp>
      <p:sp>
        <p:nvSpPr>
          <p:cNvPr id="7" name="Rectangle 6"/>
          <p:cNvSpPr/>
          <p:nvPr/>
        </p:nvSpPr>
        <p:spPr>
          <a:xfrm>
            <a:off x="777240" y="3040380"/>
            <a:ext cx="10637215" cy="12344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3040380"/>
            <a:ext cx="64008" cy="123444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3241548"/>
            <a:ext cx="9997135" cy="832104"/>
          </a:xfrm>
          <a:prstGeom prst="rect">
            <a:avLst/>
          </a:prstGeom>
          <a:noFill/>
        </p:spPr>
        <p:txBody>
          <a:bodyPr wrap="square" anchor="t" lIns="0" rIns="0" tIns="0" bIns="0">
            <a:spAutoFit/>
          </a:bodyPr>
          <a:lstStyle/>
          <a:p>
            <a:pPr>
              <a:spcAft>
                <a:spcPts val="1000"/>
              </a:spcAft>
            </a:pPr>
            <a:r>
              <a:rPr sz="1500" b="0" i="0">
                <a:solidFill>
                  <a:srgbClr val="1C2833"/>
                </a:solidFill>
                <a:latin typeface="Segoe UI"/>
              </a:rPr>
              <a:t>The study. Predicting defect-prone files from code metrics across 30 repositories. Reported: 0.91 AUC with a gradient boosting model, “substantially outperforming logistic regression”.</a:t>
            </a:r>
          </a:p>
        </p:txBody>
      </p:sp>
      <p:sp>
        <p:nvSpPr>
          <p:cNvPr id="10" name="TextBox 9"/>
          <p:cNvSpPr txBox="1"/>
          <p:nvPr/>
        </p:nvSpPr>
        <p:spPr>
          <a:xfrm>
            <a:off x="777240" y="4421124"/>
            <a:ext cx="10637215" cy="365760"/>
          </a:xfrm>
          <a:prstGeom prst="rect">
            <a:avLst/>
          </a:prstGeom>
          <a:noFill/>
        </p:spPr>
        <p:txBody>
          <a:bodyPr wrap="square" anchor="t" lIns="0" rIns="0" tIns="0" bIns="0">
            <a:spAutoFit/>
          </a:bodyPr>
          <a:lstStyle/>
          <a:p>
            <a:r>
              <a:rPr sz="1100" b="0" i="1">
                <a:solidFill>
                  <a:srgbClr val="707B7C"/>
                </a:solidFill>
                <a:latin typeface="Segoe UI"/>
              </a:rPr>
              <a:t>Constructed for teaching — the numbers are invented, as in the handout.</a:t>
            </a:r>
          </a:p>
        </p:txBody>
      </p:sp>
      <p:sp>
        <p:nvSpPr>
          <p:cNvPr id="11" name="Rectangle 10"/>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3" name="TextBox 12"/>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Worked example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4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350"/>
                                        <p:tgtEl>
                                          <p:spTgt spid="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PITFALLS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unablated improvement</a:t>
            </a:r>
          </a:p>
        </p:txBody>
      </p:sp>
      <p:sp>
        <p:nvSpPr>
          <p:cNvPr id="7" name="TextBox 6"/>
          <p:cNvSpPr txBox="1"/>
          <p:nvPr/>
        </p:nvSpPr>
        <p:spPr>
          <a:xfrm>
            <a:off x="868680" y="1828800"/>
            <a:ext cx="10454335" cy="4114800"/>
          </a:xfrm>
          <a:prstGeom prst="rect">
            <a:avLst/>
          </a:prstGeom>
          <a:noFill/>
        </p:spPr>
        <p:txBody>
          <a:bodyPr wrap="square" anchor="t" lIns="0" rIns="0" tIns="0" bIns="0">
            <a:spAutoFit/>
          </a:bodyPr>
          <a:lstStyle/>
          <a:p>
            <a:pPr>
              <a:spcAft>
                <a:spcPts val="1500"/>
              </a:spcAft>
            </a:pPr>
            <a:r>
              <a:rPr sz="1500" b="1" i="0">
                <a:solidFill>
                  <a:srgbClr val="C84B31"/>
                </a:solidFill>
                <a:latin typeface="Segoe UI"/>
              </a:rPr>
              <a:t>✖  </a:t>
            </a:r>
            <a:r>
              <a:rPr sz="1500" b="0" i="0">
                <a:solidFill>
                  <a:srgbClr val="1C2833"/>
                </a:solidFill>
                <a:latin typeface="Segoe UI"/>
              </a:rPr>
              <a:t>A paper proposes a method combining a new architecture, a new loss, a new augmentation scheme and a longer training schedule, and reports a 2-point gain. Without…</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Pitfalls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8"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slide(fromLeft)">
                                      <p:cBhvr>
                                        <p:cTn id="8" dur="35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FOUR TRADITIONS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How this lands in evaluating a model</a:t>
            </a:r>
          </a:p>
        </p:txBody>
      </p:sp>
      <p:sp>
        <p:nvSpPr>
          <p:cNvPr id="7" name="Rectangle 6"/>
          <p:cNvSpPr/>
          <p:nvPr/>
        </p:nvSpPr>
        <p:spPr>
          <a:xfrm>
            <a:off x="777240"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1874519"/>
            <a:ext cx="5158587" cy="50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78408" y="2075687"/>
            <a:ext cx="4756251" cy="1417320"/>
          </a:xfrm>
          <a:prstGeom prst="rect">
            <a:avLst/>
          </a:prstGeom>
          <a:noFill/>
        </p:spPr>
        <p:txBody>
          <a:bodyPr wrap="square" anchor="t" lIns="0" rIns="0" tIns="0" bIns="0">
            <a:spAutoFit/>
          </a:bodyPr>
          <a:lstStyle/>
          <a:p>
            <a:pPr>
              <a:spcAft>
                <a:spcPts val="500"/>
              </a:spcAft>
            </a:pPr>
            <a:r>
              <a:rPr sz="1100" b="1" i="0">
                <a:solidFill>
                  <a:srgbClr val="1F618D"/>
                </a:solidFill>
                <a:latin typeface="Segoe UI"/>
              </a:rPr>
              <a:t>EMPIRICAL</a:t>
            </a:r>
          </a:p>
          <a:p>
            <a:r>
              <a:rPr sz="1250" b="0" i="0">
                <a:solidFill>
                  <a:srgbClr val="1C2833"/>
                </a:solidFill>
                <a:latin typeface="Segoe UI"/>
              </a:rPr>
              <a:t>A model evaluation is an experiment. It needs repetitions across seeds, intervals rather than point estimates, a baseline, and correction for the comparisons made.</a:t>
            </a:r>
          </a:p>
        </p:txBody>
      </p:sp>
      <p:sp>
        <p:nvSpPr>
          <p:cNvPr id="10" name="Rectangle 9"/>
          <p:cNvSpPr/>
          <p:nvPr/>
        </p:nvSpPr>
        <p:spPr>
          <a:xfrm>
            <a:off x="6255867"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55867" y="1874519"/>
            <a:ext cx="5158587" cy="50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7035" y="2075687"/>
            <a:ext cx="4756251" cy="1417320"/>
          </a:xfrm>
          <a:prstGeom prst="rect">
            <a:avLst/>
          </a:prstGeom>
          <a:noFill/>
        </p:spPr>
        <p:txBody>
          <a:bodyPr wrap="square" anchor="t" lIns="0" rIns="0" tIns="0" bIns="0">
            <a:spAutoFit/>
          </a:bodyPr>
          <a:lstStyle/>
          <a:p>
            <a:pPr>
              <a:spcAft>
                <a:spcPts val="500"/>
              </a:spcAft>
            </a:pPr>
            <a:r>
              <a:rPr sz="1100" b="1" i="0">
                <a:solidFill>
                  <a:srgbClr val="117864"/>
                </a:solidFill>
                <a:latin typeface="Segoe UI"/>
              </a:rPr>
              <a:t>DESIGN SCIENCE</a:t>
            </a:r>
          </a:p>
          <a:p>
            <a:r>
              <a:rPr sz="1250" b="0" i="0">
                <a:solidFill>
                  <a:srgbClr val="1C2833"/>
                </a:solidFill>
                <a:latin typeface="Segoe UI"/>
              </a:rPr>
              <a:t>The model is the artefact. Held-out performance is artificial summative evaluation; whether anyone benefits from deploying it is a separate and usually unasked question (Ch.</a:t>
            </a:r>
          </a:p>
        </p:txBody>
      </p:sp>
      <p:sp>
        <p:nvSpPr>
          <p:cNvPr id="13" name="Rectangle 12"/>
          <p:cNvSpPr/>
          <p:nvPr/>
        </p:nvSpPr>
        <p:spPr>
          <a:xfrm>
            <a:off x="777240"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77240" y="3931919"/>
            <a:ext cx="5158587" cy="50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78408" y="4133087"/>
            <a:ext cx="4756251" cy="1417320"/>
          </a:xfrm>
          <a:prstGeom prst="rect">
            <a:avLst/>
          </a:prstGeom>
          <a:noFill/>
        </p:spPr>
        <p:txBody>
          <a:bodyPr wrap="square" anchor="t" lIns="0" rIns="0" tIns="0" bIns="0">
            <a:spAutoFit/>
          </a:bodyPr>
          <a:lstStyle/>
          <a:p>
            <a:pPr>
              <a:spcAft>
                <a:spcPts val="500"/>
              </a:spcAft>
            </a:pPr>
            <a:r>
              <a:rPr sz="1100" b="1" i="0">
                <a:solidFill>
                  <a:srgbClr val="6C3483"/>
                </a:solidFill>
                <a:latin typeface="Segoe UI"/>
              </a:rPr>
              <a:t>QUALITATIVE</a:t>
            </a:r>
          </a:p>
          <a:p>
            <a:r>
              <a:rPr sz="1250" b="0" i="0">
                <a:solidFill>
                  <a:srgbClr val="1C2833"/>
                </a:solidFill>
                <a:latin typeface="Segoe UI"/>
              </a:rPr>
              <a:t>Asks what the labels mean and who produced them. A defect label is a human judgement, and label noise is a measurement validity problem (Ch.</a:t>
            </a:r>
          </a:p>
        </p:txBody>
      </p:sp>
      <p:sp>
        <p:nvSpPr>
          <p:cNvPr id="16" name="Rectangle 15"/>
          <p:cNvSpPr/>
          <p:nvPr/>
        </p:nvSpPr>
        <p:spPr>
          <a:xfrm>
            <a:off x="6255867"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55867" y="3931919"/>
            <a:ext cx="5158587" cy="50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57035" y="4133087"/>
            <a:ext cx="4756251" cy="1417320"/>
          </a:xfrm>
          <a:prstGeom prst="rect">
            <a:avLst/>
          </a:prstGeom>
          <a:noFill/>
        </p:spPr>
        <p:txBody>
          <a:bodyPr wrap="square" anchor="t" lIns="0" rIns="0" tIns="0" bIns="0">
            <a:spAutoFit/>
          </a:bodyPr>
          <a:lstStyle/>
          <a:p>
            <a:pPr>
              <a:spcAft>
                <a:spcPts val="500"/>
              </a:spcAft>
            </a:pPr>
            <a:r>
              <a:rPr sz="1100" b="1" i="0">
                <a:solidFill>
                  <a:srgbClr val="922B21"/>
                </a:solidFill>
                <a:latin typeface="Segoe UI"/>
              </a:rPr>
              <a:t>FORMAL</a:t>
            </a:r>
          </a:p>
          <a:p>
            <a:r>
              <a:rPr sz="1250" b="0" i="0">
                <a:solidFill>
                  <a:srgbClr val="1C2833"/>
                </a:solidFill>
                <a:latin typeface="Segoe UI"/>
              </a:rPr>
              <a:t>Provides generalisation bounds and guarantees under stated assumptions — typically far looser than observed performance, but true for reasons that do not depend on a test set.</a:t>
            </a:r>
          </a:p>
        </p:txBody>
      </p:sp>
      <p:sp>
        <p:nvSpPr>
          <p:cNvPr id="19" name="Rectangle 1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21" name="TextBox 2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Four traditions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35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zoom(in)">
                                      <p:cBhvr>
                                        <p:cTn id="16" dur="3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zoom(in)">
                                      <p:cBhvr>
                                        <p:cTn id="24" dur="35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zoom(in)">
                                      <p:cBhvr>
                                        <p:cTn id="32" dur="3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SUMMARY</a:t>
            </a:r>
          </a:p>
        </p:txBody>
      </p:sp>
      <p:sp>
        <p:nvSpPr>
          <p:cNvPr id="6" name="TextBox 5"/>
          <p:cNvSpPr txBox="1"/>
          <p:nvPr/>
        </p:nvSpPr>
        <p:spPr>
          <a:xfrm>
            <a:off x="777240" y="914400"/>
            <a:ext cx="10637215" cy="731520"/>
          </a:xfrm>
          <a:prstGeom prst="rect">
            <a:avLst/>
          </a:prstGeom>
          <a:noFill/>
        </p:spPr>
        <p:txBody>
          <a:bodyPr wrap="square" anchor="t" lIns="0" rIns="0" tIns="0" bIns="0">
            <a:spAutoFit/>
          </a:bodyPr>
          <a:lstStyle/>
          <a:p>
            <a:r>
              <a:rPr sz="3000" b="1" i="0">
                <a:solidFill>
                  <a:srgbClr val="0E4D64"/>
                </a:solidFill>
                <a:latin typeface="Georgia"/>
              </a:rPr>
              <a:t>What to take away</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500" b="1" i="0">
                <a:solidFill>
                  <a:srgbClr val="C84B31"/>
                </a:solidFill>
                <a:latin typeface="Segoe UI"/>
              </a:rPr>
              <a:t>1. </a:t>
            </a:r>
            <a:r>
              <a:rPr sz="1500" b="0" i="0">
                <a:solidFill>
                  <a:srgbClr val="1C2833"/>
                </a:solidFill>
                <a:latin typeface="Segoe UI"/>
              </a:rPr>
              <a:t>Leakage is systematic, not rare, and correcting it frequently eliminates reported advantages of complex methods over simple ones.</a:t>
            </a:r>
          </a:p>
          <a:p>
            <a:pPr>
              <a:spcAft>
                <a:spcPts val="1400"/>
              </a:spcAft>
            </a:pPr>
            <a:r>
              <a:rPr sz="1500" b="1" i="0">
                <a:solidFill>
                  <a:srgbClr val="C84B31"/>
                </a:solidFill>
                <a:latin typeface="Segoe UI"/>
              </a:rPr>
              <a:t>2. </a:t>
            </a:r>
            <a:r>
              <a:rPr sz="1500" b="0" i="0">
                <a:solidFill>
                  <a:srgbClr val="1C2833"/>
                </a:solidFill>
                <a:latin typeface="Segoe UI"/>
              </a:rPr>
              <a:t>Ask what the deployed system would know at prediction time, and build validation to match. That question catches most leakage.</a:t>
            </a:r>
          </a:p>
          <a:p>
            <a:pPr>
              <a:spcAft>
                <a:spcPts val="1400"/>
              </a:spcAft>
            </a:pPr>
            <a:r>
              <a:rPr sz="1500" b="1" i="0">
                <a:solidFill>
                  <a:srgbClr val="C84B31"/>
                </a:solidFill>
                <a:latin typeface="Segoe UI"/>
              </a:rPr>
              <a:t>3. </a:t>
            </a:r>
            <a:r>
              <a:rPr sz="1500" b="0" i="0">
                <a:solidFill>
                  <a:srgbClr val="1C2833"/>
                </a:solidFill>
                <a:latin typeface="Segoe UI"/>
              </a:rPr>
              <a:t>Accuracy fails under imbalance; ROC-AUC flatters it; PR-AUC and calibration are usually what you want. The threshold follows from costs.</a:t>
            </a:r>
          </a:p>
          <a:p>
            <a:pPr>
              <a:spcAft>
                <a:spcPts val="1400"/>
              </a:spcAft>
            </a:pPr>
            <a:r>
              <a:rPr sz="1500" b="1" i="0">
                <a:solidFill>
                  <a:srgbClr val="C84B31"/>
                </a:solidFill>
                <a:latin typeface="Segoe UI"/>
              </a:rPr>
              <a:t>4. </a:t>
            </a:r>
            <a:r>
              <a:rPr sz="1500" b="0" i="0">
                <a:solidFill>
                  <a:srgbClr val="1C2833"/>
                </a:solidFill>
                <a:latin typeface="Segoe UI"/>
              </a:rPr>
              <a:t>Include a trivial baseline, a strong simple baseline, and a fairly tuned state of the art. Ablate, and report the components that changed nothing.</a:t>
            </a:r>
          </a:p>
          <a:p>
            <a:pPr>
              <a:spcAft>
                <a:spcPts val="1400"/>
              </a:spcAft>
            </a:pPr>
            <a:r>
              <a:rPr sz="1500" b="1" i="0">
                <a:solidFill>
                  <a:srgbClr val="C84B31"/>
                </a:solidFill>
                <a:latin typeface="Segoe UI"/>
              </a:rPr>
              <a:t>5. </a:t>
            </a:r>
            <a:r>
              <a:rPr sz="1500" b="0" i="0">
                <a:solidFill>
                  <a:srgbClr val="1C2833"/>
                </a:solidFill>
                <a:latin typeface="Segoe UI"/>
              </a:rPr>
              <a:t>Compare across datasets with Friedman plus a post-hoc test, reported as a critical difference diagram.</a:t>
            </a:r>
          </a:p>
          <a:p>
            <a:pPr>
              <a:spcAft>
                <a:spcPts val="1400"/>
              </a:spcAft>
            </a:pPr>
            <a:r>
              <a:rPr sz="1500" b="1" i="0">
                <a:solidFill>
                  <a:srgbClr val="C84B31"/>
                </a:solidFill>
                <a:latin typeface="Segoe UI"/>
              </a:rPr>
              <a:t>6. </a:t>
            </a:r>
            <a:r>
              <a:rPr sz="1500" b="0" i="0">
                <a:solidFill>
                  <a:srgbClr val="1C2833"/>
                </a:solidFill>
                <a:latin typeface="Segoe UI"/>
              </a:rPr>
              <a:t>Touch the test set once, and count the times you did not.</a:t>
            </a:r>
          </a:p>
          <a:p>
            <a:pPr>
              <a:spcAft>
                <a:spcPts val="1400"/>
              </a:spcAft>
            </a:pPr>
            <a:r>
              <a:rPr sz="1500" b="1" i="0">
                <a:solidFill>
                  <a:srgbClr val="C84B31"/>
                </a:solidFill>
                <a:latin typeface="Segoe UI"/>
              </a:rPr>
              <a:t>7. </a:t>
            </a:r>
            <a:r>
              <a:rPr sz="1500" b="0" i="0">
                <a:solidFill>
                  <a:srgbClr val="1C2833"/>
                </a:solidFill>
                <a:latin typeface="Segoe UI"/>
              </a:rPr>
              <a:t>Publish a datasheet and a model card, with metrics disaggregated by subgroup.</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Summary</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2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2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2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2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2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up)">
                                      <p:cBhvr>
                                        <p:cTn id="33" dur="320"/>
                                        <p:tgtEl>
                                          <p:spTgt spid="7">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
                                            <p:txEl>
                                              <p:pRg st="6" end="6"/>
                                            </p:txEl>
                                          </p:spTgt>
                                        </p:tgtEl>
                                        <p:attrNameLst>
                                          <p:attrName>style.visibility</p:attrName>
                                        </p:attrNameLst>
                                      </p:cBhvr>
                                      <p:to>
                                        <p:strVal val="visible"/>
                                      </p:to>
                                    </p:set>
                                    <p:animEffect transition="in" filter="wipe(up)">
                                      <p:cBhvr>
                                        <p:cTn id="38" dur="32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REVIEW</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Questions to think with</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800"/>
              </a:spcAft>
            </a:pPr>
            <a:r>
              <a:rPr sz="1500" b="1" i="0">
                <a:solidFill>
                  <a:srgbClr val="C84B31"/>
                </a:solidFill>
                <a:latin typeface="Segoe UI"/>
              </a:rPr>
              <a:t>Q1  </a:t>
            </a:r>
            <a:r>
              <a:rPr sz="1500" b="0" i="0">
                <a:solidFill>
                  <a:srgbClr val="1C2833"/>
                </a:solidFill>
                <a:latin typeface="Segoe UI"/>
              </a:rPr>
              <a:t>Kapoor and Narayanan found leakage across 17 fields. What features of how ML is taught and published produce this, and which would be easiest to change?</a:t>
            </a:r>
          </a:p>
          <a:p>
            <a:pPr>
              <a:spcAft>
                <a:spcPts val="1800"/>
              </a:spcAft>
            </a:pPr>
            <a:r>
              <a:rPr sz="1500" b="1" i="0">
                <a:solidFill>
                  <a:srgbClr val="C84B31"/>
                </a:solidFill>
                <a:latin typeface="Segoe UI"/>
              </a:rPr>
              <a:t>Q2  </a:t>
            </a:r>
            <a:r>
              <a:rPr sz="1500" b="0" i="0">
                <a:solidFill>
                  <a:srgbClr val="1C2833"/>
                </a:solidFill>
                <a:latin typeface="Segoe UI"/>
              </a:rPr>
              <a:t>Benchmark test sets are reused by whole communities for years. Propose a workable governance mechanism for a benchmark in your area, and identify who bears its cost.</a:t>
            </a:r>
          </a:p>
          <a:p>
            <a:pPr>
              <a:spcAft>
                <a:spcPts val="1800"/>
              </a:spcAft>
            </a:pPr>
            <a:r>
              <a:rPr sz="1500" b="1" i="0">
                <a:solidFill>
                  <a:srgbClr val="C84B31"/>
                </a:solidFill>
                <a:latin typeface="Segoe UI"/>
              </a:rPr>
              <a:t>Q3  </a:t>
            </a:r>
            <a:r>
              <a:rPr sz="1500" b="0" i="0">
                <a:solidFill>
                  <a:srgbClr val="1C2833"/>
                </a:solidFill>
                <a:latin typeface="Segoe UI"/>
              </a:rPr>
              <a:t>Defect labels come from issue trackers and are noisy and biased (Ch. 11). What does label noise do to a reported AUC, and how would you estimate its magnitude?</a:t>
            </a:r>
          </a:p>
          <a:p>
            <a:pPr>
              <a:spcAft>
                <a:spcPts val="1800"/>
              </a:spcAft>
            </a:pPr>
            <a:r>
              <a:rPr sz="1500" b="1" i="0">
                <a:solidFill>
                  <a:srgbClr val="C84B31"/>
                </a:solidFill>
                <a:latin typeface="Segoe UI"/>
              </a:rPr>
              <a:t>Q4  </a:t>
            </a:r>
            <a:r>
              <a:rPr sz="1500" b="0" i="0">
                <a:solidFill>
                  <a:srgbClr val="1C2833"/>
                </a:solidFill>
                <a:latin typeface="Segoe UI"/>
              </a:rPr>
              <a:t>PhD Regs 2024 §14.3(B) asks whether results are replicable. For a deep learning dissertation, enumerate exactly what would have to be deposited for a third party to replicate the reported…</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22 · Evaluating Machine Learning Research</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Review questions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fade">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35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468880"/>
            <a:ext cx="8229600" cy="914400"/>
          </a:xfrm>
          <a:prstGeom prst="rect">
            <a:avLst/>
          </a:prstGeom>
          <a:noFill/>
        </p:spPr>
        <p:txBody>
          <a:bodyPr wrap="square" anchor="t" lIns="0" rIns="0" tIns="0" bIns="0">
            <a:spAutoFit/>
          </a:bodyPr>
          <a:lstStyle/>
          <a:p>
            <a:r>
              <a:rPr sz="3400" b="1" i="0">
                <a:solidFill>
                  <a:srgbClr val="FFFFFF"/>
                </a:solidFill>
                <a:latin typeface="Georgia"/>
              </a:rPr>
              <a:t>End of Chapter 22</a:t>
            </a:r>
          </a:p>
        </p:txBody>
      </p:sp>
      <p:sp>
        <p:nvSpPr>
          <p:cNvPr id="5" name="TextBox 4"/>
          <p:cNvSpPr txBox="1"/>
          <p:nvPr/>
        </p:nvSpPr>
        <p:spPr>
          <a:xfrm>
            <a:off x="1280160" y="3566160"/>
            <a:ext cx="8686800" cy="1280160"/>
          </a:xfrm>
          <a:prstGeom prst="rect">
            <a:avLst/>
          </a:prstGeom>
          <a:noFill/>
        </p:spPr>
        <p:txBody>
          <a:bodyPr wrap="square" anchor="t" lIns="0" rIns="0" tIns="0" bIns="0">
            <a:spAutoFit/>
          </a:bodyPr>
          <a:lstStyle/>
          <a:p>
            <a:r>
              <a:rPr sz="1700" b="0" i="0">
                <a:solidFill>
                  <a:srgbClr val="E8F6F3"/>
                </a:solidFill>
                <a:latin typeface="Segoe UI"/>
              </a:rPr>
              <a:t>Next: </a:t>
            </a:r>
            <a:r>
              <a:rPr sz="1700" b="1" i="0">
                <a:solidFill>
                  <a:srgbClr val="FFFFFF"/>
                </a:solidFill>
                <a:latin typeface="Segoe UI"/>
              </a:rPr>
              <a:t>Ch. 23 — Qualitative Data Analysis in Practice</a:t>
            </a:r>
          </a:p>
          <a:p>
            <a:pPr>
              <a:spcBef>
                <a:spcPts val="1200"/>
              </a:spcBef>
            </a:pPr>
            <a:r>
              <a:rPr sz="1300" b="0" i="1">
                <a:solidFill>
                  <a:srgbClr val="E8F6F3"/>
                </a:solidFill>
                <a:latin typeface="Segoe UI"/>
              </a:rPr>
              <a:t>Read the chapter in the handout before the next session.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4"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slide(fromBottom)">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