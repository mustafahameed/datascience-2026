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E8F6F3"/>
                </a:solidFill>
                <a:latin typeface="Segoe UI"/>
              </a:rPr>
              <a:t>CHAPTER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Georgia"/>
              </a:rPr>
              <a:t>Threats to Validity and How to Report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206240"/>
            <a:ext cx="118872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6675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E8F6F3"/>
                </a:solidFill>
                <a:latin typeface="Segoe UI"/>
              </a:rPr>
              <a:t>Part 4 — Measurement, Data and Analysis</a:t>
            </a:r>
          </a:p>
          <a:p>
            <a:r>
              <a:rPr sz="1300" b="0" i="1">
                <a:solidFill>
                  <a:srgbClr val="E8F6F3"/>
                </a:solidFill>
                <a:latin typeface="Segoe UI"/>
              </a:rPr>
              <a:t>Advanced Research Methodology · Fall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2656" y="2194560"/>
            <a:ext cx="2834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MS IT / PhD IT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Department of Information Technology
The Islamia University of Bahawalpur</a:t>
            </a:r>
          </a:p>
          <a:p>
            <a:pPr>
              <a:spcBef>
                <a:spcPts val="1400"/>
              </a:spcBef>
            </a:pPr>
            <a:r>
              <a:rPr sz="1200" b="0" i="0">
                <a:solidFill>
                  <a:srgbClr val="E8F6F3"/>
                </a:solidFill>
                <a:latin typeface="Segoe UI"/>
              </a:rPr>
              <a:t>Fall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By the end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Classify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threat into one of the four validity types.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Identify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threats characteristic of each research design.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Distinguish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threat you mitigated, one you measured, and one you merely acknowledged.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Write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a threats section that increases rather than decreases a reader's confidence.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C84B31"/>
                </a:solidFill>
                <a:latin typeface="Segoe UI"/>
              </a:rPr>
              <a:t>▸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Recognise </a:t>
            </a:r>
            <a:r>
              <a:rPr sz="1700" b="0" i="0">
                <a:solidFill>
                  <a:srgbClr val="1C2833"/>
                </a:solidFill>
                <a:latin typeface="Segoe UI"/>
              </a:rPr>
              <a:t>the trade-off between validity types, and defend your position on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24 · Threats to Validity and How to Report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Outcomes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KEY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vocabulary of this 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internal validity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external validity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construct validity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conclusion validity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confounding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selection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maturation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instrumentation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0636" y="1828800"/>
            <a:ext cx="3423818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mono-operation bias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hypothesis guessing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ecological validity</a:t>
            </a:r>
          </a:p>
          <a:p>
            <a:pPr>
              <a:spcAft>
                <a:spcPts val="1100"/>
              </a:spcAft>
            </a:pPr>
            <a:r>
              <a:rPr sz="1400" b="0" i="0">
                <a:solidFill>
                  <a:srgbClr val="C84B31"/>
                </a:solidFill>
                <a:latin typeface="Segoe UI"/>
              </a:rPr>
              <a:t>▪  </a:t>
            </a:r>
            <a:r>
              <a:rPr sz="1400" b="0" i="0">
                <a:solidFill>
                  <a:srgbClr val="1C2833"/>
                </a:solidFill>
                <a:latin typeface="Segoe UI"/>
              </a:rPr>
              <a:t>mitigation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24 · Threats to Validity and How to Report Them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Key terms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Four Questions About One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Four Questions About One Study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Read them in order, because they depend on each other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 order is not arbitrary. If conclusion validity fails there is no relationship to be causal about.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24 · Threats to Validity and How to Report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Questions About One Study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The Trade-off Is Real and Must Be Owned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The Trade-off Is Real and Must Be Owned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8269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28269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State your position deliberately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There is no design that maximises all four, so a competent study chooses. What distinguishes a good threats section is that the choice is stated as a choice.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24 · Threats to Validity and How to Report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The Trade-off Is Real and Must Be Owned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E8F6F3"/>
                </a:solidFill>
                <a:latin typeface="Segoe UI"/>
              </a:rPr>
              <a:t>SECTION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97228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Writing the Section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343400"/>
            <a:ext cx="1463040" cy="508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  <p:transition spd="med">
    <p:wipe dir="d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PART 4 · CH.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Writing the Section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574036"/>
            <a:ext cx="54864" cy="1207008"/>
          </a:xfrm>
          <a:prstGeom prst="rect">
            <a:avLst/>
          </a:prstGeom>
          <a:solidFill>
            <a:srgbClr val="1371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57403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137177"/>
                </a:solidFill>
                <a:latin typeface="Segoe UI"/>
              </a:rPr>
              <a:t>CONCEPT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Naming your own worst threat is a strength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Scholars fear that identifying a serious limitation invites rejection. The opposite is closer to true.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991356"/>
            <a:ext cx="54864" cy="120700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991356"/>
            <a:ext cx="1038118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B7950B"/>
                </a:solidFill>
                <a:latin typeface="Segoe UI"/>
              </a:rPr>
              <a:t>WATCH OUT   </a:t>
            </a:r>
            <a:r>
              <a:rPr sz="1700" b="1" i="0">
                <a:solidFill>
                  <a:srgbClr val="0E4D64"/>
                </a:solidFill>
                <a:latin typeface="Segoe UI"/>
              </a:rPr>
              <a:t>The three grades of threat, and why the distinction matters</a:t>
            </a:r>
          </a:p>
          <a:p>
            <a:r>
              <a:rPr sz="1400" b="0" i="0">
                <a:solidFill>
                  <a:srgbClr val="1C2833"/>
                </a:solidFill>
                <a:latin typeface="Segoe UI"/>
              </a:rPr>
              <a:t>Not all threats are handled equally, and conflating them is the fastest way to lose a reader's trust. tightnum Mitigated.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24 · Threats to Validity and How to Report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Writing the Section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Two versions of the same paragraph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40380"/>
            <a:ext cx="10637215" cy="1234440"/>
          </a:xfrm>
          <a:prstGeom prst="rect">
            <a:avLst/>
          </a:prstGeom>
          <a:solidFill>
            <a:srgbClr val="F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040380"/>
            <a:ext cx="64008" cy="123444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241548"/>
            <a:ext cx="999713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1C2833"/>
                </a:solidFill>
                <a:latin typeface="Segoe UI"/>
              </a:rPr>
              <a:t>Weak. “There are several threats to validity in this study. The sample size was small, which may have affected the results.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21124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1">
                <a:solidFill>
                  <a:srgbClr val="707B7C"/>
                </a:solidFill>
                <a:latin typeface="Segoe UI"/>
              </a:rPr>
              <a:t>Constructed for teaching — the numbers are invented, as in the handout.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24 · Threats to Validity and How to Report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Worked example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FOUR TRADITIONS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How this lands in threats to validity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58587" cy="50800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F618D"/>
                </a:solidFill>
                <a:latin typeface="Segoe UI"/>
              </a:rPr>
              <a:t>EMPIRICAL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The four-way taxonomy, reported by type, with each threat graded and given a direction.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18745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874519"/>
            <a:ext cx="5158587" cy="50800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7035" y="20756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117864"/>
                </a:solidFill>
                <a:latin typeface="Segoe UI"/>
              </a:rPr>
              <a:t>DESIGN SCIENCE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Reframed as evaluation adequacy: does the evaluation support the claimed contribution, and what would falsify the design knowledge claim?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931919"/>
            <a:ext cx="5158587" cy="50800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6C3483"/>
                </a:solidFill>
                <a:latin typeface="Segoe UI"/>
              </a:rPr>
              <a:t>QUALITATIVE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Replaced by trustworthiness — credibility, transferability, dependability, confirmability (Ch. 23).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5867" y="3931919"/>
            <a:ext cx="5158587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6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5867" y="3931919"/>
            <a:ext cx="5158587" cy="50800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4133087"/>
            <a:ext cx="4756251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 i="0">
                <a:solidFill>
                  <a:srgbClr val="922B21"/>
                </a:solidFill>
                <a:latin typeface="Segoe UI"/>
              </a:rPr>
              <a:t>FORMAL</a:t>
            </a:r>
          </a:p>
          <a:p>
            <a:r>
              <a:rPr sz="1250" b="0" i="0">
                <a:solidFill>
                  <a:srgbClr val="1C2833"/>
                </a:solidFill>
                <a:latin typeface="Segoe UI"/>
              </a:rPr>
              <a:t>Validity is soundness of proof plus realism of assumptions. The second is where formal results usually fail to transfer, and it deserves a paragraph.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24 · Threats to Validity and How to Report Them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Four traditions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6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24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What to take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1.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Four validity types, addressed in order: conclusion, internal, construct, external. They depend on each other.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2.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Each design has characteristic threats; know your design's and treat them first.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3.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Validity types trade against each other. Choose deliberately and say that you chose.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4.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Grade every threat as mitigated, measured or acknowledged. A section that is all acknowledgement reads as excuses.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5.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Every acknowledged threat needs a direction, and ideally a magnitude.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6.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Name your own worst threat before a reviewer does. §14.3(D) requires that the self-assessment not be superficial.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7.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Do not apply this taxonomy to qualitative work; use trustworthiness.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24 · Threats to Validity and How to Report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Summary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" dur="32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32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32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2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2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2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32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5488"/>
            <a:ext cx="548640" cy="381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21792"/>
            <a:ext cx="106372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C84B31"/>
                </a:solidFill>
                <a:latin typeface="Segoe U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E4D64"/>
                </a:solidFill>
                <a:latin typeface="Georgia"/>
              </a:rPr>
              <a:t>Questions to think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Q1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The four-way taxonomy was developed for field experiments in social science. Which computing designs does it fit poorly, and what would a taxonomy built for our field look like?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Q2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Threats sections are near-universal and near-universally formulaic. What incentive produces the formulaic version, and what reviewing practice would change it?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Q3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Mono-operation bias — one task, one system — affects most software engineering experiments, because using several is expensive. Is the field's tolerance of it justified? Propose a practical…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C84B31"/>
                </a:solidFill>
                <a:latin typeface="Segoe UI"/>
              </a:rPr>
              <a:t>Q4  </a:t>
            </a:r>
            <a:r>
              <a:rPr sz="1500" b="0" i="0">
                <a:solidFill>
                  <a:srgbClr val="1C2833"/>
                </a:solidFill>
                <a:latin typeface="Segoe UI"/>
              </a:rPr>
              <a:t>PhD Regs 2024 §14.3(B) asks about ecological and population external validity separately. Give a study strong in one and weak in the other, and say which matters more for a dissertation…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25400"/>
          </a:xfrm>
          <a:prstGeom prst="rect">
            <a:avLst/>
          </a:prstGeom>
          <a:solidFill>
            <a:srgbClr val="E8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707B7C"/>
                </a:solidFill>
                <a:latin typeface="Segoe UI"/>
              </a:rPr>
              <a:t>Ch. 24 · Threats to Validity and How to Report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51052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707B7C"/>
                </a:solidFill>
                <a:latin typeface="Segoe UI"/>
              </a:rPr>
              <a:t>Review questions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4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Georgia"/>
              </a:rPr>
              <a:t>End of Chapter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661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0" i="0">
                <a:solidFill>
                  <a:srgbClr val="E8F6F3"/>
                </a:solidFill>
                <a:latin typeface="Segoe UI"/>
              </a:rPr>
              <a:t>Next: </a:t>
            </a:r>
            <a:r>
              <a:rPr sz="1700" b="1" i="0">
                <a:solidFill>
                  <a:srgbClr val="FFFFFF"/>
                </a:solidFill>
                <a:latin typeface="Segoe UI"/>
              </a:rPr>
              <a:t>Ch. 25 — Reproducibility and Artefact Evaluation</a:t>
            </a:r>
          </a:p>
          <a:p>
            <a:pPr>
              <a:spcBef>
                <a:spcPts val="1200"/>
              </a:spcBef>
            </a:pPr>
            <a:r>
              <a:rPr sz="1300" b="0" i="1">
                <a:solidFill>
                  <a:srgbClr val="E8F6F3"/>
                </a:solidFill>
                <a:latin typeface="Segoe UI"/>
              </a:rPr>
              <a:t>Read the chapter in the handout before the next session.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