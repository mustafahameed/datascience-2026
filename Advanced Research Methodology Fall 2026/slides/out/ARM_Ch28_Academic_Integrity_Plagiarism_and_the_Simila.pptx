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E8F6F3"/>
                </a:solidFill>
                <a:latin typeface="Segoe UI"/>
              </a:rPr>
              <a:t>CHAPTER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675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eorgia"/>
              </a:rPr>
              <a:t>Academic Integrity, Plagiarism and the Similarity 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206240"/>
            <a:ext cx="118872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E8F6F3"/>
                </a:solidFill>
                <a:latin typeface="Segoe UI"/>
              </a:rPr>
              <a:t>Part 5 — Rigour, Reproducibility and Ethics</a:t>
            </a:r>
          </a:p>
          <a:p>
            <a:r>
              <a:rPr sz="1300" b="0" i="1">
                <a:solidFill>
                  <a:srgbClr val="E8F6F3"/>
                </a:solidFill>
                <a:latin typeface="Segoe UI"/>
              </a:rPr>
              <a:t>Advanced Research Methodology ·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2656" y="2194560"/>
            <a:ext cx="2834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Segoe UI"/>
              </a:rPr>
              <a:t>MS IT / PhD IT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Department of Information Technology
The Islamia University of Bahawalpur</a:t>
            </a:r>
          </a:p>
          <a:p>
            <a:pPr>
              <a:spcBef>
                <a:spcPts val="14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Fall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By the end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State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the numeric similarity thresholds that bind your thesis.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Interpret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an originality report rather than reading its percentage.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Paraphrase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and cite so that inadvertent plagiarism cannot occur.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Apply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authorship criteria, and recognise gift and ghost authorship.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Distinguish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text recycling, salami slicing, fabrication and falsification.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28 · Academic Integrity, Plagiarism and the Similarity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Outcomes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KEY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vocabulary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plagiarism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similarity index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originality report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text recycling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3938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self-plagiarism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salami slicing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fabrication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falsification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0636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authorship criteria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gift and ghost authorship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CRediT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28 · Academic Integrity, Plagiarism and the Similarity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Key terms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1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The Rules, Quoted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5 · CH.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Rules, Quoted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6537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186537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Items (ix) and (x) catch people who thought they were safe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(ix) Changing words but copying the sentence structure. This is what most students think paraphrasing 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C84B31"/>
                </a:solidFill>
                <a:latin typeface="Segoe UI"/>
              </a:rPr>
              <a:t>REGULATION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Similarity — PhD §32(III), MPhil/MS §49(3)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“Plagiarism is not allowed at all. The similarity index should be less than or equal to 19% which is supposed to be a connection with the existing knowledge and 80% of research is contributed by the author.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700016"/>
            <a:ext cx="54864" cy="1207008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470001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C84B31"/>
                </a:solidFill>
                <a:latin typeface="Segoe UI"/>
              </a:rPr>
              <a:t>REGULATION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What counts as plagiarism — PhD §32(I)(A)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“(i) Stealing and presenting the ideas or words of others as one's own; (ii) Using another person's production, without citing and crediting the source; (iii) Committing the literary theft; (iv) Presenting as a new and original…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28 · Academic Integrity, Plagiarism and the Similarity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The Rules, Quoted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2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Reading an Originality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5 · CH.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Reading an Originality Report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7403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7403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 index you should aim for is not zero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A thesis with 2% similarity is not obviously excellent; it may indicate that standard terminology has been avoided in ways that make the writing worse, or that the engagement with prior work is thin.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91356"/>
            <a:ext cx="54864" cy="1207008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99135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C84B31"/>
                </a:solidFill>
                <a:latin typeface="Segoe UI"/>
              </a:rPr>
              <a:t>REGULATION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Interpretation — PhD §29(V)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“The similarity index of the originality report showing matches of submitted work with internet content does not mean that the document is plagiarized.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28 · Academic Integrity, Plagiarism and the Similarity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Reading an Originality Report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3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Paraphrasing Properly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5 · CH.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Paraphrasing Properly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 method that makes this reliable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Read the passage. Close the source.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28 · Academic Integrity, Plagiarism and the Similarity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Paraphrasing Properly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4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Recycling and Slicing Your Own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5 · CH.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Recycling and Slicing Your Own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Salami slicing has a specific incentive here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PhD Regs 2024 §15 requires either one W-category paper or two X-category papers. A scholar with one good study and access only to X-category venues faces a direct incentive to split it in two.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28 · Academic Integrity, Plagiarism and the Similarity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Recycling and Slicing Your Own Work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5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Authorship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5 · CH.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Authorship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Agree authorship in writing, at the start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PhD Regs 2024 §15(ii) requires that “the PhD researcher shall be the first author” of the papers counting towards the degree. A paper on which your supervisor is first author does not count for you, however much you contributed.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28 · Academic Integrity, Plagiarism and the Similarity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Authorship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6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Fabrication and Falsification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5 · CH.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Fabrication and Falsification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1C2833"/>
                </a:solidFill>
                <a:latin typeface="Segoe UI"/>
              </a:rPr>
              <a:t>These are career-ending and unambiguous. The boundary worth attending to is that selective omission is falsification: dropping the experimental condition that did not work, or the three datasets where the method lost, is not tidying. It is misrepresenting the research, and 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28 · Academic Integrity, Plagiarism and the Similarity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Fabrication and Falsification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7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Consequences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5 · CH.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Consequences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1C2833"/>
                </a:solidFill>
                <a:latin typeface="Segoe UI"/>
              </a:rPr>
              <a:t>PhD Regs 2024 §32(V) is unambiguous: “Under no circumstances shall a dissertation based on plagiarized research be acceptable.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28 · Academic Integrity, Plagiarism and the Similarity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Consequences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Where honest scholars come closest to the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5433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Reporting the ablation that worked and omitting the two that did not.</a:t>
            </a:r>
          </a:p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1" i="0">
                <a:solidFill>
                  <a:srgbClr val="0E4D64"/>
                </a:solidFill>
                <a:latin typeface="Segoe UI"/>
              </a:rPr>
              <a:t>“Cleaning” outliers whose removal happens to help (Ch.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26).</a:t>
            </a:r>
          </a:p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Rounding a p-value of 0.054 to “0.05” or describing it as “approaching significance”.</a:t>
            </a:r>
          </a:p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Reusing a figure from a previous paper without saying so.</a:t>
            </a:r>
          </a:p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Citing a paper for a claim it does not make, because a secondary source said it did (Ch. 7).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28 · Academic Integrity, Plagiarism and the Similarity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Pitfalls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3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WHAT THE REGULATIONS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Rules that bind you, quoted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51660"/>
            <a:ext cx="1063721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4B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51660"/>
            <a:ext cx="64008" cy="123444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97964"/>
            <a:ext cx="1008857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C84B31"/>
                </a:solidFill>
                <a:latin typeface="Segoe UI"/>
              </a:rPr>
              <a:t>Similarity — PhD §32(III), MPhil/MS §49(3)</a:t>
            </a:r>
          </a:p>
          <a:p>
            <a:r>
              <a:rPr sz="1300" b="0" i="0">
                <a:solidFill>
                  <a:srgbClr val="1C2833"/>
                </a:solidFill>
                <a:latin typeface="Segoe UI"/>
              </a:rPr>
              <a:t>“Plagiarism is not allowed at all. The similarity index should be less than or equal to 19% which is supposed to be a connection with the existing knowledge and 80% of research is contributed by the author. Further, less than 5% from a single source…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268980"/>
            <a:ext cx="1063721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4B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268980"/>
            <a:ext cx="64008" cy="123444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415284"/>
            <a:ext cx="1008857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C84B31"/>
                </a:solidFill>
                <a:latin typeface="Segoe UI"/>
              </a:rPr>
              <a:t>What counts as plagiarism — PhD §32(I)(A)</a:t>
            </a:r>
          </a:p>
          <a:p>
            <a:r>
              <a:rPr sz="1300" b="0" i="0">
                <a:solidFill>
                  <a:srgbClr val="1C2833"/>
                </a:solidFill>
                <a:latin typeface="Segoe UI"/>
              </a:rPr>
              <a:t>“(i) Stealing and presenting the ideas or words of others as one's own; (ii) Using another person's production, without citing and crediting the source; (iii) Committing the literary theft; (iv) Presenting as a new and original idea or product…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686300"/>
            <a:ext cx="1063721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4B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686300"/>
            <a:ext cx="64008" cy="123444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832604"/>
            <a:ext cx="1008857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C84B31"/>
                </a:solidFill>
                <a:latin typeface="Segoe UI"/>
              </a:rPr>
              <a:t>Interpretation — PhD §29(V)</a:t>
            </a:r>
          </a:p>
          <a:p>
            <a:r>
              <a:rPr sz="1300" b="0" i="0">
                <a:solidFill>
                  <a:srgbClr val="1C2833"/>
                </a:solidFill>
                <a:latin typeface="Segoe UI"/>
              </a:rPr>
              <a:t>“The similarity index of the originality report showing matches of submitted work with internet content does not mean that the document is plagiarized.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28 · Academic Integrity, Plagiarism and the Similarity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Regulations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FOUR TRADITIONS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How this lands in integrity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158587" cy="50800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F618D"/>
                </a:solidFill>
                <a:latin typeface="Segoe UI"/>
              </a:rPr>
              <a:t>EMPIRICAL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Report every condition run and every analysis performed. Selective reporting is the field's characteristic integrity failure, and it is invisible without pre-registration.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1874519"/>
            <a:ext cx="5158587" cy="508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7035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17864"/>
                </a:solidFill>
                <a:latin typeface="Segoe UI"/>
              </a:rPr>
              <a:t>DESIGN SCIENCE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Do not present an artefact's capabilities beyond what was built and evaluated. Screenshots of features that do not work are falsification.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931919"/>
            <a:ext cx="5158587" cy="508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6C3483"/>
                </a:solidFill>
                <a:latin typeface="Segoe UI"/>
              </a:rPr>
              <a:t>QUALITATIVE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Quotations must be verbatim, attributed, and not composited from several participants. The audit trail is the defence (Ch.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5867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5867" y="3931919"/>
            <a:ext cx="5158587" cy="5080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7035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922B21"/>
                </a:solidFill>
                <a:latin typeface="Segoe UI"/>
              </a:rPr>
              <a:t>FORMAL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A proof with a gap presented as complete is falsification. If a step is unproved, say so.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28 · Academic Integrity, Plagiarism and the Similarity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Four traditions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2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What to take 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Three numbers bind you: 19% overall, 5% from any single source, 9% in findings and conclusions. Remove references before checking.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The index is not a verdict. Aim for a report in which every match is explicable, and be ready to explain each.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3.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Changing words while keeping sentence structure is plagiarism under §32(I)(A)(ix). Close the source, wait, write from understanding.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4.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Mark quotations as quotations when you take the note. This prevents nearly all inadvertent plagiarism.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5.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Text recycling in methods is tolerated; duplicate publication never is; salami slicing is discouraged and §15 creates an incentive for it that you should plan…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6.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Authorship requires all four ICMJE criteria. §15 requires you to be first author. Agree it in writing, early.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7.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Selective omission of results is falsification, not tidying.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28 · Academic Integrity, Plagiarism and the Similarity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Summary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2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2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2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2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2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2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32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Questions to think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Q1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Similarity thresholds are numeric and therefore auditable, but they measure text overlap rather than intellectual theft. Construct a thesis that passes all three thresholds and is…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Q2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Text recycling in methods sections is widely tolerated. Is the tolerance principled, or merely convenient? What rule would you propose?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Q3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§15's publication requirement creates an incentive to salami slice. Design a modification to the requirement that preserves its intent while removing the incentive.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Q4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Supervisors share responsibility for plagiarism under §32(V) yet typically see only late drafts. What supervisory practice would make the shared responsibility meaningful rather than…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28 · Academic Integrity, Plagiarism and the Similarity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Review questions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End of Chapter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56616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 i="0">
                <a:solidFill>
                  <a:srgbClr val="E8F6F3"/>
                </a:solidFill>
                <a:latin typeface="Segoe UI"/>
              </a:rPr>
              <a:t>Next: </a:t>
            </a:r>
            <a:r>
              <a:rPr sz="1700" b="1" i="0">
                <a:solidFill>
                  <a:srgbClr val="FFFFFF"/>
                </a:solidFill>
                <a:latin typeface="Segoe UI"/>
              </a:rPr>
              <a:t>Ch. 29 — Generative AI in the Research Process</a:t>
            </a:r>
          </a:p>
          <a:p>
            <a:pPr>
              <a:spcBef>
                <a:spcPts val="1200"/>
              </a:spcBef>
            </a:pPr>
            <a:r>
              <a:rPr sz="1300" b="0" i="1">
                <a:solidFill>
                  <a:srgbClr val="E8F6F3"/>
                </a:solidFill>
                <a:latin typeface="Segoe UI"/>
              </a:rPr>
              <a:t>Read the chapter in the handout before the next session.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