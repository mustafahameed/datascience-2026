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10</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Controlled Experiments in Software Engineering and HCI</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3 — Research Designs for Computing</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State </a:t>
            </a:r>
            <a:r>
              <a:rPr sz="1700" b="0" i="0">
                <a:solidFill>
                  <a:srgbClr val="1C2833"/>
                </a:solidFill>
                <a:latin typeface="Segoe UI"/>
              </a:rPr>
              <a:t>the three features that make a study an experiment.</a:t>
            </a:r>
          </a:p>
          <a:p>
            <a:pPr>
              <a:spcAft>
                <a:spcPts val="1400"/>
              </a:spcAft>
            </a:pPr>
            <a:r>
              <a:rPr sz="1700" b="1" i="0">
                <a:solidFill>
                  <a:srgbClr val="C84B31"/>
                </a:solidFill>
                <a:latin typeface="Segoe UI"/>
              </a:rPr>
              <a:t>▸  </a:t>
            </a:r>
            <a:r>
              <a:rPr sz="1700" b="1" i="0">
                <a:solidFill>
                  <a:srgbClr val="0E4D64"/>
                </a:solidFill>
                <a:latin typeface="Segoe UI"/>
              </a:rPr>
              <a:t>Explain </a:t>
            </a:r>
            <a:r>
              <a:rPr sz="1700" b="0" i="0">
                <a:solidFill>
                  <a:srgbClr val="1C2833"/>
                </a:solidFill>
                <a:latin typeface="Segoe UI"/>
              </a:rPr>
              <a:t>what randomisation buys that no other technique can.</a:t>
            </a:r>
          </a:p>
          <a:p>
            <a:pPr>
              <a:spcAft>
                <a:spcPts val="1400"/>
              </a:spcAft>
            </a:pPr>
            <a:r>
              <a:rPr sz="1700" b="1" i="0">
                <a:solidFill>
                  <a:srgbClr val="C84B31"/>
                </a:solidFill>
                <a:latin typeface="Segoe UI"/>
              </a:rPr>
              <a:t>▸  </a:t>
            </a:r>
            <a:r>
              <a:rPr sz="1700" b="1" i="0">
                <a:solidFill>
                  <a:srgbClr val="0E4D64"/>
                </a:solidFill>
                <a:latin typeface="Segoe UI"/>
              </a:rPr>
              <a:t>Choose </a:t>
            </a:r>
            <a:r>
              <a:rPr sz="1700" b="0" i="0">
                <a:solidFill>
                  <a:srgbClr val="1C2833"/>
                </a:solidFill>
                <a:latin typeface="Segoe UI"/>
              </a:rPr>
              <a:t>between between-subjects, within-subjects and factorial designs, and name what each costs.</a:t>
            </a:r>
          </a:p>
          <a:p>
            <a:pPr>
              <a:spcAft>
                <a:spcPts val="1400"/>
              </a:spcAft>
            </a:pPr>
            <a:r>
              <a:rPr sz="1700" b="1" i="0">
                <a:solidFill>
                  <a:srgbClr val="C84B31"/>
                </a:solidFill>
                <a:latin typeface="Segoe UI"/>
              </a:rPr>
              <a:t>▸  </a:t>
            </a:r>
            <a:r>
              <a:rPr sz="1700" b="1" i="0">
                <a:solidFill>
                  <a:srgbClr val="0E4D64"/>
                </a:solidFill>
                <a:latin typeface="Segoe UI"/>
              </a:rPr>
              <a:t>Counterbalance </a:t>
            </a:r>
            <a:r>
              <a:rPr sz="1700" b="0" i="0">
                <a:solidFill>
                  <a:srgbClr val="1C2833"/>
                </a:solidFill>
                <a:latin typeface="Segoe UI"/>
              </a:rPr>
              <a:t>a within-subjects design and say which threat it removes.</a:t>
            </a:r>
          </a:p>
          <a:p>
            <a:pPr>
              <a:spcAft>
                <a:spcPts val="1400"/>
              </a:spcAft>
            </a:pPr>
            <a:r>
              <a:rPr sz="1700" b="1" i="0">
                <a:solidFill>
                  <a:srgbClr val="C84B31"/>
                </a:solidFill>
                <a:latin typeface="Segoe UI"/>
              </a:rPr>
              <a:t>▸  </a:t>
            </a:r>
            <a:r>
              <a:rPr sz="1700" b="1" i="0">
                <a:solidFill>
                  <a:srgbClr val="0E4D64"/>
                </a:solidFill>
                <a:latin typeface="Segoe UI"/>
              </a:rPr>
              <a:t>Judge </a:t>
            </a:r>
            <a:r>
              <a:rPr sz="1700" b="0" i="0">
                <a:solidFill>
                  <a:srgbClr val="1C2833"/>
                </a:solidFill>
                <a:latin typeface="Segoe UI"/>
              </a:rPr>
              <a:t>the student-versus-professional question on evidence rather than reflex.</a:t>
            </a:r>
          </a:p>
          <a:p>
            <a:pPr>
              <a:spcAft>
                <a:spcPts val="1400"/>
              </a:spcAft>
            </a:pPr>
            <a:r>
              <a:rPr sz="1700" b="1" i="0">
                <a:solidFill>
                  <a:srgbClr val="C84B31"/>
                </a:solidFill>
                <a:latin typeface="Segoe UI"/>
              </a:rPr>
              <a:t>▸  </a:t>
            </a:r>
            <a:r>
              <a:rPr sz="1700" b="1" i="0">
                <a:solidFill>
                  <a:srgbClr val="0E4D64"/>
                </a:solidFill>
                <a:latin typeface="Segoe UI"/>
              </a:rPr>
              <a:t>Specify </a:t>
            </a:r>
            <a:r>
              <a:rPr sz="1700" b="0" i="0">
                <a:solidFill>
                  <a:srgbClr val="1C2833"/>
                </a:solidFill>
                <a:latin typeface="Segoe UI"/>
              </a:rPr>
              <a:t>an experiment completely enough to be pre-registered.</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5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experiment</a:t>
            </a:r>
          </a:p>
          <a:p>
            <a:pPr>
              <a:spcAft>
                <a:spcPts val="1100"/>
              </a:spcAft>
            </a:pPr>
            <a:r>
              <a:rPr sz="1400" b="0" i="0">
                <a:solidFill>
                  <a:srgbClr val="C84B31"/>
                </a:solidFill>
                <a:latin typeface="Segoe UI"/>
              </a:rPr>
              <a:t>▪  </a:t>
            </a:r>
            <a:r>
              <a:rPr sz="1400" b="0" i="0">
                <a:solidFill>
                  <a:srgbClr val="1C2833"/>
                </a:solidFill>
                <a:latin typeface="Segoe UI"/>
              </a:rPr>
              <a:t>manipulation</a:t>
            </a:r>
          </a:p>
          <a:p>
            <a:pPr>
              <a:spcAft>
                <a:spcPts val="1100"/>
              </a:spcAft>
            </a:pPr>
            <a:r>
              <a:rPr sz="1400" b="0" i="0">
                <a:solidFill>
                  <a:srgbClr val="C84B31"/>
                </a:solidFill>
                <a:latin typeface="Segoe UI"/>
              </a:rPr>
              <a:t>▪  </a:t>
            </a:r>
            <a:r>
              <a:rPr sz="1400" b="0" i="0">
                <a:solidFill>
                  <a:srgbClr val="1C2833"/>
                </a:solidFill>
                <a:latin typeface="Segoe UI"/>
              </a:rPr>
              <a:t>randomisation</a:t>
            </a:r>
          </a:p>
          <a:p>
            <a:pPr>
              <a:spcAft>
                <a:spcPts val="1100"/>
              </a:spcAft>
            </a:pPr>
            <a:r>
              <a:rPr sz="1400" b="0" i="0">
                <a:solidFill>
                  <a:srgbClr val="C84B31"/>
                </a:solidFill>
                <a:latin typeface="Segoe UI"/>
              </a:rPr>
              <a:t>▪  </a:t>
            </a:r>
            <a:r>
              <a:rPr sz="1400" b="0" i="0">
                <a:solidFill>
                  <a:srgbClr val="1C2833"/>
                </a:solidFill>
                <a:latin typeface="Segoe UI"/>
              </a:rPr>
              <a:t>control</a:t>
            </a:r>
          </a:p>
          <a:p>
            <a:pPr>
              <a:spcAft>
                <a:spcPts val="1100"/>
              </a:spcAft>
            </a:pPr>
            <a:r>
              <a:rPr sz="1400" b="0" i="0">
                <a:solidFill>
                  <a:srgbClr val="C84B31"/>
                </a:solidFill>
                <a:latin typeface="Segoe UI"/>
              </a:rPr>
              <a:t>▪  </a:t>
            </a:r>
            <a:r>
              <a:rPr sz="1400" b="0" i="0">
                <a:solidFill>
                  <a:srgbClr val="1C2833"/>
                </a:solidFill>
                <a:latin typeface="Segoe UI"/>
              </a:rPr>
              <a:t>experimental unit</a:t>
            </a:r>
          </a:p>
          <a:p>
            <a:pPr>
              <a:spcAft>
                <a:spcPts val="1100"/>
              </a:spcAft>
            </a:pPr>
            <a:r>
              <a:rPr sz="1400" b="0" i="0">
                <a:solidFill>
                  <a:srgbClr val="C84B31"/>
                </a:solidFill>
                <a:latin typeface="Segoe UI"/>
              </a:rPr>
              <a:t>▪  </a:t>
            </a:r>
            <a:r>
              <a:rPr sz="1400" b="0" i="0">
                <a:solidFill>
                  <a:srgbClr val="1C2833"/>
                </a:solidFill>
                <a:latin typeface="Segoe UI"/>
              </a:rPr>
              <a:t>subject and object</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treatment</a:t>
            </a:r>
          </a:p>
          <a:p>
            <a:pPr>
              <a:spcAft>
                <a:spcPts val="1100"/>
              </a:spcAft>
            </a:pPr>
            <a:r>
              <a:rPr sz="1400" b="0" i="0">
                <a:solidFill>
                  <a:srgbClr val="C84B31"/>
                </a:solidFill>
                <a:latin typeface="Segoe UI"/>
              </a:rPr>
              <a:t>▪  </a:t>
            </a:r>
            <a:r>
              <a:rPr sz="1400" b="0" i="0">
                <a:solidFill>
                  <a:srgbClr val="1C2833"/>
                </a:solidFill>
                <a:latin typeface="Segoe UI"/>
              </a:rPr>
              <a:t>factor and level</a:t>
            </a:r>
          </a:p>
          <a:p>
            <a:pPr>
              <a:spcAft>
                <a:spcPts val="1100"/>
              </a:spcAft>
            </a:pPr>
            <a:r>
              <a:rPr sz="1400" b="0" i="0">
                <a:solidFill>
                  <a:srgbClr val="C84B31"/>
                </a:solidFill>
                <a:latin typeface="Segoe UI"/>
              </a:rPr>
              <a:t>▪  </a:t>
            </a:r>
            <a:r>
              <a:rPr sz="1400" b="0" i="0">
                <a:solidFill>
                  <a:srgbClr val="1C2833"/>
                </a:solidFill>
                <a:latin typeface="Segoe UI"/>
              </a:rPr>
              <a:t>between-subjects</a:t>
            </a:r>
          </a:p>
          <a:p>
            <a:pPr>
              <a:spcAft>
                <a:spcPts val="1100"/>
              </a:spcAft>
            </a:pPr>
            <a:r>
              <a:rPr sz="1400" b="0" i="0">
                <a:solidFill>
                  <a:srgbClr val="C84B31"/>
                </a:solidFill>
                <a:latin typeface="Segoe UI"/>
              </a:rPr>
              <a:t>▪  </a:t>
            </a:r>
            <a:r>
              <a:rPr sz="1400" b="0" i="0">
                <a:solidFill>
                  <a:srgbClr val="1C2833"/>
                </a:solidFill>
                <a:latin typeface="Segoe UI"/>
              </a:rPr>
              <a:t>within-subjects</a:t>
            </a:r>
          </a:p>
          <a:p>
            <a:pPr>
              <a:spcAft>
                <a:spcPts val="1100"/>
              </a:spcAft>
            </a:pPr>
            <a:r>
              <a:rPr sz="1400" b="0" i="0">
                <a:solidFill>
                  <a:srgbClr val="C84B31"/>
                </a:solidFill>
                <a:latin typeface="Segoe UI"/>
              </a:rPr>
              <a:t>▪  </a:t>
            </a:r>
            <a:r>
              <a:rPr sz="1400" b="0" i="0">
                <a:solidFill>
                  <a:srgbClr val="1C2833"/>
                </a:solidFill>
                <a:latin typeface="Segoe UI"/>
              </a:rPr>
              <a:t>crossover</a:t>
            </a:r>
          </a:p>
          <a:p>
            <a:pPr>
              <a:spcAft>
                <a:spcPts val="1100"/>
              </a:spcAft>
            </a:pPr>
            <a:r>
              <a:rPr sz="1400" b="0" i="0">
                <a:solidFill>
                  <a:srgbClr val="C84B31"/>
                </a:solidFill>
                <a:latin typeface="Segoe UI"/>
              </a:rPr>
              <a:t>▪  </a:t>
            </a:r>
            <a:r>
              <a:rPr sz="1400" b="0" i="0">
                <a:solidFill>
                  <a:srgbClr val="1C2833"/>
                </a:solidFill>
                <a:latin typeface="Segoe UI"/>
              </a:rPr>
              <a:t>carryover effect</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counterbalancing</a:t>
            </a:r>
          </a:p>
          <a:p>
            <a:pPr>
              <a:spcAft>
                <a:spcPts val="1100"/>
              </a:spcAft>
            </a:pPr>
            <a:r>
              <a:rPr sz="1400" b="0" i="0">
                <a:solidFill>
                  <a:srgbClr val="C84B31"/>
                </a:solidFill>
                <a:latin typeface="Segoe UI"/>
              </a:rPr>
              <a:t>▪  </a:t>
            </a:r>
            <a:r>
              <a:rPr sz="1400" b="0" i="0">
                <a:solidFill>
                  <a:srgbClr val="1C2833"/>
                </a:solidFill>
                <a:latin typeface="Segoe UI"/>
              </a:rPr>
              <a:t>Latin square</a:t>
            </a:r>
          </a:p>
          <a:p>
            <a:pPr>
              <a:spcAft>
                <a:spcPts val="1100"/>
              </a:spcAft>
            </a:pPr>
            <a:r>
              <a:rPr sz="1400" b="0" i="0">
                <a:solidFill>
                  <a:srgbClr val="C84B31"/>
                </a:solidFill>
                <a:latin typeface="Segoe UI"/>
              </a:rPr>
              <a:t>▪  </a:t>
            </a:r>
            <a:r>
              <a:rPr sz="1400" b="0" i="0">
                <a:solidFill>
                  <a:srgbClr val="1C2833"/>
                </a:solidFill>
                <a:latin typeface="Segoe UI"/>
              </a:rPr>
              <a:t>blocking</a:t>
            </a:r>
          </a:p>
          <a:p>
            <a:pPr>
              <a:spcAft>
                <a:spcPts val="1100"/>
              </a:spcAft>
            </a:pPr>
            <a:r>
              <a:rPr sz="1400" b="0" i="0">
                <a:solidFill>
                  <a:srgbClr val="C84B31"/>
                </a:solidFill>
                <a:latin typeface="Segoe UI"/>
              </a:rPr>
              <a:t>▪  </a:t>
            </a:r>
            <a:r>
              <a:rPr sz="1400" b="0" i="0">
                <a:solidFill>
                  <a:srgbClr val="1C2833"/>
                </a:solidFill>
                <a:latin typeface="Segoe UI"/>
              </a:rPr>
              <a:t>factorial design</a:t>
            </a:r>
          </a:p>
          <a:p>
            <a:pPr>
              <a:spcAft>
                <a:spcPts val="1100"/>
              </a:spcAft>
            </a:pPr>
            <a:r>
              <a:rPr sz="1400" b="0" i="0">
                <a:solidFill>
                  <a:srgbClr val="C84B31"/>
                </a:solidFill>
                <a:latin typeface="Segoe UI"/>
              </a:rPr>
              <a:t>▪  </a:t>
            </a:r>
            <a:r>
              <a:rPr sz="1400" b="0" i="0">
                <a:solidFill>
                  <a:srgbClr val="1C2833"/>
                </a:solidFill>
                <a:latin typeface="Segoe UI"/>
              </a:rPr>
              <a:t>interaction</a:t>
            </a:r>
          </a:p>
          <a:p>
            <a:pPr>
              <a:spcAft>
                <a:spcPts val="1100"/>
              </a:spcAft>
            </a:pPr>
            <a:r>
              <a:rPr sz="1400" b="0" i="0">
                <a:solidFill>
                  <a:srgbClr val="C84B31"/>
                </a:solidFill>
                <a:latin typeface="Segoe UI"/>
              </a:rPr>
              <a:t>▪  </a:t>
            </a:r>
            <a:r>
              <a:rPr sz="1400" b="0" i="0">
                <a:solidFill>
                  <a:srgbClr val="1C2833"/>
                </a:solidFill>
                <a:latin typeface="Segoe UI"/>
              </a:rPr>
              <a:t>pilot study</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Three Features, and Only the Third Is Optional</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Three Features, and Only the Third Is Optional</a:t>
            </a:r>
          </a:p>
        </p:txBody>
      </p:sp>
      <p:sp>
        <p:nvSpPr>
          <p:cNvPr id="7" name="Rectangle 6"/>
          <p:cNvSpPr/>
          <p:nvPr/>
        </p:nvSpPr>
        <p:spPr>
          <a:xfrm>
            <a:off x="777240" y="186537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186537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Controlled experiment</a:t>
            </a:r>
          </a:p>
          <a:p>
            <a:r>
              <a:rPr sz="1400" b="0" i="0">
                <a:solidFill>
                  <a:srgbClr val="1C2833"/>
                </a:solidFill>
                <a:latin typeface="Segoe UI"/>
              </a:rPr>
              <a:t>A study in which the researcher (1) manipulates at least one independent variable, (2) randomly assigns experimental units to treatments, and (3) controls other variables that could affect the outcome.</a:t>
            </a:r>
          </a:p>
        </p:txBody>
      </p:sp>
      <p:sp>
        <p:nvSpPr>
          <p:cNvPr id="9" name="Rectangle 8"/>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What randomisation actually buys</a:t>
            </a:r>
          </a:p>
          <a:p>
            <a:r>
              <a:rPr sz="1400" b="0" i="0">
                <a:solidFill>
                  <a:srgbClr val="1C2833"/>
                </a:solidFill>
                <a:latin typeface="Segoe UI"/>
              </a:rPr>
              <a:t>This is the most misunderstood idea in empirical research, and it is worth being precise. Randomisation does not make groups equal.</a:t>
            </a:r>
          </a:p>
        </p:txBody>
      </p:sp>
      <p:sp>
        <p:nvSpPr>
          <p:cNvPr id="11" name="Rectangle 10"/>
          <p:cNvSpPr/>
          <p:nvPr/>
        </p:nvSpPr>
        <p:spPr>
          <a:xfrm>
            <a:off x="777240" y="470001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33272" y="470001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If you randomise teams, your sample size is teams</a:t>
            </a:r>
          </a:p>
          <a:p>
            <a:r>
              <a:rPr sz="1400" b="0" i="0">
                <a:solidFill>
                  <a:srgbClr val="1C2833"/>
                </a:solidFill>
                <a:latin typeface="Segoe UI"/>
              </a:rPr>
              <a:t>Suppose you assign four teams of ten developers each to two conditions and analyse 40 individual results as if independent. You have reported a sample size of 40 when the design supports 4.</a:t>
            </a:r>
          </a:p>
        </p:txBody>
      </p:sp>
      <p:sp>
        <p:nvSpPr>
          <p:cNvPr id="13" name="Rectangle 12"/>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5" name="TextBox 14"/>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Three Features, and Only the Third Is Optional</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3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Three Designs, and the Price of Each</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Three Designs, and the Price of Each</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Three experimental designs. The choice is almost always forced by how many subjects you can actually recruit, which is why Ch.</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Three Designs, and the Price of Each</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Human Subjects: the Students Question</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Human Subjects: the Students Question</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How to answer it in your thesis</a:t>
            </a:r>
          </a:p>
          <a:p>
            <a:r>
              <a:rPr sz="1400" b="0" i="0">
                <a:solidFill>
                  <a:srgbClr val="1C2833"/>
                </a:solidFill>
                <a:latin typeface="Segoe UI"/>
              </a:rPr>
              <a:t>Do not claim students are equivalent to professionals. Do the following instead, and the objection loses most of its force: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Human Subjects: the Students Question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Pilot First. Always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Pilot First. Always</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Write and run the analysis script on pilot data</a:t>
            </a:r>
          </a:p>
          <a:p>
            <a:r>
              <a:rPr sz="1400" b="0" i="0">
                <a:solidFill>
                  <a:srgbClr val="1C2833"/>
                </a:solidFill>
                <a:latin typeface="Segoe UI"/>
              </a:rPr>
              <a:t>Run your full analysis on the pilot data — or on simulated data with the same shape — before collecting anything real. If the script produces a number, the design and the analysis are compatible.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Pilot First. Always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WORKED EXAMPLE</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A 3×3 Latin square for treatments and objects</a:t>
            </a:r>
          </a:p>
        </p:txBody>
      </p:sp>
      <p:sp>
        <p:nvSpPr>
          <p:cNvPr id="7" name="Rectangle 6"/>
          <p:cNvSpPr/>
          <p:nvPr/>
        </p:nvSpPr>
        <p:spPr>
          <a:xfrm>
            <a:off x="777240" y="3040380"/>
            <a:ext cx="10637215" cy="12344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0403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3241548"/>
            <a:ext cx="9997135" cy="832104"/>
          </a:xfrm>
          <a:prstGeom prst="rect">
            <a:avLst/>
          </a:prstGeom>
          <a:noFill/>
        </p:spPr>
        <p:txBody>
          <a:bodyPr wrap="square" anchor="t" lIns="0" rIns="0" tIns="0" bIns="0">
            <a:spAutoFit/>
          </a:bodyPr>
          <a:lstStyle/>
          <a:p>
            <a:pPr>
              <a:spcAft>
                <a:spcPts val="1000"/>
              </a:spcAft>
            </a:pPr>
            <a:r>
              <a:rPr sz="1500" b="0" i="0">
                <a:solidFill>
                  <a:srgbClr val="1C2833"/>
                </a:solidFill>
                <a:latin typeface="Segoe UI"/>
              </a:rPr>
              <a:t>Three review techniques (T1, T2, T3), three code artefacts (O1, O2, O3), and subjects assigned to three groups. Each group sees every technique and every artefact, and no group sees the same pairing.</a:t>
            </a:r>
          </a:p>
        </p:txBody>
      </p:sp>
      <p:sp>
        <p:nvSpPr>
          <p:cNvPr id="10" name="TextBox 9"/>
          <p:cNvSpPr txBox="1"/>
          <p:nvPr/>
        </p:nvSpPr>
        <p:spPr>
          <a:xfrm>
            <a:off x="777240" y="4421124"/>
            <a:ext cx="10637215" cy="365760"/>
          </a:xfrm>
          <a:prstGeom prst="rect">
            <a:avLst/>
          </a:prstGeom>
          <a:noFill/>
        </p:spPr>
        <p:txBody>
          <a:bodyPr wrap="square" anchor="t" lIns="0" rIns="0" tIns="0" bIns="0">
            <a:spAutoFit/>
          </a:bodyPr>
          <a:lstStyle/>
          <a:p>
            <a:r>
              <a:rPr sz="1100" b="0" i="1">
                <a:solidFill>
                  <a:srgbClr val="707B7C"/>
                </a:solidFill>
                <a:latin typeface="Segoe UI"/>
              </a:rPr>
              <a:t>Constructed for teaching — the numbers are invented, as in the handout.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Worked example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4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35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Five ways experiments in our field go wrong</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1" i="0">
                <a:solidFill>
                  <a:srgbClr val="0E4D64"/>
                </a:solidFill>
                <a:latin typeface="Segoe UI"/>
              </a:rPr>
              <a:t>Analysis at the wrong level. </a:t>
            </a:r>
            <a:r>
              <a:rPr sz="1500" b="0" i="0">
                <a:solidFill>
                  <a:srgbClr val="1C2833"/>
                </a:solidFill>
                <a:latin typeface="Segoe UI"/>
              </a:rPr>
              <a:t>Randomising teams, analysing individuals.</a:t>
            </a:r>
          </a:p>
          <a:p>
            <a:pPr>
              <a:spcAft>
                <a:spcPts val="1500"/>
              </a:spcAft>
            </a:pPr>
            <a:r>
              <a:rPr sz="1500" b="1" i="0">
                <a:solidFill>
                  <a:srgbClr val="C84B31"/>
                </a:solidFill>
                <a:latin typeface="Segoe UI"/>
              </a:rPr>
              <a:t>✖  </a:t>
            </a:r>
            <a:r>
              <a:rPr sz="1500" b="1" i="0">
                <a:solidFill>
                  <a:srgbClr val="0E4D64"/>
                </a:solidFill>
                <a:latin typeface="Segoe UI"/>
              </a:rPr>
              <a:t>No power analysis. </a:t>
            </a:r>
            <a:r>
              <a:rPr sz="1500" b="0" i="0">
                <a:solidFill>
                  <a:srgbClr val="1C2833"/>
                </a:solidFill>
                <a:latin typeface="Segoe UI"/>
              </a:rPr>
              <a:t>Twelve subjects, an effect of d = 0.4, and a null result reported as “no difference”.</a:t>
            </a:r>
          </a:p>
          <a:p>
            <a:pPr>
              <a:spcAft>
                <a:spcPts val="1500"/>
              </a:spcAft>
            </a:pPr>
            <a:r>
              <a:rPr sz="1500" b="1" i="0">
                <a:solidFill>
                  <a:srgbClr val="C84B31"/>
                </a:solidFill>
                <a:latin typeface="Segoe UI"/>
              </a:rPr>
              <a:t>✖  </a:t>
            </a:r>
            <a:r>
              <a:rPr sz="1500" b="1" i="0">
                <a:solidFill>
                  <a:srgbClr val="0E4D64"/>
                </a:solidFill>
                <a:latin typeface="Segoe UI"/>
              </a:rPr>
              <a:t>An outdated or badly tuned baseline. </a:t>
            </a:r>
            <a:r>
              <a:rPr sz="1500" b="0" i="0">
                <a:solidFill>
                  <a:srgbClr val="1C2833"/>
                </a:solidFill>
                <a:latin typeface="Segoe UI"/>
              </a:rPr>
              <a:t>Your treatment beats a comparison nobody would use.</a:t>
            </a:r>
          </a:p>
          <a:p>
            <a:pPr>
              <a:spcAft>
                <a:spcPts val="1500"/>
              </a:spcAft>
            </a:pPr>
            <a:r>
              <a:rPr sz="1500" b="1" i="0">
                <a:solidFill>
                  <a:srgbClr val="C84B31"/>
                </a:solidFill>
                <a:latin typeface="Segoe UI"/>
              </a:rPr>
              <a:t>✖  </a:t>
            </a:r>
            <a:r>
              <a:rPr sz="1500" b="1" i="0">
                <a:solidFill>
                  <a:srgbClr val="0E4D64"/>
                </a:solidFill>
                <a:latin typeface="Segoe UI"/>
              </a:rPr>
              <a:t>Optional stopping. </a:t>
            </a:r>
            <a:r>
              <a:rPr sz="1500" b="0" i="0">
                <a:solidFill>
                  <a:srgbClr val="1C2833"/>
                </a:solidFill>
                <a:latin typeface="Segoe UI"/>
              </a:rPr>
              <a:t>Collecting until the result is significant is a way of guaranteeing significance (Ch. 26).</a:t>
            </a:r>
          </a:p>
          <a:p>
            <a:pPr>
              <a:spcAft>
                <a:spcPts val="1500"/>
              </a:spcAft>
            </a:pPr>
            <a:r>
              <a:rPr sz="1500" b="1" i="0">
                <a:solidFill>
                  <a:srgbClr val="C84B31"/>
                </a:solidFill>
                <a:latin typeface="Segoe UI"/>
              </a:rPr>
              <a:t>✖  </a:t>
            </a:r>
            <a:r>
              <a:rPr sz="1500" b="1" i="0">
                <a:solidFill>
                  <a:srgbClr val="0E4D64"/>
                </a:solidFill>
                <a:latin typeface="Segoe UI"/>
              </a:rPr>
              <a:t>Exclusions decided after seeing the data. </a:t>
            </a:r>
            <a:r>
              <a:rPr sz="1500" b="0" i="0">
                <a:solidFill>
                  <a:srgbClr val="1C2833"/>
                </a:solidFill>
                <a:latin typeface="Segoe UI"/>
              </a:rPr>
              <a:t>Removing outliers that inconveniently weaken the effect. Write the rule in advance and apply it blind to condition.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slide(fromLeft)">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slide(fromLeft)">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slide(fromLeft)">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slide(fromLeft)">
                                      <p:cBhvr>
                                        <p:cTn id="28" dur="3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the controlled experiment</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Its home. Manipulation plus randomisation is the strongest available warrant for a causal claim, and the price is artificiality.</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Experiments serve as summative artificial evaluation of an artefact (Ch. 9); the artefact is the treatment.</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Complements rather than competes: an experiment establishes that an effect occurred, and a qualitative strand explains why participants behaved as they did. This is a standard explanatory sequential design (Ch.</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Experiments do not settle formal questions, but they do tell you whether an asymptotic result matters at realistic input sizes — which is often the more useful question.</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Manipulation plus randomisation licenses a causal claim; control adds precision.</a:t>
            </a:r>
          </a:p>
          <a:p>
            <a:pPr>
              <a:spcAft>
                <a:spcPts val="1400"/>
              </a:spcAft>
            </a:pPr>
            <a:r>
              <a:rPr sz="1500" b="1" i="0">
                <a:solidFill>
                  <a:srgbClr val="C84B31"/>
                </a:solidFill>
                <a:latin typeface="Segoe UI"/>
              </a:rPr>
              <a:t>2. </a:t>
            </a:r>
            <a:r>
              <a:rPr sz="1500" b="0" i="0">
                <a:solidFill>
                  <a:srgbClr val="1C2833"/>
                </a:solidFill>
                <a:latin typeface="Segoe UI"/>
              </a:rPr>
              <a:t>Randomisation makes assignment independent of unknown confounders. Nothing else does this.</a:t>
            </a:r>
          </a:p>
          <a:p>
            <a:pPr>
              <a:spcAft>
                <a:spcPts val="1400"/>
              </a:spcAft>
            </a:pPr>
            <a:r>
              <a:rPr sz="1500" b="1" i="0">
                <a:solidFill>
                  <a:srgbClr val="C84B31"/>
                </a:solidFill>
                <a:latin typeface="Segoe UI"/>
              </a:rPr>
              <a:t>3. </a:t>
            </a:r>
            <a:r>
              <a:rPr sz="1500" b="0" i="0">
                <a:solidFill>
                  <a:srgbClr val="1C2833"/>
                </a:solidFill>
                <a:latin typeface="Segoe UI"/>
              </a:rPr>
              <a:t>Analyse at the unit of randomisation, or model the nesting. Randomising teams and counting individuals inflates significance.</a:t>
            </a:r>
          </a:p>
          <a:p>
            <a:pPr>
              <a:spcAft>
                <a:spcPts val="1400"/>
              </a:spcAft>
            </a:pPr>
            <a:r>
              <a:rPr sz="1500" b="1" i="0">
                <a:solidFill>
                  <a:srgbClr val="C84B31"/>
                </a:solidFill>
                <a:latin typeface="Segoe UI"/>
              </a:rPr>
              <a:t>4. </a:t>
            </a:r>
            <a:r>
              <a:rPr sz="1500" b="0" i="0">
                <a:solidFill>
                  <a:srgbClr val="1C2833"/>
                </a:solidFill>
                <a:latin typeface="Segoe UI"/>
              </a:rPr>
              <a:t>Between-subjects costs subjects; within-subjects costs carryover and must be counterbalanced; factorial costs cell size but reveals interaction.</a:t>
            </a:r>
          </a:p>
          <a:p>
            <a:pPr>
              <a:spcAft>
                <a:spcPts val="1400"/>
              </a:spcAft>
            </a:pPr>
            <a:r>
              <a:rPr sz="1500" b="1" i="0">
                <a:solidFill>
                  <a:srgbClr val="C84B31"/>
                </a:solidFill>
                <a:latin typeface="Segoe UI"/>
              </a:rPr>
              <a:t>5. </a:t>
            </a:r>
            <a:r>
              <a:rPr sz="1500" b="0" i="0">
                <a:solidFill>
                  <a:srgbClr val="1C2833"/>
                </a:solidFill>
                <a:latin typeface="Segoe UI"/>
              </a:rPr>
              <a:t>Latin squares balance order and material; they average away treatment-by-object interactions rather than detecting them.</a:t>
            </a:r>
          </a:p>
          <a:p>
            <a:pPr>
              <a:spcAft>
                <a:spcPts val="1400"/>
              </a:spcAft>
            </a:pPr>
            <a:r>
              <a:rPr sz="1500" b="1" i="0">
                <a:solidFill>
                  <a:srgbClr val="C84B31"/>
                </a:solidFill>
                <a:latin typeface="Segoe UI"/>
              </a:rPr>
              <a:t>6. </a:t>
            </a:r>
            <a:r>
              <a:rPr sz="1500" b="0" i="0">
                <a:solidFill>
                  <a:srgbClr val="1C2833"/>
                </a:solidFill>
                <a:latin typeface="Segoe UI"/>
              </a:rPr>
              <a:t>Characterise subjects rather than labelling them, state the target population, and put the inference limit in threats with a direction.</a:t>
            </a:r>
          </a:p>
          <a:p>
            <a:pPr>
              <a:spcAft>
                <a:spcPts val="1400"/>
              </a:spcAft>
            </a:pPr>
            <a:r>
              <a:rPr sz="1500" b="1" i="0">
                <a:solidFill>
                  <a:srgbClr val="C84B31"/>
                </a:solidFill>
                <a:latin typeface="Segoe UI"/>
              </a:rPr>
              <a:t>7. </a:t>
            </a:r>
            <a:r>
              <a:rPr sz="1500" b="0" i="0">
                <a:solidFill>
                  <a:srgbClr val="1C2833"/>
                </a:solidFill>
                <a:latin typeface="Segoe UI"/>
              </a:rPr>
              <a:t>Pilot, and run the real analysis script on pilot or simulated data before collecting anything.</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Controlled experiments are high in internal validity and low in external validity. For a specific question in your area, design a two-study programme in which each study's weakness is…</a:t>
            </a:r>
          </a:p>
          <a:p>
            <a:pPr>
              <a:spcAft>
                <a:spcPts val="1800"/>
              </a:spcAft>
            </a:pPr>
            <a:r>
              <a:rPr sz="1500" b="1" i="0">
                <a:solidFill>
                  <a:srgbClr val="C84B31"/>
                </a:solidFill>
                <a:latin typeface="Segoe UI"/>
              </a:rPr>
              <a:t>Q2  </a:t>
            </a:r>
            <a:r>
              <a:rPr sz="1500" b="0" i="0">
                <a:solidFill>
                  <a:srgbClr val="1C2833"/>
                </a:solidFill>
                <a:latin typeface="Segoe UI"/>
              </a:rPr>
              <a:t>The students-versus-professionals debate has run for two decades without resolution. Is it resolvable in principle? If yes, what evidence would settle it; if no, what should the field do…</a:t>
            </a:r>
          </a:p>
          <a:p>
            <a:pPr>
              <a:spcAft>
                <a:spcPts val="1800"/>
              </a:spcAft>
            </a:pPr>
            <a:r>
              <a:rPr sz="1500" b="1" i="0">
                <a:solidFill>
                  <a:srgbClr val="C84B31"/>
                </a:solidFill>
                <a:latin typeface="Segoe UI"/>
              </a:rPr>
              <a:t>Q3  </a:t>
            </a:r>
            <a:r>
              <a:rPr sz="1500" b="0" i="0">
                <a:solidFill>
                  <a:srgbClr val="1C2833"/>
                </a:solidFill>
                <a:latin typeface="Segoe UI"/>
              </a:rPr>
              <a:t>Optional stopping is prohibited in frequentist analysis but is acceptable under some sequential and Bayesian designs. Explain why the difference exists, and whether it offers a practical…</a:t>
            </a:r>
          </a:p>
          <a:p>
            <a:pPr>
              <a:spcAft>
                <a:spcPts val="1800"/>
              </a:spcAft>
            </a:pPr>
            <a:r>
              <a:rPr sz="1500" b="1" i="0">
                <a:solidFill>
                  <a:srgbClr val="C84B31"/>
                </a:solidFill>
                <a:latin typeface="Segoe UI"/>
              </a:rPr>
              <a:t>Q4  </a:t>
            </a:r>
            <a:r>
              <a:rPr sz="1500" b="0" i="0">
                <a:solidFill>
                  <a:srgbClr val="1C2833"/>
                </a:solidFill>
                <a:latin typeface="Segoe UI"/>
              </a:rPr>
              <a:t>An experiment finds no effect with adequate power. Describe how you would write this up so that it is publishable, and identify the features of the reviewing system that make that difficult.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10 · Controlled Experiments in Software Engineering and HCI</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10</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11 — Quasi-Experiments and Repository Mining</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