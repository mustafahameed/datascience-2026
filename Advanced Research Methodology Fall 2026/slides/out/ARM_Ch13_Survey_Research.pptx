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Survey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3 — Research Designs for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Separate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population, sampling frame and achieved sample, and say what each limits.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Choose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sampling method and state honestly what inference it supports.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Diagnose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nonresponse bias, and explain why response rate alone does not measure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items free of the six common wording faults.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Decide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whether to adopt a validated instrument or build one.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survey to a recognised standard.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population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sampling frame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coverage error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probability sampling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stratified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cluster sampling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convenience sampling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snowball sampling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response rate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nonresponse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Likert item and Likert scale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double-barrelled question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social desirability bias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cognitive interview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a Survey Can and Cannot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a Survey Can and Cannot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A survey measures what a population reports about itself at one point in time. That is genuinely valuable — attitudes, practices, perceptions and self-reported behaviour are often exactly what you need to know, and no other method gets them at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What a Survey Can and Cannot Do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Population, Frame, 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Population, Frame,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Three different things, routinely conflated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population is who you want to say something about — “professional software developers in Pakistan”. The sampling frame is the list you can actually draw from — members of three professional groups on a messaging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confidence interval does not know about coverage error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survey of 400 developers recruited from one online community can report a margin of error of about five percentage points. That number describes sampling error within the frame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Population, Frame, Sample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Sampling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Non-probability sampling is not disqualifying; pretending otherwise is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Almost every software engineering survey uses convenience or snowball sampling, because no sampling frame for “software developers” exists. That is a real constraint, not a personal failing.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Sampling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Nonresponse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Nonresponse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Response rate is a weak proxy for the thing you actually care about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standard reflex is to worry about response rate. What matters is nonresponse bias — whether responders differ from non-responders on the variables you are measuring.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Nonresponse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Writing Items That Measure Something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Writing Items That Measure Something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Adopt a validated instrument if one exists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If you are measuring technology acceptance, usability, workload or job satisfaction, validated instruments exist — UTAUT2 , SUS, NASA-TLX and others. Use them, unmodified, and cite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Writing Items That Measure Something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For internet surveys the CHERRIES checklist is a usable reporting standard, and Kitchenham and Pfleeger's series remains the software engineering reference 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Reporting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survey that measured nothing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The characteristic failure: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300 responses, a 4.1 out of 5 mean agreement that “documentation is important”, and no finding.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the survey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Estimates a population quantity with quantified uncertainty — when probability sampling is possible. When it is not, the survey is descriptive and the write-up must say 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Surveys practitioners to characterise the problem before designing, and to gather perceived-utility evidence afterwards — which is formative naturalistic evaluation, and weak as summative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Open-ended responses are qualitative data and deserve real analysis (Ch. 23), not a word cloud.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Little role, except that survey sampling theory is itself a formal subject and design effects are computed, not guessed.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Surveys measure reported attitudes and practices at one time. They do not establish causation and do not measure behaviour.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Population, frame and achieved sample are three things. Coverage error usually dominates sampling error in our field, and the confidence interval does not know…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Non-probability sampling is normal and acceptable; claiming representativeness for it is not.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Nonresponse bias, not response rate, is what matters. Check it with wave analysis, frame comparison or follow-up.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Six wording faults account for most bad items. Behaviourally anchor anything socially loaded.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Several items per construct if you want to treat it as continuous. Adopt validated instruments unmodified where they exist.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Cognitive interviews are the highest-value hour in survey 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No sampling frame exists for “software developers”. Given that, is probability sampling ever achievable in software engineering survey research? If so, describe a setting where it is; if…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Self-report and trace data on the same behaviour frequently disagree. Design a study that would establish the size and direction of that gap for one specific practice, and say what it would…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Adopting a validated instrument imports its construct definition, which may have been developed in a different culture and language. Discuss the trade-off for research in Pakistan, and…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§14.3(B) asks for external validity in both ecological and population senses. For a convenience-sampled survey, what is the most defensible thing a dissertation can claim, and…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13 · Survey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14 — Qualitative Methods and Coding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