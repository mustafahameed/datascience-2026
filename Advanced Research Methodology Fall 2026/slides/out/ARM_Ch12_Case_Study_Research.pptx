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985455" y="0"/>
            <a:ext cx="4206240"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05840" y="1371600"/>
            <a:ext cx="6766560" cy="365760"/>
          </a:xfrm>
          <a:prstGeom prst="rect">
            <a:avLst/>
          </a:prstGeom>
          <a:noFill/>
        </p:spPr>
        <p:txBody>
          <a:bodyPr wrap="square" anchor="t" lIns="0" rIns="0" tIns="0" bIns="0">
            <a:spAutoFit/>
          </a:bodyPr>
          <a:lstStyle/>
          <a:p>
            <a:r>
              <a:rPr sz="1400" b="1" i="0">
                <a:solidFill>
                  <a:srgbClr val="E8F6F3"/>
                </a:solidFill>
                <a:latin typeface="Segoe UI"/>
              </a:rPr>
              <a:t>CHAPTER 12</a:t>
            </a:r>
          </a:p>
        </p:txBody>
      </p:sp>
      <p:sp>
        <p:nvSpPr>
          <p:cNvPr id="6" name="TextBox 5"/>
          <p:cNvSpPr txBox="1"/>
          <p:nvPr/>
        </p:nvSpPr>
        <p:spPr>
          <a:xfrm>
            <a:off x="1005840" y="1828800"/>
            <a:ext cx="6675120" cy="2194560"/>
          </a:xfrm>
          <a:prstGeom prst="rect">
            <a:avLst/>
          </a:prstGeom>
          <a:noFill/>
        </p:spPr>
        <p:txBody>
          <a:bodyPr wrap="square" anchor="t" lIns="0" rIns="0" tIns="0" bIns="0">
            <a:spAutoFit/>
          </a:bodyPr>
          <a:lstStyle/>
          <a:p>
            <a:r>
              <a:rPr sz="4000" b="1" i="0">
                <a:solidFill>
                  <a:srgbClr val="FFFFFF"/>
                </a:solidFill>
                <a:latin typeface="Georgia"/>
              </a:rPr>
              <a:t>Case Study Research</a:t>
            </a:r>
          </a:p>
        </p:txBody>
      </p:sp>
      <p:sp>
        <p:nvSpPr>
          <p:cNvPr id="7" name="Rectangle 6"/>
          <p:cNvSpPr/>
          <p:nvPr/>
        </p:nvSpPr>
        <p:spPr>
          <a:xfrm>
            <a:off x="1005840" y="4206240"/>
            <a:ext cx="118872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4480560"/>
            <a:ext cx="6675120" cy="914400"/>
          </a:xfrm>
          <a:prstGeom prst="rect">
            <a:avLst/>
          </a:prstGeom>
          <a:noFill/>
        </p:spPr>
        <p:txBody>
          <a:bodyPr wrap="square" anchor="t" lIns="0" rIns="0" tIns="0" bIns="0">
            <a:spAutoFit/>
          </a:bodyPr>
          <a:lstStyle/>
          <a:p>
            <a:r>
              <a:rPr sz="1600" b="0" i="0">
                <a:solidFill>
                  <a:srgbClr val="E8F6F3"/>
                </a:solidFill>
                <a:latin typeface="Segoe UI"/>
              </a:rPr>
              <a:t>Part 3 — Research Designs for Computing</a:t>
            </a:r>
          </a:p>
          <a:p>
            <a:r>
              <a:rPr sz="1300" b="0" i="1">
                <a:solidFill>
                  <a:srgbClr val="E8F6F3"/>
                </a:solidFill>
                <a:latin typeface="Segoe UI"/>
              </a:rPr>
              <a:t>Advanced Research Methodology · Fall 2026</a:t>
            </a:r>
          </a:p>
        </p:txBody>
      </p:sp>
      <p:sp>
        <p:nvSpPr>
          <p:cNvPr id="9" name="TextBox 8"/>
          <p:cNvSpPr txBox="1"/>
          <p:nvPr/>
        </p:nvSpPr>
        <p:spPr>
          <a:xfrm>
            <a:off x="8442656" y="2194560"/>
            <a:ext cx="2834640" cy="2743200"/>
          </a:xfrm>
          <a:prstGeom prst="rect">
            <a:avLst/>
          </a:prstGeom>
          <a:noFill/>
        </p:spPr>
        <p:txBody>
          <a:bodyPr wrap="square" anchor="t" lIns="0" rIns="0" tIns="0" bIns="0">
            <a:spAutoFit/>
          </a:bodyPr>
          <a:lstStyle/>
          <a:p>
            <a:r>
              <a:rPr sz="1500" b="1" i="0">
                <a:solidFill>
                  <a:srgbClr val="FFFFFF"/>
                </a:solidFill>
                <a:latin typeface="Segoe UI"/>
              </a:rPr>
              <a:t>MS IT / PhD IT</a:t>
            </a:r>
          </a:p>
          <a:p>
            <a:pPr>
              <a:spcBef>
                <a:spcPts val="600"/>
              </a:spcBef>
            </a:pPr>
            <a:r>
              <a:rPr sz="1200" b="0" i="0">
                <a:solidFill>
                  <a:srgbClr val="E8F6F3"/>
                </a:solidFill>
                <a:latin typeface="Segoe UI"/>
              </a:rPr>
              <a:t>Department of Information Technology
The Islamia University of Bahawalpur</a:t>
            </a:r>
          </a:p>
          <a:p>
            <a:pPr>
              <a:spcBef>
                <a:spcPts val="1400"/>
              </a:spcBef>
            </a:pPr>
            <a:r>
              <a:rPr sz="1200" b="0" i="0">
                <a:solidFill>
                  <a:srgbClr val="E8F6F3"/>
                </a:solidFill>
                <a:latin typeface="Segoe UI"/>
              </a:rPr>
              <a:t>Fall 2026</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6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right)">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LEARNING OUTCOMES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By the end of this chapter</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700" b="1" i="0">
                <a:solidFill>
                  <a:srgbClr val="C84B31"/>
                </a:solidFill>
                <a:latin typeface="Segoe UI"/>
              </a:rPr>
              <a:t>▸  </a:t>
            </a:r>
            <a:r>
              <a:rPr sz="1700" b="1" i="0">
                <a:solidFill>
                  <a:srgbClr val="0E4D64"/>
                </a:solidFill>
                <a:latin typeface="Segoe UI"/>
              </a:rPr>
              <a:t>Distinguish </a:t>
            </a:r>
            <a:r>
              <a:rPr sz="1700" b="0" i="0">
                <a:solidFill>
                  <a:srgbClr val="1C2833"/>
                </a:solidFill>
                <a:latin typeface="Segoe UI"/>
              </a:rPr>
              <a:t>a case study from an example, a pilot and a small survey.</a:t>
            </a:r>
          </a:p>
          <a:p>
            <a:pPr>
              <a:spcAft>
                <a:spcPts val="1400"/>
              </a:spcAft>
            </a:pPr>
            <a:r>
              <a:rPr sz="1700" b="1" i="0">
                <a:solidFill>
                  <a:srgbClr val="C84B31"/>
                </a:solidFill>
                <a:latin typeface="Segoe UI"/>
              </a:rPr>
              <a:t>▸  </a:t>
            </a:r>
            <a:r>
              <a:rPr sz="1700" b="1" i="0">
                <a:solidFill>
                  <a:srgbClr val="0E4D64"/>
                </a:solidFill>
                <a:latin typeface="Segoe UI"/>
              </a:rPr>
              <a:t>Define </a:t>
            </a:r>
            <a:r>
              <a:rPr sz="1700" b="0" i="0">
                <a:solidFill>
                  <a:srgbClr val="1C2833"/>
                </a:solidFill>
                <a:latin typeface="Segoe UI"/>
              </a:rPr>
              <a:t>the unit of analysis and choose between holistic and embedded designs.</a:t>
            </a:r>
          </a:p>
          <a:p>
            <a:pPr>
              <a:spcAft>
                <a:spcPts val="1400"/>
              </a:spcAft>
            </a:pPr>
            <a:r>
              <a:rPr sz="1700" b="1" i="0">
                <a:solidFill>
                  <a:srgbClr val="C84B31"/>
                </a:solidFill>
                <a:latin typeface="Segoe UI"/>
              </a:rPr>
              <a:t>▸  </a:t>
            </a:r>
            <a:r>
              <a:rPr sz="1700" b="1" i="0">
                <a:solidFill>
                  <a:srgbClr val="0E4D64"/>
                </a:solidFill>
                <a:latin typeface="Segoe UI"/>
              </a:rPr>
              <a:t>Select </a:t>
            </a:r>
            <a:r>
              <a:rPr sz="1700" b="0" i="0">
                <a:solidFill>
                  <a:srgbClr val="1C2833"/>
                </a:solidFill>
                <a:latin typeface="Segoe UI"/>
              </a:rPr>
              <a:t>cases on theoretical grounds and defend the selection.</a:t>
            </a:r>
          </a:p>
          <a:p>
            <a:pPr>
              <a:spcAft>
                <a:spcPts val="1400"/>
              </a:spcAft>
            </a:pPr>
            <a:r>
              <a:rPr sz="1700" b="1" i="0">
                <a:solidFill>
                  <a:srgbClr val="C84B31"/>
                </a:solidFill>
                <a:latin typeface="Segoe UI"/>
              </a:rPr>
              <a:t>▸  </a:t>
            </a:r>
            <a:r>
              <a:rPr sz="1700" b="1" i="0">
                <a:solidFill>
                  <a:srgbClr val="0E4D64"/>
                </a:solidFill>
                <a:latin typeface="Segoe UI"/>
              </a:rPr>
              <a:t>Maintain </a:t>
            </a:r>
            <a:r>
              <a:rPr sz="1700" b="0" i="0">
                <a:solidFill>
                  <a:srgbClr val="1C2833"/>
                </a:solidFill>
                <a:latin typeface="Segoe UI"/>
              </a:rPr>
              <a:t>a chain of evidence from research question to conclusion.</a:t>
            </a:r>
          </a:p>
          <a:p>
            <a:pPr>
              <a:spcAft>
                <a:spcPts val="1400"/>
              </a:spcAft>
            </a:pPr>
            <a:r>
              <a:rPr sz="1700" b="1" i="0">
                <a:solidFill>
                  <a:srgbClr val="C84B31"/>
                </a:solidFill>
                <a:latin typeface="Segoe UI"/>
              </a:rPr>
              <a:t>▸  </a:t>
            </a:r>
            <a:r>
              <a:rPr sz="1700" b="1" i="0">
                <a:solidFill>
                  <a:srgbClr val="0E4D64"/>
                </a:solidFill>
                <a:latin typeface="Segoe UI"/>
              </a:rPr>
              <a:t>Argue </a:t>
            </a:r>
            <a:r>
              <a:rPr sz="1700" b="0" i="0">
                <a:solidFill>
                  <a:srgbClr val="1C2833"/>
                </a:solidFill>
                <a:latin typeface="Segoe UI"/>
              </a:rPr>
              <a:t>analytic generalisation without claiming statistical generalisation.</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12 · Case Study Research</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Outcomes</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5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wipe(up)">
                                      <p:cBhvr>
                                        <p:cTn id="28" dur="35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KEY TERMS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vocabulary of this chapter</a:t>
            </a:r>
          </a:p>
        </p:txBody>
      </p:sp>
      <p:sp>
        <p:nvSpPr>
          <p:cNvPr id="7" name="TextBox 6"/>
          <p:cNvSpPr txBox="1"/>
          <p:nvPr/>
        </p:nvSpPr>
        <p:spPr>
          <a:xfrm>
            <a:off x="777240"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case study</a:t>
            </a:r>
          </a:p>
          <a:p>
            <a:pPr>
              <a:spcAft>
                <a:spcPts val="1100"/>
              </a:spcAft>
            </a:pPr>
            <a:r>
              <a:rPr sz="1400" b="0" i="0">
                <a:solidFill>
                  <a:srgbClr val="C84B31"/>
                </a:solidFill>
                <a:latin typeface="Segoe UI"/>
              </a:rPr>
              <a:t>▪  </a:t>
            </a:r>
            <a:r>
              <a:rPr sz="1400" b="0" i="0">
                <a:solidFill>
                  <a:srgbClr val="1C2833"/>
                </a:solidFill>
                <a:latin typeface="Segoe UI"/>
              </a:rPr>
              <a:t>unit of analysis</a:t>
            </a:r>
          </a:p>
          <a:p>
            <a:pPr>
              <a:spcAft>
                <a:spcPts val="1100"/>
              </a:spcAft>
            </a:pPr>
            <a:r>
              <a:rPr sz="1400" b="0" i="0">
                <a:solidFill>
                  <a:srgbClr val="C84B31"/>
                </a:solidFill>
                <a:latin typeface="Segoe UI"/>
              </a:rPr>
              <a:t>▪  </a:t>
            </a:r>
            <a:r>
              <a:rPr sz="1400" b="0" i="0">
                <a:solidFill>
                  <a:srgbClr val="1C2833"/>
                </a:solidFill>
                <a:latin typeface="Segoe UI"/>
              </a:rPr>
              <a:t>holistic and embedded design</a:t>
            </a:r>
          </a:p>
          <a:p>
            <a:pPr>
              <a:spcAft>
                <a:spcPts val="1100"/>
              </a:spcAft>
            </a:pPr>
            <a:r>
              <a:rPr sz="1400" b="0" i="0">
                <a:solidFill>
                  <a:srgbClr val="C84B31"/>
                </a:solidFill>
                <a:latin typeface="Segoe UI"/>
              </a:rPr>
              <a:t>▪  </a:t>
            </a:r>
            <a:r>
              <a:rPr sz="1400" b="0" i="0">
                <a:solidFill>
                  <a:srgbClr val="1C2833"/>
                </a:solidFill>
                <a:latin typeface="Segoe UI"/>
              </a:rPr>
              <a:t>single and multiple case</a:t>
            </a:r>
          </a:p>
        </p:txBody>
      </p:sp>
      <p:sp>
        <p:nvSpPr>
          <p:cNvPr id="8" name="TextBox 7"/>
          <p:cNvSpPr txBox="1"/>
          <p:nvPr/>
        </p:nvSpPr>
        <p:spPr>
          <a:xfrm>
            <a:off x="4383938"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proposition</a:t>
            </a:r>
          </a:p>
          <a:p>
            <a:pPr>
              <a:spcAft>
                <a:spcPts val="1100"/>
              </a:spcAft>
            </a:pPr>
            <a:r>
              <a:rPr sz="1400" b="0" i="0">
                <a:solidFill>
                  <a:srgbClr val="C84B31"/>
                </a:solidFill>
                <a:latin typeface="Segoe UI"/>
              </a:rPr>
              <a:t>▪  </a:t>
            </a:r>
            <a:r>
              <a:rPr sz="1400" b="0" i="0">
                <a:solidFill>
                  <a:srgbClr val="1C2833"/>
                </a:solidFill>
                <a:latin typeface="Segoe UI"/>
              </a:rPr>
              <a:t>theoretical replication</a:t>
            </a:r>
          </a:p>
          <a:p>
            <a:pPr>
              <a:spcAft>
                <a:spcPts val="1100"/>
              </a:spcAft>
            </a:pPr>
            <a:r>
              <a:rPr sz="1400" b="0" i="0">
                <a:solidFill>
                  <a:srgbClr val="C84B31"/>
                </a:solidFill>
                <a:latin typeface="Segoe UI"/>
              </a:rPr>
              <a:t>▪  </a:t>
            </a:r>
            <a:r>
              <a:rPr sz="1400" b="0" i="0">
                <a:solidFill>
                  <a:srgbClr val="1C2833"/>
                </a:solidFill>
                <a:latin typeface="Segoe UI"/>
              </a:rPr>
              <a:t>literal replication</a:t>
            </a:r>
          </a:p>
          <a:p>
            <a:pPr>
              <a:spcAft>
                <a:spcPts val="1100"/>
              </a:spcAft>
            </a:pPr>
            <a:r>
              <a:rPr sz="1400" b="0" i="0">
                <a:solidFill>
                  <a:srgbClr val="C84B31"/>
                </a:solidFill>
                <a:latin typeface="Segoe UI"/>
              </a:rPr>
              <a:t>▪  </a:t>
            </a:r>
            <a:r>
              <a:rPr sz="1400" b="0" i="0">
                <a:solidFill>
                  <a:srgbClr val="1C2833"/>
                </a:solidFill>
                <a:latin typeface="Segoe UI"/>
              </a:rPr>
              <a:t>chain of evidence</a:t>
            </a:r>
          </a:p>
        </p:txBody>
      </p:sp>
      <p:sp>
        <p:nvSpPr>
          <p:cNvPr id="9" name="TextBox 8"/>
          <p:cNvSpPr txBox="1"/>
          <p:nvPr/>
        </p:nvSpPr>
        <p:spPr>
          <a:xfrm>
            <a:off x="7990636"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triangulation</a:t>
            </a:r>
          </a:p>
          <a:p>
            <a:pPr>
              <a:spcAft>
                <a:spcPts val="1100"/>
              </a:spcAft>
            </a:pPr>
            <a:r>
              <a:rPr sz="1400" b="0" i="0">
                <a:solidFill>
                  <a:srgbClr val="C84B31"/>
                </a:solidFill>
                <a:latin typeface="Segoe UI"/>
              </a:rPr>
              <a:t>▪  </a:t>
            </a:r>
            <a:r>
              <a:rPr sz="1400" b="0" i="0">
                <a:solidFill>
                  <a:srgbClr val="1C2833"/>
                </a:solidFill>
                <a:latin typeface="Segoe UI"/>
              </a:rPr>
              <a:t>pattern matching</a:t>
            </a:r>
          </a:p>
          <a:p>
            <a:pPr>
              <a:spcAft>
                <a:spcPts val="1100"/>
              </a:spcAft>
            </a:pPr>
            <a:r>
              <a:rPr sz="1400" b="0" i="0">
                <a:solidFill>
                  <a:srgbClr val="C84B31"/>
                </a:solidFill>
                <a:latin typeface="Segoe UI"/>
              </a:rPr>
              <a:t>▪  </a:t>
            </a:r>
            <a:r>
              <a:rPr sz="1400" b="0" i="0">
                <a:solidFill>
                  <a:srgbClr val="1C2833"/>
                </a:solidFill>
                <a:latin typeface="Segoe UI"/>
              </a:rPr>
              <a:t>analytic generalisation</a:t>
            </a:r>
          </a:p>
          <a:p>
            <a:pPr>
              <a:spcAft>
                <a:spcPts val="1100"/>
              </a:spcAft>
            </a:pPr>
            <a:r>
              <a:rPr sz="1400" b="0" i="0">
                <a:solidFill>
                  <a:srgbClr val="C84B31"/>
                </a:solidFill>
                <a:latin typeface="Segoe UI"/>
              </a:rPr>
              <a:t>▪  </a:t>
            </a:r>
            <a:r>
              <a:rPr sz="1400" b="0" i="0">
                <a:solidFill>
                  <a:srgbClr val="1C2833"/>
                </a:solidFill>
                <a:latin typeface="Segoe UI"/>
              </a:rPr>
              <a:t>case study database</a:t>
            </a:r>
          </a:p>
        </p:txBody>
      </p:sp>
      <p:sp>
        <p:nvSpPr>
          <p:cNvPr id="10" name="Rectangle 9"/>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12 · Case Study Research</a:t>
            </a: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Key terms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400"/>
                                        <p:tgtEl>
                                          <p:spTgt spid="7"/>
                                        </p:tgtEl>
                                      </p:cBhvr>
                                    </p:animEffect>
                                  </p:childTnLst>
                                </p:cTn>
                              </p:par>
                              <p:par>
                                <p:cTn id="9" presetID="2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zoom(in)">
                                      <p:cBhvr>
                                        <p:cTn id="11" dur="400"/>
                                        <p:tgtEl>
                                          <p:spTgt spid="8"/>
                                        </p:tgtEl>
                                      </p:cBhvr>
                                    </p:animEffect>
                                  </p:childTnLst>
                                </p:cTn>
                              </p:par>
                              <p:par>
                                <p:cTn id="12" presetID="23" presetClass="entr" presetSubtype="16"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zoom(in)">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1 OF 6</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The Most Abused Term in Computing Research</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3 · CH. 12</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Most Abused Term in Computing Research</a:t>
            </a:r>
          </a:p>
        </p:txBody>
      </p:sp>
      <p:sp>
        <p:nvSpPr>
          <p:cNvPr id="7" name="Rectangle 6"/>
          <p:cNvSpPr/>
          <p:nvPr/>
        </p:nvSpPr>
        <p:spPr>
          <a:xfrm>
            <a:off x="777240" y="3282696"/>
            <a:ext cx="54864" cy="1207008"/>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C84B31"/>
                </a:solidFill>
                <a:latin typeface="Segoe UI"/>
              </a:rPr>
              <a:t>DEFINITION   </a:t>
            </a:r>
            <a:r>
              <a:rPr sz="1700" b="1" i="0">
                <a:solidFill>
                  <a:srgbClr val="0E4D64"/>
                </a:solidFill>
                <a:latin typeface="Segoe UI"/>
              </a:rPr>
              <a:t>Case study</a:t>
            </a:r>
          </a:p>
          <a:p>
            <a:r>
              <a:rPr sz="1400" b="0" i="0">
                <a:solidFill>
                  <a:srgbClr val="1C2833"/>
                </a:solidFill>
                <a:latin typeface="Segoe UI"/>
              </a:rPr>
              <a:t>An empirical investigation of a contemporary phenomenon in its real-life context, especially where the boundary between phenomenon and context is not clear, using multiple sources of evidence.</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12 · Case Study Research</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The Most Abused Term in Computing Research</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2 OF 6</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Design: Two Choices That Determine Everything</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3 · CH. 12</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Design: Two Choices That Determine Everything</a:t>
            </a:r>
          </a:p>
        </p:txBody>
      </p:sp>
      <p:sp>
        <p:nvSpPr>
          <p:cNvPr id="7" name="Rectangle 6"/>
          <p:cNvSpPr/>
          <p:nvPr/>
        </p:nvSpPr>
        <p:spPr>
          <a:xfrm>
            <a:off x="777240" y="3282696"/>
            <a:ext cx="54864" cy="12070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B7950B"/>
                </a:solidFill>
                <a:latin typeface="Segoe UI"/>
              </a:rPr>
              <a:t>WATCH OUT   </a:t>
            </a:r>
            <a:r>
              <a:rPr sz="1700" b="1" i="0">
                <a:solidFill>
                  <a:srgbClr val="0E4D64"/>
                </a:solidFill>
                <a:latin typeface="Segoe UI"/>
              </a:rPr>
              <a:t>A single case needs an explicit justification</a:t>
            </a:r>
          </a:p>
          <a:p>
            <a:r>
              <a:rPr sz="1400" b="0" i="0">
                <a:solidFill>
                  <a:srgbClr val="1C2833"/>
                </a:solidFill>
                <a:latin typeface="Segoe UI"/>
              </a:rPr>
              <a:t>Single-case designs are legitimate, and Yin gives five grounds: the case is critical (it tests a well-formed theory), extreme or unusual, common (and therefore informative about ordinary situations), revelatory (previously…</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12 · Case Study Research</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Design: Two Choices That Determine Everything</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3 OF 6</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Propositions and the Chain of Evidence</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3 · CH. 12</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Propositions and the Chain of Evidence</a:t>
            </a:r>
          </a:p>
        </p:txBody>
      </p:sp>
      <p:sp>
        <p:nvSpPr>
          <p:cNvPr id="7" name="Rectangle 6"/>
          <p:cNvSpPr/>
          <p:nvPr/>
        </p:nvSpPr>
        <p:spPr>
          <a:xfrm>
            <a:off x="777240" y="257403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257403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Exploratory case studies have questions, not propositions</a:t>
            </a:r>
          </a:p>
          <a:p>
            <a:r>
              <a:rPr sz="1400" b="0" i="0">
                <a:solidFill>
                  <a:srgbClr val="1C2833"/>
                </a:solidFill>
                <a:latin typeface="Segoe UI"/>
              </a:rPr>
              <a:t>If the study is genuinely exploratory, say so and state what you will look at instead of what you expect. What you must not do is write propositions after data collection and present them as though they guided it.</a:t>
            </a:r>
          </a:p>
        </p:txBody>
      </p:sp>
      <p:sp>
        <p:nvSpPr>
          <p:cNvPr id="9" name="Rectangle 8"/>
          <p:cNvSpPr/>
          <p:nvPr/>
        </p:nvSpPr>
        <p:spPr>
          <a:xfrm>
            <a:off x="777240" y="3991356"/>
            <a:ext cx="54864" cy="12070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33272" y="3991356"/>
            <a:ext cx="10381183" cy="1207008"/>
          </a:xfrm>
          <a:prstGeom prst="rect">
            <a:avLst/>
          </a:prstGeom>
          <a:noFill/>
        </p:spPr>
        <p:txBody>
          <a:bodyPr wrap="square" anchor="t" lIns="0" rIns="0" tIns="0" bIns="0">
            <a:spAutoFit/>
          </a:bodyPr>
          <a:lstStyle/>
          <a:p>
            <a:pPr>
              <a:spcAft>
                <a:spcPts val="400"/>
              </a:spcAft>
            </a:pPr>
            <a:r>
              <a:rPr sz="1000" b="1" i="0">
                <a:solidFill>
                  <a:srgbClr val="B7950B"/>
                </a:solidFill>
                <a:latin typeface="Segoe UI"/>
              </a:rPr>
              <a:t>WATCH OUT   </a:t>
            </a:r>
            <a:r>
              <a:rPr sz="1700" b="1" i="0">
                <a:solidFill>
                  <a:srgbClr val="0E4D64"/>
                </a:solidFill>
                <a:latin typeface="Segoe UI"/>
              </a:rPr>
              <a:t>The case study database is what makes this auditable</a:t>
            </a:r>
          </a:p>
          <a:p>
            <a:r>
              <a:rPr sz="1400" b="0" i="0">
                <a:solidFill>
                  <a:srgbClr val="1C2833"/>
                </a:solidFill>
                <a:latin typeface="Segoe UI"/>
              </a:rPr>
              <a:t>Keeping the raw evidence separate from your interpretation of it is the qualitative equivalent of publishing your data (Ch. 25).</a:t>
            </a:r>
          </a:p>
        </p:txBody>
      </p:sp>
      <p:sp>
        <p:nvSpPr>
          <p:cNvPr id="11" name="Rectangle 10"/>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12 · Case Study Research</a:t>
            </a:r>
          </a:p>
        </p:txBody>
      </p:sp>
      <p:sp>
        <p:nvSpPr>
          <p:cNvPr id="13" name="TextBox 12"/>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Propositions and the Chain of Evidence</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3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4 OF 6</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Selecting Cases, and Multiple-Case Logic</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3 · CH. 12</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Selecting Cases, and Multiple-Case Logic</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Theoretical replication is the case study's version of an experiment</a:t>
            </a:r>
          </a:p>
          <a:p>
            <a:r>
              <a:rPr sz="1400" b="0" i="0">
                <a:solidFill>
                  <a:srgbClr val="1C2833"/>
                </a:solidFill>
                <a:latin typeface="Segoe UI"/>
              </a:rPr>
              <a:t>If your theory says the practice will help co-located teams and hinder distributed ones, then studying one of each and finding exactly that is powerful evidence — and finding the opposite refutes the theory.</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12 · Case Study Research</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Selecting Cases, and Multiple-Case Logic</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5 OF 6</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Analysis</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3 · CH. 12</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Analysis</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r>
              <a:rPr sz="1400" b="0" i="0">
                <a:solidFill>
                  <a:srgbClr val="1C2833"/>
                </a:solidFill>
                <a:latin typeface="Segoe UI"/>
              </a:rPr>
              <a:t>Triangulation</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12 · Case Study Research</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Analysis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6 OF 6</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What You May Claim</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3 · CH. 12</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What You May Claim</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How to write the generalisation paragraph</a:t>
            </a:r>
          </a:p>
          <a:p>
            <a:r>
              <a:rPr sz="1400" b="0" i="0">
                <a:solidFill>
                  <a:srgbClr val="1C2833"/>
                </a:solidFill>
                <a:latin typeface="Segoe UI"/>
              </a:rPr>
              <a:t>Not: “these findings apply to software companies in Pakistan”. That is a statistical claim four cases cannot support.</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12 · Case Study Research</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What You May Claim</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PITFALLS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Triangulation is not corroboration-hunting</a:t>
            </a:r>
          </a:p>
        </p:txBody>
      </p:sp>
      <p:sp>
        <p:nvSpPr>
          <p:cNvPr id="7" name="TextBox 6"/>
          <p:cNvSpPr txBox="1"/>
          <p:nvPr/>
        </p:nvSpPr>
        <p:spPr>
          <a:xfrm>
            <a:off x="868680" y="1828800"/>
            <a:ext cx="10454335" cy="4114800"/>
          </a:xfrm>
          <a:prstGeom prst="rect">
            <a:avLst/>
          </a:prstGeom>
          <a:noFill/>
        </p:spPr>
        <p:txBody>
          <a:bodyPr wrap="square" anchor="t" lIns="0" rIns="0" tIns="0" bIns="0">
            <a:spAutoFit/>
          </a:bodyPr>
          <a:lstStyle/>
          <a:p>
            <a:pPr>
              <a:spcAft>
                <a:spcPts val="1500"/>
              </a:spcAft>
            </a:pPr>
            <a:r>
              <a:rPr sz="1500" b="1" i="0">
                <a:solidFill>
                  <a:srgbClr val="C84B31"/>
                </a:solidFill>
                <a:latin typeface="Segoe UI"/>
              </a:rPr>
              <a:t>✖  </a:t>
            </a:r>
            <a:r>
              <a:rPr sz="1500" b="1" i="0">
                <a:solidFill>
                  <a:srgbClr val="0E4D64"/>
                </a:solidFill>
                <a:latin typeface="Segoe UI"/>
              </a:rPr>
              <a:t>The purpose is not to accumulate sources that agree. </a:t>
            </a:r>
            <a:r>
              <a:rPr sz="1500" b="0" i="0">
                <a:solidFill>
                  <a:srgbClr val="1C2833"/>
                </a:solidFill>
                <a:latin typeface="Segoe UI"/>
              </a:rPr>
              <a:t>It is to expose disagreement, because disagreement is informative: when developers say review is thorough and the repository shows a median…</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12 · Case Study Research</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Pitfalls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8"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slide(fromLeft)">
                                      <p:cBhvr>
                                        <p:cTn id="8" dur="35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FOUR TRADITIONS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How this lands in the case study</a:t>
            </a:r>
          </a:p>
        </p:txBody>
      </p:sp>
      <p:sp>
        <p:nvSpPr>
          <p:cNvPr id="7" name="Rectangle 6"/>
          <p:cNvSpPr/>
          <p:nvPr/>
        </p:nvSpPr>
        <p:spPr>
          <a:xfrm>
            <a:off x="777240"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1874519"/>
            <a:ext cx="5158587" cy="508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78408" y="2075687"/>
            <a:ext cx="4756251" cy="1417320"/>
          </a:xfrm>
          <a:prstGeom prst="rect">
            <a:avLst/>
          </a:prstGeom>
          <a:noFill/>
        </p:spPr>
        <p:txBody>
          <a:bodyPr wrap="square" anchor="t" lIns="0" rIns="0" tIns="0" bIns="0">
            <a:spAutoFit/>
          </a:bodyPr>
          <a:lstStyle/>
          <a:p>
            <a:pPr>
              <a:spcAft>
                <a:spcPts val="500"/>
              </a:spcAft>
            </a:pPr>
            <a:r>
              <a:rPr sz="1100" b="1" i="0">
                <a:solidFill>
                  <a:srgbClr val="1F618D"/>
                </a:solidFill>
                <a:latin typeface="Segoe UI"/>
              </a:rPr>
              <a:t>EMPIRICAL</a:t>
            </a:r>
          </a:p>
          <a:p>
            <a:r>
              <a:rPr sz="1250" b="0" i="0">
                <a:solidFill>
                  <a:srgbClr val="1C2833"/>
                </a:solidFill>
                <a:latin typeface="Segoe UI"/>
              </a:rPr>
              <a:t>Uneasy: no randomisation, no statistical inference. Its contribution is to generate the theory an experiment later tests, and to establish that a phenomenon occurs in the field at all.</a:t>
            </a:r>
          </a:p>
        </p:txBody>
      </p:sp>
      <p:sp>
        <p:nvSpPr>
          <p:cNvPr id="10" name="Rectangle 9"/>
          <p:cNvSpPr/>
          <p:nvPr/>
        </p:nvSpPr>
        <p:spPr>
          <a:xfrm>
            <a:off x="6255867"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55867" y="1874519"/>
            <a:ext cx="5158587" cy="50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57035" y="2075687"/>
            <a:ext cx="4756251" cy="1417320"/>
          </a:xfrm>
          <a:prstGeom prst="rect">
            <a:avLst/>
          </a:prstGeom>
          <a:noFill/>
        </p:spPr>
        <p:txBody>
          <a:bodyPr wrap="square" anchor="t" lIns="0" rIns="0" tIns="0" bIns="0">
            <a:spAutoFit/>
          </a:bodyPr>
          <a:lstStyle/>
          <a:p>
            <a:pPr>
              <a:spcAft>
                <a:spcPts val="500"/>
              </a:spcAft>
            </a:pPr>
            <a:r>
              <a:rPr sz="1100" b="1" i="0">
                <a:solidFill>
                  <a:srgbClr val="117864"/>
                </a:solidFill>
                <a:latin typeface="Segoe UI"/>
              </a:rPr>
              <a:t>DESIGN SCIENCE</a:t>
            </a:r>
          </a:p>
          <a:p>
            <a:r>
              <a:rPr sz="1250" b="0" i="0">
                <a:solidFill>
                  <a:srgbClr val="1C2833"/>
                </a:solidFill>
                <a:latin typeface="Segoe UI"/>
              </a:rPr>
              <a:t>Provides the naturalistic summative evaluation of the FEDS grid (Ch. 9) — what happened when the artefact met real use.</a:t>
            </a:r>
          </a:p>
        </p:txBody>
      </p:sp>
      <p:sp>
        <p:nvSpPr>
          <p:cNvPr id="13" name="Rectangle 12"/>
          <p:cNvSpPr/>
          <p:nvPr/>
        </p:nvSpPr>
        <p:spPr>
          <a:xfrm>
            <a:off x="777240"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77240" y="3931919"/>
            <a:ext cx="5158587" cy="50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78408" y="4133087"/>
            <a:ext cx="4756251" cy="1417320"/>
          </a:xfrm>
          <a:prstGeom prst="rect">
            <a:avLst/>
          </a:prstGeom>
          <a:noFill/>
        </p:spPr>
        <p:txBody>
          <a:bodyPr wrap="square" anchor="t" lIns="0" rIns="0" tIns="0" bIns="0">
            <a:spAutoFit/>
          </a:bodyPr>
          <a:lstStyle/>
          <a:p>
            <a:pPr>
              <a:spcAft>
                <a:spcPts val="500"/>
              </a:spcAft>
            </a:pPr>
            <a:r>
              <a:rPr sz="1100" b="1" i="0">
                <a:solidFill>
                  <a:srgbClr val="6C3483"/>
                </a:solidFill>
                <a:latin typeface="Segoe UI"/>
              </a:rPr>
              <a:t>QUALITATIVE</a:t>
            </a:r>
          </a:p>
          <a:p>
            <a:r>
              <a:rPr sz="1250" b="0" i="0">
                <a:solidFill>
                  <a:srgbClr val="1C2833"/>
                </a:solidFill>
                <a:latin typeface="Segoe UI"/>
              </a:rPr>
              <a:t>Its home. Thick description, multiple sources, context as constitutive, and the researcher acknowledged as part of the instrument.</a:t>
            </a:r>
          </a:p>
        </p:txBody>
      </p:sp>
      <p:sp>
        <p:nvSpPr>
          <p:cNvPr id="16" name="Rectangle 15"/>
          <p:cNvSpPr/>
          <p:nvPr/>
        </p:nvSpPr>
        <p:spPr>
          <a:xfrm>
            <a:off x="6255867"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55867" y="3931919"/>
            <a:ext cx="5158587" cy="50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57035" y="4133087"/>
            <a:ext cx="4756251" cy="1417320"/>
          </a:xfrm>
          <a:prstGeom prst="rect">
            <a:avLst/>
          </a:prstGeom>
          <a:noFill/>
        </p:spPr>
        <p:txBody>
          <a:bodyPr wrap="square" anchor="t" lIns="0" rIns="0" tIns="0" bIns="0">
            <a:spAutoFit/>
          </a:bodyPr>
          <a:lstStyle/>
          <a:p>
            <a:pPr>
              <a:spcAft>
                <a:spcPts val="500"/>
              </a:spcAft>
            </a:pPr>
            <a:r>
              <a:rPr sz="1100" b="1" i="0">
                <a:solidFill>
                  <a:srgbClr val="922B21"/>
                </a:solidFill>
                <a:latin typeface="Segoe UI"/>
              </a:rPr>
              <a:t>FORMAL</a:t>
            </a:r>
          </a:p>
          <a:p>
            <a:r>
              <a:rPr sz="1250" b="0" i="0">
                <a:solidFill>
                  <a:srgbClr val="1C2833"/>
                </a:solidFill>
                <a:latin typeface="Segoe UI"/>
              </a:rPr>
              <a:t>Contributes little directly, but case studies are where the assumptions of formal models are checked against practice — often unfavourably.</a:t>
            </a:r>
          </a:p>
        </p:txBody>
      </p:sp>
      <p:sp>
        <p:nvSpPr>
          <p:cNvPr id="19" name="Rectangle 1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12 · Case Study Research</a:t>
            </a:r>
          </a:p>
        </p:txBody>
      </p:sp>
      <p:sp>
        <p:nvSpPr>
          <p:cNvPr id="21" name="TextBox 2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Four traditions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35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zoom(in)">
                                      <p:cBhvr>
                                        <p:cTn id="16" dur="3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zoom(in)">
                                      <p:cBhvr>
                                        <p:cTn id="24" dur="35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zoom(in)">
                                      <p:cBhvr>
                                        <p:cTn id="32" dur="35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SUMMARY</a:t>
            </a:r>
          </a:p>
        </p:txBody>
      </p:sp>
      <p:sp>
        <p:nvSpPr>
          <p:cNvPr id="6" name="TextBox 5"/>
          <p:cNvSpPr txBox="1"/>
          <p:nvPr/>
        </p:nvSpPr>
        <p:spPr>
          <a:xfrm>
            <a:off x="777240" y="914400"/>
            <a:ext cx="10637215" cy="731520"/>
          </a:xfrm>
          <a:prstGeom prst="rect">
            <a:avLst/>
          </a:prstGeom>
          <a:noFill/>
        </p:spPr>
        <p:txBody>
          <a:bodyPr wrap="square" anchor="t" lIns="0" rIns="0" tIns="0" bIns="0">
            <a:spAutoFit/>
          </a:bodyPr>
          <a:lstStyle/>
          <a:p>
            <a:r>
              <a:rPr sz="3000" b="1" i="0">
                <a:solidFill>
                  <a:srgbClr val="0E4D64"/>
                </a:solidFill>
                <a:latin typeface="Georgia"/>
              </a:rPr>
              <a:t>What to take away</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500" b="1" i="0">
                <a:solidFill>
                  <a:srgbClr val="C84B31"/>
                </a:solidFill>
                <a:latin typeface="Segoe UI"/>
              </a:rPr>
              <a:t>1. </a:t>
            </a:r>
            <a:r>
              <a:rPr sz="1500" b="0" i="0">
                <a:solidFill>
                  <a:srgbClr val="1C2833"/>
                </a:solidFill>
                <a:latin typeface="Segoe UI"/>
              </a:rPr>
              <a:t>A case study investigates a phenomenon in a context that cannot be separated from it. Trying something once is a demonstration, not a case study.</a:t>
            </a:r>
          </a:p>
          <a:p>
            <a:pPr>
              <a:spcAft>
                <a:spcPts val="1400"/>
              </a:spcAft>
            </a:pPr>
            <a:r>
              <a:rPr sz="1500" b="1" i="0">
                <a:solidFill>
                  <a:srgbClr val="C84B31"/>
                </a:solidFill>
                <a:latin typeface="Segoe UI"/>
              </a:rPr>
              <a:t>2. </a:t>
            </a:r>
            <a:r>
              <a:rPr sz="1500" b="0" i="0">
                <a:solidFill>
                  <a:srgbClr val="1C2833"/>
                </a:solidFill>
                <a:latin typeface="Segoe UI"/>
              </a:rPr>
              <a:t>Name the unit of analysis explicitly; choose holistic or embedded, single or multiple.</a:t>
            </a:r>
          </a:p>
          <a:p>
            <a:pPr>
              <a:spcAft>
                <a:spcPts val="1400"/>
              </a:spcAft>
            </a:pPr>
            <a:r>
              <a:rPr sz="1500" b="1" i="0">
                <a:solidFill>
                  <a:srgbClr val="C84B31"/>
                </a:solidFill>
                <a:latin typeface="Segoe UI"/>
              </a:rPr>
              <a:t>3. </a:t>
            </a:r>
            <a:r>
              <a:rPr sz="1500" b="0" i="0">
                <a:solidFill>
                  <a:srgbClr val="1C2833"/>
                </a:solidFill>
                <a:latin typeface="Segoe UI"/>
              </a:rPr>
              <a:t>A single case needs one of the five justifications. Access alone is not one.</a:t>
            </a:r>
          </a:p>
          <a:p>
            <a:pPr>
              <a:spcAft>
                <a:spcPts val="1400"/>
              </a:spcAft>
            </a:pPr>
            <a:r>
              <a:rPr sz="1500" b="1" i="0">
                <a:solidFill>
                  <a:srgbClr val="C84B31"/>
                </a:solidFill>
                <a:latin typeface="Segoe UI"/>
              </a:rPr>
              <a:t>4. </a:t>
            </a:r>
            <a:r>
              <a:rPr sz="1500" b="0" i="0">
                <a:solidFill>
                  <a:srgbClr val="1C2833"/>
                </a:solidFill>
                <a:latin typeface="Segoe UI"/>
              </a:rPr>
              <a:t>Propositions direct attention and let you be surprised. Exploratory studies state questions instead — and never invent propositions afterwards.</a:t>
            </a:r>
          </a:p>
          <a:p>
            <a:pPr>
              <a:spcAft>
                <a:spcPts val="1400"/>
              </a:spcAft>
            </a:pPr>
            <a:r>
              <a:rPr sz="1500" b="1" i="0">
                <a:solidFill>
                  <a:srgbClr val="C84B31"/>
                </a:solidFill>
                <a:latin typeface="Segoe UI"/>
              </a:rPr>
              <a:t>5. </a:t>
            </a:r>
            <a:r>
              <a:rPr sz="1500" b="0" i="0">
                <a:solidFill>
                  <a:srgbClr val="1C2833"/>
                </a:solidFill>
                <a:latin typeface="Segoe UI"/>
              </a:rPr>
              <a:t>The chain of evidence and the case study database make the work auditable, and §14(i) requires the raw data anyway.</a:t>
            </a:r>
          </a:p>
          <a:p>
            <a:pPr>
              <a:spcAft>
                <a:spcPts val="1400"/>
              </a:spcAft>
            </a:pPr>
            <a:r>
              <a:rPr sz="1500" b="1" i="0">
                <a:solidFill>
                  <a:srgbClr val="C84B31"/>
                </a:solidFill>
                <a:latin typeface="Segoe UI"/>
              </a:rPr>
              <a:t>6. </a:t>
            </a:r>
            <a:r>
              <a:rPr sz="1500" b="0" i="0">
                <a:solidFill>
                  <a:srgbClr val="1C2833"/>
                </a:solidFill>
                <a:latin typeface="Segoe UI"/>
              </a:rPr>
              <a:t>Choose cases theoretically. Predicting a difference in advance — theoretical replication — turns description into a test.</a:t>
            </a:r>
          </a:p>
          <a:p>
            <a:pPr>
              <a:spcAft>
                <a:spcPts val="1400"/>
              </a:spcAft>
            </a:pPr>
            <a:r>
              <a:rPr sz="1500" b="1" i="0">
                <a:solidFill>
                  <a:srgbClr val="C84B31"/>
                </a:solidFill>
                <a:latin typeface="Segoe UI"/>
              </a:rPr>
              <a:t>7. </a:t>
            </a:r>
            <a:r>
              <a:rPr sz="1500" b="0" i="0">
                <a:solidFill>
                  <a:srgbClr val="1C2833"/>
                </a:solidFill>
                <a:latin typeface="Segoe UI"/>
              </a:rPr>
              <a:t>Triangulate to find disagreement, not to accumulate agreement.</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12 · Case Study Research</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Summary</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2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2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2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2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wipe(up)">
                                      <p:cBhvr>
                                        <p:cTn id="28" dur="320"/>
                                        <p:tgtEl>
                                          <p:spTgt spid="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wipe(up)">
                                      <p:cBhvr>
                                        <p:cTn id="33" dur="320"/>
                                        <p:tgtEl>
                                          <p:spTgt spid="7">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7">
                                            <p:txEl>
                                              <p:pRg st="6" end="6"/>
                                            </p:txEl>
                                          </p:spTgt>
                                        </p:tgtEl>
                                        <p:attrNameLst>
                                          <p:attrName>style.visibility</p:attrName>
                                        </p:attrNameLst>
                                      </p:cBhvr>
                                      <p:to>
                                        <p:strVal val="visible"/>
                                      </p:to>
                                    </p:set>
                                    <p:animEffect transition="in" filter="wipe(up)">
                                      <p:cBhvr>
                                        <p:cTn id="38" dur="32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REVIEW</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Questions to think with</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800"/>
              </a:spcAft>
            </a:pPr>
            <a:r>
              <a:rPr sz="1500" b="1" i="0">
                <a:solidFill>
                  <a:srgbClr val="C84B31"/>
                </a:solidFill>
                <a:latin typeface="Segoe UI"/>
              </a:rPr>
              <a:t>Q1  </a:t>
            </a:r>
            <a:r>
              <a:rPr sz="1500" b="0" i="0">
                <a:solidFill>
                  <a:srgbClr val="1C2833"/>
                </a:solidFill>
                <a:latin typeface="Segoe UI"/>
              </a:rPr>
              <a:t>Case study research is criticised for lacking rigour and permitting biased interpretation. Identify the specific methodological devices in this chapter that answer that criticism, and say…</a:t>
            </a:r>
          </a:p>
          <a:p>
            <a:pPr>
              <a:spcAft>
                <a:spcPts val="1800"/>
              </a:spcAft>
            </a:pPr>
            <a:r>
              <a:rPr sz="1500" b="1" i="0">
                <a:solidFill>
                  <a:srgbClr val="C84B31"/>
                </a:solidFill>
                <a:latin typeface="Segoe UI"/>
              </a:rPr>
              <a:t>Q2  </a:t>
            </a:r>
            <a:r>
              <a:rPr sz="1500" b="0" i="0">
                <a:solidFill>
                  <a:srgbClr val="1C2833"/>
                </a:solidFill>
                <a:latin typeface="Segoe UI"/>
              </a:rPr>
              <a:t>Explanation building revises the explanation as evidence accumulates, which resembles the practice Ch. 26 condemns as HARKing in quantitative work. Are they the same thing? Distinguish…</a:t>
            </a:r>
          </a:p>
          <a:p>
            <a:pPr>
              <a:spcAft>
                <a:spcPts val="1800"/>
              </a:spcAft>
            </a:pPr>
            <a:r>
              <a:rPr sz="1500" b="1" i="0">
                <a:solidFill>
                  <a:srgbClr val="C84B31"/>
                </a:solidFill>
                <a:latin typeface="Segoe UI"/>
              </a:rPr>
              <a:t>Q3  </a:t>
            </a:r>
            <a:r>
              <a:rPr sz="1500" b="0" i="0">
                <a:solidFill>
                  <a:srgbClr val="1C2833"/>
                </a:solidFill>
                <a:latin typeface="Segoe UI"/>
              </a:rPr>
              <a:t>You have access to one organisation and a strong theory. Design a single-case study that constitutes a genuine test of that theory, and state what result would refute it.</a:t>
            </a:r>
          </a:p>
          <a:p>
            <a:pPr>
              <a:spcAft>
                <a:spcPts val="1800"/>
              </a:spcAft>
            </a:pPr>
            <a:r>
              <a:rPr sz="1500" b="1" i="0">
                <a:solidFill>
                  <a:srgbClr val="C84B31"/>
                </a:solidFill>
                <a:latin typeface="Segoe UI"/>
              </a:rPr>
              <a:t>Q4  </a:t>
            </a:r>
            <a:r>
              <a:rPr sz="1500" b="0" i="0">
                <a:solidFill>
                  <a:srgbClr val="1C2833"/>
                </a:solidFill>
                <a:latin typeface="Segoe UI"/>
              </a:rPr>
              <a:t>PhD Regs 2024 §14.3(A) asks whether “the sample produce[s] the type of knowledge necessary to understand the structures and processes within which the individuals or situations are…</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12 · Case Study Research</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Review questions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fade">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35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80160" y="2468880"/>
            <a:ext cx="8229600" cy="914400"/>
          </a:xfrm>
          <a:prstGeom prst="rect">
            <a:avLst/>
          </a:prstGeom>
          <a:noFill/>
        </p:spPr>
        <p:txBody>
          <a:bodyPr wrap="square" anchor="t" lIns="0" rIns="0" tIns="0" bIns="0">
            <a:spAutoFit/>
          </a:bodyPr>
          <a:lstStyle/>
          <a:p>
            <a:r>
              <a:rPr sz="3400" b="1" i="0">
                <a:solidFill>
                  <a:srgbClr val="FFFFFF"/>
                </a:solidFill>
                <a:latin typeface="Georgia"/>
              </a:rPr>
              <a:t>End of Chapter 12</a:t>
            </a:r>
          </a:p>
        </p:txBody>
      </p:sp>
      <p:sp>
        <p:nvSpPr>
          <p:cNvPr id="5" name="TextBox 4"/>
          <p:cNvSpPr txBox="1"/>
          <p:nvPr/>
        </p:nvSpPr>
        <p:spPr>
          <a:xfrm>
            <a:off x="1280160" y="3566160"/>
            <a:ext cx="8686800" cy="1280160"/>
          </a:xfrm>
          <a:prstGeom prst="rect">
            <a:avLst/>
          </a:prstGeom>
          <a:noFill/>
        </p:spPr>
        <p:txBody>
          <a:bodyPr wrap="square" anchor="t" lIns="0" rIns="0" tIns="0" bIns="0">
            <a:spAutoFit/>
          </a:bodyPr>
          <a:lstStyle/>
          <a:p>
            <a:r>
              <a:rPr sz="1700" b="0" i="0">
                <a:solidFill>
                  <a:srgbClr val="E8F6F3"/>
                </a:solidFill>
                <a:latin typeface="Segoe UI"/>
              </a:rPr>
              <a:t>Next: </a:t>
            </a:r>
            <a:r>
              <a:rPr sz="1700" b="1" i="0">
                <a:solidFill>
                  <a:srgbClr val="FFFFFF"/>
                </a:solidFill>
                <a:latin typeface="Segoe UI"/>
              </a:rPr>
              <a:t>Ch. 13 — Survey Research</a:t>
            </a:r>
          </a:p>
          <a:p>
            <a:pPr>
              <a:spcBef>
                <a:spcPts val="1200"/>
              </a:spcBef>
            </a:pPr>
            <a:r>
              <a:rPr sz="1300" b="0" i="1">
                <a:solidFill>
                  <a:srgbClr val="E8F6F3"/>
                </a:solidFill>
                <a:latin typeface="Segoe UI"/>
              </a:rPr>
              <a:t>Read the chapter in the handout before the next session.</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4"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slide(fromBottom)">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