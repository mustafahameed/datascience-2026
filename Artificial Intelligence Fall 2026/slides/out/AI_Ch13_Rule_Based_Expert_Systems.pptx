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0DBAF21-3994-4281-BC11-A6CDF8173A26}">
          <p14:sldIdLst>
            <p14:sldId id="256"/>
            <p14:sldId id="257"/>
            <p14:sldId id="258"/>
            <p14:sldId id="259"/>
            <p14:sldId id="260"/>
          </p14:sldIdLst>
        </p14:section>
        <p14:section name="13.6 Why the Expert-System Industry Collapsed" id="{CE8D5914-CCC8-4579-B767-A8CDD1648CE1}">
          <p14:sldIdLst>
            <p14:sldId id="261"/>
          </p14:sldIdLst>
        </p14:section>
        <p14:section name="Checkpoint" id="{29832205-F9E2-4188-9187-51D34E0F10D1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rap-up" id="{9206237A-2948-4BDF-95BA-6007F288769D}">
          <p14:sldIdLst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13: Rule-Based Expert Systems. Part 4 — Knowledge, Logic and Reasoning. Week 12: Rule-based expert systems. Handout pages 107–110.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11 and Chapter 12 (inference, Horn clauses, unification). Chapter 10 for the representation the rules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production rule; working memory; inference engine; forward chaining; backward chaining; conflict set; conflict resolution; specificity; recency; explanation; knowledge acquisition bottleneck; brittleness.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14 — Uncertainty and Decision Making. READ: Handout Chapter 13, pages 107–110. THIS WEEK'S LAB: A twenty-rule escalation shell that explains itself. ASSESSMENT: Assignment 2 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A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874EA0"/>
                </a:solidFill>
                <a:latin typeface="Segoe UI Black"/>
              </a:rPr>
              <a:t>13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Rule-Based Expert Systems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AC8E1"/>
                </a:solidFill>
                <a:latin typeface="Segoe UI"/>
              </a:rPr>
              <a:t>PART IV  ·  KNOWLEDGE, LOGIC AND REASONING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AC8E1"/>
                </a:solidFill>
                <a:latin typeface="Segoe UI"/>
              </a:rPr>
              <a:t>CHAPTER 13  ·  WEEK 12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4D8EA"/>
                </a:solidFill>
                <a:latin typeface="Segoe UI"/>
              </a:rPr>
              <a:t>Artificial Intelligence — Search, Knowledge and Reasoning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58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C0AEC7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0C3D6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0AEC7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107     </a:t>
            </a:r>
            <a:fld id="{EB5186B0-EA32-458C-84EC-8A1CEF23EA6A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2801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01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37830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30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5285938" y="1755648"/>
            <a:ext cx="173869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7A3A95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5938" y="2029967"/>
            <a:ext cx="1738690" cy="45720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7509260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09260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9012160" y="1755648"/>
            <a:ext cx="240229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12160" y="2029967"/>
            <a:ext cx="240229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41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2597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937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354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6464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4502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0310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22288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9837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6383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936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0479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3210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7317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3273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1412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2263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5508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610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23466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5636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6441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5162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60537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63833" y="2112264"/>
            <a:ext cx="566928" cy="566928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563833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943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745799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895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8675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84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82770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5233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96089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6185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937041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13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7799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091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101894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04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5989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996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10085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label"/>
          <p:cNvSpPr txBox="1"/>
          <p:nvPr/>
        </p:nvSpPr>
        <p:spPr>
          <a:xfrm>
            <a:off x="3921217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A3A95"/>
                </a:solidFill>
                <a:latin typeface="Segoe UI"/>
              </a:rPr>
              <a:t>Rule-Based Expert Systems</a:t>
            </a:r>
          </a:p>
        </p:txBody>
      </p:sp>
      <p:sp>
        <p:nvSpPr>
          <p:cNvPr id="6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5" name="!!chipBU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chipbBU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!!chiptBU10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10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Knowledge Representation</a:t>
            </a:r>
          </a:p>
        </p:txBody>
      </p:sp>
      <p:sp>
        <p:nvSpPr>
          <p:cNvPr id="68" name="!!chipBU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bBU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chiptBU11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11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Propositional Logic and Inference</a:t>
            </a:r>
          </a:p>
        </p:txBody>
      </p:sp>
      <p:sp>
        <p:nvSpPr>
          <p:cNvPr id="71" name="!!chipBU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chipbBU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09744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!!chiptBU12"/>
          <p:cNvSpPr txBox="1"/>
          <p:nvPr/>
        </p:nvSpPr>
        <p:spPr>
          <a:xfrm>
            <a:off x="859536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First-Order Logic and Resolution</a:t>
            </a:r>
          </a:p>
        </p:txBody>
      </p:sp>
      <p:sp>
        <p:nvSpPr>
          <p:cNvPr id="74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5" name="!!chipUS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chipbUS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!!chiptUS19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19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Classic AI Systems and How to Analyse Them</a:t>
            </a:r>
          </a:p>
        </p:txBody>
      </p:sp>
      <p:sp>
        <p:nvSpPr>
          <p:cNvPr id="78" name="!!chipUS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!!chipbUS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!!chiptUS20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20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Recent Trends and Applications</a:t>
            </a:r>
          </a:p>
        </p:txBody>
      </p:sp>
      <p:sp>
        <p:nvSpPr>
          <p:cNvPr id="81" name="!!chipUS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chipbUS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!!chiptUS21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21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Responsible AI and Its Limits</a:t>
            </a:r>
          </a:p>
        </p:txBody>
      </p:sp>
      <p:sp>
        <p:nvSpPr>
          <p:cNvPr id="8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2555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107     </a:t>
            </a:r>
            <a:fld id="{965FE7AB-FD13-423D-BCF2-F1BF2BB52F14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63140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Build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production system: working memory, a rule base and an inference engine.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825496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288493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2816352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Apply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forward chaining and backward chaining,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choose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between them for a given task.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74059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7334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715207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Resolve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conflicts between applicable rules,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justify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strategy chosen.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77563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336999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268419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Produce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an explanation of a conclusion,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why it is the artefact an auditor accepts.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126126"/>
            <a:ext cx="420624" cy="420624"/>
          </a:xfrm>
          <a:prstGeom prst="ellipse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518556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5167274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A3A95"/>
                </a:solidFill>
                <a:latin typeface="Segoe UI"/>
              </a:rPr>
              <a:t>Describe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knowledge acquisition bottleneck and what it ended.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107     </a:t>
            </a:r>
            <a:fld id="{8BA6120A-D291-4847-A856-EA9A97B76D94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production ru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194185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production ru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production rul"/>
          <p:cNvSpPr txBox="1"/>
          <p:nvPr/>
        </p:nvSpPr>
        <p:spPr>
          <a:xfrm>
            <a:off x="950976" y="1955291"/>
            <a:ext cx="175897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production rule</a:t>
            </a:r>
          </a:p>
        </p:txBody>
      </p:sp>
      <p:sp>
        <p:nvSpPr>
          <p:cNvPr id="10" name="!!term-working memo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6527" y="1847088"/>
            <a:ext cx="208803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working memo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454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working memory"/>
          <p:cNvSpPr txBox="1"/>
          <p:nvPr/>
        </p:nvSpPr>
        <p:spPr>
          <a:xfrm>
            <a:off x="3039135" y="1955291"/>
            <a:ext cx="190515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working memory</a:t>
            </a:r>
          </a:p>
        </p:txBody>
      </p:sp>
      <p:sp>
        <p:nvSpPr>
          <p:cNvPr id="13" name="!!term-inference eng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80862" y="1847088"/>
            <a:ext cx="205724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inference eng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08878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inference engi"/>
          <p:cNvSpPr txBox="1"/>
          <p:nvPr/>
        </p:nvSpPr>
        <p:spPr>
          <a:xfrm>
            <a:off x="5273470" y="1955291"/>
            <a:ext cx="187436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inference engine</a:t>
            </a:r>
          </a:p>
        </p:txBody>
      </p:sp>
      <p:sp>
        <p:nvSpPr>
          <p:cNvPr id="16" name="!!term-forward chain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84416" y="1847088"/>
            <a:ext cx="207566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forward chain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2432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forward chaini"/>
          <p:cNvSpPr txBox="1"/>
          <p:nvPr/>
        </p:nvSpPr>
        <p:spPr>
          <a:xfrm>
            <a:off x="7477024" y="1955291"/>
            <a:ext cx="189278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forward chaining</a:t>
            </a:r>
          </a:p>
        </p:txBody>
      </p:sp>
      <p:sp>
        <p:nvSpPr>
          <p:cNvPr id="19" name="!!term-backward chai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225363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backward chai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backward chain"/>
          <p:cNvSpPr txBox="1"/>
          <p:nvPr/>
        </p:nvSpPr>
        <p:spPr>
          <a:xfrm>
            <a:off x="950976" y="2577084"/>
            <a:ext cx="207075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backward chaining</a:t>
            </a:r>
          </a:p>
        </p:txBody>
      </p:sp>
      <p:sp>
        <p:nvSpPr>
          <p:cNvPr id="22" name="!!term-conflict s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58311" y="2468880"/>
            <a:ext cx="148979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conflict s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86327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conflict set"/>
          <p:cNvSpPr txBox="1"/>
          <p:nvPr/>
        </p:nvSpPr>
        <p:spPr>
          <a:xfrm>
            <a:off x="3350919" y="2577084"/>
            <a:ext cx="130691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conflict set</a:t>
            </a:r>
          </a:p>
        </p:txBody>
      </p:sp>
      <p:sp>
        <p:nvSpPr>
          <p:cNvPr id="25" name="!!term-conflict reso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4407" y="2468880"/>
            <a:ext cx="218035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conflict reso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2423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conflict resol"/>
          <p:cNvSpPr txBox="1"/>
          <p:nvPr/>
        </p:nvSpPr>
        <p:spPr>
          <a:xfrm>
            <a:off x="4987015" y="2577084"/>
            <a:ext cx="199747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conflict resolution</a:t>
            </a:r>
          </a:p>
        </p:txBody>
      </p:sp>
      <p:sp>
        <p:nvSpPr>
          <p:cNvPr id="28" name="!!term-specific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21062" y="2468880"/>
            <a:ext cx="139047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specific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49078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specificity"/>
          <p:cNvSpPr txBox="1"/>
          <p:nvPr/>
        </p:nvSpPr>
        <p:spPr>
          <a:xfrm>
            <a:off x="7313670" y="2577084"/>
            <a:ext cx="120759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specificity</a:t>
            </a:r>
          </a:p>
        </p:txBody>
      </p:sp>
      <p:sp>
        <p:nvSpPr>
          <p:cNvPr id="31" name="!!term-recenc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57840" y="2468880"/>
            <a:ext cx="118056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recenc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5856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recency"/>
          <p:cNvSpPr txBox="1"/>
          <p:nvPr/>
        </p:nvSpPr>
        <p:spPr>
          <a:xfrm>
            <a:off x="8850448" y="2577084"/>
            <a:ext cx="99768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recency</a:t>
            </a:r>
          </a:p>
        </p:txBody>
      </p:sp>
      <p:sp>
        <p:nvSpPr>
          <p:cNvPr id="34" name="!!term-explan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84706" y="2468880"/>
            <a:ext cx="156841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explan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12722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explanation"/>
          <p:cNvSpPr txBox="1"/>
          <p:nvPr/>
        </p:nvSpPr>
        <p:spPr>
          <a:xfrm>
            <a:off x="10177314" y="2577084"/>
            <a:ext cx="138553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explanation</a:t>
            </a:r>
          </a:p>
        </p:txBody>
      </p:sp>
      <p:sp>
        <p:nvSpPr>
          <p:cNvPr id="37" name="!!term-knowledge acq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370210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knowledge acq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knowledge acqu"/>
          <p:cNvSpPr txBox="1"/>
          <p:nvPr/>
        </p:nvSpPr>
        <p:spPr>
          <a:xfrm>
            <a:off x="950976" y="3198876"/>
            <a:ext cx="351922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knowledge acquisition bottleneck</a:t>
            </a:r>
          </a:p>
        </p:txBody>
      </p:sp>
      <p:sp>
        <p:nvSpPr>
          <p:cNvPr id="40" name="!!term-brittlene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6774" y="3090672"/>
            <a:ext cx="144266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brittlene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4790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brittleness"/>
          <p:cNvSpPr txBox="1"/>
          <p:nvPr/>
        </p:nvSpPr>
        <p:spPr>
          <a:xfrm>
            <a:off x="4799382" y="3198876"/>
            <a:ext cx="125978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brittleness</a:t>
            </a:r>
          </a:p>
        </p:txBody>
      </p:sp>
      <p:sp>
        <p:nvSpPr>
          <p:cNvPr id="43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4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5111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107–110     </a:t>
            </a:r>
            <a:fld id="{D29C39C9-2A38-4219-BE53-9521EE4B0BD0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3.1 The Escalation Adviser"/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13.1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Escalation Adviser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107  ›</a:t>
            </a:r>
          </a:p>
        </p:txBody>
      </p:sp>
      <p:sp>
        <p:nvSpPr>
          <p:cNvPr id="12" name="!!ag1" descr="Go to section 13.2 Production Rules and Working Memory"/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13.2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Production Rules and Working Memory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107  ›</a:t>
            </a:r>
          </a:p>
        </p:txBody>
      </p:sp>
      <p:sp>
        <p:nvSpPr>
          <p:cNvPr id="17" name="!!ag2" descr="Go to section 13.3 Forward Chaining"/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13.3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Forward Chaining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107  ›</a:t>
            </a:r>
          </a:p>
        </p:txBody>
      </p:sp>
      <p:sp>
        <p:nvSpPr>
          <p:cNvPr id="22" name="!!ag3" descr="Go to section 13.4 Backward Chaining and Explanation"/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13.4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Backward Chaining and Explanation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107  ›</a:t>
            </a:r>
          </a:p>
        </p:txBody>
      </p:sp>
      <p:sp>
        <p:nvSpPr>
          <p:cNvPr id="27" name="!!ag4" descr="Go to section 13.5 Conflict Resolution"/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13.5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Conflict Resolution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107  ›</a:t>
            </a:r>
          </a:p>
        </p:txBody>
      </p:sp>
      <p:sp>
        <p:nvSpPr>
          <p:cNvPr id="32" name="!!ag5" descr="Go to section 13.6 Why the Expert-System Industry Collapsed">
            <a:hlinkClick action="ppaction://hlinksldjump" r:id="rId5"/>
          </p:cNvPr>
          <p:cNvSpPr/>
          <p:nvPr/>
        </p:nvSpPr>
        <p:spPr>
          <a:xfrm>
            <a:off x="658368" y="49743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ag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974336"/>
            <a:ext cx="64008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agn5"/>
          <p:cNvSpPr txBox="1"/>
          <p:nvPr/>
        </p:nvSpPr>
        <p:spPr>
          <a:xfrm>
            <a:off x="932688" y="51206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3A95"/>
                </a:solidFill>
                <a:latin typeface="Segoe UI Semibold"/>
              </a:rPr>
              <a:t>13.6</a:t>
            </a:r>
          </a:p>
        </p:txBody>
      </p:sp>
      <p:sp>
        <p:nvSpPr>
          <p:cNvPr id="35" name="!!agt5"/>
          <p:cNvSpPr txBox="1"/>
          <p:nvPr/>
        </p:nvSpPr>
        <p:spPr>
          <a:xfrm>
            <a:off x="1847088" y="51206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Why the Expert-System Industry Collapsed</a:t>
            </a:r>
          </a:p>
        </p:txBody>
      </p:sp>
      <p:sp>
        <p:nvSpPr>
          <p:cNvPr id="36" name="!!agp5"/>
          <p:cNvSpPr txBox="1"/>
          <p:nvPr/>
        </p:nvSpPr>
        <p:spPr>
          <a:xfrm>
            <a:off x="9795967" y="51480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107  ›</a:t>
            </a:r>
          </a:p>
        </p:txBody>
      </p:sp>
      <p:sp>
        <p:nvSpPr>
          <p:cNvPr id="3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Chapter in preparation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§13.6  ·  Handout p. 107     </a:t>
            </a:r>
            <a:fld id="{0B71EDAD-D763-485E-9898-090EB6125C34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full text of this chapter — prose, figures, worked example, laboratory and review questions — is being written. The outcomes, prerequisites, key terms and section structure above are settled and match the Course Specification and Appendix G.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110  ·  answers in Appendix D     </a:t>
            </a:r>
            <a:fld id="{CE8D920E-9EBB-4AFE-A2F1-6965B09BD4BF}" type="slidenum">
              <a:rPr lang="en-GB" sz="1000">
                <a:solidFill>
                  <a:srgbClr val="D5DEE5"/>
                </a:solidFill>
                <a:latin typeface="Segoe UI"/>
              </a:rPr>
              <a:t>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110  ·  answers in Appendix D     </a:t>
            </a:r>
            <a:fld id="{CF21B182-3B1D-4B39-ADE7-8C94A1730924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02237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110  ·  answers in Appendix D     </a:t>
            </a:r>
            <a:fld id="{D4063D2C-5AF6-48D5-8E5E-9AB14F9C3E6F}" type="slidenum">
              <a:rPr lang="en-GB" sz="1000">
                <a:solidFill>
                  <a:srgbClr val="D5DEE5"/>
                </a:solidFill>
                <a:latin typeface="Segoe UI"/>
              </a:rPr>
              <a:t>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110  ·  answers in Appendix D     </a:t>
            </a:r>
            <a:fld id="{CDDB68F4-CDF1-427E-9724-1BCCC8618147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110  ·  answers in Appendix D     </a:t>
            </a:r>
            <a:fld id="{D1092171-D6FA-4C55-9A7F-74176B757E65}" type="slidenum">
              <a:rPr lang="en-GB" sz="1000">
                <a:solidFill>
                  <a:srgbClr val="D5DEE5"/>
                </a:solidFill>
                <a:latin typeface="Segoe UI"/>
              </a:rPr>
              <a:t>11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110  ·  answers in Appendix D     </a:t>
            </a:r>
            <a:fld id="{92CB442E-4176-489D-B65B-366286822027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3356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110     </a:t>
            </a:r>
            <a:fld id="{3057E70B-3BC6-41B9-AE9A-58C18DE4B2FF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The Escalation Adviser.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31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38658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32257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Production Rules and Working Memory.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9169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29718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290779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Forward Chaining.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02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5570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493008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Backward Chaining and Explanation.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873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14223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078224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Conflict Resolution.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67258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472744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466344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Why the Expert-System Industry Collapsed.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56613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110     </a:t>
            </a:r>
            <a:fld id="{2BE27A7F-6129-44BE-9DA5-0B56DCE1F362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7891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A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854A9D"/>
                </a:solidFill>
                <a:latin typeface="Segoe UI Black"/>
              </a:rPr>
              <a:t>13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13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14 — Uncertainty and Decision Making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13, pages 107–110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A twenty-rule escalation shell that explains itself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F2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CB4D7"/>
                </a:solidFill>
                <a:latin typeface="Segoe UI"/>
              </a:rPr>
              <a:t>ASSESSMENT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Assignment 2 due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13  ·  Rule-Based Expert Systems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D64D8DC2-E8CE-4444-A729-1E532EE2644D}" type="slidenum">
              <a:rPr lang="en-GB" sz="1000">
                <a:solidFill>
                  <a:srgbClr val="D5DEE5"/>
                </a:solidFill>
                <a:latin typeface="Segoe UI"/>
              </a:rPr>
              <a:t>15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tificial Intelligence Fall 2026">
  <a:themeElements>
    <a:clrScheme name="Artificial Intellig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rtificial Intellig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13: Rule-Based Expert Systems</dc:title>
  <dc:subject>Artificial Intelligence — Search, Knowledge and Reasoning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