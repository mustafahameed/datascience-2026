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svg" ContentType="image/svg+xml"/>
  <Override PartName="/ppt/media/image12.svg" ContentType="image/svg+xml"/>
  <Override PartName="/ppt/media/image14.svg" ContentType="image/svg+xml"/>
  <Override PartName="/ppt/media/image16.svg" ContentType="image/svg+xml"/>
  <Override PartName="/ppt/media/image18.svg" ContentType="image/svg+xml"/>
  <Override PartName="/ppt/media/image20.svg" ContentType="image/svg+xml"/>
  <Override PartName="/ppt/media/image21.svg" ContentType="image/svg+xml"/>
  <Override PartName="/ppt/media/image23.svg" ContentType="image/svg+xml"/>
  <Override PartName="/ppt/media/image25.svg" ContentType="image/svg+xml"/>
  <Override PartName="/ppt/media/image26.svg" ContentType="image/svg+xml"/>
  <Override PartName="/ppt/media/image28.svg" ContentType="image/svg+xml"/>
  <Override PartName="/ppt/media/image29.svg" ContentType="image/svg+xml"/>
  <Override PartName="/ppt/media/image30.svg" ContentType="image/svg+xml"/>
  <Override PartName="/ppt/media/image32.svg" ContentType="image/svg+xml"/>
  <Override PartName="/ppt/media/image34.svg" ContentType="image/svg+xml"/>
  <Override PartName="/ppt/media/image35.svg" ContentType="image/svg+xml"/>
  <Override PartName="/ppt/media/image36.svg" ContentType="image/svg+xml"/>
  <Override PartName="/ppt/media/image37.svg" ContentType="image/svg+xml"/>
  <Override PartName="/ppt/media/image38.svg" ContentType="image/svg+xml"/>
  <Override PartName="/ppt/media/image39.svg" ContentType="image/svg+xml"/>
  <Override PartName="/ppt/media/image4.svg" ContentType="image/svg+xml"/>
  <Override PartName="/ppt/media/image40.svg" ContentType="image/svg+xml"/>
  <Override PartName="/ppt/media/image41.svg" ContentType="image/svg+xml"/>
  <Override PartName="/ppt/media/image42.svg" ContentType="image/svg+xml"/>
  <Override PartName="/ppt/media/image43.svg" ContentType="image/svg+xml"/>
  <Override PartName="/ppt/media/image44.svg" ContentType="image/svg+xml"/>
  <Override PartName="/ppt/media/image45.svg" ContentType="image/svg+xml"/>
  <Override PartName="/ppt/media/image46.svg" ContentType="image/svg+xml"/>
  <Override PartName="/ppt/media/image47.svg" ContentType="image/svg+xml"/>
  <Override PartName="/ppt/media/image48.svg" ContentType="image/svg+xml"/>
  <Override PartName="/ppt/media/image49.svg" ContentType="image/svg+xml"/>
  <Override PartName="/ppt/media/image50.svg" ContentType="image/svg+xml"/>
  <Override PartName="/ppt/media/image51.svg" ContentType="image/svg+xml"/>
  <Override PartName="/ppt/media/image52.svg" ContentType="image/svg+xml"/>
  <Override PartName="/ppt/media/image53.svg" ContentType="image/svg+xml"/>
  <Override PartName="/ppt/media/image54.svg" ContentType="image/svg+xml"/>
  <Override PartName="/ppt/media/image55.svg" ContentType="image/svg+xml"/>
  <Override PartName="/ppt/media/image56.svg" ContentType="image/svg+xml"/>
  <Override PartName="/ppt/media/image58.svg" ContentType="image/svg+xml"/>
  <Override PartName="/ppt/media/image6.svg" ContentType="image/svg+xml"/>
  <Override PartName="/ppt/media/image60.svg" ContentType="image/svg+xml"/>
  <Override PartName="/ppt/media/image61.svg" ContentType="image/svg+xml"/>
  <Override PartName="/ppt/media/image62.svg" ContentType="image/svg+xml"/>
  <Override PartName="/ppt/media/image63.svg" ContentType="image/svg+xml"/>
  <Override PartName="/ppt/media/image64.svg" ContentType="image/svg+xml"/>
  <Override PartName="/ppt/media/image66.svg" ContentType="image/svg+xml"/>
  <Override PartName="/ppt/media/image67.svg" ContentType="image/svg+xml"/>
  <Override PartName="/ppt/media/image69.svg" ContentType="image/svg+xml"/>
  <Override PartName="/ppt/media/image70.svg" ContentType="image/svg+xml"/>
  <Override PartName="/ppt/media/image71.svg" ContentType="image/svg+xml"/>
  <Override PartName="/ppt/media/image72.svg" ContentType="image/svg+xml"/>
  <Override PartName="/ppt/media/image73.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81D931A-B7D8-47E0-B981-76DA6302CA74}">
          <p14:sldIdLst>
            <p14:sldId id="256"/>
            <p14:sldId id="257"/>
            <p14:sldId id="258"/>
            <p14:sldId id="259"/>
            <p14:sldId id="260"/>
          </p14:sldIdLst>
        </p14:section>
        <p14:section name="13.1 The Escalation Adviser" id="{95F8713A-8B2F-4934-9759-7201061DBCD0}">
          <p14:sldIdLst>
            <p14:sldId id="261"/>
            <p14:sldId id="262"/>
            <p14:sldId id="263"/>
          </p14:sldIdLst>
        </p14:section>
        <p14:section name="13.2 Forward Chaining" id="{7C343F56-AC13-431A-A9C2-6A7D679A12C0}">
          <p14:sldIdLst>
            <p14:sldId id="264"/>
          </p14:sldIdLst>
        </p14:section>
        <p14:section name="13.3 Backward Chaining" id="{85DA8261-B68F-447F-804F-9F54717DB2BB}">
          <p14:sldIdLst>
            <p14:sldId id="265"/>
            <p14:sldId id="266"/>
            <p14:sldId id="267"/>
          </p14:sldIdLst>
        </p14:section>
        <p14:section name="13.4 Conflict Resolution" id="{F3DD7536-A6A0-4488-9173-D4335DE35A94}">
          <p14:sldIdLst>
            <p14:sldId id="268"/>
            <p14:sldId id="269"/>
            <p14:sldId id="270"/>
          </p14:sldIdLst>
        </p14:section>
        <p14:section name="13.5 What Conflict Resolution Does Not Fix" id="{E6687EE6-89B0-401A-9A75-F2B2D924744B}">
          <p14:sldIdLst>
            <p14:sldId id="271"/>
          </p14:sldIdLst>
        </p14:section>
        <p14:section name="13.6 Why the Industry Collapsed" id="{F5A36984-C026-46AB-B3AF-09A7C8273E7F}">
          <p14:sldIdLst>
            <p14:sldId id="272"/>
            <p14:sldId id="273"/>
            <p14:sldId id="274"/>
            <p14:sldId id="275"/>
            <p14:sldId id="276"/>
          </p14:sldIdLst>
        </p14:section>
        <p14:section name="Pitfalls" id="{1EF90533-EF7F-4163-82F0-0396A20AD5E3}">
          <p14:sldIdLst>
            <p14:sldId id="277"/>
          </p14:sldIdLst>
        </p14:section>
        <p14:section name="Lab" id="{D439D2F8-4795-435D-A94C-E42C63CC98CD}">
          <p14:sldIdLst>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Lst>
        </p14:section>
        <p14:section name="Checkpoint" id="{224CB2AA-49F1-4BC7-B157-4ECC691F1883}">
          <p14:sldIdLst>
            <p14:sldId id="301"/>
            <p14:sldId id="302"/>
            <p14:sldId id="303"/>
            <p14:sldId id="304"/>
            <p14:sldId id="305"/>
            <p14:sldId id="306"/>
          </p14:sldIdLst>
        </p14:section>
        <p14:section name="Wrap-up" id="{68D74D26-CC5D-4894-ACEE-1015F60AF4E0}">
          <p14:sldIdLst>
            <p14:sldId id="307"/>
            <p14:sldId id="308"/>
            <p14:sldId id="309"/>
            <p14:sldId id="310"/>
            <p14:sldId id="311"/>
            <p14:sldId id="312"/>
            <p14:sldId id="313"/>
            <p14:sldId id="314"/>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13: Rule-Based Expert Systems. Part 4 — Knowledge, Logic and Reasoning. Week 12: Rule-based expert systems. Handout pages 132–145.</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 the chapter. Before you start: Chapter 11 and Chapter 12 (inference, Horn clauses, chaining as resolution under a restriction) and Chapter 10 (the representation the rules act on). This chapter is where Part IV becomes a product.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these out: they are the chapter's contract with the room. Each click adds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define these now; they arrive one at a time. This slide is for the students' notes. Terms: production rule; working memory; rule base; inference engine; match–resolve–act; forward chaining; backward chaining; conflict set; conflict resolution; specificity; recency; refraction; explanation; knowledge acquisition bottleneck; brittleness; graceful degradation.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route through the chapter. Each row is a link: click it to jump to that section in the slide show.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2 introduced it and deferred it: at 21:00 the queue holds three hundred open tickets, one engineer is on call, and something must decide what to do with each one. The decision depends on severity, customer tier, whether there is a workaround, how much of the service level agreement is left, whether the service owner is reachable, and how often the on-call engineer has already been woken. Nobody can write that as a formula, and everybody in the operations team can state the individual rules. That combination — many small, separately intelligible conditions and no closed form — is exactly what a rule-based expert system is for, and it is still the commonest deployed form of symbolic AI.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13.1 (handout p. 133): The architecture. Working memory grows as conclusions are asserted, which makes further rules applicable, and the cycle repeats until nothing new can be derived.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in your own words first; the slide is the handout's wording.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from the question and work backwards to the facts. To establish a goal, find a rule concluding it and recursively establish that rule’s conditions. Asked only why is T-4471 escalated?, backward chaining visits six goals against forward chaining’s nine firings, and — far more importantly — it produces a proof tree rather than a set of conclusions.</a:t>
            </a:r>
          </a:p>
          <a:p/>
          <a:p>
            <a:r>
              <a:t>Figure 13.2 (handout p. 135): The proof tree for why is T-4471 escalated? Rounded green boxes are facts from the ticket; blue boxes are derived, each labelled with the rule that derived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read the table row by row: pick the row the room is most likely to get wrong and ask why.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run the two directions against each other on that same ticket, and something uncomfortable happens. Forward chaining, with specificity, concludes escalate = no. Backward chaining, asked to prove escalate = yes, succeeds — via R5 from priority = P1, which it obtains from R0. The two directions disagree about the same ticket in the same rule base.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Rule engines work. MYCIN diagnosed bacterial infections in the 1970s at the level of faculty specialists; XCON configured VAX systems and saved Digital tens of millions of dollars a year. By the mid-1980s there was a substantial commercial industry, and by 1993 it had collapsed. Two causes, and both are still live. The knowledge acquisition bottleneck. Every rule has to be elicited from an expert, by an engineer, one at a time. Experts are busy, and — worse — they are frequently unable to state what they do: the knowledge is compiled into judgement. A thousand-rule system represents years of interviews and cannot be assembled any faster. Meanwhile, nothing in the system learns; it fails Chapter 1’s fourth test and it will still be failing it next year. Brittleness. A rule base is confident inside its competence and gives no signal at the edge. Present a ticket whose situation nobody anticipated and the system does not degrade gracefully — it either fires nothing, or fires a rule whose conditions technically match and whose conclusion is absurd. A human specialist says “I have not seen this before”; a rule base has no representation of its own boundary.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each pitfall, ask who has seen it happen. One real story beats five bullets.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Forward chaining with conflict resolution, backward chaining with an explanation tree, and the measurement of what each costs.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Set-up.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Set-up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Set-up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 Set-up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5: Set-up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6: Set-up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7: Set-up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8: Set-up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9: Set-up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10: Set-up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11: Set-up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12: Set-up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13: Set-up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14: Set-up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15: Specificity is doing real work.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16: Specificity is doing real work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17: The explanation.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18: The two directions DISAGREE, and that is a real bug.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19: The two directions DISAGREE, and that is a real bug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20: What each direction costs.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21: Adding a rule changes nothing else.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wake_budget: available for T-4471 and spent for T-4473. It is not a fact about the ticket — it is a fact about the on-call engineer and what has already been asked of her tonight. Both tickets reach escalate = yes; they differ only at R14 against R15, which consult that fact. This is precisely the internal state Chapter 2 showed a model-based reflex agent must maintain because no percept reports it, and here it costs one entry in working memory and one pair of rules.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The nine is right for a monitoring dashboard or an alerting pipeline, where a newly arrived fact should trigger everything that follows from it — notify finance, attach the payments runbook, set the page severity — without anybody having to ask for each one. The six is right when an engineer or an auditor has a single question (“why was this escalated?”), because forward chaining would derive a great deal that is irrelevant to it and would still not produce a proof tree.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They get the backward-chaining explanation: escalate = no by R11 because needs_owner = no by R7, because the priority is P2 by R3 (major severity, standard tier) and there was a workaround. Every step names the rule and the fact it used, so the auditor can check each line and, if they disagree, point at the specific rule that is wrong. A probability satisfies none of this: it cannot be checked, it identifies nothing to correct, and it does not say which of the ticket’s properties mattered. See also Chapter 21, where this is argued as accountability rather than convenience.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to say each takeaway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to say each takeaway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these for independent study. Model answers are not printed in the handout.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NEXT: Chapter 14 — Uncertainty and Decision Making. READ: Handout Chapter 13, pages 132–145. THIS WEEK'S LAB: A twenty-rule escalation shell that explains itself. ASSESSMENT: Assignment 2 due.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457200" rtl="0" eaLnBrk="1" latinLnBrk="0" hangingPunct="1">
        <a:spcBef>
          <a:spcPct val="0"/>
        </a:spcBef>
        <a:buNone/>
        <a:defRPr sz="3000" kern="1200" b="0">
          <a:solidFill>
            <a:srgbClr val="1A5276"/>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image" Target="../media/image4.sv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image" Target="../media/image6.sv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image" Target="../media/image8.sv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10.svg"/><Relationship Id="rId4" Type="http://schemas.openxmlformats.org/officeDocument/2006/relationships/notesSlide" Target="../notesSlides/notesSlide5.xml"/><Relationship Id="rId5" Type="http://schemas.openxmlformats.org/officeDocument/2006/relationships/slide" Target="slide6.xml"/><Relationship Id="rId6" Type="http://schemas.openxmlformats.org/officeDocument/2006/relationships/slide" Target="slide9.xml"/><Relationship Id="rId7" Type="http://schemas.openxmlformats.org/officeDocument/2006/relationships/slide" Target="slide10.xml"/><Relationship Id="rId8" Type="http://schemas.openxmlformats.org/officeDocument/2006/relationships/slide" Target="slide13.xml"/><Relationship Id="rId9" Type="http://schemas.openxmlformats.org/officeDocument/2006/relationships/slide" Target="slide16.xml"/><Relationship Id="rId10" Type="http://schemas.openxmlformats.org/officeDocument/2006/relationships/slide" Target="slide1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image" Target="../media/image12.sv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image" Target="../media/image14.sv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png"/><Relationship Id="rId3" Type="http://schemas.openxmlformats.org/officeDocument/2006/relationships/image" Target="../media/image16.sv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image" Target="../media/image18.sv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9.png"/><Relationship Id="rId3" Type="http://schemas.openxmlformats.org/officeDocument/2006/relationships/image" Target="../media/image20.sv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21.sv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2.png"/><Relationship Id="rId3" Type="http://schemas.openxmlformats.org/officeDocument/2006/relationships/image" Target="../media/image23.sv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4.png"/><Relationship Id="rId3" Type="http://schemas.openxmlformats.org/officeDocument/2006/relationships/image" Target="../media/image25.sv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4.png"/><Relationship Id="rId3" Type="http://schemas.openxmlformats.org/officeDocument/2006/relationships/image" Target="../media/image26.sv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7.png"/><Relationship Id="rId3" Type="http://schemas.openxmlformats.org/officeDocument/2006/relationships/image" Target="../media/image28.sv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7.png"/><Relationship Id="rId3" Type="http://schemas.openxmlformats.org/officeDocument/2006/relationships/image" Target="../media/image29.sv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7.png"/><Relationship Id="rId3" Type="http://schemas.openxmlformats.org/officeDocument/2006/relationships/image" Target="../media/image30.sv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1.png"/><Relationship Id="rId3" Type="http://schemas.openxmlformats.org/officeDocument/2006/relationships/image" Target="../media/image32.sv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3.png"/><Relationship Id="rId3" Type="http://schemas.openxmlformats.org/officeDocument/2006/relationships/image" Target="../media/image34.sv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3.png"/><Relationship Id="rId3" Type="http://schemas.openxmlformats.org/officeDocument/2006/relationships/image" Target="../media/image35.sv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3.png"/><Relationship Id="rId3" Type="http://schemas.openxmlformats.org/officeDocument/2006/relationships/image" Target="../media/image36.sv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3.png"/><Relationship Id="rId3" Type="http://schemas.openxmlformats.org/officeDocument/2006/relationships/image" Target="../media/image37.sv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3.png"/><Relationship Id="rId3" Type="http://schemas.openxmlformats.org/officeDocument/2006/relationships/image" Target="../media/image38.sv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3.png"/><Relationship Id="rId3" Type="http://schemas.openxmlformats.org/officeDocument/2006/relationships/image" Target="../media/image39.sv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3.png"/><Relationship Id="rId3" Type="http://schemas.openxmlformats.org/officeDocument/2006/relationships/image" Target="../media/image40.sv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3.png"/><Relationship Id="rId3" Type="http://schemas.openxmlformats.org/officeDocument/2006/relationships/image" Target="../media/image41.sv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3.png"/><Relationship Id="rId3" Type="http://schemas.openxmlformats.org/officeDocument/2006/relationships/image" Target="../media/image42.sv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3.png"/><Relationship Id="rId3" Type="http://schemas.openxmlformats.org/officeDocument/2006/relationships/image" Target="../media/image43.sv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3.png"/><Relationship Id="rId3" Type="http://schemas.openxmlformats.org/officeDocument/2006/relationships/image" Target="../media/image44.sv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3.png"/><Relationship Id="rId3" Type="http://schemas.openxmlformats.org/officeDocument/2006/relationships/image" Target="../media/image45.sv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3.png"/><Relationship Id="rId3" Type="http://schemas.openxmlformats.org/officeDocument/2006/relationships/image" Target="../media/image46.sv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3.png"/><Relationship Id="rId3" Type="http://schemas.openxmlformats.org/officeDocument/2006/relationships/image" Target="../media/image47.sv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3.png"/><Relationship Id="rId3" Type="http://schemas.openxmlformats.org/officeDocument/2006/relationships/image" Target="../media/image48.sv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3.png"/><Relationship Id="rId3" Type="http://schemas.openxmlformats.org/officeDocument/2006/relationships/image" Target="../media/image49.sv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3.png"/><Relationship Id="rId3" Type="http://schemas.openxmlformats.org/officeDocument/2006/relationships/image" Target="../media/image50.sv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3.png"/><Relationship Id="rId3" Type="http://schemas.openxmlformats.org/officeDocument/2006/relationships/image" Target="../media/image51.sv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3.png"/><Relationship Id="rId3" Type="http://schemas.openxmlformats.org/officeDocument/2006/relationships/image" Target="../media/image52.sv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3.png"/><Relationship Id="rId3" Type="http://schemas.openxmlformats.org/officeDocument/2006/relationships/image" Target="../media/image53.sv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3.png"/><Relationship Id="rId3" Type="http://schemas.openxmlformats.org/officeDocument/2006/relationships/image" Target="../media/image54.sv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3.png"/><Relationship Id="rId3" Type="http://schemas.openxmlformats.org/officeDocument/2006/relationships/image" Target="../media/image55.sv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3.png"/><Relationship Id="rId3" Type="http://schemas.openxmlformats.org/officeDocument/2006/relationships/image" Target="../media/image56.sv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7.png"/><Relationship Id="rId3" Type="http://schemas.openxmlformats.org/officeDocument/2006/relationships/image" Target="../media/image58.sv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9.png"/><Relationship Id="rId3" Type="http://schemas.openxmlformats.org/officeDocument/2006/relationships/image" Target="../media/image60.sv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7.png"/><Relationship Id="rId3" Type="http://schemas.openxmlformats.org/officeDocument/2006/relationships/image" Target="../media/image61.sv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9.png"/><Relationship Id="rId3" Type="http://schemas.openxmlformats.org/officeDocument/2006/relationships/image" Target="../media/image62.sv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7.png"/><Relationship Id="rId3" Type="http://schemas.openxmlformats.org/officeDocument/2006/relationships/image" Target="../media/image63.sv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9.png"/><Relationship Id="rId3" Type="http://schemas.openxmlformats.org/officeDocument/2006/relationships/image" Target="../media/image64.sv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5.png"/><Relationship Id="rId3" Type="http://schemas.openxmlformats.org/officeDocument/2006/relationships/image" Target="../media/image66.sv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5.png"/><Relationship Id="rId3" Type="http://schemas.openxmlformats.org/officeDocument/2006/relationships/image" Target="../media/image67.sv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8.png"/><Relationship Id="rId3" Type="http://schemas.openxmlformats.org/officeDocument/2006/relationships/image" Target="../media/image69.sv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8.png"/><Relationship Id="rId3" Type="http://schemas.openxmlformats.org/officeDocument/2006/relationships/image" Target="../media/image70.sv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8.png"/><Relationship Id="rId3" Type="http://schemas.openxmlformats.org/officeDocument/2006/relationships/image" Target="../media/image71.sv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8.png"/><Relationship Id="rId3" Type="http://schemas.openxmlformats.org/officeDocument/2006/relationships/image" Target="../media/image72.sv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8.png"/><Relationship Id="rId3" Type="http://schemas.openxmlformats.org/officeDocument/2006/relationships/image" Target="../media/image73.svg"/><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7A3A95"/>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874EA0"/>
                </a:solidFill>
                <a:latin typeface="Segoe UI Black"/>
              </a:rPr>
              <a:t>13</a:t>
            </a:r>
          </a:p>
        </p:txBody>
      </p:sp>
      <p:sp>
        <p:nvSpPr>
          <p:cNvPr id="2" name="!!title"/>
          <p:cNvSpPr>
            <a:spLocks noGrp="1"/>
          </p:cNvSpPr>
          <p:nvPr>
            <p:ph type="title"/>
          </p:nvPr>
        </p:nvSpPr>
        <p:spPr>
          <a:xfrm>
            <a:off x="658368" y="2304288"/>
            <a:ext cx="8503920" cy="1920240"/>
          </a:xfrm>
        </p:spPr>
        <p:txBody>
          <a:bodyPr wrap="square" lIns="0" rIns="0" tIns="0" bIns="0" anchor="t">
            <a:noAutofit/>
          </a:bodyPr>
          <a:lstStyle/>
          <a:p>
            <a:pPr algn="l">
              <a:lnSpc>
                <a:spcPct val="96000"/>
              </a:lnSpc>
            </a:pPr>
            <a:r>
              <a:rPr sz="4600" b="0">
                <a:solidFill>
                  <a:srgbClr val="FFFFFF"/>
                </a:solidFill>
                <a:latin typeface="Segoe UI Semibold"/>
              </a:rPr>
              <a:t>Rule-Based Expert Systems</a:t>
            </a:r>
          </a:p>
        </p:txBody>
      </p:sp>
      <p:sp>
        <p:nvSpPr>
          <p:cNvPr id="4" name="!!tbar">
            <a:extLst>
              <a:ext uri="{C183D7F6-B498-43B3-948B-1728B52AA6E4}">
                <adec:decorative xmlns:adec="http://schemas.microsoft.com/office/drawing/2017/decorative" val="1"/>
              </a:ext>
            </a:extLst>
          </p:cNvPr>
          <p:cNvSpPr/>
          <p:nvPr/>
        </p:nvSpPr>
        <p:spPr>
          <a:xfrm>
            <a:off x="658368" y="129844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part"/>
          <p:cNvSpPr txBox="1"/>
          <p:nvPr/>
        </p:nvSpPr>
        <p:spPr>
          <a:xfrm>
            <a:off x="658368" y="1517904"/>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DAC8E1"/>
                </a:solidFill>
                <a:latin typeface="Segoe UI"/>
              </a:rPr>
              <a:t>PART IV  ·  KNOWLEDGE, LOGIC AND REASONING</a:t>
            </a:r>
          </a:p>
        </p:txBody>
      </p:sp>
      <p:sp>
        <p:nvSpPr>
          <p:cNvPr id="6" name="!!tch"/>
          <p:cNvSpPr txBox="1"/>
          <p:nvPr/>
        </p:nvSpPr>
        <p:spPr>
          <a:xfrm>
            <a:off x="658368" y="1865376"/>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DAC8E1"/>
                </a:solidFill>
                <a:latin typeface="Segoe UI"/>
              </a:rPr>
              <a:t>CHAPTER 13  ·  WEEK 12</a:t>
            </a:r>
          </a:p>
        </p:txBody>
      </p:sp>
      <p:sp>
        <p:nvSpPr>
          <p:cNvPr id="7" name="!!tsub"/>
          <p:cNvSpPr txBox="1"/>
          <p:nvPr/>
        </p:nvSpPr>
        <p:spPr>
          <a:xfrm>
            <a:off x="658368" y="4315968"/>
            <a:ext cx="8503920"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E4D8EA"/>
                </a:solidFill>
                <a:latin typeface="Segoe UI"/>
              </a:rPr>
              <a:t>Artificial Intelligence — Search, Knowledge and Reasoning</a:t>
            </a:r>
          </a:p>
        </p:txBody>
      </p:sp>
      <p:sp>
        <p:nvSpPr>
          <p:cNvPr id="8" name="!!band">
            <a:extLst>
              <a:ext uri="{C183D7F6-B498-43B3-948B-1728B52AA6E4}">
                <adec:decorative xmlns:adec="http://schemas.microsoft.com/office/drawing/2017/decorative" val="1"/>
              </a:ext>
            </a:extLst>
          </p:cNvPr>
          <p:cNvSpPr/>
          <p:nvPr/>
        </p:nvSpPr>
        <p:spPr>
          <a:xfrm>
            <a:off x="0" y="5285232"/>
            <a:ext cx="12191695" cy="1572767"/>
          </a:xfrm>
          <a:prstGeom prst="rect">
            <a:avLst/>
          </a:prstGeom>
          <a:solidFill>
            <a:srgbClr val="582A6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ab"/>
          <p:cNvSpPr txBox="1"/>
          <p:nvPr/>
        </p:nvSpPr>
        <p:spPr>
          <a:xfrm>
            <a:off x="658368" y="5541264"/>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50" b="1" i="0" spc="160">
                <a:solidFill>
                  <a:srgbClr val="C0AEC7"/>
                </a:solidFill>
                <a:latin typeface="Segoe UI"/>
              </a:rPr>
              <a:t>LECTURER</a:t>
            </a:r>
          </a:p>
        </p:txBody>
      </p:sp>
      <p:sp>
        <p:nvSpPr>
          <p:cNvPr id="10" name="!!author"/>
          <p:cNvSpPr txBox="1"/>
          <p:nvPr/>
        </p:nvSpPr>
        <p:spPr>
          <a:xfrm>
            <a:off x="658368" y="5779008"/>
            <a:ext cx="5486400" cy="365760"/>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FFFFFF"/>
                </a:solidFill>
                <a:latin typeface="Segoe UI Semibold"/>
              </a:rPr>
              <a:t>Dr. Mustafa Hameed</a:t>
            </a:r>
          </a:p>
        </p:txBody>
      </p:sp>
      <p:sp>
        <p:nvSpPr>
          <p:cNvPr id="11" name="!!dept"/>
          <p:cNvSpPr txBox="1"/>
          <p:nvPr/>
        </p:nvSpPr>
        <p:spPr>
          <a:xfrm>
            <a:off x="658368" y="6181344"/>
            <a:ext cx="5852160" cy="274320"/>
          </a:xfrm>
          <a:prstGeom prst="rect">
            <a:avLst/>
          </a:prstGeom>
          <a:noFill/>
        </p:spPr>
        <p:txBody>
          <a:bodyPr wrap="square" anchor="t" lIns="0" rIns="0" tIns="0" bIns="0">
            <a:noAutofit/>
          </a:bodyPr>
          <a:lstStyle/>
          <a:p>
            <a:pPr algn="l">
              <a:lnSpc>
                <a:spcPct val="100000"/>
              </a:lnSpc>
              <a:spcBef>
                <a:spcPts val="0"/>
              </a:spcBef>
              <a:spcAft>
                <a:spcPts val="0"/>
              </a:spcAft>
            </a:pPr>
            <a:r>
              <a:rPr sz="1200" b="0" i="0">
                <a:solidFill>
                  <a:srgbClr val="D0C3D6"/>
                </a:solidFill>
                <a:latin typeface="Segoe UI"/>
              </a:rPr>
              <a:t>Department of Information Technology  ·  BSIT · Fall 2026</a:t>
            </a:r>
          </a:p>
        </p:txBody>
      </p:sp>
      <p:sp>
        <p:nvSpPr>
          <p:cNvPr id="12" name="!!uni"/>
          <p:cNvSpPr txBox="1"/>
          <p:nvPr/>
        </p:nvSpPr>
        <p:spPr>
          <a:xfrm>
            <a:off x="5205818" y="568756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150" b="1" i="0" spc="60">
                <a:solidFill>
                  <a:srgbClr val="FFFFFF"/>
                </a:solidFill>
                <a:latin typeface="Segoe UI"/>
              </a:rPr>
              <a:t>THE ISLAMIA UNIVERSITY OF BAHAWALPUR</a:t>
            </a:r>
          </a:p>
        </p:txBody>
      </p:sp>
      <p:sp>
        <p:nvSpPr>
          <p:cNvPr id="13" name="!!uni2"/>
          <p:cNvSpPr txBox="1"/>
          <p:nvPr/>
        </p:nvSpPr>
        <p:spPr>
          <a:xfrm>
            <a:off x="5205818" y="596188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050" b="0" i="0">
                <a:solidFill>
                  <a:srgbClr val="C0AEC7"/>
                </a:solidFill>
                <a:latin typeface="Segoe UI"/>
              </a:rPr>
              <a:t>Bahawalpur, Pakistan</a:t>
            </a:r>
          </a:p>
        </p:txBody>
      </p:sp>
      <p:pic>
        <p:nvPicPr>
          <p:cNvPr id="14" name="!!logo-iub-logo-white" descr="The Islamia University of Bahawalpur"/>
          <p:cNvPicPr>
            <a:picLocks noChangeAspect="1"/>
          </p:cNvPicPr>
          <p:nvPr/>
        </p:nvPicPr>
        <p:blipFill>
          <a:blip r:embed="rId2"/>
          <a:stretch>
            <a:fillRect/>
          </a:stretch>
        </p:blipFill>
        <p:spPr>
          <a:xfrm>
            <a:off x="9503498" y="5486400"/>
            <a:ext cx="904084" cy="896112"/>
          </a:xfrm>
          <a:prstGeom prst="rect">
            <a:avLst/>
          </a:prstGeom>
        </p:spPr>
      </p:pic>
      <p:pic>
        <p:nvPicPr>
          <p:cNvPr id="15" name="!!logo-dit-logo" descr="Department of Information Technology"/>
          <p:cNvPicPr>
            <a:picLocks noChangeAspect="1"/>
          </p:cNvPicPr>
          <p:nvPr/>
        </p:nvPicPr>
        <p:blipFill>
          <a:blip r:embed="rId3"/>
          <a:stretch>
            <a:fillRect/>
          </a:stretch>
        </p:blipFill>
        <p:spPr>
          <a:xfrm>
            <a:off x="10663614" y="5486400"/>
            <a:ext cx="869712" cy="896112"/>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Where this chapter sits</a:t>
            </a:r>
          </a:p>
        </p:txBody>
      </p:sp>
      <p:pic>
        <p:nvPicPr>
          <p:cNvPr id="3" name="!!kicker-icon" descr="map-signs-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THE COURSE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13  ·  Rule-Based Expert Systems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132     </a:t>
            </a:r>
            <a:fld id="{6A2839E7-FE5D-4481-A1A6-7967E6CF942C}" type="slidenum">
              <a:rPr lang="en-GB" sz="1000">
                <a:solidFill>
                  <a:srgbClr val="8795A1"/>
                </a:solidFill>
                <a:latin typeface="Segoe UI"/>
              </a:rPr>
              <a:t>2</a:t>
            </a:fld>
          </a:p>
        </p:txBody>
      </p:sp>
      <p:sp>
        <p:nvSpPr>
          <p:cNvPr id="7" name="!!rp1"/>
          <p:cNvSpPr txBox="1"/>
          <p:nvPr/>
        </p:nvSpPr>
        <p:spPr>
          <a:xfrm>
            <a:off x="777239"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a:t>
            </a:r>
          </a:p>
        </p:txBody>
      </p:sp>
      <p:sp>
        <p:nvSpPr>
          <p:cNvPr id="8" name="!!rpl1">
            <a:extLst>
              <a:ext uri="{C183D7F6-B498-43B3-948B-1728B52AA6E4}">
                <adec:decorative xmlns:adec="http://schemas.microsoft.com/office/drawing/2017/decorative" val="1"/>
              </a:ext>
            </a:extLst>
          </p:cNvPr>
          <p:cNvSpPr/>
          <p:nvPr/>
        </p:nvSpPr>
        <p:spPr>
          <a:xfrm>
            <a:off x="777239"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rp2"/>
          <p:cNvSpPr txBox="1"/>
          <p:nvPr/>
        </p:nvSpPr>
        <p:spPr>
          <a:xfrm>
            <a:off x="2280139"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II</a:t>
            </a:r>
          </a:p>
        </p:txBody>
      </p:sp>
      <p:sp>
        <p:nvSpPr>
          <p:cNvPr id="10" name="!!rpl2">
            <a:extLst>
              <a:ext uri="{C183D7F6-B498-43B3-948B-1728B52AA6E4}">
                <adec:decorative xmlns:adec="http://schemas.microsoft.com/office/drawing/2017/decorative" val="1"/>
              </a:ext>
            </a:extLst>
          </p:cNvPr>
          <p:cNvSpPr/>
          <p:nvPr/>
        </p:nvSpPr>
        <p:spPr>
          <a:xfrm>
            <a:off x="2280139"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p3"/>
          <p:cNvSpPr txBox="1"/>
          <p:nvPr/>
        </p:nvSpPr>
        <p:spPr>
          <a:xfrm>
            <a:off x="3783039"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III</a:t>
            </a:r>
          </a:p>
        </p:txBody>
      </p:sp>
      <p:sp>
        <p:nvSpPr>
          <p:cNvPr id="12" name="!!rpl3">
            <a:extLst>
              <a:ext uri="{C183D7F6-B498-43B3-948B-1728B52AA6E4}">
                <adec:decorative xmlns:adec="http://schemas.microsoft.com/office/drawing/2017/decorative" val="1"/>
              </a:ext>
            </a:extLst>
          </p:cNvPr>
          <p:cNvSpPr/>
          <p:nvPr/>
        </p:nvSpPr>
        <p:spPr>
          <a:xfrm>
            <a:off x="3783039"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rp4"/>
          <p:cNvSpPr txBox="1"/>
          <p:nvPr/>
        </p:nvSpPr>
        <p:spPr>
          <a:xfrm>
            <a:off x="5285938" y="1755648"/>
            <a:ext cx="173869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7A3A95"/>
                </a:solidFill>
                <a:latin typeface="Segoe UI"/>
              </a:rPr>
              <a:t>PART IV</a:t>
            </a:r>
          </a:p>
        </p:txBody>
      </p:sp>
      <p:sp>
        <p:nvSpPr>
          <p:cNvPr id="14" name="!!rpl4">
            <a:extLst>
              <a:ext uri="{C183D7F6-B498-43B3-948B-1728B52AA6E4}">
                <adec:decorative xmlns:adec="http://schemas.microsoft.com/office/drawing/2017/decorative" val="1"/>
              </a:ext>
            </a:extLst>
          </p:cNvPr>
          <p:cNvSpPr/>
          <p:nvPr/>
        </p:nvSpPr>
        <p:spPr>
          <a:xfrm>
            <a:off x="5285938" y="2029967"/>
            <a:ext cx="1738690" cy="45720"/>
          </a:xfrm>
          <a:prstGeom prst="rect">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rp5"/>
          <p:cNvSpPr txBox="1"/>
          <p:nvPr/>
        </p:nvSpPr>
        <p:spPr>
          <a:xfrm>
            <a:off x="7509260"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V</a:t>
            </a:r>
          </a:p>
        </p:txBody>
      </p:sp>
      <p:sp>
        <p:nvSpPr>
          <p:cNvPr id="16" name="!!rpl5">
            <a:extLst>
              <a:ext uri="{C183D7F6-B498-43B3-948B-1728B52AA6E4}">
                <adec:decorative xmlns:adec="http://schemas.microsoft.com/office/drawing/2017/decorative" val="1"/>
              </a:ext>
            </a:extLst>
          </p:cNvPr>
          <p:cNvSpPr/>
          <p:nvPr/>
        </p:nvSpPr>
        <p:spPr>
          <a:xfrm>
            <a:off x="7509260"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p6"/>
          <p:cNvSpPr txBox="1"/>
          <p:nvPr/>
        </p:nvSpPr>
        <p:spPr>
          <a:xfrm>
            <a:off x="9012160" y="1755648"/>
            <a:ext cx="240229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VI</a:t>
            </a:r>
          </a:p>
        </p:txBody>
      </p:sp>
      <p:sp>
        <p:nvSpPr>
          <p:cNvPr id="18" name="!!rpl6">
            <a:extLst>
              <a:ext uri="{C183D7F6-B498-43B3-948B-1728B52AA6E4}">
                <adec:decorative xmlns:adec="http://schemas.microsoft.com/office/drawing/2017/decorative" val="1"/>
              </a:ext>
            </a:extLst>
          </p:cNvPr>
          <p:cNvSpPr/>
          <p:nvPr/>
        </p:nvSpPr>
        <p:spPr>
          <a:xfrm>
            <a:off x="9012160" y="2029967"/>
            <a:ext cx="240229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dot1">
            <a:extLst>
              <a:ext uri="{C183D7F6-B498-43B3-948B-1728B52AA6E4}">
                <adec:decorative xmlns:adec="http://schemas.microsoft.com/office/drawing/2017/decorative" val="1"/>
              </a:ext>
            </a:extLst>
          </p:cNvPr>
          <p:cNvSpPr/>
          <p:nvPr/>
        </p:nvSpPr>
        <p:spPr>
          <a:xfrm>
            <a:off x="817411"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dotn1"/>
          <p:cNvSpPr txBox="1"/>
          <p:nvPr/>
        </p:nvSpPr>
        <p:spPr>
          <a:xfrm>
            <a:off x="72597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a:t>
            </a:r>
          </a:p>
        </p:txBody>
      </p:sp>
      <p:sp>
        <p:nvSpPr>
          <p:cNvPr id="21" name="!!dot2">
            <a:extLst>
              <a:ext uri="{C183D7F6-B498-43B3-948B-1728B52AA6E4}">
                <adec:decorative xmlns:adec="http://schemas.microsoft.com/office/drawing/2017/decorative" val="1"/>
              </a:ext>
            </a:extLst>
          </p:cNvPr>
          <p:cNvSpPr/>
          <p:nvPr/>
        </p:nvSpPr>
        <p:spPr>
          <a:xfrm>
            <a:off x="1226937"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dotn2"/>
          <p:cNvSpPr txBox="1"/>
          <p:nvPr/>
        </p:nvSpPr>
        <p:spPr>
          <a:xfrm>
            <a:off x="11354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2</a:t>
            </a:r>
          </a:p>
        </p:txBody>
      </p:sp>
      <p:sp>
        <p:nvSpPr>
          <p:cNvPr id="23" name="!!dot3">
            <a:extLst>
              <a:ext uri="{C183D7F6-B498-43B3-948B-1728B52AA6E4}">
                <adec:decorative xmlns:adec="http://schemas.microsoft.com/office/drawing/2017/decorative" val="1"/>
              </a:ext>
            </a:extLst>
          </p:cNvPr>
          <p:cNvSpPr/>
          <p:nvPr/>
        </p:nvSpPr>
        <p:spPr>
          <a:xfrm>
            <a:off x="1636464"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dotn3"/>
          <p:cNvSpPr txBox="1"/>
          <p:nvPr/>
        </p:nvSpPr>
        <p:spPr>
          <a:xfrm>
            <a:off x="154502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3</a:t>
            </a:r>
          </a:p>
        </p:txBody>
      </p:sp>
      <p:sp>
        <p:nvSpPr>
          <p:cNvPr id="25" name="!!dot4">
            <a:extLst>
              <a:ext uri="{C183D7F6-B498-43B3-948B-1728B52AA6E4}">
                <adec:decorative xmlns:adec="http://schemas.microsoft.com/office/drawing/2017/decorative" val="1"/>
              </a:ext>
            </a:extLst>
          </p:cNvPr>
          <p:cNvSpPr/>
          <p:nvPr/>
        </p:nvSpPr>
        <p:spPr>
          <a:xfrm>
            <a:off x="2320310"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dotn4"/>
          <p:cNvSpPr txBox="1"/>
          <p:nvPr/>
        </p:nvSpPr>
        <p:spPr>
          <a:xfrm>
            <a:off x="222887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4</a:t>
            </a:r>
          </a:p>
        </p:txBody>
      </p:sp>
      <p:sp>
        <p:nvSpPr>
          <p:cNvPr id="27" name="!!dot5">
            <a:extLst>
              <a:ext uri="{C183D7F6-B498-43B3-948B-1728B52AA6E4}">
                <adec:decorative xmlns:adec="http://schemas.microsoft.com/office/drawing/2017/decorative" val="1"/>
              </a:ext>
            </a:extLst>
          </p:cNvPr>
          <p:cNvSpPr/>
          <p:nvPr/>
        </p:nvSpPr>
        <p:spPr>
          <a:xfrm>
            <a:off x="2729837"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dotn5"/>
          <p:cNvSpPr txBox="1"/>
          <p:nvPr/>
        </p:nvSpPr>
        <p:spPr>
          <a:xfrm>
            <a:off x="26383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5</a:t>
            </a:r>
          </a:p>
        </p:txBody>
      </p:sp>
      <p:sp>
        <p:nvSpPr>
          <p:cNvPr id="29" name="!!dot6">
            <a:extLst>
              <a:ext uri="{C183D7F6-B498-43B3-948B-1728B52AA6E4}">
                <adec:decorative xmlns:adec="http://schemas.microsoft.com/office/drawing/2017/decorative" val="1"/>
              </a:ext>
            </a:extLst>
          </p:cNvPr>
          <p:cNvSpPr/>
          <p:nvPr/>
        </p:nvSpPr>
        <p:spPr>
          <a:xfrm>
            <a:off x="3139363"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dotn6"/>
          <p:cNvSpPr txBox="1"/>
          <p:nvPr/>
        </p:nvSpPr>
        <p:spPr>
          <a:xfrm>
            <a:off x="30479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6</a:t>
            </a:r>
          </a:p>
        </p:txBody>
      </p:sp>
      <p:sp>
        <p:nvSpPr>
          <p:cNvPr id="31" name="!!dot7">
            <a:extLst>
              <a:ext uri="{C183D7F6-B498-43B3-948B-1728B52AA6E4}">
                <adec:decorative xmlns:adec="http://schemas.microsoft.com/office/drawing/2017/decorative" val="1"/>
              </a:ext>
            </a:extLst>
          </p:cNvPr>
          <p:cNvSpPr/>
          <p:nvPr/>
        </p:nvSpPr>
        <p:spPr>
          <a:xfrm>
            <a:off x="3823210"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dotn7"/>
          <p:cNvSpPr txBox="1"/>
          <p:nvPr/>
        </p:nvSpPr>
        <p:spPr>
          <a:xfrm>
            <a:off x="373177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7</a:t>
            </a:r>
          </a:p>
        </p:txBody>
      </p:sp>
      <p:sp>
        <p:nvSpPr>
          <p:cNvPr id="33" name="!!dot8">
            <a:extLst>
              <a:ext uri="{C183D7F6-B498-43B3-948B-1728B52AA6E4}">
                <adec:decorative xmlns:adec="http://schemas.microsoft.com/office/drawing/2017/decorative" val="1"/>
              </a:ext>
            </a:extLst>
          </p:cNvPr>
          <p:cNvSpPr/>
          <p:nvPr/>
        </p:nvSpPr>
        <p:spPr>
          <a:xfrm>
            <a:off x="4232736"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dotn8"/>
          <p:cNvSpPr txBox="1"/>
          <p:nvPr/>
        </p:nvSpPr>
        <p:spPr>
          <a:xfrm>
            <a:off x="4141296"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8</a:t>
            </a:r>
          </a:p>
        </p:txBody>
      </p:sp>
      <p:sp>
        <p:nvSpPr>
          <p:cNvPr id="35" name="!!dot9">
            <a:extLst>
              <a:ext uri="{C183D7F6-B498-43B3-948B-1728B52AA6E4}">
                <adec:decorative xmlns:adec="http://schemas.microsoft.com/office/drawing/2017/decorative" val="1"/>
              </a:ext>
            </a:extLst>
          </p:cNvPr>
          <p:cNvSpPr/>
          <p:nvPr/>
        </p:nvSpPr>
        <p:spPr>
          <a:xfrm>
            <a:off x="4642263"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dotn9"/>
          <p:cNvSpPr txBox="1"/>
          <p:nvPr/>
        </p:nvSpPr>
        <p:spPr>
          <a:xfrm>
            <a:off x="45508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9</a:t>
            </a:r>
          </a:p>
        </p:txBody>
      </p:sp>
      <p:sp>
        <p:nvSpPr>
          <p:cNvPr id="37" name="!!dot10">
            <a:extLst>
              <a:ext uri="{C183D7F6-B498-43B3-948B-1728B52AA6E4}">
                <adec:decorative xmlns:adec="http://schemas.microsoft.com/office/drawing/2017/decorative" val="1"/>
              </a:ext>
            </a:extLst>
          </p:cNvPr>
          <p:cNvSpPr/>
          <p:nvPr/>
        </p:nvSpPr>
        <p:spPr>
          <a:xfrm>
            <a:off x="5326109" y="2258568"/>
            <a:ext cx="274320" cy="274320"/>
          </a:xfrm>
          <a:prstGeom prst="ellipse">
            <a:avLst/>
          </a:prstGeom>
          <a:solidFill>
            <a:srgbClr val="9F60B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dotn10"/>
          <p:cNvSpPr txBox="1"/>
          <p:nvPr/>
        </p:nvSpPr>
        <p:spPr>
          <a:xfrm>
            <a:off x="5234669"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10</a:t>
            </a:r>
          </a:p>
        </p:txBody>
      </p:sp>
      <p:sp>
        <p:nvSpPr>
          <p:cNvPr id="39" name="!!dot11">
            <a:extLst>
              <a:ext uri="{C183D7F6-B498-43B3-948B-1728B52AA6E4}">
                <adec:decorative xmlns:adec="http://schemas.microsoft.com/office/drawing/2017/decorative" val="1"/>
              </a:ext>
            </a:extLst>
          </p:cNvPr>
          <p:cNvSpPr/>
          <p:nvPr/>
        </p:nvSpPr>
        <p:spPr>
          <a:xfrm>
            <a:off x="5735636" y="2258568"/>
            <a:ext cx="274320" cy="274320"/>
          </a:xfrm>
          <a:prstGeom prst="ellipse">
            <a:avLst/>
          </a:prstGeom>
          <a:solidFill>
            <a:srgbClr val="9F60B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dotn11"/>
          <p:cNvSpPr txBox="1"/>
          <p:nvPr/>
        </p:nvSpPr>
        <p:spPr>
          <a:xfrm>
            <a:off x="5644196"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11</a:t>
            </a:r>
          </a:p>
        </p:txBody>
      </p:sp>
      <p:sp>
        <p:nvSpPr>
          <p:cNvPr id="41" name="!!dot12">
            <a:extLst>
              <a:ext uri="{C183D7F6-B498-43B3-948B-1728B52AA6E4}">
                <adec:decorative xmlns:adec="http://schemas.microsoft.com/office/drawing/2017/decorative" val="1"/>
              </a:ext>
            </a:extLst>
          </p:cNvPr>
          <p:cNvSpPr/>
          <p:nvPr/>
        </p:nvSpPr>
        <p:spPr>
          <a:xfrm>
            <a:off x="6145162" y="2258568"/>
            <a:ext cx="274320" cy="274320"/>
          </a:xfrm>
          <a:prstGeom prst="ellipse">
            <a:avLst/>
          </a:prstGeom>
          <a:solidFill>
            <a:srgbClr val="9F60B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dotn12"/>
          <p:cNvSpPr txBox="1"/>
          <p:nvPr/>
        </p:nvSpPr>
        <p:spPr>
          <a:xfrm>
            <a:off x="6053722"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12</a:t>
            </a:r>
          </a:p>
        </p:txBody>
      </p:sp>
      <p:sp>
        <p:nvSpPr>
          <p:cNvPr id="43" name="!!dot13">
            <a:extLst>
              <a:ext uri="{C183D7F6-B498-43B3-948B-1728B52AA6E4}">
                <adec:decorative xmlns:adec="http://schemas.microsoft.com/office/drawing/2017/decorative" val="1"/>
              </a:ext>
            </a:extLst>
          </p:cNvPr>
          <p:cNvSpPr/>
          <p:nvPr/>
        </p:nvSpPr>
        <p:spPr>
          <a:xfrm>
            <a:off x="6563833" y="2112264"/>
            <a:ext cx="566928" cy="566928"/>
          </a:xfrm>
          <a:prstGeom prst="ellipse">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dotn13"/>
          <p:cNvSpPr txBox="1"/>
          <p:nvPr/>
        </p:nvSpPr>
        <p:spPr>
          <a:xfrm>
            <a:off x="6563833" y="2240280"/>
            <a:ext cx="566928"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13</a:t>
            </a:r>
          </a:p>
        </p:txBody>
      </p:sp>
      <p:sp>
        <p:nvSpPr>
          <p:cNvPr id="45" name="!!dot14">
            <a:extLst>
              <a:ext uri="{C183D7F6-B498-43B3-948B-1728B52AA6E4}">
                <adec:decorative xmlns:adec="http://schemas.microsoft.com/office/drawing/2017/decorative" val="1"/>
              </a:ext>
            </a:extLst>
          </p:cNvPr>
          <p:cNvSpPr/>
          <p:nvPr/>
        </p:nvSpPr>
        <p:spPr>
          <a:xfrm>
            <a:off x="7549431"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dotn14"/>
          <p:cNvSpPr txBox="1"/>
          <p:nvPr/>
        </p:nvSpPr>
        <p:spPr>
          <a:xfrm>
            <a:off x="745799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14</a:t>
            </a:r>
          </a:p>
        </p:txBody>
      </p:sp>
      <p:sp>
        <p:nvSpPr>
          <p:cNvPr id="47" name="!!dot15">
            <a:extLst>
              <a:ext uri="{C183D7F6-B498-43B3-948B-1728B52AA6E4}">
                <adec:decorative xmlns:adec="http://schemas.microsoft.com/office/drawing/2017/decorative" val="1"/>
              </a:ext>
            </a:extLst>
          </p:cNvPr>
          <p:cNvSpPr/>
          <p:nvPr/>
        </p:nvSpPr>
        <p:spPr>
          <a:xfrm>
            <a:off x="7958958"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dotn15"/>
          <p:cNvSpPr txBox="1"/>
          <p:nvPr/>
        </p:nvSpPr>
        <p:spPr>
          <a:xfrm>
            <a:off x="7867518"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15</a:t>
            </a:r>
          </a:p>
        </p:txBody>
      </p:sp>
      <p:sp>
        <p:nvSpPr>
          <p:cNvPr id="49" name="!!dot16">
            <a:extLst>
              <a:ext uri="{C183D7F6-B498-43B3-948B-1728B52AA6E4}">
                <adec:decorative xmlns:adec="http://schemas.microsoft.com/office/drawing/2017/decorative" val="1"/>
              </a:ext>
            </a:extLst>
          </p:cNvPr>
          <p:cNvSpPr/>
          <p:nvPr/>
        </p:nvSpPr>
        <p:spPr>
          <a:xfrm>
            <a:off x="8368484"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dotn16"/>
          <p:cNvSpPr txBox="1"/>
          <p:nvPr/>
        </p:nvSpPr>
        <p:spPr>
          <a:xfrm>
            <a:off x="827704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16</a:t>
            </a:r>
          </a:p>
        </p:txBody>
      </p:sp>
      <p:sp>
        <p:nvSpPr>
          <p:cNvPr id="51" name="!!dot17">
            <a:extLst>
              <a:ext uri="{C183D7F6-B498-43B3-948B-1728B52AA6E4}">
                <adec:decorative xmlns:adec="http://schemas.microsoft.com/office/drawing/2017/decorative" val="1"/>
              </a:ext>
            </a:extLst>
          </p:cNvPr>
          <p:cNvSpPr/>
          <p:nvPr/>
        </p:nvSpPr>
        <p:spPr>
          <a:xfrm>
            <a:off x="9052331"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dotn17"/>
          <p:cNvSpPr txBox="1"/>
          <p:nvPr/>
        </p:nvSpPr>
        <p:spPr>
          <a:xfrm>
            <a:off x="896089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17</a:t>
            </a:r>
          </a:p>
        </p:txBody>
      </p:sp>
      <p:sp>
        <p:nvSpPr>
          <p:cNvPr id="53" name="!!dot18">
            <a:extLst>
              <a:ext uri="{C183D7F6-B498-43B3-948B-1728B52AA6E4}">
                <adec:decorative xmlns:adec="http://schemas.microsoft.com/office/drawing/2017/decorative" val="1"/>
              </a:ext>
            </a:extLst>
          </p:cNvPr>
          <p:cNvSpPr/>
          <p:nvPr/>
        </p:nvSpPr>
        <p:spPr>
          <a:xfrm>
            <a:off x="9461857"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dotn18"/>
          <p:cNvSpPr txBox="1"/>
          <p:nvPr/>
        </p:nvSpPr>
        <p:spPr>
          <a:xfrm>
            <a:off x="937041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18</a:t>
            </a:r>
          </a:p>
        </p:txBody>
      </p:sp>
      <p:sp>
        <p:nvSpPr>
          <p:cNvPr id="55" name="!!dot19">
            <a:extLst>
              <a:ext uri="{C183D7F6-B498-43B3-948B-1728B52AA6E4}">
                <adec:decorative xmlns:adec="http://schemas.microsoft.com/office/drawing/2017/decorative" val="1"/>
              </a:ext>
            </a:extLst>
          </p:cNvPr>
          <p:cNvSpPr/>
          <p:nvPr/>
        </p:nvSpPr>
        <p:spPr>
          <a:xfrm>
            <a:off x="9871384"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dotn19"/>
          <p:cNvSpPr txBox="1"/>
          <p:nvPr/>
        </p:nvSpPr>
        <p:spPr>
          <a:xfrm>
            <a:off x="977994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19</a:t>
            </a:r>
          </a:p>
        </p:txBody>
      </p:sp>
      <p:sp>
        <p:nvSpPr>
          <p:cNvPr id="57" name="!!dot20">
            <a:extLst>
              <a:ext uri="{C183D7F6-B498-43B3-948B-1728B52AA6E4}">
                <adec:decorative xmlns:adec="http://schemas.microsoft.com/office/drawing/2017/decorative" val="1"/>
              </a:ext>
            </a:extLst>
          </p:cNvPr>
          <p:cNvSpPr/>
          <p:nvPr/>
        </p:nvSpPr>
        <p:spPr>
          <a:xfrm>
            <a:off x="10280910"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dotn20"/>
          <p:cNvSpPr txBox="1"/>
          <p:nvPr/>
        </p:nvSpPr>
        <p:spPr>
          <a:xfrm>
            <a:off x="1018947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20</a:t>
            </a:r>
          </a:p>
        </p:txBody>
      </p:sp>
      <p:sp>
        <p:nvSpPr>
          <p:cNvPr id="59" name="!!dot21">
            <a:extLst>
              <a:ext uri="{C183D7F6-B498-43B3-948B-1728B52AA6E4}">
                <adec:decorative xmlns:adec="http://schemas.microsoft.com/office/drawing/2017/decorative" val="1"/>
              </a:ext>
            </a:extLst>
          </p:cNvPr>
          <p:cNvSpPr/>
          <p:nvPr/>
        </p:nvSpPr>
        <p:spPr>
          <a:xfrm>
            <a:off x="10690437"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dotn21"/>
          <p:cNvSpPr txBox="1"/>
          <p:nvPr/>
        </p:nvSpPr>
        <p:spPr>
          <a:xfrm>
            <a:off x="105989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21</a:t>
            </a:r>
          </a:p>
        </p:txBody>
      </p:sp>
      <p:sp>
        <p:nvSpPr>
          <p:cNvPr id="61" name="!!dot22">
            <a:extLst>
              <a:ext uri="{C183D7F6-B498-43B3-948B-1728B52AA6E4}">
                <adec:decorative xmlns:adec="http://schemas.microsoft.com/office/drawing/2017/decorative" val="1"/>
              </a:ext>
            </a:extLst>
          </p:cNvPr>
          <p:cNvSpPr/>
          <p:nvPr/>
        </p:nvSpPr>
        <p:spPr>
          <a:xfrm>
            <a:off x="11099963"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2" name="!!dotn22"/>
          <p:cNvSpPr txBox="1"/>
          <p:nvPr/>
        </p:nvSpPr>
        <p:spPr>
          <a:xfrm>
            <a:off x="110085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22</a:t>
            </a:r>
          </a:p>
        </p:txBody>
      </p:sp>
      <p:sp>
        <p:nvSpPr>
          <p:cNvPr id="63" name="!!dotlabel"/>
          <p:cNvSpPr txBox="1"/>
          <p:nvPr/>
        </p:nvSpPr>
        <p:spPr>
          <a:xfrm>
            <a:off x="3921217" y="2798064"/>
            <a:ext cx="5852160"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7A3A95"/>
                </a:solidFill>
                <a:latin typeface="Segoe UI"/>
              </a:rPr>
              <a:t>Rule-Based Expert Systems</a:t>
            </a:r>
          </a:p>
        </p:txBody>
      </p:sp>
      <p:sp>
        <p:nvSpPr>
          <p:cNvPr id="64" name="!!dep-BUILD"/>
          <p:cNvSpPr txBox="1"/>
          <p:nvPr/>
        </p:nvSpPr>
        <p:spPr>
          <a:xfrm>
            <a:off x="658368"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BUILDS ON</a:t>
            </a:r>
          </a:p>
        </p:txBody>
      </p:sp>
      <p:sp>
        <p:nvSpPr>
          <p:cNvPr id="65" name="!!chipBU10">
            <a:extLst>
              <a:ext uri="{C183D7F6-B498-43B3-948B-1728B52AA6E4}">
                <adec:decorative xmlns:adec="http://schemas.microsoft.com/office/drawing/2017/decorative" val="1"/>
              </a:ext>
            </a:extLst>
          </p:cNvPr>
          <p:cNvSpPr/>
          <p:nvPr/>
        </p:nvSpPr>
        <p:spPr>
          <a:xfrm>
            <a:off x="658368" y="3785616"/>
            <a:ext cx="5208879" cy="420624"/>
          </a:xfrm>
          <a:prstGeom prst="roundRect">
            <a:avLst>
              <a:gd name="adj" fmla="val 17391"/>
            </a:avLst>
          </a:prstGeom>
          <a:solidFill>
            <a:srgbClr val="F2EB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6" name="!!chipbBU10">
            <a:extLst>
              <a:ext uri="{C183D7F6-B498-43B3-948B-1728B52AA6E4}">
                <adec:decorative xmlns:adec="http://schemas.microsoft.com/office/drawing/2017/decorative" val="1"/>
              </a:ext>
            </a:extLst>
          </p:cNvPr>
          <p:cNvSpPr/>
          <p:nvPr/>
        </p:nvSpPr>
        <p:spPr>
          <a:xfrm>
            <a:off x="658368" y="3785616"/>
            <a:ext cx="64008" cy="420624"/>
          </a:xfrm>
          <a:prstGeom prst="rect">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7" name="!!chiptBU10"/>
          <p:cNvSpPr txBox="1"/>
          <p:nvPr/>
        </p:nvSpPr>
        <p:spPr>
          <a:xfrm>
            <a:off x="859536" y="3877056"/>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7A3A95"/>
                </a:solidFill>
                <a:latin typeface="Segoe UI"/>
              </a:rPr>
              <a:t>Ch 10  </a:t>
            </a:r>
            <a:r>
              <a:rPr sz="1400" b="0" i="0">
                <a:solidFill>
                  <a:srgbClr val="1C252B"/>
                </a:solidFill>
                <a:latin typeface="Segoe UI"/>
              </a:rPr>
              <a:t>Knowledge Representation</a:t>
            </a:r>
          </a:p>
        </p:txBody>
      </p:sp>
      <p:sp>
        <p:nvSpPr>
          <p:cNvPr id="68" name="!!chipBU11">
            <a:extLst>
              <a:ext uri="{C183D7F6-B498-43B3-948B-1728B52AA6E4}">
                <adec:decorative xmlns:adec="http://schemas.microsoft.com/office/drawing/2017/decorative" val="1"/>
              </a:ext>
            </a:extLst>
          </p:cNvPr>
          <p:cNvSpPr/>
          <p:nvPr/>
        </p:nvSpPr>
        <p:spPr>
          <a:xfrm>
            <a:off x="658368" y="4297680"/>
            <a:ext cx="5208879" cy="420624"/>
          </a:xfrm>
          <a:prstGeom prst="roundRect">
            <a:avLst>
              <a:gd name="adj" fmla="val 17391"/>
            </a:avLst>
          </a:prstGeom>
          <a:solidFill>
            <a:srgbClr val="F2EB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9" name="!!chipbBU11">
            <a:extLst>
              <a:ext uri="{C183D7F6-B498-43B3-948B-1728B52AA6E4}">
                <adec:decorative xmlns:adec="http://schemas.microsoft.com/office/drawing/2017/decorative" val="1"/>
              </a:ext>
            </a:extLst>
          </p:cNvPr>
          <p:cNvSpPr/>
          <p:nvPr/>
        </p:nvSpPr>
        <p:spPr>
          <a:xfrm>
            <a:off x="658368" y="4297680"/>
            <a:ext cx="64008" cy="420624"/>
          </a:xfrm>
          <a:prstGeom prst="rect">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0" name="!!chiptBU11"/>
          <p:cNvSpPr txBox="1"/>
          <p:nvPr/>
        </p:nvSpPr>
        <p:spPr>
          <a:xfrm>
            <a:off x="859536" y="4389120"/>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7A3A95"/>
                </a:solidFill>
                <a:latin typeface="Segoe UI"/>
              </a:rPr>
              <a:t>Ch 11  </a:t>
            </a:r>
            <a:r>
              <a:rPr sz="1400" b="0" i="0">
                <a:solidFill>
                  <a:srgbClr val="1C252B"/>
                </a:solidFill>
                <a:latin typeface="Segoe UI"/>
              </a:rPr>
              <a:t>Propositional Logic and Inference</a:t>
            </a:r>
          </a:p>
        </p:txBody>
      </p:sp>
      <p:sp>
        <p:nvSpPr>
          <p:cNvPr id="71" name="!!chipBU12">
            <a:extLst>
              <a:ext uri="{C183D7F6-B498-43B3-948B-1728B52AA6E4}">
                <adec:decorative xmlns:adec="http://schemas.microsoft.com/office/drawing/2017/decorative" val="1"/>
              </a:ext>
            </a:extLst>
          </p:cNvPr>
          <p:cNvSpPr/>
          <p:nvPr/>
        </p:nvSpPr>
        <p:spPr>
          <a:xfrm>
            <a:off x="658368" y="4809744"/>
            <a:ext cx="5208879" cy="420624"/>
          </a:xfrm>
          <a:prstGeom prst="roundRect">
            <a:avLst>
              <a:gd name="adj" fmla="val 17391"/>
            </a:avLst>
          </a:prstGeom>
          <a:solidFill>
            <a:srgbClr val="F2EB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2" name="!!chipbBU12">
            <a:extLst>
              <a:ext uri="{C183D7F6-B498-43B3-948B-1728B52AA6E4}">
                <adec:decorative xmlns:adec="http://schemas.microsoft.com/office/drawing/2017/decorative" val="1"/>
              </a:ext>
            </a:extLst>
          </p:cNvPr>
          <p:cNvSpPr/>
          <p:nvPr/>
        </p:nvSpPr>
        <p:spPr>
          <a:xfrm>
            <a:off x="658368" y="4809744"/>
            <a:ext cx="64008" cy="420624"/>
          </a:xfrm>
          <a:prstGeom prst="rect">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3" name="!!chiptBU12"/>
          <p:cNvSpPr txBox="1"/>
          <p:nvPr/>
        </p:nvSpPr>
        <p:spPr>
          <a:xfrm>
            <a:off x="859536" y="4901184"/>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7A3A95"/>
                </a:solidFill>
                <a:latin typeface="Segoe UI"/>
              </a:rPr>
              <a:t>Ch 12  </a:t>
            </a:r>
            <a:r>
              <a:rPr sz="1400" b="0" i="0">
                <a:solidFill>
                  <a:srgbClr val="1C252B"/>
                </a:solidFill>
                <a:latin typeface="Segoe UI"/>
              </a:rPr>
              <a:t>First-Order Logic and Resolution</a:t>
            </a:r>
          </a:p>
        </p:txBody>
      </p:sp>
      <p:sp>
        <p:nvSpPr>
          <p:cNvPr id="74" name="!!dep-USED "/>
          <p:cNvSpPr txBox="1"/>
          <p:nvPr/>
        </p:nvSpPr>
        <p:spPr>
          <a:xfrm>
            <a:off x="6324447"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USED LATER IN</a:t>
            </a:r>
          </a:p>
        </p:txBody>
      </p:sp>
      <p:sp>
        <p:nvSpPr>
          <p:cNvPr id="75" name="!!chipUS15">
            <a:extLst>
              <a:ext uri="{C183D7F6-B498-43B3-948B-1728B52AA6E4}">
                <adec:decorative xmlns:adec="http://schemas.microsoft.com/office/drawing/2017/decorative" val="1"/>
              </a:ext>
            </a:extLst>
          </p:cNvPr>
          <p:cNvSpPr/>
          <p:nvPr/>
        </p:nvSpPr>
        <p:spPr>
          <a:xfrm>
            <a:off x="6324447" y="3785616"/>
            <a:ext cx="5208879" cy="420624"/>
          </a:xfrm>
          <a:prstGeom prst="roundRect">
            <a:avLst>
              <a:gd name="adj" fmla="val 17391"/>
            </a:avLst>
          </a:prstGeom>
          <a:solidFill>
            <a:srgbClr val="E7F2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6" name="!!chipbUS15">
            <a:extLst>
              <a:ext uri="{C183D7F6-B498-43B3-948B-1728B52AA6E4}">
                <adec:decorative xmlns:adec="http://schemas.microsoft.com/office/drawing/2017/decorative" val="1"/>
              </a:ext>
            </a:extLst>
          </p:cNvPr>
          <p:cNvSpPr/>
          <p:nvPr/>
        </p:nvSpPr>
        <p:spPr>
          <a:xfrm>
            <a:off x="6324447" y="3785616"/>
            <a:ext cx="64008" cy="420624"/>
          </a:xfrm>
          <a:prstGeom prst="rect">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7" name="!!chiptUS15"/>
          <p:cNvSpPr txBox="1"/>
          <p:nvPr/>
        </p:nvSpPr>
        <p:spPr>
          <a:xfrm>
            <a:off x="6525615" y="3877056"/>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07964"/>
                </a:solidFill>
                <a:latin typeface="Segoe UI"/>
              </a:rPr>
              <a:t>Ch 15  </a:t>
            </a:r>
            <a:r>
              <a:rPr sz="1400" b="0" i="0">
                <a:solidFill>
                  <a:srgbClr val="1C252B"/>
                </a:solidFill>
                <a:latin typeface="Segoe UI"/>
              </a:rPr>
              <a:t>Bayesian Networks</a:t>
            </a:r>
          </a:p>
        </p:txBody>
      </p:sp>
      <p:sp>
        <p:nvSpPr>
          <p:cNvPr id="78" name="!!chipUS17">
            <a:extLst>
              <a:ext uri="{C183D7F6-B498-43B3-948B-1728B52AA6E4}">
                <adec:decorative xmlns:adec="http://schemas.microsoft.com/office/drawing/2017/decorative" val="1"/>
              </a:ext>
            </a:extLst>
          </p:cNvPr>
          <p:cNvSpPr/>
          <p:nvPr/>
        </p:nvSpPr>
        <p:spPr>
          <a:xfrm>
            <a:off x="6324447" y="4297680"/>
            <a:ext cx="5208879" cy="420624"/>
          </a:xfrm>
          <a:prstGeom prst="roundRect">
            <a:avLst>
              <a:gd name="adj" fmla="val 17391"/>
            </a:avLst>
          </a:prstGeom>
          <a:solidFill>
            <a:srgbClr val="F1EF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9" name="!!chipbUS17">
            <a:extLst>
              <a:ext uri="{C183D7F6-B498-43B3-948B-1728B52AA6E4}">
                <adec:decorative xmlns:adec="http://schemas.microsoft.com/office/drawing/2017/decorative" val="1"/>
              </a:ext>
            </a:extLst>
          </p:cNvPr>
          <p:cNvSpPr/>
          <p:nvPr/>
        </p:nvSpPr>
        <p:spPr>
          <a:xfrm>
            <a:off x="6324447" y="4297680"/>
            <a:ext cx="64008" cy="420624"/>
          </a:xfrm>
          <a:prstGeom prst="rect">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0" name="!!chiptUS17"/>
          <p:cNvSpPr txBox="1"/>
          <p:nvPr/>
        </p:nvSpPr>
        <p:spPr>
          <a:xfrm>
            <a:off x="6525615" y="4389120"/>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705B06"/>
                </a:solidFill>
                <a:latin typeface="Segoe UI"/>
              </a:rPr>
              <a:t>Ch 17  </a:t>
            </a:r>
            <a:r>
              <a:rPr sz="1400" b="0" i="0">
                <a:solidFill>
                  <a:srgbClr val="1C252B"/>
                </a:solidFill>
                <a:latin typeface="Segoe UI"/>
              </a:rPr>
              <a:t>Learning from Examples</a:t>
            </a:r>
          </a:p>
        </p:txBody>
      </p:sp>
      <p:sp>
        <p:nvSpPr>
          <p:cNvPr id="81" name="!!chipUS19">
            <a:extLst>
              <a:ext uri="{C183D7F6-B498-43B3-948B-1728B52AA6E4}">
                <adec:decorative xmlns:adec="http://schemas.microsoft.com/office/drawing/2017/decorative" val="1"/>
              </a:ext>
            </a:extLst>
          </p:cNvPr>
          <p:cNvSpPr/>
          <p:nvPr/>
        </p:nvSpPr>
        <p:spPr>
          <a:xfrm>
            <a:off x="6324447" y="4809744"/>
            <a:ext cx="5208879" cy="420624"/>
          </a:xfrm>
          <a:prstGeom prst="roundRect">
            <a:avLst>
              <a:gd name="adj" fmla="val 17391"/>
            </a:avLst>
          </a:prstGeom>
          <a:solidFill>
            <a:srgbClr val="F1EF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2" name="!!chipbUS19">
            <a:extLst>
              <a:ext uri="{C183D7F6-B498-43B3-948B-1728B52AA6E4}">
                <adec:decorative xmlns:adec="http://schemas.microsoft.com/office/drawing/2017/decorative" val="1"/>
              </a:ext>
            </a:extLst>
          </p:cNvPr>
          <p:cNvSpPr/>
          <p:nvPr/>
        </p:nvSpPr>
        <p:spPr>
          <a:xfrm>
            <a:off x="6324447" y="4809744"/>
            <a:ext cx="64008" cy="420624"/>
          </a:xfrm>
          <a:prstGeom prst="rect">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3" name="!!chiptUS19"/>
          <p:cNvSpPr txBox="1"/>
          <p:nvPr/>
        </p:nvSpPr>
        <p:spPr>
          <a:xfrm>
            <a:off x="6525615" y="4901184"/>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705B06"/>
                </a:solidFill>
                <a:latin typeface="Segoe UI"/>
              </a:rPr>
              <a:t>Ch 19  </a:t>
            </a:r>
            <a:r>
              <a:rPr sz="1400" b="0" i="0">
                <a:solidFill>
                  <a:srgbClr val="1C252B"/>
                </a:solidFill>
                <a:latin typeface="Segoe UI"/>
              </a:rPr>
              <a:t>Classic AI Systems and How to Analyse Them</a:t>
            </a:r>
          </a:p>
        </p:txBody>
      </p:sp>
      <p:sp>
        <p:nvSpPr>
          <p:cNvPr id="84" name="!!chipUS20">
            <a:extLst>
              <a:ext uri="{C183D7F6-B498-43B3-948B-1728B52AA6E4}">
                <adec:decorative xmlns:adec="http://schemas.microsoft.com/office/drawing/2017/decorative" val="1"/>
              </a:ext>
            </a:extLst>
          </p:cNvPr>
          <p:cNvSpPr/>
          <p:nvPr/>
        </p:nvSpPr>
        <p:spPr>
          <a:xfrm>
            <a:off x="6324447" y="5321808"/>
            <a:ext cx="5208879" cy="420624"/>
          </a:xfrm>
          <a:prstGeom prst="roundRect">
            <a:avLst>
              <a:gd name="adj" fmla="val 17391"/>
            </a:avLst>
          </a:prstGeom>
          <a:solidFill>
            <a:srgbClr val="F1EF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5" name="!!chipbUS20">
            <a:extLst>
              <a:ext uri="{C183D7F6-B498-43B3-948B-1728B52AA6E4}">
                <adec:decorative xmlns:adec="http://schemas.microsoft.com/office/drawing/2017/decorative" val="1"/>
              </a:ext>
            </a:extLst>
          </p:cNvPr>
          <p:cNvSpPr/>
          <p:nvPr/>
        </p:nvSpPr>
        <p:spPr>
          <a:xfrm>
            <a:off x="6324447" y="5321808"/>
            <a:ext cx="64008" cy="420624"/>
          </a:xfrm>
          <a:prstGeom prst="rect">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6" name="!!chiptUS20"/>
          <p:cNvSpPr txBox="1"/>
          <p:nvPr/>
        </p:nvSpPr>
        <p:spPr>
          <a:xfrm>
            <a:off x="6525615" y="5413248"/>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705B06"/>
                </a:solidFill>
                <a:latin typeface="Segoe UI"/>
              </a:rPr>
              <a:t>Ch 20  </a:t>
            </a:r>
            <a:r>
              <a:rPr sz="1400" b="0" i="0">
                <a:solidFill>
                  <a:srgbClr val="1C252B"/>
                </a:solidFill>
                <a:latin typeface="Segoe UI"/>
              </a:rPr>
              <a:t>Recent Trends and Applications</a:t>
            </a:r>
          </a:p>
        </p:txBody>
      </p:sp>
      <p:sp>
        <p:nvSpPr>
          <p:cNvPr id="87" name="!!chipUS21">
            <a:extLst>
              <a:ext uri="{C183D7F6-B498-43B3-948B-1728B52AA6E4}">
                <adec:decorative xmlns:adec="http://schemas.microsoft.com/office/drawing/2017/decorative" val="1"/>
              </a:ext>
            </a:extLst>
          </p:cNvPr>
          <p:cNvSpPr/>
          <p:nvPr/>
        </p:nvSpPr>
        <p:spPr>
          <a:xfrm>
            <a:off x="6324447" y="5833872"/>
            <a:ext cx="5208879" cy="420624"/>
          </a:xfrm>
          <a:prstGeom prst="roundRect">
            <a:avLst>
              <a:gd name="adj" fmla="val 17391"/>
            </a:avLst>
          </a:prstGeom>
          <a:solidFill>
            <a:srgbClr val="F1EF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8" name="!!chipbUS21">
            <a:extLst>
              <a:ext uri="{C183D7F6-B498-43B3-948B-1728B52AA6E4}">
                <adec:decorative xmlns:adec="http://schemas.microsoft.com/office/drawing/2017/decorative" val="1"/>
              </a:ext>
            </a:extLst>
          </p:cNvPr>
          <p:cNvSpPr/>
          <p:nvPr/>
        </p:nvSpPr>
        <p:spPr>
          <a:xfrm>
            <a:off x="6324447" y="5833872"/>
            <a:ext cx="64008" cy="420624"/>
          </a:xfrm>
          <a:prstGeom prst="rect">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9" name="!!chiptUS21"/>
          <p:cNvSpPr txBox="1"/>
          <p:nvPr/>
        </p:nvSpPr>
        <p:spPr>
          <a:xfrm>
            <a:off x="6525615" y="5925312"/>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705B06"/>
                </a:solidFill>
                <a:latin typeface="Segoe UI"/>
              </a:rPr>
              <a:t>Ch 21  </a:t>
            </a:r>
            <a:r>
              <a:rPr sz="1400" b="0" i="0">
                <a:solidFill>
                  <a:srgbClr val="1C252B"/>
                </a:solidFill>
                <a:latin typeface="Segoe UI"/>
              </a:rPr>
              <a:t>Responsible AI and Its Limits</a:t>
            </a:r>
          </a:p>
        </p:txBody>
      </p:sp>
      <p:sp>
        <p:nvSpPr>
          <p:cNvPr id="9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1" name="!!pfill">
            <a:extLst>
              <a:ext uri="{C183D7F6-B498-43B3-948B-1728B52AA6E4}">
                <adec:decorative xmlns:adec="http://schemas.microsoft.com/office/drawing/2017/decorative" val="1"/>
              </a:ext>
            </a:extLst>
          </p:cNvPr>
          <p:cNvSpPr/>
          <p:nvPr/>
        </p:nvSpPr>
        <p:spPr>
          <a:xfrm>
            <a:off x="0" y="0"/>
            <a:ext cx="413277"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you will be able to do</a:t>
            </a:r>
          </a:p>
        </p:txBody>
      </p:sp>
      <p:pic>
        <p:nvPicPr>
          <p:cNvPr id="3" name="!!kicker-icon" descr="bullsey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LEARNING OUTCOMES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13  ·  Rule-Based Expert Systems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132     </a:t>
            </a:r>
            <a:fld id="{EDFF8E39-C06B-4112-BF9E-74111E29FB9C}" type="slidenum">
              <a:rPr lang="en-GB" sz="1000">
                <a:solidFill>
                  <a:srgbClr val="8795A1"/>
                </a:solidFill>
                <a:latin typeface="Segoe UI"/>
              </a:rPr>
              <a:t>3</a:t>
            </a:fld>
          </a:p>
        </p:txBody>
      </p:sp>
      <p:sp>
        <p:nvSpPr>
          <p:cNvPr id="7" name="!!olead"/>
          <p:cNvSpPr txBox="1"/>
          <p:nvPr/>
        </p:nvSpPr>
        <p:spPr>
          <a:xfrm>
            <a:off x="658368" y="1737360"/>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5F6F7B"/>
                </a:solidFill>
                <a:latin typeface="Segoe UI"/>
              </a:rPr>
              <a:t>By the end of this chapter you will be able to:</a:t>
            </a:r>
          </a:p>
        </p:txBody>
      </p:sp>
      <p:sp>
        <p:nvSpPr>
          <p:cNvPr id="8" name="!!ob0">
            <a:extLst>
              <a:ext uri="{C183D7F6-B498-43B3-948B-1728B52AA6E4}">
                <adec:decorative xmlns:adec="http://schemas.microsoft.com/office/drawing/2017/decorative" val="1"/>
              </a:ext>
            </a:extLst>
          </p:cNvPr>
          <p:cNvSpPr/>
          <p:nvPr/>
        </p:nvSpPr>
        <p:spPr>
          <a:xfrm>
            <a:off x="658368" y="2221991"/>
            <a:ext cx="420624" cy="420624"/>
          </a:xfrm>
          <a:prstGeom prst="ellipse">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obn0"/>
          <p:cNvSpPr txBox="1"/>
          <p:nvPr/>
        </p:nvSpPr>
        <p:spPr>
          <a:xfrm>
            <a:off x="658368" y="2281428"/>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10" name="!!ot0"/>
          <p:cNvSpPr txBox="1"/>
          <p:nvPr/>
        </p:nvSpPr>
        <p:spPr>
          <a:xfrm>
            <a:off x="1316736" y="2212848"/>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A3A95"/>
                </a:solidFill>
                <a:latin typeface="Segoe UI"/>
              </a:rPr>
              <a:t>Build</a:t>
            </a:r>
            <a:r>
              <a:rPr sz="2100" b="0" i="0">
                <a:solidFill>
                  <a:srgbClr val="1C252B"/>
                </a:solidFill>
                <a:latin typeface="Segoe UI"/>
              </a:rPr>
              <a:t> a production system: working memory, a rule base and an inference engine running the match–resolve–act cycle.</a:t>
            </a:r>
          </a:p>
        </p:txBody>
      </p:sp>
      <p:sp>
        <p:nvSpPr>
          <p:cNvPr id="11" name="!!ob1">
            <a:extLst>
              <a:ext uri="{C183D7F6-B498-43B3-948B-1728B52AA6E4}">
                <adec:decorative xmlns:adec="http://schemas.microsoft.com/office/drawing/2017/decorative" val="1"/>
              </a:ext>
            </a:extLst>
          </p:cNvPr>
          <p:cNvSpPr/>
          <p:nvPr/>
        </p:nvSpPr>
        <p:spPr>
          <a:xfrm>
            <a:off x="658368" y="3070555"/>
            <a:ext cx="420624" cy="420624"/>
          </a:xfrm>
          <a:prstGeom prst="ellipse">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obn1"/>
          <p:cNvSpPr txBox="1"/>
          <p:nvPr/>
        </p:nvSpPr>
        <p:spPr>
          <a:xfrm>
            <a:off x="658368" y="3129991"/>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3" name="!!ot1"/>
          <p:cNvSpPr txBox="1"/>
          <p:nvPr/>
        </p:nvSpPr>
        <p:spPr>
          <a:xfrm>
            <a:off x="1316736" y="3111703"/>
            <a:ext cx="10216591" cy="420624"/>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A3A95"/>
                </a:solidFill>
                <a:latin typeface="Segoe UI"/>
              </a:rPr>
              <a:t>Apply</a:t>
            </a:r>
            <a:r>
              <a:rPr sz="2100" b="0" i="0">
                <a:solidFill>
                  <a:srgbClr val="1C252B"/>
                </a:solidFill>
                <a:latin typeface="Segoe UI"/>
              </a:rPr>
              <a:t> forward and backward chaining, and </a:t>
            </a:r>
            <a:r>
              <a:rPr sz="2100" b="1" i="0">
                <a:solidFill>
                  <a:srgbClr val="1C252B"/>
                </a:solidFill>
                <a:latin typeface="Segoe UI"/>
              </a:rPr>
              <a:t>choose</a:t>
            </a:r>
            <a:r>
              <a:rPr sz="2100" b="0" i="0">
                <a:solidFill>
                  <a:srgbClr val="1C252B"/>
                </a:solidFill>
                <a:latin typeface="Segoe UI"/>
              </a:rPr>
              <a:t> between them for a given task.</a:t>
            </a:r>
          </a:p>
        </p:txBody>
      </p:sp>
      <p:sp>
        <p:nvSpPr>
          <p:cNvPr id="14" name="!!ob2">
            <a:extLst>
              <a:ext uri="{C183D7F6-B498-43B3-948B-1728B52AA6E4}">
                <adec:decorative xmlns:adec="http://schemas.microsoft.com/office/drawing/2017/decorative" val="1"/>
              </a:ext>
            </a:extLst>
          </p:cNvPr>
          <p:cNvSpPr/>
          <p:nvPr/>
        </p:nvSpPr>
        <p:spPr>
          <a:xfrm>
            <a:off x="658368" y="3674059"/>
            <a:ext cx="420624" cy="420624"/>
          </a:xfrm>
          <a:prstGeom prst="ellipse">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obn2"/>
          <p:cNvSpPr txBox="1"/>
          <p:nvPr/>
        </p:nvSpPr>
        <p:spPr>
          <a:xfrm>
            <a:off x="658368" y="3733495"/>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6" name="!!ot2"/>
          <p:cNvSpPr txBox="1"/>
          <p:nvPr/>
        </p:nvSpPr>
        <p:spPr>
          <a:xfrm>
            <a:off x="1316736" y="3715207"/>
            <a:ext cx="10216591" cy="420624"/>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A3A95"/>
                </a:solidFill>
                <a:latin typeface="Segoe UI"/>
              </a:rPr>
              <a:t>Resolve</a:t>
            </a:r>
            <a:r>
              <a:rPr sz="2100" b="0" i="0">
                <a:solidFill>
                  <a:srgbClr val="1C252B"/>
                </a:solidFill>
                <a:latin typeface="Segoe UI"/>
              </a:rPr>
              <a:t> conflicts between applicable rules, and </a:t>
            </a:r>
            <a:r>
              <a:rPr sz="2100" b="1" i="0">
                <a:solidFill>
                  <a:srgbClr val="1C252B"/>
                </a:solidFill>
                <a:latin typeface="Segoe UI"/>
              </a:rPr>
              <a:t>justify</a:t>
            </a:r>
            <a:r>
              <a:rPr sz="2100" b="0" i="0">
                <a:solidFill>
                  <a:srgbClr val="1C252B"/>
                </a:solidFill>
                <a:latin typeface="Segoe UI"/>
              </a:rPr>
              <a:t> the strategy chosen.</a:t>
            </a:r>
          </a:p>
        </p:txBody>
      </p:sp>
      <p:sp>
        <p:nvSpPr>
          <p:cNvPr id="17" name="!!ob3">
            <a:extLst>
              <a:ext uri="{C183D7F6-B498-43B3-948B-1728B52AA6E4}">
                <adec:decorative xmlns:adec="http://schemas.microsoft.com/office/drawing/2017/decorative" val="1"/>
              </a:ext>
            </a:extLst>
          </p:cNvPr>
          <p:cNvSpPr/>
          <p:nvPr/>
        </p:nvSpPr>
        <p:spPr>
          <a:xfrm>
            <a:off x="658368" y="4277563"/>
            <a:ext cx="420624" cy="420624"/>
          </a:xfrm>
          <a:prstGeom prst="ellipse">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obn3"/>
          <p:cNvSpPr txBox="1"/>
          <p:nvPr/>
        </p:nvSpPr>
        <p:spPr>
          <a:xfrm>
            <a:off x="658368" y="4336999"/>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9" name="!!ot3"/>
          <p:cNvSpPr txBox="1"/>
          <p:nvPr/>
        </p:nvSpPr>
        <p:spPr>
          <a:xfrm>
            <a:off x="1316736" y="4268419"/>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A3A95"/>
                </a:solidFill>
                <a:latin typeface="Segoe UI"/>
              </a:rPr>
              <a:t>Produce</a:t>
            </a:r>
            <a:r>
              <a:rPr sz="2100" b="0" i="0">
                <a:solidFill>
                  <a:srgbClr val="1C252B"/>
                </a:solidFill>
                <a:latin typeface="Segoe UI"/>
              </a:rPr>
              <a:t> an explanation of a conclusion, and </a:t>
            </a:r>
            <a:r>
              <a:rPr sz="2100" b="1" i="0">
                <a:solidFill>
                  <a:srgbClr val="1C252B"/>
                </a:solidFill>
                <a:latin typeface="Segoe UI"/>
              </a:rPr>
              <a:t>argue</a:t>
            </a:r>
            <a:r>
              <a:rPr sz="2100" b="0" i="0">
                <a:solidFill>
                  <a:srgbClr val="1C252B"/>
                </a:solidFill>
                <a:latin typeface="Segoe UI"/>
              </a:rPr>
              <a:t> why it is the artefact an auditor accepts.</a:t>
            </a:r>
          </a:p>
        </p:txBody>
      </p:sp>
      <p:sp>
        <p:nvSpPr>
          <p:cNvPr id="20" name="!!ob4">
            <a:extLst>
              <a:ext uri="{C183D7F6-B498-43B3-948B-1728B52AA6E4}">
                <adec:decorative xmlns:adec="http://schemas.microsoft.com/office/drawing/2017/decorative" val="1"/>
              </a:ext>
            </a:extLst>
          </p:cNvPr>
          <p:cNvSpPr/>
          <p:nvPr/>
        </p:nvSpPr>
        <p:spPr>
          <a:xfrm>
            <a:off x="658368" y="5126126"/>
            <a:ext cx="420624" cy="420624"/>
          </a:xfrm>
          <a:prstGeom prst="ellipse">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obn4"/>
          <p:cNvSpPr txBox="1"/>
          <p:nvPr/>
        </p:nvSpPr>
        <p:spPr>
          <a:xfrm>
            <a:off x="658368" y="5185562"/>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2" name="!!ot4"/>
          <p:cNvSpPr txBox="1"/>
          <p:nvPr/>
        </p:nvSpPr>
        <p:spPr>
          <a:xfrm>
            <a:off x="1316736" y="5116982"/>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A3A95"/>
                </a:solidFill>
                <a:latin typeface="Segoe UI"/>
              </a:rPr>
              <a:t>Describe</a:t>
            </a:r>
            <a:r>
              <a:rPr sz="2100" b="0" i="0">
                <a:solidFill>
                  <a:srgbClr val="1C252B"/>
                </a:solidFill>
                <a:latin typeface="Segoe UI"/>
              </a:rPr>
              <a:t> the knowledge acquisition bottleneck and brittleness, and </a:t>
            </a:r>
            <a:r>
              <a:rPr sz="2100" b="1" i="0">
                <a:solidFill>
                  <a:srgbClr val="1C252B"/>
                </a:solidFill>
                <a:latin typeface="Segoe UI"/>
              </a:rPr>
              <a:t>say</a:t>
            </a:r>
            <a:r>
              <a:rPr sz="2100" b="0" i="0">
                <a:solidFill>
                  <a:srgbClr val="1C252B"/>
                </a:solidFill>
                <a:latin typeface="Segoe UI"/>
              </a:rPr>
              <a:t> what they did to the expert-system industry.</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619916"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zoom(in)">
                                      <p:cBhvr>
                                        <p:cTn id="8" dur="300"/>
                                        <p:tgtEl>
                                          <p:spTgt spid="8"/>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300"/>
                                        <p:tgtEl>
                                          <p:spTgt spid="9"/>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wipe(right)">
                                      <p:cBhvr>
                                        <p:cTn id="14" dur="420"/>
                                        <p:tgtEl>
                                          <p:spTgt spid="10"/>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zoom(in)">
                                      <p:cBhvr>
                                        <p:cTn id="19" dur="3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300"/>
                                        <p:tgtEl>
                                          <p:spTgt spid="12"/>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wipe(right)">
                                      <p:cBhvr>
                                        <p:cTn id="25" dur="420"/>
                                        <p:tgtEl>
                                          <p:spTgt spid="13"/>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zoom(in)">
                                      <p:cBhvr>
                                        <p:cTn id="30" dur="3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300"/>
                                        <p:tgtEl>
                                          <p:spTgt spid="15"/>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wipe(right)">
                                      <p:cBhvr>
                                        <p:cTn id="36" dur="42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zoom(in)">
                                      <p:cBhvr>
                                        <p:cTn id="41" dur="3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300"/>
                                        <p:tgtEl>
                                          <p:spTgt spid="18"/>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wipe(right)">
                                      <p:cBhvr>
                                        <p:cTn id="47" dur="420"/>
                                        <p:tgtEl>
                                          <p:spTgt spid="19"/>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20"/>
                                        </p:tgtEl>
                                        <p:attrNameLst>
                                          <p:attrName>style.visibility</p:attrName>
                                        </p:attrNameLst>
                                      </p:cBhvr>
                                      <p:to>
                                        <p:strVal val="visible"/>
                                      </p:to>
                                    </p:set>
                                    <p:animEffect transition="in" filter="zoom(in)">
                                      <p:cBhvr>
                                        <p:cTn id="52" dur="300"/>
                                        <p:tgtEl>
                                          <p:spTgt spid="2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1"/>
                                        </p:tgtEl>
                                        <p:attrNameLst>
                                          <p:attrName>style.visibility</p:attrName>
                                        </p:attrNameLst>
                                      </p:cBhvr>
                                      <p:to>
                                        <p:strVal val="visible"/>
                                      </p:to>
                                    </p:set>
                                    <p:animEffect transition="in" filter="fade">
                                      <p:cBhvr>
                                        <p:cTn id="55" dur="300"/>
                                        <p:tgtEl>
                                          <p:spTgt spid="21"/>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wipe(right)">
                                      <p:cBhvr>
                                        <p:cTn id="58" dur="42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Vocabulary for this chapter</a:t>
            </a:r>
          </a:p>
        </p:txBody>
      </p:sp>
      <p:pic>
        <p:nvPicPr>
          <p:cNvPr id="3" name="!!kicker-icon" descr="tags-8E44AD.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7256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8E44AD"/>
                </a:solidFill>
                <a:latin typeface="Segoe UI"/>
              </a:rPr>
              <a:t>KEY TERMS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13  ·  Rule-Based Expert Systems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132     </a:t>
            </a:r>
            <a:fld id="{A3E2576A-99F5-4A82-BCB7-913CD78033B2}" type="slidenum">
              <a:rPr lang="en-GB" sz="1000">
                <a:solidFill>
                  <a:srgbClr val="8795A1"/>
                </a:solidFill>
                <a:latin typeface="Segoe UI"/>
              </a:rPr>
              <a:t>4</a:t>
            </a:fld>
          </a:p>
        </p:txBody>
      </p:sp>
      <p:sp>
        <p:nvSpPr>
          <p:cNvPr id="7" name="!!term-production rul">
            <a:extLst>
              <a:ext uri="{C183D7F6-B498-43B3-948B-1728B52AA6E4}">
                <adec:decorative xmlns:adec="http://schemas.microsoft.com/office/drawing/2017/decorative" val="1"/>
              </a:ext>
            </a:extLst>
          </p:cNvPr>
          <p:cNvSpPr/>
          <p:nvPr/>
        </p:nvSpPr>
        <p:spPr>
          <a:xfrm>
            <a:off x="658368" y="1847088"/>
            <a:ext cx="1853446"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ermd-production rul">
            <a:extLst>
              <a:ext uri="{C183D7F6-B498-43B3-948B-1728B52AA6E4}">
                <adec:decorative xmlns:adec="http://schemas.microsoft.com/office/drawing/2017/decorative" val="1"/>
              </a:ext>
            </a:extLst>
          </p:cNvPr>
          <p:cNvSpPr/>
          <p:nvPr/>
        </p:nvSpPr>
        <p:spPr>
          <a:xfrm>
            <a:off x="786384"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termt-production rul"/>
          <p:cNvSpPr txBox="1"/>
          <p:nvPr/>
        </p:nvSpPr>
        <p:spPr>
          <a:xfrm>
            <a:off x="950976" y="1962911"/>
            <a:ext cx="1670566"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production rule</a:t>
            </a:r>
          </a:p>
        </p:txBody>
      </p:sp>
      <p:sp>
        <p:nvSpPr>
          <p:cNvPr id="10" name="!!term-working memory">
            <a:extLst>
              <a:ext uri="{C183D7F6-B498-43B3-948B-1728B52AA6E4}">
                <adec:decorative xmlns:adec="http://schemas.microsoft.com/office/drawing/2017/decorative" val="1"/>
              </a:ext>
            </a:extLst>
          </p:cNvPr>
          <p:cNvSpPr/>
          <p:nvPr/>
        </p:nvSpPr>
        <p:spPr>
          <a:xfrm>
            <a:off x="2658118" y="1847088"/>
            <a:ext cx="1991024"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rmd-working memory">
            <a:extLst>
              <a:ext uri="{C183D7F6-B498-43B3-948B-1728B52AA6E4}">
                <adec:decorative xmlns:adec="http://schemas.microsoft.com/office/drawing/2017/decorative" val="1"/>
              </a:ext>
            </a:extLst>
          </p:cNvPr>
          <p:cNvSpPr/>
          <p:nvPr/>
        </p:nvSpPr>
        <p:spPr>
          <a:xfrm>
            <a:off x="2786134"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rmt-working memory"/>
          <p:cNvSpPr txBox="1"/>
          <p:nvPr/>
        </p:nvSpPr>
        <p:spPr>
          <a:xfrm>
            <a:off x="2950726" y="1962911"/>
            <a:ext cx="1808144"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working memory</a:t>
            </a:r>
          </a:p>
        </p:txBody>
      </p:sp>
      <p:sp>
        <p:nvSpPr>
          <p:cNvPr id="13" name="!!term-rule base">
            <a:extLst>
              <a:ext uri="{C183D7F6-B498-43B3-948B-1728B52AA6E4}">
                <adec:decorative xmlns:adec="http://schemas.microsoft.com/office/drawing/2017/decorative" val="1"/>
              </a:ext>
            </a:extLst>
          </p:cNvPr>
          <p:cNvSpPr/>
          <p:nvPr/>
        </p:nvSpPr>
        <p:spPr>
          <a:xfrm>
            <a:off x="4795447" y="1847088"/>
            <a:ext cx="1267304"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rmd-rule base">
            <a:extLst>
              <a:ext uri="{C183D7F6-B498-43B3-948B-1728B52AA6E4}">
                <adec:decorative xmlns:adec="http://schemas.microsoft.com/office/drawing/2017/decorative" val="1"/>
              </a:ext>
            </a:extLst>
          </p:cNvPr>
          <p:cNvSpPr/>
          <p:nvPr/>
        </p:nvSpPr>
        <p:spPr>
          <a:xfrm>
            <a:off x="4923463"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rmt-rule base"/>
          <p:cNvSpPr txBox="1"/>
          <p:nvPr/>
        </p:nvSpPr>
        <p:spPr>
          <a:xfrm>
            <a:off x="5088055" y="1962911"/>
            <a:ext cx="1084424"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rule base</a:t>
            </a:r>
          </a:p>
        </p:txBody>
      </p:sp>
      <p:sp>
        <p:nvSpPr>
          <p:cNvPr id="16" name="!!term-inference engi">
            <a:extLst>
              <a:ext uri="{C183D7F6-B498-43B3-948B-1728B52AA6E4}">
                <adec:decorative xmlns:adec="http://schemas.microsoft.com/office/drawing/2017/decorative" val="1"/>
              </a:ext>
            </a:extLst>
          </p:cNvPr>
          <p:cNvSpPr/>
          <p:nvPr/>
        </p:nvSpPr>
        <p:spPr>
          <a:xfrm>
            <a:off x="6209055" y="1847088"/>
            <a:ext cx="1962053"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termd-inference engi">
            <a:extLst>
              <a:ext uri="{C183D7F6-B498-43B3-948B-1728B52AA6E4}">
                <adec:decorative xmlns:adec="http://schemas.microsoft.com/office/drawing/2017/decorative" val="1"/>
              </a:ext>
            </a:extLst>
          </p:cNvPr>
          <p:cNvSpPr/>
          <p:nvPr/>
        </p:nvSpPr>
        <p:spPr>
          <a:xfrm>
            <a:off x="6337071"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rmt-inference engi"/>
          <p:cNvSpPr txBox="1"/>
          <p:nvPr/>
        </p:nvSpPr>
        <p:spPr>
          <a:xfrm>
            <a:off x="6501663" y="1962911"/>
            <a:ext cx="1779173"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inference engine</a:t>
            </a:r>
          </a:p>
        </p:txBody>
      </p:sp>
      <p:sp>
        <p:nvSpPr>
          <p:cNvPr id="19" name="!!term-match–resolve–">
            <a:extLst>
              <a:ext uri="{C183D7F6-B498-43B3-948B-1728B52AA6E4}">
                <adec:decorative xmlns:adec="http://schemas.microsoft.com/office/drawing/2017/decorative" val="1"/>
              </a:ext>
            </a:extLst>
          </p:cNvPr>
          <p:cNvSpPr/>
          <p:nvPr/>
        </p:nvSpPr>
        <p:spPr>
          <a:xfrm>
            <a:off x="8317412" y="1847088"/>
            <a:ext cx="2132569"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rmd-match–resolve–">
            <a:extLst>
              <a:ext uri="{C183D7F6-B498-43B3-948B-1728B52AA6E4}">
                <adec:decorative xmlns:adec="http://schemas.microsoft.com/office/drawing/2017/decorative" val="1"/>
              </a:ext>
            </a:extLst>
          </p:cNvPr>
          <p:cNvSpPr/>
          <p:nvPr/>
        </p:nvSpPr>
        <p:spPr>
          <a:xfrm>
            <a:off x="8445428"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termt-match–resolve–"/>
          <p:cNvSpPr txBox="1"/>
          <p:nvPr/>
        </p:nvSpPr>
        <p:spPr>
          <a:xfrm>
            <a:off x="8610020" y="1962911"/>
            <a:ext cx="1949689"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match–resolve–act</a:t>
            </a:r>
          </a:p>
        </p:txBody>
      </p:sp>
      <p:sp>
        <p:nvSpPr>
          <p:cNvPr id="22" name="!!term-forward chaini">
            <a:extLst>
              <a:ext uri="{C183D7F6-B498-43B3-948B-1728B52AA6E4}">
                <adec:decorative xmlns:adec="http://schemas.microsoft.com/office/drawing/2017/decorative" val="1"/>
              </a:ext>
            </a:extLst>
          </p:cNvPr>
          <p:cNvSpPr/>
          <p:nvPr/>
        </p:nvSpPr>
        <p:spPr>
          <a:xfrm>
            <a:off x="658368" y="2468880"/>
            <a:ext cx="1979385"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termd-forward chaini">
            <a:extLst>
              <a:ext uri="{C183D7F6-B498-43B3-948B-1728B52AA6E4}">
                <adec:decorative xmlns:adec="http://schemas.microsoft.com/office/drawing/2017/decorative" val="1"/>
              </a:ext>
            </a:extLst>
          </p:cNvPr>
          <p:cNvSpPr/>
          <p:nvPr/>
        </p:nvSpPr>
        <p:spPr>
          <a:xfrm>
            <a:off x="786384"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termt-forward chaini"/>
          <p:cNvSpPr txBox="1"/>
          <p:nvPr/>
        </p:nvSpPr>
        <p:spPr>
          <a:xfrm>
            <a:off x="950976" y="2584704"/>
            <a:ext cx="1796505"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forward chaining</a:t>
            </a:r>
          </a:p>
        </p:txBody>
      </p:sp>
      <p:sp>
        <p:nvSpPr>
          <p:cNvPr id="25" name="!!term-backward chain">
            <a:extLst>
              <a:ext uri="{C183D7F6-B498-43B3-948B-1728B52AA6E4}">
                <adec:decorative xmlns:adec="http://schemas.microsoft.com/office/drawing/2017/decorative" val="1"/>
              </a:ext>
            </a:extLst>
          </p:cNvPr>
          <p:cNvSpPr/>
          <p:nvPr/>
        </p:nvSpPr>
        <p:spPr>
          <a:xfrm>
            <a:off x="2784057" y="2468880"/>
            <a:ext cx="2146890"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rmd-backward chain">
            <a:extLst>
              <a:ext uri="{C183D7F6-B498-43B3-948B-1728B52AA6E4}">
                <adec:decorative xmlns:adec="http://schemas.microsoft.com/office/drawing/2017/decorative" val="1"/>
              </a:ext>
            </a:extLst>
          </p:cNvPr>
          <p:cNvSpPr/>
          <p:nvPr/>
        </p:nvSpPr>
        <p:spPr>
          <a:xfrm>
            <a:off x="2912073"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rmt-backward chain"/>
          <p:cNvSpPr txBox="1"/>
          <p:nvPr/>
        </p:nvSpPr>
        <p:spPr>
          <a:xfrm>
            <a:off x="3076665" y="2584704"/>
            <a:ext cx="1964010"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backward chaining</a:t>
            </a:r>
          </a:p>
        </p:txBody>
      </p:sp>
      <p:sp>
        <p:nvSpPr>
          <p:cNvPr id="28" name="!!term-conflict set">
            <a:extLst>
              <a:ext uri="{C183D7F6-B498-43B3-948B-1728B52AA6E4}">
                <adec:decorative xmlns:adec="http://schemas.microsoft.com/office/drawing/2017/decorative" val="1"/>
              </a:ext>
            </a:extLst>
          </p:cNvPr>
          <p:cNvSpPr/>
          <p:nvPr/>
        </p:nvSpPr>
        <p:spPr>
          <a:xfrm>
            <a:off x="5077251" y="2468880"/>
            <a:ext cx="1427975"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rmd-conflict set">
            <a:extLst>
              <a:ext uri="{C183D7F6-B498-43B3-948B-1728B52AA6E4}">
                <adec:decorative xmlns:adec="http://schemas.microsoft.com/office/drawing/2017/decorative" val="1"/>
              </a:ext>
            </a:extLst>
          </p:cNvPr>
          <p:cNvSpPr/>
          <p:nvPr/>
        </p:nvSpPr>
        <p:spPr>
          <a:xfrm>
            <a:off x="5205267"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rmt-conflict set"/>
          <p:cNvSpPr txBox="1"/>
          <p:nvPr/>
        </p:nvSpPr>
        <p:spPr>
          <a:xfrm>
            <a:off x="5369859" y="2584704"/>
            <a:ext cx="1245095"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conflict set</a:t>
            </a:r>
          </a:p>
        </p:txBody>
      </p:sp>
      <p:sp>
        <p:nvSpPr>
          <p:cNvPr id="31" name="!!term-conflict resol">
            <a:extLst>
              <a:ext uri="{C183D7F6-B498-43B3-948B-1728B52AA6E4}">
                <adec:decorative xmlns:adec="http://schemas.microsoft.com/office/drawing/2017/decorative" val="1"/>
              </a:ext>
            </a:extLst>
          </p:cNvPr>
          <p:cNvSpPr/>
          <p:nvPr/>
        </p:nvSpPr>
        <p:spPr>
          <a:xfrm>
            <a:off x="6651531" y="2468880"/>
            <a:ext cx="2077913"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rmd-conflict resol">
            <a:extLst>
              <a:ext uri="{C183D7F6-B498-43B3-948B-1728B52AA6E4}">
                <adec:decorative xmlns:adec="http://schemas.microsoft.com/office/drawing/2017/decorative" val="1"/>
              </a:ext>
            </a:extLst>
          </p:cNvPr>
          <p:cNvSpPr/>
          <p:nvPr/>
        </p:nvSpPr>
        <p:spPr>
          <a:xfrm>
            <a:off x="6779547"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rmt-conflict resol"/>
          <p:cNvSpPr txBox="1"/>
          <p:nvPr/>
        </p:nvSpPr>
        <p:spPr>
          <a:xfrm>
            <a:off x="6944139" y="2584704"/>
            <a:ext cx="1895033"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conflict resolution</a:t>
            </a:r>
          </a:p>
        </p:txBody>
      </p:sp>
      <p:sp>
        <p:nvSpPr>
          <p:cNvPr id="34" name="!!term-specificity">
            <a:extLst>
              <a:ext uri="{C183D7F6-B498-43B3-948B-1728B52AA6E4}">
                <adec:decorative xmlns:adec="http://schemas.microsoft.com/office/drawing/2017/decorative" val="1"/>
              </a:ext>
            </a:extLst>
          </p:cNvPr>
          <p:cNvSpPr/>
          <p:nvPr/>
        </p:nvSpPr>
        <p:spPr>
          <a:xfrm>
            <a:off x="8875749" y="2468880"/>
            <a:ext cx="1334499"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rmd-specificity">
            <a:extLst>
              <a:ext uri="{C183D7F6-B498-43B3-948B-1728B52AA6E4}">
                <adec:decorative xmlns:adec="http://schemas.microsoft.com/office/drawing/2017/decorative" val="1"/>
              </a:ext>
            </a:extLst>
          </p:cNvPr>
          <p:cNvSpPr/>
          <p:nvPr/>
        </p:nvSpPr>
        <p:spPr>
          <a:xfrm>
            <a:off x="9003765"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rmt-specificity"/>
          <p:cNvSpPr txBox="1"/>
          <p:nvPr/>
        </p:nvSpPr>
        <p:spPr>
          <a:xfrm>
            <a:off x="9168357" y="2584704"/>
            <a:ext cx="1151619"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specificity</a:t>
            </a:r>
          </a:p>
        </p:txBody>
      </p:sp>
      <p:sp>
        <p:nvSpPr>
          <p:cNvPr id="37" name="!!term-recency">
            <a:extLst>
              <a:ext uri="{C183D7F6-B498-43B3-948B-1728B52AA6E4}">
                <adec:decorative xmlns:adec="http://schemas.microsoft.com/office/drawing/2017/decorative" val="1"/>
              </a:ext>
            </a:extLst>
          </p:cNvPr>
          <p:cNvSpPr/>
          <p:nvPr/>
        </p:nvSpPr>
        <p:spPr>
          <a:xfrm>
            <a:off x="10356553" y="2468880"/>
            <a:ext cx="1136935"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rmd-recency">
            <a:extLst>
              <a:ext uri="{C183D7F6-B498-43B3-948B-1728B52AA6E4}">
                <adec:decorative xmlns:adec="http://schemas.microsoft.com/office/drawing/2017/decorative" val="1"/>
              </a:ext>
            </a:extLst>
          </p:cNvPr>
          <p:cNvSpPr/>
          <p:nvPr/>
        </p:nvSpPr>
        <p:spPr>
          <a:xfrm>
            <a:off x="10484569"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rmt-recency"/>
          <p:cNvSpPr txBox="1"/>
          <p:nvPr/>
        </p:nvSpPr>
        <p:spPr>
          <a:xfrm>
            <a:off x="10649161" y="2584704"/>
            <a:ext cx="954055"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recency</a:t>
            </a:r>
          </a:p>
        </p:txBody>
      </p:sp>
      <p:sp>
        <p:nvSpPr>
          <p:cNvPr id="40" name="!!term-refraction">
            <a:extLst>
              <a:ext uri="{C183D7F6-B498-43B3-948B-1728B52AA6E4}">
                <adec:decorative xmlns:adec="http://schemas.microsoft.com/office/drawing/2017/decorative" val="1"/>
              </a:ext>
            </a:extLst>
          </p:cNvPr>
          <p:cNvSpPr/>
          <p:nvPr/>
        </p:nvSpPr>
        <p:spPr>
          <a:xfrm>
            <a:off x="658368" y="3090672"/>
            <a:ext cx="1316840"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rmd-refraction">
            <a:extLst>
              <a:ext uri="{C183D7F6-B498-43B3-948B-1728B52AA6E4}">
                <adec:decorative xmlns:adec="http://schemas.microsoft.com/office/drawing/2017/decorative" val="1"/>
              </a:ext>
            </a:extLst>
          </p:cNvPr>
          <p:cNvSpPr/>
          <p:nvPr/>
        </p:nvSpPr>
        <p:spPr>
          <a:xfrm>
            <a:off x="786384"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rmt-refraction"/>
          <p:cNvSpPr txBox="1"/>
          <p:nvPr/>
        </p:nvSpPr>
        <p:spPr>
          <a:xfrm>
            <a:off x="950976" y="3206496"/>
            <a:ext cx="1133960"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refraction</a:t>
            </a:r>
          </a:p>
        </p:txBody>
      </p:sp>
      <p:sp>
        <p:nvSpPr>
          <p:cNvPr id="43" name="!!term-explanation">
            <a:extLst>
              <a:ext uri="{C183D7F6-B498-43B3-948B-1728B52AA6E4}">
                <adec:decorative xmlns:adec="http://schemas.microsoft.com/office/drawing/2017/decorative" val="1"/>
              </a:ext>
            </a:extLst>
          </p:cNvPr>
          <p:cNvSpPr/>
          <p:nvPr/>
        </p:nvSpPr>
        <p:spPr>
          <a:xfrm>
            <a:off x="2121512" y="3090672"/>
            <a:ext cx="1501969"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rmd-explanation">
            <a:extLst>
              <a:ext uri="{C183D7F6-B498-43B3-948B-1728B52AA6E4}">
                <adec:decorative xmlns:adec="http://schemas.microsoft.com/office/drawing/2017/decorative" val="1"/>
              </a:ext>
            </a:extLst>
          </p:cNvPr>
          <p:cNvSpPr/>
          <p:nvPr/>
        </p:nvSpPr>
        <p:spPr>
          <a:xfrm>
            <a:off x="2249528"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rmt-explanation"/>
          <p:cNvSpPr txBox="1"/>
          <p:nvPr/>
        </p:nvSpPr>
        <p:spPr>
          <a:xfrm>
            <a:off x="2414120" y="3206496"/>
            <a:ext cx="1319089"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explanation</a:t>
            </a:r>
          </a:p>
        </p:txBody>
      </p:sp>
      <p:sp>
        <p:nvSpPr>
          <p:cNvPr id="46" name="!!term-knowledge acqu">
            <a:extLst>
              <a:ext uri="{C183D7F6-B498-43B3-948B-1728B52AA6E4}">
                <adec:decorative xmlns:adec="http://schemas.microsoft.com/office/drawing/2017/decorative" val="1"/>
              </a:ext>
            </a:extLst>
          </p:cNvPr>
          <p:cNvSpPr/>
          <p:nvPr/>
        </p:nvSpPr>
        <p:spPr>
          <a:xfrm>
            <a:off x="3769785" y="3090672"/>
            <a:ext cx="3510149"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termd-knowledge acqu">
            <a:extLst>
              <a:ext uri="{C183D7F6-B498-43B3-948B-1728B52AA6E4}">
                <adec:decorative xmlns:adec="http://schemas.microsoft.com/office/drawing/2017/decorative" val="1"/>
              </a:ext>
            </a:extLst>
          </p:cNvPr>
          <p:cNvSpPr/>
          <p:nvPr/>
        </p:nvSpPr>
        <p:spPr>
          <a:xfrm>
            <a:off x="3897801"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rmt-knowledge acqu"/>
          <p:cNvSpPr txBox="1"/>
          <p:nvPr/>
        </p:nvSpPr>
        <p:spPr>
          <a:xfrm>
            <a:off x="4062393" y="3206496"/>
            <a:ext cx="3327269"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knowledge acquisition bottleneck</a:t>
            </a:r>
          </a:p>
        </p:txBody>
      </p:sp>
      <p:sp>
        <p:nvSpPr>
          <p:cNvPr id="49" name="!!term-brittleness">
            <a:extLst>
              <a:ext uri="{C183D7F6-B498-43B3-948B-1728B52AA6E4}">
                <adec:decorative xmlns:adec="http://schemas.microsoft.com/office/drawing/2017/decorative" val="1"/>
              </a:ext>
            </a:extLst>
          </p:cNvPr>
          <p:cNvSpPr/>
          <p:nvPr/>
        </p:nvSpPr>
        <p:spPr>
          <a:xfrm>
            <a:off x="7426239" y="3090672"/>
            <a:ext cx="1383621"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termd-brittleness">
            <a:extLst>
              <a:ext uri="{C183D7F6-B498-43B3-948B-1728B52AA6E4}">
                <adec:decorative xmlns:adec="http://schemas.microsoft.com/office/drawing/2017/decorative" val="1"/>
              </a:ext>
            </a:extLst>
          </p:cNvPr>
          <p:cNvSpPr/>
          <p:nvPr/>
        </p:nvSpPr>
        <p:spPr>
          <a:xfrm>
            <a:off x="7554255"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rmt-brittleness"/>
          <p:cNvSpPr txBox="1"/>
          <p:nvPr/>
        </p:nvSpPr>
        <p:spPr>
          <a:xfrm>
            <a:off x="7718847" y="3206496"/>
            <a:ext cx="1200741"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brittleness</a:t>
            </a:r>
          </a:p>
        </p:txBody>
      </p:sp>
      <p:sp>
        <p:nvSpPr>
          <p:cNvPr id="52" name="!!term-graceful degra">
            <a:extLst>
              <a:ext uri="{C183D7F6-B498-43B3-948B-1728B52AA6E4}">
                <adec:decorative xmlns:adec="http://schemas.microsoft.com/office/drawing/2017/decorative" val="1"/>
              </a:ext>
            </a:extLst>
          </p:cNvPr>
          <p:cNvSpPr/>
          <p:nvPr/>
        </p:nvSpPr>
        <p:spPr>
          <a:xfrm>
            <a:off x="8956164" y="3090672"/>
            <a:ext cx="2348849"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termd-graceful degra">
            <a:extLst>
              <a:ext uri="{C183D7F6-B498-43B3-948B-1728B52AA6E4}">
                <adec:decorative xmlns:adec="http://schemas.microsoft.com/office/drawing/2017/decorative" val="1"/>
              </a:ext>
            </a:extLst>
          </p:cNvPr>
          <p:cNvSpPr/>
          <p:nvPr/>
        </p:nvSpPr>
        <p:spPr>
          <a:xfrm>
            <a:off x="9084180"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termt-graceful degra"/>
          <p:cNvSpPr txBox="1"/>
          <p:nvPr/>
        </p:nvSpPr>
        <p:spPr>
          <a:xfrm>
            <a:off x="9248772" y="3206496"/>
            <a:ext cx="2165969"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graceful degradation</a:t>
            </a:r>
          </a:p>
        </p:txBody>
      </p:sp>
      <p:sp>
        <p:nvSpPr>
          <p:cNvPr id="55" name="!!termnote"/>
          <p:cNvSpPr txBox="1"/>
          <p:nvPr/>
        </p:nvSpPr>
        <p:spPr>
          <a:xfrm>
            <a:off x="658368" y="3913632"/>
            <a:ext cx="10874959" cy="274320"/>
          </a:xfrm>
          <a:prstGeom prst="rect">
            <a:avLst/>
          </a:prstGeom>
          <a:noFill/>
        </p:spPr>
        <p:txBody>
          <a:bodyPr wrap="square" anchor="t" lIns="0" rIns="0" tIns="0" bIns="0">
            <a:noAutofit/>
          </a:bodyPr>
          <a:lstStyle/>
          <a:p>
            <a:pPr algn="l">
              <a:lnSpc>
                <a:spcPct val="100000"/>
              </a:lnSpc>
              <a:spcBef>
                <a:spcPts val="0"/>
              </a:spcBef>
              <a:spcAft>
                <a:spcPts val="0"/>
              </a:spcAft>
            </a:pPr>
            <a:r>
              <a:rPr sz="1350" b="0" i="1">
                <a:solidFill>
                  <a:srgbClr val="5F6F7B"/>
                </a:solidFill>
                <a:latin typeface="Segoe UI"/>
              </a:rPr>
              <a:t>Each term is defined where it first matters — not here.</a:t>
            </a:r>
          </a:p>
        </p:txBody>
      </p:sp>
      <p:sp>
        <p:nvSpPr>
          <p:cNvPr id="5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7" name="!!pfill">
            <a:extLst>
              <a:ext uri="{C183D7F6-B498-43B3-948B-1728B52AA6E4}">
                <adec:decorative xmlns:adec="http://schemas.microsoft.com/office/drawing/2017/decorative" val="1"/>
              </a:ext>
            </a:extLst>
          </p:cNvPr>
          <p:cNvSpPr/>
          <p:nvPr/>
        </p:nvSpPr>
        <p:spPr>
          <a:xfrm>
            <a:off x="0" y="0"/>
            <a:ext cx="826555"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In this chapter</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THIS CHAPTER</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13  ·  Rule-Based Expert Systems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pp. 132–145     </a:t>
            </a:r>
            <a:fld id="{D85FF81B-2F8A-4293-AFE4-7CA0298B98FE}" type="slidenum">
              <a:rPr lang="en-GB" sz="1000">
                <a:solidFill>
                  <a:srgbClr val="8795A1"/>
                </a:solidFill>
                <a:latin typeface="Segoe UI"/>
              </a:rPr>
              <a:t>5</a:t>
            </a:fld>
          </a:p>
        </p:txBody>
      </p:sp>
      <p:sp>
        <p:nvSpPr>
          <p:cNvPr id="7" name="!!ag0" descr="Go to section 13.1 The Escalation Adviser">
            <a:hlinkClick action="ppaction://hlinksldjump" r:id="rId5"/>
          </p:cNvPr>
          <p:cNvSpPr/>
          <p:nvPr/>
        </p:nvSpPr>
        <p:spPr>
          <a:xfrm>
            <a:off x="658368" y="177393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agb0">
            <a:extLst>
              <a:ext uri="{C183D7F6-B498-43B3-948B-1728B52AA6E4}">
                <adec:decorative xmlns:adec="http://schemas.microsoft.com/office/drawing/2017/decorative" val="1"/>
              </a:ext>
            </a:extLst>
          </p:cNvPr>
          <p:cNvSpPr/>
          <p:nvPr/>
        </p:nvSpPr>
        <p:spPr>
          <a:xfrm>
            <a:off x="658368" y="1773936"/>
            <a:ext cx="64008" cy="566928"/>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agn0"/>
          <p:cNvSpPr txBox="1"/>
          <p:nvPr/>
        </p:nvSpPr>
        <p:spPr>
          <a:xfrm>
            <a:off x="932688" y="192024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7A3A95"/>
                </a:solidFill>
                <a:latin typeface="Segoe UI Semibold"/>
              </a:rPr>
              <a:t>13.1</a:t>
            </a:r>
          </a:p>
        </p:txBody>
      </p:sp>
      <p:sp>
        <p:nvSpPr>
          <p:cNvPr id="10" name="!!agt0"/>
          <p:cNvSpPr txBox="1"/>
          <p:nvPr/>
        </p:nvSpPr>
        <p:spPr>
          <a:xfrm>
            <a:off x="1847088" y="192024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The Escalation Adviser</a:t>
            </a:r>
          </a:p>
        </p:txBody>
      </p:sp>
      <p:sp>
        <p:nvSpPr>
          <p:cNvPr id="11" name="!!agp0"/>
          <p:cNvSpPr txBox="1"/>
          <p:nvPr/>
        </p:nvSpPr>
        <p:spPr>
          <a:xfrm>
            <a:off x="9795967" y="194767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132  ›</a:t>
            </a:r>
          </a:p>
        </p:txBody>
      </p:sp>
      <p:sp>
        <p:nvSpPr>
          <p:cNvPr id="12" name="!!ag1" descr="Go to section 13.2 Forward Chaining">
            <a:hlinkClick action="ppaction://hlinksldjump" r:id="rId6"/>
          </p:cNvPr>
          <p:cNvSpPr/>
          <p:nvPr/>
        </p:nvSpPr>
        <p:spPr>
          <a:xfrm>
            <a:off x="658368" y="2414015"/>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agb1">
            <a:extLst>
              <a:ext uri="{C183D7F6-B498-43B3-948B-1728B52AA6E4}">
                <adec:decorative xmlns:adec="http://schemas.microsoft.com/office/drawing/2017/decorative" val="1"/>
              </a:ext>
            </a:extLst>
          </p:cNvPr>
          <p:cNvSpPr/>
          <p:nvPr/>
        </p:nvSpPr>
        <p:spPr>
          <a:xfrm>
            <a:off x="658368" y="2414015"/>
            <a:ext cx="64008" cy="566928"/>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agn1"/>
          <p:cNvSpPr txBox="1"/>
          <p:nvPr/>
        </p:nvSpPr>
        <p:spPr>
          <a:xfrm>
            <a:off x="932688" y="256032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7A3A95"/>
                </a:solidFill>
                <a:latin typeface="Segoe UI Semibold"/>
              </a:rPr>
              <a:t>13.2</a:t>
            </a:r>
          </a:p>
        </p:txBody>
      </p:sp>
      <p:sp>
        <p:nvSpPr>
          <p:cNvPr id="15" name="!!agt1"/>
          <p:cNvSpPr txBox="1"/>
          <p:nvPr/>
        </p:nvSpPr>
        <p:spPr>
          <a:xfrm>
            <a:off x="1847088" y="256032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Forward Chaining</a:t>
            </a:r>
          </a:p>
        </p:txBody>
      </p:sp>
      <p:sp>
        <p:nvSpPr>
          <p:cNvPr id="16" name="!!agp1"/>
          <p:cNvSpPr txBox="1"/>
          <p:nvPr/>
        </p:nvSpPr>
        <p:spPr>
          <a:xfrm>
            <a:off x="9795967" y="2587751"/>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133  ›</a:t>
            </a:r>
          </a:p>
        </p:txBody>
      </p:sp>
      <p:sp>
        <p:nvSpPr>
          <p:cNvPr id="17" name="!!ag2" descr="Go to section 13.3 Backward Chaining">
            <a:hlinkClick action="ppaction://hlinksldjump" r:id="rId7"/>
          </p:cNvPr>
          <p:cNvSpPr/>
          <p:nvPr/>
        </p:nvSpPr>
        <p:spPr>
          <a:xfrm>
            <a:off x="658368" y="305409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agb2">
            <a:extLst>
              <a:ext uri="{C183D7F6-B498-43B3-948B-1728B52AA6E4}">
                <adec:decorative xmlns:adec="http://schemas.microsoft.com/office/drawing/2017/decorative" val="1"/>
              </a:ext>
            </a:extLst>
          </p:cNvPr>
          <p:cNvSpPr/>
          <p:nvPr/>
        </p:nvSpPr>
        <p:spPr>
          <a:xfrm>
            <a:off x="658368" y="3054096"/>
            <a:ext cx="64008" cy="566928"/>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agn2"/>
          <p:cNvSpPr txBox="1"/>
          <p:nvPr/>
        </p:nvSpPr>
        <p:spPr>
          <a:xfrm>
            <a:off x="932688" y="320040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7A3A95"/>
                </a:solidFill>
                <a:latin typeface="Segoe UI Semibold"/>
              </a:rPr>
              <a:t>13.3</a:t>
            </a:r>
          </a:p>
        </p:txBody>
      </p:sp>
      <p:sp>
        <p:nvSpPr>
          <p:cNvPr id="20" name="!!agt2"/>
          <p:cNvSpPr txBox="1"/>
          <p:nvPr/>
        </p:nvSpPr>
        <p:spPr>
          <a:xfrm>
            <a:off x="1847088" y="320040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Backward Chaining</a:t>
            </a:r>
          </a:p>
        </p:txBody>
      </p:sp>
      <p:sp>
        <p:nvSpPr>
          <p:cNvPr id="21" name="!!agp2"/>
          <p:cNvSpPr txBox="1"/>
          <p:nvPr/>
        </p:nvSpPr>
        <p:spPr>
          <a:xfrm>
            <a:off x="9795967" y="322783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133  ›</a:t>
            </a:r>
          </a:p>
        </p:txBody>
      </p:sp>
      <p:sp>
        <p:nvSpPr>
          <p:cNvPr id="22" name="!!ag3" descr="Go to section 13.4 Conflict Resolution">
            <a:hlinkClick action="ppaction://hlinksldjump" r:id="rId8"/>
          </p:cNvPr>
          <p:cNvSpPr/>
          <p:nvPr/>
        </p:nvSpPr>
        <p:spPr>
          <a:xfrm>
            <a:off x="658368" y="369417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agb3">
            <a:extLst>
              <a:ext uri="{C183D7F6-B498-43B3-948B-1728B52AA6E4}">
                <adec:decorative xmlns:adec="http://schemas.microsoft.com/office/drawing/2017/decorative" val="1"/>
              </a:ext>
            </a:extLst>
          </p:cNvPr>
          <p:cNvSpPr/>
          <p:nvPr/>
        </p:nvSpPr>
        <p:spPr>
          <a:xfrm>
            <a:off x="658368" y="3694176"/>
            <a:ext cx="64008" cy="566928"/>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agn3"/>
          <p:cNvSpPr txBox="1"/>
          <p:nvPr/>
        </p:nvSpPr>
        <p:spPr>
          <a:xfrm>
            <a:off x="932688" y="384048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7A3A95"/>
                </a:solidFill>
                <a:latin typeface="Segoe UI Semibold"/>
              </a:rPr>
              <a:t>13.4</a:t>
            </a:r>
          </a:p>
        </p:txBody>
      </p:sp>
      <p:sp>
        <p:nvSpPr>
          <p:cNvPr id="25" name="!!agt3"/>
          <p:cNvSpPr txBox="1"/>
          <p:nvPr/>
        </p:nvSpPr>
        <p:spPr>
          <a:xfrm>
            <a:off x="1847088" y="384048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Conflict Resolution</a:t>
            </a:r>
          </a:p>
        </p:txBody>
      </p:sp>
      <p:sp>
        <p:nvSpPr>
          <p:cNvPr id="26" name="!!agp3"/>
          <p:cNvSpPr txBox="1"/>
          <p:nvPr/>
        </p:nvSpPr>
        <p:spPr>
          <a:xfrm>
            <a:off x="9795967" y="386791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135  ›</a:t>
            </a:r>
          </a:p>
        </p:txBody>
      </p:sp>
      <p:sp>
        <p:nvSpPr>
          <p:cNvPr id="27" name="!!ag4" descr="Go to section 13.5 What Conflict Resolution Does Not Fix">
            <a:hlinkClick action="ppaction://hlinksldjump" r:id="rId9"/>
          </p:cNvPr>
          <p:cNvSpPr/>
          <p:nvPr/>
        </p:nvSpPr>
        <p:spPr>
          <a:xfrm>
            <a:off x="658368" y="433425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agb4">
            <a:extLst>
              <a:ext uri="{C183D7F6-B498-43B3-948B-1728B52AA6E4}">
                <adec:decorative xmlns:adec="http://schemas.microsoft.com/office/drawing/2017/decorative" val="1"/>
              </a:ext>
            </a:extLst>
          </p:cNvPr>
          <p:cNvSpPr/>
          <p:nvPr/>
        </p:nvSpPr>
        <p:spPr>
          <a:xfrm>
            <a:off x="658368" y="4334256"/>
            <a:ext cx="64008" cy="566928"/>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agn4"/>
          <p:cNvSpPr txBox="1"/>
          <p:nvPr/>
        </p:nvSpPr>
        <p:spPr>
          <a:xfrm>
            <a:off x="932688" y="448056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7A3A95"/>
                </a:solidFill>
                <a:latin typeface="Segoe UI Semibold"/>
              </a:rPr>
              <a:t>13.5</a:t>
            </a:r>
          </a:p>
        </p:txBody>
      </p:sp>
      <p:sp>
        <p:nvSpPr>
          <p:cNvPr id="30" name="!!agt4"/>
          <p:cNvSpPr txBox="1"/>
          <p:nvPr/>
        </p:nvSpPr>
        <p:spPr>
          <a:xfrm>
            <a:off x="1847088" y="448056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What Conflict Resolution Does Not Fix</a:t>
            </a:r>
          </a:p>
        </p:txBody>
      </p:sp>
      <p:sp>
        <p:nvSpPr>
          <p:cNvPr id="31" name="!!agp4"/>
          <p:cNvSpPr txBox="1"/>
          <p:nvPr/>
        </p:nvSpPr>
        <p:spPr>
          <a:xfrm>
            <a:off x="9795967" y="450799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136  ›</a:t>
            </a:r>
          </a:p>
        </p:txBody>
      </p:sp>
      <p:sp>
        <p:nvSpPr>
          <p:cNvPr id="32" name="!!ag5" descr="Go to section 13.6 Why the Industry Collapsed">
            <a:hlinkClick action="ppaction://hlinksldjump" r:id="rId10"/>
          </p:cNvPr>
          <p:cNvSpPr/>
          <p:nvPr/>
        </p:nvSpPr>
        <p:spPr>
          <a:xfrm>
            <a:off x="658368" y="497433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agb5">
            <a:extLst>
              <a:ext uri="{C183D7F6-B498-43B3-948B-1728B52AA6E4}">
                <adec:decorative xmlns:adec="http://schemas.microsoft.com/office/drawing/2017/decorative" val="1"/>
              </a:ext>
            </a:extLst>
          </p:cNvPr>
          <p:cNvSpPr/>
          <p:nvPr/>
        </p:nvSpPr>
        <p:spPr>
          <a:xfrm>
            <a:off x="658368" y="4974336"/>
            <a:ext cx="64008" cy="566928"/>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agn5"/>
          <p:cNvSpPr txBox="1"/>
          <p:nvPr/>
        </p:nvSpPr>
        <p:spPr>
          <a:xfrm>
            <a:off x="932688" y="512064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7A3A95"/>
                </a:solidFill>
                <a:latin typeface="Segoe UI Semibold"/>
              </a:rPr>
              <a:t>13.6</a:t>
            </a:r>
          </a:p>
        </p:txBody>
      </p:sp>
      <p:sp>
        <p:nvSpPr>
          <p:cNvPr id="35" name="!!agt5"/>
          <p:cNvSpPr txBox="1"/>
          <p:nvPr/>
        </p:nvSpPr>
        <p:spPr>
          <a:xfrm>
            <a:off x="1847088" y="512064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Why the Industry Collapsed</a:t>
            </a:r>
          </a:p>
        </p:txBody>
      </p:sp>
      <p:sp>
        <p:nvSpPr>
          <p:cNvPr id="36" name="!!agp5"/>
          <p:cNvSpPr txBox="1"/>
          <p:nvPr/>
        </p:nvSpPr>
        <p:spPr>
          <a:xfrm>
            <a:off x="9795967" y="514807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136  ›</a:t>
            </a:r>
          </a:p>
        </p:txBody>
      </p:sp>
      <p:sp>
        <p:nvSpPr>
          <p:cNvPr id="37"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pfill">
            <a:extLst>
              <a:ext uri="{C183D7F6-B498-43B3-948B-1728B52AA6E4}">
                <adec:decorative xmlns:adec="http://schemas.microsoft.com/office/drawing/2017/decorative" val="1"/>
              </a:ext>
            </a:extLst>
          </p:cNvPr>
          <p:cNvSpPr/>
          <p:nvPr/>
        </p:nvSpPr>
        <p:spPr>
          <a:xfrm>
            <a:off x="0" y="0"/>
            <a:ext cx="1033194"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The Escalation Adviser</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D7C4DF"/>
                </a:solidFill>
                <a:latin typeface="Segoe UI"/>
              </a:rPr>
              <a:t>SECTION 1 OF 6</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13.1</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7A3A95"/>
                </a:solidFill>
                <a:latin typeface="Segoe UI"/>
              </a:rPr>
              <a:t>13.1   The Escalation Adviser</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13.2   Forward Chaining</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13.3   Backward Chaining</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13.4   Conflict Resolution</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13.5   What Conflict Resolution Does Not Fix</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13.6   Why the Industry Collapsed</a:t>
            </a:r>
          </a:p>
        </p:txBody>
      </p:sp>
      <p:sp>
        <p:nvSpPr>
          <p:cNvPr id="12"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13</a:t>
            </a:r>
          </a:p>
        </p:txBody>
      </p:sp>
      <p:sp>
        <p:nvSpPr>
          <p:cNvPr id="13"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§13.1     </a:t>
            </a:r>
            <a:fld id="{3C07ADB1-2BD5-4318-BA38-A82C08CF5832}" type="slidenum">
              <a:rPr lang="en-GB" sz="1000">
                <a:solidFill>
                  <a:srgbClr val="8795A1"/>
                </a:solidFill>
                <a:latin typeface="Segoe UI"/>
              </a:rPr>
              <a:t>6</a:t>
            </a:fld>
          </a:p>
        </p:txBody>
      </p:sp>
      <p:sp>
        <p:nvSpPr>
          <p:cNvPr id="1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pfill">
            <a:extLst>
              <a:ext uri="{C183D7F6-B498-43B3-948B-1728B52AA6E4}">
                <adec:decorative xmlns:adec="http://schemas.microsoft.com/office/drawing/2017/decorative" val="1"/>
              </a:ext>
            </a:extLst>
          </p:cNvPr>
          <p:cNvSpPr/>
          <p:nvPr/>
        </p:nvSpPr>
        <p:spPr>
          <a:xfrm>
            <a:off x="0" y="0"/>
            <a:ext cx="1239833"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Production system</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13  ·  Rule-Based Expert Systems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§13.1  ·  Handout p. 132     </a:t>
            </a:r>
            <a:fld id="{A86FC4E1-70F5-4EF6-BCBA-9DDC96009647}" type="slidenum">
              <a:rPr lang="en-GB" sz="1000">
                <a:solidFill>
                  <a:srgbClr val="8795A1"/>
                </a:solidFill>
                <a:latin typeface="Segoe UI"/>
              </a:rPr>
              <a:t>7</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430268"/>
          </a:xfrm>
          <a:prstGeom prst="roundRect">
            <a:avLst>
              <a:gd name="adj" fmla="val 2063"/>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430268"/>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378561"/>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A </a:t>
            </a:r>
            <a:r>
              <a:rPr sz="2100" b="1" i="0">
                <a:solidFill>
                  <a:srgbClr val="1A5276"/>
                </a:solidFill>
                <a:latin typeface="Segoe UI"/>
              </a:rPr>
              <a:t>production system</a:t>
            </a:r>
            <a:r>
              <a:rPr sz="2100" b="0" i="0">
                <a:solidFill>
                  <a:srgbClr val="1C252B"/>
                </a:solidFill>
                <a:latin typeface="Segoe UI"/>
              </a:rPr>
              <a:t> has three parts:</a:t>
            </a:r>
          </a:p>
        </p:txBody>
      </p:sp>
      <p:sp>
        <p:nvSpPr>
          <p:cNvPr id="10" name="body-1"/>
          <p:cNvSpPr txBox="1"/>
          <p:nvPr/>
        </p:nvSpPr>
        <p:spPr>
          <a:xfrm>
            <a:off x="1060704" y="2527782"/>
            <a:ext cx="10161727" cy="2229459"/>
          </a:xfrm>
          <a:prstGeom prst="rect">
            <a:avLst/>
          </a:prstGeom>
          <a:noFill/>
        </p:spPr>
        <p:txBody>
          <a:bodyPr wrap="square" anchor="t" lIns="0" rIns="0" tIns="0" bIns="0">
            <a:noAutofit/>
          </a:bodyPr>
          <a:lstStyle/>
          <a:p>
            <a:pPr algn="l" marL="234813" indent="-234813">
              <a:lnSpc>
                <a:spcPct val="104000"/>
              </a:lnSpc>
              <a:spcBef>
                <a:spcPts val="0"/>
              </a:spcBef>
              <a:spcAft>
                <a:spcPts val="735"/>
              </a:spcAft>
            </a:pPr>
            <a:r>
              <a:rPr sz="2100" b="1">
                <a:solidFill>
                  <a:srgbClr val="8A4500"/>
                </a:solidFill>
                <a:latin typeface="Segoe UI"/>
              </a:rPr>
              <a:t>•	</a:t>
            </a:r>
            <a:r>
              <a:rPr sz="2100" b="0" i="0">
                <a:solidFill>
                  <a:srgbClr val="1C252B"/>
                </a:solidFill>
                <a:latin typeface="Segoe UI"/>
              </a:rPr>
              <a:t>a </a:t>
            </a:r>
            <a:r>
              <a:rPr sz="2100" b="1" i="0">
                <a:solidFill>
                  <a:srgbClr val="1A5276"/>
                </a:solidFill>
                <a:latin typeface="Segoe UI"/>
              </a:rPr>
              <a:t>working memory</a:t>
            </a:r>
            <a:r>
              <a:rPr sz="2100" b="0" i="0">
                <a:solidFill>
                  <a:srgbClr val="1C252B"/>
                </a:solidFill>
                <a:latin typeface="Segoe UI"/>
              </a:rPr>
              <a:t> of facts currently believed;</a:t>
            </a:r>
          </a:p>
          <a:p>
            <a:pPr algn="l" marL="234813" indent="-234813">
              <a:lnSpc>
                <a:spcPct val="104000"/>
              </a:lnSpc>
              <a:spcBef>
                <a:spcPts val="0"/>
              </a:spcBef>
              <a:spcAft>
                <a:spcPts val="735"/>
              </a:spcAft>
            </a:pPr>
            <a:r>
              <a:rPr sz="2100" b="1">
                <a:solidFill>
                  <a:srgbClr val="8A4500"/>
                </a:solidFill>
                <a:latin typeface="Segoe UI"/>
              </a:rPr>
              <a:t>•	</a:t>
            </a:r>
            <a:r>
              <a:rPr sz="2100" b="0" i="0">
                <a:solidFill>
                  <a:srgbClr val="1C252B"/>
                </a:solidFill>
                <a:latin typeface="Segoe UI"/>
              </a:rPr>
              <a:t>a </a:t>
            </a:r>
            <a:r>
              <a:rPr sz="2100" b="1" i="0">
                <a:solidFill>
                  <a:srgbClr val="1A5276"/>
                </a:solidFill>
                <a:latin typeface="Segoe UI"/>
              </a:rPr>
              <a:t>rule base</a:t>
            </a:r>
            <a:r>
              <a:rPr sz="2100" b="0" i="0">
                <a:solidFill>
                  <a:srgbClr val="1C252B"/>
                </a:solidFill>
                <a:latin typeface="Segoe UI"/>
              </a:rPr>
              <a:t> of </a:t>
            </a:r>
            <a:r>
              <a:rPr sz="2100" b="1" i="0">
                <a:solidFill>
                  <a:srgbClr val="1A5276"/>
                </a:solidFill>
                <a:latin typeface="Segoe UI"/>
              </a:rPr>
              <a:t>production rules</a:t>
            </a:r>
            <a:r>
              <a:rPr sz="2100" b="0" i="0">
                <a:solidFill>
                  <a:srgbClr val="1C252B"/>
                </a:solidFill>
                <a:latin typeface="Segoe UI"/>
              </a:rPr>
              <a:t>, each a condition–action pair, conventionally written if conditions then conclusion;</a:t>
            </a:r>
          </a:p>
          <a:p>
            <a:pPr algn="l" marL="234813" indent="-234813">
              <a:lnSpc>
                <a:spcPct val="104000"/>
              </a:lnSpc>
              <a:spcBef>
                <a:spcPts val="0"/>
              </a:spcBef>
              <a:spcAft>
                <a:spcPts val="0"/>
              </a:spcAft>
            </a:pPr>
            <a:r>
              <a:rPr sz="2100" b="1">
                <a:solidFill>
                  <a:srgbClr val="8A4500"/>
                </a:solidFill>
                <a:latin typeface="Segoe UI"/>
              </a:rPr>
              <a:t>•	</a:t>
            </a:r>
            <a:r>
              <a:rPr sz="2100" b="0" i="0">
                <a:solidFill>
                  <a:srgbClr val="1C252B"/>
                </a:solidFill>
                <a:latin typeface="Segoe UI"/>
              </a:rPr>
              <a:t>an </a:t>
            </a:r>
            <a:r>
              <a:rPr sz="2100" b="1" i="0">
                <a:solidFill>
                  <a:srgbClr val="1A5276"/>
                </a:solidFill>
                <a:latin typeface="Segoe UI"/>
              </a:rPr>
              <a:t>inference engine</a:t>
            </a:r>
            <a:r>
              <a:rPr sz="2100" b="0" i="0">
                <a:solidFill>
                  <a:srgbClr val="1C252B"/>
                </a:solidFill>
                <a:latin typeface="Segoe UI"/>
              </a:rPr>
              <a:t> that repeatedly runs the </a:t>
            </a:r>
            <a:r>
              <a:rPr sz="2100" b="1" i="0">
                <a:solidFill>
                  <a:srgbClr val="1A5276"/>
                </a:solidFill>
                <a:latin typeface="Segoe UI"/>
              </a:rPr>
              <a:t>match–resolve–act</a:t>
            </a:r>
            <a:r>
              <a:rPr sz="2100" b="0" i="0">
                <a:solidFill>
                  <a:srgbClr val="1C252B"/>
                </a:solidFill>
                <a:latin typeface="Segoe UI"/>
              </a:rPr>
              <a:t> cycle: find every rule whose conditions hold (the </a:t>
            </a:r>
            <a:r>
              <a:rPr sz="2100" b="1" i="0">
                <a:solidFill>
                  <a:srgbClr val="1A5276"/>
                </a:solidFill>
                <a:latin typeface="Segoe UI"/>
              </a:rPr>
              <a:t>conflict set</a:t>
            </a:r>
            <a:r>
              <a:rPr sz="2100" b="0" i="0">
                <a:solidFill>
                  <a:srgbClr val="1C252B"/>
                </a:solidFill>
                <a:latin typeface="Segoe UI"/>
              </a:rPr>
              <a:t>), choose one, and apply its conclusion to working memory.</a:t>
            </a:r>
          </a:p>
        </p:txBody>
      </p:sp>
      <p:sp>
        <p:nvSpPr>
          <p:cNvPr id="11" name="body-2"/>
          <p:cNvSpPr txBox="1"/>
          <p:nvPr/>
        </p:nvSpPr>
        <p:spPr>
          <a:xfrm>
            <a:off x="1060704" y="4858207"/>
            <a:ext cx="10161727" cy="1044244"/>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The rules do not call each other. Each fires when the facts happen to satisfy it, so a rule can be added or corrected without anyone tracing control flow — which is the property that lets a domain expert maintain the system.</a:t>
            </a:r>
          </a:p>
        </p:txBody>
      </p:sp>
      <p:sp>
        <p:nvSpPr>
          <p:cNvPr id="1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fill">
            <a:extLst>
              <a:ext uri="{C183D7F6-B498-43B3-948B-1728B52AA6E4}">
                <adec:decorative xmlns:adec="http://schemas.microsoft.com/office/drawing/2017/decorative" val="1"/>
              </a:ext>
            </a:extLst>
          </p:cNvPr>
          <p:cNvSpPr/>
          <p:nvPr/>
        </p:nvSpPr>
        <p:spPr>
          <a:xfrm>
            <a:off x="0" y="0"/>
            <a:ext cx="1446472"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10">
                                            <p:txEl>
                                              <p:pRg st="0" end="0"/>
                                            </p:txEl>
                                          </p:spTgt>
                                        </p:tgtEl>
                                        <p:attrNameLst>
                                          <p:attrName>style.visibility</p:attrName>
                                        </p:attrNameLst>
                                      </p:cBhvr>
                                      <p:to>
                                        <p:strVal val="visible"/>
                                      </p:to>
                                    </p:set>
                                    <p:animEffect transition="in" filter="fade">
                                      <p:cBhvr>
                                        <p:cTn id="8" dur="380"/>
                                        <p:tgtEl>
                                          <p:spTgt spid="10">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10">
                                            <p:txEl>
                                              <p:pRg st="1" end="1"/>
                                            </p:txEl>
                                          </p:spTgt>
                                        </p:tgtEl>
                                        <p:attrNameLst>
                                          <p:attrName>style.visibility</p:attrName>
                                        </p:attrNameLst>
                                      </p:cBhvr>
                                      <p:to>
                                        <p:strVal val="visible"/>
                                      </p:to>
                                    </p:set>
                                    <p:animEffect transition="in" filter="fade">
                                      <p:cBhvr>
                                        <p:cTn id="13" dur="380"/>
                                        <p:tgtEl>
                                          <p:spTgt spid="10">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0">
                                            <p:txEl>
                                              <p:pRg st="2" end="2"/>
                                            </p:txEl>
                                          </p:spTgt>
                                        </p:tgtEl>
                                        <p:attrNameLst>
                                          <p:attrName>style.visibility</p:attrName>
                                        </p:attrNameLst>
                                      </p:cBhvr>
                                      <p:to>
                                        <p:strVal val="visible"/>
                                      </p:to>
                                    </p:set>
                                    <p:animEffect transition="in" filter="fade">
                                      <p:cBhvr>
                                        <p:cTn id="18" dur="380"/>
                                        <p:tgtEl>
                                          <p:spTgt spid="10">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build="p"/>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architecture</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7A3A95"/>
                </a:solidFill>
                <a:latin typeface="Segoe UI"/>
              </a:rPr>
              <a:t>FIGURE 13.1</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13  ·  Rule-Based Expert Systems</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§13.1  ·  Handout p. 132     </a:t>
            </a:r>
            <a:fld id="{6074A97F-6E63-4B70-B3C8-1E51E68DF404}" type="slidenum">
              <a:rPr lang="en-GB" sz="1000">
                <a:solidFill>
                  <a:srgbClr val="8795A1"/>
                </a:solidFill>
                <a:latin typeface="Segoe UI"/>
              </a:rPr>
              <a:t>8</a:t>
            </a:fld>
          </a:p>
        </p:txBody>
      </p:sp>
      <p:pic>
        <p:nvPicPr>
          <p:cNvPr id="6" name="!!figure" descr="Figure 13.1. The architecture. Working memory grows as conclusions are asserted, which makes further rules applicable, and the cycle repeats until nothing new can be derived."/>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54716" y="1737360"/>
            <a:ext cx="10482261" cy="3740505"/>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660745"/>
            <a:ext cx="54864" cy="575462"/>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642457"/>
            <a:ext cx="10600639" cy="758342"/>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Working memory grows as conclusions are asserted, which makes further rules applicable, and the cycle repeats until nothing new can be derived.</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653111"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Forward Chaining</a:t>
            </a:r>
          </a:p>
        </p:txBody>
      </p:sp>
      <p:pic>
        <p:nvPicPr>
          <p:cNvPr id="3" name="!!kicker-icon" descr="quote-left-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KEY IDEA</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13  ·  Rule-Based Expert Systems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§13.2  ·  Handout p. 133     </a:t>
            </a:r>
            <a:fld id="{7C3D82C8-B1C3-478E-881A-8552EAB3C674}" type="slidenum">
              <a:rPr lang="en-GB" sz="1000">
                <a:solidFill>
                  <a:srgbClr val="8795A1"/>
                </a:solidFill>
                <a:latin typeface="Segoe UI"/>
              </a:rPr>
              <a:t>9</a:t>
            </a:fld>
          </a:p>
        </p:txBody>
      </p:sp>
      <p:sp>
        <p:nvSpPr>
          <p:cNvPr id="7" name="!!stbar">
            <a:extLst>
              <a:ext uri="{C183D7F6-B498-43B3-948B-1728B52AA6E4}">
                <adec:decorative xmlns:adec="http://schemas.microsoft.com/office/drawing/2017/decorative" val="1"/>
              </a:ext>
            </a:extLst>
          </p:cNvPr>
          <p:cNvSpPr/>
          <p:nvPr/>
        </p:nvSpPr>
        <p:spPr>
          <a:xfrm>
            <a:off x="658368" y="1810512"/>
            <a:ext cx="73152" cy="3918051"/>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body-0"/>
          <p:cNvSpPr txBox="1"/>
          <p:nvPr/>
        </p:nvSpPr>
        <p:spPr>
          <a:xfrm>
            <a:off x="1042415" y="1792224"/>
            <a:ext cx="10417759" cy="711403"/>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Start from the facts and derive everything that follows. This is </a:t>
            </a:r>
            <a:r>
              <a:rPr sz="2100" b="1" i="0">
                <a:solidFill>
                  <a:srgbClr val="1A5276"/>
                </a:solidFill>
                <a:latin typeface="Segoe UI"/>
              </a:rPr>
              <a:t>forward chaining</a:t>
            </a:r>
            <a:r>
              <a:rPr sz="2100" b="0" i="0">
                <a:solidFill>
                  <a:srgbClr val="1C252B"/>
                </a:solidFill>
                <a:latin typeface="Segoe UI"/>
              </a:rPr>
              <a:t>, and it is </a:t>
            </a:r>
            <a:r>
              <a:rPr sz="2100" b="0" i="1">
                <a:solidFill>
                  <a:srgbClr val="1C252B"/>
                </a:solidFill>
                <a:latin typeface="Segoe UI"/>
              </a:rPr>
              <a:t>data-driven</a:t>
            </a:r>
            <a:r>
              <a:rPr sz="2100" b="0" i="0">
                <a:solidFill>
                  <a:srgbClr val="1C252B"/>
                </a:solidFill>
                <a:latin typeface="Segoe UI"/>
              </a:rPr>
              <a:t>: the arrival of a new fact triggers whatever it triggers.</a:t>
            </a:r>
          </a:p>
        </p:txBody>
      </p:sp>
      <p:sp>
        <p:nvSpPr>
          <p:cNvPr id="9" name="body-1"/>
          <p:cNvSpPr txBox="1"/>
          <p:nvPr/>
        </p:nvSpPr>
        <p:spPr>
          <a:xfrm>
            <a:off x="1042415" y="2604592"/>
            <a:ext cx="10417759" cy="2042769"/>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On ticket T-4471 — critical, platinum, payments, under two hours of service level agreement left, owner unreachable, on-call budget available — the engine fires nine rules in ten cycles, testing </a:t>
            </a:r>
            <a:r>
              <a:rPr sz="2100" b="0" i="0">
                <a:solidFill>
                  <a:srgbClr val="1C252B"/>
                </a:solidFill>
                <a:latin typeface="Cambria"/>
              </a:rPr>
              <a:t>188</a:t>
            </a:r>
            <a:r>
              <a:rPr sz="2100" b="0" i="0">
                <a:solidFill>
                  <a:srgbClr val="1C252B"/>
                </a:solidFill>
                <a:latin typeface="Segoe UI"/>
              </a:rPr>
              <a:t> conditions, and reaches </a:t>
            </a:r>
            <a:r>
              <a:rPr sz="1950" b="0" i="0">
                <a:solidFill>
                  <a:srgbClr val="1F4E79"/>
                </a:solidFill>
                <a:latin typeface="Consolas"/>
              </a:rPr>
              <a:t>action = wake_on_call</a:t>
            </a:r>
            <a:r>
              <a:rPr sz="2100" b="0" i="0">
                <a:solidFill>
                  <a:srgbClr val="1C252B"/>
                </a:solidFill>
                <a:latin typeface="Segoe UI"/>
              </a:rPr>
              <a:t>. Along the way it also derives that the account team must be notified, that finance must be notified because the service is payments, that the payments incident runbook applies, and that the page is urgent — none of which anybody asked about.</a:t>
            </a:r>
          </a:p>
        </p:txBody>
      </p:sp>
      <p:sp>
        <p:nvSpPr>
          <p:cNvPr id="10" name="body-2"/>
          <p:cNvSpPr txBox="1"/>
          <p:nvPr/>
        </p:nvSpPr>
        <p:spPr>
          <a:xfrm>
            <a:off x="1042415" y="4748326"/>
            <a:ext cx="10417759" cy="1044244"/>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That is the character of forward chaining. It is the right choice for monitoring and alerting, where you want every consequence of an arriving fact. It is the wrong choice when you have one question, because it derives a great deal you did not ask for.</a:t>
            </a:r>
          </a:p>
        </p:txBody>
      </p:sp>
      <p:sp>
        <p:nvSpPr>
          <p:cNvPr id="1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pfill">
            <a:extLst>
              <a:ext uri="{C183D7F6-B498-43B3-948B-1728B52AA6E4}">
                <adec:decorative xmlns:adec="http://schemas.microsoft.com/office/drawing/2017/decorative" val="1"/>
              </a:ext>
            </a:extLst>
          </p:cNvPr>
          <p:cNvSpPr/>
          <p:nvPr/>
        </p:nvSpPr>
        <p:spPr>
          <a:xfrm>
            <a:off x="0" y="0"/>
            <a:ext cx="1859750"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fade">
                                      <p:cBhvr>
                                        <p:cTn id="8" dur="450"/>
                                        <p:tgtEl>
                                          <p:spTgt spid="9"/>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4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Backward Chaining</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D7C4DF"/>
                </a:solidFill>
                <a:latin typeface="Segoe UI"/>
              </a:rPr>
              <a:t>SECTION 3 OF 6</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13.3</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13.1   The Escalation Adviser</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13.2   Forward Chaining</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7A3A95"/>
                </a:solidFill>
                <a:latin typeface="Segoe UI"/>
              </a:rPr>
              <a:t>13.3   Backward Chaining</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13.4   Conflict Resolution</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13.5   What Conflict Resolution Does Not Fix</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13.6   Why the Industry Collapsed</a:t>
            </a:r>
          </a:p>
        </p:txBody>
      </p:sp>
      <p:sp>
        <p:nvSpPr>
          <p:cNvPr id="12"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13</a:t>
            </a:r>
          </a:p>
        </p:txBody>
      </p:sp>
      <p:sp>
        <p:nvSpPr>
          <p:cNvPr id="13"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§13.3     </a:t>
            </a:r>
            <a:fld id="{B81EDB81-56A6-4717-BB41-98DABC731DE2}" type="slidenum">
              <a:rPr lang="en-GB" sz="1000">
                <a:solidFill>
                  <a:srgbClr val="8795A1"/>
                </a:solidFill>
                <a:latin typeface="Segoe UI"/>
              </a:rPr>
              <a:t>10</a:t>
            </a:fld>
          </a:p>
        </p:txBody>
      </p:sp>
      <p:sp>
        <p:nvSpPr>
          <p:cNvPr id="1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pfill">
            <a:extLst>
              <a:ext uri="{C183D7F6-B498-43B3-948B-1728B52AA6E4}">
                <adec:decorative xmlns:adec="http://schemas.microsoft.com/office/drawing/2017/decorative" val="1"/>
              </a:ext>
            </a:extLst>
          </p:cNvPr>
          <p:cNvSpPr/>
          <p:nvPr/>
        </p:nvSpPr>
        <p:spPr>
          <a:xfrm>
            <a:off x="0" y="0"/>
            <a:ext cx="2066389"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proof tree for why is T-4471 escalated?</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7A3A95"/>
                </a:solidFill>
                <a:latin typeface="Segoe UI"/>
              </a:rPr>
              <a:t>FIGURE 13.2</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13  ·  Rule-Based Expert Systems</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§13.3  ·  Handout p. 133     </a:t>
            </a:r>
            <a:fld id="{29A9EE89-4EEC-491E-9081-413F594055F0}" type="slidenum">
              <a:rPr lang="en-GB" sz="1000">
                <a:solidFill>
                  <a:srgbClr val="8795A1"/>
                </a:solidFill>
                <a:latin typeface="Segoe UI"/>
              </a:rPr>
              <a:t>11</a:t>
            </a:fld>
          </a:p>
        </p:txBody>
      </p:sp>
      <p:pic>
        <p:nvPicPr>
          <p:cNvPr id="6" name="!!figure" descr="Figure 13.2. The proof tree for why is T-4471 escalated? Rounded green boxes are facts from the ticket; blue boxes are derived, each labelled with the rule that derived it."/>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15747" y="1737360"/>
            <a:ext cx="7560199" cy="3740505"/>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660745"/>
            <a:ext cx="54864" cy="575462"/>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642457"/>
            <a:ext cx="10600639" cy="758342"/>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Rounded green boxes are facts from the ticket; blue boxes are derived, each labelled with the rule that derived it.</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2273027"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Backward Chaining</a:t>
            </a:r>
          </a:p>
        </p:txBody>
      </p:sp>
      <p:pic>
        <p:nvPicPr>
          <p:cNvPr id="3" name="!!kicker-icon" descr="tabl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AT A GLANCE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13  ·  Rule-Based Expert Systems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§13.3  ·  Handout p. 133     </a:t>
            </a:r>
            <a:fld id="{7EB21F4D-11C4-4A53-A895-3AC7D248100E}" type="slidenum">
              <a:rPr lang="en-GB" sz="1000">
                <a:solidFill>
                  <a:srgbClr val="8795A1"/>
                </a:solidFill>
                <a:latin typeface="Segoe UI"/>
              </a:rPr>
              <a:t>12</a:t>
            </a:fld>
          </a:p>
        </p:txBody>
      </p:sp>
      <p:graphicFrame>
        <p:nvGraphicFramePr>
          <p:cNvPr id="7" name="!!table"/>
          <p:cNvGraphicFramePr>
            <a:graphicFrameLocks noGrp="1"/>
          </p:cNvGraphicFramePr>
          <p:nvPr/>
        </p:nvGraphicFramePr>
        <p:xfrm>
          <a:off x="658368" y="1737360"/>
          <a:ext cx="10555996" cy="2837688"/>
        </p:xfrm>
        <a:graphic>
          <a:graphicData uri="http://schemas.openxmlformats.org/drawingml/2006/table">
            <a:tbl>
              <a:tblPr firstRow="0" bandRow="0" firstCol="0" lastRow="0" lastCol="0" bandCol="0">
                <a:tableStyleId>{2D5ABB26-0587-4C30-8999-92F81FD0307C}</a:tableStyleId>
              </a:tblPr>
              <a:tblGrid>
                <a:gridCol w="2037292"/>
                <a:gridCol w="4444120"/>
                <a:gridCol w="4074584"/>
              </a:tblGrid>
              <a:tr h="405384">
                <a:tc>
                  <a:txBody>
                    <a:bodyPr wrap="square"/>
                    <a:lstStyle/>
                    <a:p>
                      <a:pPr algn="l"/>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700" b="1" i="0">
                          <a:solidFill>
                            <a:srgbClr val="1A5276"/>
                          </a:solidFill>
                          <a:latin typeface="Segoe UI"/>
                        </a:rPr>
                        <a:t>Forward chaining</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700" b="1" i="0">
                          <a:solidFill>
                            <a:srgbClr val="1A5276"/>
                          </a:solidFill>
                          <a:latin typeface="Segoe UI"/>
                        </a:rPr>
                        <a:t>Backward chaining</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r>
              <a:tr h="405384">
                <a:tc>
                  <a:txBody>
                    <a:bodyPr wrap="square"/>
                    <a:lstStyle/>
                    <a:p>
                      <a:pPr algn="l"/>
                      <a:r>
                        <a:rPr sz="1700" b="0" i="0">
                          <a:solidFill>
                            <a:srgbClr val="1C252B"/>
                          </a:solidFill>
                          <a:latin typeface="Segoe UI"/>
                        </a:rPr>
                        <a:t>Driven by</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the data: a new fact triggers rules</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the goal: a question triggers subgoals</a:t>
                      </a:r>
                      <a:endParaRPr sz="1700"/>
                    </a:p>
                  </a:txBody>
                  <a:tcPr marL="109728" marR="109728" marT="64008" marB="45720" anchor="t">
                    <a:lnL w="0" cmpd="sng">
                      <a:noFill/>
                    </a:lnL>
                    <a:lnR w="0" cmpd="sng">
                      <a:noFill/>
                    </a:lnR>
                    <a:lnT w="9525" cmpd="sng">
                      <a:noFill/>
                    </a:lnT>
                    <a:lnB w="9525" cmpd="sng">
                      <a:noFill/>
                    </a:lnB>
                    <a:solidFill>
                      <a:srgbClr val="FFFFFF"/>
                    </a:solidFill>
                  </a:tcPr>
                </a:tc>
              </a:tr>
              <a:tr h="405384">
                <a:tc>
                  <a:txBody>
                    <a:bodyPr wrap="square"/>
                    <a:lstStyle/>
                    <a:p>
                      <a:pPr algn="l"/>
                      <a:r>
                        <a:rPr sz="1700" b="0" i="0">
                          <a:solidFill>
                            <a:srgbClr val="1C252B"/>
                          </a:solidFill>
                          <a:latin typeface="Segoe UI"/>
                        </a:rPr>
                        <a:t>Derives</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everything that follows</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only what bears on the question</a:t>
                      </a:r>
                      <a:endParaRPr sz="1700"/>
                    </a:p>
                  </a:txBody>
                  <a:tcPr marL="109728" marR="109728" marT="64008" marB="45720" anchor="t">
                    <a:lnL w="0" cmpd="sng">
                      <a:noFill/>
                    </a:lnL>
                    <a:lnR w="0" cmpd="sng">
                      <a:noFill/>
                    </a:lnR>
                    <a:lnT w="9525" cmpd="sng">
                      <a:noFill/>
                    </a:lnT>
                    <a:lnB w="9525" cmpd="sng">
                      <a:noFill/>
                    </a:lnB>
                    <a:solidFill>
                      <a:srgbClr val="F2F8FC"/>
                    </a:solidFill>
                  </a:tcPr>
                </a:tc>
              </a:tr>
              <a:tr h="405384">
                <a:tc>
                  <a:txBody>
                    <a:bodyPr wrap="square"/>
                    <a:lstStyle/>
                    <a:p>
                      <a:pPr algn="l"/>
                      <a:r>
                        <a:rPr sz="1700" b="0" i="0">
                          <a:solidFill>
                            <a:srgbClr val="1C252B"/>
                          </a:solidFill>
                          <a:latin typeface="Segoe UI"/>
                        </a:rPr>
                        <a:t>On T-4471</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9 rules fired, 188 condition tests</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6 goals visited</a:t>
                      </a:r>
                      <a:endParaRPr sz="1700"/>
                    </a:p>
                  </a:txBody>
                  <a:tcPr marL="109728" marR="109728" marT="64008" marB="45720" anchor="t">
                    <a:lnL w="0" cmpd="sng">
                      <a:noFill/>
                    </a:lnL>
                    <a:lnR w="0" cmpd="sng">
                      <a:noFill/>
                    </a:lnR>
                    <a:lnT w="9525" cmpd="sng">
                      <a:noFill/>
                    </a:lnT>
                    <a:lnB w="9525" cmpd="sng">
                      <a:noFill/>
                    </a:lnB>
                    <a:solidFill>
                      <a:srgbClr val="FFFFFF"/>
                    </a:solidFill>
                  </a:tcPr>
                </a:tc>
              </a:tr>
              <a:tr h="405384">
                <a:tc>
                  <a:txBody>
                    <a:bodyPr wrap="square"/>
                    <a:lstStyle/>
                    <a:p>
                      <a:pPr algn="l"/>
                      <a:r>
                        <a:rPr sz="1700" b="0" i="0">
                          <a:solidFill>
                            <a:srgbClr val="1C252B"/>
                          </a:solidFill>
                          <a:latin typeface="Segoe UI"/>
                        </a:rPr>
                        <a:t>Natural output</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a set of conclusions</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a proof tree</a:t>
                      </a:r>
                      <a:endParaRPr sz="1700"/>
                    </a:p>
                  </a:txBody>
                  <a:tcPr marL="109728" marR="109728" marT="64008" marB="45720" anchor="t">
                    <a:lnL w="0" cmpd="sng">
                      <a:noFill/>
                    </a:lnL>
                    <a:lnR w="0" cmpd="sng">
                      <a:noFill/>
                    </a:lnR>
                    <a:lnT w="9525" cmpd="sng">
                      <a:noFill/>
                    </a:lnT>
                    <a:lnB w="9525" cmpd="sng">
                      <a:noFill/>
                    </a:lnB>
                    <a:solidFill>
                      <a:srgbClr val="F2F8FC"/>
                    </a:solidFill>
                  </a:tcPr>
                </a:tc>
              </a:tr>
              <a:tr h="405384">
                <a:tc>
                  <a:txBody>
                    <a:bodyPr wrap="square"/>
                    <a:lstStyle/>
                    <a:p>
                      <a:pPr algn="l"/>
                      <a:r>
                        <a:rPr sz="1700" b="0" i="0">
                          <a:solidFill>
                            <a:srgbClr val="1C252B"/>
                          </a:solidFill>
                          <a:latin typeface="Segoe UI"/>
                        </a:rPr>
                        <a:t>Good for</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monitoring, alerting, updating a dashboard</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diagnosis, advice, answering “why?”</a:t>
                      </a:r>
                      <a:endParaRPr sz="1700"/>
                    </a:p>
                  </a:txBody>
                  <a:tcPr marL="109728" marR="109728" marT="64008" marB="45720" anchor="t">
                    <a:lnL w="0" cmpd="sng">
                      <a:noFill/>
                    </a:lnL>
                    <a:lnR w="0" cmpd="sng">
                      <a:noFill/>
                    </a:lnR>
                    <a:lnT w="9525" cmpd="sng">
                      <a:noFill/>
                    </a:lnT>
                    <a:lnB w="9525" cmpd="sng">
                      <a:noFill/>
                    </a:lnB>
                    <a:solidFill>
                      <a:srgbClr val="FFFFFF"/>
                    </a:solidFill>
                  </a:tcPr>
                </a:tc>
              </a:tr>
              <a:tr h="405384">
                <a:tc>
                  <a:txBody>
                    <a:bodyPr wrap="square"/>
                    <a:lstStyle/>
                    <a:p>
                      <a:pPr algn="l"/>
                      <a:r>
                        <a:rPr sz="1700" b="0" i="0">
                          <a:solidFill>
                            <a:srgbClr val="1C252B"/>
                          </a:solidFill>
                          <a:latin typeface="Segoe UI"/>
                        </a:rPr>
                        <a:t>Wasteful when</a:t>
                      </a:r>
                      <a:endParaRPr sz="17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l"/>
                      <a:r>
                        <a:rPr sz="1700" b="0" i="0">
                          <a:solidFill>
                            <a:srgbClr val="1C252B"/>
                          </a:solidFill>
                          <a:latin typeface="Segoe UI"/>
                        </a:rPr>
                        <a:t>you have one specific question</a:t>
                      </a:r>
                      <a:endParaRPr sz="17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l"/>
                      <a:r>
                        <a:rPr sz="1700" b="0" i="0">
                          <a:solidFill>
                            <a:srgbClr val="1C252B"/>
                          </a:solidFill>
                          <a:latin typeface="Segoe UI"/>
                        </a:rPr>
                        <a:t>you want every consequence</a:t>
                      </a:r>
                      <a:endParaRPr sz="17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r>
            </a:tbl>
          </a:graphicData>
        </a:graphic>
      </p:graphicFrame>
      <p:sp>
        <p:nvSpPr>
          <p:cNvPr id="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pfill">
            <a:extLst>
              <a:ext uri="{C183D7F6-B498-43B3-948B-1728B52AA6E4}">
                <adec:decorative xmlns:adec="http://schemas.microsoft.com/office/drawing/2017/decorative" val="1"/>
              </a:ext>
            </a:extLst>
          </p:cNvPr>
          <p:cNvSpPr/>
          <p:nvPr/>
        </p:nvSpPr>
        <p:spPr>
          <a:xfrm>
            <a:off x="0" y="0"/>
            <a:ext cx="2479666"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Conflict Resolution</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D7C4DF"/>
                </a:solidFill>
                <a:latin typeface="Segoe UI"/>
              </a:rPr>
              <a:t>SECTION 4 OF 6</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13.4</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13.1   The Escalation Adviser</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13.2   Forward Chaining</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13.3   Backward Chaining</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7A3A95"/>
                </a:solidFill>
                <a:latin typeface="Segoe UI"/>
              </a:rPr>
              <a:t>13.4   Conflict Resolution</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13.5   What Conflict Resolution Does Not Fix</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13.6   Why the Industry Collapsed</a:t>
            </a:r>
          </a:p>
        </p:txBody>
      </p:sp>
      <p:sp>
        <p:nvSpPr>
          <p:cNvPr id="12"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13</a:t>
            </a:r>
          </a:p>
        </p:txBody>
      </p:sp>
      <p:sp>
        <p:nvSpPr>
          <p:cNvPr id="13"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§13.4     </a:t>
            </a:r>
            <a:fld id="{6E026C44-C019-4175-AB6E-7F68C583EACA}" type="slidenum">
              <a:rPr lang="en-GB" sz="1000">
                <a:solidFill>
                  <a:srgbClr val="8795A1"/>
                </a:solidFill>
                <a:latin typeface="Segoe UI"/>
              </a:rPr>
              <a:t>13</a:t>
            </a:fld>
          </a:p>
        </p:txBody>
      </p:sp>
      <p:sp>
        <p:nvSpPr>
          <p:cNvPr id="1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pfill">
            <a:extLst>
              <a:ext uri="{C183D7F6-B498-43B3-948B-1728B52AA6E4}">
                <adec:decorative xmlns:adec="http://schemas.microsoft.com/office/drawing/2017/decorative" val="1"/>
              </a:ext>
            </a:extLst>
          </p:cNvPr>
          <p:cNvSpPr/>
          <p:nvPr/>
        </p:nvSpPr>
        <p:spPr>
          <a:xfrm>
            <a:off x="0" y="0"/>
            <a:ext cx="2686305"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Conflict Resolution</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BRIEF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13  ·  Rule-Based Expert Systems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§13.4  ·  Handout p. 135     </a:t>
            </a:r>
            <a:fld id="{34000A81-55D8-4869-A252-A83FAF866D0F}" type="slidenum">
              <a:rPr lang="en-GB" sz="1000">
                <a:solidFill>
                  <a:srgbClr val="8795A1"/>
                </a:solidFill>
                <a:latin typeface="Segoe UI"/>
              </a:rPr>
              <a:t>14</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931107"/>
          </a:xfrm>
          <a:prstGeom prst="roundRect">
            <a:avLst>
              <a:gd name="adj" fmla="val 2326"/>
            </a:avLst>
          </a:prstGeom>
          <a:solidFill>
            <a:srgbClr val="F2F6F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931107"/>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58460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At most cycles several rules apply at once, and the order changes the outcome — sometimes only in efficiency, sometimes in the conclusion. Choosing is </a:t>
            </a:r>
            <a:r>
              <a:rPr sz="1700" b="1" i="0">
                <a:solidFill>
                  <a:srgbClr val="1A5276"/>
                </a:solidFill>
                <a:latin typeface="Segoe UI"/>
              </a:rPr>
              <a:t>conflict resolution</a:t>
            </a:r>
            <a:r>
              <a:rPr sz="1700" b="0" i="0">
                <a:solidFill>
                  <a:srgbClr val="1C252B"/>
                </a:solidFill>
                <a:latin typeface="Segoe UI"/>
              </a:rPr>
              <a:t>, and the standard strategies are:</a:t>
            </a:r>
          </a:p>
        </p:txBody>
      </p:sp>
      <p:sp>
        <p:nvSpPr>
          <p:cNvPr id="10" name="body-1"/>
          <p:cNvSpPr txBox="1"/>
          <p:nvPr/>
        </p:nvSpPr>
        <p:spPr>
          <a:xfrm>
            <a:off x="1060704" y="2705887"/>
            <a:ext cx="10161727" cy="2697403"/>
          </a:xfrm>
          <a:prstGeom prst="rect">
            <a:avLst/>
          </a:prstGeom>
          <a:noFill/>
        </p:spPr>
        <p:txBody>
          <a:bodyPr wrap="square" anchor="t" lIns="0" rIns="0" tIns="0" bIns="0">
            <a:noAutofit/>
          </a:bodyPr>
          <a:lstStyle/>
          <a:p>
            <a:pPr algn="l" marL="190086" indent="-190086">
              <a:lnSpc>
                <a:spcPct val="104000"/>
              </a:lnSpc>
              <a:spcBef>
                <a:spcPts val="0"/>
              </a:spcBef>
              <a:spcAft>
                <a:spcPts val="594"/>
              </a:spcAft>
            </a:pPr>
            <a:r>
              <a:rPr sz="1700" b="1">
                <a:solidFill>
                  <a:srgbClr val="1A5276"/>
                </a:solidFill>
                <a:latin typeface="Segoe UI"/>
              </a:rPr>
              <a:t>•	</a:t>
            </a:r>
            <a:r>
              <a:rPr sz="1700" b="1" i="0">
                <a:solidFill>
                  <a:srgbClr val="1A5276"/>
                </a:solidFill>
                <a:latin typeface="Segoe UI"/>
              </a:rPr>
              <a:t>Specificity</a:t>
            </a:r>
            <a:r>
              <a:rPr sz="1700" b="0" i="0">
                <a:solidFill>
                  <a:srgbClr val="1C252B"/>
                </a:solidFill>
                <a:latin typeface="Segoe UI"/>
              </a:rPr>
              <a:t> — prefer the rule with more conditions. A rule that mentions </a:t>
            </a:r>
            <a:r>
              <a:rPr sz="1700" b="0" i="1">
                <a:solidFill>
                  <a:srgbClr val="1C252B"/>
                </a:solidFill>
                <a:latin typeface="Segoe UI"/>
              </a:rPr>
              <a:t>major severity and platinum tier</a:t>
            </a:r>
            <a:r>
              <a:rPr sz="1700" b="0" i="0">
                <a:solidFill>
                  <a:srgbClr val="1C252B"/>
                </a:solidFill>
                <a:latin typeface="Segoe UI"/>
              </a:rPr>
              <a:t> is about a narrower situation than one mentioning </a:t>
            </a:r>
            <a:r>
              <a:rPr sz="1700" b="0" i="1">
                <a:solidFill>
                  <a:srgbClr val="1C252B"/>
                </a:solidFill>
                <a:latin typeface="Segoe UI"/>
              </a:rPr>
              <a:t>major severity</a:t>
            </a:r>
            <a:r>
              <a:rPr sz="1700" b="0" i="0">
                <a:solidFill>
                  <a:srgbClr val="1C252B"/>
                </a:solidFill>
                <a:latin typeface="Segoe UI"/>
              </a:rPr>
              <a:t> alone, and the narrower rule is the one the expert meant to apply. This is the workhorse.</a:t>
            </a:r>
          </a:p>
          <a:p>
            <a:pPr algn="l" marL="190086" indent="-190086">
              <a:lnSpc>
                <a:spcPct val="104000"/>
              </a:lnSpc>
              <a:spcBef>
                <a:spcPts val="0"/>
              </a:spcBef>
              <a:spcAft>
                <a:spcPts val="594"/>
              </a:spcAft>
            </a:pPr>
            <a:r>
              <a:rPr sz="1700" b="1">
                <a:solidFill>
                  <a:srgbClr val="1A5276"/>
                </a:solidFill>
                <a:latin typeface="Segoe UI"/>
              </a:rPr>
              <a:t>•	</a:t>
            </a:r>
            <a:r>
              <a:rPr sz="1700" b="1" i="0">
                <a:solidFill>
                  <a:srgbClr val="1A5276"/>
                </a:solidFill>
                <a:latin typeface="Segoe UI"/>
              </a:rPr>
              <a:t>Recency</a:t>
            </a:r>
            <a:r>
              <a:rPr sz="1700" b="0" i="0">
                <a:solidFill>
                  <a:srgbClr val="1C252B"/>
                </a:solidFill>
                <a:latin typeface="Segoe UI"/>
              </a:rPr>
              <a:t> — prefer the rule matching the most recently added facts, which keeps the system on one line of reasoning instead of drifting.</a:t>
            </a:r>
          </a:p>
          <a:p>
            <a:pPr algn="l" marL="190086" indent="-190086">
              <a:lnSpc>
                <a:spcPct val="104000"/>
              </a:lnSpc>
              <a:spcBef>
                <a:spcPts val="0"/>
              </a:spcBef>
              <a:spcAft>
                <a:spcPts val="594"/>
              </a:spcAft>
            </a:pPr>
            <a:r>
              <a:rPr sz="1700" b="1">
                <a:solidFill>
                  <a:srgbClr val="1A5276"/>
                </a:solidFill>
                <a:latin typeface="Segoe UI"/>
              </a:rPr>
              <a:t>•	</a:t>
            </a:r>
            <a:r>
              <a:rPr sz="1700" b="1" i="0">
                <a:solidFill>
                  <a:srgbClr val="1A5276"/>
                </a:solidFill>
                <a:latin typeface="Segoe UI"/>
              </a:rPr>
              <a:t>Refraction</a:t>
            </a:r>
            <a:r>
              <a:rPr sz="1700" b="0" i="0">
                <a:solidFill>
                  <a:srgbClr val="1C252B"/>
                </a:solidFill>
                <a:latin typeface="Segoe UI"/>
              </a:rPr>
              <a:t> — never fire the same rule on the same facts twice. Not an optimisation: without it the engine loops forever.</a:t>
            </a:r>
          </a:p>
          <a:p>
            <a:pPr algn="l" marL="190086" indent="-190086">
              <a:lnSpc>
                <a:spcPct val="104000"/>
              </a:lnSpc>
              <a:spcBef>
                <a:spcPts val="0"/>
              </a:spcBef>
              <a:spcAft>
                <a:spcPts val="0"/>
              </a:spcAft>
            </a:pPr>
            <a:r>
              <a:rPr sz="1700" b="1">
                <a:solidFill>
                  <a:srgbClr val="1A5276"/>
                </a:solidFill>
                <a:latin typeface="Segoe UI"/>
              </a:rPr>
              <a:t>•	</a:t>
            </a:r>
            <a:r>
              <a:rPr sz="1700" b="1" i="0">
                <a:solidFill>
                  <a:srgbClr val="1A5276"/>
                </a:solidFill>
                <a:latin typeface="Segoe UI"/>
              </a:rPr>
              <a:t>Explicit priority</a:t>
            </a:r>
            <a:r>
              <a:rPr sz="1700" b="0" i="0">
                <a:solidFill>
                  <a:srgbClr val="1C252B"/>
                </a:solidFill>
                <a:latin typeface="Segoe UI"/>
              </a:rPr>
              <a:t> — a numeric salience on each rule. Always available, and a warning sign: if a rule base needs many priorities, the rules are probably overlapping in ways nobody has thought through.</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2892944"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10">
                                            <p:txEl>
                                              <p:pRg st="0" end="0"/>
                                            </p:txEl>
                                          </p:spTgt>
                                        </p:tgtEl>
                                        <p:attrNameLst>
                                          <p:attrName>style.visibility</p:attrName>
                                        </p:attrNameLst>
                                      </p:cBhvr>
                                      <p:to>
                                        <p:strVal val="visible"/>
                                      </p:to>
                                    </p:set>
                                    <p:animEffect transition="in" filter="fade">
                                      <p:cBhvr>
                                        <p:cTn id="8" dur="380"/>
                                        <p:tgtEl>
                                          <p:spTgt spid="10">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10">
                                            <p:txEl>
                                              <p:pRg st="1" end="1"/>
                                            </p:txEl>
                                          </p:spTgt>
                                        </p:tgtEl>
                                        <p:attrNameLst>
                                          <p:attrName>style.visibility</p:attrName>
                                        </p:attrNameLst>
                                      </p:cBhvr>
                                      <p:to>
                                        <p:strVal val="visible"/>
                                      </p:to>
                                    </p:set>
                                    <p:animEffect transition="in" filter="fade">
                                      <p:cBhvr>
                                        <p:cTn id="13" dur="380"/>
                                        <p:tgtEl>
                                          <p:spTgt spid="10">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0">
                                            <p:txEl>
                                              <p:pRg st="2" end="2"/>
                                            </p:txEl>
                                          </p:spTgt>
                                        </p:tgtEl>
                                        <p:attrNameLst>
                                          <p:attrName>style.visibility</p:attrName>
                                        </p:attrNameLst>
                                      </p:cBhvr>
                                      <p:to>
                                        <p:strVal val="visible"/>
                                      </p:to>
                                    </p:set>
                                    <p:animEffect transition="in" filter="fade">
                                      <p:cBhvr>
                                        <p:cTn id="18" dur="380"/>
                                        <p:tgtEl>
                                          <p:spTgt spid="10">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0">
                                            <p:txEl>
                                              <p:pRg st="3" end="3"/>
                                            </p:txEl>
                                          </p:spTgt>
                                        </p:tgtEl>
                                        <p:attrNameLst>
                                          <p:attrName>style.visibility</p:attrName>
                                        </p:attrNameLst>
                                      </p:cBhvr>
                                      <p:to>
                                        <p:strVal val="visible"/>
                                      </p:to>
                                    </p:set>
                                    <p:animEffect transition="in" filter="fade">
                                      <p:cBhvr>
                                        <p:cTn id="23" dur="380"/>
                                        <p:tgtEl>
                                          <p:spTgt spid="10">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build="p"/>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Specificity is worth a night’s sleep</a:t>
            </a:r>
          </a:p>
        </p:txBody>
      </p:sp>
      <p:pic>
        <p:nvPicPr>
          <p:cNvPr id="3" name="!!kicker-icon" descr="exclamation-triang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45688"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WATCH OUT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13  ·  Rule-Based Expert Systems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§13.4  ·  Handout p. 135     </a:t>
            </a:r>
            <a:fld id="{F107604F-328D-4EE6-8C5D-540DB201C128}" type="slidenum">
              <a:rPr lang="en-GB" sz="1000">
                <a:solidFill>
                  <a:srgbClr val="8795A1"/>
                </a:solidFill>
                <a:latin typeface="Segoe UI"/>
              </a:rPr>
              <a:t>15</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388104"/>
          </a:xfrm>
          <a:prstGeom prst="roundRect">
            <a:avLst>
              <a:gd name="adj" fmla="val 2083"/>
            </a:avLst>
          </a:prstGeom>
          <a:solidFill>
            <a:srgbClr val="FDED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388104"/>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679704"/>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The rule base contains one deliberately over-general rule, R0: </a:t>
            </a:r>
            <a:r>
              <a:rPr sz="2000" b="0" i="1">
                <a:solidFill>
                  <a:srgbClr val="1C252B"/>
                </a:solidFill>
                <a:latin typeface="Segoe UI"/>
              </a:rPr>
              <a:t>a major ticket is P1</a:t>
            </a:r>
            <a:r>
              <a:rPr sz="2000" b="0" i="0">
                <a:solidFill>
                  <a:srgbClr val="1C252B"/>
                </a:solidFill>
                <a:latin typeface="Segoe UI"/>
              </a:rPr>
              <a:t>. It is listed first.</a:t>
            </a:r>
          </a:p>
        </p:txBody>
      </p:sp>
      <p:sp>
        <p:nvSpPr>
          <p:cNvPr id="10" name="body-1"/>
          <p:cNvSpPr txBox="1"/>
          <p:nvPr/>
        </p:nvSpPr>
        <p:spPr>
          <a:xfrm>
            <a:off x="1060704" y="2821939"/>
            <a:ext cx="10161727" cy="1630680"/>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Ticket T-4472 is major severity on a </a:t>
            </a:r>
            <a:r>
              <a:rPr sz="2000" b="0" i="1">
                <a:solidFill>
                  <a:srgbClr val="1C252B"/>
                </a:solidFill>
                <a:latin typeface="Segoe UI"/>
              </a:rPr>
              <a:t>standard</a:t>
            </a:r>
            <a:r>
              <a:rPr sz="2000" b="0" i="0">
                <a:solidFill>
                  <a:srgbClr val="1C252B"/>
                </a:solidFill>
                <a:latin typeface="Segoe UI"/>
              </a:rPr>
              <a:t>-tier customer with a workaround. Under plain rule-order resolution the engine reaches R0 first, makes the ticket P1, and ends at </a:t>
            </a:r>
            <a:r>
              <a:rPr sz="1900" b="0" i="0">
                <a:solidFill>
                  <a:srgbClr val="1F4E79"/>
                </a:solidFill>
                <a:latin typeface="Consolas"/>
              </a:rPr>
              <a:t>wake_on_call</a:t>
            </a:r>
            <a:r>
              <a:rPr sz="2000" b="0" i="0">
                <a:solidFill>
                  <a:srgbClr val="1C252B"/>
                </a:solidFill>
                <a:latin typeface="Segoe UI"/>
              </a:rPr>
              <a:t> — an engineer woken at three in the morning for a ticket that has a workaround. Under specificity the two-condition R3 is preferred, the ticket is P2, and the action is </a:t>
            </a:r>
            <a:r>
              <a:rPr sz="1900" b="0" i="0">
                <a:solidFill>
                  <a:srgbClr val="1F4E79"/>
                </a:solidFill>
                <a:latin typeface="Consolas"/>
              </a:rPr>
              <a:t>leave_in_queue</a:t>
            </a:r>
            <a:r>
              <a:rPr sz="2000" b="0" i="0">
                <a:solidFill>
                  <a:srgbClr val="1C252B"/>
                </a:solidFill>
                <a:latin typeface="Segoe UI"/>
              </a:rPr>
              <a:t>.</a:t>
            </a:r>
          </a:p>
        </p:txBody>
      </p:sp>
      <p:sp>
        <p:nvSpPr>
          <p:cNvPr id="11" name="body-2"/>
          <p:cNvSpPr txBox="1"/>
          <p:nvPr/>
        </p:nvSpPr>
        <p:spPr>
          <a:xfrm>
            <a:off x="1060704" y="4546599"/>
            <a:ext cx="10161727" cy="1313688"/>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Same rules, same facts, different conflict-resolution strategy, and the difference is somebody’s night. That is why a rule base is not a list of if statements: a list has the order whoever typed it chose, while specificity derives the order from how specific each rule’s claim is — which is a property of the knowledge rather than of the file.</a:t>
            </a:r>
          </a:p>
        </p:txBody>
      </p:sp>
      <p:sp>
        <p:nvSpPr>
          <p:cNvPr id="1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pfill">
            <a:extLst>
              <a:ext uri="{C183D7F6-B498-43B3-948B-1728B52AA6E4}">
                <adec:decorative xmlns:adec="http://schemas.microsoft.com/office/drawing/2017/decorative" val="1"/>
              </a:ext>
            </a:extLst>
          </p:cNvPr>
          <p:cNvSpPr/>
          <p:nvPr/>
        </p:nvSpPr>
        <p:spPr>
          <a:xfrm>
            <a:off x="0" y="0"/>
            <a:ext cx="3099583"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Conflict Resolution Does Not Fix</a:t>
            </a:r>
          </a:p>
        </p:txBody>
      </p:sp>
      <p:pic>
        <p:nvPicPr>
          <p:cNvPr id="3" name="!!kicker-icon" descr="lightbulb-2E86C1.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52915"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E86C1"/>
                </a:solidFill>
                <a:latin typeface="Segoe UI"/>
              </a:rPr>
              <a:t>CONCEPT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13  ·  Rule-Based Expert Systems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§13.5  ·  Handout p. 136     </a:t>
            </a:r>
            <a:fld id="{788177E9-4995-4EBE-9A1B-5C4CC3793AF2}" type="slidenum">
              <a:rPr lang="en-GB" sz="1000">
                <a:solidFill>
                  <a:srgbClr val="8795A1"/>
                </a:solidFill>
                <a:latin typeface="Segoe UI"/>
              </a:rPr>
              <a:t>16</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137202"/>
          </a:xfrm>
          <a:prstGeom prst="roundRect">
            <a:avLst>
              <a:gd name="adj" fmla="val 2210"/>
            </a:avLst>
          </a:prstGeom>
          <a:solidFill>
            <a:srgbClr val="EBF5FB"/>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137202"/>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616305"/>
          </a:xfrm>
          <a:prstGeom prst="rect">
            <a:avLst/>
          </a:prstGeom>
          <a:noFill/>
        </p:spPr>
        <p:txBody>
          <a:bodyPr wrap="square" anchor="t" lIns="0" rIns="0" tIns="0" bIns="0">
            <a:noAutofit/>
          </a:bodyPr>
          <a:lstStyle/>
          <a:p>
            <a:pPr algn="l">
              <a:lnSpc>
                <a:spcPct val="104000"/>
              </a:lnSpc>
              <a:spcBef>
                <a:spcPts val="0"/>
              </a:spcBef>
              <a:spcAft>
                <a:spcPts val="0"/>
              </a:spcAft>
            </a:pPr>
            <a:r>
              <a:rPr sz="1800" b="0" i="0">
                <a:solidFill>
                  <a:srgbClr val="1C252B"/>
                </a:solidFill>
                <a:latin typeface="Segoe UI"/>
              </a:rPr>
              <a:t>Backward chaining has no conflict set. It asks “is there </a:t>
            </a:r>
            <a:r>
              <a:rPr sz="1800" b="0" i="1">
                <a:solidFill>
                  <a:srgbClr val="1C252B"/>
                </a:solidFill>
                <a:latin typeface="Segoe UI"/>
              </a:rPr>
              <a:t>any</a:t>
            </a:r>
            <a:r>
              <a:rPr sz="1800" b="0" i="0">
                <a:solidFill>
                  <a:srgbClr val="1C252B"/>
                </a:solidFill>
                <a:latin typeface="Segoe UI"/>
              </a:rPr>
              <a:t> rule concluding this goal?”, and R0 is one. Forward chaining never used R0 only because specificity reached R3 first.</a:t>
            </a:r>
          </a:p>
        </p:txBody>
      </p:sp>
      <p:sp>
        <p:nvSpPr>
          <p:cNvPr id="10" name="body-1"/>
          <p:cNvSpPr txBox="1"/>
          <p:nvPr/>
        </p:nvSpPr>
        <p:spPr>
          <a:xfrm>
            <a:off x="1060704" y="2744571"/>
            <a:ext cx="10161727" cy="901598"/>
          </a:xfrm>
          <a:prstGeom prst="rect">
            <a:avLst/>
          </a:prstGeom>
          <a:noFill/>
        </p:spPr>
        <p:txBody>
          <a:bodyPr wrap="square" anchor="t" lIns="0" rIns="0" tIns="0" bIns="0">
            <a:noAutofit/>
          </a:bodyPr>
          <a:lstStyle/>
          <a:p>
            <a:pPr algn="l">
              <a:lnSpc>
                <a:spcPct val="104000"/>
              </a:lnSpc>
              <a:spcBef>
                <a:spcPts val="0"/>
              </a:spcBef>
              <a:spcAft>
                <a:spcPts val="0"/>
              </a:spcAft>
            </a:pPr>
            <a:r>
              <a:rPr sz="1800" b="0" i="0">
                <a:solidFill>
                  <a:srgbClr val="1C252B"/>
                </a:solidFill>
                <a:latin typeface="Segoe UI"/>
              </a:rPr>
              <a:t>So specificity was not repairing the rule base; it was </a:t>
            </a:r>
            <a:r>
              <a:rPr sz="1800" b="0" i="1">
                <a:solidFill>
                  <a:srgbClr val="1C252B"/>
                </a:solidFill>
                <a:latin typeface="Segoe UI"/>
              </a:rPr>
              <a:t>masking</a:t>
            </a:r>
            <a:r>
              <a:rPr sz="1800" b="0" i="0">
                <a:solidFill>
                  <a:srgbClr val="1C252B"/>
                </a:solidFill>
                <a:latin typeface="Segoe UI"/>
              </a:rPr>
              <a:t> a bad rule. R0 asserts that every major ticket is P1, which is simply false, and no conflict-resolution strategy makes a false rule true — it merely arranges for something else to be consulted first, on the inputs you happened to test.</a:t>
            </a:r>
          </a:p>
        </p:txBody>
      </p:sp>
      <p:sp>
        <p:nvSpPr>
          <p:cNvPr id="11" name="body-2"/>
          <p:cNvSpPr txBox="1"/>
          <p:nvPr/>
        </p:nvSpPr>
        <p:spPr>
          <a:xfrm>
            <a:off x="1060704" y="3726180"/>
            <a:ext cx="10161727" cy="616305"/>
          </a:xfrm>
          <a:prstGeom prst="rect">
            <a:avLst/>
          </a:prstGeom>
          <a:noFill/>
        </p:spPr>
        <p:txBody>
          <a:bodyPr wrap="square" anchor="t" lIns="0" rIns="0" tIns="0" bIns="0">
            <a:noAutofit/>
          </a:bodyPr>
          <a:lstStyle/>
          <a:p>
            <a:pPr algn="l">
              <a:lnSpc>
                <a:spcPct val="104000"/>
              </a:lnSpc>
              <a:spcBef>
                <a:spcPts val="0"/>
              </a:spcBef>
              <a:spcAft>
                <a:spcPts val="0"/>
              </a:spcAft>
            </a:pPr>
            <a:r>
              <a:rPr sz="1800" b="0" i="0">
                <a:solidFill>
                  <a:srgbClr val="1C252B"/>
                </a:solidFill>
                <a:latin typeface="Segoe UI"/>
              </a:rPr>
              <a:t>The fix is to delete R0, whose work is already done correctly by R2 and R3. With it gone the two directions agree, and the lab checks that they do.</a:t>
            </a:r>
          </a:p>
        </p:txBody>
      </p:sp>
      <p:sp>
        <p:nvSpPr>
          <p:cNvPr id="12" name="body-3"/>
          <p:cNvSpPr txBox="1"/>
          <p:nvPr/>
        </p:nvSpPr>
        <p:spPr>
          <a:xfrm>
            <a:off x="1060704" y="4422495"/>
            <a:ext cx="10161727" cy="1186891"/>
          </a:xfrm>
          <a:prstGeom prst="rect">
            <a:avLst/>
          </a:prstGeom>
          <a:noFill/>
        </p:spPr>
        <p:txBody>
          <a:bodyPr wrap="square" anchor="t" lIns="0" rIns="0" tIns="0" bIns="0">
            <a:noAutofit/>
          </a:bodyPr>
          <a:lstStyle/>
          <a:p>
            <a:pPr algn="l">
              <a:lnSpc>
                <a:spcPct val="104000"/>
              </a:lnSpc>
              <a:spcBef>
                <a:spcPts val="0"/>
              </a:spcBef>
              <a:spcAft>
                <a:spcPts val="0"/>
              </a:spcAft>
            </a:pPr>
            <a:r>
              <a:rPr sz="1800" b="0" i="0">
                <a:solidFill>
                  <a:srgbClr val="1C252B"/>
                </a:solidFill>
                <a:latin typeface="Segoe UI"/>
              </a:rPr>
              <a:t>The general lesson is worth carrying beyond rule engines: </a:t>
            </a:r>
            <a:r>
              <a:rPr sz="1800" b="0" i="1">
                <a:solidFill>
                  <a:srgbClr val="1C252B"/>
                </a:solidFill>
                <a:latin typeface="Segoe UI"/>
              </a:rPr>
              <a:t>when two correct procedures give different answers from the same knowledge, the knowledge is inconsistent</a:t>
            </a:r>
            <a:r>
              <a:rPr sz="1800" b="0" i="0">
                <a:solidFill>
                  <a:srgbClr val="1C252B"/>
                </a:solidFill>
                <a:latin typeface="Segoe UI"/>
              </a:rPr>
              <a:t>. Do not tune the procedure. And note how the inconsistency was found — not by inspection, but by asking the same question two ways and comparing. That is a cheap and underused test for any rule base.</a:t>
            </a:r>
          </a:p>
        </p:txBody>
      </p:sp>
      <p:sp>
        <p:nvSpPr>
          <p:cNvPr id="13"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fill">
            <a:extLst>
              <a:ext uri="{C183D7F6-B498-43B3-948B-1728B52AA6E4}">
                <adec:decorative xmlns:adec="http://schemas.microsoft.com/office/drawing/2017/decorative" val="1"/>
              </a:ext>
            </a:extLst>
          </p:cNvPr>
          <p:cNvSpPr/>
          <p:nvPr/>
        </p:nvSpPr>
        <p:spPr>
          <a:xfrm>
            <a:off x="0" y="0"/>
            <a:ext cx="3306222"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Why the Industry Collapsed</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D7C4DF"/>
                </a:solidFill>
                <a:latin typeface="Segoe UI"/>
              </a:rPr>
              <a:t>SECTION 6 OF 6</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13.6</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13.1   The Escalation Adviser</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13.2   Forward Chaining</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13.3   Backward Chaining</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13.4   Conflict Resolution</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13.5   What Conflict Resolution Does Not Fix</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7A3A95"/>
                </a:solidFill>
                <a:latin typeface="Segoe UI"/>
              </a:rPr>
              <a:t>13.6   Why the Industry Collapsed</a:t>
            </a:r>
          </a:p>
        </p:txBody>
      </p:sp>
      <p:sp>
        <p:nvSpPr>
          <p:cNvPr id="12"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13</a:t>
            </a:r>
          </a:p>
        </p:txBody>
      </p:sp>
      <p:sp>
        <p:nvSpPr>
          <p:cNvPr id="13"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§13.6     </a:t>
            </a:r>
            <a:fld id="{7C2E80D9-904B-4B9F-8768-3474636C1A0D}" type="slidenum">
              <a:rPr lang="en-GB" sz="1000">
                <a:solidFill>
                  <a:srgbClr val="8795A1"/>
                </a:solidFill>
                <a:latin typeface="Segoe UI"/>
              </a:rPr>
              <a:t>17</a:t>
            </a:fld>
          </a:p>
        </p:txBody>
      </p:sp>
      <p:sp>
        <p:nvSpPr>
          <p:cNvPr id="1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pfill">
            <a:extLst>
              <a:ext uri="{C183D7F6-B498-43B3-948B-1728B52AA6E4}">
                <adec:decorative xmlns:adec="http://schemas.microsoft.com/office/drawing/2017/decorative" val="1"/>
              </a:ext>
            </a:extLst>
          </p:cNvPr>
          <p:cNvSpPr/>
          <p:nvPr/>
        </p:nvSpPr>
        <p:spPr>
          <a:xfrm>
            <a:off x="0" y="0"/>
            <a:ext cx="3512861"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Why the Industry Collapsed</a:t>
            </a:r>
          </a:p>
        </p:txBody>
      </p:sp>
      <p:pic>
        <p:nvPicPr>
          <p:cNvPr id="3" name="!!kicker-icon" descr="lightbulb-2E86C1.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52915"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E86C1"/>
                </a:solidFill>
                <a:latin typeface="Segoe UI"/>
              </a:rPr>
              <a:t>CONCEPT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13  ·  Rule-Based Expert Systems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§13.6  ·  Handout p. 136     </a:t>
            </a:r>
            <a:fld id="{DAAEB25D-9E1B-44FE-AFAA-B9AC9B9F484F}" type="slidenum">
              <a:rPr lang="en-GB" sz="1000">
                <a:solidFill>
                  <a:srgbClr val="8795A1"/>
                </a:solidFill>
                <a:latin typeface="Segoe UI"/>
              </a:rPr>
              <a:t>18</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096892"/>
          </a:xfrm>
          <a:prstGeom prst="roundRect">
            <a:avLst>
              <a:gd name="adj" fmla="val 2231"/>
            </a:avLst>
          </a:prstGeom>
          <a:solidFill>
            <a:srgbClr val="EBF5FB"/>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096892"/>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377086"/>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The historical lesson is the one from Chapter 1: what failed was a claim about </a:t>
            </a:r>
            <a:r>
              <a:rPr sz="2100" b="0" i="1">
                <a:solidFill>
                  <a:srgbClr val="1C252B"/>
                </a:solidFill>
                <a:latin typeface="Segoe UI"/>
              </a:rPr>
              <a:t>reach</a:t>
            </a:r>
            <a:r>
              <a:rPr sz="2100" b="0" i="0">
                <a:solidFill>
                  <a:srgbClr val="1C252B"/>
                </a:solidFill>
                <a:latin typeface="Segoe UI"/>
              </a:rPr>
              <a:t>, not the method. Rule engines are running in production today in every bank, insurer and operations centre, generally under a name like “business rules engine” or “decision tables”, and generally with exactly the architecture of Figure 13.1.</a:t>
            </a:r>
          </a:p>
        </p:txBody>
      </p:sp>
      <p:sp>
        <p:nvSpPr>
          <p:cNvPr id="10" name="body-1"/>
          <p:cNvSpPr txBox="1"/>
          <p:nvPr/>
        </p:nvSpPr>
        <p:spPr>
          <a:xfrm>
            <a:off x="1060704" y="3526307"/>
            <a:ext cx="10161727" cy="2042769"/>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And the two failures are precisely the two strengths of what came next. Machine learning acquires its knowledge from data instead of from interviews, which dissolves the bottleneck; and it degrades smoothly rather than falling off a cliff. It gives up the explanation tree of Figure 13.2 to do so. That trade — explicability for scale — is the central tension of Chapter 21, and it is worth noticing that this course has now built both sides of the argument.</a:t>
            </a:r>
          </a:p>
        </p:txBody>
      </p:sp>
      <p:sp>
        <p:nvSpPr>
          <p:cNvPr id="1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pfill">
            <a:extLst>
              <a:ext uri="{C183D7F6-B498-43B3-948B-1728B52AA6E4}">
                <adec:decorative xmlns:adec="http://schemas.microsoft.com/office/drawing/2017/decorative" val="1"/>
              </a:ext>
            </a:extLst>
          </p:cNvPr>
          <p:cNvSpPr/>
          <p:nvPr/>
        </p:nvSpPr>
        <p:spPr>
          <a:xfrm>
            <a:off x="0" y="0"/>
            <a:ext cx="3719500"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One ticket, two budgets, two different actions</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13  ·  Rule-Based Expert Systems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§13.6  ·  Handout p. 136     </a:t>
            </a:r>
            <a:fld id="{38CC50EE-1A5D-4BD2-B8C1-D7B25F4A139B}" type="slidenum">
              <a:rPr lang="en-GB" sz="1000">
                <a:solidFill>
                  <a:srgbClr val="8795A1"/>
                </a:solidFill>
                <a:latin typeface="Segoe UI"/>
              </a:rPr>
              <a:t>19</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259351"/>
          </a:xfrm>
          <a:prstGeom prst="roundRect">
            <a:avLst>
              <a:gd name="adj" fmla="val 2146"/>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259351"/>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64800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Tickets T-4471 and T-4473 differ in only one fact, and the difference is not about the ticket at all.</a:t>
            </a:r>
          </a:p>
        </p:txBody>
      </p:sp>
      <p:sp>
        <p:nvSpPr>
          <p:cNvPr id="10" name="body-1"/>
          <p:cNvSpPr txBox="1"/>
          <p:nvPr/>
        </p:nvSpPr>
        <p:spPr>
          <a:xfrm>
            <a:off x="1042416" y="2746679"/>
            <a:ext cx="10234879" cy="648004"/>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T-4471:</a:t>
            </a:r>
            <a:r>
              <a:rPr sz="1900" b="0" i="0">
                <a:solidFill>
                  <a:srgbClr val="1C252B"/>
                </a:solidFill>
                <a:latin typeface="Segoe UI"/>
              </a:rPr>
              <a:t> critical, platinum, payments, under two hours left, owner unavailable, </a:t>
            </a:r>
            <a:r>
              <a:rPr sz="1800" b="0" i="0">
                <a:solidFill>
                  <a:srgbClr val="1F4E79"/>
                </a:solidFill>
                <a:latin typeface="Consolas"/>
              </a:rPr>
              <a:t>wake_budget = available</a:t>
            </a:r>
            <a:r>
              <a:rPr sz="1900" b="0" i="0">
                <a:solidFill>
                  <a:srgbClr val="1C252B"/>
                </a:solidFill>
                <a:latin typeface="Segoe UI"/>
              </a:rPr>
              <a:t>.</a:t>
            </a:r>
          </a:p>
        </p:txBody>
      </p:sp>
      <p:sp>
        <p:nvSpPr>
          <p:cNvPr id="11" name="body-2"/>
          <p:cNvSpPr txBox="1"/>
          <p:nvPr/>
        </p:nvSpPr>
        <p:spPr>
          <a:xfrm>
            <a:off x="1042416" y="3481679"/>
            <a:ext cx="10234879" cy="185257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The engine fires, in order: R17 (critical and platinum, so notify the account team), R1 (critical, so P1), R18 (payments and P1, so notify finance), R5 (P1, so needs the owner), R9 (needs the owner, who is unavailable, so escalate), R15 (escalate with budget available, so </a:t>
            </a:r>
            <a:r>
              <a:rPr sz="1900" b="0" i="1">
                <a:solidFill>
                  <a:srgbClr val="1C252B"/>
                </a:solidFill>
                <a:latin typeface="Segoe UI"/>
              </a:rPr>
              <a:t>wake the on-call engineer</a:t>
            </a:r>
            <a:r>
              <a:rPr sz="1900" b="0" i="0">
                <a:solidFill>
                  <a:srgbClr val="1C252B"/>
                </a:solidFill>
                <a:latin typeface="Segoe UI"/>
              </a:rPr>
              <a:t>), R19 (escalate on payments, so the payments runbook applies), R20 (waking someone for a platinum customer, so the page is urgent), R12 (under two hours, so the risk is high). Nine rules, and the answer is </a:t>
            </a:r>
            <a:r>
              <a:rPr sz="1800" b="0" i="0">
                <a:solidFill>
                  <a:srgbClr val="1F4E79"/>
                </a:solidFill>
                <a:latin typeface="Consolas"/>
              </a:rPr>
              <a:t>wake_on_call</a:t>
            </a:r>
            <a:r>
              <a:rPr sz="1900" b="0" i="0">
                <a:solidFill>
                  <a:srgbClr val="1C252B"/>
                </a:solidFill>
                <a:latin typeface="Segoe UI"/>
              </a:rPr>
              <a:t>.</a:t>
            </a:r>
          </a:p>
        </p:txBody>
      </p:sp>
      <p:sp>
        <p:nvSpPr>
          <p:cNvPr id="12" name="body-3"/>
          <p:cNvSpPr txBox="1"/>
          <p:nvPr/>
        </p:nvSpPr>
        <p:spPr>
          <a:xfrm>
            <a:off x="1042416" y="5421249"/>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T-4473:</a:t>
            </a:r>
            <a:r>
              <a:rPr sz="1900" b="0" i="0">
                <a:solidFill>
                  <a:srgbClr val="1C252B"/>
                </a:solidFill>
                <a:latin typeface="Segoe UI"/>
              </a:rPr>
              <a:t> major, platinum, auth, over two hours left, owner unavailable, </a:t>
            </a:r>
            <a:r>
              <a:rPr sz="1800" b="0" i="0">
                <a:solidFill>
                  <a:srgbClr val="1F4E79"/>
                </a:solidFill>
                <a:latin typeface="Consolas"/>
              </a:rPr>
              <a:t>wake_budget = spent</a:t>
            </a:r>
            <a:r>
              <a:rPr sz="1900" b="0" i="0">
                <a:solidFill>
                  <a:srgbClr val="1C252B"/>
                </a:solidFill>
                <a:latin typeface="Segoe UI"/>
              </a:rPr>
              <a:t>.</a:t>
            </a:r>
          </a:p>
        </p:txBody>
      </p:sp>
      <p:sp>
        <p:nvSpPr>
          <p:cNvPr id="1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fill">
            <a:extLst>
              <a:ext uri="{C183D7F6-B498-43B3-948B-1728B52AA6E4}">
                <adec:decorative xmlns:adec="http://schemas.microsoft.com/office/drawing/2017/decorative" val="1"/>
              </a:ext>
            </a:extLst>
          </p:cNvPr>
          <p:cNvSpPr/>
          <p:nvPr/>
        </p:nvSpPr>
        <p:spPr>
          <a:xfrm>
            <a:off x="0" y="0"/>
            <a:ext cx="3926139"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wipe(right)">
                                      <p:cBhvr>
                                        <p:cTn id="13" dur="420"/>
                                        <p:tgtEl>
                                          <p:spTgt spid="11"/>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grpId="0" nodeType="click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wipe(right)">
                                      <p:cBhvr>
                                        <p:cTn id="18" dur="42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One ticket, two budgets, two different actions (continued)</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13  ·  Rule-Based Expert Systems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§13.6  ·  Handout p. 136     </a:t>
            </a:r>
            <a:fld id="{FD5DEF58-20FD-4670-8525-F66257ED2484}" type="slidenum">
              <a:rPr lang="en-GB" sz="1000">
                <a:solidFill>
                  <a:srgbClr val="8795A1"/>
                </a:solidFill>
                <a:latin typeface="Segoe UI"/>
              </a:rPr>
              <a:t>20</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090494"/>
          </a:xfrm>
          <a:prstGeom prst="roundRect">
            <a:avLst>
              <a:gd name="adj" fmla="val 2958"/>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09049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1250289"/>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R2 (major and platinum, so P1 — note the two-condition rule, chosen by specificity over the one-condition major rule), R5 (P1, so needs the owner), R9 (escalate), R14 (escalate but </a:t>
            </a:r>
            <a:r>
              <a:rPr sz="1900" b="0" i="1">
                <a:solidFill>
                  <a:srgbClr val="1C252B"/>
                </a:solidFill>
                <a:latin typeface="Segoe UI"/>
              </a:rPr>
              <a:t>the budget is spent</a:t>
            </a:r>
            <a:r>
              <a:rPr sz="1900" b="0" i="0">
                <a:solidFill>
                  <a:srgbClr val="1C252B"/>
                </a:solidFill>
                <a:latin typeface="Segoe UI"/>
              </a:rPr>
              <a:t>, so </a:t>
            </a:r>
            <a:r>
              <a:rPr sz="1800" b="0" i="0">
                <a:solidFill>
                  <a:srgbClr val="1F4E79"/>
                </a:solidFill>
                <a:latin typeface="Consolas"/>
              </a:rPr>
              <a:t>queue_for_morning</a:t>
            </a:r>
            <a:r>
              <a:rPr sz="1900" b="0" i="0">
                <a:solidFill>
                  <a:srgbClr val="1C252B"/>
                </a:solidFill>
                <a:latin typeface="Segoe UI"/>
              </a:rPr>
              <a:t>), R13 (over two hours, so risk is low). Five rules, and the answer is </a:t>
            </a:r>
            <a:r>
              <a:rPr sz="1800" b="0" i="0">
                <a:solidFill>
                  <a:srgbClr val="1F4E79"/>
                </a:solidFill>
                <a:latin typeface="Consolas"/>
              </a:rPr>
              <a:t>queue_for_morning</a:t>
            </a:r>
            <a:r>
              <a:rPr sz="1900" b="0" i="0">
                <a:solidFill>
                  <a:srgbClr val="1C252B"/>
                </a:solidFill>
                <a:latin typeface="Segoe UI"/>
              </a:rPr>
              <a:t>.</a:t>
            </a:r>
          </a:p>
        </p:txBody>
      </p:sp>
      <p:sp>
        <p:nvSpPr>
          <p:cNvPr id="10" name="body-1"/>
          <p:cNvSpPr txBox="1"/>
          <p:nvPr/>
        </p:nvSpPr>
        <p:spPr>
          <a:xfrm>
            <a:off x="1042416" y="3348964"/>
            <a:ext cx="10234879" cy="1250289"/>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What to notice.</a:t>
            </a:r>
            <a:r>
              <a:rPr sz="1900" b="0" i="0">
                <a:solidFill>
                  <a:srgbClr val="1C252B"/>
                </a:solidFill>
                <a:latin typeface="Segoe UI"/>
              </a:rPr>
              <a:t> Both tickets are escalated — </a:t>
            </a:r>
            <a:r>
              <a:rPr sz="1800" b="0" i="0">
                <a:solidFill>
                  <a:srgbClr val="1F4E79"/>
                </a:solidFill>
                <a:latin typeface="Consolas"/>
              </a:rPr>
              <a:t>escalate = yes</a:t>
            </a:r>
            <a:r>
              <a:rPr sz="1900" b="0" i="0">
                <a:solidFill>
                  <a:srgbClr val="1C252B"/>
                </a:solidFill>
                <a:latin typeface="Segoe UI"/>
              </a:rPr>
              <a:t> in both working memories. They receive different </a:t>
            </a:r>
            <a:r>
              <a:rPr sz="1900" b="0" i="1">
                <a:solidFill>
                  <a:srgbClr val="1C252B"/>
                </a:solidFill>
                <a:latin typeface="Segoe UI"/>
              </a:rPr>
              <a:t>actions</a:t>
            </a:r>
            <a:r>
              <a:rPr sz="1900" b="0" i="0">
                <a:solidFill>
                  <a:srgbClr val="1C252B"/>
                </a:solidFill>
                <a:latin typeface="Segoe UI"/>
              </a:rPr>
              <a:t> because R14 and R15 consult a fact about the </a:t>
            </a:r>
            <a:r>
              <a:rPr sz="1900" b="0" i="1">
                <a:solidFill>
                  <a:srgbClr val="1C252B"/>
                </a:solidFill>
                <a:latin typeface="Segoe UI"/>
              </a:rPr>
              <a:t>engineer</a:t>
            </a:r>
            <a:r>
              <a:rPr sz="1900" b="0" i="0">
                <a:solidFill>
                  <a:srgbClr val="1C252B"/>
                </a:solidFill>
                <a:latin typeface="Segoe UI"/>
              </a:rPr>
              <a:t>, not about the ticket. That is exactly the internal state Chapter 2 showed a model-based agent must maintain, and here it is one more fact in working memory and one more pair of rules.</a:t>
            </a:r>
          </a:p>
        </p:txBody>
      </p:sp>
      <p:sp>
        <p:nvSpPr>
          <p:cNvPr id="1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pfill">
            <a:extLst>
              <a:ext uri="{C183D7F6-B498-43B3-948B-1728B52AA6E4}">
                <adec:decorative xmlns:adec="http://schemas.microsoft.com/office/drawing/2017/decorative" val="1"/>
              </a:ext>
            </a:extLst>
          </p:cNvPr>
          <p:cNvSpPr/>
          <p:nvPr/>
        </p:nvSpPr>
        <p:spPr>
          <a:xfrm>
            <a:off x="0" y="0"/>
            <a:ext cx="4132778"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wipe(right)">
                                      <p:cBhvr>
                                        <p:cTn id="8" dur="420"/>
                                        <p:tgtEl>
                                          <p:spTgt spid="9"/>
                                        </p:tgtEl>
                                      </p:cBhvr>
                                    </p:animEffec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wipe(right)">
                                      <p:cBhvr>
                                        <p:cTn id="13" dur="42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One ticket, two budgets, two different actions (continued)</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13  ·  Rule-Based Expert Systems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§13.6  ·  Handout p. 136     </a:t>
            </a:r>
            <a:fld id="{DDF9A99F-2C9D-4343-890F-51A4DE0D721F}" type="slidenum">
              <a:rPr lang="en-GB" sz="1000">
                <a:solidFill>
                  <a:srgbClr val="8795A1"/>
                </a:solidFill>
                <a:latin typeface="Segoe UI"/>
              </a:rPr>
              <a:t>21</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054352"/>
          </a:xfrm>
          <a:prstGeom prst="roundRect">
            <a:avLst>
              <a:gd name="adj" fmla="val 4451"/>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054352"/>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1551432"/>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And notice what it costs to change.</a:t>
            </a:r>
            <a:r>
              <a:rPr sz="1900" b="0" i="0">
                <a:solidFill>
                  <a:srgbClr val="1C252B"/>
                </a:solidFill>
                <a:latin typeface="Segoe UI"/>
              </a:rPr>
              <a:t> Suppose the operations lead decides that platinum customers may wake the engineer even past the budget. That is one new rule, with three conditions so specificity puts it ahead of R14, and </a:t>
            </a:r>
            <a:r>
              <a:rPr sz="1900" b="0" i="1">
                <a:solidFill>
                  <a:srgbClr val="1C252B"/>
                </a:solidFill>
                <a:latin typeface="Segoe UI"/>
              </a:rPr>
              <a:t>no existing rule is touched</a:t>
            </a:r>
            <a:r>
              <a:rPr sz="1900" b="0" i="0">
                <a:solidFill>
                  <a:srgbClr val="1C252B"/>
                </a:solidFill>
                <a:latin typeface="Segoe UI"/>
              </a:rPr>
              <a:t>. Compare making the same change inside nested </a:t>
            </a:r>
            <a:r>
              <a:rPr sz="1800" b="0" i="0">
                <a:solidFill>
                  <a:srgbClr val="1F4E79"/>
                </a:solidFill>
                <a:latin typeface="Consolas"/>
              </a:rPr>
              <a:t>if</a:t>
            </a:r>
            <a:r>
              <a:rPr sz="1900" b="0" i="0">
                <a:solidFill>
                  <a:srgbClr val="1C252B"/>
                </a:solidFill>
                <a:latin typeface="Segoe UI"/>
              </a:rPr>
              <a:t> statements, where the modification is entangled with everything around it and nobody can be sure what else moved.</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4339416"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wipe(right)">
                                      <p:cBhvr>
                                        <p:cTn id="8" dur="42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Common pitfalls</a:t>
            </a:r>
          </a:p>
        </p:txBody>
      </p:sp>
      <p:pic>
        <p:nvPicPr>
          <p:cNvPr id="3" name="!!kicker-icon" descr="exclamation-circ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2672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COMMON PITFALLS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13  ·  Rule-Based Expert Systems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§13.6  ·  Handout p. 136     </a:t>
            </a:r>
            <a:fld id="{907092E1-81FD-4B8B-A35C-A23A1A848181}" type="slidenum">
              <a:rPr lang="en-GB" sz="1000">
                <a:solidFill>
                  <a:srgbClr val="8795A1"/>
                </a:solidFill>
                <a:latin typeface="Segoe UI"/>
              </a:rPr>
              <a:t>22</a:t>
            </a:fld>
          </a:p>
        </p:txBody>
      </p:sp>
      <p:sp>
        <p:nvSpPr>
          <p:cNvPr id="7" name="!!pb0">
            <a:extLst>
              <a:ext uri="{C183D7F6-B498-43B3-948B-1728B52AA6E4}">
                <adec:decorative xmlns:adec="http://schemas.microsoft.com/office/drawing/2017/decorative" val="1"/>
              </a:ext>
            </a:extLst>
          </p:cNvPr>
          <p:cNvSpPr/>
          <p:nvPr/>
        </p:nvSpPr>
        <p:spPr>
          <a:xfrm>
            <a:off x="658368" y="1755648"/>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px0"/>
          <p:cNvSpPr txBox="1"/>
          <p:nvPr/>
        </p:nvSpPr>
        <p:spPr>
          <a:xfrm>
            <a:off x="658368" y="1778507"/>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9" name="!!pt0"/>
          <p:cNvSpPr txBox="1"/>
          <p:nvPr/>
        </p:nvSpPr>
        <p:spPr>
          <a:xfrm>
            <a:off x="1261872" y="1737360"/>
            <a:ext cx="10271455" cy="538886"/>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A93226"/>
                </a:solidFill>
                <a:latin typeface="Segoe UI"/>
              </a:rPr>
              <a:t>Omitting refraction.</a:t>
            </a:r>
            <a:r>
              <a:rPr sz="1700" b="0" i="0">
                <a:solidFill>
                  <a:srgbClr val="1C252B"/>
                </a:solidFill>
                <a:latin typeface="Segoe UI"/>
              </a:rPr>
              <a:t> The engine re-fires the same rule on the same facts forever. The symptom is a hang on the first realistic input.</a:t>
            </a:r>
          </a:p>
        </p:txBody>
      </p:sp>
      <p:sp>
        <p:nvSpPr>
          <p:cNvPr id="10" name="!!pb1">
            <a:extLst>
              <a:ext uri="{C183D7F6-B498-43B3-948B-1728B52AA6E4}">
                <adec:decorative xmlns:adec="http://schemas.microsoft.com/office/drawing/2017/decorative" val="1"/>
              </a:ext>
            </a:extLst>
          </p:cNvPr>
          <p:cNvSpPr/>
          <p:nvPr/>
        </p:nvSpPr>
        <p:spPr>
          <a:xfrm>
            <a:off x="658368" y="2495702"/>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x1"/>
          <p:cNvSpPr txBox="1"/>
          <p:nvPr/>
        </p:nvSpPr>
        <p:spPr>
          <a:xfrm>
            <a:off x="658368" y="2518562"/>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2" name="!!pt1"/>
          <p:cNvSpPr txBox="1"/>
          <p:nvPr/>
        </p:nvSpPr>
        <p:spPr>
          <a:xfrm>
            <a:off x="1261872" y="2477414"/>
            <a:ext cx="10271455" cy="538886"/>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A93226"/>
                </a:solidFill>
                <a:latin typeface="Segoe UI"/>
              </a:rPr>
              <a:t>Relying on rule order.</a:t>
            </a:r>
            <a:r>
              <a:rPr sz="1700" b="0" i="0">
                <a:solidFill>
                  <a:srgbClr val="1C252B"/>
                </a:solidFill>
                <a:latin typeface="Segoe UI"/>
              </a:rPr>
              <a:t> If the answer changes when the rules are rearranged, the rule base is under-specified; add the missing condition rather than reordering.</a:t>
            </a:r>
          </a:p>
        </p:txBody>
      </p:sp>
      <p:sp>
        <p:nvSpPr>
          <p:cNvPr id="13" name="!!pb2">
            <a:extLst>
              <a:ext uri="{C183D7F6-B498-43B3-948B-1728B52AA6E4}">
                <adec:decorative xmlns:adec="http://schemas.microsoft.com/office/drawing/2017/decorative" val="1"/>
              </a:ext>
            </a:extLst>
          </p:cNvPr>
          <p:cNvSpPr/>
          <p:nvPr/>
        </p:nvSpPr>
        <p:spPr>
          <a:xfrm>
            <a:off x="658368" y="3235756"/>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x2"/>
          <p:cNvSpPr txBox="1"/>
          <p:nvPr/>
        </p:nvSpPr>
        <p:spPr>
          <a:xfrm>
            <a:off x="658368" y="3258616"/>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5" name="!!pt2"/>
          <p:cNvSpPr txBox="1"/>
          <p:nvPr/>
        </p:nvSpPr>
        <p:spPr>
          <a:xfrm>
            <a:off x="1261872" y="3217468"/>
            <a:ext cx="10271455" cy="538886"/>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A93226"/>
                </a:solidFill>
                <a:latin typeface="Segoe UI"/>
              </a:rPr>
              <a:t>Forward chaining to answer one question.</a:t>
            </a:r>
            <a:r>
              <a:rPr sz="1700" b="0" i="0">
                <a:solidFill>
                  <a:srgbClr val="1C252B"/>
                </a:solidFill>
                <a:latin typeface="Segoe UI"/>
              </a:rPr>
              <a:t> It derived nine conclusions where six goals would have done, and none of the extras was asked for.</a:t>
            </a:r>
          </a:p>
        </p:txBody>
      </p:sp>
      <p:sp>
        <p:nvSpPr>
          <p:cNvPr id="16" name="!!pb3">
            <a:extLst>
              <a:ext uri="{C183D7F6-B498-43B3-948B-1728B52AA6E4}">
                <adec:decorative xmlns:adec="http://schemas.microsoft.com/office/drawing/2017/decorative" val="1"/>
              </a:ext>
            </a:extLst>
          </p:cNvPr>
          <p:cNvSpPr/>
          <p:nvPr/>
        </p:nvSpPr>
        <p:spPr>
          <a:xfrm>
            <a:off x="658368" y="3975811"/>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x3"/>
          <p:cNvSpPr txBox="1"/>
          <p:nvPr/>
        </p:nvSpPr>
        <p:spPr>
          <a:xfrm>
            <a:off x="658368" y="3998671"/>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8" name="!!pt3"/>
          <p:cNvSpPr txBox="1"/>
          <p:nvPr/>
        </p:nvSpPr>
        <p:spPr>
          <a:xfrm>
            <a:off x="1261872" y="3957523"/>
            <a:ext cx="10271455" cy="808329"/>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A93226"/>
                </a:solidFill>
                <a:latin typeface="Segoe UI"/>
              </a:rPr>
              <a:t>Treating explanation as a feature to add later.</a:t>
            </a:r>
            <a:r>
              <a:rPr sz="1700" b="0" i="0">
                <a:solidFill>
                  <a:srgbClr val="1C252B"/>
                </a:solidFill>
                <a:latin typeface="Segoe UI"/>
              </a:rPr>
              <a:t> The proof tree is a by-product of backward chaining and nearly impossible to bolt on afterwards. It is also the reason the system will be allowed into production.</a:t>
            </a:r>
          </a:p>
        </p:txBody>
      </p:sp>
      <p:sp>
        <p:nvSpPr>
          <p:cNvPr id="19" name="!!pb4">
            <a:extLst>
              <a:ext uri="{C183D7F6-B498-43B3-948B-1728B52AA6E4}">
                <adec:decorative xmlns:adec="http://schemas.microsoft.com/office/drawing/2017/decorative" val="1"/>
              </a:ext>
            </a:extLst>
          </p:cNvPr>
          <p:cNvSpPr/>
          <p:nvPr/>
        </p:nvSpPr>
        <p:spPr>
          <a:xfrm>
            <a:off x="658368" y="4985308"/>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x4"/>
          <p:cNvSpPr txBox="1"/>
          <p:nvPr/>
        </p:nvSpPr>
        <p:spPr>
          <a:xfrm>
            <a:off x="658368" y="5008168"/>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21" name="!!pt4"/>
          <p:cNvSpPr txBox="1"/>
          <p:nvPr/>
        </p:nvSpPr>
        <p:spPr>
          <a:xfrm>
            <a:off x="1261872" y="4967020"/>
            <a:ext cx="10271455" cy="538886"/>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A93226"/>
                </a:solidFill>
                <a:latin typeface="Segoe UI"/>
              </a:rPr>
              <a:t>Many explicit priorities.</a:t>
            </a:r>
            <a:r>
              <a:rPr sz="1700" b="0" i="0">
                <a:solidFill>
                  <a:srgbClr val="1C252B"/>
                </a:solidFill>
                <a:latin typeface="Segoe UI"/>
              </a:rPr>
              <a:t> A salience number is a patch over overlapping rules. More than a handful means the rule base needs restructuring, not more numbers.</a:t>
            </a:r>
          </a:p>
        </p:txBody>
      </p:sp>
      <p:sp>
        <p:nvSpPr>
          <p:cNvPr id="22" name="!!pb5">
            <a:extLst>
              <a:ext uri="{C183D7F6-B498-43B3-948B-1728B52AA6E4}">
                <adec:decorative xmlns:adec="http://schemas.microsoft.com/office/drawing/2017/decorative" val="1"/>
              </a:ext>
            </a:extLst>
          </p:cNvPr>
          <p:cNvSpPr/>
          <p:nvPr/>
        </p:nvSpPr>
        <p:spPr>
          <a:xfrm>
            <a:off x="658368" y="5725363"/>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px5"/>
          <p:cNvSpPr txBox="1"/>
          <p:nvPr/>
        </p:nvSpPr>
        <p:spPr>
          <a:xfrm>
            <a:off x="658368" y="5748223"/>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24" name="!!pt5"/>
          <p:cNvSpPr txBox="1"/>
          <p:nvPr/>
        </p:nvSpPr>
        <p:spPr>
          <a:xfrm>
            <a:off x="1261872" y="5707075"/>
            <a:ext cx="10271455" cy="538886"/>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A93226"/>
                </a:solidFill>
                <a:latin typeface="Segoe UI"/>
              </a:rPr>
              <a:t>Expecting graceful degradation.</a:t>
            </a:r>
            <a:r>
              <a:rPr sz="1700" b="0" i="0">
                <a:solidFill>
                  <a:srgbClr val="1C252B"/>
                </a:solidFill>
                <a:latin typeface="Segoe UI"/>
              </a:rPr>
              <a:t> At the edge of its competence a rule base is confidently wrong rather than uncertain, and it will not tell you which.</a:t>
            </a:r>
          </a:p>
        </p:txBody>
      </p:sp>
      <p:sp>
        <p:nvSpPr>
          <p:cNvPr id="7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1" name="!!pfill">
            <a:extLst>
              <a:ext uri="{C183D7F6-B498-43B3-948B-1728B52AA6E4}">
                <adec:decorative xmlns:adec="http://schemas.microsoft.com/office/drawing/2017/decorative" val="1"/>
              </a:ext>
            </a:extLst>
          </p:cNvPr>
          <p:cNvSpPr/>
          <p:nvPr/>
        </p:nvSpPr>
        <p:spPr>
          <a:xfrm>
            <a:off x="0" y="0"/>
            <a:ext cx="4546055"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par>
                    <p:cTn id="59" fill="hold">
                      <p:stCondLst>
                        <p:cond delay="indefinite"/>
                      </p:stCondLst>
                      <p:childTnLst>
                        <p:par>
                          <p:cTn id="60" fill="hold">
                            <p:stCondLst>
                              <p:cond delay="0"/>
                            </p:stCondLst>
                            <p:childTnLst>
                              <p:par>
                                <p:cTn id="61" presetID="23" presetClass="entr" presetSubtype="16" fill="hold" grpId="0" nodeType="click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zoom(in)">
                                      <p:cBhvr>
                                        <p:cTn id="63" dur="260"/>
                                        <p:tgtEl>
                                          <p:spTgt spid="2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260"/>
                                        <p:tgtEl>
                                          <p:spTgt spid="23"/>
                                        </p:tgtEl>
                                      </p:cBhvr>
                                    </p:animEffect>
                                  </p:childTnLst>
                                </p:cTn>
                              </p:par>
                              <p:par>
                                <p:cTn id="67" presetID="22" presetClass="entr" presetSubtype="8" fill="hold" grpId="0" nodeType="with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wipe(right)">
                                      <p:cBhvr>
                                        <p:cTn id="69"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Try it yourself: A Twenty-Rule Escalation Shell That Explains Itself</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13  ·  Rule-Based Expert Systems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§13.6  ·  Handout p. 136     </a:t>
            </a:r>
            <a:fld id="{528EA02C-9F7C-4B73-80EF-43CA939BF53E}" type="slidenum">
              <a:rPr lang="en-GB" sz="1000">
                <a:solidFill>
                  <a:srgbClr val="8795A1"/>
                </a:solidFill>
                <a:latin typeface="Segoe UI"/>
              </a:rPr>
              <a:t>23</a:t>
            </a:fld>
          </a:p>
        </p:txBody>
      </p:sp>
      <p:sp>
        <p:nvSpPr>
          <p:cNvPr id="7" name="body-0"/>
          <p:cNvSpPr txBox="1"/>
          <p:nvPr/>
        </p:nvSpPr>
        <p:spPr>
          <a:xfrm>
            <a:off x="658368" y="1737360"/>
            <a:ext cx="10874959" cy="679704"/>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Forward chaining with conflict resolution, backward chaining with an explanation tree, and the measurement of what each costs.</a:t>
            </a:r>
          </a:p>
        </p:txBody>
      </p:sp>
      <p:sp>
        <p:nvSpPr>
          <p:cNvPr id="8" name="!!labsteps-h"/>
          <p:cNvSpPr txBox="1"/>
          <p:nvPr/>
        </p:nvSpPr>
        <p:spPr>
          <a:xfrm>
            <a:off x="658368" y="2682240"/>
            <a:ext cx="10874959" cy="274320"/>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0E6655"/>
                </a:solidFill>
                <a:latin typeface="Segoe UI"/>
              </a:rPr>
              <a:t>WHAT YOU WILL DO</a:t>
            </a:r>
          </a:p>
        </p:txBody>
      </p:sp>
      <p:sp>
        <p:nvSpPr>
          <p:cNvPr id="9" name="!!labsteps"/>
          <p:cNvSpPr txBox="1"/>
          <p:nvPr/>
        </p:nvSpPr>
        <p:spPr>
          <a:xfrm>
            <a:off x="658368" y="3066288"/>
            <a:ext cx="10874959" cy="1828799"/>
          </a:xfrm>
          <a:prstGeom prst="rect">
            <a:avLst/>
          </a:prstGeom>
          <a:noFill/>
        </p:spPr>
        <p:txBody>
          <a:bodyPr wrap="square" anchor="t" lIns="0" rIns="0" tIns="0" bIns="0">
            <a:noAutofit/>
          </a:bodyPr>
          <a:lstStyle/>
          <a:p>
            <a:pPr algn="l" marL="459473" indent="-459473">
              <a:lnSpc>
                <a:spcPct val="100000"/>
              </a:lnSpc>
              <a:spcBef>
                <a:spcPts val="0"/>
              </a:spcBef>
              <a:spcAft>
                <a:spcPts val="570"/>
              </a:spcAft>
            </a:pPr>
            <a:r>
              <a:rPr sz="1900" b="1">
                <a:solidFill>
                  <a:srgbClr val="117A65"/>
                </a:solidFill>
                <a:latin typeface="Segoe UI"/>
              </a:rPr>
              <a:t>1.	</a:t>
            </a:r>
            <a:r>
              <a:rPr sz="1900" b="0" i="0">
                <a:solidFill>
                  <a:srgbClr val="1C252B"/>
                </a:solidFill>
                <a:latin typeface="Segoe UI"/>
              </a:rPr>
              <a:t>Specificity is doing real work</a:t>
            </a:r>
          </a:p>
          <a:p>
            <a:pPr algn="l" marL="459473" indent="-459473">
              <a:lnSpc>
                <a:spcPct val="100000"/>
              </a:lnSpc>
              <a:spcBef>
                <a:spcPts val="0"/>
              </a:spcBef>
              <a:spcAft>
                <a:spcPts val="570"/>
              </a:spcAft>
            </a:pPr>
            <a:r>
              <a:rPr sz="1900" b="1">
                <a:solidFill>
                  <a:srgbClr val="117A65"/>
                </a:solidFill>
                <a:latin typeface="Segoe UI"/>
              </a:rPr>
              <a:t>2.	</a:t>
            </a:r>
            <a:r>
              <a:rPr sz="1900" b="0" i="0">
                <a:solidFill>
                  <a:srgbClr val="1C252B"/>
                </a:solidFill>
                <a:latin typeface="Segoe UI"/>
              </a:rPr>
              <a:t>The explanation</a:t>
            </a:r>
          </a:p>
          <a:p>
            <a:pPr algn="l" marL="459473" indent="-459473">
              <a:lnSpc>
                <a:spcPct val="100000"/>
              </a:lnSpc>
              <a:spcBef>
                <a:spcPts val="0"/>
              </a:spcBef>
              <a:spcAft>
                <a:spcPts val="570"/>
              </a:spcAft>
            </a:pPr>
            <a:r>
              <a:rPr sz="1900" b="1">
                <a:solidFill>
                  <a:srgbClr val="117A65"/>
                </a:solidFill>
                <a:latin typeface="Segoe UI"/>
              </a:rPr>
              <a:t>3.	</a:t>
            </a:r>
            <a:r>
              <a:rPr sz="1900" b="0" i="0">
                <a:solidFill>
                  <a:srgbClr val="1C252B"/>
                </a:solidFill>
                <a:latin typeface="Segoe UI"/>
              </a:rPr>
              <a:t>The two directions DISAGREE, and that is a real bug</a:t>
            </a:r>
          </a:p>
          <a:p>
            <a:pPr algn="l" marL="459473" indent="-459473">
              <a:lnSpc>
                <a:spcPct val="100000"/>
              </a:lnSpc>
              <a:spcBef>
                <a:spcPts val="0"/>
              </a:spcBef>
              <a:spcAft>
                <a:spcPts val="570"/>
              </a:spcAft>
            </a:pPr>
            <a:r>
              <a:rPr sz="1900" b="1">
                <a:solidFill>
                  <a:srgbClr val="117A65"/>
                </a:solidFill>
                <a:latin typeface="Segoe UI"/>
              </a:rPr>
              <a:t>4.	</a:t>
            </a:r>
            <a:r>
              <a:rPr sz="1900" b="0" i="0">
                <a:solidFill>
                  <a:srgbClr val="1C252B"/>
                </a:solidFill>
                <a:latin typeface="Segoe UI"/>
              </a:rPr>
              <a:t>What each direction costs</a:t>
            </a:r>
          </a:p>
          <a:p>
            <a:pPr algn="l" marL="459473" indent="-459473">
              <a:lnSpc>
                <a:spcPct val="100000"/>
              </a:lnSpc>
              <a:spcBef>
                <a:spcPts val="0"/>
              </a:spcBef>
              <a:spcAft>
                <a:spcPts val="0"/>
              </a:spcAft>
            </a:pPr>
            <a:r>
              <a:rPr sz="1900" b="1">
                <a:solidFill>
                  <a:srgbClr val="117A65"/>
                </a:solidFill>
                <a:latin typeface="Segoe UI"/>
              </a:rPr>
              <a:t>5.	</a:t>
            </a:r>
            <a:r>
              <a:rPr sz="1900" b="0" i="0">
                <a:solidFill>
                  <a:srgbClr val="1C252B"/>
                </a:solidFill>
                <a:latin typeface="Segoe UI"/>
              </a:rPr>
              <a:t>Adding a rule changes nothing else</a:t>
            </a:r>
          </a:p>
        </p:txBody>
      </p:sp>
      <p:sp>
        <p:nvSpPr>
          <p:cNvPr id="29" name="!!lfTHIS">
            <a:extLst>
              <a:ext uri="{C183D7F6-B498-43B3-948B-1728B52AA6E4}">
                <adec:decorative xmlns:adec="http://schemas.microsoft.com/office/drawing/2017/decorative" val="1"/>
              </a:ext>
            </a:extLst>
          </p:cNvPr>
          <p:cNvSpPr/>
          <p:nvPr/>
        </p:nvSpPr>
        <p:spPr>
          <a:xfrm>
            <a:off x="658368"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lfbTHIS">
            <a:extLst>
              <a:ext uri="{C183D7F6-B498-43B3-948B-1728B52AA6E4}">
                <adec:decorative xmlns:adec="http://schemas.microsoft.com/office/drawing/2017/decorative" val="1"/>
              </a:ext>
            </a:extLst>
          </p:cNvPr>
          <p:cNvSpPr/>
          <p:nvPr/>
        </p:nvSpPr>
        <p:spPr>
          <a:xfrm>
            <a:off x="658368"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lflTHIS"/>
          <p:cNvSpPr txBox="1"/>
          <p:nvPr/>
        </p:nvSpPr>
        <p:spPr>
          <a:xfrm>
            <a:off x="932688"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THIS WEEK'S LAB</a:t>
            </a:r>
          </a:p>
        </p:txBody>
      </p:sp>
      <p:sp>
        <p:nvSpPr>
          <p:cNvPr id="32" name="!!lfvTHIS"/>
          <p:cNvSpPr txBox="1"/>
          <p:nvPr/>
        </p:nvSpPr>
        <p:spPr>
          <a:xfrm>
            <a:off x="932688"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500" b="0" i="0">
                <a:solidFill>
                  <a:srgbClr val="1C252B"/>
                </a:solidFill>
                <a:latin typeface="Segoe UI"/>
              </a:rPr>
              <a:t>Week 12: A twenty-rule escalation shell that explains itself</a:t>
            </a:r>
          </a:p>
        </p:txBody>
      </p:sp>
      <p:sp>
        <p:nvSpPr>
          <p:cNvPr id="33" name="!!lfWHAT">
            <a:extLst>
              <a:ext uri="{C183D7F6-B498-43B3-948B-1728B52AA6E4}">
                <adec:decorative xmlns:adec="http://schemas.microsoft.com/office/drawing/2017/decorative" val="1"/>
              </a:ext>
            </a:extLst>
          </p:cNvPr>
          <p:cNvSpPr/>
          <p:nvPr/>
        </p:nvSpPr>
        <p:spPr>
          <a:xfrm>
            <a:off x="4374794"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lfbWHAT">
            <a:extLst>
              <a:ext uri="{C183D7F6-B498-43B3-948B-1728B52AA6E4}">
                <adec:decorative xmlns:adec="http://schemas.microsoft.com/office/drawing/2017/decorative" val="1"/>
              </a:ext>
            </a:extLst>
          </p:cNvPr>
          <p:cNvSpPr/>
          <p:nvPr/>
        </p:nvSpPr>
        <p:spPr>
          <a:xfrm>
            <a:off x="4374794"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lflWHAT"/>
          <p:cNvSpPr txBox="1"/>
          <p:nvPr/>
        </p:nvSpPr>
        <p:spPr>
          <a:xfrm>
            <a:off x="4649114"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WHAT YOU WILL RUN</a:t>
            </a:r>
          </a:p>
        </p:txBody>
      </p:sp>
      <p:sp>
        <p:nvSpPr>
          <p:cNvPr id="36" name="!!lfvWHAT"/>
          <p:cNvSpPr txBox="1"/>
          <p:nvPr/>
        </p:nvSpPr>
        <p:spPr>
          <a:xfrm>
            <a:off x="4649114"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1 listing, 292 lines of Python</a:t>
            </a:r>
          </a:p>
        </p:txBody>
      </p:sp>
      <p:sp>
        <p:nvSpPr>
          <p:cNvPr id="37" name="!!lfRUNN">
            <a:extLst>
              <a:ext uri="{C183D7F6-B498-43B3-948B-1728B52AA6E4}">
                <adec:decorative xmlns:adec="http://schemas.microsoft.com/office/drawing/2017/decorative" val="1"/>
              </a:ext>
            </a:extLst>
          </p:cNvPr>
          <p:cNvSpPr/>
          <p:nvPr/>
        </p:nvSpPr>
        <p:spPr>
          <a:xfrm>
            <a:off x="8091220"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lfbRUNN">
            <a:extLst>
              <a:ext uri="{C183D7F6-B498-43B3-948B-1728B52AA6E4}">
                <adec:decorative xmlns:adec="http://schemas.microsoft.com/office/drawing/2017/decorative" val="1"/>
              </a:ext>
            </a:extLst>
          </p:cNvPr>
          <p:cNvSpPr/>
          <p:nvPr/>
        </p:nvSpPr>
        <p:spPr>
          <a:xfrm>
            <a:off x="8091220"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lflRUNN"/>
          <p:cNvSpPr txBox="1"/>
          <p:nvPr/>
        </p:nvSpPr>
        <p:spPr>
          <a:xfrm>
            <a:off x="8365540"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RUNNABLE COPY</a:t>
            </a:r>
          </a:p>
        </p:txBody>
      </p:sp>
      <p:sp>
        <p:nvSpPr>
          <p:cNvPr id="40" name="!!lfvRUNN"/>
          <p:cNvSpPr txBox="1"/>
          <p:nvPr/>
        </p:nvSpPr>
        <p:spPr>
          <a:xfrm>
            <a:off x="8365540"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Consolas"/>
              </a:rPr>
              <a:t>code/ch13_twenty_rule_escalation.py</a:t>
            </a:r>
          </a:p>
        </p:txBody>
      </p:sp>
      <p:sp>
        <p:nvSpPr>
          <p:cNvPr id="4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pfill">
            <a:extLst>
              <a:ext uri="{C183D7F6-B498-43B3-948B-1728B52AA6E4}">
                <adec:decorative xmlns:adec="http://schemas.microsoft.com/office/drawing/2017/decorative" val="1"/>
              </a:ext>
            </a:extLst>
          </p:cNvPr>
          <p:cNvSpPr/>
          <p:nvPr/>
        </p:nvSpPr>
        <p:spPr>
          <a:xfrm>
            <a:off x="0" y="0"/>
            <a:ext cx="4752694"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9">
                                            <p:txEl>
                                              <p:pRg st="0" end="0"/>
                                            </p:txEl>
                                          </p:spTgt>
                                        </p:tgtEl>
                                        <p:attrNameLst>
                                          <p:attrName>style.visibility</p:attrName>
                                        </p:attrNameLst>
                                      </p:cBhvr>
                                      <p:to>
                                        <p:strVal val="visible"/>
                                      </p:to>
                                    </p:set>
                                    <p:animEffect transition="in" filter="fade">
                                      <p:cBhvr>
                                        <p:cTn id="8" dur="300"/>
                                        <p:tgtEl>
                                          <p:spTgt spid="9">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9">
                                            <p:txEl>
                                              <p:pRg st="1" end="1"/>
                                            </p:txEl>
                                          </p:spTgt>
                                        </p:tgtEl>
                                        <p:attrNameLst>
                                          <p:attrName>style.visibility</p:attrName>
                                        </p:attrNameLst>
                                      </p:cBhvr>
                                      <p:to>
                                        <p:strVal val="visible"/>
                                      </p:to>
                                    </p:set>
                                    <p:animEffect transition="in" filter="fade">
                                      <p:cBhvr>
                                        <p:cTn id="13" dur="300"/>
                                        <p:tgtEl>
                                          <p:spTgt spid="9">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9">
                                            <p:txEl>
                                              <p:pRg st="2" end="2"/>
                                            </p:txEl>
                                          </p:spTgt>
                                        </p:tgtEl>
                                        <p:attrNameLst>
                                          <p:attrName>style.visibility</p:attrName>
                                        </p:attrNameLst>
                                      </p:cBhvr>
                                      <p:to>
                                        <p:strVal val="visible"/>
                                      </p:to>
                                    </p:set>
                                    <p:animEffect transition="in" filter="fade">
                                      <p:cBhvr>
                                        <p:cTn id="18" dur="300"/>
                                        <p:tgtEl>
                                          <p:spTgt spid="9">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9">
                                            <p:txEl>
                                              <p:pRg st="3" end="3"/>
                                            </p:txEl>
                                          </p:spTgt>
                                        </p:tgtEl>
                                        <p:attrNameLst>
                                          <p:attrName>style.visibility</p:attrName>
                                        </p:attrNameLst>
                                      </p:cBhvr>
                                      <p:to>
                                        <p:strVal val="visible"/>
                                      </p:to>
                                    </p:set>
                                    <p:animEffect transition="in" filter="fade">
                                      <p:cBhvr>
                                        <p:cTn id="23" dur="300"/>
                                        <p:tgtEl>
                                          <p:spTgt spid="9">
                                            <p:txEl>
                                              <p:pRg st="3" end="3"/>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9">
                                            <p:txEl>
                                              <p:pRg st="4" end="4"/>
                                            </p:txEl>
                                          </p:spTgt>
                                        </p:tgtEl>
                                        <p:attrNameLst>
                                          <p:attrName>style.visibility</p:attrName>
                                        </p:attrNameLst>
                                      </p:cBhvr>
                                      <p:to>
                                        <p:strVal val="visible"/>
                                      </p:to>
                                    </p:set>
                                    <p:animEffect transition="in" filter="fade">
                                      <p:cBhvr>
                                        <p:cTn id="28" dur="300"/>
                                        <p:tgtEl>
                                          <p:spTgt spid="9">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Twenty-Rule Escalation Shell That Explains Itself</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 OF 21</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13  ·  Rule-Based Expert Systems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§13.6  ·  Handout p. 136     </a:t>
            </a:r>
            <a:fld id="{73625DBD-640D-4908-9B1E-084A73E7D1B2}" type="slidenum">
              <a:rPr lang="en-GB" sz="1000">
                <a:solidFill>
                  <a:srgbClr val="8795A1"/>
                </a:solidFill>
                <a:latin typeface="Segoe UI"/>
              </a:rPr>
              <a:t>24</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Set-up</a:t>
            </a:r>
          </a:p>
        </p:txBody>
      </p:sp>
      <p:sp>
        <p:nvSpPr>
          <p:cNvPr id="8" name="!!code-bg">
            <a:extLst>
              <a:ext uri="{C183D7F6-B498-43B3-948B-1728B52AA6E4}">
                <adec:decorative xmlns:adec="http://schemas.microsoft.com/office/drawing/2017/decorative" val="1"/>
              </a:ext>
            </a:extLst>
          </p:cNvPr>
          <p:cNvSpPr/>
          <p:nvPr/>
        </p:nvSpPr>
        <p:spPr>
          <a:xfrm>
            <a:off x="658368" y="2084831"/>
            <a:ext cx="10874959" cy="2737104"/>
          </a:xfrm>
          <a:prstGeom prst="roundRect">
            <a:avLst>
              <a:gd name="adj" fmla="val 3340"/>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code/ch13_twenty_rule_escalation.py</a:t>
            </a:r>
          </a:p>
        </p:txBody>
      </p:sp>
      <p:sp>
        <p:nvSpPr>
          <p:cNvPr id="14" name="!!code-text" descr="&quot;&quot;&quot;Chapter 13 lab -- a rule-based escalation adviser. Twenty rules an operations lead could read and correct. The engine fires until nothing new follows; the explanation tree is what makes the result auditable, and it is a by-product of backward chaining rather than something added afterwards. &quot;&quot;&quot;"/>
          <p:cNvSpPr txBox="1"/>
          <p:nvPr/>
        </p:nvSpPr>
        <p:spPr>
          <a:xfrm>
            <a:off x="1362456" y="2523744"/>
            <a:ext cx="9987991" cy="2243328"/>
          </a:xfrm>
          <a:prstGeom prst="rect">
            <a:avLst/>
          </a:prstGeom>
          <a:noFill/>
        </p:spPr>
        <p:txBody>
          <a:bodyPr wrap="none" anchor="t" lIns="0" rIns="0" tIns="0" bIns="0">
            <a:noAutofit/>
          </a:bodyPr>
          <a:lstStyle/>
          <a:p>
            <a:pPr>
              <a:lnSpc>
                <a:spcPct val="100000"/>
              </a:lnSpc>
              <a:spcAft>
                <a:spcPts val="0"/>
              </a:spcAft>
            </a:pPr>
            <a:r>
              <a:rPr sz="2000" i="0">
                <a:solidFill>
                  <a:srgbClr val="7DCEA0"/>
                </a:solidFill>
                <a:latin typeface="Consolas"/>
              </a:rPr>
              <a:t>"""Chapter 13 lab -- a rule-based escalation adviser.</a:t>
            </a:r>
          </a:p>
          <a:p>
            <a:pPr>
              <a:lnSpc>
                <a:spcPct val="100000"/>
              </a:lnSpc>
              <a:spcAft>
                <a:spcPts val="0"/>
              </a:spcAft>
            </a:pPr>
            <a:r>
              <a:rPr sz="2000">
                <a:latin typeface="Consolas"/>
              </a:rPr>
              <a:t> </a:t>
            </a:r>
          </a:p>
          <a:p>
            <a:pPr>
              <a:lnSpc>
                <a:spcPct val="100000"/>
              </a:lnSpc>
              <a:spcAft>
                <a:spcPts val="0"/>
              </a:spcAft>
            </a:pPr>
            <a:r>
              <a:rPr sz="2000" i="0">
                <a:solidFill>
                  <a:srgbClr val="7DCEA0"/>
                </a:solidFill>
                <a:latin typeface="Consolas"/>
              </a:rPr>
              <a:t>Twenty rules an operations lead could read and correct. The engine</a:t>
            </a:r>
          </a:p>
          <a:p>
            <a:pPr>
              <a:lnSpc>
                <a:spcPct val="100000"/>
              </a:lnSpc>
              <a:spcAft>
                <a:spcPts val="0"/>
              </a:spcAft>
            </a:pPr>
            <a:r>
              <a:rPr sz="2000" i="0">
                <a:solidFill>
                  <a:srgbClr val="7DCEA0"/>
                </a:solidFill>
                <a:latin typeface="Consolas"/>
              </a:rPr>
              <a:t>fires until nothing new follows; the explanation tree is what makes</a:t>
            </a:r>
          </a:p>
          <a:p>
            <a:pPr>
              <a:lnSpc>
                <a:spcPct val="100000"/>
              </a:lnSpc>
              <a:spcAft>
                <a:spcPts val="0"/>
              </a:spcAft>
            </a:pPr>
            <a:r>
              <a:rPr sz="2000" i="0">
                <a:solidFill>
                  <a:srgbClr val="7DCEA0"/>
                </a:solidFill>
                <a:latin typeface="Consolas"/>
              </a:rPr>
              <a:t>the result auditable, and it is a by-product of backward chaining</a:t>
            </a:r>
          </a:p>
          <a:p>
            <a:pPr>
              <a:lnSpc>
                <a:spcPct val="100000"/>
              </a:lnSpc>
              <a:spcAft>
                <a:spcPts val="0"/>
              </a:spcAft>
            </a:pPr>
            <a:r>
              <a:rPr sz="2000" i="0">
                <a:solidFill>
                  <a:srgbClr val="7DCEA0"/>
                </a:solidFill>
                <a:latin typeface="Consolas"/>
              </a:rPr>
              <a:t>rather than something added afterwards.</a:t>
            </a:r>
          </a:p>
          <a:p>
            <a:pPr>
              <a:lnSpc>
                <a:spcPct val="100000"/>
              </a:lnSpc>
              <a:spcAft>
                <a:spcPts val="0"/>
              </a:spcAft>
            </a:pPr>
            <a:r>
              <a:rPr sz="2000" i="0">
                <a:solidFill>
                  <a:srgbClr val="7DCEA0"/>
                </a:solidFill>
                <a:latin typeface="Consolas"/>
              </a:rPr>
              <a:t>"""</a:t>
            </a:r>
          </a:p>
        </p:txBody>
      </p:sp>
      <p:sp>
        <p:nvSpPr>
          <p:cNvPr id="15" name="!!code-num"/>
          <p:cNvSpPr txBox="1"/>
          <p:nvPr/>
        </p:nvSpPr>
        <p:spPr>
          <a:xfrm>
            <a:off x="768096" y="2523744"/>
            <a:ext cx="393192" cy="2243328"/>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2</a:t>
            </a:r>
          </a:p>
          <a:p>
            <a:pPr algn="r">
              <a:lnSpc>
                <a:spcPct val="100000"/>
              </a:lnSpc>
            </a:pPr>
            <a:r>
              <a:rPr sz="2000">
                <a:solidFill>
                  <a:srgbClr val="4F5D6A"/>
                </a:solidFill>
                <a:latin typeface="Consolas"/>
              </a:rPr>
              <a:t>3</a:t>
            </a:r>
          </a:p>
          <a:p>
            <a:pPr algn="r">
              <a:lnSpc>
                <a:spcPct val="100000"/>
              </a:lnSpc>
            </a:pPr>
            <a:r>
              <a:rPr sz="2000">
                <a:solidFill>
                  <a:srgbClr val="4F5D6A"/>
                </a:solidFill>
                <a:latin typeface="Consolas"/>
              </a:rPr>
              <a:t>4</a:t>
            </a:r>
          </a:p>
          <a:p>
            <a:pPr algn="r">
              <a:lnSpc>
                <a:spcPct val="100000"/>
              </a:lnSpc>
            </a:pPr>
            <a:r>
              <a:rPr sz="2000">
                <a:solidFill>
                  <a:srgbClr val="4F5D6A"/>
                </a:solidFill>
                <a:latin typeface="Consolas"/>
              </a:rPr>
              <a:t>5</a:t>
            </a:r>
          </a:p>
          <a:p>
            <a:pPr algn="r">
              <a:lnSpc>
                <a:spcPct val="100000"/>
              </a:lnSpc>
            </a:pPr>
            <a:r>
              <a:rPr sz="2000">
                <a:solidFill>
                  <a:srgbClr val="4F5D6A"/>
                </a:solidFill>
                <a:latin typeface="Consolas"/>
              </a:rPr>
              <a:t>6</a:t>
            </a:r>
          </a:p>
          <a:p>
            <a:pPr algn="r">
              <a:lnSpc>
                <a:spcPct val="100000"/>
              </a:lnSpc>
            </a:pPr>
            <a:r>
              <a:rPr sz="2000">
                <a:solidFill>
                  <a:srgbClr val="4F5D6A"/>
                </a:solidFill>
                <a:latin typeface="Consolas"/>
              </a:rPr>
              <a:t>7</a:t>
            </a:r>
          </a:p>
          <a:p>
            <a:pPr algn="r">
              <a:lnSpc>
                <a:spcPct val="100000"/>
              </a:lnSpc>
            </a:pPr>
            <a:r>
              <a:rPr sz="2000">
                <a:solidFill>
                  <a:srgbClr val="4F5D6A"/>
                </a:solidFill>
                <a:latin typeface="Consolas"/>
              </a:rPr>
              <a:t>8</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4959333"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600">
        <p:fade/>
      </p:transition>
    </mc:Choice>
    <mc:Fallback>
      <p:transition spd="med">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Twenty-Rule Escalation Shell That Explains Itself</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2 OF 21</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13  ·  Rule-Based Expert Systems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§13.6  ·  Handout p. 136     </a:t>
            </a:r>
            <a:fld id="{12BAF488-DDE2-4076-BA81-DB95DF1CD024}" type="slidenum">
              <a:rPr lang="en-GB" sz="1000">
                <a:solidFill>
                  <a:srgbClr val="8795A1"/>
                </a:solidFill>
                <a:latin typeface="Segoe UI"/>
              </a:rPr>
              <a:t>25</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Set-up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956303"/>
          </a:xfrm>
          <a:prstGeom prst="roundRect">
            <a:avLst>
              <a:gd name="adj" fmla="val 2311"/>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code/ch13_twenty_rule_escalation.py</a:t>
            </a:r>
          </a:p>
        </p:txBody>
      </p:sp>
      <p:sp>
        <p:nvSpPr>
          <p:cNvPr id="14" name="!!code-text" descr="# (name, [conditions], conclusion); each is an (attribute, value) pair RULES = [ # R0 is a deliberately general fallback, and it is listed FIRST. # Plain rule-order resolution therefore reaches it before the # narrower R2 and R3, and gets the wrong answer. Specificity does # not, which is the point of the comparison below. (&quot;R0&quot;, [(&quot;severity&quot;, &quot;major&quot;)], (&quot;priority&quot;, &quot;P1&quot;)), (&quot;R1&quot;, [(&quot;severity&quot;, &quot;critical&quot;)], (&quot;priority&quot;, &quot;P1&quot;)), (&quot;R2&quot;, [(&quot;severity&quot;, &quot;major&quot;), (&quot;tier&quot;, &quot;platinum&quot;)], (&quot;priority&quot;, &quot;P1&quot;)), (&quot;R3&quot;, [(&quot;severity&quot;, &quot;major&quot;), (&quot;tier&quot;, &quot;standard&quot;)], (&quot;priority&quot;, &quot;P2&quot;)), (&quot;R4&quot;, [(&quot;severity&quot;, &quot;minor&quot;)], (&quot;priority&quot;, &quot;P3&quot;)), (&quot;R5&quot;, [(&quot;priority&quot;, &quot;P1&quot;)], (&quot;needs_owner&quot;, &quot;yes&quot;)), (&quot;R6&quot;, [(&quot;priority&quot;, &quot;P2&quot;), (&quot;workaround&quot;, &quot;no&quot;)], (&quot;needs_owner&quot;, &quot;yes&quot;)), (&quot;R7&quot;, [(&quot;priority&quot;, &quot;P2&quot;), (&quot;workaround&quot;, &quot;yes&quot;)], (&quot;needs_owner&quot;, &quot;no&quot;)), (&quot;R8&quot;, [(&quot;priority&quot;, &quot;P3&quot;)], (&quot;needs_owner&quot;, &quot;no&quot;)), (&quot;R9&quot;, [(&quot;needs_owner&quot;, &quot;yes&quot;), (&quot;owner_available&quot;, &quot;no&quot;)],"/>
          <p:cNvSpPr txBox="1"/>
          <p:nvPr/>
        </p:nvSpPr>
        <p:spPr>
          <a:xfrm>
            <a:off x="1362456" y="2523744"/>
            <a:ext cx="9987991" cy="3462527"/>
          </a:xfrm>
          <a:prstGeom prst="rect">
            <a:avLst/>
          </a:prstGeom>
          <a:noFill/>
        </p:spPr>
        <p:txBody>
          <a:bodyPr wrap="none" anchor="t" lIns="0" rIns="0" tIns="0" bIns="0">
            <a:noAutofit/>
          </a:bodyPr>
          <a:lstStyle/>
          <a:p>
            <a:pPr>
              <a:lnSpc>
                <a:spcPct val="100000"/>
              </a:lnSpc>
              <a:spcAft>
                <a:spcPts val="0"/>
              </a:spcAft>
            </a:pPr>
            <a:r>
              <a:rPr sz="1100" i="1">
                <a:solidFill>
                  <a:srgbClr val="8795A1"/>
                </a:solidFill>
                <a:latin typeface="Consolas"/>
              </a:rPr>
              <a:t># (name, [conditions], conclusion); each is an (attribute, value) pair</a:t>
            </a:r>
          </a:p>
          <a:p>
            <a:pPr>
              <a:lnSpc>
                <a:spcPct val="100000"/>
              </a:lnSpc>
              <a:spcAft>
                <a:spcPts val="0"/>
              </a:spcAft>
            </a:pPr>
            <a:r>
              <a:rPr sz="1100" i="0">
                <a:solidFill>
                  <a:srgbClr val="E8EDF2"/>
                </a:solidFill>
                <a:latin typeface="Consolas"/>
              </a:rPr>
              <a:t>RULES</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1">
                <a:solidFill>
                  <a:srgbClr val="8795A1"/>
                </a:solidFill>
                <a:latin typeface="Consolas"/>
              </a:rPr>
              <a:t># R0 is a deliberately general fallback, and it is listed FIRST.</a:t>
            </a:r>
          </a:p>
          <a:p>
            <a:pPr>
              <a:lnSpc>
                <a:spcPct val="100000"/>
              </a:lnSpc>
              <a:spcAft>
                <a:spcPts val="0"/>
              </a:spcAft>
            </a:pPr>
            <a:r>
              <a:rPr sz="1100" i="0">
                <a:solidFill>
                  <a:srgbClr val="E8EDF2"/>
                </a:solidFill>
                <a:latin typeface="Consolas"/>
              </a:rPr>
              <a:t>    </a:t>
            </a:r>
            <a:r>
              <a:rPr sz="1100" i="1">
                <a:solidFill>
                  <a:srgbClr val="8795A1"/>
                </a:solidFill>
                <a:latin typeface="Consolas"/>
              </a:rPr>
              <a:t># Plain rule-order resolution therefore reaches it before the</a:t>
            </a:r>
          </a:p>
          <a:p>
            <a:pPr>
              <a:lnSpc>
                <a:spcPct val="100000"/>
              </a:lnSpc>
              <a:spcAft>
                <a:spcPts val="0"/>
              </a:spcAft>
            </a:pPr>
            <a:r>
              <a:rPr sz="1100" i="0">
                <a:solidFill>
                  <a:srgbClr val="E8EDF2"/>
                </a:solidFill>
                <a:latin typeface="Consolas"/>
              </a:rPr>
              <a:t>    </a:t>
            </a:r>
            <a:r>
              <a:rPr sz="1100" i="1">
                <a:solidFill>
                  <a:srgbClr val="8795A1"/>
                </a:solidFill>
                <a:latin typeface="Consolas"/>
              </a:rPr>
              <a:t># narrower R2 and R3, and gets the wrong answer. Specificity does</a:t>
            </a:r>
          </a:p>
          <a:p>
            <a:pPr>
              <a:lnSpc>
                <a:spcPct val="100000"/>
              </a:lnSpc>
              <a:spcAft>
                <a:spcPts val="0"/>
              </a:spcAft>
            </a:pPr>
            <a:r>
              <a:rPr sz="1100" i="0">
                <a:solidFill>
                  <a:srgbClr val="E8EDF2"/>
                </a:solidFill>
                <a:latin typeface="Consolas"/>
              </a:rPr>
              <a:t>    </a:t>
            </a:r>
            <a:r>
              <a:rPr sz="1100" i="1">
                <a:solidFill>
                  <a:srgbClr val="8795A1"/>
                </a:solidFill>
                <a:latin typeface="Consolas"/>
              </a:rPr>
              <a:t># not, which is the point of the comparison below.</a:t>
            </a:r>
          </a:p>
          <a:p>
            <a:pPr>
              <a:lnSpc>
                <a:spcPct val="100000"/>
              </a:lnSpc>
              <a:spcAft>
                <a:spcPts val="0"/>
              </a:spcAft>
            </a:pP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R0</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severity</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major</a:t>
            </a:r>
            <a:r>
              <a:rPr sz="1100" i="0">
                <a:solidFill>
                  <a:srgbClr val="7DCEA0"/>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priority</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P1</a:t>
            </a:r>
            <a:r>
              <a:rPr sz="1100" i="0">
                <a:solidFill>
                  <a:srgbClr val="7DCEA0"/>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R1</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severity</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critical</a:t>
            </a:r>
            <a:r>
              <a:rPr sz="1100" i="0">
                <a:solidFill>
                  <a:srgbClr val="7DCEA0"/>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priority</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P1</a:t>
            </a:r>
            <a:r>
              <a:rPr sz="1100" i="0">
                <a:solidFill>
                  <a:srgbClr val="7DCEA0"/>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R2</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severity</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major</a:t>
            </a:r>
            <a:r>
              <a:rPr sz="1100" i="0">
                <a:solidFill>
                  <a:srgbClr val="7DCEA0"/>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tier</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platinum</a:t>
            </a:r>
            <a:r>
              <a:rPr sz="1100" i="0">
                <a:solidFill>
                  <a:srgbClr val="7DCEA0"/>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priority</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P1</a:t>
            </a:r>
            <a:r>
              <a:rPr sz="1100" i="0">
                <a:solidFill>
                  <a:srgbClr val="7DCEA0"/>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R3</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severity</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major</a:t>
            </a:r>
            <a:r>
              <a:rPr sz="1100" i="0">
                <a:solidFill>
                  <a:srgbClr val="7DCEA0"/>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tier</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standard</a:t>
            </a:r>
            <a:r>
              <a:rPr sz="1100" i="0">
                <a:solidFill>
                  <a:srgbClr val="7DCEA0"/>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priority</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P2</a:t>
            </a:r>
            <a:r>
              <a:rPr sz="1100" i="0">
                <a:solidFill>
                  <a:srgbClr val="7DCEA0"/>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R4</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severity</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minor</a:t>
            </a:r>
            <a:r>
              <a:rPr sz="1100" i="0">
                <a:solidFill>
                  <a:srgbClr val="7DCEA0"/>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priority</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P3</a:t>
            </a:r>
            <a:r>
              <a:rPr sz="1100" i="0">
                <a:solidFill>
                  <a:srgbClr val="7DCEA0"/>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R5</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priority</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P1</a:t>
            </a:r>
            <a:r>
              <a:rPr sz="1100" i="0">
                <a:solidFill>
                  <a:srgbClr val="7DCEA0"/>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needs_owner</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yes</a:t>
            </a:r>
            <a:r>
              <a:rPr sz="1100" i="0">
                <a:solidFill>
                  <a:srgbClr val="7DCEA0"/>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R6</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priority</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P2</a:t>
            </a:r>
            <a:r>
              <a:rPr sz="1100" i="0">
                <a:solidFill>
                  <a:srgbClr val="7DCEA0"/>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workaround</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no</a:t>
            </a:r>
            <a:r>
              <a:rPr sz="1100" i="0">
                <a:solidFill>
                  <a:srgbClr val="7DCEA0"/>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needs_owner</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yes</a:t>
            </a:r>
            <a:r>
              <a:rPr sz="1100" i="0">
                <a:solidFill>
                  <a:srgbClr val="7DCEA0"/>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R7</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priority</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P2</a:t>
            </a:r>
            <a:r>
              <a:rPr sz="1100" i="0">
                <a:solidFill>
                  <a:srgbClr val="7DCEA0"/>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workaround</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yes</a:t>
            </a:r>
            <a:r>
              <a:rPr sz="1100" i="0">
                <a:solidFill>
                  <a:srgbClr val="7DCEA0"/>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needs_owner</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no</a:t>
            </a:r>
            <a:r>
              <a:rPr sz="1100" i="0">
                <a:solidFill>
                  <a:srgbClr val="7DCEA0"/>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R8</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priority</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P3</a:t>
            </a:r>
            <a:r>
              <a:rPr sz="1100" i="0">
                <a:solidFill>
                  <a:srgbClr val="7DCEA0"/>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needs_owner</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no</a:t>
            </a:r>
            <a:r>
              <a:rPr sz="1100" i="0">
                <a:solidFill>
                  <a:srgbClr val="7DCEA0"/>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R9</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needs_owner</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yes</a:t>
            </a:r>
            <a:r>
              <a:rPr sz="1100" i="0">
                <a:solidFill>
                  <a:srgbClr val="7DCEA0"/>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owner_available</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no</a:t>
            </a:r>
            <a:r>
              <a:rPr sz="1100" i="0">
                <a:solidFill>
                  <a:srgbClr val="7DCEA0"/>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p>
        </p:txBody>
      </p:sp>
      <p:sp>
        <p:nvSpPr>
          <p:cNvPr id="15" name="!!code-num"/>
          <p:cNvSpPr txBox="1"/>
          <p:nvPr/>
        </p:nvSpPr>
        <p:spPr>
          <a:xfrm>
            <a:off x="768096" y="2523744"/>
            <a:ext cx="393192" cy="3462527"/>
          </a:xfrm>
          <a:prstGeom prst="rect">
            <a:avLst/>
          </a:prstGeom>
          <a:noFill/>
        </p:spPr>
        <p:txBody>
          <a:bodyPr wrap="none" anchor="t" lIns="0" rIns="0" tIns="0" bIns="0">
            <a:noAutofit/>
          </a:bodyPr>
          <a:lstStyle/>
          <a:p>
            <a:pPr algn="r">
              <a:lnSpc>
                <a:spcPct val="100000"/>
              </a:lnSpc>
            </a:pPr>
            <a:r>
              <a:rPr sz="1100">
                <a:solidFill>
                  <a:srgbClr val="4F5D6A"/>
                </a:solidFill>
                <a:latin typeface="Consolas"/>
              </a:rPr>
              <a:t>10</a:t>
            </a:r>
          </a:p>
          <a:p>
            <a:pPr algn="r">
              <a:lnSpc>
                <a:spcPct val="100000"/>
              </a:lnSpc>
            </a:pPr>
            <a:r>
              <a:rPr sz="1100">
                <a:solidFill>
                  <a:srgbClr val="4F5D6A"/>
                </a:solidFill>
                <a:latin typeface="Consolas"/>
              </a:rPr>
              <a:t>11</a:t>
            </a:r>
          </a:p>
          <a:p>
            <a:pPr algn="r">
              <a:lnSpc>
                <a:spcPct val="100000"/>
              </a:lnSpc>
            </a:pPr>
            <a:r>
              <a:rPr sz="1100">
                <a:solidFill>
                  <a:srgbClr val="4F5D6A"/>
                </a:solidFill>
                <a:latin typeface="Consolas"/>
              </a:rPr>
              <a:t>12</a:t>
            </a:r>
          </a:p>
          <a:p>
            <a:pPr algn="r">
              <a:lnSpc>
                <a:spcPct val="100000"/>
              </a:lnSpc>
            </a:pPr>
            <a:r>
              <a:rPr sz="1100">
                <a:solidFill>
                  <a:srgbClr val="4F5D6A"/>
                </a:solidFill>
                <a:latin typeface="Consolas"/>
              </a:rPr>
              <a:t>13</a:t>
            </a:r>
          </a:p>
          <a:p>
            <a:pPr algn="r">
              <a:lnSpc>
                <a:spcPct val="100000"/>
              </a:lnSpc>
            </a:pPr>
            <a:r>
              <a:rPr sz="1100">
                <a:solidFill>
                  <a:srgbClr val="4F5D6A"/>
                </a:solidFill>
                <a:latin typeface="Consolas"/>
              </a:rPr>
              <a:t>14</a:t>
            </a:r>
          </a:p>
          <a:p>
            <a:pPr algn="r">
              <a:lnSpc>
                <a:spcPct val="100000"/>
              </a:lnSpc>
            </a:pPr>
            <a:r>
              <a:rPr sz="1100">
                <a:solidFill>
                  <a:srgbClr val="4F5D6A"/>
                </a:solidFill>
                <a:latin typeface="Consolas"/>
              </a:rPr>
              <a:t>15</a:t>
            </a:r>
          </a:p>
          <a:p>
            <a:pPr algn="r">
              <a:lnSpc>
                <a:spcPct val="100000"/>
              </a:lnSpc>
            </a:pPr>
            <a:r>
              <a:rPr sz="1100">
                <a:solidFill>
                  <a:srgbClr val="4F5D6A"/>
                </a:solidFill>
                <a:latin typeface="Consolas"/>
              </a:rPr>
              <a:t>16</a:t>
            </a:r>
          </a:p>
          <a:p>
            <a:pPr algn="r">
              <a:lnSpc>
                <a:spcPct val="100000"/>
              </a:lnSpc>
            </a:pPr>
            <a:r>
              <a:rPr sz="1100">
                <a:solidFill>
                  <a:srgbClr val="4F5D6A"/>
                </a:solidFill>
                <a:latin typeface="Consolas"/>
              </a:rPr>
              <a:t>17</a:t>
            </a:r>
          </a:p>
          <a:p>
            <a:pPr algn="r">
              <a:lnSpc>
                <a:spcPct val="100000"/>
              </a:lnSpc>
            </a:pPr>
            <a:r>
              <a:rPr sz="1100">
                <a:solidFill>
                  <a:srgbClr val="4F5D6A"/>
                </a:solidFill>
                <a:latin typeface="Consolas"/>
              </a:rPr>
              <a:t>18</a:t>
            </a:r>
          </a:p>
          <a:p>
            <a:pPr algn="r">
              <a:lnSpc>
                <a:spcPct val="100000"/>
              </a:lnSpc>
            </a:pPr>
            <a:r>
              <a:rPr sz="1100">
                <a:solidFill>
                  <a:srgbClr val="4F5D6A"/>
                </a:solidFill>
                <a:latin typeface="Consolas"/>
              </a:rPr>
              <a:t>19</a:t>
            </a:r>
          </a:p>
          <a:p>
            <a:pPr algn="r">
              <a:lnSpc>
                <a:spcPct val="100000"/>
              </a:lnSpc>
            </a:pPr>
            <a:r>
              <a:rPr sz="1100">
                <a:solidFill>
                  <a:srgbClr val="4F5D6A"/>
                </a:solidFill>
                <a:latin typeface="Consolas"/>
              </a:rPr>
              <a:t>20</a:t>
            </a:r>
          </a:p>
          <a:p>
            <a:pPr algn="r">
              <a:lnSpc>
                <a:spcPct val="100000"/>
              </a:lnSpc>
            </a:pPr>
            <a:r>
              <a:rPr sz="1100">
                <a:solidFill>
                  <a:srgbClr val="4F5D6A"/>
                </a:solidFill>
                <a:latin typeface="Consolas"/>
              </a:rPr>
              <a:t>21</a:t>
            </a:r>
          </a:p>
          <a:p>
            <a:pPr algn="r">
              <a:lnSpc>
                <a:spcPct val="100000"/>
              </a:lnSpc>
            </a:pPr>
            <a:r>
              <a:rPr sz="1100">
                <a:solidFill>
                  <a:srgbClr val="4F5D6A"/>
                </a:solidFill>
                <a:latin typeface="Consolas"/>
              </a:rPr>
              <a:t>22</a:t>
            </a:r>
          </a:p>
          <a:p>
            <a:pPr algn="r">
              <a:lnSpc>
                <a:spcPct val="100000"/>
              </a:lnSpc>
            </a:pPr>
            <a:r>
              <a:rPr sz="1100">
                <a:solidFill>
                  <a:srgbClr val="4F5D6A"/>
                </a:solidFill>
                <a:latin typeface="Consolas"/>
              </a:rPr>
              <a:t>23</a:t>
            </a:r>
          </a:p>
          <a:p>
            <a:pPr algn="r">
              <a:lnSpc>
                <a:spcPct val="100000"/>
              </a:lnSpc>
            </a:pPr>
            <a:r>
              <a:rPr sz="1100">
                <a:solidFill>
                  <a:srgbClr val="4F5D6A"/>
                </a:solidFill>
                <a:latin typeface="Consolas"/>
              </a:rPr>
              <a:t>24</a:t>
            </a:r>
          </a:p>
          <a:p>
            <a:pPr algn="r">
              <a:lnSpc>
                <a:spcPct val="100000"/>
              </a:lnSpc>
            </a:pPr>
            <a:r>
              <a:rPr sz="1100">
                <a:solidFill>
                  <a:srgbClr val="4F5D6A"/>
                </a:solidFill>
                <a:latin typeface="Consolas"/>
              </a:rPr>
              <a:t>25</a:t>
            </a:r>
          </a:p>
          <a:p>
            <a:pPr algn="r">
              <a:lnSpc>
                <a:spcPct val="100000"/>
              </a:lnSpc>
            </a:pPr>
            <a:r>
              <a:rPr sz="1100">
                <a:solidFill>
                  <a:srgbClr val="4F5D6A"/>
                </a:solidFill>
                <a:latin typeface="Consolas"/>
              </a:rPr>
              <a:t>26</a:t>
            </a:r>
          </a:p>
          <a:p>
            <a:pPr algn="r">
              <a:lnSpc>
                <a:spcPct val="100000"/>
              </a:lnSpc>
            </a:pPr>
            <a:r>
              <a:rPr sz="1100">
                <a:solidFill>
                  <a:srgbClr val="4F5D6A"/>
                </a:solidFill>
                <a:latin typeface="Consolas"/>
              </a:rPr>
              <a:t>27</a:t>
            </a:r>
          </a:p>
          <a:p>
            <a:pPr algn="r">
              <a:lnSpc>
                <a:spcPct val="100000"/>
              </a:lnSpc>
            </a:pPr>
            <a:r>
              <a:rPr sz="1100">
                <a:solidFill>
                  <a:srgbClr val="4F5D6A"/>
                </a:solidFill>
                <a:latin typeface="Consolas"/>
              </a:rPr>
              <a:t>28</a:t>
            </a:r>
          </a:p>
          <a:p>
            <a:pPr algn="r">
              <a:lnSpc>
                <a:spcPct val="100000"/>
              </a:lnSpc>
            </a:pPr>
            <a:r>
              <a:rPr sz="1100">
                <a:solidFill>
                  <a:srgbClr val="4F5D6A"/>
                </a:solidFill>
                <a:latin typeface="Consolas"/>
              </a:rPr>
              <a:t>29</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5165972"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Twenty-Rule Escalation Shell That Explains Itself</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3 OF 21</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13  ·  Rule-Based Expert Systems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§13.6  ·  Handout p. 136     </a:t>
            </a:r>
            <a:fld id="{255776C2-FBF3-4165-A1B1-F18827B048AD}" type="slidenum">
              <a:rPr lang="en-GB" sz="1000">
                <a:solidFill>
                  <a:srgbClr val="8795A1"/>
                </a:solidFill>
                <a:latin typeface="Segoe UI"/>
              </a:rPr>
              <a:t>26</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Set-up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956303"/>
          </a:xfrm>
          <a:prstGeom prst="roundRect">
            <a:avLst>
              <a:gd name="adj" fmla="val 2311"/>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code/ch13_twenty_rule_escalation.py</a:t>
            </a:r>
          </a:p>
        </p:txBody>
      </p:sp>
      <p:sp>
        <p:nvSpPr>
          <p:cNvPr id="14" name="!!code-text" descr="(&quot;escalate&quot;, &quot;yes&quot;)), (&quot;R10&quot;, [(&quot;priority&quot;, &quot;P1&quot;), (&quot;sla_risk&quot;, &quot;high&quot;)], (&quot;escalate&quot;, &quot;yes&quot;)), (&quot;R11&quot;, [(&quot;needs_owner&quot;, &quot;no&quot;)], (&quot;escalate&quot;, &quot;no&quot;)), (&quot;R12&quot;, [(&quot;sla_hours_left&quot;, &quot;under2&quot;)], (&quot;sla_risk&quot;, &quot;high&quot;)), (&quot;R13&quot;, [(&quot;sla_hours_left&quot;, &quot;over2&quot;)], (&quot;sla_risk&quot;, &quot;low&quot;)), (&quot;R14&quot;, [(&quot;escalate&quot;, &quot;yes&quot;), (&quot;wake_budget&quot;, &quot;spent&quot;)], (&quot;action&quot;, &quot;queue_for_morning&quot;)), (&quot;R15&quot;, [(&quot;escalate&quot;, &quot;yes&quot;), (&quot;wake_budget&quot;, &quot;available&quot;)], (&quot;action&quot;, &quot;wake_on_call&quot;)), (&quot;R16&quot;, [(&quot;escalate&quot;, &quot;no&quot;)], (&quot;action&quot;, &quot;leave_in_queue&quot;)), (&quot;R17&quot;, [(&quot;severity&quot;, &quot;critical&quot;), (&quot;tier&quot;, &quot;platinum&quot;)], (&quot;notify_account_team&quot;, &quot;yes&quot;)), (&quot;R18&quot;, [(&quot;service&quot;, &quot;payments&quot;), (&quot;priority&quot;, &quot;P1&quot;)], (&quot;notify_finance&quot;, &quot;yes&quot;)), (&quot;R19&quot;, [(&quot;escalate&quot;, &quot;yes&quot;), (&quot;service&quot;, &quot;payments&quot;)], (&quot;runbook&quot;, &quot;payments_incident&quot;)), (&quot;R20&quot;, [(&quot;action&quot;, &quot;wake_on_call&quot;), (&quot;tier&quot;, &quot;platinum&quot;)], (&quot;page_severity&quot;, &quot;urgent&quot;)), ]"/>
          <p:cNvSpPr txBox="1"/>
          <p:nvPr/>
        </p:nvSpPr>
        <p:spPr>
          <a:xfrm>
            <a:off x="1362456" y="2523744"/>
            <a:ext cx="9987991" cy="3462527"/>
          </a:xfrm>
          <a:prstGeom prst="rect">
            <a:avLst/>
          </a:prstGeom>
          <a:noFill/>
        </p:spPr>
        <p:txBody>
          <a:bodyPr wrap="none" anchor="t" lIns="0" rIns="0" tIns="0" bIns="0">
            <a:noAutofit/>
          </a:bodyPr>
          <a:lstStyle/>
          <a:p>
            <a:pPr>
              <a:lnSpc>
                <a:spcPct val="100000"/>
              </a:lnSpc>
              <a:spcAft>
                <a:spcPts val="0"/>
              </a:spcAft>
            </a:pP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escalate</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yes</a:t>
            </a:r>
            <a:r>
              <a:rPr sz="1100" i="0">
                <a:solidFill>
                  <a:srgbClr val="7DCEA0"/>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R10</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priority</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P1</a:t>
            </a:r>
            <a:r>
              <a:rPr sz="1100" i="0">
                <a:solidFill>
                  <a:srgbClr val="7DCEA0"/>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sla_risk</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high</a:t>
            </a:r>
            <a:r>
              <a:rPr sz="1100" i="0">
                <a:solidFill>
                  <a:srgbClr val="7DCEA0"/>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escalate</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yes</a:t>
            </a:r>
            <a:r>
              <a:rPr sz="1100" i="0">
                <a:solidFill>
                  <a:srgbClr val="7DCEA0"/>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R11</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needs_owner</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no</a:t>
            </a:r>
            <a:r>
              <a:rPr sz="1100" i="0">
                <a:solidFill>
                  <a:srgbClr val="7DCEA0"/>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escalate</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no</a:t>
            </a:r>
            <a:r>
              <a:rPr sz="1100" i="0">
                <a:solidFill>
                  <a:srgbClr val="7DCEA0"/>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R12</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sla_hours_left</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under2</a:t>
            </a:r>
            <a:r>
              <a:rPr sz="1100" i="0">
                <a:solidFill>
                  <a:srgbClr val="7DCEA0"/>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sla_risk</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high</a:t>
            </a:r>
            <a:r>
              <a:rPr sz="1100" i="0">
                <a:solidFill>
                  <a:srgbClr val="7DCEA0"/>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R13</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sla_hours_left</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over2</a:t>
            </a:r>
            <a:r>
              <a:rPr sz="1100" i="0">
                <a:solidFill>
                  <a:srgbClr val="7DCEA0"/>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sla_risk</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low</a:t>
            </a:r>
            <a:r>
              <a:rPr sz="1100" i="0">
                <a:solidFill>
                  <a:srgbClr val="7DCEA0"/>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R14</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escalate</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yes</a:t>
            </a:r>
            <a:r>
              <a:rPr sz="1100" i="0">
                <a:solidFill>
                  <a:srgbClr val="7DCEA0"/>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wake_budget</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spent</a:t>
            </a:r>
            <a:r>
              <a:rPr sz="1100" i="0">
                <a:solidFill>
                  <a:srgbClr val="7DCEA0"/>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action</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queue_for_morning</a:t>
            </a:r>
            <a:r>
              <a:rPr sz="1100" i="0">
                <a:solidFill>
                  <a:srgbClr val="7DCEA0"/>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R15</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escalate</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yes</a:t>
            </a:r>
            <a:r>
              <a:rPr sz="1100" i="0">
                <a:solidFill>
                  <a:srgbClr val="7DCEA0"/>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wake_budget</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available</a:t>
            </a:r>
            <a:r>
              <a:rPr sz="1100" i="0">
                <a:solidFill>
                  <a:srgbClr val="7DCEA0"/>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action</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wake_on_call</a:t>
            </a:r>
            <a:r>
              <a:rPr sz="1100" i="0">
                <a:solidFill>
                  <a:srgbClr val="7DCEA0"/>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R16</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escalate</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no</a:t>
            </a:r>
            <a:r>
              <a:rPr sz="1100" i="0">
                <a:solidFill>
                  <a:srgbClr val="7DCEA0"/>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action</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leave_in_queue</a:t>
            </a:r>
            <a:r>
              <a:rPr sz="1100" i="0">
                <a:solidFill>
                  <a:srgbClr val="7DCEA0"/>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R17</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severity</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critical</a:t>
            </a:r>
            <a:r>
              <a:rPr sz="1100" i="0">
                <a:solidFill>
                  <a:srgbClr val="7DCEA0"/>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tier</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platinum</a:t>
            </a:r>
            <a:r>
              <a:rPr sz="1100" i="0">
                <a:solidFill>
                  <a:srgbClr val="7DCEA0"/>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notify_account_team</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yes</a:t>
            </a:r>
            <a:r>
              <a:rPr sz="1100" i="0">
                <a:solidFill>
                  <a:srgbClr val="7DCEA0"/>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R18</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service</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payments</a:t>
            </a:r>
            <a:r>
              <a:rPr sz="1100" i="0">
                <a:solidFill>
                  <a:srgbClr val="7DCEA0"/>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priority</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P1</a:t>
            </a:r>
            <a:r>
              <a:rPr sz="1100" i="0">
                <a:solidFill>
                  <a:srgbClr val="7DCEA0"/>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notify_finance</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yes</a:t>
            </a:r>
            <a:r>
              <a:rPr sz="1100" i="0">
                <a:solidFill>
                  <a:srgbClr val="7DCEA0"/>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R19</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escalate</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yes</a:t>
            </a:r>
            <a:r>
              <a:rPr sz="1100" i="0">
                <a:solidFill>
                  <a:srgbClr val="7DCEA0"/>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service</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payments</a:t>
            </a:r>
            <a:r>
              <a:rPr sz="1100" i="0">
                <a:solidFill>
                  <a:srgbClr val="7DCEA0"/>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runbook</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payments_incident</a:t>
            </a:r>
            <a:r>
              <a:rPr sz="1100" i="0">
                <a:solidFill>
                  <a:srgbClr val="7DCEA0"/>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R20</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action</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wake_on_call</a:t>
            </a:r>
            <a:r>
              <a:rPr sz="1100" i="0">
                <a:solidFill>
                  <a:srgbClr val="7DCEA0"/>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tier</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platinum</a:t>
            </a:r>
            <a:r>
              <a:rPr sz="1100" i="0">
                <a:solidFill>
                  <a:srgbClr val="7DCEA0"/>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page_severity</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urgent</a:t>
            </a:r>
            <a:r>
              <a:rPr sz="1100" i="0">
                <a:solidFill>
                  <a:srgbClr val="7DCEA0"/>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AEB6BF"/>
                </a:solidFill>
                <a:latin typeface="Consolas"/>
              </a:rPr>
              <a:t>]</a:t>
            </a:r>
          </a:p>
        </p:txBody>
      </p:sp>
      <p:sp>
        <p:nvSpPr>
          <p:cNvPr id="15" name="!!code-num"/>
          <p:cNvSpPr txBox="1"/>
          <p:nvPr/>
        </p:nvSpPr>
        <p:spPr>
          <a:xfrm>
            <a:off x="768096" y="2523744"/>
            <a:ext cx="393192" cy="3462527"/>
          </a:xfrm>
          <a:prstGeom prst="rect">
            <a:avLst/>
          </a:prstGeom>
          <a:noFill/>
        </p:spPr>
        <p:txBody>
          <a:bodyPr wrap="none" anchor="t" lIns="0" rIns="0" tIns="0" bIns="0">
            <a:noAutofit/>
          </a:bodyPr>
          <a:lstStyle/>
          <a:p>
            <a:pPr algn="r">
              <a:lnSpc>
                <a:spcPct val="100000"/>
              </a:lnSpc>
            </a:pPr>
            <a:r>
              <a:rPr sz="1100">
                <a:solidFill>
                  <a:srgbClr val="4F5D6A"/>
                </a:solidFill>
                <a:latin typeface="Consolas"/>
              </a:rPr>
              <a:t>30</a:t>
            </a:r>
          </a:p>
          <a:p>
            <a:pPr algn="r">
              <a:lnSpc>
                <a:spcPct val="100000"/>
              </a:lnSpc>
            </a:pPr>
            <a:r>
              <a:rPr sz="1100">
                <a:solidFill>
                  <a:srgbClr val="4F5D6A"/>
                </a:solidFill>
                <a:latin typeface="Consolas"/>
              </a:rPr>
              <a:t>31</a:t>
            </a:r>
          </a:p>
          <a:p>
            <a:pPr algn="r">
              <a:lnSpc>
                <a:spcPct val="100000"/>
              </a:lnSpc>
            </a:pPr>
            <a:r>
              <a:rPr sz="1100">
                <a:solidFill>
                  <a:srgbClr val="4F5D6A"/>
                </a:solidFill>
                <a:latin typeface="Consolas"/>
              </a:rPr>
              <a:t>32</a:t>
            </a:r>
          </a:p>
          <a:p>
            <a:pPr algn="r">
              <a:lnSpc>
                <a:spcPct val="100000"/>
              </a:lnSpc>
            </a:pPr>
            <a:r>
              <a:rPr sz="1100">
                <a:solidFill>
                  <a:srgbClr val="4F5D6A"/>
                </a:solidFill>
                <a:latin typeface="Consolas"/>
              </a:rPr>
              <a:t>33</a:t>
            </a:r>
          </a:p>
          <a:p>
            <a:pPr algn="r">
              <a:lnSpc>
                <a:spcPct val="100000"/>
              </a:lnSpc>
            </a:pPr>
            <a:r>
              <a:rPr sz="1100">
                <a:solidFill>
                  <a:srgbClr val="4F5D6A"/>
                </a:solidFill>
                <a:latin typeface="Consolas"/>
              </a:rPr>
              <a:t>34</a:t>
            </a:r>
          </a:p>
          <a:p>
            <a:pPr algn="r">
              <a:lnSpc>
                <a:spcPct val="100000"/>
              </a:lnSpc>
            </a:pPr>
            <a:r>
              <a:rPr sz="1100">
                <a:solidFill>
                  <a:srgbClr val="4F5D6A"/>
                </a:solidFill>
                <a:latin typeface="Consolas"/>
              </a:rPr>
              <a:t>35</a:t>
            </a:r>
          </a:p>
          <a:p>
            <a:pPr algn="r">
              <a:lnSpc>
                <a:spcPct val="100000"/>
              </a:lnSpc>
            </a:pPr>
            <a:r>
              <a:rPr sz="1100">
                <a:solidFill>
                  <a:srgbClr val="4F5D6A"/>
                </a:solidFill>
                <a:latin typeface="Consolas"/>
              </a:rPr>
              <a:t>36</a:t>
            </a:r>
          </a:p>
          <a:p>
            <a:pPr algn="r">
              <a:lnSpc>
                <a:spcPct val="100000"/>
              </a:lnSpc>
            </a:pPr>
            <a:r>
              <a:rPr sz="1100">
                <a:solidFill>
                  <a:srgbClr val="4F5D6A"/>
                </a:solidFill>
                <a:latin typeface="Consolas"/>
              </a:rPr>
              <a:t>37</a:t>
            </a:r>
          </a:p>
          <a:p>
            <a:pPr algn="r">
              <a:lnSpc>
                <a:spcPct val="100000"/>
              </a:lnSpc>
            </a:pPr>
            <a:r>
              <a:rPr sz="1100">
                <a:solidFill>
                  <a:srgbClr val="4F5D6A"/>
                </a:solidFill>
                <a:latin typeface="Consolas"/>
              </a:rPr>
              <a:t>38</a:t>
            </a:r>
          </a:p>
          <a:p>
            <a:pPr algn="r">
              <a:lnSpc>
                <a:spcPct val="100000"/>
              </a:lnSpc>
            </a:pPr>
            <a:r>
              <a:rPr sz="1100">
                <a:solidFill>
                  <a:srgbClr val="4F5D6A"/>
                </a:solidFill>
                <a:latin typeface="Consolas"/>
              </a:rPr>
              <a:t>39</a:t>
            </a:r>
          </a:p>
          <a:p>
            <a:pPr algn="r">
              <a:lnSpc>
                <a:spcPct val="100000"/>
              </a:lnSpc>
            </a:pPr>
            <a:r>
              <a:rPr sz="1100">
                <a:solidFill>
                  <a:srgbClr val="4F5D6A"/>
                </a:solidFill>
                <a:latin typeface="Consolas"/>
              </a:rPr>
              <a:t>40</a:t>
            </a:r>
          </a:p>
          <a:p>
            <a:pPr algn="r">
              <a:lnSpc>
                <a:spcPct val="100000"/>
              </a:lnSpc>
            </a:pPr>
            <a:r>
              <a:rPr sz="1100">
                <a:solidFill>
                  <a:srgbClr val="4F5D6A"/>
                </a:solidFill>
                <a:latin typeface="Consolas"/>
              </a:rPr>
              <a:t>41</a:t>
            </a:r>
          </a:p>
          <a:p>
            <a:pPr algn="r">
              <a:lnSpc>
                <a:spcPct val="100000"/>
              </a:lnSpc>
            </a:pPr>
            <a:r>
              <a:rPr sz="1100">
                <a:solidFill>
                  <a:srgbClr val="4F5D6A"/>
                </a:solidFill>
                <a:latin typeface="Consolas"/>
              </a:rPr>
              <a:t>42</a:t>
            </a:r>
          </a:p>
          <a:p>
            <a:pPr algn="r">
              <a:lnSpc>
                <a:spcPct val="100000"/>
              </a:lnSpc>
            </a:pPr>
            <a:r>
              <a:rPr sz="1100">
                <a:solidFill>
                  <a:srgbClr val="4F5D6A"/>
                </a:solidFill>
                <a:latin typeface="Consolas"/>
              </a:rPr>
              <a:t>43</a:t>
            </a:r>
          </a:p>
          <a:p>
            <a:pPr algn="r">
              <a:lnSpc>
                <a:spcPct val="100000"/>
              </a:lnSpc>
            </a:pPr>
            <a:r>
              <a:rPr sz="1100">
                <a:solidFill>
                  <a:srgbClr val="4F5D6A"/>
                </a:solidFill>
                <a:latin typeface="Consolas"/>
              </a:rPr>
              <a:t>44</a:t>
            </a:r>
          </a:p>
          <a:p>
            <a:pPr algn="r">
              <a:lnSpc>
                <a:spcPct val="100000"/>
              </a:lnSpc>
            </a:pPr>
            <a:r>
              <a:rPr sz="1100">
                <a:solidFill>
                  <a:srgbClr val="4F5D6A"/>
                </a:solidFill>
                <a:latin typeface="Consolas"/>
              </a:rPr>
              <a:t>45</a:t>
            </a:r>
          </a:p>
          <a:p>
            <a:pPr algn="r">
              <a:lnSpc>
                <a:spcPct val="100000"/>
              </a:lnSpc>
            </a:pPr>
            <a:r>
              <a:rPr sz="1100">
                <a:solidFill>
                  <a:srgbClr val="4F5D6A"/>
                </a:solidFill>
                <a:latin typeface="Consolas"/>
              </a:rPr>
              <a:t>46</a:t>
            </a:r>
          </a:p>
          <a:p>
            <a:pPr algn="r">
              <a:lnSpc>
                <a:spcPct val="100000"/>
              </a:lnSpc>
            </a:pPr>
            <a:r>
              <a:rPr sz="1100">
                <a:solidFill>
                  <a:srgbClr val="4F5D6A"/>
                </a:solidFill>
                <a:latin typeface="Consolas"/>
              </a:rPr>
              <a:t>47</a:t>
            </a:r>
          </a:p>
          <a:p>
            <a:pPr algn="r">
              <a:lnSpc>
                <a:spcPct val="100000"/>
              </a:lnSpc>
            </a:pPr>
            <a:r>
              <a:rPr sz="1100">
                <a:solidFill>
                  <a:srgbClr val="4F5D6A"/>
                </a:solidFill>
                <a:latin typeface="Consolas"/>
              </a:rPr>
              <a:t>48</a:t>
            </a:r>
          </a:p>
          <a:p>
            <a:pPr algn="r">
              <a:lnSpc>
                <a:spcPct val="100000"/>
              </a:lnSpc>
            </a:pPr>
            <a:r>
              <a:rPr sz="1100">
                <a:solidFill>
                  <a:srgbClr val="4F5D6A"/>
                </a:solidFill>
                <a:latin typeface="Consolas"/>
              </a:rPr>
              <a:t>49</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5372611"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Twenty-Rule Escalation Shell That Explains Itself</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4 OF 21</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13  ·  Rule-Based Expert Systems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§13.6  ·  Handout p. 136     </a:t>
            </a:r>
            <a:fld id="{52C377A4-63E7-4047-B4A1-326768DC6F3E}" type="slidenum">
              <a:rPr lang="en-GB" sz="1000">
                <a:solidFill>
                  <a:srgbClr val="8795A1"/>
                </a:solidFill>
                <a:latin typeface="Segoe UI"/>
              </a:rPr>
              <a:t>27</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Set-up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017264"/>
          </a:xfrm>
          <a:prstGeom prst="roundRect">
            <a:avLst>
              <a:gd name="adj" fmla="val 227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code/ch13_twenty_rule_escalation.py</a:t>
            </a:r>
          </a:p>
        </p:txBody>
      </p:sp>
      <p:sp>
        <p:nvSpPr>
          <p:cNvPr id="14" name="!!code-text" descr="TICKETS = { &quot;T-4471&quot;: {&quot;severity&quot;: &quot;critical&quot;, &quot;tier&quot;: &quot;platinum&quot;, &quot;service&quot;: &quot;payments&quot;, &quot;workaround&quot;: &quot;no&quot;, &quot;sla_hours_left&quot;: &quot;under2&quot;, &quot;owner_available&quot;: &quot;no&quot;, &quot;wake_budget&quot;: &quot;available&quot;}, &quot;T-4472&quot;: {&quot;severity&quot;: &quot;major&quot;, &quot;tier&quot;: &quot;standard&quot;, &quot;service&quot;: &quot;search&quot;, &quot;workaround&quot;: &quot;yes&quot;, &quot;sla_hours_left&quot;: &quot;over2&quot;, &quot;owner_available&quot;: &quot;no&quot;, &quot;wake_budget&quot;: &quot;available&quot;}, &quot;T-4473&quot;: {&quot;severity&quot;: &quot;major&quot;, &quot;tier&quot;: &quot;platinum&quot;, &quot;service&quot;: &quot;auth&quot;, &quot;workaround&quot;: &quot;no&quot;, &quot;sla_hours_left&quot;: &quot;over2&quot;, &quot;owner_available&quot;: &quot;no&quot;, &quot;wake_budget&quot;: &quot;spent&quot;}, }"/>
          <p:cNvSpPr txBox="1"/>
          <p:nvPr/>
        </p:nvSpPr>
        <p:spPr>
          <a:xfrm>
            <a:off x="1362456" y="2523744"/>
            <a:ext cx="9987991" cy="3523487"/>
          </a:xfrm>
          <a:prstGeom prst="rect">
            <a:avLst/>
          </a:prstGeom>
          <a:noFill/>
        </p:spPr>
        <p:txBody>
          <a:bodyPr wrap="none" anchor="t" lIns="0" rIns="0" tIns="0" bIns="0">
            <a:noAutofit/>
          </a:bodyPr>
          <a:lstStyle/>
          <a:p>
            <a:pPr>
              <a:lnSpc>
                <a:spcPct val="100000"/>
              </a:lnSpc>
              <a:spcAft>
                <a:spcPts val="0"/>
              </a:spcAft>
            </a:pPr>
            <a:r>
              <a:rPr sz="1600" i="0">
                <a:solidFill>
                  <a:srgbClr val="E8EDF2"/>
                </a:solidFill>
                <a:latin typeface="Consolas"/>
              </a:rPr>
              <a:t>TICKETS</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 </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7DCEA0"/>
                </a:solidFill>
                <a:latin typeface="Consolas"/>
              </a:rPr>
              <a:t>"</a:t>
            </a:r>
            <a:r>
              <a:rPr sz="1600" i="0">
                <a:solidFill>
                  <a:srgbClr val="7DCEA0"/>
                </a:solidFill>
                <a:latin typeface="Consolas"/>
              </a:rPr>
              <a:t>T-4471</a:t>
            </a:r>
            <a:r>
              <a:rPr sz="1600" i="0">
                <a:solidFill>
                  <a:srgbClr val="7DCEA0"/>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AEB6BF"/>
                </a:solidFill>
                <a:latin typeface="Consolas"/>
              </a:rPr>
              <a:t>{</a:t>
            </a:r>
            <a:r>
              <a:rPr sz="1600" i="0">
                <a:solidFill>
                  <a:srgbClr val="7DCEA0"/>
                </a:solidFill>
                <a:latin typeface="Consolas"/>
              </a:rPr>
              <a:t>"</a:t>
            </a:r>
            <a:r>
              <a:rPr sz="1600" i="0">
                <a:solidFill>
                  <a:srgbClr val="7DCEA0"/>
                </a:solidFill>
                <a:latin typeface="Consolas"/>
              </a:rPr>
              <a:t>severity</a:t>
            </a:r>
            <a:r>
              <a:rPr sz="1600" i="0">
                <a:solidFill>
                  <a:srgbClr val="7DCEA0"/>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7DCEA0"/>
                </a:solidFill>
                <a:latin typeface="Consolas"/>
              </a:rPr>
              <a:t>"</a:t>
            </a:r>
            <a:r>
              <a:rPr sz="1600" i="0">
                <a:solidFill>
                  <a:srgbClr val="7DCEA0"/>
                </a:solidFill>
                <a:latin typeface="Consolas"/>
              </a:rPr>
              <a:t>critical</a:t>
            </a:r>
            <a:r>
              <a:rPr sz="1600" i="0">
                <a:solidFill>
                  <a:srgbClr val="7DCEA0"/>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7DCEA0"/>
                </a:solidFill>
                <a:latin typeface="Consolas"/>
              </a:rPr>
              <a:t>"</a:t>
            </a:r>
            <a:r>
              <a:rPr sz="1600" i="0">
                <a:solidFill>
                  <a:srgbClr val="7DCEA0"/>
                </a:solidFill>
                <a:latin typeface="Consolas"/>
              </a:rPr>
              <a:t>tier</a:t>
            </a:r>
            <a:r>
              <a:rPr sz="1600" i="0">
                <a:solidFill>
                  <a:srgbClr val="7DCEA0"/>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7DCEA0"/>
                </a:solidFill>
                <a:latin typeface="Consolas"/>
              </a:rPr>
              <a:t>"</a:t>
            </a:r>
            <a:r>
              <a:rPr sz="1600" i="0">
                <a:solidFill>
                  <a:srgbClr val="7DCEA0"/>
                </a:solidFill>
                <a:latin typeface="Consolas"/>
              </a:rPr>
              <a:t>platinum</a:t>
            </a:r>
            <a:r>
              <a:rPr sz="1600" i="0">
                <a:solidFill>
                  <a:srgbClr val="7DCEA0"/>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7DCEA0"/>
                </a:solidFill>
                <a:latin typeface="Consolas"/>
              </a:rPr>
              <a:t>"</a:t>
            </a:r>
            <a:r>
              <a:rPr sz="1600" i="0">
                <a:solidFill>
                  <a:srgbClr val="7DCEA0"/>
                </a:solidFill>
                <a:latin typeface="Consolas"/>
              </a:rPr>
              <a:t>service</a:t>
            </a:r>
            <a:r>
              <a:rPr sz="1600" i="0">
                <a:solidFill>
                  <a:srgbClr val="7DCEA0"/>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7DCEA0"/>
                </a:solidFill>
                <a:latin typeface="Consolas"/>
              </a:rPr>
              <a:t>"</a:t>
            </a:r>
            <a:r>
              <a:rPr sz="1600" i="0">
                <a:solidFill>
                  <a:srgbClr val="7DCEA0"/>
                </a:solidFill>
                <a:latin typeface="Consolas"/>
              </a:rPr>
              <a:t>payments</a:t>
            </a:r>
            <a:r>
              <a:rPr sz="1600" i="0">
                <a:solidFill>
                  <a:srgbClr val="7DCEA0"/>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7DCEA0"/>
                </a:solidFill>
                <a:latin typeface="Consolas"/>
              </a:rPr>
              <a:t>"</a:t>
            </a:r>
            <a:r>
              <a:rPr sz="1600" i="0">
                <a:solidFill>
                  <a:srgbClr val="7DCEA0"/>
                </a:solidFill>
                <a:latin typeface="Consolas"/>
              </a:rPr>
              <a:t>workaround</a:t>
            </a:r>
            <a:r>
              <a:rPr sz="1600" i="0">
                <a:solidFill>
                  <a:srgbClr val="7DCEA0"/>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7DCEA0"/>
                </a:solidFill>
                <a:latin typeface="Consolas"/>
              </a:rPr>
              <a:t>"</a:t>
            </a:r>
            <a:r>
              <a:rPr sz="1600" i="0">
                <a:solidFill>
                  <a:srgbClr val="7DCEA0"/>
                </a:solidFill>
                <a:latin typeface="Consolas"/>
              </a:rPr>
              <a:t>no</a:t>
            </a:r>
            <a:r>
              <a:rPr sz="1600" i="0">
                <a:solidFill>
                  <a:srgbClr val="7DCEA0"/>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7DCEA0"/>
                </a:solidFill>
                <a:latin typeface="Consolas"/>
              </a:rPr>
              <a:t>"</a:t>
            </a:r>
            <a:r>
              <a:rPr sz="1600" i="0">
                <a:solidFill>
                  <a:srgbClr val="7DCEA0"/>
                </a:solidFill>
                <a:latin typeface="Consolas"/>
              </a:rPr>
              <a:t>sla_hours_left</a:t>
            </a:r>
            <a:r>
              <a:rPr sz="1600" i="0">
                <a:solidFill>
                  <a:srgbClr val="7DCEA0"/>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7DCEA0"/>
                </a:solidFill>
                <a:latin typeface="Consolas"/>
              </a:rPr>
              <a:t>"</a:t>
            </a:r>
            <a:r>
              <a:rPr sz="1600" i="0">
                <a:solidFill>
                  <a:srgbClr val="7DCEA0"/>
                </a:solidFill>
                <a:latin typeface="Consolas"/>
              </a:rPr>
              <a:t>under2</a:t>
            </a:r>
            <a:r>
              <a:rPr sz="1600" i="0">
                <a:solidFill>
                  <a:srgbClr val="7DCEA0"/>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7DCEA0"/>
                </a:solidFill>
                <a:latin typeface="Consolas"/>
              </a:rPr>
              <a:t>"</a:t>
            </a:r>
            <a:r>
              <a:rPr sz="1600" i="0">
                <a:solidFill>
                  <a:srgbClr val="7DCEA0"/>
                </a:solidFill>
                <a:latin typeface="Consolas"/>
              </a:rPr>
              <a:t>owner_available</a:t>
            </a:r>
            <a:r>
              <a:rPr sz="1600" i="0">
                <a:solidFill>
                  <a:srgbClr val="7DCEA0"/>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7DCEA0"/>
                </a:solidFill>
                <a:latin typeface="Consolas"/>
              </a:rPr>
              <a:t>"</a:t>
            </a:r>
            <a:r>
              <a:rPr sz="1600" i="0">
                <a:solidFill>
                  <a:srgbClr val="7DCEA0"/>
                </a:solidFill>
                <a:latin typeface="Consolas"/>
              </a:rPr>
              <a:t>no</a:t>
            </a:r>
            <a:r>
              <a:rPr sz="1600" i="0">
                <a:solidFill>
                  <a:srgbClr val="7DCEA0"/>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7DCEA0"/>
                </a:solidFill>
                <a:latin typeface="Consolas"/>
              </a:rPr>
              <a:t>"</a:t>
            </a:r>
            <a:r>
              <a:rPr sz="1600" i="0">
                <a:solidFill>
                  <a:srgbClr val="7DCEA0"/>
                </a:solidFill>
                <a:latin typeface="Consolas"/>
              </a:rPr>
              <a:t>wake_budget</a:t>
            </a:r>
            <a:r>
              <a:rPr sz="1600" i="0">
                <a:solidFill>
                  <a:srgbClr val="7DCEA0"/>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7DCEA0"/>
                </a:solidFill>
                <a:latin typeface="Consolas"/>
              </a:rPr>
              <a:t>"</a:t>
            </a:r>
            <a:r>
              <a:rPr sz="1600" i="0">
                <a:solidFill>
                  <a:srgbClr val="7DCEA0"/>
                </a:solidFill>
                <a:latin typeface="Consolas"/>
              </a:rPr>
              <a:t>available</a:t>
            </a:r>
            <a:r>
              <a:rPr sz="1600" i="0">
                <a:solidFill>
                  <a:srgbClr val="7DCEA0"/>
                </a:solidFill>
                <a:latin typeface="Consolas"/>
              </a:rPr>
              <a:t>"</a:t>
            </a:r>
            <a:r>
              <a:rPr sz="1600" i="0">
                <a:solidFill>
                  <a:srgbClr val="AEB6BF"/>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7DCEA0"/>
                </a:solidFill>
                <a:latin typeface="Consolas"/>
              </a:rPr>
              <a:t>"</a:t>
            </a:r>
            <a:r>
              <a:rPr sz="1600" i="0">
                <a:solidFill>
                  <a:srgbClr val="7DCEA0"/>
                </a:solidFill>
                <a:latin typeface="Consolas"/>
              </a:rPr>
              <a:t>T-4472</a:t>
            </a:r>
            <a:r>
              <a:rPr sz="1600" i="0">
                <a:solidFill>
                  <a:srgbClr val="7DCEA0"/>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AEB6BF"/>
                </a:solidFill>
                <a:latin typeface="Consolas"/>
              </a:rPr>
              <a:t>{</a:t>
            </a:r>
            <a:r>
              <a:rPr sz="1600" i="0">
                <a:solidFill>
                  <a:srgbClr val="7DCEA0"/>
                </a:solidFill>
                <a:latin typeface="Consolas"/>
              </a:rPr>
              <a:t>"</a:t>
            </a:r>
            <a:r>
              <a:rPr sz="1600" i="0">
                <a:solidFill>
                  <a:srgbClr val="7DCEA0"/>
                </a:solidFill>
                <a:latin typeface="Consolas"/>
              </a:rPr>
              <a:t>severity</a:t>
            </a:r>
            <a:r>
              <a:rPr sz="1600" i="0">
                <a:solidFill>
                  <a:srgbClr val="7DCEA0"/>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7DCEA0"/>
                </a:solidFill>
                <a:latin typeface="Consolas"/>
              </a:rPr>
              <a:t>"</a:t>
            </a:r>
            <a:r>
              <a:rPr sz="1600" i="0">
                <a:solidFill>
                  <a:srgbClr val="7DCEA0"/>
                </a:solidFill>
                <a:latin typeface="Consolas"/>
              </a:rPr>
              <a:t>major</a:t>
            </a:r>
            <a:r>
              <a:rPr sz="1600" i="0">
                <a:solidFill>
                  <a:srgbClr val="7DCEA0"/>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7DCEA0"/>
                </a:solidFill>
                <a:latin typeface="Consolas"/>
              </a:rPr>
              <a:t>"</a:t>
            </a:r>
            <a:r>
              <a:rPr sz="1600" i="0">
                <a:solidFill>
                  <a:srgbClr val="7DCEA0"/>
                </a:solidFill>
                <a:latin typeface="Consolas"/>
              </a:rPr>
              <a:t>tier</a:t>
            </a:r>
            <a:r>
              <a:rPr sz="1600" i="0">
                <a:solidFill>
                  <a:srgbClr val="7DCEA0"/>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7DCEA0"/>
                </a:solidFill>
                <a:latin typeface="Consolas"/>
              </a:rPr>
              <a:t>"</a:t>
            </a:r>
            <a:r>
              <a:rPr sz="1600" i="0">
                <a:solidFill>
                  <a:srgbClr val="7DCEA0"/>
                </a:solidFill>
                <a:latin typeface="Consolas"/>
              </a:rPr>
              <a:t>standard</a:t>
            </a:r>
            <a:r>
              <a:rPr sz="1600" i="0">
                <a:solidFill>
                  <a:srgbClr val="7DCEA0"/>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7DCEA0"/>
                </a:solidFill>
                <a:latin typeface="Consolas"/>
              </a:rPr>
              <a:t>"</a:t>
            </a:r>
            <a:r>
              <a:rPr sz="1600" i="0">
                <a:solidFill>
                  <a:srgbClr val="7DCEA0"/>
                </a:solidFill>
                <a:latin typeface="Consolas"/>
              </a:rPr>
              <a:t>service</a:t>
            </a:r>
            <a:r>
              <a:rPr sz="1600" i="0">
                <a:solidFill>
                  <a:srgbClr val="7DCEA0"/>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7DCEA0"/>
                </a:solidFill>
                <a:latin typeface="Consolas"/>
              </a:rPr>
              <a:t>"</a:t>
            </a:r>
            <a:r>
              <a:rPr sz="1600" i="0">
                <a:solidFill>
                  <a:srgbClr val="7DCEA0"/>
                </a:solidFill>
                <a:latin typeface="Consolas"/>
              </a:rPr>
              <a:t>search</a:t>
            </a:r>
            <a:r>
              <a:rPr sz="1600" i="0">
                <a:solidFill>
                  <a:srgbClr val="7DCEA0"/>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7DCEA0"/>
                </a:solidFill>
                <a:latin typeface="Consolas"/>
              </a:rPr>
              <a:t>"</a:t>
            </a:r>
            <a:r>
              <a:rPr sz="1600" i="0">
                <a:solidFill>
                  <a:srgbClr val="7DCEA0"/>
                </a:solidFill>
                <a:latin typeface="Consolas"/>
              </a:rPr>
              <a:t>workaround</a:t>
            </a:r>
            <a:r>
              <a:rPr sz="1600" i="0">
                <a:solidFill>
                  <a:srgbClr val="7DCEA0"/>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7DCEA0"/>
                </a:solidFill>
                <a:latin typeface="Consolas"/>
              </a:rPr>
              <a:t>"</a:t>
            </a:r>
            <a:r>
              <a:rPr sz="1600" i="0">
                <a:solidFill>
                  <a:srgbClr val="7DCEA0"/>
                </a:solidFill>
                <a:latin typeface="Consolas"/>
              </a:rPr>
              <a:t>yes</a:t>
            </a:r>
            <a:r>
              <a:rPr sz="1600" i="0">
                <a:solidFill>
                  <a:srgbClr val="7DCEA0"/>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7DCEA0"/>
                </a:solidFill>
                <a:latin typeface="Consolas"/>
              </a:rPr>
              <a:t>"</a:t>
            </a:r>
            <a:r>
              <a:rPr sz="1600" i="0">
                <a:solidFill>
                  <a:srgbClr val="7DCEA0"/>
                </a:solidFill>
                <a:latin typeface="Consolas"/>
              </a:rPr>
              <a:t>sla_hours_left</a:t>
            </a:r>
            <a:r>
              <a:rPr sz="1600" i="0">
                <a:solidFill>
                  <a:srgbClr val="7DCEA0"/>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7DCEA0"/>
                </a:solidFill>
                <a:latin typeface="Consolas"/>
              </a:rPr>
              <a:t>"</a:t>
            </a:r>
            <a:r>
              <a:rPr sz="1600" i="0">
                <a:solidFill>
                  <a:srgbClr val="7DCEA0"/>
                </a:solidFill>
                <a:latin typeface="Consolas"/>
              </a:rPr>
              <a:t>over2</a:t>
            </a:r>
            <a:r>
              <a:rPr sz="1600" i="0">
                <a:solidFill>
                  <a:srgbClr val="7DCEA0"/>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7DCEA0"/>
                </a:solidFill>
                <a:latin typeface="Consolas"/>
              </a:rPr>
              <a:t>"</a:t>
            </a:r>
            <a:r>
              <a:rPr sz="1600" i="0">
                <a:solidFill>
                  <a:srgbClr val="7DCEA0"/>
                </a:solidFill>
                <a:latin typeface="Consolas"/>
              </a:rPr>
              <a:t>owner_available</a:t>
            </a:r>
            <a:r>
              <a:rPr sz="1600" i="0">
                <a:solidFill>
                  <a:srgbClr val="7DCEA0"/>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7DCEA0"/>
                </a:solidFill>
                <a:latin typeface="Consolas"/>
              </a:rPr>
              <a:t>"</a:t>
            </a:r>
            <a:r>
              <a:rPr sz="1600" i="0">
                <a:solidFill>
                  <a:srgbClr val="7DCEA0"/>
                </a:solidFill>
                <a:latin typeface="Consolas"/>
              </a:rPr>
              <a:t>no</a:t>
            </a:r>
            <a:r>
              <a:rPr sz="1600" i="0">
                <a:solidFill>
                  <a:srgbClr val="7DCEA0"/>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7DCEA0"/>
                </a:solidFill>
                <a:latin typeface="Consolas"/>
              </a:rPr>
              <a:t>"</a:t>
            </a:r>
            <a:r>
              <a:rPr sz="1600" i="0">
                <a:solidFill>
                  <a:srgbClr val="7DCEA0"/>
                </a:solidFill>
                <a:latin typeface="Consolas"/>
              </a:rPr>
              <a:t>wake_budget</a:t>
            </a:r>
            <a:r>
              <a:rPr sz="1600" i="0">
                <a:solidFill>
                  <a:srgbClr val="7DCEA0"/>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7DCEA0"/>
                </a:solidFill>
                <a:latin typeface="Consolas"/>
              </a:rPr>
              <a:t>"</a:t>
            </a:r>
            <a:r>
              <a:rPr sz="1600" i="0">
                <a:solidFill>
                  <a:srgbClr val="7DCEA0"/>
                </a:solidFill>
                <a:latin typeface="Consolas"/>
              </a:rPr>
              <a:t>available</a:t>
            </a:r>
            <a:r>
              <a:rPr sz="1600" i="0">
                <a:solidFill>
                  <a:srgbClr val="7DCEA0"/>
                </a:solidFill>
                <a:latin typeface="Consolas"/>
              </a:rPr>
              <a:t>"</a:t>
            </a:r>
            <a:r>
              <a:rPr sz="1600" i="0">
                <a:solidFill>
                  <a:srgbClr val="AEB6BF"/>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7DCEA0"/>
                </a:solidFill>
                <a:latin typeface="Consolas"/>
              </a:rPr>
              <a:t>"</a:t>
            </a:r>
            <a:r>
              <a:rPr sz="1600" i="0">
                <a:solidFill>
                  <a:srgbClr val="7DCEA0"/>
                </a:solidFill>
                <a:latin typeface="Consolas"/>
              </a:rPr>
              <a:t>T-4473</a:t>
            </a:r>
            <a:r>
              <a:rPr sz="1600" i="0">
                <a:solidFill>
                  <a:srgbClr val="7DCEA0"/>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AEB6BF"/>
                </a:solidFill>
                <a:latin typeface="Consolas"/>
              </a:rPr>
              <a:t>{</a:t>
            </a:r>
            <a:r>
              <a:rPr sz="1600" i="0">
                <a:solidFill>
                  <a:srgbClr val="7DCEA0"/>
                </a:solidFill>
                <a:latin typeface="Consolas"/>
              </a:rPr>
              <a:t>"</a:t>
            </a:r>
            <a:r>
              <a:rPr sz="1600" i="0">
                <a:solidFill>
                  <a:srgbClr val="7DCEA0"/>
                </a:solidFill>
                <a:latin typeface="Consolas"/>
              </a:rPr>
              <a:t>severity</a:t>
            </a:r>
            <a:r>
              <a:rPr sz="1600" i="0">
                <a:solidFill>
                  <a:srgbClr val="7DCEA0"/>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7DCEA0"/>
                </a:solidFill>
                <a:latin typeface="Consolas"/>
              </a:rPr>
              <a:t>"</a:t>
            </a:r>
            <a:r>
              <a:rPr sz="1600" i="0">
                <a:solidFill>
                  <a:srgbClr val="7DCEA0"/>
                </a:solidFill>
                <a:latin typeface="Consolas"/>
              </a:rPr>
              <a:t>major</a:t>
            </a:r>
            <a:r>
              <a:rPr sz="1600" i="0">
                <a:solidFill>
                  <a:srgbClr val="7DCEA0"/>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7DCEA0"/>
                </a:solidFill>
                <a:latin typeface="Consolas"/>
              </a:rPr>
              <a:t>"</a:t>
            </a:r>
            <a:r>
              <a:rPr sz="1600" i="0">
                <a:solidFill>
                  <a:srgbClr val="7DCEA0"/>
                </a:solidFill>
                <a:latin typeface="Consolas"/>
              </a:rPr>
              <a:t>tier</a:t>
            </a:r>
            <a:r>
              <a:rPr sz="1600" i="0">
                <a:solidFill>
                  <a:srgbClr val="7DCEA0"/>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7DCEA0"/>
                </a:solidFill>
                <a:latin typeface="Consolas"/>
              </a:rPr>
              <a:t>"</a:t>
            </a:r>
            <a:r>
              <a:rPr sz="1600" i="0">
                <a:solidFill>
                  <a:srgbClr val="7DCEA0"/>
                </a:solidFill>
                <a:latin typeface="Consolas"/>
              </a:rPr>
              <a:t>platinum</a:t>
            </a:r>
            <a:r>
              <a:rPr sz="1600" i="0">
                <a:solidFill>
                  <a:srgbClr val="7DCEA0"/>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7DCEA0"/>
                </a:solidFill>
                <a:latin typeface="Consolas"/>
              </a:rPr>
              <a:t>"</a:t>
            </a:r>
            <a:r>
              <a:rPr sz="1600" i="0">
                <a:solidFill>
                  <a:srgbClr val="7DCEA0"/>
                </a:solidFill>
                <a:latin typeface="Consolas"/>
              </a:rPr>
              <a:t>service</a:t>
            </a:r>
            <a:r>
              <a:rPr sz="1600" i="0">
                <a:solidFill>
                  <a:srgbClr val="7DCEA0"/>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7DCEA0"/>
                </a:solidFill>
                <a:latin typeface="Consolas"/>
              </a:rPr>
              <a:t>"</a:t>
            </a:r>
            <a:r>
              <a:rPr sz="1600" i="0">
                <a:solidFill>
                  <a:srgbClr val="7DCEA0"/>
                </a:solidFill>
                <a:latin typeface="Consolas"/>
              </a:rPr>
              <a:t>auth</a:t>
            </a:r>
            <a:r>
              <a:rPr sz="1600" i="0">
                <a:solidFill>
                  <a:srgbClr val="7DCEA0"/>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7DCEA0"/>
                </a:solidFill>
                <a:latin typeface="Consolas"/>
              </a:rPr>
              <a:t>"</a:t>
            </a:r>
            <a:r>
              <a:rPr sz="1600" i="0">
                <a:solidFill>
                  <a:srgbClr val="7DCEA0"/>
                </a:solidFill>
                <a:latin typeface="Consolas"/>
              </a:rPr>
              <a:t>workaround</a:t>
            </a:r>
            <a:r>
              <a:rPr sz="1600" i="0">
                <a:solidFill>
                  <a:srgbClr val="7DCEA0"/>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7DCEA0"/>
                </a:solidFill>
                <a:latin typeface="Consolas"/>
              </a:rPr>
              <a:t>"</a:t>
            </a:r>
            <a:r>
              <a:rPr sz="1600" i="0">
                <a:solidFill>
                  <a:srgbClr val="7DCEA0"/>
                </a:solidFill>
                <a:latin typeface="Consolas"/>
              </a:rPr>
              <a:t>no</a:t>
            </a:r>
            <a:r>
              <a:rPr sz="1600" i="0">
                <a:solidFill>
                  <a:srgbClr val="7DCEA0"/>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7DCEA0"/>
                </a:solidFill>
                <a:latin typeface="Consolas"/>
              </a:rPr>
              <a:t>"</a:t>
            </a:r>
            <a:r>
              <a:rPr sz="1600" i="0">
                <a:solidFill>
                  <a:srgbClr val="7DCEA0"/>
                </a:solidFill>
                <a:latin typeface="Consolas"/>
              </a:rPr>
              <a:t>sla_hours_left</a:t>
            </a:r>
            <a:r>
              <a:rPr sz="1600" i="0">
                <a:solidFill>
                  <a:srgbClr val="7DCEA0"/>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7DCEA0"/>
                </a:solidFill>
                <a:latin typeface="Consolas"/>
              </a:rPr>
              <a:t>"</a:t>
            </a:r>
            <a:r>
              <a:rPr sz="1600" i="0">
                <a:solidFill>
                  <a:srgbClr val="7DCEA0"/>
                </a:solidFill>
                <a:latin typeface="Consolas"/>
              </a:rPr>
              <a:t>over2</a:t>
            </a:r>
            <a:r>
              <a:rPr sz="1600" i="0">
                <a:solidFill>
                  <a:srgbClr val="7DCEA0"/>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7DCEA0"/>
                </a:solidFill>
                <a:latin typeface="Consolas"/>
              </a:rPr>
              <a:t>"</a:t>
            </a:r>
            <a:r>
              <a:rPr sz="1600" i="0">
                <a:solidFill>
                  <a:srgbClr val="7DCEA0"/>
                </a:solidFill>
                <a:latin typeface="Consolas"/>
              </a:rPr>
              <a:t>owner_available</a:t>
            </a:r>
            <a:r>
              <a:rPr sz="1600" i="0">
                <a:solidFill>
                  <a:srgbClr val="7DCEA0"/>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7DCEA0"/>
                </a:solidFill>
                <a:latin typeface="Consolas"/>
              </a:rPr>
              <a:t>"</a:t>
            </a:r>
            <a:r>
              <a:rPr sz="1600" i="0">
                <a:solidFill>
                  <a:srgbClr val="7DCEA0"/>
                </a:solidFill>
                <a:latin typeface="Consolas"/>
              </a:rPr>
              <a:t>no</a:t>
            </a:r>
            <a:r>
              <a:rPr sz="1600" i="0">
                <a:solidFill>
                  <a:srgbClr val="7DCEA0"/>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7DCEA0"/>
                </a:solidFill>
                <a:latin typeface="Consolas"/>
              </a:rPr>
              <a:t>"</a:t>
            </a:r>
            <a:r>
              <a:rPr sz="1600" i="0">
                <a:solidFill>
                  <a:srgbClr val="7DCEA0"/>
                </a:solidFill>
                <a:latin typeface="Consolas"/>
              </a:rPr>
              <a:t>wake_budget</a:t>
            </a:r>
            <a:r>
              <a:rPr sz="1600" i="0">
                <a:solidFill>
                  <a:srgbClr val="7DCEA0"/>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7DCEA0"/>
                </a:solidFill>
                <a:latin typeface="Consolas"/>
              </a:rPr>
              <a:t>"</a:t>
            </a:r>
            <a:r>
              <a:rPr sz="1600" i="0">
                <a:solidFill>
                  <a:srgbClr val="7DCEA0"/>
                </a:solidFill>
                <a:latin typeface="Consolas"/>
              </a:rPr>
              <a:t>spent</a:t>
            </a:r>
            <a:r>
              <a:rPr sz="1600" i="0">
                <a:solidFill>
                  <a:srgbClr val="7DCEA0"/>
                </a:solidFill>
                <a:latin typeface="Consolas"/>
              </a:rPr>
              <a:t>"</a:t>
            </a:r>
            <a:r>
              <a:rPr sz="1600" i="0">
                <a:solidFill>
                  <a:srgbClr val="AEB6BF"/>
                </a:solidFill>
                <a:latin typeface="Consolas"/>
              </a:rPr>
              <a:t>}</a:t>
            </a:r>
            <a:r>
              <a:rPr sz="1600" i="0">
                <a:solidFill>
                  <a:srgbClr val="AEB6BF"/>
                </a:solidFill>
                <a:latin typeface="Consolas"/>
              </a:rPr>
              <a:t>,</a:t>
            </a:r>
          </a:p>
          <a:p>
            <a:pPr>
              <a:lnSpc>
                <a:spcPct val="100000"/>
              </a:lnSpc>
              <a:spcAft>
                <a:spcPts val="0"/>
              </a:spcAft>
            </a:pPr>
            <a:r>
              <a:rPr sz="1600" i="0">
                <a:solidFill>
                  <a:srgbClr val="AEB6BF"/>
                </a:solidFill>
                <a:latin typeface="Consolas"/>
              </a:rPr>
              <a:t>}</a:t>
            </a:r>
          </a:p>
        </p:txBody>
      </p:sp>
      <p:sp>
        <p:nvSpPr>
          <p:cNvPr id="15" name="!!code-num"/>
          <p:cNvSpPr txBox="1"/>
          <p:nvPr/>
        </p:nvSpPr>
        <p:spPr>
          <a:xfrm>
            <a:off x="768096" y="2523744"/>
            <a:ext cx="393192" cy="3523487"/>
          </a:xfrm>
          <a:prstGeom prst="rect">
            <a:avLst/>
          </a:prstGeom>
          <a:noFill/>
        </p:spPr>
        <p:txBody>
          <a:bodyPr wrap="none" anchor="t" lIns="0" rIns="0" tIns="0" bIns="0">
            <a:noAutofit/>
          </a:bodyPr>
          <a:lstStyle/>
          <a:p>
            <a:pPr algn="r">
              <a:lnSpc>
                <a:spcPct val="100000"/>
              </a:lnSpc>
            </a:pPr>
            <a:r>
              <a:rPr sz="1600">
                <a:solidFill>
                  <a:srgbClr val="4F5D6A"/>
                </a:solidFill>
                <a:latin typeface="Consolas"/>
              </a:rPr>
              <a:t>51</a:t>
            </a:r>
          </a:p>
          <a:p>
            <a:pPr algn="r">
              <a:lnSpc>
                <a:spcPct val="100000"/>
              </a:lnSpc>
            </a:pPr>
            <a:r>
              <a:rPr sz="1600">
                <a:solidFill>
                  <a:srgbClr val="4F5D6A"/>
                </a:solidFill>
                <a:latin typeface="Consolas"/>
              </a:rPr>
              <a:t>52</a:t>
            </a:r>
          </a:p>
          <a:p>
            <a:pPr algn="r">
              <a:lnSpc>
                <a:spcPct val="100000"/>
              </a:lnSpc>
            </a:pPr>
            <a:r>
              <a:rPr sz="1600">
                <a:solidFill>
                  <a:srgbClr val="4F5D6A"/>
                </a:solidFill>
                <a:latin typeface="Consolas"/>
              </a:rPr>
              <a:t>53</a:t>
            </a:r>
          </a:p>
          <a:p>
            <a:pPr algn="r">
              <a:lnSpc>
                <a:spcPct val="100000"/>
              </a:lnSpc>
            </a:pPr>
            <a:r>
              <a:rPr sz="1600">
                <a:solidFill>
                  <a:srgbClr val="4F5D6A"/>
                </a:solidFill>
                <a:latin typeface="Consolas"/>
              </a:rPr>
              <a:t>54</a:t>
            </a:r>
          </a:p>
          <a:p>
            <a:pPr algn="r">
              <a:lnSpc>
                <a:spcPct val="100000"/>
              </a:lnSpc>
            </a:pPr>
            <a:r>
              <a:rPr sz="1600">
                <a:solidFill>
                  <a:srgbClr val="4F5D6A"/>
                </a:solidFill>
                <a:latin typeface="Consolas"/>
              </a:rPr>
              <a:t>55</a:t>
            </a:r>
          </a:p>
          <a:p>
            <a:pPr algn="r">
              <a:lnSpc>
                <a:spcPct val="100000"/>
              </a:lnSpc>
            </a:pPr>
            <a:r>
              <a:rPr sz="1600">
                <a:solidFill>
                  <a:srgbClr val="4F5D6A"/>
                </a:solidFill>
                <a:latin typeface="Consolas"/>
              </a:rPr>
              <a:t>56</a:t>
            </a:r>
          </a:p>
          <a:p>
            <a:pPr algn="r">
              <a:lnSpc>
                <a:spcPct val="100000"/>
              </a:lnSpc>
            </a:pPr>
            <a:r>
              <a:rPr sz="1600">
                <a:solidFill>
                  <a:srgbClr val="4F5D6A"/>
                </a:solidFill>
                <a:latin typeface="Consolas"/>
              </a:rPr>
              <a:t>57</a:t>
            </a:r>
          </a:p>
          <a:p>
            <a:pPr algn="r">
              <a:lnSpc>
                <a:spcPct val="100000"/>
              </a:lnSpc>
            </a:pPr>
            <a:r>
              <a:rPr sz="1600">
                <a:solidFill>
                  <a:srgbClr val="4F5D6A"/>
                </a:solidFill>
                <a:latin typeface="Consolas"/>
              </a:rPr>
              <a:t>58</a:t>
            </a:r>
          </a:p>
          <a:p>
            <a:pPr algn="r">
              <a:lnSpc>
                <a:spcPct val="100000"/>
              </a:lnSpc>
            </a:pPr>
            <a:r>
              <a:rPr sz="1600">
                <a:solidFill>
                  <a:srgbClr val="4F5D6A"/>
                </a:solidFill>
                <a:latin typeface="Consolas"/>
              </a:rPr>
              <a:t>59</a:t>
            </a:r>
          </a:p>
          <a:p>
            <a:pPr algn="r">
              <a:lnSpc>
                <a:spcPct val="100000"/>
              </a:lnSpc>
            </a:pPr>
            <a:r>
              <a:rPr sz="1600">
                <a:solidFill>
                  <a:srgbClr val="4F5D6A"/>
                </a:solidFill>
                <a:latin typeface="Consolas"/>
              </a:rPr>
              <a:t>60</a:t>
            </a:r>
          </a:p>
          <a:p>
            <a:pPr algn="r">
              <a:lnSpc>
                <a:spcPct val="100000"/>
              </a:lnSpc>
            </a:pPr>
            <a:r>
              <a:rPr sz="1600">
                <a:solidFill>
                  <a:srgbClr val="4F5D6A"/>
                </a:solidFill>
                <a:latin typeface="Consolas"/>
              </a:rPr>
              <a:t>61</a:t>
            </a:r>
          </a:p>
          <a:p>
            <a:pPr algn="r">
              <a:lnSpc>
                <a:spcPct val="100000"/>
              </a:lnSpc>
            </a:pPr>
            <a:r>
              <a:rPr sz="1600">
                <a:solidFill>
                  <a:srgbClr val="4F5D6A"/>
                </a:solidFill>
                <a:latin typeface="Consolas"/>
              </a:rPr>
              <a:t>62</a:t>
            </a:r>
          </a:p>
          <a:p>
            <a:pPr algn="r">
              <a:lnSpc>
                <a:spcPct val="100000"/>
              </a:lnSpc>
            </a:pPr>
            <a:r>
              <a:rPr sz="1600">
                <a:solidFill>
                  <a:srgbClr val="4F5D6A"/>
                </a:solidFill>
                <a:latin typeface="Consolas"/>
              </a:rPr>
              <a:t>63</a:t>
            </a:r>
          </a:p>
          <a:p>
            <a:pPr algn="r">
              <a:lnSpc>
                <a:spcPct val="100000"/>
              </a:lnSpc>
            </a:pPr>
            <a:r>
              <a:rPr sz="1600">
                <a:solidFill>
                  <a:srgbClr val="4F5D6A"/>
                </a:solidFill>
                <a:latin typeface="Consolas"/>
              </a:rPr>
              <a:t>64</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5579250"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Twenty-Rule Escalation Shell That Explains Itself</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5 OF 21</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13  ·  Rule-Based Expert Systems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§13.6  ·  Handout p. 136     </a:t>
            </a:r>
            <a:fld id="{3E1093CD-B259-4D12-A862-33AFCFAF0048}" type="slidenum">
              <a:rPr lang="en-GB" sz="1000">
                <a:solidFill>
                  <a:srgbClr val="8795A1"/>
                </a:solidFill>
                <a:latin typeface="Segoe UI"/>
              </a:rPr>
              <a:t>28</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Set-up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169664"/>
          </a:xfrm>
          <a:prstGeom prst="roundRect">
            <a:avLst>
              <a:gd name="adj" fmla="val 219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code/ch13_twenty_rule_escalation.py</a:t>
            </a:r>
          </a:p>
        </p:txBody>
      </p:sp>
      <p:sp>
        <p:nvSpPr>
          <p:cNvPr id="14" name="!!code-text" descr="class Trace: def __init__(self): self.fired = [] self.tests = 0 self.cycles = 0 def matches(rule, wm, t): for (attr, val) in rule[1]: t.tests += 1 if wm.get(attr) != val: return False return True"/>
          <p:cNvSpPr txBox="1"/>
          <p:nvPr/>
        </p:nvSpPr>
        <p:spPr>
          <a:xfrm>
            <a:off x="1362456" y="2523744"/>
            <a:ext cx="9987991" cy="3675888"/>
          </a:xfrm>
          <a:prstGeom prst="rect">
            <a:avLst/>
          </a:prstGeom>
          <a:noFill/>
        </p:spPr>
        <p:txBody>
          <a:bodyPr wrap="none" anchor="t" lIns="0" rIns="0" tIns="0" bIns="0">
            <a:noAutofit/>
          </a:bodyPr>
          <a:lstStyle/>
          <a:p>
            <a:pPr>
              <a:lnSpc>
                <a:spcPct val="100000"/>
              </a:lnSpc>
              <a:spcAft>
                <a:spcPts val="0"/>
              </a:spcAft>
            </a:pPr>
            <a:r>
              <a:rPr sz="1800" i="0">
                <a:solidFill>
                  <a:srgbClr val="5DADE2"/>
                </a:solidFill>
                <a:latin typeface="Consolas"/>
              </a:rPr>
              <a:t>class</a:t>
            </a:r>
            <a:r>
              <a:rPr sz="1800" i="0">
                <a:solidFill>
                  <a:srgbClr val="E8EDF2"/>
                </a:solidFill>
                <a:latin typeface="Consolas"/>
              </a:rPr>
              <a:t> </a:t>
            </a:r>
            <a:r>
              <a:rPr sz="1800" i="0">
                <a:solidFill>
                  <a:srgbClr val="76D7C4"/>
                </a:solidFill>
                <a:latin typeface="Consolas"/>
              </a:rPr>
              <a:t>Trace</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5DADE2"/>
                </a:solidFill>
                <a:latin typeface="Consolas"/>
              </a:rPr>
              <a:t>def</a:t>
            </a:r>
            <a:r>
              <a:rPr sz="1800" i="0">
                <a:solidFill>
                  <a:srgbClr val="E8EDF2"/>
                </a:solidFill>
                <a:latin typeface="Consolas"/>
              </a:rPr>
              <a:t> </a:t>
            </a:r>
            <a:r>
              <a:rPr sz="1800" i="0">
                <a:solidFill>
                  <a:srgbClr val="C39BD3"/>
                </a:solidFill>
                <a:latin typeface="Consolas"/>
              </a:rPr>
              <a:t>__init__</a:t>
            </a:r>
            <a:r>
              <a:rPr sz="1800" i="0">
                <a:solidFill>
                  <a:srgbClr val="AEB6BF"/>
                </a:solidFill>
                <a:latin typeface="Consolas"/>
              </a:rPr>
              <a:t>(</a:t>
            </a:r>
            <a:r>
              <a:rPr sz="1800" i="0">
                <a:solidFill>
                  <a:srgbClr val="C39BD3"/>
                </a:solidFill>
                <a:latin typeface="Consolas"/>
              </a:rPr>
              <a:t>self</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C39BD3"/>
                </a:solidFill>
                <a:latin typeface="Consolas"/>
              </a:rPr>
              <a:t>self</a:t>
            </a:r>
            <a:r>
              <a:rPr sz="1800" i="0">
                <a:solidFill>
                  <a:srgbClr val="AEB6BF"/>
                </a:solidFill>
                <a:latin typeface="Consolas"/>
              </a:rPr>
              <a:t>.</a:t>
            </a:r>
            <a:r>
              <a:rPr sz="1800" i="0">
                <a:solidFill>
                  <a:srgbClr val="E8EDF2"/>
                </a:solidFill>
                <a:latin typeface="Consolas"/>
              </a:rPr>
              <a:t>fired</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C39BD3"/>
                </a:solidFill>
                <a:latin typeface="Consolas"/>
              </a:rPr>
              <a:t>self</a:t>
            </a:r>
            <a:r>
              <a:rPr sz="1800" i="0">
                <a:solidFill>
                  <a:srgbClr val="AEB6BF"/>
                </a:solidFill>
                <a:latin typeface="Consolas"/>
              </a:rPr>
              <a:t>.</a:t>
            </a:r>
            <a:r>
              <a:rPr sz="1800" i="0">
                <a:solidFill>
                  <a:srgbClr val="E8EDF2"/>
                </a:solidFill>
                <a:latin typeface="Consolas"/>
              </a:rPr>
              <a:t>tests</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0</a:t>
            </a:r>
          </a:p>
          <a:p>
            <a:pPr>
              <a:lnSpc>
                <a:spcPct val="100000"/>
              </a:lnSpc>
              <a:spcAft>
                <a:spcPts val="0"/>
              </a:spcAft>
            </a:pPr>
            <a:r>
              <a:rPr sz="1800" i="0">
                <a:solidFill>
                  <a:srgbClr val="E8EDF2"/>
                </a:solidFill>
                <a:latin typeface="Consolas"/>
              </a:rPr>
              <a:t>        </a:t>
            </a:r>
            <a:r>
              <a:rPr sz="1800" i="0">
                <a:solidFill>
                  <a:srgbClr val="C39BD3"/>
                </a:solidFill>
                <a:latin typeface="Consolas"/>
              </a:rPr>
              <a:t>self</a:t>
            </a:r>
            <a:r>
              <a:rPr sz="1800" i="0">
                <a:solidFill>
                  <a:srgbClr val="AEB6BF"/>
                </a:solidFill>
                <a:latin typeface="Consolas"/>
              </a:rPr>
              <a:t>.</a:t>
            </a:r>
            <a:r>
              <a:rPr sz="1800" i="0">
                <a:solidFill>
                  <a:srgbClr val="E8EDF2"/>
                </a:solidFill>
                <a:latin typeface="Consolas"/>
              </a:rPr>
              <a:t>cycles</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0</a:t>
            </a:r>
          </a:p>
          <a:p>
            <a:pPr>
              <a:lnSpc>
                <a:spcPct val="100000"/>
              </a:lnSpc>
              <a:spcAft>
                <a:spcPts val="0"/>
              </a:spcAft>
            </a:pPr>
            <a:r>
              <a:rPr sz="1800">
                <a:latin typeface="Consolas"/>
              </a:rPr>
              <a:t> </a:t>
            </a:r>
          </a:p>
          <a:p>
            <a:pPr>
              <a:lnSpc>
                <a:spcPct val="100000"/>
              </a:lnSpc>
              <a:spcAft>
                <a:spcPts val="0"/>
              </a:spcAft>
            </a:pPr>
            <a:r>
              <a:rPr sz="1800">
                <a:latin typeface="Consolas"/>
              </a:rPr>
              <a:t> </a:t>
            </a:r>
          </a:p>
          <a:p>
            <a:pPr>
              <a:lnSpc>
                <a:spcPct val="100000"/>
              </a:lnSpc>
              <a:spcAft>
                <a:spcPts val="0"/>
              </a:spcAft>
            </a:pPr>
            <a:r>
              <a:rPr sz="1800" i="0">
                <a:solidFill>
                  <a:srgbClr val="5DADE2"/>
                </a:solidFill>
                <a:latin typeface="Consolas"/>
              </a:rPr>
              <a:t>def</a:t>
            </a:r>
            <a:r>
              <a:rPr sz="1800" i="0">
                <a:solidFill>
                  <a:srgbClr val="E8EDF2"/>
                </a:solidFill>
                <a:latin typeface="Consolas"/>
              </a:rPr>
              <a:t> </a:t>
            </a:r>
            <a:r>
              <a:rPr sz="1800" i="0">
                <a:solidFill>
                  <a:srgbClr val="C39BD3"/>
                </a:solidFill>
                <a:latin typeface="Consolas"/>
              </a:rPr>
              <a:t>matches</a:t>
            </a:r>
            <a:r>
              <a:rPr sz="1800" i="0">
                <a:solidFill>
                  <a:srgbClr val="AEB6BF"/>
                </a:solidFill>
                <a:latin typeface="Consolas"/>
              </a:rPr>
              <a:t>(</a:t>
            </a:r>
            <a:r>
              <a:rPr sz="1800" i="0">
                <a:solidFill>
                  <a:srgbClr val="E8EDF2"/>
                </a:solidFill>
                <a:latin typeface="Consolas"/>
              </a:rPr>
              <a:t>rule</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wm</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t</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5DADE2"/>
                </a:solidFill>
                <a:latin typeface="Consolas"/>
              </a:rPr>
              <a:t>for</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attr</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val</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in</a:t>
            </a:r>
            <a:r>
              <a:rPr sz="1800" i="0">
                <a:solidFill>
                  <a:srgbClr val="E8EDF2"/>
                </a:solidFill>
                <a:latin typeface="Consolas"/>
              </a:rPr>
              <a:t> </a:t>
            </a:r>
            <a:r>
              <a:rPr sz="1800" i="0">
                <a:solidFill>
                  <a:srgbClr val="E8EDF2"/>
                </a:solidFill>
                <a:latin typeface="Consolas"/>
              </a:rPr>
              <a:t>rule</a:t>
            </a:r>
            <a:r>
              <a:rPr sz="1800" i="0">
                <a:solidFill>
                  <a:srgbClr val="AEB6BF"/>
                </a:solidFill>
                <a:latin typeface="Consolas"/>
              </a:rPr>
              <a:t>[</a:t>
            </a:r>
            <a:r>
              <a:rPr sz="1800" i="0">
                <a:solidFill>
                  <a:srgbClr val="F7DC6F"/>
                </a:solidFill>
                <a:latin typeface="Consolas"/>
              </a:rPr>
              <a:t>1</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t</a:t>
            </a:r>
            <a:r>
              <a:rPr sz="1800" i="0">
                <a:solidFill>
                  <a:srgbClr val="AEB6BF"/>
                </a:solidFill>
                <a:latin typeface="Consolas"/>
              </a:rPr>
              <a:t>.</a:t>
            </a:r>
            <a:r>
              <a:rPr sz="1800" i="0">
                <a:solidFill>
                  <a:srgbClr val="E8EDF2"/>
                </a:solidFill>
                <a:latin typeface="Consolas"/>
              </a:rPr>
              <a:t>tests</a:t>
            </a:r>
            <a:r>
              <a:rPr sz="1800" i="0">
                <a:solidFill>
                  <a:srgbClr val="E8EDF2"/>
                </a:solidFill>
                <a:latin typeface="Consolas"/>
              </a:rPr>
              <a:t> </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1</a:t>
            </a:r>
          </a:p>
          <a:p>
            <a:pPr>
              <a:lnSpc>
                <a:spcPct val="100000"/>
              </a:lnSpc>
              <a:spcAft>
                <a:spcPts val="0"/>
              </a:spcAft>
            </a:pPr>
            <a:r>
              <a:rPr sz="1800" i="0">
                <a:solidFill>
                  <a:srgbClr val="E8EDF2"/>
                </a:solidFill>
                <a:latin typeface="Consolas"/>
              </a:rPr>
              <a:t>        </a:t>
            </a:r>
            <a:r>
              <a:rPr sz="1800" i="0">
                <a:solidFill>
                  <a:srgbClr val="5DADE2"/>
                </a:solidFill>
                <a:latin typeface="Consolas"/>
              </a:rPr>
              <a:t>if</a:t>
            </a:r>
            <a:r>
              <a:rPr sz="1800" i="0">
                <a:solidFill>
                  <a:srgbClr val="E8EDF2"/>
                </a:solidFill>
                <a:latin typeface="Consolas"/>
              </a:rPr>
              <a:t> </a:t>
            </a:r>
            <a:r>
              <a:rPr sz="1800" i="0">
                <a:solidFill>
                  <a:srgbClr val="E8EDF2"/>
                </a:solidFill>
                <a:latin typeface="Consolas"/>
              </a:rPr>
              <a:t>wm</a:t>
            </a:r>
            <a:r>
              <a:rPr sz="1800" i="0">
                <a:solidFill>
                  <a:srgbClr val="AEB6BF"/>
                </a:solidFill>
                <a:latin typeface="Consolas"/>
              </a:rPr>
              <a:t>.</a:t>
            </a:r>
            <a:r>
              <a:rPr sz="1800" i="0">
                <a:solidFill>
                  <a:srgbClr val="E8EDF2"/>
                </a:solidFill>
                <a:latin typeface="Consolas"/>
              </a:rPr>
              <a:t>get</a:t>
            </a:r>
            <a:r>
              <a:rPr sz="1800" i="0">
                <a:solidFill>
                  <a:srgbClr val="AEB6BF"/>
                </a:solidFill>
                <a:latin typeface="Consolas"/>
              </a:rPr>
              <a:t>(</a:t>
            </a:r>
            <a:r>
              <a:rPr sz="1800" i="0">
                <a:solidFill>
                  <a:srgbClr val="E8EDF2"/>
                </a:solidFill>
                <a:latin typeface="Consolas"/>
              </a:rPr>
              <a:t>attr</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val</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5DADE2"/>
                </a:solidFill>
                <a:latin typeface="Consolas"/>
              </a:rPr>
              <a:t>return</a:t>
            </a:r>
            <a:r>
              <a:rPr sz="1800" i="0">
                <a:solidFill>
                  <a:srgbClr val="E8EDF2"/>
                </a:solidFill>
                <a:latin typeface="Consolas"/>
              </a:rPr>
              <a:t> </a:t>
            </a:r>
            <a:r>
              <a:rPr sz="1800" i="0">
                <a:solidFill>
                  <a:srgbClr val="5DADE2"/>
                </a:solidFill>
                <a:latin typeface="Consolas"/>
              </a:rPr>
              <a:t>False</a:t>
            </a:r>
          </a:p>
          <a:p>
            <a:pPr>
              <a:lnSpc>
                <a:spcPct val="100000"/>
              </a:lnSpc>
              <a:spcAft>
                <a:spcPts val="0"/>
              </a:spcAft>
            </a:pPr>
            <a:r>
              <a:rPr sz="1800" i="0">
                <a:solidFill>
                  <a:srgbClr val="E8EDF2"/>
                </a:solidFill>
                <a:latin typeface="Consolas"/>
              </a:rPr>
              <a:t>    </a:t>
            </a:r>
            <a:r>
              <a:rPr sz="1800" i="0">
                <a:solidFill>
                  <a:srgbClr val="5DADE2"/>
                </a:solidFill>
                <a:latin typeface="Consolas"/>
              </a:rPr>
              <a:t>return</a:t>
            </a:r>
            <a:r>
              <a:rPr sz="1800" i="0">
                <a:solidFill>
                  <a:srgbClr val="E8EDF2"/>
                </a:solidFill>
                <a:latin typeface="Consolas"/>
              </a:rPr>
              <a:t> </a:t>
            </a:r>
            <a:r>
              <a:rPr sz="1800" i="0">
                <a:solidFill>
                  <a:srgbClr val="5DADE2"/>
                </a:solidFill>
                <a:latin typeface="Consolas"/>
              </a:rPr>
              <a:t>True</a:t>
            </a:r>
          </a:p>
        </p:txBody>
      </p:sp>
      <p:sp>
        <p:nvSpPr>
          <p:cNvPr id="15" name="!!code-num"/>
          <p:cNvSpPr txBox="1"/>
          <p:nvPr/>
        </p:nvSpPr>
        <p:spPr>
          <a:xfrm>
            <a:off x="768096" y="2523744"/>
            <a:ext cx="393192" cy="3675888"/>
          </a:xfrm>
          <a:prstGeom prst="rect">
            <a:avLst/>
          </a:prstGeom>
          <a:noFill/>
        </p:spPr>
        <p:txBody>
          <a:bodyPr wrap="none" anchor="t" lIns="0" rIns="0" tIns="0" bIns="0">
            <a:noAutofit/>
          </a:bodyPr>
          <a:lstStyle/>
          <a:p>
            <a:pPr algn="r">
              <a:lnSpc>
                <a:spcPct val="100000"/>
              </a:lnSpc>
            </a:pPr>
            <a:r>
              <a:rPr sz="1800">
                <a:solidFill>
                  <a:srgbClr val="4F5D6A"/>
                </a:solidFill>
                <a:latin typeface="Consolas"/>
              </a:rPr>
              <a:t>67</a:t>
            </a:r>
          </a:p>
          <a:p>
            <a:pPr algn="r">
              <a:lnSpc>
                <a:spcPct val="100000"/>
              </a:lnSpc>
            </a:pPr>
            <a:r>
              <a:rPr sz="1800">
                <a:solidFill>
                  <a:srgbClr val="4F5D6A"/>
                </a:solidFill>
                <a:latin typeface="Consolas"/>
              </a:rPr>
              <a:t>68</a:t>
            </a:r>
          </a:p>
          <a:p>
            <a:pPr algn="r">
              <a:lnSpc>
                <a:spcPct val="100000"/>
              </a:lnSpc>
            </a:pPr>
            <a:r>
              <a:rPr sz="1800">
                <a:solidFill>
                  <a:srgbClr val="4F5D6A"/>
                </a:solidFill>
                <a:latin typeface="Consolas"/>
              </a:rPr>
              <a:t>69</a:t>
            </a:r>
          </a:p>
          <a:p>
            <a:pPr algn="r">
              <a:lnSpc>
                <a:spcPct val="100000"/>
              </a:lnSpc>
            </a:pPr>
            <a:r>
              <a:rPr sz="1800">
                <a:solidFill>
                  <a:srgbClr val="4F5D6A"/>
                </a:solidFill>
                <a:latin typeface="Consolas"/>
              </a:rPr>
              <a:t>70</a:t>
            </a:r>
          </a:p>
          <a:p>
            <a:pPr algn="r">
              <a:lnSpc>
                <a:spcPct val="100000"/>
              </a:lnSpc>
            </a:pPr>
            <a:r>
              <a:rPr sz="1800">
                <a:solidFill>
                  <a:srgbClr val="4F5D6A"/>
                </a:solidFill>
                <a:latin typeface="Consolas"/>
              </a:rPr>
              <a:t>71</a:t>
            </a:r>
          </a:p>
          <a:p>
            <a:pPr algn="r">
              <a:lnSpc>
                <a:spcPct val="100000"/>
              </a:lnSpc>
            </a:pPr>
            <a:r>
              <a:rPr sz="1800">
                <a:solidFill>
                  <a:srgbClr val="4F5D6A"/>
                </a:solidFill>
                <a:latin typeface="Consolas"/>
              </a:rPr>
              <a:t>72</a:t>
            </a:r>
          </a:p>
          <a:p>
            <a:pPr algn="r">
              <a:lnSpc>
                <a:spcPct val="100000"/>
              </a:lnSpc>
            </a:pPr>
            <a:r>
              <a:rPr sz="1800">
                <a:solidFill>
                  <a:srgbClr val="4F5D6A"/>
                </a:solidFill>
                <a:latin typeface="Consolas"/>
              </a:rPr>
              <a:t>73</a:t>
            </a:r>
          </a:p>
          <a:p>
            <a:pPr algn="r">
              <a:lnSpc>
                <a:spcPct val="100000"/>
              </a:lnSpc>
            </a:pPr>
            <a:r>
              <a:rPr sz="1800">
                <a:solidFill>
                  <a:srgbClr val="4F5D6A"/>
                </a:solidFill>
                <a:latin typeface="Consolas"/>
              </a:rPr>
              <a:t>74</a:t>
            </a:r>
          </a:p>
          <a:p>
            <a:pPr algn="r">
              <a:lnSpc>
                <a:spcPct val="100000"/>
              </a:lnSpc>
            </a:pPr>
            <a:r>
              <a:rPr sz="1800">
                <a:solidFill>
                  <a:srgbClr val="4F5D6A"/>
                </a:solidFill>
                <a:latin typeface="Consolas"/>
              </a:rPr>
              <a:t>75</a:t>
            </a:r>
          </a:p>
          <a:p>
            <a:pPr algn="r">
              <a:lnSpc>
                <a:spcPct val="100000"/>
              </a:lnSpc>
            </a:pPr>
            <a:r>
              <a:rPr sz="1800">
                <a:solidFill>
                  <a:srgbClr val="4F5D6A"/>
                </a:solidFill>
                <a:latin typeface="Consolas"/>
              </a:rPr>
              <a:t>76</a:t>
            </a:r>
          </a:p>
          <a:p>
            <a:pPr algn="r">
              <a:lnSpc>
                <a:spcPct val="100000"/>
              </a:lnSpc>
            </a:pPr>
            <a:r>
              <a:rPr sz="1800">
                <a:solidFill>
                  <a:srgbClr val="4F5D6A"/>
                </a:solidFill>
                <a:latin typeface="Consolas"/>
              </a:rPr>
              <a:t>77</a:t>
            </a:r>
          </a:p>
          <a:p>
            <a:pPr algn="r">
              <a:lnSpc>
                <a:spcPct val="100000"/>
              </a:lnSpc>
            </a:pPr>
            <a:r>
              <a:rPr sz="1800">
                <a:solidFill>
                  <a:srgbClr val="4F5D6A"/>
                </a:solidFill>
                <a:latin typeface="Consolas"/>
              </a:rPr>
              <a:t>78</a:t>
            </a:r>
          </a:p>
          <a:p>
            <a:pPr algn="r">
              <a:lnSpc>
                <a:spcPct val="100000"/>
              </a:lnSpc>
            </a:pPr>
            <a:r>
              <a:rPr sz="1800">
                <a:solidFill>
                  <a:srgbClr val="4F5D6A"/>
                </a:solidFill>
                <a:latin typeface="Consolas"/>
              </a:rPr>
              <a:t>79</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5785889"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Twenty-Rule Escalation Shell That Explains Itself</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6 OF 21</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13  ·  Rule-Based Expert Systems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§13.6  ·  Handout p. 136     </a:t>
            </a:r>
            <a:fld id="{51AFBE2F-B555-480A-87B5-5A4249AC8FF4}" type="slidenum">
              <a:rPr lang="en-GB" sz="1000">
                <a:solidFill>
                  <a:srgbClr val="8795A1"/>
                </a:solidFill>
                <a:latin typeface="Segoe UI"/>
              </a:rPr>
              <a:t>29</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Set-up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2127504"/>
          </a:xfrm>
          <a:prstGeom prst="roundRect">
            <a:avLst>
              <a:gd name="adj" fmla="val 4297"/>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code/ch13_twenty_rule_escalation.py</a:t>
            </a:r>
          </a:p>
        </p:txBody>
      </p:sp>
      <p:sp>
        <p:nvSpPr>
          <p:cNvPr id="14" name="!!code-text" descr="def forward_chain(facts, resolve=&quot;specificity&quot;, rules=None): &quot;&quot;&quot;Match, resolve, act -- until nothing new follows. The 'fired' set is REFRACTION: without it the engine re-fires the same rule on the same facts forever."/>
          <p:cNvSpPr txBox="1"/>
          <p:nvPr/>
        </p:nvSpPr>
        <p:spPr>
          <a:xfrm>
            <a:off x="1362456" y="2523744"/>
            <a:ext cx="9987991" cy="1633728"/>
          </a:xfrm>
          <a:prstGeom prst="rect">
            <a:avLst/>
          </a:prstGeom>
          <a:noFill/>
        </p:spPr>
        <p:txBody>
          <a:bodyPr wrap="none" anchor="t" lIns="0" rIns="0" tIns="0" bIns="0">
            <a:noAutofit/>
          </a:bodyPr>
          <a:lstStyle/>
          <a:p>
            <a:pPr>
              <a:lnSpc>
                <a:spcPct val="100000"/>
              </a:lnSpc>
              <a:spcAft>
                <a:spcPts val="0"/>
              </a:spcAft>
            </a:pPr>
            <a:r>
              <a:rPr sz="2000" i="0">
                <a:solidFill>
                  <a:srgbClr val="5DADE2"/>
                </a:solidFill>
                <a:latin typeface="Consolas"/>
              </a:rPr>
              <a:t>def</a:t>
            </a:r>
            <a:r>
              <a:rPr sz="2000" i="0">
                <a:solidFill>
                  <a:srgbClr val="E8EDF2"/>
                </a:solidFill>
                <a:latin typeface="Consolas"/>
              </a:rPr>
              <a:t> </a:t>
            </a:r>
            <a:r>
              <a:rPr sz="2000" i="0">
                <a:solidFill>
                  <a:srgbClr val="C39BD3"/>
                </a:solidFill>
                <a:latin typeface="Consolas"/>
              </a:rPr>
              <a:t>forward_chain</a:t>
            </a:r>
            <a:r>
              <a:rPr sz="2000" i="0">
                <a:solidFill>
                  <a:srgbClr val="AEB6BF"/>
                </a:solidFill>
                <a:latin typeface="Consolas"/>
              </a:rPr>
              <a:t>(</a:t>
            </a:r>
            <a:r>
              <a:rPr sz="2000" i="0">
                <a:solidFill>
                  <a:srgbClr val="E8EDF2"/>
                </a:solidFill>
                <a:latin typeface="Consolas"/>
              </a:rPr>
              <a:t>facts</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resolve</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specificity</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rules</a:t>
            </a:r>
            <a:r>
              <a:rPr sz="2000" i="0">
                <a:solidFill>
                  <a:srgbClr val="AEB6BF"/>
                </a:solidFill>
                <a:latin typeface="Consolas"/>
              </a:rPr>
              <a:t>=</a:t>
            </a:r>
            <a:r>
              <a:rPr sz="2000" i="0">
                <a:solidFill>
                  <a:srgbClr val="5DADE2"/>
                </a:solidFill>
                <a:latin typeface="Consolas"/>
              </a:rPr>
              <a:t>None</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Match, resolve, act -- until nothing new follows.</a:t>
            </a:r>
          </a:p>
          <a:p>
            <a:pPr>
              <a:lnSpc>
                <a:spcPct val="100000"/>
              </a:lnSpc>
              <a:spcAft>
                <a:spcPts val="0"/>
              </a:spcAft>
            </a:pPr>
            <a:r>
              <a:rPr sz="2000">
                <a:latin typeface="Consolas"/>
              </a:rPr>
              <a:t> </a:t>
            </a:r>
          </a:p>
          <a:p>
            <a:pPr>
              <a:lnSpc>
                <a:spcPct val="100000"/>
              </a:lnSpc>
              <a:spcAft>
                <a:spcPts val="0"/>
              </a:spcAft>
            </a:pPr>
            <a:r>
              <a:rPr sz="2000" i="0">
                <a:solidFill>
                  <a:srgbClr val="7DCEA0"/>
                </a:solidFill>
                <a:latin typeface="Consolas"/>
              </a:rPr>
              <a:t>    The </a:t>
            </a:r>
            <a:r>
              <a:rPr sz="2000" i="0">
                <a:solidFill>
                  <a:srgbClr val="7DCEA0"/>
                </a:solidFill>
                <a:latin typeface="Consolas"/>
              </a:rPr>
              <a:t>'</a:t>
            </a:r>
            <a:r>
              <a:rPr sz="2000" i="0">
                <a:solidFill>
                  <a:srgbClr val="7DCEA0"/>
                </a:solidFill>
                <a:latin typeface="Consolas"/>
              </a:rPr>
              <a:t>fired</a:t>
            </a:r>
            <a:r>
              <a:rPr sz="2000" i="0">
                <a:solidFill>
                  <a:srgbClr val="7DCEA0"/>
                </a:solidFill>
                <a:latin typeface="Consolas"/>
              </a:rPr>
              <a:t>'</a:t>
            </a:r>
            <a:r>
              <a:rPr sz="2000" i="0">
                <a:solidFill>
                  <a:srgbClr val="7DCEA0"/>
                </a:solidFill>
                <a:latin typeface="Consolas"/>
              </a:rPr>
              <a:t> set is REFRACTION: without it the engine re-fires the</a:t>
            </a:r>
          </a:p>
          <a:p>
            <a:pPr>
              <a:lnSpc>
                <a:spcPct val="100000"/>
              </a:lnSpc>
              <a:spcAft>
                <a:spcPts val="0"/>
              </a:spcAft>
            </a:pPr>
            <a:r>
              <a:rPr sz="2000" i="0">
                <a:solidFill>
                  <a:srgbClr val="7DCEA0"/>
                </a:solidFill>
                <a:latin typeface="Consolas"/>
              </a:rPr>
              <a:t>    same rule on the same facts forever.</a:t>
            </a:r>
          </a:p>
        </p:txBody>
      </p:sp>
      <p:sp>
        <p:nvSpPr>
          <p:cNvPr id="15" name="!!code-num"/>
          <p:cNvSpPr txBox="1"/>
          <p:nvPr/>
        </p:nvSpPr>
        <p:spPr>
          <a:xfrm>
            <a:off x="768096" y="2523744"/>
            <a:ext cx="393192" cy="1633728"/>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82</a:t>
            </a:r>
          </a:p>
          <a:p>
            <a:pPr algn="r">
              <a:lnSpc>
                <a:spcPct val="100000"/>
              </a:lnSpc>
            </a:pPr>
            <a:r>
              <a:rPr sz="2000">
                <a:solidFill>
                  <a:srgbClr val="4F5D6A"/>
                </a:solidFill>
                <a:latin typeface="Consolas"/>
              </a:rPr>
              <a:t>83</a:t>
            </a:r>
          </a:p>
          <a:p>
            <a:pPr algn="r">
              <a:lnSpc>
                <a:spcPct val="100000"/>
              </a:lnSpc>
            </a:pPr>
            <a:r>
              <a:rPr sz="2000">
                <a:solidFill>
                  <a:srgbClr val="4F5D6A"/>
                </a:solidFill>
                <a:latin typeface="Consolas"/>
              </a:rPr>
              <a:t>84</a:t>
            </a:r>
          </a:p>
          <a:p>
            <a:pPr algn="r">
              <a:lnSpc>
                <a:spcPct val="100000"/>
              </a:lnSpc>
            </a:pPr>
            <a:r>
              <a:rPr sz="2000">
                <a:solidFill>
                  <a:srgbClr val="4F5D6A"/>
                </a:solidFill>
                <a:latin typeface="Consolas"/>
              </a:rPr>
              <a:t>85</a:t>
            </a:r>
          </a:p>
          <a:p>
            <a:pPr algn="r">
              <a:lnSpc>
                <a:spcPct val="100000"/>
              </a:lnSpc>
            </a:pPr>
            <a:r>
              <a:rPr sz="2000">
                <a:solidFill>
                  <a:srgbClr val="4F5D6A"/>
                </a:solidFill>
                <a:latin typeface="Consolas"/>
              </a:rPr>
              <a:t>86</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5992528"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Twenty-Rule Escalation Shell That Explains Itself</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7 OF 21</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13  ·  Rule-Based Expert Systems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§13.6  ·  Handout p. 136     </a:t>
            </a:r>
            <a:fld id="{719D2B86-88FB-4C1E-867F-E2B481B81F97}" type="slidenum">
              <a:rPr lang="en-GB" sz="1000">
                <a:solidFill>
                  <a:srgbClr val="8795A1"/>
                </a:solidFill>
                <a:latin typeface="Segoe UI"/>
              </a:rPr>
              <a:t>30</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Set-up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2737104"/>
          </a:xfrm>
          <a:prstGeom prst="roundRect">
            <a:avLst>
              <a:gd name="adj" fmla="val 3340"/>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code/ch13_twenty_rule_escalation.py</a:t>
            </a:r>
          </a:p>
        </p:txBody>
      </p:sp>
      <p:sp>
        <p:nvSpPr>
          <p:cNvPr id="14" name="!!code-text" descr="'r[2][0] not in wm' means each attribute is DECIDED ONCE, by the rule conflict resolution picks. Without it a less specific rule that fires later would quietly overwrite a more specific rule's conclusion, and conflict resolution would be pointless. &quot;&quot;&quot; rules = RULES if rules is None else rules wm, t, fired = dict(facts), Trace(), set()"/>
          <p:cNvSpPr txBox="1"/>
          <p:nvPr/>
        </p:nvSpPr>
        <p:spPr>
          <a:xfrm>
            <a:off x="1362456" y="2523744"/>
            <a:ext cx="9987991" cy="2243328"/>
          </a:xfrm>
          <a:prstGeom prst="rect">
            <a:avLst/>
          </a:prstGeom>
          <a:noFill/>
        </p:spPr>
        <p:txBody>
          <a:bodyPr wrap="none" anchor="t" lIns="0" rIns="0" tIns="0" bIns="0">
            <a:noAutofit/>
          </a:bodyPr>
          <a:lstStyle/>
          <a:p>
            <a:pPr>
              <a:lnSpc>
                <a:spcPct val="100000"/>
              </a:lnSpc>
              <a:spcAft>
                <a:spcPts val="0"/>
              </a:spcAft>
            </a:pP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r[2][0] not in wm</a:t>
            </a:r>
            <a:r>
              <a:rPr sz="2000" i="0">
                <a:solidFill>
                  <a:srgbClr val="7DCEA0"/>
                </a:solidFill>
                <a:latin typeface="Consolas"/>
              </a:rPr>
              <a:t>'</a:t>
            </a:r>
            <a:r>
              <a:rPr sz="2000" i="0">
                <a:solidFill>
                  <a:srgbClr val="E8EDF2"/>
                </a:solidFill>
                <a:latin typeface="Consolas"/>
              </a:rPr>
              <a:t> </a:t>
            </a:r>
            <a:r>
              <a:rPr sz="2000" i="0">
                <a:solidFill>
                  <a:srgbClr val="E8EDF2"/>
                </a:solidFill>
                <a:latin typeface="Consolas"/>
              </a:rPr>
              <a:t>means</a:t>
            </a:r>
            <a:r>
              <a:rPr sz="2000" i="0">
                <a:solidFill>
                  <a:srgbClr val="E8EDF2"/>
                </a:solidFill>
                <a:latin typeface="Consolas"/>
              </a:rPr>
              <a:t> </a:t>
            </a:r>
            <a:r>
              <a:rPr sz="2000" i="0">
                <a:solidFill>
                  <a:srgbClr val="E8EDF2"/>
                </a:solidFill>
                <a:latin typeface="Consolas"/>
              </a:rPr>
              <a:t>each</a:t>
            </a:r>
            <a:r>
              <a:rPr sz="2000" i="0">
                <a:solidFill>
                  <a:srgbClr val="E8EDF2"/>
                </a:solidFill>
                <a:latin typeface="Consolas"/>
              </a:rPr>
              <a:t> </a:t>
            </a:r>
            <a:r>
              <a:rPr sz="2000" i="0">
                <a:solidFill>
                  <a:srgbClr val="E8EDF2"/>
                </a:solidFill>
                <a:latin typeface="Consolas"/>
              </a:rPr>
              <a:t>attribute</a:t>
            </a:r>
            <a:r>
              <a:rPr sz="2000" i="0">
                <a:solidFill>
                  <a:srgbClr val="E8EDF2"/>
                </a:solidFill>
                <a:latin typeface="Consolas"/>
              </a:rPr>
              <a:t> </a:t>
            </a:r>
            <a:r>
              <a:rPr sz="2000" i="0">
                <a:solidFill>
                  <a:srgbClr val="AEB6BF"/>
                </a:solidFill>
                <a:latin typeface="Consolas"/>
              </a:rPr>
              <a:t>is</a:t>
            </a:r>
            <a:r>
              <a:rPr sz="2000" i="0">
                <a:solidFill>
                  <a:srgbClr val="E8EDF2"/>
                </a:solidFill>
                <a:latin typeface="Consolas"/>
              </a:rPr>
              <a:t> </a:t>
            </a:r>
            <a:r>
              <a:rPr sz="2000" i="0">
                <a:solidFill>
                  <a:srgbClr val="E8EDF2"/>
                </a:solidFill>
                <a:latin typeface="Consolas"/>
              </a:rPr>
              <a:t>DECIDED</a:t>
            </a:r>
            <a:r>
              <a:rPr sz="2000" i="0">
                <a:solidFill>
                  <a:srgbClr val="E8EDF2"/>
                </a:solidFill>
                <a:latin typeface="Consolas"/>
              </a:rPr>
              <a:t> </a:t>
            </a:r>
            <a:r>
              <a:rPr sz="2000" i="0">
                <a:solidFill>
                  <a:srgbClr val="E8EDF2"/>
                </a:solidFill>
                <a:latin typeface="Consolas"/>
              </a:rPr>
              <a:t>ONCE</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by</a:t>
            </a:r>
            <a:r>
              <a:rPr sz="2000" i="0">
                <a:solidFill>
                  <a:srgbClr val="E8EDF2"/>
                </a:solidFill>
                <a:latin typeface="Consolas"/>
              </a:rPr>
              <a:t> </a:t>
            </a:r>
            <a:r>
              <a:rPr sz="2000" i="0">
                <a:solidFill>
                  <a:srgbClr val="E8EDF2"/>
                </a:solidFill>
                <a:latin typeface="Consolas"/>
              </a:rPr>
              <a:t>the</a:t>
            </a:r>
          </a:p>
          <a:p>
            <a:pPr>
              <a:lnSpc>
                <a:spcPct val="100000"/>
              </a:lnSpc>
              <a:spcAft>
                <a:spcPts val="0"/>
              </a:spcAft>
            </a:pPr>
            <a:r>
              <a:rPr sz="2000" i="0">
                <a:solidFill>
                  <a:srgbClr val="E8EDF2"/>
                </a:solidFill>
                <a:latin typeface="Consolas"/>
              </a:rPr>
              <a:t>    </a:t>
            </a:r>
            <a:r>
              <a:rPr sz="2000" i="0">
                <a:solidFill>
                  <a:srgbClr val="E8EDF2"/>
                </a:solidFill>
                <a:latin typeface="Consolas"/>
              </a:rPr>
              <a:t>rule</a:t>
            </a:r>
            <a:r>
              <a:rPr sz="2000" i="0">
                <a:solidFill>
                  <a:srgbClr val="E8EDF2"/>
                </a:solidFill>
                <a:latin typeface="Consolas"/>
              </a:rPr>
              <a:t> </a:t>
            </a:r>
            <a:r>
              <a:rPr sz="2000" i="0">
                <a:solidFill>
                  <a:srgbClr val="E8EDF2"/>
                </a:solidFill>
                <a:latin typeface="Consolas"/>
              </a:rPr>
              <a:t>conflict</a:t>
            </a:r>
            <a:r>
              <a:rPr sz="2000" i="0">
                <a:solidFill>
                  <a:srgbClr val="E8EDF2"/>
                </a:solidFill>
                <a:latin typeface="Consolas"/>
              </a:rPr>
              <a:t> </a:t>
            </a:r>
            <a:r>
              <a:rPr sz="2000" i="0">
                <a:solidFill>
                  <a:srgbClr val="E8EDF2"/>
                </a:solidFill>
                <a:latin typeface="Consolas"/>
              </a:rPr>
              <a:t>resolution</a:t>
            </a:r>
            <a:r>
              <a:rPr sz="2000" i="0">
                <a:solidFill>
                  <a:srgbClr val="E8EDF2"/>
                </a:solidFill>
                <a:latin typeface="Consolas"/>
              </a:rPr>
              <a:t> </a:t>
            </a:r>
            <a:r>
              <a:rPr sz="2000" i="0">
                <a:solidFill>
                  <a:srgbClr val="E8EDF2"/>
                </a:solidFill>
                <a:latin typeface="Consolas"/>
              </a:rPr>
              <a:t>picks</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Without</a:t>
            </a:r>
            <a:r>
              <a:rPr sz="2000" i="0">
                <a:solidFill>
                  <a:srgbClr val="E8EDF2"/>
                </a:solidFill>
                <a:latin typeface="Consolas"/>
              </a:rPr>
              <a:t> </a:t>
            </a:r>
            <a:r>
              <a:rPr sz="2000" i="0">
                <a:solidFill>
                  <a:srgbClr val="E8EDF2"/>
                </a:solidFill>
                <a:latin typeface="Consolas"/>
              </a:rPr>
              <a:t>it</a:t>
            </a:r>
            <a:r>
              <a:rPr sz="2000" i="0">
                <a:solidFill>
                  <a:srgbClr val="E8EDF2"/>
                </a:solidFill>
                <a:latin typeface="Consolas"/>
              </a:rPr>
              <a:t> </a:t>
            </a:r>
            <a:r>
              <a:rPr sz="2000" i="0">
                <a:solidFill>
                  <a:srgbClr val="E8EDF2"/>
                </a:solidFill>
                <a:latin typeface="Consolas"/>
              </a:rPr>
              <a:t>a</a:t>
            </a:r>
            <a:r>
              <a:rPr sz="2000" i="0">
                <a:solidFill>
                  <a:srgbClr val="E8EDF2"/>
                </a:solidFill>
                <a:latin typeface="Consolas"/>
              </a:rPr>
              <a:t> </a:t>
            </a:r>
            <a:r>
              <a:rPr sz="2000" i="0">
                <a:solidFill>
                  <a:srgbClr val="E8EDF2"/>
                </a:solidFill>
                <a:latin typeface="Consolas"/>
              </a:rPr>
              <a:t>less</a:t>
            </a:r>
            <a:r>
              <a:rPr sz="2000" i="0">
                <a:solidFill>
                  <a:srgbClr val="E8EDF2"/>
                </a:solidFill>
                <a:latin typeface="Consolas"/>
              </a:rPr>
              <a:t> </a:t>
            </a:r>
            <a:r>
              <a:rPr sz="2000" i="0">
                <a:solidFill>
                  <a:srgbClr val="E8EDF2"/>
                </a:solidFill>
                <a:latin typeface="Consolas"/>
              </a:rPr>
              <a:t>specific</a:t>
            </a:r>
            <a:r>
              <a:rPr sz="2000" i="0">
                <a:solidFill>
                  <a:srgbClr val="E8EDF2"/>
                </a:solidFill>
                <a:latin typeface="Consolas"/>
              </a:rPr>
              <a:t> </a:t>
            </a:r>
            <a:r>
              <a:rPr sz="2000" i="0">
                <a:solidFill>
                  <a:srgbClr val="E8EDF2"/>
                </a:solidFill>
                <a:latin typeface="Consolas"/>
              </a:rPr>
              <a:t>rule</a:t>
            </a:r>
          </a:p>
          <a:p>
            <a:pPr>
              <a:lnSpc>
                <a:spcPct val="100000"/>
              </a:lnSpc>
              <a:spcAft>
                <a:spcPts val="0"/>
              </a:spcAft>
            </a:pPr>
            <a:r>
              <a:rPr sz="2000" i="0">
                <a:solidFill>
                  <a:srgbClr val="E8EDF2"/>
                </a:solidFill>
                <a:latin typeface="Consolas"/>
              </a:rPr>
              <a:t>    </a:t>
            </a:r>
            <a:r>
              <a:rPr sz="2000" i="0">
                <a:solidFill>
                  <a:srgbClr val="E8EDF2"/>
                </a:solidFill>
                <a:latin typeface="Consolas"/>
              </a:rPr>
              <a:t>that</a:t>
            </a:r>
            <a:r>
              <a:rPr sz="2000" i="0">
                <a:solidFill>
                  <a:srgbClr val="E8EDF2"/>
                </a:solidFill>
                <a:latin typeface="Consolas"/>
              </a:rPr>
              <a:t> </a:t>
            </a:r>
            <a:r>
              <a:rPr sz="2000" i="0">
                <a:solidFill>
                  <a:srgbClr val="E8EDF2"/>
                </a:solidFill>
                <a:latin typeface="Consolas"/>
              </a:rPr>
              <a:t>fires</a:t>
            </a:r>
            <a:r>
              <a:rPr sz="2000" i="0">
                <a:solidFill>
                  <a:srgbClr val="E8EDF2"/>
                </a:solidFill>
                <a:latin typeface="Consolas"/>
              </a:rPr>
              <a:t> </a:t>
            </a:r>
            <a:r>
              <a:rPr sz="2000" i="0">
                <a:solidFill>
                  <a:srgbClr val="E8EDF2"/>
                </a:solidFill>
                <a:latin typeface="Consolas"/>
              </a:rPr>
              <a:t>later</a:t>
            </a:r>
            <a:r>
              <a:rPr sz="2000" i="0">
                <a:solidFill>
                  <a:srgbClr val="E8EDF2"/>
                </a:solidFill>
                <a:latin typeface="Consolas"/>
              </a:rPr>
              <a:t> </a:t>
            </a:r>
            <a:r>
              <a:rPr sz="2000" i="0">
                <a:solidFill>
                  <a:srgbClr val="E8EDF2"/>
                </a:solidFill>
                <a:latin typeface="Consolas"/>
              </a:rPr>
              <a:t>would</a:t>
            </a:r>
            <a:r>
              <a:rPr sz="2000" i="0">
                <a:solidFill>
                  <a:srgbClr val="E8EDF2"/>
                </a:solidFill>
                <a:latin typeface="Consolas"/>
              </a:rPr>
              <a:t> </a:t>
            </a:r>
            <a:r>
              <a:rPr sz="2000" i="0">
                <a:solidFill>
                  <a:srgbClr val="E8EDF2"/>
                </a:solidFill>
                <a:latin typeface="Consolas"/>
              </a:rPr>
              <a:t>quietly</a:t>
            </a:r>
            <a:r>
              <a:rPr sz="2000" i="0">
                <a:solidFill>
                  <a:srgbClr val="E8EDF2"/>
                </a:solidFill>
                <a:latin typeface="Consolas"/>
              </a:rPr>
              <a:t> </a:t>
            </a:r>
            <a:r>
              <a:rPr sz="2000" i="0">
                <a:solidFill>
                  <a:srgbClr val="E8EDF2"/>
                </a:solidFill>
                <a:latin typeface="Consolas"/>
              </a:rPr>
              <a:t>overwrite</a:t>
            </a:r>
            <a:r>
              <a:rPr sz="2000" i="0">
                <a:solidFill>
                  <a:srgbClr val="E8EDF2"/>
                </a:solidFill>
                <a:latin typeface="Consolas"/>
              </a:rPr>
              <a:t> </a:t>
            </a:r>
            <a:r>
              <a:rPr sz="2000" i="0">
                <a:solidFill>
                  <a:srgbClr val="E8EDF2"/>
                </a:solidFill>
                <a:latin typeface="Consolas"/>
              </a:rPr>
              <a:t>a</a:t>
            </a:r>
            <a:r>
              <a:rPr sz="2000" i="0">
                <a:solidFill>
                  <a:srgbClr val="E8EDF2"/>
                </a:solidFill>
                <a:latin typeface="Consolas"/>
              </a:rPr>
              <a:t> </a:t>
            </a:r>
            <a:r>
              <a:rPr sz="2000" i="0">
                <a:solidFill>
                  <a:srgbClr val="E8EDF2"/>
                </a:solidFill>
                <a:latin typeface="Consolas"/>
              </a:rPr>
              <a:t>more</a:t>
            </a:r>
            <a:r>
              <a:rPr sz="2000" i="0">
                <a:solidFill>
                  <a:srgbClr val="E8EDF2"/>
                </a:solidFill>
                <a:latin typeface="Consolas"/>
              </a:rPr>
              <a:t> </a:t>
            </a:r>
            <a:r>
              <a:rPr sz="2000" i="0">
                <a:solidFill>
                  <a:srgbClr val="E8EDF2"/>
                </a:solidFill>
                <a:latin typeface="Consolas"/>
              </a:rPr>
              <a:t>specific</a:t>
            </a:r>
            <a:r>
              <a:rPr sz="2000" i="0">
                <a:solidFill>
                  <a:srgbClr val="E8EDF2"/>
                </a:solidFill>
                <a:latin typeface="Consolas"/>
              </a:rPr>
              <a:t> </a:t>
            </a:r>
            <a:r>
              <a:rPr sz="2000" i="0">
                <a:solidFill>
                  <a:srgbClr val="E8EDF2"/>
                </a:solidFill>
                <a:latin typeface="Consolas"/>
              </a:rPr>
              <a:t>rule</a:t>
            </a:r>
            <a:r>
              <a:rPr sz="2000" i="0">
                <a:solidFill>
                  <a:srgbClr val="7DCEA0"/>
                </a:solidFill>
                <a:latin typeface="Consolas"/>
              </a:rPr>
              <a:t>'</a:t>
            </a:r>
            <a:r>
              <a:rPr sz="2000" i="0">
                <a:solidFill>
                  <a:srgbClr val="7DCEA0"/>
                </a:solidFill>
                <a:latin typeface="Consolas"/>
              </a:rPr>
              <a:t>s</a:t>
            </a:r>
          </a:p>
          <a:p>
            <a:pPr>
              <a:lnSpc>
                <a:spcPct val="100000"/>
              </a:lnSpc>
              <a:spcAft>
                <a:spcPts val="0"/>
              </a:spcAft>
            </a:pPr>
            <a:r>
              <a:rPr sz="2000" i="0">
                <a:solidFill>
                  <a:srgbClr val="E8EDF2"/>
                </a:solidFill>
                <a:latin typeface="Consolas"/>
              </a:rPr>
              <a:t>    </a:t>
            </a:r>
            <a:r>
              <a:rPr sz="2000" i="0">
                <a:solidFill>
                  <a:srgbClr val="E8EDF2"/>
                </a:solidFill>
                <a:latin typeface="Consolas"/>
              </a:rPr>
              <a:t>conclusion</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and</a:t>
            </a:r>
            <a:r>
              <a:rPr sz="2000" i="0">
                <a:solidFill>
                  <a:srgbClr val="E8EDF2"/>
                </a:solidFill>
                <a:latin typeface="Consolas"/>
              </a:rPr>
              <a:t> </a:t>
            </a:r>
            <a:r>
              <a:rPr sz="2000" i="0">
                <a:solidFill>
                  <a:srgbClr val="E8EDF2"/>
                </a:solidFill>
                <a:latin typeface="Consolas"/>
              </a:rPr>
              <a:t>conflict</a:t>
            </a:r>
            <a:r>
              <a:rPr sz="2000" i="0">
                <a:solidFill>
                  <a:srgbClr val="E8EDF2"/>
                </a:solidFill>
                <a:latin typeface="Consolas"/>
              </a:rPr>
              <a:t> </a:t>
            </a:r>
            <a:r>
              <a:rPr sz="2000" i="0">
                <a:solidFill>
                  <a:srgbClr val="E8EDF2"/>
                </a:solidFill>
                <a:latin typeface="Consolas"/>
              </a:rPr>
              <a:t>resolution</a:t>
            </a:r>
            <a:r>
              <a:rPr sz="2000" i="0">
                <a:solidFill>
                  <a:srgbClr val="E8EDF2"/>
                </a:solidFill>
                <a:latin typeface="Consolas"/>
              </a:rPr>
              <a:t> </a:t>
            </a:r>
            <a:r>
              <a:rPr sz="2000" i="0">
                <a:solidFill>
                  <a:srgbClr val="E8EDF2"/>
                </a:solidFill>
                <a:latin typeface="Consolas"/>
              </a:rPr>
              <a:t>would</a:t>
            </a:r>
            <a:r>
              <a:rPr sz="2000" i="0">
                <a:solidFill>
                  <a:srgbClr val="E8EDF2"/>
                </a:solidFill>
                <a:latin typeface="Consolas"/>
              </a:rPr>
              <a:t> </a:t>
            </a:r>
            <a:r>
              <a:rPr sz="2000" i="0">
                <a:solidFill>
                  <a:srgbClr val="E8EDF2"/>
                </a:solidFill>
                <a:latin typeface="Consolas"/>
              </a:rPr>
              <a:t>be</a:t>
            </a:r>
            <a:r>
              <a:rPr sz="2000" i="0">
                <a:solidFill>
                  <a:srgbClr val="E8EDF2"/>
                </a:solidFill>
                <a:latin typeface="Consolas"/>
              </a:rPr>
              <a:t> </a:t>
            </a:r>
            <a:r>
              <a:rPr sz="2000" i="0">
                <a:solidFill>
                  <a:srgbClr val="E8EDF2"/>
                </a:solidFill>
                <a:latin typeface="Consolas"/>
              </a:rPr>
              <a:t>pointless</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7DCEA0"/>
                </a:solidFill>
                <a:latin typeface="Consolas"/>
              </a:rPr>
              <a:t>"""</a:t>
            </a:r>
          </a:p>
          <a:p>
            <a:pPr>
              <a:lnSpc>
                <a:spcPct val="100000"/>
              </a:lnSpc>
              <a:spcAft>
                <a:spcPts val="0"/>
              </a:spcAft>
            </a:pPr>
            <a:r>
              <a:rPr sz="2000" i="0">
                <a:solidFill>
                  <a:srgbClr val="7DCEA0"/>
                </a:solidFill>
                <a:latin typeface="Consolas"/>
              </a:rPr>
              <a:t>    rules = RULES if rules is None else rules</a:t>
            </a:r>
          </a:p>
          <a:p>
            <a:pPr>
              <a:lnSpc>
                <a:spcPct val="100000"/>
              </a:lnSpc>
              <a:spcAft>
                <a:spcPts val="0"/>
              </a:spcAft>
            </a:pPr>
            <a:r>
              <a:rPr sz="2000" i="0">
                <a:solidFill>
                  <a:srgbClr val="7DCEA0"/>
                </a:solidFill>
                <a:latin typeface="Consolas"/>
              </a:rPr>
              <a:t>    wm, t, fired = dict(facts), Trace(), set()</a:t>
            </a:r>
          </a:p>
        </p:txBody>
      </p:sp>
      <p:sp>
        <p:nvSpPr>
          <p:cNvPr id="15" name="!!code-num"/>
          <p:cNvSpPr txBox="1"/>
          <p:nvPr/>
        </p:nvSpPr>
        <p:spPr>
          <a:xfrm>
            <a:off x="768096" y="2523744"/>
            <a:ext cx="393192" cy="2243328"/>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88</a:t>
            </a:r>
          </a:p>
          <a:p>
            <a:pPr algn="r">
              <a:lnSpc>
                <a:spcPct val="100000"/>
              </a:lnSpc>
            </a:pPr>
            <a:r>
              <a:rPr sz="2000">
                <a:solidFill>
                  <a:srgbClr val="4F5D6A"/>
                </a:solidFill>
                <a:latin typeface="Consolas"/>
              </a:rPr>
              <a:t>89</a:t>
            </a:r>
          </a:p>
          <a:p>
            <a:pPr algn="r">
              <a:lnSpc>
                <a:spcPct val="100000"/>
              </a:lnSpc>
            </a:pPr>
            <a:r>
              <a:rPr sz="2000">
                <a:solidFill>
                  <a:srgbClr val="4F5D6A"/>
                </a:solidFill>
                <a:latin typeface="Consolas"/>
              </a:rPr>
              <a:t>90</a:t>
            </a:r>
          </a:p>
          <a:p>
            <a:pPr algn="r">
              <a:lnSpc>
                <a:spcPct val="100000"/>
              </a:lnSpc>
            </a:pPr>
            <a:r>
              <a:rPr sz="2000">
                <a:solidFill>
                  <a:srgbClr val="4F5D6A"/>
                </a:solidFill>
                <a:latin typeface="Consolas"/>
              </a:rPr>
              <a:t>91</a:t>
            </a:r>
          </a:p>
          <a:p>
            <a:pPr algn="r">
              <a:lnSpc>
                <a:spcPct val="100000"/>
              </a:lnSpc>
            </a:pPr>
            <a:r>
              <a:rPr sz="2000">
                <a:solidFill>
                  <a:srgbClr val="4F5D6A"/>
                </a:solidFill>
                <a:latin typeface="Consolas"/>
              </a:rPr>
              <a:t>92</a:t>
            </a:r>
          </a:p>
          <a:p>
            <a:pPr algn="r">
              <a:lnSpc>
                <a:spcPct val="100000"/>
              </a:lnSpc>
            </a:pPr>
            <a:r>
              <a:rPr sz="2000">
                <a:solidFill>
                  <a:srgbClr val="4F5D6A"/>
                </a:solidFill>
                <a:latin typeface="Consolas"/>
              </a:rPr>
              <a:t>93</a:t>
            </a:r>
          </a:p>
          <a:p>
            <a:pPr algn="r">
              <a:lnSpc>
                <a:spcPct val="100000"/>
              </a:lnSpc>
            </a:pPr>
            <a:r>
              <a:rPr sz="2000">
                <a:solidFill>
                  <a:srgbClr val="4F5D6A"/>
                </a:solidFill>
                <a:latin typeface="Consolas"/>
              </a:rPr>
              <a:t>94</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6199167"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Twenty-Rule Escalation Shell That Explains Itself</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8 OF 21</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13  ·  Rule-Based Expert Systems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§13.6  ·  Handout p. 136     </a:t>
            </a:r>
            <a:fld id="{D7800C82-3874-4626-8BBE-E5E0D125D219}" type="slidenum">
              <a:rPr lang="en-GB" sz="1000">
                <a:solidFill>
                  <a:srgbClr val="8795A1"/>
                </a:solidFill>
                <a:latin typeface="Segoe UI"/>
              </a:rPr>
              <a:t>31</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Set-up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971543"/>
          </a:xfrm>
          <a:prstGeom prst="roundRect">
            <a:avLst>
              <a:gd name="adj" fmla="val 230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code/ch13_twenty_rule_escalation.py</a:t>
            </a:r>
          </a:p>
        </p:txBody>
      </p:sp>
      <p:sp>
        <p:nvSpPr>
          <p:cNvPr id="14" name="!!code-text" descr="while True: t.cycles += 1 conflict = [r for r in rules if r[0] not in fired and matches(r, wm, t) and r[2][0] not in wm] if not conflict: return wm, t if resolve == &quot;specificity&quot;: # more conditions first; ties broken by rule order conflict.sort(key=lambda r: (-len(r[1]), rules.index(r))) else: conflict.sort(key=lambda r: rules.index(r)) r = conflict[0] wm[r[2][0]] = r[2][1] fired.add(r[0]) t.fired.append(r[0])"/>
          <p:cNvSpPr txBox="1"/>
          <p:nvPr/>
        </p:nvSpPr>
        <p:spPr>
          <a:xfrm>
            <a:off x="1362456" y="2523744"/>
            <a:ext cx="9987991" cy="3477767"/>
          </a:xfrm>
          <a:prstGeom prst="rect">
            <a:avLst/>
          </a:prstGeom>
          <a:noFill/>
        </p:spPr>
        <p:txBody>
          <a:bodyPr wrap="none" anchor="t" lIns="0" rIns="0" tIns="0" bIns="0">
            <a:noAutofit/>
          </a:bodyPr>
          <a:lstStyle/>
          <a:p>
            <a:pPr>
              <a:lnSpc>
                <a:spcPct val="100000"/>
              </a:lnSpc>
              <a:spcAft>
                <a:spcPts val="0"/>
              </a:spcAft>
            </a:pPr>
            <a:r>
              <a:rPr sz="1300" i="0">
                <a:solidFill>
                  <a:srgbClr val="E8EDF2"/>
                </a:solidFill>
                <a:latin typeface="Consolas"/>
              </a:rPr>
              <a:t>    </a:t>
            </a:r>
            <a:r>
              <a:rPr sz="1300" i="0">
                <a:solidFill>
                  <a:srgbClr val="5DADE2"/>
                </a:solidFill>
                <a:latin typeface="Consolas"/>
              </a:rPr>
              <a:t>while</a:t>
            </a:r>
            <a:r>
              <a:rPr sz="1300" i="0">
                <a:solidFill>
                  <a:srgbClr val="E8EDF2"/>
                </a:solidFill>
                <a:latin typeface="Consolas"/>
              </a:rPr>
              <a:t> </a:t>
            </a:r>
            <a:r>
              <a:rPr sz="1300" i="0">
                <a:solidFill>
                  <a:srgbClr val="5DADE2"/>
                </a:solidFill>
                <a:latin typeface="Consolas"/>
              </a:rPr>
              <a:t>True</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t</a:t>
            </a:r>
            <a:r>
              <a:rPr sz="1300" i="0">
                <a:solidFill>
                  <a:srgbClr val="AEB6BF"/>
                </a:solidFill>
                <a:latin typeface="Consolas"/>
              </a:rPr>
              <a:t>.</a:t>
            </a:r>
            <a:r>
              <a:rPr sz="1300" i="0">
                <a:solidFill>
                  <a:srgbClr val="E8EDF2"/>
                </a:solidFill>
                <a:latin typeface="Consolas"/>
              </a:rPr>
              <a:t>cycles</a:t>
            </a:r>
            <a:r>
              <a:rPr sz="1300" i="0">
                <a:solidFill>
                  <a:srgbClr val="E8EDF2"/>
                </a:solidFill>
                <a:latin typeface="Consolas"/>
              </a:rPr>
              <a:t> </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1</a:t>
            </a:r>
          </a:p>
          <a:p>
            <a:pPr>
              <a:lnSpc>
                <a:spcPct val="100000"/>
              </a:lnSpc>
              <a:spcAft>
                <a:spcPts val="0"/>
              </a:spcAft>
            </a:pPr>
            <a:r>
              <a:rPr sz="1300" i="0">
                <a:solidFill>
                  <a:srgbClr val="E8EDF2"/>
                </a:solidFill>
                <a:latin typeface="Consolas"/>
              </a:rPr>
              <a:t>        </a:t>
            </a:r>
            <a:r>
              <a:rPr sz="1300" i="0">
                <a:solidFill>
                  <a:srgbClr val="E8EDF2"/>
                </a:solidFill>
                <a:latin typeface="Consolas"/>
              </a:rPr>
              <a:t>conflict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r</a:t>
            </a:r>
            <a:r>
              <a:rPr sz="1300" i="0">
                <a:solidFill>
                  <a:srgbClr val="E8EDF2"/>
                </a:solidFill>
                <a:latin typeface="Consolas"/>
              </a:rPr>
              <a:t> </a:t>
            </a:r>
            <a:r>
              <a:rPr sz="1300" i="0">
                <a:solidFill>
                  <a:srgbClr val="5DADE2"/>
                </a:solidFill>
                <a:latin typeface="Consolas"/>
              </a:rPr>
              <a:t>for</a:t>
            </a:r>
            <a:r>
              <a:rPr sz="1300" i="0">
                <a:solidFill>
                  <a:srgbClr val="E8EDF2"/>
                </a:solidFill>
                <a:latin typeface="Consolas"/>
              </a:rPr>
              <a:t> </a:t>
            </a:r>
            <a:r>
              <a:rPr sz="1300" i="0">
                <a:solidFill>
                  <a:srgbClr val="E8EDF2"/>
                </a:solidFill>
                <a:latin typeface="Consolas"/>
              </a:rPr>
              <a:t>r</a:t>
            </a:r>
            <a:r>
              <a:rPr sz="1300" i="0">
                <a:solidFill>
                  <a:srgbClr val="E8EDF2"/>
                </a:solidFill>
                <a:latin typeface="Consolas"/>
              </a:rPr>
              <a:t> </a:t>
            </a:r>
            <a:r>
              <a:rPr sz="1300" i="0">
                <a:solidFill>
                  <a:srgbClr val="AEB6BF"/>
                </a:solidFill>
                <a:latin typeface="Consolas"/>
              </a:rPr>
              <a:t>in</a:t>
            </a:r>
            <a:r>
              <a:rPr sz="1300" i="0">
                <a:solidFill>
                  <a:srgbClr val="E8EDF2"/>
                </a:solidFill>
                <a:latin typeface="Consolas"/>
              </a:rPr>
              <a:t> </a:t>
            </a:r>
            <a:r>
              <a:rPr sz="1300" i="0">
                <a:solidFill>
                  <a:srgbClr val="E8EDF2"/>
                </a:solidFill>
                <a:latin typeface="Consolas"/>
              </a:rPr>
              <a:t>rules</a:t>
            </a:r>
          </a:p>
          <a:p>
            <a:pPr>
              <a:lnSpc>
                <a:spcPct val="100000"/>
              </a:lnSpc>
              <a:spcAft>
                <a:spcPts val="0"/>
              </a:spcAft>
            </a:pPr>
            <a:r>
              <a:rPr sz="1300" i="0">
                <a:solidFill>
                  <a:srgbClr val="E8EDF2"/>
                </a:solidFill>
                <a:latin typeface="Consolas"/>
              </a:rPr>
              <a:t>                    </a:t>
            </a:r>
            <a:r>
              <a:rPr sz="1300" i="0">
                <a:solidFill>
                  <a:srgbClr val="5DADE2"/>
                </a:solidFill>
                <a:latin typeface="Consolas"/>
              </a:rPr>
              <a:t>if</a:t>
            </a:r>
            <a:r>
              <a:rPr sz="1300" i="0">
                <a:solidFill>
                  <a:srgbClr val="E8EDF2"/>
                </a:solidFill>
                <a:latin typeface="Consolas"/>
              </a:rPr>
              <a:t> </a:t>
            </a:r>
            <a:r>
              <a:rPr sz="1300" i="0">
                <a:solidFill>
                  <a:srgbClr val="E8EDF2"/>
                </a:solidFill>
                <a:latin typeface="Consolas"/>
              </a:rPr>
              <a:t>r</a:t>
            </a:r>
            <a:r>
              <a:rPr sz="1300" i="0">
                <a:solidFill>
                  <a:srgbClr val="AEB6BF"/>
                </a:solidFill>
                <a:latin typeface="Consolas"/>
              </a:rPr>
              <a:t>[</a:t>
            </a:r>
            <a:r>
              <a:rPr sz="1300" i="0">
                <a:solidFill>
                  <a:srgbClr val="F7DC6F"/>
                </a:solidFill>
                <a:latin typeface="Consolas"/>
              </a:rPr>
              <a:t>0</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not</a:t>
            </a:r>
            <a:r>
              <a:rPr sz="1300" i="0">
                <a:solidFill>
                  <a:srgbClr val="E8EDF2"/>
                </a:solidFill>
                <a:latin typeface="Consolas"/>
              </a:rPr>
              <a:t> </a:t>
            </a:r>
            <a:r>
              <a:rPr sz="1300" i="0">
                <a:solidFill>
                  <a:srgbClr val="AEB6BF"/>
                </a:solidFill>
                <a:latin typeface="Consolas"/>
              </a:rPr>
              <a:t>in</a:t>
            </a:r>
            <a:r>
              <a:rPr sz="1300" i="0">
                <a:solidFill>
                  <a:srgbClr val="E8EDF2"/>
                </a:solidFill>
                <a:latin typeface="Consolas"/>
              </a:rPr>
              <a:t> </a:t>
            </a:r>
            <a:r>
              <a:rPr sz="1300" i="0">
                <a:solidFill>
                  <a:srgbClr val="E8EDF2"/>
                </a:solidFill>
                <a:latin typeface="Consolas"/>
              </a:rPr>
              <a:t>fired</a:t>
            </a:r>
          </a:p>
          <a:p>
            <a:pPr>
              <a:lnSpc>
                <a:spcPct val="100000"/>
              </a:lnSpc>
              <a:spcAft>
                <a:spcPts val="0"/>
              </a:spcAft>
            </a:pPr>
            <a:r>
              <a:rPr sz="1300" i="0">
                <a:solidFill>
                  <a:srgbClr val="E8EDF2"/>
                </a:solidFill>
                <a:latin typeface="Consolas"/>
              </a:rPr>
              <a:t>                    </a:t>
            </a:r>
            <a:r>
              <a:rPr sz="1300" i="0">
                <a:solidFill>
                  <a:srgbClr val="AEB6BF"/>
                </a:solidFill>
                <a:latin typeface="Consolas"/>
              </a:rPr>
              <a:t>and</a:t>
            </a:r>
            <a:r>
              <a:rPr sz="1300" i="0">
                <a:solidFill>
                  <a:srgbClr val="E8EDF2"/>
                </a:solidFill>
                <a:latin typeface="Consolas"/>
              </a:rPr>
              <a:t> </a:t>
            </a:r>
            <a:r>
              <a:rPr sz="1300" i="0">
                <a:solidFill>
                  <a:srgbClr val="E8EDF2"/>
                </a:solidFill>
                <a:latin typeface="Consolas"/>
              </a:rPr>
              <a:t>matches</a:t>
            </a:r>
            <a:r>
              <a:rPr sz="1300" i="0">
                <a:solidFill>
                  <a:srgbClr val="AEB6BF"/>
                </a:solidFill>
                <a:latin typeface="Consolas"/>
              </a:rPr>
              <a:t>(</a:t>
            </a:r>
            <a:r>
              <a:rPr sz="1300" i="0">
                <a:solidFill>
                  <a:srgbClr val="E8EDF2"/>
                </a:solidFill>
                <a:latin typeface="Consolas"/>
              </a:rPr>
              <a:t>r</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wm</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AEB6BF"/>
                </a:solidFill>
                <a:latin typeface="Consolas"/>
              </a:rPr>
              <a:t>and</a:t>
            </a:r>
            <a:r>
              <a:rPr sz="1300" i="0">
                <a:solidFill>
                  <a:srgbClr val="E8EDF2"/>
                </a:solidFill>
                <a:latin typeface="Consolas"/>
              </a:rPr>
              <a:t> </a:t>
            </a:r>
            <a:r>
              <a:rPr sz="1300" i="0">
                <a:solidFill>
                  <a:srgbClr val="E8EDF2"/>
                </a:solidFill>
                <a:latin typeface="Consolas"/>
              </a:rPr>
              <a:t>r</a:t>
            </a:r>
            <a:r>
              <a:rPr sz="1300" i="0">
                <a:solidFill>
                  <a:srgbClr val="AEB6BF"/>
                </a:solidFill>
                <a:latin typeface="Consolas"/>
              </a:rPr>
              <a:t>[</a:t>
            </a:r>
            <a:r>
              <a:rPr sz="1300" i="0">
                <a:solidFill>
                  <a:srgbClr val="F7DC6F"/>
                </a:solidFill>
                <a:latin typeface="Consolas"/>
              </a:rPr>
              <a:t>2</a:t>
            </a:r>
            <a:r>
              <a:rPr sz="1300" i="0">
                <a:solidFill>
                  <a:srgbClr val="AEB6BF"/>
                </a:solidFill>
                <a:latin typeface="Consolas"/>
              </a:rPr>
              <a:t>]</a:t>
            </a:r>
            <a:r>
              <a:rPr sz="1300" i="0">
                <a:solidFill>
                  <a:srgbClr val="AEB6BF"/>
                </a:solidFill>
                <a:latin typeface="Consolas"/>
              </a:rPr>
              <a:t>[</a:t>
            </a:r>
            <a:r>
              <a:rPr sz="1300" i="0">
                <a:solidFill>
                  <a:srgbClr val="F7DC6F"/>
                </a:solidFill>
                <a:latin typeface="Consolas"/>
              </a:rPr>
              <a:t>0</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not</a:t>
            </a:r>
            <a:r>
              <a:rPr sz="1300" i="0">
                <a:solidFill>
                  <a:srgbClr val="E8EDF2"/>
                </a:solidFill>
                <a:latin typeface="Consolas"/>
              </a:rPr>
              <a:t> </a:t>
            </a:r>
            <a:r>
              <a:rPr sz="1300" i="0">
                <a:solidFill>
                  <a:srgbClr val="AEB6BF"/>
                </a:solidFill>
                <a:latin typeface="Consolas"/>
              </a:rPr>
              <a:t>in</a:t>
            </a:r>
            <a:r>
              <a:rPr sz="1300" i="0">
                <a:solidFill>
                  <a:srgbClr val="E8EDF2"/>
                </a:solidFill>
                <a:latin typeface="Consolas"/>
              </a:rPr>
              <a:t> </a:t>
            </a:r>
            <a:r>
              <a:rPr sz="1300" i="0">
                <a:solidFill>
                  <a:srgbClr val="E8EDF2"/>
                </a:solidFill>
                <a:latin typeface="Consolas"/>
              </a:rPr>
              <a:t>wm</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if</a:t>
            </a:r>
            <a:r>
              <a:rPr sz="1300" i="0">
                <a:solidFill>
                  <a:srgbClr val="E8EDF2"/>
                </a:solidFill>
                <a:latin typeface="Consolas"/>
              </a:rPr>
              <a:t> </a:t>
            </a:r>
            <a:r>
              <a:rPr sz="1300" i="0">
                <a:solidFill>
                  <a:srgbClr val="AEB6BF"/>
                </a:solidFill>
                <a:latin typeface="Consolas"/>
              </a:rPr>
              <a:t>not</a:t>
            </a:r>
            <a:r>
              <a:rPr sz="1300" i="0">
                <a:solidFill>
                  <a:srgbClr val="E8EDF2"/>
                </a:solidFill>
                <a:latin typeface="Consolas"/>
              </a:rPr>
              <a:t> </a:t>
            </a:r>
            <a:r>
              <a:rPr sz="1300" i="0">
                <a:solidFill>
                  <a:srgbClr val="E8EDF2"/>
                </a:solidFill>
                <a:latin typeface="Consolas"/>
              </a:rPr>
              <a:t>conflict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return</a:t>
            </a:r>
            <a:r>
              <a:rPr sz="1300" i="0">
                <a:solidFill>
                  <a:srgbClr val="E8EDF2"/>
                </a:solidFill>
                <a:latin typeface="Consolas"/>
              </a:rPr>
              <a:t> </a:t>
            </a:r>
            <a:r>
              <a:rPr sz="1300" i="0">
                <a:solidFill>
                  <a:srgbClr val="E8EDF2"/>
                </a:solidFill>
                <a:latin typeface="Consolas"/>
              </a:rPr>
              <a:t>wm</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t</a:t>
            </a:r>
          </a:p>
          <a:p>
            <a:pPr>
              <a:lnSpc>
                <a:spcPct val="100000"/>
              </a:lnSpc>
              <a:spcAft>
                <a:spcPts val="0"/>
              </a:spcAft>
            </a:pPr>
            <a:r>
              <a:rPr sz="1300" i="0">
                <a:solidFill>
                  <a:srgbClr val="E8EDF2"/>
                </a:solidFill>
                <a:latin typeface="Consolas"/>
              </a:rPr>
              <a:t>        </a:t>
            </a:r>
            <a:r>
              <a:rPr sz="1300" i="0">
                <a:solidFill>
                  <a:srgbClr val="5DADE2"/>
                </a:solidFill>
                <a:latin typeface="Consolas"/>
              </a:rPr>
              <a:t>if</a:t>
            </a:r>
            <a:r>
              <a:rPr sz="1300" i="0">
                <a:solidFill>
                  <a:srgbClr val="E8EDF2"/>
                </a:solidFill>
                <a:latin typeface="Consolas"/>
              </a:rPr>
              <a:t> </a:t>
            </a:r>
            <a:r>
              <a:rPr sz="1300" i="0">
                <a:solidFill>
                  <a:srgbClr val="E8EDF2"/>
                </a:solidFill>
                <a:latin typeface="Consolas"/>
              </a:rPr>
              <a:t>resolve</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specificity</a:t>
            </a:r>
            <a:r>
              <a:rPr sz="1300" i="0">
                <a:solidFill>
                  <a:srgbClr val="7DCEA0"/>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1">
                <a:solidFill>
                  <a:srgbClr val="8795A1"/>
                </a:solidFill>
                <a:latin typeface="Consolas"/>
              </a:rPr>
              <a:t># more conditions first; ties broken by rule order</a:t>
            </a:r>
          </a:p>
          <a:p>
            <a:pPr>
              <a:lnSpc>
                <a:spcPct val="100000"/>
              </a:lnSpc>
              <a:spcAft>
                <a:spcPts val="0"/>
              </a:spcAft>
            </a:pPr>
            <a:r>
              <a:rPr sz="1300" i="0">
                <a:solidFill>
                  <a:srgbClr val="E8EDF2"/>
                </a:solidFill>
                <a:latin typeface="Consolas"/>
              </a:rPr>
              <a:t>            </a:t>
            </a:r>
            <a:r>
              <a:rPr sz="1300" i="0">
                <a:solidFill>
                  <a:srgbClr val="E8EDF2"/>
                </a:solidFill>
                <a:latin typeface="Consolas"/>
              </a:rPr>
              <a:t>conflict</a:t>
            </a:r>
            <a:r>
              <a:rPr sz="1300" i="0">
                <a:solidFill>
                  <a:srgbClr val="AEB6BF"/>
                </a:solidFill>
                <a:latin typeface="Consolas"/>
              </a:rPr>
              <a:t>.</a:t>
            </a:r>
            <a:r>
              <a:rPr sz="1300" i="0">
                <a:solidFill>
                  <a:srgbClr val="E8EDF2"/>
                </a:solidFill>
                <a:latin typeface="Consolas"/>
              </a:rPr>
              <a:t>sort</a:t>
            </a:r>
            <a:r>
              <a:rPr sz="1300" i="0">
                <a:solidFill>
                  <a:srgbClr val="AEB6BF"/>
                </a:solidFill>
                <a:latin typeface="Consolas"/>
              </a:rPr>
              <a:t>(</a:t>
            </a:r>
            <a:r>
              <a:rPr sz="1300" i="0">
                <a:solidFill>
                  <a:srgbClr val="E8EDF2"/>
                </a:solidFill>
                <a:latin typeface="Consolas"/>
              </a:rPr>
              <a:t>key</a:t>
            </a:r>
            <a:r>
              <a:rPr sz="1300" i="0">
                <a:solidFill>
                  <a:srgbClr val="AEB6BF"/>
                </a:solidFill>
                <a:latin typeface="Consolas"/>
              </a:rPr>
              <a:t>=</a:t>
            </a:r>
            <a:r>
              <a:rPr sz="1300" i="0">
                <a:solidFill>
                  <a:srgbClr val="5DADE2"/>
                </a:solidFill>
                <a:latin typeface="Consolas"/>
              </a:rPr>
              <a:t>lambda</a:t>
            </a:r>
            <a:r>
              <a:rPr sz="1300" i="0">
                <a:solidFill>
                  <a:srgbClr val="E8EDF2"/>
                </a:solidFill>
                <a:latin typeface="Consolas"/>
              </a:rPr>
              <a:t> </a:t>
            </a:r>
            <a:r>
              <a:rPr sz="1300" i="0">
                <a:solidFill>
                  <a:srgbClr val="E8EDF2"/>
                </a:solidFill>
                <a:latin typeface="Consolas"/>
              </a:rPr>
              <a:t>r</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AEB6BF"/>
                </a:solidFill>
                <a:latin typeface="Consolas"/>
              </a:rPr>
              <a:t>-</a:t>
            </a:r>
            <a:r>
              <a:rPr sz="1300" i="0">
                <a:solidFill>
                  <a:srgbClr val="C39BD3"/>
                </a:solidFill>
                <a:latin typeface="Consolas"/>
              </a:rPr>
              <a:t>len</a:t>
            </a:r>
            <a:r>
              <a:rPr sz="1300" i="0">
                <a:solidFill>
                  <a:srgbClr val="AEB6BF"/>
                </a:solidFill>
                <a:latin typeface="Consolas"/>
              </a:rPr>
              <a:t>(</a:t>
            </a:r>
            <a:r>
              <a:rPr sz="1300" i="0">
                <a:solidFill>
                  <a:srgbClr val="E8EDF2"/>
                </a:solidFill>
                <a:latin typeface="Consolas"/>
              </a:rPr>
              <a:t>r</a:t>
            </a:r>
            <a:r>
              <a:rPr sz="1300" i="0">
                <a:solidFill>
                  <a:srgbClr val="AEB6BF"/>
                </a:solidFill>
                <a:latin typeface="Consolas"/>
              </a:rPr>
              <a:t>[</a:t>
            </a:r>
            <a:r>
              <a:rPr sz="1300" i="0">
                <a:solidFill>
                  <a:srgbClr val="F7DC6F"/>
                </a:solidFill>
                <a:latin typeface="Consolas"/>
              </a:rPr>
              <a:t>1</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rules</a:t>
            </a:r>
            <a:r>
              <a:rPr sz="1300" i="0">
                <a:solidFill>
                  <a:srgbClr val="AEB6BF"/>
                </a:solidFill>
                <a:latin typeface="Consolas"/>
              </a:rPr>
              <a:t>.</a:t>
            </a:r>
            <a:r>
              <a:rPr sz="1300" i="0">
                <a:solidFill>
                  <a:srgbClr val="E8EDF2"/>
                </a:solidFill>
                <a:latin typeface="Consolas"/>
              </a:rPr>
              <a:t>index</a:t>
            </a:r>
            <a:r>
              <a:rPr sz="1300" i="0">
                <a:solidFill>
                  <a:srgbClr val="AEB6BF"/>
                </a:solidFill>
                <a:latin typeface="Consolas"/>
              </a:rPr>
              <a:t>(</a:t>
            </a:r>
            <a:r>
              <a:rPr sz="1300" i="0">
                <a:solidFill>
                  <a:srgbClr val="E8EDF2"/>
                </a:solidFill>
                <a:latin typeface="Consolas"/>
              </a:rPr>
              <a:t>r</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else</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conflict</a:t>
            </a:r>
            <a:r>
              <a:rPr sz="1300" i="0">
                <a:solidFill>
                  <a:srgbClr val="AEB6BF"/>
                </a:solidFill>
                <a:latin typeface="Consolas"/>
              </a:rPr>
              <a:t>.</a:t>
            </a:r>
            <a:r>
              <a:rPr sz="1300" i="0">
                <a:solidFill>
                  <a:srgbClr val="E8EDF2"/>
                </a:solidFill>
                <a:latin typeface="Consolas"/>
              </a:rPr>
              <a:t>sort</a:t>
            </a:r>
            <a:r>
              <a:rPr sz="1300" i="0">
                <a:solidFill>
                  <a:srgbClr val="AEB6BF"/>
                </a:solidFill>
                <a:latin typeface="Consolas"/>
              </a:rPr>
              <a:t>(</a:t>
            </a:r>
            <a:r>
              <a:rPr sz="1300" i="0">
                <a:solidFill>
                  <a:srgbClr val="E8EDF2"/>
                </a:solidFill>
                <a:latin typeface="Consolas"/>
              </a:rPr>
              <a:t>key</a:t>
            </a:r>
            <a:r>
              <a:rPr sz="1300" i="0">
                <a:solidFill>
                  <a:srgbClr val="AEB6BF"/>
                </a:solidFill>
                <a:latin typeface="Consolas"/>
              </a:rPr>
              <a:t>=</a:t>
            </a:r>
            <a:r>
              <a:rPr sz="1300" i="0">
                <a:solidFill>
                  <a:srgbClr val="5DADE2"/>
                </a:solidFill>
                <a:latin typeface="Consolas"/>
              </a:rPr>
              <a:t>lambda</a:t>
            </a:r>
            <a:r>
              <a:rPr sz="1300" i="0">
                <a:solidFill>
                  <a:srgbClr val="E8EDF2"/>
                </a:solidFill>
                <a:latin typeface="Consolas"/>
              </a:rPr>
              <a:t> </a:t>
            </a:r>
            <a:r>
              <a:rPr sz="1300" i="0">
                <a:solidFill>
                  <a:srgbClr val="E8EDF2"/>
                </a:solidFill>
                <a:latin typeface="Consolas"/>
              </a:rPr>
              <a:t>r</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rules</a:t>
            </a:r>
            <a:r>
              <a:rPr sz="1300" i="0">
                <a:solidFill>
                  <a:srgbClr val="AEB6BF"/>
                </a:solidFill>
                <a:latin typeface="Consolas"/>
              </a:rPr>
              <a:t>.</a:t>
            </a:r>
            <a:r>
              <a:rPr sz="1300" i="0">
                <a:solidFill>
                  <a:srgbClr val="E8EDF2"/>
                </a:solidFill>
                <a:latin typeface="Consolas"/>
              </a:rPr>
              <a:t>index</a:t>
            </a:r>
            <a:r>
              <a:rPr sz="1300" i="0">
                <a:solidFill>
                  <a:srgbClr val="AEB6BF"/>
                </a:solidFill>
                <a:latin typeface="Consolas"/>
              </a:rPr>
              <a:t>(</a:t>
            </a:r>
            <a:r>
              <a:rPr sz="1300" i="0">
                <a:solidFill>
                  <a:srgbClr val="E8EDF2"/>
                </a:solidFill>
                <a:latin typeface="Consolas"/>
              </a:rPr>
              <a:t>r</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r</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conflict</a:t>
            </a:r>
            <a:r>
              <a:rPr sz="1300" i="0">
                <a:solidFill>
                  <a:srgbClr val="AEB6BF"/>
                </a:solidFill>
                <a:latin typeface="Consolas"/>
              </a:rPr>
              <a:t>[</a:t>
            </a:r>
            <a:r>
              <a:rPr sz="1300" i="0">
                <a:solidFill>
                  <a:srgbClr val="F7DC6F"/>
                </a:solidFill>
                <a:latin typeface="Consolas"/>
              </a:rPr>
              <a:t>0</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wm</a:t>
            </a:r>
            <a:r>
              <a:rPr sz="1300" i="0">
                <a:solidFill>
                  <a:srgbClr val="AEB6BF"/>
                </a:solidFill>
                <a:latin typeface="Consolas"/>
              </a:rPr>
              <a:t>[</a:t>
            </a:r>
            <a:r>
              <a:rPr sz="1300" i="0">
                <a:solidFill>
                  <a:srgbClr val="E8EDF2"/>
                </a:solidFill>
                <a:latin typeface="Consolas"/>
              </a:rPr>
              <a:t>r</a:t>
            </a:r>
            <a:r>
              <a:rPr sz="1300" i="0">
                <a:solidFill>
                  <a:srgbClr val="AEB6BF"/>
                </a:solidFill>
                <a:latin typeface="Consolas"/>
              </a:rPr>
              <a:t>[</a:t>
            </a:r>
            <a:r>
              <a:rPr sz="1300" i="0">
                <a:solidFill>
                  <a:srgbClr val="F7DC6F"/>
                </a:solidFill>
                <a:latin typeface="Consolas"/>
              </a:rPr>
              <a:t>2</a:t>
            </a:r>
            <a:r>
              <a:rPr sz="1300" i="0">
                <a:solidFill>
                  <a:srgbClr val="AEB6BF"/>
                </a:solidFill>
                <a:latin typeface="Consolas"/>
              </a:rPr>
              <a:t>]</a:t>
            </a:r>
            <a:r>
              <a:rPr sz="1300" i="0">
                <a:solidFill>
                  <a:srgbClr val="AEB6BF"/>
                </a:solidFill>
                <a:latin typeface="Consolas"/>
              </a:rPr>
              <a:t>[</a:t>
            </a:r>
            <a:r>
              <a:rPr sz="1300" i="0">
                <a:solidFill>
                  <a:srgbClr val="F7DC6F"/>
                </a:solidFill>
                <a:latin typeface="Consolas"/>
              </a:rPr>
              <a:t>0</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r</a:t>
            </a:r>
            <a:r>
              <a:rPr sz="1300" i="0">
                <a:solidFill>
                  <a:srgbClr val="AEB6BF"/>
                </a:solidFill>
                <a:latin typeface="Consolas"/>
              </a:rPr>
              <a:t>[</a:t>
            </a:r>
            <a:r>
              <a:rPr sz="1300" i="0">
                <a:solidFill>
                  <a:srgbClr val="F7DC6F"/>
                </a:solidFill>
                <a:latin typeface="Consolas"/>
              </a:rPr>
              <a:t>2</a:t>
            </a:r>
            <a:r>
              <a:rPr sz="1300" i="0">
                <a:solidFill>
                  <a:srgbClr val="AEB6BF"/>
                </a:solidFill>
                <a:latin typeface="Consolas"/>
              </a:rPr>
              <a:t>]</a:t>
            </a:r>
            <a:r>
              <a:rPr sz="1300" i="0">
                <a:solidFill>
                  <a:srgbClr val="AEB6BF"/>
                </a:solidFill>
                <a:latin typeface="Consolas"/>
              </a:rPr>
              <a:t>[</a:t>
            </a:r>
            <a:r>
              <a:rPr sz="1300" i="0">
                <a:solidFill>
                  <a:srgbClr val="F7DC6F"/>
                </a:solidFill>
                <a:latin typeface="Consolas"/>
              </a:rPr>
              <a:t>1</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fired</a:t>
            </a:r>
            <a:r>
              <a:rPr sz="1300" i="0">
                <a:solidFill>
                  <a:srgbClr val="AEB6BF"/>
                </a:solidFill>
                <a:latin typeface="Consolas"/>
              </a:rPr>
              <a:t>.</a:t>
            </a:r>
            <a:r>
              <a:rPr sz="1300" i="0">
                <a:solidFill>
                  <a:srgbClr val="E8EDF2"/>
                </a:solidFill>
                <a:latin typeface="Consolas"/>
              </a:rPr>
              <a:t>add</a:t>
            </a:r>
            <a:r>
              <a:rPr sz="1300" i="0">
                <a:solidFill>
                  <a:srgbClr val="AEB6BF"/>
                </a:solidFill>
                <a:latin typeface="Consolas"/>
              </a:rPr>
              <a:t>(</a:t>
            </a:r>
            <a:r>
              <a:rPr sz="1300" i="0">
                <a:solidFill>
                  <a:srgbClr val="E8EDF2"/>
                </a:solidFill>
                <a:latin typeface="Consolas"/>
              </a:rPr>
              <a:t>r</a:t>
            </a:r>
            <a:r>
              <a:rPr sz="1300" i="0">
                <a:solidFill>
                  <a:srgbClr val="AEB6BF"/>
                </a:solidFill>
                <a:latin typeface="Consolas"/>
              </a:rPr>
              <a:t>[</a:t>
            </a:r>
            <a:r>
              <a:rPr sz="1300" i="0">
                <a:solidFill>
                  <a:srgbClr val="F7DC6F"/>
                </a:solidFill>
                <a:latin typeface="Consolas"/>
              </a:rPr>
              <a:t>0</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t</a:t>
            </a:r>
            <a:r>
              <a:rPr sz="1300" i="0">
                <a:solidFill>
                  <a:srgbClr val="AEB6BF"/>
                </a:solidFill>
                <a:latin typeface="Consolas"/>
              </a:rPr>
              <a:t>.</a:t>
            </a:r>
            <a:r>
              <a:rPr sz="1300" i="0">
                <a:solidFill>
                  <a:srgbClr val="E8EDF2"/>
                </a:solidFill>
                <a:latin typeface="Consolas"/>
              </a:rPr>
              <a:t>fired</a:t>
            </a:r>
            <a:r>
              <a:rPr sz="1300" i="0">
                <a:solidFill>
                  <a:srgbClr val="AEB6BF"/>
                </a:solidFill>
                <a:latin typeface="Consolas"/>
              </a:rPr>
              <a:t>.</a:t>
            </a:r>
            <a:r>
              <a:rPr sz="1300" i="0">
                <a:solidFill>
                  <a:srgbClr val="E8EDF2"/>
                </a:solidFill>
                <a:latin typeface="Consolas"/>
              </a:rPr>
              <a:t>append</a:t>
            </a:r>
            <a:r>
              <a:rPr sz="1300" i="0">
                <a:solidFill>
                  <a:srgbClr val="AEB6BF"/>
                </a:solidFill>
                <a:latin typeface="Consolas"/>
              </a:rPr>
              <a:t>(</a:t>
            </a:r>
            <a:r>
              <a:rPr sz="1300" i="0">
                <a:solidFill>
                  <a:srgbClr val="E8EDF2"/>
                </a:solidFill>
                <a:latin typeface="Consolas"/>
              </a:rPr>
              <a:t>r</a:t>
            </a:r>
            <a:r>
              <a:rPr sz="1300" i="0">
                <a:solidFill>
                  <a:srgbClr val="AEB6BF"/>
                </a:solidFill>
                <a:latin typeface="Consolas"/>
              </a:rPr>
              <a:t>[</a:t>
            </a:r>
            <a:r>
              <a:rPr sz="1300" i="0">
                <a:solidFill>
                  <a:srgbClr val="F7DC6F"/>
                </a:solidFill>
                <a:latin typeface="Consolas"/>
              </a:rPr>
              <a:t>0</a:t>
            </a:r>
            <a:r>
              <a:rPr sz="1300" i="0">
                <a:solidFill>
                  <a:srgbClr val="AEB6BF"/>
                </a:solidFill>
                <a:latin typeface="Consolas"/>
              </a:rPr>
              <a:t>]</a:t>
            </a:r>
            <a:r>
              <a:rPr sz="1300" i="0">
                <a:solidFill>
                  <a:srgbClr val="AEB6BF"/>
                </a:solidFill>
                <a:latin typeface="Consolas"/>
              </a:rPr>
              <a:t>)</a:t>
            </a:r>
          </a:p>
        </p:txBody>
      </p:sp>
      <p:sp>
        <p:nvSpPr>
          <p:cNvPr id="15" name="!!code-num"/>
          <p:cNvSpPr txBox="1"/>
          <p:nvPr/>
        </p:nvSpPr>
        <p:spPr>
          <a:xfrm>
            <a:off x="768096" y="2523744"/>
            <a:ext cx="393192" cy="3477767"/>
          </a:xfrm>
          <a:prstGeom prst="rect">
            <a:avLst/>
          </a:prstGeom>
          <a:noFill/>
        </p:spPr>
        <p:txBody>
          <a:bodyPr wrap="none" anchor="t" lIns="0" rIns="0" tIns="0" bIns="0">
            <a:noAutofit/>
          </a:bodyPr>
          <a:lstStyle/>
          <a:p>
            <a:pPr algn="r">
              <a:lnSpc>
                <a:spcPct val="100000"/>
              </a:lnSpc>
            </a:pPr>
            <a:r>
              <a:rPr sz="1300">
                <a:solidFill>
                  <a:srgbClr val="4F5D6A"/>
                </a:solidFill>
                <a:latin typeface="Consolas"/>
              </a:rPr>
              <a:t>95</a:t>
            </a:r>
          </a:p>
          <a:p>
            <a:pPr algn="r">
              <a:lnSpc>
                <a:spcPct val="100000"/>
              </a:lnSpc>
            </a:pPr>
            <a:r>
              <a:rPr sz="1300">
                <a:solidFill>
                  <a:srgbClr val="4F5D6A"/>
                </a:solidFill>
                <a:latin typeface="Consolas"/>
              </a:rPr>
              <a:t>96</a:t>
            </a:r>
          </a:p>
          <a:p>
            <a:pPr algn="r">
              <a:lnSpc>
                <a:spcPct val="100000"/>
              </a:lnSpc>
            </a:pPr>
            <a:r>
              <a:rPr sz="1300">
                <a:solidFill>
                  <a:srgbClr val="4F5D6A"/>
                </a:solidFill>
                <a:latin typeface="Consolas"/>
              </a:rPr>
              <a:t>97</a:t>
            </a:r>
          </a:p>
          <a:p>
            <a:pPr algn="r">
              <a:lnSpc>
                <a:spcPct val="100000"/>
              </a:lnSpc>
            </a:pPr>
            <a:r>
              <a:rPr sz="1300">
                <a:solidFill>
                  <a:srgbClr val="4F5D6A"/>
                </a:solidFill>
                <a:latin typeface="Consolas"/>
              </a:rPr>
              <a:t>98</a:t>
            </a:r>
          </a:p>
          <a:p>
            <a:pPr algn="r">
              <a:lnSpc>
                <a:spcPct val="100000"/>
              </a:lnSpc>
            </a:pPr>
            <a:r>
              <a:rPr sz="1300">
                <a:solidFill>
                  <a:srgbClr val="4F5D6A"/>
                </a:solidFill>
                <a:latin typeface="Consolas"/>
              </a:rPr>
              <a:t>99</a:t>
            </a:r>
          </a:p>
          <a:p>
            <a:pPr algn="r">
              <a:lnSpc>
                <a:spcPct val="100000"/>
              </a:lnSpc>
            </a:pPr>
            <a:r>
              <a:rPr sz="1300">
                <a:solidFill>
                  <a:srgbClr val="4F5D6A"/>
                </a:solidFill>
                <a:latin typeface="Consolas"/>
              </a:rPr>
              <a:t>100</a:t>
            </a:r>
          </a:p>
          <a:p>
            <a:pPr algn="r">
              <a:lnSpc>
                <a:spcPct val="100000"/>
              </a:lnSpc>
            </a:pPr>
            <a:r>
              <a:rPr sz="1300">
                <a:solidFill>
                  <a:srgbClr val="4F5D6A"/>
                </a:solidFill>
                <a:latin typeface="Consolas"/>
              </a:rPr>
              <a:t>101</a:t>
            </a:r>
          </a:p>
          <a:p>
            <a:pPr algn="r">
              <a:lnSpc>
                <a:spcPct val="100000"/>
              </a:lnSpc>
            </a:pPr>
            <a:r>
              <a:rPr sz="1300">
                <a:solidFill>
                  <a:srgbClr val="4F5D6A"/>
                </a:solidFill>
                <a:latin typeface="Consolas"/>
              </a:rPr>
              <a:t>102</a:t>
            </a:r>
          </a:p>
          <a:p>
            <a:pPr algn="r">
              <a:lnSpc>
                <a:spcPct val="100000"/>
              </a:lnSpc>
            </a:pPr>
            <a:r>
              <a:rPr sz="1300">
                <a:solidFill>
                  <a:srgbClr val="4F5D6A"/>
                </a:solidFill>
                <a:latin typeface="Consolas"/>
              </a:rPr>
              <a:t>103</a:t>
            </a:r>
          </a:p>
          <a:p>
            <a:pPr algn="r">
              <a:lnSpc>
                <a:spcPct val="100000"/>
              </a:lnSpc>
            </a:pPr>
            <a:r>
              <a:rPr sz="1300">
                <a:solidFill>
                  <a:srgbClr val="4F5D6A"/>
                </a:solidFill>
                <a:latin typeface="Consolas"/>
              </a:rPr>
              <a:t>104</a:t>
            </a:r>
          </a:p>
          <a:p>
            <a:pPr algn="r">
              <a:lnSpc>
                <a:spcPct val="100000"/>
              </a:lnSpc>
            </a:pPr>
            <a:r>
              <a:rPr sz="1300">
                <a:solidFill>
                  <a:srgbClr val="4F5D6A"/>
                </a:solidFill>
                <a:latin typeface="Consolas"/>
              </a:rPr>
              <a:t>105</a:t>
            </a:r>
          </a:p>
          <a:p>
            <a:pPr algn="r">
              <a:lnSpc>
                <a:spcPct val="100000"/>
              </a:lnSpc>
            </a:pPr>
            <a:r>
              <a:rPr sz="1300">
                <a:solidFill>
                  <a:srgbClr val="4F5D6A"/>
                </a:solidFill>
                <a:latin typeface="Consolas"/>
              </a:rPr>
              <a:t>106</a:t>
            </a:r>
          </a:p>
          <a:p>
            <a:pPr algn="r">
              <a:lnSpc>
                <a:spcPct val="100000"/>
              </a:lnSpc>
            </a:pPr>
            <a:r>
              <a:rPr sz="1300">
                <a:solidFill>
                  <a:srgbClr val="4F5D6A"/>
                </a:solidFill>
                <a:latin typeface="Consolas"/>
              </a:rPr>
              <a:t>107</a:t>
            </a:r>
          </a:p>
          <a:p>
            <a:pPr algn="r">
              <a:lnSpc>
                <a:spcPct val="100000"/>
              </a:lnSpc>
            </a:pPr>
            <a:r>
              <a:rPr sz="1300">
                <a:solidFill>
                  <a:srgbClr val="4F5D6A"/>
                </a:solidFill>
                <a:latin typeface="Consolas"/>
              </a:rPr>
              <a:t>108</a:t>
            </a:r>
          </a:p>
          <a:p>
            <a:pPr algn="r">
              <a:lnSpc>
                <a:spcPct val="100000"/>
              </a:lnSpc>
            </a:pPr>
            <a:r>
              <a:rPr sz="1300">
                <a:solidFill>
                  <a:srgbClr val="4F5D6A"/>
                </a:solidFill>
                <a:latin typeface="Consolas"/>
              </a:rPr>
              <a:t>109</a:t>
            </a:r>
          </a:p>
          <a:p>
            <a:pPr algn="r">
              <a:lnSpc>
                <a:spcPct val="100000"/>
              </a:lnSpc>
            </a:pPr>
            <a:r>
              <a:rPr sz="1300">
                <a:solidFill>
                  <a:srgbClr val="4F5D6A"/>
                </a:solidFill>
                <a:latin typeface="Consolas"/>
              </a:rPr>
              <a:t>110</a:t>
            </a:r>
          </a:p>
          <a:p>
            <a:pPr algn="r">
              <a:lnSpc>
                <a:spcPct val="100000"/>
              </a:lnSpc>
            </a:pPr>
            <a:r>
              <a:rPr sz="1300">
                <a:solidFill>
                  <a:srgbClr val="4F5D6A"/>
                </a:solidFill>
                <a:latin typeface="Consolas"/>
              </a:rPr>
              <a:t>111</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6405805"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Twenty-Rule Escalation Shell That Explains Itself</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9 OF 21</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13  ·  Rule-Based Expert Systems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§13.6  ·  Handout p. 136     </a:t>
            </a:r>
            <a:fld id="{06928A3E-7797-42C4-964F-522313B97B6C}" type="slidenum">
              <a:rPr lang="en-GB" sz="1000">
                <a:solidFill>
                  <a:srgbClr val="8795A1"/>
                </a:solidFill>
                <a:latin typeface="Segoe UI"/>
              </a:rPr>
              <a:t>32</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Set-up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346703"/>
          </a:xfrm>
          <a:prstGeom prst="roundRect">
            <a:avLst>
              <a:gd name="adj" fmla="val 273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code/ch13_twenty_rule_escalation.py</a:t>
            </a:r>
          </a:p>
        </p:txBody>
      </p:sp>
      <p:sp>
        <p:nvSpPr>
          <p:cNvPr id="14" name="!!code-text" descr="def backward_chain(goal, facts, seen=None): &quot;&quot;&quot;Prove an (attribute, value) goal. Returns a proof tree.&quot;&quot;&quot; if seen is None: seen = set() if facts.get(goal[0]) == goal[1]: return (&quot;fact&quot;, goal) if goal in seen: return None # a cycle in the rule base seen = seen | {goal}"/>
          <p:cNvSpPr txBox="1"/>
          <p:nvPr/>
        </p:nvSpPr>
        <p:spPr>
          <a:xfrm>
            <a:off x="1362456" y="2523744"/>
            <a:ext cx="9987991" cy="2852927"/>
          </a:xfrm>
          <a:prstGeom prst="rect">
            <a:avLst/>
          </a:prstGeom>
          <a:noFill/>
        </p:spPr>
        <p:txBody>
          <a:bodyPr wrap="none" anchor="t" lIns="0" rIns="0" tIns="0" bIns="0">
            <a:noAutofit/>
          </a:bodyPr>
          <a:lstStyle/>
          <a:p>
            <a:pPr>
              <a:lnSpc>
                <a:spcPct val="100000"/>
              </a:lnSpc>
              <a:spcAft>
                <a:spcPts val="0"/>
              </a:spcAft>
            </a:pPr>
            <a:r>
              <a:rPr sz="2000" i="0">
                <a:solidFill>
                  <a:srgbClr val="5DADE2"/>
                </a:solidFill>
                <a:latin typeface="Consolas"/>
              </a:rPr>
              <a:t>def</a:t>
            </a:r>
            <a:r>
              <a:rPr sz="2000" i="0">
                <a:solidFill>
                  <a:srgbClr val="E8EDF2"/>
                </a:solidFill>
                <a:latin typeface="Consolas"/>
              </a:rPr>
              <a:t> </a:t>
            </a:r>
            <a:r>
              <a:rPr sz="2000" i="0">
                <a:solidFill>
                  <a:srgbClr val="C39BD3"/>
                </a:solidFill>
                <a:latin typeface="Consolas"/>
              </a:rPr>
              <a:t>backward_chain</a:t>
            </a:r>
            <a:r>
              <a:rPr sz="2000" i="0">
                <a:solidFill>
                  <a:srgbClr val="AEB6BF"/>
                </a:solidFill>
                <a:latin typeface="Consolas"/>
              </a:rPr>
              <a:t>(</a:t>
            </a:r>
            <a:r>
              <a:rPr sz="2000" i="0">
                <a:solidFill>
                  <a:srgbClr val="E8EDF2"/>
                </a:solidFill>
                <a:latin typeface="Consolas"/>
              </a:rPr>
              <a:t>goal</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facts</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seen</a:t>
            </a:r>
            <a:r>
              <a:rPr sz="2000" i="0">
                <a:solidFill>
                  <a:srgbClr val="AEB6BF"/>
                </a:solidFill>
                <a:latin typeface="Consolas"/>
              </a:rPr>
              <a:t>=</a:t>
            </a:r>
            <a:r>
              <a:rPr sz="2000" i="0">
                <a:solidFill>
                  <a:srgbClr val="5DADE2"/>
                </a:solidFill>
                <a:latin typeface="Consolas"/>
              </a:rPr>
              <a:t>None</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7DCEA0"/>
                </a:solidFill>
                <a:latin typeface="Consolas"/>
              </a:rPr>
              <a:t>"""Prove an (attribute, value) goal. Returns a proof tree."""</a:t>
            </a:r>
          </a:p>
          <a:p>
            <a:pPr>
              <a:lnSpc>
                <a:spcPct val="100000"/>
              </a:lnSpc>
              <a:spcAft>
                <a:spcPts val="0"/>
              </a:spcAft>
            </a:pPr>
            <a:r>
              <a:rPr sz="2000" i="0">
                <a:solidFill>
                  <a:srgbClr val="E8EDF2"/>
                </a:solidFill>
                <a:latin typeface="Consolas"/>
              </a:rPr>
              <a:t>    </a:t>
            </a:r>
            <a:r>
              <a:rPr sz="2000" i="0">
                <a:solidFill>
                  <a:srgbClr val="5DADE2"/>
                </a:solidFill>
                <a:latin typeface="Consolas"/>
              </a:rPr>
              <a:t>if</a:t>
            </a:r>
            <a:r>
              <a:rPr sz="2000" i="0">
                <a:solidFill>
                  <a:srgbClr val="E8EDF2"/>
                </a:solidFill>
                <a:latin typeface="Consolas"/>
              </a:rPr>
              <a:t> </a:t>
            </a:r>
            <a:r>
              <a:rPr sz="2000" i="0">
                <a:solidFill>
                  <a:srgbClr val="E8EDF2"/>
                </a:solidFill>
                <a:latin typeface="Consolas"/>
              </a:rPr>
              <a:t>seen</a:t>
            </a:r>
            <a:r>
              <a:rPr sz="2000" i="0">
                <a:solidFill>
                  <a:srgbClr val="E8EDF2"/>
                </a:solidFill>
                <a:latin typeface="Consolas"/>
              </a:rPr>
              <a:t> </a:t>
            </a:r>
            <a:r>
              <a:rPr sz="2000" i="0">
                <a:solidFill>
                  <a:srgbClr val="AEB6BF"/>
                </a:solidFill>
                <a:latin typeface="Consolas"/>
              </a:rPr>
              <a:t>is</a:t>
            </a:r>
            <a:r>
              <a:rPr sz="2000" i="0">
                <a:solidFill>
                  <a:srgbClr val="E8EDF2"/>
                </a:solidFill>
                <a:latin typeface="Consolas"/>
              </a:rPr>
              <a:t> </a:t>
            </a:r>
            <a:r>
              <a:rPr sz="2000" i="0">
                <a:solidFill>
                  <a:srgbClr val="5DADE2"/>
                </a:solidFill>
                <a:latin typeface="Consolas"/>
              </a:rPr>
              <a:t>None</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seen</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C39BD3"/>
                </a:solidFill>
                <a:latin typeface="Consolas"/>
              </a:rPr>
              <a:t>set</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if</a:t>
            </a:r>
            <a:r>
              <a:rPr sz="2000" i="0">
                <a:solidFill>
                  <a:srgbClr val="E8EDF2"/>
                </a:solidFill>
                <a:latin typeface="Consolas"/>
              </a:rPr>
              <a:t> </a:t>
            </a:r>
            <a:r>
              <a:rPr sz="2000" i="0">
                <a:solidFill>
                  <a:srgbClr val="E8EDF2"/>
                </a:solidFill>
                <a:latin typeface="Consolas"/>
              </a:rPr>
              <a:t>facts</a:t>
            </a:r>
            <a:r>
              <a:rPr sz="2000" i="0">
                <a:solidFill>
                  <a:srgbClr val="AEB6BF"/>
                </a:solidFill>
                <a:latin typeface="Consolas"/>
              </a:rPr>
              <a:t>.</a:t>
            </a:r>
            <a:r>
              <a:rPr sz="2000" i="0">
                <a:solidFill>
                  <a:srgbClr val="E8EDF2"/>
                </a:solidFill>
                <a:latin typeface="Consolas"/>
              </a:rPr>
              <a:t>get</a:t>
            </a:r>
            <a:r>
              <a:rPr sz="2000" i="0">
                <a:solidFill>
                  <a:srgbClr val="AEB6BF"/>
                </a:solidFill>
                <a:latin typeface="Consolas"/>
              </a:rPr>
              <a:t>(</a:t>
            </a:r>
            <a:r>
              <a:rPr sz="2000" i="0">
                <a:solidFill>
                  <a:srgbClr val="E8EDF2"/>
                </a:solidFill>
                <a:latin typeface="Consolas"/>
              </a:rPr>
              <a:t>goal</a:t>
            </a:r>
            <a:r>
              <a:rPr sz="2000" i="0">
                <a:solidFill>
                  <a:srgbClr val="AEB6BF"/>
                </a:solidFill>
                <a:latin typeface="Consolas"/>
              </a:rPr>
              <a:t>[</a:t>
            </a:r>
            <a:r>
              <a:rPr sz="2000" i="0">
                <a:solidFill>
                  <a:srgbClr val="F7DC6F"/>
                </a:solidFill>
                <a:latin typeface="Consolas"/>
              </a:rPr>
              <a:t>0</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goal</a:t>
            </a:r>
            <a:r>
              <a:rPr sz="2000" i="0">
                <a:solidFill>
                  <a:srgbClr val="AEB6BF"/>
                </a:solidFill>
                <a:latin typeface="Consolas"/>
              </a:rPr>
              <a:t>[</a:t>
            </a:r>
            <a:r>
              <a:rPr sz="2000" i="0">
                <a:solidFill>
                  <a:srgbClr val="F7DC6F"/>
                </a:solidFill>
                <a:latin typeface="Consolas"/>
              </a:rPr>
              <a:t>1</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return</a:t>
            </a:r>
            <a:r>
              <a:rPr sz="2000" i="0">
                <a:solidFill>
                  <a:srgbClr val="E8EDF2"/>
                </a:solidFill>
                <a:latin typeface="Consolas"/>
              </a:rPr>
              <a:t> </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fact</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goal</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if</a:t>
            </a:r>
            <a:r>
              <a:rPr sz="2000" i="0">
                <a:solidFill>
                  <a:srgbClr val="E8EDF2"/>
                </a:solidFill>
                <a:latin typeface="Consolas"/>
              </a:rPr>
              <a:t> </a:t>
            </a:r>
            <a:r>
              <a:rPr sz="2000" i="0">
                <a:solidFill>
                  <a:srgbClr val="E8EDF2"/>
                </a:solidFill>
                <a:latin typeface="Consolas"/>
              </a:rPr>
              <a:t>goal</a:t>
            </a:r>
            <a:r>
              <a:rPr sz="2000" i="0">
                <a:solidFill>
                  <a:srgbClr val="E8EDF2"/>
                </a:solidFill>
                <a:latin typeface="Consolas"/>
              </a:rPr>
              <a:t> </a:t>
            </a:r>
            <a:r>
              <a:rPr sz="2000" i="0">
                <a:solidFill>
                  <a:srgbClr val="AEB6BF"/>
                </a:solidFill>
                <a:latin typeface="Consolas"/>
              </a:rPr>
              <a:t>in</a:t>
            </a:r>
            <a:r>
              <a:rPr sz="2000" i="0">
                <a:solidFill>
                  <a:srgbClr val="E8EDF2"/>
                </a:solidFill>
                <a:latin typeface="Consolas"/>
              </a:rPr>
              <a:t> </a:t>
            </a:r>
            <a:r>
              <a:rPr sz="2000" i="0">
                <a:solidFill>
                  <a:srgbClr val="E8EDF2"/>
                </a:solidFill>
                <a:latin typeface="Consolas"/>
              </a:rPr>
              <a:t>seen</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return</a:t>
            </a:r>
            <a:r>
              <a:rPr sz="2000" i="0">
                <a:solidFill>
                  <a:srgbClr val="E8EDF2"/>
                </a:solidFill>
                <a:latin typeface="Consolas"/>
              </a:rPr>
              <a:t> </a:t>
            </a:r>
            <a:r>
              <a:rPr sz="2000" i="0">
                <a:solidFill>
                  <a:srgbClr val="5DADE2"/>
                </a:solidFill>
                <a:latin typeface="Consolas"/>
              </a:rPr>
              <a:t>None</a:t>
            </a:r>
            <a:r>
              <a:rPr sz="2000" i="0">
                <a:solidFill>
                  <a:srgbClr val="E8EDF2"/>
                </a:solidFill>
                <a:latin typeface="Consolas"/>
              </a:rPr>
              <a:t>                 </a:t>
            </a:r>
            <a:r>
              <a:rPr sz="2000" i="1">
                <a:solidFill>
                  <a:srgbClr val="8795A1"/>
                </a:solidFill>
                <a:latin typeface="Consolas"/>
              </a:rPr>
              <a:t># a cycle in the rule base</a:t>
            </a:r>
          </a:p>
          <a:p>
            <a:pPr>
              <a:lnSpc>
                <a:spcPct val="100000"/>
              </a:lnSpc>
              <a:spcAft>
                <a:spcPts val="0"/>
              </a:spcAft>
            </a:pPr>
            <a:r>
              <a:rPr sz="2000" i="0">
                <a:solidFill>
                  <a:srgbClr val="E8EDF2"/>
                </a:solidFill>
                <a:latin typeface="Consolas"/>
              </a:rPr>
              <a:t>    </a:t>
            </a:r>
            <a:r>
              <a:rPr sz="2000" i="0">
                <a:solidFill>
                  <a:srgbClr val="E8EDF2"/>
                </a:solidFill>
                <a:latin typeface="Consolas"/>
              </a:rPr>
              <a:t>seen</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seen</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goal</a:t>
            </a:r>
            <a:r>
              <a:rPr sz="2000" i="0">
                <a:solidFill>
                  <a:srgbClr val="AEB6BF"/>
                </a:solidFill>
                <a:latin typeface="Consolas"/>
              </a:rPr>
              <a:t>}</a:t>
            </a:r>
          </a:p>
        </p:txBody>
      </p:sp>
      <p:sp>
        <p:nvSpPr>
          <p:cNvPr id="15" name="!!code-num"/>
          <p:cNvSpPr txBox="1"/>
          <p:nvPr/>
        </p:nvSpPr>
        <p:spPr>
          <a:xfrm>
            <a:off x="768096" y="2523744"/>
            <a:ext cx="393192" cy="2852927"/>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114</a:t>
            </a:r>
          </a:p>
          <a:p>
            <a:pPr algn="r">
              <a:lnSpc>
                <a:spcPct val="100000"/>
              </a:lnSpc>
            </a:pPr>
            <a:r>
              <a:rPr sz="2000">
                <a:solidFill>
                  <a:srgbClr val="4F5D6A"/>
                </a:solidFill>
                <a:latin typeface="Consolas"/>
              </a:rPr>
              <a:t>115</a:t>
            </a:r>
          </a:p>
          <a:p>
            <a:pPr algn="r">
              <a:lnSpc>
                <a:spcPct val="100000"/>
              </a:lnSpc>
            </a:pPr>
            <a:r>
              <a:rPr sz="2000">
                <a:solidFill>
                  <a:srgbClr val="4F5D6A"/>
                </a:solidFill>
                <a:latin typeface="Consolas"/>
              </a:rPr>
              <a:t>116</a:t>
            </a:r>
          </a:p>
          <a:p>
            <a:pPr algn="r">
              <a:lnSpc>
                <a:spcPct val="100000"/>
              </a:lnSpc>
            </a:pPr>
            <a:r>
              <a:rPr sz="2000">
                <a:solidFill>
                  <a:srgbClr val="4F5D6A"/>
                </a:solidFill>
                <a:latin typeface="Consolas"/>
              </a:rPr>
              <a:t>117</a:t>
            </a:r>
          </a:p>
          <a:p>
            <a:pPr algn="r">
              <a:lnSpc>
                <a:spcPct val="100000"/>
              </a:lnSpc>
            </a:pPr>
            <a:r>
              <a:rPr sz="2000">
                <a:solidFill>
                  <a:srgbClr val="4F5D6A"/>
                </a:solidFill>
                <a:latin typeface="Consolas"/>
              </a:rPr>
              <a:t>118</a:t>
            </a:r>
          </a:p>
          <a:p>
            <a:pPr algn="r">
              <a:lnSpc>
                <a:spcPct val="100000"/>
              </a:lnSpc>
            </a:pPr>
            <a:r>
              <a:rPr sz="2000">
                <a:solidFill>
                  <a:srgbClr val="4F5D6A"/>
                </a:solidFill>
                <a:latin typeface="Consolas"/>
              </a:rPr>
              <a:t>119</a:t>
            </a:r>
          </a:p>
          <a:p>
            <a:pPr algn="r">
              <a:lnSpc>
                <a:spcPct val="100000"/>
              </a:lnSpc>
            </a:pPr>
            <a:r>
              <a:rPr sz="2000">
                <a:solidFill>
                  <a:srgbClr val="4F5D6A"/>
                </a:solidFill>
                <a:latin typeface="Consolas"/>
              </a:rPr>
              <a:t>120</a:t>
            </a:r>
          </a:p>
          <a:p>
            <a:pPr algn="r">
              <a:lnSpc>
                <a:spcPct val="100000"/>
              </a:lnSpc>
            </a:pPr>
            <a:r>
              <a:rPr sz="2000">
                <a:solidFill>
                  <a:srgbClr val="4F5D6A"/>
                </a:solidFill>
                <a:latin typeface="Consolas"/>
              </a:rPr>
              <a:t>121</a:t>
            </a:r>
          </a:p>
          <a:p>
            <a:pPr algn="r">
              <a:lnSpc>
                <a:spcPct val="100000"/>
              </a:lnSpc>
            </a:pPr>
            <a:r>
              <a:rPr sz="2000">
                <a:solidFill>
                  <a:srgbClr val="4F5D6A"/>
                </a:solidFill>
                <a:latin typeface="Consolas"/>
              </a:rPr>
              <a:t>122</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6612444"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Twenty-Rule Escalation Shell That Explains Itself</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10 OF 21</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13  ·  Rule-Based Expert Systems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§13.6  ·  Handout p. 136     </a:t>
            </a:r>
            <a:fld id="{7E20119E-849B-4E41-B65A-84B439CD8A49}" type="slidenum">
              <a:rPr lang="en-GB" sz="1000">
                <a:solidFill>
                  <a:srgbClr val="8795A1"/>
                </a:solidFill>
                <a:latin typeface="Segoe UI"/>
              </a:rPr>
              <a:t>33</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Set-up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169664"/>
          </a:xfrm>
          <a:prstGeom prst="roundRect">
            <a:avLst>
              <a:gd name="adj" fmla="val 219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code/ch13_twenty_rule_escalation.py</a:t>
            </a:r>
          </a:p>
        </p:txBody>
      </p:sp>
      <p:sp>
        <p:nvSpPr>
          <p:cNvPr id="14" name="!!code-text" descr="for r in RULES: if r[2] != goal: continue subs = [] for c in r[1]: got = backward_chain(c, facts, seen) if got is None: subs = None break subs.append(got) if subs is not None: return (&quot;rule&quot;, r[0], goal, subs) return None"/>
          <p:cNvSpPr txBox="1"/>
          <p:nvPr/>
        </p:nvSpPr>
        <p:spPr>
          <a:xfrm>
            <a:off x="1362456" y="2523744"/>
            <a:ext cx="9987991" cy="3675888"/>
          </a:xfrm>
          <a:prstGeom prst="rect">
            <a:avLst/>
          </a:prstGeom>
          <a:noFill/>
        </p:spPr>
        <p:txBody>
          <a:bodyPr wrap="none" anchor="t" lIns="0" rIns="0" tIns="0" bIns="0">
            <a:noAutofit/>
          </a:bodyPr>
          <a:lstStyle/>
          <a:p>
            <a:pPr>
              <a:lnSpc>
                <a:spcPct val="100000"/>
              </a:lnSpc>
              <a:spcAft>
                <a:spcPts val="0"/>
              </a:spcAft>
            </a:pPr>
            <a:r>
              <a:rPr sz="1800" i="0">
                <a:solidFill>
                  <a:srgbClr val="E8EDF2"/>
                </a:solidFill>
                <a:latin typeface="Consolas"/>
              </a:rPr>
              <a:t>    </a:t>
            </a:r>
            <a:r>
              <a:rPr sz="1800" i="0">
                <a:solidFill>
                  <a:srgbClr val="5DADE2"/>
                </a:solidFill>
                <a:latin typeface="Consolas"/>
              </a:rPr>
              <a:t>for</a:t>
            </a:r>
            <a:r>
              <a:rPr sz="1800" i="0">
                <a:solidFill>
                  <a:srgbClr val="E8EDF2"/>
                </a:solidFill>
                <a:latin typeface="Consolas"/>
              </a:rPr>
              <a:t> </a:t>
            </a:r>
            <a:r>
              <a:rPr sz="1800" i="0">
                <a:solidFill>
                  <a:srgbClr val="E8EDF2"/>
                </a:solidFill>
                <a:latin typeface="Consolas"/>
              </a:rPr>
              <a:t>r</a:t>
            </a:r>
            <a:r>
              <a:rPr sz="1800" i="0">
                <a:solidFill>
                  <a:srgbClr val="E8EDF2"/>
                </a:solidFill>
                <a:latin typeface="Consolas"/>
              </a:rPr>
              <a:t> </a:t>
            </a:r>
            <a:r>
              <a:rPr sz="1800" i="0">
                <a:solidFill>
                  <a:srgbClr val="AEB6BF"/>
                </a:solidFill>
                <a:latin typeface="Consolas"/>
              </a:rPr>
              <a:t>in</a:t>
            </a:r>
            <a:r>
              <a:rPr sz="1800" i="0">
                <a:solidFill>
                  <a:srgbClr val="E8EDF2"/>
                </a:solidFill>
                <a:latin typeface="Consolas"/>
              </a:rPr>
              <a:t> </a:t>
            </a:r>
            <a:r>
              <a:rPr sz="1800" i="0">
                <a:solidFill>
                  <a:srgbClr val="E8EDF2"/>
                </a:solidFill>
                <a:latin typeface="Consolas"/>
              </a:rPr>
              <a:t>RULES</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5DADE2"/>
                </a:solidFill>
                <a:latin typeface="Consolas"/>
              </a:rPr>
              <a:t>if</a:t>
            </a:r>
            <a:r>
              <a:rPr sz="1800" i="0">
                <a:solidFill>
                  <a:srgbClr val="E8EDF2"/>
                </a:solidFill>
                <a:latin typeface="Consolas"/>
              </a:rPr>
              <a:t> </a:t>
            </a:r>
            <a:r>
              <a:rPr sz="1800" i="0">
                <a:solidFill>
                  <a:srgbClr val="E8EDF2"/>
                </a:solidFill>
                <a:latin typeface="Consolas"/>
              </a:rPr>
              <a:t>r</a:t>
            </a:r>
            <a:r>
              <a:rPr sz="1800" i="0">
                <a:solidFill>
                  <a:srgbClr val="AEB6BF"/>
                </a:solidFill>
                <a:latin typeface="Consolas"/>
              </a:rPr>
              <a:t>[</a:t>
            </a:r>
            <a:r>
              <a:rPr sz="1800" i="0">
                <a:solidFill>
                  <a:srgbClr val="F7DC6F"/>
                </a:solidFill>
                <a:latin typeface="Consolas"/>
              </a:rPr>
              <a:t>2</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goal</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5DADE2"/>
                </a:solidFill>
                <a:latin typeface="Consolas"/>
              </a:rPr>
              <a:t>continue</a:t>
            </a:r>
          </a:p>
          <a:p>
            <a:pPr>
              <a:lnSpc>
                <a:spcPct val="100000"/>
              </a:lnSpc>
              <a:spcAft>
                <a:spcPts val="0"/>
              </a:spcAft>
            </a:pPr>
            <a:r>
              <a:rPr sz="1800" i="0">
                <a:solidFill>
                  <a:srgbClr val="E8EDF2"/>
                </a:solidFill>
                <a:latin typeface="Consolas"/>
              </a:rPr>
              <a:t>        </a:t>
            </a:r>
            <a:r>
              <a:rPr sz="1800" i="0">
                <a:solidFill>
                  <a:srgbClr val="E8EDF2"/>
                </a:solidFill>
                <a:latin typeface="Consolas"/>
              </a:rPr>
              <a:t>subs</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5DADE2"/>
                </a:solidFill>
                <a:latin typeface="Consolas"/>
              </a:rPr>
              <a:t>for</a:t>
            </a:r>
            <a:r>
              <a:rPr sz="1800" i="0">
                <a:solidFill>
                  <a:srgbClr val="E8EDF2"/>
                </a:solidFill>
                <a:latin typeface="Consolas"/>
              </a:rPr>
              <a:t> </a:t>
            </a:r>
            <a:r>
              <a:rPr sz="1800" i="0">
                <a:solidFill>
                  <a:srgbClr val="E8EDF2"/>
                </a:solidFill>
                <a:latin typeface="Consolas"/>
              </a:rPr>
              <a:t>c</a:t>
            </a:r>
            <a:r>
              <a:rPr sz="1800" i="0">
                <a:solidFill>
                  <a:srgbClr val="E8EDF2"/>
                </a:solidFill>
                <a:latin typeface="Consolas"/>
              </a:rPr>
              <a:t> </a:t>
            </a:r>
            <a:r>
              <a:rPr sz="1800" i="0">
                <a:solidFill>
                  <a:srgbClr val="AEB6BF"/>
                </a:solidFill>
                <a:latin typeface="Consolas"/>
              </a:rPr>
              <a:t>in</a:t>
            </a:r>
            <a:r>
              <a:rPr sz="1800" i="0">
                <a:solidFill>
                  <a:srgbClr val="E8EDF2"/>
                </a:solidFill>
                <a:latin typeface="Consolas"/>
              </a:rPr>
              <a:t> </a:t>
            </a:r>
            <a:r>
              <a:rPr sz="1800" i="0">
                <a:solidFill>
                  <a:srgbClr val="E8EDF2"/>
                </a:solidFill>
                <a:latin typeface="Consolas"/>
              </a:rPr>
              <a:t>r</a:t>
            </a:r>
            <a:r>
              <a:rPr sz="1800" i="0">
                <a:solidFill>
                  <a:srgbClr val="AEB6BF"/>
                </a:solidFill>
                <a:latin typeface="Consolas"/>
              </a:rPr>
              <a:t>[</a:t>
            </a:r>
            <a:r>
              <a:rPr sz="1800" i="0">
                <a:solidFill>
                  <a:srgbClr val="F7DC6F"/>
                </a:solidFill>
                <a:latin typeface="Consolas"/>
              </a:rPr>
              <a:t>1</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got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backward_chain</a:t>
            </a:r>
            <a:r>
              <a:rPr sz="1800" i="0">
                <a:solidFill>
                  <a:srgbClr val="AEB6BF"/>
                </a:solidFill>
                <a:latin typeface="Consolas"/>
              </a:rPr>
              <a:t>(</a:t>
            </a:r>
            <a:r>
              <a:rPr sz="1800" i="0">
                <a:solidFill>
                  <a:srgbClr val="E8EDF2"/>
                </a:solidFill>
                <a:latin typeface="Consolas"/>
              </a:rPr>
              <a:t>c</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facts</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seen</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5DADE2"/>
                </a:solidFill>
                <a:latin typeface="Consolas"/>
              </a:rPr>
              <a:t>if</a:t>
            </a:r>
            <a:r>
              <a:rPr sz="1800" i="0">
                <a:solidFill>
                  <a:srgbClr val="E8EDF2"/>
                </a:solidFill>
                <a:latin typeface="Consolas"/>
              </a:rPr>
              <a:t> </a:t>
            </a:r>
            <a:r>
              <a:rPr sz="1800" i="0">
                <a:solidFill>
                  <a:srgbClr val="E8EDF2"/>
                </a:solidFill>
                <a:latin typeface="Consolas"/>
              </a:rPr>
              <a:t>got</a:t>
            </a:r>
            <a:r>
              <a:rPr sz="1800" i="0">
                <a:solidFill>
                  <a:srgbClr val="E8EDF2"/>
                </a:solidFill>
                <a:latin typeface="Consolas"/>
              </a:rPr>
              <a:t> </a:t>
            </a:r>
            <a:r>
              <a:rPr sz="1800" i="0">
                <a:solidFill>
                  <a:srgbClr val="AEB6BF"/>
                </a:solidFill>
                <a:latin typeface="Consolas"/>
              </a:rPr>
              <a:t>is</a:t>
            </a:r>
            <a:r>
              <a:rPr sz="1800" i="0">
                <a:solidFill>
                  <a:srgbClr val="E8EDF2"/>
                </a:solidFill>
                <a:latin typeface="Consolas"/>
              </a:rPr>
              <a:t> </a:t>
            </a:r>
            <a:r>
              <a:rPr sz="1800" i="0">
                <a:solidFill>
                  <a:srgbClr val="5DADE2"/>
                </a:solidFill>
                <a:latin typeface="Consolas"/>
              </a:rPr>
              <a:t>None</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subs</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5DADE2"/>
                </a:solidFill>
                <a:latin typeface="Consolas"/>
              </a:rPr>
              <a:t>None</a:t>
            </a:r>
          </a:p>
          <a:p>
            <a:pPr>
              <a:lnSpc>
                <a:spcPct val="100000"/>
              </a:lnSpc>
              <a:spcAft>
                <a:spcPts val="0"/>
              </a:spcAft>
            </a:pPr>
            <a:r>
              <a:rPr sz="1800" i="0">
                <a:solidFill>
                  <a:srgbClr val="E8EDF2"/>
                </a:solidFill>
                <a:latin typeface="Consolas"/>
              </a:rPr>
              <a:t>                </a:t>
            </a:r>
            <a:r>
              <a:rPr sz="1800" i="0">
                <a:solidFill>
                  <a:srgbClr val="5DADE2"/>
                </a:solidFill>
                <a:latin typeface="Consolas"/>
              </a:rPr>
              <a:t>break</a:t>
            </a:r>
          </a:p>
          <a:p>
            <a:pPr>
              <a:lnSpc>
                <a:spcPct val="100000"/>
              </a:lnSpc>
              <a:spcAft>
                <a:spcPts val="0"/>
              </a:spcAft>
            </a:pPr>
            <a:r>
              <a:rPr sz="1800" i="0">
                <a:solidFill>
                  <a:srgbClr val="E8EDF2"/>
                </a:solidFill>
                <a:latin typeface="Consolas"/>
              </a:rPr>
              <a:t>            </a:t>
            </a:r>
            <a:r>
              <a:rPr sz="1800" i="0">
                <a:solidFill>
                  <a:srgbClr val="E8EDF2"/>
                </a:solidFill>
                <a:latin typeface="Consolas"/>
              </a:rPr>
              <a:t>subs</a:t>
            </a:r>
            <a:r>
              <a:rPr sz="1800" i="0">
                <a:solidFill>
                  <a:srgbClr val="AEB6BF"/>
                </a:solidFill>
                <a:latin typeface="Consolas"/>
              </a:rPr>
              <a:t>.</a:t>
            </a:r>
            <a:r>
              <a:rPr sz="1800" i="0">
                <a:solidFill>
                  <a:srgbClr val="E8EDF2"/>
                </a:solidFill>
                <a:latin typeface="Consolas"/>
              </a:rPr>
              <a:t>append</a:t>
            </a:r>
            <a:r>
              <a:rPr sz="1800" i="0">
                <a:solidFill>
                  <a:srgbClr val="AEB6BF"/>
                </a:solidFill>
                <a:latin typeface="Consolas"/>
              </a:rPr>
              <a:t>(</a:t>
            </a:r>
            <a:r>
              <a:rPr sz="1800" i="0">
                <a:solidFill>
                  <a:srgbClr val="E8EDF2"/>
                </a:solidFill>
                <a:latin typeface="Consolas"/>
              </a:rPr>
              <a:t>got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5DADE2"/>
                </a:solidFill>
                <a:latin typeface="Consolas"/>
              </a:rPr>
              <a:t>if</a:t>
            </a:r>
            <a:r>
              <a:rPr sz="1800" i="0">
                <a:solidFill>
                  <a:srgbClr val="E8EDF2"/>
                </a:solidFill>
                <a:latin typeface="Consolas"/>
              </a:rPr>
              <a:t> </a:t>
            </a:r>
            <a:r>
              <a:rPr sz="1800" i="0">
                <a:solidFill>
                  <a:srgbClr val="E8EDF2"/>
                </a:solidFill>
                <a:latin typeface="Consolas"/>
              </a:rPr>
              <a:t>subs</a:t>
            </a:r>
            <a:r>
              <a:rPr sz="1800" i="0">
                <a:solidFill>
                  <a:srgbClr val="E8EDF2"/>
                </a:solidFill>
                <a:latin typeface="Consolas"/>
              </a:rPr>
              <a:t> </a:t>
            </a:r>
            <a:r>
              <a:rPr sz="1800" i="0">
                <a:solidFill>
                  <a:srgbClr val="AEB6BF"/>
                </a:solidFill>
                <a:latin typeface="Consolas"/>
              </a:rPr>
              <a:t>is</a:t>
            </a:r>
            <a:r>
              <a:rPr sz="1800" i="0">
                <a:solidFill>
                  <a:srgbClr val="E8EDF2"/>
                </a:solidFill>
                <a:latin typeface="Consolas"/>
              </a:rPr>
              <a:t> </a:t>
            </a:r>
            <a:r>
              <a:rPr sz="1800" i="0">
                <a:solidFill>
                  <a:srgbClr val="AEB6BF"/>
                </a:solidFill>
                <a:latin typeface="Consolas"/>
              </a:rPr>
              <a:t>not</a:t>
            </a:r>
            <a:r>
              <a:rPr sz="1800" i="0">
                <a:solidFill>
                  <a:srgbClr val="E8EDF2"/>
                </a:solidFill>
                <a:latin typeface="Consolas"/>
              </a:rPr>
              <a:t> </a:t>
            </a:r>
            <a:r>
              <a:rPr sz="1800" i="0">
                <a:solidFill>
                  <a:srgbClr val="5DADE2"/>
                </a:solidFill>
                <a:latin typeface="Consolas"/>
              </a:rPr>
              <a:t>None</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5DADE2"/>
                </a:solidFill>
                <a:latin typeface="Consolas"/>
              </a:rPr>
              <a:t>return</a:t>
            </a:r>
            <a:r>
              <a:rPr sz="1800" i="0">
                <a:solidFill>
                  <a:srgbClr val="E8EDF2"/>
                </a:solidFill>
                <a:latin typeface="Consolas"/>
              </a:rPr>
              <a:t> </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rule</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r</a:t>
            </a:r>
            <a:r>
              <a:rPr sz="1800" i="0">
                <a:solidFill>
                  <a:srgbClr val="AEB6BF"/>
                </a:solidFill>
                <a:latin typeface="Consolas"/>
              </a:rPr>
              <a:t>[</a:t>
            </a:r>
            <a:r>
              <a:rPr sz="1800" i="0">
                <a:solidFill>
                  <a:srgbClr val="F7DC6F"/>
                </a:solidFill>
                <a:latin typeface="Consolas"/>
              </a:rPr>
              <a:t>0</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goal</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subs</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5DADE2"/>
                </a:solidFill>
                <a:latin typeface="Consolas"/>
              </a:rPr>
              <a:t>return</a:t>
            </a:r>
            <a:r>
              <a:rPr sz="1800" i="0">
                <a:solidFill>
                  <a:srgbClr val="E8EDF2"/>
                </a:solidFill>
                <a:latin typeface="Consolas"/>
              </a:rPr>
              <a:t> </a:t>
            </a:r>
            <a:r>
              <a:rPr sz="1800" i="0">
                <a:solidFill>
                  <a:srgbClr val="5DADE2"/>
                </a:solidFill>
                <a:latin typeface="Consolas"/>
              </a:rPr>
              <a:t>None</a:t>
            </a:r>
          </a:p>
        </p:txBody>
      </p:sp>
      <p:sp>
        <p:nvSpPr>
          <p:cNvPr id="15" name="!!code-num"/>
          <p:cNvSpPr txBox="1"/>
          <p:nvPr/>
        </p:nvSpPr>
        <p:spPr>
          <a:xfrm>
            <a:off x="768096" y="2523744"/>
            <a:ext cx="393192" cy="3675888"/>
          </a:xfrm>
          <a:prstGeom prst="rect">
            <a:avLst/>
          </a:prstGeom>
          <a:noFill/>
        </p:spPr>
        <p:txBody>
          <a:bodyPr wrap="none" anchor="t" lIns="0" rIns="0" tIns="0" bIns="0">
            <a:noAutofit/>
          </a:bodyPr>
          <a:lstStyle/>
          <a:p>
            <a:pPr algn="r">
              <a:lnSpc>
                <a:spcPct val="100000"/>
              </a:lnSpc>
            </a:pPr>
            <a:r>
              <a:rPr sz="1800">
                <a:solidFill>
                  <a:srgbClr val="4F5D6A"/>
                </a:solidFill>
                <a:latin typeface="Consolas"/>
              </a:rPr>
              <a:t>123</a:t>
            </a:r>
          </a:p>
          <a:p>
            <a:pPr algn="r">
              <a:lnSpc>
                <a:spcPct val="100000"/>
              </a:lnSpc>
            </a:pPr>
            <a:r>
              <a:rPr sz="1800">
                <a:solidFill>
                  <a:srgbClr val="4F5D6A"/>
                </a:solidFill>
                <a:latin typeface="Consolas"/>
              </a:rPr>
              <a:t>124</a:t>
            </a:r>
          </a:p>
          <a:p>
            <a:pPr algn="r">
              <a:lnSpc>
                <a:spcPct val="100000"/>
              </a:lnSpc>
            </a:pPr>
            <a:r>
              <a:rPr sz="1800">
                <a:solidFill>
                  <a:srgbClr val="4F5D6A"/>
                </a:solidFill>
                <a:latin typeface="Consolas"/>
              </a:rPr>
              <a:t>125</a:t>
            </a:r>
          </a:p>
          <a:p>
            <a:pPr algn="r">
              <a:lnSpc>
                <a:spcPct val="100000"/>
              </a:lnSpc>
            </a:pPr>
            <a:r>
              <a:rPr sz="1800">
                <a:solidFill>
                  <a:srgbClr val="4F5D6A"/>
                </a:solidFill>
                <a:latin typeface="Consolas"/>
              </a:rPr>
              <a:t>126</a:t>
            </a:r>
          </a:p>
          <a:p>
            <a:pPr algn="r">
              <a:lnSpc>
                <a:spcPct val="100000"/>
              </a:lnSpc>
            </a:pPr>
            <a:r>
              <a:rPr sz="1800">
                <a:solidFill>
                  <a:srgbClr val="4F5D6A"/>
                </a:solidFill>
                <a:latin typeface="Consolas"/>
              </a:rPr>
              <a:t>127</a:t>
            </a:r>
          </a:p>
          <a:p>
            <a:pPr algn="r">
              <a:lnSpc>
                <a:spcPct val="100000"/>
              </a:lnSpc>
            </a:pPr>
            <a:r>
              <a:rPr sz="1800">
                <a:solidFill>
                  <a:srgbClr val="4F5D6A"/>
                </a:solidFill>
                <a:latin typeface="Consolas"/>
              </a:rPr>
              <a:t>128</a:t>
            </a:r>
          </a:p>
          <a:p>
            <a:pPr algn="r">
              <a:lnSpc>
                <a:spcPct val="100000"/>
              </a:lnSpc>
            </a:pPr>
            <a:r>
              <a:rPr sz="1800">
                <a:solidFill>
                  <a:srgbClr val="4F5D6A"/>
                </a:solidFill>
                <a:latin typeface="Consolas"/>
              </a:rPr>
              <a:t>129</a:t>
            </a:r>
          </a:p>
          <a:p>
            <a:pPr algn="r">
              <a:lnSpc>
                <a:spcPct val="100000"/>
              </a:lnSpc>
            </a:pPr>
            <a:r>
              <a:rPr sz="1800">
                <a:solidFill>
                  <a:srgbClr val="4F5D6A"/>
                </a:solidFill>
                <a:latin typeface="Consolas"/>
              </a:rPr>
              <a:t>130</a:t>
            </a:r>
          </a:p>
          <a:p>
            <a:pPr algn="r">
              <a:lnSpc>
                <a:spcPct val="100000"/>
              </a:lnSpc>
            </a:pPr>
            <a:r>
              <a:rPr sz="1800">
                <a:solidFill>
                  <a:srgbClr val="4F5D6A"/>
                </a:solidFill>
                <a:latin typeface="Consolas"/>
              </a:rPr>
              <a:t>131</a:t>
            </a:r>
          </a:p>
          <a:p>
            <a:pPr algn="r">
              <a:lnSpc>
                <a:spcPct val="100000"/>
              </a:lnSpc>
            </a:pPr>
            <a:r>
              <a:rPr sz="1800">
                <a:solidFill>
                  <a:srgbClr val="4F5D6A"/>
                </a:solidFill>
                <a:latin typeface="Consolas"/>
              </a:rPr>
              <a:t>132</a:t>
            </a:r>
          </a:p>
          <a:p>
            <a:pPr algn="r">
              <a:lnSpc>
                <a:spcPct val="100000"/>
              </a:lnSpc>
            </a:pPr>
            <a:r>
              <a:rPr sz="1800">
                <a:solidFill>
                  <a:srgbClr val="4F5D6A"/>
                </a:solidFill>
                <a:latin typeface="Consolas"/>
              </a:rPr>
              <a:t>133</a:t>
            </a:r>
          </a:p>
          <a:p>
            <a:pPr algn="r">
              <a:lnSpc>
                <a:spcPct val="100000"/>
              </a:lnSpc>
            </a:pPr>
            <a:r>
              <a:rPr sz="1800">
                <a:solidFill>
                  <a:srgbClr val="4F5D6A"/>
                </a:solidFill>
                <a:latin typeface="Consolas"/>
              </a:rPr>
              <a:t>134</a:t>
            </a:r>
          </a:p>
          <a:p>
            <a:pPr algn="r">
              <a:lnSpc>
                <a:spcPct val="100000"/>
              </a:lnSpc>
            </a:pPr>
            <a:r>
              <a:rPr sz="1800">
                <a:solidFill>
                  <a:srgbClr val="4F5D6A"/>
                </a:solidFill>
                <a:latin typeface="Consolas"/>
              </a:rPr>
              <a:t>135</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6819083"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Twenty-Rule Escalation Shell That Explains Itself</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11 OF 21</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13  ·  Rule-Based Expert Systems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§13.6  ·  Handout p. 136     </a:t>
            </a:r>
            <a:fld id="{903ABF91-0B4D-46F6-A8FB-676767684983}" type="slidenum">
              <a:rPr lang="en-GB" sz="1000">
                <a:solidFill>
                  <a:srgbClr val="8795A1"/>
                </a:solidFill>
                <a:latin typeface="Segoe UI"/>
              </a:rPr>
              <a:t>34</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Set-up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346704"/>
          </a:xfrm>
          <a:prstGeom prst="roundRect">
            <a:avLst>
              <a:gd name="adj" fmla="val 273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code/ch13_twenty_rule_escalation.py</a:t>
            </a:r>
          </a:p>
        </p:txBody>
      </p:sp>
      <p:sp>
        <p:nvSpPr>
          <p:cNvPr id="14" name="!!code-text" descr="def explain(tree, indent=0): pad = &quot; &quot; * indent if tree[0] == &quot;fact&quot;: return [&quot;%s%s = %s (given in the ticket)&quot; % (pad, tree[1][0], tree[1][1])] _, name, goal, subs = tree out = [&quot;%s%s = %s (by %s, because)&quot; % (pad, goal[0], goal[1], name)] for s in subs: out += explain(s, indent + 1) return out"/>
          <p:cNvSpPr txBox="1"/>
          <p:nvPr/>
        </p:nvSpPr>
        <p:spPr>
          <a:xfrm>
            <a:off x="1362456" y="2523744"/>
            <a:ext cx="9987991" cy="2852928"/>
          </a:xfrm>
          <a:prstGeom prst="rect">
            <a:avLst/>
          </a:prstGeom>
          <a:noFill/>
        </p:spPr>
        <p:txBody>
          <a:bodyPr wrap="none" anchor="t" lIns="0" rIns="0" tIns="0" bIns="0">
            <a:noAutofit/>
          </a:bodyPr>
          <a:lstStyle/>
          <a:p>
            <a:pPr>
              <a:lnSpc>
                <a:spcPct val="100000"/>
              </a:lnSpc>
              <a:spcAft>
                <a:spcPts val="0"/>
              </a:spcAft>
            </a:pPr>
            <a:r>
              <a:rPr sz="1800" i="0">
                <a:solidFill>
                  <a:srgbClr val="5DADE2"/>
                </a:solidFill>
                <a:latin typeface="Consolas"/>
              </a:rPr>
              <a:t>def</a:t>
            </a:r>
            <a:r>
              <a:rPr sz="1800" i="0">
                <a:solidFill>
                  <a:srgbClr val="E8EDF2"/>
                </a:solidFill>
                <a:latin typeface="Consolas"/>
              </a:rPr>
              <a:t> </a:t>
            </a:r>
            <a:r>
              <a:rPr sz="1800" i="0">
                <a:solidFill>
                  <a:srgbClr val="C39BD3"/>
                </a:solidFill>
                <a:latin typeface="Consolas"/>
              </a:rPr>
              <a:t>explain</a:t>
            </a:r>
            <a:r>
              <a:rPr sz="1800" i="0">
                <a:solidFill>
                  <a:srgbClr val="AEB6BF"/>
                </a:solidFill>
                <a:latin typeface="Consolas"/>
              </a:rPr>
              <a:t>(</a:t>
            </a:r>
            <a:r>
              <a:rPr sz="1800" i="0">
                <a:solidFill>
                  <a:srgbClr val="E8EDF2"/>
                </a:solidFill>
                <a:latin typeface="Consolas"/>
              </a:rPr>
              <a:t>tree</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indent</a:t>
            </a:r>
            <a:r>
              <a:rPr sz="1800" i="0">
                <a:solidFill>
                  <a:srgbClr val="AEB6BF"/>
                </a:solidFill>
                <a:latin typeface="Consolas"/>
              </a:rPr>
              <a:t>=</a:t>
            </a:r>
            <a:r>
              <a:rPr sz="1800" i="0">
                <a:solidFill>
                  <a:srgbClr val="F7DC6F"/>
                </a:solidFill>
                <a:latin typeface="Consolas"/>
              </a:rPr>
              <a:t>0</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pad</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  </a:t>
            </a:r>
            <a:r>
              <a:rPr sz="1800" i="0">
                <a:solidFill>
                  <a:srgbClr val="7DCEA0"/>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indent</a:t>
            </a:r>
          </a:p>
          <a:p>
            <a:pPr>
              <a:lnSpc>
                <a:spcPct val="100000"/>
              </a:lnSpc>
              <a:spcAft>
                <a:spcPts val="0"/>
              </a:spcAft>
            </a:pPr>
            <a:r>
              <a:rPr sz="1800" i="0">
                <a:solidFill>
                  <a:srgbClr val="E8EDF2"/>
                </a:solidFill>
                <a:latin typeface="Consolas"/>
              </a:rPr>
              <a:t>    </a:t>
            </a:r>
            <a:r>
              <a:rPr sz="1800" i="0">
                <a:solidFill>
                  <a:srgbClr val="5DADE2"/>
                </a:solidFill>
                <a:latin typeface="Consolas"/>
              </a:rPr>
              <a:t>if</a:t>
            </a:r>
            <a:r>
              <a:rPr sz="1800" i="0">
                <a:solidFill>
                  <a:srgbClr val="E8EDF2"/>
                </a:solidFill>
                <a:latin typeface="Consolas"/>
              </a:rPr>
              <a:t> </a:t>
            </a:r>
            <a:r>
              <a:rPr sz="1800" i="0">
                <a:solidFill>
                  <a:srgbClr val="E8EDF2"/>
                </a:solidFill>
                <a:latin typeface="Consolas"/>
              </a:rPr>
              <a:t>tree</a:t>
            </a:r>
            <a:r>
              <a:rPr sz="1800" i="0">
                <a:solidFill>
                  <a:srgbClr val="AEB6BF"/>
                </a:solidFill>
                <a:latin typeface="Consolas"/>
              </a:rPr>
              <a:t>[</a:t>
            </a:r>
            <a:r>
              <a:rPr sz="1800" i="0">
                <a:solidFill>
                  <a:srgbClr val="F7DC6F"/>
                </a:solidFill>
                <a:latin typeface="Consolas"/>
              </a:rPr>
              <a:t>0</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fact</a:t>
            </a:r>
            <a:r>
              <a:rPr sz="1800" i="0">
                <a:solidFill>
                  <a:srgbClr val="7DCEA0"/>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5DADE2"/>
                </a:solidFill>
                <a:latin typeface="Consolas"/>
              </a:rPr>
              <a:t>return</a:t>
            </a:r>
            <a:r>
              <a:rPr sz="1800" i="0">
                <a:solidFill>
                  <a:srgbClr val="E8EDF2"/>
                </a:solidFill>
                <a:latin typeface="Consolas"/>
              </a:rPr>
              <a:t> </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%s</a:t>
            </a:r>
            <a:r>
              <a:rPr sz="1800" i="0">
                <a:solidFill>
                  <a:srgbClr val="7DCEA0"/>
                </a:solidFill>
                <a:latin typeface="Consolas"/>
              </a:rPr>
              <a:t>%s</a:t>
            </a:r>
            <a:r>
              <a:rPr sz="1800" i="0">
                <a:solidFill>
                  <a:srgbClr val="7DCEA0"/>
                </a:solidFill>
                <a:latin typeface="Consolas"/>
              </a:rPr>
              <a:t> = </a:t>
            </a:r>
            <a:r>
              <a:rPr sz="1800" i="0">
                <a:solidFill>
                  <a:srgbClr val="7DCEA0"/>
                </a:solidFill>
                <a:latin typeface="Consolas"/>
              </a:rPr>
              <a:t>%s</a:t>
            </a:r>
            <a:r>
              <a:rPr sz="1800" i="0">
                <a:solidFill>
                  <a:srgbClr val="7DCEA0"/>
                </a:solidFill>
                <a:latin typeface="Consolas"/>
              </a:rPr>
              <a:t>   (given in the ticket)</a:t>
            </a:r>
            <a:r>
              <a:rPr sz="1800" i="0">
                <a:solidFill>
                  <a:srgbClr val="7DCEA0"/>
                </a:solidFill>
                <a:latin typeface="Consolas"/>
              </a:rPr>
              <a:t>"</a:t>
            </a:r>
          </a:p>
          <a:p>
            <a:pPr>
              <a:lnSpc>
                <a:spcPct val="100000"/>
              </a:lnSpc>
              <a:spcAft>
                <a:spcPts val="0"/>
              </a:spcAft>
            </a:pP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pad</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tree</a:t>
            </a:r>
            <a:r>
              <a:rPr sz="1800" i="0">
                <a:solidFill>
                  <a:srgbClr val="AEB6BF"/>
                </a:solidFill>
                <a:latin typeface="Consolas"/>
              </a:rPr>
              <a:t>[</a:t>
            </a:r>
            <a:r>
              <a:rPr sz="1800" i="0">
                <a:solidFill>
                  <a:srgbClr val="F7DC6F"/>
                </a:solidFill>
                <a:latin typeface="Consolas"/>
              </a:rPr>
              <a:t>1</a:t>
            </a:r>
            <a:r>
              <a:rPr sz="1800" i="0">
                <a:solidFill>
                  <a:srgbClr val="AEB6BF"/>
                </a:solidFill>
                <a:latin typeface="Consolas"/>
              </a:rPr>
              <a:t>]</a:t>
            </a:r>
            <a:r>
              <a:rPr sz="1800" i="0">
                <a:solidFill>
                  <a:srgbClr val="AEB6BF"/>
                </a:solidFill>
                <a:latin typeface="Consolas"/>
              </a:rPr>
              <a:t>[</a:t>
            </a:r>
            <a:r>
              <a:rPr sz="1800" i="0">
                <a:solidFill>
                  <a:srgbClr val="F7DC6F"/>
                </a:solidFill>
                <a:latin typeface="Consolas"/>
              </a:rPr>
              <a:t>0</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tree</a:t>
            </a:r>
            <a:r>
              <a:rPr sz="1800" i="0">
                <a:solidFill>
                  <a:srgbClr val="AEB6BF"/>
                </a:solidFill>
                <a:latin typeface="Consolas"/>
              </a:rPr>
              <a:t>[</a:t>
            </a:r>
            <a:r>
              <a:rPr sz="1800" i="0">
                <a:solidFill>
                  <a:srgbClr val="F7DC6F"/>
                </a:solidFill>
                <a:latin typeface="Consolas"/>
              </a:rPr>
              <a:t>1</a:t>
            </a:r>
            <a:r>
              <a:rPr sz="1800" i="0">
                <a:solidFill>
                  <a:srgbClr val="AEB6BF"/>
                </a:solidFill>
                <a:latin typeface="Consolas"/>
              </a:rPr>
              <a:t>]</a:t>
            </a:r>
            <a:r>
              <a:rPr sz="1800" i="0">
                <a:solidFill>
                  <a:srgbClr val="AEB6BF"/>
                </a:solidFill>
                <a:latin typeface="Consolas"/>
              </a:rPr>
              <a:t>[</a:t>
            </a:r>
            <a:r>
              <a:rPr sz="1800" i="0">
                <a:solidFill>
                  <a:srgbClr val="F7DC6F"/>
                </a:solidFill>
                <a:latin typeface="Consolas"/>
              </a:rPr>
              <a:t>1</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_</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name</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goal</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subs</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tree</a:t>
            </a:r>
          </a:p>
          <a:p>
            <a:pPr>
              <a:lnSpc>
                <a:spcPct val="100000"/>
              </a:lnSpc>
              <a:spcAft>
                <a:spcPts val="0"/>
              </a:spcAft>
            </a:pPr>
            <a:r>
              <a:rPr sz="1800" i="0">
                <a:solidFill>
                  <a:srgbClr val="E8EDF2"/>
                </a:solidFill>
                <a:latin typeface="Consolas"/>
              </a:rPr>
              <a:t>    </a:t>
            </a:r>
            <a:r>
              <a:rPr sz="1800" i="0">
                <a:solidFill>
                  <a:srgbClr val="E8EDF2"/>
                </a:solidFill>
                <a:latin typeface="Consolas"/>
              </a:rPr>
              <a:t>out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%s</a:t>
            </a:r>
            <a:r>
              <a:rPr sz="1800" i="0">
                <a:solidFill>
                  <a:srgbClr val="7DCEA0"/>
                </a:solidFill>
                <a:latin typeface="Consolas"/>
              </a:rPr>
              <a:t>%s</a:t>
            </a:r>
            <a:r>
              <a:rPr sz="1800" i="0">
                <a:solidFill>
                  <a:srgbClr val="7DCEA0"/>
                </a:solidFill>
                <a:latin typeface="Consolas"/>
              </a:rPr>
              <a:t> = </a:t>
            </a:r>
            <a:r>
              <a:rPr sz="1800" i="0">
                <a:solidFill>
                  <a:srgbClr val="7DCEA0"/>
                </a:solidFill>
                <a:latin typeface="Consolas"/>
              </a:rPr>
              <a:t>%s</a:t>
            </a:r>
            <a:r>
              <a:rPr sz="1800" i="0">
                <a:solidFill>
                  <a:srgbClr val="7DCEA0"/>
                </a:solidFill>
                <a:latin typeface="Consolas"/>
              </a:rPr>
              <a:t>   (by </a:t>
            </a:r>
            <a:r>
              <a:rPr sz="1800" i="0">
                <a:solidFill>
                  <a:srgbClr val="7DCEA0"/>
                </a:solidFill>
                <a:latin typeface="Consolas"/>
              </a:rPr>
              <a:t>%s</a:t>
            </a:r>
            <a:r>
              <a:rPr sz="1800" i="0">
                <a:solidFill>
                  <a:srgbClr val="7DCEA0"/>
                </a:solidFill>
                <a:latin typeface="Consolas"/>
              </a:rPr>
              <a:t>, because)</a:t>
            </a:r>
            <a:r>
              <a:rPr sz="1800" i="0">
                <a:solidFill>
                  <a:srgbClr val="7DCEA0"/>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pad</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goal</a:t>
            </a:r>
            <a:r>
              <a:rPr sz="1800" i="0">
                <a:solidFill>
                  <a:srgbClr val="AEB6BF"/>
                </a:solidFill>
                <a:latin typeface="Consolas"/>
              </a:rPr>
              <a:t>[</a:t>
            </a:r>
            <a:r>
              <a:rPr sz="1800" i="0">
                <a:solidFill>
                  <a:srgbClr val="F7DC6F"/>
                </a:solidFill>
                <a:latin typeface="Consolas"/>
              </a:rPr>
              <a:t>0</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goal</a:t>
            </a:r>
            <a:r>
              <a:rPr sz="1800" i="0">
                <a:solidFill>
                  <a:srgbClr val="AEB6BF"/>
                </a:solidFill>
                <a:latin typeface="Consolas"/>
              </a:rPr>
              <a:t>[</a:t>
            </a:r>
            <a:r>
              <a:rPr sz="1800" i="0">
                <a:solidFill>
                  <a:srgbClr val="F7DC6F"/>
                </a:solidFill>
                <a:latin typeface="Consolas"/>
              </a:rPr>
              <a:t>1</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name</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5DADE2"/>
                </a:solidFill>
                <a:latin typeface="Consolas"/>
              </a:rPr>
              <a:t>for</a:t>
            </a:r>
            <a:r>
              <a:rPr sz="1800" i="0">
                <a:solidFill>
                  <a:srgbClr val="E8EDF2"/>
                </a:solidFill>
                <a:latin typeface="Consolas"/>
              </a:rPr>
              <a:t> </a:t>
            </a:r>
            <a:r>
              <a:rPr sz="1800" i="0">
                <a:solidFill>
                  <a:srgbClr val="E8EDF2"/>
                </a:solidFill>
                <a:latin typeface="Consolas"/>
              </a:rPr>
              <a:t>s</a:t>
            </a:r>
            <a:r>
              <a:rPr sz="1800" i="0">
                <a:solidFill>
                  <a:srgbClr val="E8EDF2"/>
                </a:solidFill>
                <a:latin typeface="Consolas"/>
              </a:rPr>
              <a:t> </a:t>
            </a:r>
            <a:r>
              <a:rPr sz="1800" i="0">
                <a:solidFill>
                  <a:srgbClr val="AEB6BF"/>
                </a:solidFill>
                <a:latin typeface="Consolas"/>
              </a:rPr>
              <a:t>in</a:t>
            </a:r>
            <a:r>
              <a:rPr sz="1800" i="0">
                <a:solidFill>
                  <a:srgbClr val="E8EDF2"/>
                </a:solidFill>
                <a:latin typeface="Consolas"/>
              </a:rPr>
              <a:t> </a:t>
            </a:r>
            <a:r>
              <a:rPr sz="1800" i="0">
                <a:solidFill>
                  <a:srgbClr val="E8EDF2"/>
                </a:solidFill>
                <a:latin typeface="Consolas"/>
              </a:rPr>
              <a:t>subs</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out</a:t>
            </a:r>
            <a:r>
              <a:rPr sz="1800" i="0">
                <a:solidFill>
                  <a:srgbClr val="E8EDF2"/>
                </a:solidFill>
                <a:latin typeface="Consolas"/>
              </a:rPr>
              <a:t> </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explain</a:t>
            </a:r>
            <a:r>
              <a:rPr sz="1800" i="0">
                <a:solidFill>
                  <a:srgbClr val="AEB6BF"/>
                </a:solidFill>
                <a:latin typeface="Consolas"/>
              </a:rPr>
              <a:t>(</a:t>
            </a:r>
            <a:r>
              <a:rPr sz="1800" i="0">
                <a:solidFill>
                  <a:srgbClr val="E8EDF2"/>
                </a:solidFill>
                <a:latin typeface="Consolas"/>
              </a:rPr>
              <a:t>s</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indent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1</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5DADE2"/>
                </a:solidFill>
                <a:latin typeface="Consolas"/>
              </a:rPr>
              <a:t>return</a:t>
            </a:r>
            <a:r>
              <a:rPr sz="1800" i="0">
                <a:solidFill>
                  <a:srgbClr val="E8EDF2"/>
                </a:solidFill>
                <a:latin typeface="Consolas"/>
              </a:rPr>
              <a:t> </a:t>
            </a:r>
            <a:r>
              <a:rPr sz="1800" i="0">
                <a:solidFill>
                  <a:srgbClr val="E8EDF2"/>
                </a:solidFill>
                <a:latin typeface="Consolas"/>
              </a:rPr>
              <a:t>out</a:t>
            </a:r>
          </a:p>
        </p:txBody>
      </p:sp>
      <p:sp>
        <p:nvSpPr>
          <p:cNvPr id="15" name="!!code-num"/>
          <p:cNvSpPr txBox="1"/>
          <p:nvPr/>
        </p:nvSpPr>
        <p:spPr>
          <a:xfrm>
            <a:off x="768096" y="2523744"/>
            <a:ext cx="393192" cy="2852928"/>
          </a:xfrm>
          <a:prstGeom prst="rect">
            <a:avLst/>
          </a:prstGeom>
          <a:noFill/>
        </p:spPr>
        <p:txBody>
          <a:bodyPr wrap="none" anchor="t" lIns="0" rIns="0" tIns="0" bIns="0">
            <a:noAutofit/>
          </a:bodyPr>
          <a:lstStyle/>
          <a:p>
            <a:pPr algn="r">
              <a:lnSpc>
                <a:spcPct val="100000"/>
              </a:lnSpc>
            </a:pPr>
            <a:r>
              <a:rPr sz="1800">
                <a:solidFill>
                  <a:srgbClr val="4F5D6A"/>
                </a:solidFill>
                <a:latin typeface="Consolas"/>
              </a:rPr>
              <a:t>138</a:t>
            </a:r>
          </a:p>
          <a:p>
            <a:pPr algn="r">
              <a:lnSpc>
                <a:spcPct val="100000"/>
              </a:lnSpc>
            </a:pPr>
            <a:r>
              <a:rPr sz="1800">
                <a:solidFill>
                  <a:srgbClr val="4F5D6A"/>
                </a:solidFill>
                <a:latin typeface="Consolas"/>
              </a:rPr>
              <a:t>139</a:t>
            </a:r>
          </a:p>
          <a:p>
            <a:pPr algn="r">
              <a:lnSpc>
                <a:spcPct val="100000"/>
              </a:lnSpc>
            </a:pPr>
            <a:r>
              <a:rPr sz="1800">
                <a:solidFill>
                  <a:srgbClr val="4F5D6A"/>
                </a:solidFill>
                <a:latin typeface="Consolas"/>
              </a:rPr>
              <a:t>140</a:t>
            </a:r>
          </a:p>
          <a:p>
            <a:pPr algn="r">
              <a:lnSpc>
                <a:spcPct val="100000"/>
              </a:lnSpc>
            </a:pPr>
            <a:r>
              <a:rPr sz="1800">
                <a:solidFill>
                  <a:srgbClr val="4F5D6A"/>
                </a:solidFill>
                <a:latin typeface="Consolas"/>
              </a:rPr>
              <a:t>141</a:t>
            </a:r>
          </a:p>
          <a:p>
            <a:pPr algn="r">
              <a:lnSpc>
                <a:spcPct val="100000"/>
              </a:lnSpc>
            </a:pPr>
            <a:r>
              <a:rPr sz="1800">
                <a:solidFill>
                  <a:srgbClr val="4F5D6A"/>
                </a:solidFill>
                <a:latin typeface="Consolas"/>
              </a:rPr>
              <a:t>142</a:t>
            </a:r>
          </a:p>
          <a:p>
            <a:pPr algn="r">
              <a:lnSpc>
                <a:spcPct val="100000"/>
              </a:lnSpc>
            </a:pPr>
            <a:r>
              <a:rPr sz="1800">
                <a:solidFill>
                  <a:srgbClr val="4F5D6A"/>
                </a:solidFill>
                <a:latin typeface="Consolas"/>
              </a:rPr>
              <a:t>143</a:t>
            </a:r>
          </a:p>
          <a:p>
            <a:pPr algn="r">
              <a:lnSpc>
                <a:spcPct val="100000"/>
              </a:lnSpc>
            </a:pPr>
            <a:r>
              <a:rPr sz="1800">
                <a:solidFill>
                  <a:srgbClr val="4F5D6A"/>
                </a:solidFill>
                <a:latin typeface="Consolas"/>
              </a:rPr>
              <a:t>144</a:t>
            </a:r>
          </a:p>
          <a:p>
            <a:pPr algn="r">
              <a:lnSpc>
                <a:spcPct val="100000"/>
              </a:lnSpc>
            </a:pPr>
            <a:r>
              <a:rPr sz="1800">
                <a:solidFill>
                  <a:srgbClr val="4F5D6A"/>
                </a:solidFill>
                <a:latin typeface="Consolas"/>
              </a:rPr>
              <a:t>145</a:t>
            </a:r>
          </a:p>
          <a:p>
            <a:pPr algn="r">
              <a:lnSpc>
                <a:spcPct val="100000"/>
              </a:lnSpc>
            </a:pPr>
            <a:r>
              <a:rPr sz="1800">
                <a:solidFill>
                  <a:srgbClr val="4F5D6A"/>
                </a:solidFill>
                <a:latin typeface="Consolas"/>
              </a:rPr>
              <a:t>146</a:t>
            </a:r>
          </a:p>
          <a:p>
            <a:pPr algn="r">
              <a:lnSpc>
                <a:spcPct val="100000"/>
              </a:lnSpc>
            </a:pPr>
            <a:r>
              <a:rPr sz="1800">
                <a:solidFill>
                  <a:srgbClr val="4F5D6A"/>
                </a:solidFill>
                <a:latin typeface="Consolas"/>
              </a:rPr>
              <a:t>147</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025722"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Twenty-Rule Escalation Shell That Explains Itself</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12 OF 21</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13  ·  Rule-Based Expert Systems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§13.6  ·  Handout p. 136     </a:t>
            </a:r>
            <a:fld id="{8ED77D2F-FF7A-4165-88AE-5DD850527005}" type="slidenum">
              <a:rPr lang="en-GB" sz="1000">
                <a:solidFill>
                  <a:srgbClr val="8795A1"/>
                </a:solidFill>
                <a:latin typeface="Segoe UI"/>
              </a:rPr>
              <a:t>35</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Set-up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169663"/>
          </a:xfrm>
          <a:prstGeom prst="roundRect">
            <a:avLst>
              <a:gd name="adj" fmla="val 219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code/ch13_twenty_rule_escalation.py</a:t>
            </a:r>
          </a:p>
        </p:txBody>
      </p:sp>
      <p:sp>
        <p:nvSpPr>
          <p:cNvPr id="14" name="!!code-text" descr="def goals_visited(goal, facts, seen=None, count=None): &quot;&quot;&quot;How much work backward chaining does for ONE question.&quot;&quot;&quot; if count is None: count = [0] count[0] += 1 if seen is None: seen = set() if facts.get(goal[0]) == goal[1]: return True, count[0] if goal in seen: return False, count[0] seen = seen | {goal} for r in RULES: if r[2] != goal: continue if all(goals_visited(c, facts, seen, count)[0] for c in r[1]): return True, count[0] return False, count[0]"/>
          <p:cNvSpPr txBox="1"/>
          <p:nvPr/>
        </p:nvSpPr>
        <p:spPr>
          <a:xfrm>
            <a:off x="1362456" y="2523744"/>
            <a:ext cx="9987991" cy="3675887"/>
          </a:xfrm>
          <a:prstGeom prst="rect">
            <a:avLst/>
          </a:prstGeom>
          <a:noFill/>
        </p:spPr>
        <p:txBody>
          <a:bodyPr wrap="none" anchor="t" lIns="0" rIns="0" tIns="0" bIns="0">
            <a:noAutofit/>
          </a:bodyPr>
          <a:lstStyle/>
          <a:p>
            <a:pPr>
              <a:lnSpc>
                <a:spcPct val="100000"/>
              </a:lnSpc>
              <a:spcAft>
                <a:spcPts val="0"/>
              </a:spcAft>
            </a:pPr>
            <a:r>
              <a:rPr sz="1300" i="0">
                <a:solidFill>
                  <a:srgbClr val="5DADE2"/>
                </a:solidFill>
                <a:latin typeface="Consolas"/>
              </a:rPr>
              <a:t>def</a:t>
            </a:r>
            <a:r>
              <a:rPr sz="1300" i="0">
                <a:solidFill>
                  <a:srgbClr val="E8EDF2"/>
                </a:solidFill>
                <a:latin typeface="Consolas"/>
              </a:rPr>
              <a:t> </a:t>
            </a:r>
            <a:r>
              <a:rPr sz="1300" i="0">
                <a:solidFill>
                  <a:srgbClr val="C39BD3"/>
                </a:solidFill>
                <a:latin typeface="Consolas"/>
              </a:rPr>
              <a:t>goals_visited</a:t>
            </a:r>
            <a:r>
              <a:rPr sz="1300" i="0">
                <a:solidFill>
                  <a:srgbClr val="AEB6BF"/>
                </a:solidFill>
                <a:latin typeface="Consolas"/>
              </a:rPr>
              <a:t>(</a:t>
            </a:r>
            <a:r>
              <a:rPr sz="1300" i="0">
                <a:solidFill>
                  <a:srgbClr val="E8EDF2"/>
                </a:solidFill>
                <a:latin typeface="Consolas"/>
              </a:rPr>
              <a:t>goal</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facts</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seen</a:t>
            </a:r>
            <a:r>
              <a:rPr sz="1300" i="0">
                <a:solidFill>
                  <a:srgbClr val="AEB6BF"/>
                </a:solidFill>
                <a:latin typeface="Consolas"/>
              </a:rPr>
              <a:t>=</a:t>
            </a:r>
            <a:r>
              <a:rPr sz="1300" i="0">
                <a:solidFill>
                  <a:srgbClr val="5DADE2"/>
                </a:solidFill>
                <a:latin typeface="Consolas"/>
              </a:rPr>
              <a:t>None</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count</a:t>
            </a:r>
            <a:r>
              <a:rPr sz="1300" i="0">
                <a:solidFill>
                  <a:srgbClr val="AEB6BF"/>
                </a:solidFill>
                <a:latin typeface="Consolas"/>
              </a:rPr>
              <a:t>=</a:t>
            </a:r>
            <a:r>
              <a:rPr sz="1300" i="0">
                <a:solidFill>
                  <a:srgbClr val="5DADE2"/>
                </a:solidFill>
                <a:latin typeface="Consolas"/>
              </a:rPr>
              <a:t>None</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7DCEA0"/>
                </a:solidFill>
                <a:latin typeface="Consolas"/>
              </a:rPr>
              <a:t>"""How much work backward chaining does for ONE question."""</a:t>
            </a:r>
          </a:p>
          <a:p>
            <a:pPr>
              <a:lnSpc>
                <a:spcPct val="100000"/>
              </a:lnSpc>
              <a:spcAft>
                <a:spcPts val="0"/>
              </a:spcAft>
            </a:pPr>
            <a:r>
              <a:rPr sz="1300" i="0">
                <a:solidFill>
                  <a:srgbClr val="E8EDF2"/>
                </a:solidFill>
                <a:latin typeface="Consolas"/>
              </a:rPr>
              <a:t>    </a:t>
            </a:r>
            <a:r>
              <a:rPr sz="1300" i="0">
                <a:solidFill>
                  <a:srgbClr val="5DADE2"/>
                </a:solidFill>
                <a:latin typeface="Consolas"/>
              </a:rPr>
              <a:t>if</a:t>
            </a:r>
            <a:r>
              <a:rPr sz="1300" i="0">
                <a:solidFill>
                  <a:srgbClr val="E8EDF2"/>
                </a:solidFill>
                <a:latin typeface="Consolas"/>
              </a:rPr>
              <a:t> </a:t>
            </a:r>
            <a:r>
              <a:rPr sz="1300" i="0">
                <a:solidFill>
                  <a:srgbClr val="E8EDF2"/>
                </a:solidFill>
                <a:latin typeface="Consolas"/>
              </a:rPr>
              <a:t>count</a:t>
            </a:r>
            <a:r>
              <a:rPr sz="1300" i="0">
                <a:solidFill>
                  <a:srgbClr val="E8EDF2"/>
                </a:solidFill>
                <a:latin typeface="Consolas"/>
              </a:rPr>
              <a:t> </a:t>
            </a:r>
            <a:r>
              <a:rPr sz="1300" i="0">
                <a:solidFill>
                  <a:srgbClr val="AEB6BF"/>
                </a:solidFill>
                <a:latin typeface="Consolas"/>
              </a:rPr>
              <a:t>is</a:t>
            </a:r>
            <a:r>
              <a:rPr sz="1300" i="0">
                <a:solidFill>
                  <a:srgbClr val="E8EDF2"/>
                </a:solidFill>
                <a:latin typeface="Consolas"/>
              </a:rPr>
              <a:t> </a:t>
            </a:r>
            <a:r>
              <a:rPr sz="1300" i="0">
                <a:solidFill>
                  <a:srgbClr val="5DADE2"/>
                </a:solidFill>
                <a:latin typeface="Consolas"/>
              </a:rPr>
              <a:t>None</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count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F7DC6F"/>
                </a:solidFill>
                <a:latin typeface="Consolas"/>
              </a:rPr>
              <a:t>0</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count</a:t>
            </a:r>
            <a:r>
              <a:rPr sz="1300" i="0">
                <a:solidFill>
                  <a:srgbClr val="AEB6BF"/>
                </a:solidFill>
                <a:latin typeface="Consolas"/>
              </a:rPr>
              <a:t>[</a:t>
            </a:r>
            <a:r>
              <a:rPr sz="1300" i="0">
                <a:solidFill>
                  <a:srgbClr val="F7DC6F"/>
                </a:solidFill>
                <a:latin typeface="Consolas"/>
              </a:rPr>
              <a:t>0</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1</a:t>
            </a:r>
          </a:p>
          <a:p>
            <a:pPr>
              <a:lnSpc>
                <a:spcPct val="100000"/>
              </a:lnSpc>
              <a:spcAft>
                <a:spcPts val="0"/>
              </a:spcAft>
            </a:pPr>
            <a:r>
              <a:rPr sz="1300" i="0">
                <a:solidFill>
                  <a:srgbClr val="E8EDF2"/>
                </a:solidFill>
                <a:latin typeface="Consolas"/>
              </a:rPr>
              <a:t>    </a:t>
            </a:r>
            <a:r>
              <a:rPr sz="1300" i="0">
                <a:solidFill>
                  <a:srgbClr val="5DADE2"/>
                </a:solidFill>
                <a:latin typeface="Consolas"/>
              </a:rPr>
              <a:t>if</a:t>
            </a:r>
            <a:r>
              <a:rPr sz="1300" i="0">
                <a:solidFill>
                  <a:srgbClr val="E8EDF2"/>
                </a:solidFill>
                <a:latin typeface="Consolas"/>
              </a:rPr>
              <a:t> </a:t>
            </a:r>
            <a:r>
              <a:rPr sz="1300" i="0">
                <a:solidFill>
                  <a:srgbClr val="E8EDF2"/>
                </a:solidFill>
                <a:latin typeface="Consolas"/>
              </a:rPr>
              <a:t>seen</a:t>
            </a:r>
            <a:r>
              <a:rPr sz="1300" i="0">
                <a:solidFill>
                  <a:srgbClr val="E8EDF2"/>
                </a:solidFill>
                <a:latin typeface="Consolas"/>
              </a:rPr>
              <a:t> </a:t>
            </a:r>
            <a:r>
              <a:rPr sz="1300" i="0">
                <a:solidFill>
                  <a:srgbClr val="AEB6BF"/>
                </a:solidFill>
                <a:latin typeface="Consolas"/>
              </a:rPr>
              <a:t>is</a:t>
            </a:r>
            <a:r>
              <a:rPr sz="1300" i="0">
                <a:solidFill>
                  <a:srgbClr val="E8EDF2"/>
                </a:solidFill>
                <a:latin typeface="Consolas"/>
              </a:rPr>
              <a:t> </a:t>
            </a:r>
            <a:r>
              <a:rPr sz="1300" i="0">
                <a:solidFill>
                  <a:srgbClr val="5DADE2"/>
                </a:solidFill>
                <a:latin typeface="Consolas"/>
              </a:rPr>
              <a:t>None</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seen</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C39BD3"/>
                </a:solidFill>
                <a:latin typeface="Consolas"/>
              </a:rPr>
              <a:t>set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if</a:t>
            </a:r>
            <a:r>
              <a:rPr sz="1300" i="0">
                <a:solidFill>
                  <a:srgbClr val="E8EDF2"/>
                </a:solidFill>
                <a:latin typeface="Consolas"/>
              </a:rPr>
              <a:t> </a:t>
            </a:r>
            <a:r>
              <a:rPr sz="1300" i="0">
                <a:solidFill>
                  <a:srgbClr val="E8EDF2"/>
                </a:solidFill>
                <a:latin typeface="Consolas"/>
              </a:rPr>
              <a:t>facts</a:t>
            </a:r>
            <a:r>
              <a:rPr sz="1300" i="0">
                <a:solidFill>
                  <a:srgbClr val="AEB6BF"/>
                </a:solidFill>
                <a:latin typeface="Consolas"/>
              </a:rPr>
              <a:t>.</a:t>
            </a:r>
            <a:r>
              <a:rPr sz="1300" i="0">
                <a:solidFill>
                  <a:srgbClr val="E8EDF2"/>
                </a:solidFill>
                <a:latin typeface="Consolas"/>
              </a:rPr>
              <a:t>get</a:t>
            </a:r>
            <a:r>
              <a:rPr sz="1300" i="0">
                <a:solidFill>
                  <a:srgbClr val="AEB6BF"/>
                </a:solidFill>
                <a:latin typeface="Consolas"/>
              </a:rPr>
              <a:t>(</a:t>
            </a:r>
            <a:r>
              <a:rPr sz="1300" i="0">
                <a:solidFill>
                  <a:srgbClr val="E8EDF2"/>
                </a:solidFill>
                <a:latin typeface="Consolas"/>
              </a:rPr>
              <a:t>goal</a:t>
            </a:r>
            <a:r>
              <a:rPr sz="1300" i="0">
                <a:solidFill>
                  <a:srgbClr val="AEB6BF"/>
                </a:solidFill>
                <a:latin typeface="Consolas"/>
              </a:rPr>
              <a:t>[</a:t>
            </a:r>
            <a:r>
              <a:rPr sz="1300" i="0">
                <a:solidFill>
                  <a:srgbClr val="F7DC6F"/>
                </a:solidFill>
                <a:latin typeface="Consolas"/>
              </a:rPr>
              <a:t>0</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goal</a:t>
            </a:r>
            <a:r>
              <a:rPr sz="1300" i="0">
                <a:solidFill>
                  <a:srgbClr val="AEB6BF"/>
                </a:solidFill>
                <a:latin typeface="Consolas"/>
              </a:rPr>
              <a:t>[</a:t>
            </a:r>
            <a:r>
              <a:rPr sz="1300" i="0">
                <a:solidFill>
                  <a:srgbClr val="F7DC6F"/>
                </a:solidFill>
                <a:latin typeface="Consolas"/>
              </a:rPr>
              <a:t>1</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return</a:t>
            </a:r>
            <a:r>
              <a:rPr sz="1300" i="0">
                <a:solidFill>
                  <a:srgbClr val="E8EDF2"/>
                </a:solidFill>
                <a:latin typeface="Consolas"/>
              </a:rPr>
              <a:t> </a:t>
            </a:r>
            <a:r>
              <a:rPr sz="1300" i="0">
                <a:solidFill>
                  <a:srgbClr val="5DADE2"/>
                </a:solidFill>
                <a:latin typeface="Consolas"/>
              </a:rPr>
              <a:t>True</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count</a:t>
            </a:r>
            <a:r>
              <a:rPr sz="1300" i="0">
                <a:solidFill>
                  <a:srgbClr val="AEB6BF"/>
                </a:solidFill>
                <a:latin typeface="Consolas"/>
              </a:rPr>
              <a:t>[</a:t>
            </a:r>
            <a:r>
              <a:rPr sz="1300" i="0">
                <a:solidFill>
                  <a:srgbClr val="F7DC6F"/>
                </a:solidFill>
                <a:latin typeface="Consolas"/>
              </a:rPr>
              <a:t>0</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if</a:t>
            </a:r>
            <a:r>
              <a:rPr sz="1300" i="0">
                <a:solidFill>
                  <a:srgbClr val="E8EDF2"/>
                </a:solidFill>
                <a:latin typeface="Consolas"/>
              </a:rPr>
              <a:t> </a:t>
            </a:r>
            <a:r>
              <a:rPr sz="1300" i="0">
                <a:solidFill>
                  <a:srgbClr val="E8EDF2"/>
                </a:solidFill>
                <a:latin typeface="Consolas"/>
              </a:rPr>
              <a:t>goal</a:t>
            </a:r>
            <a:r>
              <a:rPr sz="1300" i="0">
                <a:solidFill>
                  <a:srgbClr val="E8EDF2"/>
                </a:solidFill>
                <a:latin typeface="Consolas"/>
              </a:rPr>
              <a:t> </a:t>
            </a:r>
            <a:r>
              <a:rPr sz="1300" i="0">
                <a:solidFill>
                  <a:srgbClr val="AEB6BF"/>
                </a:solidFill>
                <a:latin typeface="Consolas"/>
              </a:rPr>
              <a:t>in</a:t>
            </a:r>
            <a:r>
              <a:rPr sz="1300" i="0">
                <a:solidFill>
                  <a:srgbClr val="E8EDF2"/>
                </a:solidFill>
                <a:latin typeface="Consolas"/>
              </a:rPr>
              <a:t> </a:t>
            </a:r>
            <a:r>
              <a:rPr sz="1300" i="0">
                <a:solidFill>
                  <a:srgbClr val="E8EDF2"/>
                </a:solidFill>
                <a:latin typeface="Consolas"/>
              </a:rPr>
              <a:t>seen</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return</a:t>
            </a:r>
            <a:r>
              <a:rPr sz="1300" i="0">
                <a:solidFill>
                  <a:srgbClr val="E8EDF2"/>
                </a:solidFill>
                <a:latin typeface="Consolas"/>
              </a:rPr>
              <a:t> </a:t>
            </a:r>
            <a:r>
              <a:rPr sz="1300" i="0">
                <a:solidFill>
                  <a:srgbClr val="5DADE2"/>
                </a:solidFill>
                <a:latin typeface="Consolas"/>
              </a:rPr>
              <a:t>False</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count</a:t>
            </a:r>
            <a:r>
              <a:rPr sz="1300" i="0">
                <a:solidFill>
                  <a:srgbClr val="AEB6BF"/>
                </a:solidFill>
                <a:latin typeface="Consolas"/>
              </a:rPr>
              <a:t>[</a:t>
            </a:r>
            <a:r>
              <a:rPr sz="1300" i="0">
                <a:solidFill>
                  <a:srgbClr val="F7DC6F"/>
                </a:solidFill>
                <a:latin typeface="Consolas"/>
              </a:rPr>
              <a:t>0</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seen</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seen</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goal</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for</a:t>
            </a:r>
            <a:r>
              <a:rPr sz="1300" i="0">
                <a:solidFill>
                  <a:srgbClr val="E8EDF2"/>
                </a:solidFill>
                <a:latin typeface="Consolas"/>
              </a:rPr>
              <a:t> </a:t>
            </a:r>
            <a:r>
              <a:rPr sz="1300" i="0">
                <a:solidFill>
                  <a:srgbClr val="E8EDF2"/>
                </a:solidFill>
                <a:latin typeface="Consolas"/>
              </a:rPr>
              <a:t>r</a:t>
            </a:r>
            <a:r>
              <a:rPr sz="1300" i="0">
                <a:solidFill>
                  <a:srgbClr val="E8EDF2"/>
                </a:solidFill>
                <a:latin typeface="Consolas"/>
              </a:rPr>
              <a:t> </a:t>
            </a:r>
            <a:r>
              <a:rPr sz="1300" i="0">
                <a:solidFill>
                  <a:srgbClr val="AEB6BF"/>
                </a:solidFill>
                <a:latin typeface="Consolas"/>
              </a:rPr>
              <a:t>in</a:t>
            </a:r>
            <a:r>
              <a:rPr sz="1300" i="0">
                <a:solidFill>
                  <a:srgbClr val="E8EDF2"/>
                </a:solidFill>
                <a:latin typeface="Consolas"/>
              </a:rPr>
              <a:t> </a:t>
            </a:r>
            <a:r>
              <a:rPr sz="1300" i="0">
                <a:solidFill>
                  <a:srgbClr val="E8EDF2"/>
                </a:solidFill>
                <a:latin typeface="Consolas"/>
              </a:rPr>
              <a:t>RULES</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if</a:t>
            </a:r>
            <a:r>
              <a:rPr sz="1300" i="0">
                <a:solidFill>
                  <a:srgbClr val="E8EDF2"/>
                </a:solidFill>
                <a:latin typeface="Consolas"/>
              </a:rPr>
              <a:t> </a:t>
            </a:r>
            <a:r>
              <a:rPr sz="1300" i="0">
                <a:solidFill>
                  <a:srgbClr val="E8EDF2"/>
                </a:solidFill>
                <a:latin typeface="Consolas"/>
              </a:rPr>
              <a:t>r</a:t>
            </a:r>
            <a:r>
              <a:rPr sz="1300" i="0">
                <a:solidFill>
                  <a:srgbClr val="AEB6BF"/>
                </a:solidFill>
                <a:latin typeface="Consolas"/>
              </a:rPr>
              <a:t>[</a:t>
            </a:r>
            <a:r>
              <a:rPr sz="1300" i="0">
                <a:solidFill>
                  <a:srgbClr val="F7DC6F"/>
                </a:solidFill>
                <a:latin typeface="Consolas"/>
              </a:rPr>
              <a:t>2</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goal</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continue</a:t>
            </a:r>
          </a:p>
          <a:p>
            <a:pPr>
              <a:lnSpc>
                <a:spcPct val="100000"/>
              </a:lnSpc>
              <a:spcAft>
                <a:spcPts val="0"/>
              </a:spcAft>
            </a:pPr>
            <a:r>
              <a:rPr sz="1300" i="0">
                <a:solidFill>
                  <a:srgbClr val="E8EDF2"/>
                </a:solidFill>
                <a:latin typeface="Consolas"/>
              </a:rPr>
              <a:t>        </a:t>
            </a:r>
            <a:r>
              <a:rPr sz="1300" i="0">
                <a:solidFill>
                  <a:srgbClr val="5DADE2"/>
                </a:solidFill>
                <a:latin typeface="Consolas"/>
              </a:rPr>
              <a:t>if</a:t>
            </a:r>
            <a:r>
              <a:rPr sz="1300" i="0">
                <a:solidFill>
                  <a:srgbClr val="E8EDF2"/>
                </a:solidFill>
                <a:latin typeface="Consolas"/>
              </a:rPr>
              <a:t> </a:t>
            </a:r>
            <a:r>
              <a:rPr sz="1300" i="0">
                <a:solidFill>
                  <a:srgbClr val="C39BD3"/>
                </a:solidFill>
                <a:latin typeface="Consolas"/>
              </a:rPr>
              <a:t>all</a:t>
            </a:r>
            <a:r>
              <a:rPr sz="1300" i="0">
                <a:solidFill>
                  <a:srgbClr val="AEB6BF"/>
                </a:solidFill>
                <a:latin typeface="Consolas"/>
              </a:rPr>
              <a:t>(</a:t>
            </a:r>
            <a:r>
              <a:rPr sz="1300" i="0">
                <a:solidFill>
                  <a:srgbClr val="E8EDF2"/>
                </a:solidFill>
                <a:latin typeface="Consolas"/>
              </a:rPr>
              <a:t>goals_visited</a:t>
            </a:r>
            <a:r>
              <a:rPr sz="1300" i="0">
                <a:solidFill>
                  <a:srgbClr val="AEB6BF"/>
                </a:solidFill>
                <a:latin typeface="Consolas"/>
              </a:rPr>
              <a:t>(</a:t>
            </a:r>
            <a:r>
              <a:rPr sz="1300" i="0">
                <a:solidFill>
                  <a:srgbClr val="E8EDF2"/>
                </a:solidFill>
                <a:latin typeface="Consolas"/>
              </a:rPr>
              <a:t>c</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facts</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seen</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count</a:t>
            </a:r>
            <a:r>
              <a:rPr sz="1300" i="0">
                <a:solidFill>
                  <a:srgbClr val="AEB6BF"/>
                </a:solidFill>
                <a:latin typeface="Consolas"/>
              </a:rPr>
              <a:t>)</a:t>
            </a:r>
            <a:r>
              <a:rPr sz="1300" i="0">
                <a:solidFill>
                  <a:srgbClr val="AEB6BF"/>
                </a:solidFill>
                <a:latin typeface="Consolas"/>
              </a:rPr>
              <a:t>[</a:t>
            </a:r>
            <a:r>
              <a:rPr sz="1300" i="0">
                <a:solidFill>
                  <a:srgbClr val="F7DC6F"/>
                </a:solidFill>
                <a:latin typeface="Consolas"/>
              </a:rPr>
              <a:t>0</a:t>
            </a:r>
            <a:r>
              <a:rPr sz="1300" i="0">
                <a:solidFill>
                  <a:srgbClr val="AEB6BF"/>
                </a:solidFill>
                <a:latin typeface="Consolas"/>
              </a:rPr>
              <a:t>]</a:t>
            </a:r>
            <a:r>
              <a:rPr sz="1300" i="0">
                <a:solidFill>
                  <a:srgbClr val="E8EDF2"/>
                </a:solidFill>
                <a:latin typeface="Consolas"/>
              </a:rPr>
              <a:t> </a:t>
            </a:r>
            <a:r>
              <a:rPr sz="1300" i="0">
                <a:solidFill>
                  <a:srgbClr val="5DADE2"/>
                </a:solidFill>
                <a:latin typeface="Consolas"/>
              </a:rPr>
              <a:t>for</a:t>
            </a:r>
            <a:r>
              <a:rPr sz="1300" i="0">
                <a:solidFill>
                  <a:srgbClr val="E8EDF2"/>
                </a:solidFill>
                <a:latin typeface="Consolas"/>
              </a:rPr>
              <a:t> </a:t>
            </a:r>
            <a:r>
              <a:rPr sz="1300" i="0">
                <a:solidFill>
                  <a:srgbClr val="E8EDF2"/>
                </a:solidFill>
                <a:latin typeface="Consolas"/>
              </a:rPr>
              <a:t>c</a:t>
            </a:r>
            <a:r>
              <a:rPr sz="1300" i="0">
                <a:solidFill>
                  <a:srgbClr val="E8EDF2"/>
                </a:solidFill>
                <a:latin typeface="Consolas"/>
              </a:rPr>
              <a:t> </a:t>
            </a:r>
            <a:r>
              <a:rPr sz="1300" i="0">
                <a:solidFill>
                  <a:srgbClr val="AEB6BF"/>
                </a:solidFill>
                <a:latin typeface="Consolas"/>
              </a:rPr>
              <a:t>in</a:t>
            </a:r>
            <a:r>
              <a:rPr sz="1300" i="0">
                <a:solidFill>
                  <a:srgbClr val="E8EDF2"/>
                </a:solidFill>
                <a:latin typeface="Consolas"/>
              </a:rPr>
              <a:t> </a:t>
            </a:r>
            <a:r>
              <a:rPr sz="1300" i="0">
                <a:solidFill>
                  <a:srgbClr val="E8EDF2"/>
                </a:solidFill>
                <a:latin typeface="Consolas"/>
              </a:rPr>
              <a:t>r</a:t>
            </a:r>
            <a:r>
              <a:rPr sz="1300" i="0">
                <a:solidFill>
                  <a:srgbClr val="AEB6BF"/>
                </a:solidFill>
                <a:latin typeface="Consolas"/>
              </a:rPr>
              <a:t>[</a:t>
            </a:r>
            <a:r>
              <a:rPr sz="1300" i="0">
                <a:solidFill>
                  <a:srgbClr val="F7DC6F"/>
                </a:solidFill>
                <a:latin typeface="Consolas"/>
              </a:rPr>
              <a:t>1</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return</a:t>
            </a:r>
            <a:r>
              <a:rPr sz="1300" i="0">
                <a:solidFill>
                  <a:srgbClr val="E8EDF2"/>
                </a:solidFill>
                <a:latin typeface="Consolas"/>
              </a:rPr>
              <a:t> </a:t>
            </a:r>
            <a:r>
              <a:rPr sz="1300" i="0">
                <a:solidFill>
                  <a:srgbClr val="5DADE2"/>
                </a:solidFill>
                <a:latin typeface="Consolas"/>
              </a:rPr>
              <a:t>True</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count</a:t>
            </a:r>
            <a:r>
              <a:rPr sz="1300" i="0">
                <a:solidFill>
                  <a:srgbClr val="AEB6BF"/>
                </a:solidFill>
                <a:latin typeface="Consolas"/>
              </a:rPr>
              <a:t>[</a:t>
            </a:r>
            <a:r>
              <a:rPr sz="1300" i="0">
                <a:solidFill>
                  <a:srgbClr val="F7DC6F"/>
                </a:solidFill>
                <a:latin typeface="Consolas"/>
              </a:rPr>
              <a:t>0</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return</a:t>
            </a:r>
            <a:r>
              <a:rPr sz="1300" i="0">
                <a:solidFill>
                  <a:srgbClr val="E8EDF2"/>
                </a:solidFill>
                <a:latin typeface="Consolas"/>
              </a:rPr>
              <a:t> </a:t>
            </a:r>
            <a:r>
              <a:rPr sz="1300" i="0">
                <a:solidFill>
                  <a:srgbClr val="5DADE2"/>
                </a:solidFill>
                <a:latin typeface="Consolas"/>
              </a:rPr>
              <a:t>False</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count</a:t>
            </a:r>
            <a:r>
              <a:rPr sz="1300" i="0">
                <a:solidFill>
                  <a:srgbClr val="AEB6BF"/>
                </a:solidFill>
                <a:latin typeface="Consolas"/>
              </a:rPr>
              <a:t>[</a:t>
            </a:r>
            <a:r>
              <a:rPr sz="1300" i="0">
                <a:solidFill>
                  <a:srgbClr val="F7DC6F"/>
                </a:solidFill>
                <a:latin typeface="Consolas"/>
              </a:rPr>
              <a:t>0</a:t>
            </a:r>
            <a:r>
              <a:rPr sz="1300" i="0">
                <a:solidFill>
                  <a:srgbClr val="AEB6BF"/>
                </a:solidFill>
                <a:latin typeface="Consolas"/>
              </a:rPr>
              <a:t>]</a:t>
            </a:r>
          </a:p>
        </p:txBody>
      </p:sp>
      <p:sp>
        <p:nvSpPr>
          <p:cNvPr id="15" name="!!code-num"/>
          <p:cNvSpPr txBox="1"/>
          <p:nvPr/>
        </p:nvSpPr>
        <p:spPr>
          <a:xfrm>
            <a:off x="768096" y="2523744"/>
            <a:ext cx="393192" cy="3675887"/>
          </a:xfrm>
          <a:prstGeom prst="rect">
            <a:avLst/>
          </a:prstGeom>
          <a:noFill/>
        </p:spPr>
        <p:txBody>
          <a:bodyPr wrap="none" anchor="t" lIns="0" rIns="0" tIns="0" bIns="0">
            <a:noAutofit/>
          </a:bodyPr>
          <a:lstStyle/>
          <a:p>
            <a:pPr algn="r">
              <a:lnSpc>
                <a:spcPct val="100000"/>
              </a:lnSpc>
            </a:pPr>
            <a:r>
              <a:rPr sz="1300">
                <a:solidFill>
                  <a:srgbClr val="4F5D6A"/>
                </a:solidFill>
                <a:latin typeface="Consolas"/>
              </a:rPr>
              <a:t>150</a:t>
            </a:r>
          </a:p>
          <a:p>
            <a:pPr algn="r">
              <a:lnSpc>
                <a:spcPct val="100000"/>
              </a:lnSpc>
            </a:pPr>
            <a:r>
              <a:rPr sz="1300">
                <a:solidFill>
                  <a:srgbClr val="4F5D6A"/>
                </a:solidFill>
                <a:latin typeface="Consolas"/>
              </a:rPr>
              <a:t>151</a:t>
            </a:r>
          </a:p>
          <a:p>
            <a:pPr algn="r">
              <a:lnSpc>
                <a:spcPct val="100000"/>
              </a:lnSpc>
            </a:pPr>
            <a:r>
              <a:rPr sz="1300">
                <a:solidFill>
                  <a:srgbClr val="4F5D6A"/>
                </a:solidFill>
                <a:latin typeface="Consolas"/>
              </a:rPr>
              <a:t>152</a:t>
            </a:r>
          </a:p>
          <a:p>
            <a:pPr algn="r">
              <a:lnSpc>
                <a:spcPct val="100000"/>
              </a:lnSpc>
            </a:pPr>
            <a:r>
              <a:rPr sz="1300">
                <a:solidFill>
                  <a:srgbClr val="4F5D6A"/>
                </a:solidFill>
                <a:latin typeface="Consolas"/>
              </a:rPr>
              <a:t>153</a:t>
            </a:r>
          </a:p>
          <a:p>
            <a:pPr algn="r">
              <a:lnSpc>
                <a:spcPct val="100000"/>
              </a:lnSpc>
            </a:pPr>
            <a:r>
              <a:rPr sz="1300">
                <a:solidFill>
                  <a:srgbClr val="4F5D6A"/>
                </a:solidFill>
                <a:latin typeface="Consolas"/>
              </a:rPr>
              <a:t>154</a:t>
            </a:r>
          </a:p>
          <a:p>
            <a:pPr algn="r">
              <a:lnSpc>
                <a:spcPct val="100000"/>
              </a:lnSpc>
            </a:pPr>
            <a:r>
              <a:rPr sz="1300">
                <a:solidFill>
                  <a:srgbClr val="4F5D6A"/>
                </a:solidFill>
                <a:latin typeface="Consolas"/>
              </a:rPr>
              <a:t>155</a:t>
            </a:r>
          </a:p>
          <a:p>
            <a:pPr algn="r">
              <a:lnSpc>
                <a:spcPct val="100000"/>
              </a:lnSpc>
            </a:pPr>
            <a:r>
              <a:rPr sz="1300">
                <a:solidFill>
                  <a:srgbClr val="4F5D6A"/>
                </a:solidFill>
                <a:latin typeface="Consolas"/>
              </a:rPr>
              <a:t>156</a:t>
            </a:r>
          </a:p>
          <a:p>
            <a:pPr algn="r">
              <a:lnSpc>
                <a:spcPct val="100000"/>
              </a:lnSpc>
            </a:pPr>
            <a:r>
              <a:rPr sz="1300">
                <a:solidFill>
                  <a:srgbClr val="4F5D6A"/>
                </a:solidFill>
                <a:latin typeface="Consolas"/>
              </a:rPr>
              <a:t>157</a:t>
            </a:r>
          </a:p>
          <a:p>
            <a:pPr algn="r">
              <a:lnSpc>
                <a:spcPct val="100000"/>
              </a:lnSpc>
            </a:pPr>
            <a:r>
              <a:rPr sz="1300">
                <a:solidFill>
                  <a:srgbClr val="4F5D6A"/>
                </a:solidFill>
                <a:latin typeface="Consolas"/>
              </a:rPr>
              <a:t>158</a:t>
            </a:r>
          </a:p>
          <a:p>
            <a:pPr algn="r">
              <a:lnSpc>
                <a:spcPct val="100000"/>
              </a:lnSpc>
            </a:pPr>
            <a:r>
              <a:rPr sz="1300">
                <a:solidFill>
                  <a:srgbClr val="4F5D6A"/>
                </a:solidFill>
                <a:latin typeface="Consolas"/>
              </a:rPr>
              <a:t>159</a:t>
            </a:r>
          </a:p>
          <a:p>
            <a:pPr algn="r">
              <a:lnSpc>
                <a:spcPct val="100000"/>
              </a:lnSpc>
            </a:pPr>
            <a:r>
              <a:rPr sz="1300">
                <a:solidFill>
                  <a:srgbClr val="4F5D6A"/>
                </a:solidFill>
                <a:latin typeface="Consolas"/>
              </a:rPr>
              <a:t>160</a:t>
            </a:r>
          </a:p>
          <a:p>
            <a:pPr algn="r">
              <a:lnSpc>
                <a:spcPct val="100000"/>
              </a:lnSpc>
            </a:pPr>
            <a:r>
              <a:rPr sz="1300">
                <a:solidFill>
                  <a:srgbClr val="4F5D6A"/>
                </a:solidFill>
                <a:latin typeface="Consolas"/>
              </a:rPr>
              <a:t>161</a:t>
            </a:r>
          </a:p>
          <a:p>
            <a:pPr algn="r">
              <a:lnSpc>
                <a:spcPct val="100000"/>
              </a:lnSpc>
            </a:pPr>
            <a:r>
              <a:rPr sz="1300">
                <a:solidFill>
                  <a:srgbClr val="4F5D6A"/>
                </a:solidFill>
                <a:latin typeface="Consolas"/>
              </a:rPr>
              <a:t>162</a:t>
            </a:r>
          </a:p>
          <a:p>
            <a:pPr algn="r">
              <a:lnSpc>
                <a:spcPct val="100000"/>
              </a:lnSpc>
            </a:pPr>
            <a:r>
              <a:rPr sz="1300">
                <a:solidFill>
                  <a:srgbClr val="4F5D6A"/>
                </a:solidFill>
                <a:latin typeface="Consolas"/>
              </a:rPr>
              <a:t>163</a:t>
            </a:r>
          </a:p>
          <a:p>
            <a:pPr algn="r">
              <a:lnSpc>
                <a:spcPct val="100000"/>
              </a:lnSpc>
            </a:pPr>
            <a:r>
              <a:rPr sz="1300">
                <a:solidFill>
                  <a:srgbClr val="4F5D6A"/>
                </a:solidFill>
                <a:latin typeface="Consolas"/>
              </a:rPr>
              <a:t>164</a:t>
            </a:r>
          </a:p>
          <a:p>
            <a:pPr algn="r">
              <a:lnSpc>
                <a:spcPct val="100000"/>
              </a:lnSpc>
            </a:pPr>
            <a:r>
              <a:rPr sz="1300">
                <a:solidFill>
                  <a:srgbClr val="4F5D6A"/>
                </a:solidFill>
                <a:latin typeface="Consolas"/>
              </a:rPr>
              <a:t>165</a:t>
            </a:r>
          </a:p>
          <a:p>
            <a:pPr algn="r">
              <a:lnSpc>
                <a:spcPct val="100000"/>
              </a:lnSpc>
            </a:pPr>
            <a:r>
              <a:rPr sz="1300">
                <a:solidFill>
                  <a:srgbClr val="4F5D6A"/>
                </a:solidFill>
                <a:latin typeface="Consolas"/>
              </a:rPr>
              <a:t>166</a:t>
            </a:r>
          </a:p>
          <a:p>
            <a:pPr algn="r">
              <a:lnSpc>
                <a:spcPct val="100000"/>
              </a:lnSpc>
            </a:pPr>
            <a:r>
              <a:rPr sz="1300">
                <a:solidFill>
                  <a:srgbClr val="4F5D6A"/>
                </a:solidFill>
                <a:latin typeface="Consolas"/>
              </a:rPr>
              <a:t>167</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232361"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Twenty-Rule Escalation Shell That Explains Itself</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13 OF 21</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13  ·  Rule-Based Expert Systems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§13.6  ·  Handout p. 136     </a:t>
            </a:r>
            <a:fld id="{D88F0772-2022-4064-B4BB-D3FBB4EED863}" type="slidenum">
              <a:rPr lang="en-GB" sz="1000">
                <a:solidFill>
                  <a:srgbClr val="8795A1"/>
                </a:solidFill>
                <a:latin typeface="Segoe UI"/>
              </a:rPr>
              <a:t>36</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Set-up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621024"/>
          </a:xfrm>
          <a:prstGeom prst="roundRect">
            <a:avLst>
              <a:gd name="adj" fmla="val 2525"/>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code/ch13_twenty_rule_escalation.py</a:t>
            </a:r>
          </a:p>
        </p:txBody>
      </p:sp>
      <p:sp>
        <p:nvSpPr>
          <p:cNvPr id="14" name="!!code-text" descr="if __name__ == &quot;__main__&quot;: print(&quot;rule base: %d rules&quot; % len(RULES)) print() print(&quot;ticket action rules tests cycles&quot;) print(&quot;-&quot; * 52) results = {} for tid, facts in TICKETS.items(): wm, t = forward_chain(facts) results[tid] = (wm, t) print(&quot;%-9s %-19s %5d %6d %7d&quot; % (tid, wm.get(&quot;action&quot;), len(t.fired), t.tests, t.cycles))"/>
          <p:cNvSpPr txBox="1"/>
          <p:nvPr/>
        </p:nvSpPr>
        <p:spPr>
          <a:xfrm>
            <a:off x="1362456" y="2523744"/>
            <a:ext cx="9987991" cy="3127248"/>
          </a:xfrm>
          <a:prstGeom prst="rect">
            <a:avLst/>
          </a:prstGeom>
          <a:noFill/>
        </p:spPr>
        <p:txBody>
          <a:bodyPr wrap="none" anchor="t" lIns="0" rIns="0" tIns="0" bIns="0">
            <a:noAutofit/>
          </a:bodyPr>
          <a:lstStyle/>
          <a:p>
            <a:pPr>
              <a:lnSpc>
                <a:spcPct val="100000"/>
              </a:lnSpc>
              <a:spcAft>
                <a:spcPts val="0"/>
              </a:spcAft>
            </a:pPr>
            <a:r>
              <a:rPr sz="1800" i="0">
                <a:solidFill>
                  <a:srgbClr val="5DADE2"/>
                </a:solidFill>
                <a:latin typeface="Consolas"/>
              </a:rPr>
              <a:t>if</a:t>
            </a:r>
            <a:r>
              <a:rPr sz="1800" i="0">
                <a:solidFill>
                  <a:srgbClr val="E8EDF2"/>
                </a:solidFill>
                <a:latin typeface="Consolas"/>
              </a:rPr>
              <a:t> </a:t>
            </a:r>
            <a:r>
              <a:rPr sz="1800" i="0">
                <a:solidFill>
                  <a:srgbClr val="E8EDF2"/>
                </a:solidFill>
                <a:latin typeface="Consolas"/>
              </a:rPr>
              <a:t>__name__</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__main__</a:t>
            </a:r>
            <a:r>
              <a:rPr sz="1800" i="0">
                <a:solidFill>
                  <a:srgbClr val="7DCEA0"/>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rule base: </a:t>
            </a:r>
            <a:r>
              <a:rPr sz="1800" i="0">
                <a:solidFill>
                  <a:srgbClr val="7DCEA0"/>
                </a:solidFill>
                <a:latin typeface="Consolas"/>
              </a:rPr>
              <a:t>%d</a:t>
            </a:r>
            <a:r>
              <a:rPr sz="1800" i="0">
                <a:solidFill>
                  <a:srgbClr val="7DCEA0"/>
                </a:solidFill>
                <a:latin typeface="Consolas"/>
              </a:rPr>
              <a:t> rules</a:t>
            </a:r>
            <a:r>
              <a:rPr sz="1800" i="0">
                <a:solidFill>
                  <a:srgbClr val="7DCEA0"/>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C39BD3"/>
                </a:solidFill>
                <a:latin typeface="Consolas"/>
              </a:rPr>
              <a:t>len</a:t>
            </a:r>
            <a:r>
              <a:rPr sz="1800" i="0">
                <a:solidFill>
                  <a:srgbClr val="AEB6BF"/>
                </a:solidFill>
                <a:latin typeface="Consolas"/>
              </a:rPr>
              <a:t>(</a:t>
            </a:r>
            <a:r>
              <a:rPr sz="1800" i="0">
                <a:solidFill>
                  <a:srgbClr val="E8EDF2"/>
                </a:solidFill>
                <a:latin typeface="Consolas"/>
              </a:rPr>
              <a:t>RULES</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C39BD3"/>
                </a:solidFill>
                <a:latin typeface="Consolas"/>
              </a:rPr>
              <a:t>print</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ticket    action              rules  tests  cycles</a:t>
            </a:r>
            <a:r>
              <a:rPr sz="1800" i="0">
                <a:solidFill>
                  <a:srgbClr val="7DCEA0"/>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a:t>
            </a:r>
            <a:r>
              <a:rPr sz="1800" i="0">
                <a:solidFill>
                  <a:srgbClr val="7DCEA0"/>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52</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results</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5DADE2"/>
                </a:solidFill>
                <a:latin typeface="Consolas"/>
              </a:rPr>
              <a:t>for</a:t>
            </a:r>
            <a:r>
              <a:rPr sz="1800" i="0">
                <a:solidFill>
                  <a:srgbClr val="E8EDF2"/>
                </a:solidFill>
                <a:latin typeface="Consolas"/>
              </a:rPr>
              <a:t> </a:t>
            </a:r>
            <a:r>
              <a:rPr sz="1800" i="0">
                <a:solidFill>
                  <a:srgbClr val="E8EDF2"/>
                </a:solidFill>
                <a:latin typeface="Consolas"/>
              </a:rPr>
              <a:t>tid</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facts</a:t>
            </a:r>
            <a:r>
              <a:rPr sz="1800" i="0">
                <a:solidFill>
                  <a:srgbClr val="E8EDF2"/>
                </a:solidFill>
                <a:latin typeface="Consolas"/>
              </a:rPr>
              <a:t> </a:t>
            </a:r>
            <a:r>
              <a:rPr sz="1800" i="0">
                <a:solidFill>
                  <a:srgbClr val="AEB6BF"/>
                </a:solidFill>
                <a:latin typeface="Consolas"/>
              </a:rPr>
              <a:t>in</a:t>
            </a:r>
            <a:r>
              <a:rPr sz="1800" i="0">
                <a:solidFill>
                  <a:srgbClr val="E8EDF2"/>
                </a:solidFill>
                <a:latin typeface="Consolas"/>
              </a:rPr>
              <a:t> </a:t>
            </a:r>
            <a:r>
              <a:rPr sz="1800" i="0">
                <a:solidFill>
                  <a:srgbClr val="E8EDF2"/>
                </a:solidFill>
                <a:latin typeface="Consolas"/>
              </a:rPr>
              <a:t>TICKETS</a:t>
            </a:r>
            <a:r>
              <a:rPr sz="1800" i="0">
                <a:solidFill>
                  <a:srgbClr val="AEB6BF"/>
                </a:solidFill>
                <a:latin typeface="Consolas"/>
              </a:rPr>
              <a:t>.</a:t>
            </a:r>
            <a:r>
              <a:rPr sz="1800" i="0">
                <a:solidFill>
                  <a:srgbClr val="E8EDF2"/>
                </a:solidFill>
                <a:latin typeface="Consolas"/>
              </a:rPr>
              <a:t>items</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wm</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forward_chain</a:t>
            </a:r>
            <a:r>
              <a:rPr sz="1800" i="0">
                <a:solidFill>
                  <a:srgbClr val="AEB6BF"/>
                </a:solidFill>
                <a:latin typeface="Consolas"/>
              </a:rPr>
              <a:t>(</a:t>
            </a:r>
            <a:r>
              <a:rPr sz="1800" i="0">
                <a:solidFill>
                  <a:srgbClr val="E8EDF2"/>
                </a:solidFill>
                <a:latin typeface="Consolas"/>
              </a:rPr>
              <a:t>facts</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results</a:t>
            </a:r>
            <a:r>
              <a:rPr sz="1800" i="0">
                <a:solidFill>
                  <a:srgbClr val="AEB6BF"/>
                </a:solidFill>
                <a:latin typeface="Consolas"/>
              </a:rPr>
              <a:t>[</a:t>
            </a:r>
            <a:r>
              <a:rPr sz="1800" i="0">
                <a:solidFill>
                  <a:srgbClr val="E8EDF2"/>
                </a:solidFill>
                <a:latin typeface="Consolas"/>
              </a:rPr>
              <a:t>tid</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wm</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%-9s</a:t>
            </a:r>
            <a:r>
              <a:rPr sz="1800" i="0">
                <a:solidFill>
                  <a:srgbClr val="7DCEA0"/>
                </a:solidFill>
                <a:latin typeface="Consolas"/>
              </a:rPr>
              <a:t> </a:t>
            </a:r>
            <a:r>
              <a:rPr sz="1800" i="0">
                <a:solidFill>
                  <a:srgbClr val="7DCEA0"/>
                </a:solidFill>
                <a:latin typeface="Consolas"/>
              </a:rPr>
              <a:t>%-19s</a:t>
            </a:r>
            <a:r>
              <a:rPr sz="1800" i="0">
                <a:solidFill>
                  <a:srgbClr val="7DCEA0"/>
                </a:solidFill>
                <a:latin typeface="Consolas"/>
              </a:rPr>
              <a:t> </a:t>
            </a:r>
            <a:r>
              <a:rPr sz="1800" i="0">
                <a:solidFill>
                  <a:srgbClr val="7DCEA0"/>
                </a:solidFill>
                <a:latin typeface="Consolas"/>
              </a:rPr>
              <a:t>%5d</a:t>
            </a:r>
            <a:r>
              <a:rPr sz="1800" i="0">
                <a:solidFill>
                  <a:srgbClr val="7DCEA0"/>
                </a:solidFill>
                <a:latin typeface="Consolas"/>
              </a:rPr>
              <a:t> </a:t>
            </a:r>
            <a:r>
              <a:rPr sz="1800" i="0">
                <a:solidFill>
                  <a:srgbClr val="7DCEA0"/>
                </a:solidFill>
                <a:latin typeface="Consolas"/>
              </a:rPr>
              <a:t>%6d</a:t>
            </a:r>
            <a:r>
              <a:rPr sz="1800" i="0">
                <a:solidFill>
                  <a:srgbClr val="7DCEA0"/>
                </a:solidFill>
                <a:latin typeface="Consolas"/>
              </a:rPr>
              <a:t> </a:t>
            </a:r>
            <a:r>
              <a:rPr sz="1800" i="0">
                <a:solidFill>
                  <a:srgbClr val="7DCEA0"/>
                </a:solidFill>
                <a:latin typeface="Consolas"/>
              </a:rPr>
              <a:t>%7d</a:t>
            </a:r>
            <a:r>
              <a:rPr sz="1800" i="0">
                <a:solidFill>
                  <a:srgbClr val="7DCEA0"/>
                </a:solidFill>
                <a:latin typeface="Consolas"/>
              </a:rPr>
              <a:t>"</a:t>
            </a:r>
          </a:p>
          <a:p>
            <a:pPr>
              <a:lnSpc>
                <a:spcPct val="100000"/>
              </a:lnSpc>
              <a:spcAft>
                <a:spcPts val="0"/>
              </a:spcAft>
            </a:pP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tid</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wm</a:t>
            </a:r>
            <a:r>
              <a:rPr sz="1800" i="0">
                <a:solidFill>
                  <a:srgbClr val="AEB6BF"/>
                </a:solidFill>
                <a:latin typeface="Consolas"/>
              </a:rPr>
              <a:t>.</a:t>
            </a:r>
            <a:r>
              <a:rPr sz="1800" i="0">
                <a:solidFill>
                  <a:srgbClr val="E8EDF2"/>
                </a:solidFill>
                <a:latin typeface="Consolas"/>
              </a:rPr>
              <a:t>get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action</a:t>
            </a:r>
            <a:r>
              <a:rPr sz="1800" i="0">
                <a:solidFill>
                  <a:srgbClr val="7DCEA0"/>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C39BD3"/>
                </a:solidFill>
                <a:latin typeface="Consolas"/>
              </a:rPr>
              <a:t>len</a:t>
            </a:r>
            <a:r>
              <a:rPr sz="1800" i="0">
                <a:solidFill>
                  <a:srgbClr val="AEB6BF"/>
                </a:solidFill>
                <a:latin typeface="Consolas"/>
              </a:rPr>
              <a:t>(</a:t>
            </a:r>
            <a:r>
              <a:rPr sz="1800" i="0">
                <a:solidFill>
                  <a:srgbClr val="E8EDF2"/>
                </a:solidFill>
                <a:latin typeface="Consolas"/>
              </a:rPr>
              <a:t>t</a:t>
            </a:r>
            <a:r>
              <a:rPr sz="1800" i="0">
                <a:solidFill>
                  <a:srgbClr val="AEB6BF"/>
                </a:solidFill>
                <a:latin typeface="Consolas"/>
              </a:rPr>
              <a:t>.</a:t>
            </a:r>
            <a:r>
              <a:rPr sz="1800" i="0">
                <a:solidFill>
                  <a:srgbClr val="E8EDF2"/>
                </a:solidFill>
                <a:latin typeface="Consolas"/>
              </a:rPr>
              <a:t>fired</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t</a:t>
            </a:r>
            <a:r>
              <a:rPr sz="1800" i="0">
                <a:solidFill>
                  <a:srgbClr val="AEB6BF"/>
                </a:solidFill>
                <a:latin typeface="Consolas"/>
              </a:rPr>
              <a:t>.</a:t>
            </a:r>
            <a:r>
              <a:rPr sz="1800" i="0">
                <a:solidFill>
                  <a:srgbClr val="E8EDF2"/>
                </a:solidFill>
                <a:latin typeface="Consolas"/>
              </a:rPr>
              <a:t>tests</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t</a:t>
            </a:r>
            <a:r>
              <a:rPr sz="1800" i="0">
                <a:solidFill>
                  <a:srgbClr val="AEB6BF"/>
                </a:solidFill>
                <a:latin typeface="Consolas"/>
              </a:rPr>
              <a:t>.</a:t>
            </a:r>
            <a:r>
              <a:rPr sz="1800" i="0">
                <a:solidFill>
                  <a:srgbClr val="E8EDF2"/>
                </a:solidFill>
                <a:latin typeface="Consolas"/>
              </a:rPr>
              <a:t>cycles</a:t>
            </a:r>
            <a:r>
              <a:rPr sz="1800" i="0">
                <a:solidFill>
                  <a:srgbClr val="AEB6BF"/>
                </a:solidFill>
                <a:latin typeface="Consolas"/>
              </a:rPr>
              <a:t>)</a:t>
            </a:r>
            <a:r>
              <a:rPr sz="1800" i="0">
                <a:solidFill>
                  <a:srgbClr val="AEB6BF"/>
                </a:solidFill>
                <a:latin typeface="Consolas"/>
              </a:rPr>
              <a:t>)</a:t>
            </a:r>
          </a:p>
        </p:txBody>
      </p:sp>
      <p:sp>
        <p:nvSpPr>
          <p:cNvPr id="15" name="!!code-num"/>
          <p:cNvSpPr txBox="1"/>
          <p:nvPr/>
        </p:nvSpPr>
        <p:spPr>
          <a:xfrm>
            <a:off x="768096" y="2523744"/>
            <a:ext cx="393192" cy="3127248"/>
          </a:xfrm>
          <a:prstGeom prst="rect">
            <a:avLst/>
          </a:prstGeom>
          <a:noFill/>
        </p:spPr>
        <p:txBody>
          <a:bodyPr wrap="none" anchor="t" lIns="0" rIns="0" tIns="0" bIns="0">
            <a:noAutofit/>
          </a:bodyPr>
          <a:lstStyle/>
          <a:p>
            <a:pPr algn="r">
              <a:lnSpc>
                <a:spcPct val="100000"/>
              </a:lnSpc>
            </a:pPr>
            <a:r>
              <a:rPr sz="1800">
                <a:solidFill>
                  <a:srgbClr val="4F5D6A"/>
                </a:solidFill>
                <a:latin typeface="Consolas"/>
              </a:rPr>
              <a:t>170</a:t>
            </a:r>
          </a:p>
          <a:p>
            <a:pPr algn="r">
              <a:lnSpc>
                <a:spcPct val="100000"/>
              </a:lnSpc>
            </a:pPr>
            <a:r>
              <a:rPr sz="1800">
                <a:solidFill>
                  <a:srgbClr val="4F5D6A"/>
                </a:solidFill>
                <a:latin typeface="Consolas"/>
              </a:rPr>
              <a:t>171</a:t>
            </a:r>
          </a:p>
          <a:p>
            <a:pPr algn="r">
              <a:lnSpc>
                <a:spcPct val="100000"/>
              </a:lnSpc>
            </a:pPr>
            <a:r>
              <a:rPr sz="1800">
                <a:solidFill>
                  <a:srgbClr val="4F5D6A"/>
                </a:solidFill>
                <a:latin typeface="Consolas"/>
              </a:rPr>
              <a:t>172</a:t>
            </a:r>
          </a:p>
          <a:p>
            <a:pPr algn="r">
              <a:lnSpc>
                <a:spcPct val="100000"/>
              </a:lnSpc>
            </a:pPr>
            <a:r>
              <a:rPr sz="1800">
                <a:solidFill>
                  <a:srgbClr val="4F5D6A"/>
                </a:solidFill>
                <a:latin typeface="Consolas"/>
              </a:rPr>
              <a:t>173</a:t>
            </a:r>
          </a:p>
          <a:p>
            <a:pPr algn="r">
              <a:lnSpc>
                <a:spcPct val="100000"/>
              </a:lnSpc>
            </a:pPr>
            <a:r>
              <a:rPr sz="1800">
                <a:solidFill>
                  <a:srgbClr val="4F5D6A"/>
                </a:solidFill>
                <a:latin typeface="Consolas"/>
              </a:rPr>
              <a:t>174</a:t>
            </a:r>
          </a:p>
          <a:p>
            <a:pPr algn="r">
              <a:lnSpc>
                <a:spcPct val="100000"/>
              </a:lnSpc>
            </a:pPr>
            <a:r>
              <a:rPr sz="1800">
                <a:solidFill>
                  <a:srgbClr val="4F5D6A"/>
                </a:solidFill>
                <a:latin typeface="Consolas"/>
              </a:rPr>
              <a:t>175</a:t>
            </a:r>
          </a:p>
          <a:p>
            <a:pPr algn="r">
              <a:lnSpc>
                <a:spcPct val="100000"/>
              </a:lnSpc>
            </a:pPr>
            <a:r>
              <a:rPr sz="1800">
                <a:solidFill>
                  <a:srgbClr val="4F5D6A"/>
                </a:solidFill>
                <a:latin typeface="Consolas"/>
              </a:rPr>
              <a:t>176</a:t>
            </a:r>
          </a:p>
          <a:p>
            <a:pPr algn="r">
              <a:lnSpc>
                <a:spcPct val="100000"/>
              </a:lnSpc>
            </a:pPr>
            <a:r>
              <a:rPr sz="1800">
                <a:solidFill>
                  <a:srgbClr val="4F5D6A"/>
                </a:solidFill>
                <a:latin typeface="Consolas"/>
              </a:rPr>
              <a:t>177</a:t>
            </a:r>
          </a:p>
          <a:p>
            <a:pPr algn="r">
              <a:lnSpc>
                <a:spcPct val="100000"/>
              </a:lnSpc>
            </a:pPr>
            <a:r>
              <a:rPr sz="1800">
                <a:solidFill>
                  <a:srgbClr val="4F5D6A"/>
                </a:solidFill>
                <a:latin typeface="Consolas"/>
              </a:rPr>
              <a:t>178</a:t>
            </a:r>
          </a:p>
          <a:p>
            <a:pPr algn="r">
              <a:lnSpc>
                <a:spcPct val="100000"/>
              </a:lnSpc>
            </a:pPr>
            <a:r>
              <a:rPr sz="1800">
                <a:solidFill>
                  <a:srgbClr val="4F5D6A"/>
                </a:solidFill>
                <a:latin typeface="Consolas"/>
              </a:rPr>
              <a:t>179</a:t>
            </a:r>
          </a:p>
          <a:p>
            <a:pPr algn="r">
              <a:lnSpc>
                <a:spcPct val="100000"/>
              </a:lnSpc>
            </a:pPr>
            <a:r>
              <a:rPr sz="1800">
                <a:solidFill>
                  <a:srgbClr val="4F5D6A"/>
                </a:solidFill>
                <a:latin typeface="Consolas"/>
              </a:rPr>
              <a:t>180</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439000"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Twenty-Rule Escalation Shell That Explains Itself</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14 OF 21</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13  ·  Rule-Based Expert Systems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§13.6  ·  Handout p. 136     </a:t>
            </a:r>
            <a:fld id="{19540D59-D704-40BC-A2C4-3DD4DA221622}" type="slidenum">
              <a:rPr lang="en-GB" sz="1000">
                <a:solidFill>
                  <a:srgbClr val="8795A1"/>
                </a:solidFill>
                <a:latin typeface="Segoe UI"/>
              </a:rPr>
              <a:t>37</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Set-up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078223"/>
          </a:xfrm>
          <a:prstGeom prst="roundRect">
            <a:avLst>
              <a:gd name="adj" fmla="val 224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code/ch13_twenty_rule_escalation.py</a:t>
            </a:r>
          </a:p>
        </p:txBody>
      </p:sp>
      <p:sp>
        <p:nvSpPr>
          <p:cNvPr id="14" name="!!code-text" descr="# the three actions differ, and only one fact separates the last two assert results[&quot;T-4471&quot;][0][&quot;action&quot;] == &quot;wake_on_call&quot; assert results[&quot;T-4472&quot;][0][&quot;action&quot;] == &quot;leave_in_queue&quot; assert results[&quot;T-4473&quot;][0][&quot;action&quot;] == &quot;queue_for_morning&quot; print() print(&quot;T-4471 firing order:&quot;, &quot; &quot;.join(results[&quot;T-4471&quot;][1].fired)) print(&quot;T-4473 firing order:&quot;, &quot; &quot;.join(results[&quot;T-4473&quot;][1].fired)) print() print(&quot;Both are escalated; they differ only in wake_budget, and&quot;) print(&quot;that is a fact about the ENGINEER, not about the ticket.&quot;) assert results[&quot;T-4471&quot;][0][&quot;escalate&quot;] == &quot;yes&quot; assert results[&quot;T-4473&quot;][0][&quot;escalate&quot;] == &quot;yes&quot;"/>
          <p:cNvSpPr txBox="1"/>
          <p:nvPr/>
        </p:nvSpPr>
        <p:spPr>
          <a:xfrm>
            <a:off x="1362456" y="2523744"/>
            <a:ext cx="9987991" cy="3584447"/>
          </a:xfrm>
          <a:prstGeom prst="rect">
            <a:avLst/>
          </a:prstGeom>
          <a:noFill/>
        </p:spPr>
        <p:txBody>
          <a:bodyPr wrap="none" anchor="t" lIns="0" rIns="0" tIns="0" bIns="0">
            <a:noAutofit/>
          </a:bodyPr>
          <a:lstStyle/>
          <a:p>
            <a:pPr>
              <a:lnSpc>
                <a:spcPct val="100000"/>
              </a:lnSpc>
              <a:spcAft>
                <a:spcPts val="0"/>
              </a:spcAft>
            </a:pPr>
            <a:r>
              <a:rPr sz="1900" i="0">
                <a:solidFill>
                  <a:srgbClr val="E8EDF2"/>
                </a:solidFill>
                <a:latin typeface="Consolas"/>
              </a:rPr>
              <a:t>    </a:t>
            </a:r>
            <a:r>
              <a:rPr sz="1900" i="1">
                <a:solidFill>
                  <a:srgbClr val="8795A1"/>
                </a:solidFill>
                <a:latin typeface="Consolas"/>
              </a:rPr>
              <a:t># the three actions differ, and only one fact separates the last two</a:t>
            </a:r>
          </a:p>
          <a:p>
            <a:pPr>
              <a:lnSpc>
                <a:spcPct val="100000"/>
              </a:lnSpc>
              <a:spcAft>
                <a:spcPts val="0"/>
              </a:spcAft>
            </a:pPr>
            <a:r>
              <a:rPr sz="1900" i="0">
                <a:solidFill>
                  <a:srgbClr val="E8EDF2"/>
                </a:solidFill>
                <a:latin typeface="Consolas"/>
              </a:rPr>
              <a:t>    </a:t>
            </a:r>
            <a:r>
              <a:rPr sz="1900" i="0">
                <a:solidFill>
                  <a:srgbClr val="5DADE2"/>
                </a:solidFill>
                <a:latin typeface="Consolas"/>
              </a:rPr>
              <a:t>assert</a:t>
            </a:r>
            <a:r>
              <a:rPr sz="1900" i="0">
                <a:solidFill>
                  <a:srgbClr val="E8EDF2"/>
                </a:solidFill>
                <a:latin typeface="Consolas"/>
              </a:rPr>
              <a:t> </a:t>
            </a:r>
            <a:r>
              <a:rPr sz="1900" i="0">
                <a:solidFill>
                  <a:srgbClr val="E8EDF2"/>
                </a:solidFill>
                <a:latin typeface="Consolas"/>
              </a:rPr>
              <a:t>results</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T-4471</a:t>
            </a:r>
            <a:r>
              <a:rPr sz="1900" i="0">
                <a:solidFill>
                  <a:srgbClr val="7DCEA0"/>
                </a:solidFill>
                <a:latin typeface="Consolas"/>
              </a:rPr>
              <a:t>"</a:t>
            </a:r>
            <a:r>
              <a:rPr sz="1900" i="0">
                <a:solidFill>
                  <a:srgbClr val="AEB6BF"/>
                </a:solidFill>
                <a:latin typeface="Consolas"/>
              </a:rPr>
              <a:t>]</a:t>
            </a:r>
            <a:r>
              <a:rPr sz="1900" i="0">
                <a:solidFill>
                  <a:srgbClr val="AEB6BF"/>
                </a:solidFill>
                <a:latin typeface="Consolas"/>
              </a:rPr>
              <a:t>[</a:t>
            </a:r>
            <a:r>
              <a:rPr sz="1900" i="0">
                <a:solidFill>
                  <a:srgbClr val="F7DC6F"/>
                </a:solidFill>
                <a:latin typeface="Consolas"/>
              </a:rPr>
              <a:t>0</a:t>
            </a:r>
            <a:r>
              <a:rPr sz="1900" i="0">
                <a:solidFill>
                  <a:srgbClr val="AEB6BF"/>
                </a:solidFill>
                <a:latin typeface="Consolas"/>
              </a:rPr>
              <a: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action</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7DCEA0"/>
                </a:solidFill>
                <a:latin typeface="Consolas"/>
              </a:rPr>
              <a:t>"</a:t>
            </a:r>
            <a:r>
              <a:rPr sz="1900" i="0">
                <a:solidFill>
                  <a:srgbClr val="7DCEA0"/>
                </a:solidFill>
                <a:latin typeface="Consolas"/>
              </a:rPr>
              <a:t>wake_on_call</a:t>
            </a:r>
            <a:r>
              <a:rPr sz="1900" i="0">
                <a:solidFill>
                  <a:srgbClr val="7DCEA0"/>
                </a:solidFill>
                <a:latin typeface="Consolas"/>
              </a:rPr>
              <a:t>"</a:t>
            </a:r>
          </a:p>
          <a:p>
            <a:pPr>
              <a:lnSpc>
                <a:spcPct val="100000"/>
              </a:lnSpc>
              <a:spcAft>
                <a:spcPts val="0"/>
              </a:spcAft>
            </a:pPr>
            <a:r>
              <a:rPr sz="1900" i="0">
                <a:solidFill>
                  <a:srgbClr val="E8EDF2"/>
                </a:solidFill>
                <a:latin typeface="Consolas"/>
              </a:rPr>
              <a:t>    </a:t>
            </a:r>
            <a:r>
              <a:rPr sz="1900" i="0">
                <a:solidFill>
                  <a:srgbClr val="5DADE2"/>
                </a:solidFill>
                <a:latin typeface="Consolas"/>
              </a:rPr>
              <a:t>assert</a:t>
            </a:r>
            <a:r>
              <a:rPr sz="1900" i="0">
                <a:solidFill>
                  <a:srgbClr val="E8EDF2"/>
                </a:solidFill>
                <a:latin typeface="Consolas"/>
              </a:rPr>
              <a:t> </a:t>
            </a:r>
            <a:r>
              <a:rPr sz="1900" i="0">
                <a:solidFill>
                  <a:srgbClr val="E8EDF2"/>
                </a:solidFill>
                <a:latin typeface="Consolas"/>
              </a:rPr>
              <a:t>results</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T-4472</a:t>
            </a:r>
            <a:r>
              <a:rPr sz="1900" i="0">
                <a:solidFill>
                  <a:srgbClr val="7DCEA0"/>
                </a:solidFill>
                <a:latin typeface="Consolas"/>
              </a:rPr>
              <a:t>"</a:t>
            </a:r>
            <a:r>
              <a:rPr sz="1900" i="0">
                <a:solidFill>
                  <a:srgbClr val="AEB6BF"/>
                </a:solidFill>
                <a:latin typeface="Consolas"/>
              </a:rPr>
              <a:t>]</a:t>
            </a:r>
            <a:r>
              <a:rPr sz="1900" i="0">
                <a:solidFill>
                  <a:srgbClr val="AEB6BF"/>
                </a:solidFill>
                <a:latin typeface="Consolas"/>
              </a:rPr>
              <a:t>[</a:t>
            </a:r>
            <a:r>
              <a:rPr sz="1900" i="0">
                <a:solidFill>
                  <a:srgbClr val="F7DC6F"/>
                </a:solidFill>
                <a:latin typeface="Consolas"/>
              </a:rPr>
              <a:t>0</a:t>
            </a:r>
            <a:r>
              <a:rPr sz="1900" i="0">
                <a:solidFill>
                  <a:srgbClr val="AEB6BF"/>
                </a:solidFill>
                <a:latin typeface="Consolas"/>
              </a:rPr>
              <a: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action</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7DCEA0"/>
                </a:solidFill>
                <a:latin typeface="Consolas"/>
              </a:rPr>
              <a:t>"</a:t>
            </a:r>
            <a:r>
              <a:rPr sz="1900" i="0">
                <a:solidFill>
                  <a:srgbClr val="7DCEA0"/>
                </a:solidFill>
                <a:latin typeface="Consolas"/>
              </a:rPr>
              <a:t>leave_in_queue</a:t>
            </a:r>
            <a:r>
              <a:rPr sz="1900" i="0">
                <a:solidFill>
                  <a:srgbClr val="7DCEA0"/>
                </a:solidFill>
                <a:latin typeface="Consolas"/>
              </a:rPr>
              <a:t>"</a:t>
            </a:r>
          </a:p>
          <a:p>
            <a:pPr>
              <a:lnSpc>
                <a:spcPct val="100000"/>
              </a:lnSpc>
              <a:spcAft>
                <a:spcPts val="0"/>
              </a:spcAft>
            </a:pPr>
            <a:r>
              <a:rPr sz="1900" i="0">
                <a:solidFill>
                  <a:srgbClr val="E8EDF2"/>
                </a:solidFill>
                <a:latin typeface="Consolas"/>
              </a:rPr>
              <a:t>    </a:t>
            </a:r>
            <a:r>
              <a:rPr sz="1900" i="0">
                <a:solidFill>
                  <a:srgbClr val="5DADE2"/>
                </a:solidFill>
                <a:latin typeface="Consolas"/>
              </a:rPr>
              <a:t>assert</a:t>
            </a:r>
            <a:r>
              <a:rPr sz="1900" i="0">
                <a:solidFill>
                  <a:srgbClr val="E8EDF2"/>
                </a:solidFill>
                <a:latin typeface="Consolas"/>
              </a:rPr>
              <a:t> </a:t>
            </a:r>
            <a:r>
              <a:rPr sz="1900" i="0">
                <a:solidFill>
                  <a:srgbClr val="E8EDF2"/>
                </a:solidFill>
                <a:latin typeface="Consolas"/>
              </a:rPr>
              <a:t>results</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T-4473</a:t>
            </a:r>
            <a:r>
              <a:rPr sz="1900" i="0">
                <a:solidFill>
                  <a:srgbClr val="7DCEA0"/>
                </a:solidFill>
                <a:latin typeface="Consolas"/>
              </a:rPr>
              <a:t>"</a:t>
            </a:r>
            <a:r>
              <a:rPr sz="1900" i="0">
                <a:solidFill>
                  <a:srgbClr val="AEB6BF"/>
                </a:solidFill>
                <a:latin typeface="Consolas"/>
              </a:rPr>
              <a:t>]</a:t>
            </a:r>
            <a:r>
              <a:rPr sz="1900" i="0">
                <a:solidFill>
                  <a:srgbClr val="AEB6BF"/>
                </a:solidFill>
                <a:latin typeface="Consolas"/>
              </a:rPr>
              <a:t>[</a:t>
            </a:r>
            <a:r>
              <a:rPr sz="1900" i="0">
                <a:solidFill>
                  <a:srgbClr val="F7DC6F"/>
                </a:solidFill>
                <a:latin typeface="Consolas"/>
              </a:rPr>
              <a:t>0</a:t>
            </a:r>
            <a:r>
              <a:rPr sz="1900" i="0">
                <a:solidFill>
                  <a:srgbClr val="AEB6BF"/>
                </a:solidFill>
                <a:latin typeface="Consolas"/>
              </a:rPr>
              <a: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action</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7DCEA0"/>
                </a:solidFill>
                <a:latin typeface="Consolas"/>
              </a:rPr>
              <a:t>"</a:t>
            </a:r>
            <a:r>
              <a:rPr sz="1900" i="0">
                <a:solidFill>
                  <a:srgbClr val="7DCEA0"/>
                </a:solidFill>
                <a:latin typeface="Consolas"/>
              </a:rPr>
              <a:t>queue_for_morning</a:t>
            </a:r>
            <a:r>
              <a:rPr sz="1900" i="0">
                <a:solidFill>
                  <a:srgbClr val="7DCEA0"/>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T-4471 firing order:</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7DCEA0"/>
                </a:solidFill>
                <a:latin typeface="Consolas"/>
              </a:rPr>
              <a:t>"</a:t>
            </a:r>
            <a:r>
              <a:rPr sz="1900" i="0">
                <a:solidFill>
                  <a:srgbClr val="7DCEA0"/>
                </a:solidFill>
                <a:latin typeface="Consolas"/>
              </a:rPr>
              <a:t> </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join</a:t>
            </a:r>
            <a:r>
              <a:rPr sz="1900" i="0">
                <a:solidFill>
                  <a:srgbClr val="AEB6BF"/>
                </a:solidFill>
                <a:latin typeface="Consolas"/>
              </a:rPr>
              <a:t>(</a:t>
            </a:r>
            <a:r>
              <a:rPr sz="1900" i="0">
                <a:solidFill>
                  <a:srgbClr val="E8EDF2"/>
                </a:solidFill>
                <a:latin typeface="Consolas"/>
              </a:rPr>
              <a:t>results</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T-4471</a:t>
            </a:r>
            <a:r>
              <a:rPr sz="1900" i="0">
                <a:solidFill>
                  <a:srgbClr val="7DCEA0"/>
                </a:solidFill>
                <a:latin typeface="Consolas"/>
              </a:rPr>
              <a:t>"</a:t>
            </a:r>
            <a:r>
              <a:rPr sz="1900" i="0">
                <a:solidFill>
                  <a:srgbClr val="AEB6BF"/>
                </a:solidFill>
                <a:latin typeface="Consolas"/>
              </a:rPr>
              <a:t>]</a:t>
            </a:r>
            <a:r>
              <a:rPr sz="1900" i="0">
                <a:solidFill>
                  <a:srgbClr val="AEB6BF"/>
                </a:solidFill>
                <a:latin typeface="Consolas"/>
              </a:rPr>
              <a:t>[</a:t>
            </a:r>
            <a:r>
              <a:rPr sz="1900" i="0">
                <a:solidFill>
                  <a:srgbClr val="F7DC6F"/>
                </a:solidFill>
                <a:latin typeface="Consolas"/>
              </a:rPr>
              <a:t>1</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fired</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T-4473 firing order:</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7DCEA0"/>
                </a:solidFill>
                <a:latin typeface="Consolas"/>
              </a:rPr>
              <a:t>"</a:t>
            </a:r>
            <a:r>
              <a:rPr sz="1900" i="0">
                <a:solidFill>
                  <a:srgbClr val="7DCEA0"/>
                </a:solidFill>
                <a:latin typeface="Consolas"/>
              </a:rPr>
              <a:t> </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join</a:t>
            </a:r>
            <a:r>
              <a:rPr sz="1900" i="0">
                <a:solidFill>
                  <a:srgbClr val="AEB6BF"/>
                </a:solidFill>
                <a:latin typeface="Consolas"/>
              </a:rPr>
              <a:t>(</a:t>
            </a:r>
            <a:r>
              <a:rPr sz="1900" i="0">
                <a:solidFill>
                  <a:srgbClr val="E8EDF2"/>
                </a:solidFill>
                <a:latin typeface="Consolas"/>
              </a:rPr>
              <a:t>results</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T-4473</a:t>
            </a:r>
            <a:r>
              <a:rPr sz="1900" i="0">
                <a:solidFill>
                  <a:srgbClr val="7DCEA0"/>
                </a:solidFill>
                <a:latin typeface="Consolas"/>
              </a:rPr>
              <a:t>"</a:t>
            </a:r>
            <a:r>
              <a:rPr sz="1900" i="0">
                <a:solidFill>
                  <a:srgbClr val="AEB6BF"/>
                </a:solidFill>
                <a:latin typeface="Consolas"/>
              </a:rPr>
              <a:t>]</a:t>
            </a:r>
            <a:r>
              <a:rPr sz="1900" i="0">
                <a:solidFill>
                  <a:srgbClr val="AEB6BF"/>
                </a:solidFill>
                <a:latin typeface="Consolas"/>
              </a:rPr>
              <a:t>[</a:t>
            </a:r>
            <a:r>
              <a:rPr sz="1900" i="0">
                <a:solidFill>
                  <a:srgbClr val="F7DC6F"/>
                </a:solidFill>
                <a:latin typeface="Consolas"/>
              </a:rPr>
              <a:t>1</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fired</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Both are escalated; they differ only in wake_budget, and</a:t>
            </a:r>
            <a:r>
              <a:rPr sz="1900" i="0">
                <a:solidFill>
                  <a:srgbClr val="7DCEA0"/>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that is a fact about the ENGINEER, not about the ticket.</a:t>
            </a:r>
            <a:r>
              <a:rPr sz="1900" i="0">
                <a:solidFill>
                  <a:srgbClr val="7DCEA0"/>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5DADE2"/>
                </a:solidFill>
                <a:latin typeface="Consolas"/>
              </a:rPr>
              <a:t>assert</a:t>
            </a:r>
            <a:r>
              <a:rPr sz="1900" i="0">
                <a:solidFill>
                  <a:srgbClr val="E8EDF2"/>
                </a:solidFill>
                <a:latin typeface="Consolas"/>
              </a:rPr>
              <a:t> </a:t>
            </a:r>
            <a:r>
              <a:rPr sz="1900" i="0">
                <a:solidFill>
                  <a:srgbClr val="E8EDF2"/>
                </a:solidFill>
                <a:latin typeface="Consolas"/>
              </a:rPr>
              <a:t>results</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T-4471</a:t>
            </a:r>
            <a:r>
              <a:rPr sz="1900" i="0">
                <a:solidFill>
                  <a:srgbClr val="7DCEA0"/>
                </a:solidFill>
                <a:latin typeface="Consolas"/>
              </a:rPr>
              <a:t>"</a:t>
            </a:r>
            <a:r>
              <a:rPr sz="1900" i="0">
                <a:solidFill>
                  <a:srgbClr val="AEB6BF"/>
                </a:solidFill>
                <a:latin typeface="Consolas"/>
              </a:rPr>
              <a:t>]</a:t>
            </a:r>
            <a:r>
              <a:rPr sz="1900" i="0">
                <a:solidFill>
                  <a:srgbClr val="AEB6BF"/>
                </a:solidFill>
                <a:latin typeface="Consolas"/>
              </a:rPr>
              <a:t>[</a:t>
            </a:r>
            <a:r>
              <a:rPr sz="1900" i="0">
                <a:solidFill>
                  <a:srgbClr val="F7DC6F"/>
                </a:solidFill>
                <a:latin typeface="Consolas"/>
              </a:rPr>
              <a:t>0</a:t>
            </a:r>
            <a:r>
              <a:rPr sz="1900" i="0">
                <a:solidFill>
                  <a:srgbClr val="AEB6BF"/>
                </a:solidFill>
                <a:latin typeface="Consolas"/>
              </a:rPr>
              <a: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escalate</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7DCEA0"/>
                </a:solidFill>
                <a:latin typeface="Consolas"/>
              </a:rPr>
              <a:t>"</a:t>
            </a:r>
            <a:r>
              <a:rPr sz="1900" i="0">
                <a:solidFill>
                  <a:srgbClr val="7DCEA0"/>
                </a:solidFill>
                <a:latin typeface="Consolas"/>
              </a:rPr>
              <a:t>yes</a:t>
            </a:r>
            <a:r>
              <a:rPr sz="1900" i="0">
                <a:solidFill>
                  <a:srgbClr val="7DCEA0"/>
                </a:solidFill>
                <a:latin typeface="Consolas"/>
              </a:rPr>
              <a:t>"</a:t>
            </a:r>
          </a:p>
          <a:p>
            <a:pPr>
              <a:lnSpc>
                <a:spcPct val="100000"/>
              </a:lnSpc>
              <a:spcAft>
                <a:spcPts val="0"/>
              </a:spcAft>
            </a:pPr>
            <a:r>
              <a:rPr sz="1900" i="0">
                <a:solidFill>
                  <a:srgbClr val="E8EDF2"/>
                </a:solidFill>
                <a:latin typeface="Consolas"/>
              </a:rPr>
              <a:t>    </a:t>
            </a:r>
            <a:r>
              <a:rPr sz="1900" i="0">
                <a:solidFill>
                  <a:srgbClr val="5DADE2"/>
                </a:solidFill>
                <a:latin typeface="Consolas"/>
              </a:rPr>
              <a:t>assert</a:t>
            </a:r>
            <a:r>
              <a:rPr sz="1900" i="0">
                <a:solidFill>
                  <a:srgbClr val="E8EDF2"/>
                </a:solidFill>
                <a:latin typeface="Consolas"/>
              </a:rPr>
              <a:t> </a:t>
            </a:r>
            <a:r>
              <a:rPr sz="1900" i="0">
                <a:solidFill>
                  <a:srgbClr val="E8EDF2"/>
                </a:solidFill>
                <a:latin typeface="Consolas"/>
              </a:rPr>
              <a:t>results</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T-4473</a:t>
            </a:r>
            <a:r>
              <a:rPr sz="1900" i="0">
                <a:solidFill>
                  <a:srgbClr val="7DCEA0"/>
                </a:solidFill>
                <a:latin typeface="Consolas"/>
              </a:rPr>
              <a:t>"</a:t>
            </a:r>
            <a:r>
              <a:rPr sz="1900" i="0">
                <a:solidFill>
                  <a:srgbClr val="AEB6BF"/>
                </a:solidFill>
                <a:latin typeface="Consolas"/>
              </a:rPr>
              <a:t>]</a:t>
            </a:r>
            <a:r>
              <a:rPr sz="1900" i="0">
                <a:solidFill>
                  <a:srgbClr val="AEB6BF"/>
                </a:solidFill>
                <a:latin typeface="Consolas"/>
              </a:rPr>
              <a:t>[</a:t>
            </a:r>
            <a:r>
              <a:rPr sz="1900" i="0">
                <a:solidFill>
                  <a:srgbClr val="F7DC6F"/>
                </a:solidFill>
                <a:latin typeface="Consolas"/>
              </a:rPr>
              <a:t>0</a:t>
            </a:r>
            <a:r>
              <a:rPr sz="1900" i="0">
                <a:solidFill>
                  <a:srgbClr val="AEB6BF"/>
                </a:solidFill>
                <a:latin typeface="Consolas"/>
              </a:rPr>
              <a: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escalate</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7DCEA0"/>
                </a:solidFill>
                <a:latin typeface="Consolas"/>
              </a:rPr>
              <a:t>"</a:t>
            </a:r>
            <a:r>
              <a:rPr sz="1900" i="0">
                <a:solidFill>
                  <a:srgbClr val="7DCEA0"/>
                </a:solidFill>
                <a:latin typeface="Consolas"/>
              </a:rPr>
              <a:t>yes</a:t>
            </a:r>
            <a:r>
              <a:rPr sz="1900" i="0">
                <a:solidFill>
                  <a:srgbClr val="7DCEA0"/>
                </a:solidFill>
                <a:latin typeface="Consolas"/>
              </a:rPr>
              <a:t>"</a:t>
            </a:r>
          </a:p>
        </p:txBody>
      </p:sp>
      <p:sp>
        <p:nvSpPr>
          <p:cNvPr id="15" name="!!code-num"/>
          <p:cNvSpPr txBox="1"/>
          <p:nvPr/>
        </p:nvSpPr>
        <p:spPr>
          <a:xfrm>
            <a:off x="768096" y="2523744"/>
            <a:ext cx="393192" cy="3584447"/>
          </a:xfrm>
          <a:prstGeom prst="rect">
            <a:avLst/>
          </a:prstGeom>
          <a:noFill/>
        </p:spPr>
        <p:txBody>
          <a:bodyPr wrap="none" anchor="t" lIns="0" rIns="0" tIns="0" bIns="0">
            <a:noAutofit/>
          </a:bodyPr>
          <a:lstStyle/>
          <a:p>
            <a:pPr algn="r">
              <a:lnSpc>
                <a:spcPct val="100000"/>
              </a:lnSpc>
            </a:pPr>
            <a:r>
              <a:rPr sz="1900">
                <a:solidFill>
                  <a:srgbClr val="4F5D6A"/>
                </a:solidFill>
                <a:latin typeface="Consolas"/>
              </a:rPr>
              <a:t>182</a:t>
            </a:r>
          </a:p>
          <a:p>
            <a:pPr algn="r">
              <a:lnSpc>
                <a:spcPct val="100000"/>
              </a:lnSpc>
            </a:pPr>
            <a:r>
              <a:rPr sz="1900">
                <a:solidFill>
                  <a:srgbClr val="4F5D6A"/>
                </a:solidFill>
                <a:latin typeface="Consolas"/>
              </a:rPr>
              <a:t>183</a:t>
            </a:r>
          </a:p>
          <a:p>
            <a:pPr algn="r">
              <a:lnSpc>
                <a:spcPct val="100000"/>
              </a:lnSpc>
            </a:pPr>
            <a:r>
              <a:rPr sz="1900">
                <a:solidFill>
                  <a:srgbClr val="4F5D6A"/>
                </a:solidFill>
                <a:latin typeface="Consolas"/>
              </a:rPr>
              <a:t>184</a:t>
            </a:r>
          </a:p>
          <a:p>
            <a:pPr algn="r">
              <a:lnSpc>
                <a:spcPct val="100000"/>
              </a:lnSpc>
            </a:pPr>
            <a:r>
              <a:rPr sz="1900">
                <a:solidFill>
                  <a:srgbClr val="4F5D6A"/>
                </a:solidFill>
                <a:latin typeface="Consolas"/>
              </a:rPr>
              <a:t>185</a:t>
            </a:r>
          </a:p>
          <a:p>
            <a:pPr algn="r">
              <a:lnSpc>
                <a:spcPct val="100000"/>
              </a:lnSpc>
            </a:pPr>
            <a:r>
              <a:rPr sz="1900">
                <a:solidFill>
                  <a:srgbClr val="4F5D6A"/>
                </a:solidFill>
                <a:latin typeface="Consolas"/>
              </a:rPr>
              <a:t>186</a:t>
            </a:r>
          </a:p>
          <a:p>
            <a:pPr algn="r">
              <a:lnSpc>
                <a:spcPct val="100000"/>
              </a:lnSpc>
            </a:pPr>
            <a:r>
              <a:rPr sz="1900">
                <a:solidFill>
                  <a:srgbClr val="4F5D6A"/>
                </a:solidFill>
                <a:latin typeface="Consolas"/>
              </a:rPr>
              <a:t>187</a:t>
            </a:r>
          </a:p>
          <a:p>
            <a:pPr algn="r">
              <a:lnSpc>
                <a:spcPct val="100000"/>
              </a:lnSpc>
            </a:pPr>
            <a:r>
              <a:rPr sz="1900">
                <a:solidFill>
                  <a:srgbClr val="4F5D6A"/>
                </a:solidFill>
                <a:latin typeface="Consolas"/>
              </a:rPr>
              <a:t>188</a:t>
            </a:r>
          </a:p>
          <a:p>
            <a:pPr algn="r">
              <a:lnSpc>
                <a:spcPct val="100000"/>
              </a:lnSpc>
            </a:pPr>
            <a:r>
              <a:rPr sz="1900">
                <a:solidFill>
                  <a:srgbClr val="4F5D6A"/>
                </a:solidFill>
                <a:latin typeface="Consolas"/>
              </a:rPr>
              <a:t>189</a:t>
            </a:r>
          </a:p>
          <a:p>
            <a:pPr algn="r">
              <a:lnSpc>
                <a:spcPct val="100000"/>
              </a:lnSpc>
            </a:pPr>
            <a:r>
              <a:rPr sz="1900">
                <a:solidFill>
                  <a:srgbClr val="4F5D6A"/>
                </a:solidFill>
                <a:latin typeface="Consolas"/>
              </a:rPr>
              <a:t>190</a:t>
            </a:r>
          </a:p>
          <a:p>
            <a:pPr algn="r">
              <a:lnSpc>
                <a:spcPct val="100000"/>
              </a:lnSpc>
            </a:pPr>
            <a:r>
              <a:rPr sz="1900">
                <a:solidFill>
                  <a:srgbClr val="4F5D6A"/>
                </a:solidFill>
                <a:latin typeface="Consolas"/>
              </a:rPr>
              <a:t>191</a:t>
            </a:r>
          </a:p>
          <a:p>
            <a:pPr algn="r">
              <a:lnSpc>
                <a:spcPct val="100000"/>
              </a:lnSpc>
            </a:pPr>
            <a:r>
              <a:rPr sz="1900">
                <a:solidFill>
                  <a:srgbClr val="4F5D6A"/>
                </a:solidFill>
                <a:latin typeface="Consolas"/>
              </a:rPr>
              <a:t>192</a:t>
            </a:r>
          </a:p>
          <a:p>
            <a:pPr algn="r">
              <a:lnSpc>
                <a:spcPct val="100000"/>
              </a:lnSpc>
            </a:pPr>
            <a:r>
              <a:rPr sz="1900">
                <a:solidFill>
                  <a:srgbClr val="4F5D6A"/>
                </a:solidFill>
                <a:latin typeface="Consolas"/>
              </a:rPr>
              <a:t>193</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645639"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Twenty-Rule Escalation Shell That Explains Itself</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15 OF 21</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13  ·  Rule-Based Expert Systems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§13.6  ·  Handout p. 136     </a:t>
            </a:r>
            <a:fld id="{EB3F29CC-02CD-4DC6-B570-64ED0A682F64}" type="slidenum">
              <a:rPr lang="en-GB" sz="1000">
                <a:solidFill>
                  <a:srgbClr val="8795A1"/>
                </a:solidFill>
                <a:latin typeface="Segoe UI"/>
              </a:rPr>
              <a:t>38</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Specificity is doing real work</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956303"/>
          </a:xfrm>
          <a:prstGeom prst="roundRect">
            <a:avLst>
              <a:gd name="adj" fmla="val 2311"/>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code/ch13_twenty_rule_escalation.py</a:t>
            </a:r>
          </a:p>
        </p:txBody>
      </p:sp>
      <p:sp>
        <p:nvSpPr>
          <p:cNvPr id="14" name="!!code-text" descr="# --- specificity is doing real work -------------------------- print() print(&quot;=== specificity against plain rule order ===&quot;) print(&quot;ticket specificity rule order&quot;) print(&quot;-&quot; * 46) for tid, facts in TICKETS.items(): a, _ = forward_chain(facts, &quot;specificity&quot;) b, _ = forward_chain(facts, &quot;order&quot;) flag = &quot; &lt;-- DIFFER&quot; if a[&quot;action&quot;] != b[&quot;action&quot;] else &quot;&quot; print(&quot;%-9s %-19s %-19s%s&quot; % (tid, a[&quot;action&quot;], b[&quot;action&quot;], flag))"/>
          <p:cNvSpPr txBox="1"/>
          <p:nvPr/>
        </p:nvSpPr>
        <p:spPr>
          <a:xfrm>
            <a:off x="1362456" y="2523744"/>
            <a:ext cx="9987991" cy="3462527"/>
          </a:xfrm>
          <a:prstGeom prst="rect">
            <a:avLst/>
          </a:prstGeom>
          <a:noFill/>
        </p:spPr>
        <p:txBody>
          <a:bodyPr wrap="none" anchor="t" lIns="0" rIns="0" tIns="0" bIns="0">
            <a:noAutofit/>
          </a:bodyPr>
          <a:lstStyle/>
          <a:p>
            <a:pPr>
              <a:lnSpc>
                <a:spcPct val="100000"/>
              </a:lnSpc>
              <a:spcAft>
                <a:spcPts val="0"/>
              </a:spcAft>
            </a:pPr>
            <a:r>
              <a:rPr sz="2000" i="0">
                <a:solidFill>
                  <a:srgbClr val="E8EDF2"/>
                </a:solidFill>
                <a:latin typeface="Consolas"/>
              </a:rPr>
              <a:t>    </a:t>
            </a:r>
            <a:r>
              <a:rPr sz="2000" i="1">
                <a:solidFill>
                  <a:srgbClr val="8795A1"/>
                </a:solidFill>
                <a:latin typeface="Consolas"/>
              </a:rPr>
              <a:t># --- specificity is doing real work --------------------------</a:t>
            </a:r>
          </a:p>
          <a:p>
            <a:pPr>
              <a:lnSpc>
                <a:spcPct val="100000"/>
              </a:lnSpc>
              <a:spcAft>
                <a:spcPts val="0"/>
              </a:spcAft>
            </a:pPr>
            <a:r>
              <a:rPr sz="2000" i="0">
                <a:solidFill>
                  <a:srgbClr val="E8EDF2"/>
                </a:solidFill>
                <a:latin typeface="Consolas"/>
              </a:rPr>
              <a:t>    </a:t>
            </a:r>
            <a:r>
              <a:rPr sz="2000" i="0">
                <a:solidFill>
                  <a:srgbClr val="C39BD3"/>
                </a:solidFill>
                <a:latin typeface="Consolas"/>
              </a:rPr>
              <a:t>print</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C39BD3"/>
                </a:solidFill>
                <a:latin typeface="Consolas"/>
              </a:rPr>
              <a:t>print</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 specificity against plain rule order ===</a:t>
            </a:r>
            <a:r>
              <a:rPr sz="2000" i="0">
                <a:solidFill>
                  <a:srgbClr val="7DCEA0"/>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C39BD3"/>
                </a:solidFill>
                <a:latin typeface="Consolas"/>
              </a:rPr>
              <a:t>print</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ticket    specificity         rule order</a:t>
            </a:r>
            <a:r>
              <a:rPr sz="2000" i="0">
                <a:solidFill>
                  <a:srgbClr val="7DCEA0"/>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C39BD3"/>
                </a:solidFill>
                <a:latin typeface="Consolas"/>
              </a:rPr>
              <a:t>print</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a:t>
            </a:r>
            <a:r>
              <a:rPr sz="2000" i="0">
                <a:solidFill>
                  <a:srgbClr val="7DCEA0"/>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F7DC6F"/>
                </a:solidFill>
                <a:latin typeface="Consolas"/>
              </a:rPr>
              <a:t>46</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for</a:t>
            </a:r>
            <a:r>
              <a:rPr sz="2000" i="0">
                <a:solidFill>
                  <a:srgbClr val="E8EDF2"/>
                </a:solidFill>
                <a:latin typeface="Consolas"/>
              </a:rPr>
              <a:t> </a:t>
            </a:r>
            <a:r>
              <a:rPr sz="2000" i="0">
                <a:solidFill>
                  <a:srgbClr val="E8EDF2"/>
                </a:solidFill>
                <a:latin typeface="Consolas"/>
              </a:rPr>
              <a:t>tid</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facts</a:t>
            </a:r>
            <a:r>
              <a:rPr sz="2000" i="0">
                <a:solidFill>
                  <a:srgbClr val="E8EDF2"/>
                </a:solidFill>
                <a:latin typeface="Consolas"/>
              </a:rPr>
              <a:t> </a:t>
            </a:r>
            <a:r>
              <a:rPr sz="2000" i="0">
                <a:solidFill>
                  <a:srgbClr val="AEB6BF"/>
                </a:solidFill>
                <a:latin typeface="Consolas"/>
              </a:rPr>
              <a:t>in</a:t>
            </a:r>
            <a:r>
              <a:rPr sz="2000" i="0">
                <a:solidFill>
                  <a:srgbClr val="E8EDF2"/>
                </a:solidFill>
                <a:latin typeface="Consolas"/>
              </a:rPr>
              <a:t> </a:t>
            </a:r>
            <a:r>
              <a:rPr sz="2000" i="0">
                <a:solidFill>
                  <a:srgbClr val="E8EDF2"/>
                </a:solidFill>
                <a:latin typeface="Consolas"/>
              </a:rPr>
              <a:t>TICKETS</a:t>
            </a:r>
            <a:r>
              <a:rPr sz="2000" i="0">
                <a:solidFill>
                  <a:srgbClr val="AEB6BF"/>
                </a:solidFill>
                <a:latin typeface="Consolas"/>
              </a:rPr>
              <a:t>.</a:t>
            </a:r>
            <a:r>
              <a:rPr sz="2000" i="0">
                <a:solidFill>
                  <a:srgbClr val="E8EDF2"/>
                </a:solidFill>
                <a:latin typeface="Consolas"/>
              </a:rPr>
              <a:t>items</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a</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_</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forward_chain</a:t>
            </a:r>
            <a:r>
              <a:rPr sz="2000" i="0">
                <a:solidFill>
                  <a:srgbClr val="AEB6BF"/>
                </a:solidFill>
                <a:latin typeface="Consolas"/>
              </a:rPr>
              <a:t>(</a:t>
            </a:r>
            <a:r>
              <a:rPr sz="2000" i="0">
                <a:solidFill>
                  <a:srgbClr val="E8EDF2"/>
                </a:solidFill>
                <a:latin typeface="Consolas"/>
              </a:rPr>
              <a:t>facts</a:t>
            </a:r>
            <a:r>
              <a:rPr sz="2000" i="0">
                <a:solidFill>
                  <a:srgbClr val="AEB6BF"/>
                </a:solidFill>
                <a:latin typeface="Consolas"/>
              </a:rPr>
              <a:t>,</a:t>
            </a: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specificity</a:t>
            </a:r>
            <a:r>
              <a:rPr sz="2000" i="0">
                <a:solidFill>
                  <a:srgbClr val="7DCEA0"/>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b</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_</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forward_chain</a:t>
            </a:r>
            <a:r>
              <a:rPr sz="2000" i="0">
                <a:solidFill>
                  <a:srgbClr val="AEB6BF"/>
                </a:solidFill>
                <a:latin typeface="Consolas"/>
              </a:rPr>
              <a:t>(</a:t>
            </a:r>
            <a:r>
              <a:rPr sz="2000" i="0">
                <a:solidFill>
                  <a:srgbClr val="E8EDF2"/>
                </a:solidFill>
                <a:latin typeface="Consolas"/>
              </a:rPr>
              <a:t>facts</a:t>
            </a:r>
            <a:r>
              <a:rPr sz="2000" i="0">
                <a:solidFill>
                  <a:srgbClr val="AEB6BF"/>
                </a:solidFill>
                <a:latin typeface="Consolas"/>
              </a:rPr>
              <a:t>,</a:t>
            </a: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order</a:t>
            </a:r>
            <a:r>
              <a:rPr sz="2000" i="0">
                <a:solidFill>
                  <a:srgbClr val="7DCEA0"/>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flag</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  &lt;-- DIFFER</a:t>
            </a:r>
            <a:r>
              <a:rPr sz="2000" i="0">
                <a:solidFill>
                  <a:srgbClr val="7DCEA0"/>
                </a:solidFill>
                <a:latin typeface="Consolas"/>
              </a:rPr>
              <a:t>"</a:t>
            </a:r>
            <a:r>
              <a:rPr sz="2000" i="0">
                <a:solidFill>
                  <a:srgbClr val="E8EDF2"/>
                </a:solidFill>
                <a:latin typeface="Consolas"/>
              </a:rPr>
              <a:t> </a:t>
            </a:r>
            <a:r>
              <a:rPr sz="2000" i="0">
                <a:solidFill>
                  <a:srgbClr val="5DADE2"/>
                </a:solidFill>
                <a:latin typeface="Consolas"/>
              </a:rPr>
              <a:t>if</a:t>
            </a:r>
            <a:r>
              <a:rPr sz="2000" i="0">
                <a:solidFill>
                  <a:srgbClr val="E8EDF2"/>
                </a:solidFill>
                <a:latin typeface="Consolas"/>
              </a:rPr>
              <a:t> </a:t>
            </a:r>
            <a:r>
              <a:rPr sz="2000" i="0">
                <a:solidFill>
                  <a:srgbClr val="E8EDF2"/>
                </a:solidFill>
                <a:latin typeface="Consolas"/>
              </a:rPr>
              <a:t>a</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action</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b</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action</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5DADE2"/>
                </a:solidFill>
                <a:latin typeface="Consolas"/>
              </a:rPr>
              <a:t>else</a:t>
            </a: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a:t>
            </a:r>
          </a:p>
          <a:p>
            <a:pPr>
              <a:lnSpc>
                <a:spcPct val="100000"/>
              </a:lnSpc>
              <a:spcAft>
                <a:spcPts val="0"/>
              </a:spcAft>
            </a:pPr>
            <a:r>
              <a:rPr sz="2000" i="0">
                <a:solidFill>
                  <a:srgbClr val="E8EDF2"/>
                </a:solidFill>
                <a:latin typeface="Consolas"/>
              </a:rPr>
              <a:t>        </a:t>
            </a:r>
            <a:r>
              <a:rPr sz="2000" i="0">
                <a:solidFill>
                  <a:srgbClr val="C39BD3"/>
                </a:solidFill>
                <a:latin typeface="Consolas"/>
              </a:rPr>
              <a:t>print</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%-9s</a:t>
            </a:r>
            <a:r>
              <a:rPr sz="2000" i="0">
                <a:solidFill>
                  <a:srgbClr val="7DCEA0"/>
                </a:solidFill>
                <a:latin typeface="Consolas"/>
              </a:rPr>
              <a:t> </a:t>
            </a:r>
            <a:r>
              <a:rPr sz="2000" i="0">
                <a:solidFill>
                  <a:srgbClr val="7DCEA0"/>
                </a:solidFill>
                <a:latin typeface="Consolas"/>
              </a:rPr>
              <a:t>%-19s</a:t>
            </a:r>
            <a:r>
              <a:rPr sz="2000" i="0">
                <a:solidFill>
                  <a:srgbClr val="7DCEA0"/>
                </a:solidFill>
                <a:latin typeface="Consolas"/>
              </a:rPr>
              <a:t> </a:t>
            </a:r>
            <a:r>
              <a:rPr sz="2000" i="0">
                <a:solidFill>
                  <a:srgbClr val="7DCEA0"/>
                </a:solidFill>
                <a:latin typeface="Consolas"/>
              </a:rPr>
              <a:t>%-19s</a:t>
            </a:r>
            <a:r>
              <a:rPr sz="2000" i="0">
                <a:solidFill>
                  <a:srgbClr val="7DCEA0"/>
                </a:solidFill>
                <a:latin typeface="Consolas"/>
              </a:rPr>
              <a:t>%s</a:t>
            </a:r>
            <a:r>
              <a:rPr sz="2000" i="0">
                <a:solidFill>
                  <a:srgbClr val="7DCEA0"/>
                </a:solidFill>
                <a:latin typeface="Consolas"/>
              </a:rPr>
              <a:t>"</a:t>
            </a:r>
          </a:p>
          <a:p>
            <a:pPr>
              <a:lnSpc>
                <a:spcPct val="100000"/>
              </a:lnSpc>
              <a:spcAft>
                <a:spcPts val="0"/>
              </a:spcAft>
            </a:pP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tid</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a</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action</a:t>
            </a:r>
            <a:r>
              <a:rPr sz="2000" i="0">
                <a:solidFill>
                  <a:srgbClr val="7DCEA0"/>
                </a:solidFill>
                <a:latin typeface="Consolas"/>
              </a:rPr>
              <a:t>"</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b</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action</a:t>
            </a:r>
            <a:r>
              <a:rPr sz="2000" i="0">
                <a:solidFill>
                  <a:srgbClr val="7DCEA0"/>
                </a:solidFill>
                <a:latin typeface="Consolas"/>
              </a:rPr>
              <a:t>"</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flag</a:t>
            </a:r>
            <a:r>
              <a:rPr sz="2000" i="0">
                <a:solidFill>
                  <a:srgbClr val="AEB6BF"/>
                </a:solidFill>
                <a:latin typeface="Consolas"/>
              </a:rPr>
              <a:t>)</a:t>
            </a:r>
            <a:r>
              <a:rPr sz="2000" i="0">
                <a:solidFill>
                  <a:srgbClr val="AEB6BF"/>
                </a:solidFill>
                <a:latin typeface="Consolas"/>
              </a:rPr>
              <a:t>)</a:t>
            </a:r>
          </a:p>
        </p:txBody>
      </p:sp>
      <p:sp>
        <p:nvSpPr>
          <p:cNvPr id="15" name="!!code-num"/>
          <p:cNvSpPr txBox="1"/>
          <p:nvPr/>
        </p:nvSpPr>
        <p:spPr>
          <a:xfrm>
            <a:off x="768096" y="2523744"/>
            <a:ext cx="393192" cy="3462527"/>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195</a:t>
            </a:r>
          </a:p>
          <a:p>
            <a:pPr algn="r">
              <a:lnSpc>
                <a:spcPct val="100000"/>
              </a:lnSpc>
            </a:pPr>
            <a:r>
              <a:rPr sz="2000">
                <a:solidFill>
                  <a:srgbClr val="4F5D6A"/>
                </a:solidFill>
                <a:latin typeface="Consolas"/>
              </a:rPr>
              <a:t>196</a:t>
            </a:r>
          </a:p>
          <a:p>
            <a:pPr algn="r">
              <a:lnSpc>
                <a:spcPct val="100000"/>
              </a:lnSpc>
            </a:pPr>
            <a:r>
              <a:rPr sz="2000">
                <a:solidFill>
                  <a:srgbClr val="4F5D6A"/>
                </a:solidFill>
                <a:latin typeface="Consolas"/>
              </a:rPr>
              <a:t>197</a:t>
            </a:r>
          </a:p>
          <a:p>
            <a:pPr algn="r">
              <a:lnSpc>
                <a:spcPct val="100000"/>
              </a:lnSpc>
            </a:pPr>
            <a:r>
              <a:rPr sz="2000">
                <a:solidFill>
                  <a:srgbClr val="4F5D6A"/>
                </a:solidFill>
                <a:latin typeface="Consolas"/>
              </a:rPr>
              <a:t>198</a:t>
            </a:r>
          </a:p>
          <a:p>
            <a:pPr algn="r">
              <a:lnSpc>
                <a:spcPct val="100000"/>
              </a:lnSpc>
            </a:pPr>
            <a:r>
              <a:rPr sz="2000">
                <a:solidFill>
                  <a:srgbClr val="4F5D6A"/>
                </a:solidFill>
                <a:latin typeface="Consolas"/>
              </a:rPr>
              <a:t>199</a:t>
            </a:r>
          </a:p>
          <a:p>
            <a:pPr algn="r">
              <a:lnSpc>
                <a:spcPct val="100000"/>
              </a:lnSpc>
            </a:pPr>
            <a:r>
              <a:rPr sz="2000">
                <a:solidFill>
                  <a:srgbClr val="4F5D6A"/>
                </a:solidFill>
                <a:latin typeface="Consolas"/>
              </a:rPr>
              <a:t>200</a:t>
            </a:r>
          </a:p>
          <a:p>
            <a:pPr algn="r">
              <a:lnSpc>
                <a:spcPct val="100000"/>
              </a:lnSpc>
            </a:pPr>
            <a:r>
              <a:rPr sz="2000">
                <a:solidFill>
                  <a:srgbClr val="4F5D6A"/>
                </a:solidFill>
                <a:latin typeface="Consolas"/>
              </a:rPr>
              <a:t>201</a:t>
            </a:r>
          </a:p>
          <a:p>
            <a:pPr algn="r">
              <a:lnSpc>
                <a:spcPct val="100000"/>
              </a:lnSpc>
            </a:pPr>
            <a:r>
              <a:rPr sz="2000">
                <a:solidFill>
                  <a:srgbClr val="4F5D6A"/>
                </a:solidFill>
                <a:latin typeface="Consolas"/>
              </a:rPr>
              <a:t>202</a:t>
            </a:r>
          </a:p>
          <a:p>
            <a:pPr algn="r">
              <a:lnSpc>
                <a:spcPct val="100000"/>
              </a:lnSpc>
            </a:pPr>
            <a:r>
              <a:rPr sz="2000">
                <a:solidFill>
                  <a:srgbClr val="4F5D6A"/>
                </a:solidFill>
                <a:latin typeface="Consolas"/>
              </a:rPr>
              <a:t>203</a:t>
            </a:r>
          </a:p>
          <a:p>
            <a:pPr algn="r">
              <a:lnSpc>
                <a:spcPct val="100000"/>
              </a:lnSpc>
            </a:pPr>
            <a:r>
              <a:rPr sz="2000">
                <a:solidFill>
                  <a:srgbClr val="4F5D6A"/>
                </a:solidFill>
                <a:latin typeface="Consolas"/>
              </a:rPr>
              <a:t>204</a:t>
            </a:r>
          </a:p>
          <a:p>
            <a:pPr algn="r">
              <a:lnSpc>
                <a:spcPct val="100000"/>
              </a:lnSpc>
            </a:pPr>
            <a:r>
              <a:rPr sz="2000">
                <a:solidFill>
                  <a:srgbClr val="4F5D6A"/>
                </a:solidFill>
                <a:latin typeface="Consolas"/>
              </a:rPr>
              <a:t>205</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852278"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Twenty-Rule Escalation Shell That Explains Itself</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16 OF 21</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13  ·  Rule-Based Expert Systems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§13.6  ·  Handout p. 136     </a:t>
            </a:r>
            <a:fld id="{7ACA95E2-9DFF-493B-B760-895F33646B91}" type="slidenum">
              <a:rPr lang="en-GB" sz="1000">
                <a:solidFill>
                  <a:srgbClr val="8795A1"/>
                </a:solidFill>
                <a:latin typeface="Segoe UI"/>
              </a:rPr>
              <a:t>39</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Specificity is doing real work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895344"/>
          </a:xfrm>
          <a:prstGeom prst="roundRect">
            <a:avLst>
              <a:gd name="adj" fmla="val 2347"/>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code/ch13_twenty_rule_escalation.py</a:t>
            </a:r>
          </a:p>
        </p:txBody>
      </p:sp>
      <p:sp>
        <p:nvSpPr>
          <p:cNvPr id="14" name="!!code-text" descr="spec, _ = forward_chain(TICKETS[&quot;T-4472&quot;], &quot;specificity&quot;) order, _ = forward_chain(TICKETS[&quot;T-4472&quot;], &quot;order&quot;) assert spec[&quot;priority&quot;] == &quot;P2&quot; and spec[&quot;action&quot;] == &quot;leave_in_queue&quot; assert order[&quot;priority&quot;] == &quot;P1&quot; and order[&quot;action&quot;] == &quot;wake_on_call&quot; print() print(&quot;T-4472 is major severity on a STANDARD tier customer.&quot;) print(&quot;R0 ('major -&gt; P1') is general and listed first, so plain&quot;) print(&quot;rule order reaches it and wakes an engineer at 3 a.m. for&quot;) print(&quot;a standard-tier ticket with a workaround. Specificity&quot;) print(&quot;prefers the two-condition R3, gets P2, and leaves it in&quot;) print(&quot;the queue. That is a real engineer's night, decided by the&quot;) print(&quot;conflict-resolution strategy alone.&quot;)"/>
          <p:cNvSpPr txBox="1"/>
          <p:nvPr/>
        </p:nvSpPr>
        <p:spPr>
          <a:xfrm>
            <a:off x="1362456" y="2523744"/>
            <a:ext cx="9987991" cy="3401568"/>
          </a:xfrm>
          <a:prstGeom prst="rect">
            <a:avLst/>
          </a:prstGeom>
          <a:noFill/>
        </p:spPr>
        <p:txBody>
          <a:bodyPr wrap="none" anchor="t" lIns="0" rIns="0" tIns="0" bIns="0">
            <a:noAutofit/>
          </a:bodyPr>
          <a:lstStyle/>
          <a:p>
            <a:pPr>
              <a:lnSpc>
                <a:spcPct val="100000"/>
              </a:lnSpc>
              <a:spcAft>
                <a:spcPts val="0"/>
              </a:spcAft>
            </a:pPr>
            <a:r>
              <a:rPr sz="1800" i="0">
                <a:solidFill>
                  <a:srgbClr val="E8EDF2"/>
                </a:solidFill>
                <a:latin typeface="Consolas"/>
              </a:rPr>
              <a:t>    </a:t>
            </a:r>
            <a:r>
              <a:rPr sz="1800" i="0">
                <a:solidFill>
                  <a:srgbClr val="E8EDF2"/>
                </a:solidFill>
                <a:latin typeface="Consolas"/>
              </a:rPr>
              <a:t>spec</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_</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forward_chain</a:t>
            </a:r>
            <a:r>
              <a:rPr sz="1800" i="0">
                <a:solidFill>
                  <a:srgbClr val="AEB6BF"/>
                </a:solidFill>
                <a:latin typeface="Consolas"/>
              </a:rPr>
              <a:t>(</a:t>
            </a:r>
            <a:r>
              <a:rPr sz="1800" i="0">
                <a:solidFill>
                  <a:srgbClr val="E8EDF2"/>
                </a:solidFill>
                <a:latin typeface="Consolas"/>
              </a:rPr>
              <a:t>TICKETS</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T-4472</a:t>
            </a:r>
            <a:r>
              <a:rPr sz="1800" i="0">
                <a:solidFill>
                  <a:srgbClr val="7DCEA0"/>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specificity</a:t>
            </a:r>
            <a:r>
              <a:rPr sz="1800" i="0">
                <a:solidFill>
                  <a:srgbClr val="7DCEA0"/>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order</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_</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forward_chain</a:t>
            </a:r>
            <a:r>
              <a:rPr sz="1800" i="0">
                <a:solidFill>
                  <a:srgbClr val="AEB6BF"/>
                </a:solidFill>
                <a:latin typeface="Consolas"/>
              </a:rPr>
              <a:t>(</a:t>
            </a:r>
            <a:r>
              <a:rPr sz="1800" i="0">
                <a:solidFill>
                  <a:srgbClr val="E8EDF2"/>
                </a:solidFill>
                <a:latin typeface="Consolas"/>
              </a:rPr>
              <a:t>TICKETS</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T-4472</a:t>
            </a:r>
            <a:r>
              <a:rPr sz="1800" i="0">
                <a:solidFill>
                  <a:srgbClr val="7DCEA0"/>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order</a:t>
            </a:r>
            <a:r>
              <a:rPr sz="1800" i="0">
                <a:solidFill>
                  <a:srgbClr val="7DCEA0"/>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5DADE2"/>
                </a:solidFill>
                <a:latin typeface="Consolas"/>
              </a:rPr>
              <a:t>assert</a:t>
            </a:r>
            <a:r>
              <a:rPr sz="1800" i="0">
                <a:solidFill>
                  <a:srgbClr val="E8EDF2"/>
                </a:solidFill>
                <a:latin typeface="Consolas"/>
              </a:rPr>
              <a:t> </a:t>
            </a:r>
            <a:r>
              <a:rPr sz="1800" i="0">
                <a:solidFill>
                  <a:srgbClr val="E8EDF2"/>
                </a:solidFill>
                <a:latin typeface="Consolas"/>
              </a:rPr>
              <a:t>spec</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priority</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P2</a:t>
            </a:r>
            <a:r>
              <a:rPr sz="1800" i="0">
                <a:solidFill>
                  <a:srgbClr val="7DCEA0"/>
                </a:solidFill>
                <a:latin typeface="Consolas"/>
              </a:rPr>
              <a:t>"</a:t>
            </a:r>
            <a:r>
              <a:rPr sz="1800" i="0">
                <a:solidFill>
                  <a:srgbClr val="E8EDF2"/>
                </a:solidFill>
                <a:latin typeface="Consolas"/>
              </a:rPr>
              <a:t> </a:t>
            </a:r>
            <a:r>
              <a:rPr sz="1800" i="0">
                <a:solidFill>
                  <a:srgbClr val="AEB6BF"/>
                </a:solidFill>
                <a:latin typeface="Consolas"/>
              </a:rPr>
              <a:t>and</a:t>
            </a:r>
            <a:r>
              <a:rPr sz="1800" i="0">
                <a:solidFill>
                  <a:srgbClr val="E8EDF2"/>
                </a:solidFill>
                <a:latin typeface="Consolas"/>
              </a:rPr>
              <a:t> </a:t>
            </a:r>
            <a:r>
              <a:rPr sz="1800" i="0">
                <a:solidFill>
                  <a:srgbClr val="E8EDF2"/>
                </a:solidFill>
                <a:latin typeface="Consolas"/>
              </a:rPr>
              <a:t>spec</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action</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leave_in_queue</a:t>
            </a:r>
            <a:r>
              <a:rPr sz="1800" i="0">
                <a:solidFill>
                  <a:srgbClr val="7DCEA0"/>
                </a:solidFill>
                <a:latin typeface="Consolas"/>
              </a:rPr>
              <a:t>"</a:t>
            </a:r>
          </a:p>
          <a:p>
            <a:pPr>
              <a:lnSpc>
                <a:spcPct val="100000"/>
              </a:lnSpc>
              <a:spcAft>
                <a:spcPts val="0"/>
              </a:spcAft>
            </a:pPr>
            <a:r>
              <a:rPr sz="1800" i="0">
                <a:solidFill>
                  <a:srgbClr val="E8EDF2"/>
                </a:solidFill>
                <a:latin typeface="Consolas"/>
              </a:rPr>
              <a:t>    </a:t>
            </a:r>
            <a:r>
              <a:rPr sz="1800" i="0">
                <a:solidFill>
                  <a:srgbClr val="5DADE2"/>
                </a:solidFill>
                <a:latin typeface="Consolas"/>
              </a:rPr>
              <a:t>assert</a:t>
            </a:r>
            <a:r>
              <a:rPr sz="1800" i="0">
                <a:solidFill>
                  <a:srgbClr val="E8EDF2"/>
                </a:solidFill>
                <a:latin typeface="Consolas"/>
              </a:rPr>
              <a:t> </a:t>
            </a:r>
            <a:r>
              <a:rPr sz="1800" i="0">
                <a:solidFill>
                  <a:srgbClr val="E8EDF2"/>
                </a:solidFill>
                <a:latin typeface="Consolas"/>
              </a:rPr>
              <a:t>order</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priority</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P1</a:t>
            </a:r>
            <a:r>
              <a:rPr sz="1800" i="0">
                <a:solidFill>
                  <a:srgbClr val="7DCEA0"/>
                </a:solidFill>
                <a:latin typeface="Consolas"/>
              </a:rPr>
              <a:t>"</a:t>
            </a:r>
            <a:r>
              <a:rPr sz="1800" i="0">
                <a:solidFill>
                  <a:srgbClr val="E8EDF2"/>
                </a:solidFill>
                <a:latin typeface="Consolas"/>
              </a:rPr>
              <a:t> </a:t>
            </a:r>
            <a:r>
              <a:rPr sz="1800" i="0">
                <a:solidFill>
                  <a:srgbClr val="AEB6BF"/>
                </a:solidFill>
                <a:latin typeface="Consolas"/>
              </a:rPr>
              <a:t>and</a:t>
            </a:r>
            <a:r>
              <a:rPr sz="1800" i="0">
                <a:solidFill>
                  <a:srgbClr val="E8EDF2"/>
                </a:solidFill>
                <a:latin typeface="Consolas"/>
              </a:rPr>
              <a:t> </a:t>
            </a:r>
            <a:r>
              <a:rPr sz="1800" i="0">
                <a:solidFill>
                  <a:srgbClr val="E8EDF2"/>
                </a:solidFill>
                <a:latin typeface="Consolas"/>
              </a:rPr>
              <a:t>order</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action</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wake_on_call</a:t>
            </a:r>
            <a:r>
              <a:rPr sz="1800" i="0">
                <a:solidFill>
                  <a:srgbClr val="7DCEA0"/>
                </a:solidFill>
                <a:latin typeface="Consolas"/>
              </a:rPr>
              <a:t>"</a:t>
            </a:r>
          </a:p>
          <a:p>
            <a:pPr>
              <a:lnSpc>
                <a:spcPct val="100000"/>
              </a:lnSpc>
              <a:spcAft>
                <a:spcPts val="0"/>
              </a:spcAft>
            </a:pPr>
            <a:r>
              <a:rPr sz="1800" i="0">
                <a:solidFill>
                  <a:srgbClr val="E8EDF2"/>
                </a:solidFill>
                <a:latin typeface="Consolas"/>
              </a:rPr>
              <a:t>    </a:t>
            </a:r>
            <a:r>
              <a:rPr sz="1800" i="0">
                <a:solidFill>
                  <a:srgbClr val="C39BD3"/>
                </a:solidFill>
                <a:latin typeface="Consolas"/>
              </a:rPr>
              <a:t>print</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T-4472 is major severity on a STANDARD tier customer.</a:t>
            </a:r>
            <a:r>
              <a:rPr sz="1800" i="0">
                <a:solidFill>
                  <a:srgbClr val="7DCEA0"/>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R0 (</a:t>
            </a:r>
            <a:r>
              <a:rPr sz="1800" i="0">
                <a:solidFill>
                  <a:srgbClr val="7DCEA0"/>
                </a:solidFill>
                <a:latin typeface="Consolas"/>
              </a:rPr>
              <a:t>'</a:t>
            </a:r>
            <a:r>
              <a:rPr sz="1800" i="0">
                <a:solidFill>
                  <a:srgbClr val="7DCEA0"/>
                </a:solidFill>
                <a:latin typeface="Consolas"/>
              </a:rPr>
              <a:t>major -&gt; P1</a:t>
            </a:r>
            <a:r>
              <a:rPr sz="1800" i="0">
                <a:solidFill>
                  <a:srgbClr val="7DCEA0"/>
                </a:solidFill>
                <a:latin typeface="Consolas"/>
              </a:rPr>
              <a:t>'</a:t>
            </a:r>
            <a:r>
              <a:rPr sz="1800" i="0">
                <a:solidFill>
                  <a:srgbClr val="7DCEA0"/>
                </a:solidFill>
                <a:latin typeface="Consolas"/>
              </a:rPr>
              <a:t>) is general and listed first, so plain</a:t>
            </a:r>
            <a:r>
              <a:rPr sz="1800" i="0">
                <a:solidFill>
                  <a:srgbClr val="7DCEA0"/>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rule order reaches it and wakes an engineer at 3 a.m. for</a:t>
            </a:r>
            <a:r>
              <a:rPr sz="1800" i="0">
                <a:solidFill>
                  <a:srgbClr val="7DCEA0"/>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a standard-tier ticket with a workaround. Specificity</a:t>
            </a:r>
            <a:r>
              <a:rPr sz="1800" i="0">
                <a:solidFill>
                  <a:srgbClr val="7DCEA0"/>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prefers the two-condition R3, gets P2, and leaves it in</a:t>
            </a:r>
            <a:r>
              <a:rPr sz="1800" i="0">
                <a:solidFill>
                  <a:srgbClr val="7DCEA0"/>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the queue. That is a real engineer</a:t>
            </a:r>
            <a:r>
              <a:rPr sz="1800" i="0">
                <a:solidFill>
                  <a:srgbClr val="7DCEA0"/>
                </a:solidFill>
                <a:latin typeface="Consolas"/>
              </a:rPr>
              <a:t>'</a:t>
            </a:r>
            <a:r>
              <a:rPr sz="1800" i="0">
                <a:solidFill>
                  <a:srgbClr val="7DCEA0"/>
                </a:solidFill>
                <a:latin typeface="Consolas"/>
              </a:rPr>
              <a:t>s night, decided by the</a:t>
            </a:r>
            <a:r>
              <a:rPr sz="1800" i="0">
                <a:solidFill>
                  <a:srgbClr val="7DCEA0"/>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conflict-resolution strategy alone.</a:t>
            </a:r>
            <a:r>
              <a:rPr sz="1800" i="0">
                <a:solidFill>
                  <a:srgbClr val="7DCEA0"/>
                </a:solidFill>
                <a:latin typeface="Consolas"/>
              </a:rPr>
              <a:t>"</a:t>
            </a:r>
            <a:r>
              <a:rPr sz="1800" i="0">
                <a:solidFill>
                  <a:srgbClr val="AEB6BF"/>
                </a:solidFill>
                <a:latin typeface="Consolas"/>
              </a:rPr>
              <a:t>)</a:t>
            </a:r>
          </a:p>
        </p:txBody>
      </p:sp>
      <p:sp>
        <p:nvSpPr>
          <p:cNvPr id="15" name="!!code-num"/>
          <p:cNvSpPr txBox="1"/>
          <p:nvPr/>
        </p:nvSpPr>
        <p:spPr>
          <a:xfrm>
            <a:off x="768096" y="2523744"/>
            <a:ext cx="393192" cy="3401568"/>
          </a:xfrm>
          <a:prstGeom prst="rect">
            <a:avLst/>
          </a:prstGeom>
          <a:noFill/>
        </p:spPr>
        <p:txBody>
          <a:bodyPr wrap="none" anchor="t" lIns="0" rIns="0" tIns="0" bIns="0">
            <a:noAutofit/>
          </a:bodyPr>
          <a:lstStyle/>
          <a:p>
            <a:pPr algn="r">
              <a:lnSpc>
                <a:spcPct val="100000"/>
              </a:lnSpc>
            </a:pPr>
            <a:r>
              <a:rPr sz="1800">
                <a:solidFill>
                  <a:srgbClr val="4F5D6A"/>
                </a:solidFill>
                <a:latin typeface="Consolas"/>
              </a:rPr>
              <a:t>207</a:t>
            </a:r>
          </a:p>
          <a:p>
            <a:pPr algn="r">
              <a:lnSpc>
                <a:spcPct val="100000"/>
              </a:lnSpc>
            </a:pPr>
            <a:r>
              <a:rPr sz="1800">
                <a:solidFill>
                  <a:srgbClr val="4F5D6A"/>
                </a:solidFill>
                <a:latin typeface="Consolas"/>
              </a:rPr>
              <a:t>208</a:t>
            </a:r>
          </a:p>
          <a:p>
            <a:pPr algn="r">
              <a:lnSpc>
                <a:spcPct val="100000"/>
              </a:lnSpc>
            </a:pPr>
            <a:r>
              <a:rPr sz="1800">
                <a:solidFill>
                  <a:srgbClr val="4F5D6A"/>
                </a:solidFill>
                <a:latin typeface="Consolas"/>
              </a:rPr>
              <a:t>209</a:t>
            </a:r>
          </a:p>
          <a:p>
            <a:pPr algn="r">
              <a:lnSpc>
                <a:spcPct val="100000"/>
              </a:lnSpc>
            </a:pPr>
            <a:r>
              <a:rPr sz="1800">
                <a:solidFill>
                  <a:srgbClr val="4F5D6A"/>
                </a:solidFill>
                <a:latin typeface="Consolas"/>
              </a:rPr>
              <a:t>210</a:t>
            </a:r>
          </a:p>
          <a:p>
            <a:pPr algn="r">
              <a:lnSpc>
                <a:spcPct val="100000"/>
              </a:lnSpc>
            </a:pPr>
            <a:r>
              <a:rPr sz="1800">
                <a:solidFill>
                  <a:srgbClr val="4F5D6A"/>
                </a:solidFill>
                <a:latin typeface="Consolas"/>
              </a:rPr>
              <a:t>211</a:t>
            </a:r>
          </a:p>
          <a:p>
            <a:pPr algn="r">
              <a:lnSpc>
                <a:spcPct val="100000"/>
              </a:lnSpc>
            </a:pPr>
            <a:r>
              <a:rPr sz="1800">
                <a:solidFill>
                  <a:srgbClr val="4F5D6A"/>
                </a:solidFill>
                <a:latin typeface="Consolas"/>
              </a:rPr>
              <a:t>212</a:t>
            </a:r>
          </a:p>
          <a:p>
            <a:pPr algn="r">
              <a:lnSpc>
                <a:spcPct val="100000"/>
              </a:lnSpc>
            </a:pPr>
            <a:r>
              <a:rPr sz="1800">
                <a:solidFill>
                  <a:srgbClr val="4F5D6A"/>
                </a:solidFill>
                <a:latin typeface="Consolas"/>
              </a:rPr>
              <a:t>213</a:t>
            </a:r>
          </a:p>
          <a:p>
            <a:pPr algn="r">
              <a:lnSpc>
                <a:spcPct val="100000"/>
              </a:lnSpc>
            </a:pPr>
            <a:r>
              <a:rPr sz="1800">
                <a:solidFill>
                  <a:srgbClr val="4F5D6A"/>
                </a:solidFill>
                <a:latin typeface="Consolas"/>
              </a:rPr>
              <a:t>214</a:t>
            </a:r>
          </a:p>
          <a:p>
            <a:pPr algn="r">
              <a:lnSpc>
                <a:spcPct val="100000"/>
              </a:lnSpc>
            </a:pPr>
            <a:r>
              <a:rPr sz="1800">
                <a:solidFill>
                  <a:srgbClr val="4F5D6A"/>
                </a:solidFill>
                <a:latin typeface="Consolas"/>
              </a:rPr>
              <a:t>215</a:t>
            </a:r>
          </a:p>
          <a:p>
            <a:pPr algn="r">
              <a:lnSpc>
                <a:spcPct val="100000"/>
              </a:lnSpc>
            </a:pPr>
            <a:r>
              <a:rPr sz="1800">
                <a:solidFill>
                  <a:srgbClr val="4F5D6A"/>
                </a:solidFill>
                <a:latin typeface="Consolas"/>
              </a:rPr>
              <a:t>216</a:t>
            </a:r>
          </a:p>
          <a:p>
            <a:pPr algn="r">
              <a:lnSpc>
                <a:spcPct val="100000"/>
              </a:lnSpc>
            </a:pPr>
            <a:r>
              <a:rPr sz="1800">
                <a:solidFill>
                  <a:srgbClr val="4F5D6A"/>
                </a:solidFill>
                <a:latin typeface="Consolas"/>
              </a:rPr>
              <a:t>217</a:t>
            </a:r>
          </a:p>
          <a:p>
            <a:pPr algn="r">
              <a:lnSpc>
                <a:spcPct val="100000"/>
              </a:lnSpc>
            </a:pPr>
            <a:r>
              <a:rPr sz="1800">
                <a:solidFill>
                  <a:srgbClr val="4F5D6A"/>
                </a:solidFill>
                <a:latin typeface="Consolas"/>
              </a:rPr>
              <a:t>218</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058917"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Twenty-Rule Escalation Shell That Explains Itself</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17 OF 21</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13  ·  Rule-Based Expert Systems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§13.6  ·  Handout p. 136     </a:t>
            </a:r>
            <a:fld id="{871D5EC9-AF8B-4306-A8FA-E3EA4E240150}" type="slidenum">
              <a:rPr lang="en-GB" sz="1000">
                <a:solidFill>
                  <a:srgbClr val="8795A1"/>
                </a:solidFill>
                <a:latin typeface="Segoe UI"/>
              </a:rPr>
              <a:t>40</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The explanation</a:t>
            </a:r>
          </a:p>
        </p:txBody>
      </p:sp>
      <p:sp>
        <p:nvSpPr>
          <p:cNvPr id="8" name="!!code-bg">
            <a:extLst>
              <a:ext uri="{C183D7F6-B498-43B3-948B-1728B52AA6E4}">
                <adec:decorative xmlns:adec="http://schemas.microsoft.com/office/drawing/2017/decorative" val="1"/>
              </a:ext>
            </a:extLst>
          </p:cNvPr>
          <p:cNvSpPr/>
          <p:nvPr/>
        </p:nvSpPr>
        <p:spPr>
          <a:xfrm>
            <a:off x="658368" y="2084831"/>
            <a:ext cx="10874959" cy="2737104"/>
          </a:xfrm>
          <a:prstGeom prst="roundRect">
            <a:avLst>
              <a:gd name="adj" fmla="val 3340"/>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code/ch13_twenty_rule_escalation.py</a:t>
            </a:r>
          </a:p>
        </p:txBody>
      </p:sp>
      <p:sp>
        <p:nvSpPr>
          <p:cNvPr id="14" name="!!code-text" descr="# --- the explanation ------------------------------------------ print() print(&quot;=== why is T-4471 escalated? ===&quot;) tree = backward_chain((&quot;escalate&quot;, &quot;yes&quot;), TICKETS[&quot;T-4471&quot;]) assert tree is not None for line in explain(tree): print(&quot; &quot; + line)"/>
          <p:cNvSpPr txBox="1"/>
          <p:nvPr/>
        </p:nvSpPr>
        <p:spPr>
          <a:xfrm>
            <a:off x="1362456" y="2523744"/>
            <a:ext cx="9987991" cy="2243328"/>
          </a:xfrm>
          <a:prstGeom prst="rect">
            <a:avLst/>
          </a:prstGeom>
          <a:noFill/>
        </p:spPr>
        <p:txBody>
          <a:bodyPr wrap="none" anchor="t" lIns="0" rIns="0" tIns="0" bIns="0">
            <a:noAutofit/>
          </a:bodyPr>
          <a:lstStyle/>
          <a:p>
            <a:pPr>
              <a:lnSpc>
                <a:spcPct val="100000"/>
              </a:lnSpc>
              <a:spcAft>
                <a:spcPts val="0"/>
              </a:spcAft>
            </a:pPr>
            <a:r>
              <a:rPr sz="2000" i="0">
                <a:solidFill>
                  <a:srgbClr val="E8EDF2"/>
                </a:solidFill>
                <a:latin typeface="Consolas"/>
              </a:rPr>
              <a:t>    </a:t>
            </a:r>
            <a:r>
              <a:rPr sz="2000" i="1">
                <a:solidFill>
                  <a:srgbClr val="8795A1"/>
                </a:solidFill>
                <a:latin typeface="Consolas"/>
              </a:rPr>
              <a:t># --- the explanation ------------------------------------------</a:t>
            </a:r>
          </a:p>
          <a:p>
            <a:pPr>
              <a:lnSpc>
                <a:spcPct val="100000"/>
              </a:lnSpc>
              <a:spcAft>
                <a:spcPts val="0"/>
              </a:spcAft>
            </a:pPr>
            <a:r>
              <a:rPr sz="2000" i="0">
                <a:solidFill>
                  <a:srgbClr val="E8EDF2"/>
                </a:solidFill>
                <a:latin typeface="Consolas"/>
              </a:rPr>
              <a:t>    </a:t>
            </a:r>
            <a:r>
              <a:rPr sz="2000" i="0">
                <a:solidFill>
                  <a:srgbClr val="C39BD3"/>
                </a:solidFill>
                <a:latin typeface="Consolas"/>
              </a:rPr>
              <a:t>print</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C39BD3"/>
                </a:solidFill>
                <a:latin typeface="Consolas"/>
              </a:rPr>
              <a:t>print</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 why is T-4471 escalated? ===</a:t>
            </a:r>
            <a:r>
              <a:rPr sz="2000" i="0">
                <a:solidFill>
                  <a:srgbClr val="7DCEA0"/>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tree</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backward_chain</a:t>
            </a:r>
            <a:r>
              <a:rPr sz="2000" i="0">
                <a:solidFill>
                  <a:srgbClr val="AEB6BF"/>
                </a:solidFill>
                <a:latin typeface="Consolas"/>
              </a:rPr>
              <a:t>(</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escalate</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yes</a:t>
            </a:r>
            <a:r>
              <a:rPr sz="2000" i="0">
                <a:solidFill>
                  <a:srgbClr val="7DCEA0"/>
                </a:solidFill>
                <a:latin typeface="Consolas"/>
              </a:rPr>
              <a:t>"</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TICKETS</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T-4471</a:t>
            </a:r>
            <a:r>
              <a:rPr sz="2000" i="0">
                <a:solidFill>
                  <a:srgbClr val="7DCEA0"/>
                </a:solidFill>
                <a:latin typeface="Consolas"/>
              </a:rPr>
              <a:t>"</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assert</a:t>
            </a:r>
            <a:r>
              <a:rPr sz="2000" i="0">
                <a:solidFill>
                  <a:srgbClr val="E8EDF2"/>
                </a:solidFill>
                <a:latin typeface="Consolas"/>
              </a:rPr>
              <a:t> </a:t>
            </a:r>
            <a:r>
              <a:rPr sz="2000" i="0">
                <a:solidFill>
                  <a:srgbClr val="E8EDF2"/>
                </a:solidFill>
                <a:latin typeface="Consolas"/>
              </a:rPr>
              <a:t>tree</a:t>
            </a:r>
            <a:r>
              <a:rPr sz="2000" i="0">
                <a:solidFill>
                  <a:srgbClr val="E8EDF2"/>
                </a:solidFill>
                <a:latin typeface="Consolas"/>
              </a:rPr>
              <a:t> </a:t>
            </a:r>
            <a:r>
              <a:rPr sz="2000" i="0">
                <a:solidFill>
                  <a:srgbClr val="AEB6BF"/>
                </a:solidFill>
                <a:latin typeface="Consolas"/>
              </a:rPr>
              <a:t>is</a:t>
            </a:r>
            <a:r>
              <a:rPr sz="2000" i="0">
                <a:solidFill>
                  <a:srgbClr val="E8EDF2"/>
                </a:solidFill>
                <a:latin typeface="Consolas"/>
              </a:rPr>
              <a:t> </a:t>
            </a:r>
            <a:r>
              <a:rPr sz="2000" i="0">
                <a:solidFill>
                  <a:srgbClr val="AEB6BF"/>
                </a:solidFill>
                <a:latin typeface="Consolas"/>
              </a:rPr>
              <a:t>not</a:t>
            </a:r>
            <a:r>
              <a:rPr sz="2000" i="0">
                <a:solidFill>
                  <a:srgbClr val="E8EDF2"/>
                </a:solidFill>
                <a:latin typeface="Consolas"/>
              </a:rPr>
              <a:t> </a:t>
            </a:r>
            <a:r>
              <a:rPr sz="2000" i="0">
                <a:solidFill>
                  <a:srgbClr val="5DADE2"/>
                </a:solidFill>
                <a:latin typeface="Consolas"/>
              </a:rPr>
              <a:t>None</a:t>
            </a:r>
          </a:p>
          <a:p>
            <a:pPr>
              <a:lnSpc>
                <a:spcPct val="100000"/>
              </a:lnSpc>
              <a:spcAft>
                <a:spcPts val="0"/>
              </a:spcAft>
            </a:pPr>
            <a:r>
              <a:rPr sz="2000" i="0">
                <a:solidFill>
                  <a:srgbClr val="E8EDF2"/>
                </a:solidFill>
                <a:latin typeface="Consolas"/>
              </a:rPr>
              <a:t>    </a:t>
            </a:r>
            <a:r>
              <a:rPr sz="2000" i="0">
                <a:solidFill>
                  <a:srgbClr val="5DADE2"/>
                </a:solidFill>
                <a:latin typeface="Consolas"/>
              </a:rPr>
              <a:t>for</a:t>
            </a:r>
            <a:r>
              <a:rPr sz="2000" i="0">
                <a:solidFill>
                  <a:srgbClr val="E8EDF2"/>
                </a:solidFill>
                <a:latin typeface="Consolas"/>
              </a:rPr>
              <a:t> </a:t>
            </a:r>
            <a:r>
              <a:rPr sz="2000" i="0">
                <a:solidFill>
                  <a:srgbClr val="E8EDF2"/>
                </a:solidFill>
                <a:latin typeface="Consolas"/>
              </a:rPr>
              <a:t>line</a:t>
            </a:r>
            <a:r>
              <a:rPr sz="2000" i="0">
                <a:solidFill>
                  <a:srgbClr val="E8EDF2"/>
                </a:solidFill>
                <a:latin typeface="Consolas"/>
              </a:rPr>
              <a:t> </a:t>
            </a:r>
            <a:r>
              <a:rPr sz="2000" i="0">
                <a:solidFill>
                  <a:srgbClr val="AEB6BF"/>
                </a:solidFill>
                <a:latin typeface="Consolas"/>
              </a:rPr>
              <a:t>in</a:t>
            </a:r>
            <a:r>
              <a:rPr sz="2000" i="0">
                <a:solidFill>
                  <a:srgbClr val="E8EDF2"/>
                </a:solidFill>
                <a:latin typeface="Consolas"/>
              </a:rPr>
              <a:t> </a:t>
            </a:r>
            <a:r>
              <a:rPr sz="2000" i="0">
                <a:solidFill>
                  <a:srgbClr val="E8EDF2"/>
                </a:solidFill>
                <a:latin typeface="Consolas"/>
              </a:rPr>
              <a:t>explain</a:t>
            </a:r>
            <a:r>
              <a:rPr sz="2000" i="0">
                <a:solidFill>
                  <a:srgbClr val="AEB6BF"/>
                </a:solidFill>
                <a:latin typeface="Consolas"/>
              </a:rPr>
              <a:t>(</a:t>
            </a:r>
            <a:r>
              <a:rPr sz="2000" i="0">
                <a:solidFill>
                  <a:srgbClr val="E8EDF2"/>
                </a:solidFill>
                <a:latin typeface="Consolas"/>
              </a:rPr>
              <a:t>tree</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C39BD3"/>
                </a:solidFill>
                <a:latin typeface="Consolas"/>
              </a:rPr>
              <a:t>print</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   </a:t>
            </a:r>
            <a:r>
              <a:rPr sz="2000" i="0">
                <a:solidFill>
                  <a:srgbClr val="7DCEA0"/>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line</a:t>
            </a:r>
            <a:r>
              <a:rPr sz="2000" i="0">
                <a:solidFill>
                  <a:srgbClr val="AEB6BF"/>
                </a:solidFill>
                <a:latin typeface="Consolas"/>
              </a:rPr>
              <a:t>)</a:t>
            </a:r>
          </a:p>
        </p:txBody>
      </p:sp>
      <p:sp>
        <p:nvSpPr>
          <p:cNvPr id="15" name="!!code-num"/>
          <p:cNvSpPr txBox="1"/>
          <p:nvPr/>
        </p:nvSpPr>
        <p:spPr>
          <a:xfrm>
            <a:off x="768096" y="2523744"/>
            <a:ext cx="393192" cy="2243328"/>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220</a:t>
            </a:r>
          </a:p>
          <a:p>
            <a:pPr algn="r">
              <a:lnSpc>
                <a:spcPct val="100000"/>
              </a:lnSpc>
            </a:pPr>
            <a:r>
              <a:rPr sz="2000">
                <a:solidFill>
                  <a:srgbClr val="4F5D6A"/>
                </a:solidFill>
                <a:latin typeface="Consolas"/>
              </a:rPr>
              <a:t>221</a:t>
            </a:r>
          </a:p>
          <a:p>
            <a:pPr algn="r">
              <a:lnSpc>
                <a:spcPct val="100000"/>
              </a:lnSpc>
            </a:pPr>
            <a:r>
              <a:rPr sz="2000">
                <a:solidFill>
                  <a:srgbClr val="4F5D6A"/>
                </a:solidFill>
                <a:latin typeface="Consolas"/>
              </a:rPr>
              <a:t>222</a:t>
            </a:r>
          </a:p>
          <a:p>
            <a:pPr algn="r">
              <a:lnSpc>
                <a:spcPct val="100000"/>
              </a:lnSpc>
            </a:pPr>
            <a:r>
              <a:rPr sz="2000">
                <a:solidFill>
                  <a:srgbClr val="4F5D6A"/>
                </a:solidFill>
                <a:latin typeface="Consolas"/>
              </a:rPr>
              <a:t>223</a:t>
            </a:r>
          </a:p>
          <a:p>
            <a:pPr algn="r">
              <a:lnSpc>
                <a:spcPct val="100000"/>
              </a:lnSpc>
            </a:pPr>
            <a:r>
              <a:rPr sz="2000">
                <a:solidFill>
                  <a:srgbClr val="4F5D6A"/>
                </a:solidFill>
                <a:latin typeface="Consolas"/>
              </a:rPr>
              <a:t>224</a:t>
            </a:r>
          </a:p>
          <a:p>
            <a:pPr algn="r">
              <a:lnSpc>
                <a:spcPct val="100000"/>
              </a:lnSpc>
            </a:pPr>
            <a:r>
              <a:rPr sz="2000">
                <a:solidFill>
                  <a:srgbClr val="4F5D6A"/>
                </a:solidFill>
                <a:latin typeface="Consolas"/>
              </a:rPr>
              <a:t>225</a:t>
            </a:r>
          </a:p>
          <a:p>
            <a:pPr algn="r">
              <a:lnSpc>
                <a:spcPct val="100000"/>
              </a:lnSpc>
            </a:pPr>
            <a:r>
              <a:rPr sz="2000">
                <a:solidFill>
                  <a:srgbClr val="4F5D6A"/>
                </a:solidFill>
                <a:latin typeface="Consolas"/>
              </a:rPr>
              <a:t>226</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265556"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Twenty-Rule Escalation Shell That Explains Itself</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18 OF 21</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13  ·  Rule-Based Expert Systems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§13.6  ·  Handout p. 136     </a:t>
            </a:r>
            <a:fld id="{C625DB31-BDBB-4272-895B-C791C000304A}" type="slidenum">
              <a:rPr lang="en-GB" sz="1000">
                <a:solidFill>
                  <a:srgbClr val="8795A1"/>
                </a:solidFill>
                <a:latin typeface="Segoe UI"/>
              </a:rPr>
              <a:t>41</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The two directions DISAGREE, and that is a real bug</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956303"/>
          </a:xfrm>
          <a:prstGeom prst="roundRect">
            <a:avLst>
              <a:gd name="adj" fmla="val 2311"/>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code/ch13_twenty_rule_escalation.py</a:t>
            </a:r>
          </a:p>
        </p:txBody>
      </p:sp>
      <p:sp>
        <p:nvSpPr>
          <p:cNvPr id="14" name="!!code-text" descr="# --- the two directions DISAGREE, and that is a real bug ----- print() print(&quot;=== and is T-4472 escalated? ===&quot;) fwd_wm, _ = forward_chain(TICKETS[&quot;T-4472&quot;]) up = backward_chain((&quot;escalate&quot;, &quot;yes&quot;), TICKETS[&quot;T-4472&quot;]) print(&quot; forward chaining says escalate =&quot;, fwd_wm[&quot;escalate&quot;]) print(&quot; backward chaining proves escalate = yes:&quot;, up is not None) assert fwd_wm[&quot;escalate&quot;] == &quot;no&quot; and up is not None print() print(&quot; They disagree. Backward chaining's proof:&quot;) for line in explain(up): print(&quot; &quot; + line) print() print(&quot; Backward chaining has no conflict resolution: it asks&quot;) print(&quot; 'is there ANY rule concluding this?' and R0 is one.&quot;) print(&quot; Forward chaining never used R0 because specificity&quot;) print(&quot; preferred R3 -- so specificity was MASKING a bad rule,&quot;) print(&quot; not fixing it. R0 says every major ticket is P1, which&quot;) print(&quot; is simply false, and no resolution strategy makes a&quot;) print(&quot; false rule true.&quot;)"/>
          <p:cNvSpPr txBox="1"/>
          <p:nvPr/>
        </p:nvSpPr>
        <p:spPr>
          <a:xfrm>
            <a:off x="1362456" y="2523744"/>
            <a:ext cx="9987991" cy="3462527"/>
          </a:xfrm>
          <a:prstGeom prst="rect">
            <a:avLst/>
          </a:prstGeom>
          <a:noFill/>
        </p:spPr>
        <p:txBody>
          <a:bodyPr wrap="none" anchor="t" lIns="0" rIns="0" tIns="0" bIns="0">
            <a:noAutofit/>
          </a:bodyPr>
          <a:lstStyle/>
          <a:p>
            <a:pPr>
              <a:lnSpc>
                <a:spcPct val="100000"/>
              </a:lnSpc>
              <a:spcAft>
                <a:spcPts val="0"/>
              </a:spcAft>
            </a:pPr>
            <a:r>
              <a:rPr sz="1100" i="0">
                <a:solidFill>
                  <a:srgbClr val="E8EDF2"/>
                </a:solidFill>
                <a:latin typeface="Consolas"/>
              </a:rPr>
              <a:t>    </a:t>
            </a:r>
            <a:r>
              <a:rPr sz="1100" i="1">
                <a:solidFill>
                  <a:srgbClr val="8795A1"/>
                </a:solidFill>
                <a:latin typeface="Consolas"/>
              </a:rPr>
              <a:t># --- the two directions DISAGREE, and that is a real bug -----</a:t>
            </a:r>
          </a:p>
          <a:p>
            <a:pPr>
              <a:lnSpc>
                <a:spcPct val="100000"/>
              </a:lnSpc>
              <a:spcAft>
                <a:spcPts val="0"/>
              </a:spcAft>
            </a:pPr>
            <a:r>
              <a:rPr sz="1100" i="0">
                <a:solidFill>
                  <a:srgbClr val="E8EDF2"/>
                </a:solidFill>
                <a:latin typeface="Consolas"/>
              </a:rPr>
              <a:t>    </a:t>
            </a:r>
            <a:r>
              <a:rPr sz="1100" i="0">
                <a:solidFill>
                  <a:srgbClr val="C39BD3"/>
                </a:solidFill>
                <a:latin typeface="Consolas"/>
              </a:rPr>
              <a:t>print</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C39BD3"/>
                </a:solidFill>
                <a:latin typeface="Consolas"/>
              </a:rPr>
              <a:t>print</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 and is T-4472 escalated? ===</a:t>
            </a:r>
            <a:r>
              <a:rPr sz="1100" i="0">
                <a:solidFill>
                  <a:srgbClr val="7DCEA0"/>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E8EDF2"/>
                </a:solidFill>
                <a:latin typeface="Consolas"/>
              </a:rPr>
              <a:t>fwd_wm</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_</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forward_chain</a:t>
            </a:r>
            <a:r>
              <a:rPr sz="1100" i="0">
                <a:solidFill>
                  <a:srgbClr val="AEB6BF"/>
                </a:solidFill>
                <a:latin typeface="Consolas"/>
              </a:rPr>
              <a:t>(</a:t>
            </a:r>
            <a:r>
              <a:rPr sz="1100" i="0">
                <a:solidFill>
                  <a:srgbClr val="E8EDF2"/>
                </a:solidFill>
                <a:latin typeface="Consolas"/>
              </a:rPr>
              <a:t>TICKETS</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T-4472</a:t>
            </a:r>
            <a:r>
              <a:rPr sz="1100" i="0">
                <a:solidFill>
                  <a:srgbClr val="7DCEA0"/>
                </a:solidFill>
                <a:latin typeface="Consolas"/>
              </a:rPr>
              <a:t>"</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E8EDF2"/>
                </a:solidFill>
                <a:latin typeface="Consolas"/>
              </a:rPr>
              <a:t>up</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backward_chain</a:t>
            </a:r>
            <a:r>
              <a:rPr sz="1100" i="0">
                <a:solidFill>
                  <a:srgbClr val="AEB6BF"/>
                </a:solidFill>
                <a:latin typeface="Consolas"/>
              </a:rPr>
              <a:t>(</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escalate</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yes</a:t>
            </a:r>
            <a:r>
              <a:rPr sz="1100" i="0">
                <a:solidFill>
                  <a:srgbClr val="7DCEA0"/>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TICKETS</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T-4472</a:t>
            </a:r>
            <a:r>
              <a:rPr sz="1100" i="0">
                <a:solidFill>
                  <a:srgbClr val="7DCEA0"/>
                </a:solidFill>
                <a:latin typeface="Consolas"/>
              </a:rPr>
              <a:t>"</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C39BD3"/>
                </a:solidFill>
                <a:latin typeface="Consolas"/>
              </a:rPr>
              <a:t>print</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   forward chaining says escalate =</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fwd_wm</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escalate</a:t>
            </a:r>
            <a:r>
              <a:rPr sz="1100" i="0">
                <a:solidFill>
                  <a:srgbClr val="7DCEA0"/>
                </a:solidFill>
                <a:latin typeface="Consolas"/>
              </a:rPr>
              <a:t>"</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C39BD3"/>
                </a:solidFill>
                <a:latin typeface="Consolas"/>
              </a:rPr>
              <a:t>print</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   backward chaining proves escalate = yes:</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up</a:t>
            </a:r>
            <a:r>
              <a:rPr sz="1100" i="0">
                <a:solidFill>
                  <a:srgbClr val="E8EDF2"/>
                </a:solidFill>
                <a:latin typeface="Consolas"/>
              </a:rPr>
              <a:t> </a:t>
            </a:r>
            <a:r>
              <a:rPr sz="1100" i="0">
                <a:solidFill>
                  <a:srgbClr val="AEB6BF"/>
                </a:solidFill>
                <a:latin typeface="Consolas"/>
              </a:rPr>
              <a:t>is</a:t>
            </a:r>
            <a:r>
              <a:rPr sz="1100" i="0">
                <a:solidFill>
                  <a:srgbClr val="E8EDF2"/>
                </a:solidFill>
                <a:latin typeface="Consolas"/>
              </a:rPr>
              <a:t> </a:t>
            </a:r>
            <a:r>
              <a:rPr sz="1100" i="0">
                <a:solidFill>
                  <a:srgbClr val="AEB6BF"/>
                </a:solidFill>
                <a:latin typeface="Consolas"/>
              </a:rPr>
              <a:t>not</a:t>
            </a:r>
            <a:r>
              <a:rPr sz="1100" i="0">
                <a:solidFill>
                  <a:srgbClr val="E8EDF2"/>
                </a:solidFill>
                <a:latin typeface="Consolas"/>
              </a:rPr>
              <a:t> </a:t>
            </a:r>
            <a:r>
              <a:rPr sz="1100" i="0">
                <a:solidFill>
                  <a:srgbClr val="5DADE2"/>
                </a:solidFill>
                <a:latin typeface="Consolas"/>
              </a:rPr>
              <a:t>None</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5DADE2"/>
                </a:solidFill>
                <a:latin typeface="Consolas"/>
              </a:rPr>
              <a:t>assert</a:t>
            </a:r>
            <a:r>
              <a:rPr sz="1100" i="0">
                <a:solidFill>
                  <a:srgbClr val="E8EDF2"/>
                </a:solidFill>
                <a:latin typeface="Consolas"/>
              </a:rPr>
              <a:t> </a:t>
            </a:r>
            <a:r>
              <a:rPr sz="1100" i="0">
                <a:solidFill>
                  <a:srgbClr val="E8EDF2"/>
                </a:solidFill>
                <a:latin typeface="Consolas"/>
              </a:rPr>
              <a:t>fwd_wm</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escalate</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no</a:t>
            </a:r>
            <a:r>
              <a:rPr sz="1100" i="0">
                <a:solidFill>
                  <a:srgbClr val="7DCEA0"/>
                </a:solidFill>
                <a:latin typeface="Consolas"/>
              </a:rPr>
              <a:t>"</a:t>
            </a:r>
            <a:r>
              <a:rPr sz="1100" i="0">
                <a:solidFill>
                  <a:srgbClr val="E8EDF2"/>
                </a:solidFill>
                <a:latin typeface="Consolas"/>
              </a:rPr>
              <a:t> </a:t>
            </a:r>
            <a:r>
              <a:rPr sz="1100" i="0">
                <a:solidFill>
                  <a:srgbClr val="AEB6BF"/>
                </a:solidFill>
                <a:latin typeface="Consolas"/>
              </a:rPr>
              <a:t>and</a:t>
            </a:r>
            <a:r>
              <a:rPr sz="1100" i="0">
                <a:solidFill>
                  <a:srgbClr val="E8EDF2"/>
                </a:solidFill>
                <a:latin typeface="Consolas"/>
              </a:rPr>
              <a:t> </a:t>
            </a:r>
            <a:r>
              <a:rPr sz="1100" i="0">
                <a:solidFill>
                  <a:srgbClr val="E8EDF2"/>
                </a:solidFill>
                <a:latin typeface="Consolas"/>
              </a:rPr>
              <a:t>up</a:t>
            </a:r>
            <a:r>
              <a:rPr sz="1100" i="0">
                <a:solidFill>
                  <a:srgbClr val="E8EDF2"/>
                </a:solidFill>
                <a:latin typeface="Consolas"/>
              </a:rPr>
              <a:t> </a:t>
            </a:r>
            <a:r>
              <a:rPr sz="1100" i="0">
                <a:solidFill>
                  <a:srgbClr val="AEB6BF"/>
                </a:solidFill>
                <a:latin typeface="Consolas"/>
              </a:rPr>
              <a:t>is</a:t>
            </a:r>
            <a:r>
              <a:rPr sz="1100" i="0">
                <a:solidFill>
                  <a:srgbClr val="E8EDF2"/>
                </a:solidFill>
                <a:latin typeface="Consolas"/>
              </a:rPr>
              <a:t> </a:t>
            </a:r>
            <a:r>
              <a:rPr sz="1100" i="0">
                <a:solidFill>
                  <a:srgbClr val="AEB6BF"/>
                </a:solidFill>
                <a:latin typeface="Consolas"/>
              </a:rPr>
              <a:t>not</a:t>
            </a:r>
            <a:r>
              <a:rPr sz="1100" i="0">
                <a:solidFill>
                  <a:srgbClr val="E8EDF2"/>
                </a:solidFill>
                <a:latin typeface="Consolas"/>
              </a:rPr>
              <a:t> </a:t>
            </a:r>
            <a:r>
              <a:rPr sz="1100" i="0">
                <a:solidFill>
                  <a:srgbClr val="5DADE2"/>
                </a:solidFill>
                <a:latin typeface="Consolas"/>
              </a:rPr>
              <a:t>None</a:t>
            </a:r>
          </a:p>
          <a:p>
            <a:pPr>
              <a:lnSpc>
                <a:spcPct val="100000"/>
              </a:lnSpc>
              <a:spcAft>
                <a:spcPts val="0"/>
              </a:spcAft>
            </a:pPr>
            <a:r>
              <a:rPr sz="1100" i="0">
                <a:solidFill>
                  <a:srgbClr val="E8EDF2"/>
                </a:solidFill>
                <a:latin typeface="Consolas"/>
              </a:rPr>
              <a:t>    </a:t>
            </a:r>
            <a:r>
              <a:rPr sz="1100" i="0">
                <a:solidFill>
                  <a:srgbClr val="C39BD3"/>
                </a:solidFill>
                <a:latin typeface="Consolas"/>
              </a:rPr>
              <a:t>print</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C39BD3"/>
                </a:solidFill>
                <a:latin typeface="Consolas"/>
              </a:rPr>
              <a:t>print</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   They disagree. Backward chaining</a:t>
            </a:r>
            <a:r>
              <a:rPr sz="1100" i="0">
                <a:solidFill>
                  <a:srgbClr val="7DCEA0"/>
                </a:solidFill>
                <a:latin typeface="Consolas"/>
              </a:rPr>
              <a:t>'</a:t>
            </a:r>
            <a:r>
              <a:rPr sz="1100" i="0">
                <a:solidFill>
                  <a:srgbClr val="7DCEA0"/>
                </a:solidFill>
                <a:latin typeface="Consolas"/>
              </a:rPr>
              <a:t>s proof:</a:t>
            </a:r>
            <a:r>
              <a:rPr sz="1100" i="0">
                <a:solidFill>
                  <a:srgbClr val="7DCEA0"/>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5DADE2"/>
                </a:solidFill>
                <a:latin typeface="Consolas"/>
              </a:rPr>
              <a:t>for</a:t>
            </a:r>
            <a:r>
              <a:rPr sz="1100" i="0">
                <a:solidFill>
                  <a:srgbClr val="E8EDF2"/>
                </a:solidFill>
                <a:latin typeface="Consolas"/>
              </a:rPr>
              <a:t> </a:t>
            </a:r>
            <a:r>
              <a:rPr sz="1100" i="0">
                <a:solidFill>
                  <a:srgbClr val="E8EDF2"/>
                </a:solidFill>
                <a:latin typeface="Consolas"/>
              </a:rPr>
              <a:t>line</a:t>
            </a:r>
            <a:r>
              <a:rPr sz="1100" i="0">
                <a:solidFill>
                  <a:srgbClr val="E8EDF2"/>
                </a:solidFill>
                <a:latin typeface="Consolas"/>
              </a:rPr>
              <a:t> </a:t>
            </a:r>
            <a:r>
              <a:rPr sz="1100" i="0">
                <a:solidFill>
                  <a:srgbClr val="AEB6BF"/>
                </a:solidFill>
                <a:latin typeface="Consolas"/>
              </a:rPr>
              <a:t>in</a:t>
            </a:r>
            <a:r>
              <a:rPr sz="1100" i="0">
                <a:solidFill>
                  <a:srgbClr val="E8EDF2"/>
                </a:solidFill>
                <a:latin typeface="Consolas"/>
              </a:rPr>
              <a:t> </a:t>
            </a:r>
            <a:r>
              <a:rPr sz="1100" i="0">
                <a:solidFill>
                  <a:srgbClr val="E8EDF2"/>
                </a:solidFill>
                <a:latin typeface="Consolas"/>
              </a:rPr>
              <a:t>explain</a:t>
            </a:r>
            <a:r>
              <a:rPr sz="1100" i="0">
                <a:solidFill>
                  <a:srgbClr val="AEB6BF"/>
                </a:solidFill>
                <a:latin typeface="Consolas"/>
              </a:rPr>
              <a:t>(</a:t>
            </a:r>
            <a:r>
              <a:rPr sz="1100" i="0">
                <a:solidFill>
                  <a:srgbClr val="E8EDF2"/>
                </a:solidFill>
                <a:latin typeface="Consolas"/>
              </a:rPr>
              <a:t>up</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C39BD3"/>
                </a:solidFill>
                <a:latin typeface="Consolas"/>
              </a:rPr>
              <a:t>print</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      </a:t>
            </a:r>
            <a:r>
              <a:rPr sz="1100" i="0">
                <a:solidFill>
                  <a:srgbClr val="7DCEA0"/>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line</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C39BD3"/>
                </a:solidFill>
                <a:latin typeface="Consolas"/>
              </a:rPr>
              <a:t>print</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C39BD3"/>
                </a:solidFill>
                <a:latin typeface="Consolas"/>
              </a:rPr>
              <a:t>print</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   Backward chaining has no conflict resolution: it asks</a:t>
            </a:r>
            <a:r>
              <a:rPr sz="1100" i="0">
                <a:solidFill>
                  <a:srgbClr val="7DCEA0"/>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C39BD3"/>
                </a:solidFill>
                <a:latin typeface="Consolas"/>
              </a:rPr>
              <a:t>print</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   </a:t>
            </a:r>
            <a:r>
              <a:rPr sz="1100" i="0">
                <a:solidFill>
                  <a:srgbClr val="7DCEA0"/>
                </a:solidFill>
                <a:latin typeface="Consolas"/>
              </a:rPr>
              <a:t>'</a:t>
            </a:r>
            <a:r>
              <a:rPr sz="1100" i="0">
                <a:solidFill>
                  <a:srgbClr val="7DCEA0"/>
                </a:solidFill>
                <a:latin typeface="Consolas"/>
              </a:rPr>
              <a:t>is there ANY rule concluding this?</a:t>
            </a:r>
            <a:r>
              <a:rPr sz="1100" i="0">
                <a:solidFill>
                  <a:srgbClr val="7DCEA0"/>
                </a:solidFill>
                <a:latin typeface="Consolas"/>
              </a:rPr>
              <a:t>'</a:t>
            </a:r>
            <a:r>
              <a:rPr sz="1100" i="0">
                <a:solidFill>
                  <a:srgbClr val="7DCEA0"/>
                </a:solidFill>
                <a:latin typeface="Consolas"/>
              </a:rPr>
              <a:t> and R0 is one.</a:t>
            </a:r>
            <a:r>
              <a:rPr sz="1100" i="0">
                <a:solidFill>
                  <a:srgbClr val="7DCEA0"/>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C39BD3"/>
                </a:solidFill>
                <a:latin typeface="Consolas"/>
              </a:rPr>
              <a:t>print</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   Forward chaining never used R0 because specificity</a:t>
            </a:r>
            <a:r>
              <a:rPr sz="1100" i="0">
                <a:solidFill>
                  <a:srgbClr val="7DCEA0"/>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C39BD3"/>
                </a:solidFill>
                <a:latin typeface="Consolas"/>
              </a:rPr>
              <a:t>print</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   preferred R3 -- so specificity was MASKING a bad rule,</a:t>
            </a:r>
            <a:r>
              <a:rPr sz="1100" i="0">
                <a:solidFill>
                  <a:srgbClr val="7DCEA0"/>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C39BD3"/>
                </a:solidFill>
                <a:latin typeface="Consolas"/>
              </a:rPr>
              <a:t>print</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   not fixing it. R0 says every major ticket is P1, which</a:t>
            </a:r>
            <a:r>
              <a:rPr sz="1100" i="0">
                <a:solidFill>
                  <a:srgbClr val="7DCEA0"/>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C39BD3"/>
                </a:solidFill>
                <a:latin typeface="Consolas"/>
              </a:rPr>
              <a:t>print</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   is simply false, and no resolution strategy makes a</a:t>
            </a:r>
            <a:r>
              <a:rPr sz="1100" i="0">
                <a:solidFill>
                  <a:srgbClr val="7DCEA0"/>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C39BD3"/>
                </a:solidFill>
                <a:latin typeface="Consolas"/>
              </a:rPr>
              <a:t>print</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   false rule true.</a:t>
            </a:r>
            <a:r>
              <a:rPr sz="1100" i="0">
                <a:solidFill>
                  <a:srgbClr val="7DCEA0"/>
                </a:solidFill>
                <a:latin typeface="Consolas"/>
              </a:rPr>
              <a:t>"</a:t>
            </a:r>
            <a:r>
              <a:rPr sz="1100" i="0">
                <a:solidFill>
                  <a:srgbClr val="AEB6BF"/>
                </a:solidFill>
                <a:latin typeface="Consolas"/>
              </a:rPr>
              <a:t>)</a:t>
            </a:r>
          </a:p>
        </p:txBody>
      </p:sp>
      <p:sp>
        <p:nvSpPr>
          <p:cNvPr id="15" name="!!code-num"/>
          <p:cNvSpPr txBox="1"/>
          <p:nvPr/>
        </p:nvSpPr>
        <p:spPr>
          <a:xfrm>
            <a:off x="768096" y="2523744"/>
            <a:ext cx="393192" cy="3462527"/>
          </a:xfrm>
          <a:prstGeom prst="rect">
            <a:avLst/>
          </a:prstGeom>
          <a:noFill/>
        </p:spPr>
        <p:txBody>
          <a:bodyPr wrap="none" anchor="t" lIns="0" rIns="0" tIns="0" bIns="0">
            <a:noAutofit/>
          </a:bodyPr>
          <a:lstStyle/>
          <a:p>
            <a:pPr algn="r">
              <a:lnSpc>
                <a:spcPct val="100000"/>
              </a:lnSpc>
            </a:pPr>
            <a:r>
              <a:rPr sz="1100">
                <a:solidFill>
                  <a:srgbClr val="4F5D6A"/>
                </a:solidFill>
                <a:latin typeface="Consolas"/>
              </a:rPr>
              <a:t>228</a:t>
            </a:r>
          </a:p>
          <a:p>
            <a:pPr algn="r">
              <a:lnSpc>
                <a:spcPct val="100000"/>
              </a:lnSpc>
            </a:pPr>
            <a:r>
              <a:rPr sz="1100">
                <a:solidFill>
                  <a:srgbClr val="4F5D6A"/>
                </a:solidFill>
                <a:latin typeface="Consolas"/>
              </a:rPr>
              <a:t>229</a:t>
            </a:r>
          </a:p>
          <a:p>
            <a:pPr algn="r">
              <a:lnSpc>
                <a:spcPct val="100000"/>
              </a:lnSpc>
            </a:pPr>
            <a:r>
              <a:rPr sz="1100">
                <a:solidFill>
                  <a:srgbClr val="4F5D6A"/>
                </a:solidFill>
                <a:latin typeface="Consolas"/>
              </a:rPr>
              <a:t>230</a:t>
            </a:r>
          </a:p>
          <a:p>
            <a:pPr algn="r">
              <a:lnSpc>
                <a:spcPct val="100000"/>
              </a:lnSpc>
            </a:pPr>
            <a:r>
              <a:rPr sz="1100">
                <a:solidFill>
                  <a:srgbClr val="4F5D6A"/>
                </a:solidFill>
                <a:latin typeface="Consolas"/>
              </a:rPr>
              <a:t>231</a:t>
            </a:r>
          </a:p>
          <a:p>
            <a:pPr algn="r">
              <a:lnSpc>
                <a:spcPct val="100000"/>
              </a:lnSpc>
            </a:pPr>
            <a:r>
              <a:rPr sz="1100">
                <a:solidFill>
                  <a:srgbClr val="4F5D6A"/>
                </a:solidFill>
                <a:latin typeface="Consolas"/>
              </a:rPr>
              <a:t>232</a:t>
            </a:r>
          </a:p>
          <a:p>
            <a:pPr algn="r">
              <a:lnSpc>
                <a:spcPct val="100000"/>
              </a:lnSpc>
            </a:pPr>
            <a:r>
              <a:rPr sz="1100">
                <a:solidFill>
                  <a:srgbClr val="4F5D6A"/>
                </a:solidFill>
                <a:latin typeface="Consolas"/>
              </a:rPr>
              <a:t>233</a:t>
            </a:r>
          </a:p>
          <a:p>
            <a:pPr algn="r">
              <a:lnSpc>
                <a:spcPct val="100000"/>
              </a:lnSpc>
            </a:pPr>
            <a:r>
              <a:rPr sz="1100">
                <a:solidFill>
                  <a:srgbClr val="4F5D6A"/>
                </a:solidFill>
                <a:latin typeface="Consolas"/>
              </a:rPr>
              <a:t>234</a:t>
            </a:r>
          </a:p>
          <a:p>
            <a:pPr algn="r">
              <a:lnSpc>
                <a:spcPct val="100000"/>
              </a:lnSpc>
            </a:pPr>
            <a:r>
              <a:rPr sz="1100">
                <a:solidFill>
                  <a:srgbClr val="4F5D6A"/>
                </a:solidFill>
                <a:latin typeface="Consolas"/>
              </a:rPr>
              <a:t>235</a:t>
            </a:r>
          </a:p>
          <a:p>
            <a:pPr algn="r">
              <a:lnSpc>
                <a:spcPct val="100000"/>
              </a:lnSpc>
            </a:pPr>
            <a:r>
              <a:rPr sz="1100">
                <a:solidFill>
                  <a:srgbClr val="4F5D6A"/>
                </a:solidFill>
                <a:latin typeface="Consolas"/>
              </a:rPr>
              <a:t>236</a:t>
            </a:r>
          </a:p>
          <a:p>
            <a:pPr algn="r">
              <a:lnSpc>
                <a:spcPct val="100000"/>
              </a:lnSpc>
            </a:pPr>
            <a:r>
              <a:rPr sz="1100">
                <a:solidFill>
                  <a:srgbClr val="4F5D6A"/>
                </a:solidFill>
                <a:latin typeface="Consolas"/>
              </a:rPr>
              <a:t>237</a:t>
            </a:r>
          </a:p>
          <a:p>
            <a:pPr algn="r">
              <a:lnSpc>
                <a:spcPct val="100000"/>
              </a:lnSpc>
            </a:pPr>
            <a:r>
              <a:rPr sz="1100">
                <a:solidFill>
                  <a:srgbClr val="4F5D6A"/>
                </a:solidFill>
                <a:latin typeface="Consolas"/>
              </a:rPr>
              <a:t>238</a:t>
            </a:r>
          </a:p>
          <a:p>
            <a:pPr algn="r">
              <a:lnSpc>
                <a:spcPct val="100000"/>
              </a:lnSpc>
            </a:pPr>
            <a:r>
              <a:rPr sz="1100">
                <a:solidFill>
                  <a:srgbClr val="4F5D6A"/>
                </a:solidFill>
                <a:latin typeface="Consolas"/>
              </a:rPr>
              <a:t>239</a:t>
            </a:r>
          </a:p>
          <a:p>
            <a:pPr algn="r">
              <a:lnSpc>
                <a:spcPct val="100000"/>
              </a:lnSpc>
            </a:pPr>
            <a:r>
              <a:rPr sz="1100">
                <a:solidFill>
                  <a:srgbClr val="4F5D6A"/>
                </a:solidFill>
                <a:latin typeface="Consolas"/>
              </a:rPr>
              <a:t>240</a:t>
            </a:r>
          </a:p>
          <a:p>
            <a:pPr algn="r">
              <a:lnSpc>
                <a:spcPct val="100000"/>
              </a:lnSpc>
            </a:pPr>
            <a:r>
              <a:rPr sz="1100">
                <a:solidFill>
                  <a:srgbClr val="4F5D6A"/>
                </a:solidFill>
                <a:latin typeface="Consolas"/>
              </a:rPr>
              <a:t>241</a:t>
            </a:r>
          </a:p>
          <a:p>
            <a:pPr algn="r">
              <a:lnSpc>
                <a:spcPct val="100000"/>
              </a:lnSpc>
            </a:pPr>
            <a:r>
              <a:rPr sz="1100">
                <a:solidFill>
                  <a:srgbClr val="4F5D6A"/>
                </a:solidFill>
                <a:latin typeface="Consolas"/>
              </a:rPr>
              <a:t>242</a:t>
            </a:r>
          </a:p>
          <a:p>
            <a:pPr algn="r">
              <a:lnSpc>
                <a:spcPct val="100000"/>
              </a:lnSpc>
            </a:pPr>
            <a:r>
              <a:rPr sz="1100">
                <a:solidFill>
                  <a:srgbClr val="4F5D6A"/>
                </a:solidFill>
                <a:latin typeface="Consolas"/>
              </a:rPr>
              <a:t>243</a:t>
            </a:r>
          </a:p>
          <a:p>
            <a:pPr algn="r">
              <a:lnSpc>
                <a:spcPct val="100000"/>
              </a:lnSpc>
            </a:pPr>
            <a:r>
              <a:rPr sz="1100">
                <a:solidFill>
                  <a:srgbClr val="4F5D6A"/>
                </a:solidFill>
                <a:latin typeface="Consolas"/>
              </a:rPr>
              <a:t>244</a:t>
            </a:r>
          </a:p>
          <a:p>
            <a:pPr algn="r">
              <a:lnSpc>
                <a:spcPct val="100000"/>
              </a:lnSpc>
            </a:pPr>
            <a:r>
              <a:rPr sz="1100">
                <a:solidFill>
                  <a:srgbClr val="4F5D6A"/>
                </a:solidFill>
                <a:latin typeface="Consolas"/>
              </a:rPr>
              <a:t>245</a:t>
            </a:r>
          </a:p>
          <a:p>
            <a:pPr algn="r">
              <a:lnSpc>
                <a:spcPct val="100000"/>
              </a:lnSpc>
            </a:pPr>
            <a:r>
              <a:rPr sz="1100">
                <a:solidFill>
                  <a:srgbClr val="4F5D6A"/>
                </a:solidFill>
                <a:latin typeface="Consolas"/>
              </a:rPr>
              <a:t>246</a:t>
            </a:r>
          </a:p>
          <a:p>
            <a:pPr algn="r">
              <a:lnSpc>
                <a:spcPct val="100000"/>
              </a:lnSpc>
            </a:pPr>
            <a:r>
              <a:rPr sz="1100">
                <a:solidFill>
                  <a:srgbClr val="4F5D6A"/>
                </a:solidFill>
                <a:latin typeface="Consolas"/>
              </a:rPr>
              <a:t>247</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472194"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Twenty-Rule Escalation Shell That Explains Itself</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19 OF 21</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13  ·  Rule-Based Expert Systems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§13.6  ·  Handout p. 136     </a:t>
            </a:r>
            <a:fld id="{E95A973A-DAE5-44BC-8827-D578FA38B582}" type="slidenum">
              <a:rPr lang="en-GB" sz="1000">
                <a:solidFill>
                  <a:srgbClr val="8795A1"/>
                </a:solidFill>
                <a:latin typeface="Segoe UI"/>
              </a:rPr>
              <a:t>42</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The two directions DISAGREE, and that is a real bug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017264"/>
          </a:xfrm>
          <a:prstGeom prst="roundRect">
            <a:avLst>
              <a:gd name="adj" fmla="val 227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code/ch13_twenty_rule_escalation.py</a:t>
            </a:r>
          </a:p>
        </p:txBody>
      </p:sp>
      <p:sp>
        <p:nvSpPr>
          <p:cNvPr id="14" name="!!code-text" descr="# the fix is to delete the over-general rule, not to tune the # conflict-resolution strategy print() print(&quot;=== delete R0 and ask both directions again ===&quot;) fixed = [r for r in RULES if r[0] != &quot;R0&quot;] fwd2, _ = forward_chain(TICKETS[&quot;T-4472&quot;], rules=fixed) globals()[&quot;RULES&quot;], saved = fixed, RULES up2 = backward_chain((&quot;escalate&quot;, &quot;yes&quot;), TICKETS[&quot;T-4472&quot;]) down2 = backward_chain((&quot;escalate&quot;, &quot;no&quot;), TICKETS[&quot;T-4472&quot;]) globals()[&quot;RULES&quot;] = saved print(&quot; forward says escalate =&quot;, fwd2[&quot;escalate&quot;]) print(&quot; backward proves escalate = yes:&quot;, up2 is not None) assert fwd2[&quot;escalate&quot;] == &quot;no&quot; and up2 is None and down2 is not None print(&quot; They now agree. The explanation:&quot;) for line in explain(down2): print(&quot; &quot; + line)"/>
          <p:cNvSpPr txBox="1"/>
          <p:nvPr/>
        </p:nvSpPr>
        <p:spPr>
          <a:xfrm>
            <a:off x="1362456" y="2523744"/>
            <a:ext cx="9987991" cy="3523487"/>
          </a:xfrm>
          <a:prstGeom prst="rect">
            <a:avLst/>
          </a:prstGeom>
          <a:noFill/>
        </p:spPr>
        <p:txBody>
          <a:bodyPr wrap="none" anchor="t" lIns="0" rIns="0" tIns="0" bIns="0">
            <a:noAutofit/>
          </a:bodyPr>
          <a:lstStyle/>
          <a:p>
            <a:pPr>
              <a:lnSpc>
                <a:spcPct val="100000"/>
              </a:lnSpc>
              <a:spcAft>
                <a:spcPts val="0"/>
              </a:spcAft>
            </a:pPr>
            <a:r>
              <a:rPr sz="1400" i="0">
                <a:solidFill>
                  <a:srgbClr val="E8EDF2"/>
                </a:solidFill>
                <a:latin typeface="Consolas"/>
              </a:rPr>
              <a:t>    </a:t>
            </a:r>
            <a:r>
              <a:rPr sz="1400" i="1">
                <a:solidFill>
                  <a:srgbClr val="8795A1"/>
                </a:solidFill>
                <a:latin typeface="Consolas"/>
              </a:rPr>
              <a:t># the fix is to delete the over-general rule, not to tune the</a:t>
            </a:r>
          </a:p>
          <a:p>
            <a:pPr>
              <a:lnSpc>
                <a:spcPct val="100000"/>
              </a:lnSpc>
              <a:spcAft>
                <a:spcPts val="0"/>
              </a:spcAft>
            </a:pPr>
            <a:r>
              <a:rPr sz="1400" i="0">
                <a:solidFill>
                  <a:srgbClr val="E8EDF2"/>
                </a:solidFill>
                <a:latin typeface="Consolas"/>
              </a:rPr>
              <a:t>    </a:t>
            </a:r>
            <a:r>
              <a:rPr sz="1400" i="1">
                <a:solidFill>
                  <a:srgbClr val="8795A1"/>
                </a:solidFill>
                <a:latin typeface="Consolas"/>
              </a:rPr>
              <a:t># conflict-resolution strategy</a:t>
            </a:r>
          </a:p>
          <a:p>
            <a:pPr>
              <a:lnSpc>
                <a:spcPct val="100000"/>
              </a:lnSpc>
              <a:spcAft>
                <a:spcPts val="0"/>
              </a:spcAft>
            </a:pPr>
            <a:r>
              <a:rPr sz="1400" i="0">
                <a:solidFill>
                  <a:srgbClr val="E8EDF2"/>
                </a:solidFill>
                <a:latin typeface="Consolas"/>
              </a:rPr>
              <a:t>    </a:t>
            </a:r>
            <a:r>
              <a:rPr sz="1400" i="0">
                <a:solidFill>
                  <a:srgbClr val="C39BD3"/>
                </a:solidFill>
                <a:latin typeface="Consolas"/>
              </a:rPr>
              <a:t>print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C39BD3"/>
                </a:solidFill>
                <a:latin typeface="Consolas"/>
              </a:rPr>
              <a:t>print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 delete R0 and ask both directions again ===</a:t>
            </a:r>
            <a:r>
              <a:rPr sz="1400" i="0">
                <a:solidFill>
                  <a:srgbClr val="7DCEA0"/>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fixed</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r</a:t>
            </a:r>
            <a:r>
              <a:rPr sz="1400" i="0">
                <a:solidFill>
                  <a:srgbClr val="E8EDF2"/>
                </a:solidFill>
                <a:latin typeface="Consolas"/>
              </a:rPr>
              <a:t> </a:t>
            </a:r>
            <a:r>
              <a:rPr sz="1400" i="0">
                <a:solidFill>
                  <a:srgbClr val="5DADE2"/>
                </a:solidFill>
                <a:latin typeface="Consolas"/>
              </a:rPr>
              <a:t>for</a:t>
            </a:r>
            <a:r>
              <a:rPr sz="1400" i="0">
                <a:solidFill>
                  <a:srgbClr val="E8EDF2"/>
                </a:solidFill>
                <a:latin typeface="Consolas"/>
              </a:rPr>
              <a:t> </a:t>
            </a:r>
            <a:r>
              <a:rPr sz="1400" i="0">
                <a:solidFill>
                  <a:srgbClr val="E8EDF2"/>
                </a:solidFill>
                <a:latin typeface="Consolas"/>
              </a:rPr>
              <a:t>r</a:t>
            </a:r>
            <a:r>
              <a:rPr sz="1400" i="0">
                <a:solidFill>
                  <a:srgbClr val="E8EDF2"/>
                </a:solidFill>
                <a:latin typeface="Consolas"/>
              </a:rPr>
              <a:t> </a:t>
            </a:r>
            <a:r>
              <a:rPr sz="1400" i="0">
                <a:solidFill>
                  <a:srgbClr val="AEB6BF"/>
                </a:solidFill>
                <a:latin typeface="Consolas"/>
              </a:rPr>
              <a:t>in</a:t>
            </a:r>
            <a:r>
              <a:rPr sz="1400" i="0">
                <a:solidFill>
                  <a:srgbClr val="E8EDF2"/>
                </a:solidFill>
                <a:latin typeface="Consolas"/>
              </a:rPr>
              <a:t> </a:t>
            </a:r>
            <a:r>
              <a:rPr sz="1400" i="0">
                <a:solidFill>
                  <a:srgbClr val="E8EDF2"/>
                </a:solidFill>
                <a:latin typeface="Consolas"/>
              </a:rPr>
              <a:t>RULES</a:t>
            </a:r>
            <a:r>
              <a:rPr sz="1400" i="0">
                <a:solidFill>
                  <a:srgbClr val="E8EDF2"/>
                </a:solidFill>
                <a:latin typeface="Consolas"/>
              </a:rPr>
              <a:t> </a:t>
            </a:r>
            <a:r>
              <a:rPr sz="1400" i="0">
                <a:solidFill>
                  <a:srgbClr val="5DADE2"/>
                </a:solidFill>
                <a:latin typeface="Consolas"/>
              </a:rPr>
              <a:t>if</a:t>
            </a:r>
            <a:r>
              <a:rPr sz="1400" i="0">
                <a:solidFill>
                  <a:srgbClr val="E8EDF2"/>
                </a:solidFill>
                <a:latin typeface="Consolas"/>
              </a:rPr>
              <a:t> </a:t>
            </a:r>
            <a:r>
              <a:rPr sz="1400" i="0">
                <a:solidFill>
                  <a:srgbClr val="E8EDF2"/>
                </a:solidFill>
                <a:latin typeface="Consolas"/>
              </a:rPr>
              <a:t>r</a:t>
            </a:r>
            <a:r>
              <a:rPr sz="1400" i="0">
                <a:solidFill>
                  <a:srgbClr val="AEB6BF"/>
                </a:solidFill>
                <a:latin typeface="Consolas"/>
              </a:rPr>
              <a:t>[</a:t>
            </a:r>
            <a:r>
              <a:rPr sz="1400" i="0">
                <a:solidFill>
                  <a:srgbClr val="F7DC6F"/>
                </a:solidFill>
                <a:latin typeface="Consolas"/>
              </a:rPr>
              <a:t>0</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R0</a:t>
            </a:r>
            <a:r>
              <a:rPr sz="1400" i="0">
                <a:solidFill>
                  <a:srgbClr val="7DCEA0"/>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fwd2</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_</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forward_chain</a:t>
            </a:r>
            <a:r>
              <a:rPr sz="1400" i="0">
                <a:solidFill>
                  <a:srgbClr val="AEB6BF"/>
                </a:solidFill>
                <a:latin typeface="Consolas"/>
              </a:rPr>
              <a:t>(</a:t>
            </a:r>
            <a:r>
              <a:rPr sz="1400" i="0">
                <a:solidFill>
                  <a:srgbClr val="E8EDF2"/>
                </a:solidFill>
                <a:latin typeface="Consolas"/>
              </a:rPr>
              <a:t>TICKETS</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T-4472</a:t>
            </a:r>
            <a:r>
              <a:rPr sz="1400" i="0">
                <a:solidFill>
                  <a:srgbClr val="7DCEA0"/>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rules</a:t>
            </a:r>
            <a:r>
              <a:rPr sz="1400" i="0">
                <a:solidFill>
                  <a:srgbClr val="AEB6BF"/>
                </a:solidFill>
                <a:latin typeface="Consolas"/>
              </a:rPr>
              <a:t>=</a:t>
            </a:r>
            <a:r>
              <a:rPr sz="1400" i="0">
                <a:solidFill>
                  <a:srgbClr val="E8EDF2"/>
                </a:solidFill>
                <a:latin typeface="Consolas"/>
              </a:rPr>
              <a:t>fixed</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C39BD3"/>
                </a:solidFill>
                <a:latin typeface="Consolas"/>
              </a:rPr>
              <a:t>globals</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RULES</a:t>
            </a:r>
            <a:r>
              <a:rPr sz="1400" i="0">
                <a:solidFill>
                  <a:srgbClr val="7DCEA0"/>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saved</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fixed</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RULES</a:t>
            </a:r>
          </a:p>
          <a:p>
            <a:pPr>
              <a:lnSpc>
                <a:spcPct val="100000"/>
              </a:lnSpc>
              <a:spcAft>
                <a:spcPts val="0"/>
              </a:spcAft>
            </a:pPr>
            <a:r>
              <a:rPr sz="1400" i="0">
                <a:solidFill>
                  <a:srgbClr val="E8EDF2"/>
                </a:solidFill>
                <a:latin typeface="Consolas"/>
              </a:rPr>
              <a:t>    </a:t>
            </a:r>
            <a:r>
              <a:rPr sz="1400" i="0">
                <a:solidFill>
                  <a:srgbClr val="E8EDF2"/>
                </a:solidFill>
                <a:latin typeface="Consolas"/>
              </a:rPr>
              <a:t>up2</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backward_chain</a:t>
            </a:r>
            <a:r>
              <a:rPr sz="1400" i="0">
                <a:solidFill>
                  <a:srgbClr val="AEB6BF"/>
                </a:solidFill>
                <a:latin typeface="Consolas"/>
              </a:rPr>
              <a: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escalate</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yes</a:t>
            </a:r>
            <a:r>
              <a:rPr sz="1400" i="0">
                <a:solidFill>
                  <a:srgbClr val="7DCEA0"/>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TICKETS</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T-4472</a:t>
            </a:r>
            <a:r>
              <a:rPr sz="1400" i="0">
                <a:solidFill>
                  <a:srgbClr val="7DCEA0"/>
                </a:solidFill>
                <a:latin typeface="Consolas"/>
              </a:rPr>
              <a: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down2</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backward_chain</a:t>
            </a:r>
            <a:r>
              <a:rPr sz="1400" i="0">
                <a:solidFill>
                  <a:srgbClr val="AEB6BF"/>
                </a:solidFill>
                <a:latin typeface="Consolas"/>
              </a:rPr>
              <a: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escalate</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no</a:t>
            </a:r>
            <a:r>
              <a:rPr sz="1400" i="0">
                <a:solidFill>
                  <a:srgbClr val="7DCEA0"/>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TICKETS</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T-4472</a:t>
            </a:r>
            <a:r>
              <a:rPr sz="1400" i="0">
                <a:solidFill>
                  <a:srgbClr val="7DCEA0"/>
                </a:solidFill>
                <a:latin typeface="Consolas"/>
              </a:rPr>
              <a: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C39BD3"/>
                </a:solidFill>
                <a:latin typeface="Consolas"/>
              </a:rPr>
              <a:t>globals</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RULES</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saved</a:t>
            </a:r>
          </a:p>
          <a:p>
            <a:pPr>
              <a:lnSpc>
                <a:spcPct val="100000"/>
              </a:lnSpc>
              <a:spcAft>
                <a:spcPts val="0"/>
              </a:spcAft>
            </a:pPr>
            <a:r>
              <a:rPr sz="1400" i="0">
                <a:solidFill>
                  <a:srgbClr val="E8EDF2"/>
                </a:solidFill>
                <a:latin typeface="Consolas"/>
              </a:rPr>
              <a:t>    </a:t>
            </a:r>
            <a:r>
              <a:rPr sz="1400" i="0">
                <a:solidFill>
                  <a:srgbClr val="C39BD3"/>
                </a:solidFill>
                <a:latin typeface="Consolas"/>
              </a:rPr>
              <a:t>print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   forward says escalate =</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fwd2</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escalate</a:t>
            </a:r>
            <a:r>
              <a:rPr sz="1400" i="0">
                <a:solidFill>
                  <a:srgbClr val="7DCEA0"/>
                </a:solidFill>
                <a:latin typeface="Consolas"/>
              </a:rPr>
              <a: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C39BD3"/>
                </a:solidFill>
                <a:latin typeface="Consolas"/>
              </a:rPr>
              <a:t>print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   backward proves escalate = yes:</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up2</a:t>
            </a:r>
            <a:r>
              <a:rPr sz="1400" i="0">
                <a:solidFill>
                  <a:srgbClr val="E8EDF2"/>
                </a:solidFill>
                <a:latin typeface="Consolas"/>
              </a:rPr>
              <a:t> </a:t>
            </a:r>
            <a:r>
              <a:rPr sz="1400" i="0">
                <a:solidFill>
                  <a:srgbClr val="AEB6BF"/>
                </a:solidFill>
                <a:latin typeface="Consolas"/>
              </a:rPr>
              <a:t>is</a:t>
            </a:r>
            <a:r>
              <a:rPr sz="1400" i="0">
                <a:solidFill>
                  <a:srgbClr val="E8EDF2"/>
                </a:solidFill>
                <a:latin typeface="Consolas"/>
              </a:rPr>
              <a:t> </a:t>
            </a:r>
            <a:r>
              <a:rPr sz="1400" i="0">
                <a:solidFill>
                  <a:srgbClr val="AEB6BF"/>
                </a:solidFill>
                <a:latin typeface="Consolas"/>
              </a:rPr>
              <a:t>not</a:t>
            </a:r>
            <a:r>
              <a:rPr sz="1400" i="0">
                <a:solidFill>
                  <a:srgbClr val="E8EDF2"/>
                </a:solidFill>
                <a:latin typeface="Consolas"/>
              </a:rPr>
              <a:t> </a:t>
            </a:r>
            <a:r>
              <a:rPr sz="1400" i="0">
                <a:solidFill>
                  <a:srgbClr val="5DADE2"/>
                </a:solidFill>
                <a:latin typeface="Consolas"/>
              </a:rPr>
              <a:t>None</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assert</a:t>
            </a:r>
            <a:r>
              <a:rPr sz="1400" i="0">
                <a:solidFill>
                  <a:srgbClr val="E8EDF2"/>
                </a:solidFill>
                <a:latin typeface="Consolas"/>
              </a:rPr>
              <a:t> </a:t>
            </a:r>
            <a:r>
              <a:rPr sz="1400" i="0">
                <a:solidFill>
                  <a:srgbClr val="E8EDF2"/>
                </a:solidFill>
                <a:latin typeface="Consolas"/>
              </a:rPr>
              <a:t>fwd2</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escalate</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no</a:t>
            </a:r>
            <a:r>
              <a:rPr sz="1400" i="0">
                <a:solidFill>
                  <a:srgbClr val="7DCEA0"/>
                </a:solidFill>
                <a:latin typeface="Consolas"/>
              </a:rPr>
              <a:t>"</a:t>
            </a:r>
            <a:r>
              <a:rPr sz="1400" i="0">
                <a:solidFill>
                  <a:srgbClr val="E8EDF2"/>
                </a:solidFill>
                <a:latin typeface="Consolas"/>
              </a:rPr>
              <a:t> </a:t>
            </a:r>
            <a:r>
              <a:rPr sz="1400" i="0">
                <a:solidFill>
                  <a:srgbClr val="AEB6BF"/>
                </a:solidFill>
                <a:latin typeface="Consolas"/>
              </a:rPr>
              <a:t>and</a:t>
            </a:r>
            <a:r>
              <a:rPr sz="1400" i="0">
                <a:solidFill>
                  <a:srgbClr val="E8EDF2"/>
                </a:solidFill>
                <a:latin typeface="Consolas"/>
              </a:rPr>
              <a:t> </a:t>
            </a:r>
            <a:r>
              <a:rPr sz="1400" i="0">
                <a:solidFill>
                  <a:srgbClr val="E8EDF2"/>
                </a:solidFill>
                <a:latin typeface="Consolas"/>
              </a:rPr>
              <a:t>up2</a:t>
            </a:r>
            <a:r>
              <a:rPr sz="1400" i="0">
                <a:solidFill>
                  <a:srgbClr val="E8EDF2"/>
                </a:solidFill>
                <a:latin typeface="Consolas"/>
              </a:rPr>
              <a:t> </a:t>
            </a:r>
            <a:r>
              <a:rPr sz="1400" i="0">
                <a:solidFill>
                  <a:srgbClr val="AEB6BF"/>
                </a:solidFill>
                <a:latin typeface="Consolas"/>
              </a:rPr>
              <a:t>is</a:t>
            </a:r>
            <a:r>
              <a:rPr sz="1400" i="0">
                <a:solidFill>
                  <a:srgbClr val="E8EDF2"/>
                </a:solidFill>
                <a:latin typeface="Consolas"/>
              </a:rPr>
              <a:t> </a:t>
            </a:r>
            <a:r>
              <a:rPr sz="1400" i="0">
                <a:solidFill>
                  <a:srgbClr val="5DADE2"/>
                </a:solidFill>
                <a:latin typeface="Consolas"/>
              </a:rPr>
              <a:t>None</a:t>
            </a:r>
            <a:r>
              <a:rPr sz="1400" i="0">
                <a:solidFill>
                  <a:srgbClr val="E8EDF2"/>
                </a:solidFill>
                <a:latin typeface="Consolas"/>
              </a:rPr>
              <a:t> </a:t>
            </a:r>
            <a:r>
              <a:rPr sz="1400" i="0">
                <a:solidFill>
                  <a:srgbClr val="AEB6BF"/>
                </a:solidFill>
                <a:latin typeface="Consolas"/>
              </a:rPr>
              <a:t>and</a:t>
            </a:r>
            <a:r>
              <a:rPr sz="1400" i="0">
                <a:solidFill>
                  <a:srgbClr val="E8EDF2"/>
                </a:solidFill>
                <a:latin typeface="Consolas"/>
              </a:rPr>
              <a:t> </a:t>
            </a:r>
            <a:r>
              <a:rPr sz="1400" i="0">
                <a:solidFill>
                  <a:srgbClr val="E8EDF2"/>
                </a:solidFill>
                <a:latin typeface="Consolas"/>
              </a:rPr>
              <a:t>down2</a:t>
            </a:r>
            <a:r>
              <a:rPr sz="1400" i="0">
                <a:solidFill>
                  <a:srgbClr val="E8EDF2"/>
                </a:solidFill>
                <a:latin typeface="Consolas"/>
              </a:rPr>
              <a:t> </a:t>
            </a:r>
            <a:r>
              <a:rPr sz="1400" i="0">
                <a:solidFill>
                  <a:srgbClr val="AEB6BF"/>
                </a:solidFill>
                <a:latin typeface="Consolas"/>
              </a:rPr>
              <a:t>is</a:t>
            </a:r>
            <a:r>
              <a:rPr sz="1400" i="0">
                <a:solidFill>
                  <a:srgbClr val="E8EDF2"/>
                </a:solidFill>
                <a:latin typeface="Consolas"/>
              </a:rPr>
              <a:t> </a:t>
            </a:r>
            <a:r>
              <a:rPr sz="1400" i="0">
                <a:solidFill>
                  <a:srgbClr val="AEB6BF"/>
                </a:solidFill>
                <a:latin typeface="Consolas"/>
              </a:rPr>
              <a:t>not</a:t>
            </a:r>
            <a:r>
              <a:rPr sz="1400" i="0">
                <a:solidFill>
                  <a:srgbClr val="E8EDF2"/>
                </a:solidFill>
                <a:latin typeface="Consolas"/>
              </a:rPr>
              <a:t> </a:t>
            </a:r>
            <a:r>
              <a:rPr sz="1400" i="0">
                <a:solidFill>
                  <a:srgbClr val="5DADE2"/>
                </a:solidFill>
                <a:latin typeface="Consolas"/>
              </a:rPr>
              <a:t>None</a:t>
            </a:r>
          </a:p>
          <a:p>
            <a:pPr>
              <a:lnSpc>
                <a:spcPct val="100000"/>
              </a:lnSpc>
              <a:spcAft>
                <a:spcPts val="0"/>
              </a:spcAft>
            </a:pPr>
            <a:r>
              <a:rPr sz="1400" i="0">
                <a:solidFill>
                  <a:srgbClr val="E8EDF2"/>
                </a:solidFill>
                <a:latin typeface="Consolas"/>
              </a:rPr>
              <a:t>    </a:t>
            </a:r>
            <a:r>
              <a:rPr sz="1400" i="0">
                <a:solidFill>
                  <a:srgbClr val="C39BD3"/>
                </a:solidFill>
                <a:latin typeface="Consolas"/>
              </a:rPr>
              <a:t>print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   They now agree. The explanation:</a:t>
            </a:r>
            <a:r>
              <a:rPr sz="1400" i="0">
                <a:solidFill>
                  <a:srgbClr val="7DCEA0"/>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for</a:t>
            </a:r>
            <a:r>
              <a:rPr sz="1400" i="0">
                <a:solidFill>
                  <a:srgbClr val="E8EDF2"/>
                </a:solidFill>
                <a:latin typeface="Consolas"/>
              </a:rPr>
              <a:t> </a:t>
            </a:r>
            <a:r>
              <a:rPr sz="1400" i="0">
                <a:solidFill>
                  <a:srgbClr val="E8EDF2"/>
                </a:solidFill>
                <a:latin typeface="Consolas"/>
              </a:rPr>
              <a:t>line</a:t>
            </a:r>
            <a:r>
              <a:rPr sz="1400" i="0">
                <a:solidFill>
                  <a:srgbClr val="E8EDF2"/>
                </a:solidFill>
                <a:latin typeface="Consolas"/>
              </a:rPr>
              <a:t> </a:t>
            </a:r>
            <a:r>
              <a:rPr sz="1400" i="0">
                <a:solidFill>
                  <a:srgbClr val="AEB6BF"/>
                </a:solidFill>
                <a:latin typeface="Consolas"/>
              </a:rPr>
              <a:t>in</a:t>
            </a:r>
            <a:r>
              <a:rPr sz="1400" i="0">
                <a:solidFill>
                  <a:srgbClr val="E8EDF2"/>
                </a:solidFill>
                <a:latin typeface="Consolas"/>
              </a:rPr>
              <a:t> </a:t>
            </a:r>
            <a:r>
              <a:rPr sz="1400" i="0">
                <a:solidFill>
                  <a:srgbClr val="E8EDF2"/>
                </a:solidFill>
                <a:latin typeface="Consolas"/>
              </a:rPr>
              <a:t>explain</a:t>
            </a:r>
            <a:r>
              <a:rPr sz="1400" i="0">
                <a:solidFill>
                  <a:srgbClr val="AEB6BF"/>
                </a:solidFill>
                <a:latin typeface="Consolas"/>
              </a:rPr>
              <a:t>(</a:t>
            </a:r>
            <a:r>
              <a:rPr sz="1400" i="0">
                <a:solidFill>
                  <a:srgbClr val="E8EDF2"/>
                </a:solidFill>
                <a:latin typeface="Consolas"/>
              </a:rPr>
              <a:t>down2</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C39BD3"/>
                </a:solidFill>
                <a:latin typeface="Consolas"/>
              </a:rPr>
              <a:t>print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      </a:t>
            </a:r>
            <a:r>
              <a:rPr sz="1400" i="0">
                <a:solidFill>
                  <a:srgbClr val="7DCEA0"/>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line</a:t>
            </a:r>
            <a:r>
              <a:rPr sz="1400" i="0">
                <a:solidFill>
                  <a:srgbClr val="AEB6BF"/>
                </a:solidFill>
                <a:latin typeface="Consolas"/>
              </a:rPr>
              <a:t>)</a:t>
            </a:r>
          </a:p>
        </p:txBody>
      </p:sp>
      <p:sp>
        <p:nvSpPr>
          <p:cNvPr id="15" name="!!code-num"/>
          <p:cNvSpPr txBox="1"/>
          <p:nvPr/>
        </p:nvSpPr>
        <p:spPr>
          <a:xfrm>
            <a:off x="768096" y="2523744"/>
            <a:ext cx="393192" cy="3523487"/>
          </a:xfrm>
          <a:prstGeom prst="rect">
            <a:avLst/>
          </a:prstGeom>
          <a:noFill/>
        </p:spPr>
        <p:txBody>
          <a:bodyPr wrap="none" anchor="t" lIns="0" rIns="0" tIns="0" bIns="0">
            <a:noAutofit/>
          </a:bodyPr>
          <a:lstStyle/>
          <a:p>
            <a:pPr algn="r">
              <a:lnSpc>
                <a:spcPct val="100000"/>
              </a:lnSpc>
            </a:pPr>
            <a:r>
              <a:rPr sz="1400">
                <a:solidFill>
                  <a:srgbClr val="4F5D6A"/>
                </a:solidFill>
                <a:latin typeface="Consolas"/>
              </a:rPr>
              <a:t>249</a:t>
            </a:r>
          </a:p>
          <a:p>
            <a:pPr algn="r">
              <a:lnSpc>
                <a:spcPct val="100000"/>
              </a:lnSpc>
            </a:pPr>
            <a:r>
              <a:rPr sz="1400">
                <a:solidFill>
                  <a:srgbClr val="4F5D6A"/>
                </a:solidFill>
                <a:latin typeface="Consolas"/>
              </a:rPr>
              <a:t>250</a:t>
            </a:r>
          </a:p>
          <a:p>
            <a:pPr algn="r">
              <a:lnSpc>
                <a:spcPct val="100000"/>
              </a:lnSpc>
            </a:pPr>
            <a:r>
              <a:rPr sz="1400">
                <a:solidFill>
                  <a:srgbClr val="4F5D6A"/>
                </a:solidFill>
                <a:latin typeface="Consolas"/>
              </a:rPr>
              <a:t>251</a:t>
            </a:r>
          </a:p>
          <a:p>
            <a:pPr algn="r">
              <a:lnSpc>
                <a:spcPct val="100000"/>
              </a:lnSpc>
            </a:pPr>
            <a:r>
              <a:rPr sz="1400">
                <a:solidFill>
                  <a:srgbClr val="4F5D6A"/>
                </a:solidFill>
                <a:latin typeface="Consolas"/>
              </a:rPr>
              <a:t>252</a:t>
            </a:r>
          </a:p>
          <a:p>
            <a:pPr algn="r">
              <a:lnSpc>
                <a:spcPct val="100000"/>
              </a:lnSpc>
            </a:pPr>
            <a:r>
              <a:rPr sz="1400">
                <a:solidFill>
                  <a:srgbClr val="4F5D6A"/>
                </a:solidFill>
                <a:latin typeface="Consolas"/>
              </a:rPr>
              <a:t>253</a:t>
            </a:r>
          </a:p>
          <a:p>
            <a:pPr algn="r">
              <a:lnSpc>
                <a:spcPct val="100000"/>
              </a:lnSpc>
            </a:pPr>
            <a:r>
              <a:rPr sz="1400">
                <a:solidFill>
                  <a:srgbClr val="4F5D6A"/>
                </a:solidFill>
                <a:latin typeface="Consolas"/>
              </a:rPr>
              <a:t>254</a:t>
            </a:r>
          </a:p>
          <a:p>
            <a:pPr algn="r">
              <a:lnSpc>
                <a:spcPct val="100000"/>
              </a:lnSpc>
            </a:pPr>
            <a:r>
              <a:rPr sz="1400">
                <a:solidFill>
                  <a:srgbClr val="4F5D6A"/>
                </a:solidFill>
                <a:latin typeface="Consolas"/>
              </a:rPr>
              <a:t>255</a:t>
            </a:r>
          </a:p>
          <a:p>
            <a:pPr algn="r">
              <a:lnSpc>
                <a:spcPct val="100000"/>
              </a:lnSpc>
            </a:pPr>
            <a:r>
              <a:rPr sz="1400">
                <a:solidFill>
                  <a:srgbClr val="4F5D6A"/>
                </a:solidFill>
                <a:latin typeface="Consolas"/>
              </a:rPr>
              <a:t>256</a:t>
            </a:r>
          </a:p>
          <a:p>
            <a:pPr algn="r">
              <a:lnSpc>
                <a:spcPct val="100000"/>
              </a:lnSpc>
            </a:pPr>
            <a:r>
              <a:rPr sz="1400">
                <a:solidFill>
                  <a:srgbClr val="4F5D6A"/>
                </a:solidFill>
                <a:latin typeface="Consolas"/>
              </a:rPr>
              <a:t>257</a:t>
            </a:r>
          </a:p>
          <a:p>
            <a:pPr algn="r">
              <a:lnSpc>
                <a:spcPct val="100000"/>
              </a:lnSpc>
            </a:pPr>
            <a:r>
              <a:rPr sz="1400">
                <a:solidFill>
                  <a:srgbClr val="4F5D6A"/>
                </a:solidFill>
                <a:latin typeface="Consolas"/>
              </a:rPr>
              <a:t>258</a:t>
            </a:r>
          </a:p>
          <a:p>
            <a:pPr algn="r">
              <a:lnSpc>
                <a:spcPct val="100000"/>
              </a:lnSpc>
            </a:pPr>
            <a:r>
              <a:rPr sz="1400">
                <a:solidFill>
                  <a:srgbClr val="4F5D6A"/>
                </a:solidFill>
                <a:latin typeface="Consolas"/>
              </a:rPr>
              <a:t>259</a:t>
            </a:r>
          </a:p>
          <a:p>
            <a:pPr algn="r">
              <a:lnSpc>
                <a:spcPct val="100000"/>
              </a:lnSpc>
            </a:pPr>
            <a:r>
              <a:rPr sz="1400">
                <a:solidFill>
                  <a:srgbClr val="4F5D6A"/>
                </a:solidFill>
                <a:latin typeface="Consolas"/>
              </a:rPr>
              <a:t>260</a:t>
            </a:r>
          </a:p>
          <a:p>
            <a:pPr algn="r">
              <a:lnSpc>
                <a:spcPct val="100000"/>
              </a:lnSpc>
            </a:pPr>
            <a:r>
              <a:rPr sz="1400">
                <a:solidFill>
                  <a:srgbClr val="4F5D6A"/>
                </a:solidFill>
                <a:latin typeface="Consolas"/>
              </a:rPr>
              <a:t>261</a:t>
            </a:r>
          </a:p>
          <a:p>
            <a:pPr algn="r">
              <a:lnSpc>
                <a:spcPct val="100000"/>
              </a:lnSpc>
            </a:pPr>
            <a:r>
              <a:rPr sz="1400">
                <a:solidFill>
                  <a:srgbClr val="4F5D6A"/>
                </a:solidFill>
                <a:latin typeface="Consolas"/>
              </a:rPr>
              <a:t>262</a:t>
            </a:r>
          </a:p>
          <a:p>
            <a:pPr algn="r">
              <a:lnSpc>
                <a:spcPct val="100000"/>
              </a:lnSpc>
            </a:pPr>
            <a:r>
              <a:rPr sz="1400">
                <a:solidFill>
                  <a:srgbClr val="4F5D6A"/>
                </a:solidFill>
                <a:latin typeface="Consolas"/>
              </a:rPr>
              <a:t>263</a:t>
            </a:r>
          </a:p>
          <a:p>
            <a:pPr algn="r">
              <a:lnSpc>
                <a:spcPct val="100000"/>
              </a:lnSpc>
            </a:pPr>
            <a:r>
              <a:rPr sz="1400">
                <a:solidFill>
                  <a:srgbClr val="4F5D6A"/>
                </a:solidFill>
                <a:latin typeface="Consolas"/>
              </a:rPr>
              <a:t>264</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678833"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Twenty-Rule Escalation Shell That Explains Itself</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20 OF 21</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13  ·  Rule-Based Expert Systems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§13.6  ·  Handout p. 136     </a:t>
            </a:r>
            <a:fld id="{E9B87E4E-3A59-49D4-9968-A5AE22BB5AFB}" type="slidenum">
              <a:rPr lang="en-GB" sz="1000">
                <a:solidFill>
                  <a:srgbClr val="8795A1"/>
                </a:solidFill>
                <a:latin typeface="Segoe UI"/>
              </a:rPr>
              <a:t>43</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What each direction costs</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895344"/>
          </a:xfrm>
          <a:prstGeom prst="roundRect">
            <a:avLst>
              <a:gd name="adj" fmla="val 2347"/>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code/ch13_twenty_rule_escalation.py</a:t>
            </a:r>
          </a:p>
        </p:txBody>
      </p:sp>
      <p:sp>
        <p:nvSpPr>
          <p:cNvPr id="14" name="!!code-text" descr="# --- what each direction costs -------------------------------- fwd = len(results[&quot;T-4471&quot;][1].fired) _, bwd = goals_visited((&quot;escalate&quot;, &quot;yes&quot;), TICKETS[&quot;T-4471&quot;]) print() print(&quot;forward chaining : %d rules fired to derive everything&quot; % fwd) print(&quot;backward chaining: %d goals visited to answer one question&quot; % bwd) assert bwd &lt; fwd print() print(&quot;Forward chaining also concluded notify_finance, runbook and&quot;) print(&quot;page_severity -- useful for a dashboard, wasted for a&quot;) print(&quot;single question.&quot;)"/>
          <p:cNvSpPr txBox="1"/>
          <p:nvPr/>
        </p:nvSpPr>
        <p:spPr>
          <a:xfrm>
            <a:off x="1362456" y="2523744"/>
            <a:ext cx="9987991" cy="3401568"/>
          </a:xfrm>
          <a:prstGeom prst="rect">
            <a:avLst/>
          </a:prstGeom>
          <a:noFill/>
        </p:spPr>
        <p:txBody>
          <a:bodyPr wrap="none" anchor="t" lIns="0" rIns="0" tIns="0" bIns="0">
            <a:noAutofit/>
          </a:bodyPr>
          <a:lstStyle/>
          <a:p>
            <a:pPr>
              <a:lnSpc>
                <a:spcPct val="100000"/>
              </a:lnSpc>
              <a:spcAft>
                <a:spcPts val="0"/>
              </a:spcAft>
            </a:pPr>
            <a:r>
              <a:rPr sz="1800" i="0">
                <a:solidFill>
                  <a:srgbClr val="E8EDF2"/>
                </a:solidFill>
                <a:latin typeface="Consolas"/>
              </a:rPr>
              <a:t>    </a:t>
            </a:r>
            <a:r>
              <a:rPr sz="1800" i="1">
                <a:solidFill>
                  <a:srgbClr val="8795A1"/>
                </a:solidFill>
                <a:latin typeface="Consolas"/>
              </a:rPr>
              <a:t># --- what each direction costs --------------------------------</a:t>
            </a:r>
          </a:p>
          <a:p>
            <a:pPr>
              <a:lnSpc>
                <a:spcPct val="100000"/>
              </a:lnSpc>
              <a:spcAft>
                <a:spcPts val="0"/>
              </a:spcAft>
            </a:pPr>
            <a:r>
              <a:rPr sz="1800" i="0">
                <a:solidFill>
                  <a:srgbClr val="E8EDF2"/>
                </a:solidFill>
                <a:latin typeface="Consolas"/>
              </a:rPr>
              <a:t>    </a:t>
            </a:r>
            <a:r>
              <a:rPr sz="1800" i="0">
                <a:solidFill>
                  <a:srgbClr val="E8EDF2"/>
                </a:solidFill>
                <a:latin typeface="Consolas"/>
              </a:rPr>
              <a:t>fwd</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C39BD3"/>
                </a:solidFill>
                <a:latin typeface="Consolas"/>
              </a:rPr>
              <a:t>len</a:t>
            </a:r>
            <a:r>
              <a:rPr sz="1800" i="0">
                <a:solidFill>
                  <a:srgbClr val="AEB6BF"/>
                </a:solidFill>
                <a:latin typeface="Consolas"/>
              </a:rPr>
              <a:t>(</a:t>
            </a:r>
            <a:r>
              <a:rPr sz="1800" i="0">
                <a:solidFill>
                  <a:srgbClr val="E8EDF2"/>
                </a:solidFill>
                <a:latin typeface="Consolas"/>
              </a:rPr>
              <a:t>results</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T-4471</a:t>
            </a:r>
            <a:r>
              <a:rPr sz="1800" i="0">
                <a:solidFill>
                  <a:srgbClr val="7DCEA0"/>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F7DC6F"/>
                </a:solidFill>
                <a:latin typeface="Consolas"/>
              </a:rPr>
              <a:t>1</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fired</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_</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bwd</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goals_visited</a:t>
            </a:r>
            <a:r>
              <a:rPr sz="1800" i="0">
                <a:solidFill>
                  <a:srgbClr val="AEB6BF"/>
                </a:solidFill>
                <a:latin typeface="Consolas"/>
              </a:rPr>
              <a: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escalate</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yes</a:t>
            </a:r>
            <a:r>
              <a:rPr sz="1800" i="0">
                <a:solidFill>
                  <a:srgbClr val="7DCEA0"/>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TICKETS</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T-4471</a:t>
            </a:r>
            <a:r>
              <a:rPr sz="1800" i="0">
                <a:solidFill>
                  <a:srgbClr val="7DCEA0"/>
                </a:solidFill>
                <a:latin typeface="Consolas"/>
              </a:rPr>
              <a:t>"</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C39BD3"/>
                </a:solidFill>
                <a:latin typeface="Consolas"/>
              </a:rPr>
              <a:t>print</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forward chaining : </a:t>
            </a:r>
            <a:r>
              <a:rPr sz="1800" i="0">
                <a:solidFill>
                  <a:srgbClr val="7DCEA0"/>
                </a:solidFill>
                <a:latin typeface="Consolas"/>
              </a:rPr>
              <a:t>%d</a:t>
            </a:r>
            <a:r>
              <a:rPr sz="1800" i="0">
                <a:solidFill>
                  <a:srgbClr val="7DCEA0"/>
                </a:solidFill>
                <a:latin typeface="Consolas"/>
              </a:rPr>
              <a:t> rules fired to derive everything</a:t>
            </a:r>
            <a:r>
              <a:rPr sz="1800" i="0">
                <a:solidFill>
                  <a:srgbClr val="7DCEA0"/>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fwd</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backward chaining: </a:t>
            </a:r>
            <a:r>
              <a:rPr sz="1800" i="0">
                <a:solidFill>
                  <a:srgbClr val="7DCEA0"/>
                </a:solidFill>
                <a:latin typeface="Consolas"/>
              </a:rPr>
              <a:t>%d</a:t>
            </a:r>
            <a:r>
              <a:rPr sz="1800" i="0">
                <a:solidFill>
                  <a:srgbClr val="7DCEA0"/>
                </a:solidFill>
                <a:latin typeface="Consolas"/>
              </a:rPr>
              <a:t> goals visited to answer one question</a:t>
            </a:r>
            <a:r>
              <a:rPr sz="1800" i="0">
                <a:solidFill>
                  <a:srgbClr val="7DCEA0"/>
                </a:solidFill>
                <a:latin typeface="Consolas"/>
              </a:rPr>
              <a:t>"</a:t>
            </a:r>
          </a:p>
          <a:p>
            <a:pPr>
              <a:lnSpc>
                <a:spcPct val="100000"/>
              </a:lnSpc>
              <a:spcAft>
                <a:spcPts val="0"/>
              </a:spcAft>
            </a:pP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bwd</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5DADE2"/>
                </a:solidFill>
                <a:latin typeface="Consolas"/>
              </a:rPr>
              <a:t>assert</a:t>
            </a:r>
            <a:r>
              <a:rPr sz="1800" i="0">
                <a:solidFill>
                  <a:srgbClr val="E8EDF2"/>
                </a:solidFill>
                <a:latin typeface="Consolas"/>
              </a:rPr>
              <a:t> </a:t>
            </a:r>
            <a:r>
              <a:rPr sz="1800" i="0">
                <a:solidFill>
                  <a:srgbClr val="E8EDF2"/>
                </a:solidFill>
                <a:latin typeface="Consolas"/>
              </a:rPr>
              <a:t>bwd</a:t>
            </a:r>
            <a:r>
              <a:rPr sz="1800" i="0">
                <a:solidFill>
                  <a:srgbClr val="E8EDF2"/>
                </a:solidFill>
                <a:latin typeface="Consolas"/>
              </a:rPr>
              <a:t> </a:t>
            </a:r>
            <a:r>
              <a:rPr sz="1800" i="0">
                <a:solidFill>
                  <a:srgbClr val="AEB6BF"/>
                </a:solidFill>
                <a:latin typeface="Consolas"/>
              </a:rPr>
              <a:t>&lt;</a:t>
            </a:r>
            <a:r>
              <a:rPr sz="1800" i="0">
                <a:solidFill>
                  <a:srgbClr val="E8EDF2"/>
                </a:solidFill>
                <a:latin typeface="Consolas"/>
              </a:rPr>
              <a:t> </a:t>
            </a:r>
            <a:r>
              <a:rPr sz="1800" i="0">
                <a:solidFill>
                  <a:srgbClr val="E8EDF2"/>
                </a:solidFill>
                <a:latin typeface="Consolas"/>
              </a:rPr>
              <a:t>fwd</a:t>
            </a:r>
          </a:p>
          <a:p>
            <a:pPr>
              <a:lnSpc>
                <a:spcPct val="100000"/>
              </a:lnSpc>
              <a:spcAft>
                <a:spcPts val="0"/>
              </a:spcAft>
            </a:pPr>
            <a:r>
              <a:rPr sz="1800" i="0">
                <a:solidFill>
                  <a:srgbClr val="E8EDF2"/>
                </a:solidFill>
                <a:latin typeface="Consolas"/>
              </a:rPr>
              <a:t>    </a:t>
            </a:r>
            <a:r>
              <a:rPr sz="1800" i="0">
                <a:solidFill>
                  <a:srgbClr val="C39BD3"/>
                </a:solidFill>
                <a:latin typeface="Consolas"/>
              </a:rPr>
              <a:t>print</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Forward chaining also concluded notify_finance, runbook and</a:t>
            </a:r>
            <a:r>
              <a:rPr sz="1800" i="0">
                <a:solidFill>
                  <a:srgbClr val="7DCEA0"/>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page_severity -- useful for a dashboard, wasted for a</a:t>
            </a:r>
            <a:r>
              <a:rPr sz="1800" i="0">
                <a:solidFill>
                  <a:srgbClr val="7DCEA0"/>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single question.</a:t>
            </a:r>
            <a:r>
              <a:rPr sz="1800" i="0">
                <a:solidFill>
                  <a:srgbClr val="7DCEA0"/>
                </a:solidFill>
                <a:latin typeface="Consolas"/>
              </a:rPr>
              <a:t>"</a:t>
            </a:r>
            <a:r>
              <a:rPr sz="1800" i="0">
                <a:solidFill>
                  <a:srgbClr val="AEB6BF"/>
                </a:solidFill>
                <a:latin typeface="Consolas"/>
              </a:rPr>
              <a:t>)</a:t>
            </a:r>
          </a:p>
        </p:txBody>
      </p:sp>
      <p:sp>
        <p:nvSpPr>
          <p:cNvPr id="15" name="!!code-num"/>
          <p:cNvSpPr txBox="1"/>
          <p:nvPr/>
        </p:nvSpPr>
        <p:spPr>
          <a:xfrm>
            <a:off x="768096" y="2523744"/>
            <a:ext cx="393192" cy="3401568"/>
          </a:xfrm>
          <a:prstGeom prst="rect">
            <a:avLst/>
          </a:prstGeom>
          <a:noFill/>
        </p:spPr>
        <p:txBody>
          <a:bodyPr wrap="none" anchor="t" lIns="0" rIns="0" tIns="0" bIns="0">
            <a:noAutofit/>
          </a:bodyPr>
          <a:lstStyle/>
          <a:p>
            <a:pPr algn="r">
              <a:lnSpc>
                <a:spcPct val="100000"/>
              </a:lnSpc>
            </a:pPr>
            <a:r>
              <a:rPr sz="1800">
                <a:solidFill>
                  <a:srgbClr val="4F5D6A"/>
                </a:solidFill>
                <a:latin typeface="Consolas"/>
              </a:rPr>
              <a:t>266</a:t>
            </a:r>
          </a:p>
          <a:p>
            <a:pPr algn="r">
              <a:lnSpc>
                <a:spcPct val="100000"/>
              </a:lnSpc>
            </a:pPr>
            <a:r>
              <a:rPr sz="1800">
                <a:solidFill>
                  <a:srgbClr val="4F5D6A"/>
                </a:solidFill>
                <a:latin typeface="Consolas"/>
              </a:rPr>
              <a:t>267</a:t>
            </a:r>
          </a:p>
          <a:p>
            <a:pPr algn="r">
              <a:lnSpc>
                <a:spcPct val="100000"/>
              </a:lnSpc>
            </a:pPr>
            <a:r>
              <a:rPr sz="1800">
                <a:solidFill>
                  <a:srgbClr val="4F5D6A"/>
                </a:solidFill>
                <a:latin typeface="Consolas"/>
              </a:rPr>
              <a:t>268</a:t>
            </a:r>
          </a:p>
          <a:p>
            <a:pPr algn="r">
              <a:lnSpc>
                <a:spcPct val="100000"/>
              </a:lnSpc>
            </a:pPr>
            <a:r>
              <a:rPr sz="1800">
                <a:solidFill>
                  <a:srgbClr val="4F5D6A"/>
                </a:solidFill>
                <a:latin typeface="Consolas"/>
              </a:rPr>
              <a:t>269</a:t>
            </a:r>
          </a:p>
          <a:p>
            <a:pPr algn="r">
              <a:lnSpc>
                <a:spcPct val="100000"/>
              </a:lnSpc>
            </a:pPr>
            <a:r>
              <a:rPr sz="1800">
                <a:solidFill>
                  <a:srgbClr val="4F5D6A"/>
                </a:solidFill>
                <a:latin typeface="Consolas"/>
              </a:rPr>
              <a:t>270</a:t>
            </a:r>
          </a:p>
          <a:p>
            <a:pPr algn="r">
              <a:lnSpc>
                <a:spcPct val="100000"/>
              </a:lnSpc>
            </a:pPr>
            <a:r>
              <a:rPr sz="1800">
                <a:solidFill>
                  <a:srgbClr val="4F5D6A"/>
                </a:solidFill>
                <a:latin typeface="Consolas"/>
              </a:rPr>
              <a:t>271</a:t>
            </a:r>
          </a:p>
          <a:p>
            <a:pPr algn="r">
              <a:lnSpc>
                <a:spcPct val="100000"/>
              </a:lnSpc>
            </a:pPr>
            <a:r>
              <a:rPr sz="1800">
                <a:solidFill>
                  <a:srgbClr val="4F5D6A"/>
                </a:solidFill>
                <a:latin typeface="Consolas"/>
              </a:rPr>
              <a:t>272</a:t>
            </a:r>
          </a:p>
          <a:p>
            <a:pPr algn="r">
              <a:lnSpc>
                <a:spcPct val="100000"/>
              </a:lnSpc>
            </a:pPr>
            <a:r>
              <a:rPr sz="1800">
                <a:solidFill>
                  <a:srgbClr val="4F5D6A"/>
                </a:solidFill>
                <a:latin typeface="Consolas"/>
              </a:rPr>
              <a:t>273</a:t>
            </a:r>
          </a:p>
          <a:p>
            <a:pPr algn="r">
              <a:lnSpc>
                <a:spcPct val="100000"/>
              </a:lnSpc>
            </a:pPr>
            <a:r>
              <a:rPr sz="1800">
                <a:solidFill>
                  <a:srgbClr val="4F5D6A"/>
                </a:solidFill>
                <a:latin typeface="Consolas"/>
              </a:rPr>
              <a:t>274</a:t>
            </a:r>
          </a:p>
          <a:p>
            <a:pPr algn="r">
              <a:lnSpc>
                <a:spcPct val="100000"/>
              </a:lnSpc>
            </a:pPr>
            <a:r>
              <a:rPr sz="1800">
                <a:solidFill>
                  <a:srgbClr val="4F5D6A"/>
                </a:solidFill>
                <a:latin typeface="Consolas"/>
              </a:rPr>
              <a:t>275</a:t>
            </a:r>
          </a:p>
          <a:p>
            <a:pPr algn="r">
              <a:lnSpc>
                <a:spcPct val="100000"/>
              </a:lnSpc>
            </a:pPr>
            <a:r>
              <a:rPr sz="1800">
                <a:solidFill>
                  <a:srgbClr val="4F5D6A"/>
                </a:solidFill>
                <a:latin typeface="Consolas"/>
              </a:rPr>
              <a:t>276</a:t>
            </a:r>
          </a:p>
          <a:p>
            <a:pPr algn="r">
              <a:lnSpc>
                <a:spcPct val="100000"/>
              </a:lnSpc>
            </a:pPr>
            <a:r>
              <a:rPr sz="1800">
                <a:solidFill>
                  <a:srgbClr val="4F5D6A"/>
                </a:solidFill>
                <a:latin typeface="Consolas"/>
              </a:rPr>
              <a:t>277</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885472"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Twenty-Rule Escalation Shell That Explains Itself</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21 OF 21</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13  ·  Rule-Based Expert Systems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§13.6  ·  Handout p. 136     </a:t>
            </a:r>
            <a:fld id="{250454B4-2959-47AC-B2D3-824F496AE052}" type="slidenum">
              <a:rPr lang="en-GB" sz="1000">
                <a:solidFill>
                  <a:srgbClr val="8795A1"/>
                </a:solidFill>
                <a:latin typeface="Segoe UI"/>
              </a:rPr>
              <a:t>44</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Adding a rule changes nothing else</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032504"/>
          </a:xfrm>
          <a:prstGeom prst="roundRect">
            <a:avLst>
              <a:gd name="adj" fmla="val 2267"/>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code/ch13_twenty_rule_escalation.py</a:t>
            </a:r>
          </a:p>
        </p:txBody>
      </p:sp>
      <p:sp>
        <p:nvSpPr>
          <p:cNvPr id="14" name="!!code-text" descr="# --- adding a rule changes nothing else ----------------------- print() print(&quot;=== the operations lead changes the policy ===&quot;) extended = RULES + [(&quot;R21&quot;, [(&quot;escalate&quot;, &quot;yes&quot;), (&quot;wake_budget&quot;, &quot;spent&quot;), (&quot;tier&quot;, &quot;platinum&quot;)], (&quot;action&quot;, &quot;wake_on_call&quot;))] wm_new, t_new = forward_chain(TICKETS[&quot;T-4473&quot;], rules=extended) print(&quot; 'platinum may wake the engineer past the budget'&quot;) print(&quot; T-4473 action was queue_for_morning, now:&quot;, wm_new[&quot;action&quot;]) print(&quot; firing order:&quot;, &quot; &quot;.join(t_new.fired)) assert wm_new[&quot;action&quot;] == &quot;wake_on_call&quot; print(&quot; One rule added. No existing rule was touched, and&quot;) print(&quot; specificity put it ahead of R14 automatically.&quot;)"/>
          <p:cNvSpPr txBox="1"/>
          <p:nvPr/>
        </p:nvSpPr>
        <p:spPr>
          <a:xfrm>
            <a:off x="1362456" y="2523744"/>
            <a:ext cx="9987991" cy="3538727"/>
          </a:xfrm>
          <a:prstGeom prst="rect">
            <a:avLst/>
          </a:prstGeom>
          <a:noFill/>
        </p:spPr>
        <p:txBody>
          <a:bodyPr wrap="none" anchor="t" lIns="0" rIns="0" tIns="0" bIns="0">
            <a:noAutofit/>
          </a:bodyPr>
          <a:lstStyle/>
          <a:p>
            <a:pPr>
              <a:lnSpc>
                <a:spcPct val="100000"/>
              </a:lnSpc>
              <a:spcAft>
                <a:spcPts val="0"/>
              </a:spcAft>
            </a:pPr>
            <a:r>
              <a:rPr sz="1500" i="0">
                <a:solidFill>
                  <a:srgbClr val="E8EDF2"/>
                </a:solidFill>
                <a:latin typeface="Consolas"/>
              </a:rPr>
              <a:t>    </a:t>
            </a:r>
            <a:r>
              <a:rPr sz="1500" i="1">
                <a:solidFill>
                  <a:srgbClr val="8795A1"/>
                </a:solidFill>
                <a:latin typeface="Consolas"/>
              </a:rPr>
              <a:t># --- adding a rule changes nothing else -----------------------</a:t>
            </a:r>
          </a:p>
          <a:p>
            <a:pPr>
              <a:lnSpc>
                <a:spcPct val="100000"/>
              </a:lnSpc>
              <a:spcAft>
                <a:spcPts val="0"/>
              </a:spcAft>
            </a:pPr>
            <a:r>
              <a:rPr sz="1500" i="0">
                <a:solidFill>
                  <a:srgbClr val="E8EDF2"/>
                </a:solidFill>
                <a:latin typeface="Consolas"/>
              </a:rPr>
              <a:t>    </a:t>
            </a:r>
            <a:r>
              <a:rPr sz="1500" i="0">
                <a:solidFill>
                  <a:srgbClr val="C39BD3"/>
                </a:solidFill>
                <a:latin typeface="Consolas"/>
              </a:rPr>
              <a:t>print</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C39BD3"/>
                </a:solidFill>
                <a:latin typeface="Consolas"/>
              </a:rPr>
              <a:t>print</a:t>
            </a:r>
            <a:r>
              <a:rPr sz="1500" i="0">
                <a:solidFill>
                  <a:srgbClr val="AEB6BF"/>
                </a:solidFill>
                <a:latin typeface="Consolas"/>
              </a:rPr>
              <a:t>(</a:t>
            </a:r>
            <a:r>
              <a:rPr sz="1500" i="0">
                <a:solidFill>
                  <a:srgbClr val="7DCEA0"/>
                </a:solidFill>
                <a:latin typeface="Consolas"/>
              </a:rPr>
              <a:t>"</a:t>
            </a:r>
            <a:r>
              <a:rPr sz="1500" i="0">
                <a:solidFill>
                  <a:srgbClr val="7DCEA0"/>
                </a:solidFill>
                <a:latin typeface="Consolas"/>
              </a:rPr>
              <a:t>=== the operations lead changes the policy ===</a:t>
            </a:r>
            <a:r>
              <a:rPr sz="1500" i="0">
                <a:solidFill>
                  <a:srgbClr val="7DCEA0"/>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E8EDF2"/>
                </a:solidFill>
                <a:latin typeface="Consolas"/>
              </a:rPr>
              <a:t>extended</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RULES</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AEB6BF"/>
                </a:solidFill>
                <a:latin typeface="Consolas"/>
              </a:rPr>
              <a:t>(</a:t>
            </a:r>
            <a:r>
              <a:rPr sz="1500" i="0">
                <a:solidFill>
                  <a:srgbClr val="7DCEA0"/>
                </a:solidFill>
                <a:latin typeface="Consolas"/>
              </a:rPr>
              <a:t>"</a:t>
            </a:r>
            <a:r>
              <a:rPr sz="1500" i="0">
                <a:solidFill>
                  <a:srgbClr val="7DCEA0"/>
                </a:solidFill>
                <a:latin typeface="Consolas"/>
              </a:rPr>
              <a:t>R21</a:t>
            </a:r>
            <a:r>
              <a:rPr sz="1500" i="0">
                <a:solidFill>
                  <a:srgbClr val="7DCEA0"/>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AEB6BF"/>
                </a:solidFill>
                <a:latin typeface="Consolas"/>
              </a:rPr>
              <a:t>(</a:t>
            </a:r>
            <a:r>
              <a:rPr sz="1500" i="0">
                <a:solidFill>
                  <a:srgbClr val="7DCEA0"/>
                </a:solidFill>
                <a:latin typeface="Consolas"/>
              </a:rPr>
              <a:t>"</a:t>
            </a:r>
            <a:r>
              <a:rPr sz="1500" i="0">
                <a:solidFill>
                  <a:srgbClr val="7DCEA0"/>
                </a:solidFill>
                <a:latin typeface="Consolas"/>
              </a:rPr>
              <a:t>escalate</a:t>
            </a:r>
            <a:r>
              <a:rPr sz="1500" i="0">
                <a:solidFill>
                  <a:srgbClr val="7DCEA0"/>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yes</a:t>
            </a:r>
            <a:r>
              <a:rPr sz="1500" i="0">
                <a:solidFill>
                  <a:srgbClr val="7DCEA0"/>
                </a:solidFill>
                <a:latin typeface="Consolas"/>
              </a:rPr>
              <a:t>"</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AEB6BF"/>
                </a:solidFill>
                <a:latin typeface="Consolas"/>
              </a:rPr>
              <a:t>(</a:t>
            </a:r>
            <a:r>
              <a:rPr sz="1500" i="0">
                <a:solidFill>
                  <a:srgbClr val="7DCEA0"/>
                </a:solidFill>
                <a:latin typeface="Consolas"/>
              </a:rPr>
              <a:t>"</a:t>
            </a:r>
            <a:r>
              <a:rPr sz="1500" i="0">
                <a:solidFill>
                  <a:srgbClr val="7DCEA0"/>
                </a:solidFill>
                <a:latin typeface="Consolas"/>
              </a:rPr>
              <a:t>wake_budget</a:t>
            </a:r>
            <a:r>
              <a:rPr sz="1500" i="0">
                <a:solidFill>
                  <a:srgbClr val="7DCEA0"/>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spent</a:t>
            </a:r>
            <a:r>
              <a:rPr sz="1500" i="0">
                <a:solidFill>
                  <a:srgbClr val="7DCEA0"/>
                </a:solidFill>
                <a:latin typeface="Consolas"/>
              </a:rPr>
              <a:t>"</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AEB6BF"/>
                </a:solidFill>
                <a:latin typeface="Consolas"/>
              </a:rPr>
              <a:t>(</a:t>
            </a:r>
            <a:r>
              <a:rPr sz="1500" i="0">
                <a:solidFill>
                  <a:srgbClr val="7DCEA0"/>
                </a:solidFill>
                <a:latin typeface="Consolas"/>
              </a:rPr>
              <a:t>"</a:t>
            </a:r>
            <a:r>
              <a:rPr sz="1500" i="0">
                <a:solidFill>
                  <a:srgbClr val="7DCEA0"/>
                </a:solidFill>
                <a:latin typeface="Consolas"/>
              </a:rPr>
              <a:t>tier</a:t>
            </a:r>
            <a:r>
              <a:rPr sz="1500" i="0">
                <a:solidFill>
                  <a:srgbClr val="7DCEA0"/>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platinum</a:t>
            </a:r>
            <a:r>
              <a:rPr sz="1500" i="0">
                <a:solidFill>
                  <a:srgbClr val="7DCEA0"/>
                </a:solidFill>
                <a:latin typeface="Consolas"/>
              </a:rPr>
              <a:t>"</a:t>
            </a:r>
            <a:r>
              <a:rPr sz="1500" i="0">
                <a:solidFill>
                  <a:srgbClr val="AEB6BF"/>
                </a:solidFill>
                <a:latin typeface="Consolas"/>
              </a:rPr>
              <a:t>)</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AEB6BF"/>
                </a:solidFill>
                <a:latin typeface="Consolas"/>
              </a:rPr>
              <a:t>(</a:t>
            </a:r>
            <a:r>
              <a:rPr sz="1500" i="0">
                <a:solidFill>
                  <a:srgbClr val="7DCEA0"/>
                </a:solidFill>
                <a:latin typeface="Consolas"/>
              </a:rPr>
              <a:t>"</a:t>
            </a:r>
            <a:r>
              <a:rPr sz="1500" i="0">
                <a:solidFill>
                  <a:srgbClr val="7DCEA0"/>
                </a:solidFill>
                <a:latin typeface="Consolas"/>
              </a:rPr>
              <a:t>action</a:t>
            </a:r>
            <a:r>
              <a:rPr sz="1500" i="0">
                <a:solidFill>
                  <a:srgbClr val="7DCEA0"/>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wake_on_call</a:t>
            </a:r>
            <a:r>
              <a:rPr sz="1500" i="0">
                <a:solidFill>
                  <a:srgbClr val="7DCEA0"/>
                </a:solidFill>
                <a:latin typeface="Consolas"/>
              </a:rPr>
              <a:t>"</a:t>
            </a:r>
            <a:r>
              <a:rPr sz="1500" i="0">
                <a:solidFill>
                  <a:srgbClr val="AEB6BF"/>
                </a:solidFill>
                <a:latin typeface="Consolas"/>
              </a:rPr>
              <a:t>)</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E8EDF2"/>
                </a:solidFill>
                <a:latin typeface="Consolas"/>
              </a:rPr>
              <a:t>wm_new</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t_new</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forward_chain</a:t>
            </a:r>
            <a:r>
              <a:rPr sz="1500" i="0">
                <a:solidFill>
                  <a:srgbClr val="AEB6BF"/>
                </a:solidFill>
                <a:latin typeface="Consolas"/>
              </a:rPr>
              <a:t>(</a:t>
            </a:r>
            <a:r>
              <a:rPr sz="1500" i="0">
                <a:solidFill>
                  <a:srgbClr val="E8EDF2"/>
                </a:solidFill>
                <a:latin typeface="Consolas"/>
              </a:rPr>
              <a:t>TICKETS</a:t>
            </a:r>
            <a:r>
              <a:rPr sz="1500" i="0">
                <a:solidFill>
                  <a:srgbClr val="AEB6BF"/>
                </a:solidFill>
                <a:latin typeface="Consolas"/>
              </a:rPr>
              <a:t>[</a:t>
            </a:r>
            <a:r>
              <a:rPr sz="1500" i="0">
                <a:solidFill>
                  <a:srgbClr val="7DCEA0"/>
                </a:solidFill>
                <a:latin typeface="Consolas"/>
              </a:rPr>
              <a:t>"</a:t>
            </a:r>
            <a:r>
              <a:rPr sz="1500" i="0">
                <a:solidFill>
                  <a:srgbClr val="7DCEA0"/>
                </a:solidFill>
                <a:latin typeface="Consolas"/>
              </a:rPr>
              <a:t>T-4473</a:t>
            </a:r>
            <a:r>
              <a:rPr sz="1500" i="0">
                <a:solidFill>
                  <a:srgbClr val="7DCEA0"/>
                </a:solidFill>
                <a:latin typeface="Consolas"/>
              </a:rPr>
              <a:t>"</a:t>
            </a:r>
            <a:r>
              <a:rPr sz="1500" i="0">
                <a:solidFill>
                  <a:srgbClr val="AEB6BF"/>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rules</a:t>
            </a:r>
            <a:r>
              <a:rPr sz="1500" i="0">
                <a:solidFill>
                  <a:srgbClr val="AEB6BF"/>
                </a:solidFill>
                <a:latin typeface="Consolas"/>
              </a:rPr>
              <a:t>=</a:t>
            </a:r>
            <a:r>
              <a:rPr sz="1500" i="0">
                <a:solidFill>
                  <a:srgbClr val="E8EDF2"/>
                </a:solidFill>
                <a:latin typeface="Consolas"/>
              </a:rPr>
              <a:t>extended</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C39BD3"/>
                </a:solidFill>
                <a:latin typeface="Consolas"/>
              </a:rPr>
              <a:t>print</a:t>
            </a:r>
            <a:r>
              <a:rPr sz="1500" i="0">
                <a:solidFill>
                  <a:srgbClr val="AEB6BF"/>
                </a:solidFill>
                <a:latin typeface="Consolas"/>
              </a:rPr>
              <a:t>(</a:t>
            </a:r>
            <a:r>
              <a:rPr sz="1500" i="0">
                <a:solidFill>
                  <a:srgbClr val="7DCEA0"/>
                </a:solidFill>
                <a:latin typeface="Consolas"/>
              </a:rPr>
              <a:t>"</a:t>
            </a:r>
            <a:r>
              <a:rPr sz="1500" i="0">
                <a:solidFill>
                  <a:srgbClr val="7DCEA0"/>
                </a:solidFill>
                <a:latin typeface="Consolas"/>
              </a:rPr>
              <a:t>   </a:t>
            </a:r>
            <a:r>
              <a:rPr sz="1500" i="0">
                <a:solidFill>
                  <a:srgbClr val="7DCEA0"/>
                </a:solidFill>
                <a:latin typeface="Consolas"/>
              </a:rPr>
              <a:t>'</a:t>
            </a:r>
            <a:r>
              <a:rPr sz="1500" i="0">
                <a:solidFill>
                  <a:srgbClr val="7DCEA0"/>
                </a:solidFill>
                <a:latin typeface="Consolas"/>
              </a:rPr>
              <a:t>platinum may wake the engineer past the budget</a:t>
            </a:r>
            <a:r>
              <a:rPr sz="1500" i="0">
                <a:solidFill>
                  <a:srgbClr val="7DCEA0"/>
                </a:solidFill>
                <a:latin typeface="Consolas"/>
              </a:rPr>
              <a:t>'</a:t>
            </a:r>
            <a:r>
              <a:rPr sz="1500" i="0">
                <a:solidFill>
                  <a:srgbClr val="7DCEA0"/>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C39BD3"/>
                </a:solidFill>
                <a:latin typeface="Consolas"/>
              </a:rPr>
              <a:t>print</a:t>
            </a:r>
            <a:r>
              <a:rPr sz="1500" i="0">
                <a:solidFill>
                  <a:srgbClr val="AEB6BF"/>
                </a:solidFill>
                <a:latin typeface="Consolas"/>
              </a:rPr>
              <a:t>(</a:t>
            </a:r>
            <a:r>
              <a:rPr sz="1500" i="0">
                <a:solidFill>
                  <a:srgbClr val="7DCEA0"/>
                </a:solidFill>
                <a:latin typeface="Consolas"/>
              </a:rPr>
              <a:t>"</a:t>
            </a:r>
            <a:r>
              <a:rPr sz="1500" i="0">
                <a:solidFill>
                  <a:srgbClr val="7DCEA0"/>
                </a:solidFill>
                <a:latin typeface="Consolas"/>
              </a:rPr>
              <a:t>   T-4473 action was queue_for_morning, now:</a:t>
            </a:r>
            <a:r>
              <a:rPr sz="1500" i="0">
                <a:solidFill>
                  <a:srgbClr val="7DCEA0"/>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E8EDF2"/>
                </a:solidFill>
                <a:latin typeface="Consolas"/>
              </a:rPr>
              <a:t>wm_new</a:t>
            </a:r>
            <a:r>
              <a:rPr sz="1500" i="0">
                <a:solidFill>
                  <a:srgbClr val="AEB6BF"/>
                </a:solidFill>
                <a:latin typeface="Consolas"/>
              </a:rPr>
              <a:t>[</a:t>
            </a:r>
            <a:r>
              <a:rPr sz="1500" i="0">
                <a:solidFill>
                  <a:srgbClr val="7DCEA0"/>
                </a:solidFill>
                <a:latin typeface="Consolas"/>
              </a:rPr>
              <a:t>"</a:t>
            </a:r>
            <a:r>
              <a:rPr sz="1500" i="0">
                <a:solidFill>
                  <a:srgbClr val="7DCEA0"/>
                </a:solidFill>
                <a:latin typeface="Consolas"/>
              </a:rPr>
              <a:t>action</a:t>
            </a:r>
            <a:r>
              <a:rPr sz="1500" i="0">
                <a:solidFill>
                  <a:srgbClr val="7DCEA0"/>
                </a:solidFill>
                <a:latin typeface="Consolas"/>
              </a:rPr>
              <a:t>"</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C39BD3"/>
                </a:solidFill>
                <a:latin typeface="Consolas"/>
              </a:rPr>
              <a:t>print</a:t>
            </a:r>
            <a:r>
              <a:rPr sz="1500" i="0">
                <a:solidFill>
                  <a:srgbClr val="AEB6BF"/>
                </a:solidFill>
                <a:latin typeface="Consolas"/>
              </a:rPr>
              <a:t>(</a:t>
            </a:r>
            <a:r>
              <a:rPr sz="1500" i="0">
                <a:solidFill>
                  <a:srgbClr val="7DCEA0"/>
                </a:solidFill>
                <a:latin typeface="Consolas"/>
              </a:rPr>
              <a:t>"</a:t>
            </a:r>
            <a:r>
              <a:rPr sz="1500" i="0">
                <a:solidFill>
                  <a:srgbClr val="7DCEA0"/>
                </a:solidFill>
                <a:latin typeface="Consolas"/>
              </a:rPr>
              <a:t>   firing order:</a:t>
            </a:r>
            <a:r>
              <a:rPr sz="1500" i="0">
                <a:solidFill>
                  <a:srgbClr val="7DCEA0"/>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 </a:t>
            </a:r>
            <a:r>
              <a:rPr sz="1500" i="0">
                <a:solidFill>
                  <a:srgbClr val="7DCEA0"/>
                </a:solidFill>
                <a:latin typeface="Consolas"/>
              </a:rPr>
              <a:t>"</a:t>
            </a:r>
            <a:r>
              <a:rPr sz="1500" i="0">
                <a:solidFill>
                  <a:srgbClr val="AEB6BF"/>
                </a:solidFill>
                <a:latin typeface="Consolas"/>
              </a:rPr>
              <a:t>.</a:t>
            </a:r>
            <a:r>
              <a:rPr sz="1500" i="0">
                <a:solidFill>
                  <a:srgbClr val="E8EDF2"/>
                </a:solidFill>
                <a:latin typeface="Consolas"/>
              </a:rPr>
              <a:t>join</a:t>
            </a:r>
            <a:r>
              <a:rPr sz="1500" i="0">
                <a:solidFill>
                  <a:srgbClr val="AEB6BF"/>
                </a:solidFill>
                <a:latin typeface="Consolas"/>
              </a:rPr>
              <a:t>(</a:t>
            </a:r>
            <a:r>
              <a:rPr sz="1500" i="0">
                <a:solidFill>
                  <a:srgbClr val="E8EDF2"/>
                </a:solidFill>
                <a:latin typeface="Consolas"/>
              </a:rPr>
              <a:t>t_new</a:t>
            </a:r>
            <a:r>
              <a:rPr sz="1500" i="0">
                <a:solidFill>
                  <a:srgbClr val="AEB6BF"/>
                </a:solidFill>
                <a:latin typeface="Consolas"/>
              </a:rPr>
              <a:t>.</a:t>
            </a:r>
            <a:r>
              <a:rPr sz="1500" i="0">
                <a:solidFill>
                  <a:srgbClr val="E8EDF2"/>
                </a:solidFill>
                <a:latin typeface="Consolas"/>
              </a:rPr>
              <a:t>fired</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5DADE2"/>
                </a:solidFill>
                <a:latin typeface="Consolas"/>
              </a:rPr>
              <a:t>assert</a:t>
            </a:r>
            <a:r>
              <a:rPr sz="1500" i="0">
                <a:solidFill>
                  <a:srgbClr val="E8EDF2"/>
                </a:solidFill>
                <a:latin typeface="Consolas"/>
              </a:rPr>
              <a:t> </a:t>
            </a:r>
            <a:r>
              <a:rPr sz="1500" i="0">
                <a:solidFill>
                  <a:srgbClr val="E8EDF2"/>
                </a:solidFill>
                <a:latin typeface="Consolas"/>
              </a:rPr>
              <a:t>wm_new</a:t>
            </a:r>
            <a:r>
              <a:rPr sz="1500" i="0">
                <a:solidFill>
                  <a:srgbClr val="AEB6BF"/>
                </a:solidFill>
                <a:latin typeface="Consolas"/>
              </a:rPr>
              <a:t>[</a:t>
            </a:r>
            <a:r>
              <a:rPr sz="1500" i="0">
                <a:solidFill>
                  <a:srgbClr val="7DCEA0"/>
                </a:solidFill>
                <a:latin typeface="Consolas"/>
              </a:rPr>
              <a:t>"</a:t>
            </a:r>
            <a:r>
              <a:rPr sz="1500" i="0">
                <a:solidFill>
                  <a:srgbClr val="7DCEA0"/>
                </a:solidFill>
                <a:latin typeface="Consolas"/>
              </a:rPr>
              <a:t>action</a:t>
            </a:r>
            <a:r>
              <a:rPr sz="1500" i="0">
                <a:solidFill>
                  <a:srgbClr val="7DCEA0"/>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wake_on_call</a:t>
            </a:r>
            <a:r>
              <a:rPr sz="1500" i="0">
                <a:solidFill>
                  <a:srgbClr val="7DCEA0"/>
                </a:solidFill>
                <a:latin typeface="Consolas"/>
              </a:rPr>
              <a:t>"</a:t>
            </a:r>
          </a:p>
          <a:p>
            <a:pPr>
              <a:lnSpc>
                <a:spcPct val="100000"/>
              </a:lnSpc>
              <a:spcAft>
                <a:spcPts val="0"/>
              </a:spcAft>
            </a:pPr>
            <a:r>
              <a:rPr sz="1500" i="0">
                <a:solidFill>
                  <a:srgbClr val="E8EDF2"/>
                </a:solidFill>
                <a:latin typeface="Consolas"/>
              </a:rPr>
              <a:t>    </a:t>
            </a:r>
            <a:r>
              <a:rPr sz="1500" i="0">
                <a:solidFill>
                  <a:srgbClr val="C39BD3"/>
                </a:solidFill>
                <a:latin typeface="Consolas"/>
              </a:rPr>
              <a:t>print</a:t>
            </a:r>
            <a:r>
              <a:rPr sz="1500" i="0">
                <a:solidFill>
                  <a:srgbClr val="AEB6BF"/>
                </a:solidFill>
                <a:latin typeface="Consolas"/>
              </a:rPr>
              <a:t>(</a:t>
            </a:r>
            <a:r>
              <a:rPr sz="1500" i="0">
                <a:solidFill>
                  <a:srgbClr val="7DCEA0"/>
                </a:solidFill>
                <a:latin typeface="Consolas"/>
              </a:rPr>
              <a:t>"</a:t>
            </a:r>
            <a:r>
              <a:rPr sz="1500" i="0">
                <a:solidFill>
                  <a:srgbClr val="7DCEA0"/>
                </a:solidFill>
                <a:latin typeface="Consolas"/>
              </a:rPr>
              <a:t>   One rule added. No existing rule was touched, and</a:t>
            </a:r>
            <a:r>
              <a:rPr sz="1500" i="0">
                <a:solidFill>
                  <a:srgbClr val="7DCEA0"/>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C39BD3"/>
                </a:solidFill>
                <a:latin typeface="Consolas"/>
              </a:rPr>
              <a:t>print</a:t>
            </a:r>
            <a:r>
              <a:rPr sz="1500" i="0">
                <a:solidFill>
                  <a:srgbClr val="AEB6BF"/>
                </a:solidFill>
                <a:latin typeface="Consolas"/>
              </a:rPr>
              <a:t>(</a:t>
            </a:r>
            <a:r>
              <a:rPr sz="1500" i="0">
                <a:solidFill>
                  <a:srgbClr val="7DCEA0"/>
                </a:solidFill>
                <a:latin typeface="Consolas"/>
              </a:rPr>
              <a:t>"</a:t>
            </a:r>
            <a:r>
              <a:rPr sz="1500" i="0">
                <a:solidFill>
                  <a:srgbClr val="7DCEA0"/>
                </a:solidFill>
                <a:latin typeface="Consolas"/>
              </a:rPr>
              <a:t>   specificity put it ahead of R14 automatically.</a:t>
            </a:r>
            <a:r>
              <a:rPr sz="1500" i="0">
                <a:solidFill>
                  <a:srgbClr val="7DCEA0"/>
                </a:solidFill>
                <a:latin typeface="Consolas"/>
              </a:rPr>
              <a:t>"</a:t>
            </a:r>
            <a:r>
              <a:rPr sz="1500" i="0">
                <a:solidFill>
                  <a:srgbClr val="AEB6BF"/>
                </a:solidFill>
                <a:latin typeface="Consolas"/>
              </a:rPr>
              <a:t>)</a:t>
            </a:r>
          </a:p>
        </p:txBody>
      </p:sp>
      <p:sp>
        <p:nvSpPr>
          <p:cNvPr id="15" name="!!code-num"/>
          <p:cNvSpPr txBox="1"/>
          <p:nvPr/>
        </p:nvSpPr>
        <p:spPr>
          <a:xfrm>
            <a:off x="768096" y="2523744"/>
            <a:ext cx="393192" cy="3538727"/>
          </a:xfrm>
          <a:prstGeom prst="rect">
            <a:avLst/>
          </a:prstGeom>
          <a:noFill/>
        </p:spPr>
        <p:txBody>
          <a:bodyPr wrap="none" anchor="t" lIns="0" rIns="0" tIns="0" bIns="0">
            <a:noAutofit/>
          </a:bodyPr>
          <a:lstStyle/>
          <a:p>
            <a:pPr algn="r">
              <a:lnSpc>
                <a:spcPct val="100000"/>
              </a:lnSpc>
            </a:pPr>
            <a:r>
              <a:rPr sz="1500">
                <a:solidFill>
                  <a:srgbClr val="4F5D6A"/>
                </a:solidFill>
                <a:latin typeface="Consolas"/>
              </a:rPr>
              <a:t>279</a:t>
            </a:r>
          </a:p>
          <a:p>
            <a:pPr algn="r">
              <a:lnSpc>
                <a:spcPct val="100000"/>
              </a:lnSpc>
            </a:pPr>
            <a:r>
              <a:rPr sz="1500">
                <a:solidFill>
                  <a:srgbClr val="4F5D6A"/>
                </a:solidFill>
                <a:latin typeface="Consolas"/>
              </a:rPr>
              <a:t>280</a:t>
            </a:r>
          </a:p>
          <a:p>
            <a:pPr algn="r">
              <a:lnSpc>
                <a:spcPct val="100000"/>
              </a:lnSpc>
            </a:pPr>
            <a:r>
              <a:rPr sz="1500">
                <a:solidFill>
                  <a:srgbClr val="4F5D6A"/>
                </a:solidFill>
                <a:latin typeface="Consolas"/>
              </a:rPr>
              <a:t>281</a:t>
            </a:r>
          </a:p>
          <a:p>
            <a:pPr algn="r">
              <a:lnSpc>
                <a:spcPct val="100000"/>
              </a:lnSpc>
            </a:pPr>
            <a:r>
              <a:rPr sz="1500">
                <a:solidFill>
                  <a:srgbClr val="4F5D6A"/>
                </a:solidFill>
                <a:latin typeface="Consolas"/>
              </a:rPr>
              <a:t>282</a:t>
            </a:r>
          </a:p>
          <a:p>
            <a:pPr algn="r">
              <a:lnSpc>
                <a:spcPct val="100000"/>
              </a:lnSpc>
            </a:pPr>
            <a:r>
              <a:rPr sz="1500">
                <a:solidFill>
                  <a:srgbClr val="4F5D6A"/>
                </a:solidFill>
                <a:latin typeface="Consolas"/>
              </a:rPr>
              <a:t>283</a:t>
            </a:r>
          </a:p>
          <a:p>
            <a:pPr algn="r">
              <a:lnSpc>
                <a:spcPct val="100000"/>
              </a:lnSpc>
            </a:pPr>
            <a:r>
              <a:rPr sz="1500">
                <a:solidFill>
                  <a:srgbClr val="4F5D6A"/>
                </a:solidFill>
                <a:latin typeface="Consolas"/>
              </a:rPr>
              <a:t>284</a:t>
            </a:r>
          </a:p>
          <a:p>
            <a:pPr algn="r">
              <a:lnSpc>
                <a:spcPct val="100000"/>
              </a:lnSpc>
            </a:pPr>
            <a:r>
              <a:rPr sz="1500">
                <a:solidFill>
                  <a:srgbClr val="4F5D6A"/>
                </a:solidFill>
                <a:latin typeface="Consolas"/>
              </a:rPr>
              <a:t>285</a:t>
            </a:r>
          </a:p>
          <a:p>
            <a:pPr algn="r">
              <a:lnSpc>
                <a:spcPct val="100000"/>
              </a:lnSpc>
            </a:pPr>
            <a:r>
              <a:rPr sz="1500">
                <a:solidFill>
                  <a:srgbClr val="4F5D6A"/>
                </a:solidFill>
                <a:latin typeface="Consolas"/>
              </a:rPr>
              <a:t>286</a:t>
            </a:r>
          </a:p>
          <a:p>
            <a:pPr algn="r">
              <a:lnSpc>
                <a:spcPct val="100000"/>
              </a:lnSpc>
            </a:pPr>
            <a:r>
              <a:rPr sz="1500">
                <a:solidFill>
                  <a:srgbClr val="4F5D6A"/>
                </a:solidFill>
                <a:latin typeface="Consolas"/>
              </a:rPr>
              <a:t>287</a:t>
            </a:r>
          </a:p>
          <a:p>
            <a:pPr algn="r">
              <a:lnSpc>
                <a:spcPct val="100000"/>
              </a:lnSpc>
            </a:pPr>
            <a:r>
              <a:rPr sz="1500">
                <a:solidFill>
                  <a:srgbClr val="4F5D6A"/>
                </a:solidFill>
                <a:latin typeface="Consolas"/>
              </a:rPr>
              <a:t>288</a:t>
            </a:r>
          </a:p>
          <a:p>
            <a:pPr algn="r">
              <a:lnSpc>
                <a:spcPct val="100000"/>
              </a:lnSpc>
            </a:pPr>
            <a:r>
              <a:rPr sz="1500">
                <a:solidFill>
                  <a:srgbClr val="4F5D6A"/>
                </a:solidFill>
                <a:latin typeface="Consolas"/>
              </a:rPr>
              <a:t>289</a:t>
            </a:r>
          </a:p>
          <a:p>
            <a:pPr algn="r">
              <a:lnSpc>
                <a:spcPct val="100000"/>
              </a:lnSpc>
            </a:pPr>
            <a:r>
              <a:rPr sz="1500">
                <a:solidFill>
                  <a:srgbClr val="4F5D6A"/>
                </a:solidFill>
                <a:latin typeface="Consolas"/>
              </a:rPr>
              <a:t>290</a:t>
            </a:r>
          </a:p>
          <a:p>
            <a:pPr algn="r">
              <a:lnSpc>
                <a:spcPct val="100000"/>
              </a:lnSpc>
            </a:pPr>
            <a:r>
              <a:rPr sz="1500">
                <a:solidFill>
                  <a:srgbClr val="4F5D6A"/>
                </a:solidFill>
                <a:latin typeface="Consolas"/>
              </a:rPr>
              <a:t>291</a:t>
            </a:r>
          </a:p>
          <a:p>
            <a:pPr algn="r">
              <a:lnSpc>
                <a:spcPct val="100000"/>
              </a:lnSpc>
            </a:pPr>
            <a:r>
              <a:rPr sz="1500">
                <a:solidFill>
                  <a:srgbClr val="4F5D6A"/>
                </a:solidFill>
                <a:latin typeface="Consolas"/>
              </a:rPr>
              <a:t>292</a:t>
            </a:r>
          </a:p>
          <a:p>
            <a:pPr algn="r">
              <a:lnSpc>
                <a:spcPct val="100000"/>
              </a:lnSpc>
            </a:pPr>
            <a:r>
              <a:rPr sz="1500">
                <a:solidFill>
                  <a:srgbClr val="4F5D6A"/>
                </a:solidFill>
                <a:latin typeface="Consolas"/>
              </a:rPr>
              <a:t>293</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9092111"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the lab shows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13  ·  Rule-Based Expert Systems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§13.6  ·  Handout p. 136     </a:t>
            </a:r>
            <a:fld id="{2CCDB8DC-A0BF-452A-8504-CDF89DDCB0FA}" type="slidenum">
              <a:rPr lang="en-GB" sz="1000">
                <a:solidFill>
                  <a:srgbClr val="8795A1"/>
                </a:solidFill>
                <a:latin typeface="Segoe UI"/>
              </a:rPr>
              <a:t>45</a:t>
            </a:fld>
          </a:p>
        </p:txBody>
      </p:sp>
      <p:sp>
        <p:nvSpPr>
          <p:cNvPr id="7" name="!!card">
            <a:extLst>
              <a:ext uri="{C183D7F6-B498-43B3-948B-1728B52AA6E4}">
                <adec:decorative xmlns:adec="http://schemas.microsoft.com/office/drawing/2017/decorative" val="1"/>
              </a:ext>
            </a:extLst>
          </p:cNvPr>
          <p:cNvSpPr/>
          <p:nvPr/>
        </p:nvSpPr>
        <p:spPr>
          <a:xfrm>
            <a:off x="658368" y="1737360"/>
            <a:ext cx="10874959" cy="1715414"/>
          </a:xfrm>
          <a:prstGeom prst="roundRect">
            <a:avLst>
              <a:gd name="adj" fmla="val 5330"/>
            </a:avLst>
          </a:prstGeom>
          <a:solidFill>
            <a:srgbClr val="EEF6F4"/>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171541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139342"/>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Then remove the </a:t>
            </a:r>
            <a:r>
              <a:rPr sz="2150" b="0" i="0">
                <a:solidFill>
                  <a:srgbClr val="1F4E79"/>
                </a:solidFill>
                <a:latin typeface="Consolas"/>
              </a:rPr>
              <a:t>fired</a:t>
            </a:r>
            <a:r>
              <a:rPr sz="2300" b="0" i="0">
                <a:solidFill>
                  <a:srgbClr val="1C252B"/>
                </a:solidFill>
                <a:latin typeface="Segoe UI"/>
              </a:rPr>
              <a:t> set from </a:t>
            </a:r>
            <a:r>
              <a:rPr sz="2150" b="0" i="0">
                <a:solidFill>
                  <a:srgbClr val="1F4E79"/>
                </a:solidFill>
                <a:latin typeface="Consolas"/>
              </a:rPr>
              <a:t>forward_chain</a:t>
            </a:r>
            <a:r>
              <a:rPr sz="2300" b="0" i="0">
                <a:solidFill>
                  <a:srgbClr val="1C252B"/>
                </a:solidFill>
                <a:latin typeface="Segoe UI"/>
              </a:rPr>
              <a:t> — that is refraction — and re-run. The engine never terminates, because R1 is applicable forever once the severity is critical. It is worth seeing once.</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9298750"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T-4471 and T-4473 are both escalated and receive different actions. Name the single fact that separates them, say whether it is a fact about the ticket, and relate it to the agent architectures of Chapter 2.</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1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Artificial Intelligence  ·  Chapter 13  ·  Rule-Based Expert Systems</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145  ·  answers in Appendix D     </a:t>
            </a:r>
            <a:fld id="{2ABF41D3-BA26-4EE1-9E99-A73F5629D0E0}" type="slidenum">
              <a:rPr lang="en-GB" sz="1000">
                <a:solidFill>
                  <a:srgbClr val="D5DEE5"/>
                </a:solidFill>
                <a:latin typeface="Segoe UI"/>
              </a:rPr>
              <a:t>46</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1099108"/>
          </a:xfrm>
        </p:spPr>
        <p:txBody>
          <a:bodyPr wrap="square" lIns="0" rIns="0" tIns="0" bIns="0" anchor="t">
            <a:noAutofit/>
          </a:bodyPr>
          <a:lstStyle/>
          <a:p>
            <a:pPr algn="l">
              <a:lnSpc>
                <a:spcPct val="96000"/>
              </a:lnSpc>
            </a:pPr>
            <a:r>
              <a:rPr sz="2400" b="0" i="0">
                <a:solidFill>
                  <a:srgbClr val="1A5276"/>
                </a:solidFill>
                <a:latin typeface="Segoe UI Semibold"/>
              </a:rPr>
              <a:t>T-4471 and T-4473 are both escalated and receive different actions. Name the single fact that separates them, say whether it is a fact about the ticket, and relate it to the agent architectures of Chapter 2.</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1 OF 3  ·  ANSWER</a:t>
            </a:r>
          </a:p>
        </p:txBody>
      </p:sp>
      <p:sp>
        <p:nvSpPr>
          <p:cNvPr id="5" name="!!abar">
            <a:extLst>
              <a:ext uri="{C183D7F6-B498-43B3-948B-1728B52AA6E4}">
                <adec:decorative xmlns:adec="http://schemas.microsoft.com/office/drawing/2017/decorative" val="1"/>
              </a:ext>
            </a:extLst>
          </p:cNvPr>
          <p:cNvSpPr/>
          <p:nvPr/>
        </p:nvSpPr>
        <p:spPr>
          <a:xfrm>
            <a:off x="658368" y="2114092"/>
            <a:ext cx="64008" cy="2092147"/>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2114092"/>
            <a:ext cx="10509199" cy="2137867"/>
          </a:xfrm>
          <a:prstGeom prst="rect">
            <a:avLst/>
          </a:prstGeom>
          <a:noFill/>
        </p:spPr>
        <p:txBody>
          <a:bodyPr wrap="square" anchor="t" lIns="0" rIns="0" tIns="0" bIns="0">
            <a:noAutofit/>
          </a:bodyPr>
          <a:lstStyle/>
          <a:p>
            <a:pPr algn="l">
              <a:lnSpc>
                <a:spcPct val="104000"/>
              </a:lnSpc>
              <a:spcBef>
                <a:spcPts val="0"/>
              </a:spcBef>
              <a:spcAft>
                <a:spcPts val="0"/>
              </a:spcAft>
            </a:pPr>
            <a:r>
              <a:rPr sz="2050" b="0" i="0">
                <a:solidFill>
                  <a:srgbClr val="1F4E79"/>
                </a:solidFill>
                <a:latin typeface="Consolas"/>
              </a:rPr>
              <a:t>wake_budget</a:t>
            </a:r>
            <a:r>
              <a:rPr sz="2200" b="0" i="0">
                <a:solidFill>
                  <a:srgbClr val="1C252B"/>
                </a:solidFill>
                <a:latin typeface="Segoe UI"/>
              </a:rPr>
              <a:t>: </a:t>
            </a:r>
            <a:r>
              <a:rPr sz="2050" b="0" i="0">
                <a:solidFill>
                  <a:srgbClr val="1F4E79"/>
                </a:solidFill>
                <a:latin typeface="Consolas"/>
              </a:rPr>
              <a:t>available</a:t>
            </a:r>
            <a:r>
              <a:rPr sz="2200" b="0" i="0">
                <a:solidFill>
                  <a:srgbClr val="1C252B"/>
                </a:solidFill>
                <a:latin typeface="Segoe UI"/>
              </a:rPr>
              <a:t> for T-4471 and </a:t>
            </a:r>
            <a:r>
              <a:rPr sz="2050" b="0" i="0">
                <a:solidFill>
                  <a:srgbClr val="1F4E79"/>
                </a:solidFill>
                <a:latin typeface="Consolas"/>
              </a:rPr>
              <a:t>spent</a:t>
            </a:r>
            <a:r>
              <a:rPr sz="2200" b="0" i="0">
                <a:solidFill>
                  <a:srgbClr val="1C252B"/>
                </a:solidFill>
                <a:latin typeface="Segoe UI"/>
              </a:rPr>
              <a:t> for T-4473. It is </a:t>
            </a:r>
            <a:r>
              <a:rPr sz="2200" b="0" i="1">
                <a:solidFill>
                  <a:srgbClr val="1C252B"/>
                </a:solidFill>
                <a:latin typeface="Segoe UI"/>
              </a:rPr>
              <a:t>not</a:t>
            </a:r>
            <a:r>
              <a:rPr sz="2200" b="0" i="0">
                <a:solidFill>
                  <a:srgbClr val="1C252B"/>
                </a:solidFill>
                <a:latin typeface="Segoe UI"/>
              </a:rPr>
              <a:t> a fact about the ticket — it is a fact about the on-call engineer and what has already been asked of her tonight. Both tickets reach </a:t>
            </a:r>
            <a:r>
              <a:rPr sz="2050" b="0" i="0">
                <a:solidFill>
                  <a:srgbClr val="1F4E79"/>
                </a:solidFill>
                <a:latin typeface="Consolas"/>
              </a:rPr>
              <a:t>escalate = yes</a:t>
            </a:r>
            <a:r>
              <a:rPr sz="2200" b="0" i="0">
                <a:solidFill>
                  <a:srgbClr val="1C252B"/>
                </a:solidFill>
                <a:latin typeface="Segoe UI"/>
              </a:rPr>
              <a:t>; they differ only at R14 against R15, which consult that fact. This is precisely the internal state Chapter 2 showed a model-based reflex agent must maintain because no percept reports it, and here it costs one entry in working memory and one pair of rules.</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13  ·  Rule-Based Expert Systems</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145  ·  answers in Appendix D     </a:t>
            </a:r>
            <a:fld id="{EAFFFFE7-FC85-48C0-A443-2190068DB528}" type="slidenum">
              <a:rPr lang="en-GB" sz="1000">
                <a:solidFill>
                  <a:srgbClr val="8795A1"/>
                </a:solidFill>
                <a:latin typeface="Segoe UI"/>
              </a:rPr>
              <a:t>47</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9712028"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Forward chaining fired nine rules on T-4471; backward chaining answered “why escalated?” in six goals. Give one task for which the nine is the right answer and the five is the wrong one.</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2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Artificial Intelligence  ·  Chapter 13  ·  Rule-Based Expert Systems</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145  ·  answers in Appendix D     </a:t>
            </a:r>
            <a:fld id="{4D404EBE-5482-45F9-8CC9-131C4E0D121B}" type="slidenum">
              <a:rPr lang="en-GB" sz="1000">
                <a:solidFill>
                  <a:srgbClr val="D5DEE5"/>
                </a:solidFill>
                <a:latin typeface="Segoe UI"/>
              </a:rPr>
              <a:t>48</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1099108"/>
          </a:xfrm>
        </p:spPr>
        <p:txBody>
          <a:bodyPr wrap="square" lIns="0" rIns="0" tIns="0" bIns="0" anchor="t">
            <a:noAutofit/>
          </a:bodyPr>
          <a:lstStyle/>
          <a:p>
            <a:pPr algn="l">
              <a:lnSpc>
                <a:spcPct val="96000"/>
              </a:lnSpc>
            </a:pPr>
            <a:r>
              <a:rPr sz="2400" b="0" i="0">
                <a:solidFill>
                  <a:srgbClr val="1A5276"/>
                </a:solidFill>
                <a:latin typeface="Segoe UI Semibold"/>
              </a:rPr>
              <a:t>Forward chaining fired nine rules on T-4471; backward chaining answered “why escalated?” in six goals. Give one task for which the nine is the right answer and the five is the wrong one.</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2 OF 3  ·  ANSWER</a:t>
            </a:r>
          </a:p>
        </p:txBody>
      </p:sp>
      <p:sp>
        <p:nvSpPr>
          <p:cNvPr id="5" name="!!abar">
            <a:extLst>
              <a:ext uri="{C183D7F6-B498-43B3-948B-1728B52AA6E4}">
                <adec:decorative xmlns:adec="http://schemas.microsoft.com/office/drawing/2017/decorative" val="1"/>
              </a:ext>
            </a:extLst>
          </p:cNvPr>
          <p:cNvSpPr/>
          <p:nvPr/>
        </p:nvSpPr>
        <p:spPr>
          <a:xfrm>
            <a:off x="658368" y="2114092"/>
            <a:ext cx="64008" cy="2092147"/>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2114092"/>
            <a:ext cx="10509199" cy="2137867"/>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The nine is right for a monitoring dashboard or an alerting pipeline, where a newly arrived fact should trigger </a:t>
            </a:r>
            <a:r>
              <a:rPr sz="2200" b="0" i="1">
                <a:solidFill>
                  <a:srgbClr val="1C252B"/>
                </a:solidFill>
                <a:latin typeface="Segoe UI"/>
              </a:rPr>
              <a:t>everything</a:t>
            </a:r>
            <a:r>
              <a:rPr sz="2200" b="0" i="0">
                <a:solidFill>
                  <a:srgbClr val="1C252B"/>
                </a:solidFill>
                <a:latin typeface="Segoe UI"/>
              </a:rPr>
              <a:t> that follows from it — notify finance, attach the payments runbook, set the page severity — without anybody having to ask for each one. The six is right when an engineer or an auditor has a single question (“why was this escalated?”), because forward chaining would derive a great deal that is irrelevant to it and would still not produce a proof tree.</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13  ·  Rule-Based Expert Systems</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145  ·  answers in Appendix D     </a:t>
            </a:r>
            <a:fld id="{2495A793-7C6D-476E-8A43-6C1F84F39AA2}" type="slidenum">
              <a:rPr lang="en-GB" sz="1000">
                <a:solidFill>
                  <a:srgbClr val="8795A1"/>
                </a:solidFill>
                <a:latin typeface="Segoe UI"/>
              </a:rPr>
              <a:t>49</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0125306"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An auditor asks why a particular customer’s ticket was left in the queue overnight. Explain what your system hands them, and why a model that merely output a probability would not satisfy the request.</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3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Artificial Intelligence  ·  Chapter 13  ·  Rule-Based Expert Systems</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145  ·  answers in Appendix D     </a:t>
            </a:r>
            <a:fld id="{2942D92F-F686-4901-AC2C-BF922E7F88A7}" type="slidenum">
              <a:rPr lang="en-GB" sz="1000">
                <a:solidFill>
                  <a:srgbClr val="D5DEE5"/>
                </a:solidFill>
                <a:latin typeface="Segoe UI"/>
              </a:rPr>
              <a:t>50</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1099108"/>
          </a:xfrm>
        </p:spPr>
        <p:txBody>
          <a:bodyPr wrap="square" lIns="0" rIns="0" tIns="0" bIns="0" anchor="t">
            <a:noAutofit/>
          </a:bodyPr>
          <a:lstStyle/>
          <a:p>
            <a:pPr algn="l">
              <a:lnSpc>
                <a:spcPct val="96000"/>
              </a:lnSpc>
            </a:pPr>
            <a:r>
              <a:rPr sz="2400" b="0" i="0">
                <a:solidFill>
                  <a:srgbClr val="1A5276"/>
                </a:solidFill>
                <a:latin typeface="Segoe UI Semibold"/>
              </a:rPr>
              <a:t>An auditor asks why a particular customer’s ticket was left in the queue overnight. Explain what your system hands them, and why a model that merely output a probability would not satisfy the request.</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3 OF 3  ·  ANSWER</a:t>
            </a:r>
          </a:p>
        </p:txBody>
      </p:sp>
      <p:sp>
        <p:nvSpPr>
          <p:cNvPr id="5" name="!!abar">
            <a:extLst>
              <a:ext uri="{C183D7F6-B498-43B3-948B-1728B52AA6E4}">
                <adec:decorative xmlns:adec="http://schemas.microsoft.com/office/drawing/2017/decorative" val="1"/>
              </a:ext>
            </a:extLst>
          </p:cNvPr>
          <p:cNvSpPr/>
          <p:nvPr/>
        </p:nvSpPr>
        <p:spPr>
          <a:xfrm>
            <a:off x="658368" y="2114092"/>
            <a:ext cx="64008" cy="244083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2114092"/>
            <a:ext cx="10509199" cy="2486558"/>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They get the backward-chaining explanation: </a:t>
            </a:r>
            <a:r>
              <a:rPr sz="2050" b="0" i="0">
                <a:solidFill>
                  <a:srgbClr val="1F4E79"/>
                </a:solidFill>
                <a:latin typeface="Consolas"/>
              </a:rPr>
              <a:t>escalate = no</a:t>
            </a:r>
            <a:r>
              <a:rPr sz="2200" b="0" i="0">
                <a:solidFill>
                  <a:srgbClr val="1C252B"/>
                </a:solidFill>
                <a:latin typeface="Segoe UI"/>
              </a:rPr>
              <a:t> by R11 because </a:t>
            </a:r>
            <a:r>
              <a:rPr sz="2050" b="0" i="0">
                <a:solidFill>
                  <a:srgbClr val="1F4E79"/>
                </a:solidFill>
                <a:latin typeface="Consolas"/>
              </a:rPr>
              <a:t>needs_owner = no</a:t>
            </a:r>
            <a:r>
              <a:rPr sz="2200" b="0" i="0">
                <a:solidFill>
                  <a:srgbClr val="1C252B"/>
                </a:solidFill>
                <a:latin typeface="Segoe UI"/>
              </a:rPr>
              <a:t> by R7, because the priority is P2 by R3 (major severity, standard tier) and there was a workaround. Every step names the rule and the fact it used, so the auditor can check each line and, if they disagree, point at the specific rule that is wrong. A probability satisfies none of this: it cannot be checked, it identifies nothing to correct, and it does not say which of the ticket’s properties mattered. See also Chapter 21, where this is argued as accountability rather than convenience.</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13  ·  Rule-Based Expert Systems</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145  ·  answers in Appendix D     </a:t>
            </a:r>
            <a:fld id="{1E1015CF-BA1C-43FF-922B-F3687F0CD02D}" type="slidenum">
              <a:rPr lang="en-GB" sz="1000">
                <a:solidFill>
                  <a:srgbClr val="8795A1"/>
                </a:solidFill>
                <a:latin typeface="Segoe UI"/>
              </a:rPr>
              <a:t>51</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0538583"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to take away</a:t>
            </a:r>
          </a:p>
        </p:txBody>
      </p:sp>
      <p:pic>
        <p:nvPicPr>
          <p:cNvPr id="3" name="!!kicker-icon" descr="clipboard-check-15425E.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6683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5425E"/>
                </a:solidFill>
                <a:latin typeface="Segoe UI"/>
              </a:rPr>
              <a:t>CHAPTER SUMMARY</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13  ·  Rule-Based Expert Systems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145     </a:t>
            </a:r>
            <a:fld id="{C4C5438B-AC75-40C2-890D-457690AADCEB}" type="slidenum">
              <a:rPr lang="en-GB" sz="1000">
                <a:solidFill>
                  <a:srgbClr val="8795A1"/>
                </a:solidFill>
                <a:latin typeface="Segoe UI"/>
              </a:rPr>
              <a:t>52</a:t>
            </a:fld>
          </a:p>
        </p:txBody>
      </p:sp>
      <p:sp>
        <p:nvSpPr>
          <p:cNvPr id="7" name="!!sb0">
            <a:extLst>
              <a:ext uri="{C183D7F6-B498-43B3-948B-1728B52AA6E4}">
                <adec:decorative xmlns:adec="http://schemas.microsoft.com/office/drawing/2017/decorative" val="1"/>
              </a:ext>
            </a:extLst>
          </p:cNvPr>
          <p:cNvSpPr/>
          <p:nvPr/>
        </p:nvSpPr>
        <p:spPr>
          <a:xfrm>
            <a:off x="658368" y="1746504"/>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sbn0"/>
          <p:cNvSpPr txBox="1"/>
          <p:nvPr/>
        </p:nvSpPr>
        <p:spPr>
          <a:xfrm>
            <a:off x="658368" y="1801368"/>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9" name="!!st0"/>
          <p:cNvSpPr txBox="1"/>
          <p:nvPr/>
        </p:nvSpPr>
        <p:spPr>
          <a:xfrm>
            <a:off x="1298448" y="1737360"/>
            <a:ext cx="10234879" cy="808329"/>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A </a:t>
            </a:r>
            <a:r>
              <a:rPr sz="1700" b="1" i="0">
                <a:solidFill>
                  <a:srgbClr val="1A5276"/>
                </a:solidFill>
                <a:latin typeface="Segoe UI"/>
              </a:rPr>
              <a:t>production system</a:t>
            </a:r>
            <a:r>
              <a:rPr sz="1700" b="0" i="0">
                <a:solidFill>
                  <a:srgbClr val="1C252B"/>
                </a:solidFill>
                <a:latin typeface="Segoe UI"/>
              </a:rPr>
              <a:t> is working memory, a rule base and an inference engine running </a:t>
            </a:r>
            <a:r>
              <a:rPr sz="1700" b="1" i="0">
                <a:solidFill>
                  <a:srgbClr val="1A5276"/>
                </a:solidFill>
                <a:latin typeface="Segoe UI"/>
              </a:rPr>
              <a:t>match–resolve–act</a:t>
            </a:r>
            <a:r>
              <a:rPr sz="1700" b="0" i="0">
                <a:solidFill>
                  <a:srgbClr val="1C252B"/>
                </a:solidFill>
                <a:latin typeface="Segoe UI"/>
              </a:rPr>
              <a:t>. Rules do not call each other, so one can be added or corrected without tracing control flow — which is what lets a domain expert maintain it.</a:t>
            </a:r>
          </a:p>
        </p:txBody>
      </p:sp>
      <p:sp>
        <p:nvSpPr>
          <p:cNvPr id="10" name="!!sb1">
            <a:extLst>
              <a:ext uri="{C183D7F6-B498-43B3-948B-1728B52AA6E4}">
                <adec:decorative xmlns:adec="http://schemas.microsoft.com/office/drawing/2017/decorative" val="1"/>
              </a:ext>
            </a:extLst>
          </p:cNvPr>
          <p:cNvSpPr/>
          <p:nvPr/>
        </p:nvSpPr>
        <p:spPr>
          <a:xfrm>
            <a:off x="658368" y="2737713"/>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sbn1"/>
          <p:cNvSpPr txBox="1"/>
          <p:nvPr/>
        </p:nvSpPr>
        <p:spPr>
          <a:xfrm>
            <a:off x="658368" y="2792577"/>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2" name="!!st1"/>
          <p:cNvSpPr txBox="1"/>
          <p:nvPr/>
        </p:nvSpPr>
        <p:spPr>
          <a:xfrm>
            <a:off x="1298448" y="2728569"/>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1A5276"/>
                </a:solidFill>
                <a:latin typeface="Segoe UI"/>
              </a:rPr>
              <a:t>Forward chaining</a:t>
            </a:r>
            <a:r>
              <a:rPr sz="1700" b="0" i="0">
                <a:solidFill>
                  <a:srgbClr val="1C252B"/>
                </a:solidFill>
                <a:latin typeface="Segoe UI"/>
              </a:rPr>
              <a:t> is data-driven and derives everything that follows: nine rules and </a:t>
            </a:r>
            <a:r>
              <a:rPr sz="1700" b="0" i="0">
                <a:solidFill>
                  <a:srgbClr val="1C252B"/>
                </a:solidFill>
                <a:latin typeface="Cambria"/>
              </a:rPr>
              <a:t>188</a:t>
            </a:r>
            <a:r>
              <a:rPr sz="1700" b="0" i="0">
                <a:solidFill>
                  <a:srgbClr val="1C252B"/>
                </a:solidFill>
                <a:latin typeface="Segoe UI"/>
              </a:rPr>
              <a:t> condition tests on one ticket. Right for monitoring; wasteful for a single question.</a:t>
            </a:r>
          </a:p>
        </p:txBody>
      </p:sp>
      <p:sp>
        <p:nvSpPr>
          <p:cNvPr id="13" name="!!sb2">
            <a:extLst>
              <a:ext uri="{C183D7F6-B498-43B3-948B-1728B52AA6E4}">
                <adec:decorative xmlns:adec="http://schemas.microsoft.com/office/drawing/2017/decorative" val="1"/>
              </a:ext>
            </a:extLst>
          </p:cNvPr>
          <p:cNvSpPr/>
          <p:nvPr/>
        </p:nvSpPr>
        <p:spPr>
          <a:xfrm>
            <a:off x="658368" y="3459480"/>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sbn2"/>
          <p:cNvSpPr txBox="1"/>
          <p:nvPr/>
        </p:nvSpPr>
        <p:spPr>
          <a:xfrm>
            <a:off x="658368" y="3514344"/>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5" name="!!st2"/>
          <p:cNvSpPr txBox="1"/>
          <p:nvPr/>
        </p:nvSpPr>
        <p:spPr>
          <a:xfrm>
            <a:off x="1298448" y="3450336"/>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1A5276"/>
                </a:solidFill>
                <a:latin typeface="Segoe UI"/>
              </a:rPr>
              <a:t>Backward chaining</a:t>
            </a:r>
            <a:r>
              <a:rPr sz="1700" b="0" i="0">
                <a:solidFill>
                  <a:srgbClr val="1C252B"/>
                </a:solidFill>
                <a:latin typeface="Segoe UI"/>
              </a:rPr>
              <a:t> is goal-driven, visits only what bears on the question — six goals here — and produces a </a:t>
            </a:r>
            <a:r>
              <a:rPr sz="1700" b="1" i="0">
                <a:solidFill>
                  <a:srgbClr val="1A5276"/>
                </a:solidFill>
                <a:latin typeface="Segoe UI"/>
              </a:rPr>
              <a:t>proof tree</a:t>
            </a:r>
            <a:r>
              <a:rPr sz="1700" b="0" i="0">
                <a:solidFill>
                  <a:srgbClr val="1C252B"/>
                </a:solidFill>
                <a:latin typeface="Segoe UI"/>
              </a:rPr>
              <a:t>.</a:t>
            </a:r>
          </a:p>
        </p:txBody>
      </p:sp>
      <p:sp>
        <p:nvSpPr>
          <p:cNvPr id="16" name="!!sb3">
            <a:extLst>
              <a:ext uri="{C183D7F6-B498-43B3-948B-1728B52AA6E4}">
                <adec:decorative xmlns:adec="http://schemas.microsoft.com/office/drawing/2017/decorative" val="1"/>
              </a:ext>
            </a:extLst>
          </p:cNvPr>
          <p:cNvSpPr/>
          <p:nvPr/>
        </p:nvSpPr>
        <p:spPr>
          <a:xfrm>
            <a:off x="658368" y="4181246"/>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sbn3"/>
          <p:cNvSpPr txBox="1"/>
          <p:nvPr/>
        </p:nvSpPr>
        <p:spPr>
          <a:xfrm>
            <a:off x="658368" y="4236110"/>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8" name="!!st3"/>
          <p:cNvSpPr txBox="1"/>
          <p:nvPr/>
        </p:nvSpPr>
        <p:spPr>
          <a:xfrm>
            <a:off x="1298448" y="4172102"/>
            <a:ext cx="10234879" cy="808329"/>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1A5276"/>
                </a:solidFill>
                <a:latin typeface="Segoe UI"/>
              </a:rPr>
              <a:t>Conflict resolution</a:t>
            </a:r>
            <a:r>
              <a:rPr sz="1700" b="0" i="0">
                <a:solidFill>
                  <a:srgbClr val="1C252B"/>
                </a:solidFill>
                <a:latin typeface="Segoe UI"/>
              </a:rPr>
              <a:t> chooses among applicable rules. </a:t>
            </a:r>
            <a:r>
              <a:rPr sz="1700" b="1" i="0">
                <a:solidFill>
                  <a:srgbClr val="1A5276"/>
                </a:solidFill>
                <a:latin typeface="Segoe UI"/>
              </a:rPr>
              <a:t>Specificity</a:t>
            </a:r>
            <a:r>
              <a:rPr sz="1700" b="0" i="0">
                <a:solidFill>
                  <a:srgbClr val="1C252B"/>
                </a:solidFill>
                <a:latin typeface="Segoe UI"/>
              </a:rPr>
              <a:t> is the workhorse and encodes a real property of the knowledge; </a:t>
            </a:r>
            <a:r>
              <a:rPr sz="1700" b="1" i="0">
                <a:solidFill>
                  <a:srgbClr val="1A5276"/>
                </a:solidFill>
                <a:latin typeface="Segoe UI"/>
              </a:rPr>
              <a:t>refraction</a:t>
            </a:r>
            <a:r>
              <a:rPr sz="1700" b="0" i="0">
                <a:solidFill>
                  <a:srgbClr val="1C252B"/>
                </a:solidFill>
                <a:latin typeface="Segoe UI"/>
              </a:rPr>
              <a:t> is not an optimisation but the thing that makes the engine terminate.</a:t>
            </a:r>
          </a:p>
        </p:txBody>
      </p:sp>
      <p:sp>
        <p:nvSpPr>
          <p:cNvPr id="19" name="!!sb4">
            <a:extLst>
              <a:ext uri="{C183D7F6-B498-43B3-948B-1728B52AA6E4}">
                <adec:decorative xmlns:adec="http://schemas.microsoft.com/office/drawing/2017/decorative" val="1"/>
              </a:ext>
            </a:extLst>
          </p:cNvPr>
          <p:cNvSpPr/>
          <p:nvPr/>
        </p:nvSpPr>
        <p:spPr>
          <a:xfrm>
            <a:off x="658368" y="5172456"/>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sbn4"/>
          <p:cNvSpPr txBox="1"/>
          <p:nvPr/>
        </p:nvSpPr>
        <p:spPr>
          <a:xfrm>
            <a:off x="658368" y="5227320"/>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1" name="!!st4"/>
          <p:cNvSpPr txBox="1"/>
          <p:nvPr/>
        </p:nvSpPr>
        <p:spPr>
          <a:xfrm>
            <a:off x="1298448" y="5163312"/>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The </a:t>
            </a:r>
            <a:r>
              <a:rPr sz="1700" b="1" i="0">
                <a:solidFill>
                  <a:srgbClr val="1A5276"/>
                </a:solidFill>
                <a:latin typeface="Segoe UI"/>
              </a:rPr>
              <a:t>explanation</a:t>
            </a:r>
            <a:r>
              <a:rPr sz="1700" b="0" i="0">
                <a:solidFill>
                  <a:srgbClr val="1C252B"/>
                </a:solidFill>
                <a:latin typeface="Segoe UI"/>
              </a:rPr>
              <a:t> is the deliverable. It names every rule and fact the conclusion rests on, a person can check it line by line, and it identifies which rule to correct when the answer is wrong.</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10745222"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to take away (continued)</a:t>
            </a:r>
          </a:p>
        </p:txBody>
      </p:sp>
      <p:pic>
        <p:nvPicPr>
          <p:cNvPr id="3" name="!!kicker-icon" descr="clipboard-check-15425E.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6683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5425E"/>
                </a:solidFill>
                <a:latin typeface="Segoe UI"/>
              </a:rPr>
              <a:t>CHAPTER SUMMARY</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13  ·  Rule-Based Expert Systems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145     </a:t>
            </a:r>
            <a:fld id="{85B6232B-4E5C-4958-8194-65EDF78E9F14}" type="slidenum">
              <a:rPr lang="en-GB" sz="1000">
                <a:solidFill>
                  <a:srgbClr val="8795A1"/>
                </a:solidFill>
                <a:latin typeface="Segoe UI"/>
              </a:rPr>
              <a:t>53</a:t>
            </a:fld>
          </a:p>
        </p:txBody>
      </p:sp>
      <p:sp>
        <p:nvSpPr>
          <p:cNvPr id="7" name="!!sb5">
            <a:extLst>
              <a:ext uri="{C183D7F6-B498-43B3-948B-1728B52AA6E4}">
                <adec:decorative xmlns:adec="http://schemas.microsoft.com/office/drawing/2017/decorative" val="1"/>
              </a:ext>
            </a:extLst>
          </p:cNvPr>
          <p:cNvSpPr/>
          <p:nvPr/>
        </p:nvSpPr>
        <p:spPr>
          <a:xfrm>
            <a:off x="658368" y="1746504"/>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sbn5"/>
          <p:cNvSpPr txBox="1"/>
          <p:nvPr/>
        </p:nvSpPr>
        <p:spPr>
          <a:xfrm>
            <a:off x="658368" y="1801368"/>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6</a:t>
            </a:r>
          </a:p>
        </p:txBody>
      </p:sp>
      <p:sp>
        <p:nvSpPr>
          <p:cNvPr id="9" name="!!st5"/>
          <p:cNvSpPr txBox="1"/>
          <p:nvPr/>
        </p:nvSpPr>
        <p:spPr>
          <a:xfrm>
            <a:off x="1298448" y="1737360"/>
            <a:ext cx="10234879" cy="1077772"/>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Conflict resolution can </a:t>
            </a:r>
            <a:r>
              <a:rPr sz="1700" b="0" i="1">
                <a:solidFill>
                  <a:srgbClr val="1C252B"/>
                </a:solidFill>
                <a:latin typeface="Segoe UI"/>
              </a:rPr>
              <a:t>mask</a:t>
            </a:r>
            <a:r>
              <a:rPr sz="1700" b="0" i="0">
                <a:solidFill>
                  <a:srgbClr val="1C252B"/>
                </a:solidFill>
                <a:latin typeface="Segoe UI"/>
              </a:rPr>
              <a:t> a bad rule without fixing it. Asking the same question forwards and backwards made the two directions disagree on T-4472 and exposed an over-general rule that specificity had been hiding. When two correct procedures differ on the same knowledge, the knowledge is inconsistent — fix the rules, not the strategy.</a:t>
            </a:r>
          </a:p>
        </p:txBody>
      </p:sp>
      <p:sp>
        <p:nvSpPr>
          <p:cNvPr id="10" name="!!sb6">
            <a:extLst>
              <a:ext uri="{C183D7F6-B498-43B3-948B-1728B52AA6E4}">
                <adec:decorative xmlns:adec="http://schemas.microsoft.com/office/drawing/2017/decorative" val="1"/>
              </a:ext>
            </a:extLst>
          </p:cNvPr>
          <p:cNvSpPr/>
          <p:nvPr/>
        </p:nvSpPr>
        <p:spPr>
          <a:xfrm>
            <a:off x="658368" y="3007156"/>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sbn6"/>
          <p:cNvSpPr txBox="1"/>
          <p:nvPr/>
        </p:nvSpPr>
        <p:spPr>
          <a:xfrm>
            <a:off x="658368" y="3062020"/>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7</a:t>
            </a:r>
          </a:p>
        </p:txBody>
      </p:sp>
      <p:sp>
        <p:nvSpPr>
          <p:cNvPr id="12" name="!!st6"/>
          <p:cNvSpPr txBox="1"/>
          <p:nvPr/>
        </p:nvSpPr>
        <p:spPr>
          <a:xfrm>
            <a:off x="1298448" y="2998012"/>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The industry collapsed on the </a:t>
            </a:r>
            <a:r>
              <a:rPr sz="1700" b="1" i="0">
                <a:solidFill>
                  <a:srgbClr val="1A5276"/>
                </a:solidFill>
                <a:latin typeface="Segoe UI"/>
              </a:rPr>
              <a:t>knowledge acquisition bottleneck</a:t>
            </a:r>
            <a:r>
              <a:rPr sz="1700" b="0" i="0">
                <a:solidFill>
                  <a:srgbClr val="1C252B"/>
                </a:solidFill>
                <a:latin typeface="Segoe UI"/>
              </a:rPr>
              <a:t> — rules elicited one at a time from busy experts, and nothing learns — and on </a:t>
            </a:r>
            <a:r>
              <a:rPr sz="1700" b="1" i="0">
                <a:solidFill>
                  <a:srgbClr val="1A5276"/>
                </a:solidFill>
                <a:latin typeface="Segoe UI"/>
              </a:rPr>
              <a:t>brittleness</a:t>
            </a:r>
            <a:r>
              <a:rPr sz="1700" b="0" i="0">
                <a:solidFill>
                  <a:srgbClr val="1C252B"/>
                </a:solidFill>
                <a:latin typeface="Segoe UI"/>
              </a:rPr>
              <a:t>, confident wrongness at the edge of competence.</a:t>
            </a:r>
          </a:p>
        </p:txBody>
      </p:sp>
      <p:sp>
        <p:nvSpPr>
          <p:cNvPr id="13" name="!!sb7">
            <a:extLst>
              <a:ext uri="{C183D7F6-B498-43B3-948B-1728B52AA6E4}">
                <adec:decorative xmlns:adec="http://schemas.microsoft.com/office/drawing/2017/decorative" val="1"/>
              </a:ext>
            </a:extLst>
          </p:cNvPr>
          <p:cNvSpPr/>
          <p:nvPr/>
        </p:nvSpPr>
        <p:spPr>
          <a:xfrm>
            <a:off x="658368" y="3728923"/>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sbn7"/>
          <p:cNvSpPr txBox="1"/>
          <p:nvPr/>
        </p:nvSpPr>
        <p:spPr>
          <a:xfrm>
            <a:off x="658368" y="3783787"/>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8</a:t>
            </a:r>
          </a:p>
        </p:txBody>
      </p:sp>
      <p:sp>
        <p:nvSpPr>
          <p:cNvPr id="15" name="!!st7"/>
          <p:cNvSpPr txBox="1"/>
          <p:nvPr/>
        </p:nvSpPr>
        <p:spPr>
          <a:xfrm>
            <a:off x="1298448" y="3719779"/>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Both failures are the strengths of machine learning, which acquires knowledge from data and degrades smoothly, and which gives up the explanation tree to do it. That trade is the subject of Chapter 21.</a:t>
            </a:r>
          </a:p>
        </p:txBody>
      </p:sp>
      <p:sp>
        <p:nvSpPr>
          <p:cNvPr id="37"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pfill">
            <a:extLst>
              <a:ext uri="{C183D7F6-B498-43B3-948B-1728B52AA6E4}">
                <adec:decorative xmlns:adec="http://schemas.microsoft.com/office/drawing/2017/decorative" val="1"/>
              </a:ext>
            </a:extLst>
          </p:cNvPr>
          <p:cNvSpPr/>
          <p:nvPr/>
        </p:nvSpPr>
        <p:spPr>
          <a:xfrm>
            <a:off x="0" y="0"/>
            <a:ext cx="10951861"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1 of 4</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13  ·  Rule-Based Expert Systems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145     </a:t>
            </a:r>
            <a:fld id="{745C8EFF-2B6F-4D58-A4D2-B6FE3753A3AA}" type="slidenum">
              <a:rPr lang="en-GB" sz="1000">
                <a:solidFill>
                  <a:srgbClr val="8795A1"/>
                </a:solidFill>
                <a:latin typeface="Segoe UI"/>
              </a:rPr>
              <a:t>54</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The conflict set is:</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rules that contradict each other</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rules whose conditions currently hold</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facts that disagree</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goals not yet proved</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158500"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2 of 4</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13  ·  Rule-Based Expert Systems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145     </a:t>
            </a:r>
            <a:fld id="{05E55E37-3AC1-4815-93BD-AF87950AA339}" type="slidenum">
              <a:rPr lang="en-GB" sz="1000">
                <a:solidFill>
                  <a:srgbClr val="8795A1"/>
                </a:solidFill>
                <a:latin typeface="Segoe UI"/>
              </a:rPr>
              <a:t>55</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Refraction prevents:</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two rules firing at once</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 rule firing twice on the same facts</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backward chaining looping</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conflicting conclusions</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365139"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3 of 4</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13  ·  Rule-Based Expert Systems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145     </a:t>
            </a:r>
            <a:fld id="{07358F7E-0568-42A7-B124-48D40BB4951D}" type="slidenum">
              <a:rPr lang="en-GB" sz="1000">
                <a:solidFill>
                  <a:srgbClr val="8795A1"/>
                </a:solidFill>
                <a:latin typeface="Segoe UI"/>
              </a:rPr>
              <a:t>56</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Backward chaining is preferable when:</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7133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 new fact has arrived and you want its consequences</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you have one specific question</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working memory is large</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the rules have many conditions</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571778"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4 of 4</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13  ·  Rule-Based Expert Systems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145     </a:t>
            </a:r>
            <a:fld id="{7852A2B0-B2BB-442F-8BB3-395367934EAB}" type="slidenum">
              <a:rPr lang="en-GB" sz="1000">
                <a:solidFill>
                  <a:srgbClr val="8795A1"/>
                </a:solidFill>
                <a:latin typeface="Segoe UI"/>
              </a:rPr>
              <a:t>57</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The knowledge acquisition bottleneck is:</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slow inference</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too many rules to store</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39020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rules must be elicited from experts one at a time</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working memory overflow</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778417"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For your notebook</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QUESTIONS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13  ·  Rule-Based Expert Systems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145     </a:t>
            </a:r>
            <a:fld id="{3A89DA2E-9DB4-494D-8B50-17D7C669CD9B}" type="slidenum">
              <a:rPr lang="en-GB" sz="1000">
                <a:solidFill>
                  <a:srgbClr val="8795A1"/>
                </a:solidFill>
                <a:latin typeface="Segoe UI"/>
              </a:rPr>
              <a:t>58</a:t>
            </a:fld>
          </a:p>
        </p:txBody>
      </p:sp>
      <p:sp>
        <p:nvSpPr>
          <p:cNvPr id="7" name="!!rt0">
            <a:extLst>
              <a:ext uri="{C183D7F6-B498-43B3-948B-1728B52AA6E4}">
                <adec:decorative xmlns:adec="http://schemas.microsoft.com/office/drawing/2017/decorative" val="1"/>
              </a:ext>
            </a:extLst>
          </p:cNvPr>
          <p:cNvSpPr/>
          <p:nvPr/>
        </p:nvSpPr>
        <p:spPr>
          <a:xfrm>
            <a:off x="658368" y="1755648"/>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rtt0"/>
          <p:cNvSpPr txBox="1"/>
          <p:nvPr/>
        </p:nvSpPr>
        <p:spPr>
          <a:xfrm>
            <a:off x="658368" y="1796795"/>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9" name="!!rq0"/>
          <p:cNvSpPr txBox="1"/>
          <p:nvPr/>
        </p:nvSpPr>
        <p:spPr>
          <a:xfrm>
            <a:off x="1892807" y="1737360"/>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Explain specificity as a conflict-resolution strategy and why it encodes something real about the knowledge rather than being an arbitrary tie-break.</a:t>
            </a:r>
          </a:p>
        </p:txBody>
      </p:sp>
      <p:sp>
        <p:nvSpPr>
          <p:cNvPr id="10" name="!!rt1">
            <a:extLst>
              <a:ext uri="{C183D7F6-B498-43B3-948B-1728B52AA6E4}">
                <adec:decorative xmlns:adec="http://schemas.microsoft.com/office/drawing/2017/decorative" val="1"/>
              </a:ext>
            </a:extLst>
          </p:cNvPr>
          <p:cNvSpPr/>
          <p:nvPr/>
        </p:nvSpPr>
        <p:spPr>
          <a:xfrm>
            <a:off x="658368" y="2577388"/>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tt1"/>
          <p:cNvSpPr txBox="1"/>
          <p:nvPr/>
        </p:nvSpPr>
        <p:spPr>
          <a:xfrm>
            <a:off x="658368" y="2618536"/>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2" name="!!rq1"/>
          <p:cNvSpPr txBox="1"/>
          <p:nvPr/>
        </p:nvSpPr>
        <p:spPr>
          <a:xfrm>
            <a:off x="1892807" y="2559100"/>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Why is an explanation tree difficult to add to a system afterwards, and easy to obtain from backward chaining?</a:t>
            </a:r>
          </a:p>
        </p:txBody>
      </p:sp>
      <p:sp>
        <p:nvSpPr>
          <p:cNvPr id="13" name="!!rt2">
            <a:extLst>
              <a:ext uri="{C183D7F6-B498-43B3-948B-1728B52AA6E4}">
                <adec:decorative xmlns:adec="http://schemas.microsoft.com/office/drawing/2017/decorative" val="1"/>
              </a:ext>
            </a:extLst>
          </p:cNvPr>
          <p:cNvSpPr/>
          <p:nvPr/>
        </p:nvSpPr>
        <p:spPr>
          <a:xfrm>
            <a:off x="658368" y="3399129"/>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rtt2"/>
          <p:cNvSpPr txBox="1"/>
          <p:nvPr/>
        </p:nvSpPr>
        <p:spPr>
          <a:xfrm>
            <a:off x="658368" y="3440277"/>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5" name="!!rq2"/>
          <p:cNvSpPr txBox="1"/>
          <p:nvPr/>
        </p:nvSpPr>
        <p:spPr>
          <a:xfrm>
            <a:off x="1892807" y="3380841"/>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State the two causes of the expert-system collapse and, for each, say how machine learning addresses it and what is given up.</a:t>
            </a:r>
          </a:p>
        </p:txBody>
      </p:sp>
      <p:sp>
        <p:nvSpPr>
          <p:cNvPr id="16" name="!!rt3">
            <a:extLst>
              <a:ext uri="{C183D7F6-B498-43B3-948B-1728B52AA6E4}">
                <adec:decorative xmlns:adec="http://schemas.microsoft.com/office/drawing/2017/decorative" val="1"/>
              </a:ext>
            </a:extLst>
          </p:cNvPr>
          <p:cNvSpPr/>
          <p:nvPr/>
        </p:nvSpPr>
        <p:spPr>
          <a:xfrm>
            <a:off x="658368" y="4220870"/>
            <a:ext cx="1051560" cy="310896"/>
          </a:xfrm>
          <a:prstGeom prst="roundRect">
            <a:avLst>
              <a:gd name="adj" fmla="val 50000"/>
            </a:avLst>
          </a:prstGeom>
          <a:solidFill>
            <a:srgbClr val="E2EF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tt3"/>
          <p:cNvSpPr txBox="1"/>
          <p:nvPr/>
        </p:nvSpPr>
        <p:spPr>
          <a:xfrm>
            <a:off x="658368" y="4262018"/>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07964"/>
                </a:solidFill>
                <a:latin typeface="Segoe UI"/>
              </a:rPr>
              <a:t>APPLIED</a:t>
            </a:r>
          </a:p>
        </p:txBody>
      </p:sp>
      <p:sp>
        <p:nvSpPr>
          <p:cNvPr id="18" name="!!rq3"/>
          <p:cNvSpPr txBox="1"/>
          <p:nvPr/>
        </p:nvSpPr>
        <p:spPr>
          <a:xfrm>
            <a:off x="1892807" y="4202582"/>
            <a:ext cx="9549079" cy="1204569"/>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Write a rule implementing “a P1 on a platinum customer with no workaround must notify the account team even if the owner is available”. Give its conditions and conclusion, say where specificity places it relative to R17, and trace what T-4473 would do with it added.</a:t>
            </a:r>
          </a:p>
        </p:txBody>
      </p:sp>
      <p:sp>
        <p:nvSpPr>
          <p:cNvPr id="1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fill">
            <a:extLst>
              <a:ext uri="{C183D7F6-B498-43B3-948B-1728B52AA6E4}">
                <adec:decorative xmlns:adec="http://schemas.microsoft.com/office/drawing/2017/decorative" val="1"/>
              </a:ext>
            </a:extLst>
          </p:cNvPr>
          <p:cNvSpPr/>
          <p:nvPr/>
        </p:nvSpPr>
        <p:spPr>
          <a:xfrm>
            <a:off x="0" y="0"/>
            <a:ext cx="11985056"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7A3A95"/>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854A9D"/>
                </a:solidFill>
                <a:latin typeface="Segoe UI Black"/>
              </a:rPr>
              <a:t>13</a:t>
            </a:r>
          </a:p>
        </p:txBody>
      </p:sp>
      <p:sp>
        <p:nvSpPr>
          <p:cNvPr id="2" name="!!title"/>
          <p:cNvSpPr>
            <a:spLocks noGrp="1"/>
          </p:cNvSpPr>
          <p:nvPr>
            <p:ph type="title"/>
          </p:nvPr>
        </p:nvSpPr>
        <p:spPr>
          <a:xfrm>
            <a:off x="658368" y="1243584"/>
            <a:ext cx="8229600" cy="822960"/>
          </a:xfrm>
        </p:spPr>
        <p:txBody>
          <a:bodyPr wrap="square" lIns="0" rIns="0" tIns="0" bIns="0" anchor="t">
            <a:noAutofit/>
          </a:bodyPr>
          <a:lstStyle/>
          <a:p>
            <a:pPr algn="l">
              <a:lnSpc>
                <a:spcPct val="96000"/>
              </a:lnSpc>
            </a:pPr>
            <a:r>
              <a:rPr sz="4000" b="0">
                <a:solidFill>
                  <a:srgbClr val="FFFFFF"/>
                </a:solidFill>
                <a:latin typeface="Segoe UI Semibold"/>
              </a:rPr>
              <a:t>End of Chapter 13</a:t>
            </a:r>
          </a:p>
        </p:txBody>
      </p:sp>
      <p:sp>
        <p:nvSpPr>
          <p:cNvPr id="4" name="!!tbar">
            <a:extLst>
              <a:ext uri="{C183D7F6-B498-43B3-948B-1728B52AA6E4}">
                <adec:decorative xmlns:adec="http://schemas.microsoft.com/office/drawing/2017/decorative" val="1"/>
              </a:ext>
            </a:extLst>
          </p:cNvPr>
          <p:cNvSpPr/>
          <p:nvPr/>
        </p:nvSpPr>
        <p:spPr>
          <a:xfrm>
            <a:off x="658368" y="102412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cl0">
            <a:extLst>
              <a:ext uri="{C183D7F6-B498-43B3-948B-1728B52AA6E4}">
                <adec:decorative xmlns:adec="http://schemas.microsoft.com/office/drawing/2017/decorative" val="1"/>
              </a:ext>
            </a:extLst>
          </p:cNvPr>
          <p:cNvSpPr/>
          <p:nvPr/>
        </p:nvSpPr>
        <p:spPr>
          <a:xfrm>
            <a:off x="658368" y="2286000"/>
            <a:ext cx="5300319" cy="1097280"/>
          </a:xfrm>
          <a:prstGeom prst="roundRect">
            <a:avLst>
              <a:gd name="adj" fmla="val 8333"/>
            </a:avLst>
          </a:prstGeom>
          <a:solidFill>
            <a:srgbClr val="5F2D7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cll0"/>
          <p:cNvSpPr txBox="1"/>
          <p:nvPr/>
        </p:nvSpPr>
        <p:spPr>
          <a:xfrm>
            <a:off x="932688"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CCB4D7"/>
                </a:solidFill>
                <a:latin typeface="Segoe UI"/>
              </a:rPr>
              <a:t>NEXT</a:t>
            </a:r>
          </a:p>
        </p:txBody>
      </p:sp>
      <p:sp>
        <p:nvSpPr>
          <p:cNvPr id="7" name="!!clv0"/>
          <p:cNvSpPr txBox="1"/>
          <p:nvPr/>
        </p:nvSpPr>
        <p:spPr>
          <a:xfrm>
            <a:off x="932688"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1900" b="0" i="0">
                <a:solidFill>
                  <a:srgbClr val="FFFFFF"/>
                </a:solidFill>
                <a:latin typeface="Segoe UI Semibold"/>
              </a:rPr>
              <a:t>Chapter 14 — Uncertainty and Decision Making</a:t>
            </a:r>
          </a:p>
        </p:txBody>
      </p:sp>
      <p:sp>
        <p:nvSpPr>
          <p:cNvPr id="8" name="!!cl1">
            <a:extLst>
              <a:ext uri="{C183D7F6-B498-43B3-948B-1728B52AA6E4}">
                <adec:decorative xmlns:adec="http://schemas.microsoft.com/office/drawing/2017/decorative" val="1"/>
              </a:ext>
            </a:extLst>
          </p:cNvPr>
          <p:cNvSpPr/>
          <p:nvPr/>
        </p:nvSpPr>
        <p:spPr>
          <a:xfrm>
            <a:off x="6233007" y="2286000"/>
            <a:ext cx="5300319" cy="1097280"/>
          </a:xfrm>
          <a:prstGeom prst="roundRect">
            <a:avLst>
              <a:gd name="adj" fmla="val 8333"/>
            </a:avLst>
          </a:prstGeom>
          <a:solidFill>
            <a:srgbClr val="5F2D7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ll1"/>
          <p:cNvSpPr txBox="1"/>
          <p:nvPr/>
        </p:nvSpPr>
        <p:spPr>
          <a:xfrm>
            <a:off x="6507327"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CCB4D7"/>
                </a:solidFill>
                <a:latin typeface="Segoe UI"/>
              </a:rPr>
              <a:t>READ</a:t>
            </a:r>
          </a:p>
        </p:txBody>
      </p:sp>
      <p:sp>
        <p:nvSpPr>
          <p:cNvPr id="10" name="!!clv1"/>
          <p:cNvSpPr txBox="1"/>
          <p:nvPr/>
        </p:nvSpPr>
        <p:spPr>
          <a:xfrm>
            <a:off x="6507327"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Handout Chapter 13, pages 132–145</a:t>
            </a:r>
          </a:p>
        </p:txBody>
      </p:sp>
      <p:sp>
        <p:nvSpPr>
          <p:cNvPr id="11" name="!!cl2">
            <a:extLst>
              <a:ext uri="{C183D7F6-B498-43B3-948B-1728B52AA6E4}">
                <adec:decorative xmlns:adec="http://schemas.microsoft.com/office/drawing/2017/decorative" val="1"/>
              </a:ext>
            </a:extLst>
          </p:cNvPr>
          <p:cNvSpPr/>
          <p:nvPr/>
        </p:nvSpPr>
        <p:spPr>
          <a:xfrm>
            <a:off x="658368" y="3584448"/>
            <a:ext cx="5300319" cy="1097280"/>
          </a:xfrm>
          <a:prstGeom prst="roundRect">
            <a:avLst>
              <a:gd name="adj" fmla="val 8333"/>
            </a:avLst>
          </a:prstGeom>
          <a:solidFill>
            <a:srgbClr val="5F2D7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ll2"/>
          <p:cNvSpPr txBox="1"/>
          <p:nvPr/>
        </p:nvSpPr>
        <p:spPr>
          <a:xfrm>
            <a:off x="932688" y="3767328"/>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CCB4D7"/>
                </a:solidFill>
                <a:latin typeface="Segoe UI"/>
              </a:rPr>
              <a:t>THIS WEEK'S LAB</a:t>
            </a:r>
          </a:p>
        </p:txBody>
      </p:sp>
      <p:sp>
        <p:nvSpPr>
          <p:cNvPr id="13" name="!!clv2"/>
          <p:cNvSpPr txBox="1"/>
          <p:nvPr/>
        </p:nvSpPr>
        <p:spPr>
          <a:xfrm>
            <a:off x="932688" y="4059935"/>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1900" b="0" i="0">
                <a:solidFill>
                  <a:srgbClr val="FFFFFF"/>
                </a:solidFill>
                <a:latin typeface="Segoe UI Semibold"/>
              </a:rPr>
              <a:t>A twenty-rule escalation shell that explains itself</a:t>
            </a:r>
          </a:p>
        </p:txBody>
      </p:sp>
      <p:sp>
        <p:nvSpPr>
          <p:cNvPr id="14" name="!!cl3">
            <a:extLst>
              <a:ext uri="{C183D7F6-B498-43B3-948B-1728B52AA6E4}">
                <adec:decorative xmlns:adec="http://schemas.microsoft.com/office/drawing/2017/decorative" val="1"/>
              </a:ext>
            </a:extLst>
          </p:cNvPr>
          <p:cNvSpPr/>
          <p:nvPr/>
        </p:nvSpPr>
        <p:spPr>
          <a:xfrm>
            <a:off x="6233007" y="3584448"/>
            <a:ext cx="5300319" cy="1097280"/>
          </a:xfrm>
          <a:prstGeom prst="roundRect">
            <a:avLst>
              <a:gd name="adj" fmla="val 8333"/>
            </a:avLst>
          </a:prstGeom>
          <a:solidFill>
            <a:srgbClr val="5F2D7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cll3"/>
          <p:cNvSpPr txBox="1"/>
          <p:nvPr/>
        </p:nvSpPr>
        <p:spPr>
          <a:xfrm>
            <a:off x="6507327" y="3767328"/>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CCB4D7"/>
                </a:solidFill>
                <a:latin typeface="Segoe UI"/>
              </a:rPr>
              <a:t>ASSESSMENT</a:t>
            </a:r>
          </a:p>
        </p:txBody>
      </p:sp>
      <p:sp>
        <p:nvSpPr>
          <p:cNvPr id="16" name="!!clv3"/>
          <p:cNvSpPr txBox="1"/>
          <p:nvPr/>
        </p:nvSpPr>
        <p:spPr>
          <a:xfrm>
            <a:off x="6507327" y="4059935"/>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Assignment 2 due</a:t>
            </a:r>
          </a:p>
        </p:txBody>
      </p:sp>
      <p:sp>
        <p:nvSpPr>
          <p:cNvPr id="1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Artificial Intelligence  ·  Chapter 13  ·  Rule-Based Expert Systems</a:t>
            </a:r>
          </a:p>
        </p:txBody>
      </p:sp>
      <p:sp>
        <p:nvSpPr>
          <p:cNvPr id="18" name="!!footR"/>
          <p:cNvSpPr txBox="1"/>
          <p:nvPr/>
        </p:nvSpPr>
        <p:spPr>
          <a:xfrm>
            <a:off x="6639595" y="6437376"/>
            <a:ext cx="4893731" cy="237744"/>
          </a:xfrm>
          <a:prstGeom prst="rect">
            <a:avLst/>
          </a:prstGeom>
          <a:noFill/>
        </p:spPr>
        <p:txBody>
          <a:bodyPr wrap="square" anchor="t" lIns="0" rIns="0" tIns="0" bIns="0">
            <a:noAutofit/>
          </a:bodyPr>
          <a:lstStyle/>
          <a:p>
            <a:pPr algn="r"/>
            <a:fld id="{ABD4106B-89AE-48C5-BDAD-869CF4DFEC0D}" type="slidenum">
              <a:rPr lang="en-GB" sz="1000">
                <a:solidFill>
                  <a:srgbClr val="D5DEE5"/>
                </a:solidFill>
                <a:latin typeface="Segoe UI"/>
              </a:rPr>
              <a:t>59</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theme/theme1.xml><?xml version="1.0" encoding="utf-8"?>
<a:theme xmlns:a="http://schemas.openxmlformats.org/drawingml/2006/main" name="Artificial Intelligence Fall 2026">
  <a:themeElements>
    <a:clrScheme name="Artificial Intelligence Fall 2026">
      <a:dk1>
        <a:srgbClr val="1C252B"/>
      </a:dk1>
      <a:lt1>
        <a:srgbClr val="FFFFFF"/>
      </a:lt1>
      <a:dk2>
        <a:srgbClr val="1A5276"/>
      </a:dk2>
      <a:lt2>
        <a:srgbClr val="EBF5FB"/>
      </a:lt2>
      <a:accent1>
        <a:srgbClr val="1A5276"/>
      </a:accent1>
      <a:accent2>
        <a:srgbClr val="2E86C1"/>
      </a:accent2>
      <a:accent3>
        <a:srgbClr val="E74C3C"/>
      </a:accent3>
      <a:accent4>
        <a:srgbClr val="27AE60"/>
      </a:accent4>
      <a:accent5>
        <a:srgbClr val="8E44AD"/>
      </a:accent5>
      <a:accent6>
        <a:srgbClr val="B7950B"/>
      </a:accent6>
      <a:hlink>
        <a:srgbClr val="2E86C1"/>
      </a:hlink>
      <a:folHlink>
        <a:srgbClr val="8E44AD"/>
      </a:folHlink>
    </a:clrScheme>
    <a:fontScheme name="Artificial Intelligence Fall 2026">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13: Rule-Based Expert Systems</dc:title>
  <dc:subject>Artificial Intelligence — Search, Knowledge and Reasoning · BSIT · Fall 2026</dc:subject>
  <dc:creator>Dr. Mustafa Hameed</dc:creator>
  <cp:keywords>artificial intelligence; lecture slides; BSIT; HEC; Fall 2026</cp:keywords>
  <dc:description>generated using python-pptx</dc:description>
  <cp:lastModifiedBy>Steve Canny</cp:lastModifiedBy>
  <cp:revision>1</cp:revision>
  <dcterms:created xsi:type="dcterms:W3CDTF">2013-01-27T09:14:16Z</dcterms:created>
  <dcterms:modified xsi:type="dcterms:W3CDTF">2013-01-27T09:15:58Z</dcterms:modified>
  <cp:category>Lecture slides</cp:category>
</cp:coreProperties>
</file>