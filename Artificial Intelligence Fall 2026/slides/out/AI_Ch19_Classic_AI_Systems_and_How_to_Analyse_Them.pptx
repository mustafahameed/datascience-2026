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7.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5AB24D-4FF6-4B53-A472-6F28A6773D64}">
          <p14:sldIdLst>
            <p14:sldId id="256"/>
            <p14:sldId id="257"/>
            <p14:sldId id="258"/>
            <p14:sldId id="259"/>
            <p14:sldId id="260"/>
          </p14:sldIdLst>
        </p14:section>
        <p14:section name="19.1 Four Systems, Four Mechanisms" id="{400607DF-1985-4109-8D0C-856FF3D22F58}">
          <p14:sldIdLst>
            <p14:sldId id="261"/>
          </p14:sldIdLst>
        </p14:section>
        <p14:section name="19.2 The General Problem Solver" id="{EC60AE6F-2624-4FF0-9459-06F4CDA779DB}">
          <p14:sldIdLst>
            <p14:sldId id="262"/>
          </p14:sldIdLst>
        </p14:section>
        <p14:section name="19.3 Eliza" id="{06C89DCB-B6D9-4851-8B61-FA8D9BA89407}">
          <p14:sldIdLst>
            <p14:sldId id="263"/>
          </p14:sldIdLst>
        </p14:section>
        <p14:section name="19.4 Student" id="{3FB03BAB-5A9E-49E2-9CA5-6808D5D8D2E9}">
          <p14:sldIdLst>
            <p14:sldId id="264"/>
          </p14:sldIdLst>
        </p14:section>
        <p14:section name="19.5 Macsyma" id="{0FA7449A-1207-4C10-997F-9DF2B526D78F}">
          <p14:sldIdLst>
            <p14:sldId id="265"/>
          </p14:sldIdLst>
        </p14:section>
        <p14:section name="19.6 A Framework for Analysing an AI System" id="{A5403EFE-0F02-47EB-94F4-59861DFF6AD1}">
          <p14:sldIdLst>
            <p14:sldId id="266"/>
            <p14:sldId id="267"/>
            <p14:sldId id="268"/>
            <p14:sldId id="269"/>
            <p14:sldId id="270"/>
            <p14:sldId id="271"/>
            <p14:sldId id="272"/>
          </p14:sldIdLst>
        </p14:section>
        <p14:section name="Pitfalls" id="{4B3E80C2-ACC1-492F-9416-D54DBB4F7210}">
          <p14:sldIdLst>
            <p14:sldId id="273"/>
          </p14:sldIdLst>
        </p14:section>
        <p14:section name="Lab" id="{DCF31A3E-AEB8-4182-9A55-EEC6414A3845}">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eckpoint" id="{E1FD62C3-80A5-4435-8A06-E1EFE95F66C3}">
          <p14:sldIdLst>
            <p14:sldId id="298"/>
            <p14:sldId id="299"/>
            <p14:sldId id="300"/>
            <p14:sldId id="301"/>
            <p14:sldId id="302"/>
            <p14:sldId id="303"/>
          </p14:sldIdLst>
        </p14:section>
        <p14:section name="Wrap-up" id="{604D5A8C-AEEF-4FC3-B486-358C183501FC}">
          <p14:sldIdLst>
            <p14:sldId id="304"/>
            <p14:sldId id="305"/>
            <p14:sldId id="306"/>
            <p14:sldId id="307"/>
            <p14:sldId id="308"/>
            <p14:sldId id="309"/>
            <p14:sldId id="310"/>
            <p14:sldId id="31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19: Classic AI Systems and How to Analyse Them. Part 6 — Learning, Language and Responsible AI. Week 15: Natural language processing; classic AI systems. Handout pages 197–207.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9 (means–ends analysis), Chapter 12 (unification), Chapter 13 (rule rewriting) and Chapter 18 (pattern substitution). This chapter introduces no new machinery: everything it builds,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General Problem Solver; Eliza; Student; Macsyma; means–ends analysis; pattern substitution; term rewriting; microworld; the Eliza effect; system analysis; failure mode; knowledge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HEC 2023 outline names four programs as required case studies. They were built between 1961 and 1968, they were each spectacular at the time, and each one is essentially a single mechanism applied with taste. That is the point of this chapter, and it is why it comes last. You can now build all four — not simplified versions, but the actual mechanisms — because you already have the parts.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Newell and Simon’s GPS (1961) was the first program explicitly intended to be general: a single solver, given a description of a domain, that would work on any problem in it. Its engine was means–ends analysis — find a difference between the current state and the goal, select an operator that reduces that difference, and recursively achieve that operator’s preconditions. Chapter 9 built exactly this, and measured it: on the four-component release problem it found an optimal plan considering 187 operators where progression search expanded 1,163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Bobrow’s Student (1964) read algebra word problems written in English and solved them. The example everyone quotes is about ages and uncles; the delivery equivalent would be: the sprint has twice as many bugs as stories . the number of stories is 12 . how many bugs does the sprint have ? Student worked in two stages. Patterns turned English fragments into equations — twice as many X as Y became X = 2Y, the number of X is N became X = N — and then an ordinary equation solver did the algebra. Answer: 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Macsyma (from 1968, at MIT) did symbolic mathematics: it manipulated algebraic expressions as structures rather than evaluating them numerically. It could differentiate, integrate, factor and simplify, and it remained in serious scientific use for decades. Its descendants are Maxima, Mathematica and SymPy. The core is term rewriting: represent an expression as a tree, and repeatedly apply identities as rewrite rules until none applies.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HEC 2017 outline asks for analysis of AI systems, not merely description. Here is a framework that works on any of them, including ones you did not build and whose internals you cannot see.</a:t>
            </a:r>
          </a:p>
          <a:p/>
          <a:p>
            <a:r>
              <a:t>Figure 19.1 (handout p. 201): Six columns for analysing an AI system. Applying them to a system you did not build is the skill this chapter is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four reconstructed with machinery from earlier chapters, then the analysis table printed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GPS is means–ends analysis (Chapter 9); Eliza is pattern substitution (Chapter 18); Student is pattern matching into equations, which is Chapter 12’s unification restricted to strings; Macsyma is term rewriting, which is Chapter 13’s forward chaining applied to expression trees rather than to facts.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GPS’s failure is legible: it stops and says it has no plan, so a person knows to look. Eliza always has a reply, so nothing distinguishes a case it handled well from one it did not handle at all, and the user has no signal to act on. The consequence for evaluating a modern language system is direct: it too always produces output, so the fluency of a response carries no information about whether it is grounded, and evaluation must come from an external check — a test suite, a type checker, a retrieved source — rather than from reading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person, writing it down by hand. It predicts that the system will work well in the region somebody took the trouble to encode and will need a person for every extension — so as the business changes, the system’s coverage falls behind at whatever rate knowledge engineers can be hired and briefed. That is the knowledge acquisition bottleneck, and it is the reason all four of these systems have the biographies they do.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20 — Recent Trends and Applications. READ: Handout Chapter 19, pages 197–207. THIS WEEK'S LAB: Parsing ticket subjects; four systems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3.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7.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3.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7.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4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2.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3.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4.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55.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0.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1.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2.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3.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5.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4.png"/><Relationship Id="rId3" Type="http://schemas.openxmlformats.org/officeDocument/2006/relationships/image" Target="../media/image66.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9.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0.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1.sv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2.sv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19</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Classic AI Systems and How to Analyse Them</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LEARNING, LANGUAGE AND RESPONSIBLE AI</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19  ·  WEEK 15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197     </a:t>
            </a:r>
            <a:fld id="{2D28DC57-067D-40A3-834A-19AA329DF8E3}"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8701264"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8701264" y="2029967"/>
            <a:ext cx="2713191"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48062"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566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5758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9661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741435"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6499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50961"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5952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69632"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69632"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Classic AI Systems and How to Analyse Them</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9">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9">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9"/>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Planning</a:t>
            </a:r>
          </a:p>
        </p:txBody>
      </p:sp>
      <p:sp>
        <p:nvSpPr>
          <p:cNvPr id="68" name="!!chipBU12">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2">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2"/>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12  </a:t>
            </a:r>
            <a:r>
              <a:rPr sz="1400" b="0" i="0">
                <a:solidFill>
                  <a:srgbClr val="1C252B"/>
                </a:solidFill>
                <a:latin typeface="Segoe UI"/>
              </a:rPr>
              <a:t>First-Order Logic and Resolution</a:t>
            </a:r>
          </a:p>
        </p:txBody>
      </p:sp>
      <p:sp>
        <p:nvSpPr>
          <p:cNvPr id="71" name="!!chipBU13">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3">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3"/>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13  </a:t>
            </a:r>
            <a:r>
              <a:rPr sz="1400" b="0" i="0">
                <a:solidFill>
                  <a:srgbClr val="1C252B"/>
                </a:solidFill>
                <a:latin typeface="Segoe UI"/>
              </a:rPr>
              <a:t>Rule-Based Expert Systems</a:t>
            </a:r>
          </a:p>
        </p:txBody>
      </p:sp>
      <p:sp>
        <p:nvSpPr>
          <p:cNvPr id="74" name="!!chipBU18">
            <a:extLst>
              <a:ext uri="{C183D7F6-B498-43B3-948B-1728B52AA6E4}">
                <adec:decorative xmlns:adec="http://schemas.microsoft.com/office/drawing/2017/decorative" val="1"/>
              </a:ext>
            </a:extLst>
          </p:cNvPr>
          <p:cNvSpPr/>
          <p:nvPr/>
        </p:nvSpPr>
        <p:spPr>
          <a:xfrm>
            <a:off x="658368"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BU18">
            <a:extLst>
              <a:ext uri="{C183D7F6-B498-43B3-948B-1728B52AA6E4}">
                <adec:decorative xmlns:adec="http://schemas.microsoft.com/office/drawing/2017/decorative" val="1"/>
              </a:ext>
            </a:extLst>
          </p:cNvPr>
          <p:cNvSpPr/>
          <p:nvPr/>
        </p:nvSpPr>
        <p:spPr>
          <a:xfrm>
            <a:off x="658368"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BU18"/>
          <p:cNvSpPr txBox="1"/>
          <p:nvPr/>
        </p:nvSpPr>
        <p:spPr>
          <a:xfrm>
            <a:off x="859536"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18  </a:t>
            </a:r>
            <a:r>
              <a:rPr sz="1400" b="0" i="0">
                <a:solidFill>
                  <a:srgbClr val="1C252B"/>
                </a:solidFill>
                <a:latin typeface="Segoe UI"/>
              </a:rPr>
              <a:t>Natural Language Processing</a:t>
            </a:r>
          </a:p>
        </p:txBody>
      </p:sp>
      <p:sp>
        <p:nvSpPr>
          <p:cNvPr id="77"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8" name="!!chipUS20">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0">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0"/>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3541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197     </a:t>
            </a:r>
            <a:fld id="{8E6400E1-4B71-4551-83D2-B5A85A5027A2}"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Describe</a:t>
            </a:r>
            <a:r>
              <a:rPr sz="2100" b="0" i="0">
                <a:solidFill>
                  <a:srgbClr val="1C252B"/>
                </a:solidFill>
                <a:latin typeface="Segoe UI"/>
              </a:rPr>
              <a:t> the General Problem Solver, Eliza, Student and Macsyma, and </a:t>
            </a:r>
            <a:r>
              <a:rPr sz="2100" b="1" i="0">
                <a:solidFill>
                  <a:srgbClr val="1C252B"/>
                </a:solidFill>
                <a:latin typeface="Segoe UI"/>
              </a:rPr>
              <a:t>identify</a:t>
            </a:r>
            <a:r>
              <a:rPr sz="2100" b="0" i="0">
                <a:solidFill>
                  <a:srgbClr val="1C252B"/>
                </a:solidFill>
                <a:latin typeface="Segoe UI"/>
              </a:rPr>
              <a:t> the single mechanism each one rests on.</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Reconstruct</a:t>
            </a:r>
            <a:r>
              <a:rPr sz="2100" b="0" i="0">
                <a:solidFill>
                  <a:srgbClr val="1C252B"/>
                </a:solidFill>
                <a:latin typeface="Segoe UI"/>
              </a:rPr>
              <a:t> each of them in a few dozen lines using machinery from earlier chapters.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Apply</a:t>
            </a:r>
            <a:r>
              <a:rPr sz="2100" b="0" i="0">
                <a:solidFill>
                  <a:srgbClr val="1C252B"/>
                </a:solidFill>
                <a:latin typeface="Segoe UI"/>
              </a:rPr>
              <a:t> a six-column framework — task, environment, representation, inference, knowledge source, failure mode — to analyse any AI system.</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Explain</a:t>
            </a:r>
            <a:r>
              <a:rPr sz="2100" b="0" i="0">
                <a:solidFill>
                  <a:srgbClr val="1C252B"/>
                </a:solidFill>
                <a:latin typeface="Segoe UI"/>
              </a:rPr>
              <a:t> what each system was mistaken for at the time, and why.</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Use</a:t>
            </a:r>
            <a:r>
              <a:rPr sz="2100" b="0" i="0">
                <a:solidFill>
                  <a:srgbClr val="1C252B"/>
                </a:solidFill>
                <a:latin typeface="Segoe UI"/>
              </a:rPr>
              <a:t> the framework on a system you did not build.</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5312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197     </a:t>
            </a:r>
            <a:fld id="{CBD317F0-1404-47FE-AE02-1A9D3821DDF2}" type="slidenum">
              <a:rPr lang="en-GB" sz="1000">
                <a:solidFill>
                  <a:srgbClr val="8795A1"/>
                </a:solidFill>
                <a:latin typeface="Segoe UI"/>
              </a:rPr>
              <a:t>4</a:t>
            </a:fld>
          </a:p>
        </p:txBody>
      </p:sp>
      <p:sp>
        <p:nvSpPr>
          <p:cNvPr id="7" name="!!term-General Proble">
            <a:extLst>
              <a:ext uri="{C183D7F6-B498-43B3-948B-1728B52AA6E4}">
                <adec:decorative xmlns:adec="http://schemas.microsoft.com/office/drawing/2017/decorative" val="1"/>
              </a:ext>
            </a:extLst>
          </p:cNvPr>
          <p:cNvSpPr/>
          <p:nvPr/>
        </p:nvSpPr>
        <p:spPr>
          <a:xfrm>
            <a:off x="658368" y="1847088"/>
            <a:ext cx="27207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General Probl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General Proble"/>
          <p:cNvSpPr txBox="1"/>
          <p:nvPr/>
        </p:nvSpPr>
        <p:spPr>
          <a:xfrm>
            <a:off x="950976" y="1955291"/>
            <a:ext cx="253786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General Problem Solver</a:t>
            </a:r>
          </a:p>
        </p:txBody>
      </p:sp>
      <p:sp>
        <p:nvSpPr>
          <p:cNvPr id="10" name="!!term-Eliza">
            <a:extLst>
              <a:ext uri="{C183D7F6-B498-43B3-948B-1728B52AA6E4}">
                <adec:decorative xmlns:adec="http://schemas.microsoft.com/office/drawing/2017/decorative" val="1"/>
              </a:ext>
            </a:extLst>
          </p:cNvPr>
          <p:cNvSpPr/>
          <p:nvPr/>
        </p:nvSpPr>
        <p:spPr>
          <a:xfrm>
            <a:off x="3525417" y="1847088"/>
            <a:ext cx="8685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Eliza">
            <a:extLst>
              <a:ext uri="{C183D7F6-B498-43B3-948B-1728B52AA6E4}">
                <adec:decorative xmlns:adec="http://schemas.microsoft.com/office/drawing/2017/decorative" val="1"/>
              </a:ext>
            </a:extLst>
          </p:cNvPr>
          <p:cNvSpPr/>
          <p:nvPr/>
        </p:nvSpPr>
        <p:spPr>
          <a:xfrm>
            <a:off x="365343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Eliza"/>
          <p:cNvSpPr txBox="1"/>
          <p:nvPr/>
        </p:nvSpPr>
        <p:spPr>
          <a:xfrm>
            <a:off x="3818025" y="1955291"/>
            <a:ext cx="685677"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Eliza</a:t>
            </a:r>
          </a:p>
        </p:txBody>
      </p:sp>
      <p:sp>
        <p:nvSpPr>
          <p:cNvPr id="13" name="!!term-Student">
            <a:extLst>
              <a:ext uri="{C183D7F6-B498-43B3-948B-1728B52AA6E4}">
                <adec:decorative xmlns:adec="http://schemas.microsoft.com/office/drawing/2017/decorative" val="1"/>
              </a:ext>
            </a:extLst>
          </p:cNvPr>
          <p:cNvSpPr/>
          <p:nvPr/>
        </p:nvSpPr>
        <p:spPr>
          <a:xfrm>
            <a:off x="4540278" y="1847088"/>
            <a:ext cx="11992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tudent">
            <a:extLst>
              <a:ext uri="{C183D7F6-B498-43B3-948B-1728B52AA6E4}">
                <adec:decorative xmlns:adec="http://schemas.microsoft.com/office/drawing/2017/decorative" val="1"/>
              </a:ext>
            </a:extLst>
          </p:cNvPr>
          <p:cNvSpPr/>
          <p:nvPr/>
        </p:nvSpPr>
        <p:spPr>
          <a:xfrm>
            <a:off x="466829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tudent"/>
          <p:cNvSpPr txBox="1"/>
          <p:nvPr/>
        </p:nvSpPr>
        <p:spPr>
          <a:xfrm>
            <a:off x="4832886" y="1955291"/>
            <a:ext cx="1016334"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Student</a:t>
            </a:r>
          </a:p>
        </p:txBody>
      </p:sp>
      <p:sp>
        <p:nvSpPr>
          <p:cNvPr id="16" name="!!term-Macsyma">
            <a:extLst>
              <a:ext uri="{C183D7F6-B498-43B3-948B-1728B52AA6E4}">
                <adec:decorative xmlns:adec="http://schemas.microsoft.com/office/drawing/2017/decorative" val="1"/>
              </a:ext>
            </a:extLst>
          </p:cNvPr>
          <p:cNvSpPr/>
          <p:nvPr/>
        </p:nvSpPr>
        <p:spPr>
          <a:xfrm>
            <a:off x="5885797" y="1847088"/>
            <a:ext cx="13521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Macsyma">
            <a:extLst>
              <a:ext uri="{C183D7F6-B498-43B3-948B-1728B52AA6E4}">
                <adec:decorative xmlns:adec="http://schemas.microsoft.com/office/drawing/2017/decorative" val="1"/>
              </a:ext>
            </a:extLst>
          </p:cNvPr>
          <p:cNvSpPr/>
          <p:nvPr/>
        </p:nvSpPr>
        <p:spPr>
          <a:xfrm>
            <a:off x="601381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Macsyma"/>
          <p:cNvSpPr txBox="1"/>
          <p:nvPr/>
        </p:nvSpPr>
        <p:spPr>
          <a:xfrm>
            <a:off x="6178405" y="1955291"/>
            <a:ext cx="116927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Macsyma</a:t>
            </a:r>
          </a:p>
        </p:txBody>
      </p:sp>
      <p:sp>
        <p:nvSpPr>
          <p:cNvPr id="19" name="!!term-means–ends ana">
            <a:extLst>
              <a:ext uri="{C183D7F6-B498-43B3-948B-1728B52AA6E4}">
                <adec:decorative xmlns:adec="http://schemas.microsoft.com/office/drawing/2017/decorative" val="1"/>
              </a:ext>
            </a:extLst>
          </p:cNvPr>
          <p:cNvSpPr/>
          <p:nvPr/>
        </p:nvSpPr>
        <p:spPr>
          <a:xfrm>
            <a:off x="7384257" y="1847088"/>
            <a:ext cx="24558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means–ends ana">
            <a:extLst>
              <a:ext uri="{C183D7F6-B498-43B3-948B-1728B52AA6E4}">
                <adec:decorative xmlns:adec="http://schemas.microsoft.com/office/drawing/2017/decorative" val="1"/>
              </a:ext>
            </a:extLst>
          </p:cNvPr>
          <p:cNvSpPr/>
          <p:nvPr/>
        </p:nvSpPr>
        <p:spPr>
          <a:xfrm>
            <a:off x="751227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means–ends ana"/>
          <p:cNvSpPr txBox="1"/>
          <p:nvPr/>
        </p:nvSpPr>
        <p:spPr>
          <a:xfrm>
            <a:off x="7676865" y="1955291"/>
            <a:ext cx="227300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means–ends analysis</a:t>
            </a:r>
          </a:p>
        </p:txBody>
      </p:sp>
      <p:sp>
        <p:nvSpPr>
          <p:cNvPr id="22" name="!!term-pattern substi">
            <a:extLst>
              <a:ext uri="{C183D7F6-B498-43B3-948B-1728B52AA6E4}">
                <adec:decorative xmlns:adec="http://schemas.microsoft.com/office/drawing/2017/decorative" val="1"/>
              </a:ext>
            </a:extLst>
          </p:cNvPr>
          <p:cNvSpPr/>
          <p:nvPr/>
        </p:nvSpPr>
        <p:spPr>
          <a:xfrm>
            <a:off x="658368" y="2468880"/>
            <a:ext cx="23562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pattern substi">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pattern substi"/>
          <p:cNvSpPr txBox="1"/>
          <p:nvPr/>
        </p:nvSpPr>
        <p:spPr>
          <a:xfrm>
            <a:off x="950976" y="2577084"/>
            <a:ext cx="2173390"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pattern substitution</a:t>
            </a:r>
          </a:p>
        </p:txBody>
      </p:sp>
      <p:sp>
        <p:nvSpPr>
          <p:cNvPr id="25" name="!!term-term rewriting">
            <a:extLst>
              <a:ext uri="{C183D7F6-B498-43B3-948B-1728B52AA6E4}">
                <adec:decorative xmlns:adec="http://schemas.microsoft.com/office/drawing/2017/decorative" val="1"/>
              </a:ext>
            </a:extLst>
          </p:cNvPr>
          <p:cNvSpPr/>
          <p:nvPr/>
        </p:nvSpPr>
        <p:spPr>
          <a:xfrm>
            <a:off x="3160942" y="2468880"/>
            <a:ext cx="181849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term rewriting">
            <a:extLst>
              <a:ext uri="{C183D7F6-B498-43B3-948B-1728B52AA6E4}">
                <adec:decorative xmlns:adec="http://schemas.microsoft.com/office/drawing/2017/decorative" val="1"/>
              </a:ext>
            </a:extLst>
          </p:cNvPr>
          <p:cNvSpPr/>
          <p:nvPr/>
        </p:nvSpPr>
        <p:spPr>
          <a:xfrm>
            <a:off x="32889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term rewriting"/>
          <p:cNvSpPr txBox="1"/>
          <p:nvPr/>
        </p:nvSpPr>
        <p:spPr>
          <a:xfrm>
            <a:off x="3453550" y="2577084"/>
            <a:ext cx="163561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term rewriting</a:t>
            </a:r>
          </a:p>
        </p:txBody>
      </p:sp>
      <p:sp>
        <p:nvSpPr>
          <p:cNvPr id="28" name="!!term-microworld">
            <a:extLst>
              <a:ext uri="{C183D7F6-B498-43B3-948B-1728B52AA6E4}">
                <adec:decorative xmlns:adec="http://schemas.microsoft.com/office/drawing/2017/decorative" val="1"/>
              </a:ext>
            </a:extLst>
          </p:cNvPr>
          <p:cNvSpPr/>
          <p:nvPr/>
        </p:nvSpPr>
        <p:spPr>
          <a:xfrm>
            <a:off x="5125745" y="2468880"/>
            <a:ext cx="15370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microworld">
            <a:extLst>
              <a:ext uri="{C183D7F6-B498-43B3-948B-1728B52AA6E4}">
                <adec:decorative xmlns:adec="http://schemas.microsoft.com/office/drawing/2017/decorative" val="1"/>
              </a:ext>
            </a:extLst>
          </p:cNvPr>
          <p:cNvSpPr/>
          <p:nvPr/>
        </p:nvSpPr>
        <p:spPr>
          <a:xfrm>
            <a:off x="525376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microworld"/>
          <p:cNvSpPr txBox="1"/>
          <p:nvPr/>
        </p:nvSpPr>
        <p:spPr>
          <a:xfrm>
            <a:off x="5418353" y="2577084"/>
            <a:ext cx="1354204"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microworld</a:t>
            </a:r>
          </a:p>
        </p:txBody>
      </p:sp>
      <p:sp>
        <p:nvSpPr>
          <p:cNvPr id="31" name="!!term-the Eliza effe">
            <a:extLst>
              <a:ext uri="{C183D7F6-B498-43B3-948B-1728B52AA6E4}">
                <adec:decorative xmlns:adec="http://schemas.microsoft.com/office/drawing/2017/decorative" val="1"/>
              </a:ext>
            </a:extLst>
          </p:cNvPr>
          <p:cNvSpPr/>
          <p:nvPr/>
        </p:nvSpPr>
        <p:spPr>
          <a:xfrm>
            <a:off x="6809133" y="2468880"/>
            <a:ext cx="18483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the Eliza effe">
            <a:extLst>
              <a:ext uri="{C183D7F6-B498-43B3-948B-1728B52AA6E4}">
                <adec:decorative xmlns:adec="http://schemas.microsoft.com/office/drawing/2017/decorative" val="1"/>
              </a:ext>
            </a:extLst>
          </p:cNvPr>
          <p:cNvSpPr/>
          <p:nvPr/>
        </p:nvSpPr>
        <p:spPr>
          <a:xfrm>
            <a:off x="693714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the Eliza effe"/>
          <p:cNvSpPr txBox="1"/>
          <p:nvPr/>
        </p:nvSpPr>
        <p:spPr>
          <a:xfrm>
            <a:off x="7101741" y="2577084"/>
            <a:ext cx="1665427"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the Eliza effect</a:t>
            </a:r>
          </a:p>
        </p:txBody>
      </p:sp>
      <p:sp>
        <p:nvSpPr>
          <p:cNvPr id="34" name="!!term-system analysi">
            <a:extLst>
              <a:ext uri="{C183D7F6-B498-43B3-948B-1728B52AA6E4}">
                <adec:decorative xmlns:adec="http://schemas.microsoft.com/office/drawing/2017/decorative" val="1"/>
              </a:ext>
            </a:extLst>
          </p:cNvPr>
          <p:cNvSpPr/>
          <p:nvPr/>
        </p:nvSpPr>
        <p:spPr>
          <a:xfrm>
            <a:off x="8803744" y="2468880"/>
            <a:ext cx="19207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ystem analysi">
            <a:extLst>
              <a:ext uri="{C183D7F6-B498-43B3-948B-1728B52AA6E4}">
                <adec:decorative xmlns:adec="http://schemas.microsoft.com/office/drawing/2017/decorative" val="1"/>
              </a:ext>
            </a:extLst>
          </p:cNvPr>
          <p:cNvSpPr/>
          <p:nvPr/>
        </p:nvSpPr>
        <p:spPr>
          <a:xfrm>
            <a:off x="893176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ystem analysi"/>
          <p:cNvSpPr txBox="1"/>
          <p:nvPr/>
        </p:nvSpPr>
        <p:spPr>
          <a:xfrm>
            <a:off x="9096352" y="2577084"/>
            <a:ext cx="173785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system analysis</a:t>
            </a:r>
          </a:p>
        </p:txBody>
      </p:sp>
      <p:sp>
        <p:nvSpPr>
          <p:cNvPr id="37" name="!!term-failure mode">
            <a:extLst>
              <a:ext uri="{C183D7F6-B498-43B3-948B-1728B52AA6E4}">
                <adec:decorative xmlns:adec="http://schemas.microsoft.com/office/drawing/2017/decorative" val="1"/>
              </a:ext>
            </a:extLst>
          </p:cNvPr>
          <p:cNvSpPr/>
          <p:nvPr/>
        </p:nvSpPr>
        <p:spPr>
          <a:xfrm>
            <a:off x="658368" y="3090672"/>
            <a:ext cx="166680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ailure mod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ailure mode"/>
          <p:cNvSpPr txBox="1"/>
          <p:nvPr/>
        </p:nvSpPr>
        <p:spPr>
          <a:xfrm>
            <a:off x="950976" y="3198876"/>
            <a:ext cx="1483922"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failure mode</a:t>
            </a:r>
          </a:p>
        </p:txBody>
      </p:sp>
      <p:sp>
        <p:nvSpPr>
          <p:cNvPr id="40" name="!!term-knowledge sour">
            <a:extLst>
              <a:ext uri="{C183D7F6-B498-43B3-948B-1728B52AA6E4}">
                <adec:decorative xmlns:adec="http://schemas.microsoft.com/office/drawing/2017/decorative" val="1"/>
              </a:ext>
            </a:extLst>
          </p:cNvPr>
          <p:cNvSpPr/>
          <p:nvPr/>
        </p:nvSpPr>
        <p:spPr>
          <a:xfrm>
            <a:off x="2471474" y="3090672"/>
            <a:ext cx="22052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knowledge sour">
            <a:extLst>
              <a:ext uri="{C183D7F6-B498-43B3-948B-1728B52AA6E4}">
                <adec:decorative xmlns:adec="http://schemas.microsoft.com/office/drawing/2017/decorative" val="1"/>
              </a:ext>
            </a:extLst>
          </p:cNvPr>
          <p:cNvSpPr/>
          <p:nvPr/>
        </p:nvSpPr>
        <p:spPr>
          <a:xfrm>
            <a:off x="259949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knowledge sour"/>
          <p:cNvSpPr txBox="1"/>
          <p:nvPr/>
        </p:nvSpPr>
        <p:spPr>
          <a:xfrm>
            <a:off x="2764082" y="3198876"/>
            <a:ext cx="202235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knowledge source</a:t>
            </a:r>
          </a:p>
        </p:txBody>
      </p:sp>
      <p:sp>
        <p:nvSpPr>
          <p:cNvPr id="43"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fill">
            <a:extLst>
              <a:ext uri="{C183D7F6-B498-43B3-948B-1728B52AA6E4}">
                <adec:decorative xmlns:adec="http://schemas.microsoft.com/office/drawing/2017/decorative" val="1"/>
              </a:ext>
            </a:extLst>
          </p:cNvPr>
          <p:cNvSpPr/>
          <p:nvPr/>
        </p:nvSpPr>
        <p:spPr>
          <a:xfrm>
            <a:off x="0" y="0"/>
            <a:ext cx="87083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197–207     </a:t>
            </a:r>
            <a:fld id="{B33C4C2D-A996-4F16-9FC2-60DBEF6369B4}" type="slidenum">
              <a:rPr lang="en-GB" sz="1000">
                <a:solidFill>
                  <a:srgbClr val="8795A1"/>
                </a:solidFill>
                <a:latin typeface="Segoe UI"/>
              </a:rPr>
              <a:t>5</a:t>
            </a:fld>
          </a:p>
        </p:txBody>
      </p:sp>
      <p:sp>
        <p:nvSpPr>
          <p:cNvPr id="7" name="!!ag0" descr="Go to section 19.1 Four Systems, Four Mechanism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Four Systems, Four Mechanisms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197  ›</a:t>
            </a:r>
          </a:p>
        </p:txBody>
      </p:sp>
      <p:sp>
        <p:nvSpPr>
          <p:cNvPr id="12" name="!!ag1" descr="Go to section 19.2 The General Problem Solver">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General Problem Solver</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198  ›</a:t>
            </a:r>
          </a:p>
        </p:txBody>
      </p:sp>
      <p:sp>
        <p:nvSpPr>
          <p:cNvPr id="17" name="!!ag2" descr="Go to section 19.3 Eliza">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Eliza</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198  ›</a:t>
            </a:r>
          </a:p>
        </p:txBody>
      </p:sp>
      <p:sp>
        <p:nvSpPr>
          <p:cNvPr id="22" name="!!ag3" descr="Go to section 19.4 Student">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Student</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198  ›</a:t>
            </a:r>
          </a:p>
        </p:txBody>
      </p:sp>
      <p:sp>
        <p:nvSpPr>
          <p:cNvPr id="27" name="!!ag4" descr="Go to section 19.5 Macsyma">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Macsyma</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199  ›</a:t>
            </a:r>
          </a:p>
        </p:txBody>
      </p:sp>
      <p:sp>
        <p:nvSpPr>
          <p:cNvPr id="32" name="!!ag5" descr="Go to section 19.6 A Framework for Analysing an AI System">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19.6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Framework for Analysing an AI System</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199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8854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Systems, Four Mechanisms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§19.1  ·  Handout p. 197     </a:t>
            </a:r>
            <a:fld id="{6A801049-6E13-477A-A04C-00B7A1502E33}" type="slidenum">
              <a:rPr lang="en-GB" sz="1000">
                <a:solidFill>
                  <a:srgbClr val="8795A1"/>
                </a:solidFill>
                <a:latin typeface="Segoe UI"/>
              </a:rPr>
              <a:t>6</a:t>
            </a:fld>
          </a:p>
        </p:txBody>
      </p:sp>
      <p:graphicFrame>
        <p:nvGraphicFramePr>
          <p:cNvPr id="7" name="!!table"/>
          <p:cNvGraphicFramePr>
            <a:graphicFrameLocks noGrp="1"/>
          </p:cNvGraphicFramePr>
          <p:nvPr/>
        </p:nvGraphicFramePr>
        <p:xfrm>
          <a:off x="658368" y="1737360"/>
          <a:ext cx="10874957" cy="4099560"/>
        </p:xfrm>
        <a:graphic>
          <a:graphicData uri="http://schemas.openxmlformats.org/drawingml/2006/table">
            <a:tbl>
              <a:tblPr firstRow="0" bandRow="0" firstCol="0" lastRow="0" lastCol="0" bandCol="0">
                <a:tableStyleId>{2D5ABB26-0587-4C30-8999-92F81FD0307C}</a:tableStyleId>
              </a:tblPr>
              <a:tblGrid>
                <a:gridCol w="1799993"/>
                <a:gridCol w="1124995"/>
                <a:gridCol w="3299987"/>
                <a:gridCol w="4649982"/>
              </a:tblGrid>
              <a:tr h="405384">
                <a:tc>
                  <a:txBody>
                    <a:bodyPr wrap="square"/>
                    <a:lstStyle/>
                    <a:p>
                      <a:pPr algn="l"/>
                      <a:r>
                        <a:rPr sz="1700" b="1" i="0">
                          <a:solidFill>
                            <a:srgbClr val="1A5276"/>
                          </a:solidFill>
                          <a:latin typeface="Segoe UI"/>
                        </a:rPr>
                        <a:t>System</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Year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The mechanism</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Where you built it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1182624">
                <a:tc>
                  <a:txBody>
                    <a:bodyPr wrap="square"/>
                    <a:lstStyle/>
                    <a:p>
                      <a:pPr algn="l"/>
                      <a:r>
                        <a:rPr sz="1700" b="0" i="0">
                          <a:solidFill>
                            <a:srgbClr val="1C252B"/>
                          </a:solidFill>
                          <a:latin typeface="Segoe UI"/>
                        </a:rPr>
                        <a:t>General Problem Solver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1961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Means–ends analysis: reduce the difference between where you are and where you want to be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Chapter 9, where it solved the release-planning problem</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Eliza</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1966</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Pattern substitution with pronoun reflection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Chapter 18, in about thirty lines</a:t>
                      </a:r>
                      <a:endParaRPr sz="1700"/>
                    </a:p>
                  </a:txBody>
                  <a:tcPr marL="109728" marR="109728" marT="64008" marB="45720" anchor="t">
                    <a:lnL w="0" cmpd="sng">
                      <a:noFill/>
                    </a:lnL>
                    <a:lnR w="0" cmpd="sng">
                      <a:noFill/>
                    </a:lnR>
                    <a:lnT w="9525" cmpd="sng">
                      <a:noFill/>
                    </a:lnT>
                    <a:lnB w="9525" cmpd="sng">
                      <a:noFill/>
                    </a:lnB>
                    <a:solidFill>
                      <a:srgbClr val="F2F8FC"/>
                    </a:solidFill>
                  </a:tcPr>
                </a:tc>
              </a:tr>
              <a:tr h="923544">
                <a:tc>
                  <a:txBody>
                    <a:bodyPr wrap="square"/>
                    <a:lstStyle/>
                    <a:p>
                      <a:pPr algn="l"/>
                      <a:r>
                        <a:rPr sz="1700" b="0" i="0">
                          <a:solidFill>
                            <a:srgbClr val="1C252B"/>
                          </a:solidFill>
                          <a:latin typeface="Segoe UI"/>
                        </a:rPr>
                        <a:t>Student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1964</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Pattern matching from English into simultaneous equations, then algebra</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Chapter 12’s unification, restricted to strings</a:t>
                      </a:r>
                      <a:endParaRPr sz="1700"/>
                    </a:p>
                  </a:txBody>
                  <a:tcPr marL="109728" marR="109728" marT="64008" marB="45720" anchor="t">
                    <a:lnL w="0" cmpd="sng">
                      <a:noFill/>
                    </a:lnL>
                    <a:lnR w="0" cmpd="sng">
                      <a:noFill/>
                    </a:lnR>
                    <a:lnT w="9525" cmpd="sng">
                      <a:noFill/>
                    </a:lnT>
                    <a:lnB w="9525" cmpd="sng">
                      <a:noFill/>
                    </a:lnB>
                    <a:solidFill>
                      <a:srgbClr val="FFFFFF"/>
                    </a:solidFill>
                  </a:tcPr>
                </a:tc>
              </a:tr>
              <a:tr h="923544">
                <a:tc>
                  <a:txBody>
                    <a:bodyPr wrap="square"/>
                    <a:lstStyle/>
                    <a:p>
                      <a:pPr algn="l"/>
                      <a:r>
                        <a:rPr sz="1700" b="0" i="0">
                          <a:solidFill>
                            <a:srgbClr val="1C252B"/>
                          </a:solidFill>
                          <a:latin typeface="Segoe UI"/>
                        </a:rPr>
                        <a:t>Macsyma</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1968</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Term rewriting: apply algebraic identities as rules until nothing applies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Chapter 13’s forward chaining, over expressions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130625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General Problem Solver</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§19.2  ·  Handout p. 198     </a:t>
            </a:r>
            <a:fld id="{AFB7CD91-60F2-4AB3-BA07-6487345F806F}"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63314"/>
          </a:xfrm>
          <a:prstGeom prst="roundRect">
            <a:avLst>
              <a:gd name="adj" fmla="val 225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6331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GPS was also a claim about </a:t>
            </a:r>
            <a:r>
              <a:rPr sz="2300" b="0" i="1">
                <a:solidFill>
                  <a:srgbClr val="1C252B"/>
                </a:solidFill>
                <a:latin typeface="Segoe UI"/>
              </a:rPr>
              <a:t>people</a:t>
            </a:r>
            <a:r>
              <a:rPr sz="2300" b="0" i="0">
                <a:solidFill>
                  <a:srgbClr val="1C252B"/>
                </a:solidFill>
                <a:latin typeface="Segoe UI"/>
              </a:rPr>
              <a:t>. Newell and Simon collected think-aloud protocols from human subjects solving puzzles and argued that the traces matched what GPS did — which places it in the </a:t>
            </a:r>
            <a:r>
              <a:rPr sz="2300" b="0" i="1">
                <a:solidFill>
                  <a:srgbClr val="1C252B"/>
                </a:solidFill>
                <a:latin typeface="Segoe UI"/>
              </a:rPr>
              <a:t>thinking humanly</a:t>
            </a:r>
            <a:r>
              <a:rPr sz="2300" b="0" i="0">
                <a:solidFill>
                  <a:srgbClr val="1C252B"/>
                </a:solidFill>
                <a:latin typeface="Segoe UI"/>
              </a:rPr>
              <a:t> quadrant of Figure 1.1, not the </a:t>
            </a:r>
            <a:r>
              <a:rPr sz="2300" b="0" i="1">
                <a:solidFill>
                  <a:srgbClr val="1C252B"/>
                </a:solidFill>
                <a:latin typeface="Segoe UI"/>
              </a:rPr>
              <a:t>acting rationally</a:t>
            </a:r>
            <a:r>
              <a:rPr sz="2300" b="0" i="0">
                <a:solidFill>
                  <a:srgbClr val="1C252B"/>
                </a:solidFill>
                <a:latin typeface="Segoe UI"/>
              </a:rPr>
              <a:t> one this course otherwise inhabits.</a:t>
            </a:r>
          </a:p>
        </p:txBody>
      </p:sp>
      <p:sp>
        <p:nvSpPr>
          <p:cNvPr id="10" name="body-1"/>
          <p:cNvSpPr txBox="1"/>
          <p:nvPr/>
        </p:nvSpPr>
        <p:spPr>
          <a:xfrm>
            <a:off x="1060704" y="3667074"/>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That matters for how it should be judged. As a psychological model it was a serious and influential contribution. As a general problem solver it failed, and the reason is the one Chapter 9 demonstrated: means–ends analysis is sensitive to goal ordering and incomplete, and the generality was in the </a:t>
            </a:r>
            <a:r>
              <a:rPr sz="2300" b="0" i="1">
                <a:solidFill>
                  <a:srgbClr val="1C252B"/>
                </a:solidFill>
                <a:latin typeface="Segoe UI"/>
              </a:rPr>
              <a:t>engine</a:t>
            </a:r>
            <a:r>
              <a:rPr sz="2300" b="0" i="0">
                <a:solidFill>
                  <a:srgbClr val="1C252B"/>
                </a:solidFill>
                <a:latin typeface="Segoe UI"/>
              </a:rPr>
              <a:t>, while all the difficulty turned out to be in describing the domain.</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52396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Eliza</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§19.3  ·  Handout p. 198     </a:t>
            </a:r>
            <a:fld id="{F21F3DDF-362B-43F7-B481-0F4A3823FCC6}" type="slidenum">
              <a:rPr lang="en-GB" sz="1000">
                <a:solidFill>
                  <a:srgbClr val="8795A1"/>
                </a:solidFill>
                <a:latin typeface="Segoe UI"/>
              </a:rPr>
              <a:t>8</a:t>
            </a:fld>
          </a:p>
        </p:txBody>
      </p:sp>
      <p:sp>
        <p:nvSpPr>
          <p:cNvPr id="7" name="!!stbar">
            <a:extLst>
              <a:ext uri="{C183D7F6-B498-43B3-948B-1728B52AA6E4}">
                <adec:decorative xmlns:adec="http://schemas.microsoft.com/office/drawing/2017/decorative" val="1"/>
              </a:ext>
            </a:extLst>
          </p:cNvPr>
          <p:cNvSpPr/>
          <p:nvPr/>
        </p:nvSpPr>
        <p:spPr>
          <a:xfrm>
            <a:off x="658368" y="1810512"/>
            <a:ext cx="73152" cy="427507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838200"/>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Chapter 18 covered the mechanism and the effect. What belongs here is the analysis.</a:t>
            </a:r>
          </a:p>
        </p:txBody>
      </p:sp>
      <p:sp>
        <p:nvSpPr>
          <p:cNvPr id="9" name="body-1"/>
          <p:cNvSpPr txBox="1"/>
          <p:nvPr/>
        </p:nvSpPr>
        <p:spPr>
          <a:xfrm>
            <a:off x="1042415" y="2759329"/>
            <a:ext cx="10417759" cy="2026919"/>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Eliza had no goal, no representation of the conversation, and no model of the person it was talking to. It scored </a:t>
            </a:r>
            <a:r>
              <a:rPr sz="2500" b="0" i="1">
                <a:solidFill>
                  <a:srgbClr val="1C252B"/>
                </a:solidFill>
                <a:latin typeface="Segoe UI"/>
              </a:rPr>
              <a:t>one</a:t>
            </a:r>
            <a:r>
              <a:rPr sz="2500" b="0" i="0">
                <a:solidFill>
                  <a:srgbClr val="1C252B"/>
                </a:solidFill>
                <a:latin typeface="Segoe UI"/>
              </a:rPr>
              <a:t> on Chapter 1’s five-point checklist — it has a kind of knowledge, in that the patterns are inspectable and a non-programmer could edit them — and zero on goal, search, adaptation and explanation.</a:t>
            </a:r>
          </a:p>
        </p:txBody>
      </p:sp>
      <p:sp>
        <p:nvSpPr>
          <p:cNvPr id="10" name="body-2"/>
          <p:cNvSpPr txBox="1"/>
          <p:nvPr/>
        </p:nvSpPr>
        <p:spPr>
          <a:xfrm>
            <a:off x="1042415" y="4915154"/>
            <a:ext cx="10417759" cy="1234439"/>
          </a:xfrm>
          <a:prstGeom prst="rect">
            <a:avLst/>
          </a:prstGeom>
          <a:noFill/>
        </p:spPr>
        <p:txBody>
          <a:bodyPr wrap="square" anchor="t" lIns="0" rIns="0" tIns="0" bIns="0">
            <a:noAutofit/>
          </a:bodyPr>
          <a:lstStyle/>
          <a:p>
            <a:pPr algn="l">
              <a:lnSpc>
                <a:spcPct val="104000"/>
              </a:lnSpc>
              <a:spcBef>
                <a:spcPts val="0"/>
              </a:spcBef>
              <a:spcAft>
                <a:spcPts val="0"/>
              </a:spcAft>
            </a:pPr>
            <a:r>
              <a:rPr sz="2500" b="0" i="0">
                <a:solidFill>
                  <a:srgbClr val="1C252B"/>
                </a:solidFill>
                <a:latin typeface="Segoe UI"/>
              </a:rPr>
              <a:t>And it was taken for a therapist. That combination — lowest possible sophistication, highest possible impression — is why it is the most instructive system in this chapter, and why Chapter 20 returns to it.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7416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microworld, and what it concealed</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§19.4  ·  Handout p. 198     </a:t>
            </a:r>
            <a:fld id="{3B0AD79B-3BE2-4319-937D-171FAC521E0E}"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99788"/>
          </a:xfrm>
          <a:prstGeom prst="roundRect">
            <a:avLst>
              <a:gd name="adj" fmla="val 2177"/>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9978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Student worked beautifully inside a tiny fragment of English about arithmetic, and that fragment is called a </a:t>
            </a:r>
            <a:r>
              <a:rPr sz="1900" b="1" i="0">
                <a:solidFill>
                  <a:srgbClr val="1A5276"/>
                </a:solidFill>
                <a:latin typeface="Segoe UI"/>
              </a:rPr>
              <a:t>microworld</a:t>
            </a:r>
            <a:r>
              <a:rPr sz="1900" b="0" i="0">
                <a:solidFill>
                  <a:srgbClr val="1C252B"/>
                </a:solidFill>
                <a:latin typeface="Segoe UI"/>
              </a:rPr>
              <a:t>. The assumption of the era — stated openly — was that microworlds would be extended and joined until they covered ordinary language.</a:t>
            </a:r>
          </a:p>
        </p:txBody>
      </p:sp>
      <p:sp>
        <p:nvSpPr>
          <p:cNvPr id="10" name="body-1"/>
          <p:cNvSpPr txBox="1"/>
          <p:nvPr/>
        </p:nvSpPr>
        <p:spPr>
          <a:xfrm>
            <a:off x="1060704" y="3084398"/>
            <a:ext cx="10161727"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They were not, and the reason is visible in the mechanism. Student’s patterns are brittle in a specific way: </a:t>
            </a:r>
            <a:r>
              <a:rPr sz="1800" b="0" i="0">
                <a:solidFill>
                  <a:srgbClr val="1F4E79"/>
                </a:solidFill>
                <a:latin typeface="Consolas"/>
              </a:rPr>
              <a:t>twice as many bugs as stories</a:t>
            </a:r>
            <a:r>
              <a:rPr sz="1900" b="0" i="0">
                <a:solidFill>
                  <a:srgbClr val="1C252B"/>
                </a:solidFill>
                <a:latin typeface="Segoe UI"/>
              </a:rPr>
              <a:t> works, and </a:t>
            </a:r>
            <a:r>
              <a:rPr sz="1800" b="0" i="0">
                <a:solidFill>
                  <a:srgbClr val="1F4E79"/>
                </a:solidFill>
                <a:latin typeface="Consolas"/>
              </a:rPr>
              <a:t>the bug count is double the story count</a:t>
            </a:r>
            <a:r>
              <a:rPr sz="1900" b="0" i="0">
                <a:solidFill>
                  <a:srgbClr val="1C252B"/>
                </a:solidFill>
                <a:latin typeface="Segoe UI"/>
              </a:rPr>
              <a:t> does not, and neither does </a:t>
            </a:r>
            <a:r>
              <a:rPr sz="1800" b="0" i="0">
                <a:solidFill>
                  <a:srgbClr val="1F4E79"/>
                </a:solidFill>
                <a:latin typeface="Consolas"/>
              </a:rPr>
              <a:t>there are two bugs for every story</a:t>
            </a:r>
            <a:r>
              <a:rPr sz="1900" b="0" i="0">
                <a:solidFill>
                  <a:srgbClr val="1C252B"/>
                </a:solidFill>
                <a:latin typeface="Segoe UI"/>
              </a:rPr>
              <a:t>. Each paraphrase needs its own pattern, the paraphrases are unbounded, and nothing in the approach makes the next one cheaper than the last.</a:t>
            </a:r>
          </a:p>
        </p:txBody>
      </p:sp>
      <p:sp>
        <p:nvSpPr>
          <p:cNvPr id="11" name="body-2"/>
          <p:cNvSpPr txBox="1"/>
          <p:nvPr/>
        </p:nvSpPr>
        <p:spPr>
          <a:xfrm>
            <a:off x="1060704" y="4722825"/>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That is the same shape as Chapter 13’s knowledge acquisition bottleneck, in a different subject. Notice it recurring: it is the characteristic failure of hand-built symbolic systems, and recognising it in a new project is worth more than any individual technique in this book.</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19593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Rewrite rules for effort expressions</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§19.5  ·  Handout p. 199     </a:t>
            </a:r>
            <a:fld id="{87FE1B2C-4E3C-4CF1-AF28-F60825663A4B}"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90745"/>
          </a:xfrm>
          <a:prstGeom prst="roundRect">
            <a:avLst>
              <a:gd name="adj" fmla="val 2131"/>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90745"/>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6818917" cy="2523738"/>
        </p:xfrm>
        <a:graphic>
          <a:graphicData uri="http://schemas.openxmlformats.org/drawingml/2006/table">
            <a:tbl>
              <a:tblPr firstRow="0" bandRow="0" firstCol="0" lastRow="0" lastCol="0" bandCol="0">
                <a:tableStyleId>{2D5ABB26-0587-4C30-8999-92F81FD0307C}</a:tableStyleId>
              </a:tblPr>
              <a:tblGrid>
                <a:gridCol w="2947070"/>
                <a:gridCol w="3871847"/>
              </a:tblGrid>
              <a:tr h="420623">
                <a:tc>
                  <a:txBody>
                    <a:bodyPr wrap="square"/>
                    <a:lstStyle/>
                    <a:p>
                      <a:pPr algn="l"/>
                      <a:r>
                        <a:rPr sz="1800" b="1" i="0">
                          <a:solidFill>
                            <a:srgbClr val="1A5276"/>
                          </a:solidFill>
                          <a:latin typeface="Segoe UI"/>
                        </a:rPr>
                        <a:t>Rule</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800" b="1" i="0">
                          <a:solidFill>
                            <a:srgbClr val="1A5276"/>
                          </a:solidFill>
                          <a:latin typeface="Segoe UI"/>
                        </a:rPr>
                        <a:t>Reading</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20623">
                <a:tc>
                  <a:txBody>
                    <a:bodyPr wrap="square"/>
                    <a:lstStyle/>
                    <a:p>
                      <a:pPr algn="l"/>
                      <a:r>
                        <a:rPr sz="1800" b="0" i="1">
                          <a:solidFill>
                            <a:srgbClr val="1C252B"/>
                          </a:solidFill>
                          <a:latin typeface="Cambria"/>
                        </a:rPr>
                        <a:t>x</a:t>
                      </a:r>
                      <a:r>
                        <a:rPr sz="1800" b="0" i="0">
                          <a:solidFill>
                            <a:srgbClr val="1C252B"/>
                          </a:solidFill>
                          <a:latin typeface="Cambria"/>
                        </a:rPr>
                        <a:t> + 0 → </a:t>
                      </a:r>
                      <a:r>
                        <a:rPr sz="1800" b="0" i="1">
                          <a:solidFill>
                            <a:srgbClr val="1C252B"/>
                          </a:solidFill>
                          <a:latin typeface="Cambria"/>
                        </a:rPr>
                        <a:t>x</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adding nothing changes nothing</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l"/>
                      <a:r>
                        <a:rPr sz="1800" b="0" i="1">
                          <a:solidFill>
                            <a:srgbClr val="1C252B"/>
                          </a:solidFill>
                          <a:latin typeface="Cambria"/>
                        </a:rPr>
                        <a:t>x</a:t>
                      </a:r>
                      <a:r>
                        <a:rPr sz="1800" b="0" i="0">
                          <a:solidFill>
                            <a:srgbClr val="1C252B"/>
                          </a:solidFill>
                          <a:latin typeface="Cambria"/>
                        </a:rPr>
                        <a:t> × 1 → </a:t>
                      </a:r>
                      <a:r>
                        <a:rPr sz="1800" b="0" i="1">
                          <a:solidFill>
                            <a:srgbClr val="1C252B"/>
                          </a:solidFill>
                          <a:latin typeface="Cambria"/>
                        </a:rPr>
                        <a:t>x</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scaling by one changes nothing</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l"/>
                      <a:r>
                        <a:rPr sz="1800" b="0" i="1">
                          <a:solidFill>
                            <a:srgbClr val="1C252B"/>
                          </a:solidFill>
                          <a:latin typeface="Cambria"/>
                        </a:rPr>
                        <a:t>x</a:t>
                      </a:r>
                      <a:r>
                        <a:rPr sz="1800" b="0" i="0">
                          <a:solidFill>
                            <a:srgbClr val="1C252B"/>
                          </a:solidFill>
                          <a:latin typeface="Cambria"/>
                        </a:rPr>
                        <a:t> × 0 → 0</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scaling by zero gives nothing</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l"/>
                      <a:r>
                        <a:rPr sz="1800" b="0" i="1">
                          <a:solidFill>
                            <a:srgbClr val="1C252B"/>
                          </a:solidFill>
                          <a:latin typeface="Cambria"/>
                        </a:rPr>
                        <a:t>x</a:t>
                      </a:r>
                      <a:r>
                        <a:rPr sz="1800" b="0" i="0">
                          <a:solidFill>
                            <a:srgbClr val="1C252B"/>
                          </a:solidFill>
                          <a:latin typeface="Cambria"/>
                        </a:rPr>
                        <a:t> + </a:t>
                      </a:r>
                      <a:r>
                        <a:rPr sz="1800" b="0" i="1">
                          <a:solidFill>
                            <a:srgbClr val="1C252B"/>
                          </a:solidFill>
                          <a:latin typeface="Cambria"/>
                        </a:rPr>
                        <a:t>x</a:t>
                      </a:r>
                      <a:r>
                        <a:rPr sz="1800" b="0" i="0">
                          <a:solidFill>
                            <a:srgbClr val="1C252B"/>
                          </a:solidFill>
                          <a:latin typeface="Cambria"/>
                        </a:rPr>
                        <a:t> → 2</a:t>
                      </a:r>
                      <a:r>
                        <a:rPr sz="1800" b="0" i="1">
                          <a:solidFill>
                            <a:srgbClr val="1C252B"/>
                          </a:solidFill>
                          <a:latin typeface="Cambria"/>
                        </a:rPr>
                        <a:t>x</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collect like terms</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l"/>
                      <a:r>
                        <a:rPr sz="1800" b="0" i="0">
                          <a:solidFill>
                            <a:srgbClr val="1C252B"/>
                          </a:solidFill>
                          <a:latin typeface="Cambria"/>
                        </a:rPr>
                        <a:t>(</a:t>
                      </a:r>
                      <a:r>
                        <a:rPr sz="1800" b="0" i="1">
                          <a:solidFill>
                            <a:srgbClr val="1C252B"/>
                          </a:solidFill>
                          <a:latin typeface="Cambria"/>
                        </a:rPr>
                        <a:t>a</a:t>
                      </a:r>
                      <a:r>
                        <a:rPr sz="1800" b="0" i="0">
                          <a:solidFill>
                            <a:srgbClr val="1C252B"/>
                          </a:solidFill>
                          <a:latin typeface="Cambria"/>
                        </a:rPr>
                        <a:t> × </a:t>
                      </a:r>
                      <a:r>
                        <a:rPr sz="1800" b="0" i="1">
                          <a:solidFill>
                            <a:srgbClr val="1C252B"/>
                          </a:solidFill>
                          <a:latin typeface="Cambria"/>
                        </a:rPr>
                        <a:t>x</a:t>
                      </a:r>
                      <a:r>
                        <a:rPr sz="1800" b="0" i="0">
                          <a:solidFill>
                            <a:srgbClr val="1C252B"/>
                          </a:solidFill>
                          <a:latin typeface="Cambria"/>
                        </a:rPr>
                        <a:t>) + (</a:t>
                      </a:r>
                      <a:r>
                        <a:rPr sz="1800" b="0" i="1">
                          <a:solidFill>
                            <a:srgbClr val="1C252B"/>
                          </a:solidFill>
                          <a:latin typeface="Cambria"/>
                        </a:rPr>
                        <a:t>b</a:t>
                      </a:r>
                      <a:r>
                        <a:rPr sz="1800" b="0" i="0">
                          <a:solidFill>
                            <a:srgbClr val="1C252B"/>
                          </a:solidFill>
                          <a:latin typeface="Cambria"/>
                        </a:rPr>
                        <a:t> × </a:t>
                      </a:r>
                      <a:r>
                        <a:rPr sz="1800" b="0" i="1">
                          <a:solidFill>
                            <a:srgbClr val="1C252B"/>
                          </a:solidFill>
                          <a:latin typeface="Cambria"/>
                        </a:rPr>
                        <a:t>x</a:t>
                      </a:r>
                      <a:r>
                        <a:rPr sz="1800" b="0" i="0">
                          <a:solidFill>
                            <a:srgbClr val="1C252B"/>
                          </a:solidFill>
                          <a:latin typeface="Cambria"/>
                        </a:rPr>
                        <a:t>) → (</a:t>
                      </a:r>
                      <a:r>
                        <a:rPr sz="1800" b="0" i="1">
                          <a:solidFill>
                            <a:srgbClr val="1C252B"/>
                          </a:solidFill>
                          <a:latin typeface="Cambria"/>
                        </a:rPr>
                        <a:t>a</a:t>
                      </a:r>
                      <a:r>
                        <a:rPr sz="1800" b="0" i="0">
                          <a:solidFill>
                            <a:srgbClr val="1C252B"/>
                          </a:solidFill>
                          <a:latin typeface="Cambria"/>
                        </a:rPr>
                        <a:t>+</a:t>
                      </a:r>
                      <a:r>
                        <a:rPr sz="1800" b="0" i="1">
                          <a:solidFill>
                            <a:srgbClr val="1C252B"/>
                          </a:solidFill>
                          <a:latin typeface="Cambria"/>
                        </a:rPr>
                        <a:t>b</a:t>
                      </a:r>
                      <a:r>
                        <a:rPr sz="1800" b="0" i="0">
                          <a:solidFill>
                            <a:srgbClr val="1C252B"/>
                          </a:solidFill>
                          <a:latin typeface="Cambria"/>
                        </a:rPr>
                        <a:t>) × </a:t>
                      </a:r>
                      <a:r>
                        <a:rPr sz="1800" b="0" i="1">
                          <a:solidFill>
                            <a:srgbClr val="1C252B"/>
                          </a:solidFill>
                          <a:latin typeface="Cambria"/>
                        </a:rPr>
                        <a:t>x</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800" b="0" i="0">
                          <a:solidFill>
                            <a:srgbClr val="1C252B"/>
                          </a:solidFill>
                          <a:latin typeface="Segoe UI"/>
                        </a:rPr>
                        <a:t>distributivity, backwards</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body-1"/>
          <p:cNvSpPr txBox="1"/>
          <p:nvPr/>
        </p:nvSpPr>
        <p:spPr>
          <a:xfrm>
            <a:off x="1060704" y="471868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Applying these to </a:t>
            </a:r>
            <a:r>
              <a:rPr sz="2100" b="0" i="0">
                <a:solidFill>
                  <a:srgbClr val="1C252B"/>
                </a:solidFill>
                <a:latin typeface="Cambria"/>
              </a:rPr>
              <a:t>(3 × </a:t>
            </a:r>
            <a:r>
              <a:rPr sz="2100" b="0" i="1">
                <a:solidFill>
                  <a:srgbClr val="1C252B"/>
                </a:solidFill>
                <a:latin typeface="Cambria"/>
              </a:rPr>
              <a:t>e</a:t>
            </a:r>
            <a:r>
              <a:rPr sz="2100" b="0" i="0">
                <a:solidFill>
                  <a:srgbClr val="1C252B"/>
                </a:solidFill>
                <a:latin typeface="Cambria"/>
              </a:rPr>
              <a:t>) + (2 × </a:t>
            </a:r>
            <a:r>
              <a:rPr sz="2100" b="0" i="1">
                <a:solidFill>
                  <a:srgbClr val="1C252B"/>
                </a:solidFill>
                <a:latin typeface="Cambria"/>
              </a:rPr>
              <a:t>e</a:t>
            </a:r>
            <a:r>
              <a:rPr sz="2100" b="0" i="0">
                <a:solidFill>
                  <a:srgbClr val="1C252B"/>
                </a:solidFill>
                <a:latin typeface="Cambria"/>
              </a:rPr>
              <a:t>) + 0</a:t>
            </a:r>
            <a:r>
              <a:rPr sz="2100" b="0" i="0">
                <a:solidFill>
                  <a:srgbClr val="1C252B"/>
                </a:solidFill>
                <a:latin typeface="Segoe UI"/>
              </a:rPr>
              <a:t> gives </a:t>
            </a:r>
            <a:r>
              <a:rPr sz="2100" b="0" i="0">
                <a:solidFill>
                  <a:srgbClr val="1C252B"/>
                </a:solidFill>
                <a:latin typeface="Cambria"/>
              </a:rPr>
              <a:t>5 × </a:t>
            </a:r>
            <a:r>
              <a:rPr sz="2100" b="0" i="1">
                <a:solidFill>
                  <a:srgbClr val="1C252B"/>
                </a:solidFill>
                <a:latin typeface="Cambria"/>
              </a:rPr>
              <a:t>e</a:t>
            </a:r>
            <a:r>
              <a:rPr sz="2100" b="0" i="0">
                <a:solidFill>
                  <a:srgbClr val="1C252B"/>
                </a:solidFill>
                <a:latin typeface="Segoe UI"/>
              </a:rPr>
              <a:t>. Each rule is a fact about arithmetic that a person can check, the engine is Chapter 13’s forward chaining, and the conflict-resolution question is the same one: when two rules apply, which fires?</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17708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Framework for Analysing an AI System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19.6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19.1   Four Systems, Four Mechanisms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19.2   The General Problem Solver</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19.3   Eliza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19.4   Student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19.5   Macsyma</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19.6   A Framework for Analysing an AI System</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§19.6     </a:t>
            </a:r>
            <a:fld id="{A19FEDF6-49D1-49E4-AFF4-CBBE3B975590}" type="slidenum">
              <a:rPr lang="en-GB" sz="1000">
                <a:solidFill>
                  <a:srgbClr val="8795A1"/>
                </a:solidFill>
                <a:latin typeface="Segoe UI"/>
              </a:rPr>
              <a:t>11</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39479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Six columns for analysing an AI system</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19.1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E1B2ABB0-68CE-40E8-8B1F-DC7571973FE1}" type="slidenum">
              <a:rPr lang="en-GB" sz="1000">
                <a:solidFill>
                  <a:srgbClr val="8795A1"/>
                </a:solidFill>
                <a:latin typeface="Segoe UI"/>
              </a:rPr>
              <a:t>12</a:t>
            </a:fld>
          </a:p>
        </p:txBody>
      </p:sp>
      <p:pic>
        <p:nvPicPr>
          <p:cNvPr id="6" name="!!figure" descr="Figure 19.1. Six columns for analysing an AI system. Applying them to a system you did not build is the skill this chapter is fo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48036"/>
            <a:ext cx="10874959" cy="394893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Applying them to a system you did not build is the skill this chapter is for.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6125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Framework for Analysing an AI System</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0B128425-6E7F-4C16-8DC1-BD3A6BEE09CA}" type="slidenum">
              <a:rPr lang="en-GB" sz="1000">
                <a:solidFill>
                  <a:srgbClr val="8795A1"/>
                </a:solidFill>
                <a:latin typeface="Segoe UI"/>
              </a:rPr>
              <a:t>13</a:t>
            </a:fld>
          </a:p>
        </p:txBody>
      </p:sp>
      <p:graphicFrame>
        <p:nvGraphicFramePr>
          <p:cNvPr id="7" name="!!table"/>
          <p:cNvGraphicFramePr>
            <a:graphicFrameLocks noGrp="1"/>
          </p:cNvGraphicFramePr>
          <p:nvPr/>
        </p:nvGraphicFramePr>
        <p:xfrm>
          <a:off x="658368" y="1737360"/>
          <a:ext cx="10874956" cy="3901440"/>
        </p:xfrm>
        <a:graphic>
          <a:graphicData uri="http://schemas.openxmlformats.org/drawingml/2006/table">
            <a:tbl>
              <a:tblPr firstRow="0" bandRow="0" firstCol="0" lastRow="0" lastCol="0" bandCol="0">
                <a:tableStyleId>{2D5ABB26-0587-4C30-8999-92F81FD0307C}</a:tableStyleId>
              </a:tblPr>
              <a:tblGrid>
                <a:gridCol w="1408268"/>
                <a:gridCol w="1564742"/>
                <a:gridCol w="1877690"/>
                <a:gridCol w="1721216"/>
                <a:gridCol w="1642979"/>
                <a:gridCol w="2660061"/>
              </a:tblGrid>
              <a:tr h="390144">
                <a:tc>
                  <a:txBody>
                    <a:bodyPr wrap="square"/>
                    <a:lstStyle/>
                    <a:p>
                      <a:pPr algn="l"/>
                      <a:r>
                        <a:rPr sz="1600" b="1" i="0">
                          <a:solidFill>
                            <a:srgbClr val="1A5276"/>
                          </a:solidFill>
                          <a:latin typeface="Segoe UI"/>
                        </a:rPr>
                        <a:t>System</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Task</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Representation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Inference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Knowledge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Failure mode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877824">
                <a:tc>
                  <a:txBody>
                    <a:bodyPr wrap="square"/>
                    <a:lstStyle/>
                    <a:p>
                      <a:pPr algn="l"/>
                      <a:r>
                        <a:rPr sz="1600" b="1" i="0">
                          <a:solidFill>
                            <a:srgbClr val="1C252B"/>
                          </a:solidFill>
                          <a:latin typeface="Segoe UI"/>
                        </a:rPr>
                        <a:t>GPS</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Reach a goal</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Operators: pre, add, delete</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Means–ends</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Hand-written</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Incomplete; goal order matters. Reports “no plan” on solvable problems</a:t>
                      </a:r>
                      <a:endParaRPr sz="1600"/>
                    </a:p>
                  </a:txBody>
                  <a:tcPr marL="109728" marR="109728" marT="64008" marB="45720" anchor="t">
                    <a:lnL w="0" cmpd="sng">
                      <a:noFill/>
                    </a:lnL>
                    <a:lnR w="0" cmpd="sng">
                      <a:noFill/>
                    </a:lnR>
                    <a:lnT w="9525" cmpd="sng">
                      <a:noFill/>
                    </a:lnT>
                    <a:lnB w="9525" cmpd="sng">
                      <a:noFill/>
                    </a:lnB>
                    <a:solidFill>
                      <a:srgbClr val="FFFFFF"/>
                    </a:solidFill>
                  </a:tcPr>
                </a:tc>
              </a:tr>
              <a:tr h="877824">
                <a:tc>
                  <a:txBody>
                    <a:bodyPr wrap="square"/>
                    <a:lstStyle/>
                    <a:p>
                      <a:pPr algn="l"/>
                      <a:r>
                        <a:rPr sz="1600" b="1" i="0">
                          <a:solidFill>
                            <a:srgbClr val="1C252B"/>
                          </a:solidFill>
                          <a:latin typeface="Segoe UI"/>
                        </a:rPr>
                        <a:t>Eliza</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Converse</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Patterns with variables</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Match and substitute</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Hand-written</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None detectable. It never fails — it always has a reply, which is the danger</a:t>
                      </a:r>
                      <a:endParaRPr sz="1600"/>
                    </a:p>
                  </a:txBody>
                  <a:tcPr marL="109728" marR="109728" marT="64008" marB="45720" anchor="t">
                    <a:lnL w="0" cmpd="sng">
                      <a:noFill/>
                    </a:lnL>
                    <a:lnR w="0" cmpd="sng">
                      <a:noFill/>
                    </a:lnR>
                    <a:lnT w="9525" cmpd="sng">
                      <a:noFill/>
                    </a:lnT>
                    <a:lnB w="9525" cmpd="sng">
                      <a:noFill/>
                    </a:lnB>
                    <a:solidFill>
                      <a:srgbClr val="F2F8FC"/>
                    </a:solidFill>
                  </a:tcPr>
                </a:tc>
              </a:tr>
              <a:tr h="877824">
                <a:tc>
                  <a:txBody>
                    <a:bodyPr wrap="square"/>
                    <a:lstStyle/>
                    <a:p>
                      <a:pPr algn="l"/>
                      <a:r>
                        <a:rPr sz="1600" b="1" i="0">
                          <a:solidFill>
                            <a:srgbClr val="1C252B"/>
                          </a:solidFill>
                          <a:latin typeface="Segoe UI"/>
                        </a:rPr>
                        <a:t>Student</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Solve a word problem</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Patterns, then algebra</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Match, then solve</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Hand-written</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Brittle to paraphrase. Each new phrasing needs a new pattern</a:t>
                      </a:r>
                      <a:endParaRPr sz="1600"/>
                    </a:p>
                  </a:txBody>
                  <a:tcPr marL="109728" marR="109728" marT="64008" marB="45720" anchor="t">
                    <a:lnL w="0" cmpd="sng">
                      <a:noFill/>
                    </a:lnL>
                    <a:lnR w="0" cmpd="sng">
                      <a:noFill/>
                    </a:lnR>
                    <a:lnT w="9525" cmpd="sng">
                      <a:noFill/>
                    </a:lnT>
                    <a:lnB w="9525" cmpd="sng">
                      <a:noFill/>
                    </a:lnB>
                    <a:solidFill>
                      <a:srgbClr val="FFFFFF"/>
                    </a:solidFill>
                  </a:tcPr>
                </a:tc>
              </a:tr>
              <a:tr h="877824">
                <a:tc>
                  <a:txBody>
                    <a:bodyPr wrap="square"/>
                    <a:lstStyle/>
                    <a:p>
                      <a:pPr algn="l"/>
                      <a:r>
                        <a:rPr sz="1600" b="1" i="0">
                          <a:solidFill>
                            <a:srgbClr val="1C252B"/>
                          </a:solidFill>
                          <a:latin typeface="Segoe UI"/>
                        </a:rPr>
                        <a:t>Macsyma</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Simplify</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Expression trees</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Rewrite to a fixed point</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Hand-written</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Rule interactions; may loop, or stop at a form nobody wanted</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83021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Framework for Analysing an AI System</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B334A3E3-E6D0-464F-8F61-FD61876519A0}"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4"/>
          </a:xfrm>
          <a:prstGeom prst="roundRect">
            <a:avLst>
              <a:gd name="adj" fmla="val 206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Read down the </a:t>
            </a:r>
            <a:r>
              <a:rPr sz="2300" b="0" i="1">
                <a:solidFill>
                  <a:srgbClr val="1C252B"/>
                </a:solidFill>
                <a:latin typeface="Segoe UI"/>
              </a:rPr>
              <a:t>knowledge source</a:t>
            </a:r>
            <a:r>
              <a:rPr sz="2300" b="0" i="0">
                <a:solidFill>
                  <a:srgbClr val="1C252B"/>
                </a:solidFill>
                <a:latin typeface="Segoe UI"/>
              </a:rPr>
              <a:t> column. Every one of the four was hand-built, and the same limit appears in all four biographies: the system worked, extending it required a person, and the extensions ran out before the domain did.</a:t>
            </a:r>
          </a:p>
        </p:txBody>
      </p:sp>
      <p:sp>
        <p:nvSpPr>
          <p:cNvPr id="10" name="body-1"/>
          <p:cNvSpPr txBox="1"/>
          <p:nvPr/>
        </p:nvSpPr>
        <p:spPr>
          <a:xfrm>
            <a:off x="1060704" y="3667074"/>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Now read the </a:t>
            </a:r>
            <a:r>
              <a:rPr sz="2300" b="0" i="1">
                <a:solidFill>
                  <a:srgbClr val="1C252B"/>
                </a:solidFill>
                <a:latin typeface="Segoe UI"/>
              </a:rPr>
              <a:t>failure mode</a:t>
            </a:r>
            <a:r>
              <a:rPr sz="2300" b="0" i="0">
                <a:solidFill>
                  <a:srgbClr val="1C252B"/>
                </a:solidFill>
                <a:latin typeface="Segoe UI"/>
              </a:rPr>
              <a:t> column, and notice that Eliza’s is the worst of the four precisely because it has none. GPS reports failure. Student produces nothing on an unmatched phrasing. Macsyma leaves an expression unsimplified. Eliza always replies, so its user has no signal at all — and that is the property that Chapter 20 argues is shared by the systems now in production.</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Analysing a system you did not build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482BD823-6E9C-48DF-9DA9-1321946967DC}"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24351"/>
          </a:xfrm>
          <a:prstGeom prst="roundRect">
            <a:avLst>
              <a:gd name="adj" fmla="val 259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24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Apply the framework to something with no published internals: an IDE’s code completion.</a:t>
            </a:r>
          </a:p>
        </p:txBody>
      </p:sp>
      <p:sp>
        <p:nvSpPr>
          <p:cNvPr id="10" name="body-1"/>
          <p:cNvSpPr txBox="1"/>
          <p:nvPr/>
        </p:nvSpPr>
        <p:spPr>
          <a:xfrm>
            <a:off x="1042416" y="2445537"/>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Task.</a:t>
            </a:r>
            <a:r>
              <a:rPr sz="1900" b="0" i="0">
                <a:solidFill>
                  <a:srgbClr val="1C252B"/>
                </a:solidFill>
                <a:latin typeface="Segoe UI"/>
              </a:rPr>
              <a:t> Suggest the next tokens a developer will type. The performance measure is </a:t>
            </a:r>
            <a:r>
              <a:rPr sz="1900" b="0" i="1">
                <a:solidFill>
                  <a:srgbClr val="1C252B"/>
                </a:solidFill>
                <a:latin typeface="Segoe UI"/>
              </a:rPr>
              <a:t>acceptance rate</a:t>
            </a:r>
            <a:r>
              <a:rPr sz="1900" b="0" i="0">
                <a:solidFill>
                  <a:srgbClr val="1C252B"/>
                </a:solidFill>
                <a:latin typeface="Segoe UI"/>
              </a:rPr>
              <a:t> — how often a suggestion is taken — which is worth writing down, because it is a measure of the developer’s behaviour, not of whether the code was any good. Compare Chapter 2: a measure of the agent’s activity rather than of the environment’s state, and therefore gameable.</a:t>
            </a:r>
          </a:p>
        </p:txBody>
      </p:sp>
      <p:sp>
        <p:nvSpPr>
          <p:cNvPr id="11" name="body-2"/>
          <p:cNvSpPr txBox="1"/>
          <p:nvPr/>
        </p:nvSpPr>
        <p:spPr>
          <a:xfrm>
            <a:off x="1042416" y="408396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Environment.</a:t>
            </a:r>
            <a:r>
              <a:rPr sz="1900" b="0" i="0">
                <a:solidFill>
                  <a:srgbClr val="1C252B"/>
                </a:solidFill>
                <a:latin typeface="Segoe UI"/>
              </a:rPr>
              <a:t> Partially observable — it sees the file and perhaps the project, not the developer’s intent. Dynamic; the code changes as they type. Single-agent. Episodic, approximately.</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26563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Analysing a system you did not build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B0E1C25E-798A-4E8B-8CF9-41102724B71B}"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26636"/>
          </a:xfrm>
          <a:prstGeom prst="roundRect">
            <a:avLst>
              <a:gd name="adj" fmla="val 22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266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Representation.</a:t>
            </a:r>
            <a:r>
              <a:rPr sz="1900" b="0" i="0">
                <a:solidFill>
                  <a:srgbClr val="1C252B"/>
                </a:solidFill>
                <a:latin typeface="Segoe UI"/>
              </a:rPr>
              <a:t> Unknown from the outside, and the framework lets us say something anyway. If it completes an identifier defined three files away, it has a symbol table — an explicit representation. If it produces plausible code calling a method that does not exist, it does not.</a:t>
            </a:r>
          </a:p>
        </p:txBody>
      </p:sp>
      <p:sp>
        <p:nvSpPr>
          <p:cNvPr id="10" name="body-1"/>
          <p:cNvSpPr txBox="1"/>
          <p:nvPr/>
        </p:nvSpPr>
        <p:spPr>
          <a:xfrm>
            <a:off x="1042416" y="3348964"/>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Inference.</a:t>
            </a:r>
            <a:r>
              <a:rPr sz="1900" b="0" i="0">
                <a:solidFill>
                  <a:srgbClr val="1C252B"/>
                </a:solidFill>
                <a:latin typeface="Segoe UI"/>
              </a:rPr>
              <a:t> Test it. A completion that is always correct about types and never invents a name is doing symbolic lookup. One that is usually right and occasionally confident and wrong is doing something statistical. Most current tools do both, and the two failure signatures are distinguishable from outside.</a:t>
            </a:r>
          </a:p>
        </p:txBody>
      </p:sp>
      <p:sp>
        <p:nvSpPr>
          <p:cNvPr id="11" name="body-2"/>
          <p:cNvSpPr txBox="1"/>
          <p:nvPr/>
        </p:nvSpPr>
        <p:spPr>
          <a:xfrm>
            <a:off x="1042416" y="468624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Knowledge source.</a:t>
            </a:r>
            <a:r>
              <a:rPr sz="1900" b="0" i="0">
                <a:solidFill>
                  <a:srgbClr val="1C252B"/>
                </a:solidFill>
                <a:latin typeface="Segoe UI"/>
              </a:rPr>
              <a:t> The corpus it was trained on, plus the current project. Neither is correctable by the developer, which is a real difference from every system in Table 19.2: nobody can fix a wrong suggestion, only decline it.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348334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Analysing a system you did not build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CE0AE683-2618-4530-8D0E-C1674412E4F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789351"/>
          </a:xfrm>
          <a:prstGeom prst="roundRect">
            <a:avLst>
              <a:gd name="adj" fmla="val 327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789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Failure mode.</a:t>
            </a:r>
            <a:r>
              <a:rPr sz="1900" b="0" i="0">
                <a:solidFill>
                  <a:srgbClr val="1C252B"/>
                </a:solidFill>
                <a:latin typeface="Segoe UI"/>
              </a:rPr>
              <a:t> This is the column that decides how to use it. If it fails by suggesting nothing, it is safe and occasionally unhelpful. If it fails by suggesting something fluent and wrong, it is Eliza with a compiler — and the mitigation is that the compiler and the tests are the failure detector the system does not have.</a:t>
            </a:r>
          </a:p>
        </p:txBody>
      </p:sp>
      <p:sp>
        <p:nvSpPr>
          <p:cNvPr id="10" name="body-1"/>
          <p:cNvSpPr txBox="1"/>
          <p:nvPr/>
        </p:nvSpPr>
        <p:spPr>
          <a:xfrm>
            <a:off x="1042416" y="334896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the analysis produced.</a:t>
            </a:r>
            <a:r>
              <a:rPr sz="1900" b="0" i="0">
                <a:solidFill>
                  <a:srgbClr val="1C252B"/>
                </a:solidFill>
                <a:latin typeface="Segoe UI"/>
              </a:rPr>
              <a:t> Not a verdict, but three testable questions and one operational rule: never accept a completion that the type checker and the tests have not seen. That rule came from the last column, which is why it is the one not to skip.</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70105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91FA3D1F-E401-410C-B119-F35CC7EE7026}" type="slidenum">
              <a:rPr lang="en-GB" sz="1000">
                <a:solidFill>
                  <a:srgbClr val="8795A1"/>
                </a:solidFill>
                <a:latin typeface="Segoe UI"/>
              </a:rPr>
              <a:t>18</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Describing a system instead of analysing it.</a:t>
            </a:r>
            <a:r>
              <a:rPr sz="1800" b="0" i="0">
                <a:solidFill>
                  <a:srgbClr val="1C252B"/>
                </a:solidFill>
                <a:latin typeface="Segoe UI"/>
              </a:rPr>
              <a:t> “Eliza simulates a therapist” is a description. The analysis is that it matches patterns, has no representation, and cannot fail detectably.</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Skipping the knowledge-source column.</a:t>
            </a:r>
            <a:r>
              <a:rPr sz="1800" b="0" i="0">
                <a:solidFill>
                  <a:srgbClr val="1C252B"/>
                </a:solidFill>
                <a:latin typeface="Segoe UI"/>
              </a:rPr>
              <a:t> It predicts whether the system survives a change in the business, and all four classic systems share the same answer.</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Skipping the failure-mode column.</a:t>
            </a:r>
            <a:r>
              <a:rPr sz="1800" b="0" i="0">
                <a:solidFill>
                  <a:srgbClr val="1C252B"/>
                </a:solidFill>
                <a:latin typeface="Segoe UI"/>
              </a:rPr>
              <a:t> A system that always produces an answer has the most dangerous failure mode there is.</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Mistaking a microworld result for a general one.</a:t>
            </a:r>
            <a:r>
              <a:rPr sz="1800" b="0" i="0">
                <a:solidFill>
                  <a:srgbClr val="1C252B"/>
                </a:solidFill>
                <a:latin typeface="Segoe UI"/>
              </a:rPr>
              <a:t> Student worked on a fragment of English and the fragment did not extend. Ask what the demonstration excluded.</a:t>
            </a:r>
          </a:p>
        </p:txBody>
      </p:sp>
      <p:sp>
        <p:nvSpPr>
          <p:cNvPr id="19" name="!!pb4">
            <a:extLst>
              <a:ext uri="{C183D7F6-B498-43B3-948B-1728B52AA6E4}">
                <adec:decorative xmlns:adec="http://schemas.microsoft.com/office/drawing/2017/decorative" val="1"/>
              </a:ext>
            </a:extLst>
          </p:cNvPr>
          <p:cNvSpPr/>
          <p:nvPr/>
        </p:nvSpPr>
        <p:spPr>
          <a:xfrm>
            <a:off x="658368" y="484266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6552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824374"/>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Judging GPS as a problem solver when it was offered as a psychological model.</a:t>
            </a:r>
            <a:r>
              <a:rPr sz="1800" b="0" i="0">
                <a:solidFill>
                  <a:srgbClr val="1C252B"/>
                </a:solidFill>
                <a:latin typeface="Segoe UI"/>
              </a:rPr>
              <a:t> Identify the quadrant of Figure 1.1 first, then choose the evidence.</a:t>
            </a:r>
          </a:p>
        </p:txBody>
      </p:sp>
      <p:sp>
        <p:nvSpPr>
          <p:cNvPr id="22" name="!!pb5">
            <a:extLst>
              <a:ext uri="{C183D7F6-B498-43B3-948B-1728B52AA6E4}">
                <adec:decorative xmlns:adec="http://schemas.microsoft.com/office/drawing/2017/decorative" val="1"/>
              </a:ext>
            </a:extLst>
          </p:cNvPr>
          <p:cNvSpPr/>
          <p:nvPr/>
        </p:nvSpPr>
        <p:spPr>
          <a:xfrm>
            <a:off x="658368" y="561441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63727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9612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Assuming you cannot analyse a closed system.</a:t>
            </a:r>
            <a:r>
              <a:rPr sz="1800" b="0" i="0">
                <a:solidFill>
                  <a:srgbClr val="1C252B"/>
                </a:solidFill>
                <a:latin typeface="Segoe UI"/>
              </a:rPr>
              <a:t> Five of the six columns can be filled from the outside by testing, as the worked example does.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391875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EB06D47D-5BA5-4211-A53E-801FECAB7B58}" type="slidenum">
              <a:rPr lang="en-GB" sz="1000">
                <a:solidFill>
                  <a:srgbClr val="8795A1"/>
                </a:solidFill>
                <a:latin typeface="Segoe UI"/>
              </a:rPr>
              <a:t>19</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Each of the four reconstructed with machinery from earlier chapters, then the analysis table printed from the code.</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15: Parsing ticket subjects; four systems in one file</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267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code/ch19_four_systems_one_file.py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41364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09185486-2492-4DB3-A6BF-BC839D4F0447}" type="slidenum">
              <a:rPr lang="en-GB" sz="1000">
                <a:solidFill>
                  <a:srgbClr val="8795A1"/>
                </a:solidFill>
                <a:latin typeface="Segoe UI"/>
              </a:rPr>
              <a:t>20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209544"/>
          </a:xfrm>
          <a:prstGeom prst="roundRect">
            <a:avLst>
              <a:gd name="adj" fmla="val 284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quot;&quot;&quot;Chapter 19 lab -- the four classic systems, reconstructed. Nothing here is new. GPS is Chapter 9's means-ends analysis, Eliza is Chapter 18's pattern substitution, Student is Chapter 12's unification restricted to strings, and Macsyma is Chapter 13's forward chaining over expression trees. &quot;&quot;&quot; import re"/>
          <p:cNvSpPr txBox="1"/>
          <p:nvPr/>
        </p:nvSpPr>
        <p:spPr>
          <a:xfrm>
            <a:off x="1362456" y="2066543"/>
            <a:ext cx="9987991" cy="2715768"/>
          </a:xfrm>
          <a:prstGeom prst="rect">
            <a:avLst/>
          </a:prstGeom>
          <a:noFill/>
        </p:spPr>
        <p:txBody>
          <a:bodyPr wrap="none" anchor="t" lIns="0" rIns="0" tIns="0" bIns="0">
            <a:noAutofit/>
          </a:bodyPr>
          <a:lstStyle/>
          <a:p>
            <a:pPr>
              <a:lnSpc>
                <a:spcPct val="100000"/>
              </a:lnSpc>
              <a:spcAft>
                <a:spcPts val="0"/>
              </a:spcAft>
            </a:pPr>
            <a:r>
              <a:rPr sz="1900" i="0">
                <a:solidFill>
                  <a:srgbClr val="7DCEA0"/>
                </a:solidFill>
                <a:latin typeface="Consolas"/>
              </a:rPr>
              <a:t>"""Chapter 19 lab -- the four classic systems, reconstructed.</a:t>
            </a:r>
          </a:p>
          <a:p>
            <a:pPr>
              <a:lnSpc>
                <a:spcPct val="100000"/>
              </a:lnSpc>
              <a:spcAft>
                <a:spcPts val="0"/>
              </a:spcAft>
            </a:pPr>
            <a:r>
              <a:rPr sz="1900">
                <a:latin typeface="Consolas"/>
              </a:rPr>
              <a:t> </a:t>
            </a:r>
          </a:p>
          <a:p>
            <a:pPr>
              <a:lnSpc>
                <a:spcPct val="100000"/>
              </a:lnSpc>
              <a:spcAft>
                <a:spcPts val="0"/>
              </a:spcAft>
            </a:pPr>
            <a:r>
              <a:rPr sz="1900" i="0">
                <a:solidFill>
                  <a:srgbClr val="7DCEA0"/>
                </a:solidFill>
                <a:latin typeface="Consolas"/>
              </a:rPr>
              <a:t>Nothing here is new. GPS is Chapter 9's means-ends analysis, Eliza is</a:t>
            </a:r>
          </a:p>
          <a:p>
            <a:pPr>
              <a:lnSpc>
                <a:spcPct val="100000"/>
              </a:lnSpc>
              <a:spcAft>
                <a:spcPts val="0"/>
              </a:spcAft>
            </a:pPr>
            <a:r>
              <a:rPr sz="1900" i="0">
                <a:solidFill>
                  <a:srgbClr val="7DCEA0"/>
                </a:solidFill>
                <a:latin typeface="Consolas"/>
              </a:rPr>
              <a:t>Chapter 18's pattern substitution, Student is Chapter 12's unification</a:t>
            </a:r>
          </a:p>
          <a:p>
            <a:pPr>
              <a:lnSpc>
                <a:spcPct val="100000"/>
              </a:lnSpc>
              <a:spcAft>
                <a:spcPts val="0"/>
              </a:spcAft>
            </a:pPr>
            <a:r>
              <a:rPr sz="1900" i="0">
                <a:solidFill>
                  <a:srgbClr val="7DCEA0"/>
                </a:solidFill>
                <a:latin typeface="Consolas"/>
              </a:rPr>
              <a:t>restricted to strings, and Macsyma is Chapter 13's forward chaining</a:t>
            </a:r>
          </a:p>
          <a:p>
            <a:pPr>
              <a:lnSpc>
                <a:spcPct val="100000"/>
              </a:lnSpc>
              <a:spcAft>
                <a:spcPts val="0"/>
              </a:spcAft>
            </a:pPr>
            <a:r>
              <a:rPr sz="1900" i="0">
                <a:solidFill>
                  <a:srgbClr val="7DCEA0"/>
                </a:solidFill>
                <a:latin typeface="Consolas"/>
              </a:rPr>
              <a:t>over expression trees.</a:t>
            </a:r>
          </a:p>
          <a:p>
            <a:pPr>
              <a:lnSpc>
                <a:spcPct val="100000"/>
              </a:lnSpc>
              <a:spcAft>
                <a:spcPts val="0"/>
              </a:spcAft>
            </a:pPr>
            <a:r>
              <a:rPr sz="1900" i="0">
                <a:solidFill>
                  <a:srgbClr val="7DCEA0"/>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import</a:t>
            </a:r>
            <a:r>
              <a:rPr sz="1900" i="0">
                <a:solidFill>
                  <a:srgbClr val="E8EDF2"/>
                </a:solidFill>
                <a:latin typeface="Consolas"/>
              </a:rPr>
              <a:t> </a:t>
            </a:r>
            <a:r>
              <a:rPr sz="1900" i="0">
                <a:solidFill>
                  <a:srgbClr val="76D7C4"/>
                </a:solidFill>
                <a:latin typeface="Consolas"/>
              </a:rPr>
              <a:t>re</a:t>
            </a:r>
          </a:p>
        </p:txBody>
      </p:sp>
      <p:sp>
        <p:nvSpPr>
          <p:cNvPr id="14" name="!!code-num"/>
          <p:cNvSpPr txBox="1"/>
          <p:nvPr/>
        </p:nvSpPr>
        <p:spPr>
          <a:xfrm>
            <a:off x="768096" y="2066543"/>
            <a:ext cx="393192" cy="27157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a:t>
            </a:r>
          </a:p>
          <a:p>
            <a:pPr algn="r">
              <a:lnSpc>
                <a:spcPct val="100000"/>
              </a:lnSpc>
            </a:pPr>
            <a:r>
              <a:rPr sz="1900">
                <a:solidFill>
                  <a:srgbClr val="4F5D6A"/>
                </a:solidFill>
                <a:latin typeface="Consolas"/>
              </a:rPr>
              <a:t>3</a:t>
            </a:r>
          </a:p>
          <a:p>
            <a:pPr algn="r">
              <a:lnSpc>
                <a:spcPct val="100000"/>
              </a:lnSpc>
            </a:pPr>
            <a:r>
              <a:rPr sz="1900">
                <a:solidFill>
                  <a:srgbClr val="4F5D6A"/>
                </a:solidFill>
                <a:latin typeface="Consolas"/>
              </a:rPr>
              <a:t>4</a:t>
            </a:r>
          </a:p>
          <a:p>
            <a:pPr algn="r">
              <a:lnSpc>
                <a:spcPct val="100000"/>
              </a:lnSpc>
            </a:pPr>
            <a:r>
              <a:rPr sz="1900">
                <a:solidFill>
                  <a:srgbClr val="4F5D6A"/>
                </a:solidFill>
                <a:latin typeface="Consolas"/>
              </a:rPr>
              <a:t>5</a:t>
            </a:r>
          </a:p>
          <a:p>
            <a:pPr algn="r">
              <a:lnSpc>
                <a:spcPct val="100000"/>
              </a:lnSpc>
            </a:pPr>
            <a:r>
              <a:rPr sz="1900">
                <a:solidFill>
                  <a:srgbClr val="4F5D6A"/>
                </a:solidFill>
                <a:latin typeface="Consolas"/>
              </a:rPr>
              <a:t>6</a:t>
            </a:r>
          </a:p>
          <a:p>
            <a:pPr algn="r">
              <a:lnSpc>
                <a:spcPct val="100000"/>
              </a:lnSpc>
            </a:pPr>
            <a:r>
              <a:rPr sz="1900">
                <a:solidFill>
                  <a:srgbClr val="4F5D6A"/>
                </a:solidFill>
                <a:latin typeface="Consolas"/>
              </a:rPr>
              <a:t>7</a:t>
            </a:r>
          </a:p>
          <a:p>
            <a:pPr algn="r">
              <a:lnSpc>
                <a:spcPct val="100000"/>
              </a:lnSpc>
            </a:pPr>
            <a:r>
              <a:rPr sz="1900">
                <a:solidFill>
                  <a:srgbClr val="4F5D6A"/>
                </a:solidFill>
                <a:latin typeface="Consolas"/>
              </a:rPr>
              <a:t>8</a:t>
            </a:r>
          </a:p>
          <a:p>
            <a:pPr algn="r">
              <a:lnSpc>
                <a:spcPct val="100000"/>
              </a:lnSpc>
            </a:pPr>
            <a:r>
              <a:rPr sz="1900">
                <a:solidFill>
                  <a:srgbClr val="4F5D6A"/>
                </a:solidFill>
                <a:latin typeface="Consolas"/>
              </a:rPr>
              <a:t>9</a:t>
            </a:r>
          </a:p>
          <a:p>
            <a:pPr algn="r">
              <a:lnSpc>
                <a:spcPct val="100000"/>
              </a:lnSpc>
            </a:pPr>
            <a:r>
              <a:rPr sz="1900">
                <a:solidFill>
                  <a:srgbClr val="4F5D6A"/>
                </a:solidFill>
                <a:latin typeface="Consolas"/>
              </a:rPr>
              <a:t>10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35417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6E2A603C-0C0F-48AE-8CDD-73D85896DC81}" type="slidenum">
              <a:rPr lang="en-GB" sz="1000">
                <a:solidFill>
                  <a:srgbClr val="8795A1"/>
                </a:solidFill>
                <a:latin typeface="Segoe UI"/>
              </a:rPr>
              <a:t>21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 1. GPS (1961): means-ends analysis -- as in Chapter 9"/>
          <p:cNvSpPr txBox="1"/>
          <p:nvPr/>
        </p:nvSpPr>
        <p:spPr>
          <a:xfrm>
            <a:off x="1362456" y="2066543"/>
            <a:ext cx="9987991" cy="719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a:t>
            </a:r>
          </a:p>
          <a:p>
            <a:pPr>
              <a:lnSpc>
                <a:spcPct val="100000"/>
              </a:lnSpc>
              <a:spcAft>
                <a:spcPts val="0"/>
              </a:spcAft>
            </a:pPr>
            <a:r>
              <a:rPr sz="2000" i="1">
                <a:solidFill>
                  <a:srgbClr val="8795A1"/>
                </a:solidFill>
                <a:latin typeface="Consolas"/>
              </a:rPr>
              <a:t># 1. GPS (1961): means-ends analysis          -- as in Chapter 9</a:t>
            </a:r>
          </a:p>
        </p:txBody>
      </p:sp>
      <p:sp>
        <p:nvSpPr>
          <p:cNvPr id="14" name="!!code-num"/>
          <p:cNvSpPr txBox="1"/>
          <p:nvPr/>
        </p:nvSpPr>
        <p:spPr>
          <a:xfrm>
            <a:off x="768096" y="2066543"/>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a:t>
            </a:r>
          </a:p>
          <a:p>
            <a:pPr algn="r">
              <a:lnSpc>
                <a:spcPct val="100000"/>
              </a:lnSpc>
            </a:pPr>
            <a:r>
              <a:rPr sz="2000">
                <a:solidFill>
                  <a:srgbClr val="4F5D6A"/>
                </a:solidFill>
                <a:latin typeface="Consolas"/>
              </a:rPr>
              <a:t>13</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57188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825EB28A-7927-4001-BB0A-276DE88B2851}" type="slidenum">
              <a:rPr lang="en-GB" sz="1000">
                <a:solidFill>
                  <a:srgbClr val="8795A1"/>
                </a:solidFill>
                <a:latin typeface="Segoe UI"/>
              </a:rPr>
              <a:t>22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OPERATORS = [ # (name, preconditions, add, delete) (&quot;code&quot;, set(), {&quot;coded&quot;}, set()), (&quot;review&quot;, {&quot;coded&quot;}, {&quot;reviewed&quot;}, set()), (&quot;test&quot;, {&quot;reviewed&quot;, &quot;staging free&quot;}, {&quot;tested&quot;, &quot;staging busy&quot;}, {&quot;staging free&quot;}), (&quot;deploy&quot;, {&quot;tested&quot;}, {&quot;deployed&quot;}, set()), (&quot;release staging&quot;, {&quot;staging busy&quot;}, {&quot;staging free&quot;}, {&quot;staging busy&quot;}), ]"/>
          <p:cNvSpPr txBox="1"/>
          <p:nvPr/>
        </p:nvSpPr>
        <p:spPr>
          <a:xfrm>
            <a:off x="1362456" y="2066543"/>
            <a:ext cx="9987991" cy="3462527"/>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a:t>
            </a:r>
          </a:p>
          <a:p>
            <a:pPr>
              <a:lnSpc>
                <a:spcPct val="100000"/>
              </a:lnSpc>
              <a:spcAft>
                <a:spcPts val="0"/>
              </a:spcAft>
            </a:pPr>
            <a:r>
              <a:rPr sz="2000" i="0">
                <a:solidFill>
                  <a:srgbClr val="E8EDF2"/>
                </a:solidFill>
                <a:latin typeface="Consolas"/>
              </a:rPr>
              <a:t>OPERATORS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1">
                <a:solidFill>
                  <a:srgbClr val="8795A1"/>
                </a:solidFill>
                <a:latin typeface="Consolas"/>
              </a:rPr>
              <a:t># (name, preconditions, add, delete)</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code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coded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review</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coded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reviewed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test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reviewed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tested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staging busy</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deploy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tested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deployed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release staging</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busy</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busy</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AEB6BF"/>
                </a:solidFill>
                <a:latin typeface="Consolas"/>
              </a:rPr>
              <a:t>]</a:t>
            </a:r>
          </a:p>
        </p:txBody>
      </p:sp>
      <p:sp>
        <p:nvSpPr>
          <p:cNvPr id="14" name="!!code-num"/>
          <p:cNvSpPr txBox="1"/>
          <p:nvPr/>
        </p:nvSpPr>
        <p:spPr>
          <a:xfrm>
            <a:off x="768096" y="2066543"/>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14</a:t>
            </a:r>
          </a:p>
          <a:p>
            <a:pPr algn="r">
              <a:lnSpc>
                <a:spcPct val="100000"/>
              </a:lnSpc>
            </a:pPr>
            <a:r>
              <a:rPr sz="2000">
                <a:solidFill>
                  <a:srgbClr val="4F5D6A"/>
                </a:solidFill>
                <a:latin typeface="Consolas"/>
              </a:rPr>
              <a:t>15</a:t>
            </a:r>
          </a:p>
          <a:p>
            <a:pPr algn="r">
              <a:lnSpc>
                <a:spcPct val="100000"/>
              </a:lnSpc>
            </a:pPr>
            <a:r>
              <a:rPr sz="2000">
                <a:solidFill>
                  <a:srgbClr val="4F5D6A"/>
                </a:solidFill>
                <a:latin typeface="Consolas"/>
              </a:rPr>
              <a:t>16</a:t>
            </a:r>
          </a:p>
          <a:p>
            <a:pPr algn="r">
              <a:lnSpc>
                <a:spcPct val="100000"/>
              </a:lnSpc>
            </a:pPr>
            <a:r>
              <a:rPr sz="2000">
                <a:solidFill>
                  <a:srgbClr val="4F5D6A"/>
                </a:solidFill>
                <a:latin typeface="Consolas"/>
              </a:rPr>
              <a:t>17</a:t>
            </a:r>
          </a:p>
          <a:p>
            <a:pPr algn="r">
              <a:lnSpc>
                <a:spcPct val="100000"/>
              </a:lnSpc>
            </a:pPr>
            <a:r>
              <a:rPr sz="2000">
                <a:solidFill>
                  <a:srgbClr val="4F5D6A"/>
                </a:solidFill>
                <a:latin typeface="Consolas"/>
              </a:rPr>
              <a:t>18</a:t>
            </a:r>
          </a:p>
          <a:p>
            <a:pPr algn="r">
              <a:lnSpc>
                <a:spcPct val="100000"/>
              </a:lnSpc>
            </a:pPr>
            <a:r>
              <a:rPr sz="2000">
                <a:solidFill>
                  <a:srgbClr val="4F5D6A"/>
                </a:solidFill>
                <a:latin typeface="Consolas"/>
              </a:rPr>
              <a:t>19</a:t>
            </a:r>
          </a:p>
          <a:p>
            <a:pPr algn="r">
              <a:lnSpc>
                <a:spcPct val="100000"/>
              </a:lnSpc>
            </a:pPr>
            <a:r>
              <a:rPr sz="2000">
                <a:solidFill>
                  <a:srgbClr val="4F5D6A"/>
                </a:solidFill>
                <a:latin typeface="Consolas"/>
              </a:rPr>
              <a:t>20</a:t>
            </a:r>
          </a:p>
          <a:p>
            <a:pPr algn="r">
              <a:lnSpc>
                <a:spcPct val="100000"/>
              </a:lnSpc>
            </a:pPr>
            <a:r>
              <a:rPr sz="2000">
                <a:solidFill>
                  <a:srgbClr val="4F5D6A"/>
                </a:solidFill>
                <a:latin typeface="Consolas"/>
              </a:rPr>
              <a:t>21</a:t>
            </a:r>
          </a:p>
          <a:p>
            <a:pPr algn="r">
              <a:lnSpc>
                <a:spcPct val="100000"/>
              </a:lnSpc>
            </a:pPr>
            <a:r>
              <a:rPr sz="2000">
                <a:solidFill>
                  <a:srgbClr val="4F5D6A"/>
                </a:solidFill>
                <a:latin typeface="Consolas"/>
              </a:rPr>
              <a:t>22</a:t>
            </a:r>
          </a:p>
          <a:p>
            <a:pPr algn="r">
              <a:lnSpc>
                <a:spcPct val="100000"/>
              </a:lnSpc>
            </a:pPr>
            <a:r>
              <a:rPr sz="2000">
                <a:solidFill>
                  <a:srgbClr val="4F5D6A"/>
                </a:solidFill>
                <a:latin typeface="Consolas"/>
              </a:rPr>
              <a:t>23</a:t>
            </a:r>
          </a:p>
          <a:p>
            <a:pPr algn="r">
              <a:lnSpc>
                <a:spcPct val="100000"/>
              </a:lnSpc>
            </a:pPr>
            <a:r>
              <a:rPr sz="2000">
                <a:solidFill>
                  <a:srgbClr val="4F5D6A"/>
                </a:solidFill>
                <a:latin typeface="Consolas"/>
              </a:rPr>
              <a:t>24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78959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6EF672D7-CD4E-47ED-90C1-2F560B04A5F8}" type="slidenum">
              <a:rPr lang="en-GB" sz="1000">
                <a:solidFill>
                  <a:srgbClr val="8795A1"/>
                </a:solidFill>
                <a:latin typeface="Segoe UI"/>
              </a:rPr>
              <a:t>23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340863"/>
          </a:xfrm>
          <a:prstGeom prst="roundRect">
            <a:avLst>
              <a:gd name="adj" fmla="val 39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def gps(state, goals, depth=0, trace=None): &quot;&quot;&quot;Achieve each goal by reducing differences. Chapter 9's engine.&quot;&quot;&quot; if trace is None: trace = [] if depth &gt; 20: return None, trace"/>
          <p:cNvSpPr txBox="1"/>
          <p:nvPr/>
        </p:nvSpPr>
        <p:spPr>
          <a:xfrm>
            <a:off x="1362456" y="2066543"/>
            <a:ext cx="9987991" cy="184708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gps</a:t>
            </a:r>
            <a:r>
              <a:rPr sz="1900" i="0">
                <a:solidFill>
                  <a:srgbClr val="AEB6BF"/>
                </a:solidFill>
                <a:latin typeface="Consolas"/>
              </a:rPr>
              <a:t>(</a:t>
            </a:r>
            <a:r>
              <a:rPr sz="1900" i="0">
                <a:solidFill>
                  <a:srgbClr val="E8EDF2"/>
                </a:solidFill>
                <a:latin typeface="Consolas"/>
              </a:rPr>
              <a:t>state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goals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depth</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trace</a:t>
            </a:r>
            <a:r>
              <a:rPr sz="1900" i="0">
                <a:solidFill>
                  <a:srgbClr val="AEB6BF"/>
                </a:solidFill>
                <a:latin typeface="Consolas"/>
              </a:rPr>
              <a:t>=</a:t>
            </a:r>
            <a:r>
              <a:rPr sz="1900" i="0">
                <a:solidFill>
                  <a:srgbClr val="5DADE2"/>
                </a:solidFill>
                <a:latin typeface="Consolas"/>
              </a:rPr>
              <a:t>None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"""Achieve each goal by reducing differences. Chapter 9's engine."""</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trace</a:t>
            </a:r>
            <a:r>
              <a:rPr sz="1900" i="0">
                <a:solidFill>
                  <a:srgbClr val="E8EDF2"/>
                </a:solidFill>
                <a:latin typeface="Consolas"/>
              </a:rPr>
              <a:t> </a:t>
            </a:r>
            <a:r>
              <a:rPr sz="1900" i="0">
                <a:solidFill>
                  <a:srgbClr val="AEB6BF"/>
                </a:solidFill>
                <a:latin typeface="Consolas"/>
              </a:rPr>
              <a:t>is</a:t>
            </a:r>
            <a:r>
              <a:rPr sz="1900" i="0">
                <a:solidFill>
                  <a:srgbClr val="E8EDF2"/>
                </a:solidFill>
                <a:latin typeface="Consolas"/>
              </a:rPr>
              <a:t> </a:t>
            </a:r>
            <a:r>
              <a:rPr sz="1900" i="0">
                <a:solidFill>
                  <a:srgbClr val="5DADE2"/>
                </a:solidFill>
                <a:latin typeface="Consolas"/>
              </a:rPr>
              <a:t>None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trace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depth</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F7DC6F"/>
                </a:solidFill>
                <a:latin typeface="Consolas"/>
              </a:rPr>
              <a:t>20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5DADE2"/>
                </a:solidFill>
                <a:latin typeface="Consolas"/>
              </a:rPr>
              <a:t>None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trace</a:t>
            </a:r>
          </a:p>
        </p:txBody>
      </p:sp>
      <p:sp>
        <p:nvSpPr>
          <p:cNvPr id="14" name="!!code-num"/>
          <p:cNvSpPr txBox="1"/>
          <p:nvPr/>
        </p:nvSpPr>
        <p:spPr>
          <a:xfrm>
            <a:off x="768096" y="2066543"/>
            <a:ext cx="393192" cy="18470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27</a:t>
            </a:r>
          </a:p>
          <a:p>
            <a:pPr algn="r">
              <a:lnSpc>
                <a:spcPct val="100000"/>
              </a:lnSpc>
            </a:pPr>
            <a:r>
              <a:rPr sz="1900">
                <a:solidFill>
                  <a:srgbClr val="4F5D6A"/>
                </a:solidFill>
                <a:latin typeface="Consolas"/>
              </a:rPr>
              <a:t>28</a:t>
            </a:r>
          </a:p>
          <a:p>
            <a:pPr algn="r">
              <a:lnSpc>
                <a:spcPct val="100000"/>
              </a:lnSpc>
            </a:pPr>
            <a:r>
              <a:rPr sz="1900">
                <a:solidFill>
                  <a:srgbClr val="4F5D6A"/>
                </a:solidFill>
                <a:latin typeface="Consolas"/>
              </a:rPr>
              <a:t>29</a:t>
            </a:r>
          </a:p>
          <a:p>
            <a:pPr algn="r">
              <a:lnSpc>
                <a:spcPct val="100000"/>
              </a:lnSpc>
            </a:pPr>
            <a:r>
              <a:rPr sz="1900">
                <a:solidFill>
                  <a:srgbClr val="4F5D6A"/>
                </a:solidFill>
                <a:latin typeface="Consolas"/>
              </a:rPr>
              <a:t>30</a:t>
            </a:r>
          </a:p>
          <a:p>
            <a:pPr algn="r">
              <a:lnSpc>
                <a:spcPct val="100000"/>
              </a:lnSpc>
            </a:pPr>
            <a:r>
              <a:rPr sz="1900">
                <a:solidFill>
                  <a:srgbClr val="4F5D6A"/>
                </a:solidFill>
                <a:latin typeface="Consolas"/>
              </a:rPr>
              <a:t>31</a:t>
            </a:r>
          </a:p>
          <a:p>
            <a:pPr algn="r">
              <a:lnSpc>
                <a:spcPct val="100000"/>
              </a:lnSpc>
            </a:pPr>
            <a:r>
              <a:rPr sz="1900">
                <a:solidFill>
                  <a:srgbClr val="4F5D6A"/>
                </a:solidFill>
                <a:latin typeface="Consolas"/>
              </a:rPr>
              <a:t>32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00730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8615A7AF-F1F0-4F76-B876-EEA0A1D4FF2E}"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for g in goals: if g in state: continue achieved = False for (name, pre, add, dele) in OPERATORS: if g not in add: continue got, trace = gps(state, sorted(pre), depth + 1, trace) if got is None: continue state = got if not pre &lt;= state: continue state = (state - dele) | add trace.append(name) achieved = True break if not achieved: return None, trace return state, trace"/>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goals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E8EDF2"/>
                </a:solidFill>
                <a:latin typeface="Consolas"/>
              </a:rPr>
              <a:t>achieved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dele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OPERATORS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add</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E8EDF2"/>
                </a:solidFill>
                <a:latin typeface="Consolas"/>
              </a:rPr>
              <a:t>got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trace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gps</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sorted</a:t>
            </a:r>
            <a:r>
              <a:rPr sz="1300" i="0">
                <a:solidFill>
                  <a:srgbClr val="AEB6BF"/>
                </a:solidFill>
                <a:latin typeface="Consolas"/>
              </a:rPr>
              <a:t>(</a:t>
            </a:r>
            <a:r>
              <a:rPr sz="1300" i="0">
                <a:solidFill>
                  <a:srgbClr val="E8EDF2"/>
                </a:solidFill>
                <a:latin typeface="Consolas"/>
              </a:rPr>
              <a:t>pre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depth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trace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got</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pre</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state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dele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add</a:t>
            </a:r>
          </a:p>
          <a:p>
            <a:pPr>
              <a:lnSpc>
                <a:spcPct val="100000"/>
              </a:lnSpc>
              <a:spcAft>
                <a:spcPts val="0"/>
              </a:spcAft>
            </a:pPr>
            <a:r>
              <a:rPr sz="1300" i="0">
                <a:solidFill>
                  <a:srgbClr val="E8EDF2"/>
                </a:solidFill>
                <a:latin typeface="Consolas"/>
              </a:rPr>
              <a:t>            </a:t>
            </a:r>
            <a:r>
              <a:rPr sz="1300" i="0">
                <a:solidFill>
                  <a:srgbClr val="E8EDF2"/>
                </a:solidFill>
                <a:latin typeface="Consolas"/>
              </a:rPr>
              <a:t>trace</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E8EDF2"/>
                </a:solidFill>
                <a:latin typeface="Consolas"/>
              </a:rPr>
              <a:t>name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achieved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True</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achieved</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trace</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trace</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33</a:t>
            </a:r>
          </a:p>
          <a:p>
            <a:pPr algn="r">
              <a:lnSpc>
                <a:spcPct val="100000"/>
              </a:lnSpc>
            </a:pPr>
            <a:r>
              <a:rPr sz="1300">
                <a:solidFill>
                  <a:srgbClr val="4F5D6A"/>
                </a:solidFill>
                <a:latin typeface="Consolas"/>
              </a:rPr>
              <a:t>34</a:t>
            </a:r>
          </a:p>
          <a:p>
            <a:pPr algn="r">
              <a:lnSpc>
                <a:spcPct val="100000"/>
              </a:lnSpc>
            </a:pPr>
            <a:r>
              <a:rPr sz="1300">
                <a:solidFill>
                  <a:srgbClr val="4F5D6A"/>
                </a:solidFill>
                <a:latin typeface="Consolas"/>
              </a:rPr>
              <a:t>35</a:t>
            </a:r>
          </a:p>
          <a:p>
            <a:pPr algn="r">
              <a:lnSpc>
                <a:spcPct val="100000"/>
              </a:lnSpc>
            </a:pPr>
            <a:r>
              <a:rPr sz="1300">
                <a:solidFill>
                  <a:srgbClr val="4F5D6A"/>
                </a:solidFill>
                <a:latin typeface="Consolas"/>
              </a:rPr>
              <a:t>36</a:t>
            </a:r>
          </a:p>
          <a:p>
            <a:pPr algn="r">
              <a:lnSpc>
                <a:spcPct val="100000"/>
              </a:lnSpc>
            </a:pPr>
            <a:r>
              <a:rPr sz="1300">
                <a:solidFill>
                  <a:srgbClr val="4F5D6A"/>
                </a:solidFill>
                <a:latin typeface="Consolas"/>
              </a:rPr>
              <a:t>37</a:t>
            </a:r>
          </a:p>
          <a:p>
            <a:pPr algn="r">
              <a:lnSpc>
                <a:spcPct val="100000"/>
              </a:lnSpc>
            </a:pPr>
            <a:r>
              <a:rPr sz="1300">
                <a:solidFill>
                  <a:srgbClr val="4F5D6A"/>
                </a:solidFill>
                <a:latin typeface="Consolas"/>
              </a:rPr>
              <a:t>38</a:t>
            </a:r>
          </a:p>
          <a:p>
            <a:pPr algn="r">
              <a:lnSpc>
                <a:spcPct val="100000"/>
              </a:lnSpc>
            </a:pPr>
            <a:r>
              <a:rPr sz="1300">
                <a:solidFill>
                  <a:srgbClr val="4F5D6A"/>
                </a:solidFill>
                <a:latin typeface="Consolas"/>
              </a:rPr>
              <a:t>39</a:t>
            </a:r>
          </a:p>
          <a:p>
            <a:pPr algn="r">
              <a:lnSpc>
                <a:spcPct val="100000"/>
              </a:lnSpc>
            </a:pPr>
            <a:r>
              <a:rPr sz="1300">
                <a:solidFill>
                  <a:srgbClr val="4F5D6A"/>
                </a:solidFill>
                <a:latin typeface="Consolas"/>
              </a:rPr>
              <a:t>40</a:t>
            </a:r>
          </a:p>
          <a:p>
            <a:pPr algn="r">
              <a:lnSpc>
                <a:spcPct val="100000"/>
              </a:lnSpc>
            </a:pPr>
            <a:r>
              <a:rPr sz="1300">
                <a:solidFill>
                  <a:srgbClr val="4F5D6A"/>
                </a:solidFill>
                <a:latin typeface="Consolas"/>
              </a:rPr>
              <a:t>41</a:t>
            </a:r>
          </a:p>
          <a:p>
            <a:pPr algn="r">
              <a:lnSpc>
                <a:spcPct val="100000"/>
              </a:lnSpc>
            </a:pPr>
            <a:r>
              <a:rPr sz="1300">
                <a:solidFill>
                  <a:srgbClr val="4F5D6A"/>
                </a:solidFill>
                <a:latin typeface="Consolas"/>
              </a:rPr>
              <a:t>42</a:t>
            </a:r>
          </a:p>
          <a:p>
            <a:pPr algn="r">
              <a:lnSpc>
                <a:spcPct val="100000"/>
              </a:lnSpc>
            </a:pPr>
            <a:r>
              <a:rPr sz="1300">
                <a:solidFill>
                  <a:srgbClr val="4F5D6A"/>
                </a:solidFill>
                <a:latin typeface="Consolas"/>
              </a:rPr>
              <a:t>43</a:t>
            </a:r>
          </a:p>
          <a:p>
            <a:pPr algn="r">
              <a:lnSpc>
                <a:spcPct val="100000"/>
              </a:lnSpc>
            </a:pPr>
            <a:r>
              <a:rPr sz="1300">
                <a:solidFill>
                  <a:srgbClr val="4F5D6A"/>
                </a:solidFill>
                <a:latin typeface="Consolas"/>
              </a:rPr>
              <a:t>44</a:t>
            </a:r>
          </a:p>
          <a:p>
            <a:pPr algn="r">
              <a:lnSpc>
                <a:spcPct val="100000"/>
              </a:lnSpc>
            </a:pPr>
            <a:r>
              <a:rPr sz="1300">
                <a:solidFill>
                  <a:srgbClr val="4F5D6A"/>
                </a:solidFill>
                <a:latin typeface="Consolas"/>
              </a:rPr>
              <a:t>45</a:t>
            </a:r>
          </a:p>
          <a:p>
            <a:pPr algn="r">
              <a:lnSpc>
                <a:spcPct val="100000"/>
              </a:lnSpc>
            </a:pPr>
            <a:r>
              <a:rPr sz="1300">
                <a:solidFill>
                  <a:srgbClr val="4F5D6A"/>
                </a:solidFill>
                <a:latin typeface="Consolas"/>
              </a:rPr>
              <a:t>46</a:t>
            </a:r>
          </a:p>
          <a:p>
            <a:pPr algn="r">
              <a:lnSpc>
                <a:spcPct val="100000"/>
              </a:lnSpc>
            </a:pPr>
            <a:r>
              <a:rPr sz="1300">
                <a:solidFill>
                  <a:srgbClr val="4F5D6A"/>
                </a:solidFill>
                <a:latin typeface="Consolas"/>
              </a:rPr>
              <a:t>47</a:t>
            </a:r>
          </a:p>
          <a:p>
            <a:pPr algn="r">
              <a:lnSpc>
                <a:spcPct val="100000"/>
              </a:lnSpc>
            </a:pPr>
            <a:r>
              <a:rPr sz="1300">
                <a:solidFill>
                  <a:srgbClr val="4F5D6A"/>
                </a:solidFill>
                <a:latin typeface="Consolas"/>
              </a:rPr>
              <a:t>48</a:t>
            </a:r>
          </a:p>
          <a:p>
            <a:pPr algn="r">
              <a:lnSpc>
                <a:spcPct val="100000"/>
              </a:lnSpc>
            </a:pPr>
            <a:r>
              <a:rPr sz="1300">
                <a:solidFill>
                  <a:srgbClr val="4F5D6A"/>
                </a:solidFill>
                <a:latin typeface="Consolas"/>
              </a:rPr>
              <a:t>49</a:t>
            </a:r>
          </a:p>
          <a:p>
            <a:pPr algn="r">
              <a:lnSpc>
                <a:spcPct val="100000"/>
              </a:lnSpc>
            </a:pPr>
            <a:r>
              <a:rPr sz="1300">
                <a:solidFill>
                  <a:srgbClr val="4F5D6A"/>
                </a:solidFill>
                <a:latin typeface="Consolas"/>
              </a:rPr>
              <a:t>50</a:t>
            </a:r>
          </a:p>
          <a:p>
            <a:pPr algn="r">
              <a:lnSpc>
                <a:spcPct val="100000"/>
              </a:lnSpc>
            </a:pPr>
            <a:r>
              <a:rPr sz="1300">
                <a:solidFill>
                  <a:srgbClr val="4F5D6A"/>
                </a:solidFill>
                <a:latin typeface="Consolas"/>
              </a:rPr>
              <a:t>51</a:t>
            </a:r>
          </a:p>
          <a:p>
            <a:pPr algn="r">
              <a:lnSpc>
                <a:spcPct val="100000"/>
              </a:lnSpc>
            </a:pPr>
            <a:r>
              <a:rPr sz="1300">
                <a:solidFill>
                  <a:srgbClr val="4F5D6A"/>
                </a:solidFill>
                <a:latin typeface="Consolas"/>
              </a:rPr>
              <a:t>52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22501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B351CF76-6E34-4E4C-9C5B-D62679396319}"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 2. Eliza (1966): pattern substitution -- as in Chapter 18"/>
          <p:cNvSpPr txBox="1"/>
          <p:nvPr/>
        </p:nvSpPr>
        <p:spPr>
          <a:xfrm>
            <a:off x="1362456" y="2066543"/>
            <a:ext cx="9987991" cy="719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a:t>
            </a:r>
          </a:p>
          <a:p>
            <a:pPr>
              <a:lnSpc>
                <a:spcPct val="100000"/>
              </a:lnSpc>
              <a:spcAft>
                <a:spcPts val="0"/>
              </a:spcAft>
            </a:pPr>
            <a:r>
              <a:rPr sz="2000" i="1">
                <a:solidFill>
                  <a:srgbClr val="8795A1"/>
                </a:solidFill>
                <a:latin typeface="Consolas"/>
              </a:rPr>
              <a:t># 2. Eliza (1966): pattern substitution       -- as in Chapter 18</a:t>
            </a:r>
          </a:p>
        </p:txBody>
      </p:sp>
      <p:sp>
        <p:nvSpPr>
          <p:cNvPr id="14" name="!!code-num"/>
          <p:cNvSpPr txBox="1"/>
          <p:nvPr/>
        </p:nvSpPr>
        <p:spPr>
          <a:xfrm>
            <a:off x="768096" y="2066543"/>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55</a:t>
            </a:r>
          </a:p>
          <a:p>
            <a:pPr algn="r">
              <a:lnSpc>
                <a:spcPct val="100000"/>
              </a:lnSpc>
            </a:pPr>
            <a:r>
              <a:rPr sz="2000">
                <a:solidFill>
                  <a:srgbClr val="4F5D6A"/>
                </a:solidFill>
                <a:latin typeface="Consolas"/>
              </a:rPr>
              <a:t>56</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44272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D2E8B1F0-EF84-41CC-B729-EC9117034369}"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REFLECT = {&quot;my&quot;: &quot;your&quot;, &quot;i&quot;: &quot;you&quot;, &quot;me&quot;: &quot;you&quot;, &quot;am&quot;: &quot;are&quot;} ELIZA_RULES = [ (r&quot;^i am (.*)$&quot;, &quot;How long have you been {0}?&quot;), (r&quot;^my (\w+) keeps (.*)$&quot;, &quot;Tell me more about your {0}.&quot;), (r&quot;^because (.*)$&quot;, &quot;Is that the real reason?&quot;), ] def eliza(line): low = line.lower().strip().rstrip(&quot;.!?&quot;) for pat, tmpl in ELIZA_RULES: m = re.match(pat, low) if m: groups = [&quot; &quot;.join(REFLECT.get(w, w) for w in g.split()) for g in m.groups()] return tmpl.format(*groups) return &quot;Can you tell me more about that?&quot;"/>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a:t>
            </a:r>
          </a:p>
          <a:p>
            <a:pPr>
              <a:lnSpc>
                <a:spcPct val="100000"/>
              </a:lnSpc>
              <a:spcAft>
                <a:spcPts val="0"/>
              </a:spcAft>
            </a:pPr>
            <a:r>
              <a:rPr sz="1400" i="0">
                <a:solidFill>
                  <a:srgbClr val="E8EDF2"/>
                </a:solidFill>
                <a:latin typeface="Consolas"/>
              </a:rPr>
              <a:t>REFLECT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my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your</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i</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you</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you</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am</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are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ELIZA_RULES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r</a:t>
            </a:r>
            <a:r>
              <a:rPr sz="1400" i="0">
                <a:solidFill>
                  <a:srgbClr val="7DCEA0"/>
                </a:solidFill>
                <a:latin typeface="Consolas"/>
              </a:rPr>
              <a:t>"</a:t>
            </a:r>
            <a:r>
              <a:rPr sz="1400" i="0">
                <a:solidFill>
                  <a:srgbClr val="7DCEA0"/>
                </a:solidFill>
                <a:latin typeface="Consolas"/>
              </a:rPr>
              <a:t>^i am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How long have you been </a:t>
            </a:r>
            <a:r>
              <a:rPr sz="1400" i="0">
                <a:solidFill>
                  <a:srgbClr val="7DCEA0"/>
                </a:solidFill>
                <a:latin typeface="Consolas"/>
              </a:rPr>
              <a:t>{0}</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r</a:t>
            </a:r>
            <a:r>
              <a:rPr sz="1400" i="0">
                <a:solidFill>
                  <a:srgbClr val="7DCEA0"/>
                </a:solidFill>
                <a:latin typeface="Consolas"/>
              </a:rPr>
              <a:t>"</a:t>
            </a:r>
            <a:r>
              <a:rPr sz="1400" i="0">
                <a:solidFill>
                  <a:srgbClr val="7DCEA0"/>
                </a:solidFill>
                <a:latin typeface="Consolas"/>
              </a:rPr>
              <a:t>^my (</a:t>
            </a:r>
            <a:r>
              <a:rPr sz="1400" i="0">
                <a:solidFill>
                  <a:srgbClr val="7DCEA0"/>
                </a:solidFill>
                <a:latin typeface="Consolas"/>
              </a:rPr>
              <a:t>\</a:t>
            </a:r>
            <a:r>
              <a:rPr sz="1400" i="0">
                <a:solidFill>
                  <a:srgbClr val="7DCEA0"/>
                </a:solidFill>
                <a:latin typeface="Consolas"/>
              </a:rPr>
              <a:t>w+) keeps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Tell me more about your </a:t>
            </a:r>
            <a:r>
              <a:rPr sz="1400" i="0">
                <a:solidFill>
                  <a:srgbClr val="7DCEA0"/>
                </a:solidFill>
                <a:latin typeface="Consolas"/>
              </a:rPr>
              <a:t>{0}</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r</a:t>
            </a:r>
            <a:r>
              <a:rPr sz="1400" i="0">
                <a:solidFill>
                  <a:srgbClr val="7DCEA0"/>
                </a:solidFill>
                <a:latin typeface="Consolas"/>
              </a:rPr>
              <a:t>"</a:t>
            </a:r>
            <a:r>
              <a:rPr sz="1400" i="0">
                <a:solidFill>
                  <a:srgbClr val="7DCEA0"/>
                </a:solidFill>
                <a:latin typeface="Consolas"/>
              </a:rPr>
              <a:t>^because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Is that the real reason?</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eliza</a:t>
            </a:r>
            <a:r>
              <a:rPr sz="1400" i="0">
                <a:solidFill>
                  <a:srgbClr val="AEB6BF"/>
                </a:solidFill>
                <a:latin typeface="Consolas"/>
              </a:rPr>
              <a:t>(</a:t>
            </a:r>
            <a:r>
              <a:rPr sz="1400" i="0">
                <a:solidFill>
                  <a:srgbClr val="E8EDF2"/>
                </a:solidFill>
                <a:latin typeface="Consolas"/>
              </a:rPr>
              <a:t>line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low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line</a:t>
            </a:r>
            <a:r>
              <a:rPr sz="1400" i="0">
                <a:solidFill>
                  <a:srgbClr val="AEB6BF"/>
                </a:solidFill>
                <a:latin typeface="Consolas"/>
              </a:rPr>
              <a:t>.</a:t>
            </a:r>
            <a:r>
              <a:rPr sz="1400" i="0">
                <a:solidFill>
                  <a:srgbClr val="E8EDF2"/>
                </a:solidFill>
                <a:latin typeface="Consolas"/>
              </a:rPr>
              <a:t>lower</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strip</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rstrip</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pat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tmpl</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ELIZA_RULES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m</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a:t>
            </a:r>
            <a:r>
              <a:rPr sz="1400" i="0">
                <a:solidFill>
                  <a:srgbClr val="AEB6BF"/>
                </a:solidFill>
                <a:latin typeface="Consolas"/>
              </a:rPr>
              <a:t>.</a:t>
            </a:r>
            <a:r>
              <a:rPr sz="1400" i="0">
                <a:solidFill>
                  <a:srgbClr val="E8EDF2"/>
                </a:solidFill>
                <a:latin typeface="Consolas"/>
              </a:rPr>
              <a:t>match</a:t>
            </a:r>
            <a:r>
              <a:rPr sz="1400" i="0">
                <a:solidFill>
                  <a:srgbClr val="AEB6BF"/>
                </a:solidFill>
                <a:latin typeface="Consolas"/>
              </a:rPr>
              <a:t>(</a:t>
            </a:r>
            <a:r>
              <a:rPr sz="1400" i="0">
                <a:solidFill>
                  <a:srgbClr val="E8EDF2"/>
                </a:solidFill>
                <a:latin typeface="Consolas"/>
              </a:rPr>
              <a:t>pat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low</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m</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groups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join</a:t>
            </a:r>
            <a:r>
              <a:rPr sz="1400" i="0">
                <a:solidFill>
                  <a:srgbClr val="AEB6BF"/>
                </a:solidFill>
                <a:latin typeface="Consolas"/>
              </a:rPr>
              <a:t>(</a:t>
            </a:r>
            <a:r>
              <a:rPr sz="1400" i="0">
                <a:solidFill>
                  <a:srgbClr val="E8EDF2"/>
                </a:solidFill>
                <a:latin typeface="Consolas"/>
              </a:rPr>
              <a:t>REFLECT</a:t>
            </a:r>
            <a:r>
              <a:rPr sz="1400" i="0">
                <a:solidFill>
                  <a:srgbClr val="AEB6BF"/>
                </a:solidFill>
                <a:latin typeface="Consolas"/>
              </a:rPr>
              <a:t>.</a:t>
            </a:r>
            <a:r>
              <a:rPr sz="1400" i="0">
                <a:solidFill>
                  <a:srgbClr val="E8EDF2"/>
                </a:solidFill>
                <a:latin typeface="Consolas"/>
              </a:rPr>
              <a:t>get</a:t>
            </a:r>
            <a:r>
              <a:rPr sz="1400" i="0">
                <a:solidFill>
                  <a:srgbClr val="AEB6BF"/>
                </a:solidFill>
                <a:latin typeface="Consolas"/>
              </a:rPr>
              <a:t>(</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g</a:t>
            </a:r>
            <a:r>
              <a:rPr sz="1400" i="0">
                <a:solidFill>
                  <a:srgbClr val="AEB6BF"/>
                </a:solidFill>
                <a:latin typeface="Consolas"/>
              </a:rPr>
              <a:t>.</a:t>
            </a:r>
            <a:r>
              <a:rPr sz="1400" i="0">
                <a:solidFill>
                  <a:srgbClr val="E8EDF2"/>
                </a:solidFill>
                <a:latin typeface="Consolas"/>
              </a:rPr>
              <a:t>split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g</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m</a:t>
            </a:r>
            <a:r>
              <a:rPr sz="1400" i="0">
                <a:solidFill>
                  <a:srgbClr val="AEB6BF"/>
                </a:solidFill>
                <a:latin typeface="Consolas"/>
              </a:rPr>
              <a:t>.</a:t>
            </a:r>
            <a:r>
              <a:rPr sz="1400" i="0">
                <a:solidFill>
                  <a:srgbClr val="E8EDF2"/>
                </a:solidFill>
                <a:latin typeface="Consolas"/>
              </a:rPr>
              <a:t>groups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tmpl</a:t>
            </a:r>
            <a:r>
              <a:rPr sz="1400" i="0">
                <a:solidFill>
                  <a:srgbClr val="AEB6BF"/>
                </a:solidFill>
                <a:latin typeface="Consolas"/>
              </a:rPr>
              <a:t>.</a:t>
            </a:r>
            <a:r>
              <a:rPr sz="1400" i="0">
                <a:solidFill>
                  <a:srgbClr val="E8EDF2"/>
                </a:solidFill>
                <a:latin typeface="Consolas"/>
              </a:rPr>
              <a:t>format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groups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Can you tell me more about that?</a:t>
            </a:r>
            <a:r>
              <a:rPr sz="1400" i="0">
                <a:solidFill>
                  <a:srgbClr val="7DCEA0"/>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57</a:t>
            </a:r>
          </a:p>
          <a:p>
            <a:pPr algn="r">
              <a:lnSpc>
                <a:spcPct val="100000"/>
              </a:lnSpc>
            </a:pPr>
            <a:r>
              <a:rPr sz="1400">
                <a:solidFill>
                  <a:srgbClr val="4F5D6A"/>
                </a:solidFill>
                <a:latin typeface="Consolas"/>
              </a:rPr>
              <a:t>58</a:t>
            </a:r>
          </a:p>
          <a:p>
            <a:pPr algn="r">
              <a:lnSpc>
                <a:spcPct val="100000"/>
              </a:lnSpc>
            </a:pPr>
            <a:r>
              <a:rPr sz="1400">
                <a:solidFill>
                  <a:srgbClr val="4F5D6A"/>
                </a:solidFill>
                <a:latin typeface="Consolas"/>
              </a:rPr>
              <a:t>59</a:t>
            </a:r>
          </a:p>
          <a:p>
            <a:pPr algn="r">
              <a:lnSpc>
                <a:spcPct val="100000"/>
              </a:lnSpc>
            </a:pPr>
            <a:r>
              <a:rPr sz="1400">
                <a:solidFill>
                  <a:srgbClr val="4F5D6A"/>
                </a:solidFill>
                <a:latin typeface="Consolas"/>
              </a:rPr>
              <a:t>60</a:t>
            </a:r>
          </a:p>
          <a:p>
            <a:pPr algn="r">
              <a:lnSpc>
                <a:spcPct val="100000"/>
              </a:lnSpc>
            </a:pPr>
            <a:r>
              <a:rPr sz="1400">
                <a:solidFill>
                  <a:srgbClr val="4F5D6A"/>
                </a:solidFill>
                <a:latin typeface="Consolas"/>
              </a:rPr>
              <a:t>61</a:t>
            </a:r>
          </a:p>
          <a:p>
            <a:pPr algn="r">
              <a:lnSpc>
                <a:spcPct val="100000"/>
              </a:lnSpc>
            </a:pPr>
            <a:r>
              <a:rPr sz="1400">
                <a:solidFill>
                  <a:srgbClr val="4F5D6A"/>
                </a:solidFill>
                <a:latin typeface="Consolas"/>
              </a:rPr>
              <a:t>62</a:t>
            </a:r>
          </a:p>
          <a:p>
            <a:pPr algn="r">
              <a:lnSpc>
                <a:spcPct val="100000"/>
              </a:lnSpc>
            </a:pPr>
            <a:r>
              <a:rPr sz="1400">
                <a:solidFill>
                  <a:srgbClr val="4F5D6A"/>
                </a:solidFill>
                <a:latin typeface="Consolas"/>
              </a:rPr>
              <a:t>63</a:t>
            </a:r>
          </a:p>
          <a:p>
            <a:pPr algn="r">
              <a:lnSpc>
                <a:spcPct val="100000"/>
              </a:lnSpc>
            </a:pPr>
            <a:r>
              <a:rPr sz="1400">
                <a:solidFill>
                  <a:srgbClr val="4F5D6A"/>
                </a:solidFill>
                <a:latin typeface="Consolas"/>
              </a:rPr>
              <a:t>64</a:t>
            </a:r>
          </a:p>
          <a:p>
            <a:pPr algn="r">
              <a:lnSpc>
                <a:spcPct val="100000"/>
              </a:lnSpc>
            </a:pPr>
            <a:r>
              <a:rPr sz="1400">
                <a:solidFill>
                  <a:srgbClr val="4F5D6A"/>
                </a:solidFill>
                <a:latin typeface="Consolas"/>
              </a:rPr>
              <a:t>65</a:t>
            </a:r>
          </a:p>
          <a:p>
            <a:pPr algn="r">
              <a:lnSpc>
                <a:spcPct val="100000"/>
              </a:lnSpc>
            </a:pPr>
            <a:r>
              <a:rPr sz="1400">
                <a:solidFill>
                  <a:srgbClr val="4F5D6A"/>
                </a:solidFill>
                <a:latin typeface="Consolas"/>
              </a:rPr>
              <a:t>66</a:t>
            </a:r>
          </a:p>
          <a:p>
            <a:pPr algn="r">
              <a:lnSpc>
                <a:spcPct val="100000"/>
              </a:lnSpc>
            </a:pPr>
            <a:r>
              <a:rPr sz="1400">
                <a:solidFill>
                  <a:srgbClr val="4F5D6A"/>
                </a:solidFill>
                <a:latin typeface="Consolas"/>
              </a:rPr>
              <a:t>67</a:t>
            </a:r>
          </a:p>
          <a:p>
            <a:pPr algn="r">
              <a:lnSpc>
                <a:spcPct val="100000"/>
              </a:lnSpc>
            </a:pPr>
            <a:r>
              <a:rPr sz="1400">
                <a:solidFill>
                  <a:srgbClr val="4F5D6A"/>
                </a:solidFill>
                <a:latin typeface="Consolas"/>
              </a:rPr>
              <a:t>68</a:t>
            </a:r>
          </a:p>
          <a:p>
            <a:pPr algn="r">
              <a:lnSpc>
                <a:spcPct val="100000"/>
              </a:lnSpc>
            </a:pPr>
            <a:r>
              <a:rPr sz="1400">
                <a:solidFill>
                  <a:srgbClr val="4F5D6A"/>
                </a:solidFill>
                <a:latin typeface="Consolas"/>
              </a:rPr>
              <a:t>69</a:t>
            </a:r>
          </a:p>
          <a:p>
            <a:pPr algn="r">
              <a:lnSpc>
                <a:spcPct val="100000"/>
              </a:lnSpc>
            </a:pPr>
            <a:r>
              <a:rPr sz="1400">
                <a:solidFill>
                  <a:srgbClr val="4F5D6A"/>
                </a:solidFill>
                <a:latin typeface="Consolas"/>
              </a:rPr>
              <a:t>70</a:t>
            </a:r>
          </a:p>
          <a:p>
            <a:pPr algn="r">
              <a:lnSpc>
                <a:spcPct val="100000"/>
              </a:lnSpc>
            </a:pPr>
            <a:r>
              <a:rPr sz="1400">
                <a:solidFill>
                  <a:srgbClr val="4F5D6A"/>
                </a:solidFill>
                <a:latin typeface="Consolas"/>
              </a:rPr>
              <a:t>71</a:t>
            </a:r>
          </a:p>
          <a:p>
            <a:pPr algn="r">
              <a:lnSpc>
                <a:spcPct val="100000"/>
              </a:lnSpc>
            </a:pPr>
            <a:r>
              <a:rPr sz="1400">
                <a:solidFill>
                  <a:srgbClr val="4F5D6A"/>
                </a:solidFill>
                <a:latin typeface="Consolas"/>
              </a:rPr>
              <a:t>72</a:t>
            </a:r>
          </a:p>
          <a:p>
            <a:pPr algn="r">
              <a:lnSpc>
                <a:spcPct val="100000"/>
              </a:lnSpc>
            </a:pPr>
            <a:r>
              <a:rPr sz="1400">
                <a:solidFill>
                  <a:srgbClr val="4F5D6A"/>
                </a:solidFill>
                <a:latin typeface="Consolas"/>
              </a:rPr>
              <a:t>73</a:t>
            </a:r>
          </a:p>
          <a:p>
            <a:pPr algn="r">
              <a:lnSpc>
                <a:spcPct val="100000"/>
              </a:lnSpc>
            </a:pPr>
            <a:r>
              <a:rPr sz="1400">
                <a:solidFill>
                  <a:srgbClr val="4F5D6A"/>
                </a:solidFill>
                <a:latin typeface="Consolas"/>
              </a:rPr>
              <a:t>74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66042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8FE27C87-3557-4593-9453-E3564DBF591F}"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1182624"/>
          </a:xfrm>
          <a:prstGeom prst="roundRect">
            <a:avLst>
              <a:gd name="adj" fmla="val 773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 3. Student (1964): English -&gt; equations -- Chapter 12's matching"/>
          <p:cNvSpPr txBox="1"/>
          <p:nvPr/>
        </p:nvSpPr>
        <p:spPr>
          <a:xfrm>
            <a:off x="1362456" y="2066543"/>
            <a:ext cx="9987991" cy="68884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a:t>
            </a:r>
          </a:p>
          <a:p>
            <a:pPr>
              <a:lnSpc>
                <a:spcPct val="100000"/>
              </a:lnSpc>
              <a:spcAft>
                <a:spcPts val="0"/>
              </a:spcAft>
            </a:pPr>
            <a:r>
              <a:rPr sz="1900" i="1">
                <a:solidFill>
                  <a:srgbClr val="8795A1"/>
                </a:solidFill>
                <a:latin typeface="Consolas"/>
              </a:rPr>
              <a:t># 3. Student (1964): English -&gt; equations     -- Chapter 12's matching</a:t>
            </a:r>
          </a:p>
        </p:txBody>
      </p:sp>
      <p:sp>
        <p:nvSpPr>
          <p:cNvPr id="14" name="!!code-num"/>
          <p:cNvSpPr txBox="1"/>
          <p:nvPr/>
        </p:nvSpPr>
        <p:spPr>
          <a:xfrm>
            <a:off x="768096" y="2066543"/>
            <a:ext cx="393192" cy="6888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77</a:t>
            </a:r>
          </a:p>
          <a:p>
            <a:pPr algn="r">
              <a:lnSpc>
                <a:spcPct val="100000"/>
              </a:lnSpc>
            </a:pPr>
            <a:r>
              <a:rPr sz="1900">
                <a:solidFill>
                  <a:srgbClr val="4F5D6A"/>
                </a:solidFill>
                <a:latin typeface="Consolas"/>
              </a:rPr>
              <a:t>78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87813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5A2AA2EC-3E1E-4CC8-B621-C44428FAF631}"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STUDENT_PATTERNS = [ # &quot;the sprint has twice as many bugs as stories&quot; (r&quot;^the \w+ has twice as many (\w+) as (\w+)$&quot;, lambda m: (m.group(1), (&quot;times&quot;, 2, m.group(2)))), # &quot;the number of stories is 12&quot; (r&quot;^the number of (\w+) is (\d+)$&quot;, lambda m: (m.group(1), (&quot;const&quot;, int(m.group(2))))), ]"/>
          <p:cNvSpPr txBox="1"/>
          <p:nvPr/>
        </p:nvSpPr>
        <p:spPr>
          <a:xfrm>
            <a:off x="1362456" y="2066543"/>
            <a:ext cx="9987991" cy="2852927"/>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a:t>
            </a:r>
          </a:p>
          <a:p>
            <a:pPr>
              <a:lnSpc>
                <a:spcPct val="100000"/>
              </a:lnSpc>
              <a:spcAft>
                <a:spcPts val="0"/>
              </a:spcAft>
            </a:pPr>
            <a:r>
              <a:rPr sz="2000" i="0">
                <a:solidFill>
                  <a:srgbClr val="E8EDF2"/>
                </a:solidFill>
                <a:latin typeface="Consolas"/>
              </a:rPr>
              <a:t>STUDENT_PATTERNS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1">
                <a:solidFill>
                  <a:srgbClr val="8795A1"/>
                </a:solidFill>
                <a:latin typeface="Consolas"/>
              </a:rPr>
              <a:t># "the sprint has twice as many bugs as stories"</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r</a:t>
            </a:r>
            <a:r>
              <a:rPr sz="2000" i="0">
                <a:solidFill>
                  <a:srgbClr val="7DCEA0"/>
                </a:solidFill>
                <a:latin typeface="Consolas"/>
              </a:rPr>
              <a:t>"</a:t>
            </a:r>
            <a:r>
              <a:rPr sz="2000" i="0">
                <a:solidFill>
                  <a:srgbClr val="7DCEA0"/>
                </a:solidFill>
                <a:latin typeface="Consolas"/>
              </a:rPr>
              <a:t>^the </a:t>
            </a:r>
            <a:r>
              <a:rPr sz="2000" i="0">
                <a:solidFill>
                  <a:srgbClr val="7DCEA0"/>
                </a:solidFill>
                <a:latin typeface="Consolas"/>
              </a:rPr>
              <a:t>\</a:t>
            </a:r>
            <a:r>
              <a:rPr sz="2000" i="0">
                <a:solidFill>
                  <a:srgbClr val="7DCEA0"/>
                </a:solidFill>
                <a:latin typeface="Consolas"/>
              </a:rPr>
              <a:t>w+ has twice as many (</a:t>
            </a:r>
            <a:r>
              <a:rPr sz="2000" i="0">
                <a:solidFill>
                  <a:srgbClr val="7DCEA0"/>
                </a:solidFill>
                <a:latin typeface="Consolas"/>
              </a:rPr>
              <a:t>\</a:t>
            </a:r>
            <a:r>
              <a:rPr sz="2000" i="0">
                <a:solidFill>
                  <a:srgbClr val="7DCEA0"/>
                </a:solidFill>
                <a:latin typeface="Consolas"/>
              </a:rPr>
              <a:t>w+) as (</a:t>
            </a:r>
            <a:r>
              <a:rPr sz="2000" i="0">
                <a:solidFill>
                  <a:srgbClr val="7DCEA0"/>
                </a:solidFill>
                <a:latin typeface="Consolas"/>
              </a:rPr>
              <a:t>\</a:t>
            </a:r>
            <a:r>
              <a:rPr sz="2000" i="0">
                <a:solidFill>
                  <a:srgbClr val="7DCEA0"/>
                </a:solidFill>
                <a:latin typeface="Consolas"/>
              </a:rPr>
              <a:t>w+)$</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group</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times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group</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1">
                <a:solidFill>
                  <a:srgbClr val="8795A1"/>
                </a:solidFill>
                <a:latin typeface="Consolas"/>
              </a:rPr>
              <a:t># "the number of stories is 12"</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r</a:t>
            </a:r>
            <a:r>
              <a:rPr sz="2000" i="0">
                <a:solidFill>
                  <a:srgbClr val="7DCEA0"/>
                </a:solidFill>
                <a:latin typeface="Consolas"/>
              </a:rPr>
              <a:t>"</a:t>
            </a:r>
            <a:r>
              <a:rPr sz="2000" i="0">
                <a:solidFill>
                  <a:srgbClr val="7DCEA0"/>
                </a:solidFill>
                <a:latin typeface="Consolas"/>
              </a:rPr>
              <a:t>^the number of (</a:t>
            </a:r>
            <a:r>
              <a:rPr sz="2000" i="0">
                <a:solidFill>
                  <a:srgbClr val="7DCEA0"/>
                </a:solidFill>
                <a:latin typeface="Consolas"/>
              </a:rPr>
              <a:t>\</a:t>
            </a:r>
            <a:r>
              <a:rPr sz="2000" i="0">
                <a:solidFill>
                  <a:srgbClr val="7DCEA0"/>
                </a:solidFill>
                <a:latin typeface="Consolas"/>
              </a:rPr>
              <a:t>w+) is (</a:t>
            </a:r>
            <a:r>
              <a:rPr sz="2000" i="0">
                <a:solidFill>
                  <a:srgbClr val="7DCEA0"/>
                </a:solidFill>
                <a:latin typeface="Consolas"/>
              </a:rPr>
              <a:t>\</a:t>
            </a:r>
            <a:r>
              <a:rPr sz="2000" i="0">
                <a:solidFill>
                  <a:srgbClr val="7DCEA0"/>
                </a:solidFill>
                <a:latin typeface="Consolas"/>
              </a:rPr>
              <a:t>d+)$</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group</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const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int</a:t>
            </a:r>
            <a:r>
              <a:rPr sz="2000" i="0">
                <a:solidFill>
                  <a:srgbClr val="AEB6BF"/>
                </a:solidFill>
                <a:latin typeface="Consolas"/>
              </a:rPr>
              <a:t>(</a:t>
            </a:r>
            <a:r>
              <a:rPr sz="2000" i="0">
                <a:solidFill>
                  <a:srgbClr val="E8EDF2"/>
                </a:solidFill>
                <a:latin typeface="Consolas"/>
              </a:rPr>
              <a:t>m</a:t>
            </a:r>
            <a:r>
              <a:rPr sz="2000" i="0">
                <a:solidFill>
                  <a:srgbClr val="AEB6BF"/>
                </a:solidFill>
                <a:latin typeface="Consolas"/>
              </a:rPr>
              <a:t>.</a:t>
            </a:r>
            <a:r>
              <a:rPr sz="2000" i="0">
                <a:solidFill>
                  <a:srgbClr val="E8EDF2"/>
                </a:solidFill>
                <a:latin typeface="Consolas"/>
              </a:rPr>
              <a:t>group</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AEB6BF"/>
                </a:solidFill>
                <a:latin typeface="Consolas"/>
              </a:rPr>
              <a:t>]</a:t>
            </a:r>
          </a:p>
        </p:txBody>
      </p:sp>
      <p:sp>
        <p:nvSpPr>
          <p:cNvPr id="14" name="!!code-num"/>
          <p:cNvSpPr txBox="1"/>
          <p:nvPr/>
        </p:nvSpPr>
        <p:spPr>
          <a:xfrm>
            <a:off x="768096" y="2066543"/>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79</a:t>
            </a:r>
          </a:p>
          <a:p>
            <a:pPr algn="r">
              <a:lnSpc>
                <a:spcPct val="100000"/>
              </a:lnSpc>
            </a:pPr>
            <a:r>
              <a:rPr sz="2000">
                <a:solidFill>
                  <a:srgbClr val="4F5D6A"/>
                </a:solidFill>
                <a:latin typeface="Consolas"/>
              </a:rPr>
              <a:t>80</a:t>
            </a:r>
          </a:p>
          <a:p>
            <a:pPr algn="r">
              <a:lnSpc>
                <a:spcPct val="100000"/>
              </a:lnSpc>
            </a:pPr>
            <a:r>
              <a:rPr sz="2000">
                <a:solidFill>
                  <a:srgbClr val="4F5D6A"/>
                </a:solidFill>
                <a:latin typeface="Consolas"/>
              </a:rPr>
              <a:t>81</a:t>
            </a:r>
          </a:p>
          <a:p>
            <a:pPr algn="r">
              <a:lnSpc>
                <a:spcPct val="100000"/>
              </a:lnSpc>
            </a:pPr>
            <a:r>
              <a:rPr sz="2000">
                <a:solidFill>
                  <a:srgbClr val="4F5D6A"/>
                </a:solidFill>
                <a:latin typeface="Consolas"/>
              </a:rPr>
              <a:t>82</a:t>
            </a:r>
          </a:p>
          <a:p>
            <a:pPr algn="r">
              <a:lnSpc>
                <a:spcPct val="100000"/>
              </a:lnSpc>
            </a:pPr>
            <a:r>
              <a:rPr sz="2000">
                <a:solidFill>
                  <a:srgbClr val="4F5D6A"/>
                </a:solidFill>
                <a:latin typeface="Consolas"/>
              </a:rPr>
              <a:t>83</a:t>
            </a:r>
          </a:p>
          <a:p>
            <a:pPr algn="r">
              <a:lnSpc>
                <a:spcPct val="100000"/>
              </a:lnSpc>
            </a:pPr>
            <a:r>
              <a:rPr sz="2000">
                <a:solidFill>
                  <a:srgbClr val="4F5D6A"/>
                </a:solidFill>
                <a:latin typeface="Consolas"/>
              </a:rPr>
              <a:t>84</a:t>
            </a:r>
          </a:p>
          <a:p>
            <a:pPr algn="r">
              <a:lnSpc>
                <a:spcPct val="100000"/>
              </a:lnSpc>
            </a:pPr>
            <a:r>
              <a:rPr sz="2000">
                <a:solidFill>
                  <a:srgbClr val="4F5D6A"/>
                </a:solidFill>
                <a:latin typeface="Consolas"/>
              </a:rPr>
              <a:t>85</a:t>
            </a:r>
          </a:p>
          <a:p>
            <a:pPr algn="r">
              <a:lnSpc>
                <a:spcPct val="100000"/>
              </a:lnSpc>
            </a:pPr>
            <a:r>
              <a:rPr sz="2000">
                <a:solidFill>
                  <a:srgbClr val="4F5D6A"/>
                </a:solidFill>
                <a:latin typeface="Consolas"/>
              </a:rPr>
              <a:t>86</a:t>
            </a:r>
          </a:p>
          <a:p>
            <a:pPr algn="r">
              <a:lnSpc>
                <a:spcPct val="100000"/>
              </a:lnSpc>
            </a:pPr>
            <a:r>
              <a:rPr sz="2000">
                <a:solidFill>
                  <a:srgbClr val="4F5D6A"/>
                </a:solidFill>
                <a:latin typeface="Consolas"/>
              </a:rPr>
              <a:t>87</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144F3A5B-F896-487A-8F04-622FDD3126CF}" type="slidenum">
              <a:rPr lang="en-GB" sz="1000">
                <a:solidFill>
                  <a:srgbClr val="8795A1"/>
                </a:solidFill>
                <a:latin typeface="Segoe UI"/>
              </a:rPr>
              <a:t>29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def student(sentences, question): &quot;&quot;&quot;Turn English into equations, then solve them.&quot;&quot;&quot; eqs = {} for s in sentences: low = s.lower().strip().rstrip(&quot;.&quot;) for pat, build in STUDENT_PATTERNS: m = re.match(pat, low) if m: var, rhs = build(m) eqs[var] = rhs break else: return None, eqs, &quot;no pattern matched: %r&quot; % s"/>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student</a:t>
            </a:r>
            <a:r>
              <a:rPr sz="2000" i="0">
                <a:solidFill>
                  <a:srgbClr val="AEB6BF"/>
                </a:solidFill>
                <a:latin typeface="Consolas"/>
              </a:rPr>
              <a:t>(</a:t>
            </a:r>
            <a:r>
              <a:rPr sz="2000" i="0">
                <a:solidFill>
                  <a:srgbClr val="E8EDF2"/>
                </a:solidFill>
                <a:latin typeface="Consolas"/>
              </a:rPr>
              <a:t>sentences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question</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"""Turn English into equations, then solve them."""</a:t>
            </a:r>
          </a:p>
          <a:p>
            <a:pPr>
              <a:lnSpc>
                <a:spcPct val="100000"/>
              </a:lnSpc>
              <a:spcAft>
                <a:spcPts val="0"/>
              </a:spcAft>
            </a:pPr>
            <a:r>
              <a:rPr sz="2000" i="0">
                <a:solidFill>
                  <a:srgbClr val="E8EDF2"/>
                </a:solidFill>
                <a:latin typeface="Consolas"/>
              </a:rPr>
              <a:t>    </a:t>
            </a:r>
            <a:r>
              <a:rPr sz="2000" i="0">
                <a:solidFill>
                  <a:srgbClr val="E8EDF2"/>
                </a:solidFill>
                <a:latin typeface="Consolas"/>
              </a:rPr>
              <a:t>eqs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sentences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low</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lower</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strip</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rstrip</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pat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build</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STUDENT_PATTERNS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m</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a:t>
            </a:r>
            <a:r>
              <a:rPr sz="2000" i="0">
                <a:solidFill>
                  <a:srgbClr val="AEB6BF"/>
                </a:solidFill>
                <a:latin typeface="Consolas"/>
              </a:rPr>
              <a:t>.</a:t>
            </a:r>
            <a:r>
              <a:rPr sz="2000" i="0">
                <a:solidFill>
                  <a:srgbClr val="E8EDF2"/>
                </a:solidFill>
                <a:latin typeface="Consolas"/>
              </a:rPr>
              <a:t>match</a:t>
            </a:r>
            <a:r>
              <a:rPr sz="2000" i="0">
                <a:solidFill>
                  <a:srgbClr val="AEB6BF"/>
                </a:solidFill>
                <a:latin typeface="Consolas"/>
              </a:rPr>
              <a:t>(</a:t>
            </a:r>
            <a:r>
              <a:rPr sz="2000" i="0">
                <a:solidFill>
                  <a:srgbClr val="E8EDF2"/>
                </a:solidFill>
                <a:latin typeface="Consolas"/>
              </a:rPr>
              <a:t>pat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low</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m</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var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rhs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build</a:t>
            </a:r>
            <a:r>
              <a:rPr sz="2000" i="0">
                <a:solidFill>
                  <a:srgbClr val="AEB6BF"/>
                </a:solidFill>
                <a:latin typeface="Consolas"/>
              </a:rPr>
              <a:t>(</a:t>
            </a:r>
            <a:r>
              <a:rPr sz="2000" i="0">
                <a:solidFill>
                  <a:srgbClr val="E8EDF2"/>
                </a:solidFill>
                <a:latin typeface="Consolas"/>
              </a:rPr>
              <a:t>m</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eqs</a:t>
            </a:r>
            <a:r>
              <a:rPr sz="2000" i="0">
                <a:solidFill>
                  <a:srgbClr val="AEB6BF"/>
                </a:solidFill>
                <a:latin typeface="Consolas"/>
              </a:rPr>
              <a:t>[</a:t>
            </a:r>
            <a:r>
              <a:rPr sz="2000" i="0">
                <a:solidFill>
                  <a:srgbClr val="E8EDF2"/>
                </a:solidFill>
                <a:latin typeface="Consolas"/>
              </a:rPr>
              <a:t>var</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rhs</a:t>
            </a:r>
          </a:p>
          <a:p>
            <a:pPr>
              <a:lnSpc>
                <a:spcPct val="100000"/>
              </a:lnSpc>
              <a:spcAft>
                <a:spcPts val="0"/>
              </a:spcAft>
            </a:pPr>
            <a:r>
              <a:rPr sz="2000" i="0">
                <a:solidFill>
                  <a:srgbClr val="E8EDF2"/>
                </a:solidFill>
                <a:latin typeface="Consolas"/>
              </a:rPr>
              <a:t>                </a:t>
            </a:r>
            <a:r>
              <a:rPr sz="2000" i="0">
                <a:solidFill>
                  <a:srgbClr val="5DADE2"/>
                </a:solidFill>
                <a:latin typeface="Consolas"/>
              </a:rPr>
              <a:t>break</a:t>
            </a:r>
          </a:p>
          <a:p>
            <a:pPr>
              <a:lnSpc>
                <a:spcPct val="100000"/>
              </a:lnSpc>
              <a:spcAft>
                <a:spcPts val="0"/>
              </a:spcAft>
            </a:pPr>
            <a:r>
              <a:rPr sz="2000" i="0">
                <a:solidFill>
                  <a:srgbClr val="E8EDF2"/>
                </a:solidFill>
                <a:latin typeface="Consolas"/>
              </a:rPr>
              <a:t>        </a:t>
            </a:r>
            <a:r>
              <a:rPr sz="2000" i="0">
                <a:solidFill>
                  <a:srgbClr val="5DADE2"/>
                </a:solidFill>
                <a:latin typeface="Consolas"/>
              </a:rPr>
              <a:t>else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eqs</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no pattern matched: </a:t>
            </a:r>
            <a:r>
              <a:rPr sz="2000" i="0">
                <a:solidFill>
                  <a:srgbClr val="7DCEA0"/>
                </a:solidFill>
                <a:latin typeface="Consolas"/>
              </a:rPr>
              <a:t>%r</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90</a:t>
            </a:r>
          </a:p>
          <a:p>
            <a:pPr algn="r">
              <a:lnSpc>
                <a:spcPct val="100000"/>
              </a:lnSpc>
            </a:pPr>
            <a:r>
              <a:rPr sz="2000">
                <a:solidFill>
                  <a:srgbClr val="4F5D6A"/>
                </a:solidFill>
                <a:latin typeface="Consolas"/>
              </a:rPr>
              <a:t>91</a:t>
            </a:r>
          </a:p>
          <a:p>
            <a:pPr algn="r">
              <a:lnSpc>
                <a:spcPct val="100000"/>
              </a:lnSpc>
            </a:pPr>
            <a:r>
              <a:rPr sz="2000">
                <a:solidFill>
                  <a:srgbClr val="4F5D6A"/>
                </a:solidFill>
                <a:latin typeface="Consolas"/>
              </a:rPr>
              <a:t>92</a:t>
            </a:r>
          </a:p>
          <a:p>
            <a:pPr algn="r">
              <a:lnSpc>
                <a:spcPct val="100000"/>
              </a:lnSpc>
            </a:pPr>
            <a:r>
              <a:rPr sz="2000">
                <a:solidFill>
                  <a:srgbClr val="4F5D6A"/>
                </a:solidFill>
                <a:latin typeface="Consolas"/>
              </a:rPr>
              <a:t>93</a:t>
            </a:r>
          </a:p>
          <a:p>
            <a:pPr algn="r">
              <a:lnSpc>
                <a:spcPct val="100000"/>
              </a:lnSpc>
            </a:pPr>
            <a:r>
              <a:rPr sz="2000">
                <a:solidFill>
                  <a:srgbClr val="4F5D6A"/>
                </a:solidFill>
                <a:latin typeface="Consolas"/>
              </a:rPr>
              <a:t>94</a:t>
            </a:r>
          </a:p>
          <a:p>
            <a:pPr algn="r">
              <a:lnSpc>
                <a:spcPct val="100000"/>
              </a:lnSpc>
            </a:pPr>
            <a:r>
              <a:rPr sz="2000">
                <a:solidFill>
                  <a:srgbClr val="4F5D6A"/>
                </a:solidFill>
                <a:latin typeface="Consolas"/>
              </a:rPr>
              <a:t>95</a:t>
            </a:r>
          </a:p>
          <a:p>
            <a:pPr algn="r">
              <a:lnSpc>
                <a:spcPct val="100000"/>
              </a:lnSpc>
            </a:pPr>
            <a:r>
              <a:rPr sz="2000">
                <a:solidFill>
                  <a:srgbClr val="4F5D6A"/>
                </a:solidFill>
                <a:latin typeface="Consolas"/>
              </a:rPr>
              <a:t>96</a:t>
            </a:r>
          </a:p>
          <a:p>
            <a:pPr algn="r">
              <a:lnSpc>
                <a:spcPct val="100000"/>
              </a:lnSpc>
            </a:pPr>
            <a:r>
              <a:rPr sz="2000">
                <a:solidFill>
                  <a:srgbClr val="4F5D6A"/>
                </a:solidFill>
                <a:latin typeface="Consolas"/>
              </a:rPr>
              <a:t>97</a:t>
            </a:r>
          </a:p>
          <a:p>
            <a:pPr algn="r">
              <a:lnSpc>
                <a:spcPct val="100000"/>
              </a:lnSpc>
            </a:pPr>
            <a:r>
              <a:rPr sz="2000">
                <a:solidFill>
                  <a:srgbClr val="4F5D6A"/>
                </a:solidFill>
                <a:latin typeface="Consolas"/>
              </a:rPr>
              <a:t>98</a:t>
            </a:r>
          </a:p>
          <a:p>
            <a:pPr algn="r">
              <a:lnSpc>
                <a:spcPct val="100000"/>
              </a:lnSpc>
            </a:pPr>
            <a:r>
              <a:rPr sz="2000">
                <a:solidFill>
                  <a:srgbClr val="4F5D6A"/>
                </a:solidFill>
                <a:latin typeface="Consolas"/>
              </a:rPr>
              <a:t>99</a:t>
            </a:r>
          </a:p>
          <a:p>
            <a:pPr algn="r">
              <a:lnSpc>
                <a:spcPct val="100000"/>
              </a:lnSpc>
            </a:pPr>
            <a:r>
              <a:rPr sz="2000">
                <a:solidFill>
                  <a:srgbClr val="4F5D6A"/>
                </a:solidFill>
                <a:latin typeface="Consolas"/>
              </a:rPr>
              <a:t>100</a:t>
            </a:r>
          </a:p>
          <a:p>
            <a:pPr algn="r">
              <a:lnSpc>
                <a:spcPct val="100000"/>
              </a:lnSpc>
            </a:pPr>
            <a:r>
              <a:rPr sz="2000">
                <a:solidFill>
                  <a:srgbClr val="4F5D6A"/>
                </a:solidFill>
                <a:latin typeface="Consolas"/>
              </a:rPr>
              <a:t>101</a:t>
            </a:r>
          </a:p>
          <a:p>
            <a:pPr algn="r">
              <a:lnSpc>
                <a:spcPct val="100000"/>
              </a:lnSpc>
            </a:pPr>
            <a:r>
              <a:rPr sz="2000">
                <a:solidFill>
                  <a:srgbClr val="4F5D6A"/>
                </a:solidFill>
                <a:latin typeface="Consolas"/>
              </a:rPr>
              <a:t>102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31355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C9B6051F-6B1D-4DD4-B50D-5CDA2A64C109}"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def value(var, seen=None): seen = seen or set() if var in seen: return None # circular definition rhs = eqs.get(var) if rhs is None: return None if rhs[0] == &quot;const&quot;: return rhs[1] if rhs[0] == &quot;times&quot;: inner = value(rhs[2], seen | {var}) return None if inner is None else rhs[1] * inner return None m = re.match(r&quot;^how many (\w+) does the \w+ have$&quot;, question.lower().strip().rstrip(&quot;?&quot;)) if not m: return None, eqs, &quot;question not understood&quot; return value(m.group(1)), eqs, None"/>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value</a:t>
            </a:r>
            <a:r>
              <a:rPr sz="1400" i="0">
                <a:solidFill>
                  <a:srgbClr val="AEB6BF"/>
                </a:solidFill>
                <a:latin typeface="Consolas"/>
              </a:rPr>
              <a:t>(</a:t>
            </a:r>
            <a:r>
              <a:rPr sz="1400" i="0">
                <a:solidFill>
                  <a:srgbClr val="E8EDF2"/>
                </a:solidFill>
                <a:latin typeface="Consolas"/>
              </a:rPr>
              <a:t>var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5DADE2"/>
                </a:solidFill>
                <a:latin typeface="Consolas"/>
              </a:rPr>
              <a:t>None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seen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seen</a:t>
            </a:r>
            <a:r>
              <a:rPr sz="1400" i="0">
                <a:solidFill>
                  <a:srgbClr val="E8EDF2"/>
                </a:solidFill>
                <a:latin typeface="Consolas"/>
              </a:rPr>
              <a:t> </a:t>
            </a:r>
            <a:r>
              <a:rPr sz="1400" i="0">
                <a:solidFill>
                  <a:srgbClr val="AEB6BF"/>
                </a:solidFill>
                <a:latin typeface="Consolas"/>
              </a:rPr>
              <a:t>or</a:t>
            </a:r>
            <a:r>
              <a:rPr sz="1400" i="0">
                <a:solidFill>
                  <a:srgbClr val="E8EDF2"/>
                </a:solidFill>
                <a:latin typeface="Consolas"/>
              </a:rPr>
              <a:t> </a:t>
            </a:r>
            <a:r>
              <a:rPr sz="1400" i="0">
                <a:solidFill>
                  <a:srgbClr val="C39BD3"/>
                </a:solidFill>
                <a:latin typeface="Consolas"/>
              </a:rPr>
              <a:t>set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var</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r>
              <a:rPr sz="1400" i="0">
                <a:solidFill>
                  <a:srgbClr val="E8EDF2"/>
                </a:solidFill>
                <a:latin typeface="Consolas"/>
              </a:rPr>
              <a:t>                 </a:t>
            </a:r>
            <a:r>
              <a:rPr sz="1400" i="1">
                <a:solidFill>
                  <a:srgbClr val="8795A1"/>
                </a:solidFill>
                <a:latin typeface="Consolas"/>
              </a:rPr>
              <a:t># circular definition</a:t>
            </a:r>
          </a:p>
          <a:p>
            <a:pPr>
              <a:lnSpc>
                <a:spcPct val="100000"/>
              </a:lnSpc>
              <a:spcAft>
                <a:spcPts val="0"/>
              </a:spcAft>
            </a:pPr>
            <a:r>
              <a:rPr sz="1400" i="0">
                <a:solidFill>
                  <a:srgbClr val="E8EDF2"/>
                </a:solidFill>
                <a:latin typeface="Consolas"/>
              </a:rPr>
              <a:t>        </a:t>
            </a:r>
            <a:r>
              <a:rPr sz="1400" i="0">
                <a:solidFill>
                  <a:srgbClr val="E8EDF2"/>
                </a:solidFill>
                <a:latin typeface="Consolas"/>
              </a:rPr>
              <a:t>rhs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eqs</a:t>
            </a:r>
            <a:r>
              <a:rPr sz="1400" i="0">
                <a:solidFill>
                  <a:srgbClr val="AEB6BF"/>
                </a:solidFill>
                <a:latin typeface="Consolas"/>
              </a:rPr>
              <a:t>.</a:t>
            </a:r>
            <a:r>
              <a:rPr sz="1400" i="0">
                <a:solidFill>
                  <a:srgbClr val="E8EDF2"/>
                </a:solidFill>
                <a:latin typeface="Consolas"/>
              </a:rPr>
              <a:t>get</a:t>
            </a:r>
            <a:r>
              <a:rPr sz="1400" i="0">
                <a:solidFill>
                  <a:srgbClr val="AEB6BF"/>
                </a:solidFill>
                <a:latin typeface="Consolas"/>
              </a:rPr>
              <a:t>(</a:t>
            </a:r>
            <a:r>
              <a:rPr sz="1400" i="0">
                <a:solidFill>
                  <a:srgbClr val="E8EDF2"/>
                </a:solidFill>
                <a:latin typeface="Consolas"/>
              </a:rPr>
              <a:t>var</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rhs</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const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times</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inner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value</a:t>
            </a:r>
            <a:r>
              <a:rPr sz="1400" i="0">
                <a:solidFill>
                  <a:srgbClr val="AEB6BF"/>
                </a:solidFill>
                <a:latin typeface="Consolas"/>
              </a:rPr>
              <a:t>(</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seen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var</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inner</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5DADE2"/>
                </a:solidFill>
                <a:latin typeface="Consolas"/>
              </a:rPr>
              <a:t>None</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E8EDF2"/>
                </a:solidFill>
                <a:latin typeface="Consolas"/>
              </a:rPr>
              <a:t>rhs</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inner</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E8EDF2"/>
                </a:solidFill>
                <a:latin typeface="Consolas"/>
              </a:rPr>
              <a:t>m</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a:t>
            </a:r>
            <a:r>
              <a:rPr sz="1400" i="0">
                <a:solidFill>
                  <a:srgbClr val="AEB6BF"/>
                </a:solidFill>
                <a:latin typeface="Consolas"/>
              </a:rPr>
              <a:t>.</a:t>
            </a:r>
            <a:r>
              <a:rPr sz="1400" i="0">
                <a:solidFill>
                  <a:srgbClr val="E8EDF2"/>
                </a:solidFill>
                <a:latin typeface="Consolas"/>
              </a:rPr>
              <a:t>match</a:t>
            </a:r>
            <a:r>
              <a:rPr sz="1400" i="0">
                <a:solidFill>
                  <a:srgbClr val="AEB6BF"/>
                </a:solidFill>
                <a:latin typeface="Consolas"/>
              </a:rPr>
              <a:t>(</a:t>
            </a:r>
            <a:r>
              <a:rPr sz="1400" i="0">
                <a:solidFill>
                  <a:srgbClr val="7DCEA0"/>
                </a:solidFill>
                <a:latin typeface="Consolas"/>
              </a:rPr>
              <a:t>r</a:t>
            </a:r>
            <a:r>
              <a:rPr sz="1400" i="0">
                <a:solidFill>
                  <a:srgbClr val="7DCEA0"/>
                </a:solidFill>
                <a:latin typeface="Consolas"/>
              </a:rPr>
              <a:t>"</a:t>
            </a:r>
            <a:r>
              <a:rPr sz="1400" i="0">
                <a:solidFill>
                  <a:srgbClr val="7DCEA0"/>
                </a:solidFill>
                <a:latin typeface="Consolas"/>
              </a:rPr>
              <a:t>^how many (</a:t>
            </a:r>
            <a:r>
              <a:rPr sz="1400" i="0">
                <a:solidFill>
                  <a:srgbClr val="7DCEA0"/>
                </a:solidFill>
                <a:latin typeface="Consolas"/>
              </a:rPr>
              <a:t>\</a:t>
            </a:r>
            <a:r>
              <a:rPr sz="1400" i="0">
                <a:solidFill>
                  <a:srgbClr val="7DCEA0"/>
                </a:solidFill>
                <a:latin typeface="Consolas"/>
              </a:rPr>
              <a:t>w+) does the </a:t>
            </a:r>
            <a:r>
              <a:rPr sz="1400" i="0">
                <a:solidFill>
                  <a:srgbClr val="7DCEA0"/>
                </a:solidFill>
                <a:latin typeface="Consolas"/>
              </a:rPr>
              <a:t>\</a:t>
            </a:r>
            <a:r>
              <a:rPr sz="1400" i="0">
                <a:solidFill>
                  <a:srgbClr val="7DCEA0"/>
                </a:solidFill>
                <a:latin typeface="Consolas"/>
              </a:rPr>
              <a:t>w+ have$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question</a:t>
            </a:r>
            <a:r>
              <a:rPr sz="1400" i="0">
                <a:solidFill>
                  <a:srgbClr val="AEB6BF"/>
                </a:solidFill>
                <a:latin typeface="Consolas"/>
              </a:rPr>
              <a:t>.</a:t>
            </a:r>
            <a:r>
              <a:rPr sz="1400" i="0">
                <a:solidFill>
                  <a:srgbClr val="E8EDF2"/>
                </a:solidFill>
                <a:latin typeface="Consolas"/>
              </a:rPr>
              <a:t>lower</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strip</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rstrip</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m</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eqs</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question not understood</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value</a:t>
            </a:r>
            <a:r>
              <a:rPr sz="1400" i="0">
                <a:solidFill>
                  <a:srgbClr val="AEB6BF"/>
                </a:solidFill>
                <a:latin typeface="Consolas"/>
              </a:rPr>
              <a:t>(</a:t>
            </a:r>
            <a:r>
              <a:rPr sz="1400" i="0">
                <a:solidFill>
                  <a:srgbClr val="E8EDF2"/>
                </a:solidFill>
                <a:latin typeface="Consolas"/>
              </a:rPr>
              <a:t>m</a:t>
            </a:r>
            <a:r>
              <a:rPr sz="1400" i="0">
                <a:solidFill>
                  <a:srgbClr val="AEB6BF"/>
                </a:solidFill>
                <a:latin typeface="Consolas"/>
              </a:rPr>
              <a:t>.</a:t>
            </a:r>
            <a:r>
              <a:rPr sz="1400" i="0">
                <a:solidFill>
                  <a:srgbClr val="E8EDF2"/>
                </a:solidFill>
                <a:latin typeface="Consolas"/>
              </a:rPr>
              <a:t>group</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eqs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None</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104</a:t>
            </a:r>
          </a:p>
          <a:p>
            <a:pPr algn="r">
              <a:lnSpc>
                <a:spcPct val="100000"/>
              </a:lnSpc>
            </a:pPr>
            <a:r>
              <a:rPr sz="1400">
                <a:solidFill>
                  <a:srgbClr val="4F5D6A"/>
                </a:solidFill>
                <a:latin typeface="Consolas"/>
              </a:rPr>
              <a:t>105</a:t>
            </a:r>
          </a:p>
          <a:p>
            <a:pPr algn="r">
              <a:lnSpc>
                <a:spcPct val="100000"/>
              </a:lnSpc>
            </a:pPr>
            <a:r>
              <a:rPr sz="1400">
                <a:solidFill>
                  <a:srgbClr val="4F5D6A"/>
                </a:solidFill>
                <a:latin typeface="Consolas"/>
              </a:rPr>
              <a:t>106</a:t>
            </a:r>
          </a:p>
          <a:p>
            <a:pPr algn="r">
              <a:lnSpc>
                <a:spcPct val="100000"/>
              </a:lnSpc>
            </a:pPr>
            <a:r>
              <a:rPr sz="1400">
                <a:solidFill>
                  <a:srgbClr val="4F5D6A"/>
                </a:solidFill>
                <a:latin typeface="Consolas"/>
              </a:rPr>
              <a:t>107</a:t>
            </a:r>
          </a:p>
          <a:p>
            <a:pPr algn="r">
              <a:lnSpc>
                <a:spcPct val="100000"/>
              </a:lnSpc>
            </a:pPr>
            <a:r>
              <a:rPr sz="1400">
                <a:solidFill>
                  <a:srgbClr val="4F5D6A"/>
                </a:solidFill>
                <a:latin typeface="Consolas"/>
              </a:rPr>
              <a:t>108</a:t>
            </a:r>
          </a:p>
          <a:p>
            <a:pPr algn="r">
              <a:lnSpc>
                <a:spcPct val="100000"/>
              </a:lnSpc>
            </a:pPr>
            <a:r>
              <a:rPr sz="1400">
                <a:solidFill>
                  <a:srgbClr val="4F5D6A"/>
                </a:solidFill>
                <a:latin typeface="Consolas"/>
              </a:rPr>
              <a:t>109</a:t>
            </a:r>
          </a:p>
          <a:p>
            <a:pPr algn="r">
              <a:lnSpc>
                <a:spcPct val="100000"/>
              </a:lnSpc>
            </a:pPr>
            <a:r>
              <a:rPr sz="1400">
                <a:solidFill>
                  <a:srgbClr val="4F5D6A"/>
                </a:solidFill>
                <a:latin typeface="Consolas"/>
              </a:rPr>
              <a:t>110</a:t>
            </a:r>
          </a:p>
          <a:p>
            <a:pPr algn="r">
              <a:lnSpc>
                <a:spcPct val="100000"/>
              </a:lnSpc>
            </a:pPr>
            <a:r>
              <a:rPr sz="1400">
                <a:solidFill>
                  <a:srgbClr val="4F5D6A"/>
                </a:solidFill>
                <a:latin typeface="Consolas"/>
              </a:rPr>
              <a:t>111</a:t>
            </a:r>
          </a:p>
          <a:p>
            <a:pPr algn="r">
              <a:lnSpc>
                <a:spcPct val="100000"/>
              </a:lnSpc>
            </a:pPr>
            <a:r>
              <a:rPr sz="1400">
                <a:solidFill>
                  <a:srgbClr val="4F5D6A"/>
                </a:solidFill>
                <a:latin typeface="Consolas"/>
              </a:rPr>
              <a:t>112</a:t>
            </a:r>
          </a:p>
          <a:p>
            <a:pPr algn="r">
              <a:lnSpc>
                <a:spcPct val="100000"/>
              </a:lnSpc>
            </a:pPr>
            <a:r>
              <a:rPr sz="1400">
                <a:solidFill>
                  <a:srgbClr val="4F5D6A"/>
                </a:solidFill>
                <a:latin typeface="Consolas"/>
              </a:rPr>
              <a:t>113</a:t>
            </a:r>
          </a:p>
          <a:p>
            <a:pPr algn="r">
              <a:lnSpc>
                <a:spcPct val="100000"/>
              </a:lnSpc>
            </a:pPr>
            <a:r>
              <a:rPr sz="1400">
                <a:solidFill>
                  <a:srgbClr val="4F5D6A"/>
                </a:solidFill>
                <a:latin typeface="Consolas"/>
              </a:rPr>
              <a:t>114</a:t>
            </a:r>
          </a:p>
          <a:p>
            <a:pPr algn="r">
              <a:lnSpc>
                <a:spcPct val="100000"/>
              </a:lnSpc>
            </a:pPr>
            <a:r>
              <a:rPr sz="1400">
                <a:solidFill>
                  <a:srgbClr val="4F5D6A"/>
                </a:solidFill>
                <a:latin typeface="Consolas"/>
              </a:rPr>
              <a:t>115</a:t>
            </a:r>
          </a:p>
          <a:p>
            <a:pPr algn="r">
              <a:lnSpc>
                <a:spcPct val="100000"/>
              </a:lnSpc>
            </a:pPr>
            <a:r>
              <a:rPr sz="1400">
                <a:solidFill>
                  <a:srgbClr val="4F5D6A"/>
                </a:solidFill>
                <a:latin typeface="Consolas"/>
              </a:rPr>
              <a:t>116</a:t>
            </a:r>
          </a:p>
          <a:p>
            <a:pPr algn="r">
              <a:lnSpc>
                <a:spcPct val="100000"/>
              </a:lnSpc>
            </a:pPr>
            <a:r>
              <a:rPr sz="1400">
                <a:solidFill>
                  <a:srgbClr val="4F5D6A"/>
                </a:solidFill>
                <a:latin typeface="Consolas"/>
              </a:rPr>
              <a:t>117</a:t>
            </a:r>
          </a:p>
          <a:p>
            <a:pPr algn="r">
              <a:lnSpc>
                <a:spcPct val="100000"/>
              </a:lnSpc>
            </a:pPr>
            <a:r>
              <a:rPr sz="1400">
                <a:solidFill>
                  <a:srgbClr val="4F5D6A"/>
                </a:solidFill>
                <a:latin typeface="Consolas"/>
              </a:rPr>
              <a:t>118</a:t>
            </a:r>
          </a:p>
          <a:p>
            <a:pPr algn="r">
              <a:lnSpc>
                <a:spcPct val="100000"/>
              </a:lnSpc>
            </a:pPr>
            <a:r>
              <a:rPr sz="1400">
                <a:solidFill>
                  <a:srgbClr val="4F5D6A"/>
                </a:solidFill>
                <a:latin typeface="Consolas"/>
              </a:rPr>
              <a:t>119</a:t>
            </a:r>
          </a:p>
          <a:p>
            <a:pPr algn="r">
              <a:lnSpc>
                <a:spcPct val="100000"/>
              </a:lnSpc>
            </a:pPr>
            <a:r>
              <a:rPr sz="1400">
                <a:solidFill>
                  <a:srgbClr val="4F5D6A"/>
                </a:solidFill>
                <a:latin typeface="Consolas"/>
              </a:rPr>
              <a:t>120</a:t>
            </a:r>
          </a:p>
          <a:p>
            <a:pPr algn="r">
              <a:lnSpc>
                <a:spcPct val="100000"/>
              </a:lnSpc>
            </a:pPr>
            <a:r>
              <a:rPr sz="1400">
                <a:solidFill>
                  <a:srgbClr val="4F5D6A"/>
                </a:solidFill>
                <a:latin typeface="Consolas"/>
              </a:rPr>
              <a:t>121</a:t>
            </a:r>
          </a:p>
          <a:p>
            <a:pPr algn="r">
              <a:lnSpc>
                <a:spcPct val="100000"/>
              </a:lnSpc>
            </a:pPr>
            <a:r>
              <a:rPr sz="1400">
                <a:solidFill>
                  <a:srgbClr val="4F5D6A"/>
                </a:solidFill>
                <a:latin typeface="Consolas"/>
              </a:rPr>
              <a:t>122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53126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4C31F399-CCC3-4017-9D35-5C43B91297C2}" type="slidenum">
              <a:rPr lang="en-GB" sz="1000">
                <a:solidFill>
                  <a:srgbClr val="8795A1"/>
                </a:solidFill>
                <a:latin typeface="Segoe UI"/>
              </a:rPr>
              <a:t>31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 4. Macsyma (1968): term rewriting -- Chapter 13's chaining"/>
          <p:cNvSpPr txBox="1"/>
          <p:nvPr/>
        </p:nvSpPr>
        <p:spPr>
          <a:xfrm>
            <a:off x="1362456" y="2066543"/>
            <a:ext cx="9987991" cy="719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a:t>
            </a:r>
          </a:p>
          <a:p>
            <a:pPr>
              <a:lnSpc>
                <a:spcPct val="100000"/>
              </a:lnSpc>
              <a:spcAft>
                <a:spcPts val="0"/>
              </a:spcAft>
            </a:pPr>
            <a:r>
              <a:rPr sz="2000" i="1">
                <a:solidFill>
                  <a:srgbClr val="8795A1"/>
                </a:solidFill>
                <a:latin typeface="Consolas"/>
              </a:rPr>
              <a:t># 4. Macsyma (1968): term rewriting          -- Chapter 13's chaining</a:t>
            </a:r>
          </a:p>
        </p:txBody>
      </p:sp>
      <p:sp>
        <p:nvSpPr>
          <p:cNvPr id="14" name="!!code-num"/>
          <p:cNvSpPr txBox="1"/>
          <p:nvPr/>
        </p:nvSpPr>
        <p:spPr>
          <a:xfrm>
            <a:off x="768096" y="2066543"/>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125</a:t>
            </a:r>
          </a:p>
          <a:p>
            <a:pPr algn="r">
              <a:lnSpc>
                <a:spcPct val="100000"/>
              </a:lnSpc>
            </a:pPr>
            <a:r>
              <a:rPr sz="2000">
                <a:solidFill>
                  <a:srgbClr val="4F5D6A"/>
                </a:solidFill>
                <a:latin typeface="Consolas"/>
              </a:rPr>
              <a:t>126</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74897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76B4F4D2-10BE-4F9D-B0F7-EF9158528D91}" type="slidenum">
              <a:rPr lang="en-GB" sz="1000">
                <a:solidFill>
                  <a:srgbClr val="8795A1"/>
                </a:solidFill>
                <a:latin typeface="Segoe UI"/>
              </a:rPr>
              <a:t>32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 # an expression is a nested tuple: (&quot;+&quot;, a, b) or (&quot;*&quot;, a, b), # a number, or a string (a symbol) def rewrite_once(e): &quot;&quot;&quot;One pass of the identities. Returns (expr, rule name or None).&quot;&quot;&quot; if not isinstance(e, tuple): return e, None op, a, b = e if op == &quot;+&quot; and b == 0: return a, &quot;x + 0 -&gt; x&quot; if op == &quot;+&quot; and a == 0: return b, &quot;0 + x -&gt; x&quot; if op == &quot;*&quot; and b == 1: return a, &quot;x * 1 -&gt; x&quot; if op == &quot;*&quot; and (a == 0 or b == 0): return 0, &quot;x * 0 -&gt; 0&quot; if op == &quot;+&quot; and a == b: return (&quot;*&quot;, 2, a), &quot;x + x -&gt; 2x&quot;"/>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a:t>
            </a:r>
          </a:p>
          <a:p>
            <a:pPr>
              <a:lnSpc>
                <a:spcPct val="100000"/>
              </a:lnSpc>
              <a:spcAft>
                <a:spcPts val="0"/>
              </a:spcAft>
            </a:pPr>
            <a:r>
              <a:rPr sz="1400" i="1">
                <a:solidFill>
                  <a:srgbClr val="8795A1"/>
                </a:solidFill>
                <a:latin typeface="Consolas"/>
              </a:rPr>
              <a:t># an expression is a nested tuple: ("+", a, b) or ("*", a, b),</a:t>
            </a:r>
          </a:p>
          <a:p>
            <a:pPr>
              <a:lnSpc>
                <a:spcPct val="100000"/>
              </a:lnSpc>
              <a:spcAft>
                <a:spcPts val="0"/>
              </a:spcAft>
            </a:pPr>
            <a:r>
              <a:rPr sz="1400" i="1">
                <a:solidFill>
                  <a:srgbClr val="8795A1"/>
                </a:solidFill>
                <a:latin typeface="Consolas"/>
              </a:rPr>
              <a:t># a number, or a string (a symbol)</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rewrite_once</a:t>
            </a:r>
            <a:r>
              <a:rPr sz="1400" i="0">
                <a:solidFill>
                  <a:srgbClr val="AEB6BF"/>
                </a:solidFill>
                <a:latin typeface="Consolas"/>
              </a:rPr>
              <a:t>(</a:t>
            </a:r>
            <a:r>
              <a:rPr sz="1400" i="0">
                <a:solidFill>
                  <a:srgbClr val="E8EDF2"/>
                </a:solidFill>
                <a:latin typeface="Consolas"/>
              </a:rPr>
              <a:t>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"""One pass of the identities. Returns (expr, rule name or None)."""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C39BD3"/>
                </a:solidFill>
                <a:latin typeface="Consolas"/>
              </a:rPr>
              <a:t>isinstance</a:t>
            </a:r>
            <a:r>
              <a:rPr sz="1400" i="0">
                <a:solidFill>
                  <a:srgbClr val="AEB6BF"/>
                </a:solidFill>
                <a:latin typeface="Consolas"/>
              </a:rPr>
              <a:t>(</a:t>
            </a:r>
            <a:r>
              <a:rPr sz="1400" i="0">
                <a:solidFill>
                  <a:srgbClr val="E8EDF2"/>
                </a:solidFill>
                <a:latin typeface="Consolas"/>
              </a:rPr>
              <a:t>e</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tuple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e</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i="0">
                <a:solidFill>
                  <a:srgbClr val="E8EDF2"/>
                </a:solidFill>
                <a:latin typeface="Consolas"/>
              </a:rPr>
              <a:t>    </a:t>
            </a:r>
            <a:r>
              <a:rPr sz="1400" i="0">
                <a:solidFill>
                  <a:srgbClr val="E8EDF2"/>
                </a:solidFill>
                <a:latin typeface="Consolas"/>
              </a:rPr>
              <a:t>op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x + 0 -&gt; x</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0 + x -&gt; x</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x * 1 -&gt; x</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E8EDF2"/>
                </a:solidFill>
                <a:latin typeface="Consolas"/>
              </a:rPr>
              <a:t> </a:t>
            </a:r>
            <a:r>
              <a:rPr sz="1400" i="0">
                <a:solidFill>
                  <a:srgbClr val="AEB6BF"/>
                </a:solidFill>
                <a:latin typeface="Consolas"/>
              </a:rPr>
              <a:t>or</a:t>
            </a: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x * 0 -&gt; 0</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x + x -&gt; 2x</a:t>
            </a:r>
            <a:r>
              <a:rPr sz="1400" i="0">
                <a:solidFill>
                  <a:srgbClr val="7DCEA0"/>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127</a:t>
            </a:r>
          </a:p>
          <a:p>
            <a:pPr algn="r">
              <a:lnSpc>
                <a:spcPct val="100000"/>
              </a:lnSpc>
            </a:pPr>
            <a:r>
              <a:rPr sz="1400">
                <a:solidFill>
                  <a:srgbClr val="4F5D6A"/>
                </a:solidFill>
                <a:latin typeface="Consolas"/>
              </a:rPr>
              <a:t>128</a:t>
            </a:r>
          </a:p>
          <a:p>
            <a:pPr algn="r">
              <a:lnSpc>
                <a:spcPct val="100000"/>
              </a:lnSpc>
            </a:pPr>
            <a:r>
              <a:rPr sz="1400">
                <a:solidFill>
                  <a:srgbClr val="4F5D6A"/>
                </a:solidFill>
                <a:latin typeface="Consolas"/>
              </a:rPr>
              <a:t>129</a:t>
            </a:r>
          </a:p>
          <a:p>
            <a:pPr algn="r">
              <a:lnSpc>
                <a:spcPct val="100000"/>
              </a:lnSpc>
            </a:pPr>
            <a:r>
              <a:rPr sz="1400">
                <a:solidFill>
                  <a:srgbClr val="4F5D6A"/>
                </a:solidFill>
                <a:latin typeface="Consolas"/>
              </a:rPr>
              <a:t>130</a:t>
            </a:r>
          </a:p>
          <a:p>
            <a:pPr algn="r">
              <a:lnSpc>
                <a:spcPct val="100000"/>
              </a:lnSpc>
            </a:pPr>
            <a:r>
              <a:rPr sz="1400">
                <a:solidFill>
                  <a:srgbClr val="4F5D6A"/>
                </a:solidFill>
                <a:latin typeface="Consolas"/>
              </a:rPr>
              <a:t>131</a:t>
            </a:r>
          </a:p>
          <a:p>
            <a:pPr algn="r">
              <a:lnSpc>
                <a:spcPct val="100000"/>
              </a:lnSpc>
            </a:pPr>
            <a:r>
              <a:rPr sz="1400">
                <a:solidFill>
                  <a:srgbClr val="4F5D6A"/>
                </a:solidFill>
                <a:latin typeface="Consolas"/>
              </a:rPr>
              <a:t>132</a:t>
            </a:r>
          </a:p>
          <a:p>
            <a:pPr algn="r">
              <a:lnSpc>
                <a:spcPct val="100000"/>
              </a:lnSpc>
            </a:pPr>
            <a:r>
              <a:rPr sz="1400">
                <a:solidFill>
                  <a:srgbClr val="4F5D6A"/>
                </a:solidFill>
                <a:latin typeface="Consolas"/>
              </a:rPr>
              <a:t>133</a:t>
            </a:r>
          </a:p>
          <a:p>
            <a:pPr algn="r">
              <a:lnSpc>
                <a:spcPct val="100000"/>
              </a:lnSpc>
            </a:pPr>
            <a:r>
              <a:rPr sz="1400">
                <a:solidFill>
                  <a:srgbClr val="4F5D6A"/>
                </a:solidFill>
                <a:latin typeface="Consolas"/>
              </a:rPr>
              <a:t>134</a:t>
            </a:r>
          </a:p>
          <a:p>
            <a:pPr algn="r">
              <a:lnSpc>
                <a:spcPct val="100000"/>
              </a:lnSpc>
            </a:pPr>
            <a:r>
              <a:rPr sz="1400">
                <a:solidFill>
                  <a:srgbClr val="4F5D6A"/>
                </a:solidFill>
                <a:latin typeface="Consolas"/>
              </a:rPr>
              <a:t>135</a:t>
            </a:r>
          </a:p>
          <a:p>
            <a:pPr algn="r">
              <a:lnSpc>
                <a:spcPct val="100000"/>
              </a:lnSpc>
            </a:pPr>
            <a:r>
              <a:rPr sz="1400">
                <a:solidFill>
                  <a:srgbClr val="4F5D6A"/>
                </a:solidFill>
                <a:latin typeface="Consolas"/>
              </a:rPr>
              <a:t>136</a:t>
            </a:r>
          </a:p>
          <a:p>
            <a:pPr algn="r">
              <a:lnSpc>
                <a:spcPct val="100000"/>
              </a:lnSpc>
            </a:pPr>
            <a:r>
              <a:rPr sz="1400">
                <a:solidFill>
                  <a:srgbClr val="4F5D6A"/>
                </a:solidFill>
                <a:latin typeface="Consolas"/>
              </a:rPr>
              <a:t>137</a:t>
            </a:r>
          </a:p>
          <a:p>
            <a:pPr algn="r">
              <a:lnSpc>
                <a:spcPct val="100000"/>
              </a:lnSpc>
            </a:pPr>
            <a:r>
              <a:rPr sz="1400">
                <a:solidFill>
                  <a:srgbClr val="4F5D6A"/>
                </a:solidFill>
                <a:latin typeface="Consolas"/>
              </a:rPr>
              <a:t>138</a:t>
            </a:r>
          </a:p>
          <a:p>
            <a:pPr algn="r">
              <a:lnSpc>
                <a:spcPct val="100000"/>
              </a:lnSpc>
            </a:pPr>
            <a:r>
              <a:rPr sz="1400">
                <a:solidFill>
                  <a:srgbClr val="4F5D6A"/>
                </a:solidFill>
                <a:latin typeface="Consolas"/>
              </a:rPr>
              <a:t>139</a:t>
            </a:r>
          </a:p>
          <a:p>
            <a:pPr algn="r">
              <a:lnSpc>
                <a:spcPct val="100000"/>
              </a:lnSpc>
            </a:pPr>
            <a:r>
              <a:rPr sz="1400">
                <a:solidFill>
                  <a:srgbClr val="4F5D6A"/>
                </a:solidFill>
                <a:latin typeface="Consolas"/>
              </a:rPr>
              <a:t>140</a:t>
            </a:r>
          </a:p>
          <a:p>
            <a:pPr algn="r">
              <a:lnSpc>
                <a:spcPct val="100000"/>
              </a:lnSpc>
            </a:pPr>
            <a:r>
              <a:rPr sz="1400">
                <a:solidFill>
                  <a:srgbClr val="4F5D6A"/>
                </a:solidFill>
                <a:latin typeface="Consolas"/>
              </a:rPr>
              <a:t>141</a:t>
            </a:r>
          </a:p>
          <a:p>
            <a:pPr algn="r">
              <a:lnSpc>
                <a:spcPct val="100000"/>
              </a:lnSpc>
            </a:pPr>
            <a:r>
              <a:rPr sz="1400">
                <a:solidFill>
                  <a:srgbClr val="4F5D6A"/>
                </a:solidFill>
                <a:latin typeface="Consolas"/>
              </a:rPr>
              <a:t>142</a:t>
            </a:r>
          </a:p>
          <a:p>
            <a:pPr algn="r">
              <a:lnSpc>
                <a:spcPct val="100000"/>
              </a:lnSpc>
            </a:pPr>
            <a:r>
              <a:rPr sz="1400">
                <a:solidFill>
                  <a:srgbClr val="4F5D6A"/>
                </a:solidFill>
                <a:latin typeface="Consolas"/>
              </a:rPr>
              <a:t>143</a:t>
            </a:r>
          </a:p>
          <a:p>
            <a:pPr algn="r">
              <a:lnSpc>
                <a:spcPct val="100000"/>
              </a:lnSpc>
            </a:pPr>
            <a:r>
              <a:rPr sz="1400">
                <a:solidFill>
                  <a:srgbClr val="4F5D6A"/>
                </a:solidFill>
                <a:latin typeface="Consolas"/>
              </a:rPr>
              <a:t>144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96668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0A667F8D-0365-49F5-A759-56E4DA2B2643}" type="slidenum">
              <a:rPr lang="en-GB" sz="1000">
                <a:solidFill>
                  <a:srgbClr val="8795A1"/>
                </a:solidFill>
                <a:latin typeface="Segoe UI"/>
              </a:rPr>
              <a:t>33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 (a*x) + (b*x) -&gt; (a+b)*x if (op == &quot;+&quot; and isinstance(a, tuple) and isinstance(b, tuple) and a[0] == &quot;*&quot; and b[0] == &quot;*&quot; and a[2] == b[2] and isinstance(a[1], int) and isinstance(b[1], int)): return (&quot;*&quot;, a[1] + b[1], a[2]), &quot;(a*x)+(b*x) -&gt; (a+b)*x&quot; # recurse na, r = rewrite_once(a) if r: return (op, na, b), r nb, r = rewrite_once(b) if r: return (op, a, nb), r return e, None"/>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(a*x) + (b*x) -&gt; (a+b)*x</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op</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C39BD3"/>
                </a:solidFill>
                <a:latin typeface="Consolas"/>
              </a:rPr>
              <a:t>isinstance</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tuple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C39BD3"/>
                </a:solidFill>
                <a:latin typeface="Consolas"/>
              </a:rPr>
              <a:t>isinstance</a:t>
            </a:r>
            <a:r>
              <a:rPr sz="2000" i="0">
                <a:solidFill>
                  <a:srgbClr val="AEB6BF"/>
                </a:solidFill>
                <a:latin typeface="Consolas"/>
              </a:rPr>
              <a:t>(</a:t>
            </a:r>
            <a:r>
              <a:rPr sz="2000" i="0">
                <a:solidFill>
                  <a:srgbClr val="E8EDF2"/>
                </a:solidFill>
                <a:latin typeface="Consolas"/>
              </a:rPr>
              <a:t>b</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tuple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C39BD3"/>
                </a:solidFill>
                <a:latin typeface="Consolas"/>
              </a:rPr>
              <a:t>isinstance</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int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C39BD3"/>
                </a:solidFill>
                <a:latin typeface="Consolas"/>
              </a:rPr>
              <a:t>isinstance</a:t>
            </a:r>
            <a:r>
              <a:rPr sz="2000" i="0">
                <a:solidFill>
                  <a:srgbClr val="AEB6BF"/>
                </a:solidFill>
                <a:latin typeface="Consolas"/>
              </a:rPr>
              <a:t>(</a:t>
            </a:r>
            <a:r>
              <a:rPr sz="2000" i="0">
                <a:solidFill>
                  <a:srgbClr val="E8EDF2"/>
                </a:solidFill>
                <a:latin typeface="Consolas"/>
              </a:rPr>
              <a:t>b</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int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(a*x)+(b*x) -&gt; (a+b)*x</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1">
                <a:solidFill>
                  <a:srgbClr val="8795A1"/>
                </a:solidFill>
                <a:latin typeface="Consolas"/>
              </a:rPr>
              <a:t># recurse</a:t>
            </a:r>
          </a:p>
          <a:p>
            <a:pPr>
              <a:lnSpc>
                <a:spcPct val="100000"/>
              </a:lnSpc>
              <a:spcAft>
                <a:spcPts val="0"/>
              </a:spcAft>
            </a:pPr>
            <a:r>
              <a:rPr sz="2000" i="0">
                <a:solidFill>
                  <a:srgbClr val="E8EDF2"/>
                </a:solidFill>
                <a:latin typeface="Consolas"/>
              </a:rPr>
              <a:t>    </a:t>
            </a:r>
            <a:r>
              <a:rPr sz="2000" i="0">
                <a:solidFill>
                  <a:srgbClr val="E8EDF2"/>
                </a:solidFill>
                <a:latin typeface="Consolas"/>
              </a:rPr>
              <a:t>na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rewrite_once</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op</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a:t>
            </a:r>
          </a:p>
          <a:p>
            <a:pPr>
              <a:lnSpc>
                <a:spcPct val="100000"/>
              </a:lnSpc>
              <a:spcAft>
                <a:spcPts val="0"/>
              </a:spcAft>
            </a:pPr>
            <a:r>
              <a:rPr sz="2000" i="0">
                <a:solidFill>
                  <a:srgbClr val="E8EDF2"/>
                </a:solidFill>
                <a:latin typeface="Consolas"/>
              </a:rPr>
              <a:t>    </a:t>
            </a:r>
            <a:r>
              <a:rPr sz="2000" i="0">
                <a:solidFill>
                  <a:srgbClr val="E8EDF2"/>
                </a:solidFill>
                <a:latin typeface="Consolas"/>
              </a:rPr>
              <a:t>nb</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rewrite_once</a:t>
            </a:r>
            <a:r>
              <a:rPr sz="2000" i="0">
                <a:solidFill>
                  <a:srgbClr val="AEB6BF"/>
                </a:solidFill>
                <a:latin typeface="Consolas"/>
              </a:rPr>
              <a:t>(</a:t>
            </a:r>
            <a:r>
              <a:rPr sz="2000" i="0">
                <a:solidFill>
                  <a:srgbClr val="E8EDF2"/>
                </a:solidFill>
                <a:latin typeface="Consolas"/>
              </a:rPr>
              <a:t>b</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op</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nb</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e</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145</a:t>
            </a:r>
          </a:p>
          <a:p>
            <a:pPr algn="r">
              <a:lnSpc>
                <a:spcPct val="100000"/>
              </a:lnSpc>
            </a:pPr>
            <a:r>
              <a:rPr sz="2000">
                <a:solidFill>
                  <a:srgbClr val="4F5D6A"/>
                </a:solidFill>
                <a:latin typeface="Consolas"/>
              </a:rPr>
              <a:t>146</a:t>
            </a:r>
          </a:p>
          <a:p>
            <a:pPr algn="r">
              <a:lnSpc>
                <a:spcPct val="100000"/>
              </a:lnSpc>
            </a:pPr>
            <a:r>
              <a:rPr sz="2000">
                <a:solidFill>
                  <a:srgbClr val="4F5D6A"/>
                </a:solidFill>
                <a:latin typeface="Consolas"/>
              </a:rPr>
              <a:t>147</a:t>
            </a:r>
          </a:p>
          <a:p>
            <a:pPr algn="r">
              <a:lnSpc>
                <a:spcPct val="100000"/>
              </a:lnSpc>
            </a:pPr>
            <a:r>
              <a:rPr sz="2000">
                <a:solidFill>
                  <a:srgbClr val="4F5D6A"/>
                </a:solidFill>
                <a:latin typeface="Consolas"/>
              </a:rPr>
              <a:t>148</a:t>
            </a:r>
          </a:p>
          <a:p>
            <a:pPr algn="r">
              <a:lnSpc>
                <a:spcPct val="100000"/>
              </a:lnSpc>
            </a:pPr>
            <a:r>
              <a:rPr sz="2000">
                <a:solidFill>
                  <a:srgbClr val="4F5D6A"/>
                </a:solidFill>
                <a:latin typeface="Consolas"/>
              </a:rPr>
              <a:t>149</a:t>
            </a:r>
          </a:p>
          <a:p>
            <a:pPr algn="r">
              <a:lnSpc>
                <a:spcPct val="100000"/>
              </a:lnSpc>
            </a:pPr>
            <a:r>
              <a:rPr sz="2000">
                <a:solidFill>
                  <a:srgbClr val="4F5D6A"/>
                </a:solidFill>
                <a:latin typeface="Consolas"/>
              </a:rPr>
              <a:t>150</a:t>
            </a:r>
          </a:p>
          <a:p>
            <a:pPr algn="r">
              <a:lnSpc>
                <a:spcPct val="100000"/>
              </a:lnSpc>
            </a:pPr>
            <a:r>
              <a:rPr sz="2000">
                <a:solidFill>
                  <a:srgbClr val="4F5D6A"/>
                </a:solidFill>
                <a:latin typeface="Consolas"/>
              </a:rPr>
              <a:t>151</a:t>
            </a:r>
          </a:p>
          <a:p>
            <a:pPr algn="r">
              <a:lnSpc>
                <a:spcPct val="100000"/>
              </a:lnSpc>
            </a:pPr>
            <a:r>
              <a:rPr sz="2000">
                <a:solidFill>
                  <a:srgbClr val="4F5D6A"/>
                </a:solidFill>
                <a:latin typeface="Consolas"/>
              </a:rPr>
              <a:t>152</a:t>
            </a:r>
          </a:p>
          <a:p>
            <a:pPr algn="r">
              <a:lnSpc>
                <a:spcPct val="100000"/>
              </a:lnSpc>
            </a:pPr>
            <a:r>
              <a:rPr sz="2000">
                <a:solidFill>
                  <a:srgbClr val="4F5D6A"/>
                </a:solidFill>
                <a:latin typeface="Consolas"/>
              </a:rPr>
              <a:t>153</a:t>
            </a:r>
          </a:p>
          <a:p>
            <a:pPr algn="r">
              <a:lnSpc>
                <a:spcPct val="100000"/>
              </a:lnSpc>
            </a:pPr>
            <a:r>
              <a:rPr sz="2000">
                <a:solidFill>
                  <a:srgbClr val="4F5D6A"/>
                </a:solidFill>
                <a:latin typeface="Consolas"/>
              </a:rPr>
              <a:t>154</a:t>
            </a:r>
          </a:p>
          <a:p>
            <a:pPr algn="r">
              <a:lnSpc>
                <a:spcPct val="100000"/>
              </a:lnSpc>
            </a:pPr>
            <a:r>
              <a:rPr sz="2000">
                <a:solidFill>
                  <a:srgbClr val="4F5D6A"/>
                </a:solidFill>
                <a:latin typeface="Consolas"/>
              </a:rPr>
              <a:t>155</a:t>
            </a:r>
          </a:p>
          <a:p>
            <a:pPr algn="r">
              <a:lnSpc>
                <a:spcPct val="100000"/>
              </a:lnSpc>
            </a:pPr>
            <a:r>
              <a:rPr sz="2000">
                <a:solidFill>
                  <a:srgbClr val="4F5D6A"/>
                </a:solidFill>
                <a:latin typeface="Consolas"/>
              </a:rPr>
              <a:t>156</a:t>
            </a:r>
          </a:p>
          <a:p>
            <a:pPr algn="r">
              <a:lnSpc>
                <a:spcPct val="100000"/>
              </a:lnSpc>
            </a:pPr>
            <a:r>
              <a:rPr sz="2000">
                <a:solidFill>
                  <a:srgbClr val="4F5D6A"/>
                </a:solidFill>
                <a:latin typeface="Consolas"/>
              </a:rPr>
              <a:t>157</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18439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9FEA5E62-82F6-482E-9B49-498632709F28}" type="slidenum">
              <a:rPr lang="en-GB" sz="1000">
                <a:solidFill>
                  <a:srgbClr val="8795A1"/>
                </a:solidFill>
                <a:latin typeface="Segoe UI"/>
              </a:rPr>
              <a:t>34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04944"/>
          </a:xfrm>
          <a:prstGeom prst="roundRect">
            <a:avLst>
              <a:gd name="adj" fmla="val 20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def simplify(e, limit=25): &quot;&quot;&quot;Forward chaining to a fixed point -- Chapter 13, over trees.&quot;&quot;&quot; steps = [] for _ in range(limit): e2, rule = rewrite_once(e) if rule is None: return e, steps steps.append(rule) e = e2 return e, steps def show(e): if not isinstance(e, tuple): return str(e) return &quot;(%s %s %s)&quot; % (show(e[1]), e[0], show(e[2]))"/>
          <p:cNvSpPr txBox="1"/>
          <p:nvPr/>
        </p:nvSpPr>
        <p:spPr>
          <a:xfrm>
            <a:off x="1362456" y="2066543"/>
            <a:ext cx="9987991" cy="4011168"/>
          </a:xfrm>
          <a:prstGeom prst="rect">
            <a:avLst/>
          </a:prstGeom>
          <a:noFill/>
        </p:spPr>
        <p:txBody>
          <a:bodyPr wrap="none" anchor="t" lIns="0" rIns="0" tIns="0" bIns="0">
            <a:noAutofit/>
          </a:bodyPr>
          <a:lstStyle/>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simplify</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limit</a:t>
            </a:r>
            <a:r>
              <a:rPr sz="1600" i="0">
                <a:solidFill>
                  <a:srgbClr val="AEB6BF"/>
                </a:solidFill>
                <a:latin typeface="Consolas"/>
              </a:rPr>
              <a:t>=</a:t>
            </a:r>
            <a:r>
              <a:rPr sz="1600" i="0">
                <a:solidFill>
                  <a:srgbClr val="F7DC6F"/>
                </a:solidFill>
                <a:latin typeface="Consolas"/>
              </a:rPr>
              <a:t>25</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"""Forward chaining to a fixed point -- Chapter 13, over trees."""</a:t>
            </a:r>
          </a:p>
          <a:p>
            <a:pPr>
              <a:lnSpc>
                <a:spcPct val="100000"/>
              </a:lnSpc>
              <a:spcAft>
                <a:spcPts val="0"/>
              </a:spcAft>
            </a:pPr>
            <a:r>
              <a:rPr sz="1600" i="0">
                <a:solidFill>
                  <a:srgbClr val="E8EDF2"/>
                </a:solidFill>
                <a:latin typeface="Consolas"/>
              </a:rPr>
              <a:t>    </a:t>
            </a:r>
            <a:r>
              <a:rPr sz="1600" i="0">
                <a:solidFill>
                  <a:srgbClr val="E8EDF2"/>
                </a:solidFill>
                <a:latin typeface="Consolas"/>
              </a:rPr>
              <a:t>steps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_</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C39BD3"/>
                </a:solidFill>
                <a:latin typeface="Consolas"/>
              </a:rPr>
              <a:t>range</a:t>
            </a:r>
            <a:r>
              <a:rPr sz="1600" i="0">
                <a:solidFill>
                  <a:srgbClr val="AEB6BF"/>
                </a:solidFill>
                <a:latin typeface="Consolas"/>
              </a:rPr>
              <a:t>(</a:t>
            </a:r>
            <a:r>
              <a:rPr sz="1600" i="0">
                <a:solidFill>
                  <a:srgbClr val="E8EDF2"/>
                </a:solidFill>
                <a:latin typeface="Consolas"/>
              </a:rPr>
              <a:t>limit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e2</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rewrite_once</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rule</a:t>
            </a:r>
            <a:r>
              <a:rPr sz="1600" i="0">
                <a:solidFill>
                  <a:srgbClr val="E8EDF2"/>
                </a:solidFill>
                <a:latin typeface="Consolas"/>
              </a:rPr>
              <a:t> </a:t>
            </a:r>
            <a:r>
              <a:rPr sz="1600" i="0">
                <a:solidFill>
                  <a:srgbClr val="AEB6BF"/>
                </a:solidFill>
                <a:latin typeface="Consolas"/>
              </a:rPr>
              <a:t>is</a:t>
            </a:r>
            <a:r>
              <a:rPr sz="1600" i="0">
                <a:solidFill>
                  <a:srgbClr val="E8EDF2"/>
                </a:solidFill>
                <a:latin typeface="Consolas"/>
              </a:rPr>
              <a:t> </a:t>
            </a:r>
            <a:r>
              <a:rPr sz="1600" i="0">
                <a:solidFill>
                  <a:srgbClr val="5DADE2"/>
                </a:solidFill>
                <a:latin typeface="Consolas"/>
              </a:rPr>
              <a:t>None</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steps</a:t>
            </a:r>
          </a:p>
          <a:p>
            <a:pPr>
              <a:lnSpc>
                <a:spcPct val="100000"/>
              </a:lnSpc>
              <a:spcAft>
                <a:spcPts val="0"/>
              </a:spcAft>
            </a:pPr>
            <a:r>
              <a:rPr sz="1600" i="0">
                <a:solidFill>
                  <a:srgbClr val="E8EDF2"/>
                </a:solidFill>
                <a:latin typeface="Consolas"/>
              </a:rPr>
              <a:t>        </a:t>
            </a:r>
            <a:r>
              <a:rPr sz="1600" i="0">
                <a:solidFill>
                  <a:srgbClr val="E8EDF2"/>
                </a:solidFill>
                <a:latin typeface="Consolas"/>
              </a:rPr>
              <a:t>steps</a:t>
            </a:r>
            <a:r>
              <a:rPr sz="1600" i="0">
                <a:solidFill>
                  <a:srgbClr val="AEB6BF"/>
                </a:solidFill>
                <a:latin typeface="Consolas"/>
              </a:rPr>
              <a:t>.</a:t>
            </a:r>
            <a:r>
              <a:rPr sz="1600" i="0">
                <a:solidFill>
                  <a:srgbClr val="E8EDF2"/>
                </a:solidFill>
                <a:latin typeface="Consolas"/>
              </a:rPr>
              <a:t>append</a:t>
            </a:r>
            <a:r>
              <a:rPr sz="1600" i="0">
                <a:solidFill>
                  <a:srgbClr val="AEB6BF"/>
                </a:solidFill>
                <a:latin typeface="Consolas"/>
              </a:rPr>
              <a:t>(</a:t>
            </a:r>
            <a:r>
              <a:rPr sz="1600" i="0">
                <a:solidFill>
                  <a:srgbClr val="E8EDF2"/>
                </a:solidFill>
                <a:latin typeface="Consolas"/>
              </a:rPr>
              <a:t>rule</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e2</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steps</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show</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AEB6BF"/>
                </a:solidFill>
                <a:latin typeface="Consolas"/>
              </a:rPr>
              <a:t>not</a:t>
            </a:r>
            <a:r>
              <a:rPr sz="1600" i="0">
                <a:solidFill>
                  <a:srgbClr val="E8EDF2"/>
                </a:solidFill>
                <a:latin typeface="Consolas"/>
              </a:rPr>
              <a:t> </a:t>
            </a:r>
            <a:r>
              <a:rPr sz="1600" i="0">
                <a:solidFill>
                  <a:srgbClr val="C39BD3"/>
                </a:solidFill>
                <a:latin typeface="Consolas"/>
              </a:rPr>
              <a:t>isinstance</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tuple</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C39BD3"/>
                </a:solidFill>
                <a:latin typeface="Consolas"/>
              </a:rPr>
              <a:t>str</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a:t>
            </a:r>
            <a:r>
              <a:rPr sz="1600" i="0">
                <a:solidFill>
                  <a:srgbClr val="7DCEA0"/>
                </a:solidFill>
                <a:latin typeface="Consolas"/>
              </a:rPr>
              <a:t>%s</a:t>
            </a:r>
            <a:r>
              <a:rPr sz="1600" i="0">
                <a:solidFill>
                  <a:srgbClr val="7DCEA0"/>
                </a:solidFill>
                <a:latin typeface="Consolas"/>
              </a:rPr>
              <a:t> </a:t>
            </a:r>
            <a:r>
              <a:rPr sz="1600" i="0">
                <a:solidFill>
                  <a:srgbClr val="7DCEA0"/>
                </a:solidFill>
                <a:latin typeface="Consolas"/>
              </a:rPr>
              <a:t>%s</a:t>
            </a:r>
            <a:r>
              <a:rPr sz="1600" i="0">
                <a:solidFill>
                  <a:srgbClr val="7DCEA0"/>
                </a:solidFill>
                <a:latin typeface="Consolas"/>
              </a:rPr>
              <a:t> </a:t>
            </a:r>
            <a:r>
              <a:rPr sz="1600" i="0">
                <a:solidFill>
                  <a:srgbClr val="7DCEA0"/>
                </a:solidFill>
                <a:latin typeface="Consolas"/>
              </a:rPr>
              <a:t>%s</a:t>
            </a:r>
            <a:r>
              <a:rPr sz="1600" i="0">
                <a:solidFill>
                  <a:srgbClr val="7DCEA0"/>
                </a:solidFill>
                <a:latin typeface="Consolas"/>
              </a:rPr>
              <a:t>)</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show</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show</a:t>
            </a:r>
            <a:r>
              <a:rPr sz="1600" i="0">
                <a:solidFill>
                  <a:srgbClr val="AEB6BF"/>
                </a:solidFill>
                <a:latin typeface="Consolas"/>
              </a:rPr>
              <a:t>(</a:t>
            </a:r>
            <a:r>
              <a:rPr sz="1600" i="0">
                <a:solidFill>
                  <a:srgbClr val="E8EDF2"/>
                </a:solidFill>
                <a:latin typeface="Consolas"/>
              </a:rPr>
              <a:t>e</a:t>
            </a:r>
            <a:r>
              <a:rPr sz="1600" i="0">
                <a:solidFill>
                  <a:srgbClr val="AEB6BF"/>
                </a:solidFill>
                <a:latin typeface="Consolas"/>
              </a:rPr>
              <a:t>[</a:t>
            </a:r>
            <a:r>
              <a:rPr sz="1600" i="0">
                <a:solidFill>
                  <a:srgbClr val="F7DC6F"/>
                </a:solidFill>
                <a:latin typeface="Consolas"/>
              </a:rPr>
              <a:t>2</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p:txBody>
      </p:sp>
      <p:sp>
        <p:nvSpPr>
          <p:cNvPr id="14" name="!!code-num"/>
          <p:cNvSpPr txBox="1"/>
          <p:nvPr/>
        </p:nvSpPr>
        <p:spPr>
          <a:xfrm>
            <a:off x="768096" y="2066543"/>
            <a:ext cx="393192" cy="4011168"/>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160</a:t>
            </a:r>
          </a:p>
          <a:p>
            <a:pPr algn="r">
              <a:lnSpc>
                <a:spcPct val="100000"/>
              </a:lnSpc>
            </a:pPr>
            <a:r>
              <a:rPr sz="1600">
                <a:solidFill>
                  <a:srgbClr val="4F5D6A"/>
                </a:solidFill>
                <a:latin typeface="Consolas"/>
              </a:rPr>
              <a:t>161</a:t>
            </a:r>
          </a:p>
          <a:p>
            <a:pPr algn="r">
              <a:lnSpc>
                <a:spcPct val="100000"/>
              </a:lnSpc>
            </a:pPr>
            <a:r>
              <a:rPr sz="1600">
                <a:solidFill>
                  <a:srgbClr val="4F5D6A"/>
                </a:solidFill>
                <a:latin typeface="Consolas"/>
              </a:rPr>
              <a:t>162</a:t>
            </a:r>
          </a:p>
          <a:p>
            <a:pPr algn="r">
              <a:lnSpc>
                <a:spcPct val="100000"/>
              </a:lnSpc>
            </a:pPr>
            <a:r>
              <a:rPr sz="1600">
                <a:solidFill>
                  <a:srgbClr val="4F5D6A"/>
                </a:solidFill>
                <a:latin typeface="Consolas"/>
              </a:rPr>
              <a:t>163</a:t>
            </a:r>
          </a:p>
          <a:p>
            <a:pPr algn="r">
              <a:lnSpc>
                <a:spcPct val="100000"/>
              </a:lnSpc>
            </a:pPr>
            <a:r>
              <a:rPr sz="1600">
                <a:solidFill>
                  <a:srgbClr val="4F5D6A"/>
                </a:solidFill>
                <a:latin typeface="Consolas"/>
              </a:rPr>
              <a:t>164</a:t>
            </a:r>
          </a:p>
          <a:p>
            <a:pPr algn="r">
              <a:lnSpc>
                <a:spcPct val="100000"/>
              </a:lnSpc>
            </a:pPr>
            <a:r>
              <a:rPr sz="1600">
                <a:solidFill>
                  <a:srgbClr val="4F5D6A"/>
                </a:solidFill>
                <a:latin typeface="Consolas"/>
              </a:rPr>
              <a:t>165</a:t>
            </a:r>
          </a:p>
          <a:p>
            <a:pPr algn="r">
              <a:lnSpc>
                <a:spcPct val="100000"/>
              </a:lnSpc>
            </a:pPr>
            <a:r>
              <a:rPr sz="1600">
                <a:solidFill>
                  <a:srgbClr val="4F5D6A"/>
                </a:solidFill>
                <a:latin typeface="Consolas"/>
              </a:rPr>
              <a:t>166</a:t>
            </a:r>
          </a:p>
          <a:p>
            <a:pPr algn="r">
              <a:lnSpc>
                <a:spcPct val="100000"/>
              </a:lnSpc>
            </a:pPr>
            <a:r>
              <a:rPr sz="1600">
                <a:solidFill>
                  <a:srgbClr val="4F5D6A"/>
                </a:solidFill>
                <a:latin typeface="Consolas"/>
              </a:rPr>
              <a:t>167</a:t>
            </a:r>
          </a:p>
          <a:p>
            <a:pPr algn="r">
              <a:lnSpc>
                <a:spcPct val="100000"/>
              </a:lnSpc>
            </a:pPr>
            <a:r>
              <a:rPr sz="1600">
                <a:solidFill>
                  <a:srgbClr val="4F5D6A"/>
                </a:solidFill>
                <a:latin typeface="Consolas"/>
              </a:rPr>
              <a:t>168</a:t>
            </a:r>
          </a:p>
          <a:p>
            <a:pPr algn="r">
              <a:lnSpc>
                <a:spcPct val="100000"/>
              </a:lnSpc>
            </a:pPr>
            <a:r>
              <a:rPr sz="1600">
                <a:solidFill>
                  <a:srgbClr val="4F5D6A"/>
                </a:solidFill>
                <a:latin typeface="Consolas"/>
              </a:rPr>
              <a:t>169</a:t>
            </a:r>
          </a:p>
          <a:p>
            <a:pPr algn="r">
              <a:lnSpc>
                <a:spcPct val="100000"/>
              </a:lnSpc>
            </a:pPr>
            <a:r>
              <a:rPr sz="1600">
                <a:solidFill>
                  <a:srgbClr val="4F5D6A"/>
                </a:solidFill>
                <a:latin typeface="Consolas"/>
              </a:rPr>
              <a:t>170</a:t>
            </a:r>
          </a:p>
          <a:p>
            <a:pPr algn="r">
              <a:lnSpc>
                <a:spcPct val="100000"/>
              </a:lnSpc>
            </a:pPr>
            <a:r>
              <a:rPr sz="1600">
                <a:solidFill>
                  <a:srgbClr val="4F5D6A"/>
                </a:solidFill>
                <a:latin typeface="Consolas"/>
              </a:rPr>
              <a:t>171</a:t>
            </a:r>
          </a:p>
          <a:p>
            <a:pPr algn="r">
              <a:lnSpc>
                <a:spcPct val="100000"/>
              </a:lnSpc>
            </a:pPr>
            <a:r>
              <a:rPr sz="1600">
                <a:solidFill>
                  <a:srgbClr val="4F5D6A"/>
                </a:solidFill>
                <a:latin typeface="Consolas"/>
              </a:rPr>
              <a:t>172</a:t>
            </a:r>
          </a:p>
          <a:p>
            <a:pPr algn="r">
              <a:lnSpc>
                <a:spcPct val="100000"/>
              </a:lnSpc>
            </a:pPr>
            <a:r>
              <a:rPr sz="1600">
                <a:solidFill>
                  <a:srgbClr val="4F5D6A"/>
                </a:solidFill>
                <a:latin typeface="Consolas"/>
              </a:rPr>
              <a:t>173</a:t>
            </a:r>
          </a:p>
          <a:p>
            <a:pPr algn="r">
              <a:lnSpc>
                <a:spcPct val="100000"/>
              </a:lnSpc>
            </a:pPr>
            <a:r>
              <a:rPr sz="1600">
                <a:solidFill>
                  <a:srgbClr val="4F5D6A"/>
                </a:solidFill>
                <a:latin typeface="Consolas"/>
              </a:rPr>
              <a:t>174</a:t>
            </a:r>
          </a:p>
          <a:p>
            <a:pPr algn="r">
              <a:lnSpc>
                <a:spcPct val="100000"/>
              </a:lnSpc>
            </a:pPr>
            <a:r>
              <a:rPr sz="1600">
                <a:solidFill>
                  <a:srgbClr val="4F5D6A"/>
                </a:solidFill>
                <a:latin typeface="Consolas"/>
              </a:rPr>
              <a:t>175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40210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DC9B10A9-79ED-49C4-A51C-1ADD2A301770}" type="slidenum">
              <a:rPr lang="en-GB" sz="1000">
                <a:solidFill>
                  <a:srgbClr val="8795A1"/>
                </a:solidFill>
                <a:latin typeface="Segoe UI"/>
              </a:rPr>
              <a:t>35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if __name__ == &quot;__main__&quot;: print(&quot;=&quot; * 62) print(&quot;1. GENERAL PROBLEM SOLVER (1961) -- means-ends analysis&quot;) print(&quot;=&quot; * 62) final, plan = gps(frozenset({&quot;staging free&quot;}), [&quot;deployed&quot;]) print(&quot; goal: deployed&quot;) print(&quot; plan:&quot;, &quot; -&gt; &quot;.join(plan)) assert plan == [&quot;code&quot;, &quot;review&quot;, &quot;test&quot;, &quot;deploy&quot;] print(&quot; This is Chapter 9's engine, unchanged.&quot;)"/>
          <p:cNvSpPr txBox="1"/>
          <p:nvPr/>
        </p:nvSpPr>
        <p:spPr>
          <a:xfrm>
            <a:off x="1362456" y="2066543"/>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__name__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__main__</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62</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1. GENERAL PROBLEM SOLVER (1961) -- means-ends analysis</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62</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final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plan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gps</a:t>
            </a:r>
            <a:r>
              <a:rPr sz="2000" i="0">
                <a:solidFill>
                  <a:srgbClr val="AEB6BF"/>
                </a:solidFill>
                <a:latin typeface="Consolas"/>
              </a:rPr>
              <a:t>(</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deployed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goal: deployed</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plan:</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-&gt; </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join</a:t>
            </a:r>
            <a:r>
              <a:rPr sz="2000" i="0">
                <a:solidFill>
                  <a:srgbClr val="AEB6BF"/>
                </a:solidFill>
                <a:latin typeface="Consolas"/>
              </a:rPr>
              <a:t>(</a:t>
            </a:r>
            <a:r>
              <a:rPr sz="2000" i="0">
                <a:solidFill>
                  <a:srgbClr val="E8EDF2"/>
                </a:solidFill>
                <a:latin typeface="Consolas"/>
              </a:rPr>
              <a:t>plan</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plan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code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review</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test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deploy</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This is Chapter 9</a:t>
            </a:r>
            <a:r>
              <a:rPr sz="2000" i="0">
                <a:solidFill>
                  <a:srgbClr val="7DCEA0"/>
                </a:solidFill>
                <a:latin typeface="Consolas"/>
              </a:rPr>
              <a:t>'</a:t>
            </a:r>
            <a:r>
              <a:rPr sz="2000" i="0">
                <a:solidFill>
                  <a:srgbClr val="7DCEA0"/>
                </a:solidFill>
                <a:latin typeface="Consolas"/>
              </a:rPr>
              <a:t>s engine, unchanged.</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178</a:t>
            </a:r>
          </a:p>
          <a:p>
            <a:pPr algn="r">
              <a:lnSpc>
                <a:spcPct val="100000"/>
              </a:lnSpc>
            </a:pPr>
            <a:r>
              <a:rPr sz="2000">
                <a:solidFill>
                  <a:srgbClr val="4F5D6A"/>
                </a:solidFill>
                <a:latin typeface="Consolas"/>
              </a:rPr>
              <a:t>179</a:t>
            </a:r>
          </a:p>
          <a:p>
            <a:pPr algn="r">
              <a:lnSpc>
                <a:spcPct val="100000"/>
              </a:lnSpc>
            </a:pPr>
            <a:r>
              <a:rPr sz="2000">
                <a:solidFill>
                  <a:srgbClr val="4F5D6A"/>
                </a:solidFill>
                <a:latin typeface="Consolas"/>
              </a:rPr>
              <a:t>180</a:t>
            </a:r>
          </a:p>
          <a:p>
            <a:pPr algn="r">
              <a:lnSpc>
                <a:spcPct val="100000"/>
              </a:lnSpc>
            </a:pPr>
            <a:r>
              <a:rPr sz="2000">
                <a:solidFill>
                  <a:srgbClr val="4F5D6A"/>
                </a:solidFill>
                <a:latin typeface="Consolas"/>
              </a:rPr>
              <a:t>181</a:t>
            </a:r>
          </a:p>
          <a:p>
            <a:pPr algn="r">
              <a:lnSpc>
                <a:spcPct val="100000"/>
              </a:lnSpc>
            </a:pPr>
            <a:r>
              <a:rPr sz="2000">
                <a:solidFill>
                  <a:srgbClr val="4F5D6A"/>
                </a:solidFill>
                <a:latin typeface="Consolas"/>
              </a:rPr>
              <a:t>182</a:t>
            </a:r>
          </a:p>
          <a:p>
            <a:pPr algn="r">
              <a:lnSpc>
                <a:spcPct val="100000"/>
              </a:lnSpc>
            </a:pPr>
            <a:r>
              <a:rPr sz="2000">
                <a:solidFill>
                  <a:srgbClr val="4F5D6A"/>
                </a:solidFill>
                <a:latin typeface="Consolas"/>
              </a:rPr>
              <a:t>183</a:t>
            </a:r>
          </a:p>
          <a:p>
            <a:pPr algn="r">
              <a:lnSpc>
                <a:spcPct val="100000"/>
              </a:lnSpc>
            </a:pPr>
            <a:r>
              <a:rPr sz="2000">
                <a:solidFill>
                  <a:srgbClr val="4F5D6A"/>
                </a:solidFill>
                <a:latin typeface="Consolas"/>
              </a:rPr>
              <a:t>184</a:t>
            </a:r>
          </a:p>
          <a:p>
            <a:pPr algn="r">
              <a:lnSpc>
                <a:spcPct val="100000"/>
              </a:lnSpc>
            </a:pPr>
            <a:r>
              <a:rPr sz="2000">
                <a:solidFill>
                  <a:srgbClr val="4F5D6A"/>
                </a:solidFill>
                <a:latin typeface="Consolas"/>
              </a:rPr>
              <a:t>185</a:t>
            </a:r>
          </a:p>
          <a:p>
            <a:pPr algn="r">
              <a:lnSpc>
                <a:spcPct val="100000"/>
              </a:lnSpc>
            </a:pPr>
            <a:r>
              <a:rPr sz="2000">
                <a:solidFill>
                  <a:srgbClr val="4F5D6A"/>
                </a:solidFill>
                <a:latin typeface="Consolas"/>
              </a:rPr>
              <a:t>186</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61980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39F5A822-5CD0-4C70-BE81-982803885BED}" type="slidenum">
              <a:rPr lang="en-GB" sz="1000">
                <a:solidFill>
                  <a:srgbClr val="8795A1"/>
                </a:solidFill>
                <a:latin typeface="Segoe UI"/>
              </a:rPr>
              <a:t>36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print() print(&quot;=&quot; * 62) print(&quot;2. ELIZA (1966) -- pattern substitution&quot;) print(&quot;=&quot; * 62) for line in (&quot;I am worried about the release&quot;, &quot;my deploy keeps failing&quot;, &quot;because the config is wrong&quot;, &quot;the quarterly numbers look fine&quot;): print(&quot; &gt; %-34s %s&quot; % (line, eliza(line))) print(&quot; No representation of the conversation. It cannot fail,&quot;) print(&quot; which is the most dangerous failure mode of the four.&quot;)"/>
          <p:cNvSpPr txBox="1"/>
          <p:nvPr/>
        </p:nvSpPr>
        <p:spPr>
          <a:xfrm>
            <a:off x="1362456" y="2066543"/>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2. ELIZA (1966) -- pattern substitution</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line</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I am worried about the release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my deploy keeps failing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because the config is wrong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the quarterly numbers look fine</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&gt; </a:t>
            </a:r>
            <a:r>
              <a:rPr sz="1900" i="0">
                <a:solidFill>
                  <a:srgbClr val="7DCEA0"/>
                </a:solidFill>
                <a:latin typeface="Consolas"/>
              </a:rPr>
              <a:t>%-34s</a:t>
            </a:r>
            <a:r>
              <a:rPr sz="1900" i="0">
                <a:solidFill>
                  <a:srgbClr val="7DCEA0"/>
                </a:solidFill>
                <a:latin typeface="Consolas"/>
              </a:rPr>
              <a:t> </a:t>
            </a:r>
            <a:r>
              <a:rPr sz="1900" i="0">
                <a:solidFill>
                  <a:srgbClr val="7DCEA0"/>
                </a:solidFill>
                <a:latin typeface="Consolas"/>
              </a:rPr>
              <a:t>%s</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line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eliza</a:t>
            </a:r>
            <a:r>
              <a:rPr sz="1900" i="0">
                <a:solidFill>
                  <a:srgbClr val="AEB6BF"/>
                </a:solidFill>
                <a:latin typeface="Consolas"/>
              </a:rPr>
              <a:t>(</a:t>
            </a:r>
            <a:r>
              <a:rPr sz="1900" i="0">
                <a:solidFill>
                  <a:srgbClr val="E8EDF2"/>
                </a:solidFill>
                <a:latin typeface="Consolas"/>
              </a:rPr>
              <a:t>line</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No representation of the conversation. It cannot fail,</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which is the most dangerous failure mode of the four.</a:t>
            </a:r>
            <a:r>
              <a:rPr sz="1900" i="0">
                <a:solidFill>
                  <a:srgbClr val="7DCEA0"/>
                </a:solidFill>
                <a:latin typeface="Consolas"/>
              </a:rPr>
              <a:t>"</a:t>
            </a:r>
            <a:r>
              <a:rPr sz="1900" i="0">
                <a:solidFill>
                  <a:srgbClr val="AEB6BF"/>
                </a:solidFill>
                <a:latin typeface="Consolas"/>
              </a:rPr>
              <a:t>)</a:t>
            </a:r>
          </a:p>
        </p:txBody>
      </p:sp>
      <p:sp>
        <p:nvSpPr>
          <p:cNvPr id="14" name="!!code-num"/>
          <p:cNvSpPr txBox="1"/>
          <p:nvPr/>
        </p:nvSpPr>
        <p:spPr>
          <a:xfrm>
            <a:off x="768096" y="2066543"/>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188</a:t>
            </a:r>
          </a:p>
          <a:p>
            <a:pPr algn="r">
              <a:lnSpc>
                <a:spcPct val="100000"/>
              </a:lnSpc>
            </a:pPr>
            <a:r>
              <a:rPr sz="1900">
                <a:solidFill>
                  <a:srgbClr val="4F5D6A"/>
                </a:solidFill>
                <a:latin typeface="Consolas"/>
              </a:rPr>
              <a:t>189</a:t>
            </a:r>
          </a:p>
          <a:p>
            <a:pPr algn="r">
              <a:lnSpc>
                <a:spcPct val="100000"/>
              </a:lnSpc>
            </a:pPr>
            <a:r>
              <a:rPr sz="1900">
                <a:solidFill>
                  <a:srgbClr val="4F5D6A"/>
                </a:solidFill>
                <a:latin typeface="Consolas"/>
              </a:rPr>
              <a:t>190</a:t>
            </a:r>
          </a:p>
          <a:p>
            <a:pPr algn="r">
              <a:lnSpc>
                <a:spcPct val="100000"/>
              </a:lnSpc>
            </a:pPr>
            <a:r>
              <a:rPr sz="1900">
                <a:solidFill>
                  <a:srgbClr val="4F5D6A"/>
                </a:solidFill>
                <a:latin typeface="Consolas"/>
              </a:rPr>
              <a:t>191</a:t>
            </a:r>
          </a:p>
          <a:p>
            <a:pPr algn="r">
              <a:lnSpc>
                <a:spcPct val="100000"/>
              </a:lnSpc>
            </a:pPr>
            <a:r>
              <a:rPr sz="1900">
                <a:solidFill>
                  <a:srgbClr val="4F5D6A"/>
                </a:solidFill>
                <a:latin typeface="Consolas"/>
              </a:rPr>
              <a:t>192</a:t>
            </a:r>
          </a:p>
          <a:p>
            <a:pPr algn="r">
              <a:lnSpc>
                <a:spcPct val="100000"/>
              </a:lnSpc>
            </a:pPr>
            <a:r>
              <a:rPr sz="1900">
                <a:solidFill>
                  <a:srgbClr val="4F5D6A"/>
                </a:solidFill>
                <a:latin typeface="Consolas"/>
              </a:rPr>
              <a:t>193</a:t>
            </a:r>
          </a:p>
          <a:p>
            <a:pPr algn="r">
              <a:lnSpc>
                <a:spcPct val="100000"/>
              </a:lnSpc>
            </a:pPr>
            <a:r>
              <a:rPr sz="1900">
                <a:solidFill>
                  <a:srgbClr val="4F5D6A"/>
                </a:solidFill>
                <a:latin typeface="Consolas"/>
              </a:rPr>
              <a:t>194</a:t>
            </a:r>
          </a:p>
          <a:p>
            <a:pPr algn="r">
              <a:lnSpc>
                <a:spcPct val="100000"/>
              </a:lnSpc>
            </a:pPr>
            <a:r>
              <a:rPr sz="1900">
                <a:solidFill>
                  <a:srgbClr val="4F5D6A"/>
                </a:solidFill>
                <a:latin typeface="Consolas"/>
              </a:rPr>
              <a:t>195</a:t>
            </a:r>
          </a:p>
          <a:p>
            <a:pPr algn="r">
              <a:lnSpc>
                <a:spcPct val="100000"/>
              </a:lnSpc>
            </a:pPr>
            <a:r>
              <a:rPr sz="1900">
                <a:solidFill>
                  <a:srgbClr val="4F5D6A"/>
                </a:solidFill>
                <a:latin typeface="Consolas"/>
              </a:rPr>
              <a:t>196</a:t>
            </a:r>
          </a:p>
          <a:p>
            <a:pPr algn="r">
              <a:lnSpc>
                <a:spcPct val="100000"/>
              </a:lnSpc>
            </a:pPr>
            <a:r>
              <a:rPr sz="1900">
                <a:solidFill>
                  <a:srgbClr val="4F5D6A"/>
                </a:solidFill>
                <a:latin typeface="Consolas"/>
              </a:rPr>
              <a:t>197</a:t>
            </a:r>
          </a:p>
          <a:p>
            <a:pPr algn="r">
              <a:lnSpc>
                <a:spcPct val="100000"/>
              </a:lnSpc>
            </a:pPr>
            <a:r>
              <a:rPr sz="1900">
                <a:solidFill>
                  <a:srgbClr val="4F5D6A"/>
                </a:solidFill>
                <a:latin typeface="Consolas"/>
              </a:rPr>
              <a:t>198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83751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18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FC92A32C-FE05-4B45-B49C-D68AE796DA93}" type="slidenum">
              <a:rPr lang="en-GB" sz="1000">
                <a:solidFill>
                  <a:srgbClr val="8795A1"/>
                </a:solidFill>
                <a:latin typeface="Segoe UI"/>
              </a:rPr>
              <a:t>37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print() print(&quot;=&quot; * 62) print(&quot;3. STUDENT (1964) -- English into equations&quot;) print(&quot;=&quot; * 62) facts = [&quot;the sprint has twice as many bugs as stories&quot;, &quot;the number of stories is 12&quot;] q = &quot;how many bugs does the sprint have?&quot; ans, eqs, err = student(facts, q) for f in facts: print(&quot; given: %s&quot; % f) print(&quot; equations:&quot;, eqs) print(&quot; question: %s&quot; % q) print(&quot; answer:&quot;, ans) assert ans == 24"/>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3. STUDENT (1964) -- English into equations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facts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the sprint has twice as many bugs as stories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the number of stories is 12</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q</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how many bugs does the sprint have?</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ans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eqs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err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student</a:t>
            </a:r>
            <a:r>
              <a:rPr sz="1900" i="0">
                <a:solidFill>
                  <a:srgbClr val="AEB6BF"/>
                </a:solidFill>
                <a:latin typeface="Consolas"/>
              </a:rPr>
              <a:t>(</a:t>
            </a:r>
            <a:r>
              <a:rPr sz="1900" i="0">
                <a:solidFill>
                  <a:srgbClr val="E8EDF2"/>
                </a:solidFill>
                <a:latin typeface="Consolas"/>
              </a:rPr>
              <a:t>facts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f</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facts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given: </a:t>
            </a:r>
            <a:r>
              <a:rPr sz="1900" i="0">
                <a:solidFill>
                  <a:srgbClr val="7DCEA0"/>
                </a:solidFill>
                <a:latin typeface="Consolas"/>
              </a:rPr>
              <a:t>%s</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equations: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eqs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question: </a:t>
            </a:r>
            <a:r>
              <a:rPr sz="1900" i="0">
                <a:solidFill>
                  <a:srgbClr val="7DCEA0"/>
                </a:solidFill>
                <a:latin typeface="Consolas"/>
              </a:rPr>
              <a:t>%s</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answer: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ans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ans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24</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200</a:t>
            </a:r>
          </a:p>
          <a:p>
            <a:pPr algn="r">
              <a:lnSpc>
                <a:spcPct val="100000"/>
              </a:lnSpc>
            </a:pPr>
            <a:r>
              <a:rPr sz="1900">
                <a:solidFill>
                  <a:srgbClr val="4F5D6A"/>
                </a:solidFill>
                <a:latin typeface="Consolas"/>
              </a:rPr>
              <a:t>201</a:t>
            </a:r>
          </a:p>
          <a:p>
            <a:pPr algn="r">
              <a:lnSpc>
                <a:spcPct val="100000"/>
              </a:lnSpc>
            </a:pPr>
            <a:r>
              <a:rPr sz="1900">
                <a:solidFill>
                  <a:srgbClr val="4F5D6A"/>
                </a:solidFill>
                <a:latin typeface="Consolas"/>
              </a:rPr>
              <a:t>202</a:t>
            </a:r>
          </a:p>
          <a:p>
            <a:pPr algn="r">
              <a:lnSpc>
                <a:spcPct val="100000"/>
              </a:lnSpc>
            </a:pPr>
            <a:r>
              <a:rPr sz="1900">
                <a:solidFill>
                  <a:srgbClr val="4F5D6A"/>
                </a:solidFill>
                <a:latin typeface="Consolas"/>
              </a:rPr>
              <a:t>203</a:t>
            </a:r>
          </a:p>
          <a:p>
            <a:pPr algn="r">
              <a:lnSpc>
                <a:spcPct val="100000"/>
              </a:lnSpc>
            </a:pPr>
            <a:r>
              <a:rPr sz="1900">
                <a:solidFill>
                  <a:srgbClr val="4F5D6A"/>
                </a:solidFill>
                <a:latin typeface="Consolas"/>
              </a:rPr>
              <a:t>204</a:t>
            </a:r>
          </a:p>
          <a:p>
            <a:pPr algn="r">
              <a:lnSpc>
                <a:spcPct val="100000"/>
              </a:lnSpc>
            </a:pPr>
            <a:r>
              <a:rPr sz="1900">
                <a:solidFill>
                  <a:srgbClr val="4F5D6A"/>
                </a:solidFill>
                <a:latin typeface="Consolas"/>
              </a:rPr>
              <a:t>205</a:t>
            </a:r>
          </a:p>
          <a:p>
            <a:pPr algn="r">
              <a:lnSpc>
                <a:spcPct val="100000"/>
              </a:lnSpc>
            </a:pPr>
            <a:r>
              <a:rPr sz="1900">
                <a:solidFill>
                  <a:srgbClr val="4F5D6A"/>
                </a:solidFill>
                <a:latin typeface="Consolas"/>
              </a:rPr>
              <a:t>206</a:t>
            </a:r>
          </a:p>
          <a:p>
            <a:pPr algn="r">
              <a:lnSpc>
                <a:spcPct val="100000"/>
              </a:lnSpc>
            </a:pPr>
            <a:r>
              <a:rPr sz="1900">
                <a:solidFill>
                  <a:srgbClr val="4F5D6A"/>
                </a:solidFill>
                <a:latin typeface="Consolas"/>
              </a:rPr>
              <a:t>207</a:t>
            </a:r>
          </a:p>
          <a:p>
            <a:pPr algn="r">
              <a:lnSpc>
                <a:spcPct val="100000"/>
              </a:lnSpc>
            </a:pPr>
            <a:r>
              <a:rPr sz="1900">
                <a:solidFill>
                  <a:srgbClr val="4F5D6A"/>
                </a:solidFill>
                <a:latin typeface="Consolas"/>
              </a:rPr>
              <a:t>208</a:t>
            </a:r>
          </a:p>
          <a:p>
            <a:pPr algn="r">
              <a:lnSpc>
                <a:spcPct val="100000"/>
              </a:lnSpc>
            </a:pPr>
            <a:r>
              <a:rPr sz="1900">
                <a:solidFill>
                  <a:srgbClr val="4F5D6A"/>
                </a:solidFill>
                <a:latin typeface="Consolas"/>
              </a:rPr>
              <a:t>209</a:t>
            </a:r>
          </a:p>
          <a:p>
            <a:pPr algn="r">
              <a:lnSpc>
                <a:spcPct val="100000"/>
              </a:lnSpc>
            </a:pPr>
            <a:r>
              <a:rPr sz="1900">
                <a:solidFill>
                  <a:srgbClr val="4F5D6A"/>
                </a:solidFill>
                <a:latin typeface="Consolas"/>
              </a:rPr>
              <a:t>210</a:t>
            </a:r>
          </a:p>
          <a:p>
            <a:pPr algn="r">
              <a:lnSpc>
                <a:spcPct val="100000"/>
              </a:lnSpc>
            </a:pPr>
            <a:r>
              <a:rPr sz="1900">
                <a:solidFill>
                  <a:srgbClr val="4F5D6A"/>
                </a:solidFill>
                <a:latin typeface="Consolas"/>
              </a:rPr>
              <a:t>211</a:t>
            </a:r>
          </a:p>
          <a:p>
            <a:pPr algn="r">
              <a:lnSpc>
                <a:spcPct val="100000"/>
              </a:lnSpc>
            </a:pPr>
            <a:r>
              <a:rPr sz="1900">
                <a:solidFill>
                  <a:srgbClr val="4F5D6A"/>
                </a:solidFill>
                <a:latin typeface="Consolas"/>
              </a:rPr>
              <a:t>212</a:t>
            </a:r>
          </a:p>
          <a:p>
            <a:pPr algn="r">
              <a:lnSpc>
                <a:spcPct val="100000"/>
              </a:lnSpc>
            </a:pPr>
            <a:r>
              <a:rPr sz="1900">
                <a:solidFill>
                  <a:srgbClr val="4F5D6A"/>
                </a:solidFill>
                <a:latin typeface="Consolas"/>
              </a:rPr>
              <a:t>213</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05522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19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2D72B1D9-CAFB-4114-AD6D-641DE3DCDF9F}" type="slidenum">
              <a:rPr lang="en-GB" sz="1000">
                <a:solidFill>
                  <a:srgbClr val="8795A1"/>
                </a:solidFill>
                <a:latin typeface="Segoe UI"/>
              </a:rPr>
              <a:t>38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print() print(&quot; ... and the brittleness:&quot;) for para in (&quot;the bug count is double the story count&quot;, &quot;there are two bugs for every story&quot;): ans2, _, err2 = student([para, facts[1]], q) print(&quot; %-42s -&gt; %s&quot; % (para, err2 or ans2)) assert ans2 is None print(&quot; Each paraphrase needs its own pattern, and the&quot;) print(&quot; paraphrases are unbounded. This is Chapter 13's&quot;) print(&quot; knowledge acquisition bottleneck, in another subject.&quot;)"/>
          <p:cNvSpPr txBox="1"/>
          <p:nvPr/>
        </p:nvSpPr>
        <p:spPr>
          <a:xfrm>
            <a:off x="1362456" y="2066543"/>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 and the brittleness:</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para</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the bug count is double the story count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there are two bugs for every story</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ans2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err2</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student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para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facts</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%-42s</a:t>
            </a:r>
            <a:r>
              <a:rPr sz="2000" i="0">
                <a:solidFill>
                  <a:srgbClr val="7DCEA0"/>
                </a:solidFill>
                <a:latin typeface="Consolas"/>
              </a:rPr>
              <a:t> -&gt; </a:t>
            </a:r>
            <a:r>
              <a:rPr sz="2000" i="0">
                <a:solidFill>
                  <a:srgbClr val="7DCEA0"/>
                </a:solidFill>
                <a:latin typeface="Consolas"/>
              </a:rPr>
              <a:t>%s</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para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err2</a:t>
            </a:r>
            <a:r>
              <a:rPr sz="2000" i="0">
                <a:solidFill>
                  <a:srgbClr val="E8EDF2"/>
                </a:solidFill>
                <a:latin typeface="Consolas"/>
              </a:rPr>
              <a:t> </a:t>
            </a:r>
            <a:r>
              <a:rPr sz="2000" i="0">
                <a:solidFill>
                  <a:srgbClr val="AEB6BF"/>
                </a:solidFill>
                <a:latin typeface="Consolas"/>
              </a:rPr>
              <a:t>or</a:t>
            </a:r>
            <a:r>
              <a:rPr sz="2000" i="0">
                <a:solidFill>
                  <a:srgbClr val="E8EDF2"/>
                </a:solidFill>
                <a:latin typeface="Consolas"/>
              </a:rPr>
              <a:t> </a:t>
            </a:r>
            <a:r>
              <a:rPr sz="2000" i="0">
                <a:solidFill>
                  <a:srgbClr val="E8EDF2"/>
                </a:solidFill>
                <a:latin typeface="Consolas"/>
              </a:rPr>
              <a:t>ans2</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ans2</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5DADE2"/>
                </a:solidFill>
                <a:latin typeface="Consolas"/>
              </a:rPr>
              <a:t>None</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Each paraphrase needs its own pattern, and the</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paraphrases are unbounded. This is Chapter 13</a:t>
            </a:r>
            <a:r>
              <a:rPr sz="2000" i="0">
                <a:solidFill>
                  <a:srgbClr val="7DCEA0"/>
                </a:solidFill>
                <a:latin typeface="Consolas"/>
              </a:rPr>
              <a:t>'</a:t>
            </a:r>
            <a:r>
              <a:rPr sz="2000" i="0">
                <a:solidFill>
                  <a:srgbClr val="7DCEA0"/>
                </a:solidFill>
                <a:latin typeface="Consolas"/>
              </a:rPr>
              <a:t>s</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knowledge acquisition bottleneck, in another subject.</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215</a:t>
            </a:r>
          </a:p>
          <a:p>
            <a:pPr algn="r">
              <a:lnSpc>
                <a:spcPct val="100000"/>
              </a:lnSpc>
            </a:pPr>
            <a:r>
              <a:rPr sz="2000">
                <a:solidFill>
                  <a:srgbClr val="4F5D6A"/>
                </a:solidFill>
                <a:latin typeface="Consolas"/>
              </a:rPr>
              <a:t>216</a:t>
            </a:r>
          </a:p>
          <a:p>
            <a:pPr algn="r">
              <a:lnSpc>
                <a:spcPct val="100000"/>
              </a:lnSpc>
            </a:pPr>
            <a:r>
              <a:rPr sz="2000">
                <a:solidFill>
                  <a:srgbClr val="4F5D6A"/>
                </a:solidFill>
                <a:latin typeface="Consolas"/>
              </a:rPr>
              <a:t>217</a:t>
            </a:r>
          </a:p>
          <a:p>
            <a:pPr algn="r">
              <a:lnSpc>
                <a:spcPct val="100000"/>
              </a:lnSpc>
            </a:pPr>
            <a:r>
              <a:rPr sz="2000">
                <a:solidFill>
                  <a:srgbClr val="4F5D6A"/>
                </a:solidFill>
                <a:latin typeface="Consolas"/>
              </a:rPr>
              <a:t>218</a:t>
            </a:r>
          </a:p>
          <a:p>
            <a:pPr algn="r">
              <a:lnSpc>
                <a:spcPct val="100000"/>
              </a:lnSpc>
            </a:pPr>
            <a:r>
              <a:rPr sz="2000">
                <a:solidFill>
                  <a:srgbClr val="4F5D6A"/>
                </a:solidFill>
                <a:latin typeface="Consolas"/>
              </a:rPr>
              <a:t>219</a:t>
            </a:r>
          </a:p>
          <a:p>
            <a:pPr algn="r">
              <a:lnSpc>
                <a:spcPct val="100000"/>
              </a:lnSpc>
            </a:pPr>
            <a:r>
              <a:rPr sz="2000">
                <a:solidFill>
                  <a:srgbClr val="4F5D6A"/>
                </a:solidFill>
                <a:latin typeface="Consolas"/>
              </a:rPr>
              <a:t>220</a:t>
            </a:r>
          </a:p>
          <a:p>
            <a:pPr algn="r">
              <a:lnSpc>
                <a:spcPct val="100000"/>
              </a:lnSpc>
            </a:pPr>
            <a:r>
              <a:rPr sz="2000">
                <a:solidFill>
                  <a:srgbClr val="4F5D6A"/>
                </a:solidFill>
                <a:latin typeface="Consolas"/>
              </a:rPr>
              <a:t>221</a:t>
            </a:r>
          </a:p>
          <a:p>
            <a:pPr algn="r">
              <a:lnSpc>
                <a:spcPct val="100000"/>
              </a:lnSpc>
            </a:pPr>
            <a:r>
              <a:rPr sz="2000">
                <a:solidFill>
                  <a:srgbClr val="4F5D6A"/>
                </a:solidFill>
                <a:latin typeface="Consolas"/>
              </a:rPr>
              <a:t>222</a:t>
            </a:r>
          </a:p>
          <a:p>
            <a:pPr algn="r">
              <a:lnSpc>
                <a:spcPct val="100000"/>
              </a:lnSpc>
            </a:pPr>
            <a:r>
              <a:rPr sz="2000">
                <a:solidFill>
                  <a:srgbClr val="4F5D6A"/>
                </a:solidFill>
                <a:latin typeface="Consolas"/>
              </a:rPr>
              <a:t>223</a:t>
            </a:r>
          </a:p>
          <a:p>
            <a:pPr algn="r">
              <a:lnSpc>
                <a:spcPct val="100000"/>
              </a:lnSpc>
            </a:pPr>
            <a:r>
              <a:rPr sz="2000">
                <a:solidFill>
                  <a:srgbClr val="4F5D6A"/>
                </a:solidFill>
                <a:latin typeface="Consolas"/>
              </a:rPr>
              <a:t>224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27293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20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742C71F6-7F2A-451A-807F-E7909DEFB78D}" type="slidenum">
              <a:rPr lang="en-GB" sz="1000">
                <a:solidFill>
                  <a:srgbClr val="8795A1"/>
                </a:solidFill>
                <a:latin typeface="Segoe UI"/>
              </a:rPr>
              <a:t>39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print() print(&quot;=&quot; * 62) print(&quot;4. MACSYMA (1968) -- term rewriting&quot;) print(&quot;=&quot; * 62) expr = (&quot;+&quot;, (&quot;+&quot;, (&quot;*&quot;, 3, &quot;e&quot;), (&quot;*&quot;, 2, &quot;e&quot;)), 0) print(&quot; before:&quot;, show(expr)) out, steps = simplify(expr) print(&quot; after: &quot;, show(out)) for s in steps: print(&quot; applied %s&quot; % s) assert out == (&quot;*&quot;, 5, &quot;e&quot;) print(&quot; Forward chaining to a fixed point, over trees instead&quot;) print(&quot; of over facts. Chapter 13's engine, same conflict-&quot;) print(&quot; resolution question: when two rules apply, which?&quot;)"/>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4. MACSYMA (1968) -- term rewriting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expr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e</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e</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before: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show</a:t>
            </a:r>
            <a:r>
              <a:rPr sz="1900" i="0">
                <a:solidFill>
                  <a:srgbClr val="AEB6BF"/>
                </a:solidFill>
                <a:latin typeface="Consolas"/>
              </a:rPr>
              <a:t>(</a:t>
            </a:r>
            <a:r>
              <a:rPr sz="1900" i="0">
                <a:solidFill>
                  <a:srgbClr val="E8EDF2"/>
                </a:solidFill>
                <a:latin typeface="Consolas"/>
              </a:rPr>
              <a:t>expr</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out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steps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simplify</a:t>
            </a:r>
            <a:r>
              <a:rPr sz="1900" i="0">
                <a:solidFill>
                  <a:srgbClr val="AEB6BF"/>
                </a:solidFill>
                <a:latin typeface="Consolas"/>
              </a:rPr>
              <a:t>(</a:t>
            </a:r>
            <a:r>
              <a:rPr sz="1900" i="0">
                <a:solidFill>
                  <a:srgbClr val="E8EDF2"/>
                </a:solidFill>
                <a:latin typeface="Consolas"/>
              </a:rPr>
              <a:t>expr</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after: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show</a:t>
            </a:r>
            <a:r>
              <a:rPr sz="1900" i="0">
                <a:solidFill>
                  <a:srgbClr val="AEB6BF"/>
                </a:solidFill>
                <a:latin typeface="Consolas"/>
              </a:rPr>
              <a:t>(</a:t>
            </a:r>
            <a:r>
              <a:rPr sz="1900" i="0">
                <a:solidFill>
                  <a:srgbClr val="E8EDF2"/>
                </a:solidFill>
                <a:latin typeface="Consolas"/>
              </a:rPr>
              <a:t>out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steps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applied  </a:t>
            </a:r>
            <a:r>
              <a:rPr sz="1900" i="0">
                <a:solidFill>
                  <a:srgbClr val="7DCEA0"/>
                </a:solidFill>
                <a:latin typeface="Consolas"/>
              </a:rPr>
              <a:t>%s</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out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Forward chaining to a fixed point, over trees instead</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of over facts. Chapter 13</a:t>
            </a:r>
            <a:r>
              <a:rPr sz="1900" i="0">
                <a:solidFill>
                  <a:srgbClr val="7DCEA0"/>
                </a:solidFill>
                <a:latin typeface="Consolas"/>
              </a:rPr>
              <a:t>'</a:t>
            </a:r>
            <a:r>
              <a:rPr sz="1900" i="0">
                <a:solidFill>
                  <a:srgbClr val="7DCEA0"/>
                </a:solidFill>
                <a:latin typeface="Consolas"/>
              </a:rPr>
              <a:t>s engine, same conflict-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resolution question: when two rules apply, which?</a:t>
            </a:r>
            <a:r>
              <a:rPr sz="1900" i="0">
                <a:solidFill>
                  <a:srgbClr val="7DCEA0"/>
                </a:solidFill>
                <a:latin typeface="Consolas"/>
              </a:rPr>
              <a:t>"</a:t>
            </a:r>
            <a:r>
              <a:rPr sz="19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226</a:t>
            </a:r>
          </a:p>
          <a:p>
            <a:pPr algn="r">
              <a:lnSpc>
                <a:spcPct val="100000"/>
              </a:lnSpc>
            </a:pPr>
            <a:r>
              <a:rPr sz="1900">
                <a:solidFill>
                  <a:srgbClr val="4F5D6A"/>
                </a:solidFill>
                <a:latin typeface="Consolas"/>
              </a:rPr>
              <a:t>227</a:t>
            </a:r>
          </a:p>
          <a:p>
            <a:pPr algn="r">
              <a:lnSpc>
                <a:spcPct val="100000"/>
              </a:lnSpc>
            </a:pPr>
            <a:r>
              <a:rPr sz="1900">
                <a:solidFill>
                  <a:srgbClr val="4F5D6A"/>
                </a:solidFill>
                <a:latin typeface="Consolas"/>
              </a:rPr>
              <a:t>228</a:t>
            </a:r>
          </a:p>
          <a:p>
            <a:pPr algn="r">
              <a:lnSpc>
                <a:spcPct val="100000"/>
              </a:lnSpc>
            </a:pPr>
            <a:r>
              <a:rPr sz="1900">
                <a:solidFill>
                  <a:srgbClr val="4F5D6A"/>
                </a:solidFill>
                <a:latin typeface="Consolas"/>
              </a:rPr>
              <a:t>229</a:t>
            </a:r>
          </a:p>
          <a:p>
            <a:pPr algn="r">
              <a:lnSpc>
                <a:spcPct val="100000"/>
              </a:lnSpc>
            </a:pPr>
            <a:r>
              <a:rPr sz="1900">
                <a:solidFill>
                  <a:srgbClr val="4F5D6A"/>
                </a:solidFill>
                <a:latin typeface="Consolas"/>
              </a:rPr>
              <a:t>230</a:t>
            </a:r>
          </a:p>
          <a:p>
            <a:pPr algn="r">
              <a:lnSpc>
                <a:spcPct val="100000"/>
              </a:lnSpc>
            </a:pPr>
            <a:r>
              <a:rPr sz="1900">
                <a:solidFill>
                  <a:srgbClr val="4F5D6A"/>
                </a:solidFill>
                <a:latin typeface="Consolas"/>
              </a:rPr>
              <a:t>231</a:t>
            </a:r>
          </a:p>
          <a:p>
            <a:pPr algn="r">
              <a:lnSpc>
                <a:spcPct val="100000"/>
              </a:lnSpc>
            </a:pPr>
            <a:r>
              <a:rPr sz="1900">
                <a:solidFill>
                  <a:srgbClr val="4F5D6A"/>
                </a:solidFill>
                <a:latin typeface="Consolas"/>
              </a:rPr>
              <a:t>232</a:t>
            </a:r>
          </a:p>
          <a:p>
            <a:pPr algn="r">
              <a:lnSpc>
                <a:spcPct val="100000"/>
              </a:lnSpc>
            </a:pPr>
            <a:r>
              <a:rPr sz="1900">
                <a:solidFill>
                  <a:srgbClr val="4F5D6A"/>
                </a:solidFill>
                <a:latin typeface="Consolas"/>
              </a:rPr>
              <a:t>233</a:t>
            </a:r>
          </a:p>
          <a:p>
            <a:pPr algn="r">
              <a:lnSpc>
                <a:spcPct val="100000"/>
              </a:lnSpc>
            </a:pPr>
            <a:r>
              <a:rPr sz="1900">
                <a:solidFill>
                  <a:srgbClr val="4F5D6A"/>
                </a:solidFill>
                <a:latin typeface="Consolas"/>
              </a:rPr>
              <a:t>234</a:t>
            </a:r>
          </a:p>
          <a:p>
            <a:pPr algn="r">
              <a:lnSpc>
                <a:spcPct val="100000"/>
              </a:lnSpc>
            </a:pPr>
            <a:r>
              <a:rPr sz="1900">
                <a:solidFill>
                  <a:srgbClr val="4F5D6A"/>
                </a:solidFill>
                <a:latin typeface="Consolas"/>
              </a:rPr>
              <a:t>235</a:t>
            </a:r>
          </a:p>
          <a:p>
            <a:pPr algn="r">
              <a:lnSpc>
                <a:spcPct val="100000"/>
              </a:lnSpc>
            </a:pPr>
            <a:r>
              <a:rPr sz="1900">
                <a:solidFill>
                  <a:srgbClr val="4F5D6A"/>
                </a:solidFill>
                <a:latin typeface="Consolas"/>
              </a:rPr>
              <a:t>236</a:t>
            </a:r>
          </a:p>
          <a:p>
            <a:pPr algn="r">
              <a:lnSpc>
                <a:spcPct val="100000"/>
              </a:lnSpc>
            </a:pPr>
            <a:r>
              <a:rPr sz="1900">
                <a:solidFill>
                  <a:srgbClr val="4F5D6A"/>
                </a:solidFill>
                <a:latin typeface="Consolas"/>
              </a:rPr>
              <a:t>237</a:t>
            </a:r>
          </a:p>
          <a:p>
            <a:pPr algn="r">
              <a:lnSpc>
                <a:spcPct val="100000"/>
              </a:lnSpc>
            </a:pPr>
            <a:r>
              <a:rPr sz="1900">
                <a:solidFill>
                  <a:srgbClr val="4F5D6A"/>
                </a:solidFill>
                <a:latin typeface="Consolas"/>
              </a:rPr>
              <a:t>238</a:t>
            </a:r>
          </a:p>
          <a:p>
            <a:pPr algn="r">
              <a:lnSpc>
                <a:spcPct val="100000"/>
              </a:lnSpc>
            </a:pPr>
            <a:r>
              <a:rPr sz="1900">
                <a:solidFill>
                  <a:srgbClr val="4F5D6A"/>
                </a:solidFill>
                <a:latin typeface="Consolas"/>
              </a:rPr>
              <a:t>239</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49064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21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21171F12-352A-4CDE-8FCB-EC29D03CC9F0}" type="slidenum">
              <a:rPr lang="en-GB" sz="1000">
                <a:solidFill>
                  <a:srgbClr val="8795A1"/>
                </a:solidFill>
                <a:latin typeface="Segoe UI"/>
              </a:rPr>
              <a:t>40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print() print(&quot;=&quot; * 62) print(&quot;THE ANALYSIS&quot;) print(&quot;=&quot; * 62) ANALYSIS = [ (&quot;GPS&quot;, &quot;reach a goal&quot;, &quot;operators&quot;, &quot;means-ends&quot;, &quot;hand-written&quot;, &quot;incomplete; goal order&quot;), (&quot;Eliza&quot;, &quot;converse&quot;, &quot;patterns&quot;, &quot;match+substitute&quot;, &quot;hand-written&quot;, &quot;NONE DETECTABLE&quot;), (&quot;Student&quot;, &quot;solve a problem&quot;, &quot;patterns+algebra&quot;, &quot;match, solve&quot;, &quot;hand-written&quot;, &quot;brittle to paraphrase&quot;), (&quot;Macsyma&quot;, &quot;simplify&quot;, &quot;expression trees&quot;, &quot;rewrite&quot;, &quot;hand-written&quot;, &quot;loops; wrong fixed point&quot;), ] print(&quot;%-9s %-16s %-17s %-17s %-13s %s&quot; % (&quot;SYSTEM&quot;, &quot;TASK&quot;, &quot;REPRESENTATION&quot;, &quot;INFERENCE&quot;, &quot;KNOWLEDGE&quot;, &quot;FAILURE MODE&quot;)) print(&quot;-&quot; * 100) for row in ANALYSIS: print(&quot;%-9s %-16s %-17s %-17s %-13s %s&quot; % row)"/>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62</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THE ANALYSIS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62</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ANALYSIS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GPS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reach a goal</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operators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means-ends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hand-written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incomplete; goal order</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Eliza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converse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patterns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match+substitute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hand-written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NONE DETECTABLE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Student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solve a problem</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patterns+algebra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match, solve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hand-written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brittle to paraphrase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Macsyma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simplify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expression trees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rewrite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hand-written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loops; wrong fixed point</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%-9s</a:t>
            </a:r>
            <a:r>
              <a:rPr sz="1300" i="0">
                <a:solidFill>
                  <a:srgbClr val="7DCEA0"/>
                </a:solidFill>
                <a:latin typeface="Consolas"/>
              </a:rPr>
              <a:t> </a:t>
            </a:r>
            <a:r>
              <a:rPr sz="1300" i="0">
                <a:solidFill>
                  <a:srgbClr val="7DCEA0"/>
                </a:solidFill>
                <a:latin typeface="Consolas"/>
              </a:rPr>
              <a:t>%-16s</a:t>
            </a:r>
            <a:r>
              <a:rPr sz="1300" i="0">
                <a:solidFill>
                  <a:srgbClr val="7DCEA0"/>
                </a:solidFill>
                <a:latin typeface="Consolas"/>
              </a:rPr>
              <a:t> </a:t>
            </a:r>
            <a:r>
              <a:rPr sz="1300" i="0">
                <a:solidFill>
                  <a:srgbClr val="7DCEA0"/>
                </a:solidFill>
                <a:latin typeface="Consolas"/>
              </a:rPr>
              <a:t>%-17s</a:t>
            </a:r>
            <a:r>
              <a:rPr sz="1300" i="0">
                <a:solidFill>
                  <a:srgbClr val="7DCEA0"/>
                </a:solidFill>
                <a:latin typeface="Consolas"/>
              </a:rPr>
              <a:t> </a:t>
            </a:r>
            <a:r>
              <a:rPr sz="1300" i="0">
                <a:solidFill>
                  <a:srgbClr val="7DCEA0"/>
                </a:solidFill>
                <a:latin typeface="Consolas"/>
              </a:rPr>
              <a:t>%-17s</a:t>
            </a:r>
            <a:r>
              <a:rPr sz="1300" i="0">
                <a:solidFill>
                  <a:srgbClr val="7DCEA0"/>
                </a:solidFill>
                <a:latin typeface="Consolas"/>
              </a:rPr>
              <a:t> </a:t>
            </a:r>
            <a:r>
              <a:rPr sz="1300" i="0">
                <a:solidFill>
                  <a:srgbClr val="7DCEA0"/>
                </a:solidFill>
                <a:latin typeface="Consolas"/>
              </a:rPr>
              <a:t>%-13s</a:t>
            </a:r>
            <a:r>
              <a:rPr sz="1300" i="0">
                <a:solidFill>
                  <a:srgbClr val="7DCEA0"/>
                </a:solidFill>
                <a:latin typeface="Consolas"/>
              </a:rPr>
              <a:t> </a:t>
            </a:r>
            <a:r>
              <a:rPr sz="1300" i="0">
                <a:solidFill>
                  <a:srgbClr val="7DCEA0"/>
                </a:solidFill>
                <a:latin typeface="Consolas"/>
              </a:rPr>
              <a:t>%s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SYSTEM</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TASK</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REPRESENTATION</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INFERENCE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KNOWLEDGE</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FAILURE MODE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row</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ANALYSIS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%-9s</a:t>
            </a:r>
            <a:r>
              <a:rPr sz="1300" i="0">
                <a:solidFill>
                  <a:srgbClr val="7DCEA0"/>
                </a:solidFill>
                <a:latin typeface="Consolas"/>
              </a:rPr>
              <a:t> </a:t>
            </a:r>
            <a:r>
              <a:rPr sz="1300" i="0">
                <a:solidFill>
                  <a:srgbClr val="7DCEA0"/>
                </a:solidFill>
                <a:latin typeface="Consolas"/>
              </a:rPr>
              <a:t>%-16s</a:t>
            </a:r>
            <a:r>
              <a:rPr sz="1300" i="0">
                <a:solidFill>
                  <a:srgbClr val="7DCEA0"/>
                </a:solidFill>
                <a:latin typeface="Consolas"/>
              </a:rPr>
              <a:t> </a:t>
            </a:r>
            <a:r>
              <a:rPr sz="1300" i="0">
                <a:solidFill>
                  <a:srgbClr val="7DCEA0"/>
                </a:solidFill>
                <a:latin typeface="Consolas"/>
              </a:rPr>
              <a:t>%-17s</a:t>
            </a:r>
            <a:r>
              <a:rPr sz="1300" i="0">
                <a:solidFill>
                  <a:srgbClr val="7DCEA0"/>
                </a:solidFill>
                <a:latin typeface="Consolas"/>
              </a:rPr>
              <a:t> </a:t>
            </a:r>
            <a:r>
              <a:rPr sz="1300" i="0">
                <a:solidFill>
                  <a:srgbClr val="7DCEA0"/>
                </a:solidFill>
                <a:latin typeface="Consolas"/>
              </a:rPr>
              <a:t>%-17s</a:t>
            </a:r>
            <a:r>
              <a:rPr sz="1300" i="0">
                <a:solidFill>
                  <a:srgbClr val="7DCEA0"/>
                </a:solidFill>
                <a:latin typeface="Consolas"/>
              </a:rPr>
              <a:t> </a:t>
            </a:r>
            <a:r>
              <a:rPr sz="1300" i="0">
                <a:solidFill>
                  <a:srgbClr val="7DCEA0"/>
                </a:solidFill>
                <a:latin typeface="Consolas"/>
              </a:rPr>
              <a:t>%-13s</a:t>
            </a:r>
            <a:r>
              <a:rPr sz="1300" i="0">
                <a:solidFill>
                  <a:srgbClr val="7DCEA0"/>
                </a:solidFill>
                <a:latin typeface="Consolas"/>
              </a:rPr>
              <a:t>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row</a:t>
            </a:r>
            <a:r>
              <a:rPr sz="13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241</a:t>
            </a:r>
          </a:p>
          <a:p>
            <a:pPr algn="r">
              <a:lnSpc>
                <a:spcPct val="100000"/>
              </a:lnSpc>
            </a:pPr>
            <a:r>
              <a:rPr sz="1300">
                <a:solidFill>
                  <a:srgbClr val="4F5D6A"/>
                </a:solidFill>
                <a:latin typeface="Consolas"/>
              </a:rPr>
              <a:t>242</a:t>
            </a:r>
          </a:p>
          <a:p>
            <a:pPr algn="r">
              <a:lnSpc>
                <a:spcPct val="100000"/>
              </a:lnSpc>
            </a:pPr>
            <a:r>
              <a:rPr sz="1300">
                <a:solidFill>
                  <a:srgbClr val="4F5D6A"/>
                </a:solidFill>
                <a:latin typeface="Consolas"/>
              </a:rPr>
              <a:t>243</a:t>
            </a:r>
          </a:p>
          <a:p>
            <a:pPr algn="r">
              <a:lnSpc>
                <a:spcPct val="100000"/>
              </a:lnSpc>
            </a:pPr>
            <a:r>
              <a:rPr sz="1300">
                <a:solidFill>
                  <a:srgbClr val="4F5D6A"/>
                </a:solidFill>
                <a:latin typeface="Consolas"/>
              </a:rPr>
              <a:t>244</a:t>
            </a:r>
          </a:p>
          <a:p>
            <a:pPr algn="r">
              <a:lnSpc>
                <a:spcPct val="100000"/>
              </a:lnSpc>
            </a:pPr>
            <a:r>
              <a:rPr sz="1300">
                <a:solidFill>
                  <a:srgbClr val="4F5D6A"/>
                </a:solidFill>
                <a:latin typeface="Consolas"/>
              </a:rPr>
              <a:t>245</a:t>
            </a:r>
          </a:p>
          <a:p>
            <a:pPr algn="r">
              <a:lnSpc>
                <a:spcPct val="100000"/>
              </a:lnSpc>
            </a:pPr>
            <a:r>
              <a:rPr sz="1300">
                <a:solidFill>
                  <a:srgbClr val="4F5D6A"/>
                </a:solidFill>
                <a:latin typeface="Consolas"/>
              </a:rPr>
              <a:t>246</a:t>
            </a:r>
          </a:p>
          <a:p>
            <a:pPr algn="r">
              <a:lnSpc>
                <a:spcPct val="100000"/>
              </a:lnSpc>
            </a:pPr>
            <a:r>
              <a:rPr sz="1300">
                <a:solidFill>
                  <a:srgbClr val="4F5D6A"/>
                </a:solidFill>
                <a:latin typeface="Consolas"/>
              </a:rPr>
              <a:t>247</a:t>
            </a:r>
          </a:p>
          <a:p>
            <a:pPr algn="r">
              <a:lnSpc>
                <a:spcPct val="100000"/>
              </a:lnSpc>
            </a:pPr>
            <a:r>
              <a:rPr sz="1300">
                <a:solidFill>
                  <a:srgbClr val="4F5D6A"/>
                </a:solidFill>
                <a:latin typeface="Consolas"/>
              </a:rPr>
              <a:t>248</a:t>
            </a:r>
          </a:p>
          <a:p>
            <a:pPr algn="r">
              <a:lnSpc>
                <a:spcPct val="100000"/>
              </a:lnSpc>
            </a:pPr>
            <a:r>
              <a:rPr sz="1300">
                <a:solidFill>
                  <a:srgbClr val="4F5D6A"/>
                </a:solidFill>
                <a:latin typeface="Consolas"/>
              </a:rPr>
              <a:t>249</a:t>
            </a:r>
          </a:p>
          <a:p>
            <a:pPr algn="r">
              <a:lnSpc>
                <a:spcPct val="100000"/>
              </a:lnSpc>
            </a:pPr>
            <a:r>
              <a:rPr sz="1300">
                <a:solidFill>
                  <a:srgbClr val="4F5D6A"/>
                </a:solidFill>
                <a:latin typeface="Consolas"/>
              </a:rPr>
              <a:t>250</a:t>
            </a:r>
          </a:p>
          <a:p>
            <a:pPr algn="r">
              <a:lnSpc>
                <a:spcPct val="100000"/>
              </a:lnSpc>
            </a:pPr>
            <a:r>
              <a:rPr sz="1300">
                <a:solidFill>
                  <a:srgbClr val="4F5D6A"/>
                </a:solidFill>
                <a:latin typeface="Consolas"/>
              </a:rPr>
              <a:t>251</a:t>
            </a:r>
          </a:p>
          <a:p>
            <a:pPr algn="r">
              <a:lnSpc>
                <a:spcPct val="100000"/>
              </a:lnSpc>
            </a:pPr>
            <a:r>
              <a:rPr sz="1300">
                <a:solidFill>
                  <a:srgbClr val="4F5D6A"/>
                </a:solidFill>
                <a:latin typeface="Consolas"/>
              </a:rPr>
              <a:t>252</a:t>
            </a:r>
          </a:p>
          <a:p>
            <a:pPr algn="r">
              <a:lnSpc>
                <a:spcPct val="100000"/>
              </a:lnSpc>
            </a:pPr>
            <a:r>
              <a:rPr sz="1300">
                <a:solidFill>
                  <a:srgbClr val="4F5D6A"/>
                </a:solidFill>
                <a:latin typeface="Consolas"/>
              </a:rPr>
              <a:t>253</a:t>
            </a:r>
          </a:p>
          <a:p>
            <a:pPr algn="r">
              <a:lnSpc>
                <a:spcPct val="100000"/>
              </a:lnSpc>
            </a:pPr>
            <a:r>
              <a:rPr sz="1300">
                <a:solidFill>
                  <a:srgbClr val="4F5D6A"/>
                </a:solidFill>
                <a:latin typeface="Consolas"/>
              </a:rPr>
              <a:t>254</a:t>
            </a:r>
          </a:p>
          <a:p>
            <a:pPr algn="r">
              <a:lnSpc>
                <a:spcPct val="100000"/>
              </a:lnSpc>
            </a:pPr>
            <a:r>
              <a:rPr sz="1300">
                <a:solidFill>
                  <a:srgbClr val="4F5D6A"/>
                </a:solidFill>
                <a:latin typeface="Consolas"/>
              </a:rPr>
              <a:t>255</a:t>
            </a:r>
          </a:p>
          <a:p>
            <a:pPr algn="r">
              <a:lnSpc>
                <a:spcPct val="100000"/>
              </a:lnSpc>
            </a:pPr>
            <a:r>
              <a:rPr sz="1300">
                <a:solidFill>
                  <a:srgbClr val="4F5D6A"/>
                </a:solidFill>
                <a:latin typeface="Consolas"/>
              </a:rPr>
              <a:t>256</a:t>
            </a:r>
          </a:p>
          <a:p>
            <a:pPr algn="r">
              <a:lnSpc>
                <a:spcPct val="100000"/>
              </a:lnSpc>
            </a:pPr>
            <a:r>
              <a:rPr sz="1300">
                <a:solidFill>
                  <a:srgbClr val="4F5D6A"/>
                </a:solidFill>
                <a:latin typeface="Consolas"/>
              </a:rPr>
              <a:t>257</a:t>
            </a:r>
          </a:p>
          <a:p>
            <a:pPr algn="r">
              <a:lnSpc>
                <a:spcPct val="100000"/>
              </a:lnSpc>
            </a:pPr>
            <a:r>
              <a:rPr sz="1300">
                <a:solidFill>
                  <a:srgbClr val="4F5D6A"/>
                </a:solidFill>
                <a:latin typeface="Consolas"/>
              </a:rPr>
              <a:t>258</a:t>
            </a:r>
          </a:p>
          <a:p>
            <a:pPr algn="r">
              <a:lnSpc>
                <a:spcPct val="100000"/>
              </a:lnSpc>
            </a:pPr>
            <a:r>
              <a:rPr sz="1300">
                <a:solidFill>
                  <a:srgbClr val="4F5D6A"/>
                </a:solidFill>
                <a:latin typeface="Consolas"/>
              </a:rPr>
              <a:t>259</a:t>
            </a:r>
          </a:p>
          <a:p>
            <a:pPr algn="r">
              <a:lnSpc>
                <a:spcPct val="100000"/>
              </a:lnSpc>
            </a:pPr>
            <a:r>
              <a:rPr sz="1300">
                <a:solidFill>
                  <a:srgbClr val="4F5D6A"/>
                </a:solidFill>
                <a:latin typeface="Consolas"/>
              </a:rPr>
              <a:t>260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70835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Four Systems in One File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22 OF 22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B6309F62-F20C-4D0E-B2C6-0FD820C515BE}" type="slidenum">
              <a:rPr lang="en-GB" sz="1000">
                <a:solidFill>
                  <a:srgbClr val="8795A1"/>
                </a:solidFill>
                <a:latin typeface="Segoe UI"/>
              </a:rPr>
              <a:t>41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code/ch19_four_systems_one_file.py</a:t>
            </a:r>
          </a:p>
        </p:txBody>
      </p:sp>
      <p:sp>
        <p:nvSpPr>
          <p:cNvPr id="13" name="!!code-text" descr="sources = {r[4] for r in ANALYSIS} assert sources == {&quot;hand-written&quot;} print() print(&quot;Every one of the four has the same knowledge source, and&quot;) print(&quot;that single fact explains all four biographies: each&quot;) print(&quot;worked, each needed a person to extend it, and each ran&quot;) print(&quot;out of people before it ran out of domain.&quot;)"/>
          <p:cNvSpPr txBox="1"/>
          <p:nvPr/>
        </p:nvSpPr>
        <p:spPr>
          <a:xfrm>
            <a:off x="1362456" y="2066543"/>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E8EDF2"/>
                </a:solidFill>
                <a:latin typeface="Consolas"/>
              </a:rPr>
              <a:t>sources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r</a:t>
            </a:r>
            <a:r>
              <a:rPr sz="2000" i="0">
                <a:solidFill>
                  <a:srgbClr val="AEB6BF"/>
                </a:solidFill>
                <a:latin typeface="Consolas"/>
              </a:rPr>
              <a:t>[</a:t>
            </a:r>
            <a:r>
              <a:rPr sz="2000" i="0">
                <a:solidFill>
                  <a:srgbClr val="F7DC6F"/>
                </a:solidFill>
                <a:latin typeface="Consolas"/>
              </a:rPr>
              <a:t>4</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r</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ANALYSIS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sources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hand-written</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Every one of the four has the same knowledge source, and</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that single fact explains all four biographies: each</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worked, each needed a person to extend it, and each ran</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out of people before it ran out of domain.</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262</a:t>
            </a:r>
          </a:p>
          <a:p>
            <a:pPr algn="r">
              <a:lnSpc>
                <a:spcPct val="100000"/>
              </a:lnSpc>
            </a:pPr>
            <a:r>
              <a:rPr sz="2000">
                <a:solidFill>
                  <a:srgbClr val="4F5D6A"/>
                </a:solidFill>
                <a:latin typeface="Consolas"/>
              </a:rPr>
              <a:t>263</a:t>
            </a:r>
          </a:p>
          <a:p>
            <a:pPr algn="r">
              <a:lnSpc>
                <a:spcPct val="100000"/>
              </a:lnSpc>
            </a:pPr>
            <a:r>
              <a:rPr sz="2000">
                <a:solidFill>
                  <a:srgbClr val="4F5D6A"/>
                </a:solidFill>
                <a:latin typeface="Consolas"/>
              </a:rPr>
              <a:t>264</a:t>
            </a:r>
          </a:p>
          <a:p>
            <a:pPr algn="r">
              <a:lnSpc>
                <a:spcPct val="100000"/>
              </a:lnSpc>
            </a:pPr>
            <a:r>
              <a:rPr sz="2000">
                <a:solidFill>
                  <a:srgbClr val="4F5D6A"/>
                </a:solidFill>
                <a:latin typeface="Consolas"/>
              </a:rPr>
              <a:t>265</a:t>
            </a:r>
          </a:p>
          <a:p>
            <a:pPr algn="r">
              <a:lnSpc>
                <a:spcPct val="100000"/>
              </a:lnSpc>
            </a:pPr>
            <a:r>
              <a:rPr sz="2000">
                <a:solidFill>
                  <a:srgbClr val="4F5D6A"/>
                </a:solidFill>
                <a:latin typeface="Consolas"/>
              </a:rPr>
              <a:t>266</a:t>
            </a:r>
          </a:p>
          <a:p>
            <a:pPr algn="r">
              <a:lnSpc>
                <a:spcPct val="100000"/>
              </a:lnSpc>
            </a:pPr>
            <a:r>
              <a:rPr sz="2000">
                <a:solidFill>
                  <a:srgbClr val="4F5D6A"/>
                </a:solidFill>
                <a:latin typeface="Consolas"/>
              </a:rPr>
              <a:t>267</a:t>
            </a:r>
          </a:p>
          <a:p>
            <a:pPr algn="r">
              <a:lnSpc>
                <a:spcPct val="100000"/>
              </a:lnSpc>
            </a:pPr>
            <a:r>
              <a:rPr sz="2000">
                <a:solidFill>
                  <a:srgbClr val="4F5D6A"/>
                </a:solidFill>
                <a:latin typeface="Consolas"/>
              </a:rPr>
              <a:t>268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92606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§19.6  ·  Handout p. 199     </a:t>
            </a:r>
            <a:fld id="{E6C3A7FE-0987-45F1-9666-5A985FEA5AF6}" type="slidenum">
              <a:rPr lang="en-GB" sz="1000">
                <a:solidFill>
                  <a:srgbClr val="8795A1"/>
                </a:solidFill>
                <a:latin typeface="Segoe UI"/>
              </a:rPr>
              <a:t>42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add a Student pattern for one of the two paraphrases that currently fail, and notice how long it takes and how little it generalises. That experience — not the argument about it — is what the chapter is for.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14377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Name the mechanism behind each of the four systems, and the chapter of this handout in which you built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19  ·  Classic AI Systems and How to Analyse Them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207  ·  answers in Appendix D     </a:t>
            </a:r>
            <a:fld id="{12D093D1-108F-4696-9E01-0586E7761FB6}"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Name the mechanism behind each of the four systems, and the chapter of this handout in which you built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GPS is means–ends analysis (Chapter 9); Eliza is pattern substitution (Chapter 18); Student is pattern matching into equations, which is Chapter 12’s unification restricted to strings; Macsyma is term rewriting, which is Chapter 13’s forward chaining applied to expression trees rather than to facts.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  answers in Appendix D     </a:t>
            </a:r>
            <a:fld id="{35B6CC13-27E6-4850-AF05-49EAFDCD02A2}"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57918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Eliza’s failure mode is recorded as “none detectable”. Explain why that is worse than GPS’s “reports failure on solvable problems”, and relate it to how a modern language system should be evaluated.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19  ·  Classic AI Systems and How to Analyse Them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207  ·  answers in Appendix D     </a:t>
            </a:r>
            <a:fld id="{F12DF107-17C7-425B-9D29-496EF1382B16}"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Eliza’s failure mode is recorded as “none detectable”. Explain why that is worse than GPS’s “reports failure on solvable problems”, and relate it to how a modern language system should be evaluated.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GPS’s failure is </a:t>
            </a:r>
            <a:r>
              <a:rPr sz="2200" b="0" i="1">
                <a:solidFill>
                  <a:srgbClr val="1C252B"/>
                </a:solidFill>
                <a:latin typeface="Segoe UI"/>
              </a:rPr>
              <a:t>legible</a:t>
            </a:r>
            <a:r>
              <a:rPr sz="2200" b="0" i="0">
                <a:solidFill>
                  <a:srgbClr val="1C252B"/>
                </a:solidFill>
                <a:latin typeface="Segoe UI"/>
              </a:rPr>
              <a:t>: it stops and says it has no plan, so a person knows to look. Eliza always has a reply, so nothing distinguishes a case it handled well from one it did not handle at all, and the user has no signal to act on. The consequence for evaluating a modern language system is direct: it too always produces output, so the fluency of a response carries no information about whether it is grounded, and evaluation must come from an external check — a test suite, a type checker, a retrieved source — rather than from reading the answer.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  answers in Appendix D     </a:t>
            </a:r>
            <a:fld id="{1AC380B4-3CC2-43D8-B01D-252DAD500190}"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146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Every one of the four has the same knowledge source. State it, and explain what it predicts about a hand-built symbolic system deployed in a changing business.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19  ·  Classic AI Systems and How to Analyse Them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207  ·  answers in Appendix D     </a:t>
            </a:r>
            <a:fld id="{5BBC5794-4B2D-4B29-B14E-0DDDA9DBD88B}"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Every one of the four has the same knowledge source. State it, and explain what it predicts about a hand-built symbolic system deployed in a changing business.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person, writing it down by hand. It predicts that the system will work well in the region somebody took the trouble to encode and will need a person for every extension — so as the business changes, the system’s coverage falls behind at whatever rate knowledge engineers can be hired and briefed. That is the knowledge acquisition bottleneck, and it is the reason all four of these systems have the biographies they do.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  answers in Appendix D     </a:t>
            </a:r>
            <a:fld id="{6852A04D-C18E-4436-AFAE-E5FFA027FFD0}" type="slidenum">
              <a:rPr lang="en-GB" sz="1000">
                <a:solidFill>
                  <a:srgbClr val="8795A1"/>
                </a:solidFill>
                <a:latin typeface="Segoe UI"/>
              </a:rPr>
              <a:t>48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4500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558114B6-B0A3-400F-86B6-F750B1DFE9AA}" type="slidenum">
              <a:rPr lang="en-GB" sz="1000">
                <a:solidFill>
                  <a:srgbClr val="8795A1"/>
                </a:solidFill>
                <a:latin typeface="Segoe UI"/>
              </a:rPr>
              <a:t>49</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four required case studies are each a single mechanism applied with taste: </a:t>
            </a:r>
            <a:r>
              <a:rPr sz="1700" b="1" i="0">
                <a:solidFill>
                  <a:srgbClr val="1A5276"/>
                </a:solidFill>
                <a:latin typeface="Segoe UI"/>
              </a:rPr>
              <a:t>GPS</a:t>
            </a:r>
            <a:r>
              <a:rPr sz="1700" b="0" i="0">
                <a:solidFill>
                  <a:srgbClr val="1C252B"/>
                </a:solidFill>
                <a:latin typeface="Segoe UI"/>
              </a:rPr>
              <a:t> is means–ends analysis (Chapter 9), </a:t>
            </a:r>
            <a:r>
              <a:rPr sz="1700" b="1" i="0">
                <a:solidFill>
                  <a:srgbClr val="1A5276"/>
                </a:solidFill>
                <a:latin typeface="Segoe UI"/>
              </a:rPr>
              <a:t>Eliza</a:t>
            </a:r>
            <a:r>
              <a:rPr sz="1700" b="0" i="0">
                <a:solidFill>
                  <a:srgbClr val="1C252B"/>
                </a:solidFill>
                <a:latin typeface="Segoe UI"/>
              </a:rPr>
              <a:t> is pattern substitution (Chapter 18), </a:t>
            </a:r>
            <a:r>
              <a:rPr sz="1700" b="1" i="0">
                <a:solidFill>
                  <a:srgbClr val="1A5276"/>
                </a:solidFill>
                <a:latin typeface="Segoe UI"/>
              </a:rPr>
              <a:t>Student</a:t>
            </a:r>
            <a:r>
              <a:rPr sz="1700" b="0" i="0">
                <a:solidFill>
                  <a:srgbClr val="1C252B"/>
                </a:solidFill>
                <a:latin typeface="Segoe UI"/>
              </a:rPr>
              <a:t> is pattern matching into equations (Chapter 12), </a:t>
            </a:r>
            <a:r>
              <a:rPr sz="1700" b="1" i="0">
                <a:solidFill>
                  <a:srgbClr val="1A5276"/>
                </a:solidFill>
                <a:latin typeface="Segoe UI"/>
              </a:rPr>
              <a:t>Macsyma</a:t>
            </a:r>
            <a:r>
              <a:rPr sz="1700" b="0" i="0">
                <a:solidFill>
                  <a:srgbClr val="1C252B"/>
                </a:solidFill>
                <a:latin typeface="Segoe UI"/>
              </a:rPr>
              <a:t> is term rewriting (Chapter 13).</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GPS was offered as a model of human problem solving — the </a:t>
            </a:r>
            <a:r>
              <a:rPr sz="1700" b="0" i="1">
                <a:solidFill>
                  <a:srgbClr val="1C252B"/>
                </a:solidFill>
                <a:latin typeface="Segoe UI"/>
              </a:rPr>
              <a:t>thinking humanly</a:t>
            </a:r>
            <a:r>
              <a:rPr sz="1700" b="0" i="0">
                <a:solidFill>
                  <a:srgbClr val="1C252B"/>
                </a:solidFill>
                <a:latin typeface="Segoe UI"/>
              </a:rPr>
              <a:t> quadrant — and should be judged as one. Its generality was in the engine; the difficulty was in describing the domain.</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Student worked inside a </a:t>
            </a:r>
            <a:r>
              <a:rPr sz="1700" b="1" i="0">
                <a:solidFill>
                  <a:srgbClr val="1A5276"/>
                </a:solidFill>
                <a:latin typeface="Segoe UI"/>
              </a:rPr>
              <a:t>microworld</a:t>
            </a:r>
            <a:r>
              <a:rPr sz="1700" b="0" i="0">
                <a:solidFill>
                  <a:srgbClr val="1C252B"/>
                </a:solidFill>
                <a:latin typeface="Segoe UI"/>
              </a:rPr>
              <a:t> and the microworld did not extend. Each paraphrase needed its own pattern, which is Chapter 13’s knowledge acquisition bottleneck in another subject.</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Analyse a system on six columns: </a:t>
            </a:r>
            <a:r>
              <a:rPr sz="1700" b="0" i="1">
                <a:solidFill>
                  <a:srgbClr val="1C252B"/>
                </a:solidFill>
                <a:latin typeface="Segoe UI"/>
              </a:rPr>
              <a:t>task, environment, representation, inference, knowledge source, failure mode</a:t>
            </a:r>
            <a:r>
              <a:rPr sz="1700" b="0" i="0">
                <a:solidFill>
                  <a:srgbClr val="1C252B"/>
                </a:solidFill>
                <a:latin typeface="Segoe UI"/>
              </a:rPr>
              <a:t>. The last two are the ones people skip and the ones that predict what will happen.</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All four share one knowledge source — a person writing it down — and that single fact explains all four biographies.</a:t>
            </a:r>
          </a:p>
        </p:txBody>
      </p:sp>
      <p:sp>
        <p:nvSpPr>
          <p:cNvPr id="22" name="!!sb5">
            <a:extLst>
              <a:ext uri="{C183D7F6-B498-43B3-948B-1728B52AA6E4}">
                <adec:decorative xmlns:adec="http://schemas.microsoft.com/office/drawing/2017/decorative" val="1"/>
              </a:ext>
            </a:extLst>
          </p:cNvPr>
          <p:cNvSpPr/>
          <p:nvPr/>
        </p:nvSpPr>
        <p:spPr>
          <a:xfrm>
            <a:off x="658368" y="56247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6796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61563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Eliza’s failure mode is the worst of the four because it has none: it always replies, so its user gets no signal. That property is shared by systems now in production, which is why Chapter 20 returns to it.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66773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AA5BE3C5-97E8-4D87-ADA7-6B9950AAFFC0}" type="slidenum">
              <a:rPr lang="en-GB" sz="1000">
                <a:solidFill>
                  <a:srgbClr val="8795A1"/>
                </a:solidFill>
                <a:latin typeface="Segoe UI"/>
              </a:rPr>
              <a:t>50</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Five of the six columns can be filled from outside a system you did not build, by testing. That is the transferable skill in this chapter.</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88544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B48A0C02-73D6-4D48-8126-C017EAB3815B}"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General Problem Solver’s engine was: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resolution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means–ends analysis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term rewriting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pattern substitution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315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96E660F6-6F8D-439A-866D-8BB4ED6FDC24}" type="slidenum">
              <a:rPr lang="en-GB" sz="1000">
                <a:solidFill>
                  <a:srgbClr val="8795A1"/>
                </a:solidFill>
                <a:latin typeface="Segoe UI"/>
              </a:rPr>
              <a:t>52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Macsyma’s core mechanism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numerical evaluation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term rewriting to a fixed point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backward chaining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unification with the occurs check</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2085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89E2C190-20E6-4BD7-8F2B-A99A69E2C9C8}" type="slidenum">
              <a:rPr lang="en-GB" sz="1000">
                <a:solidFill>
                  <a:srgbClr val="8795A1"/>
                </a:solidFill>
                <a:latin typeface="Segoe UI"/>
              </a:rPr>
              <a:t>53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a:t>
            </a:r>
            <a:r>
              <a:rPr sz="2600" b="0" i="1">
                <a:solidFill>
                  <a:srgbClr val="1C252B"/>
                </a:solidFill>
                <a:latin typeface="Segoe UI"/>
              </a:rPr>
              <a:t>microworld</a:t>
            </a:r>
            <a:r>
              <a:rPr sz="2600" b="0" i="0">
                <a:solidFill>
                  <a:srgbClr val="1C252B"/>
                </a:solidFill>
                <a:latin typeface="Segoe UI"/>
              </a:rPr>
              <a: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small computer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4380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restricted domain in which a technique works, which was expected to extend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simulation environment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subset of first-order logic</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385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608DFA3B-1CA9-4A76-984C-BDD853EF1970}" type="slidenum">
              <a:rPr lang="en-GB" sz="1000">
                <a:solidFill>
                  <a:srgbClr val="8795A1"/>
                </a:solidFill>
                <a:latin typeface="Segoe UI"/>
              </a:rPr>
              <a:t>54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failure mode is the most dangerous?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reports failure on solvable problems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brittle to paraphrase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detectable failure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may loop</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5627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19  ·  Classic AI Systems and How to Analyse Them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207     </a:t>
            </a:r>
            <a:fld id="{31FEBD95-5332-4CF0-9C3C-CC5F9C4D8F56}" type="slidenum">
              <a:rPr lang="en-GB" sz="1000">
                <a:solidFill>
                  <a:srgbClr val="8795A1"/>
                </a:solidFill>
                <a:latin typeface="Segoe UI"/>
              </a:rPr>
              <a:t>55</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Student’s brittleness and the expert-system knowledge acquisition bottleneck are the same phenomenon.</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GPS was a psychological model and a problem solver. Say how the evidence you would collect differs between those two claims.</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two of the six analysis columns that can be filled from outside a closed system, and describe the test you would run for each.</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Apply the six-column framework to a spam filter, a satellite navigation system, or a tool you use daily. Fill every column, and state the one operational rule your analysis of the failure-mode column produces.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7398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19</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19</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20 — Recent Trends and Applications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19, pages 197–207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Parsing ticket subjects; four systems in one file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19  ·  Classic AI Systems and How to Analyse Them</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062D9083-539E-49A5-96D9-64AD009EA766}" type="slidenum">
              <a:rPr lang="en-GB" sz="1000">
                <a:solidFill>
                  <a:srgbClr val="D5DEE5"/>
                </a:solidFill>
                <a:latin typeface="Segoe UI"/>
              </a:rPr>
              <a:t>56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19: Classic AI Systems and How to Analyse Them</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