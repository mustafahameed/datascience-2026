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45EA23E-719F-4DB0-B4E6-1537F40CA1EF}">
          <p14:sldIdLst>
            <p14:sldId id="256"/>
            <p14:sldId id="257"/>
            <p14:sldId id="258"/>
            <p14:sldId id="259"/>
            <p14:sldId id="260"/>
          </p14:sldIdLst>
        </p14:section>
        <p14:section name="19.6 A Framework for Analysing an AI System" id="{E483FD49-F93D-41DF-9226-218B6BD10BF3}">
          <p14:sldIdLst>
            <p14:sldId id="261"/>
          </p14:sldIdLst>
        </p14:section>
        <p14:section name="Checkpoint" id="{D247997B-819D-4524-B84E-692872FEEDE3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Wrap-up" id="{363A3E21-A4F8-41E4-A6D7-E38CDBF0CD26}">
          <p14:sldIdLst>
            <p14:sldId id="268"/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19: Classic AI Systems and How to Analyse Them. Part 6 — Learning, Language and Responsible AI. Week 15: Natural language processing; classic AI systems. Handout pages 123–124.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the chapter. Before you start: Chapter 9 (means–ends analysis), Chapter 12 (unification), Chapter 13 (rule rewriting) and Chapter 18 (pattern substitution). This chapter builds nothing 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out: they are the chapter's contract with the room. Each click adds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now; they arrive one at a time. This slide is for the students' notes. Terms: General Problem Solver; Eliza; Student; Macsyma; means–ends analysis; pattern substitution; term rewriting; the Eliza effect; system analysis; failure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route through the chapter. Each row is a link: click it to jump to that section in the slide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these for independent study. Model answers are not printed in the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NEXT: Chapter 20 — Recent Trends and Applications. READ: Handout Chapter 19, pages 123–124. THIS WEEK'S LAB: Parsing ticket subjects; four systems in one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0">
          <a:solidFill>
            <a:srgbClr val="1A527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notesSlide" Target="../notesSlides/notesSlide5.xml"/><Relationship Id="rId5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7.sv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8.sv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9.sv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20.sv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05B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7E6B1F"/>
                </a:solidFill>
                <a:latin typeface="Segoe UI Black"/>
              </a:rPr>
              <a:t>19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2304288"/>
            <a:ext cx="8503920" cy="19202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Segoe UI Semibold"/>
              </a:rPr>
              <a:t>Classic AI Systems and How to Analyse Them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tpart"/>
          <p:cNvSpPr txBox="1"/>
          <p:nvPr/>
        </p:nvSpPr>
        <p:spPr>
          <a:xfrm>
            <a:off x="658368" y="1517904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D7D1B9"/>
                </a:solidFill>
                <a:latin typeface="Segoe UI"/>
              </a:rPr>
              <a:t>PART VI  ·  LEARNING, LANGUAGE AND RESPONSIBLE AI</a:t>
            </a:r>
          </a:p>
        </p:txBody>
      </p:sp>
      <p:sp>
        <p:nvSpPr>
          <p:cNvPr id="6" name="!!tch"/>
          <p:cNvSpPr txBox="1"/>
          <p:nvPr/>
        </p:nvSpPr>
        <p:spPr>
          <a:xfrm>
            <a:off x="658368" y="186537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D7D1B9"/>
                </a:solidFill>
                <a:latin typeface="Segoe UI"/>
              </a:rPr>
              <a:t>CHAPTER 19  ·  WEEK 15</a:t>
            </a:r>
          </a:p>
        </p:txBody>
      </p:sp>
      <p:sp>
        <p:nvSpPr>
          <p:cNvPr id="7" name="!!tsub"/>
          <p:cNvSpPr txBox="1"/>
          <p:nvPr/>
        </p:nvSpPr>
        <p:spPr>
          <a:xfrm>
            <a:off x="658368" y="4315968"/>
            <a:ext cx="85039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2DECD"/>
                </a:solidFill>
                <a:latin typeface="Segoe UI"/>
              </a:rPr>
              <a:t>Artificial Intelligence — Search, Knowledge and Reasoning</a:t>
            </a:r>
          </a:p>
        </p:txBody>
      </p:sp>
      <p:sp>
        <p:nvSpPr>
          <p:cNvPr id="8" name="!!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285232"/>
            <a:ext cx="12191695" cy="1572767"/>
          </a:xfrm>
          <a:prstGeom prst="rect">
            <a:avLst/>
          </a:prstGeom>
          <a:solidFill>
            <a:srgbClr val="5142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ab"/>
          <p:cNvSpPr txBox="1"/>
          <p:nvPr/>
        </p:nvSpPr>
        <p:spPr>
          <a:xfrm>
            <a:off x="658368" y="554126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BDB7A0"/>
                </a:solidFill>
                <a:latin typeface="Segoe UI"/>
              </a:rPr>
              <a:t>LECTURER</a:t>
            </a:r>
          </a:p>
        </p:txBody>
      </p:sp>
      <p:sp>
        <p:nvSpPr>
          <p:cNvPr id="10" name="!!author"/>
          <p:cNvSpPr txBox="1"/>
          <p:nvPr/>
        </p:nvSpPr>
        <p:spPr>
          <a:xfrm>
            <a:off x="658368" y="57790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Dr. Mustafa Hameed</a:t>
            </a:r>
          </a:p>
        </p:txBody>
      </p:sp>
      <p:sp>
        <p:nvSpPr>
          <p:cNvPr id="11" name="!!dept"/>
          <p:cNvSpPr txBox="1"/>
          <p:nvPr/>
        </p:nvSpPr>
        <p:spPr>
          <a:xfrm>
            <a:off x="658368" y="618134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ECAB9"/>
                </a:solidFill>
                <a:latin typeface="Segoe UI"/>
              </a:rPr>
              <a:t>Department of Information Technology  ·  BSIT · Fall 2026</a:t>
            </a:r>
          </a:p>
        </p:txBody>
      </p:sp>
      <p:sp>
        <p:nvSpPr>
          <p:cNvPr id="12" name="!!uni"/>
          <p:cNvSpPr txBox="1"/>
          <p:nvPr/>
        </p:nvSpPr>
        <p:spPr>
          <a:xfrm>
            <a:off x="5205818" y="5687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3" name="!!uni2"/>
          <p:cNvSpPr txBox="1"/>
          <p:nvPr/>
        </p:nvSpPr>
        <p:spPr>
          <a:xfrm>
            <a:off x="5205818" y="59618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DB7A0"/>
                </a:solidFill>
                <a:latin typeface="Segoe UI"/>
              </a:rPr>
              <a:t>Bahawalpur, Pakistan</a:t>
            </a:r>
          </a:p>
        </p:txBody>
      </p:sp>
      <p:pic>
        <p:nvPicPr>
          <p:cNvPr id="14" name="!!logo-iub-logo-white" descr="The Islamia University of Bahawalp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98" y="5486400"/>
            <a:ext cx="904084" cy="896112"/>
          </a:xfrm>
          <a:prstGeom prst="rect">
            <a:avLst/>
          </a:prstGeom>
        </p:spPr>
      </p:pic>
      <p:pic>
        <p:nvPicPr>
          <p:cNvPr id="15" name="!!logo-dit-logo" descr="Department of Information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614" y="5486400"/>
            <a:ext cx="869712" cy="896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this chapter sits</a:t>
            </a:r>
          </a:p>
        </p:txBody>
      </p:sp>
      <p:pic>
        <p:nvPicPr>
          <p:cNvPr id="3" name="!!kicker-icon" descr="map-signs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 COURSE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19  ·  Classic AI Systems and How to Analyse Them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123     </a:t>
            </a:r>
            <a:fld id="{6921B179-975A-4846-8950-21520962EB12}" type="slidenum">
              <a:rPr lang="en-GB" sz="1000">
                <a:solidFill>
                  <a:srgbClr val="8795A1"/>
                </a:solidFill>
                <a:latin typeface="Segoe UI"/>
              </a:rPr>
              <a:t>2</a:t>
            </a:fld>
          </a:p>
        </p:txBody>
      </p:sp>
      <p:sp>
        <p:nvSpPr>
          <p:cNvPr id="7" name="!!rp1"/>
          <p:cNvSpPr txBox="1"/>
          <p:nvPr/>
        </p:nvSpPr>
        <p:spPr>
          <a:xfrm>
            <a:off x="7772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</a:t>
            </a:r>
          </a:p>
        </p:txBody>
      </p:sp>
      <p:sp>
        <p:nvSpPr>
          <p:cNvPr id="8" name="!!rp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rp2"/>
          <p:cNvSpPr txBox="1"/>
          <p:nvPr/>
        </p:nvSpPr>
        <p:spPr>
          <a:xfrm>
            <a:off x="22801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</a:t>
            </a:r>
          </a:p>
        </p:txBody>
      </p:sp>
      <p:sp>
        <p:nvSpPr>
          <p:cNvPr id="10" name="!!rp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01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p3"/>
          <p:cNvSpPr txBox="1"/>
          <p:nvPr/>
        </p:nvSpPr>
        <p:spPr>
          <a:xfrm>
            <a:off x="37830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III</a:t>
            </a:r>
          </a:p>
        </p:txBody>
      </p:sp>
      <p:sp>
        <p:nvSpPr>
          <p:cNvPr id="12" name="!!rp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30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rp4"/>
          <p:cNvSpPr txBox="1"/>
          <p:nvPr/>
        </p:nvSpPr>
        <p:spPr>
          <a:xfrm>
            <a:off x="5285938" y="1755648"/>
            <a:ext cx="158324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IV</a:t>
            </a:r>
          </a:p>
        </p:txBody>
      </p:sp>
      <p:sp>
        <p:nvSpPr>
          <p:cNvPr id="14" name="!!rpl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85938" y="2029967"/>
            <a:ext cx="1583242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rp5"/>
          <p:cNvSpPr txBox="1"/>
          <p:nvPr/>
        </p:nvSpPr>
        <p:spPr>
          <a:xfrm>
            <a:off x="7198364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</a:t>
            </a:r>
          </a:p>
        </p:txBody>
      </p:sp>
      <p:sp>
        <p:nvSpPr>
          <p:cNvPr id="16" name="!!rpl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98364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p6"/>
          <p:cNvSpPr txBox="1"/>
          <p:nvPr/>
        </p:nvSpPr>
        <p:spPr>
          <a:xfrm>
            <a:off x="8701264" y="1755648"/>
            <a:ext cx="271319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705B06"/>
                </a:solidFill>
                <a:latin typeface="Segoe UI"/>
              </a:rPr>
              <a:t>PART VI</a:t>
            </a:r>
          </a:p>
        </p:txBody>
      </p:sp>
      <p:sp>
        <p:nvSpPr>
          <p:cNvPr id="18" name="!!rpl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01264" y="2029967"/>
            <a:ext cx="2713191" cy="45720"/>
          </a:xfrm>
          <a:prstGeom prst="rect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7411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dotn1"/>
          <p:cNvSpPr txBox="1"/>
          <p:nvPr/>
        </p:nvSpPr>
        <p:spPr>
          <a:xfrm>
            <a:off x="72597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!!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6937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dotn2"/>
          <p:cNvSpPr txBox="1"/>
          <p:nvPr/>
        </p:nvSpPr>
        <p:spPr>
          <a:xfrm>
            <a:off x="11354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!!do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36464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dotn3"/>
          <p:cNvSpPr txBox="1"/>
          <p:nvPr/>
        </p:nvSpPr>
        <p:spPr>
          <a:xfrm>
            <a:off x="154502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!!do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20310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dotn4"/>
          <p:cNvSpPr txBox="1"/>
          <p:nvPr/>
        </p:nvSpPr>
        <p:spPr>
          <a:xfrm>
            <a:off x="22288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!!dot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29837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dotn5"/>
          <p:cNvSpPr txBox="1"/>
          <p:nvPr/>
        </p:nvSpPr>
        <p:spPr>
          <a:xfrm>
            <a:off x="26383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!!dot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39363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dotn6"/>
          <p:cNvSpPr txBox="1"/>
          <p:nvPr/>
        </p:nvSpPr>
        <p:spPr>
          <a:xfrm>
            <a:off x="30479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!!dot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3210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dotn7"/>
          <p:cNvSpPr txBox="1"/>
          <p:nvPr/>
        </p:nvSpPr>
        <p:spPr>
          <a:xfrm>
            <a:off x="37317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3" name="!!dot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32736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dotn8"/>
          <p:cNvSpPr txBox="1"/>
          <p:nvPr/>
        </p:nvSpPr>
        <p:spPr>
          <a:xfrm>
            <a:off x="414129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5" name="!!dot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2263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dotn9"/>
          <p:cNvSpPr txBox="1"/>
          <p:nvPr/>
        </p:nvSpPr>
        <p:spPr>
          <a:xfrm>
            <a:off x="45508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7" name="!!dot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26109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dotn10"/>
          <p:cNvSpPr txBox="1"/>
          <p:nvPr/>
        </p:nvSpPr>
        <p:spPr>
          <a:xfrm>
            <a:off x="523466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9" name="!!dot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35636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dotn11"/>
          <p:cNvSpPr txBox="1"/>
          <p:nvPr/>
        </p:nvSpPr>
        <p:spPr>
          <a:xfrm>
            <a:off x="564419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41" name="!!dot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5162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dotn12"/>
          <p:cNvSpPr txBox="1"/>
          <p:nvPr/>
        </p:nvSpPr>
        <p:spPr>
          <a:xfrm>
            <a:off x="605372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43" name="!!dot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4689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dotn13"/>
          <p:cNvSpPr txBox="1"/>
          <p:nvPr/>
        </p:nvSpPr>
        <p:spPr>
          <a:xfrm>
            <a:off x="646324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45" name="!!dot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8535" y="2258568"/>
            <a:ext cx="274320" cy="274320"/>
          </a:xfrm>
          <a:prstGeom prst="ellipse">
            <a:avLst/>
          </a:prstGeom>
          <a:solidFill>
            <a:srgbClr val="358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dotn14"/>
          <p:cNvSpPr txBox="1"/>
          <p:nvPr/>
        </p:nvSpPr>
        <p:spPr>
          <a:xfrm>
            <a:off x="714709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47" name="!!dot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8062" y="2258568"/>
            <a:ext cx="274320" cy="274320"/>
          </a:xfrm>
          <a:prstGeom prst="ellipse">
            <a:avLst/>
          </a:prstGeom>
          <a:solidFill>
            <a:srgbClr val="358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dotn15"/>
          <p:cNvSpPr txBox="1"/>
          <p:nvPr/>
        </p:nvSpPr>
        <p:spPr>
          <a:xfrm>
            <a:off x="755662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49" name="!!dot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57588" y="2258568"/>
            <a:ext cx="274320" cy="274320"/>
          </a:xfrm>
          <a:prstGeom prst="ellipse">
            <a:avLst/>
          </a:prstGeom>
          <a:solidFill>
            <a:srgbClr val="358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dotn16"/>
          <p:cNvSpPr txBox="1"/>
          <p:nvPr/>
        </p:nvSpPr>
        <p:spPr>
          <a:xfrm>
            <a:off x="796614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sp>
        <p:nvSpPr>
          <p:cNvPr id="51" name="!!dot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41435" y="2258568"/>
            <a:ext cx="274320" cy="274320"/>
          </a:xfrm>
          <a:prstGeom prst="ellipse">
            <a:avLst/>
          </a:prstGeom>
          <a:solidFill>
            <a:srgbClr val="C2A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dotn17"/>
          <p:cNvSpPr txBox="1"/>
          <p:nvPr/>
        </p:nvSpPr>
        <p:spPr>
          <a:xfrm>
            <a:off x="864999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53" name="!!dot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50961" y="2258568"/>
            <a:ext cx="274320" cy="274320"/>
          </a:xfrm>
          <a:prstGeom prst="ellipse">
            <a:avLst/>
          </a:prstGeom>
          <a:solidFill>
            <a:srgbClr val="C2A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dotn18"/>
          <p:cNvSpPr txBox="1"/>
          <p:nvPr/>
        </p:nvSpPr>
        <p:spPr>
          <a:xfrm>
            <a:off x="905952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  <p:sp>
        <p:nvSpPr>
          <p:cNvPr id="55" name="!!dot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69632" y="2112264"/>
            <a:ext cx="566928" cy="566928"/>
          </a:xfrm>
          <a:prstGeom prst="ellipse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!!dotn19"/>
          <p:cNvSpPr txBox="1"/>
          <p:nvPr/>
        </p:nvSpPr>
        <p:spPr>
          <a:xfrm>
            <a:off x="9569632" y="22402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19</a:t>
            </a:r>
          </a:p>
        </p:txBody>
      </p:sp>
      <p:sp>
        <p:nvSpPr>
          <p:cNvPr id="57" name="!!dot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80910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!!dotn20"/>
          <p:cNvSpPr txBox="1"/>
          <p:nvPr/>
        </p:nvSpPr>
        <p:spPr>
          <a:xfrm>
            <a:off x="101894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20</a:t>
            </a:r>
          </a:p>
        </p:txBody>
      </p:sp>
      <p:sp>
        <p:nvSpPr>
          <p:cNvPr id="59" name="!!dot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9043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dotn21"/>
          <p:cNvSpPr txBox="1"/>
          <p:nvPr/>
        </p:nvSpPr>
        <p:spPr>
          <a:xfrm>
            <a:off x="105989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21</a:t>
            </a:r>
          </a:p>
        </p:txBody>
      </p:sp>
      <p:sp>
        <p:nvSpPr>
          <p:cNvPr id="61" name="!!dot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9996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!!dotn22"/>
          <p:cNvSpPr txBox="1"/>
          <p:nvPr/>
        </p:nvSpPr>
        <p:spPr>
          <a:xfrm>
            <a:off x="110085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22</a:t>
            </a:r>
          </a:p>
        </p:txBody>
      </p:sp>
      <p:sp>
        <p:nvSpPr>
          <p:cNvPr id="63" name="!!dotlabel"/>
          <p:cNvSpPr txBox="1"/>
          <p:nvPr/>
        </p:nvSpPr>
        <p:spPr>
          <a:xfrm>
            <a:off x="5681167" y="279806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05B06"/>
                </a:solidFill>
                <a:latin typeface="Segoe UI"/>
              </a:rPr>
              <a:t>Classic AI Systems and How to Analyse Them</a:t>
            </a:r>
          </a:p>
        </p:txBody>
      </p:sp>
      <p:sp>
        <p:nvSpPr>
          <p:cNvPr id="64" name="!!dep-BUILD"/>
          <p:cNvSpPr txBox="1"/>
          <p:nvPr/>
        </p:nvSpPr>
        <p:spPr>
          <a:xfrm>
            <a:off x="658368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BUILDS ON</a:t>
            </a:r>
          </a:p>
        </p:txBody>
      </p:sp>
      <p:sp>
        <p:nvSpPr>
          <p:cNvPr id="65" name="!!chipBU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!!chipbBU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64008" cy="420624"/>
          </a:xfrm>
          <a:prstGeom prst="rect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!!chiptBU9"/>
          <p:cNvSpPr txBox="1"/>
          <p:nvPr/>
        </p:nvSpPr>
        <p:spPr>
          <a:xfrm>
            <a:off x="859536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7A43"/>
                </a:solidFill>
                <a:latin typeface="Segoe UI"/>
              </a:rPr>
              <a:t>Ch 9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Planning</a:t>
            </a:r>
          </a:p>
        </p:txBody>
      </p:sp>
      <p:sp>
        <p:nvSpPr>
          <p:cNvPr id="68" name="!!chipBU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2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!!chipbBU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64008" cy="420624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!!chiptBU12"/>
          <p:cNvSpPr txBox="1"/>
          <p:nvPr/>
        </p:nvSpPr>
        <p:spPr>
          <a:xfrm>
            <a:off x="859536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3A95"/>
                </a:solidFill>
                <a:latin typeface="Segoe UI"/>
              </a:rPr>
              <a:t>Ch 12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First-Order Logic and Resolution</a:t>
            </a:r>
          </a:p>
        </p:txBody>
      </p:sp>
      <p:sp>
        <p:nvSpPr>
          <p:cNvPr id="71" name="!!chipBU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809744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2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!!chipbBU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809744"/>
            <a:ext cx="64008" cy="420624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!!chiptBU13"/>
          <p:cNvSpPr txBox="1"/>
          <p:nvPr/>
        </p:nvSpPr>
        <p:spPr>
          <a:xfrm>
            <a:off x="859536" y="4901184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3A95"/>
                </a:solidFill>
                <a:latin typeface="Segoe UI"/>
              </a:rPr>
              <a:t>Ch 13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Rule-Based Expert Systems</a:t>
            </a:r>
          </a:p>
        </p:txBody>
      </p:sp>
      <p:sp>
        <p:nvSpPr>
          <p:cNvPr id="74" name="!!chipBU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321808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!!chipbBU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321808"/>
            <a:ext cx="64008" cy="420624"/>
          </a:xfrm>
          <a:prstGeom prst="rect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!!chiptBU18"/>
          <p:cNvSpPr txBox="1"/>
          <p:nvPr/>
        </p:nvSpPr>
        <p:spPr>
          <a:xfrm>
            <a:off x="859536" y="5413248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05B06"/>
                </a:solidFill>
                <a:latin typeface="Segoe UI"/>
              </a:rPr>
              <a:t>Ch 18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Natural Language Processing</a:t>
            </a:r>
          </a:p>
        </p:txBody>
      </p:sp>
      <p:sp>
        <p:nvSpPr>
          <p:cNvPr id="77" name="!!dep-USED "/>
          <p:cNvSpPr txBox="1"/>
          <p:nvPr/>
        </p:nvSpPr>
        <p:spPr>
          <a:xfrm>
            <a:off x="6324447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USED LATER IN</a:t>
            </a:r>
          </a:p>
        </p:txBody>
      </p:sp>
      <p:sp>
        <p:nvSpPr>
          <p:cNvPr id="78" name="!!dep-none-USED "/>
          <p:cNvSpPr txBox="1"/>
          <p:nvPr/>
        </p:nvSpPr>
        <p:spPr>
          <a:xfrm>
            <a:off x="6324447" y="3785616"/>
            <a:ext cx="520887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8A4AE"/>
                </a:solidFill>
                <a:latin typeface="Segoe UI"/>
              </a:rPr>
              <a:t>—  no later chapter depends on it</a:t>
            </a:r>
          </a:p>
        </p:txBody>
      </p:sp>
      <p:sp>
        <p:nvSpPr>
          <p:cNvPr id="7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625559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you will be able to do</a:t>
            </a:r>
          </a:p>
        </p:txBody>
      </p:sp>
      <p:pic>
        <p:nvPicPr>
          <p:cNvPr id="3" name="!!kicker-icon" descr="bullsey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LEARNING OUTCOMES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19  ·  Classic AI Systems and How to Analyse Them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123     </a:t>
            </a:r>
            <a:fld id="{12824680-25F7-4FE9-BA45-A2B54A3CB021}" type="slidenum">
              <a:rPr lang="en-GB" sz="1000">
                <a:solidFill>
                  <a:srgbClr val="8795A1"/>
                </a:solidFill>
                <a:latin typeface="Segoe UI"/>
              </a:rPr>
              <a:t>3</a:t>
            </a:fld>
          </a:p>
        </p:txBody>
      </p:sp>
      <p:sp>
        <p:nvSpPr>
          <p:cNvPr id="7" name="!!olead"/>
          <p:cNvSpPr txBox="1"/>
          <p:nvPr/>
        </p:nvSpPr>
        <p:spPr>
          <a:xfrm>
            <a:off x="658368" y="1737360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F6F7B"/>
                </a:solidFill>
                <a:latin typeface="Segoe UI"/>
              </a:rPr>
              <a:t>By the end of this chapter you will be able to:</a:t>
            </a:r>
          </a:p>
        </p:txBody>
      </p:sp>
      <p:sp>
        <p:nvSpPr>
          <p:cNvPr id="8" name="!!o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21991"/>
            <a:ext cx="420624" cy="420624"/>
          </a:xfrm>
          <a:prstGeom prst="ellipse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obn0"/>
          <p:cNvSpPr txBox="1"/>
          <p:nvPr/>
        </p:nvSpPr>
        <p:spPr>
          <a:xfrm>
            <a:off x="658368" y="228142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!!ot0"/>
          <p:cNvSpPr txBox="1"/>
          <p:nvPr/>
        </p:nvSpPr>
        <p:spPr>
          <a:xfrm>
            <a:off x="1316736" y="2212848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05B06"/>
                </a:solidFill>
                <a:latin typeface="Segoe UI"/>
              </a:rPr>
              <a:t>Describe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General Problem Solver, Eliza, Student and Macsyma,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identify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mechanism each one rests on.</a:t>
            </a:r>
          </a:p>
        </p:txBody>
      </p:sp>
      <p:sp>
        <p:nvSpPr>
          <p:cNvPr id="11" name="!!o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70555"/>
            <a:ext cx="420624" cy="420624"/>
          </a:xfrm>
          <a:prstGeom prst="ellipse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obn1"/>
          <p:cNvSpPr txBox="1"/>
          <p:nvPr/>
        </p:nvSpPr>
        <p:spPr>
          <a:xfrm>
            <a:off x="658368" y="3129991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!!ot1"/>
          <p:cNvSpPr txBox="1"/>
          <p:nvPr/>
        </p:nvSpPr>
        <p:spPr>
          <a:xfrm>
            <a:off x="1316736" y="3111703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05B06"/>
                </a:solidFill>
                <a:latin typeface="Segoe UI"/>
              </a:rPr>
              <a:t>Reconstruct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each system in a few dozen lines using machinery from earlier chapters.</a:t>
            </a:r>
          </a:p>
        </p:txBody>
      </p:sp>
      <p:sp>
        <p:nvSpPr>
          <p:cNvPr id="14" name="!!o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74059"/>
            <a:ext cx="420624" cy="420624"/>
          </a:xfrm>
          <a:prstGeom prst="ellipse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obn2"/>
          <p:cNvSpPr txBox="1"/>
          <p:nvPr/>
        </p:nvSpPr>
        <p:spPr>
          <a:xfrm>
            <a:off x="658368" y="3733495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!!ot2"/>
          <p:cNvSpPr txBox="1"/>
          <p:nvPr/>
        </p:nvSpPr>
        <p:spPr>
          <a:xfrm>
            <a:off x="1316736" y="3664915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05B06"/>
                </a:solidFill>
                <a:latin typeface="Segoe UI"/>
              </a:rPr>
              <a:t>Apply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six-column analysis framework — task, environment, representation, inference, knowledge source, failure mode — to an AI system.</a:t>
            </a:r>
          </a:p>
        </p:txBody>
      </p:sp>
      <p:sp>
        <p:nvSpPr>
          <p:cNvPr id="17" name="!!o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522622"/>
            <a:ext cx="420624" cy="420624"/>
          </a:xfrm>
          <a:prstGeom prst="ellipse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obn3"/>
          <p:cNvSpPr txBox="1"/>
          <p:nvPr/>
        </p:nvSpPr>
        <p:spPr>
          <a:xfrm>
            <a:off x="658368" y="458205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9" name="!!ot3"/>
          <p:cNvSpPr txBox="1"/>
          <p:nvPr/>
        </p:nvSpPr>
        <p:spPr>
          <a:xfrm>
            <a:off x="1316736" y="4563770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05B06"/>
                </a:solidFill>
                <a:latin typeface="Segoe UI"/>
              </a:rPr>
              <a:t>Explain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what each system was mistaken for, and why.</a:t>
            </a:r>
          </a:p>
        </p:txBody>
      </p:sp>
      <p:sp>
        <p:nvSpPr>
          <p:cNvPr id="4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Vocabulary for this chapter</a:t>
            </a:r>
          </a:p>
        </p:txBody>
      </p:sp>
      <p:pic>
        <p:nvPicPr>
          <p:cNvPr id="3" name="!!kicker-icon" descr="tags-8E44A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256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8E44AD"/>
                </a:solidFill>
                <a:latin typeface="Segoe UI"/>
              </a:rPr>
              <a:t>KEY TERMS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19  ·  Classic AI Systems and How to Analyse Them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123     </a:t>
            </a:r>
            <a:fld id="{EB84E212-16A4-4251-A01D-A38F5E533DB8}" type="slidenum">
              <a:rPr lang="en-GB" sz="1000">
                <a:solidFill>
                  <a:srgbClr val="8795A1"/>
                </a:solidFill>
                <a:latin typeface="Segoe UI"/>
              </a:rPr>
              <a:t>4</a:t>
            </a:fld>
          </a:p>
        </p:txBody>
      </p:sp>
      <p:sp>
        <p:nvSpPr>
          <p:cNvPr id="7" name="!!term-General Prob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847088"/>
            <a:ext cx="272074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ermd-General Prob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termt-General Proble"/>
          <p:cNvSpPr txBox="1"/>
          <p:nvPr/>
        </p:nvSpPr>
        <p:spPr>
          <a:xfrm>
            <a:off x="950976" y="1955291"/>
            <a:ext cx="253786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General Problem Solver</a:t>
            </a:r>
          </a:p>
        </p:txBody>
      </p:sp>
      <p:sp>
        <p:nvSpPr>
          <p:cNvPr id="10" name="!!term-Eliz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25417" y="1847088"/>
            <a:ext cx="86855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termd-Eliz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3433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termt-Eliza"/>
          <p:cNvSpPr txBox="1"/>
          <p:nvPr/>
        </p:nvSpPr>
        <p:spPr>
          <a:xfrm>
            <a:off x="3818025" y="1955291"/>
            <a:ext cx="68567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Eliza</a:t>
            </a:r>
          </a:p>
        </p:txBody>
      </p:sp>
      <p:sp>
        <p:nvSpPr>
          <p:cNvPr id="13" name="!!term-Stud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40278" y="1847088"/>
            <a:ext cx="1199214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termd-Stud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829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termt-Student"/>
          <p:cNvSpPr txBox="1"/>
          <p:nvPr/>
        </p:nvSpPr>
        <p:spPr>
          <a:xfrm>
            <a:off x="4832886" y="1955291"/>
            <a:ext cx="1016334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Student</a:t>
            </a:r>
          </a:p>
        </p:txBody>
      </p:sp>
      <p:sp>
        <p:nvSpPr>
          <p:cNvPr id="16" name="!!term-Macsym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85797" y="1847088"/>
            <a:ext cx="1352156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termd-Macsym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13813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termt-Macsyma"/>
          <p:cNvSpPr txBox="1"/>
          <p:nvPr/>
        </p:nvSpPr>
        <p:spPr>
          <a:xfrm>
            <a:off x="6178405" y="1955291"/>
            <a:ext cx="1169276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Macsyma</a:t>
            </a:r>
          </a:p>
        </p:txBody>
      </p:sp>
      <p:sp>
        <p:nvSpPr>
          <p:cNvPr id="19" name="!!term-means–ends an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84257" y="1847088"/>
            <a:ext cx="245588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termd-means–ends an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12273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termt-means–ends ana"/>
          <p:cNvSpPr txBox="1"/>
          <p:nvPr/>
        </p:nvSpPr>
        <p:spPr>
          <a:xfrm>
            <a:off x="7676865" y="1955291"/>
            <a:ext cx="227300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means–ends analysis</a:t>
            </a:r>
          </a:p>
        </p:txBody>
      </p:sp>
      <p:sp>
        <p:nvSpPr>
          <p:cNvPr id="22" name="!!term-pattern subst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880"/>
            <a:ext cx="235627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termd-pattern subst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termt-pattern substi"/>
          <p:cNvSpPr txBox="1"/>
          <p:nvPr/>
        </p:nvSpPr>
        <p:spPr>
          <a:xfrm>
            <a:off x="950976" y="2577084"/>
            <a:ext cx="217339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pattern substitution</a:t>
            </a:r>
          </a:p>
        </p:txBody>
      </p:sp>
      <p:sp>
        <p:nvSpPr>
          <p:cNvPr id="25" name="!!term-term rewrit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0942" y="2468880"/>
            <a:ext cx="181849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termd-term rewrit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88958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termt-term rewriting"/>
          <p:cNvSpPr txBox="1"/>
          <p:nvPr/>
        </p:nvSpPr>
        <p:spPr>
          <a:xfrm>
            <a:off x="3453550" y="2577084"/>
            <a:ext cx="163561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term rewriting</a:t>
            </a:r>
          </a:p>
        </p:txBody>
      </p:sp>
      <p:sp>
        <p:nvSpPr>
          <p:cNvPr id="28" name="!!term-the Eliza eff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25745" y="2468880"/>
            <a:ext cx="184830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termd-the Eliza eff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53761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termt-the Eliza effe"/>
          <p:cNvSpPr txBox="1"/>
          <p:nvPr/>
        </p:nvSpPr>
        <p:spPr>
          <a:xfrm>
            <a:off x="5418353" y="2577084"/>
            <a:ext cx="166542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the Eliza effect</a:t>
            </a:r>
          </a:p>
        </p:txBody>
      </p:sp>
      <p:sp>
        <p:nvSpPr>
          <p:cNvPr id="31" name="!!term-system analys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20356" y="2468880"/>
            <a:ext cx="1920731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termd-system analys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48372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termt-system analysi"/>
          <p:cNvSpPr txBox="1"/>
          <p:nvPr/>
        </p:nvSpPr>
        <p:spPr>
          <a:xfrm>
            <a:off x="7412964" y="2577084"/>
            <a:ext cx="1737851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system analysis</a:t>
            </a:r>
          </a:p>
        </p:txBody>
      </p:sp>
      <p:sp>
        <p:nvSpPr>
          <p:cNvPr id="34" name="!!term-failure m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87392" y="2468880"/>
            <a:ext cx="1666802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termd-failure m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15408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termt-failure mode"/>
          <p:cNvSpPr txBox="1"/>
          <p:nvPr/>
        </p:nvSpPr>
        <p:spPr>
          <a:xfrm>
            <a:off x="9480000" y="2577084"/>
            <a:ext cx="1483922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failure mode</a:t>
            </a:r>
          </a:p>
        </p:txBody>
      </p:sp>
      <p:sp>
        <p:nvSpPr>
          <p:cNvPr id="37" name="!!termnote"/>
          <p:cNvSpPr txBox="1"/>
          <p:nvPr/>
        </p:nvSpPr>
        <p:spPr>
          <a:xfrm>
            <a:off x="658368" y="329184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F6F7B"/>
                </a:solidFill>
                <a:latin typeface="Segoe UI"/>
              </a:rPr>
              <a:t>Each term is defined where it first matters — not here.</a:t>
            </a:r>
          </a:p>
        </p:txBody>
      </p:sp>
      <p:sp>
        <p:nvSpPr>
          <p:cNvPr id="3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251118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 this chapter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THIS CHAPTER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19  ·  Classic AI Systems and How to Analyse Them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pp. 123–124     </a:t>
            </a:r>
            <a:fld id="{128C5B3B-1A18-4D9B-9530-4C184B5AAD37}" type="slidenum">
              <a:rPr lang="en-GB" sz="1000">
                <a:solidFill>
                  <a:srgbClr val="8795A1"/>
                </a:solidFill>
                <a:latin typeface="Segoe UI"/>
              </a:rPr>
              <a:t>5</a:t>
            </a:fld>
          </a:p>
        </p:txBody>
      </p:sp>
      <p:sp>
        <p:nvSpPr>
          <p:cNvPr id="7" name="!!ag0" descr="Go to section 19.1 Four Systems, Four Mechanisms"/>
          <p:cNvSpPr/>
          <p:nvPr/>
        </p:nvSpPr>
        <p:spPr>
          <a:xfrm>
            <a:off x="658368" y="17739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ag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73936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agn0"/>
          <p:cNvSpPr txBox="1"/>
          <p:nvPr/>
        </p:nvSpPr>
        <p:spPr>
          <a:xfrm>
            <a:off x="932688" y="19202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19.1</a:t>
            </a:r>
          </a:p>
        </p:txBody>
      </p:sp>
      <p:sp>
        <p:nvSpPr>
          <p:cNvPr id="10" name="!!agt0"/>
          <p:cNvSpPr txBox="1"/>
          <p:nvPr/>
        </p:nvSpPr>
        <p:spPr>
          <a:xfrm>
            <a:off x="1847088" y="19202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Four Systems, Four Mechanisms</a:t>
            </a:r>
          </a:p>
        </p:txBody>
      </p:sp>
      <p:sp>
        <p:nvSpPr>
          <p:cNvPr id="11" name="!!agp0"/>
          <p:cNvSpPr txBox="1"/>
          <p:nvPr/>
        </p:nvSpPr>
        <p:spPr>
          <a:xfrm>
            <a:off x="9795967" y="19476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123  ›</a:t>
            </a:r>
          </a:p>
        </p:txBody>
      </p:sp>
      <p:sp>
        <p:nvSpPr>
          <p:cNvPr id="12" name="!!ag1" descr="Go to section 19.2 The General Problem Solver"/>
          <p:cNvSpPr/>
          <p:nvPr/>
        </p:nvSpPr>
        <p:spPr>
          <a:xfrm>
            <a:off x="658368" y="2414015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ag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5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agn1"/>
          <p:cNvSpPr txBox="1"/>
          <p:nvPr/>
        </p:nvSpPr>
        <p:spPr>
          <a:xfrm>
            <a:off x="932688" y="256032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19.2</a:t>
            </a:r>
          </a:p>
        </p:txBody>
      </p:sp>
      <p:sp>
        <p:nvSpPr>
          <p:cNvPr id="15" name="!!agt1"/>
          <p:cNvSpPr txBox="1"/>
          <p:nvPr/>
        </p:nvSpPr>
        <p:spPr>
          <a:xfrm>
            <a:off x="1847088" y="256032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The General Problem Solver</a:t>
            </a:r>
          </a:p>
        </p:txBody>
      </p:sp>
      <p:sp>
        <p:nvSpPr>
          <p:cNvPr id="16" name="!!agp1"/>
          <p:cNvSpPr txBox="1"/>
          <p:nvPr/>
        </p:nvSpPr>
        <p:spPr>
          <a:xfrm>
            <a:off x="9795967" y="2587751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123  ›</a:t>
            </a:r>
          </a:p>
        </p:txBody>
      </p:sp>
      <p:sp>
        <p:nvSpPr>
          <p:cNvPr id="17" name="!!ag2" descr="Go to section 19.3 Eliza and the Eliza Effect"/>
          <p:cNvSpPr/>
          <p:nvPr/>
        </p:nvSpPr>
        <p:spPr>
          <a:xfrm>
            <a:off x="658368" y="305409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ag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4096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agn2"/>
          <p:cNvSpPr txBox="1"/>
          <p:nvPr/>
        </p:nvSpPr>
        <p:spPr>
          <a:xfrm>
            <a:off x="932688" y="320040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19.3</a:t>
            </a:r>
          </a:p>
        </p:txBody>
      </p:sp>
      <p:sp>
        <p:nvSpPr>
          <p:cNvPr id="20" name="!!agt2"/>
          <p:cNvSpPr txBox="1"/>
          <p:nvPr/>
        </p:nvSpPr>
        <p:spPr>
          <a:xfrm>
            <a:off x="1847088" y="320040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Eliza and the Eliza Effect</a:t>
            </a:r>
          </a:p>
        </p:txBody>
      </p:sp>
      <p:sp>
        <p:nvSpPr>
          <p:cNvPr id="21" name="!!agp2"/>
          <p:cNvSpPr txBox="1"/>
          <p:nvPr/>
        </p:nvSpPr>
        <p:spPr>
          <a:xfrm>
            <a:off x="9795967" y="322783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123  ›</a:t>
            </a:r>
          </a:p>
        </p:txBody>
      </p:sp>
      <p:sp>
        <p:nvSpPr>
          <p:cNvPr id="22" name="!!ag3" descr="Go to section 19.4 Student"/>
          <p:cNvSpPr/>
          <p:nvPr/>
        </p:nvSpPr>
        <p:spPr>
          <a:xfrm>
            <a:off x="658368" y="369417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ag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94176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agn3"/>
          <p:cNvSpPr txBox="1"/>
          <p:nvPr/>
        </p:nvSpPr>
        <p:spPr>
          <a:xfrm>
            <a:off x="932688" y="384048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19.4</a:t>
            </a:r>
          </a:p>
        </p:txBody>
      </p:sp>
      <p:sp>
        <p:nvSpPr>
          <p:cNvPr id="25" name="!!agt3"/>
          <p:cNvSpPr txBox="1"/>
          <p:nvPr/>
        </p:nvSpPr>
        <p:spPr>
          <a:xfrm>
            <a:off x="1847088" y="384048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Student</a:t>
            </a:r>
          </a:p>
        </p:txBody>
      </p:sp>
      <p:sp>
        <p:nvSpPr>
          <p:cNvPr id="26" name="!!agp3"/>
          <p:cNvSpPr txBox="1"/>
          <p:nvPr/>
        </p:nvSpPr>
        <p:spPr>
          <a:xfrm>
            <a:off x="9795967" y="386791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123  ›</a:t>
            </a:r>
          </a:p>
        </p:txBody>
      </p:sp>
      <p:sp>
        <p:nvSpPr>
          <p:cNvPr id="27" name="!!ag4" descr="Go to section 19.5 Macsyma"/>
          <p:cNvSpPr/>
          <p:nvPr/>
        </p:nvSpPr>
        <p:spPr>
          <a:xfrm>
            <a:off x="658368" y="433425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ag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334256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agn4"/>
          <p:cNvSpPr txBox="1"/>
          <p:nvPr/>
        </p:nvSpPr>
        <p:spPr>
          <a:xfrm>
            <a:off x="932688" y="448056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19.5</a:t>
            </a:r>
          </a:p>
        </p:txBody>
      </p:sp>
      <p:sp>
        <p:nvSpPr>
          <p:cNvPr id="30" name="!!agt4"/>
          <p:cNvSpPr txBox="1"/>
          <p:nvPr/>
        </p:nvSpPr>
        <p:spPr>
          <a:xfrm>
            <a:off x="1847088" y="448056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Macsyma</a:t>
            </a:r>
          </a:p>
        </p:txBody>
      </p:sp>
      <p:sp>
        <p:nvSpPr>
          <p:cNvPr id="31" name="!!agp4"/>
          <p:cNvSpPr txBox="1"/>
          <p:nvPr/>
        </p:nvSpPr>
        <p:spPr>
          <a:xfrm>
            <a:off x="9795967" y="450799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123  ›</a:t>
            </a:r>
          </a:p>
        </p:txBody>
      </p:sp>
      <p:sp>
        <p:nvSpPr>
          <p:cNvPr id="32" name="!!ag5" descr="Go to section 19.6 A Framework for Analysing an AI System">
            <a:hlinkClick action="ppaction://hlinksldjump" r:id="rId5"/>
          </p:cNvPr>
          <p:cNvSpPr/>
          <p:nvPr/>
        </p:nvSpPr>
        <p:spPr>
          <a:xfrm>
            <a:off x="658368" y="49743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ag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974336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agn5"/>
          <p:cNvSpPr txBox="1"/>
          <p:nvPr/>
        </p:nvSpPr>
        <p:spPr>
          <a:xfrm>
            <a:off x="932688" y="51206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19.6</a:t>
            </a:r>
          </a:p>
        </p:txBody>
      </p:sp>
      <p:sp>
        <p:nvSpPr>
          <p:cNvPr id="35" name="!!agt5"/>
          <p:cNvSpPr txBox="1"/>
          <p:nvPr/>
        </p:nvSpPr>
        <p:spPr>
          <a:xfrm>
            <a:off x="1847088" y="51206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A Framework for Analysing an AI System</a:t>
            </a:r>
          </a:p>
        </p:txBody>
      </p:sp>
      <p:sp>
        <p:nvSpPr>
          <p:cNvPr id="36" name="!!agp5"/>
          <p:cNvSpPr txBox="1"/>
          <p:nvPr/>
        </p:nvSpPr>
        <p:spPr>
          <a:xfrm>
            <a:off x="9795967" y="51480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123  ›</a:t>
            </a:r>
          </a:p>
        </p:txBody>
      </p:sp>
      <p:sp>
        <p:nvSpPr>
          <p:cNvPr id="3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Chapter in preparation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19  ·  Classic AI Systems and How to Analyse Them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§19.6  ·  Handout p. 123     </a:t>
            </a:r>
            <a:fld id="{0FC7EE28-C37C-4CD6-BCFF-5321109A3488}" type="slidenum">
              <a:rPr lang="en-GB" sz="1000">
                <a:solidFill>
                  <a:srgbClr val="8795A1"/>
                </a:solidFill>
                <a:latin typeface="Segoe UI"/>
              </a:rPr>
              <a:t>6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079955"/>
          </a:xfrm>
          <a:prstGeom prst="roundRect">
            <a:avLst>
              <a:gd name="adj" fmla="val 4396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079955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 full text of this chapter — prose, figures, worked example, laboratory and review questions — is being written. The outcomes, prerequisites, key terms and section structure above are settled and match the Course Specification and Appendix G.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876678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1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19  ·  Classic AI Systems and How to Analyse Them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124  ·  answers in Appendix D     </a:t>
            </a:r>
            <a:fld id="{23898F57-B2B9-443C-AF1E-D19BD5442942}" type="slidenum">
              <a:rPr lang="en-GB" sz="1000">
                <a:solidFill>
                  <a:srgbClr val="D5DEE5"/>
                </a:solidFill>
                <a:latin typeface="Segoe UI"/>
              </a:rPr>
              <a:t>7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1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19  ·  Classic AI Systems and How to Analyse Them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124  ·  answers in Appendix D     </a:t>
            </a:r>
            <a:fld id="{22C9759D-610B-4633-91C7-6037A4146E8D}" type="slidenum">
              <a:rPr lang="en-GB" sz="1000">
                <a:solidFill>
                  <a:srgbClr val="8795A1"/>
                </a:solidFill>
                <a:latin typeface="Segoe UI"/>
              </a:rPr>
              <a:t>8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502237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2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19  ·  Classic AI Systems and How to Analyse Them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124  ·  answers in Appendix D     </a:t>
            </a:r>
            <a:fld id="{A8EC38A3-DE7A-4258-B309-590A10A11172}" type="slidenum">
              <a:rPr lang="en-GB" sz="1000">
                <a:solidFill>
                  <a:srgbClr val="D5DEE5"/>
                </a:solidFill>
                <a:latin typeface="Segoe UI"/>
              </a:rPr>
              <a:t>9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2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19  ·  Classic AI Systems and How to Analyse Them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124  ·  answers in Appendix D     </a:t>
            </a:r>
            <a:fld id="{FBA757C7-88A5-48BF-9392-78FA9D00B2DB}" type="slidenum">
              <a:rPr lang="en-GB" sz="1000">
                <a:solidFill>
                  <a:srgbClr val="8795A1"/>
                </a:solidFill>
                <a:latin typeface="Segoe UI"/>
              </a:rPr>
              <a:t>10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127796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3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19  ·  Classic AI Systems and How to Analyse Them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124  ·  answers in Appendix D     </a:t>
            </a:r>
            <a:fld id="{4AF0273A-01E4-4698-8BB3-D5E197F461CC}" type="slidenum">
              <a:rPr lang="en-GB" sz="1000">
                <a:solidFill>
                  <a:srgbClr val="D5DEE5"/>
                </a:solidFill>
                <a:latin typeface="Segoe UI"/>
              </a:rPr>
              <a:t>11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3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19  ·  Classic AI Systems and How to Analyse Them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124  ·  answers in Appendix D     </a:t>
            </a:r>
            <a:fld id="{E6F973B6-0EE9-4B57-9F5D-B86874E5A429}" type="slidenum">
              <a:rPr lang="en-GB" sz="1000">
                <a:solidFill>
                  <a:srgbClr val="8795A1"/>
                </a:solidFill>
                <a:latin typeface="Segoe UI"/>
              </a:rPr>
              <a:t>12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753356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19  ·  Classic AI Systems and How to Analyse Them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124     </a:t>
            </a:r>
            <a:fld id="{EA323635-227B-4109-8DE7-AB5FF5807A97}" type="slidenum">
              <a:rPr lang="en-GB" sz="1000">
                <a:solidFill>
                  <a:srgbClr val="8795A1"/>
                </a:solidFill>
                <a:latin typeface="Segoe UI"/>
              </a:rPr>
              <a:t>13</a:t>
            </a:fld>
          </a:p>
        </p:txBody>
      </p:sp>
      <p:sp>
        <p:nvSpPr>
          <p:cNvPr id="7" name="!!s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0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!!st0"/>
          <p:cNvSpPr txBox="1"/>
          <p:nvPr/>
        </p:nvSpPr>
        <p:spPr>
          <a:xfrm>
            <a:off x="1298448" y="1737360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Four Systems, Four Mechanisms.</a:t>
            </a:r>
          </a:p>
        </p:txBody>
      </p:sp>
      <p:sp>
        <p:nvSpPr>
          <p:cNvPr id="10" name="!!s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33172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sbn1"/>
          <p:cNvSpPr txBox="1"/>
          <p:nvPr/>
        </p:nvSpPr>
        <p:spPr>
          <a:xfrm>
            <a:off x="658368" y="238658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!!st1"/>
          <p:cNvSpPr txBox="1"/>
          <p:nvPr/>
        </p:nvSpPr>
        <p:spPr>
          <a:xfrm>
            <a:off x="1298448" y="2322576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The General Problem Solver.</a:t>
            </a:r>
          </a:p>
        </p:txBody>
      </p:sp>
      <p:sp>
        <p:nvSpPr>
          <p:cNvPr id="13" name="!!s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9169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sbn2"/>
          <p:cNvSpPr txBox="1"/>
          <p:nvPr/>
        </p:nvSpPr>
        <p:spPr>
          <a:xfrm>
            <a:off x="658368" y="297180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!!st2"/>
          <p:cNvSpPr txBox="1"/>
          <p:nvPr/>
        </p:nvSpPr>
        <p:spPr>
          <a:xfrm>
            <a:off x="1298448" y="2907792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Eliza and the Eliza Effect.</a:t>
            </a:r>
          </a:p>
        </p:txBody>
      </p:sp>
      <p:sp>
        <p:nvSpPr>
          <p:cNvPr id="16" name="!!s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021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sbn3"/>
          <p:cNvSpPr txBox="1"/>
          <p:nvPr/>
        </p:nvSpPr>
        <p:spPr>
          <a:xfrm>
            <a:off x="658368" y="3557016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!!st3"/>
          <p:cNvSpPr txBox="1"/>
          <p:nvPr/>
        </p:nvSpPr>
        <p:spPr>
          <a:xfrm>
            <a:off x="1298448" y="3493008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Student.</a:t>
            </a:r>
          </a:p>
        </p:txBody>
      </p:sp>
      <p:sp>
        <p:nvSpPr>
          <p:cNvPr id="19" name="!!s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08736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sbn4"/>
          <p:cNvSpPr txBox="1"/>
          <p:nvPr/>
        </p:nvSpPr>
        <p:spPr>
          <a:xfrm>
            <a:off x="658368" y="4142232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!!st4"/>
          <p:cNvSpPr txBox="1"/>
          <p:nvPr/>
        </p:nvSpPr>
        <p:spPr>
          <a:xfrm>
            <a:off x="1298448" y="4078224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Macsyma.</a:t>
            </a:r>
          </a:p>
        </p:txBody>
      </p:sp>
      <p:sp>
        <p:nvSpPr>
          <p:cNvPr id="22" name="!!s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67258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sbn5"/>
          <p:cNvSpPr txBox="1"/>
          <p:nvPr/>
        </p:nvSpPr>
        <p:spPr>
          <a:xfrm>
            <a:off x="658368" y="472744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4" name="!!st5"/>
          <p:cNvSpPr txBox="1"/>
          <p:nvPr/>
        </p:nvSpPr>
        <p:spPr>
          <a:xfrm>
            <a:off x="1298448" y="4663440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A Framework for Analysing an AI System.</a:t>
            </a:r>
          </a:p>
        </p:txBody>
      </p:sp>
      <p:sp>
        <p:nvSpPr>
          <p:cNvPr id="7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56613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For your notebook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QUESTIONS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19  ·  Classic AI Systems and How to Analyse Them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124     </a:t>
            </a:r>
            <a:fld id="{A6EE99A5-A55F-4C87-9BF8-6BC476B6EB1D}" type="slidenum">
              <a:rPr lang="en-GB" sz="1000">
                <a:solidFill>
                  <a:srgbClr val="8795A1"/>
                </a:solidFill>
                <a:latin typeface="Segoe UI"/>
              </a:rPr>
              <a:t>14</a:t>
            </a:fld>
          </a:p>
        </p:txBody>
      </p:sp>
      <p:sp>
        <p:nvSpPr>
          <p:cNvPr id="7" name="!!r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rtt0"/>
          <p:cNvSpPr txBox="1"/>
          <p:nvPr/>
        </p:nvSpPr>
        <p:spPr>
          <a:xfrm>
            <a:off x="658368" y="179679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9" name="!!rq0"/>
          <p:cNvSpPr txBox="1"/>
          <p:nvPr/>
        </p:nvSpPr>
        <p:spPr>
          <a:xfrm>
            <a:off x="1892807" y="1737360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10" name="!!r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7624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tt1"/>
          <p:cNvSpPr txBox="1"/>
          <p:nvPr/>
        </p:nvSpPr>
        <p:spPr>
          <a:xfrm>
            <a:off x="658368" y="231739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12" name="!!rq1"/>
          <p:cNvSpPr txBox="1"/>
          <p:nvPr/>
        </p:nvSpPr>
        <p:spPr>
          <a:xfrm>
            <a:off x="1892807" y="2257958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37891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05B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7B681A"/>
                </a:solidFill>
                <a:latin typeface="Segoe UI Black"/>
              </a:rPr>
              <a:t>19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1243584"/>
            <a:ext cx="8229600" cy="82296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000" b="0">
                <a:solidFill>
                  <a:srgbClr val="FFFFFF"/>
                </a:solidFill>
                <a:latin typeface="Segoe UI Semibold"/>
              </a:rPr>
              <a:t>End of Chapter 19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74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cll0"/>
          <p:cNvSpPr txBox="1"/>
          <p:nvPr/>
        </p:nvSpPr>
        <p:spPr>
          <a:xfrm>
            <a:off x="932688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9C1A0"/>
                </a:solidFill>
                <a:latin typeface="Segoe UI"/>
              </a:rPr>
              <a:t>NEXT</a:t>
            </a:r>
          </a:p>
        </p:txBody>
      </p:sp>
      <p:sp>
        <p:nvSpPr>
          <p:cNvPr id="7" name="!!clv0"/>
          <p:cNvSpPr txBox="1"/>
          <p:nvPr/>
        </p:nvSpPr>
        <p:spPr>
          <a:xfrm>
            <a:off x="932688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Chapter 20 — Recent Trends and Applications</a:t>
            </a:r>
          </a:p>
        </p:txBody>
      </p:sp>
      <p:sp>
        <p:nvSpPr>
          <p:cNvPr id="8" name="!!c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74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ll1"/>
          <p:cNvSpPr txBox="1"/>
          <p:nvPr/>
        </p:nvSpPr>
        <p:spPr>
          <a:xfrm>
            <a:off x="6507327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9C1A0"/>
                </a:solidFill>
                <a:latin typeface="Segoe UI"/>
              </a:rPr>
              <a:t>READ</a:t>
            </a:r>
          </a:p>
        </p:txBody>
      </p:sp>
      <p:sp>
        <p:nvSpPr>
          <p:cNvPr id="10" name="!!clv1"/>
          <p:cNvSpPr txBox="1"/>
          <p:nvPr/>
        </p:nvSpPr>
        <p:spPr>
          <a:xfrm>
            <a:off x="6507327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Handout Chapter 19, pages 123–124</a:t>
            </a:r>
          </a:p>
        </p:txBody>
      </p:sp>
      <p:sp>
        <p:nvSpPr>
          <p:cNvPr id="11" name="!!c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74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ll2"/>
          <p:cNvSpPr txBox="1"/>
          <p:nvPr/>
        </p:nvSpPr>
        <p:spPr>
          <a:xfrm>
            <a:off x="932688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9C1A0"/>
                </a:solidFill>
                <a:latin typeface="Segoe UI"/>
              </a:rPr>
              <a:t>THIS WEEK'S LAB</a:t>
            </a:r>
          </a:p>
        </p:txBody>
      </p:sp>
      <p:sp>
        <p:nvSpPr>
          <p:cNvPr id="13" name="!!clv2"/>
          <p:cNvSpPr txBox="1"/>
          <p:nvPr/>
        </p:nvSpPr>
        <p:spPr>
          <a:xfrm>
            <a:off x="932688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Parsing ticket subjects; four systems in one file</a:t>
            </a:r>
          </a:p>
        </p:txBody>
      </p:sp>
      <p:sp>
        <p:nvSpPr>
          <p:cNvPr id="1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19  ·  Classic AI Systems and How to Analyse Them</a:t>
            </a:r>
          </a:p>
        </p:txBody>
      </p:sp>
      <p:sp>
        <p:nvSpPr>
          <p:cNvPr id="1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fld id="{C5135B68-7C7B-4480-8BDF-E624D2F1C363}" type="slidenum">
              <a:rPr lang="en-GB" sz="1000">
                <a:solidFill>
                  <a:srgbClr val="D5DEE5"/>
                </a:solidFill>
                <a:latin typeface="Segoe UI"/>
              </a:rPr>
              <a:t>15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rtificial Intelligence Fall 2026">
  <a:themeElements>
    <a:clrScheme name="Artificial Intelligence Fall 2026">
      <a:dk1>
        <a:srgbClr val="1C252B"/>
      </a:dk1>
      <a:lt1>
        <a:srgbClr val="FFFFFF"/>
      </a:lt1>
      <a:dk2>
        <a:srgbClr val="1A5276"/>
      </a:dk2>
      <a:lt2>
        <a:srgbClr val="EBF5FB"/>
      </a:lt2>
      <a:accent1>
        <a:srgbClr val="1A5276"/>
      </a:accent1>
      <a:accent2>
        <a:srgbClr val="2E86C1"/>
      </a:accent2>
      <a:accent3>
        <a:srgbClr val="E74C3C"/>
      </a:accent3>
      <a:accent4>
        <a:srgbClr val="27AE60"/>
      </a:accent4>
      <a:accent5>
        <a:srgbClr val="8E44AD"/>
      </a:accent5>
      <a:accent6>
        <a:srgbClr val="B7950B"/>
      </a:accent6>
      <a:hlink>
        <a:srgbClr val="2E86C1"/>
      </a:hlink>
      <a:folHlink>
        <a:srgbClr val="8E44AD"/>
      </a:folHlink>
    </a:clrScheme>
    <a:fontScheme name="Artificial Intelligence Fall 2026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19: Classic AI Systems and How to Analyse Them</dc:title>
  <dc:subject>Artificial Intelligence — Search, Knowledge and Reasoning · BSIT · Fall 2026</dc:subject>
  <dc:creator>Dr. Mustafa Hameed</dc:creator>
  <cp:keywords>artificial intelligence; lecture slides; BSIT; HEC; Fall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Lecture slides</cp:category>
</cp:coreProperties>
</file>