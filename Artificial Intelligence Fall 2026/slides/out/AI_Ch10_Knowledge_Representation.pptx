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media/image10.svg" ContentType="image/svg+xml"/>
  <Override PartName="/ppt/media/image12.svg" ContentType="image/svg+xml"/>
  <Override PartName="/ppt/media/image14.svg" ContentType="image/svg+xml"/>
  <Override PartName="/ppt/media/image16.svg" ContentType="image/svg+xml"/>
  <Override PartName="/ppt/media/image18.svg" ContentType="image/svg+xml"/>
  <Override PartName="/ppt/media/image20.svg" ContentType="image/svg+xml"/>
  <Override PartName="/ppt/media/image22.svg" ContentType="image/svg+xml"/>
  <Override PartName="/ppt/media/image24.svg" ContentType="image/svg+xml"/>
  <Override PartName="/ppt/media/image25.svg" ContentType="image/svg+xml"/>
  <Override PartName="/ppt/media/image26.svg" ContentType="image/svg+xml"/>
  <Override PartName="/ppt/media/image28.svg" ContentType="image/svg+xml"/>
  <Override PartName="/ppt/media/image30.svg" ContentType="image/svg+xml"/>
  <Override PartName="/ppt/media/image31.svg" ContentType="image/svg+xml"/>
  <Override PartName="/ppt/media/image32.svg" ContentType="image/svg+xml"/>
  <Override PartName="/ppt/media/image33.svg" ContentType="image/svg+xml"/>
  <Override PartName="/ppt/media/image34.svg" ContentType="image/svg+xml"/>
  <Override PartName="/ppt/media/image35.svg" ContentType="image/svg+xml"/>
  <Override PartName="/ppt/media/image36.svg" ContentType="image/svg+xml"/>
  <Override PartName="/ppt/media/image37.svg" ContentType="image/svg+xml"/>
  <Override PartName="/ppt/media/image38.svg" ContentType="image/svg+xml"/>
  <Override PartName="/ppt/media/image39.svg" ContentType="image/svg+xml"/>
  <Override PartName="/ppt/media/image4.svg" ContentType="image/svg+xml"/>
  <Override PartName="/ppt/media/image40.svg" ContentType="image/svg+xml"/>
  <Override PartName="/ppt/media/image41.svg" ContentType="image/svg+xml"/>
  <Override PartName="/ppt/media/image42.svg" ContentType="image/svg+xml"/>
  <Override PartName="/ppt/media/image44.svg" ContentType="image/svg+xml"/>
  <Override PartName="/ppt/media/image46.svg" ContentType="image/svg+xml"/>
  <Override PartName="/ppt/media/image47.svg" ContentType="image/svg+xml"/>
  <Override PartName="/ppt/media/image48.svg" ContentType="image/svg+xml"/>
  <Override PartName="/ppt/media/image49.svg" ContentType="image/svg+xml"/>
  <Override PartName="/ppt/media/image50.svg" ContentType="image/svg+xml"/>
  <Override PartName="/ppt/media/image52.svg" ContentType="image/svg+xml"/>
  <Override PartName="/ppt/media/image53.svg" ContentType="image/svg+xml"/>
  <Override PartName="/ppt/media/image55.svg" ContentType="image/svg+xml"/>
  <Override PartName="/ppt/media/image56.svg" ContentType="image/svg+xml"/>
  <Override PartName="/ppt/media/image57.svg" ContentType="image/svg+xml"/>
  <Override PartName="/ppt/media/image58.svg" ContentType="image/svg+xml"/>
  <Override PartName="/ppt/media/image59.svg" ContentType="image/svg+xml"/>
  <Override PartName="/ppt/media/image6.svg" ContentType="image/svg+xml"/>
  <Override PartName="/ppt/media/image8.svg" ContentType="image/svg+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366C5EA5-EC7C-4FEA-B6B7-3D65FCF58990}">
          <p14:sldIdLst>
            <p14:sldId id="256"/>
            <p14:sldId id="257"/>
            <p14:sldId id="258"/>
            <p14:sldId id="259"/>
            <p14:sldId id="260"/>
          </p14:sldIdLst>
        </p14:section>
        <p14:section name="10.1 The Change of Question" id="{CBDEBB8C-FDCE-4BA2-92A1-94A2CEBA2E3F}">
          <p14:sldIdLst>
            <p14:sldId id="261"/>
          </p14:sldIdLst>
        </p14:section>
        <p14:section name="10.2 Semantic Networks" id="{AD04672D-D4D2-4711-856C-E47A46121EAD}">
          <p14:sldIdLst>
            <p14:sldId id="262"/>
          </p14:sldIdLst>
        </p14:section>
        <p14:section name="10.3 Frames, Slots and Defaults" id="{CD74B882-3AEB-4531-AAFE-11F2EF5A8261}">
          <p14:sldIdLst>
            <p14:sldId id="263"/>
            <p14:sldId id="264"/>
            <p14:sldId id="265"/>
          </p14:sldIdLst>
        </p14:section>
        <p14:section name="10.4 When Inheritance Has No Answer" id="{D6D59B2A-B928-47F0-B6B4-8CF7A6D86472}">
          <p14:sldIdLst>
            <p14:sldId id="266"/>
          </p14:sldIdLst>
        </p14:section>
        <p14:section name="10.5 Ontologies" id="{DAA31681-67F0-4FA1-9E9E-1F77817ED9DE}">
          <p14:sldIdLst>
            <p14:sldId id="267"/>
          </p14:sldIdLst>
        </p14:section>
        <p14:section name="10.6 Where This Course Stops" id="{674601A2-921B-44E6-8E57-ECD7197D9960}">
          <p14:sldIdLst>
            <p14:sldId id="268"/>
            <p14:sldId id="269"/>
            <p14:sldId id="270"/>
          </p14:sldIdLst>
        </p14:section>
        <p14:section name="Pitfalls" id="{815C6E89-3118-44F6-8C0B-8236D709D8E8}">
          <p14:sldIdLst>
            <p14:sldId id="271"/>
          </p14:sldIdLst>
        </p14:section>
        <p14:section name="Lab" id="{E2FCDA65-B487-4289-A603-AB8DF55B3288}">
          <p14:sldIdLst>
            <p14:sldId id="272"/>
            <p14:sldId id="273"/>
            <p14:sldId id="274"/>
            <p14:sldId id="275"/>
            <p14:sldId id="276"/>
            <p14:sldId id="277"/>
            <p14:sldId id="278"/>
            <p14:sldId id="279"/>
            <p14:sldId id="280"/>
            <p14:sldId id="281"/>
            <p14:sldId id="282"/>
            <p14:sldId id="283"/>
            <p14:sldId id="284"/>
          </p14:sldIdLst>
        </p14:section>
        <p14:section name="Checkpoint" id="{B725C06B-612B-40E0-818A-B41AE39C7EBB}">
          <p14:sldIdLst>
            <p14:sldId id="285"/>
            <p14:sldId id="286"/>
            <p14:sldId id="287"/>
            <p14:sldId id="288"/>
            <p14:sldId id="289"/>
            <p14:sldId id="290"/>
          </p14:sldIdLst>
        </p14:section>
        <p14:section name="Wrap-up" id="{BA0AA2B6-01A7-4596-BA93-97282366CD8B}">
          <p14:sldIdLst>
            <p14:sldId id="291"/>
            <p14:sldId id="292"/>
            <p14:sldId id="293"/>
            <p14:sldId id="294"/>
            <p14:sldId id="295"/>
            <p14:sldId id="296"/>
            <p14:sldId id="297"/>
            <p14:sldId id="298"/>
          </p14:sldIdLst>
        </p14:section>
      </p14:section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Chapter 10: Knowledge Representation. Part 4 — Knowledge, Logic and Reasoning. Week 9: Knowledge representation. Handout pages 101–109.</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Place the chapter. Before you start: Chapter 3 (dictionaries, sets and recursion) and Chapter 1 (the third test of the checklist: an explicit representation a domain expert could read and correct). No logic is assumed — Chapter 11 makes formal what this chapter introduces informally.</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 these out: they are the chapter's contract with the room. Each click adds one.</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 not define these now; they arrive one at a time. This slide is for the students' notes. Terms: knowledge representation; ontological commitment; epistemological adequacy; semantic network; node and link; is-a; instance-of; inheritance; frame; slot; filler; default; override; non-monotonic reasoning; multiple inheritance; ontology; taxonomy.</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route through the chapter. Each row is a link: click it to jump to that section in the slide show.</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Parts II and III asked what should I do. Every algorithm took a goal and searched for a sequence of actions. The knowledge was implicit: buried in a successor function, a constraint predicate, an operator table. Part IV asks a different question: what follows from what I have been told. The delivery team knows a great many things — that a hotfix is a kind of release, that every release needs a sign-off, that Ayesha owns the payments service, that releases normally go out on Thursdays except this one. None of that is a goal. It is what the organisation knows, and the useful question is what else must therefore be true. That change is why this part exists, and it has a practical consequence worth stating at the start: a representation can be corrected by someone who cannot program. An operations lead can tell you that a hotfix does not need a full regression pass. If that fact lives in a data structure, they can point at it. If it lives in an if statement, they cannot.</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oldest and simplest representation: a graph. Nodes are concepts or individuals; labelled edges are relations between them. Two link types carry most of the weight: is-a, relating a class to a more general class, and instance-of, relating an individual to its class.</a:t>
            </a:r>
          </a:p>
          <a:p/>
          <a:p>
            <a:r>
              <a:t>Figure 10.1 (handout p. 102): A fragment of a delivery ontology. Rounded boxes are individuals, square boxes are classes; solid arrows are is-a, dashed are instance-of.</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Pause. Name the question this section answers.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Inheritance is cheap, and it is the whole reason the representation is worth having: a property stated once at Release is available to every hotfix and every major release, without being repeated and — more importantly — without being repeated inconsistently. A semantic network drawn as a graph becomes unreadable at a few hundred nodes. The same information organised by concept is a frame: a named bundle of slots, each with a filler or a default.</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Ask for Release 4.7’s regression-pass. It has none of its own, so the search goes to Hotfix, which says smoke, and stops. Ask for needs-signoff: Release 4.7 has none, Hotfix has none, Release says yes. The rule is the most specific value wins, and it falls out of searching upward and stopping at the first hit.</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Defaults are convenient until a concept inherits from two places that disagree.</a:t>
            </a:r>
          </a:p>
          <a:p/>
          <a:p>
            <a:r>
              <a:t>Figure 10.2 (handout p. 104): A multiple-inheritance conflict — the “Nixon diamond” of the literature, in a delivery setting. The lab detects it rather than guessing.</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this in your own words first; the slide is the handout's wording.</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chapter is a first pass, deliberately. Everything after it in this handout uses semantic networks and frames as the thing reasoned over: Chapter 11 and Chapter 12 give inference a formal footing, and Chapter 13 turns a frame base plus rules into a working system. What this course does not cover is the formal side of representation itself: description logic, reasoning over description logic, ontology languages such as OWL, logical agents and commonsense reasoning. Those are the content of the HEC elective Knowledge Representation and Reasoning, for which this course is the prerequisite; Appendix F sets out the line.</a:t>
            </a:r>
          </a:p>
          <a:p/>
          <a:p>
            <a:r>
              <a:t>Each click adds one step of the working. Ask for the next number before you reveal it.</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Each click adds one step of the working. Ask for the next number before you reveal it.</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Each click adds one step of the working. Ask for the next number before you reveal it.</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For each pitfall, ask who has seen it happen. One real story beats five bullets.</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Frames in a dictionary, inheritance by walking upward, defaults with override, and a conflict that is detected rather than guessed.</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Step 1: Set-up. Read the code aloud; ask what each line would print before running it.</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Step 2: Set-up (continued). Read the code aloud; ask what each line would print before running it.</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Step 3: Set-up (continued). Read the code aloud; ask what each line would print before running it.</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Step 4: Set-up (continued). Read the code aloud; ask what each line would print before running it.</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Step 5: Set-up (continued). Read the code aloud; ask what each line would print before running it.</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Step 6: Set-up (continued). Read the code aloud; ask what each line would print before running it.</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Step 7: Set-up (continued). Read the code aloud; ask what each line would print before running it.</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Step 8: Set-up (continued). Read the code aloud; ask what each line would print before running it.</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Step 9: Set-up (continued). Read the code aloud; ask what each line would print before running it.</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Step 10: Now add a second, equally specific parent. Read the code aloud; ask what each line would print before running it.</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Step 11: Now add a second, equally specific parent (continued). Read the code aloud; ask what each line would print before running it.</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 the box aloud, then ask for an example from the room before moving on.</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Ask the room. Do not advance until someone commits to an answer.</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Answer (Appendix D): The walk starts at Release 4.7, finds no local regression-pass, moves to Hotfix, finds smoke, and stops. Release is never consulted, so its full never competes. “Most specific wins” does not have to be stated as a rule because it is a consequence of the search order: the walk goes from specific to general and halts at the first hit.</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Ask the room. Do not advance until someone commits to an answer.</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Answer (Appendix D): Non-monotonicity — adding knowledge removed a conclusion. Classical logic does not have it: entailment is defined as truth in every model of the knowledge base, and adding a sentence can only rule models out, so the set of entailed conclusions can only grow. That is exactly the trade Chapter 11 makes — it gains soundness and loses the ability to say “normally”.</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Ask the room. Do not advance until someone commits to an answer.</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Answer (Appendix D): A semantic network with defaults can express normally: “releases go out on Thursdays” with hotfixes excepted, without the exception making the knowledge base inconsistent. Written as a universally quantified sentence that claim is simply false, and adding one hotfix makes the knowledge base contradictory. What logic can do and the network cannot is derive guaranteed consequences: a sound procedure over logic gives conclusions that hold in every model, whereas an inheritance walk gives whatever the nearest ancestor happened to say, with no guarantee it is consistent with anything else in the network.</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Ask the room to say each takeaway before you reveal it.</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Ask the room to say each takeaway before you reveal it.</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 a show of hands for each option before discussing. (The handout does not print MCQ answers.)</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 a show of hands for each option before discussing. (The handout does not print MCQ answers.)</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 a show of hands for each option before discussing. (The handout does not print MCQ answers.)</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 a show of hands for each option before discussing. (The handout does not print MCQ answers.)</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Set these for independent study. Model answers are not printed in the handout.</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Close. NEXT: Chapter 11 — Propositional Logic and Inference. READ: Handout Chapter 10, pages 101–109. THIS WEEK'S LAB: A semantic network that answers queries.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457200" rtl="0" eaLnBrk="1" latinLnBrk="0" hangingPunct="1">
        <a:spcBef>
          <a:spcPct val="0"/>
        </a:spcBef>
        <a:buNone/>
        <a:defRPr sz="3000" kern="1200" b="0">
          <a:solidFill>
            <a:srgbClr val="1A5276"/>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3.png"/><Relationship Id="rId3" Type="http://schemas.openxmlformats.org/officeDocument/2006/relationships/image" Target="../media/image4.svg"/><Relationship Id="rId4"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5.png"/><Relationship Id="rId3" Type="http://schemas.openxmlformats.org/officeDocument/2006/relationships/image" Target="../media/image6.svg"/><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7.png"/><Relationship Id="rId3" Type="http://schemas.openxmlformats.org/officeDocument/2006/relationships/image" Target="../media/image8.svg"/><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9.png"/><Relationship Id="rId3" Type="http://schemas.openxmlformats.org/officeDocument/2006/relationships/image" Target="../media/image10.svg"/><Relationship Id="rId4" Type="http://schemas.openxmlformats.org/officeDocument/2006/relationships/notesSlide" Target="../notesSlides/notesSlide5.xml"/><Relationship Id="rId5" Type="http://schemas.openxmlformats.org/officeDocument/2006/relationships/slide" Target="slide6.xml"/><Relationship Id="rId6" Type="http://schemas.openxmlformats.org/officeDocument/2006/relationships/slide" Target="slide7.xml"/><Relationship Id="rId7" Type="http://schemas.openxmlformats.org/officeDocument/2006/relationships/slide" Target="slide8.xml"/><Relationship Id="rId8" Type="http://schemas.openxmlformats.org/officeDocument/2006/relationships/slide" Target="slide11.xml"/><Relationship Id="rId9" Type="http://schemas.openxmlformats.org/officeDocument/2006/relationships/slide" Target="slide12.xml"/><Relationship Id="rId10" Type="http://schemas.openxmlformats.org/officeDocument/2006/relationships/slide" Target="slide13.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1.png"/><Relationship Id="rId3" Type="http://schemas.openxmlformats.org/officeDocument/2006/relationships/image" Target="../media/image12.svg"/><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3.png"/><Relationship Id="rId3" Type="http://schemas.openxmlformats.org/officeDocument/2006/relationships/image" Target="../media/image14.svg"/><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5.png"/><Relationship Id="rId3" Type="http://schemas.openxmlformats.org/officeDocument/2006/relationships/image" Target="../media/image16.svg"/><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7.png"/><Relationship Id="rId3" Type="http://schemas.openxmlformats.org/officeDocument/2006/relationships/image" Target="../media/image18.svg"/><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9.png"/><Relationship Id="rId3" Type="http://schemas.openxmlformats.org/officeDocument/2006/relationships/image" Target="../media/image20.svg"/><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21.png"/><Relationship Id="rId3" Type="http://schemas.openxmlformats.org/officeDocument/2006/relationships/image" Target="../media/image22.svg"/><Relationship Id="rId4"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23.png"/><Relationship Id="rId3" Type="http://schemas.openxmlformats.org/officeDocument/2006/relationships/image" Target="../media/image24.svg"/><Relationship Id="rId4"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23.png"/><Relationship Id="rId3" Type="http://schemas.openxmlformats.org/officeDocument/2006/relationships/image" Target="../media/image25.svg"/><Relationship Id="rId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23.png"/><Relationship Id="rId3" Type="http://schemas.openxmlformats.org/officeDocument/2006/relationships/image" Target="../media/image26.svg"/><Relationship Id="rId4"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27.png"/><Relationship Id="rId3" Type="http://schemas.openxmlformats.org/officeDocument/2006/relationships/image" Target="../media/image28.svg"/><Relationship Id="rId4"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29.png"/><Relationship Id="rId3" Type="http://schemas.openxmlformats.org/officeDocument/2006/relationships/image" Target="../media/image30.svg"/><Relationship Id="rId4"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29.png"/><Relationship Id="rId3" Type="http://schemas.openxmlformats.org/officeDocument/2006/relationships/image" Target="../media/image31.svg"/><Relationship Id="rId4"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29.png"/><Relationship Id="rId3" Type="http://schemas.openxmlformats.org/officeDocument/2006/relationships/image" Target="../media/image32.svg"/><Relationship Id="rId4"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29.png"/><Relationship Id="rId3" Type="http://schemas.openxmlformats.org/officeDocument/2006/relationships/image" Target="../media/image33.svg"/><Relationship Id="rId4"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29.png"/><Relationship Id="rId3" Type="http://schemas.openxmlformats.org/officeDocument/2006/relationships/image" Target="../media/image34.svg"/><Relationship Id="rId4"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29.png"/><Relationship Id="rId3" Type="http://schemas.openxmlformats.org/officeDocument/2006/relationships/image" Target="../media/image35.svg"/><Relationship Id="rId4"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29.png"/><Relationship Id="rId3" Type="http://schemas.openxmlformats.org/officeDocument/2006/relationships/image" Target="../media/image36.svg"/><Relationship Id="rId4"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29.png"/><Relationship Id="rId3" Type="http://schemas.openxmlformats.org/officeDocument/2006/relationships/image" Target="../media/image37.svg"/><Relationship Id="rId4"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29.png"/><Relationship Id="rId3" Type="http://schemas.openxmlformats.org/officeDocument/2006/relationships/image" Target="../media/image38.svg"/><Relationship Id="rId4"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29.png"/><Relationship Id="rId3" Type="http://schemas.openxmlformats.org/officeDocument/2006/relationships/image" Target="../media/image39.svg"/><Relationship Id="rId4"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29.png"/><Relationship Id="rId3" Type="http://schemas.openxmlformats.org/officeDocument/2006/relationships/image" Target="../media/image40.svg"/><Relationship Id="rId4"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29.png"/><Relationship Id="rId3" Type="http://schemas.openxmlformats.org/officeDocument/2006/relationships/image" Target="../media/image41.svg"/><Relationship Id="rId4"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29.png"/><Relationship Id="rId3" Type="http://schemas.openxmlformats.org/officeDocument/2006/relationships/image" Target="../media/image42.svg"/><Relationship Id="rId4"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43.png"/><Relationship Id="rId3" Type="http://schemas.openxmlformats.org/officeDocument/2006/relationships/image" Target="../media/image44.svg"/><Relationship Id="rId4"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45.png"/><Relationship Id="rId3" Type="http://schemas.openxmlformats.org/officeDocument/2006/relationships/image" Target="../media/image46.svg"/><Relationship Id="rId4"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43.png"/><Relationship Id="rId3" Type="http://schemas.openxmlformats.org/officeDocument/2006/relationships/image" Target="../media/image47.svg"/><Relationship Id="rId4"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45.png"/><Relationship Id="rId3" Type="http://schemas.openxmlformats.org/officeDocument/2006/relationships/image" Target="../media/image48.svg"/><Relationship Id="rId4"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43.png"/><Relationship Id="rId3" Type="http://schemas.openxmlformats.org/officeDocument/2006/relationships/image" Target="../media/image49.svg"/><Relationship Id="rId4"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45.png"/><Relationship Id="rId3" Type="http://schemas.openxmlformats.org/officeDocument/2006/relationships/image" Target="../media/image50.svg"/><Relationship Id="rId4"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51.png"/><Relationship Id="rId3" Type="http://schemas.openxmlformats.org/officeDocument/2006/relationships/image" Target="../media/image52.svg"/><Relationship Id="rId4"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51.png"/><Relationship Id="rId3" Type="http://schemas.openxmlformats.org/officeDocument/2006/relationships/image" Target="../media/image53.svg"/><Relationship Id="rId4"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54.png"/><Relationship Id="rId3" Type="http://schemas.openxmlformats.org/officeDocument/2006/relationships/image" Target="../media/image55.svg"/><Relationship Id="rId4"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54.png"/><Relationship Id="rId3" Type="http://schemas.openxmlformats.org/officeDocument/2006/relationships/image" Target="../media/image56.svg"/><Relationship Id="rId4"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54.png"/><Relationship Id="rId3" Type="http://schemas.openxmlformats.org/officeDocument/2006/relationships/image" Target="../media/image57.svg"/><Relationship Id="rId4"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54.png"/><Relationship Id="rId3" Type="http://schemas.openxmlformats.org/officeDocument/2006/relationships/image" Target="../media/image58.svg"/><Relationship Id="rId4"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54.png"/><Relationship Id="rId3" Type="http://schemas.openxmlformats.org/officeDocument/2006/relationships/image" Target="../media/image59.svg"/><Relationship Id="rId4"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3.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7A3A95"/>
        </a:solidFill>
        <a:effectLst/>
      </p:bgPr>
    </p:bg>
    <p:spTree>
      <p:nvGrpSpPr>
        <p:cNvPr id="1" name=""/>
        <p:cNvGrpSpPr/>
        <p:nvPr/>
      </p:nvGrpSpPr>
      <p:grpSpPr/>
      <p:sp>
        <p:nvSpPr>
          <p:cNvPr id="3" name="!!wm">
            <a:extLst>
              <a:ext uri="{C183D7F6-B498-43B3-948B-1728B52AA6E4}">
                <adec:decorative xmlns:adec="http://schemas.microsoft.com/office/drawing/2017/decorative" val="1"/>
              </a:ext>
            </a:extLst>
          </p:cNvPr>
          <p:cNvSpPr txBox="1"/>
          <p:nvPr/>
        </p:nvSpPr>
        <p:spPr>
          <a:xfrm>
            <a:off x="6430975" y="-502920"/>
            <a:ext cx="5486400" cy="4572000"/>
          </a:xfrm>
          <a:prstGeom prst="rect">
            <a:avLst/>
          </a:prstGeom>
          <a:noFill/>
        </p:spPr>
        <p:txBody>
          <a:bodyPr wrap="square" anchor="t" lIns="0" rIns="0" tIns="0" bIns="0">
            <a:noAutofit/>
          </a:bodyPr>
          <a:lstStyle/>
          <a:p>
            <a:pPr algn="r">
              <a:lnSpc>
                <a:spcPct val="100000"/>
              </a:lnSpc>
              <a:spcBef>
                <a:spcPts val="0"/>
              </a:spcBef>
              <a:spcAft>
                <a:spcPts val="0"/>
              </a:spcAft>
            </a:pPr>
            <a:r>
              <a:rPr sz="28000" b="0" i="0">
                <a:solidFill>
                  <a:srgbClr val="874EA0"/>
                </a:solidFill>
                <a:latin typeface="Segoe UI Black"/>
              </a:rPr>
              <a:t>10</a:t>
            </a:r>
          </a:p>
        </p:txBody>
      </p:sp>
      <p:sp>
        <p:nvSpPr>
          <p:cNvPr id="2" name="!!title"/>
          <p:cNvSpPr>
            <a:spLocks noGrp="1"/>
          </p:cNvSpPr>
          <p:nvPr>
            <p:ph type="title"/>
          </p:nvPr>
        </p:nvSpPr>
        <p:spPr>
          <a:xfrm>
            <a:off x="658368" y="2304288"/>
            <a:ext cx="8503920" cy="1920240"/>
          </a:xfrm>
        </p:spPr>
        <p:txBody>
          <a:bodyPr wrap="square" lIns="0" rIns="0" tIns="0" bIns="0" anchor="t">
            <a:noAutofit/>
          </a:bodyPr>
          <a:lstStyle/>
          <a:p>
            <a:pPr algn="l">
              <a:lnSpc>
                <a:spcPct val="96000"/>
              </a:lnSpc>
            </a:pPr>
            <a:r>
              <a:rPr sz="4600" b="0">
                <a:solidFill>
                  <a:srgbClr val="FFFFFF"/>
                </a:solidFill>
                <a:latin typeface="Segoe UI Semibold"/>
              </a:rPr>
              <a:t>Knowledge Representation</a:t>
            </a:r>
          </a:p>
        </p:txBody>
      </p:sp>
      <p:sp>
        <p:nvSpPr>
          <p:cNvPr id="4" name="!!tbar">
            <a:extLst>
              <a:ext uri="{C183D7F6-B498-43B3-948B-1728B52AA6E4}">
                <adec:decorative xmlns:adec="http://schemas.microsoft.com/office/drawing/2017/decorative" val="1"/>
              </a:ext>
            </a:extLst>
          </p:cNvPr>
          <p:cNvSpPr/>
          <p:nvPr/>
        </p:nvSpPr>
        <p:spPr>
          <a:xfrm>
            <a:off x="658368" y="1298448"/>
            <a:ext cx="822960" cy="6400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 name="!!tpart"/>
          <p:cNvSpPr txBox="1"/>
          <p:nvPr/>
        </p:nvSpPr>
        <p:spPr>
          <a:xfrm>
            <a:off x="658368" y="1517904"/>
            <a:ext cx="8686800" cy="292608"/>
          </a:xfrm>
          <a:prstGeom prst="rect">
            <a:avLst/>
          </a:prstGeom>
          <a:noFill/>
        </p:spPr>
        <p:txBody>
          <a:bodyPr wrap="square" anchor="t" lIns="0" rIns="0" tIns="0" bIns="0">
            <a:noAutofit/>
          </a:bodyPr>
          <a:lstStyle/>
          <a:p>
            <a:pPr algn="l">
              <a:lnSpc>
                <a:spcPct val="100000"/>
              </a:lnSpc>
              <a:spcBef>
                <a:spcPts val="0"/>
              </a:spcBef>
              <a:spcAft>
                <a:spcPts val="0"/>
              </a:spcAft>
            </a:pPr>
            <a:r>
              <a:rPr sz="1300" b="1" i="0" spc="180">
                <a:solidFill>
                  <a:srgbClr val="DAC8E1"/>
                </a:solidFill>
                <a:latin typeface="Segoe UI"/>
              </a:rPr>
              <a:t>PART IV  ·  KNOWLEDGE, LOGIC AND REASONING</a:t>
            </a:r>
          </a:p>
        </p:txBody>
      </p:sp>
      <p:sp>
        <p:nvSpPr>
          <p:cNvPr id="6" name="!!tch"/>
          <p:cNvSpPr txBox="1"/>
          <p:nvPr/>
        </p:nvSpPr>
        <p:spPr>
          <a:xfrm>
            <a:off x="658368" y="1865376"/>
            <a:ext cx="8686800" cy="292608"/>
          </a:xfrm>
          <a:prstGeom prst="rect">
            <a:avLst/>
          </a:prstGeom>
          <a:noFill/>
        </p:spPr>
        <p:txBody>
          <a:bodyPr wrap="square" anchor="t" lIns="0" rIns="0" tIns="0" bIns="0">
            <a:noAutofit/>
          </a:bodyPr>
          <a:lstStyle/>
          <a:p>
            <a:pPr algn="l">
              <a:lnSpc>
                <a:spcPct val="100000"/>
              </a:lnSpc>
              <a:spcBef>
                <a:spcPts val="0"/>
              </a:spcBef>
              <a:spcAft>
                <a:spcPts val="0"/>
              </a:spcAft>
            </a:pPr>
            <a:r>
              <a:rPr sz="1300" b="1" i="0" spc="180">
                <a:solidFill>
                  <a:srgbClr val="DAC8E1"/>
                </a:solidFill>
                <a:latin typeface="Segoe UI"/>
              </a:rPr>
              <a:t>CHAPTER 10  ·  WEEK 9</a:t>
            </a:r>
          </a:p>
        </p:txBody>
      </p:sp>
      <p:sp>
        <p:nvSpPr>
          <p:cNvPr id="7" name="!!tsub"/>
          <p:cNvSpPr txBox="1"/>
          <p:nvPr/>
        </p:nvSpPr>
        <p:spPr>
          <a:xfrm>
            <a:off x="658368" y="4315968"/>
            <a:ext cx="8503920" cy="329184"/>
          </a:xfrm>
          <a:prstGeom prst="rect">
            <a:avLst/>
          </a:prstGeom>
          <a:noFill/>
        </p:spPr>
        <p:txBody>
          <a:bodyPr wrap="square" anchor="t" lIns="0" rIns="0" tIns="0" bIns="0">
            <a:noAutofit/>
          </a:bodyPr>
          <a:lstStyle/>
          <a:p>
            <a:pPr algn="l">
              <a:lnSpc>
                <a:spcPct val="100000"/>
              </a:lnSpc>
              <a:spcBef>
                <a:spcPts val="0"/>
              </a:spcBef>
              <a:spcAft>
                <a:spcPts val="0"/>
              </a:spcAft>
            </a:pPr>
            <a:r>
              <a:rPr sz="1600" b="0" i="0">
                <a:solidFill>
                  <a:srgbClr val="E4D8EA"/>
                </a:solidFill>
                <a:latin typeface="Segoe UI"/>
              </a:rPr>
              <a:t>Artificial Intelligence — Search, Knowledge and Reasoning</a:t>
            </a:r>
          </a:p>
        </p:txBody>
      </p:sp>
      <p:sp>
        <p:nvSpPr>
          <p:cNvPr id="8" name="!!band">
            <a:extLst>
              <a:ext uri="{C183D7F6-B498-43B3-948B-1728B52AA6E4}">
                <adec:decorative xmlns:adec="http://schemas.microsoft.com/office/drawing/2017/decorative" val="1"/>
              </a:ext>
            </a:extLst>
          </p:cNvPr>
          <p:cNvSpPr/>
          <p:nvPr/>
        </p:nvSpPr>
        <p:spPr>
          <a:xfrm>
            <a:off x="0" y="5285232"/>
            <a:ext cx="12191695" cy="1572767"/>
          </a:xfrm>
          <a:prstGeom prst="rect">
            <a:avLst/>
          </a:prstGeom>
          <a:solidFill>
            <a:srgbClr val="582A6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9" name="!!lab"/>
          <p:cNvSpPr txBox="1"/>
          <p:nvPr/>
        </p:nvSpPr>
        <p:spPr>
          <a:xfrm>
            <a:off x="658368" y="5541264"/>
            <a:ext cx="4572000" cy="237744"/>
          </a:xfrm>
          <a:prstGeom prst="rect">
            <a:avLst/>
          </a:prstGeom>
          <a:noFill/>
        </p:spPr>
        <p:txBody>
          <a:bodyPr wrap="square" anchor="t" lIns="0" rIns="0" tIns="0" bIns="0">
            <a:noAutofit/>
          </a:bodyPr>
          <a:lstStyle/>
          <a:p>
            <a:pPr algn="l">
              <a:lnSpc>
                <a:spcPct val="100000"/>
              </a:lnSpc>
              <a:spcBef>
                <a:spcPts val="0"/>
              </a:spcBef>
              <a:spcAft>
                <a:spcPts val="0"/>
              </a:spcAft>
            </a:pPr>
            <a:r>
              <a:rPr sz="1050" b="1" i="0" spc="160">
                <a:solidFill>
                  <a:srgbClr val="C0AEC7"/>
                </a:solidFill>
                <a:latin typeface="Segoe UI"/>
              </a:rPr>
              <a:t>LECTURER</a:t>
            </a:r>
          </a:p>
        </p:txBody>
      </p:sp>
      <p:sp>
        <p:nvSpPr>
          <p:cNvPr id="10" name="!!author"/>
          <p:cNvSpPr txBox="1"/>
          <p:nvPr/>
        </p:nvSpPr>
        <p:spPr>
          <a:xfrm>
            <a:off x="658368" y="5779008"/>
            <a:ext cx="5486400" cy="365760"/>
          </a:xfrm>
          <a:prstGeom prst="rect">
            <a:avLst/>
          </a:prstGeom>
          <a:noFill/>
        </p:spPr>
        <p:txBody>
          <a:bodyPr wrap="square" anchor="t" lIns="0" rIns="0" tIns="0" bIns="0">
            <a:noAutofit/>
          </a:bodyPr>
          <a:lstStyle/>
          <a:p>
            <a:pPr algn="l">
              <a:lnSpc>
                <a:spcPct val="100000"/>
              </a:lnSpc>
              <a:spcBef>
                <a:spcPts val="0"/>
              </a:spcBef>
              <a:spcAft>
                <a:spcPts val="0"/>
              </a:spcAft>
            </a:pPr>
            <a:r>
              <a:rPr sz="1900" b="1" i="0">
                <a:solidFill>
                  <a:srgbClr val="FFFFFF"/>
                </a:solidFill>
                <a:latin typeface="Segoe UI Semibold"/>
              </a:rPr>
              <a:t>Dr. Mustafa Hameed</a:t>
            </a:r>
          </a:p>
        </p:txBody>
      </p:sp>
      <p:sp>
        <p:nvSpPr>
          <p:cNvPr id="11" name="!!dept"/>
          <p:cNvSpPr txBox="1"/>
          <p:nvPr/>
        </p:nvSpPr>
        <p:spPr>
          <a:xfrm>
            <a:off x="658368" y="6181344"/>
            <a:ext cx="5852160" cy="274320"/>
          </a:xfrm>
          <a:prstGeom prst="rect">
            <a:avLst/>
          </a:prstGeom>
          <a:noFill/>
        </p:spPr>
        <p:txBody>
          <a:bodyPr wrap="square" anchor="t" lIns="0" rIns="0" tIns="0" bIns="0">
            <a:noAutofit/>
          </a:bodyPr>
          <a:lstStyle/>
          <a:p>
            <a:pPr algn="l">
              <a:lnSpc>
                <a:spcPct val="100000"/>
              </a:lnSpc>
              <a:spcBef>
                <a:spcPts val="0"/>
              </a:spcBef>
              <a:spcAft>
                <a:spcPts val="0"/>
              </a:spcAft>
            </a:pPr>
            <a:r>
              <a:rPr sz="1200" b="0" i="0">
                <a:solidFill>
                  <a:srgbClr val="D0C3D6"/>
                </a:solidFill>
                <a:latin typeface="Segoe UI"/>
              </a:rPr>
              <a:t>Department of Information Technology  ·  BSIT · Fall 2026</a:t>
            </a:r>
          </a:p>
        </p:txBody>
      </p:sp>
      <p:sp>
        <p:nvSpPr>
          <p:cNvPr id="12" name="!!uni"/>
          <p:cNvSpPr txBox="1"/>
          <p:nvPr/>
        </p:nvSpPr>
        <p:spPr>
          <a:xfrm>
            <a:off x="5205818" y="5687568"/>
            <a:ext cx="4023360" cy="274320"/>
          </a:xfrm>
          <a:prstGeom prst="rect">
            <a:avLst/>
          </a:prstGeom>
          <a:noFill/>
        </p:spPr>
        <p:txBody>
          <a:bodyPr wrap="square" anchor="t" lIns="0" rIns="0" tIns="0" bIns="0">
            <a:noAutofit/>
          </a:bodyPr>
          <a:lstStyle/>
          <a:p>
            <a:pPr algn="r">
              <a:lnSpc>
                <a:spcPct val="100000"/>
              </a:lnSpc>
              <a:spcBef>
                <a:spcPts val="0"/>
              </a:spcBef>
              <a:spcAft>
                <a:spcPts val="0"/>
              </a:spcAft>
            </a:pPr>
            <a:r>
              <a:rPr sz="1150" b="1" i="0" spc="60">
                <a:solidFill>
                  <a:srgbClr val="FFFFFF"/>
                </a:solidFill>
                <a:latin typeface="Segoe UI"/>
              </a:rPr>
              <a:t>THE ISLAMIA UNIVERSITY OF BAHAWALPUR</a:t>
            </a:r>
          </a:p>
        </p:txBody>
      </p:sp>
      <p:sp>
        <p:nvSpPr>
          <p:cNvPr id="13" name="!!uni2"/>
          <p:cNvSpPr txBox="1"/>
          <p:nvPr/>
        </p:nvSpPr>
        <p:spPr>
          <a:xfrm>
            <a:off x="5205818" y="5961888"/>
            <a:ext cx="4023360" cy="274320"/>
          </a:xfrm>
          <a:prstGeom prst="rect">
            <a:avLst/>
          </a:prstGeom>
          <a:noFill/>
        </p:spPr>
        <p:txBody>
          <a:bodyPr wrap="square" anchor="t" lIns="0" rIns="0" tIns="0" bIns="0">
            <a:noAutofit/>
          </a:bodyPr>
          <a:lstStyle/>
          <a:p>
            <a:pPr algn="r">
              <a:lnSpc>
                <a:spcPct val="100000"/>
              </a:lnSpc>
              <a:spcBef>
                <a:spcPts val="0"/>
              </a:spcBef>
              <a:spcAft>
                <a:spcPts val="0"/>
              </a:spcAft>
            </a:pPr>
            <a:r>
              <a:rPr sz="1050" b="0" i="0">
                <a:solidFill>
                  <a:srgbClr val="C0AEC7"/>
                </a:solidFill>
                <a:latin typeface="Segoe UI"/>
              </a:rPr>
              <a:t>Bahawalpur, Pakistan</a:t>
            </a:r>
          </a:p>
        </p:txBody>
      </p:sp>
      <p:pic>
        <p:nvPicPr>
          <p:cNvPr id="14" name="!!logo-iub-logo-white" descr="The Islamia University of Bahawalpur"/>
          <p:cNvPicPr>
            <a:picLocks noChangeAspect="1"/>
          </p:cNvPicPr>
          <p:nvPr/>
        </p:nvPicPr>
        <p:blipFill>
          <a:blip r:embed="rId2"/>
          <a:stretch>
            <a:fillRect/>
          </a:stretch>
        </p:blipFill>
        <p:spPr>
          <a:xfrm>
            <a:off x="9503498" y="5486400"/>
            <a:ext cx="904084" cy="896112"/>
          </a:xfrm>
          <a:prstGeom prst="rect">
            <a:avLst/>
          </a:prstGeom>
        </p:spPr>
      </p:pic>
      <p:pic>
        <p:nvPicPr>
          <p:cNvPr id="15" name="!!logo-dit-logo" descr="Department of Information Technology"/>
          <p:cNvPicPr>
            <a:picLocks noChangeAspect="1"/>
          </p:cNvPicPr>
          <p:nvPr/>
        </p:nvPicPr>
        <p:blipFill>
          <a:blip r:embed="rId3"/>
          <a:stretch>
            <a:fillRect/>
          </a:stretch>
        </p:blipFill>
        <p:spPr>
          <a:xfrm>
            <a:off x="10663614" y="5486400"/>
            <a:ext cx="869712" cy="896112"/>
          </a:xfrm>
          <a:prstGeom prst="rect">
            <a:avLst/>
          </a:prstGeom>
        </p:spPr>
      </p:pic>
    </p:spTree>
  </p:cSld>
  <p:clrMapOvr>
    <a:masterClrMapping/>
  </p:clrMapOvr>
  <mc:AlternateContent xmlns:mc="http://schemas.openxmlformats.org/markup-compatibility/2006" xmlns:p14="http://schemas.microsoft.com/office/powerpoint/2010/main">
    <mc:Choice Requires="p14">
      <p:transition spd="med" p14:dur="450">
        <p:fade/>
      </p:transition>
    </mc:Choice>
    <mc:Fallback>
      <p:transition spd="med">
        <p:fade/>
      </p:transition>
    </mc:Fallback>
  </mc:AlternateContent>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3000" b="0">
                <a:solidFill>
                  <a:srgbClr val="1A5276"/>
                </a:solidFill>
                <a:latin typeface="Segoe UI Semibold"/>
              </a:rPr>
              <a:t>Where this chapter sits</a:t>
            </a:r>
          </a:p>
        </p:txBody>
      </p:sp>
      <p:pic>
        <p:nvPicPr>
          <p:cNvPr id="3" name="!!kicker-icon" descr="map-signs-1A5276.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219456"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1A5276"/>
                </a:solidFill>
                <a:latin typeface="Segoe UI"/>
              </a:rPr>
              <a:t>THE COURSE</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Artificial Intelligence  ·  Chapter 10  ·  Knowledge Representation</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Handout p. 101     </a:t>
            </a:r>
            <a:fld id="{A15060D0-9DBE-4E83-88AA-1AD3EA4F5428}" type="slidenum">
              <a:rPr lang="en-GB" sz="1000">
                <a:solidFill>
                  <a:srgbClr val="8795A1"/>
                </a:solidFill>
                <a:latin typeface="Segoe UI"/>
              </a:rPr>
              <a:t>2</a:t>
            </a:fld>
          </a:p>
        </p:txBody>
      </p:sp>
      <p:sp>
        <p:nvSpPr>
          <p:cNvPr id="7" name="!!rp1"/>
          <p:cNvSpPr txBox="1"/>
          <p:nvPr/>
        </p:nvSpPr>
        <p:spPr>
          <a:xfrm>
            <a:off x="777239" y="1755648"/>
            <a:ext cx="1173715" cy="237744"/>
          </a:xfrm>
          <a:prstGeom prst="rect">
            <a:avLst/>
          </a:prstGeom>
          <a:noFill/>
        </p:spPr>
        <p:txBody>
          <a:bodyPr wrap="square" anchor="t" lIns="0" rIns="0" tIns="0" bIns="0">
            <a:noAutofit/>
          </a:bodyPr>
          <a:lstStyle/>
          <a:p>
            <a:pPr algn="ctr">
              <a:lnSpc>
                <a:spcPct val="100000"/>
              </a:lnSpc>
              <a:spcBef>
                <a:spcPts val="0"/>
              </a:spcBef>
              <a:spcAft>
                <a:spcPts val="0"/>
              </a:spcAft>
            </a:pPr>
            <a:r>
              <a:rPr sz="1100" b="1" i="0" spc="120">
                <a:solidFill>
                  <a:srgbClr val="98A4AE"/>
                </a:solidFill>
                <a:latin typeface="Segoe UI"/>
              </a:rPr>
              <a:t>PART I</a:t>
            </a:r>
          </a:p>
        </p:txBody>
      </p:sp>
      <p:sp>
        <p:nvSpPr>
          <p:cNvPr id="8" name="!!rpl1">
            <a:extLst>
              <a:ext uri="{C183D7F6-B498-43B3-948B-1728B52AA6E4}">
                <adec:decorative xmlns:adec="http://schemas.microsoft.com/office/drawing/2017/decorative" val="1"/>
              </a:ext>
            </a:extLst>
          </p:cNvPr>
          <p:cNvSpPr/>
          <p:nvPr/>
        </p:nvSpPr>
        <p:spPr>
          <a:xfrm>
            <a:off x="777239" y="2029967"/>
            <a:ext cx="1173715" cy="27432"/>
          </a:xfrm>
          <a:prstGeom prst="rect">
            <a:avLst/>
          </a:prstGeom>
          <a:solidFill>
            <a:srgbClr val="D9E1E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9" name="!!rp2"/>
          <p:cNvSpPr txBox="1"/>
          <p:nvPr/>
        </p:nvSpPr>
        <p:spPr>
          <a:xfrm>
            <a:off x="2280139" y="1755648"/>
            <a:ext cx="1173715" cy="237744"/>
          </a:xfrm>
          <a:prstGeom prst="rect">
            <a:avLst/>
          </a:prstGeom>
          <a:noFill/>
        </p:spPr>
        <p:txBody>
          <a:bodyPr wrap="square" anchor="t" lIns="0" rIns="0" tIns="0" bIns="0">
            <a:noAutofit/>
          </a:bodyPr>
          <a:lstStyle/>
          <a:p>
            <a:pPr algn="ctr">
              <a:lnSpc>
                <a:spcPct val="100000"/>
              </a:lnSpc>
              <a:spcBef>
                <a:spcPts val="0"/>
              </a:spcBef>
              <a:spcAft>
                <a:spcPts val="0"/>
              </a:spcAft>
            </a:pPr>
            <a:r>
              <a:rPr sz="1100" b="1" i="0" spc="120">
                <a:solidFill>
                  <a:srgbClr val="98A4AE"/>
                </a:solidFill>
                <a:latin typeface="Segoe UI"/>
              </a:rPr>
              <a:t>PART II</a:t>
            </a:r>
          </a:p>
        </p:txBody>
      </p:sp>
      <p:sp>
        <p:nvSpPr>
          <p:cNvPr id="10" name="!!rpl2">
            <a:extLst>
              <a:ext uri="{C183D7F6-B498-43B3-948B-1728B52AA6E4}">
                <adec:decorative xmlns:adec="http://schemas.microsoft.com/office/drawing/2017/decorative" val="1"/>
              </a:ext>
            </a:extLst>
          </p:cNvPr>
          <p:cNvSpPr/>
          <p:nvPr/>
        </p:nvSpPr>
        <p:spPr>
          <a:xfrm>
            <a:off x="2280139" y="2029967"/>
            <a:ext cx="1173715" cy="27432"/>
          </a:xfrm>
          <a:prstGeom prst="rect">
            <a:avLst/>
          </a:prstGeom>
          <a:solidFill>
            <a:srgbClr val="D9E1E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1" name="!!rp3"/>
          <p:cNvSpPr txBox="1"/>
          <p:nvPr/>
        </p:nvSpPr>
        <p:spPr>
          <a:xfrm>
            <a:off x="3783039" y="1755648"/>
            <a:ext cx="1173715" cy="237744"/>
          </a:xfrm>
          <a:prstGeom prst="rect">
            <a:avLst/>
          </a:prstGeom>
          <a:noFill/>
        </p:spPr>
        <p:txBody>
          <a:bodyPr wrap="square" anchor="t" lIns="0" rIns="0" tIns="0" bIns="0">
            <a:noAutofit/>
          </a:bodyPr>
          <a:lstStyle/>
          <a:p>
            <a:pPr algn="ctr">
              <a:lnSpc>
                <a:spcPct val="100000"/>
              </a:lnSpc>
              <a:spcBef>
                <a:spcPts val="0"/>
              </a:spcBef>
              <a:spcAft>
                <a:spcPts val="0"/>
              </a:spcAft>
            </a:pPr>
            <a:r>
              <a:rPr sz="1100" b="1" i="0" spc="120">
                <a:solidFill>
                  <a:srgbClr val="98A4AE"/>
                </a:solidFill>
                <a:latin typeface="Segoe UI"/>
              </a:rPr>
              <a:t>PART III</a:t>
            </a:r>
          </a:p>
        </p:txBody>
      </p:sp>
      <p:sp>
        <p:nvSpPr>
          <p:cNvPr id="12" name="!!rpl3">
            <a:extLst>
              <a:ext uri="{C183D7F6-B498-43B3-948B-1728B52AA6E4}">
                <adec:decorative xmlns:adec="http://schemas.microsoft.com/office/drawing/2017/decorative" val="1"/>
              </a:ext>
            </a:extLst>
          </p:cNvPr>
          <p:cNvSpPr/>
          <p:nvPr/>
        </p:nvSpPr>
        <p:spPr>
          <a:xfrm>
            <a:off x="3783039" y="2029967"/>
            <a:ext cx="1173715" cy="27432"/>
          </a:xfrm>
          <a:prstGeom prst="rect">
            <a:avLst/>
          </a:prstGeom>
          <a:solidFill>
            <a:srgbClr val="D9E1E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3" name="!!rp4"/>
          <p:cNvSpPr txBox="1"/>
          <p:nvPr/>
        </p:nvSpPr>
        <p:spPr>
          <a:xfrm>
            <a:off x="5441386" y="1755648"/>
            <a:ext cx="1738690" cy="237744"/>
          </a:xfrm>
          <a:prstGeom prst="rect">
            <a:avLst/>
          </a:prstGeom>
          <a:noFill/>
        </p:spPr>
        <p:txBody>
          <a:bodyPr wrap="square" anchor="t" lIns="0" rIns="0" tIns="0" bIns="0">
            <a:noAutofit/>
          </a:bodyPr>
          <a:lstStyle/>
          <a:p>
            <a:pPr algn="ctr">
              <a:lnSpc>
                <a:spcPct val="100000"/>
              </a:lnSpc>
              <a:spcBef>
                <a:spcPts val="0"/>
              </a:spcBef>
              <a:spcAft>
                <a:spcPts val="0"/>
              </a:spcAft>
            </a:pPr>
            <a:r>
              <a:rPr sz="1100" b="1" i="0" spc="120">
                <a:solidFill>
                  <a:srgbClr val="7A3A95"/>
                </a:solidFill>
                <a:latin typeface="Segoe UI"/>
              </a:rPr>
              <a:t>PART IV</a:t>
            </a:r>
          </a:p>
        </p:txBody>
      </p:sp>
      <p:sp>
        <p:nvSpPr>
          <p:cNvPr id="14" name="!!rpl4">
            <a:extLst>
              <a:ext uri="{C183D7F6-B498-43B3-948B-1728B52AA6E4}">
                <adec:decorative xmlns:adec="http://schemas.microsoft.com/office/drawing/2017/decorative" val="1"/>
              </a:ext>
            </a:extLst>
          </p:cNvPr>
          <p:cNvSpPr/>
          <p:nvPr/>
        </p:nvSpPr>
        <p:spPr>
          <a:xfrm>
            <a:off x="5441386" y="2029967"/>
            <a:ext cx="1738690" cy="45720"/>
          </a:xfrm>
          <a:prstGeom prst="rect">
            <a:avLst/>
          </a:prstGeom>
          <a:solidFill>
            <a:srgbClr val="7A3A9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5" name="!!rp5"/>
          <p:cNvSpPr txBox="1"/>
          <p:nvPr/>
        </p:nvSpPr>
        <p:spPr>
          <a:xfrm>
            <a:off x="7509260" y="1755648"/>
            <a:ext cx="1173715" cy="237744"/>
          </a:xfrm>
          <a:prstGeom prst="rect">
            <a:avLst/>
          </a:prstGeom>
          <a:noFill/>
        </p:spPr>
        <p:txBody>
          <a:bodyPr wrap="square" anchor="t" lIns="0" rIns="0" tIns="0" bIns="0">
            <a:noAutofit/>
          </a:bodyPr>
          <a:lstStyle/>
          <a:p>
            <a:pPr algn="ctr">
              <a:lnSpc>
                <a:spcPct val="100000"/>
              </a:lnSpc>
              <a:spcBef>
                <a:spcPts val="0"/>
              </a:spcBef>
              <a:spcAft>
                <a:spcPts val="0"/>
              </a:spcAft>
            </a:pPr>
            <a:r>
              <a:rPr sz="1100" b="1" i="0" spc="120">
                <a:solidFill>
                  <a:srgbClr val="98A4AE"/>
                </a:solidFill>
                <a:latin typeface="Segoe UI"/>
              </a:rPr>
              <a:t>PART V</a:t>
            </a:r>
          </a:p>
        </p:txBody>
      </p:sp>
      <p:sp>
        <p:nvSpPr>
          <p:cNvPr id="16" name="!!rpl5">
            <a:extLst>
              <a:ext uri="{C183D7F6-B498-43B3-948B-1728B52AA6E4}">
                <adec:decorative xmlns:adec="http://schemas.microsoft.com/office/drawing/2017/decorative" val="1"/>
              </a:ext>
            </a:extLst>
          </p:cNvPr>
          <p:cNvSpPr/>
          <p:nvPr/>
        </p:nvSpPr>
        <p:spPr>
          <a:xfrm>
            <a:off x="7509260" y="2029967"/>
            <a:ext cx="1173715" cy="27432"/>
          </a:xfrm>
          <a:prstGeom prst="rect">
            <a:avLst/>
          </a:prstGeom>
          <a:solidFill>
            <a:srgbClr val="D9E1E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7" name="!!rp6"/>
          <p:cNvSpPr txBox="1"/>
          <p:nvPr/>
        </p:nvSpPr>
        <p:spPr>
          <a:xfrm>
            <a:off x="9012160" y="1755648"/>
            <a:ext cx="2402295" cy="237744"/>
          </a:xfrm>
          <a:prstGeom prst="rect">
            <a:avLst/>
          </a:prstGeom>
          <a:noFill/>
        </p:spPr>
        <p:txBody>
          <a:bodyPr wrap="square" anchor="t" lIns="0" rIns="0" tIns="0" bIns="0">
            <a:noAutofit/>
          </a:bodyPr>
          <a:lstStyle/>
          <a:p>
            <a:pPr algn="ctr">
              <a:lnSpc>
                <a:spcPct val="100000"/>
              </a:lnSpc>
              <a:spcBef>
                <a:spcPts val="0"/>
              </a:spcBef>
              <a:spcAft>
                <a:spcPts val="0"/>
              </a:spcAft>
            </a:pPr>
            <a:r>
              <a:rPr sz="1100" b="1" i="0" spc="120">
                <a:solidFill>
                  <a:srgbClr val="98A4AE"/>
                </a:solidFill>
                <a:latin typeface="Segoe UI"/>
              </a:rPr>
              <a:t>PART VI</a:t>
            </a:r>
          </a:p>
        </p:txBody>
      </p:sp>
      <p:sp>
        <p:nvSpPr>
          <p:cNvPr id="18" name="!!rpl6">
            <a:extLst>
              <a:ext uri="{C183D7F6-B498-43B3-948B-1728B52AA6E4}">
                <adec:decorative xmlns:adec="http://schemas.microsoft.com/office/drawing/2017/decorative" val="1"/>
              </a:ext>
            </a:extLst>
          </p:cNvPr>
          <p:cNvSpPr/>
          <p:nvPr/>
        </p:nvSpPr>
        <p:spPr>
          <a:xfrm>
            <a:off x="9012160" y="2029967"/>
            <a:ext cx="2402295" cy="27432"/>
          </a:xfrm>
          <a:prstGeom prst="rect">
            <a:avLst/>
          </a:prstGeom>
          <a:solidFill>
            <a:srgbClr val="D9E1E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9" name="!!dot1">
            <a:extLst>
              <a:ext uri="{C183D7F6-B498-43B3-948B-1728B52AA6E4}">
                <adec:decorative xmlns:adec="http://schemas.microsoft.com/office/drawing/2017/decorative" val="1"/>
              </a:ext>
            </a:extLst>
          </p:cNvPr>
          <p:cNvSpPr/>
          <p:nvPr/>
        </p:nvSpPr>
        <p:spPr>
          <a:xfrm>
            <a:off x="817411" y="2258568"/>
            <a:ext cx="274320" cy="274320"/>
          </a:xfrm>
          <a:prstGeom prst="ellipse">
            <a:avLst/>
          </a:prstGeom>
          <a:solidFill>
            <a:srgbClr val="3C6C8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0" name="!!dotn1"/>
          <p:cNvSpPr txBox="1"/>
          <p:nvPr/>
        </p:nvSpPr>
        <p:spPr>
          <a:xfrm>
            <a:off x="725971" y="2295144"/>
            <a:ext cx="457200" cy="201168"/>
          </a:xfrm>
          <a:prstGeom prst="rect">
            <a:avLst/>
          </a:prstGeom>
          <a:noFill/>
        </p:spPr>
        <p:txBody>
          <a:bodyPr wrap="square" anchor="t" lIns="0" rIns="0" tIns="0" bIns="0">
            <a:noAutofit/>
          </a:bodyPr>
          <a:lstStyle/>
          <a:p>
            <a:pPr algn="ctr">
              <a:lnSpc>
                <a:spcPct val="100000"/>
              </a:lnSpc>
              <a:spcBef>
                <a:spcPts val="0"/>
              </a:spcBef>
              <a:spcAft>
                <a:spcPts val="0"/>
              </a:spcAft>
            </a:pPr>
            <a:r>
              <a:rPr sz="950" b="1" i="0">
                <a:solidFill>
                  <a:srgbClr val="FFFFFF"/>
                </a:solidFill>
                <a:latin typeface="Segoe UI"/>
              </a:rPr>
              <a:t>1</a:t>
            </a:r>
          </a:p>
        </p:txBody>
      </p:sp>
      <p:sp>
        <p:nvSpPr>
          <p:cNvPr id="21" name="!!dot2">
            <a:extLst>
              <a:ext uri="{C183D7F6-B498-43B3-948B-1728B52AA6E4}">
                <adec:decorative xmlns:adec="http://schemas.microsoft.com/office/drawing/2017/decorative" val="1"/>
              </a:ext>
            </a:extLst>
          </p:cNvPr>
          <p:cNvSpPr/>
          <p:nvPr/>
        </p:nvSpPr>
        <p:spPr>
          <a:xfrm>
            <a:off x="1226937" y="2258568"/>
            <a:ext cx="274320" cy="274320"/>
          </a:xfrm>
          <a:prstGeom prst="ellipse">
            <a:avLst/>
          </a:prstGeom>
          <a:solidFill>
            <a:srgbClr val="3C6C8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2" name="!!dotn2"/>
          <p:cNvSpPr txBox="1"/>
          <p:nvPr/>
        </p:nvSpPr>
        <p:spPr>
          <a:xfrm>
            <a:off x="1135497" y="2295144"/>
            <a:ext cx="457200" cy="201168"/>
          </a:xfrm>
          <a:prstGeom prst="rect">
            <a:avLst/>
          </a:prstGeom>
          <a:noFill/>
        </p:spPr>
        <p:txBody>
          <a:bodyPr wrap="square" anchor="t" lIns="0" rIns="0" tIns="0" bIns="0">
            <a:noAutofit/>
          </a:bodyPr>
          <a:lstStyle/>
          <a:p>
            <a:pPr algn="ctr">
              <a:lnSpc>
                <a:spcPct val="100000"/>
              </a:lnSpc>
              <a:spcBef>
                <a:spcPts val="0"/>
              </a:spcBef>
              <a:spcAft>
                <a:spcPts val="0"/>
              </a:spcAft>
            </a:pPr>
            <a:r>
              <a:rPr sz="950" b="1" i="0">
                <a:solidFill>
                  <a:srgbClr val="FFFFFF"/>
                </a:solidFill>
                <a:latin typeface="Segoe UI"/>
              </a:rPr>
              <a:t>2</a:t>
            </a:r>
          </a:p>
        </p:txBody>
      </p:sp>
      <p:sp>
        <p:nvSpPr>
          <p:cNvPr id="23" name="!!dot3">
            <a:extLst>
              <a:ext uri="{C183D7F6-B498-43B3-948B-1728B52AA6E4}">
                <adec:decorative xmlns:adec="http://schemas.microsoft.com/office/drawing/2017/decorative" val="1"/>
              </a:ext>
            </a:extLst>
          </p:cNvPr>
          <p:cNvSpPr/>
          <p:nvPr/>
        </p:nvSpPr>
        <p:spPr>
          <a:xfrm>
            <a:off x="1636464" y="2258568"/>
            <a:ext cx="274320" cy="274320"/>
          </a:xfrm>
          <a:prstGeom prst="ellipse">
            <a:avLst/>
          </a:prstGeom>
          <a:solidFill>
            <a:srgbClr val="3C6C8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4" name="!!dotn3"/>
          <p:cNvSpPr txBox="1"/>
          <p:nvPr/>
        </p:nvSpPr>
        <p:spPr>
          <a:xfrm>
            <a:off x="1545024" y="2295144"/>
            <a:ext cx="457200" cy="201168"/>
          </a:xfrm>
          <a:prstGeom prst="rect">
            <a:avLst/>
          </a:prstGeom>
          <a:noFill/>
        </p:spPr>
        <p:txBody>
          <a:bodyPr wrap="square" anchor="t" lIns="0" rIns="0" tIns="0" bIns="0">
            <a:noAutofit/>
          </a:bodyPr>
          <a:lstStyle/>
          <a:p>
            <a:pPr algn="ctr">
              <a:lnSpc>
                <a:spcPct val="100000"/>
              </a:lnSpc>
              <a:spcBef>
                <a:spcPts val="0"/>
              </a:spcBef>
              <a:spcAft>
                <a:spcPts val="0"/>
              </a:spcAft>
            </a:pPr>
            <a:r>
              <a:rPr sz="950" b="1" i="0">
                <a:solidFill>
                  <a:srgbClr val="FFFFFF"/>
                </a:solidFill>
                <a:latin typeface="Segoe UI"/>
              </a:rPr>
              <a:t>3</a:t>
            </a:r>
          </a:p>
        </p:txBody>
      </p:sp>
      <p:sp>
        <p:nvSpPr>
          <p:cNvPr id="25" name="!!dot4">
            <a:extLst>
              <a:ext uri="{C183D7F6-B498-43B3-948B-1728B52AA6E4}">
                <adec:decorative xmlns:adec="http://schemas.microsoft.com/office/drawing/2017/decorative" val="1"/>
              </a:ext>
            </a:extLst>
          </p:cNvPr>
          <p:cNvSpPr/>
          <p:nvPr/>
        </p:nvSpPr>
        <p:spPr>
          <a:xfrm>
            <a:off x="2320310" y="2258568"/>
            <a:ext cx="274320" cy="274320"/>
          </a:xfrm>
          <a:prstGeom prst="ellipse">
            <a:avLst/>
          </a:prstGeom>
          <a:solidFill>
            <a:srgbClr val="4D98C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6" name="!!dotn4"/>
          <p:cNvSpPr txBox="1"/>
          <p:nvPr/>
        </p:nvSpPr>
        <p:spPr>
          <a:xfrm>
            <a:off x="2228870" y="2295144"/>
            <a:ext cx="457200" cy="201168"/>
          </a:xfrm>
          <a:prstGeom prst="rect">
            <a:avLst/>
          </a:prstGeom>
          <a:noFill/>
        </p:spPr>
        <p:txBody>
          <a:bodyPr wrap="square" anchor="t" lIns="0" rIns="0" tIns="0" bIns="0">
            <a:noAutofit/>
          </a:bodyPr>
          <a:lstStyle/>
          <a:p>
            <a:pPr algn="ctr">
              <a:lnSpc>
                <a:spcPct val="100000"/>
              </a:lnSpc>
              <a:spcBef>
                <a:spcPts val="0"/>
              </a:spcBef>
              <a:spcAft>
                <a:spcPts val="0"/>
              </a:spcAft>
            </a:pPr>
            <a:r>
              <a:rPr sz="950" b="1" i="0">
                <a:solidFill>
                  <a:srgbClr val="FFFFFF"/>
                </a:solidFill>
                <a:latin typeface="Segoe UI"/>
              </a:rPr>
              <a:t>4</a:t>
            </a:r>
          </a:p>
        </p:txBody>
      </p:sp>
      <p:sp>
        <p:nvSpPr>
          <p:cNvPr id="27" name="!!dot5">
            <a:extLst>
              <a:ext uri="{C183D7F6-B498-43B3-948B-1728B52AA6E4}">
                <adec:decorative xmlns:adec="http://schemas.microsoft.com/office/drawing/2017/decorative" val="1"/>
              </a:ext>
            </a:extLst>
          </p:cNvPr>
          <p:cNvSpPr/>
          <p:nvPr/>
        </p:nvSpPr>
        <p:spPr>
          <a:xfrm>
            <a:off x="2729837" y="2258568"/>
            <a:ext cx="274320" cy="274320"/>
          </a:xfrm>
          <a:prstGeom prst="ellipse">
            <a:avLst/>
          </a:prstGeom>
          <a:solidFill>
            <a:srgbClr val="4D98C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8" name="!!dotn5"/>
          <p:cNvSpPr txBox="1"/>
          <p:nvPr/>
        </p:nvSpPr>
        <p:spPr>
          <a:xfrm>
            <a:off x="2638397" y="2295144"/>
            <a:ext cx="457200" cy="201168"/>
          </a:xfrm>
          <a:prstGeom prst="rect">
            <a:avLst/>
          </a:prstGeom>
          <a:noFill/>
        </p:spPr>
        <p:txBody>
          <a:bodyPr wrap="square" anchor="t" lIns="0" rIns="0" tIns="0" bIns="0">
            <a:noAutofit/>
          </a:bodyPr>
          <a:lstStyle/>
          <a:p>
            <a:pPr algn="ctr">
              <a:lnSpc>
                <a:spcPct val="100000"/>
              </a:lnSpc>
              <a:spcBef>
                <a:spcPts val="0"/>
              </a:spcBef>
              <a:spcAft>
                <a:spcPts val="0"/>
              </a:spcAft>
            </a:pPr>
            <a:r>
              <a:rPr sz="950" b="1" i="0">
                <a:solidFill>
                  <a:srgbClr val="FFFFFF"/>
                </a:solidFill>
                <a:latin typeface="Segoe UI"/>
              </a:rPr>
              <a:t>5</a:t>
            </a:r>
          </a:p>
        </p:txBody>
      </p:sp>
      <p:sp>
        <p:nvSpPr>
          <p:cNvPr id="29" name="!!dot6">
            <a:extLst>
              <a:ext uri="{C183D7F6-B498-43B3-948B-1728B52AA6E4}">
                <adec:decorative xmlns:adec="http://schemas.microsoft.com/office/drawing/2017/decorative" val="1"/>
              </a:ext>
            </a:extLst>
          </p:cNvPr>
          <p:cNvSpPr/>
          <p:nvPr/>
        </p:nvSpPr>
        <p:spPr>
          <a:xfrm>
            <a:off x="3139363" y="2258568"/>
            <a:ext cx="274320" cy="274320"/>
          </a:xfrm>
          <a:prstGeom prst="ellipse">
            <a:avLst/>
          </a:prstGeom>
          <a:solidFill>
            <a:srgbClr val="4D98C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0" name="!!dotn6"/>
          <p:cNvSpPr txBox="1"/>
          <p:nvPr/>
        </p:nvSpPr>
        <p:spPr>
          <a:xfrm>
            <a:off x="3047923" y="2295144"/>
            <a:ext cx="457200" cy="201168"/>
          </a:xfrm>
          <a:prstGeom prst="rect">
            <a:avLst/>
          </a:prstGeom>
          <a:noFill/>
        </p:spPr>
        <p:txBody>
          <a:bodyPr wrap="square" anchor="t" lIns="0" rIns="0" tIns="0" bIns="0">
            <a:noAutofit/>
          </a:bodyPr>
          <a:lstStyle/>
          <a:p>
            <a:pPr algn="ctr">
              <a:lnSpc>
                <a:spcPct val="100000"/>
              </a:lnSpc>
              <a:spcBef>
                <a:spcPts val="0"/>
              </a:spcBef>
              <a:spcAft>
                <a:spcPts val="0"/>
              </a:spcAft>
            </a:pPr>
            <a:r>
              <a:rPr sz="950" b="1" i="0">
                <a:solidFill>
                  <a:srgbClr val="FFFFFF"/>
                </a:solidFill>
                <a:latin typeface="Segoe UI"/>
              </a:rPr>
              <a:t>6</a:t>
            </a:r>
          </a:p>
        </p:txBody>
      </p:sp>
      <p:sp>
        <p:nvSpPr>
          <p:cNvPr id="31" name="!!dot7">
            <a:extLst>
              <a:ext uri="{C183D7F6-B498-43B3-948B-1728B52AA6E4}">
                <adec:decorative xmlns:adec="http://schemas.microsoft.com/office/drawing/2017/decorative" val="1"/>
              </a:ext>
            </a:extLst>
          </p:cNvPr>
          <p:cNvSpPr/>
          <p:nvPr/>
        </p:nvSpPr>
        <p:spPr>
          <a:xfrm>
            <a:off x="3823210" y="2258568"/>
            <a:ext cx="274320" cy="274320"/>
          </a:xfrm>
          <a:prstGeom prst="ellipse">
            <a:avLst/>
          </a:prstGeom>
          <a:solidFill>
            <a:srgbClr val="47BA7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2" name="!!dotn7"/>
          <p:cNvSpPr txBox="1"/>
          <p:nvPr/>
        </p:nvSpPr>
        <p:spPr>
          <a:xfrm>
            <a:off x="3731770" y="2295144"/>
            <a:ext cx="457200" cy="201168"/>
          </a:xfrm>
          <a:prstGeom prst="rect">
            <a:avLst/>
          </a:prstGeom>
          <a:noFill/>
        </p:spPr>
        <p:txBody>
          <a:bodyPr wrap="square" anchor="t" lIns="0" rIns="0" tIns="0" bIns="0">
            <a:noAutofit/>
          </a:bodyPr>
          <a:lstStyle/>
          <a:p>
            <a:pPr algn="ctr">
              <a:lnSpc>
                <a:spcPct val="100000"/>
              </a:lnSpc>
              <a:spcBef>
                <a:spcPts val="0"/>
              </a:spcBef>
              <a:spcAft>
                <a:spcPts val="0"/>
              </a:spcAft>
            </a:pPr>
            <a:r>
              <a:rPr sz="950" b="1" i="0">
                <a:solidFill>
                  <a:srgbClr val="FFFFFF"/>
                </a:solidFill>
                <a:latin typeface="Segoe UI"/>
              </a:rPr>
              <a:t>7</a:t>
            </a:r>
          </a:p>
        </p:txBody>
      </p:sp>
      <p:sp>
        <p:nvSpPr>
          <p:cNvPr id="33" name="!!dot8">
            <a:extLst>
              <a:ext uri="{C183D7F6-B498-43B3-948B-1728B52AA6E4}">
                <adec:decorative xmlns:adec="http://schemas.microsoft.com/office/drawing/2017/decorative" val="1"/>
              </a:ext>
            </a:extLst>
          </p:cNvPr>
          <p:cNvSpPr/>
          <p:nvPr/>
        </p:nvSpPr>
        <p:spPr>
          <a:xfrm>
            <a:off x="4232736" y="2258568"/>
            <a:ext cx="274320" cy="274320"/>
          </a:xfrm>
          <a:prstGeom prst="ellipse">
            <a:avLst/>
          </a:prstGeom>
          <a:solidFill>
            <a:srgbClr val="47BA7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4" name="!!dotn8"/>
          <p:cNvSpPr txBox="1"/>
          <p:nvPr/>
        </p:nvSpPr>
        <p:spPr>
          <a:xfrm>
            <a:off x="4141296" y="2295144"/>
            <a:ext cx="457200" cy="201168"/>
          </a:xfrm>
          <a:prstGeom prst="rect">
            <a:avLst/>
          </a:prstGeom>
          <a:noFill/>
        </p:spPr>
        <p:txBody>
          <a:bodyPr wrap="square" anchor="t" lIns="0" rIns="0" tIns="0" bIns="0">
            <a:noAutofit/>
          </a:bodyPr>
          <a:lstStyle/>
          <a:p>
            <a:pPr algn="ctr">
              <a:lnSpc>
                <a:spcPct val="100000"/>
              </a:lnSpc>
              <a:spcBef>
                <a:spcPts val="0"/>
              </a:spcBef>
              <a:spcAft>
                <a:spcPts val="0"/>
              </a:spcAft>
            </a:pPr>
            <a:r>
              <a:rPr sz="950" b="1" i="0">
                <a:solidFill>
                  <a:srgbClr val="FFFFFF"/>
                </a:solidFill>
                <a:latin typeface="Segoe UI"/>
              </a:rPr>
              <a:t>8</a:t>
            </a:r>
          </a:p>
        </p:txBody>
      </p:sp>
      <p:sp>
        <p:nvSpPr>
          <p:cNvPr id="35" name="!!dot9">
            <a:extLst>
              <a:ext uri="{C183D7F6-B498-43B3-948B-1728B52AA6E4}">
                <adec:decorative xmlns:adec="http://schemas.microsoft.com/office/drawing/2017/decorative" val="1"/>
              </a:ext>
            </a:extLst>
          </p:cNvPr>
          <p:cNvSpPr/>
          <p:nvPr/>
        </p:nvSpPr>
        <p:spPr>
          <a:xfrm>
            <a:off x="4642263" y="2258568"/>
            <a:ext cx="274320" cy="274320"/>
          </a:xfrm>
          <a:prstGeom prst="ellipse">
            <a:avLst/>
          </a:prstGeom>
          <a:solidFill>
            <a:srgbClr val="47BA7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6" name="!!dotn9"/>
          <p:cNvSpPr txBox="1"/>
          <p:nvPr/>
        </p:nvSpPr>
        <p:spPr>
          <a:xfrm>
            <a:off x="4550823" y="2295144"/>
            <a:ext cx="457200" cy="201168"/>
          </a:xfrm>
          <a:prstGeom prst="rect">
            <a:avLst/>
          </a:prstGeom>
          <a:noFill/>
        </p:spPr>
        <p:txBody>
          <a:bodyPr wrap="square" anchor="t" lIns="0" rIns="0" tIns="0" bIns="0">
            <a:noAutofit/>
          </a:bodyPr>
          <a:lstStyle/>
          <a:p>
            <a:pPr algn="ctr">
              <a:lnSpc>
                <a:spcPct val="100000"/>
              </a:lnSpc>
              <a:spcBef>
                <a:spcPts val="0"/>
              </a:spcBef>
              <a:spcAft>
                <a:spcPts val="0"/>
              </a:spcAft>
            </a:pPr>
            <a:r>
              <a:rPr sz="950" b="1" i="0">
                <a:solidFill>
                  <a:srgbClr val="FFFFFF"/>
                </a:solidFill>
                <a:latin typeface="Segoe UI"/>
              </a:rPr>
              <a:t>9</a:t>
            </a:r>
          </a:p>
        </p:txBody>
      </p:sp>
      <p:sp>
        <p:nvSpPr>
          <p:cNvPr id="37" name="!!dot10">
            <a:extLst>
              <a:ext uri="{C183D7F6-B498-43B3-948B-1728B52AA6E4}">
                <adec:decorative xmlns:adec="http://schemas.microsoft.com/office/drawing/2017/decorative" val="1"/>
              </a:ext>
            </a:extLst>
          </p:cNvPr>
          <p:cNvSpPr/>
          <p:nvPr/>
        </p:nvSpPr>
        <p:spPr>
          <a:xfrm>
            <a:off x="5335253" y="2112264"/>
            <a:ext cx="566928" cy="566928"/>
          </a:xfrm>
          <a:prstGeom prst="ellipse">
            <a:avLst/>
          </a:prstGeom>
          <a:solidFill>
            <a:srgbClr val="7A3A9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8" name="!!dotn10"/>
          <p:cNvSpPr txBox="1"/>
          <p:nvPr/>
        </p:nvSpPr>
        <p:spPr>
          <a:xfrm>
            <a:off x="5335253" y="2240280"/>
            <a:ext cx="566928" cy="310896"/>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FFFFFF"/>
                </a:solidFill>
                <a:latin typeface="Segoe UI Semibold"/>
              </a:rPr>
              <a:t>10</a:t>
            </a:r>
          </a:p>
        </p:txBody>
      </p:sp>
      <p:sp>
        <p:nvSpPr>
          <p:cNvPr id="39" name="!!dot11">
            <a:extLst>
              <a:ext uri="{C183D7F6-B498-43B3-948B-1728B52AA6E4}">
                <adec:decorative xmlns:adec="http://schemas.microsoft.com/office/drawing/2017/decorative" val="1"/>
              </a:ext>
            </a:extLst>
          </p:cNvPr>
          <p:cNvSpPr/>
          <p:nvPr/>
        </p:nvSpPr>
        <p:spPr>
          <a:xfrm>
            <a:off x="6046532" y="2258568"/>
            <a:ext cx="274320" cy="274320"/>
          </a:xfrm>
          <a:prstGeom prst="ellipse">
            <a:avLst/>
          </a:prstGeom>
          <a:solidFill>
            <a:srgbClr val="FFFFFF"/>
          </a:solidFill>
          <a:ln w="15875">
            <a:solidFill>
              <a:srgbClr val="C198D2"/>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0" name="!!dotn11"/>
          <p:cNvSpPr txBox="1"/>
          <p:nvPr/>
        </p:nvSpPr>
        <p:spPr>
          <a:xfrm>
            <a:off x="5955092" y="2295144"/>
            <a:ext cx="457200" cy="201168"/>
          </a:xfrm>
          <a:prstGeom prst="rect">
            <a:avLst/>
          </a:prstGeom>
          <a:noFill/>
        </p:spPr>
        <p:txBody>
          <a:bodyPr wrap="square" anchor="t" lIns="0" rIns="0" tIns="0" bIns="0">
            <a:noAutofit/>
          </a:bodyPr>
          <a:lstStyle/>
          <a:p>
            <a:pPr algn="ctr">
              <a:lnSpc>
                <a:spcPct val="100000"/>
              </a:lnSpc>
              <a:spcBef>
                <a:spcPts val="0"/>
              </a:spcBef>
              <a:spcAft>
                <a:spcPts val="0"/>
              </a:spcAft>
            </a:pPr>
            <a:r>
              <a:rPr sz="950" b="1" i="0">
                <a:solidFill>
                  <a:srgbClr val="773E93"/>
                </a:solidFill>
                <a:latin typeface="Segoe UI"/>
              </a:rPr>
              <a:t>11</a:t>
            </a:r>
          </a:p>
        </p:txBody>
      </p:sp>
      <p:sp>
        <p:nvSpPr>
          <p:cNvPr id="41" name="!!dot12">
            <a:extLst>
              <a:ext uri="{C183D7F6-B498-43B3-948B-1728B52AA6E4}">
                <adec:decorative xmlns:adec="http://schemas.microsoft.com/office/drawing/2017/decorative" val="1"/>
              </a:ext>
            </a:extLst>
          </p:cNvPr>
          <p:cNvSpPr/>
          <p:nvPr/>
        </p:nvSpPr>
        <p:spPr>
          <a:xfrm>
            <a:off x="6456058" y="2258568"/>
            <a:ext cx="274320" cy="274320"/>
          </a:xfrm>
          <a:prstGeom prst="ellipse">
            <a:avLst/>
          </a:prstGeom>
          <a:solidFill>
            <a:srgbClr val="FFFFFF"/>
          </a:solidFill>
          <a:ln w="15875">
            <a:solidFill>
              <a:srgbClr val="C198D2"/>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2" name="!!dotn12"/>
          <p:cNvSpPr txBox="1"/>
          <p:nvPr/>
        </p:nvSpPr>
        <p:spPr>
          <a:xfrm>
            <a:off x="6364618" y="2295144"/>
            <a:ext cx="457200" cy="201168"/>
          </a:xfrm>
          <a:prstGeom prst="rect">
            <a:avLst/>
          </a:prstGeom>
          <a:noFill/>
        </p:spPr>
        <p:txBody>
          <a:bodyPr wrap="square" anchor="t" lIns="0" rIns="0" tIns="0" bIns="0">
            <a:noAutofit/>
          </a:bodyPr>
          <a:lstStyle/>
          <a:p>
            <a:pPr algn="ctr">
              <a:lnSpc>
                <a:spcPct val="100000"/>
              </a:lnSpc>
              <a:spcBef>
                <a:spcPts val="0"/>
              </a:spcBef>
              <a:spcAft>
                <a:spcPts val="0"/>
              </a:spcAft>
            </a:pPr>
            <a:r>
              <a:rPr sz="950" b="1" i="0">
                <a:solidFill>
                  <a:srgbClr val="773E93"/>
                </a:solidFill>
                <a:latin typeface="Segoe UI"/>
              </a:rPr>
              <a:t>12</a:t>
            </a:r>
          </a:p>
        </p:txBody>
      </p:sp>
      <p:sp>
        <p:nvSpPr>
          <p:cNvPr id="43" name="!!dot13">
            <a:extLst>
              <a:ext uri="{C183D7F6-B498-43B3-948B-1728B52AA6E4}">
                <adec:decorative xmlns:adec="http://schemas.microsoft.com/office/drawing/2017/decorative" val="1"/>
              </a:ext>
            </a:extLst>
          </p:cNvPr>
          <p:cNvSpPr/>
          <p:nvPr/>
        </p:nvSpPr>
        <p:spPr>
          <a:xfrm>
            <a:off x="6865585" y="2258568"/>
            <a:ext cx="274320" cy="274320"/>
          </a:xfrm>
          <a:prstGeom prst="ellipse">
            <a:avLst/>
          </a:prstGeom>
          <a:solidFill>
            <a:srgbClr val="FFFFFF"/>
          </a:solidFill>
          <a:ln w="15875">
            <a:solidFill>
              <a:srgbClr val="C198D2"/>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4" name="!!dotn13"/>
          <p:cNvSpPr txBox="1"/>
          <p:nvPr/>
        </p:nvSpPr>
        <p:spPr>
          <a:xfrm>
            <a:off x="6774145" y="2295144"/>
            <a:ext cx="457200" cy="201168"/>
          </a:xfrm>
          <a:prstGeom prst="rect">
            <a:avLst/>
          </a:prstGeom>
          <a:noFill/>
        </p:spPr>
        <p:txBody>
          <a:bodyPr wrap="square" anchor="t" lIns="0" rIns="0" tIns="0" bIns="0">
            <a:noAutofit/>
          </a:bodyPr>
          <a:lstStyle/>
          <a:p>
            <a:pPr algn="ctr">
              <a:lnSpc>
                <a:spcPct val="100000"/>
              </a:lnSpc>
              <a:spcBef>
                <a:spcPts val="0"/>
              </a:spcBef>
              <a:spcAft>
                <a:spcPts val="0"/>
              </a:spcAft>
            </a:pPr>
            <a:r>
              <a:rPr sz="950" b="1" i="0">
                <a:solidFill>
                  <a:srgbClr val="773E93"/>
                </a:solidFill>
                <a:latin typeface="Segoe UI"/>
              </a:rPr>
              <a:t>13</a:t>
            </a:r>
          </a:p>
        </p:txBody>
      </p:sp>
      <p:sp>
        <p:nvSpPr>
          <p:cNvPr id="45" name="!!dot14">
            <a:extLst>
              <a:ext uri="{C183D7F6-B498-43B3-948B-1728B52AA6E4}">
                <adec:decorative xmlns:adec="http://schemas.microsoft.com/office/drawing/2017/decorative" val="1"/>
              </a:ext>
            </a:extLst>
          </p:cNvPr>
          <p:cNvSpPr/>
          <p:nvPr/>
        </p:nvSpPr>
        <p:spPr>
          <a:xfrm>
            <a:off x="7549431" y="2258568"/>
            <a:ext cx="274320" cy="274320"/>
          </a:xfrm>
          <a:prstGeom prst="ellipse">
            <a:avLst/>
          </a:prstGeom>
          <a:solidFill>
            <a:srgbClr val="FFFFFF"/>
          </a:solidFill>
          <a:ln w="15875">
            <a:solidFill>
              <a:srgbClr val="7CB6AA"/>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6" name="!!dotn14"/>
          <p:cNvSpPr txBox="1"/>
          <p:nvPr/>
        </p:nvSpPr>
        <p:spPr>
          <a:xfrm>
            <a:off x="7457991" y="2295144"/>
            <a:ext cx="457200" cy="201168"/>
          </a:xfrm>
          <a:prstGeom prst="rect">
            <a:avLst/>
          </a:prstGeom>
          <a:noFill/>
        </p:spPr>
        <p:txBody>
          <a:bodyPr wrap="square" anchor="t" lIns="0" rIns="0" tIns="0" bIns="0">
            <a:noAutofit/>
          </a:bodyPr>
          <a:lstStyle/>
          <a:p>
            <a:pPr algn="ctr">
              <a:lnSpc>
                <a:spcPct val="100000"/>
              </a:lnSpc>
              <a:spcBef>
                <a:spcPts val="0"/>
              </a:spcBef>
              <a:spcAft>
                <a:spcPts val="0"/>
              </a:spcAft>
            </a:pPr>
            <a:r>
              <a:rPr sz="950" b="1" i="0">
                <a:solidFill>
                  <a:srgbClr val="136959"/>
                </a:solidFill>
                <a:latin typeface="Segoe UI"/>
              </a:rPr>
              <a:t>14</a:t>
            </a:r>
          </a:p>
        </p:txBody>
      </p:sp>
      <p:sp>
        <p:nvSpPr>
          <p:cNvPr id="47" name="!!dot15">
            <a:extLst>
              <a:ext uri="{C183D7F6-B498-43B3-948B-1728B52AA6E4}">
                <adec:decorative xmlns:adec="http://schemas.microsoft.com/office/drawing/2017/decorative" val="1"/>
              </a:ext>
            </a:extLst>
          </p:cNvPr>
          <p:cNvSpPr/>
          <p:nvPr/>
        </p:nvSpPr>
        <p:spPr>
          <a:xfrm>
            <a:off x="7958958" y="2258568"/>
            <a:ext cx="274320" cy="274320"/>
          </a:xfrm>
          <a:prstGeom prst="ellipse">
            <a:avLst/>
          </a:prstGeom>
          <a:solidFill>
            <a:srgbClr val="FFFFFF"/>
          </a:solidFill>
          <a:ln w="15875">
            <a:solidFill>
              <a:srgbClr val="7CB6AA"/>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8" name="!!dotn15"/>
          <p:cNvSpPr txBox="1"/>
          <p:nvPr/>
        </p:nvSpPr>
        <p:spPr>
          <a:xfrm>
            <a:off x="7867518" y="2295144"/>
            <a:ext cx="457200" cy="201168"/>
          </a:xfrm>
          <a:prstGeom prst="rect">
            <a:avLst/>
          </a:prstGeom>
          <a:noFill/>
        </p:spPr>
        <p:txBody>
          <a:bodyPr wrap="square" anchor="t" lIns="0" rIns="0" tIns="0" bIns="0">
            <a:noAutofit/>
          </a:bodyPr>
          <a:lstStyle/>
          <a:p>
            <a:pPr algn="ctr">
              <a:lnSpc>
                <a:spcPct val="100000"/>
              </a:lnSpc>
              <a:spcBef>
                <a:spcPts val="0"/>
              </a:spcBef>
              <a:spcAft>
                <a:spcPts val="0"/>
              </a:spcAft>
            </a:pPr>
            <a:r>
              <a:rPr sz="950" b="1" i="0">
                <a:solidFill>
                  <a:srgbClr val="136959"/>
                </a:solidFill>
                <a:latin typeface="Segoe UI"/>
              </a:rPr>
              <a:t>15</a:t>
            </a:r>
          </a:p>
        </p:txBody>
      </p:sp>
      <p:sp>
        <p:nvSpPr>
          <p:cNvPr id="49" name="!!dot16">
            <a:extLst>
              <a:ext uri="{C183D7F6-B498-43B3-948B-1728B52AA6E4}">
                <adec:decorative xmlns:adec="http://schemas.microsoft.com/office/drawing/2017/decorative" val="1"/>
              </a:ext>
            </a:extLst>
          </p:cNvPr>
          <p:cNvSpPr/>
          <p:nvPr/>
        </p:nvSpPr>
        <p:spPr>
          <a:xfrm>
            <a:off x="8368484" y="2258568"/>
            <a:ext cx="274320" cy="274320"/>
          </a:xfrm>
          <a:prstGeom prst="ellipse">
            <a:avLst/>
          </a:prstGeom>
          <a:solidFill>
            <a:srgbClr val="FFFFFF"/>
          </a:solidFill>
          <a:ln w="15875">
            <a:solidFill>
              <a:srgbClr val="7CB6AA"/>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0" name="!!dotn16"/>
          <p:cNvSpPr txBox="1"/>
          <p:nvPr/>
        </p:nvSpPr>
        <p:spPr>
          <a:xfrm>
            <a:off x="8277044" y="2295144"/>
            <a:ext cx="457200" cy="201168"/>
          </a:xfrm>
          <a:prstGeom prst="rect">
            <a:avLst/>
          </a:prstGeom>
          <a:noFill/>
        </p:spPr>
        <p:txBody>
          <a:bodyPr wrap="square" anchor="t" lIns="0" rIns="0" tIns="0" bIns="0">
            <a:noAutofit/>
          </a:bodyPr>
          <a:lstStyle/>
          <a:p>
            <a:pPr algn="ctr">
              <a:lnSpc>
                <a:spcPct val="100000"/>
              </a:lnSpc>
              <a:spcBef>
                <a:spcPts val="0"/>
              </a:spcBef>
              <a:spcAft>
                <a:spcPts val="0"/>
              </a:spcAft>
            </a:pPr>
            <a:r>
              <a:rPr sz="950" b="1" i="0">
                <a:solidFill>
                  <a:srgbClr val="136959"/>
                </a:solidFill>
                <a:latin typeface="Segoe UI"/>
              </a:rPr>
              <a:t>16</a:t>
            </a:r>
          </a:p>
        </p:txBody>
      </p:sp>
      <p:sp>
        <p:nvSpPr>
          <p:cNvPr id="51" name="!!dot17">
            <a:extLst>
              <a:ext uri="{C183D7F6-B498-43B3-948B-1728B52AA6E4}">
                <adec:decorative xmlns:adec="http://schemas.microsoft.com/office/drawing/2017/decorative" val="1"/>
              </a:ext>
            </a:extLst>
          </p:cNvPr>
          <p:cNvSpPr/>
          <p:nvPr/>
        </p:nvSpPr>
        <p:spPr>
          <a:xfrm>
            <a:off x="9052331" y="2258568"/>
            <a:ext cx="274320" cy="274320"/>
          </a:xfrm>
          <a:prstGeom prst="ellipse">
            <a:avLst/>
          </a:prstGeom>
          <a:solidFill>
            <a:srgbClr val="FFFFFF"/>
          </a:solidFill>
          <a:ln w="15875">
            <a:solidFill>
              <a:srgbClr val="D7C579"/>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2" name="!!dotn17"/>
          <p:cNvSpPr txBox="1"/>
          <p:nvPr/>
        </p:nvSpPr>
        <p:spPr>
          <a:xfrm>
            <a:off x="8960891" y="2295144"/>
            <a:ext cx="457200" cy="201168"/>
          </a:xfrm>
          <a:prstGeom prst="rect">
            <a:avLst/>
          </a:prstGeom>
          <a:noFill/>
        </p:spPr>
        <p:txBody>
          <a:bodyPr wrap="square" anchor="t" lIns="0" rIns="0" tIns="0" bIns="0">
            <a:noAutofit/>
          </a:bodyPr>
          <a:lstStyle/>
          <a:p>
            <a:pPr algn="ctr">
              <a:lnSpc>
                <a:spcPct val="100000"/>
              </a:lnSpc>
              <a:spcBef>
                <a:spcPts val="0"/>
              </a:spcBef>
              <a:spcAft>
                <a:spcPts val="0"/>
              </a:spcAft>
            </a:pPr>
            <a:r>
              <a:rPr sz="950" b="1" i="0">
                <a:solidFill>
                  <a:srgbClr val="987F11"/>
                </a:solidFill>
                <a:latin typeface="Segoe UI"/>
              </a:rPr>
              <a:t>17</a:t>
            </a:r>
          </a:p>
        </p:txBody>
      </p:sp>
      <p:sp>
        <p:nvSpPr>
          <p:cNvPr id="53" name="!!dot18">
            <a:extLst>
              <a:ext uri="{C183D7F6-B498-43B3-948B-1728B52AA6E4}">
                <adec:decorative xmlns:adec="http://schemas.microsoft.com/office/drawing/2017/decorative" val="1"/>
              </a:ext>
            </a:extLst>
          </p:cNvPr>
          <p:cNvSpPr/>
          <p:nvPr/>
        </p:nvSpPr>
        <p:spPr>
          <a:xfrm>
            <a:off x="9461857" y="2258568"/>
            <a:ext cx="274320" cy="274320"/>
          </a:xfrm>
          <a:prstGeom prst="ellipse">
            <a:avLst/>
          </a:prstGeom>
          <a:solidFill>
            <a:srgbClr val="FFFFFF"/>
          </a:solidFill>
          <a:ln w="15875">
            <a:solidFill>
              <a:srgbClr val="D7C579"/>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4" name="!!dotn18"/>
          <p:cNvSpPr txBox="1"/>
          <p:nvPr/>
        </p:nvSpPr>
        <p:spPr>
          <a:xfrm>
            <a:off x="9370417" y="2295144"/>
            <a:ext cx="457200" cy="201168"/>
          </a:xfrm>
          <a:prstGeom prst="rect">
            <a:avLst/>
          </a:prstGeom>
          <a:noFill/>
        </p:spPr>
        <p:txBody>
          <a:bodyPr wrap="square" anchor="t" lIns="0" rIns="0" tIns="0" bIns="0">
            <a:noAutofit/>
          </a:bodyPr>
          <a:lstStyle/>
          <a:p>
            <a:pPr algn="ctr">
              <a:lnSpc>
                <a:spcPct val="100000"/>
              </a:lnSpc>
              <a:spcBef>
                <a:spcPts val="0"/>
              </a:spcBef>
              <a:spcAft>
                <a:spcPts val="0"/>
              </a:spcAft>
            </a:pPr>
            <a:r>
              <a:rPr sz="950" b="1" i="0">
                <a:solidFill>
                  <a:srgbClr val="987F11"/>
                </a:solidFill>
                <a:latin typeface="Segoe UI"/>
              </a:rPr>
              <a:t>18</a:t>
            </a:r>
          </a:p>
        </p:txBody>
      </p:sp>
      <p:sp>
        <p:nvSpPr>
          <p:cNvPr id="55" name="!!dot19">
            <a:extLst>
              <a:ext uri="{C183D7F6-B498-43B3-948B-1728B52AA6E4}">
                <adec:decorative xmlns:adec="http://schemas.microsoft.com/office/drawing/2017/decorative" val="1"/>
              </a:ext>
            </a:extLst>
          </p:cNvPr>
          <p:cNvSpPr/>
          <p:nvPr/>
        </p:nvSpPr>
        <p:spPr>
          <a:xfrm>
            <a:off x="9871384" y="2258568"/>
            <a:ext cx="274320" cy="274320"/>
          </a:xfrm>
          <a:prstGeom prst="ellipse">
            <a:avLst/>
          </a:prstGeom>
          <a:solidFill>
            <a:srgbClr val="FFFFFF"/>
          </a:solidFill>
          <a:ln w="15875">
            <a:solidFill>
              <a:srgbClr val="D7C579"/>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6" name="!!dotn19"/>
          <p:cNvSpPr txBox="1"/>
          <p:nvPr/>
        </p:nvSpPr>
        <p:spPr>
          <a:xfrm>
            <a:off x="9779944" y="2295144"/>
            <a:ext cx="457200" cy="201168"/>
          </a:xfrm>
          <a:prstGeom prst="rect">
            <a:avLst/>
          </a:prstGeom>
          <a:noFill/>
        </p:spPr>
        <p:txBody>
          <a:bodyPr wrap="square" anchor="t" lIns="0" rIns="0" tIns="0" bIns="0">
            <a:noAutofit/>
          </a:bodyPr>
          <a:lstStyle/>
          <a:p>
            <a:pPr algn="ctr">
              <a:lnSpc>
                <a:spcPct val="100000"/>
              </a:lnSpc>
              <a:spcBef>
                <a:spcPts val="0"/>
              </a:spcBef>
              <a:spcAft>
                <a:spcPts val="0"/>
              </a:spcAft>
            </a:pPr>
            <a:r>
              <a:rPr sz="950" b="1" i="0">
                <a:solidFill>
                  <a:srgbClr val="987F11"/>
                </a:solidFill>
                <a:latin typeface="Segoe UI"/>
              </a:rPr>
              <a:t>19</a:t>
            </a:r>
          </a:p>
        </p:txBody>
      </p:sp>
      <p:sp>
        <p:nvSpPr>
          <p:cNvPr id="57" name="!!dot20">
            <a:extLst>
              <a:ext uri="{C183D7F6-B498-43B3-948B-1728B52AA6E4}">
                <adec:decorative xmlns:adec="http://schemas.microsoft.com/office/drawing/2017/decorative" val="1"/>
              </a:ext>
            </a:extLst>
          </p:cNvPr>
          <p:cNvSpPr/>
          <p:nvPr/>
        </p:nvSpPr>
        <p:spPr>
          <a:xfrm>
            <a:off x="10280910" y="2258568"/>
            <a:ext cx="274320" cy="274320"/>
          </a:xfrm>
          <a:prstGeom prst="ellipse">
            <a:avLst/>
          </a:prstGeom>
          <a:solidFill>
            <a:srgbClr val="FFFFFF"/>
          </a:solidFill>
          <a:ln w="15875">
            <a:solidFill>
              <a:srgbClr val="D7C579"/>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8" name="!!dotn20"/>
          <p:cNvSpPr txBox="1"/>
          <p:nvPr/>
        </p:nvSpPr>
        <p:spPr>
          <a:xfrm>
            <a:off x="10189470" y="2295144"/>
            <a:ext cx="457200" cy="201168"/>
          </a:xfrm>
          <a:prstGeom prst="rect">
            <a:avLst/>
          </a:prstGeom>
          <a:noFill/>
        </p:spPr>
        <p:txBody>
          <a:bodyPr wrap="square" anchor="t" lIns="0" rIns="0" tIns="0" bIns="0">
            <a:noAutofit/>
          </a:bodyPr>
          <a:lstStyle/>
          <a:p>
            <a:pPr algn="ctr">
              <a:lnSpc>
                <a:spcPct val="100000"/>
              </a:lnSpc>
              <a:spcBef>
                <a:spcPts val="0"/>
              </a:spcBef>
              <a:spcAft>
                <a:spcPts val="0"/>
              </a:spcAft>
            </a:pPr>
            <a:r>
              <a:rPr sz="950" b="1" i="0">
                <a:solidFill>
                  <a:srgbClr val="987F11"/>
                </a:solidFill>
                <a:latin typeface="Segoe UI"/>
              </a:rPr>
              <a:t>20</a:t>
            </a:r>
          </a:p>
        </p:txBody>
      </p:sp>
      <p:sp>
        <p:nvSpPr>
          <p:cNvPr id="59" name="!!dot21">
            <a:extLst>
              <a:ext uri="{C183D7F6-B498-43B3-948B-1728B52AA6E4}">
                <adec:decorative xmlns:adec="http://schemas.microsoft.com/office/drawing/2017/decorative" val="1"/>
              </a:ext>
            </a:extLst>
          </p:cNvPr>
          <p:cNvSpPr/>
          <p:nvPr/>
        </p:nvSpPr>
        <p:spPr>
          <a:xfrm>
            <a:off x="10690437" y="2258568"/>
            <a:ext cx="274320" cy="274320"/>
          </a:xfrm>
          <a:prstGeom prst="ellipse">
            <a:avLst/>
          </a:prstGeom>
          <a:solidFill>
            <a:srgbClr val="FFFFFF"/>
          </a:solidFill>
          <a:ln w="15875">
            <a:solidFill>
              <a:srgbClr val="D7C579"/>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60" name="!!dotn21"/>
          <p:cNvSpPr txBox="1"/>
          <p:nvPr/>
        </p:nvSpPr>
        <p:spPr>
          <a:xfrm>
            <a:off x="10598997" y="2295144"/>
            <a:ext cx="457200" cy="201168"/>
          </a:xfrm>
          <a:prstGeom prst="rect">
            <a:avLst/>
          </a:prstGeom>
          <a:noFill/>
        </p:spPr>
        <p:txBody>
          <a:bodyPr wrap="square" anchor="t" lIns="0" rIns="0" tIns="0" bIns="0">
            <a:noAutofit/>
          </a:bodyPr>
          <a:lstStyle/>
          <a:p>
            <a:pPr algn="ctr">
              <a:lnSpc>
                <a:spcPct val="100000"/>
              </a:lnSpc>
              <a:spcBef>
                <a:spcPts val="0"/>
              </a:spcBef>
              <a:spcAft>
                <a:spcPts val="0"/>
              </a:spcAft>
            </a:pPr>
            <a:r>
              <a:rPr sz="950" b="1" i="0">
                <a:solidFill>
                  <a:srgbClr val="987F11"/>
                </a:solidFill>
                <a:latin typeface="Segoe UI"/>
              </a:rPr>
              <a:t>21</a:t>
            </a:r>
          </a:p>
        </p:txBody>
      </p:sp>
      <p:sp>
        <p:nvSpPr>
          <p:cNvPr id="61" name="!!dot22">
            <a:extLst>
              <a:ext uri="{C183D7F6-B498-43B3-948B-1728B52AA6E4}">
                <adec:decorative xmlns:adec="http://schemas.microsoft.com/office/drawing/2017/decorative" val="1"/>
              </a:ext>
            </a:extLst>
          </p:cNvPr>
          <p:cNvSpPr/>
          <p:nvPr/>
        </p:nvSpPr>
        <p:spPr>
          <a:xfrm>
            <a:off x="11099963" y="2258568"/>
            <a:ext cx="274320" cy="274320"/>
          </a:xfrm>
          <a:prstGeom prst="ellipse">
            <a:avLst/>
          </a:prstGeom>
          <a:solidFill>
            <a:srgbClr val="FFFFFF"/>
          </a:solidFill>
          <a:ln w="15875">
            <a:solidFill>
              <a:srgbClr val="D7C579"/>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62" name="!!dotn22"/>
          <p:cNvSpPr txBox="1"/>
          <p:nvPr/>
        </p:nvSpPr>
        <p:spPr>
          <a:xfrm>
            <a:off x="11008523" y="2295144"/>
            <a:ext cx="457200" cy="201168"/>
          </a:xfrm>
          <a:prstGeom prst="rect">
            <a:avLst/>
          </a:prstGeom>
          <a:noFill/>
        </p:spPr>
        <p:txBody>
          <a:bodyPr wrap="square" anchor="t" lIns="0" rIns="0" tIns="0" bIns="0">
            <a:noAutofit/>
          </a:bodyPr>
          <a:lstStyle/>
          <a:p>
            <a:pPr algn="ctr">
              <a:lnSpc>
                <a:spcPct val="100000"/>
              </a:lnSpc>
              <a:spcBef>
                <a:spcPts val="0"/>
              </a:spcBef>
              <a:spcAft>
                <a:spcPts val="0"/>
              </a:spcAft>
            </a:pPr>
            <a:r>
              <a:rPr sz="950" b="1" i="0">
                <a:solidFill>
                  <a:srgbClr val="987F11"/>
                </a:solidFill>
                <a:latin typeface="Segoe UI"/>
              </a:rPr>
              <a:t>22</a:t>
            </a:r>
          </a:p>
        </p:txBody>
      </p:sp>
      <p:sp>
        <p:nvSpPr>
          <p:cNvPr id="63" name="!!dotlabel"/>
          <p:cNvSpPr txBox="1"/>
          <p:nvPr/>
        </p:nvSpPr>
        <p:spPr>
          <a:xfrm>
            <a:off x="2692637" y="2798064"/>
            <a:ext cx="5852160" cy="310896"/>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7A3A95"/>
                </a:solidFill>
                <a:latin typeface="Segoe UI"/>
              </a:rPr>
              <a:t>Knowledge Representation</a:t>
            </a:r>
          </a:p>
        </p:txBody>
      </p:sp>
      <p:sp>
        <p:nvSpPr>
          <p:cNvPr id="64" name="!!dep-BUILD"/>
          <p:cNvSpPr txBox="1"/>
          <p:nvPr/>
        </p:nvSpPr>
        <p:spPr>
          <a:xfrm>
            <a:off x="658368" y="3419856"/>
            <a:ext cx="5208879" cy="256032"/>
          </a:xfrm>
          <a:prstGeom prst="rect">
            <a:avLst/>
          </a:prstGeom>
          <a:noFill/>
        </p:spPr>
        <p:txBody>
          <a:bodyPr wrap="square" anchor="t" lIns="0" rIns="0" tIns="0" bIns="0">
            <a:noAutofit/>
          </a:bodyPr>
          <a:lstStyle/>
          <a:p>
            <a:pPr algn="l">
              <a:lnSpc>
                <a:spcPct val="100000"/>
              </a:lnSpc>
              <a:spcBef>
                <a:spcPts val="0"/>
              </a:spcBef>
              <a:spcAft>
                <a:spcPts val="0"/>
              </a:spcAft>
            </a:pPr>
            <a:r>
              <a:rPr sz="1200" b="1" i="0" spc="150">
                <a:solidFill>
                  <a:srgbClr val="5F6F7B"/>
                </a:solidFill>
                <a:latin typeface="Segoe UI"/>
              </a:rPr>
              <a:t>BUILDS ON</a:t>
            </a:r>
          </a:p>
        </p:txBody>
      </p:sp>
      <p:sp>
        <p:nvSpPr>
          <p:cNvPr id="65" name="!!chipBU1">
            <a:extLst>
              <a:ext uri="{C183D7F6-B498-43B3-948B-1728B52AA6E4}">
                <adec:decorative xmlns:adec="http://schemas.microsoft.com/office/drawing/2017/decorative" val="1"/>
              </a:ext>
            </a:extLst>
          </p:cNvPr>
          <p:cNvSpPr/>
          <p:nvPr/>
        </p:nvSpPr>
        <p:spPr>
          <a:xfrm>
            <a:off x="658368" y="3785616"/>
            <a:ext cx="5208879" cy="420624"/>
          </a:xfrm>
          <a:prstGeom prst="roundRect">
            <a:avLst>
              <a:gd name="adj" fmla="val 17391"/>
            </a:avLst>
          </a:prstGeom>
          <a:solidFill>
            <a:srgbClr val="E8EEF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66" name="!!chipbBU1">
            <a:extLst>
              <a:ext uri="{C183D7F6-B498-43B3-948B-1728B52AA6E4}">
                <adec:decorative xmlns:adec="http://schemas.microsoft.com/office/drawing/2017/decorative" val="1"/>
              </a:ext>
            </a:extLst>
          </p:cNvPr>
          <p:cNvSpPr/>
          <p:nvPr/>
        </p:nvSpPr>
        <p:spPr>
          <a:xfrm>
            <a:off x="658368" y="3785616"/>
            <a:ext cx="64008" cy="420624"/>
          </a:xfrm>
          <a:prstGeom prst="rect">
            <a:avLst/>
          </a:prstGeom>
          <a:solidFill>
            <a:srgbClr val="1A527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67" name="!!chiptBU1"/>
          <p:cNvSpPr txBox="1"/>
          <p:nvPr/>
        </p:nvSpPr>
        <p:spPr>
          <a:xfrm>
            <a:off x="859536" y="3877056"/>
            <a:ext cx="4934559" cy="274320"/>
          </a:xfrm>
          <a:prstGeom prst="rect">
            <a:avLst/>
          </a:prstGeom>
          <a:noFill/>
        </p:spPr>
        <p:txBody>
          <a:bodyPr wrap="square" anchor="t" lIns="0" rIns="0" tIns="0" bIns="0">
            <a:noAutofit/>
          </a:bodyPr>
          <a:lstStyle/>
          <a:p>
            <a:pPr algn="l">
              <a:lnSpc>
                <a:spcPct val="100000"/>
              </a:lnSpc>
              <a:spcBef>
                <a:spcPts val="0"/>
              </a:spcBef>
              <a:spcAft>
                <a:spcPts val="0"/>
              </a:spcAft>
            </a:pPr>
            <a:r>
              <a:rPr sz="1400" b="1" i="0">
                <a:solidFill>
                  <a:srgbClr val="1A5276"/>
                </a:solidFill>
                <a:latin typeface="Segoe UI"/>
              </a:rPr>
              <a:t>Ch 1  </a:t>
            </a:r>
            <a:r>
              <a:rPr sz="1400" b="0" i="0">
                <a:solidFill>
                  <a:srgbClr val="1C252B"/>
                </a:solidFill>
                <a:latin typeface="Segoe UI"/>
              </a:rPr>
              <a:t>What Artificial Intelligence Is</a:t>
            </a:r>
          </a:p>
        </p:txBody>
      </p:sp>
      <p:sp>
        <p:nvSpPr>
          <p:cNvPr id="68" name="!!chipBU3">
            <a:extLst>
              <a:ext uri="{C183D7F6-B498-43B3-948B-1728B52AA6E4}">
                <adec:decorative xmlns:adec="http://schemas.microsoft.com/office/drawing/2017/decorative" val="1"/>
              </a:ext>
            </a:extLst>
          </p:cNvPr>
          <p:cNvSpPr/>
          <p:nvPr/>
        </p:nvSpPr>
        <p:spPr>
          <a:xfrm>
            <a:off x="658368" y="4297680"/>
            <a:ext cx="5208879" cy="420624"/>
          </a:xfrm>
          <a:prstGeom prst="roundRect">
            <a:avLst>
              <a:gd name="adj" fmla="val 17391"/>
            </a:avLst>
          </a:prstGeom>
          <a:solidFill>
            <a:srgbClr val="E8EEF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69" name="!!chipbBU3">
            <a:extLst>
              <a:ext uri="{C183D7F6-B498-43B3-948B-1728B52AA6E4}">
                <adec:decorative xmlns:adec="http://schemas.microsoft.com/office/drawing/2017/decorative" val="1"/>
              </a:ext>
            </a:extLst>
          </p:cNvPr>
          <p:cNvSpPr/>
          <p:nvPr/>
        </p:nvSpPr>
        <p:spPr>
          <a:xfrm>
            <a:off x="658368" y="4297680"/>
            <a:ext cx="64008" cy="420624"/>
          </a:xfrm>
          <a:prstGeom prst="rect">
            <a:avLst/>
          </a:prstGeom>
          <a:solidFill>
            <a:srgbClr val="1A527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70" name="!!chiptBU3"/>
          <p:cNvSpPr txBox="1"/>
          <p:nvPr/>
        </p:nvSpPr>
        <p:spPr>
          <a:xfrm>
            <a:off x="859536" y="4389120"/>
            <a:ext cx="4934559" cy="274320"/>
          </a:xfrm>
          <a:prstGeom prst="rect">
            <a:avLst/>
          </a:prstGeom>
          <a:noFill/>
        </p:spPr>
        <p:txBody>
          <a:bodyPr wrap="square" anchor="t" lIns="0" rIns="0" tIns="0" bIns="0">
            <a:noAutofit/>
          </a:bodyPr>
          <a:lstStyle/>
          <a:p>
            <a:pPr algn="l">
              <a:lnSpc>
                <a:spcPct val="100000"/>
              </a:lnSpc>
              <a:spcBef>
                <a:spcPts val="0"/>
              </a:spcBef>
              <a:spcAft>
                <a:spcPts val="0"/>
              </a:spcAft>
            </a:pPr>
            <a:r>
              <a:rPr sz="1400" b="1" i="0">
                <a:solidFill>
                  <a:srgbClr val="1A5276"/>
                </a:solidFill>
                <a:latin typeface="Segoe UI"/>
              </a:rPr>
              <a:t>Ch 3  </a:t>
            </a:r>
            <a:r>
              <a:rPr sz="1400" b="0" i="0">
                <a:solidFill>
                  <a:srgbClr val="1C252B"/>
                </a:solidFill>
                <a:latin typeface="Segoe UI"/>
              </a:rPr>
              <a:t>Representations and Search in Python</a:t>
            </a:r>
          </a:p>
        </p:txBody>
      </p:sp>
      <p:sp>
        <p:nvSpPr>
          <p:cNvPr id="71" name="!!dep-USED "/>
          <p:cNvSpPr txBox="1"/>
          <p:nvPr/>
        </p:nvSpPr>
        <p:spPr>
          <a:xfrm>
            <a:off x="6324447" y="3419856"/>
            <a:ext cx="5208879" cy="256032"/>
          </a:xfrm>
          <a:prstGeom prst="rect">
            <a:avLst/>
          </a:prstGeom>
          <a:noFill/>
        </p:spPr>
        <p:txBody>
          <a:bodyPr wrap="square" anchor="t" lIns="0" rIns="0" tIns="0" bIns="0">
            <a:noAutofit/>
          </a:bodyPr>
          <a:lstStyle/>
          <a:p>
            <a:pPr algn="l">
              <a:lnSpc>
                <a:spcPct val="100000"/>
              </a:lnSpc>
              <a:spcBef>
                <a:spcPts val="0"/>
              </a:spcBef>
              <a:spcAft>
                <a:spcPts val="0"/>
              </a:spcAft>
            </a:pPr>
            <a:r>
              <a:rPr sz="1200" b="1" i="0" spc="150">
                <a:solidFill>
                  <a:srgbClr val="5F6F7B"/>
                </a:solidFill>
                <a:latin typeface="Segoe UI"/>
              </a:rPr>
              <a:t>USED LATER IN</a:t>
            </a:r>
          </a:p>
        </p:txBody>
      </p:sp>
      <p:sp>
        <p:nvSpPr>
          <p:cNvPr id="72" name="!!chipUS11">
            <a:extLst>
              <a:ext uri="{C183D7F6-B498-43B3-948B-1728B52AA6E4}">
                <adec:decorative xmlns:adec="http://schemas.microsoft.com/office/drawing/2017/decorative" val="1"/>
              </a:ext>
            </a:extLst>
          </p:cNvPr>
          <p:cNvSpPr/>
          <p:nvPr/>
        </p:nvSpPr>
        <p:spPr>
          <a:xfrm>
            <a:off x="6324447" y="3785616"/>
            <a:ext cx="5208879" cy="420624"/>
          </a:xfrm>
          <a:prstGeom prst="roundRect">
            <a:avLst>
              <a:gd name="adj" fmla="val 17391"/>
            </a:avLst>
          </a:prstGeom>
          <a:solidFill>
            <a:srgbClr val="F2EB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73" name="!!chipbUS11">
            <a:extLst>
              <a:ext uri="{C183D7F6-B498-43B3-948B-1728B52AA6E4}">
                <adec:decorative xmlns:adec="http://schemas.microsoft.com/office/drawing/2017/decorative" val="1"/>
              </a:ext>
            </a:extLst>
          </p:cNvPr>
          <p:cNvSpPr/>
          <p:nvPr/>
        </p:nvSpPr>
        <p:spPr>
          <a:xfrm>
            <a:off x="6324447" y="3785616"/>
            <a:ext cx="64008" cy="420624"/>
          </a:xfrm>
          <a:prstGeom prst="rect">
            <a:avLst/>
          </a:prstGeom>
          <a:solidFill>
            <a:srgbClr val="7A3A9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74" name="!!chiptUS11"/>
          <p:cNvSpPr txBox="1"/>
          <p:nvPr/>
        </p:nvSpPr>
        <p:spPr>
          <a:xfrm>
            <a:off x="6525615" y="3877056"/>
            <a:ext cx="4934559" cy="274320"/>
          </a:xfrm>
          <a:prstGeom prst="rect">
            <a:avLst/>
          </a:prstGeom>
          <a:noFill/>
        </p:spPr>
        <p:txBody>
          <a:bodyPr wrap="square" anchor="t" lIns="0" rIns="0" tIns="0" bIns="0">
            <a:noAutofit/>
          </a:bodyPr>
          <a:lstStyle/>
          <a:p>
            <a:pPr algn="l">
              <a:lnSpc>
                <a:spcPct val="100000"/>
              </a:lnSpc>
              <a:spcBef>
                <a:spcPts val="0"/>
              </a:spcBef>
              <a:spcAft>
                <a:spcPts val="0"/>
              </a:spcAft>
            </a:pPr>
            <a:r>
              <a:rPr sz="1400" b="1" i="0">
                <a:solidFill>
                  <a:srgbClr val="7A3A95"/>
                </a:solidFill>
                <a:latin typeface="Segoe UI"/>
              </a:rPr>
              <a:t>Ch 11  </a:t>
            </a:r>
            <a:r>
              <a:rPr sz="1400" b="0" i="0">
                <a:solidFill>
                  <a:srgbClr val="1C252B"/>
                </a:solidFill>
                <a:latin typeface="Segoe UI"/>
              </a:rPr>
              <a:t>Propositional Logic and Inference</a:t>
            </a:r>
          </a:p>
        </p:txBody>
      </p:sp>
      <p:sp>
        <p:nvSpPr>
          <p:cNvPr id="75" name="!!chipUS13">
            <a:extLst>
              <a:ext uri="{C183D7F6-B498-43B3-948B-1728B52AA6E4}">
                <adec:decorative xmlns:adec="http://schemas.microsoft.com/office/drawing/2017/decorative" val="1"/>
              </a:ext>
            </a:extLst>
          </p:cNvPr>
          <p:cNvSpPr/>
          <p:nvPr/>
        </p:nvSpPr>
        <p:spPr>
          <a:xfrm>
            <a:off x="6324447" y="4297680"/>
            <a:ext cx="5208879" cy="420624"/>
          </a:xfrm>
          <a:prstGeom prst="roundRect">
            <a:avLst>
              <a:gd name="adj" fmla="val 17391"/>
            </a:avLst>
          </a:prstGeom>
          <a:solidFill>
            <a:srgbClr val="F2EB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76" name="!!chipbUS13">
            <a:extLst>
              <a:ext uri="{C183D7F6-B498-43B3-948B-1728B52AA6E4}">
                <adec:decorative xmlns:adec="http://schemas.microsoft.com/office/drawing/2017/decorative" val="1"/>
              </a:ext>
            </a:extLst>
          </p:cNvPr>
          <p:cNvSpPr/>
          <p:nvPr/>
        </p:nvSpPr>
        <p:spPr>
          <a:xfrm>
            <a:off x="6324447" y="4297680"/>
            <a:ext cx="64008" cy="420624"/>
          </a:xfrm>
          <a:prstGeom prst="rect">
            <a:avLst/>
          </a:prstGeom>
          <a:solidFill>
            <a:srgbClr val="7A3A9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77" name="!!chiptUS13"/>
          <p:cNvSpPr txBox="1"/>
          <p:nvPr/>
        </p:nvSpPr>
        <p:spPr>
          <a:xfrm>
            <a:off x="6525615" y="4389120"/>
            <a:ext cx="4934559" cy="274320"/>
          </a:xfrm>
          <a:prstGeom prst="rect">
            <a:avLst/>
          </a:prstGeom>
          <a:noFill/>
        </p:spPr>
        <p:txBody>
          <a:bodyPr wrap="square" anchor="t" lIns="0" rIns="0" tIns="0" bIns="0">
            <a:noAutofit/>
          </a:bodyPr>
          <a:lstStyle/>
          <a:p>
            <a:pPr algn="l">
              <a:lnSpc>
                <a:spcPct val="100000"/>
              </a:lnSpc>
              <a:spcBef>
                <a:spcPts val="0"/>
              </a:spcBef>
              <a:spcAft>
                <a:spcPts val="0"/>
              </a:spcAft>
            </a:pPr>
            <a:r>
              <a:rPr sz="1400" b="1" i="0">
                <a:solidFill>
                  <a:srgbClr val="7A3A95"/>
                </a:solidFill>
                <a:latin typeface="Segoe UI"/>
              </a:rPr>
              <a:t>Ch 13  </a:t>
            </a:r>
            <a:r>
              <a:rPr sz="1400" b="0" i="0">
                <a:solidFill>
                  <a:srgbClr val="1C252B"/>
                </a:solidFill>
                <a:latin typeface="Segoe UI"/>
              </a:rPr>
              <a:t>Rule-Based Expert Systems</a:t>
            </a:r>
          </a:p>
        </p:txBody>
      </p:sp>
      <p:sp>
        <p:nvSpPr>
          <p:cNvPr id="78" name="!!chipUS14">
            <a:extLst>
              <a:ext uri="{C183D7F6-B498-43B3-948B-1728B52AA6E4}">
                <adec:decorative xmlns:adec="http://schemas.microsoft.com/office/drawing/2017/decorative" val="1"/>
              </a:ext>
            </a:extLst>
          </p:cNvPr>
          <p:cNvSpPr/>
          <p:nvPr/>
        </p:nvSpPr>
        <p:spPr>
          <a:xfrm>
            <a:off x="6324447" y="4809744"/>
            <a:ext cx="5208879" cy="420624"/>
          </a:xfrm>
          <a:prstGeom prst="roundRect">
            <a:avLst>
              <a:gd name="adj" fmla="val 17391"/>
            </a:avLst>
          </a:prstGeom>
          <a:solidFill>
            <a:srgbClr val="E7F2F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79" name="!!chipbUS14">
            <a:extLst>
              <a:ext uri="{C183D7F6-B498-43B3-948B-1728B52AA6E4}">
                <adec:decorative xmlns:adec="http://schemas.microsoft.com/office/drawing/2017/decorative" val="1"/>
              </a:ext>
            </a:extLst>
          </p:cNvPr>
          <p:cNvSpPr/>
          <p:nvPr/>
        </p:nvSpPr>
        <p:spPr>
          <a:xfrm>
            <a:off x="6324447" y="4809744"/>
            <a:ext cx="64008" cy="420624"/>
          </a:xfrm>
          <a:prstGeom prst="rect">
            <a:avLst/>
          </a:prstGeom>
          <a:solidFill>
            <a:srgbClr val="10796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80" name="!!chiptUS14"/>
          <p:cNvSpPr txBox="1"/>
          <p:nvPr/>
        </p:nvSpPr>
        <p:spPr>
          <a:xfrm>
            <a:off x="6525615" y="4901184"/>
            <a:ext cx="4934559" cy="274320"/>
          </a:xfrm>
          <a:prstGeom prst="rect">
            <a:avLst/>
          </a:prstGeom>
          <a:noFill/>
        </p:spPr>
        <p:txBody>
          <a:bodyPr wrap="square" anchor="t" lIns="0" rIns="0" tIns="0" bIns="0">
            <a:noAutofit/>
          </a:bodyPr>
          <a:lstStyle/>
          <a:p>
            <a:pPr algn="l">
              <a:lnSpc>
                <a:spcPct val="100000"/>
              </a:lnSpc>
              <a:spcBef>
                <a:spcPts val="0"/>
              </a:spcBef>
              <a:spcAft>
                <a:spcPts val="0"/>
              </a:spcAft>
            </a:pPr>
            <a:r>
              <a:rPr sz="1400" b="1" i="0">
                <a:solidFill>
                  <a:srgbClr val="107964"/>
                </a:solidFill>
                <a:latin typeface="Segoe UI"/>
              </a:rPr>
              <a:t>Ch 14  </a:t>
            </a:r>
            <a:r>
              <a:rPr sz="1400" b="0" i="0">
                <a:solidFill>
                  <a:srgbClr val="1C252B"/>
                </a:solidFill>
                <a:latin typeface="Segoe UI"/>
              </a:rPr>
              <a:t>Uncertainty and Decision Making</a:t>
            </a:r>
          </a:p>
        </p:txBody>
      </p:sp>
      <p:sp>
        <p:nvSpPr>
          <p:cNvPr id="81" name="!!chipUS20">
            <a:extLst>
              <a:ext uri="{C183D7F6-B498-43B3-948B-1728B52AA6E4}">
                <adec:decorative xmlns:adec="http://schemas.microsoft.com/office/drawing/2017/decorative" val="1"/>
              </a:ext>
            </a:extLst>
          </p:cNvPr>
          <p:cNvSpPr/>
          <p:nvPr/>
        </p:nvSpPr>
        <p:spPr>
          <a:xfrm>
            <a:off x="6324447" y="5321808"/>
            <a:ext cx="5208879" cy="420624"/>
          </a:xfrm>
          <a:prstGeom prst="roundRect">
            <a:avLst>
              <a:gd name="adj" fmla="val 17391"/>
            </a:avLst>
          </a:prstGeom>
          <a:solidFill>
            <a:srgbClr val="F1EFE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82" name="!!chipbUS20">
            <a:extLst>
              <a:ext uri="{C183D7F6-B498-43B3-948B-1728B52AA6E4}">
                <adec:decorative xmlns:adec="http://schemas.microsoft.com/office/drawing/2017/decorative" val="1"/>
              </a:ext>
            </a:extLst>
          </p:cNvPr>
          <p:cNvSpPr/>
          <p:nvPr/>
        </p:nvSpPr>
        <p:spPr>
          <a:xfrm>
            <a:off x="6324447" y="5321808"/>
            <a:ext cx="64008" cy="420624"/>
          </a:xfrm>
          <a:prstGeom prst="rect">
            <a:avLst/>
          </a:prstGeom>
          <a:solidFill>
            <a:srgbClr val="705B0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83" name="!!chiptUS20"/>
          <p:cNvSpPr txBox="1"/>
          <p:nvPr/>
        </p:nvSpPr>
        <p:spPr>
          <a:xfrm>
            <a:off x="6525615" y="5413248"/>
            <a:ext cx="4934559" cy="274320"/>
          </a:xfrm>
          <a:prstGeom prst="rect">
            <a:avLst/>
          </a:prstGeom>
          <a:noFill/>
        </p:spPr>
        <p:txBody>
          <a:bodyPr wrap="square" anchor="t" lIns="0" rIns="0" tIns="0" bIns="0">
            <a:noAutofit/>
          </a:bodyPr>
          <a:lstStyle/>
          <a:p>
            <a:pPr algn="l">
              <a:lnSpc>
                <a:spcPct val="100000"/>
              </a:lnSpc>
              <a:spcBef>
                <a:spcPts val="0"/>
              </a:spcBef>
              <a:spcAft>
                <a:spcPts val="0"/>
              </a:spcAft>
            </a:pPr>
            <a:r>
              <a:rPr sz="1400" b="1" i="0">
                <a:solidFill>
                  <a:srgbClr val="705B06"/>
                </a:solidFill>
                <a:latin typeface="Segoe UI"/>
              </a:rPr>
              <a:t>Ch 20  </a:t>
            </a:r>
            <a:r>
              <a:rPr sz="1400" b="0" i="0">
                <a:solidFill>
                  <a:srgbClr val="1C252B"/>
                </a:solidFill>
                <a:latin typeface="Segoe UI"/>
              </a:rPr>
              <a:t>Recent Trends and Applications</a:t>
            </a:r>
          </a:p>
        </p:txBody>
      </p:sp>
      <p:sp>
        <p:nvSpPr>
          <p:cNvPr id="84"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85" name="!!pfill">
            <a:extLst>
              <a:ext uri="{C183D7F6-B498-43B3-948B-1728B52AA6E4}">
                <adec:decorative xmlns:adec="http://schemas.microsoft.com/office/drawing/2017/decorative" val="1"/>
              </a:ext>
            </a:extLst>
          </p:cNvPr>
          <p:cNvSpPr/>
          <p:nvPr/>
        </p:nvSpPr>
        <p:spPr>
          <a:xfrm>
            <a:off x="0" y="0"/>
            <a:ext cx="567055" cy="54864"/>
          </a:xfrm>
          <a:prstGeom prst="rect">
            <a:avLst/>
          </a:prstGeom>
          <a:solidFill>
            <a:srgbClr val="8E44A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Requires="p14">
      <p:transition spd="med" p14:dur="450">
        <p:fade/>
      </p:transition>
    </mc:Choice>
    <mc:Fallback>
      <p:transition spd="med">
        <p:fade/>
      </p:transition>
    </mc:Fallback>
  </mc:AlternateContent>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3000" b="0">
                <a:solidFill>
                  <a:srgbClr val="1A5276"/>
                </a:solidFill>
                <a:latin typeface="Segoe UI Semibold"/>
              </a:rPr>
              <a:t>What you will be able to do</a:t>
            </a:r>
          </a:p>
        </p:txBody>
      </p:sp>
      <p:pic>
        <p:nvPicPr>
          <p:cNvPr id="3" name="!!kicker-icon" descr="bullseye-1A5276.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219456"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1A5276"/>
                </a:solidFill>
                <a:latin typeface="Segoe UI"/>
              </a:rPr>
              <a:t>LEARNING OUTCOMES</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Artificial Intelligence  ·  Chapter 10  ·  Knowledge Representation</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Handout p. 101     </a:t>
            </a:r>
            <a:fld id="{6DCCC91C-7660-45BC-8844-B74A1E9EF351}" type="slidenum">
              <a:rPr lang="en-GB" sz="1000">
                <a:solidFill>
                  <a:srgbClr val="8795A1"/>
                </a:solidFill>
                <a:latin typeface="Segoe UI"/>
              </a:rPr>
              <a:t>3</a:t>
            </a:fld>
          </a:p>
        </p:txBody>
      </p:sp>
      <p:sp>
        <p:nvSpPr>
          <p:cNvPr id="7" name="!!olead"/>
          <p:cNvSpPr txBox="1"/>
          <p:nvPr/>
        </p:nvSpPr>
        <p:spPr>
          <a:xfrm>
            <a:off x="658368" y="1737360"/>
            <a:ext cx="10874959" cy="329184"/>
          </a:xfrm>
          <a:prstGeom prst="rect">
            <a:avLst/>
          </a:prstGeom>
          <a:noFill/>
        </p:spPr>
        <p:txBody>
          <a:bodyPr wrap="square" anchor="t" lIns="0" rIns="0" tIns="0" bIns="0">
            <a:noAutofit/>
          </a:bodyPr>
          <a:lstStyle/>
          <a:p>
            <a:pPr algn="l">
              <a:lnSpc>
                <a:spcPct val="100000"/>
              </a:lnSpc>
              <a:spcBef>
                <a:spcPts val="0"/>
              </a:spcBef>
              <a:spcAft>
                <a:spcPts val="0"/>
              </a:spcAft>
            </a:pPr>
            <a:r>
              <a:rPr sz="1600" b="0" i="0">
                <a:solidFill>
                  <a:srgbClr val="5F6F7B"/>
                </a:solidFill>
                <a:latin typeface="Segoe UI"/>
              </a:rPr>
              <a:t>By the end of this chapter you will be able to:</a:t>
            </a:r>
          </a:p>
        </p:txBody>
      </p:sp>
      <p:sp>
        <p:nvSpPr>
          <p:cNvPr id="8" name="!!ob0">
            <a:extLst>
              <a:ext uri="{C183D7F6-B498-43B3-948B-1728B52AA6E4}">
                <adec:decorative xmlns:adec="http://schemas.microsoft.com/office/drawing/2017/decorative" val="1"/>
              </a:ext>
            </a:extLst>
          </p:cNvPr>
          <p:cNvSpPr/>
          <p:nvPr/>
        </p:nvSpPr>
        <p:spPr>
          <a:xfrm>
            <a:off x="658368" y="2221991"/>
            <a:ext cx="420624" cy="420624"/>
          </a:xfrm>
          <a:prstGeom prst="ellipse">
            <a:avLst/>
          </a:prstGeom>
          <a:solidFill>
            <a:srgbClr val="7A3A9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9" name="!!obn0"/>
          <p:cNvSpPr txBox="1"/>
          <p:nvPr/>
        </p:nvSpPr>
        <p:spPr>
          <a:xfrm>
            <a:off x="658368" y="2281428"/>
            <a:ext cx="420624" cy="274320"/>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FFFFFF"/>
                </a:solidFill>
                <a:latin typeface="Segoe UI Semibold"/>
              </a:rPr>
              <a:t>1</a:t>
            </a:r>
          </a:p>
        </p:txBody>
      </p:sp>
      <p:sp>
        <p:nvSpPr>
          <p:cNvPr id="10" name="!!ot0"/>
          <p:cNvSpPr txBox="1"/>
          <p:nvPr/>
        </p:nvSpPr>
        <p:spPr>
          <a:xfrm>
            <a:off x="1316736" y="2212848"/>
            <a:ext cx="10216591" cy="665683"/>
          </a:xfrm>
          <a:prstGeom prst="rect">
            <a:avLst/>
          </a:prstGeom>
          <a:noFill/>
        </p:spPr>
        <p:txBody>
          <a:bodyPr wrap="square" anchor="t" lIns="0" rIns="0" tIns="0" bIns="0">
            <a:noAutofit/>
          </a:bodyPr>
          <a:lstStyle/>
          <a:p>
            <a:pPr algn="l">
              <a:lnSpc>
                <a:spcPct val="104000"/>
              </a:lnSpc>
              <a:spcBef>
                <a:spcPts val="0"/>
              </a:spcBef>
              <a:spcAft>
                <a:spcPts val="0"/>
              </a:spcAft>
            </a:pPr>
            <a:r>
              <a:rPr sz="2100" b="1" i="0">
                <a:solidFill>
                  <a:srgbClr val="7A3A95"/>
                </a:solidFill>
                <a:latin typeface="Segoe UI"/>
              </a:rPr>
              <a:t>State</a:t>
            </a:r>
            <a:r>
              <a:rPr sz="2100" b="0" i="0">
                <a:solidFill>
                  <a:srgbClr val="1C252B"/>
                </a:solidFill>
                <a:latin typeface="Segoe UI"/>
              </a:rPr>
              <a:t> what a knowledge representation must support, and </a:t>
            </a:r>
            <a:r>
              <a:rPr sz="2100" b="1" i="0">
                <a:solidFill>
                  <a:srgbClr val="1C252B"/>
                </a:solidFill>
                <a:latin typeface="Segoe UI"/>
              </a:rPr>
              <a:t>judge</a:t>
            </a:r>
            <a:r>
              <a:rPr sz="2100" b="0" i="0">
                <a:solidFill>
                  <a:srgbClr val="1C252B"/>
                </a:solidFill>
                <a:latin typeface="Segoe UI"/>
              </a:rPr>
              <a:t> a candidate representation against those criteria.</a:t>
            </a:r>
          </a:p>
        </p:txBody>
      </p:sp>
      <p:sp>
        <p:nvSpPr>
          <p:cNvPr id="11" name="!!ob1">
            <a:extLst>
              <a:ext uri="{C183D7F6-B498-43B3-948B-1728B52AA6E4}">
                <adec:decorative xmlns:adec="http://schemas.microsoft.com/office/drawing/2017/decorative" val="1"/>
              </a:ext>
            </a:extLst>
          </p:cNvPr>
          <p:cNvSpPr/>
          <p:nvPr/>
        </p:nvSpPr>
        <p:spPr>
          <a:xfrm>
            <a:off x="658368" y="3070555"/>
            <a:ext cx="420624" cy="420624"/>
          </a:xfrm>
          <a:prstGeom prst="ellipse">
            <a:avLst/>
          </a:prstGeom>
          <a:solidFill>
            <a:srgbClr val="7A3A9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2" name="!!obn1"/>
          <p:cNvSpPr txBox="1"/>
          <p:nvPr/>
        </p:nvSpPr>
        <p:spPr>
          <a:xfrm>
            <a:off x="658368" y="3129991"/>
            <a:ext cx="420624" cy="274320"/>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FFFFFF"/>
                </a:solidFill>
                <a:latin typeface="Segoe UI Semibold"/>
              </a:rPr>
              <a:t>2</a:t>
            </a:r>
          </a:p>
        </p:txBody>
      </p:sp>
      <p:sp>
        <p:nvSpPr>
          <p:cNvPr id="13" name="!!ot1"/>
          <p:cNvSpPr txBox="1"/>
          <p:nvPr/>
        </p:nvSpPr>
        <p:spPr>
          <a:xfrm>
            <a:off x="1316736" y="3111703"/>
            <a:ext cx="10216591" cy="420624"/>
          </a:xfrm>
          <a:prstGeom prst="rect">
            <a:avLst/>
          </a:prstGeom>
          <a:noFill/>
        </p:spPr>
        <p:txBody>
          <a:bodyPr wrap="square" anchor="t" lIns="0" rIns="0" tIns="0" bIns="0">
            <a:noAutofit/>
          </a:bodyPr>
          <a:lstStyle/>
          <a:p>
            <a:pPr algn="l">
              <a:lnSpc>
                <a:spcPct val="104000"/>
              </a:lnSpc>
              <a:spcBef>
                <a:spcPts val="0"/>
              </a:spcBef>
              <a:spcAft>
                <a:spcPts val="0"/>
              </a:spcAft>
            </a:pPr>
            <a:r>
              <a:rPr sz="2100" b="1" i="0">
                <a:solidFill>
                  <a:srgbClr val="7A3A95"/>
                </a:solidFill>
                <a:latin typeface="Segoe UI"/>
              </a:rPr>
              <a:t>Build</a:t>
            </a:r>
            <a:r>
              <a:rPr sz="2100" b="0" i="0">
                <a:solidFill>
                  <a:srgbClr val="1C252B"/>
                </a:solidFill>
                <a:latin typeface="Segoe UI"/>
              </a:rPr>
              <a:t> a semantic network and </a:t>
            </a:r>
            <a:r>
              <a:rPr sz="2100" b="1" i="0">
                <a:solidFill>
                  <a:srgbClr val="1C252B"/>
                </a:solidFill>
                <a:latin typeface="Segoe UI"/>
              </a:rPr>
              <a:t>answer</a:t>
            </a:r>
            <a:r>
              <a:rPr sz="2100" b="0" i="0">
                <a:solidFill>
                  <a:srgbClr val="1C252B"/>
                </a:solidFill>
                <a:latin typeface="Segoe UI"/>
              </a:rPr>
              <a:t> queries by inheritance.</a:t>
            </a:r>
          </a:p>
        </p:txBody>
      </p:sp>
      <p:sp>
        <p:nvSpPr>
          <p:cNvPr id="14" name="!!ob2">
            <a:extLst>
              <a:ext uri="{C183D7F6-B498-43B3-948B-1728B52AA6E4}">
                <adec:decorative xmlns:adec="http://schemas.microsoft.com/office/drawing/2017/decorative" val="1"/>
              </a:ext>
            </a:extLst>
          </p:cNvPr>
          <p:cNvSpPr/>
          <p:nvPr/>
        </p:nvSpPr>
        <p:spPr>
          <a:xfrm>
            <a:off x="658368" y="3674059"/>
            <a:ext cx="420624" cy="420624"/>
          </a:xfrm>
          <a:prstGeom prst="ellipse">
            <a:avLst/>
          </a:prstGeom>
          <a:solidFill>
            <a:srgbClr val="7A3A9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5" name="!!obn2"/>
          <p:cNvSpPr txBox="1"/>
          <p:nvPr/>
        </p:nvSpPr>
        <p:spPr>
          <a:xfrm>
            <a:off x="658368" y="3733495"/>
            <a:ext cx="420624" cy="274320"/>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FFFFFF"/>
                </a:solidFill>
                <a:latin typeface="Segoe UI Semibold"/>
              </a:rPr>
              <a:t>3</a:t>
            </a:r>
          </a:p>
        </p:txBody>
      </p:sp>
      <p:sp>
        <p:nvSpPr>
          <p:cNvPr id="16" name="!!ot2"/>
          <p:cNvSpPr txBox="1"/>
          <p:nvPr/>
        </p:nvSpPr>
        <p:spPr>
          <a:xfrm>
            <a:off x="1316736" y="3664915"/>
            <a:ext cx="10216591" cy="665683"/>
          </a:xfrm>
          <a:prstGeom prst="rect">
            <a:avLst/>
          </a:prstGeom>
          <a:noFill/>
        </p:spPr>
        <p:txBody>
          <a:bodyPr wrap="square" anchor="t" lIns="0" rIns="0" tIns="0" bIns="0">
            <a:noAutofit/>
          </a:bodyPr>
          <a:lstStyle/>
          <a:p>
            <a:pPr algn="l">
              <a:lnSpc>
                <a:spcPct val="104000"/>
              </a:lnSpc>
              <a:spcBef>
                <a:spcPts val="0"/>
              </a:spcBef>
              <a:spcAft>
                <a:spcPts val="0"/>
              </a:spcAft>
            </a:pPr>
            <a:r>
              <a:rPr sz="2100" b="1" i="0">
                <a:solidFill>
                  <a:srgbClr val="7A3A95"/>
                </a:solidFill>
                <a:latin typeface="Segoe UI"/>
              </a:rPr>
              <a:t>Distinguish</a:t>
            </a:r>
            <a:r>
              <a:rPr sz="2100" b="0" i="0">
                <a:solidFill>
                  <a:srgbClr val="1C252B"/>
                </a:solidFill>
                <a:latin typeface="Segoe UI"/>
              </a:rPr>
              <a:t> frames, slots and defaults, and </a:t>
            </a:r>
            <a:r>
              <a:rPr sz="2100" b="1" i="0">
                <a:solidFill>
                  <a:srgbClr val="1C252B"/>
                </a:solidFill>
                <a:latin typeface="Segoe UI"/>
              </a:rPr>
              <a:t>explain</a:t>
            </a:r>
            <a:r>
              <a:rPr sz="2100" b="0" i="0">
                <a:solidFill>
                  <a:srgbClr val="1C252B"/>
                </a:solidFill>
                <a:latin typeface="Segoe UI"/>
              </a:rPr>
              <a:t> what default override buys and what it costs.</a:t>
            </a:r>
          </a:p>
        </p:txBody>
      </p:sp>
      <p:sp>
        <p:nvSpPr>
          <p:cNvPr id="17" name="!!ob3">
            <a:extLst>
              <a:ext uri="{C183D7F6-B498-43B3-948B-1728B52AA6E4}">
                <adec:decorative xmlns:adec="http://schemas.microsoft.com/office/drawing/2017/decorative" val="1"/>
              </a:ext>
            </a:extLst>
          </p:cNvPr>
          <p:cNvSpPr/>
          <p:nvPr/>
        </p:nvSpPr>
        <p:spPr>
          <a:xfrm>
            <a:off x="658368" y="4522622"/>
            <a:ext cx="420624" cy="420624"/>
          </a:xfrm>
          <a:prstGeom prst="ellipse">
            <a:avLst/>
          </a:prstGeom>
          <a:solidFill>
            <a:srgbClr val="7A3A9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8" name="!!obn3"/>
          <p:cNvSpPr txBox="1"/>
          <p:nvPr/>
        </p:nvSpPr>
        <p:spPr>
          <a:xfrm>
            <a:off x="658368" y="4582058"/>
            <a:ext cx="420624" cy="274320"/>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FFFFFF"/>
                </a:solidFill>
                <a:latin typeface="Segoe UI Semibold"/>
              </a:rPr>
              <a:t>4</a:t>
            </a:r>
          </a:p>
        </p:txBody>
      </p:sp>
      <p:sp>
        <p:nvSpPr>
          <p:cNvPr id="19" name="!!ot3"/>
          <p:cNvSpPr txBox="1"/>
          <p:nvPr/>
        </p:nvSpPr>
        <p:spPr>
          <a:xfrm>
            <a:off x="1316736" y="4563770"/>
            <a:ext cx="10216591" cy="420624"/>
          </a:xfrm>
          <a:prstGeom prst="rect">
            <a:avLst/>
          </a:prstGeom>
          <a:noFill/>
        </p:spPr>
        <p:txBody>
          <a:bodyPr wrap="square" anchor="t" lIns="0" rIns="0" tIns="0" bIns="0">
            <a:noAutofit/>
          </a:bodyPr>
          <a:lstStyle/>
          <a:p>
            <a:pPr algn="l">
              <a:lnSpc>
                <a:spcPct val="104000"/>
              </a:lnSpc>
              <a:spcBef>
                <a:spcPts val="0"/>
              </a:spcBef>
              <a:spcAft>
                <a:spcPts val="0"/>
              </a:spcAft>
            </a:pPr>
            <a:r>
              <a:rPr sz="2100" b="1" i="0">
                <a:solidFill>
                  <a:srgbClr val="7A3A95"/>
                </a:solidFill>
                <a:latin typeface="Segoe UI"/>
              </a:rPr>
              <a:t>Identify</a:t>
            </a:r>
            <a:r>
              <a:rPr sz="2100" b="0" i="0">
                <a:solidFill>
                  <a:srgbClr val="1C252B"/>
                </a:solidFill>
                <a:latin typeface="Segoe UI"/>
              </a:rPr>
              <a:t> a multiple-inheritance conflict and </a:t>
            </a:r>
            <a:r>
              <a:rPr sz="2100" b="1" i="0">
                <a:solidFill>
                  <a:srgbClr val="1C252B"/>
                </a:solidFill>
                <a:latin typeface="Segoe UI"/>
              </a:rPr>
              <a:t>say</a:t>
            </a:r>
            <a:r>
              <a:rPr sz="2100" b="0" i="0">
                <a:solidFill>
                  <a:srgbClr val="1C252B"/>
                </a:solidFill>
                <a:latin typeface="Segoe UI"/>
              </a:rPr>
              <a:t> why no purely local rule resolves it.</a:t>
            </a:r>
          </a:p>
        </p:txBody>
      </p:sp>
      <p:sp>
        <p:nvSpPr>
          <p:cNvPr id="20" name="!!ob4">
            <a:extLst>
              <a:ext uri="{C183D7F6-B498-43B3-948B-1728B52AA6E4}">
                <adec:decorative xmlns:adec="http://schemas.microsoft.com/office/drawing/2017/decorative" val="1"/>
              </a:ext>
            </a:extLst>
          </p:cNvPr>
          <p:cNvSpPr/>
          <p:nvPr/>
        </p:nvSpPr>
        <p:spPr>
          <a:xfrm>
            <a:off x="658368" y="5126126"/>
            <a:ext cx="420624" cy="420624"/>
          </a:xfrm>
          <a:prstGeom prst="ellipse">
            <a:avLst/>
          </a:prstGeom>
          <a:solidFill>
            <a:srgbClr val="7A3A9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1" name="!!obn4"/>
          <p:cNvSpPr txBox="1"/>
          <p:nvPr/>
        </p:nvSpPr>
        <p:spPr>
          <a:xfrm>
            <a:off x="658368" y="5185562"/>
            <a:ext cx="420624" cy="274320"/>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FFFFFF"/>
                </a:solidFill>
                <a:latin typeface="Segoe UI Semibold"/>
              </a:rPr>
              <a:t>5</a:t>
            </a:r>
          </a:p>
        </p:txBody>
      </p:sp>
      <p:sp>
        <p:nvSpPr>
          <p:cNvPr id="22" name="!!ot4"/>
          <p:cNvSpPr txBox="1"/>
          <p:nvPr/>
        </p:nvSpPr>
        <p:spPr>
          <a:xfrm>
            <a:off x="1316736" y="5116982"/>
            <a:ext cx="10216591" cy="665683"/>
          </a:xfrm>
          <a:prstGeom prst="rect">
            <a:avLst/>
          </a:prstGeom>
          <a:noFill/>
        </p:spPr>
        <p:txBody>
          <a:bodyPr wrap="square" anchor="t" lIns="0" rIns="0" tIns="0" bIns="0">
            <a:noAutofit/>
          </a:bodyPr>
          <a:lstStyle/>
          <a:p>
            <a:pPr algn="l">
              <a:lnSpc>
                <a:spcPct val="104000"/>
              </a:lnSpc>
              <a:spcBef>
                <a:spcPts val="0"/>
              </a:spcBef>
              <a:spcAft>
                <a:spcPts val="0"/>
              </a:spcAft>
            </a:pPr>
            <a:r>
              <a:rPr sz="2100" b="1" i="0">
                <a:solidFill>
                  <a:srgbClr val="7A3A95"/>
                </a:solidFill>
                <a:latin typeface="Segoe UI"/>
              </a:rPr>
              <a:t>Describe</a:t>
            </a:r>
            <a:r>
              <a:rPr sz="2100" b="0" i="0">
                <a:solidFill>
                  <a:srgbClr val="1C252B"/>
                </a:solidFill>
                <a:latin typeface="Segoe UI"/>
              </a:rPr>
              <a:t> what an ontology adds, and </a:t>
            </a:r>
            <a:r>
              <a:rPr sz="2100" b="1" i="0">
                <a:solidFill>
                  <a:srgbClr val="1C252B"/>
                </a:solidFill>
                <a:latin typeface="Segoe UI"/>
              </a:rPr>
              <a:t>say</a:t>
            </a:r>
            <a:r>
              <a:rPr sz="2100" b="0" i="0">
                <a:solidFill>
                  <a:srgbClr val="1C252B"/>
                </a:solidFill>
                <a:latin typeface="Segoe UI"/>
              </a:rPr>
              <a:t> where this course hands over to </a:t>
            </a:r>
            <a:r>
              <a:rPr sz="2100" b="0" i="1">
                <a:solidFill>
                  <a:srgbClr val="1C252B"/>
                </a:solidFill>
                <a:latin typeface="Segoe UI"/>
              </a:rPr>
              <a:t>Knowledge Representation and Reasoning</a:t>
            </a:r>
            <a:r>
              <a:rPr sz="2100" b="0" i="0">
                <a:solidFill>
                  <a:srgbClr val="1C252B"/>
                </a:solidFill>
                <a:latin typeface="Segoe UI"/>
              </a:rPr>
              <a:t>.</a:t>
            </a:r>
          </a:p>
        </p:txBody>
      </p:sp>
      <p:sp>
        <p:nvSpPr>
          <p:cNvPr id="59"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60" name="!!pfill">
            <a:extLst>
              <a:ext uri="{C183D7F6-B498-43B3-948B-1728B52AA6E4}">
                <adec:decorative xmlns:adec="http://schemas.microsoft.com/office/drawing/2017/decorative" val="1"/>
              </a:ext>
            </a:extLst>
          </p:cNvPr>
          <p:cNvSpPr/>
          <p:nvPr/>
        </p:nvSpPr>
        <p:spPr>
          <a:xfrm>
            <a:off x="0" y="0"/>
            <a:ext cx="850583" cy="54864"/>
          </a:xfrm>
          <a:prstGeom prst="rect">
            <a:avLst/>
          </a:prstGeom>
          <a:solidFill>
            <a:srgbClr val="8E44A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Requires="p14">
      <p:transition spd="med" p14:dur="450">
        <p:fade/>
      </p:transition>
    </mc:Choice>
    <mc:Fallback>
      <p:transition spd="med">
        <p:fade/>
      </p:transition>
    </mc:Fallback>
  </mc:AlternateContent>
  <p:timing>
    <p:tnLst>
      <p:par>
        <p:cTn id="2" dur="indefinite" restart="never" nodeType="tmRoot">
          <p:childTnLst>
            <p:seq concurrent="1" nextAc="seek">
              <p:cTn id="3" dur="indefinite" nodeType="mainSeq">
                <p:childTnLst>
                  <p:par>
                    <p:cTn id="4" fill="hold">
                      <p:stCondLst>
                        <p:cond delay="indefinite"/>
                      </p:stCondLst>
                      <p:childTnLst>
                        <p:par>
                          <p:cTn id="5" fill="hold">
                            <p:stCondLst>
                              <p:cond delay="0"/>
                            </p:stCondLst>
                            <p:childTnLst>
                              <p:par>
                                <p:cTn id="6" presetID="23" presetClass="entr" presetSubtype="16" fill="hold" grpId="0" nodeType="clickEffect">
                                  <p:stCondLst>
                                    <p:cond delay="0"/>
                                  </p:stCondLst>
                                  <p:childTnLst>
                                    <p:set>
                                      <p:cBhvr>
                                        <p:cTn id="7" dur="1" fill="hold">
                                          <p:stCondLst>
                                            <p:cond delay="0"/>
                                          </p:stCondLst>
                                        </p:cTn>
                                        <p:tgtEl>
                                          <p:spTgt spid="8"/>
                                        </p:tgtEl>
                                        <p:attrNameLst>
                                          <p:attrName>style.visibility</p:attrName>
                                        </p:attrNameLst>
                                      </p:cBhvr>
                                      <p:to>
                                        <p:strVal val="visible"/>
                                      </p:to>
                                    </p:set>
                                    <p:animEffect transition="in" filter="zoom(in)">
                                      <p:cBhvr>
                                        <p:cTn id="8" dur="300"/>
                                        <p:tgtEl>
                                          <p:spTgt spid="8"/>
                                        </p:tgtEl>
                                      </p:cBhvr>
                                    </p:animEffect>
                                  </p:childTnLst>
                                </p:cTn>
                              </p:par>
                              <p:par>
                                <p:cTn id="9" presetID="10" presetClass="entr" presetSubtype="0" fill="hold" grpId="0" nodeType="withEffect">
                                  <p:stCondLst>
                                    <p:cond delay="0"/>
                                  </p:stCondLst>
                                  <p:childTnLst>
                                    <p:set>
                                      <p:cBhvr>
                                        <p:cTn id="10" dur="1" fill="hold">
                                          <p:stCondLst>
                                            <p:cond delay="0"/>
                                          </p:stCondLst>
                                        </p:cTn>
                                        <p:tgtEl>
                                          <p:spTgt spid="9"/>
                                        </p:tgtEl>
                                        <p:attrNameLst>
                                          <p:attrName>style.visibility</p:attrName>
                                        </p:attrNameLst>
                                      </p:cBhvr>
                                      <p:to>
                                        <p:strVal val="visible"/>
                                      </p:to>
                                    </p:set>
                                    <p:animEffect transition="in" filter="fade">
                                      <p:cBhvr>
                                        <p:cTn id="11" dur="300"/>
                                        <p:tgtEl>
                                          <p:spTgt spid="9"/>
                                        </p:tgtEl>
                                      </p:cBhvr>
                                    </p:animEffect>
                                  </p:childTnLst>
                                </p:cTn>
                              </p:par>
                              <p:par>
                                <p:cTn id="12" presetID="22" presetClass="entr" presetSubtype="8" fill="hold" grpId="0" nodeType="withEffect">
                                  <p:stCondLst>
                                    <p:cond delay="0"/>
                                  </p:stCondLst>
                                  <p:childTnLst>
                                    <p:set>
                                      <p:cBhvr>
                                        <p:cTn id="13" dur="1" fill="hold">
                                          <p:stCondLst>
                                            <p:cond delay="0"/>
                                          </p:stCondLst>
                                        </p:cTn>
                                        <p:tgtEl>
                                          <p:spTgt spid="10"/>
                                        </p:tgtEl>
                                        <p:attrNameLst>
                                          <p:attrName>style.visibility</p:attrName>
                                        </p:attrNameLst>
                                      </p:cBhvr>
                                      <p:to>
                                        <p:strVal val="visible"/>
                                      </p:to>
                                    </p:set>
                                    <p:animEffect transition="in" filter="wipe(right)">
                                      <p:cBhvr>
                                        <p:cTn id="14" dur="420"/>
                                        <p:tgtEl>
                                          <p:spTgt spid="10"/>
                                        </p:tgtEl>
                                      </p:cBhvr>
                                    </p:animEffect>
                                  </p:childTnLst>
                                </p:cTn>
                              </p:par>
                            </p:childTnLst>
                          </p:cTn>
                        </p:par>
                      </p:childTnLst>
                    </p:cTn>
                  </p:par>
                  <p:par>
                    <p:cTn id="15" fill="hold">
                      <p:stCondLst>
                        <p:cond delay="indefinite"/>
                      </p:stCondLst>
                      <p:childTnLst>
                        <p:par>
                          <p:cTn id="16" fill="hold">
                            <p:stCondLst>
                              <p:cond delay="0"/>
                            </p:stCondLst>
                            <p:childTnLst>
                              <p:par>
                                <p:cTn id="17" presetID="23" presetClass="entr" presetSubtype="16" fill="hold" grpId="0" nodeType="clickEffect">
                                  <p:stCondLst>
                                    <p:cond delay="0"/>
                                  </p:stCondLst>
                                  <p:childTnLst>
                                    <p:set>
                                      <p:cBhvr>
                                        <p:cTn id="18" dur="1" fill="hold">
                                          <p:stCondLst>
                                            <p:cond delay="0"/>
                                          </p:stCondLst>
                                        </p:cTn>
                                        <p:tgtEl>
                                          <p:spTgt spid="11"/>
                                        </p:tgtEl>
                                        <p:attrNameLst>
                                          <p:attrName>style.visibility</p:attrName>
                                        </p:attrNameLst>
                                      </p:cBhvr>
                                      <p:to>
                                        <p:strVal val="visible"/>
                                      </p:to>
                                    </p:set>
                                    <p:animEffect transition="in" filter="zoom(in)">
                                      <p:cBhvr>
                                        <p:cTn id="19" dur="300"/>
                                        <p:tgtEl>
                                          <p:spTgt spid="11"/>
                                        </p:tgtEl>
                                      </p:cBhvr>
                                    </p:animEffect>
                                  </p:childTnLst>
                                </p:cTn>
                              </p:par>
                              <p:par>
                                <p:cTn id="20" presetID="10" presetClass="entr" presetSubtype="0" fill="hold" grpId="0" nodeType="withEffect">
                                  <p:stCondLst>
                                    <p:cond delay="0"/>
                                  </p:stCondLst>
                                  <p:childTnLst>
                                    <p:set>
                                      <p:cBhvr>
                                        <p:cTn id="21" dur="1" fill="hold">
                                          <p:stCondLst>
                                            <p:cond delay="0"/>
                                          </p:stCondLst>
                                        </p:cTn>
                                        <p:tgtEl>
                                          <p:spTgt spid="12"/>
                                        </p:tgtEl>
                                        <p:attrNameLst>
                                          <p:attrName>style.visibility</p:attrName>
                                        </p:attrNameLst>
                                      </p:cBhvr>
                                      <p:to>
                                        <p:strVal val="visible"/>
                                      </p:to>
                                    </p:set>
                                    <p:animEffect transition="in" filter="fade">
                                      <p:cBhvr>
                                        <p:cTn id="22" dur="300"/>
                                        <p:tgtEl>
                                          <p:spTgt spid="12"/>
                                        </p:tgtEl>
                                      </p:cBhvr>
                                    </p:animEffect>
                                  </p:childTnLst>
                                </p:cTn>
                              </p:par>
                              <p:par>
                                <p:cTn id="23" presetID="22" presetClass="entr" presetSubtype="8" fill="hold" grpId="0" nodeType="withEffect">
                                  <p:stCondLst>
                                    <p:cond delay="0"/>
                                  </p:stCondLst>
                                  <p:childTnLst>
                                    <p:set>
                                      <p:cBhvr>
                                        <p:cTn id="24" dur="1" fill="hold">
                                          <p:stCondLst>
                                            <p:cond delay="0"/>
                                          </p:stCondLst>
                                        </p:cTn>
                                        <p:tgtEl>
                                          <p:spTgt spid="13"/>
                                        </p:tgtEl>
                                        <p:attrNameLst>
                                          <p:attrName>style.visibility</p:attrName>
                                        </p:attrNameLst>
                                      </p:cBhvr>
                                      <p:to>
                                        <p:strVal val="visible"/>
                                      </p:to>
                                    </p:set>
                                    <p:animEffect transition="in" filter="wipe(right)">
                                      <p:cBhvr>
                                        <p:cTn id="25" dur="420"/>
                                        <p:tgtEl>
                                          <p:spTgt spid="13"/>
                                        </p:tgtEl>
                                      </p:cBhvr>
                                    </p:animEffect>
                                  </p:childTnLst>
                                </p:cTn>
                              </p:par>
                            </p:childTnLst>
                          </p:cTn>
                        </p:par>
                      </p:childTnLst>
                    </p:cTn>
                  </p:par>
                  <p:par>
                    <p:cTn id="26" fill="hold">
                      <p:stCondLst>
                        <p:cond delay="indefinite"/>
                      </p:stCondLst>
                      <p:childTnLst>
                        <p:par>
                          <p:cTn id="27" fill="hold">
                            <p:stCondLst>
                              <p:cond delay="0"/>
                            </p:stCondLst>
                            <p:childTnLst>
                              <p:par>
                                <p:cTn id="28" presetID="23" presetClass="entr" presetSubtype="16" fill="hold" grpId="0" nodeType="clickEffect">
                                  <p:stCondLst>
                                    <p:cond delay="0"/>
                                  </p:stCondLst>
                                  <p:childTnLst>
                                    <p:set>
                                      <p:cBhvr>
                                        <p:cTn id="29" dur="1" fill="hold">
                                          <p:stCondLst>
                                            <p:cond delay="0"/>
                                          </p:stCondLst>
                                        </p:cTn>
                                        <p:tgtEl>
                                          <p:spTgt spid="14"/>
                                        </p:tgtEl>
                                        <p:attrNameLst>
                                          <p:attrName>style.visibility</p:attrName>
                                        </p:attrNameLst>
                                      </p:cBhvr>
                                      <p:to>
                                        <p:strVal val="visible"/>
                                      </p:to>
                                    </p:set>
                                    <p:animEffect transition="in" filter="zoom(in)">
                                      <p:cBhvr>
                                        <p:cTn id="30" dur="300"/>
                                        <p:tgtEl>
                                          <p:spTgt spid="14"/>
                                        </p:tgtEl>
                                      </p:cBhvr>
                                    </p:animEffect>
                                  </p:childTnLst>
                                </p:cTn>
                              </p:par>
                              <p:par>
                                <p:cTn id="31" presetID="10" presetClass="entr" presetSubtype="0" fill="hold" grpId="0" nodeType="withEffect">
                                  <p:stCondLst>
                                    <p:cond delay="0"/>
                                  </p:stCondLst>
                                  <p:childTnLst>
                                    <p:set>
                                      <p:cBhvr>
                                        <p:cTn id="32" dur="1" fill="hold">
                                          <p:stCondLst>
                                            <p:cond delay="0"/>
                                          </p:stCondLst>
                                        </p:cTn>
                                        <p:tgtEl>
                                          <p:spTgt spid="15"/>
                                        </p:tgtEl>
                                        <p:attrNameLst>
                                          <p:attrName>style.visibility</p:attrName>
                                        </p:attrNameLst>
                                      </p:cBhvr>
                                      <p:to>
                                        <p:strVal val="visible"/>
                                      </p:to>
                                    </p:set>
                                    <p:animEffect transition="in" filter="fade">
                                      <p:cBhvr>
                                        <p:cTn id="33" dur="300"/>
                                        <p:tgtEl>
                                          <p:spTgt spid="15"/>
                                        </p:tgtEl>
                                      </p:cBhvr>
                                    </p:animEffect>
                                  </p:childTnLst>
                                </p:cTn>
                              </p:par>
                              <p:par>
                                <p:cTn id="34" presetID="22" presetClass="entr" presetSubtype="8" fill="hold" grpId="0" nodeType="withEffect">
                                  <p:stCondLst>
                                    <p:cond delay="0"/>
                                  </p:stCondLst>
                                  <p:childTnLst>
                                    <p:set>
                                      <p:cBhvr>
                                        <p:cTn id="35" dur="1" fill="hold">
                                          <p:stCondLst>
                                            <p:cond delay="0"/>
                                          </p:stCondLst>
                                        </p:cTn>
                                        <p:tgtEl>
                                          <p:spTgt spid="16"/>
                                        </p:tgtEl>
                                        <p:attrNameLst>
                                          <p:attrName>style.visibility</p:attrName>
                                        </p:attrNameLst>
                                      </p:cBhvr>
                                      <p:to>
                                        <p:strVal val="visible"/>
                                      </p:to>
                                    </p:set>
                                    <p:animEffect transition="in" filter="wipe(right)">
                                      <p:cBhvr>
                                        <p:cTn id="36" dur="420"/>
                                        <p:tgtEl>
                                          <p:spTgt spid="16"/>
                                        </p:tgtEl>
                                      </p:cBhvr>
                                    </p:animEffect>
                                  </p:childTnLst>
                                </p:cTn>
                              </p:par>
                            </p:childTnLst>
                          </p:cTn>
                        </p:par>
                      </p:childTnLst>
                    </p:cTn>
                  </p:par>
                  <p:par>
                    <p:cTn id="37" fill="hold">
                      <p:stCondLst>
                        <p:cond delay="indefinite"/>
                      </p:stCondLst>
                      <p:childTnLst>
                        <p:par>
                          <p:cTn id="38" fill="hold">
                            <p:stCondLst>
                              <p:cond delay="0"/>
                            </p:stCondLst>
                            <p:childTnLst>
                              <p:par>
                                <p:cTn id="39" presetID="23" presetClass="entr" presetSubtype="16" fill="hold" grpId="0" nodeType="clickEffect">
                                  <p:stCondLst>
                                    <p:cond delay="0"/>
                                  </p:stCondLst>
                                  <p:childTnLst>
                                    <p:set>
                                      <p:cBhvr>
                                        <p:cTn id="40" dur="1" fill="hold">
                                          <p:stCondLst>
                                            <p:cond delay="0"/>
                                          </p:stCondLst>
                                        </p:cTn>
                                        <p:tgtEl>
                                          <p:spTgt spid="17"/>
                                        </p:tgtEl>
                                        <p:attrNameLst>
                                          <p:attrName>style.visibility</p:attrName>
                                        </p:attrNameLst>
                                      </p:cBhvr>
                                      <p:to>
                                        <p:strVal val="visible"/>
                                      </p:to>
                                    </p:set>
                                    <p:animEffect transition="in" filter="zoom(in)">
                                      <p:cBhvr>
                                        <p:cTn id="41" dur="300"/>
                                        <p:tgtEl>
                                          <p:spTgt spid="17"/>
                                        </p:tgtEl>
                                      </p:cBhvr>
                                    </p:animEffect>
                                  </p:childTnLst>
                                </p:cTn>
                              </p:par>
                              <p:par>
                                <p:cTn id="42" presetID="10" presetClass="entr" presetSubtype="0" fill="hold" grpId="0" nodeType="withEffect">
                                  <p:stCondLst>
                                    <p:cond delay="0"/>
                                  </p:stCondLst>
                                  <p:childTnLst>
                                    <p:set>
                                      <p:cBhvr>
                                        <p:cTn id="43" dur="1" fill="hold">
                                          <p:stCondLst>
                                            <p:cond delay="0"/>
                                          </p:stCondLst>
                                        </p:cTn>
                                        <p:tgtEl>
                                          <p:spTgt spid="18"/>
                                        </p:tgtEl>
                                        <p:attrNameLst>
                                          <p:attrName>style.visibility</p:attrName>
                                        </p:attrNameLst>
                                      </p:cBhvr>
                                      <p:to>
                                        <p:strVal val="visible"/>
                                      </p:to>
                                    </p:set>
                                    <p:animEffect transition="in" filter="fade">
                                      <p:cBhvr>
                                        <p:cTn id="44" dur="300"/>
                                        <p:tgtEl>
                                          <p:spTgt spid="18"/>
                                        </p:tgtEl>
                                      </p:cBhvr>
                                    </p:animEffect>
                                  </p:childTnLst>
                                </p:cTn>
                              </p:par>
                              <p:par>
                                <p:cTn id="45" presetID="22" presetClass="entr" presetSubtype="8" fill="hold" grpId="0" nodeType="withEffect">
                                  <p:stCondLst>
                                    <p:cond delay="0"/>
                                  </p:stCondLst>
                                  <p:childTnLst>
                                    <p:set>
                                      <p:cBhvr>
                                        <p:cTn id="46" dur="1" fill="hold">
                                          <p:stCondLst>
                                            <p:cond delay="0"/>
                                          </p:stCondLst>
                                        </p:cTn>
                                        <p:tgtEl>
                                          <p:spTgt spid="19"/>
                                        </p:tgtEl>
                                        <p:attrNameLst>
                                          <p:attrName>style.visibility</p:attrName>
                                        </p:attrNameLst>
                                      </p:cBhvr>
                                      <p:to>
                                        <p:strVal val="visible"/>
                                      </p:to>
                                    </p:set>
                                    <p:animEffect transition="in" filter="wipe(right)">
                                      <p:cBhvr>
                                        <p:cTn id="47" dur="420"/>
                                        <p:tgtEl>
                                          <p:spTgt spid="19"/>
                                        </p:tgtEl>
                                      </p:cBhvr>
                                    </p:animEffect>
                                  </p:childTnLst>
                                </p:cTn>
                              </p:par>
                            </p:childTnLst>
                          </p:cTn>
                        </p:par>
                      </p:childTnLst>
                    </p:cTn>
                  </p:par>
                  <p:par>
                    <p:cTn id="48" fill="hold">
                      <p:stCondLst>
                        <p:cond delay="indefinite"/>
                      </p:stCondLst>
                      <p:childTnLst>
                        <p:par>
                          <p:cTn id="49" fill="hold">
                            <p:stCondLst>
                              <p:cond delay="0"/>
                            </p:stCondLst>
                            <p:childTnLst>
                              <p:par>
                                <p:cTn id="50" presetID="23" presetClass="entr" presetSubtype="16" fill="hold" grpId="0" nodeType="clickEffect">
                                  <p:stCondLst>
                                    <p:cond delay="0"/>
                                  </p:stCondLst>
                                  <p:childTnLst>
                                    <p:set>
                                      <p:cBhvr>
                                        <p:cTn id="51" dur="1" fill="hold">
                                          <p:stCondLst>
                                            <p:cond delay="0"/>
                                          </p:stCondLst>
                                        </p:cTn>
                                        <p:tgtEl>
                                          <p:spTgt spid="20"/>
                                        </p:tgtEl>
                                        <p:attrNameLst>
                                          <p:attrName>style.visibility</p:attrName>
                                        </p:attrNameLst>
                                      </p:cBhvr>
                                      <p:to>
                                        <p:strVal val="visible"/>
                                      </p:to>
                                    </p:set>
                                    <p:animEffect transition="in" filter="zoom(in)">
                                      <p:cBhvr>
                                        <p:cTn id="52" dur="300"/>
                                        <p:tgtEl>
                                          <p:spTgt spid="20"/>
                                        </p:tgtEl>
                                      </p:cBhvr>
                                    </p:animEffect>
                                  </p:childTnLst>
                                </p:cTn>
                              </p:par>
                              <p:par>
                                <p:cTn id="53" presetID="10" presetClass="entr" presetSubtype="0" fill="hold" grpId="0" nodeType="withEffect">
                                  <p:stCondLst>
                                    <p:cond delay="0"/>
                                  </p:stCondLst>
                                  <p:childTnLst>
                                    <p:set>
                                      <p:cBhvr>
                                        <p:cTn id="54" dur="1" fill="hold">
                                          <p:stCondLst>
                                            <p:cond delay="0"/>
                                          </p:stCondLst>
                                        </p:cTn>
                                        <p:tgtEl>
                                          <p:spTgt spid="21"/>
                                        </p:tgtEl>
                                        <p:attrNameLst>
                                          <p:attrName>style.visibility</p:attrName>
                                        </p:attrNameLst>
                                      </p:cBhvr>
                                      <p:to>
                                        <p:strVal val="visible"/>
                                      </p:to>
                                    </p:set>
                                    <p:animEffect transition="in" filter="fade">
                                      <p:cBhvr>
                                        <p:cTn id="55" dur="300"/>
                                        <p:tgtEl>
                                          <p:spTgt spid="21"/>
                                        </p:tgtEl>
                                      </p:cBhvr>
                                    </p:animEffect>
                                  </p:childTnLst>
                                </p:cTn>
                              </p:par>
                              <p:par>
                                <p:cTn id="56" presetID="22" presetClass="entr" presetSubtype="8" fill="hold" grpId="0" nodeType="withEffect">
                                  <p:stCondLst>
                                    <p:cond delay="0"/>
                                  </p:stCondLst>
                                  <p:childTnLst>
                                    <p:set>
                                      <p:cBhvr>
                                        <p:cTn id="57" dur="1" fill="hold">
                                          <p:stCondLst>
                                            <p:cond delay="0"/>
                                          </p:stCondLst>
                                        </p:cTn>
                                        <p:tgtEl>
                                          <p:spTgt spid="22"/>
                                        </p:tgtEl>
                                        <p:attrNameLst>
                                          <p:attrName>style.visibility</p:attrName>
                                        </p:attrNameLst>
                                      </p:cBhvr>
                                      <p:to>
                                        <p:strVal val="visible"/>
                                      </p:to>
                                    </p:set>
                                    <p:animEffect transition="in" filter="wipe(right)">
                                      <p:cBhvr>
                                        <p:cTn id="58" dur="420"/>
                                        <p:tgtEl>
                                          <p:spTgt spid="2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3000" b="0">
                <a:solidFill>
                  <a:srgbClr val="1A5276"/>
                </a:solidFill>
                <a:latin typeface="Segoe UI Semibold"/>
              </a:rPr>
              <a:t>Vocabulary for this chapter</a:t>
            </a:r>
          </a:p>
        </p:txBody>
      </p:sp>
      <p:pic>
        <p:nvPicPr>
          <p:cNvPr id="3" name="!!kicker-icon" descr="tags-8E44AD.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272560"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8E44AD"/>
                </a:solidFill>
                <a:latin typeface="Segoe UI"/>
              </a:rPr>
              <a:t>KEY TERMS</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Artificial Intelligence  ·  Chapter 10  ·  Knowledge Representation</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Handout p. 101     </a:t>
            </a:r>
            <a:fld id="{14C80999-8B7B-4F0F-A770-9374A7EE9F01}" type="slidenum">
              <a:rPr lang="en-GB" sz="1000">
                <a:solidFill>
                  <a:srgbClr val="8795A1"/>
                </a:solidFill>
                <a:latin typeface="Segoe UI"/>
              </a:rPr>
              <a:t>4</a:t>
            </a:fld>
          </a:p>
        </p:txBody>
      </p:sp>
      <p:sp>
        <p:nvSpPr>
          <p:cNvPr id="7" name="!!term-knowledge repr">
            <a:extLst>
              <a:ext uri="{C183D7F6-B498-43B3-948B-1728B52AA6E4}">
                <adec:decorative xmlns:adec="http://schemas.microsoft.com/office/drawing/2017/decorative" val="1"/>
              </a:ext>
            </a:extLst>
          </p:cNvPr>
          <p:cNvSpPr/>
          <p:nvPr/>
        </p:nvSpPr>
        <p:spPr>
          <a:xfrm>
            <a:off x="658368" y="1847088"/>
            <a:ext cx="2680393" cy="475488"/>
          </a:xfrm>
          <a:prstGeom prst="roundRect">
            <a:avLst>
              <a:gd name="adj" fmla="val 50000"/>
            </a:avLst>
          </a:prstGeom>
          <a:solidFill>
            <a:srgbClr val="F6F0F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8" name="!!termd-knowledge repr">
            <a:extLst>
              <a:ext uri="{C183D7F6-B498-43B3-948B-1728B52AA6E4}">
                <adec:decorative xmlns:adec="http://schemas.microsoft.com/office/drawing/2017/decorative" val="1"/>
              </a:ext>
            </a:extLst>
          </p:cNvPr>
          <p:cNvSpPr/>
          <p:nvPr/>
        </p:nvSpPr>
        <p:spPr>
          <a:xfrm>
            <a:off x="786384" y="2039112"/>
            <a:ext cx="91440" cy="91440"/>
          </a:xfrm>
          <a:prstGeom prst="ellipse">
            <a:avLst/>
          </a:prstGeom>
          <a:solidFill>
            <a:srgbClr val="8E44A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9" name="!!termt-knowledge repr"/>
          <p:cNvSpPr txBox="1"/>
          <p:nvPr/>
        </p:nvSpPr>
        <p:spPr>
          <a:xfrm>
            <a:off x="950976" y="1970532"/>
            <a:ext cx="2497513" cy="310896"/>
          </a:xfrm>
          <a:prstGeom prst="rect">
            <a:avLst/>
          </a:prstGeom>
          <a:noFill/>
        </p:spPr>
        <p:txBody>
          <a:bodyPr wrap="none" anchor="t" lIns="0" rIns="0" tIns="0" bIns="0">
            <a:noAutofit/>
          </a:bodyPr>
          <a:lstStyle/>
          <a:p>
            <a:pPr algn="l">
              <a:lnSpc>
                <a:spcPct val="100000"/>
              </a:lnSpc>
              <a:spcBef>
                <a:spcPts val="0"/>
              </a:spcBef>
              <a:spcAft>
                <a:spcPts val="0"/>
              </a:spcAft>
            </a:pPr>
            <a:r>
              <a:rPr sz="1500" b="0" i="0">
                <a:solidFill>
                  <a:srgbClr val="1C252B"/>
                </a:solidFill>
                <a:latin typeface="Segoe UI"/>
              </a:rPr>
              <a:t>knowledge representation</a:t>
            </a:r>
          </a:p>
        </p:txBody>
      </p:sp>
      <p:sp>
        <p:nvSpPr>
          <p:cNvPr id="10" name="!!term-ontological co">
            <a:extLst>
              <a:ext uri="{C183D7F6-B498-43B3-948B-1728B52AA6E4}">
                <adec:decorative xmlns:adec="http://schemas.microsoft.com/office/drawing/2017/decorative" val="1"/>
              </a:ext>
            </a:extLst>
          </p:cNvPr>
          <p:cNvSpPr/>
          <p:nvPr/>
        </p:nvSpPr>
        <p:spPr>
          <a:xfrm>
            <a:off x="3485065" y="1847088"/>
            <a:ext cx="2549677" cy="475488"/>
          </a:xfrm>
          <a:prstGeom prst="roundRect">
            <a:avLst>
              <a:gd name="adj" fmla="val 50000"/>
            </a:avLst>
          </a:prstGeom>
          <a:solidFill>
            <a:srgbClr val="F6F0F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1" name="!!termd-ontological co">
            <a:extLst>
              <a:ext uri="{C183D7F6-B498-43B3-948B-1728B52AA6E4}">
                <adec:decorative xmlns:adec="http://schemas.microsoft.com/office/drawing/2017/decorative" val="1"/>
              </a:ext>
            </a:extLst>
          </p:cNvPr>
          <p:cNvSpPr/>
          <p:nvPr/>
        </p:nvSpPr>
        <p:spPr>
          <a:xfrm>
            <a:off x="3613081" y="2039112"/>
            <a:ext cx="91440" cy="91440"/>
          </a:xfrm>
          <a:prstGeom prst="ellipse">
            <a:avLst/>
          </a:prstGeom>
          <a:solidFill>
            <a:srgbClr val="8E44A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2" name="!!termt-ontological co"/>
          <p:cNvSpPr txBox="1"/>
          <p:nvPr/>
        </p:nvSpPr>
        <p:spPr>
          <a:xfrm>
            <a:off x="3777673" y="1970532"/>
            <a:ext cx="2366797" cy="310896"/>
          </a:xfrm>
          <a:prstGeom prst="rect">
            <a:avLst/>
          </a:prstGeom>
          <a:noFill/>
        </p:spPr>
        <p:txBody>
          <a:bodyPr wrap="none" anchor="t" lIns="0" rIns="0" tIns="0" bIns="0">
            <a:noAutofit/>
          </a:bodyPr>
          <a:lstStyle/>
          <a:p>
            <a:pPr algn="l">
              <a:lnSpc>
                <a:spcPct val="100000"/>
              </a:lnSpc>
              <a:spcBef>
                <a:spcPts val="0"/>
              </a:spcBef>
              <a:spcAft>
                <a:spcPts val="0"/>
              </a:spcAft>
            </a:pPr>
            <a:r>
              <a:rPr sz="1500" b="0" i="0">
                <a:solidFill>
                  <a:srgbClr val="1C252B"/>
                </a:solidFill>
                <a:latin typeface="Segoe UI"/>
              </a:rPr>
              <a:t>ontological commitment</a:t>
            </a:r>
          </a:p>
        </p:txBody>
      </p:sp>
      <p:sp>
        <p:nvSpPr>
          <p:cNvPr id="13" name="!!term-epistemologica">
            <a:extLst>
              <a:ext uri="{C183D7F6-B498-43B3-948B-1728B52AA6E4}">
                <adec:decorative xmlns:adec="http://schemas.microsoft.com/office/drawing/2017/decorative" val="1"/>
              </a:ext>
            </a:extLst>
          </p:cNvPr>
          <p:cNvSpPr/>
          <p:nvPr/>
        </p:nvSpPr>
        <p:spPr>
          <a:xfrm>
            <a:off x="6181046" y="1847088"/>
            <a:ext cx="2666263" cy="475488"/>
          </a:xfrm>
          <a:prstGeom prst="roundRect">
            <a:avLst>
              <a:gd name="adj" fmla="val 50000"/>
            </a:avLst>
          </a:prstGeom>
          <a:solidFill>
            <a:srgbClr val="F6F0F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4" name="!!termd-epistemologica">
            <a:extLst>
              <a:ext uri="{C183D7F6-B498-43B3-948B-1728B52AA6E4}">
                <adec:decorative xmlns:adec="http://schemas.microsoft.com/office/drawing/2017/decorative" val="1"/>
              </a:ext>
            </a:extLst>
          </p:cNvPr>
          <p:cNvSpPr/>
          <p:nvPr/>
        </p:nvSpPr>
        <p:spPr>
          <a:xfrm>
            <a:off x="6309062" y="2039112"/>
            <a:ext cx="91440" cy="91440"/>
          </a:xfrm>
          <a:prstGeom prst="ellipse">
            <a:avLst/>
          </a:prstGeom>
          <a:solidFill>
            <a:srgbClr val="8E44A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5" name="!!termt-epistemologica"/>
          <p:cNvSpPr txBox="1"/>
          <p:nvPr/>
        </p:nvSpPr>
        <p:spPr>
          <a:xfrm>
            <a:off x="6473654" y="1970532"/>
            <a:ext cx="2483383" cy="310896"/>
          </a:xfrm>
          <a:prstGeom prst="rect">
            <a:avLst/>
          </a:prstGeom>
          <a:noFill/>
        </p:spPr>
        <p:txBody>
          <a:bodyPr wrap="none" anchor="t" lIns="0" rIns="0" tIns="0" bIns="0">
            <a:noAutofit/>
          </a:bodyPr>
          <a:lstStyle/>
          <a:p>
            <a:pPr algn="l">
              <a:lnSpc>
                <a:spcPct val="100000"/>
              </a:lnSpc>
              <a:spcBef>
                <a:spcPts val="0"/>
              </a:spcBef>
              <a:spcAft>
                <a:spcPts val="0"/>
              </a:spcAft>
            </a:pPr>
            <a:r>
              <a:rPr sz="1500" b="0" i="0">
                <a:solidFill>
                  <a:srgbClr val="1C252B"/>
                </a:solidFill>
                <a:latin typeface="Segoe UI"/>
              </a:rPr>
              <a:t>epistemological adequacy</a:t>
            </a:r>
          </a:p>
        </p:txBody>
      </p:sp>
      <p:sp>
        <p:nvSpPr>
          <p:cNvPr id="16" name="!!term-semantic netwo">
            <a:extLst>
              <a:ext uri="{C183D7F6-B498-43B3-948B-1728B52AA6E4}">
                <adec:decorative xmlns:adec="http://schemas.microsoft.com/office/drawing/2017/decorative" val="1"/>
              </a:ext>
            </a:extLst>
          </p:cNvPr>
          <p:cNvSpPr/>
          <p:nvPr/>
        </p:nvSpPr>
        <p:spPr>
          <a:xfrm>
            <a:off x="8993613" y="1847088"/>
            <a:ext cx="1951023" cy="475488"/>
          </a:xfrm>
          <a:prstGeom prst="roundRect">
            <a:avLst>
              <a:gd name="adj" fmla="val 50000"/>
            </a:avLst>
          </a:prstGeom>
          <a:solidFill>
            <a:srgbClr val="F6F0F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7" name="!!termd-semantic netwo">
            <a:extLst>
              <a:ext uri="{C183D7F6-B498-43B3-948B-1728B52AA6E4}">
                <adec:decorative xmlns:adec="http://schemas.microsoft.com/office/drawing/2017/decorative" val="1"/>
              </a:ext>
            </a:extLst>
          </p:cNvPr>
          <p:cNvSpPr/>
          <p:nvPr/>
        </p:nvSpPr>
        <p:spPr>
          <a:xfrm>
            <a:off x="9121629" y="2039112"/>
            <a:ext cx="91440" cy="91440"/>
          </a:xfrm>
          <a:prstGeom prst="ellipse">
            <a:avLst/>
          </a:prstGeom>
          <a:solidFill>
            <a:srgbClr val="8E44A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8" name="!!termt-semantic netwo"/>
          <p:cNvSpPr txBox="1"/>
          <p:nvPr/>
        </p:nvSpPr>
        <p:spPr>
          <a:xfrm>
            <a:off x="9286221" y="1970532"/>
            <a:ext cx="1768143" cy="310896"/>
          </a:xfrm>
          <a:prstGeom prst="rect">
            <a:avLst/>
          </a:prstGeom>
          <a:noFill/>
        </p:spPr>
        <p:txBody>
          <a:bodyPr wrap="none" anchor="t" lIns="0" rIns="0" tIns="0" bIns="0">
            <a:noAutofit/>
          </a:bodyPr>
          <a:lstStyle/>
          <a:p>
            <a:pPr algn="l">
              <a:lnSpc>
                <a:spcPct val="100000"/>
              </a:lnSpc>
              <a:spcBef>
                <a:spcPts val="0"/>
              </a:spcBef>
              <a:spcAft>
                <a:spcPts val="0"/>
              </a:spcAft>
            </a:pPr>
            <a:r>
              <a:rPr sz="1500" b="0" i="0">
                <a:solidFill>
                  <a:srgbClr val="1C252B"/>
                </a:solidFill>
                <a:latin typeface="Segoe UI"/>
              </a:rPr>
              <a:t>semantic network</a:t>
            </a:r>
          </a:p>
        </p:txBody>
      </p:sp>
      <p:sp>
        <p:nvSpPr>
          <p:cNvPr id="19" name="!!term-node and link">
            <a:extLst>
              <a:ext uri="{C183D7F6-B498-43B3-948B-1728B52AA6E4}">
                <adec:decorative xmlns:adec="http://schemas.microsoft.com/office/drawing/2017/decorative" val="1"/>
              </a:ext>
            </a:extLst>
          </p:cNvPr>
          <p:cNvSpPr/>
          <p:nvPr/>
        </p:nvSpPr>
        <p:spPr>
          <a:xfrm>
            <a:off x="658368" y="2468880"/>
            <a:ext cx="1609241" cy="475488"/>
          </a:xfrm>
          <a:prstGeom prst="roundRect">
            <a:avLst>
              <a:gd name="adj" fmla="val 50000"/>
            </a:avLst>
          </a:prstGeom>
          <a:solidFill>
            <a:srgbClr val="F6F0F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0" name="!!termd-node and link">
            <a:extLst>
              <a:ext uri="{C183D7F6-B498-43B3-948B-1728B52AA6E4}">
                <adec:decorative xmlns:adec="http://schemas.microsoft.com/office/drawing/2017/decorative" val="1"/>
              </a:ext>
            </a:extLst>
          </p:cNvPr>
          <p:cNvSpPr/>
          <p:nvPr/>
        </p:nvSpPr>
        <p:spPr>
          <a:xfrm>
            <a:off x="786384" y="2660904"/>
            <a:ext cx="91440" cy="91440"/>
          </a:xfrm>
          <a:prstGeom prst="ellipse">
            <a:avLst/>
          </a:prstGeom>
          <a:solidFill>
            <a:srgbClr val="8E44A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1" name="!!termt-node and link"/>
          <p:cNvSpPr txBox="1"/>
          <p:nvPr/>
        </p:nvSpPr>
        <p:spPr>
          <a:xfrm>
            <a:off x="950976" y="2592324"/>
            <a:ext cx="1426361" cy="310896"/>
          </a:xfrm>
          <a:prstGeom prst="rect">
            <a:avLst/>
          </a:prstGeom>
          <a:noFill/>
        </p:spPr>
        <p:txBody>
          <a:bodyPr wrap="none" anchor="t" lIns="0" rIns="0" tIns="0" bIns="0">
            <a:noAutofit/>
          </a:bodyPr>
          <a:lstStyle/>
          <a:p>
            <a:pPr algn="l">
              <a:lnSpc>
                <a:spcPct val="100000"/>
              </a:lnSpc>
              <a:spcBef>
                <a:spcPts val="0"/>
              </a:spcBef>
              <a:spcAft>
                <a:spcPts val="0"/>
              </a:spcAft>
            </a:pPr>
            <a:r>
              <a:rPr sz="1500" b="0" i="0">
                <a:solidFill>
                  <a:srgbClr val="1C252B"/>
                </a:solidFill>
                <a:latin typeface="Segoe UI"/>
              </a:rPr>
              <a:t>node and link</a:t>
            </a:r>
          </a:p>
        </p:txBody>
      </p:sp>
      <p:sp>
        <p:nvSpPr>
          <p:cNvPr id="22" name="!!term-is-a">
            <a:extLst>
              <a:ext uri="{C183D7F6-B498-43B3-948B-1728B52AA6E4}">
                <adec:decorative xmlns:adec="http://schemas.microsoft.com/office/drawing/2017/decorative" val="1"/>
              </a:ext>
            </a:extLst>
          </p:cNvPr>
          <p:cNvSpPr/>
          <p:nvPr/>
        </p:nvSpPr>
        <p:spPr>
          <a:xfrm>
            <a:off x="2413913" y="2468880"/>
            <a:ext cx="744950" cy="475488"/>
          </a:xfrm>
          <a:prstGeom prst="roundRect">
            <a:avLst>
              <a:gd name="adj" fmla="val 50000"/>
            </a:avLst>
          </a:prstGeom>
          <a:solidFill>
            <a:srgbClr val="F6F0F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3" name="!!termd-is-a">
            <a:extLst>
              <a:ext uri="{C183D7F6-B498-43B3-948B-1728B52AA6E4}">
                <adec:decorative xmlns:adec="http://schemas.microsoft.com/office/drawing/2017/decorative" val="1"/>
              </a:ext>
            </a:extLst>
          </p:cNvPr>
          <p:cNvSpPr/>
          <p:nvPr/>
        </p:nvSpPr>
        <p:spPr>
          <a:xfrm>
            <a:off x="2541929" y="2660904"/>
            <a:ext cx="91440" cy="91440"/>
          </a:xfrm>
          <a:prstGeom prst="ellipse">
            <a:avLst/>
          </a:prstGeom>
          <a:solidFill>
            <a:srgbClr val="8E44A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4" name="!!termt-is-a"/>
          <p:cNvSpPr txBox="1"/>
          <p:nvPr/>
        </p:nvSpPr>
        <p:spPr>
          <a:xfrm>
            <a:off x="2706521" y="2592324"/>
            <a:ext cx="562070" cy="310896"/>
          </a:xfrm>
          <a:prstGeom prst="rect">
            <a:avLst/>
          </a:prstGeom>
          <a:noFill/>
        </p:spPr>
        <p:txBody>
          <a:bodyPr wrap="none" anchor="t" lIns="0" rIns="0" tIns="0" bIns="0">
            <a:noAutofit/>
          </a:bodyPr>
          <a:lstStyle/>
          <a:p>
            <a:pPr algn="l">
              <a:lnSpc>
                <a:spcPct val="100000"/>
              </a:lnSpc>
              <a:spcBef>
                <a:spcPts val="0"/>
              </a:spcBef>
              <a:spcAft>
                <a:spcPts val="0"/>
              </a:spcAft>
            </a:pPr>
            <a:r>
              <a:rPr sz="1500" b="0" i="0">
                <a:solidFill>
                  <a:srgbClr val="1C252B"/>
                </a:solidFill>
                <a:latin typeface="Segoe UI"/>
              </a:rPr>
              <a:t>is-a</a:t>
            </a:r>
          </a:p>
        </p:txBody>
      </p:sp>
      <p:sp>
        <p:nvSpPr>
          <p:cNvPr id="25" name="!!term-instance-of">
            <a:extLst>
              <a:ext uri="{C183D7F6-B498-43B3-948B-1728B52AA6E4}">
                <adec:decorative xmlns:adec="http://schemas.microsoft.com/office/drawing/2017/decorative" val="1"/>
              </a:ext>
            </a:extLst>
          </p:cNvPr>
          <p:cNvSpPr/>
          <p:nvPr/>
        </p:nvSpPr>
        <p:spPr>
          <a:xfrm>
            <a:off x="3305167" y="2468880"/>
            <a:ext cx="1396805" cy="475488"/>
          </a:xfrm>
          <a:prstGeom prst="roundRect">
            <a:avLst>
              <a:gd name="adj" fmla="val 50000"/>
            </a:avLst>
          </a:prstGeom>
          <a:solidFill>
            <a:srgbClr val="F6F0F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6" name="!!termd-instance-of">
            <a:extLst>
              <a:ext uri="{C183D7F6-B498-43B3-948B-1728B52AA6E4}">
                <adec:decorative xmlns:adec="http://schemas.microsoft.com/office/drawing/2017/decorative" val="1"/>
              </a:ext>
            </a:extLst>
          </p:cNvPr>
          <p:cNvSpPr/>
          <p:nvPr/>
        </p:nvSpPr>
        <p:spPr>
          <a:xfrm>
            <a:off x="3433183" y="2660904"/>
            <a:ext cx="91440" cy="91440"/>
          </a:xfrm>
          <a:prstGeom prst="ellipse">
            <a:avLst/>
          </a:prstGeom>
          <a:solidFill>
            <a:srgbClr val="8E44A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7" name="!!termt-instance-of"/>
          <p:cNvSpPr txBox="1"/>
          <p:nvPr/>
        </p:nvSpPr>
        <p:spPr>
          <a:xfrm>
            <a:off x="3597775" y="2592324"/>
            <a:ext cx="1213925" cy="310896"/>
          </a:xfrm>
          <a:prstGeom prst="rect">
            <a:avLst/>
          </a:prstGeom>
          <a:noFill/>
        </p:spPr>
        <p:txBody>
          <a:bodyPr wrap="none" anchor="t" lIns="0" rIns="0" tIns="0" bIns="0">
            <a:noAutofit/>
          </a:bodyPr>
          <a:lstStyle/>
          <a:p>
            <a:pPr algn="l">
              <a:lnSpc>
                <a:spcPct val="100000"/>
              </a:lnSpc>
              <a:spcBef>
                <a:spcPts val="0"/>
              </a:spcBef>
              <a:spcAft>
                <a:spcPts val="0"/>
              </a:spcAft>
            </a:pPr>
            <a:r>
              <a:rPr sz="1500" b="0" i="0">
                <a:solidFill>
                  <a:srgbClr val="1C252B"/>
                </a:solidFill>
                <a:latin typeface="Segoe UI"/>
              </a:rPr>
              <a:t>instance-of</a:t>
            </a:r>
          </a:p>
        </p:txBody>
      </p:sp>
      <p:sp>
        <p:nvSpPr>
          <p:cNvPr id="28" name="!!term-inheritance">
            <a:extLst>
              <a:ext uri="{C183D7F6-B498-43B3-948B-1728B52AA6E4}">
                <adec:decorative xmlns:adec="http://schemas.microsoft.com/office/drawing/2017/decorative" val="1"/>
              </a:ext>
            </a:extLst>
          </p:cNvPr>
          <p:cNvSpPr/>
          <p:nvPr/>
        </p:nvSpPr>
        <p:spPr>
          <a:xfrm>
            <a:off x="4848277" y="2468880"/>
            <a:ext cx="1388310" cy="475488"/>
          </a:xfrm>
          <a:prstGeom prst="roundRect">
            <a:avLst>
              <a:gd name="adj" fmla="val 50000"/>
            </a:avLst>
          </a:prstGeom>
          <a:solidFill>
            <a:srgbClr val="F6F0F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9" name="!!termd-inheritance">
            <a:extLst>
              <a:ext uri="{C183D7F6-B498-43B3-948B-1728B52AA6E4}">
                <adec:decorative xmlns:adec="http://schemas.microsoft.com/office/drawing/2017/decorative" val="1"/>
              </a:ext>
            </a:extLst>
          </p:cNvPr>
          <p:cNvSpPr/>
          <p:nvPr/>
        </p:nvSpPr>
        <p:spPr>
          <a:xfrm>
            <a:off x="4976293" y="2660904"/>
            <a:ext cx="91440" cy="91440"/>
          </a:xfrm>
          <a:prstGeom prst="ellipse">
            <a:avLst/>
          </a:prstGeom>
          <a:solidFill>
            <a:srgbClr val="8E44A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0" name="!!termt-inheritance"/>
          <p:cNvSpPr txBox="1"/>
          <p:nvPr/>
        </p:nvSpPr>
        <p:spPr>
          <a:xfrm>
            <a:off x="5140885" y="2592324"/>
            <a:ext cx="1205430" cy="310896"/>
          </a:xfrm>
          <a:prstGeom prst="rect">
            <a:avLst/>
          </a:prstGeom>
          <a:noFill/>
        </p:spPr>
        <p:txBody>
          <a:bodyPr wrap="none" anchor="t" lIns="0" rIns="0" tIns="0" bIns="0">
            <a:noAutofit/>
          </a:bodyPr>
          <a:lstStyle/>
          <a:p>
            <a:pPr algn="l">
              <a:lnSpc>
                <a:spcPct val="100000"/>
              </a:lnSpc>
              <a:spcBef>
                <a:spcPts val="0"/>
              </a:spcBef>
              <a:spcAft>
                <a:spcPts val="0"/>
              </a:spcAft>
            </a:pPr>
            <a:r>
              <a:rPr sz="1500" b="0" i="0">
                <a:solidFill>
                  <a:srgbClr val="1C252B"/>
                </a:solidFill>
                <a:latin typeface="Segoe UI"/>
              </a:rPr>
              <a:t>inheritance</a:t>
            </a:r>
          </a:p>
        </p:txBody>
      </p:sp>
      <p:sp>
        <p:nvSpPr>
          <p:cNvPr id="31" name="!!term-frame">
            <a:extLst>
              <a:ext uri="{C183D7F6-B498-43B3-948B-1728B52AA6E4}">
                <adec:decorative xmlns:adec="http://schemas.microsoft.com/office/drawing/2017/decorative" val="1"/>
              </a:ext>
            </a:extLst>
          </p:cNvPr>
          <p:cNvSpPr/>
          <p:nvPr/>
        </p:nvSpPr>
        <p:spPr>
          <a:xfrm>
            <a:off x="6382891" y="2468880"/>
            <a:ext cx="935179" cy="475488"/>
          </a:xfrm>
          <a:prstGeom prst="roundRect">
            <a:avLst>
              <a:gd name="adj" fmla="val 50000"/>
            </a:avLst>
          </a:prstGeom>
          <a:solidFill>
            <a:srgbClr val="F6F0F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2" name="!!termd-frame">
            <a:extLst>
              <a:ext uri="{C183D7F6-B498-43B3-948B-1728B52AA6E4}">
                <adec:decorative xmlns:adec="http://schemas.microsoft.com/office/drawing/2017/decorative" val="1"/>
              </a:ext>
            </a:extLst>
          </p:cNvPr>
          <p:cNvSpPr/>
          <p:nvPr/>
        </p:nvSpPr>
        <p:spPr>
          <a:xfrm>
            <a:off x="6510907" y="2660904"/>
            <a:ext cx="91440" cy="91440"/>
          </a:xfrm>
          <a:prstGeom prst="ellipse">
            <a:avLst/>
          </a:prstGeom>
          <a:solidFill>
            <a:srgbClr val="8E44A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3" name="!!termt-frame"/>
          <p:cNvSpPr txBox="1"/>
          <p:nvPr/>
        </p:nvSpPr>
        <p:spPr>
          <a:xfrm>
            <a:off x="6675499" y="2592324"/>
            <a:ext cx="752299" cy="310896"/>
          </a:xfrm>
          <a:prstGeom prst="rect">
            <a:avLst/>
          </a:prstGeom>
          <a:noFill/>
        </p:spPr>
        <p:txBody>
          <a:bodyPr wrap="none" anchor="t" lIns="0" rIns="0" tIns="0" bIns="0">
            <a:noAutofit/>
          </a:bodyPr>
          <a:lstStyle/>
          <a:p>
            <a:pPr algn="l">
              <a:lnSpc>
                <a:spcPct val="100000"/>
              </a:lnSpc>
              <a:spcBef>
                <a:spcPts val="0"/>
              </a:spcBef>
              <a:spcAft>
                <a:spcPts val="0"/>
              </a:spcAft>
            </a:pPr>
            <a:r>
              <a:rPr sz="1500" b="0" i="0">
                <a:solidFill>
                  <a:srgbClr val="1C252B"/>
                </a:solidFill>
                <a:latin typeface="Segoe UI"/>
              </a:rPr>
              <a:t>frame</a:t>
            </a:r>
          </a:p>
        </p:txBody>
      </p:sp>
      <p:sp>
        <p:nvSpPr>
          <p:cNvPr id="34" name="!!term-slot">
            <a:extLst>
              <a:ext uri="{C183D7F6-B498-43B3-948B-1728B52AA6E4}">
                <adec:decorative xmlns:adec="http://schemas.microsoft.com/office/drawing/2017/decorative" val="1"/>
              </a:ext>
            </a:extLst>
          </p:cNvPr>
          <p:cNvSpPr/>
          <p:nvPr/>
        </p:nvSpPr>
        <p:spPr>
          <a:xfrm>
            <a:off x="7464375" y="2468880"/>
            <a:ext cx="748059" cy="475488"/>
          </a:xfrm>
          <a:prstGeom prst="roundRect">
            <a:avLst>
              <a:gd name="adj" fmla="val 50000"/>
            </a:avLst>
          </a:prstGeom>
          <a:solidFill>
            <a:srgbClr val="F6F0F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5" name="!!termd-slot">
            <a:extLst>
              <a:ext uri="{C183D7F6-B498-43B3-948B-1728B52AA6E4}">
                <adec:decorative xmlns:adec="http://schemas.microsoft.com/office/drawing/2017/decorative" val="1"/>
              </a:ext>
            </a:extLst>
          </p:cNvPr>
          <p:cNvSpPr/>
          <p:nvPr/>
        </p:nvSpPr>
        <p:spPr>
          <a:xfrm>
            <a:off x="7592391" y="2660904"/>
            <a:ext cx="91440" cy="91440"/>
          </a:xfrm>
          <a:prstGeom prst="ellipse">
            <a:avLst/>
          </a:prstGeom>
          <a:solidFill>
            <a:srgbClr val="8E44A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6" name="!!termt-slot"/>
          <p:cNvSpPr txBox="1"/>
          <p:nvPr/>
        </p:nvSpPr>
        <p:spPr>
          <a:xfrm>
            <a:off x="7756983" y="2592324"/>
            <a:ext cx="565179" cy="310896"/>
          </a:xfrm>
          <a:prstGeom prst="rect">
            <a:avLst/>
          </a:prstGeom>
          <a:noFill/>
        </p:spPr>
        <p:txBody>
          <a:bodyPr wrap="none" anchor="t" lIns="0" rIns="0" tIns="0" bIns="0">
            <a:noAutofit/>
          </a:bodyPr>
          <a:lstStyle/>
          <a:p>
            <a:pPr algn="l">
              <a:lnSpc>
                <a:spcPct val="100000"/>
              </a:lnSpc>
              <a:spcBef>
                <a:spcPts val="0"/>
              </a:spcBef>
              <a:spcAft>
                <a:spcPts val="0"/>
              </a:spcAft>
            </a:pPr>
            <a:r>
              <a:rPr sz="1500" b="0" i="0">
                <a:solidFill>
                  <a:srgbClr val="1C252B"/>
                </a:solidFill>
                <a:latin typeface="Segoe UI"/>
              </a:rPr>
              <a:t>slot</a:t>
            </a:r>
          </a:p>
        </p:txBody>
      </p:sp>
      <p:sp>
        <p:nvSpPr>
          <p:cNvPr id="37" name="!!term-filler">
            <a:extLst>
              <a:ext uri="{C183D7F6-B498-43B3-948B-1728B52AA6E4}">
                <adec:decorative xmlns:adec="http://schemas.microsoft.com/office/drawing/2017/decorative" val="1"/>
              </a:ext>
            </a:extLst>
          </p:cNvPr>
          <p:cNvSpPr/>
          <p:nvPr/>
        </p:nvSpPr>
        <p:spPr>
          <a:xfrm>
            <a:off x="8358738" y="2468880"/>
            <a:ext cx="810044" cy="475488"/>
          </a:xfrm>
          <a:prstGeom prst="roundRect">
            <a:avLst>
              <a:gd name="adj" fmla="val 50000"/>
            </a:avLst>
          </a:prstGeom>
          <a:solidFill>
            <a:srgbClr val="F6F0F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8" name="!!termd-filler">
            <a:extLst>
              <a:ext uri="{C183D7F6-B498-43B3-948B-1728B52AA6E4}">
                <adec:decorative xmlns:adec="http://schemas.microsoft.com/office/drawing/2017/decorative" val="1"/>
              </a:ext>
            </a:extLst>
          </p:cNvPr>
          <p:cNvSpPr/>
          <p:nvPr/>
        </p:nvSpPr>
        <p:spPr>
          <a:xfrm>
            <a:off x="8486754" y="2660904"/>
            <a:ext cx="91440" cy="91440"/>
          </a:xfrm>
          <a:prstGeom prst="ellipse">
            <a:avLst/>
          </a:prstGeom>
          <a:solidFill>
            <a:srgbClr val="8E44A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9" name="!!termt-filler"/>
          <p:cNvSpPr txBox="1"/>
          <p:nvPr/>
        </p:nvSpPr>
        <p:spPr>
          <a:xfrm>
            <a:off x="8651346" y="2592324"/>
            <a:ext cx="627164" cy="310896"/>
          </a:xfrm>
          <a:prstGeom prst="rect">
            <a:avLst/>
          </a:prstGeom>
          <a:noFill/>
        </p:spPr>
        <p:txBody>
          <a:bodyPr wrap="none" anchor="t" lIns="0" rIns="0" tIns="0" bIns="0">
            <a:noAutofit/>
          </a:bodyPr>
          <a:lstStyle/>
          <a:p>
            <a:pPr algn="l">
              <a:lnSpc>
                <a:spcPct val="100000"/>
              </a:lnSpc>
              <a:spcBef>
                <a:spcPts val="0"/>
              </a:spcBef>
              <a:spcAft>
                <a:spcPts val="0"/>
              </a:spcAft>
            </a:pPr>
            <a:r>
              <a:rPr sz="1500" b="0" i="0">
                <a:solidFill>
                  <a:srgbClr val="1C252B"/>
                </a:solidFill>
                <a:latin typeface="Segoe UI"/>
              </a:rPr>
              <a:t>filler</a:t>
            </a:r>
          </a:p>
        </p:txBody>
      </p:sp>
      <p:sp>
        <p:nvSpPr>
          <p:cNvPr id="40" name="!!term-default">
            <a:extLst>
              <a:ext uri="{C183D7F6-B498-43B3-948B-1728B52AA6E4}">
                <adec:decorative xmlns:adec="http://schemas.microsoft.com/office/drawing/2017/decorative" val="1"/>
              </a:ext>
            </a:extLst>
          </p:cNvPr>
          <p:cNvSpPr/>
          <p:nvPr/>
        </p:nvSpPr>
        <p:spPr>
          <a:xfrm>
            <a:off x="9315086" y="2468880"/>
            <a:ext cx="1037581" cy="475488"/>
          </a:xfrm>
          <a:prstGeom prst="roundRect">
            <a:avLst>
              <a:gd name="adj" fmla="val 50000"/>
            </a:avLst>
          </a:prstGeom>
          <a:solidFill>
            <a:srgbClr val="F6F0F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1" name="!!termd-default">
            <a:extLst>
              <a:ext uri="{C183D7F6-B498-43B3-948B-1728B52AA6E4}">
                <adec:decorative xmlns:adec="http://schemas.microsoft.com/office/drawing/2017/decorative" val="1"/>
              </a:ext>
            </a:extLst>
          </p:cNvPr>
          <p:cNvSpPr/>
          <p:nvPr/>
        </p:nvSpPr>
        <p:spPr>
          <a:xfrm>
            <a:off x="9443102" y="2660904"/>
            <a:ext cx="91440" cy="91440"/>
          </a:xfrm>
          <a:prstGeom prst="ellipse">
            <a:avLst/>
          </a:prstGeom>
          <a:solidFill>
            <a:srgbClr val="8E44A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2" name="!!termt-default"/>
          <p:cNvSpPr txBox="1"/>
          <p:nvPr/>
        </p:nvSpPr>
        <p:spPr>
          <a:xfrm>
            <a:off x="9607694" y="2592324"/>
            <a:ext cx="854701" cy="310896"/>
          </a:xfrm>
          <a:prstGeom prst="rect">
            <a:avLst/>
          </a:prstGeom>
          <a:noFill/>
        </p:spPr>
        <p:txBody>
          <a:bodyPr wrap="none" anchor="t" lIns="0" rIns="0" tIns="0" bIns="0">
            <a:noAutofit/>
          </a:bodyPr>
          <a:lstStyle/>
          <a:p>
            <a:pPr algn="l">
              <a:lnSpc>
                <a:spcPct val="100000"/>
              </a:lnSpc>
              <a:spcBef>
                <a:spcPts val="0"/>
              </a:spcBef>
              <a:spcAft>
                <a:spcPts val="0"/>
              </a:spcAft>
            </a:pPr>
            <a:r>
              <a:rPr sz="1500" b="0" i="0">
                <a:solidFill>
                  <a:srgbClr val="1C252B"/>
                </a:solidFill>
                <a:latin typeface="Segoe UI"/>
              </a:rPr>
              <a:t>default</a:t>
            </a:r>
          </a:p>
        </p:txBody>
      </p:sp>
      <p:sp>
        <p:nvSpPr>
          <p:cNvPr id="43" name="!!term-override">
            <a:extLst>
              <a:ext uri="{C183D7F6-B498-43B3-948B-1728B52AA6E4}">
                <adec:decorative xmlns:adec="http://schemas.microsoft.com/office/drawing/2017/decorative" val="1"/>
              </a:ext>
            </a:extLst>
          </p:cNvPr>
          <p:cNvSpPr/>
          <p:nvPr/>
        </p:nvSpPr>
        <p:spPr>
          <a:xfrm>
            <a:off x="658368" y="3090672"/>
            <a:ext cx="1145793" cy="475488"/>
          </a:xfrm>
          <a:prstGeom prst="roundRect">
            <a:avLst>
              <a:gd name="adj" fmla="val 50000"/>
            </a:avLst>
          </a:prstGeom>
          <a:solidFill>
            <a:srgbClr val="F6F0F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4" name="!!termd-override">
            <a:extLst>
              <a:ext uri="{C183D7F6-B498-43B3-948B-1728B52AA6E4}">
                <adec:decorative xmlns:adec="http://schemas.microsoft.com/office/drawing/2017/decorative" val="1"/>
              </a:ext>
            </a:extLst>
          </p:cNvPr>
          <p:cNvSpPr/>
          <p:nvPr/>
        </p:nvSpPr>
        <p:spPr>
          <a:xfrm>
            <a:off x="786384" y="3282696"/>
            <a:ext cx="91440" cy="91440"/>
          </a:xfrm>
          <a:prstGeom prst="ellipse">
            <a:avLst/>
          </a:prstGeom>
          <a:solidFill>
            <a:srgbClr val="8E44A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5" name="!!termt-override"/>
          <p:cNvSpPr txBox="1"/>
          <p:nvPr/>
        </p:nvSpPr>
        <p:spPr>
          <a:xfrm>
            <a:off x="950976" y="3214116"/>
            <a:ext cx="962913" cy="310896"/>
          </a:xfrm>
          <a:prstGeom prst="rect">
            <a:avLst/>
          </a:prstGeom>
          <a:noFill/>
        </p:spPr>
        <p:txBody>
          <a:bodyPr wrap="none" anchor="t" lIns="0" rIns="0" tIns="0" bIns="0">
            <a:noAutofit/>
          </a:bodyPr>
          <a:lstStyle/>
          <a:p>
            <a:pPr algn="l">
              <a:lnSpc>
                <a:spcPct val="100000"/>
              </a:lnSpc>
              <a:spcBef>
                <a:spcPts val="0"/>
              </a:spcBef>
              <a:spcAft>
                <a:spcPts val="0"/>
              </a:spcAft>
            </a:pPr>
            <a:r>
              <a:rPr sz="1500" b="0" i="0">
                <a:solidFill>
                  <a:srgbClr val="1C252B"/>
                </a:solidFill>
                <a:latin typeface="Segoe UI"/>
              </a:rPr>
              <a:t>override</a:t>
            </a:r>
          </a:p>
        </p:txBody>
      </p:sp>
      <p:sp>
        <p:nvSpPr>
          <p:cNvPr id="46" name="!!term-non-monotonic ">
            <a:extLst>
              <a:ext uri="{C183D7F6-B498-43B3-948B-1728B52AA6E4}">
                <adec:decorative xmlns:adec="http://schemas.microsoft.com/office/drawing/2017/decorative" val="1"/>
              </a:ext>
            </a:extLst>
          </p:cNvPr>
          <p:cNvSpPr/>
          <p:nvPr/>
        </p:nvSpPr>
        <p:spPr>
          <a:xfrm>
            <a:off x="1950465" y="3090672"/>
            <a:ext cx="2680991" cy="475488"/>
          </a:xfrm>
          <a:prstGeom prst="roundRect">
            <a:avLst>
              <a:gd name="adj" fmla="val 50000"/>
            </a:avLst>
          </a:prstGeom>
          <a:solidFill>
            <a:srgbClr val="F6F0F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7" name="!!termd-non-monotonic ">
            <a:extLst>
              <a:ext uri="{C183D7F6-B498-43B3-948B-1728B52AA6E4}">
                <adec:decorative xmlns:adec="http://schemas.microsoft.com/office/drawing/2017/decorative" val="1"/>
              </a:ext>
            </a:extLst>
          </p:cNvPr>
          <p:cNvSpPr/>
          <p:nvPr/>
        </p:nvSpPr>
        <p:spPr>
          <a:xfrm>
            <a:off x="2078481" y="3282696"/>
            <a:ext cx="91440" cy="91440"/>
          </a:xfrm>
          <a:prstGeom prst="ellipse">
            <a:avLst/>
          </a:prstGeom>
          <a:solidFill>
            <a:srgbClr val="8E44A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8" name="!!termt-non-monotonic "/>
          <p:cNvSpPr txBox="1"/>
          <p:nvPr/>
        </p:nvSpPr>
        <p:spPr>
          <a:xfrm>
            <a:off x="2243073" y="3214116"/>
            <a:ext cx="2498111" cy="310896"/>
          </a:xfrm>
          <a:prstGeom prst="rect">
            <a:avLst/>
          </a:prstGeom>
          <a:noFill/>
        </p:spPr>
        <p:txBody>
          <a:bodyPr wrap="none" anchor="t" lIns="0" rIns="0" tIns="0" bIns="0">
            <a:noAutofit/>
          </a:bodyPr>
          <a:lstStyle/>
          <a:p>
            <a:pPr algn="l">
              <a:lnSpc>
                <a:spcPct val="100000"/>
              </a:lnSpc>
              <a:spcBef>
                <a:spcPts val="0"/>
              </a:spcBef>
              <a:spcAft>
                <a:spcPts val="0"/>
              </a:spcAft>
            </a:pPr>
            <a:r>
              <a:rPr sz="1500" b="0" i="0">
                <a:solidFill>
                  <a:srgbClr val="1C252B"/>
                </a:solidFill>
                <a:latin typeface="Segoe UI"/>
              </a:rPr>
              <a:t>non-monotonic reasoning</a:t>
            </a:r>
          </a:p>
        </p:txBody>
      </p:sp>
      <p:sp>
        <p:nvSpPr>
          <p:cNvPr id="49" name="!!term-multiple inher">
            <a:extLst>
              <a:ext uri="{C183D7F6-B498-43B3-948B-1728B52AA6E4}">
                <adec:decorative xmlns:adec="http://schemas.microsoft.com/office/drawing/2017/decorative" val="1"/>
              </a:ext>
            </a:extLst>
          </p:cNvPr>
          <p:cNvSpPr/>
          <p:nvPr/>
        </p:nvSpPr>
        <p:spPr>
          <a:xfrm>
            <a:off x="4777760" y="3090672"/>
            <a:ext cx="2141650" cy="475488"/>
          </a:xfrm>
          <a:prstGeom prst="roundRect">
            <a:avLst>
              <a:gd name="adj" fmla="val 50000"/>
            </a:avLst>
          </a:prstGeom>
          <a:solidFill>
            <a:srgbClr val="F6F0F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0" name="!!termd-multiple inher">
            <a:extLst>
              <a:ext uri="{C183D7F6-B498-43B3-948B-1728B52AA6E4}">
                <adec:decorative xmlns:adec="http://schemas.microsoft.com/office/drawing/2017/decorative" val="1"/>
              </a:ext>
            </a:extLst>
          </p:cNvPr>
          <p:cNvSpPr/>
          <p:nvPr/>
        </p:nvSpPr>
        <p:spPr>
          <a:xfrm>
            <a:off x="4905776" y="3282696"/>
            <a:ext cx="91440" cy="91440"/>
          </a:xfrm>
          <a:prstGeom prst="ellipse">
            <a:avLst/>
          </a:prstGeom>
          <a:solidFill>
            <a:srgbClr val="8E44A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1" name="!!termt-multiple inher"/>
          <p:cNvSpPr txBox="1"/>
          <p:nvPr/>
        </p:nvSpPr>
        <p:spPr>
          <a:xfrm>
            <a:off x="5070368" y="3214116"/>
            <a:ext cx="1958770" cy="310896"/>
          </a:xfrm>
          <a:prstGeom prst="rect">
            <a:avLst/>
          </a:prstGeom>
          <a:noFill/>
        </p:spPr>
        <p:txBody>
          <a:bodyPr wrap="none" anchor="t" lIns="0" rIns="0" tIns="0" bIns="0">
            <a:noAutofit/>
          </a:bodyPr>
          <a:lstStyle/>
          <a:p>
            <a:pPr algn="l">
              <a:lnSpc>
                <a:spcPct val="100000"/>
              </a:lnSpc>
              <a:spcBef>
                <a:spcPts val="0"/>
              </a:spcBef>
              <a:spcAft>
                <a:spcPts val="0"/>
              </a:spcAft>
            </a:pPr>
            <a:r>
              <a:rPr sz="1500" b="0" i="0">
                <a:solidFill>
                  <a:srgbClr val="1C252B"/>
                </a:solidFill>
                <a:latin typeface="Segoe UI"/>
              </a:rPr>
              <a:t>multiple inheritance</a:t>
            </a:r>
          </a:p>
        </p:txBody>
      </p:sp>
      <p:sp>
        <p:nvSpPr>
          <p:cNvPr id="52" name="!!term-ontology">
            <a:extLst>
              <a:ext uri="{C183D7F6-B498-43B3-948B-1728B52AA6E4}">
                <adec:decorative xmlns:adec="http://schemas.microsoft.com/office/drawing/2017/decorative" val="1"/>
              </a:ext>
            </a:extLst>
          </p:cNvPr>
          <p:cNvSpPr/>
          <p:nvPr/>
        </p:nvSpPr>
        <p:spPr>
          <a:xfrm>
            <a:off x="7065715" y="3090672"/>
            <a:ext cx="1211852" cy="475488"/>
          </a:xfrm>
          <a:prstGeom prst="roundRect">
            <a:avLst>
              <a:gd name="adj" fmla="val 50000"/>
            </a:avLst>
          </a:prstGeom>
          <a:solidFill>
            <a:srgbClr val="F6F0F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3" name="!!termd-ontology">
            <a:extLst>
              <a:ext uri="{C183D7F6-B498-43B3-948B-1728B52AA6E4}">
                <adec:decorative xmlns:adec="http://schemas.microsoft.com/office/drawing/2017/decorative" val="1"/>
              </a:ext>
            </a:extLst>
          </p:cNvPr>
          <p:cNvSpPr/>
          <p:nvPr/>
        </p:nvSpPr>
        <p:spPr>
          <a:xfrm>
            <a:off x="7193731" y="3282696"/>
            <a:ext cx="91440" cy="91440"/>
          </a:xfrm>
          <a:prstGeom prst="ellipse">
            <a:avLst/>
          </a:prstGeom>
          <a:solidFill>
            <a:srgbClr val="8E44A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4" name="!!termt-ontology"/>
          <p:cNvSpPr txBox="1"/>
          <p:nvPr/>
        </p:nvSpPr>
        <p:spPr>
          <a:xfrm>
            <a:off x="7358323" y="3214116"/>
            <a:ext cx="1028972" cy="310896"/>
          </a:xfrm>
          <a:prstGeom prst="rect">
            <a:avLst/>
          </a:prstGeom>
          <a:noFill/>
        </p:spPr>
        <p:txBody>
          <a:bodyPr wrap="none" anchor="t" lIns="0" rIns="0" tIns="0" bIns="0">
            <a:noAutofit/>
          </a:bodyPr>
          <a:lstStyle/>
          <a:p>
            <a:pPr algn="l">
              <a:lnSpc>
                <a:spcPct val="100000"/>
              </a:lnSpc>
              <a:spcBef>
                <a:spcPts val="0"/>
              </a:spcBef>
              <a:spcAft>
                <a:spcPts val="0"/>
              </a:spcAft>
            </a:pPr>
            <a:r>
              <a:rPr sz="1500" b="0" i="0">
                <a:solidFill>
                  <a:srgbClr val="1C252B"/>
                </a:solidFill>
                <a:latin typeface="Segoe UI"/>
              </a:rPr>
              <a:t>ontology</a:t>
            </a:r>
          </a:p>
        </p:txBody>
      </p:sp>
      <p:sp>
        <p:nvSpPr>
          <p:cNvPr id="55" name="!!term-taxonomy">
            <a:extLst>
              <a:ext uri="{C183D7F6-B498-43B3-948B-1728B52AA6E4}">
                <adec:decorative xmlns:adec="http://schemas.microsoft.com/office/drawing/2017/decorative" val="1"/>
              </a:ext>
            </a:extLst>
          </p:cNvPr>
          <p:cNvSpPr/>
          <p:nvPr/>
        </p:nvSpPr>
        <p:spPr>
          <a:xfrm>
            <a:off x="8423872" y="3090672"/>
            <a:ext cx="1291908" cy="475488"/>
          </a:xfrm>
          <a:prstGeom prst="roundRect">
            <a:avLst>
              <a:gd name="adj" fmla="val 50000"/>
            </a:avLst>
          </a:prstGeom>
          <a:solidFill>
            <a:srgbClr val="F6F0F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6" name="!!termd-taxonomy">
            <a:extLst>
              <a:ext uri="{C183D7F6-B498-43B3-948B-1728B52AA6E4}">
                <adec:decorative xmlns:adec="http://schemas.microsoft.com/office/drawing/2017/decorative" val="1"/>
              </a:ext>
            </a:extLst>
          </p:cNvPr>
          <p:cNvSpPr/>
          <p:nvPr/>
        </p:nvSpPr>
        <p:spPr>
          <a:xfrm>
            <a:off x="8551888" y="3282696"/>
            <a:ext cx="91440" cy="91440"/>
          </a:xfrm>
          <a:prstGeom prst="ellipse">
            <a:avLst/>
          </a:prstGeom>
          <a:solidFill>
            <a:srgbClr val="8E44A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7" name="!!termt-taxonomy"/>
          <p:cNvSpPr txBox="1"/>
          <p:nvPr/>
        </p:nvSpPr>
        <p:spPr>
          <a:xfrm>
            <a:off x="8716480" y="3214116"/>
            <a:ext cx="1109028" cy="310896"/>
          </a:xfrm>
          <a:prstGeom prst="rect">
            <a:avLst/>
          </a:prstGeom>
          <a:noFill/>
        </p:spPr>
        <p:txBody>
          <a:bodyPr wrap="none" anchor="t" lIns="0" rIns="0" tIns="0" bIns="0">
            <a:noAutofit/>
          </a:bodyPr>
          <a:lstStyle/>
          <a:p>
            <a:pPr algn="l">
              <a:lnSpc>
                <a:spcPct val="100000"/>
              </a:lnSpc>
              <a:spcBef>
                <a:spcPts val="0"/>
              </a:spcBef>
              <a:spcAft>
                <a:spcPts val="0"/>
              </a:spcAft>
            </a:pPr>
            <a:r>
              <a:rPr sz="1500" b="0" i="0">
                <a:solidFill>
                  <a:srgbClr val="1C252B"/>
                </a:solidFill>
                <a:latin typeface="Segoe UI"/>
              </a:rPr>
              <a:t>taxonomy</a:t>
            </a:r>
          </a:p>
        </p:txBody>
      </p:sp>
      <p:sp>
        <p:nvSpPr>
          <p:cNvPr id="58" name="!!termnote"/>
          <p:cNvSpPr txBox="1"/>
          <p:nvPr/>
        </p:nvSpPr>
        <p:spPr>
          <a:xfrm>
            <a:off x="658368" y="3913632"/>
            <a:ext cx="10874959" cy="274320"/>
          </a:xfrm>
          <a:prstGeom prst="rect">
            <a:avLst/>
          </a:prstGeom>
          <a:noFill/>
        </p:spPr>
        <p:txBody>
          <a:bodyPr wrap="square" anchor="t" lIns="0" rIns="0" tIns="0" bIns="0">
            <a:noAutofit/>
          </a:bodyPr>
          <a:lstStyle/>
          <a:p>
            <a:pPr algn="l">
              <a:lnSpc>
                <a:spcPct val="100000"/>
              </a:lnSpc>
              <a:spcBef>
                <a:spcPts val="0"/>
              </a:spcBef>
              <a:spcAft>
                <a:spcPts val="0"/>
              </a:spcAft>
            </a:pPr>
            <a:r>
              <a:rPr sz="1350" b="0" i="1">
                <a:solidFill>
                  <a:srgbClr val="5F6F7B"/>
                </a:solidFill>
                <a:latin typeface="Segoe UI"/>
              </a:rPr>
              <a:t>Each term is defined where it first matters — not here.</a:t>
            </a:r>
          </a:p>
        </p:txBody>
      </p:sp>
      <p:sp>
        <p:nvSpPr>
          <p:cNvPr id="59"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60" name="!!pfill">
            <a:extLst>
              <a:ext uri="{C183D7F6-B498-43B3-948B-1728B52AA6E4}">
                <adec:decorative xmlns:adec="http://schemas.microsoft.com/office/drawing/2017/decorative" val="1"/>
              </a:ext>
            </a:extLst>
          </p:cNvPr>
          <p:cNvSpPr/>
          <p:nvPr/>
        </p:nvSpPr>
        <p:spPr>
          <a:xfrm>
            <a:off x="0" y="0"/>
            <a:ext cx="1134111" cy="54864"/>
          </a:xfrm>
          <a:prstGeom prst="rect">
            <a:avLst/>
          </a:prstGeom>
          <a:solidFill>
            <a:srgbClr val="8E44A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Requires="p14">
      <p:transition spd="med" p14:dur="450">
        <p:fade/>
      </p:transition>
    </mc:Choice>
    <mc:Fallback>
      <p:transition spd="med">
        <p:fade/>
      </p:transition>
    </mc:Fallback>
  </mc:AlternateContent>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3000" b="0">
                <a:solidFill>
                  <a:srgbClr val="1A5276"/>
                </a:solidFill>
                <a:latin typeface="Segoe UI Semibold"/>
              </a:rPr>
              <a:t>In this chapter</a:t>
            </a:r>
          </a:p>
        </p:txBody>
      </p:sp>
      <p:pic>
        <p:nvPicPr>
          <p:cNvPr id="3" name="!!kicker-icon" descr="list-ul-1A5276.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268833"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1A5276"/>
                </a:solidFill>
                <a:latin typeface="Segoe UI"/>
              </a:rPr>
              <a:t>IN THIS CHAPTER</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Artificial Intelligence  ·  Chapter 10  ·  Knowledge Representation</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Handout pp. 101–109     </a:t>
            </a:r>
            <a:fld id="{997962C5-70F6-48A2-8684-8FD2E865995C}" type="slidenum">
              <a:rPr lang="en-GB" sz="1000">
                <a:solidFill>
                  <a:srgbClr val="8795A1"/>
                </a:solidFill>
                <a:latin typeface="Segoe UI"/>
              </a:rPr>
              <a:t>5</a:t>
            </a:fld>
          </a:p>
        </p:txBody>
      </p:sp>
      <p:sp>
        <p:nvSpPr>
          <p:cNvPr id="7" name="!!ag0" descr="Go to section 10.1 The Change of Question">
            <a:hlinkClick action="ppaction://hlinksldjump" r:id="rId5"/>
          </p:cNvPr>
          <p:cNvSpPr/>
          <p:nvPr/>
        </p:nvSpPr>
        <p:spPr>
          <a:xfrm>
            <a:off x="658368" y="1773936"/>
            <a:ext cx="10874959" cy="566928"/>
          </a:xfrm>
          <a:prstGeom prst="roundRect">
            <a:avLst>
              <a:gd name="adj" fmla="val 9677"/>
            </a:avLst>
          </a:prstGeom>
          <a:solidFill>
            <a:srgbClr val="F4F7F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8" name="!!agb0">
            <a:extLst>
              <a:ext uri="{C183D7F6-B498-43B3-948B-1728B52AA6E4}">
                <adec:decorative xmlns:adec="http://schemas.microsoft.com/office/drawing/2017/decorative" val="1"/>
              </a:ext>
            </a:extLst>
          </p:cNvPr>
          <p:cNvSpPr/>
          <p:nvPr/>
        </p:nvSpPr>
        <p:spPr>
          <a:xfrm>
            <a:off x="658368" y="1773936"/>
            <a:ext cx="64008" cy="566928"/>
          </a:xfrm>
          <a:prstGeom prst="rect">
            <a:avLst/>
          </a:prstGeom>
          <a:solidFill>
            <a:srgbClr val="8E44A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9" name="!!agn0"/>
          <p:cNvSpPr txBox="1"/>
          <p:nvPr/>
        </p:nvSpPr>
        <p:spPr>
          <a:xfrm>
            <a:off x="932688" y="1920240"/>
            <a:ext cx="914400" cy="329184"/>
          </a:xfrm>
          <a:prstGeom prst="rect">
            <a:avLst/>
          </a:prstGeom>
          <a:noFill/>
        </p:spPr>
        <p:txBody>
          <a:bodyPr wrap="square" anchor="t" lIns="0" rIns="0" tIns="0" bIns="0">
            <a:noAutofit/>
          </a:bodyPr>
          <a:lstStyle/>
          <a:p>
            <a:pPr algn="l">
              <a:lnSpc>
                <a:spcPct val="100000"/>
              </a:lnSpc>
              <a:spcBef>
                <a:spcPts val="0"/>
              </a:spcBef>
              <a:spcAft>
                <a:spcPts val="0"/>
              </a:spcAft>
            </a:pPr>
            <a:r>
              <a:rPr sz="1800" b="1" i="0">
                <a:solidFill>
                  <a:srgbClr val="7A3A95"/>
                </a:solidFill>
                <a:latin typeface="Segoe UI Semibold"/>
              </a:rPr>
              <a:t>10.1</a:t>
            </a:r>
          </a:p>
        </p:txBody>
      </p:sp>
      <p:sp>
        <p:nvSpPr>
          <p:cNvPr id="10" name="!!agt0"/>
          <p:cNvSpPr txBox="1"/>
          <p:nvPr/>
        </p:nvSpPr>
        <p:spPr>
          <a:xfrm>
            <a:off x="1847088" y="1920240"/>
            <a:ext cx="8131759" cy="329184"/>
          </a:xfrm>
          <a:prstGeom prst="rect">
            <a:avLst/>
          </a:prstGeom>
          <a:noFill/>
        </p:spPr>
        <p:txBody>
          <a:bodyPr wrap="square" anchor="t" lIns="0" rIns="0" tIns="0" bIns="0">
            <a:noAutofit/>
          </a:bodyPr>
          <a:lstStyle/>
          <a:p>
            <a:pPr algn="l">
              <a:lnSpc>
                <a:spcPct val="100000"/>
              </a:lnSpc>
              <a:spcBef>
                <a:spcPts val="0"/>
              </a:spcBef>
              <a:spcAft>
                <a:spcPts val="0"/>
              </a:spcAft>
            </a:pPr>
            <a:r>
              <a:rPr sz="1800" b="0" i="0">
                <a:solidFill>
                  <a:srgbClr val="1C252B"/>
                </a:solidFill>
                <a:latin typeface="Segoe UI"/>
              </a:rPr>
              <a:t>The Change of Question</a:t>
            </a:r>
          </a:p>
        </p:txBody>
      </p:sp>
      <p:sp>
        <p:nvSpPr>
          <p:cNvPr id="11" name="!!agp0"/>
          <p:cNvSpPr txBox="1"/>
          <p:nvPr/>
        </p:nvSpPr>
        <p:spPr>
          <a:xfrm>
            <a:off x="9795967" y="1947672"/>
            <a:ext cx="1554480" cy="329184"/>
          </a:xfrm>
          <a:prstGeom prst="rect">
            <a:avLst/>
          </a:prstGeom>
          <a:noFill/>
        </p:spPr>
        <p:txBody>
          <a:bodyPr wrap="square" anchor="t" lIns="0" rIns="0" tIns="0" bIns="0">
            <a:noAutofit/>
          </a:bodyPr>
          <a:lstStyle/>
          <a:p>
            <a:pPr algn="r">
              <a:lnSpc>
                <a:spcPct val="100000"/>
              </a:lnSpc>
              <a:spcBef>
                <a:spcPts val="0"/>
              </a:spcBef>
              <a:spcAft>
                <a:spcPts val="0"/>
              </a:spcAft>
            </a:pPr>
            <a:r>
              <a:rPr sz="1500" b="0" i="0">
                <a:solidFill>
                  <a:srgbClr val="5F6F7B"/>
                </a:solidFill>
                <a:latin typeface="Segoe UI"/>
              </a:rPr>
              <a:t>p. 101  ›</a:t>
            </a:r>
          </a:p>
        </p:txBody>
      </p:sp>
      <p:sp>
        <p:nvSpPr>
          <p:cNvPr id="12" name="!!ag1" descr="Go to section 10.2 Semantic Networks">
            <a:hlinkClick action="ppaction://hlinksldjump" r:id="rId6"/>
          </p:cNvPr>
          <p:cNvSpPr/>
          <p:nvPr/>
        </p:nvSpPr>
        <p:spPr>
          <a:xfrm>
            <a:off x="658368" y="2414015"/>
            <a:ext cx="10874959" cy="566928"/>
          </a:xfrm>
          <a:prstGeom prst="roundRect">
            <a:avLst>
              <a:gd name="adj" fmla="val 9677"/>
            </a:avLst>
          </a:prstGeom>
          <a:solidFill>
            <a:srgbClr val="F4F7F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3" name="!!agb1">
            <a:extLst>
              <a:ext uri="{C183D7F6-B498-43B3-948B-1728B52AA6E4}">
                <adec:decorative xmlns:adec="http://schemas.microsoft.com/office/drawing/2017/decorative" val="1"/>
              </a:ext>
            </a:extLst>
          </p:cNvPr>
          <p:cNvSpPr/>
          <p:nvPr/>
        </p:nvSpPr>
        <p:spPr>
          <a:xfrm>
            <a:off x="658368" y="2414015"/>
            <a:ext cx="64008" cy="566928"/>
          </a:xfrm>
          <a:prstGeom prst="rect">
            <a:avLst/>
          </a:prstGeom>
          <a:solidFill>
            <a:srgbClr val="8E44A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4" name="!!agn1"/>
          <p:cNvSpPr txBox="1"/>
          <p:nvPr/>
        </p:nvSpPr>
        <p:spPr>
          <a:xfrm>
            <a:off x="932688" y="2560320"/>
            <a:ext cx="914400" cy="329184"/>
          </a:xfrm>
          <a:prstGeom prst="rect">
            <a:avLst/>
          </a:prstGeom>
          <a:noFill/>
        </p:spPr>
        <p:txBody>
          <a:bodyPr wrap="square" anchor="t" lIns="0" rIns="0" tIns="0" bIns="0">
            <a:noAutofit/>
          </a:bodyPr>
          <a:lstStyle/>
          <a:p>
            <a:pPr algn="l">
              <a:lnSpc>
                <a:spcPct val="100000"/>
              </a:lnSpc>
              <a:spcBef>
                <a:spcPts val="0"/>
              </a:spcBef>
              <a:spcAft>
                <a:spcPts val="0"/>
              </a:spcAft>
            </a:pPr>
            <a:r>
              <a:rPr sz="1800" b="1" i="0">
                <a:solidFill>
                  <a:srgbClr val="7A3A95"/>
                </a:solidFill>
                <a:latin typeface="Segoe UI Semibold"/>
              </a:rPr>
              <a:t>10.2</a:t>
            </a:r>
          </a:p>
        </p:txBody>
      </p:sp>
      <p:sp>
        <p:nvSpPr>
          <p:cNvPr id="15" name="!!agt1"/>
          <p:cNvSpPr txBox="1"/>
          <p:nvPr/>
        </p:nvSpPr>
        <p:spPr>
          <a:xfrm>
            <a:off x="1847088" y="2560320"/>
            <a:ext cx="8131759" cy="329184"/>
          </a:xfrm>
          <a:prstGeom prst="rect">
            <a:avLst/>
          </a:prstGeom>
          <a:noFill/>
        </p:spPr>
        <p:txBody>
          <a:bodyPr wrap="square" anchor="t" lIns="0" rIns="0" tIns="0" bIns="0">
            <a:noAutofit/>
          </a:bodyPr>
          <a:lstStyle/>
          <a:p>
            <a:pPr algn="l">
              <a:lnSpc>
                <a:spcPct val="100000"/>
              </a:lnSpc>
              <a:spcBef>
                <a:spcPts val="0"/>
              </a:spcBef>
              <a:spcAft>
                <a:spcPts val="0"/>
              </a:spcAft>
            </a:pPr>
            <a:r>
              <a:rPr sz="1800" b="0" i="0">
                <a:solidFill>
                  <a:srgbClr val="1C252B"/>
                </a:solidFill>
                <a:latin typeface="Segoe UI"/>
              </a:rPr>
              <a:t>Semantic Networks</a:t>
            </a:r>
          </a:p>
        </p:txBody>
      </p:sp>
      <p:sp>
        <p:nvSpPr>
          <p:cNvPr id="16" name="!!agp1"/>
          <p:cNvSpPr txBox="1"/>
          <p:nvPr/>
        </p:nvSpPr>
        <p:spPr>
          <a:xfrm>
            <a:off x="9795967" y="2587751"/>
            <a:ext cx="1554480" cy="329184"/>
          </a:xfrm>
          <a:prstGeom prst="rect">
            <a:avLst/>
          </a:prstGeom>
          <a:noFill/>
        </p:spPr>
        <p:txBody>
          <a:bodyPr wrap="square" anchor="t" lIns="0" rIns="0" tIns="0" bIns="0">
            <a:noAutofit/>
          </a:bodyPr>
          <a:lstStyle/>
          <a:p>
            <a:pPr algn="r">
              <a:lnSpc>
                <a:spcPct val="100000"/>
              </a:lnSpc>
              <a:spcBef>
                <a:spcPts val="0"/>
              </a:spcBef>
              <a:spcAft>
                <a:spcPts val="0"/>
              </a:spcAft>
            </a:pPr>
            <a:r>
              <a:rPr sz="1500" b="0" i="0">
                <a:solidFill>
                  <a:srgbClr val="5F6F7B"/>
                </a:solidFill>
                <a:latin typeface="Segoe UI"/>
              </a:rPr>
              <a:t>p. 102  ›</a:t>
            </a:r>
          </a:p>
        </p:txBody>
      </p:sp>
      <p:sp>
        <p:nvSpPr>
          <p:cNvPr id="17" name="!!ag2" descr="Go to section 10.3 Frames, Slots and Defaults">
            <a:hlinkClick action="ppaction://hlinksldjump" r:id="rId7"/>
          </p:cNvPr>
          <p:cNvSpPr/>
          <p:nvPr/>
        </p:nvSpPr>
        <p:spPr>
          <a:xfrm>
            <a:off x="658368" y="3054096"/>
            <a:ext cx="10874959" cy="566928"/>
          </a:xfrm>
          <a:prstGeom prst="roundRect">
            <a:avLst>
              <a:gd name="adj" fmla="val 9677"/>
            </a:avLst>
          </a:prstGeom>
          <a:solidFill>
            <a:srgbClr val="F4F7F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8" name="!!agb2">
            <a:extLst>
              <a:ext uri="{C183D7F6-B498-43B3-948B-1728B52AA6E4}">
                <adec:decorative xmlns:adec="http://schemas.microsoft.com/office/drawing/2017/decorative" val="1"/>
              </a:ext>
            </a:extLst>
          </p:cNvPr>
          <p:cNvSpPr/>
          <p:nvPr/>
        </p:nvSpPr>
        <p:spPr>
          <a:xfrm>
            <a:off x="658368" y="3054096"/>
            <a:ext cx="64008" cy="566928"/>
          </a:xfrm>
          <a:prstGeom prst="rect">
            <a:avLst/>
          </a:prstGeom>
          <a:solidFill>
            <a:srgbClr val="8E44A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9" name="!!agn2"/>
          <p:cNvSpPr txBox="1"/>
          <p:nvPr/>
        </p:nvSpPr>
        <p:spPr>
          <a:xfrm>
            <a:off x="932688" y="3200400"/>
            <a:ext cx="914400" cy="329184"/>
          </a:xfrm>
          <a:prstGeom prst="rect">
            <a:avLst/>
          </a:prstGeom>
          <a:noFill/>
        </p:spPr>
        <p:txBody>
          <a:bodyPr wrap="square" anchor="t" lIns="0" rIns="0" tIns="0" bIns="0">
            <a:noAutofit/>
          </a:bodyPr>
          <a:lstStyle/>
          <a:p>
            <a:pPr algn="l">
              <a:lnSpc>
                <a:spcPct val="100000"/>
              </a:lnSpc>
              <a:spcBef>
                <a:spcPts val="0"/>
              </a:spcBef>
              <a:spcAft>
                <a:spcPts val="0"/>
              </a:spcAft>
            </a:pPr>
            <a:r>
              <a:rPr sz="1800" b="1" i="0">
                <a:solidFill>
                  <a:srgbClr val="7A3A95"/>
                </a:solidFill>
                <a:latin typeface="Segoe UI Semibold"/>
              </a:rPr>
              <a:t>10.3</a:t>
            </a:r>
          </a:p>
        </p:txBody>
      </p:sp>
      <p:sp>
        <p:nvSpPr>
          <p:cNvPr id="20" name="!!agt2"/>
          <p:cNvSpPr txBox="1"/>
          <p:nvPr/>
        </p:nvSpPr>
        <p:spPr>
          <a:xfrm>
            <a:off x="1847088" y="3200400"/>
            <a:ext cx="8131759" cy="329184"/>
          </a:xfrm>
          <a:prstGeom prst="rect">
            <a:avLst/>
          </a:prstGeom>
          <a:noFill/>
        </p:spPr>
        <p:txBody>
          <a:bodyPr wrap="square" anchor="t" lIns="0" rIns="0" tIns="0" bIns="0">
            <a:noAutofit/>
          </a:bodyPr>
          <a:lstStyle/>
          <a:p>
            <a:pPr algn="l">
              <a:lnSpc>
                <a:spcPct val="100000"/>
              </a:lnSpc>
              <a:spcBef>
                <a:spcPts val="0"/>
              </a:spcBef>
              <a:spcAft>
                <a:spcPts val="0"/>
              </a:spcAft>
            </a:pPr>
            <a:r>
              <a:rPr sz="1800" b="0" i="0">
                <a:solidFill>
                  <a:srgbClr val="1C252B"/>
                </a:solidFill>
                <a:latin typeface="Segoe UI"/>
              </a:rPr>
              <a:t>Frames, Slots and Defaults</a:t>
            </a:r>
          </a:p>
        </p:txBody>
      </p:sp>
      <p:sp>
        <p:nvSpPr>
          <p:cNvPr id="21" name="!!agp2"/>
          <p:cNvSpPr txBox="1"/>
          <p:nvPr/>
        </p:nvSpPr>
        <p:spPr>
          <a:xfrm>
            <a:off x="9795967" y="3227832"/>
            <a:ext cx="1554480" cy="329184"/>
          </a:xfrm>
          <a:prstGeom prst="rect">
            <a:avLst/>
          </a:prstGeom>
          <a:noFill/>
        </p:spPr>
        <p:txBody>
          <a:bodyPr wrap="square" anchor="t" lIns="0" rIns="0" tIns="0" bIns="0">
            <a:noAutofit/>
          </a:bodyPr>
          <a:lstStyle/>
          <a:p>
            <a:pPr algn="r">
              <a:lnSpc>
                <a:spcPct val="100000"/>
              </a:lnSpc>
              <a:spcBef>
                <a:spcPts val="0"/>
              </a:spcBef>
              <a:spcAft>
                <a:spcPts val="0"/>
              </a:spcAft>
            </a:pPr>
            <a:r>
              <a:rPr sz="1500" b="0" i="0">
                <a:solidFill>
                  <a:srgbClr val="5F6F7B"/>
                </a:solidFill>
                <a:latin typeface="Segoe UI"/>
              </a:rPr>
              <a:t>p. 102  ›</a:t>
            </a:r>
          </a:p>
        </p:txBody>
      </p:sp>
      <p:sp>
        <p:nvSpPr>
          <p:cNvPr id="22" name="!!ag3" descr="Go to section 10.4 When Inheritance Has No Answer">
            <a:hlinkClick action="ppaction://hlinksldjump" r:id="rId8"/>
          </p:cNvPr>
          <p:cNvSpPr/>
          <p:nvPr/>
        </p:nvSpPr>
        <p:spPr>
          <a:xfrm>
            <a:off x="658368" y="3694176"/>
            <a:ext cx="10874959" cy="566928"/>
          </a:xfrm>
          <a:prstGeom prst="roundRect">
            <a:avLst>
              <a:gd name="adj" fmla="val 9677"/>
            </a:avLst>
          </a:prstGeom>
          <a:solidFill>
            <a:srgbClr val="F4F7F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3" name="!!agb3">
            <a:extLst>
              <a:ext uri="{C183D7F6-B498-43B3-948B-1728B52AA6E4}">
                <adec:decorative xmlns:adec="http://schemas.microsoft.com/office/drawing/2017/decorative" val="1"/>
              </a:ext>
            </a:extLst>
          </p:cNvPr>
          <p:cNvSpPr/>
          <p:nvPr/>
        </p:nvSpPr>
        <p:spPr>
          <a:xfrm>
            <a:off x="658368" y="3694176"/>
            <a:ext cx="64008" cy="566928"/>
          </a:xfrm>
          <a:prstGeom prst="rect">
            <a:avLst/>
          </a:prstGeom>
          <a:solidFill>
            <a:srgbClr val="8E44A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4" name="!!agn3"/>
          <p:cNvSpPr txBox="1"/>
          <p:nvPr/>
        </p:nvSpPr>
        <p:spPr>
          <a:xfrm>
            <a:off x="932688" y="3840480"/>
            <a:ext cx="914400" cy="329184"/>
          </a:xfrm>
          <a:prstGeom prst="rect">
            <a:avLst/>
          </a:prstGeom>
          <a:noFill/>
        </p:spPr>
        <p:txBody>
          <a:bodyPr wrap="square" anchor="t" lIns="0" rIns="0" tIns="0" bIns="0">
            <a:noAutofit/>
          </a:bodyPr>
          <a:lstStyle/>
          <a:p>
            <a:pPr algn="l">
              <a:lnSpc>
                <a:spcPct val="100000"/>
              </a:lnSpc>
              <a:spcBef>
                <a:spcPts val="0"/>
              </a:spcBef>
              <a:spcAft>
                <a:spcPts val="0"/>
              </a:spcAft>
            </a:pPr>
            <a:r>
              <a:rPr sz="1800" b="1" i="0">
                <a:solidFill>
                  <a:srgbClr val="7A3A95"/>
                </a:solidFill>
                <a:latin typeface="Segoe UI Semibold"/>
              </a:rPr>
              <a:t>10.4</a:t>
            </a:r>
          </a:p>
        </p:txBody>
      </p:sp>
      <p:sp>
        <p:nvSpPr>
          <p:cNvPr id="25" name="!!agt3"/>
          <p:cNvSpPr txBox="1"/>
          <p:nvPr/>
        </p:nvSpPr>
        <p:spPr>
          <a:xfrm>
            <a:off x="1847088" y="3840480"/>
            <a:ext cx="8131759" cy="329184"/>
          </a:xfrm>
          <a:prstGeom prst="rect">
            <a:avLst/>
          </a:prstGeom>
          <a:noFill/>
        </p:spPr>
        <p:txBody>
          <a:bodyPr wrap="square" anchor="t" lIns="0" rIns="0" tIns="0" bIns="0">
            <a:noAutofit/>
          </a:bodyPr>
          <a:lstStyle/>
          <a:p>
            <a:pPr algn="l">
              <a:lnSpc>
                <a:spcPct val="100000"/>
              </a:lnSpc>
              <a:spcBef>
                <a:spcPts val="0"/>
              </a:spcBef>
              <a:spcAft>
                <a:spcPts val="0"/>
              </a:spcAft>
            </a:pPr>
            <a:r>
              <a:rPr sz="1800" b="0" i="0">
                <a:solidFill>
                  <a:srgbClr val="1C252B"/>
                </a:solidFill>
                <a:latin typeface="Segoe UI"/>
              </a:rPr>
              <a:t>When Inheritance Has No Answer</a:t>
            </a:r>
          </a:p>
        </p:txBody>
      </p:sp>
      <p:sp>
        <p:nvSpPr>
          <p:cNvPr id="26" name="!!agp3"/>
          <p:cNvSpPr txBox="1"/>
          <p:nvPr/>
        </p:nvSpPr>
        <p:spPr>
          <a:xfrm>
            <a:off x="9795967" y="3867912"/>
            <a:ext cx="1554480" cy="329184"/>
          </a:xfrm>
          <a:prstGeom prst="rect">
            <a:avLst/>
          </a:prstGeom>
          <a:noFill/>
        </p:spPr>
        <p:txBody>
          <a:bodyPr wrap="square" anchor="t" lIns="0" rIns="0" tIns="0" bIns="0">
            <a:noAutofit/>
          </a:bodyPr>
          <a:lstStyle/>
          <a:p>
            <a:pPr algn="r">
              <a:lnSpc>
                <a:spcPct val="100000"/>
              </a:lnSpc>
              <a:spcBef>
                <a:spcPts val="0"/>
              </a:spcBef>
              <a:spcAft>
                <a:spcPts val="0"/>
              </a:spcAft>
            </a:pPr>
            <a:r>
              <a:rPr sz="1500" b="0" i="0">
                <a:solidFill>
                  <a:srgbClr val="5F6F7B"/>
                </a:solidFill>
                <a:latin typeface="Segoe UI"/>
              </a:rPr>
              <a:t>p. 103  ›</a:t>
            </a:r>
          </a:p>
        </p:txBody>
      </p:sp>
      <p:sp>
        <p:nvSpPr>
          <p:cNvPr id="27" name="!!ag4" descr="Go to section 10.5 Ontologies">
            <a:hlinkClick action="ppaction://hlinksldjump" r:id="rId9"/>
          </p:cNvPr>
          <p:cNvSpPr/>
          <p:nvPr/>
        </p:nvSpPr>
        <p:spPr>
          <a:xfrm>
            <a:off x="658368" y="4334256"/>
            <a:ext cx="10874959" cy="566928"/>
          </a:xfrm>
          <a:prstGeom prst="roundRect">
            <a:avLst>
              <a:gd name="adj" fmla="val 9677"/>
            </a:avLst>
          </a:prstGeom>
          <a:solidFill>
            <a:srgbClr val="F4F7F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8" name="!!agb4">
            <a:extLst>
              <a:ext uri="{C183D7F6-B498-43B3-948B-1728B52AA6E4}">
                <adec:decorative xmlns:adec="http://schemas.microsoft.com/office/drawing/2017/decorative" val="1"/>
              </a:ext>
            </a:extLst>
          </p:cNvPr>
          <p:cNvSpPr/>
          <p:nvPr/>
        </p:nvSpPr>
        <p:spPr>
          <a:xfrm>
            <a:off x="658368" y="4334256"/>
            <a:ext cx="64008" cy="566928"/>
          </a:xfrm>
          <a:prstGeom prst="rect">
            <a:avLst/>
          </a:prstGeom>
          <a:solidFill>
            <a:srgbClr val="8E44A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9" name="!!agn4"/>
          <p:cNvSpPr txBox="1"/>
          <p:nvPr/>
        </p:nvSpPr>
        <p:spPr>
          <a:xfrm>
            <a:off x="932688" y="4480560"/>
            <a:ext cx="914400" cy="329184"/>
          </a:xfrm>
          <a:prstGeom prst="rect">
            <a:avLst/>
          </a:prstGeom>
          <a:noFill/>
        </p:spPr>
        <p:txBody>
          <a:bodyPr wrap="square" anchor="t" lIns="0" rIns="0" tIns="0" bIns="0">
            <a:noAutofit/>
          </a:bodyPr>
          <a:lstStyle/>
          <a:p>
            <a:pPr algn="l">
              <a:lnSpc>
                <a:spcPct val="100000"/>
              </a:lnSpc>
              <a:spcBef>
                <a:spcPts val="0"/>
              </a:spcBef>
              <a:spcAft>
                <a:spcPts val="0"/>
              </a:spcAft>
            </a:pPr>
            <a:r>
              <a:rPr sz="1800" b="1" i="0">
                <a:solidFill>
                  <a:srgbClr val="7A3A95"/>
                </a:solidFill>
                <a:latin typeface="Segoe UI Semibold"/>
              </a:rPr>
              <a:t>10.5</a:t>
            </a:r>
          </a:p>
        </p:txBody>
      </p:sp>
      <p:sp>
        <p:nvSpPr>
          <p:cNvPr id="30" name="!!agt4"/>
          <p:cNvSpPr txBox="1"/>
          <p:nvPr/>
        </p:nvSpPr>
        <p:spPr>
          <a:xfrm>
            <a:off x="1847088" y="4480560"/>
            <a:ext cx="8131759" cy="329184"/>
          </a:xfrm>
          <a:prstGeom prst="rect">
            <a:avLst/>
          </a:prstGeom>
          <a:noFill/>
        </p:spPr>
        <p:txBody>
          <a:bodyPr wrap="square" anchor="t" lIns="0" rIns="0" tIns="0" bIns="0">
            <a:noAutofit/>
          </a:bodyPr>
          <a:lstStyle/>
          <a:p>
            <a:pPr algn="l">
              <a:lnSpc>
                <a:spcPct val="100000"/>
              </a:lnSpc>
              <a:spcBef>
                <a:spcPts val="0"/>
              </a:spcBef>
              <a:spcAft>
                <a:spcPts val="0"/>
              </a:spcAft>
            </a:pPr>
            <a:r>
              <a:rPr sz="1800" b="0" i="0">
                <a:solidFill>
                  <a:srgbClr val="1C252B"/>
                </a:solidFill>
                <a:latin typeface="Segoe UI"/>
              </a:rPr>
              <a:t>Ontologies</a:t>
            </a:r>
          </a:p>
        </p:txBody>
      </p:sp>
      <p:sp>
        <p:nvSpPr>
          <p:cNvPr id="31" name="!!agp4"/>
          <p:cNvSpPr txBox="1"/>
          <p:nvPr/>
        </p:nvSpPr>
        <p:spPr>
          <a:xfrm>
            <a:off x="9795967" y="4507992"/>
            <a:ext cx="1554480" cy="329184"/>
          </a:xfrm>
          <a:prstGeom prst="rect">
            <a:avLst/>
          </a:prstGeom>
          <a:noFill/>
        </p:spPr>
        <p:txBody>
          <a:bodyPr wrap="square" anchor="t" lIns="0" rIns="0" tIns="0" bIns="0">
            <a:noAutofit/>
          </a:bodyPr>
          <a:lstStyle/>
          <a:p>
            <a:pPr algn="r">
              <a:lnSpc>
                <a:spcPct val="100000"/>
              </a:lnSpc>
              <a:spcBef>
                <a:spcPts val="0"/>
              </a:spcBef>
              <a:spcAft>
                <a:spcPts val="0"/>
              </a:spcAft>
            </a:pPr>
            <a:r>
              <a:rPr sz="1500" b="0" i="0">
                <a:solidFill>
                  <a:srgbClr val="5F6F7B"/>
                </a:solidFill>
                <a:latin typeface="Segoe UI"/>
              </a:rPr>
              <a:t>p. 104  ›</a:t>
            </a:r>
          </a:p>
        </p:txBody>
      </p:sp>
      <p:sp>
        <p:nvSpPr>
          <p:cNvPr id="32" name="!!ag5" descr="Go to section 10.6 Where This Course Stops">
            <a:hlinkClick action="ppaction://hlinksldjump" r:id="rId10"/>
          </p:cNvPr>
          <p:cNvSpPr/>
          <p:nvPr/>
        </p:nvSpPr>
        <p:spPr>
          <a:xfrm>
            <a:off x="658368" y="4974336"/>
            <a:ext cx="10874959" cy="566928"/>
          </a:xfrm>
          <a:prstGeom prst="roundRect">
            <a:avLst>
              <a:gd name="adj" fmla="val 9677"/>
            </a:avLst>
          </a:prstGeom>
          <a:solidFill>
            <a:srgbClr val="F4F7F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3" name="!!agb5">
            <a:extLst>
              <a:ext uri="{C183D7F6-B498-43B3-948B-1728B52AA6E4}">
                <adec:decorative xmlns:adec="http://schemas.microsoft.com/office/drawing/2017/decorative" val="1"/>
              </a:ext>
            </a:extLst>
          </p:cNvPr>
          <p:cNvSpPr/>
          <p:nvPr/>
        </p:nvSpPr>
        <p:spPr>
          <a:xfrm>
            <a:off x="658368" y="4974336"/>
            <a:ext cx="64008" cy="566928"/>
          </a:xfrm>
          <a:prstGeom prst="rect">
            <a:avLst/>
          </a:prstGeom>
          <a:solidFill>
            <a:srgbClr val="8E44A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4" name="!!agn5"/>
          <p:cNvSpPr txBox="1"/>
          <p:nvPr/>
        </p:nvSpPr>
        <p:spPr>
          <a:xfrm>
            <a:off x="932688" y="5120640"/>
            <a:ext cx="914400" cy="329184"/>
          </a:xfrm>
          <a:prstGeom prst="rect">
            <a:avLst/>
          </a:prstGeom>
          <a:noFill/>
        </p:spPr>
        <p:txBody>
          <a:bodyPr wrap="square" anchor="t" lIns="0" rIns="0" tIns="0" bIns="0">
            <a:noAutofit/>
          </a:bodyPr>
          <a:lstStyle/>
          <a:p>
            <a:pPr algn="l">
              <a:lnSpc>
                <a:spcPct val="100000"/>
              </a:lnSpc>
              <a:spcBef>
                <a:spcPts val="0"/>
              </a:spcBef>
              <a:spcAft>
                <a:spcPts val="0"/>
              </a:spcAft>
            </a:pPr>
            <a:r>
              <a:rPr sz="1800" b="1" i="0">
                <a:solidFill>
                  <a:srgbClr val="7A3A95"/>
                </a:solidFill>
                <a:latin typeface="Segoe UI Semibold"/>
              </a:rPr>
              <a:t>10.6</a:t>
            </a:r>
          </a:p>
        </p:txBody>
      </p:sp>
      <p:sp>
        <p:nvSpPr>
          <p:cNvPr id="35" name="!!agt5"/>
          <p:cNvSpPr txBox="1"/>
          <p:nvPr/>
        </p:nvSpPr>
        <p:spPr>
          <a:xfrm>
            <a:off x="1847088" y="5120640"/>
            <a:ext cx="8131759" cy="329184"/>
          </a:xfrm>
          <a:prstGeom prst="rect">
            <a:avLst/>
          </a:prstGeom>
          <a:noFill/>
        </p:spPr>
        <p:txBody>
          <a:bodyPr wrap="square" anchor="t" lIns="0" rIns="0" tIns="0" bIns="0">
            <a:noAutofit/>
          </a:bodyPr>
          <a:lstStyle/>
          <a:p>
            <a:pPr algn="l">
              <a:lnSpc>
                <a:spcPct val="100000"/>
              </a:lnSpc>
              <a:spcBef>
                <a:spcPts val="0"/>
              </a:spcBef>
              <a:spcAft>
                <a:spcPts val="0"/>
              </a:spcAft>
            </a:pPr>
            <a:r>
              <a:rPr sz="1800" b="0" i="0">
                <a:solidFill>
                  <a:srgbClr val="1C252B"/>
                </a:solidFill>
                <a:latin typeface="Segoe UI"/>
              </a:rPr>
              <a:t>Where This Course Stops</a:t>
            </a:r>
          </a:p>
        </p:txBody>
      </p:sp>
      <p:sp>
        <p:nvSpPr>
          <p:cNvPr id="36" name="!!agp5"/>
          <p:cNvSpPr txBox="1"/>
          <p:nvPr/>
        </p:nvSpPr>
        <p:spPr>
          <a:xfrm>
            <a:off x="9795967" y="5148072"/>
            <a:ext cx="1554480" cy="329184"/>
          </a:xfrm>
          <a:prstGeom prst="rect">
            <a:avLst/>
          </a:prstGeom>
          <a:noFill/>
        </p:spPr>
        <p:txBody>
          <a:bodyPr wrap="square" anchor="t" lIns="0" rIns="0" tIns="0" bIns="0">
            <a:noAutofit/>
          </a:bodyPr>
          <a:lstStyle/>
          <a:p>
            <a:pPr algn="r">
              <a:lnSpc>
                <a:spcPct val="100000"/>
              </a:lnSpc>
              <a:spcBef>
                <a:spcPts val="0"/>
              </a:spcBef>
              <a:spcAft>
                <a:spcPts val="0"/>
              </a:spcAft>
            </a:pPr>
            <a:r>
              <a:rPr sz="1500" b="0" i="0">
                <a:solidFill>
                  <a:srgbClr val="5F6F7B"/>
                </a:solidFill>
                <a:latin typeface="Segoe UI"/>
              </a:rPr>
              <a:t>p. 104  ›</a:t>
            </a:r>
          </a:p>
        </p:txBody>
      </p:sp>
      <p:sp>
        <p:nvSpPr>
          <p:cNvPr id="37"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8" name="!!pfill">
            <a:extLst>
              <a:ext uri="{C183D7F6-B498-43B3-948B-1728B52AA6E4}">
                <adec:decorative xmlns:adec="http://schemas.microsoft.com/office/drawing/2017/decorative" val="1"/>
              </a:ext>
            </a:extLst>
          </p:cNvPr>
          <p:cNvSpPr/>
          <p:nvPr/>
        </p:nvSpPr>
        <p:spPr>
          <a:xfrm>
            <a:off x="0" y="0"/>
            <a:ext cx="1417638" cy="54864"/>
          </a:xfrm>
          <a:prstGeom prst="rect">
            <a:avLst/>
          </a:prstGeom>
          <a:solidFill>
            <a:srgbClr val="8E44A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Requires="p14">
      <p:transition spd="med" p14:dur="450">
        <p:fade/>
      </p:transition>
    </mc:Choice>
    <mc:Fallback>
      <p:transition spd="med">
        <p:fade/>
      </p:transition>
    </mc:Fallback>
  </mc:AlternateContent>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3000" b="0">
                <a:solidFill>
                  <a:srgbClr val="1A5276"/>
                </a:solidFill>
                <a:latin typeface="Segoe UI Semibold"/>
              </a:rPr>
              <a:t>What a knowledge representation must support</a:t>
            </a:r>
          </a:p>
        </p:txBody>
      </p:sp>
      <p:pic>
        <p:nvPicPr>
          <p:cNvPr id="3" name="!!kicker-icon" descr="book-B35900.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193146"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B35900"/>
                </a:solidFill>
                <a:latin typeface="Segoe UI"/>
              </a:rPr>
              <a:t>DEFINITION</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Artificial Intelligence  ·  Chapter 10  ·  Knowledge Representation</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§10.1  ·  Handout p. 101     </a:t>
            </a:r>
            <a:fld id="{60225D7B-A762-4872-A6EC-DE46005DB8EA}" type="slidenum">
              <a:rPr lang="en-GB" sz="1000">
                <a:solidFill>
                  <a:srgbClr val="8795A1"/>
                </a:solidFill>
                <a:latin typeface="Segoe UI"/>
              </a:rPr>
              <a:t>6</a:t>
            </a:fld>
          </a:p>
        </p:txBody>
      </p:sp>
      <p:sp>
        <p:nvSpPr>
          <p:cNvPr id="7" name="!!card">
            <a:extLst>
              <a:ext uri="{C183D7F6-B498-43B3-948B-1728B52AA6E4}">
                <adec:decorative xmlns:adec="http://schemas.microsoft.com/office/drawing/2017/decorative" val="1"/>
              </a:ext>
            </a:extLst>
          </p:cNvPr>
          <p:cNvSpPr/>
          <p:nvPr/>
        </p:nvSpPr>
        <p:spPr>
          <a:xfrm>
            <a:off x="658368" y="1737360"/>
            <a:ext cx="10874959" cy="4337812"/>
          </a:xfrm>
          <a:prstGeom prst="roundRect">
            <a:avLst>
              <a:gd name="adj" fmla="val 2107"/>
            </a:avLst>
          </a:prstGeom>
          <a:solidFill>
            <a:srgbClr val="FDF2E9"/>
          </a:solidFill>
          <a:ln>
            <a:noFill/>
          </a:ln>
          <a:effectLst>
            <a:outerShdw blurRad="127000" dist="25400" dir="5400000" algn="t" rotWithShape="0">
              <a:srgbClr val="1C252B">
                <a:alpha val="10000"/>
              </a:srgbClr>
            </a:outerShdw>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8" name="!!cardrule">
            <a:extLst>
              <a:ext uri="{C183D7F6-B498-43B3-948B-1728B52AA6E4}">
                <adec:decorative xmlns:adec="http://schemas.microsoft.com/office/drawing/2017/decorative" val="1"/>
              </a:ext>
            </a:extLst>
          </p:cNvPr>
          <p:cNvSpPr/>
          <p:nvPr/>
        </p:nvSpPr>
        <p:spPr>
          <a:xfrm>
            <a:off x="658368" y="1737360"/>
            <a:ext cx="82296" cy="4337812"/>
          </a:xfrm>
          <a:prstGeom prst="rect">
            <a:avLst/>
          </a:prstGeom>
          <a:solidFill>
            <a:srgbClr val="B3590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9" name="body-0"/>
          <p:cNvSpPr txBox="1"/>
          <p:nvPr/>
        </p:nvSpPr>
        <p:spPr>
          <a:xfrm>
            <a:off x="1060704" y="2048255"/>
            <a:ext cx="10161727" cy="679704"/>
          </a:xfrm>
          <a:prstGeom prst="rect">
            <a:avLst/>
          </a:prstGeom>
          <a:noFill/>
        </p:spPr>
        <p:txBody>
          <a:bodyPr wrap="square" anchor="t" lIns="0" rIns="0" tIns="0" bIns="0">
            <a:noAutofit/>
          </a:bodyPr>
          <a:lstStyle/>
          <a:p>
            <a:pPr algn="l">
              <a:lnSpc>
                <a:spcPct val="104000"/>
              </a:lnSpc>
              <a:spcBef>
                <a:spcPts val="0"/>
              </a:spcBef>
              <a:spcAft>
                <a:spcPts val="0"/>
              </a:spcAft>
            </a:pPr>
            <a:r>
              <a:rPr sz="2000" b="0" i="0">
                <a:solidFill>
                  <a:srgbClr val="1C252B"/>
                </a:solidFill>
                <a:latin typeface="Segoe UI"/>
              </a:rPr>
              <a:t>A representation is a scheme for writing down what is known so that a program can reason with it. Four requirements, from Russell and Norvig:</a:t>
            </a:r>
          </a:p>
        </p:txBody>
      </p:sp>
      <p:sp>
        <p:nvSpPr>
          <p:cNvPr id="10" name="body-1"/>
          <p:cNvSpPr txBox="1"/>
          <p:nvPr/>
        </p:nvSpPr>
        <p:spPr>
          <a:xfrm>
            <a:off x="1060704" y="2821939"/>
            <a:ext cx="10161727" cy="2214372"/>
          </a:xfrm>
          <a:prstGeom prst="rect">
            <a:avLst/>
          </a:prstGeom>
          <a:noFill/>
        </p:spPr>
        <p:txBody>
          <a:bodyPr wrap="square" anchor="t" lIns="0" rIns="0" tIns="0" bIns="0">
            <a:noAutofit/>
          </a:bodyPr>
          <a:lstStyle/>
          <a:p>
            <a:pPr algn="l" marL="223631" indent="-223631">
              <a:lnSpc>
                <a:spcPct val="104000"/>
              </a:lnSpc>
              <a:spcBef>
                <a:spcPts val="0"/>
              </a:spcBef>
              <a:spcAft>
                <a:spcPts val="700"/>
              </a:spcAft>
            </a:pPr>
            <a:r>
              <a:rPr sz="2000" b="1">
                <a:solidFill>
                  <a:srgbClr val="8A4500"/>
                </a:solidFill>
                <a:latin typeface="Segoe UI"/>
              </a:rPr>
              <a:t>•	</a:t>
            </a:r>
            <a:r>
              <a:rPr sz="2000" b="1" i="0">
                <a:solidFill>
                  <a:srgbClr val="1A5276"/>
                </a:solidFill>
                <a:latin typeface="Segoe UI"/>
              </a:rPr>
              <a:t>Representational adequacy</a:t>
            </a:r>
            <a:r>
              <a:rPr sz="2000" b="0" i="0">
                <a:solidFill>
                  <a:srgbClr val="1C252B"/>
                </a:solidFill>
                <a:latin typeface="Segoe UI"/>
              </a:rPr>
              <a:t> — it can express the things you need to say, including the awkward ones: defaults, exceptions, uncertainty.</a:t>
            </a:r>
          </a:p>
          <a:p>
            <a:pPr algn="l" marL="223631" indent="-223631">
              <a:lnSpc>
                <a:spcPct val="104000"/>
              </a:lnSpc>
              <a:spcBef>
                <a:spcPts val="0"/>
              </a:spcBef>
              <a:spcAft>
                <a:spcPts val="700"/>
              </a:spcAft>
            </a:pPr>
            <a:r>
              <a:rPr sz="2000" b="1">
                <a:solidFill>
                  <a:srgbClr val="8A4500"/>
                </a:solidFill>
                <a:latin typeface="Segoe UI"/>
              </a:rPr>
              <a:t>•	</a:t>
            </a:r>
            <a:r>
              <a:rPr sz="2000" b="1" i="0">
                <a:solidFill>
                  <a:srgbClr val="1A5276"/>
                </a:solidFill>
                <a:latin typeface="Segoe UI"/>
              </a:rPr>
              <a:t>Inferential adequacy</a:t>
            </a:r>
            <a:r>
              <a:rPr sz="2000" b="0" i="0">
                <a:solidFill>
                  <a:srgbClr val="1C252B"/>
                </a:solidFill>
                <a:latin typeface="Segoe UI"/>
              </a:rPr>
              <a:t> — new facts can be derived from stored ones.</a:t>
            </a:r>
          </a:p>
          <a:p>
            <a:pPr algn="l" marL="223631" indent="-223631">
              <a:lnSpc>
                <a:spcPct val="104000"/>
              </a:lnSpc>
              <a:spcBef>
                <a:spcPts val="0"/>
              </a:spcBef>
              <a:spcAft>
                <a:spcPts val="700"/>
              </a:spcAft>
            </a:pPr>
            <a:r>
              <a:rPr sz="2000" b="1">
                <a:solidFill>
                  <a:srgbClr val="8A4500"/>
                </a:solidFill>
                <a:latin typeface="Segoe UI"/>
              </a:rPr>
              <a:t>•	</a:t>
            </a:r>
            <a:r>
              <a:rPr sz="2000" b="1" i="0">
                <a:solidFill>
                  <a:srgbClr val="1A5276"/>
                </a:solidFill>
                <a:latin typeface="Segoe UI"/>
              </a:rPr>
              <a:t>Inferential efficiency</a:t>
            </a:r>
            <a:r>
              <a:rPr sz="2000" b="0" i="0">
                <a:solidFill>
                  <a:srgbClr val="1C252B"/>
                </a:solidFill>
                <a:latin typeface="Segoe UI"/>
              </a:rPr>
              <a:t> — the derivation happens in acceptable time.</a:t>
            </a:r>
          </a:p>
          <a:p>
            <a:pPr algn="l" marL="223631" indent="-223631">
              <a:lnSpc>
                <a:spcPct val="104000"/>
              </a:lnSpc>
              <a:spcBef>
                <a:spcPts val="0"/>
              </a:spcBef>
              <a:spcAft>
                <a:spcPts val="0"/>
              </a:spcAft>
            </a:pPr>
            <a:r>
              <a:rPr sz="2000" b="1">
                <a:solidFill>
                  <a:srgbClr val="8A4500"/>
                </a:solidFill>
                <a:latin typeface="Segoe UI"/>
              </a:rPr>
              <a:t>•	</a:t>
            </a:r>
            <a:r>
              <a:rPr sz="2000" b="1" i="0">
                <a:solidFill>
                  <a:srgbClr val="1A5276"/>
                </a:solidFill>
                <a:latin typeface="Segoe UI"/>
              </a:rPr>
              <a:t>Acquisitional efficiency</a:t>
            </a:r>
            <a:r>
              <a:rPr sz="2000" b="0" i="0">
                <a:solidFill>
                  <a:srgbClr val="1C252B"/>
                </a:solidFill>
                <a:latin typeface="Segoe UI"/>
              </a:rPr>
              <a:t> — new knowledge can be added easily, and ideally by a domain expert rather than by an engineer.</a:t>
            </a:r>
          </a:p>
        </p:txBody>
      </p:sp>
      <p:sp>
        <p:nvSpPr>
          <p:cNvPr id="11" name="body-2"/>
          <p:cNvSpPr txBox="1"/>
          <p:nvPr/>
        </p:nvSpPr>
        <p:spPr>
          <a:xfrm>
            <a:off x="1060704" y="5130292"/>
            <a:ext cx="10161727" cy="679704"/>
          </a:xfrm>
          <a:prstGeom prst="rect">
            <a:avLst/>
          </a:prstGeom>
          <a:noFill/>
        </p:spPr>
        <p:txBody>
          <a:bodyPr wrap="square" anchor="t" lIns="0" rIns="0" tIns="0" bIns="0">
            <a:noAutofit/>
          </a:bodyPr>
          <a:lstStyle/>
          <a:p>
            <a:pPr algn="l">
              <a:lnSpc>
                <a:spcPct val="104000"/>
              </a:lnSpc>
              <a:spcBef>
                <a:spcPts val="0"/>
              </a:spcBef>
              <a:spcAft>
                <a:spcPts val="0"/>
              </a:spcAft>
            </a:pPr>
            <a:r>
              <a:rPr sz="2000" b="0" i="0">
                <a:solidFill>
                  <a:srgbClr val="1C252B"/>
                </a:solidFill>
                <a:latin typeface="Segoe UI"/>
              </a:rPr>
              <a:t>These pull against each other. A representation expressive enough to say everything is generally one in which inference is intractable, and that tension is the whole subject.</a:t>
            </a:r>
          </a:p>
        </p:txBody>
      </p:sp>
      <p:sp>
        <p:nvSpPr>
          <p:cNvPr id="24"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5" name="!!pfill">
            <a:extLst>
              <a:ext uri="{C183D7F6-B498-43B3-948B-1728B52AA6E4}">
                <adec:decorative xmlns:adec="http://schemas.microsoft.com/office/drawing/2017/decorative" val="1"/>
              </a:ext>
            </a:extLst>
          </p:cNvPr>
          <p:cNvSpPr/>
          <p:nvPr/>
        </p:nvSpPr>
        <p:spPr>
          <a:xfrm>
            <a:off x="0" y="0"/>
            <a:ext cx="1701166" cy="54864"/>
          </a:xfrm>
          <a:prstGeom prst="rect">
            <a:avLst/>
          </a:prstGeom>
          <a:solidFill>
            <a:srgbClr val="8E44A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Requires="p14">
      <p:transition spd="med" p14:dur="450">
        <p:fade/>
      </p:transition>
    </mc:Choice>
    <mc:Fallback>
      <p:transition spd="med">
        <p:fade/>
      </p:transition>
    </mc:Fallback>
  </mc:AlternateContent>
  <p:timing>
    <p:tnLst>
      <p:par>
        <p:cTn id="2" dur="indefinite" restart="never" nodeType="tmRoot">
          <p:childTnLst>
            <p:seq concurrent="1" nextAc="seek">
              <p:cTn id="3" dur="indefinite" nodeType="mainSeq">
                <p:childTnLst>
                  <p:par>
                    <p:cTn id="4" fill="hold">
                      <p:stCondLst>
                        <p:cond delay="indefinite"/>
                      </p:stCondLst>
                      <p:childTnLst>
                        <p:par>
                          <p:cTn id="5" fill="hold">
                            <p:stCondLst>
                              <p:cond delay="0"/>
                            </p:stCondLst>
                            <p:childTnLst>
                              <p:par>
                                <p:cTn id="6" presetID="10" presetClass="entr" presetSubtype="0" fill="hold" grpId="0" nodeType="clickEffect">
                                  <p:stCondLst>
                                    <p:cond delay="0"/>
                                  </p:stCondLst>
                                  <p:childTnLst>
                                    <p:set>
                                      <p:cBhvr>
                                        <p:cTn id="7" dur="1" fill="hold">
                                          <p:stCondLst>
                                            <p:cond delay="0"/>
                                          </p:stCondLst>
                                        </p:cTn>
                                        <p:tgtEl>
                                          <p:spTgt spid="10">
                                            <p:txEl>
                                              <p:pRg st="0" end="0"/>
                                            </p:txEl>
                                          </p:spTgt>
                                        </p:tgtEl>
                                        <p:attrNameLst>
                                          <p:attrName>style.visibility</p:attrName>
                                        </p:attrNameLst>
                                      </p:cBhvr>
                                      <p:to>
                                        <p:strVal val="visible"/>
                                      </p:to>
                                    </p:set>
                                    <p:animEffect transition="in" filter="fade">
                                      <p:cBhvr>
                                        <p:cTn id="8" dur="380"/>
                                        <p:tgtEl>
                                          <p:spTgt spid="10">
                                            <p:txEl>
                                              <p:pRg st="0" end="0"/>
                                            </p:txEl>
                                          </p:spTgt>
                                        </p:tgtEl>
                                      </p:cBhvr>
                                    </p:animEffect>
                                  </p:childTnLst>
                                </p:cTn>
                              </p:par>
                            </p:childTnLst>
                          </p:cTn>
                        </p:par>
                      </p:childTnLst>
                    </p:cTn>
                  </p:par>
                  <p:par>
                    <p:cTn id="9" fill="hold">
                      <p:stCondLst>
                        <p:cond delay="indefinite"/>
                      </p:stCondLst>
                      <p:childTnLst>
                        <p:par>
                          <p:cTn id="10" fill="hold">
                            <p:stCondLst>
                              <p:cond delay="0"/>
                            </p:stCondLst>
                            <p:childTnLst>
                              <p:par>
                                <p:cTn id="11" presetID="10" presetClass="entr" presetSubtype="0" fill="hold" grpId="0" nodeType="clickEffect">
                                  <p:stCondLst>
                                    <p:cond delay="0"/>
                                  </p:stCondLst>
                                  <p:childTnLst>
                                    <p:set>
                                      <p:cBhvr>
                                        <p:cTn id="12" dur="1" fill="hold">
                                          <p:stCondLst>
                                            <p:cond delay="0"/>
                                          </p:stCondLst>
                                        </p:cTn>
                                        <p:tgtEl>
                                          <p:spTgt spid="10">
                                            <p:txEl>
                                              <p:pRg st="1" end="1"/>
                                            </p:txEl>
                                          </p:spTgt>
                                        </p:tgtEl>
                                        <p:attrNameLst>
                                          <p:attrName>style.visibility</p:attrName>
                                        </p:attrNameLst>
                                      </p:cBhvr>
                                      <p:to>
                                        <p:strVal val="visible"/>
                                      </p:to>
                                    </p:set>
                                    <p:animEffect transition="in" filter="fade">
                                      <p:cBhvr>
                                        <p:cTn id="13" dur="380"/>
                                        <p:tgtEl>
                                          <p:spTgt spid="10">
                                            <p:txEl>
                                              <p:pRg st="1" end="1"/>
                                            </p:txEl>
                                          </p:spTgt>
                                        </p:tgtEl>
                                      </p:cBhvr>
                                    </p:animEffect>
                                  </p:childTnLst>
                                </p:cTn>
                              </p:par>
                            </p:childTnLst>
                          </p:cTn>
                        </p:par>
                      </p:childTnLst>
                    </p:cTn>
                  </p:par>
                  <p:par>
                    <p:cTn id="14" fill="hold">
                      <p:stCondLst>
                        <p:cond delay="indefinite"/>
                      </p:stCondLst>
                      <p:childTnLst>
                        <p:par>
                          <p:cTn id="15" fill="hold">
                            <p:stCondLst>
                              <p:cond delay="0"/>
                            </p:stCondLst>
                            <p:childTnLst>
                              <p:par>
                                <p:cTn id="16" presetID="10" presetClass="entr" presetSubtype="0" fill="hold" grpId="0" nodeType="clickEffect">
                                  <p:stCondLst>
                                    <p:cond delay="0"/>
                                  </p:stCondLst>
                                  <p:childTnLst>
                                    <p:set>
                                      <p:cBhvr>
                                        <p:cTn id="17" dur="1" fill="hold">
                                          <p:stCondLst>
                                            <p:cond delay="0"/>
                                          </p:stCondLst>
                                        </p:cTn>
                                        <p:tgtEl>
                                          <p:spTgt spid="10">
                                            <p:txEl>
                                              <p:pRg st="2" end="2"/>
                                            </p:txEl>
                                          </p:spTgt>
                                        </p:tgtEl>
                                        <p:attrNameLst>
                                          <p:attrName>style.visibility</p:attrName>
                                        </p:attrNameLst>
                                      </p:cBhvr>
                                      <p:to>
                                        <p:strVal val="visible"/>
                                      </p:to>
                                    </p:set>
                                    <p:animEffect transition="in" filter="fade">
                                      <p:cBhvr>
                                        <p:cTn id="18" dur="380"/>
                                        <p:tgtEl>
                                          <p:spTgt spid="10">
                                            <p:txEl>
                                              <p:pRg st="2" end="2"/>
                                            </p:txEl>
                                          </p:spTgt>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grpId="0" nodeType="clickEffect">
                                  <p:stCondLst>
                                    <p:cond delay="0"/>
                                  </p:stCondLst>
                                  <p:childTnLst>
                                    <p:set>
                                      <p:cBhvr>
                                        <p:cTn id="22" dur="1" fill="hold">
                                          <p:stCondLst>
                                            <p:cond delay="0"/>
                                          </p:stCondLst>
                                        </p:cTn>
                                        <p:tgtEl>
                                          <p:spTgt spid="10">
                                            <p:txEl>
                                              <p:pRg st="3" end="3"/>
                                            </p:txEl>
                                          </p:spTgt>
                                        </p:tgtEl>
                                        <p:attrNameLst>
                                          <p:attrName>style.visibility</p:attrName>
                                        </p:attrNameLst>
                                      </p:cBhvr>
                                      <p:to>
                                        <p:strVal val="visible"/>
                                      </p:to>
                                    </p:set>
                                    <p:animEffect transition="in" filter="fade">
                                      <p:cBhvr>
                                        <p:cTn id="23" dur="380"/>
                                        <p:tgtEl>
                                          <p:spTgt spid="10">
                                            <p:txEl>
                                              <p:pRg st="3" end="3"/>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build="p"/>
    </p:bldLst>
  </p:timing>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3000" b="0">
                <a:solidFill>
                  <a:srgbClr val="1A5276"/>
                </a:solidFill>
                <a:latin typeface="Segoe UI Semibold"/>
              </a:rPr>
              <a:t>A fragment of a delivery ontology</a:t>
            </a:r>
          </a:p>
        </p:txBody>
      </p:sp>
      <p:sp>
        <p:nvSpPr>
          <p:cNvPr id="3" name="!!kicker"/>
          <p:cNvSpPr txBox="1"/>
          <p:nvPr/>
        </p:nvSpPr>
        <p:spPr>
          <a:xfrm>
            <a:off x="658368" y="402336"/>
            <a:ext cx="10874959"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7A3A95"/>
                </a:solidFill>
                <a:latin typeface="Segoe UI"/>
              </a:rPr>
              <a:t>FIGURE 10.1</a:t>
            </a:r>
          </a:p>
        </p:txBody>
      </p:sp>
      <p:sp>
        <p:nvSpPr>
          <p:cNvPr id="4"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Artificial Intelligence  ·  Chapter 10  ·  Knowledge Representation</a:t>
            </a:r>
          </a:p>
        </p:txBody>
      </p:sp>
      <p:sp>
        <p:nvSpPr>
          <p:cNvPr id="5"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§10.2  ·  Handout p. 102     </a:t>
            </a:r>
            <a:fld id="{9A6D062B-8367-4F18-AB7C-B6567AE41011}" type="slidenum">
              <a:rPr lang="en-GB" sz="1000">
                <a:solidFill>
                  <a:srgbClr val="8795A1"/>
                </a:solidFill>
                <a:latin typeface="Segoe UI"/>
              </a:rPr>
              <a:t>7</a:t>
            </a:fld>
          </a:p>
        </p:txBody>
      </p:sp>
      <p:pic>
        <p:nvPicPr>
          <p:cNvPr id="6" name="!!figure" descr="Figure 10.1. A fragment of a delivery ontology. Rounded boxes are individuals, square boxes are classes; solid arrows are is-a, dashed are instance-of."/>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1770515"/>
            <a:ext cx="10874959" cy="3820487"/>
          </a:xfrm>
          <a:prstGeom prst="rect">
            <a:avLst/>
          </a:prstGeom>
        </p:spPr>
      </p:pic>
      <p:sp>
        <p:nvSpPr>
          <p:cNvPr id="7" name="!!takebar">
            <a:extLst>
              <a:ext uri="{C183D7F6-B498-43B3-948B-1728B52AA6E4}">
                <adec:decorative xmlns:adec="http://schemas.microsoft.com/office/drawing/2017/decorative" val="1"/>
              </a:ext>
            </a:extLst>
          </p:cNvPr>
          <p:cNvSpPr/>
          <p:nvPr/>
        </p:nvSpPr>
        <p:spPr>
          <a:xfrm>
            <a:off x="658368" y="5930188"/>
            <a:ext cx="54864" cy="306019"/>
          </a:xfrm>
          <a:prstGeom prst="rect">
            <a:avLst/>
          </a:prstGeom>
          <a:solidFill>
            <a:srgbClr val="8E44A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8" name="!!take"/>
          <p:cNvSpPr txBox="1"/>
          <p:nvPr/>
        </p:nvSpPr>
        <p:spPr>
          <a:xfrm>
            <a:off x="877824" y="5911900"/>
            <a:ext cx="10600639" cy="488899"/>
          </a:xfrm>
          <a:prstGeom prst="rect">
            <a:avLst/>
          </a:prstGeom>
          <a:noFill/>
        </p:spPr>
        <p:txBody>
          <a:bodyPr wrap="square" anchor="t" lIns="0" rIns="0" tIns="0" bIns="0">
            <a:noAutofit/>
          </a:bodyPr>
          <a:lstStyle/>
          <a:p>
            <a:pPr algn="l">
              <a:lnSpc>
                <a:spcPct val="104000"/>
              </a:lnSpc>
              <a:spcBef>
                <a:spcPts val="0"/>
              </a:spcBef>
              <a:spcAft>
                <a:spcPts val="0"/>
              </a:spcAft>
            </a:pPr>
            <a:r>
              <a:rPr sz="1700" b="0" i="0">
                <a:solidFill>
                  <a:srgbClr val="3E4C57"/>
                </a:solidFill>
                <a:latin typeface="Segoe UI"/>
              </a:rPr>
              <a:t>Rounded boxes are individuals, square boxes are classes; solid arrows are is-a, dashed are instance-of.</a:t>
            </a:r>
          </a:p>
        </p:txBody>
      </p:sp>
      <p:sp>
        <p:nvSpPr>
          <p:cNvPr id="9"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0" name="!!pfill">
            <a:extLst>
              <a:ext uri="{C183D7F6-B498-43B3-948B-1728B52AA6E4}">
                <adec:decorative xmlns:adec="http://schemas.microsoft.com/office/drawing/2017/decorative" val="1"/>
              </a:ext>
            </a:extLst>
          </p:cNvPr>
          <p:cNvSpPr/>
          <p:nvPr/>
        </p:nvSpPr>
        <p:spPr>
          <a:xfrm>
            <a:off x="0" y="0"/>
            <a:ext cx="1984694" cy="54864"/>
          </a:xfrm>
          <a:prstGeom prst="rect">
            <a:avLst/>
          </a:prstGeom>
          <a:solidFill>
            <a:srgbClr val="8E44A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Requires="p14">
      <p:transition spd="med" p14:dur="450">
        <p:fade/>
      </p:transition>
    </mc:Choice>
    <mc:Fallback>
      <p:transition spd="med">
        <p:fade/>
      </p:transition>
    </mc:Fallback>
  </mc:AlternateContent>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4846320" y="1874519"/>
            <a:ext cx="6659575" cy="1828800"/>
          </a:xfrm>
        </p:spPr>
        <p:txBody>
          <a:bodyPr wrap="square" lIns="0" rIns="0" tIns="0" bIns="0" anchor="ctr">
            <a:noAutofit/>
          </a:bodyPr>
          <a:lstStyle/>
          <a:p>
            <a:pPr algn="l">
              <a:lnSpc>
                <a:spcPct val="96000"/>
              </a:lnSpc>
            </a:pPr>
            <a:r>
              <a:rPr sz="3800" b="0">
                <a:solidFill>
                  <a:srgbClr val="1C252B"/>
                </a:solidFill>
                <a:latin typeface="Segoe UI Semibold"/>
              </a:rPr>
              <a:t>Frames, Slots and Defaults</a:t>
            </a:r>
          </a:p>
        </p:txBody>
      </p:sp>
      <p:sp>
        <p:nvSpPr>
          <p:cNvPr id="3" name="!!dpanel">
            <a:extLst>
              <a:ext uri="{C183D7F6-B498-43B3-948B-1728B52AA6E4}">
                <adec:decorative xmlns:adec="http://schemas.microsoft.com/office/drawing/2017/decorative" val="1"/>
              </a:ext>
            </a:extLst>
          </p:cNvPr>
          <p:cNvSpPr/>
          <p:nvPr/>
        </p:nvSpPr>
        <p:spPr>
          <a:xfrm>
            <a:off x="0" y="0"/>
            <a:ext cx="4160520" cy="6858000"/>
          </a:xfrm>
          <a:prstGeom prst="rect">
            <a:avLst/>
          </a:prstGeom>
          <a:solidFill>
            <a:srgbClr val="7A3A9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 name="!!dsec"/>
          <p:cNvSpPr txBox="1"/>
          <p:nvPr/>
        </p:nvSpPr>
        <p:spPr>
          <a:xfrm>
            <a:off x="658368" y="1920240"/>
            <a:ext cx="3246120" cy="274320"/>
          </a:xfrm>
          <a:prstGeom prst="rect">
            <a:avLst/>
          </a:prstGeom>
          <a:noFill/>
        </p:spPr>
        <p:txBody>
          <a:bodyPr wrap="square" anchor="t" lIns="0" rIns="0" tIns="0" bIns="0">
            <a:noAutofit/>
          </a:bodyPr>
          <a:lstStyle/>
          <a:p>
            <a:pPr algn="l">
              <a:lnSpc>
                <a:spcPct val="100000"/>
              </a:lnSpc>
              <a:spcBef>
                <a:spcPts val="0"/>
              </a:spcBef>
              <a:spcAft>
                <a:spcPts val="0"/>
              </a:spcAft>
            </a:pPr>
            <a:r>
              <a:rPr sz="1250" b="1" i="0" spc="180">
                <a:solidFill>
                  <a:srgbClr val="D7C4DF"/>
                </a:solidFill>
                <a:latin typeface="Segoe UI"/>
              </a:rPr>
              <a:t>SECTION 3 OF 6</a:t>
            </a:r>
          </a:p>
        </p:txBody>
      </p:sp>
      <p:sp>
        <p:nvSpPr>
          <p:cNvPr id="5" name="!!dnum"/>
          <p:cNvSpPr txBox="1"/>
          <p:nvPr/>
        </p:nvSpPr>
        <p:spPr>
          <a:xfrm>
            <a:off x="621792" y="2249424"/>
            <a:ext cx="3337560" cy="1463040"/>
          </a:xfrm>
          <a:prstGeom prst="rect">
            <a:avLst/>
          </a:prstGeom>
          <a:noFill/>
        </p:spPr>
        <p:txBody>
          <a:bodyPr wrap="square" anchor="t" lIns="0" rIns="0" tIns="0" bIns="0">
            <a:noAutofit/>
          </a:bodyPr>
          <a:lstStyle/>
          <a:p>
            <a:pPr algn="l">
              <a:lnSpc>
                <a:spcPct val="100000"/>
              </a:lnSpc>
              <a:spcBef>
                <a:spcPts val="0"/>
              </a:spcBef>
              <a:spcAft>
                <a:spcPts val="0"/>
              </a:spcAft>
            </a:pPr>
            <a:r>
              <a:rPr sz="7600" b="0" i="0">
                <a:solidFill>
                  <a:srgbClr val="FFFFFF"/>
                </a:solidFill>
                <a:latin typeface="Segoe UI Semibold"/>
              </a:rPr>
              <a:t>10.3</a:t>
            </a:r>
          </a:p>
        </p:txBody>
      </p:sp>
      <p:sp>
        <p:nvSpPr>
          <p:cNvPr id="6" name="!!dl0"/>
          <p:cNvSpPr txBox="1"/>
          <p:nvPr/>
        </p:nvSpPr>
        <p:spPr>
          <a:xfrm>
            <a:off x="4846320" y="4160520"/>
            <a:ext cx="66595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0" i="0">
                <a:solidFill>
                  <a:srgbClr val="98A4AE"/>
                </a:solidFill>
                <a:latin typeface="Segoe UI"/>
              </a:rPr>
              <a:t>10.1   The Change of Question</a:t>
            </a:r>
          </a:p>
        </p:txBody>
      </p:sp>
      <p:sp>
        <p:nvSpPr>
          <p:cNvPr id="7" name="!!dl1"/>
          <p:cNvSpPr txBox="1"/>
          <p:nvPr/>
        </p:nvSpPr>
        <p:spPr>
          <a:xfrm>
            <a:off x="4846320" y="4434840"/>
            <a:ext cx="66595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0" i="0">
                <a:solidFill>
                  <a:srgbClr val="98A4AE"/>
                </a:solidFill>
                <a:latin typeface="Segoe UI"/>
              </a:rPr>
              <a:t>10.2   Semantic Networks</a:t>
            </a:r>
          </a:p>
        </p:txBody>
      </p:sp>
      <p:sp>
        <p:nvSpPr>
          <p:cNvPr id="8" name="!!dl2"/>
          <p:cNvSpPr txBox="1"/>
          <p:nvPr/>
        </p:nvSpPr>
        <p:spPr>
          <a:xfrm>
            <a:off x="4846320" y="4709159"/>
            <a:ext cx="6659575" cy="256032"/>
          </a:xfrm>
          <a:prstGeom prst="rect">
            <a:avLst/>
          </a:prstGeom>
          <a:noFill/>
        </p:spPr>
        <p:txBody>
          <a:bodyPr wrap="square" anchor="t" lIns="0" rIns="0" tIns="0" bIns="0">
            <a:noAutofit/>
          </a:bodyPr>
          <a:lstStyle/>
          <a:p>
            <a:pPr algn="l">
              <a:lnSpc>
                <a:spcPct val="100000"/>
              </a:lnSpc>
              <a:spcBef>
                <a:spcPts val="0"/>
              </a:spcBef>
              <a:spcAft>
                <a:spcPts val="0"/>
              </a:spcAft>
            </a:pPr>
            <a:r>
              <a:rPr sz="1300" b="1" i="0">
                <a:solidFill>
                  <a:srgbClr val="7A3A95"/>
                </a:solidFill>
                <a:latin typeface="Segoe UI"/>
              </a:rPr>
              <a:t>10.3   Frames, Slots and Defaults</a:t>
            </a:r>
          </a:p>
        </p:txBody>
      </p:sp>
      <p:sp>
        <p:nvSpPr>
          <p:cNvPr id="9" name="!!dl3"/>
          <p:cNvSpPr txBox="1"/>
          <p:nvPr/>
        </p:nvSpPr>
        <p:spPr>
          <a:xfrm>
            <a:off x="4846320" y="4983479"/>
            <a:ext cx="66595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0" i="0">
                <a:solidFill>
                  <a:srgbClr val="98A4AE"/>
                </a:solidFill>
                <a:latin typeface="Segoe UI"/>
              </a:rPr>
              <a:t>10.4   When Inheritance Has No Answer</a:t>
            </a:r>
          </a:p>
        </p:txBody>
      </p:sp>
      <p:sp>
        <p:nvSpPr>
          <p:cNvPr id="10" name="!!dl4"/>
          <p:cNvSpPr txBox="1"/>
          <p:nvPr/>
        </p:nvSpPr>
        <p:spPr>
          <a:xfrm>
            <a:off x="4846320" y="5257799"/>
            <a:ext cx="66595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0" i="0">
                <a:solidFill>
                  <a:srgbClr val="98A4AE"/>
                </a:solidFill>
                <a:latin typeface="Segoe UI"/>
              </a:rPr>
              <a:t>10.5   Ontologies</a:t>
            </a:r>
          </a:p>
        </p:txBody>
      </p:sp>
      <p:sp>
        <p:nvSpPr>
          <p:cNvPr id="11" name="!!dl5"/>
          <p:cNvSpPr txBox="1"/>
          <p:nvPr/>
        </p:nvSpPr>
        <p:spPr>
          <a:xfrm>
            <a:off x="4846320" y="5532119"/>
            <a:ext cx="66595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0" i="0">
                <a:solidFill>
                  <a:srgbClr val="98A4AE"/>
                </a:solidFill>
                <a:latin typeface="Segoe UI"/>
              </a:rPr>
              <a:t>10.6   Where This Course Stops</a:t>
            </a:r>
          </a:p>
        </p:txBody>
      </p:sp>
      <p:sp>
        <p:nvSpPr>
          <p:cNvPr id="12" name="!!footL"/>
          <p:cNvSpPr txBox="1"/>
          <p:nvPr/>
        </p:nvSpPr>
        <p:spPr>
          <a:xfrm>
            <a:off x="4846320" y="6437376"/>
            <a:ext cx="4572000"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Artificial Intelligence  ·  Chapter 10</a:t>
            </a:r>
          </a:p>
        </p:txBody>
      </p:sp>
      <p:sp>
        <p:nvSpPr>
          <p:cNvPr id="13"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Handout §10.3     </a:t>
            </a:r>
            <a:fld id="{E8E8FCA1-D6A8-47C0-9EC6-0C4D8631C346}" type="slidenum">
              <a:rPr lang="en-GB" sz="1000">
                <a:solidFill>
                  <a:srgbClr val="8795A1"/>
                </a:solidFill>
                <a:latin typeface="Segoe UI"/>
              </a:rPr>
              <a:t>8</a:t>
            </a:fld>
          </a:p>
        </p:txBody>
      </p:sp>
      <p:sp>
        <p:nvSpPr>
          <p:cNvPr id="14"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5" name="!!pfill">
            <a:extLst>
              <a:ext uri="{C183D7F6-B498-43B3-948B-1728B52AA6E4}">
                <adec:decorative xmlns:adec="http://schemas.microsoft.com/office/drawing/2017/decorative" val="1"/>
              </a:ext>
            </a:extLst>
          </p:cNvPr>
          <p:cNvSpPr/>
          <p:nvPr/>
        </p:nvSpPr>
        <p:spPr>
          <a:xfrm>
            <a:off x="0" y="0"/>
            <a:ext cx="2268222" cy="54864"/>
          </a:xfrm>
          <a:prstGeom prst="rect">
            <a:avLst/>
          </a:prstGeom>
          <a:solidFill>
            <a:srgbClr val="8E44A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Requires="p14">
      <p:transition spd="med" p14:dur="450">
        <p:push dir="u"/>
      </p:transition>
    </mc:Choice>
    <mc:Fallback>
      <p:transition spd="med">
        <p:push dir="u"/>
      </p:transition>
    </mc:Fallback>
  </mc:AlternateContent>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3000" b="0">
                <a:solidFill>
                  <a:srgbClr val="1A5276"/>
                </a:solidFill>
                <a:latin typeface="Segoe UI Semibold"/>
              </a:rPr>
              <a:t>Three frames from the delivery domain</a:t>
            </a:r>
          </a:p>
        </p:txBody>
      </p:sp>
      <p:pic>
        <p:nvPicPr>
          <p:cNvPr id="3" name="!!kicker-icon" descr="code-27AE60.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272560"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27AE60"/>
                </a:solidFill>
                <a:latin typeface="Segoe UI"/>
              </a:rPr>
              <a:t>EXAMPLE</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Artificial Intelligence  ·  Chapter 10  ·  Knowledge Representation</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§10.3  ·  Handout p. 102     </a:t>
            </a:r>
            <a:fld id="{E6CAE718-B239-4B5E-B791-BCDE61897B33}" type="slidenum">
              <a:rPr lang="en-GB" sz="1000">
                <a:solidFill>
                  <a:srgbClr val="8795A1"/>
                </a:solidFill>
                <a:latin typeface="Segoe UI"/>
              </a:rPr>
              <a:t>9</a:t>
            </a:fld>
          </a:p>
        </p:txBody>
      </p:sp>
      <p:sp>
        <p:nvSpPr>
          <p:cNvPr id="7" name="!!card">
            <a:extLst>
              <a:ext uri="{C183D7F6-B498-43B3-948B-1728B52AA6E4}">
                <adec:decorative xmlns:adec="http://schemas.microsoft.com/office/drawing/2017/decorative" val="1"/>
              </a:ext>
            </a:extLst>
          </p:cNvPr>
          <p:cNvSpPr/>
          <p:nvPr/>
        </p:nvSpPr>
        <p:spPr>
          <a:xfrm>
            <a:off x="658368" y="1737360"/>
            <a:ext cx="10874959" cy="4523232"/>
          </a:xfrm>
          <a:prstGeom prst="roundRect">
            <a:avLst>
              <a:gd name="adj" fmla="val 2021"/>
            </a:avLst>
          </a:prstGeom>
          <a:solidFill>
            <a:srgbClr val="EAF7EF"/>
          </a:solidFill>
          <a:ln>
            <a:noFill/>
          </a:ln>
          <a:effectLst>
            <a:outerShdw blurRad="127000" dist="25400" dir="5400000" algn="t" rotWithShape="0">
              <a:srgbClr val="1C252B">
                <a:alpha val="10000"/>
              </a:srgbClr>
            </a:outerShdw>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8" name="!!cardrule">
            <a:extLst>
              <a:ext uri="{C183D7F6-B498-43B3-948B-1728B52AA6E4}">
                <adec:decorative xmlns:adec="http://schemas.microsoft.com/office/drawing/2017/decorative" val="1"/>
              </a:ext>
            </a:extLst>
          </p:cNvPr>
          <p:cNvSpPr/>
          <p:nvPr/>
        </p:nvSpPr>
        <p:spPr>
          <a:xfrm>
            <a:off x="658368" y="1737360"/>
            <a:ext cx="82296" cy="4523232"/>
          </a:xfrm>
          <a:prstGeom prst="rect">
            <a:avLst/>
          </a:prstGeom>
          <a:solidFill>
            <a:srgbClr val="27AE6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graphicFrame>
        <p:nvGraphicFramePr>
          <p:cNvPr id="9" name="body-0"/>
          <p:cNvGraphicFramePr>
            <a:graphicFrameLocks noGrp="1"/>
          </p:cNvGraphicFramePr>
          <p:nvPr/>
        </p:nvGraphicFramePr>
        <p:xfrm>
          <a:off x="1060704" y="2048255"/>
          <a:ext cx="5533989" cy="3901440"/>
        </p:xfrm>
        <a:graphic>
          <a:graphicData uri="http://schemas.openxmlformats.org/drawingml/2006/table">
            <a:tbl>
              <a:tblPr firstRow="0" bandRow="0" firstCol="0" lastRow="0" lastCol="0" bandCol="0">
                <a:tableStyleId>{2D5ABB26-0587-4C30-8999-92F81FD0307C}</a:tableStyleId>
              </a:tblPr>
              <a:tblGrid>
                <a:gridCol w="1434742"/>
                <a:gridCol w="1900560"/>
                <a:gridCol w="2198687"/>
              </a:tblGrid>
              <a:tr h="390144">
                <a:tc>
                  <a:txBody>
                    <a:bodyPr wrap="square"/>
                    <a:lstStyle/>
                    <a:p>
                      <a:pPr algn="l"/>
                      <a:r>
                        <a:rPr sz="1600" b="1" i="0">
                          <a:solidFill>
                            <a:srgbClr val="1A5276"/>
                          </a:solidFill>
                          <a:latin typeface="Segoe UI"/>
                        </a:rPr>
                        <a:t>Frame</a:t>
                      </a:r>
                      <a:endParaRPr sz="1600"/>
                    </a:p>
                  </a:txBody>
                  <a:tcPr marL="109728" marR="109728" marT="64008" marB="45720" anchor="t">
                    <a:lnL w="0" cmpd="sng">
                      <a:noFill/>
                    </a:lnL>
                    <a:lnR w="0" cmpd="sng">
                      <a:noFill/>
                    </a:lnR>
                    <a:lnT w="19050" cmpd="sng">
                      <a:solidFill>
                        <a:srgbClr val="1A5276"/>
                      </a:solidFill>
                    </a:lnT>
                    <a:lnB w="19050" cmpd="sng">
                      <a:solidFill>
                        <a:srgbClr val="1A5276"/>
                      </a:solidFill>
                    </a:lnB>
                    <a:solidFill>
                      <a:srgbClr val="DDE5EA"/>
                    </a:solidFill>
                  </a:tcPr>
                </a:tc>
                <a:tc>
                  <a:txBody>
                    <a:bodyPr wrap="square"/>
                    <a:lstStyle/>
                    <a:p>
                      <a:pPr algn="l"/>
                      <a:r>
                        <a:rPr sz="1600" b="1" i="0">
                          <a:solidFill>
                            <a:srgbClr val="1A5276"/>
                          </a:solidFill>
                          <a:latin typeface="Segoe UI"/>
                        </a:rPr>
                        <a:t>Slot</a:t>
                      </a:r>
                      <a:endParaRPr sz="1600"/>
                    </a:p>
                  </a:txBody>
                  <a:tcPr marL="109728" marR="109728" marT="64008" marB="45720" anchor="t">
                    <a:lnL w="0" cmpd="sng">
                      <a:noFill/>
                    </a:lnL>
                    <a:lnR w="0" cmpd="sng">
                      <a:noFill/>
                    </a:lnR>
                    <a:lnT w="19050" cmpd="sng">
                      <a:solidFill>
                        <a:srgbClr val="1A5276"/>
                      </a:solidFill>
                    </a:lnT>
                    <a:lnB w="19050" cmpd="sng">
                      <a:solidFill>
                        <a:srgbClr val="1A5276"/>
                      </a:solidFill>
                    </a:lnB>
                    <a:solidFill>
                      <a:srgbClr val="DDE5EA"/>
                    </a:solidFill>
                  </a:tcPr>
                </a:tc>
                <a:tc>
                  <a:txBody>
                    <a:bodyPr wrap="square"/>
                    <a:lstStyle/>
                    <a:p>
                      <a:pPr algn="l"/>
                      <a:r>
                        <a:rPr sz="1600" b="1" i="0">
                          <a:solidFill>
                            <a:srgbClr val="1A5276"/>
                          </a:solidFill>
                          <a:latin typeface="Segoe UI"/>
                        </a:rPr>
                        <a:t>Value</a:t>
                      </a:r>
                      <a:endParaRPr sz="1600"/>
                    </a:p>
                  </a:txBody>
                  <a:tcPr marL="109728" marR="109728" marT="64008" marB="45720" anchor="t">
                    <a:lnL w="0" cmpd="sng">
                      <a:noFill/>
                    </a:lnL>
                    <a:lnR w="0" cmpd="sng">
                      <a:noFill/>
                    </a:lnR>
                    <a:lnT w="19050" cmpd="sng">
                      <a:solidFill>
                        <a:srgbClr val="1A5276"/>
                      </a:solidFill>
                    </a:lnT>
                    <a:lnB w="19050" cmpd="sng">
                      <a:solidFill>
                        <a:srgbClr val="1A5276"/>
                      </a:solidFill>
                    </a:lnB>
                    <a:solidFill>
                      <a:srgbClr val="DDE5EA"/>
                    </a:solidFill>
                  </a:tcPr>
                </a:tc>
              </a:tr>
              <a:tr h="390144">
                <a:tc>
                  <a:txBody>
                    <a:bodyPr wrap="square"/>
                    <a:lstStyle/>
                    <a:p>
                      <a:pPr algn="l"/>
                      <a:r>
                        <a:rPr sz="1500" b="0" i="0">
                          <a:solidFill>
                            <a:srgbClr val="1F4E79"/>
                          </a:solidFill>
                          <a:latin typeface="Consolas"/>
                        </a:rPr>
                        <a:t>Release</a:t>
                      </a:r>
                      <a:endParaRPr sz="1600"/>
                    </a:p>
                  </a:txBody>
                  <a:tcPr marL="109728" marR="109728" marT="64008" marB="45720" anchor="t">
                    <a:lnL w="0" cmpd="sng">
                      <a:noFill/>
                    </a:lnL>
                    <a:lnR w="0" cmpd="sng">
                      <a:noFill/>
                    </a:lnR>
                    <a:lnT w="9525" cmpd="sng">
                      <a:noFill/>
                    </a:lnT>
                    <a:lnB w="9525" cmpd="sng">
                      <a:noFill/>
                    </a:lnB>
                    <a:solidFill>
                      <a:srgbClr val="FFFFFF"/>
                    </a:solidFill>
                  </a:tcPr>
                </a:tc>
                <a:tc>
                  <a:txBody>
                    <a:bodyPr wrap="square"/>
                    <a:lstStyle/>
                    <a:p>
                      <a:pPr algn="l"/>
                      <a:r>
                        <a:rPr sz="1500" b="0" i="0">
                          <a:solidFill>
                            <a:srgbClr val="1F4E79"/>
                          </a:solidFill>
                          <a:latin typeface="Consolas"/>
                        </a:rPr>
                        <a:t>is-a</a:t>
                      </a:r>
                      <a:endParaRPr sz="1600"/>
                    </a:p>
                  </a:txBody>
                  <a:tcPr marL="109728" marR="109728" marT="64008" marB="45720" anchor="t">
                    <a:lnL w="0" cmpd="sng">
                      <a:noFill/>
                    </a:lnL>
                    <a:lnR w="0" cmpd="sng">
                      <a:noFill/>
                    </a:lnR>
                    <a:lnT w="9525" cmpd="sng">
                      <a:noFill/>
                    </a:lnT>
                    <a:lnB w="9525" cmpd="sng">
                      <a:noFill/>
                    </a:lnB>
                    <a:solidFill>
                      <a:srgbClr val="FFFFFF"/>
                    </a:solidFill>
                  </a:tcPr>
                </a:tc>
                <a:tc>
                  <a:txBody>
                    <a:bodyPr wrap="square"/>
                    <a:lstStyle/>
                    <a:p>
                      <a:pPr algn="l"/>
                      <a:r>
                        <a:rPr sz="1500" b="0" i="0">
                          <a:solidFill>
                            <a:srgbClr val="1F4E79"/>
                          </a:solidFill>
                          <a:latin typeface="Consolas"/>
                        </a:rPr>
                        <a:t>Artefact</a:t>
                      </a:r>
                      <a:endParaRPr sz="1600"/>
                    </a:p>
                  </a:txBody>
                  <a:tcPr marL="109728" marR="109728" marT="64008" marB="45720" anchor="t">
                    <a:lnL w="0" cmpd="sng">
                      <a:noFill/>
                    </a:lnL>
                    <a:lnR w="0" cmpd="sng">
                      <a:noFill/>
                    </a:lnR>
                    <a:lnT w="9525" cmpd="sng">
                      <a:noFill/>
                    </a:lnT>
                    <a:lnB w="9525" cmpd="sng">
                      <a:noFill/>
                    </a:lnB>
                    <a:solidFill>
                      <a:srgbClr val="FFFFFF"/>
                    </a:solidFill>
                  </a:tcPr>
                </a:tc>
              </a:tr>
              <a:tr h="390144">
                <a:tc>
                  <a:txBody>
                    <a:bodyPr wrap="square"/>
                    <a:lstStyle/>
                    <a:p>
                      <a:pPr algn="l"/>
                      <a:endParaRPr sz="1600"/>
                    </a:p>
                  </a:txBody>
                  <a:tcPr marL="109728" marR="109728" marT="64008" marB="45720" anchor="t">
                    <a:lnL w="0" cmpd="sng">
                      <a:noFill/>
                    </a:lnL>
                    <a:lnR w="0" cmpd="sng">
                      <a:noFill/>
                    </a:lnR>
                    <a:lnT w="9525" cmpd="sng">
                      <a:noFill/>
                    </a:lnT>
                    <a:lnB w="9525" cmpd="sng">
                      <a:noFill/>
                    </a:lnB>
                    <a:solidFill>
                      <a:srgbClr val="F2F8FC"/>
                    </a:solidFill>
                  </a:tcPr>
                </a:tc>
                <a:tc>
                  <a:txBody>
                    <a:bodyPr wrap="square"/>
                    <a:lstStyle/>
                    <a:p>
                      <a:pPr algn="l"/>
                      <a:r>
                        <a:rPr sz="1500" b="0" i="0">
                          <a:solidFill>
                            <a:srgbClr val="1F4E79"/>
                          </a:solidFill>
                          <a:latin typeface="Consolas"/>
                        </a:rPr>
                        <a:t>needs-signoff</a:t>
                      </a:r>
                      <a:endParaRPr sz="1600"/>
                    </a:p>
                  </a:txBody>
                  <a:tcPr marL="109728" marR="109728" marT="64008" marB="45720" anchor="t">
                    <a:lnL w="0" cmpd="sng">
                      <a:noFill/>
                    </a:lnL>
                    <a:lnR w="0" cmpd="sng">
                      <a:noFill/>
                    </a:lnR>
                    <a:lnT w="9525" cmpd="sng">
                      <a:noFill/>
                    </a:lnT>
                    <a:lnB w="9525" cmpd="sng">
                      <a:noFill/>
                    </a:lnB>
                    <a:solidFill>
                      <a:srgbClr val="F2F8FC"/>
                    </a:solidFill>
                  </a:tcPr>
                </a:tc>
                <a:tc>
                  <a:txBody>
                    <a:bodyPr wrap="square"/>
                    <a:lstStyle/>
                    <a:p>
                      <a:pPr algn="l"/>
                      <a:r>
                        <a:rPr sz="1500" b="0" i="0">
                          <a:solidFill>
                            <a:srgbClr val="1F4E79"/>
                          </a:solidFill>
                          <a:latin typeface="Consolas"/>
                        </a:rPr>
                        <a:t>yes</a:t>
                      </a:r>
                      <a:r>
                        <a:rPr sz="1600" b="0" i="0">
                          <a:solidFill>
                            <a:srgbClr val="1C252B"/>
                          </a:solidFill>
                          <a:latin typeface="Segoe UI"/>
                        </a:rPr>
                        <a:t> </a:t>
                      </a:r>
                      <a:r>
                        <a:rPr sz="1600" b="0" i="1">
                          <a:solidFill>
                            <a:srgbClr val="1C252B"/>
                          </a:solidFill>
                          <a:latin typeface="Segoe UI"/>
                        </a:rPr>
                        <a:t>(default)</a:t>
                      </a:r>
                      <a:endParaRPr sz="1600"/>
                    </a:p>
                  </a:txBody>
                  <a:tcPr marL="109728" marR="109728" marT="64008" marB="45720" anchor="t">
                    <a:lnL w="0" cmpd="sng">
                      <a:noFill/>
                    </a:lnL>
                    <a:lnR w="0" cmpd="sng">
                      <a:noFill/>
                    </a:lnR>
                    <a:lnT w="9525" cmpd="sng">
                      <a:noFill/>
                    </a:lnT>
                    <a:lnB w="9525" cmpd="sng">
                      <a:noFill/>
                    </a:lnB>
                    <a:solidFill>
                      <a:srgbClr val="F2F8FC"/>
                    </a:solidFill>
                  </a:tcPr>
                </a:tc>
              </a:tr>
              <a:tr h="390144">
                <a:tc>
                  <a:txBody>
                    <a:bodyPr wrap="square"/>
                    <a:lstStyle/>
                    <a:p>
                      <a:pPr algn="l"/>
                      <a:endParaRPr sz="1600"/>
                    </a:p>
                  </a:txBody>
                  <a:tcPr marL="109728" marR="109728" marT="64008" marB="45720" anchor="t">
                    <a:lnL w="0" cmpd="sng">
                      <a:noFill/>
                    </a:lnL>
                    <a:lnR w="0" cmpd="sng">
                      <a:noFill/>
                    </a:lnR>
                    <a:lnT w="9525" cmpd="sng">
                      <a:noFill/>
                    </a:lnT>
                    <a:lnB w="9525" cmpd="sng">
                      <a:noFill/>
                    </a:lnB>
                    <a:solidFill>
                      <a:srgbClr val="FFFFFF"/>
                    </a:solidFill>
                  </a:tcPr>
                </a:tc>
                <a:tc>
                  <a:txBody>
                    <a:bodyPr wrap="square"/>
                    <a:lstStyle/>
                    <a:p>
                      <a:pPr algn="l"/>
                      <a:r>
                        <a:rPr sz="1500" b="0" i="0">
                          <a:solidFill>
                            <a:srgbClr val="1F4E79"/>
                          </a:solidFill>
                          <a:latin typeface="Consolas"/>
                        </a:rPr>
                        <a:t>regression-pass</a:t>
                      </a:r>
                      <a:endParaRPr sz="1600"/>
                    </a:p>
                  </a:txBody>
                  <a:tcPr marL="109728" marR="109728" marT="64008" marB="45720" anchor="t">
                    <a:lnL w="0" cmpd="sng">
                      <a:noFill/>
                    </a:lnL>
                    <a:lnR w="0" cmpd="sng">
                      <a:noFill/>
                    </a:lnR>
                    <a:lnT w="9525" cmpd="sng">
                      <a:noFill/>
                    </a:lnT>
                    <a:lnB w="9525" cmpd="sng">
                      <a:noFill/>
                    </a:lnB>
                    <a:solidFill>
                      <a:srgbClr val="FFFFFF"/>
                    </a:solidFill>
                  </a:tcPr>
                </a:tc>
                <a:tc>
                  <a:txBody>
                    <a:bodyPr wrap="square"/>
                    <a:lstStyle/>
                    <a:p>
                      <a:pPr algn="l"/>
                      <a:r>
                        <a:rPr sz="1500" b="0" i="0">
                          <a:solidFill>
                            <a:srgbClr val="1F4E79"/>
                          </a:solidFill>
                          <a:latin typeface="Consolas"/>
                        </a:rPr>
                        <a:t>full</a:t>
                      </a:r>
                      <a:r>
                        <a:rPr sz="1600" b="0" i="0">
                          <a:solidFill>
                            <a:srgbClr val="1C252B"/>
                          </a:solidFill>
                          <a:latin typeface="Segoe UI"/>
                        </a:rPr>
                        <a:t> </a:t>
                      </a:r>
                      <a:r>
                        <a:rPr sz="1600" b="0" i="1">
                          <a:solidFill>
                            <a:srgbClr val="1C252B"/>
                          </a:solidFill>
                          <a:latin typeface="Segoe UI"/>
                        </a:rPr>
                        <a:t>(default)</a:t>
                      </a:r>
                      <a:endParaRPr sz="1600"/>
                    </a:p>
                  </a:txBody>
                  <a:tcPr marL="109728" marR="109728" marT="64008" marB="45720" anchor="t">
                    <a:lnL w="0" cmpd="sng">
                      <a:noFill/>
                    </a:lnL>
                    <a:lnR w="0" cmpd="sng">
                      <a:noFill/>
                    </a:lnR>
                    <a:lnT w="9525" cmpd="sng">
                      <a:noFill/>
                    </a:lnT>
                    <a:lnB w="9525" cmpd="sng">
                      <a:noFill/>
                    </a:lnB>
                    <a:solidFill>
                      <a:srgbClr val="FFFFFF"/>
                    </a:solidFill>
                  </a:tcPr>
                </a:tc>
              </a:tr>
              <a:tr h="390144">
                <a:tc>
                  <a:txBody>
                    <a:bodyPr wrap="square"/>
                    <a:lstStyle/>
                    <a:p>
                      <a:pPr algn="l"/>
                      <a:endParaRPr sz="1600"/>
                    </a:p>
                  </a:txBody>
                  <a:tcPr marL="109728" marR="109728" marT="64008" marB="45720" anchor="t">
                    <a:lnL w="0" cmpd="sng">
                      <a:noFill/>
                    </a:lnL>
                    <a:lnR w="0" cmpd="sng">
                      <a:noFill/>
                    </a:lnR>
                    <a:lnT w="9525" cmpd="sng">
                      <a:noFill/>
                    </a:lnT>
                    <a:lnB w="9525" cmpd="sng">
                      <a:noFill/>
                    </a:lnB>
                    <a:solidFill>
                      <a:srgbClr val="F2F8FC"/>
                    </a:solidFill>
                  </a:tcPr>
                </a:tc>
                <a:tc>
                  <a:txBody>
                    <a:bodyPr wrap="square"/>
                    <a:lstStyle/>
                    <a:p>
                      <a:pPr algn="l"/>
                      <a:r>
                        <a:rPr sz="1500" b="0" i="0">
                          <a:solidFill>
                            <a:srgbClr val="1F4E79"/>
                          </a:solidFill>
                          <a:latin typeface="Consolas"/>
                        </a:rPr>
                        <a:t>window</a:t>
                      </a:r>
                      <a:endParaRPr sz="1600"/>
                    </a:p>
                  </a:txBody>
                  <a:tcPr marL="109728" marR="109728" marT="64008" marB="45720" anchor="t">
                    <a:lnL w="0" cmpd="sng">
                      <a:noFill/>
                    </a:lnL>
                    <a:lnR w="0" cmpd="sng">
                      <a:noFill/>
                    </a:lnR>
                    <a:lnT w="9525" cmpd="sng">
                      <a:noFill/>
                    </a:lnT>
                    <a:lnB w="9525" cmpd="sng">
                      <a:noFill/>
                    </a:lnB>
                    <a:solidFill>
                      <a:srgbClr val="F2F8FC"/>
                    </a:solidFill>
                  </a:tcPr>
                </a:tc>
                <a:tc>
                  <a:txBody>
                    <a:bodyPr wrap="square"/>
                    <a:lstStyle/>
                    <a:p>
                      <a:pPr algn="l"/>
                      <a:r>
                        <a:rPr sz="1500" b="0" i="0">
                          <a:solidFill>
                            <a:srgbClr val="1F4E79"/>
                          </a:solidFill>
                          <a:latin typeface="Consolas"/>
                        </a:rPr>
                        <a:t>Thursday</a:t>
                      </a:r>
                      <a:r>
                        <a:rPr sz="1600" b="0" i="0">
                          <a:solidFill>
                            <a:srgbClr val="1C252B"/>
                          </a:solidFill>
                          <a:latin typeface="Segoe UI"/>
                        </a:rPr>
                        <a:t> </a:t>
                      </a:r>
                      <a:r>
                        <a:rPr sz="1600" b="0" i="1">
                          <a:solidFill>
                            <a:srgbClr val="1C252B"/>
                          </a:solidFill>
                          <a:latin typeface="Segoe UI"/>
                        </a:rPr>
                        <a:t>(default)</a:t>
                      </a:r>
                      <a:endParaRPr sz="1600"/>
                    </a:p>
                  </a:txBody>
                  <a:tcPr marL="109728" marR="109728" marT="64008" marB="45720" anchor="t">
                    <a:lnL w="0" cmpd="sng">
                      <a:noFill/>
                    </a:lnL>
                    <a:lnR w="0" cmpd="sng">
                      <a:noFill/>
                    </a:lnR>
                    <a:lnT w="9525" cmpd="sng">
                      <a:noFill/>
                    </a:lnT>
                    <a:lnB w="9525" cmpd="sng">
                      <a:noFill/>
                    </a:lnB>
                    <a:solidFill>
                      <a:srgbClr val="F2F8FC"/>
                    </a:solidFill>
                  </a:tcPr>
                </a:tc>
              </a:tr>
              <a:tr h="390144">
                <a:tc>
                  <a:txBody>
                    <a:bodyPr wrap="square"/>
                    <a:lstStyle/>
                    <a:p>
                      <a:pPr algn="l"/>
                      <a:r>
                        <a:rPr sz="1500" b="0" i="0">
                          <a:solidFill>
                            <a:srgbClr val="1F4E79"/>
                          </a:solidFill>
                          <a:latin typeface="Consolas"/>
                        </a:rPr>
                        <a:t>Hotfix</a:t>
                      </a:r>
                      <a:endParaRPr sz="1600"/>
                    </a:p>
                  </a:txBody>
                  <a:tcPr marL="109728" marR="109728" marT="64008" marB="45720" anchor="t">
                    <a:lnL w="0" cmpd="sng">
                      <a:noFill/>
                    </a:lnL>
                    <a:lnR w="0" cmpd="sng">
                      <a:noFill/>
                    </a:lnR>
                    <a:lnT w="9525" cmpd="sng">
                      <a:noFill/>
                    </a:lnT>
                    <a:lnB w="9525" cmpd="sng">
                      <a:noFill/>
                    </a:lnB>
                    <a:solidFill>
                      <a:srgbClr val="FFFFFF"/>
                    </a:solidFill>
                  </a:tcPr>
                </a:tc>
                <a:tc>
                  <a:txBody>
                    <a:bodyPr wrap="square"/>
                    <a:lstStyle/>
                    <a:p>
                      <a:pPr algn="l"/>
                      <a:r>
                        <a:rPr sz="1500" b="0" i="0">
                          <a:solidFill>
                            <a:srgbClr val="1F4E79"/>
                          </a:solidFill>
                          <a:latin typeface="Consolas"/>
                        </a:rPr>
                        <a:t>is-a</a:t>
                      </a:r>
                      <a:endParaRPr sz="1600"/>
                    </a:p>
                  </a:txBody>
                  <a:tcPr marL="109728" marR="109728" marT="64008" marB="45720" anchor="t">
                    <a:lnL w="0" cmpd="sng">
                      <a:noFill/>
                    </a:lnL>
                    <a:lnR w="0" cmpd="sng">
                      <a:noFill/>
                    </a:lnR>
                    <a:lnT w="9525" cmpd="sng">
                      <a:noFill/>
                    </a:lnT>
                    <a:lnB w="9525" cmpd="sng">
                      <a:noFill/>
                    </a:lnB>
                    <a:solidFill>
                      <a:srgbClr val="FFFFFF"/>
                    </a:solidFill>
                  </a:tcPr>
                </a:tc>
                <a:tc>
                  <a:txBody>
                    <a:bodyPr wrap="square"/>
                    <a:lstStyle/>
                    <a:p>
                      <a:pPr algn="l"/>
                      <a:r>
                        <a:rPr sz="1500" b="0" i="0">
                          <a:solidFill>
                            <a:srgbClr val="1F4E79"/>
                          </a:solidFill>
                          <a:latin typeface="Consolas"/>
                        </a:rPr>
                        <a:t>Release</a:t>
                      </a:r>
                      <a:endParaRPr sz="1600"/>
                    </a:p>
                  </a:txBody>
                  <a:tcPr marL="109728" marR="109728" marT="64008" marB="45720" anchor="t">
                    <a:lnL w="0" cmpd="sng">
                      <a:noFill/>
                    </a:lnL>
                    <a:lnR w="0" cmpd="sng">
                      <a:noFill/>
                    </a:lnR>
                    <a:lnT w="9525" cmpd="sng">
                      <a:noFill/>
                    </a:lnT>
                    <a:lnB w="9525" cmpd="sng">
                      <a:noFill/>
                    </a:lnB>
                    <a:solidFill>
                      <a:srgbClr val="FFFFFF"/>
                    </a:solidFill>
                  </a:tcPr>
                </a:tc>
              </a:tr>
              <a:tr h="390144">
                <a:tc>
                  <a:txBody>
                    <a:bodyPr wrap="square"/>
                    <a:lstStyle/>
                    <a:p>
                      <a:pPr algn="l"/>
                      <a:endParaRPr sz="1600"/>
                    </a:p>
                  </a:txBody>
                  <a:tcPr marL="109728" marR="109728" marT="64008" marB="45720" anchor="t">
                    <a:lnL w="0" cmpd="sng">
                      <a:noFill/>
                    </a:lnL>
                    <a:lnR w="0" cmpd="sng">
                      <a:noFill/>
                    </a:lnR>
                    <a:lnT w="9525" cmpd="sng">
                      <a:noFill/>
                    </a:lnT>
                    <a:lnB w="9525" cmpd="sng">
                      <a:noFill/>
                    </a:lnB>
                    <a:solidFill>
                      <a:srgbClr val="F2F8FC"/>
                    </a:solidFill>
                  </a:tcPr>
                </a:tc>
                <a:tc>
                  <a:txBody>
                    <a:bodyPr wrap="square"/>
                    <a:lstStyle/>
                    <a:p>
                      <a:pPr algn="l"/>
                      <a:r>
                        <a:rPr sz="1500" b="0" i="0">
                          <a:solidFill>
                            <a:srgbClr val="1F4E79"/>
                          </a:solidFill>
                          <a:latin typeface="Consolas"/>
                        </a:rPr>
                        <a:t>regression-pass</a:t>
                      </a:r>
                      <a:endParaRPr sz="1600"/>
                    </a:p>
                  </a:txBody>
                  <a:tcPr marL="109728" marR="109728" marT="64008" marB="45720" anchor="t">
                    <a:lnL w="0" cmpd="sng">
                      <a:noFill/>
                    </a:lnL>
                    <a:lnR w="0" cmpd="sng">
                      <a:noFill/>
                    </a:lnR>
                    <a:lnT w="9525" cmpd="sng">
                      <a:noFill/>
                    </a:lnT>
                    <a:lnB w="9525" cmpd="sng">
                      <a:noFill/>
                    </a:lnB>
                    <a:solidFill>
                      <a:srgbClr val="F2F8FC"/>
                    </a:solidFill>
                  </a:tcPr>
                </a:tc>
                <a:tc>
                  <a:txBody>
                    <a:bodyPr wrap="square"/>
                    <a:lstStyle/>
                    <a:p>
                      <a:pPr algn="l"/>
                      <a:r>
                        <a:rPr sz="1500" b="0" i="0">
                          <a:solidFill>
                            <a:srgbClr val="1F4E79"/>
                          </a:solidFill>
                          <a:latin typeface="Consolas"/>
                        </a:rPr>
                        <a:t>smoke</a:t>
                      </a:r>
                      <a:r>
                        <a:rPr sz="1600" b="0" i="0">
                          <a:solidFill>
                            <a:srgbClr val="1C252B"/>
                          </a:solidFill>
                          <a:latin typeface="Segoe UI"/>
                        </a:rPr>
                        <a:t> </a:t>
                      </a:r>
                      <a:r>
                        <a:rPr sz="1600" b="1" i="0">
                          <a:solidFill>
                            <a:srgbClr val="1C252B"/>
                          </a:solidFill>
                          <a:latin typeface="Segoe UI"/>
                        </a:rPr>
                        <a:t>(overrides)</a:t>
                      </a:r>
                      <a:endParaRPr sz="1600"/>
                    </a:p>
                  </a:txBody>
                  <a:tcPr marL="109728" marR="109728" marT="64008" marB="45720" anchor="t">
                    <a:lnL w="0" cmpd="sng">
                      <a:noFill/>
                    </a:lnL>
                    <a:lnR w="0" cmpd="sng">
                      <a:noFill/>
                    </a:lnR>
                    <a:lnT w="9525" cmpd="sng">
                      <a:noFill/>
                    </a:lnT>
                    <a:lnB w="9525" cmpd="sng">
                      <a:noFill/>
                    </a:lnB>
                    <a:solidFill>
                      <a:srgbClr val="F2F8FC"/>
                    </a:solidFill>
                  </a:tcPr>
                </a:tc>
              </a:tr>
              <a:tr h="390144">
                <a:tc>
                  <a:txBody>
                    <a:bodyPr wrap="square"/>
                    <a:lstStyle/>
                    <a:p>
                      <a:pPr algn="l"/>
                      <a:endParaRPr sz="1600"/>
                    </a:p>
                  </a:txBody>
                  <a:tcPr marL="109728" marR="109728" marT="64008" marB="45720" anchor="t">
                    <a:lnL w="0" cmpd="sng">
                      <a:noFill/>
                    </a:lnL>
                    <a:lnR w="0" cmpd="sng">
                      <a:noFill/>
                    </a:lnR>
                    <a:lnT w="9525" cmpd="sng">
                      <a:noFill/>
                    </a:lnT>
                    <a:lnB w="9525" cmpd="sng">
                      <a:noFill/>
                    </a:lnB>
                    <a:solidFill>
                      <a:srgbClr val="FFFFFF"/>
                    </a:solidFill>
                  </a:tcPr>
                </a:tc>
                <a:tc>
                  <a:txBody>
                    <a:bodyPr wrap="square"/>
                    <a:lstStyle/>
                    <a:p>
                      <a:pPr algn="l"/>
                      <a:r>
                        <a:rPr sz="1500" b="0" i="0">
                          <a:solidFill>
                            <a:srgbClr val="1F4E79"/>
                          </a:solidFill>
                          <a:latin typeface="Consolas"/>
                        </a:rPr>
                        <a:t>window</a:t>
                      </a:r>
                      <a:endParaRPr sz="1600"/>
                    </a:p>
                  </a:txBody>
                  <a:tcPr marL="109728" marR="109728" marT="64008" marB="45720" anchor="t">
                    <a:lnL w="0" cmpd="sng">
                      <a:noFill/>
                    </a:lnL>
                    <a:lnR w="0" cmpd="sng">
                      <a:noFill/>
                    </a:lnR>
                    <a:lnT w="9525" cmpd="sng">
                      <a:noFill/>
                    </a:lnT>
                    <a:lnB w="9525" cmpd="sng">
                      <a:noFill/>
                    </a:lnB>
                    <a:solidFill>
                      <a:srgbClr val="FFFFFF"/>
                    </a:solidFill>
                  </a:tcPr>
                </a:tc>
                <a:tc>
                  <a:txBody>
                    <a:bodyPr wrap="square"/>
                    <a:lstStyle/>
                    <a:p>
                      <a:pPr algn="l"/>
                      <a:r>
                        <a:rPr sz="1500" b="0" i="0">
                          <a:solidFill>
                            <a:srgbClr val="1F4E79"/>
                          </a:solidFill>
                          <a:latin typeface="Consolas"/>
                        </a:rPr>
                        <a:t>any</a:t>
                      </a:r>
                      <a:r>
                        <a:rPr sz="1600" b="0" i="0">
                          <a:solidFill>
                            <a:srgbClr val="1C252B"/>
                          </a:solidFill>
                          <a:latin typeface="Segoe UI"/>
                        </a:rPr>
                        <a:t> </a:t>
                      </a:r>
                      <a:r>
                        <a:rPr sz="1600" b="1" i="0">
                          <a:solidFill>
                            <a:srgbClr val="1C252B"/>
                          </a:solidFill>
                          <a:latin typeface="Segoe UI"/>
                        </a:rPr>
                        <a:t>(overrides)</a:t>
                      </a:r>
                      <a:endParaRPr sz="1600"/>
                    </a:p>
                  </a:txBody>
                  <a:tcPr marL="109728" marR="109728" marT="64008" marB="45720" anchor="t">
                    <a:lnL w="0" cmpd="sng">
                      <a:noFill/>
                    </a:lnL>
                    <a:lnR w="0" cmpd="sng">
                      <a:noFill/>
                    </a:lnR>
                    <a:lnT w="9525" cmpd="sng">
                      <a:noFill/>
                    </a:lnT>
                    <a:lnB w="9525" cmpd="sng">
                      <a:noFill/>
                    </a:lnB>
                    <a:solidFill>
                      <a:srgbClr val="FFFFFF"/>
                    </a:solidFill>
                  </a:tcPr>
                </a:tc>
              </a:tr>
              <a:tr h="390144">
                <a:tc>
                  <a:txBody>
                    <a:bodyPr wrap="square"/>
                    <a:lstStyle/>
                    <a:p>
                      <a:pPr algn="l"/>
                      <a:r>
                        <a:rPr sz="1500" b="0" i="0">
                          <a:solidFill>
                            <a:srgbClr val="1F4E79"/>
                          </a:solidFill>
                          <a:latin typeface="Consolas"/>
                        </a:rPr>
                        <a:t>Release 4.7</a:t>
                      </a:r>
                      <a:endParaRPr sz="1600"/>
                    </a:p>
                  </a:txBody>
                  <a:tcPr marL="109728" marR="109728" marT="64008" marB="45720" anchor="t">
                    <a:lnL w="0" cmpd="sng">
                      <a:noFill/>
                    </a:lnL>
                    <a:lnR w="0" cmpd="sng">
                      <a:noFill/>
                    </a:lnR>
                    <a:lnT w="9525" cmpd="sng">
                      <a:noFill/>
                    </a:lnT>
                    <a:lnB w="9525" cmpd="sng">
                      <a:noFill/>
                    </a:lnB>
                    <a:solidFill>
                      <a:srgbClr val="F2F8FC"/>
                    </a:solidFill>
                  </a:tcPr>
                </a:tc>
                <a:tc>
                  <a:txBody>
                    <a:bodyPr wrap="square"/>
                    <a:lstStyle/>
                    <a:p>
                      <a:pPr algn="l"/>
                      <a:r>
                        <a:rPr sz="1500" b="0" i="0">
                          <a:solidFill>
                            <a:srgbClr val="1F4E79"/>
                          </a:solidFill>
                          <a:latin typeface="Consolas"/>
                        </a:rPr>
                        <a:t>instance-of</a:t>
                      </a:r>
                      <a:endParaRPr sz="1600"/>
                    </a:p>
                  </a:txBody>
                  <a:tcPr marL="109728" marR="109728" marT="64008" marB="45720" anchor="t">
                    <a:lnL w="0" cmpd="sng">
                      <a:noFill/>
                    </a:lnL>
                    <a:lnR w="0" cmpd="sng">
                      <a:noFill/>
                    </a:lnR>
                    <a:lnT w="9525" cmpd="sng">
                      <a:noFill/>
                    </a:lnT>
                    <a:lnB w="9525" cmpd="sng">
                      <a:noFill/>
                    </a:lnB>
                    <a:solidFill>
                      <a:srgbClr val="F2F8FC"/>
                    </a:solidFill>
                  </a:tcPr>
                </a:tc>
                <a:tc>
                  <a:txBody>
                    <a:bodyPr wrap="square"/>
                    <a:lstStyle/>
                    <a:p>
                      <a:pPr algn="l"/>
                      <a:r>
                        <a:rPr sz="1500" b="0" i="0">
                          <a:solidFill>
                            <a:srgbClr val="1F4E79"/>
                          </a:solidFill>
                          <a:latin typeface="Consolas"/>
                        </a:rPr>
                        <a:t>Hotfix</a:t>
                      </a:r>
                      <a:endParaRPr sz="1600"/>
                    </a:p>
                  </a:txBody>
                  <a:tcPr marL="109728" marR="109728" marT="64008" marB="45720" anchor="t">
                    <a:lnL w="0" cmpd="sng">
                      <a:noFill/>
                    </a:lnL>
                    <a:lnR w="0" cmpd="sng">
                      <a:noFill/>
                    </a:lnR>
                    <a:lnT w="9525" cmpd="sng">
                      <a:noFill/>
                    </a:lnT>
                    <a:lnB w="9525" cmpd="sng">
                      <a:noFill/>
                    </a:lnB>
                    <a:solidFill>
                      <a:srgbClr val="F2F8FC"/>
                    </a:solidFill>
                  </a:tcPr>
                </a:tc>
              </a:tr>
              <a:tr h="390144">
                <a:tc>
                  <a:txBody>
                    <a:bodyPr wrap="square"/>
                    <a:lstStyle/>
                    <a:p>
                      <a:pPr algn="l"/>
                      <a:endParaRPr sz="1600"/>
                    </a:p>
                  </a:txBody>
                  <a:tcPr marL="109728" marR="109728" marT="64008" marB="45720" anchor="t">
                    <a:lnL w="0" cmpd="sng">
                      <a:noFill/>
                    </a:lnL>
                    <a:lnR w="0" cmpd="sng">
                      <a:noFill/>
                    </a:lnR>
                    <a:lnT w="19050" cmpd="sng">
                      <a:noFill/>
                    </a:lnT>
                    <a:lnB w="19050" cmpd="sng">
                      <a:solidFill>
                        <a:srgbClr val="1A5276"/>
                      </a:solidFill>
                    </a:lnB>
                    <a:solidFill>
                      <a:srgbClr val="FFFFFF"/>
                    </a:solidFill>
                  </a:tcPr>
                </a:tc>
                <a:tc>
                  <a:txBody>
                    <a:bodyPr wrap="square"/>
                    <a:lstStyle/>
                    <a:p>
                      <a:pPr algn="l"/>
                      <a:r>
                        <a:rPr sz="1500" b="0" i="0">
                          <a:solidFill>
                            <a:srgbClr val="1F4E79"/>
                          </a:solidFill>
                          <a:latin typeface="Consolas"/>
                        </a:rPr>
                        <a:t>changes</a:t>
                      </a:r>
                      <a:endParaRPr sz="1600"/>
                    </a:p>
                  </a:txBody>
                  <a:tcPr marL="109728" marR="109728" marT="64008" marB="45720" anchor="t">
                    <a:lnL w="0" cmpd="sng">
                      <a:noFill/>
                    </a:lnL>
                    <a:lnR w="0" cmpd="sng">
                      <a:noFill/>
                    </a:lnR>
                    <a:lnT w="19050" cmpd="sng">
                      <a:noFill/>
                    </a:lnT>
                    <a:lnB w="19050" cmpd="sng">
                      <a:solidFill>
                        <a:srgbClr val="1A5276"/>
                      </a:solidFill>
                    </a:lnB>
                    <a:solidFill>
                      <a:srgbClr val="FFFFFF"/>
                    </a:solidFill>
                  </a:tcPr>
                </a:tc>
                <a:tc>
                  <a:txBody>
                    <a:bodyPr wrap="square"/>
                    <a:lstStyle/>
                    <a:p>
                      <a:pPr algn="l"/>
                      <a:r>
                        <a:rPr sz="1500" b="0" i="0">
                          <a:solidFill>
                            <a:srgbClr val="1F4E79"/>
                          </a:solidFill>
                          <a:latin typeface="Consolas"/>
                        </a:rPr>
                        <a:t>Payments</a:t>
                      </a:r>
                      <a:endParaRPr sz="1600"/>
                    </a:p>
                  </a:txBody>
                  <a:tcPr marL="109728" marR="109728" marT="64008" marB="45720" anchor="t">
                    <a:lnL w="0" cmpd="sng">
                      <a:noFill/>
                    </a:lnL>
                    <a:lnR w="0" cmpd="sng">
                      <a:noFill/>
                    </a:lnR>
                    <a:lnT w="19050" cmpd="sng">
                      <a:noFill/>
                    </a:lnT>
                    <a:lnB w="19050" cmpd="sng">
                      <a:solidFill>
                        <a:srgbClr val="1A5276"/>
                      </a:solidFill>
                    </a:lnB>
                    <a:solidFill>
                      <a:srgbClr val="FFFFFF"/>
                    </a:solidFill>
                  </a:tcPr>
                </a:tc>
              </a:tr>
            </a:tbl>
          </a:graphicData>
        </a:graphic>
      </p:graphicFrame>
      <p:sp>
        <p:nvSpPr>
          <p:cNvPr id="10"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1" name="!!pfill">
            <a:extLst>
              <a:ext uri="{C183D7F6-B498-43B3-948B-1728B52AA6E4}">
                <adec:decorative xmlns:adec="http://schemas.microsoft.com/office/drawing/2017/decorative" val="1"/>
              </a:ext>
            </a:extLst>
          </p:cNvPr>
          <p:cNvSpPr/>
          <p:nvPr/>
        </p:nvSpPr>
        <p:spPr>
          <a:xfrm>
            <a:off x="0" y="0"/>
            <a:ext cx="2551750" cy="54864"/>
          </a:xfrm>
          <a:prstGeom prst="rect">
            <a:avLst/>
          </a:prstGeom>
          <a:solidFill>
            <a:srgbClr val="8E44A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Requires="p14">
      <p:transition spd="med" p14:dur="450">
        <p:fade/>
      </p:transition>
    </mc:Choice>
    <mc:Fallback>
      <p:transition spd="med">
        <p:fade/>
      </p:transition>
    </mc:Fallback>
  </mc:AlternateContent>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3000" b="0">
                <a:solidFill>
                  <a:srgbClr val="1A5276"/>
                </a:solidFill>
                <a:latin typeface="Segoe UI Semibold"/>
              </a:rPr>
              <a:t>Frames, Slots and Defaults</a:t>
            </a:r>
          </a:p>
        </p:txBody>
      </p:sp>
      <p:pic>
        <p:nvPicPr>
          <p:cNvPr id="3" name="!!kicker-icon" descr="lightbulb-2E86C1.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152915"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2E86C1"/>
                </a:solidFill>
                <a:latin typeface="Segoe UI"/>
              </a:rPr>
              <a:t>CONCEPT</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Artificial Intelligence  ·  Chapter 10  ·  Knowledge Representation</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§10.3  ·  Handout p. 102     </a:t>
            </a:r>
            <a:fld id="{A147D2C8-C9AC-4E2E-A81B-41366D388CA7}" type="slidenum">
              <a:rPr lang="en-GB" sz="1000">
                <a:solidFill>
                  <a:srgbClr val="8795A1"/>
                </a:solidFill>
                <a:latin typeface="Segoe UI"/>
              </a:rPr>
              <a:t>10</a:t>
            </a:fld>
          </a:p>
        </p:txBody>
      </p:sp>
      <p:sp>
        <p:nvSpPr>
          <p:cNvPr id="7" name="!!card">
            <a:extLst>
              <a:ext uri="{C183D7F6-B498-43B3-948B-1728B52AA6E4}">
                <adec:decorative xmlns:adec="http://schemas.microsoft.com/office/drawing/2017/decorative" val="1"/>
              </a:ext>
            </a:extLst>
          </p:cNvPr>
          <p:cNvSpPr/>
          <p:nvPr/>
        </p:nvSpPr>
        <p:spPr>
          <a:xfrm>
            <a:off x="658368" y="1737360"/>
            <a:ext cx="10874959" cy="4416044"/>
          </a:xfrm>
          <a:prstGeom prst="roundRect">
            <a:avLst>
              <a:gd name="adj" fmla="val 2070"/>
            </a:avLst>
          </a:prstGeom>
          <a:solidFill>
            <a:srgbClr val="EBF5FB"/>
          </a:solidFill>
          <a:ln>
            <a:noFill/>
          </a:ln>
          <a:effectLst>
            <a:outerShdw blurRad="127000" dist="25400" dir="5400000" algn="t" rotWithShape="0">
              <a:srgbClr val="1C252B">
                <a:alpha val="10000"/>
              </a:srgbClr>
            </a:outerShdw>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8" name="!!cardrule">
            <a:extLst>
              <a:ext uri="{C183D7F6-B498-43B3-948B-1728B52AA6E4}">
                <adec:decorative xmlns:adec="http://schemas.microsoft.com/office/drawing/2017/decorative" val="1"/>
              </a:ext>
            </a:extLst>
          </p:cNvPr>
          <p:cNvSpPr/>
          <p:nvPr/>
        </p:nvSpPr>
        <p:spPr>
          <a:xfrm>
            <a:off x="658368" y="1737360"/>
            <a:ext cx="82296" cy="4416044"/>
          </a:xfrm>
          <a:prstGeom prst="rect">
            <a:avLst/>
          </a:prstGeom>
          <a:solidFill>
            <a:srgbClr val="2E86C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9" name="body-0"/>
          <p:cNvSpPr txBox="1"/>
          <p:nvPr/>
        </p:nvSpPr>
        <p:spPr>
          <a:xfrm>
            <a:off x="1060704" y="2048255"/>
            <a:ext cx="10161727" cy="743102"/>
          </a:xfrm>
          <a:prstGeom prst="rect">
            <a:avLst/>
          </a:prstGeom>
          <a:noFill/>
        </p:spPr>
        <p:txBody>
          <a:bodyPr wrap="square" anchor="t" lIns="0" rIns="0" tIns="0" bIns="0">
            <a:noAutofit/>
          </a:bodyPr>
          <a:lstStyle/>
          <a:p>
            <a:pPr algn="l">
              <a:lnSpc>
                <a:spcPct val="104000"/>
              </a:lnSpc>
              <a:spcBef>
                <a:spcPts val="0"/>
              </a:spcBef>
              <a:spcAft>
                <a:spcPts val="0"/>
              </a:spcAft>
            </a:pPr>
            <a:r>
              <a:rPr sz="2200" b="0" i="0">
                <a:solidFill>
                  <a:srgbClr val="1C252B"/>
                </a:solidFill>
                <a:latin typeface="Segoe UI"/>
              </a:rPr>
              <a:t>Defaults are what make this representation fit an organisation, and they are also where it stops being logic.</a:t>
            </a:r>
          </a:p>
        </p:txBody>
      </p:sp>
      <p:sp>
        <p:nvSpPr>
          <p:cNvPr id="10" name="body-1"/>
          <p:cNvSpPr txBox="1"/>
          <p:nvPr/>
        </p:nvSpPr>
        <p:spPr>
          <a:xfrm>
            <a:off x="1060704" y="2899308"/>
            <a:ext cx="10161727" cy="1789176"/>
          </a:xfrm>
          <a:prstGeom prst="rect">
            <a:avLst/>
          </a:prstGeom>
          <a:noFill/>
        </p:spPr>
        <p:txBody>
          <a:bodyPr wrap="square" anchor="t" lIns="0" rIns="0" tIns="0" bIns="0">
            <a:noAutofit/>
          </a:bodyPr>
          <a:lstStyle/>
          <a:p>
            <a:pPr algn="l">
              <a:lnSpc>
                <a:spcPct val="104000"/>
              </a:lnSpc>
              <a:spcBef>
                <a:spcPts val="0"/>
              </a:spcBef>
              <a:spcAft>
                <a:spcPts val="0"/>
              </a:spcAft>
            </a:pPr>
            <a:r>
              <a:rPr sz="2200" b="0" i="0">
                <a:solidFill>
                  <a:srgbClr val="1C252B"/>
                </a:solidFill>
                <a:latin typeface="Segoe UI"/>
              </a:rPr>
              <a:t>“Releases go out on Thursdays” is not a universally quantified statement — it is false of hotfixes — and yet it is exactly what the delivery lead would tell you, and exactly what you want the system to assume when it knows nothing more. Reasoning that can be </a:t>
            </a:r>
            <a:r>
              <a:rPr sz="2200" b="0" i="1">
                <a:solidFill>
                  <a:srgbClr val="1C252B"/>
                </a:solidFill>
                <a:latin typeface="Segoe UI"/>
              </a:rPr>
              <a:t>withdrawn</a:t>
            </a:r>
            <a:r>
              <a:rPr sz="2200" b="0" i="0">
                <a:solidFill>
                  <a:srgbClr val="1C252B"/>
                </a:solidFill>
                <a:latin typeface="Segoe UI"/>
              </a:rPr>
              <a:t> when a more specific fact arrives is </a:t>
            </a:r>
            <a:r>
              <a:rPr sz="2200" b="1" i="0">
                <a:solidFill>
                  <a:srgbClr val="1A5276"/>
                </a:solidFill>
                <a:latin typeface="Segoe UI"/>
              </a:rPr>
              <a:t>non-monotonic</a:t>
            </a:r>
            <a:r>
              <a:rPr sz="2200" b="0" i="0">
                <a:solidFill>
                  <a:srgbClr val="1C252B"/>
                </a:solidFill>
                <a:latin typeface="Segoe UI"/>
              </a:rPr>
              <a:t>: adding knowledge can remove a conclusion.</a:t>
            </a:r>
          </a:p>
        </p:txBody>
      </p:sp>
      <p:sp>
        <p:nvSpPr>
          <p:cNvPr id="11" name="body-2"/>
          <p:cNvSpPr txBox="1"/>
          <p:nvPr/>
        </p:nvSpPr>
        <p:spPr>
          <a:xfrm>
            <a:off x="1060704" y="4796434"/>
            <a:ext cx="10161727" cy="1091793"/>
          </a:xfrm>
          <a:prstGeom prst="rect">
            <a:avLst/>
          </a:prstGeom>
          <a:noFill/>
        </p:spPr>
        <p:txBody>
          <a:bodyPr wrap="square" anchor="t" lIns="0" rIns="0" tIns="0" bIns="0">
            <a:noAutofit/>
          </a:bodyPr>
          <a:lstStyle/>
          <a:p>
            <a:pPr algn="l">
              <a:lnSpc>
                <a:spcPct val="104000"/>
              </a:lnSpc>
              <a:spcBef>
                <a:spcPts val="0"/>
              </a:spcBef>
              <a:spcAft>
                <a:spcPts val="0"/>
              </a:spcAft>
            </a:pPr>
            <a:r>
              <a:rPr sz="2200" b="0" i="0">
                <a:solidFill>
                  <a:srgbClr val="1C252B"/>
                </a:solidFill>
                <a:latin typeface="Segoe UI"/>
              </a:rPr>
              <a:t>Classical logic, the subject of Chapter 11 and Chapter 12, is monotonic: once entailed, always entailed. The two chapters therefore buy soundness and lose the ability to say “normally”. That trade is real, and neither side wins outright.</a:t>
            </a:r>
          </a:p>
        </p:txBody>
      </p:sp>
      <p:sp>
        <p:nvSpPr>
          <p:cNvPr id="12"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3" name="!!pfill">
            <a:extLst>
              <a:ext uri="{C183D7F6-B498-43B3-948B-1728B52AA6E4}">
                <adec:decorative xmlns:adec="http://schemas.microsoft.com/office/drawing/2017/decorative" val="1"/>
              </a:ext>
            </a:extLst>
          </p:cNvPr>
          <p:cNvSpPr/>
          <p:nvPr/>
        </p:nvSpPr>
        <p:spPr>
          <a:xfrm>
            <a:off x="0" y="0"/>
            <a:ext cx="2835277" cy="54864"/>
          </a:xfrm>
          <a:prstGeom prst="rect">
            <a:avLst/>
          </a:prstGeom>
          <a:solidFill>
            <a:srgbClr val="8E44A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Requires="p14">
      <p:transition spd="med" p14:dur="450">
        <p:fade/>
      </p:transition>
    </mc:Choice>
    <mc:Fallback>
      <p:transition spd="med">
        <p:fade/>
      </p:transition>
    </mc:Fallback>
  </mc:AlternateContent>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3000" b="0">
                <a:solidFill>
                  <a:srgbClr val="1A5276"/>
                </a:solidFill>
                <a:latin typeface="Segoe UI Semibold"/>
              </a:rPr>
              <a:t>When Inheritance Has No Answer</a:t>
            </a:r>
          </a:p>
        </p:txBody>
      </p:sp>
      <p:sp>
        <p:nvSpPr>
          <p:cNvPr id="3" name="!!kicker"/>
          <p:cNvSpPr txBox="1"/>
          <p:nvPr/>
        </p:nvSpPr>
        <p:spPr>
          <a:xfrm>
            <a:off x="658368" y="402336"/>
            <a:ext cx="10874959"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7A3A95"/>
                </a:solidFill>
                <a:latin typeface="Segoe UI"/>
              </a:rPr>
              <a:t>FIGURE 10.2</a:t>
            </a:r>
          </a:p>
        </p:txBody>
      </p:sp>
      <p:sp>
        <p:nvSpPr>
          <p:cNvPr id="4"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Artificial Intelligence  ·  Chapter 10  ·  Knowledge Representation</a:t>
            </a:r>
          </a:p>
        </p:txBody>
      </p:sp>
      <p:sp>
        <p:nvSpPr>
          <p:cNvPr id="5"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§10.4  ·  Handout p. 103     </a:t>
            </a:r>
            <a:fld id="{45B16E98-F5E2-4D96-946D-506A35F30BFA}" type="slidenum">
              <a:rPr lang="en-GB" sz="1000">
                <a:solidFill>
                  <a:srgbClr val="8795A1"/>
                </a:solidFill>
                <a:latin typeface="Segoe UI"/>
              </a:rPr>
              <a:t>11</a:t>
            </a:fld>
          </a:p>
        </p:txBody>
      </p:sp>
      <p:pic>
        <p:nvPicPr>
          <p:cNvPr id="6" name="!!figure" descr="Figure 10.2. A multiple-inheritance conflict — the “Nixon diamond” of the literature, in a delivery setting. The lab detects it rather than guessing."/>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2021550" y="1737360"/>
            <a:ext cx="8148594" cy="3740505"/>
          </a:xfrm>
          <a:prstGeom prst="rect">
            <a:avLst/>
          </a:prstGeom>
        </p:spPr>
      </p:pic>
      <p:sp>
        <p:nvSpPr>
          <p:cNvPr id="7" name="!!takebar">
            <a:extLst>
              <a:ext uri="{C183D7F6-B498-43B3-948B-1728B52AA6E4}">
                <adec:decorative xmlns:adec="http://schemas.microsoft.com/office/drawing/2017/decorative" val="1"/>
              </a:ext>
            </a:extLst>
          </p:cNvPr>
          <p:cNvSpPr/>
          <p:nvPr/>
        </p:nvSpPr>
        <p:spPr>
          <a:xfrm>
            <a:off x="658368" y="5660745"/>
            <a:ext cx="54864" cy="575462"/>
          </a:xfrm>
          <a:prstGeom prst="rect">
            <a:avLst/>
          </a:prstGeom>
          <a:solidFill>
            <a:srgbClr val="8E44A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8" name="!!take"/>
          <p:cNvSpPr txBox="1"/>
          <p:nvPr/>
        </p:nvSpPr>
        <p:spPr>
          <a:xfrm>
            <a:off x="877824" y="5642457"/>
            <a:ext cx="10600639" cy="758342"/>
          </a:xfrm>
          <a:prstGeom prst="rect">
            <a:avLst/>
          </a:prstGeom>
          <a:noFill/>
        </p:spPr>
        <p:txBody>
          <a:bodyPr wrap="square" anchor="t" lIns="0" rIns="0" tIns="0" bIns="0">
            <a:noAutofit/>
          </a:bodyPr>
          <a:lstStyle/>
          <a:p>
            <a:pPr algn="l">
              <a:lnSpc>
                <a:spcPct val="104000"/>
              </a:lnSpc>
              <a:spcBef>
                <a:spcPts val="0"/>
              </a:spcBef>
              <a:spcAft>
                <a:spcPts val="0"/>
              </a:spcAft>
            </a:pPr>
            <a:r>
              <a:rPr sz="1700" b="0" i="0">
                <a:solidFill>
                  <a:srgbClr val="3E4C57"/>
                </a:solidFill>
                <a:latin typeface="Segoe UI"/>
              </a:rPr>
              <a:t>A multiple-inheritance conflict — the “Nixon diamond” of the literature, in a delivery setting. The lab detects it rather than guessing.</a:t>
            </a:r>
          </a:p>
        </p:txBody>
      </p:sp>
      <p:sp>
        <p:nvSpPr>
          <p:cNvPr id="9"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0" name="!!pfill">
            <a:extLst>
              <a:ext uri="{C183D7F6-B498-43B3-948B-1728B52AA6E4}">
                <adec:decorative xmlns:adec="http://schemas.microsoft.com/office/drawing/2017/decorative" val="1"/>
              </a:ext>
            </a:extLst>
          </p:cNvPr>
          <p:cNvSpPr/>
          <p:nvPr/>
        </p:nvSpPr>
        <p:spPr>
          <a:xfrm>
            <a:off x="0" y="0"/>
            <a:ext cx="3118805" cy="54864"/>
          </a:xfrm>
          <a:prstGeom prst="rect">
            <a:avLst/>
          </a:prstGeom>
          <a:solidFill>
            <a:srgbClr val="8E44A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Requires="p14">
      <p:transition spd="med" p14:dur="450">
        <p:fade/>
      </p:transition>
    </mc:Choice>
    <mc:Fallback>
      <p:transition spd="med">
        <p:fade/>
      </p:transition>
    </mc:Fallback>
  </mc:AlternateContent>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3000" b="0">
                <a:solidFill>
                  <a:srgbClr val="1A5276"/>
                </a:solidFill>
                <a:latin typeface="Segoe UI Semibold"/>
              </a:rPr>
              <a:t>Ontologies</a:t>
            </a:r>
          </a:p>
        </p:txBody>
      </p:sp>
      <p:pic>
        <p:nvPicPr>
          <p:cNvPr id="3" name="!!kicker-icon" descr="quote-left-1A5276.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250077"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1A5276"/>
                </a:solidFill>
                <a:latin typeface="Segoe UI"/>
              </a:rPr>
              <a:t>KEY IDEA</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Artificial Intelligence  ·  Chapter 10  ·  Knowledge Representation</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§10.5  ·  Handout p. 104     </a:t>
            </a:r>
            <a:fld id="{33ADA4C9-4C87-4AC7-AE64-CA23DAD0374A}" type="slidenum">
              <a:rPr lang="en-GB" sz="1000">
                <a:solidFill>
                  <a:srgbClr val="8795A1"/>
                </a:solidFill>
                <a:latin typeface="Segoe UI"/>
              </a:rPr>
              <a:t>12</a:t>
            </a:fld>
          </a:p>
        </p:txBody>
      </p:sp>
      <p:sp>
        <p:nvSpPr>
          <p:cNvPr id="7" name="!!stbar">
            <a:extLst>
              <a:ext uri="{C183D7F6-B498-43B3-948B-1728B52AA6E4}">
                <adec:decorative xmlns:adec="http://schemas.microsoft.com/office/drawing/2017/decorative" val="1"/>
              </a:ext>
            </a:extLst>
          </p:cNvPr>
          <p:cNvSpPr/>
          <p:nvPr/>
        </p:nvSpPr>
        <p:spPr>
          <a:xfrm>
            <a:off x="658368" y="1810512"/>
            <a:ext cx="73152" cy="4250893"/>
          </a:xfrm>
          <a:prstGeom prst="rect">
            <a:avLst/>
          </a:prstGeom>
          <a:solidFill>
            <a:srgbClr val="8E44A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8" name="body-0"/>
          <p:cNvSpPr txBox="1"/>
          <p:nvPr/>
        </p:nvSpPr>
        <p:spPr>
          <a:xfrm>
            <a:off x="1042415" y="1792224"/>
            <a:ext cx="10417759" cy="1044244"/>
          </a:xfrm>
          <a:prstGeom prst="rect">
            <a:avLst/>
          </a:prstGeom>
          <a:noFill/>
        </p:spPr>
        <p:txBody>
          <a:bodyPr wrap="square" anchor="t" lIns="0" rIns="0" tIns="0" bIns="0">
            <a:noAutofit/>
          </a:bodyPr>
          <a:lstStyle/>
          <a:p>
            <a:pPr algn="l">
              <a:lnSpc>
                <a:spcPct val="104000"/>
              </a:lnSpc>
              <a:spcBef>
                <a:spcPts val="0"/>
              </a:spcBef>
              <a:spcAft>
                <a:spcPts val="0"/>
              </a:spcAft>
            </a:pPr>
            <a:r>
              <a:rPr sz="2100" b="0" i="0">
                <a:solidFill>
                  <a:srgbClr val="1C252B"/>
                </a:solidFill>
                <a:latin typeface="Segoe UI"/>
              </a:rPr>
              <a:t>An </a:t>
            </a:r>
            <a:r>
              <a:rPr sz="2100" b="1" i="0">
                <a:solidFill>
                  <a:srgbClr val="1A5276"/>
                </a:solidFill>
                <a:latin typeface="Segoe UI"/>
              </a:rPr>
              <a:t>ontology</a:t>
            </a:r>
            <a:r>
              <a:rPr sz="2100" b="0" i="0">
                <a:solidFill>
                  <a:srgbClr val="1C252B"/>
                </a:solidFill>
                <a:latin typeface="Segoe UI"/>
              </a:rPr>
              <a:t> is a semantic network taken seriously: a shared, formal vocabulary of the types in a domain, their relations, and the constraints on them, agreed across an organisation rather than invented per system.</a:t>
            </a:r>
          </a:p>
        </p:txBody>
      </p:sp>
      <p:sp>
        <p:nvSpPr>
          <p:cNvPr id="9" name="body-1"/>
          <p:cNvSpPr txBox="1"/>
          <p:nvPr/>
        </p:nvSpPr>
        <p:spPr>
          <a:xfrm>
            <a:off x="1042415" y="2937433"/>
            <a:ext cx="10417759" cy="1709928"/>
          </a:xfrm>
          <a:prstGeom prst="rect">
            <a:avLst/>
          </a:prstGeom>
          <a:noFill/>
        </p:spPr>
        <p:txBody>
          <a:bodyPr wrap="square" anchor="t" lIns="0" rIns="0" tIns="0" bIns="0">
            <a:noAutofit/>
          </a:bodyPr>
          <a:lstStyle/>
          <a:p>
            <a:pPr algn="l">
              <a:lnSpc>
                <a:spcPct val="104000"/>
              </a:lnSpc>
              <a:spcBef>
                <a:spcPts val="0"/>
              </a:spcBef>
              <a:spcAft>
                <a:spcPts val="0"/>
              </a:spcAft>
            </a:pPr>
            <a:r>
              <a:rPr sz="2100" b="0" i="0">
                <a:solidFill>
                  <a:srgbClr val="1C252B"/>
                </a:solidFill>
                <a:latin typeface="Segoe UI"/>
              </a:rPr>
              <a:t>The value is not the graph; it is the </a:t>
            </a:r>
            <a:r>
              <a:rPr sz="2100" b="0" i="1">
                <a:solidFill>
                  <a:srgbClr val="1C252B"/>
                </a:solidFill>
                <a:latin typeface="Segoe UI"/>
              </a:rPr>
              <a:t>agreement</a:t>
            </a:r>
            <a:r>
              <a:rPr sz="2100" b="0" i="0">
                <a:solidFill>
                  <a:srgbClr val="1C252B"/>
                </a:solidFill>
                <a:latin typeface="Segoe UI"/>
              </a:rPr>
              <a:t>. When the delivery tool, the incident tool and the finance system all mean the same thing by “release”, a query can cross them. When they do not, the integration work is endless and the reports disagree. Most of the practical benefit of ontologies in industry comes from that, and not from the inference.</a:t>
            </a:r>
          </a:p>
        </p:txBody>
      </p:sp>
      <p:sp>
        <p:nvSpPr>
          <p:cNvPr id="10" name="body-2"/>
          <p:cNvSpPr txBox="1"/>
          <p:nvPr/>
        </p:nvSpPr>
        <p:spPr>
          <a:xfrm>
            <a:off x="1042415" y="4748326"/>
            <a:ext cx="10417759" cy="1377086"/>
          </a:xfrm>
          <a:prstGeom prst="rect">
            <a:avLst/>
          </a:prstGeom>
          <a:noFill/>
        </p:spPr>
        <p:txBody>
          <a:bodyPr wrap="square" anchor="t" lIns="0" rIns="0" tIns="0" bIns="0">
            <a:noAutofit/>
          </a:bodyPr>
          <a:lstStyle/>
          <a:p>
            <a:pPr algn="l">
              <a:lnSpc>
                <a:spcPct val="104000"/>
              </a:lnSpc>
              <a:spcBef>
                <a:spcPts val="0"/>
              </a:spcBef>
              <a:spcAft>
                <a:spcPts val="0"/>
              </a:spcAft>
            </a:pPr>
            <a:r>
              <a:rPr sz="2100" b="0" i="0">
                <a:solidFill>
                  <a:srgbClr val="1C252B"/>
                </a:solidFill>
                <a:latin typeface="Segoe UI"/>
              </a:rPr>
              <a:t>Formally, an ontology commits to answers for questions a semantic network leaves open: is </a:t>
            </a:r>
            <a:r>
              <a:rPr sz="1950" b="0" i="0">
                <a:solidFill>
                  <a:srgbClr val="1F4E79"/>
                </a:solidFill>
                <a:latin typeface="Consolas"/>
              </a:rPr>
              <a:t>is-a</a:t>
            </a:r>
            <a:r>
              <a:rPr sz="2100" b="0" i="0">
                <a:solidFill>
                  <a:srgbClr val="1C252B"/>
                </a:solidFill>
                <a:latin typeface="Segoe UI"/>
              </a:rPr>
              <a:t> transitive (yes), can an individual belong to two classes (usually yes), can a class be an individual, what makes two individuals identical. Those are </a:t>
            </a:r>
            <a:r>
              <a:rPr sz="2100" b="1" i="0">
                <a:solidFill>
                  <a:srgbClr val="1A5276"/>
                </a:solidFill>
                <a:latin typeface="Segoe UI"/>
              </a:rPr>
              <a:t>ontological commitments</a:t>
            </a:r>
            <a:r>
              <a:rPr sz="2100" b="0" i="0">
                <a:solidFill>
                  <a:srgbClr val="1C252B"/>
                </a:solidFill>
                <a:latin typeface="Segoe UI"/>
              </a:rPr>
              <a:t>, and writing them down is most of the work.</a:t>
            </a:r>
          </a:p>
        </p:txBody>
      </p:sp>
      <p:sp>
        <p:nvSpPr>
          <p:cNvPr id="14"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5" name="!!pfill">
            <a:extLst>
              <a:ext uri="{C183D7F6-B498-43B3-948B-1728B52AA6E4}">
                <adec:decorative xmlns:adec="http://schemas.microsoft.com/office/drawing/2017/decorative" val="1"/>
              </a:ext>
            </a:extLst>
          </p:cNvPr>
          <p:cNvSpPr/>
          <p:nvPr/>
        </p:nvSpPr>
        <p:spPr>
          <a:xfrm>
            <a:off x="0" y="0"/>
            <a:ext cx="3402333" cy="54864"/>
          </a:xfrm>
          <a:prstGeom prst="rect">
            <a:avLst/>
          </a:prstGeom>
          <a:solidFill>
            <a:srgbClr val="8E44A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Requires="p14">
      <p:transition spd="med" p14:dur="450">
        <p:fade/>
      </p:transition>
    </mc:Choice>
    <mc:Fallback>
      <p:transition spd="med">
        <p:fade/>
      </p:transition>
    </mc:Fallback>
  </mc:AlternateContent>
  <p:timing>
    <p:tnLst>
      <p:par>
        <p:cTn id="2" dur="indefinite" restart="never" nodeType="tmRoot">
          <p:childTnLst>
            <p:seq concurrent="1" nextAc="seek">
              <p:cTn id="3" dur="indefinite" nodeType="mainSeq">
                <p:childTnLst>
                  <p:par>
                    <p:cTn id="4" fill="hold">
                      <p:stCondLst>
                        <p:cond delay="indefinite"/>
                      </p:stCondLst>
                      <p:childTnLst>
                        <p:par>
                          <p:cTn id="5" fill="hold">
                            <p:stCondLst>
                              <p:cond delay="0"/>
                            </p:stCondLst>
                            <p:childTnLst>
                              <p:par>
                                <p:cTn id="6" presetID="10" presetClass="entr" presetSubtype="0" fill="hold" grpId="0" nodeType="clickEffect">
                                  <p:stCondLst>
                                    <p:cond delay="0"/>
                                  </p:stCondLst>
                                  <p:childTnLst>
                                    <p:set>
                                      <p:cBhvr>
                                        <p:cTn id="7" dur="1" fill="hold">
                                          <p:stCondLst>
                                            <p:cond delay="0"/>
                                          </p:stCondLst>
                                        </p:cTn>
                                        <p:tgtEl>
                                          <p:spTgt spid="9"/>
                                        </p:tgtEl>
                                        <p:attrNameLst>
                                          <p:attrName>style.visibility</p:attrName>
                                        </p:attrNameLst>
                                      </p:cBhvr>
                                      <p:to>
                                        <p:strVal val="visible"/>
                                      </p:to>
                                    </p:set>
                                    <p:animEffect transition="in" filter="fade">
                                      <p:cBhvr>
                                        <p:cTn id="8" dur="450"/>
                                        <p:tgtEl>
                                          <p:spTgt spid="9"/>
                                        </p:tgtEl>
                                      </p:cBhvr>
                                    </p:animEffect>
                                  </p:childTnLst>
                                </p:cTn>
                              </p:par>
                            </p:childTnLst>
                          </p:cTn>
                        </p:par>
                      </p:childTnLst>
                    </p:cTn>
                  </p:par>
                  <p:par>
                    <p:cTn id="9" fill="hold">
                      <p:stCondLst>
                        <p:cond delay="indefinite"/>
                      </p:stCondLst>
                      <p:childTnLst>
                        <p:par>
                          <p:cTn id="10" fill="hold">
                            <p:stCondLst>
                              <p:cond delay="0"/>
                            </p:stCondLst>
                            <p:childTnLst>
                              <p:par>
                                <p:cTn id="11" presetID="10" presetClass="entr" presetSubtype="0" fill="hold" grpId="0" nodeType="clickEffect">
                                  <p:stCondLst>
                                    <p:cond delay="0"/>
                                  </p:stCondLst>
                                  <p:childTnLst>
                                    <p:set>
                                      <p:cBhvr>
                                        <p:cTn id="12" dur="1" fill="hold">
                                          <p:stCondLst>
                                            <p:cond delay="0"/>
                                          </p:stCondLst>
                                        </p:cTn>
                                        <p:tgtEl>
                                          <p:spTgt spid="10"/>
                                        </p:tgtEl>
                                        <p:attrNameLst>
                                          <p:attrName>style.visibility</p:attrName>
                                        </p:attrNameLst>
                                      </p:cBhvr>
                                      <p:to>
                                        <p:strVal val="visible"/>
                                      </p:to>
                                    </p:set>
                                    <p:animEffect transition="in" filter="fade">
                                      <p:cBhvr>
                                        <p:cTn id="13" dur="450"/>
                                        <p:tgtEl>
                                          <p:spTgt spid="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3000" b="0">
                <a:solidFill>
                  <a:srgbClr val="1A5276"/>
                </a:solidFill>
                <a:latin typeface="Segoe UI Semibold"/>
              </a:rPr>
              <a:t>Answering four queries by inheritance</a:t>
            </a:r>
          </a:p>
        </p:txBody>
      </p:sp>
      <p:pic>
        <p:nvPicPr>
          <p:cNvPr id="3" name="!!kicker-icon" descr="calculator-B7950B.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193146"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B7950B"/>
                </a:solidFill>
                <a:latin typeface="Segoe UI"/>
              </a:rPr>
              <a:t>WORKED EXAMPLE</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Artificial Intelligence  ·  Chapter 10  ·  Knowledge Representation</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§10.6  ·  Handout p. 104     </a:t>
            </a:r>
            <a:fld id="{FD414224-49AB-4077-B627-52F5E4BD78EF}" type="slidenum">
              <a:rPr lang="en-GB" sz="1000">
                <a:solidFill>
                  <a:srgbClr val="8795A1"/>
                </a:solidFill>
                <a:latin typeface="Segoe UI"/>
              </a:rPr>
              <a:t>13</a:t>
            </a:fld>
          </a:p>
        </p:txBody>
      </p:sp>
      <p:sp>
        <p:nvSpPr>
          <p:cNvPr id="7" name="!!card">
            <a:extLst>
              <a:ext uri="{C183D7F6-B498-43B3-948B-1728B52AA6E4}">
                <adec:decorative xmlns:adec="http://schemas.microsoft.com/office/drawing/2017/decorative" val="1"/>
              </a:ext>
            </a:extLst>
          </p:cNvPr>
          <p:cNvSpPr/>
          <p:nvPr/>
        </p:nvSpPr>
        <p:spPr>
          <a:xfrm>
            <a:off x="658368" y="1737360"/>
            <a:ext cx="10874959" cy="4440809"/>
          </a:xfrm>
          <a:prstGeom prst="roundRect">
            <a:avLst>
              <a:gd name="adj" fmla="val 2059"/>
            </a:avLst>
          </a:prstGeom>
          <a:solidFill>
            <a:srgbClr val="FBF8EC"/>
          </a:solidFill>
          <a:ln>
            <a:noFill/>
          </a:ln>
          <a:effectLst>
            <a:outerShdw blurRad="127000" dist="25400" dir="5400000" algn="t" rotWithShape="0">
              <a:srgbClr val="1C252B">
                <a:alpha val="10000"/>
              </a:srgbClr>
            </a:outerShdw>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8" name="!!cardrule">
            <a:extLst>
              <a:ext uri="{C183D7F6-B498-43B3-948B-1728B52AA6E4}">
                <adec:decorative xmlns:adec="http://schemas.microsoft.com/office/drawing/2017/decorative" val="1"/>
              </a:ext>
            </a:extLst>
          </p:cNvPr>
          <p:cNvSpPr/>
          <p:nvPr/>
        </p:nvSpPr>
        <p:spPr>
          <a:xfrm>
            <a:off x="658368" y="1737360"/>
            <a:ext cx="82296" cy="4440809"/>
          </a:xfrm>
          <a:prstGeom prst="rect">
            <a:avLst/>
          </a:prstGeom>
          <a:solidFill>
            <a:srgbClr val="B7950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9" name="body-0"/>
          <p:cNvSpPr txBox="1"/>
          <p:nvPr/>
        </p:nvSpPr>
        <p:spPr>
          <a:xfrm>
            <a:off x="1042416" y="2011679"/>
            <a:ext cx="10234879" cy="346862"/>
          </a:xfrm>
          <a:prstGeom prst="rect">
            <a:avLst/>
          </a:prstGeom>
          <a:noFill/>
        </p:spPr>
        <p:txBody>
          <a:bodyPr wrap="square" anchor="t" lIns="0" rIns="0" tIns="0" bIns="0">
            <a:noAutofit/>
          </a:bodyPr>
          <a:lstStyle/>
          <a:p>
            <a:pPr algn="l">
              <a:lnSpc>
                <a:spcPct val="104000"/>
              </a:lnSpc>
              <a:spcBef>
                <a:spcPts val="0"/>
              </a:spcBef>
              <a:spcAft>
                <a:spcPts val="0"/>
              </a:spcAft>
            </a:pPr>
            <a:r>
              <a:rPr sz="1900" b="0" i="0">
                <a:solidFill>
                  <a:srgbClr val="1C252B"/>
                </a:solidFill>
                <a:latin typeface="Segoe UI"/>
              </a:rPr>
              <a:t>Using the frames of the examplebox and the conflict of Figure 10.2.</a:t>
            </a:r>
          </a:p>
        </p:txBody>
      </p:sp>
      <p:sp>
        <p:nvSpPr>
          <p:cNvPr id="10" name="body-1"/>
          <p:cNvSpPr txBox="1"/>
          <p:nvPr/>
        </p:nvSpPr>
        <p:spPr>
          <a:xfrm>
            <a:off x="1042416" y="2445537"/>
            <a:ext cx="10234879" cy="346862"/>
          </a:xfrm>
          <a:prstGeom prst="rect">
            <a:avLst/>
          </a:prstGeom>
          <a:noFill/>
        </p:spPr>
        <p:txBody>
          <a:bodyPr wrap="square" anchor="t" lIns="0" rIns="0" tIns="0" bIns="0">
            <a:noAutofit/>
          </a:bodyPr>
          <a:lstStyle/>
          <a:p>
            <a:pPr algn="l">
              <a:lnSpc>
                <a:spcPct val="104000"/>
              </a:lnSpc>
              <a:spcBef>
                <a:spcPts val="0"/>
              </a:spcBef>
              <a:spcAft>
                <a:spcPts val="0"/>
              </a:spcAft>
            </a:pPr>
            <a:r>
              <a:rPr sz="1900" b="1" i="0">
                <a:solidFill>
                  <a:srgbClr val="7D6608"/>
                </a:solidFill>
                <a:latin typeface="Segoe UI"/>
              </a:rPr>
              <a:t>Query 1: </a:t>
            </a:r>
            <a:r>
              <a:rPr sz="1800" b="1" i="0">
                <a:solidFill>
                  <a:srgbClr val="1F4E79"/>
                </a:solidFill>
                <a:latin typeface="Consolas"/>
              </a:rPr>
              <a:t>Release 4.7 . regression-pass</a:t>
            </a:r>
          </a:p>
        </p:txBody>
      </p:sp>
      <p:sp>
        <p:nvSpPr>
          <p:cNvPr id="11" name="body-2"/>
          <p:cNvSpPr txBox="1"/>
          <p:nvPr/>
        </p:nvSpPr>
        <p:spPr>
          <a:xfrm>
            <a:off x="1042416" y="2879394"/>
            <a:ext cx="10234879" cy="732459"/>
          </a:xfrm>
          <a:prstGeom prst="rect">
            <a:avLst/>
          </a:prstGeom>
          <a:noFill/>
        </p:spPr>
        <p:txBody>
          <a:bodyPr wrap="square" anchor="t" lIns="0" rIns="0" tIns="0" bIns="0">
            <a:noAutofit/>
          </a:bodyPr>
          <a:lstStyle/>
          <a:p>
            <a:pPr algn="l" marL="212450" indent="-212450">
              <a:lnSpc>
                <a:spcPct val="104000"/>
              </a:lnSpc>
              <a:spcBef>
                <a:spcPts val="0"/>
              </a:spcBef>
              <a:spcAft>
                <a:spcPts val="665"/>
              </a:spcAft>
            </a:pPr>
            <a:r>
              <a:rPr sz="1900" b="1">
                <a:solidFill>
                  <a:srgbClr val="7D6608"/>
                </a:solidFill>
                <a:latin typeface="Segoe UI"/>
              </a:rPr>
              <a:t>•	</a:t>
            </a:r>
            <a:r>
              <a:rPr sz="1800" b="0" i="0">
                <a:solidFill>
                  <a:srgbClr val="1F4E79"/>
                </a:solidFill>
                <a:latin typeface="Consolas"/>
              </a:rPr>
              <a:t>Release 4.7</a:t>
            </a:r>
            <a:r>
              <a:rPr sz="1900" b="0" i="0">
                <a:solidFill>
                  <a:srgbClr val="1C252B"/>
                </a:solidFill>
                <a:latin typeface="Segoe UI"/>
              </a:rPr>
              <a:t>: no local slot. Follow </a:t>
            </a:r>
            <a:r>
              <a:rPr sz="1800" b="0" i="0">
                <a:solidFill>
                  <a:srgbClr val="1F4E79"/>
                </a:solidFill>
                <a:latin typeface="Consolas"/>
              </a:rPr>
              <a:t>instance-of</a:t>
            </a:r>
            <a:r>
              <a:rPr sz="1900" b="0" i="0">
                <a:solidFill>
                  <a:srgbClr val="1C252B"/>
                </a:solidFill>
                <a:latin typeface="Segoe UI"/>
              </a:rPr>
              <a:t> to </a:t>
            </a:r>
            <a:r>
              <a:rPr sz="1800" b="0" i="0">
                <a:solidFill>
                  <a:srgbClr val="1F4E79"/>
                </a:solidFill>
                <a:latin typeface="Consolas"/>
              </a:rPr>
              <a:t>Hotfix</a:t>
            </a:r>
            <a:r>
              <a:rPr sz="1900" b="0" i="0">
                <a:solidFill>
                  <a:srgbClr val="1C252B"/>
                </a:solidFill>
                <a:latin typeface="Segoe UI"/>
              </a:rPr>
              <a:t>.</a:t>
            </a:r>
          </a:p>
          <a:p>
            <a:pPr algn="l" marL="212450" indent="-212450">
              <a:lnSpc>
                <a:spcPct val="104000"/>
              </a:lnSpc>
              <a:spcBef>
                <a:spcPts val="0"/>
              </a:spcBef>
              <a:spcAft>
                <a:spcPts val="0"/>
              </a:spcAft>
            </a:pPr>
            <a:r>
              <a:rPr sz="1900" b="1">
                <a:solidFill>
                  <a:srgbClr val="7D6608"/>
                </a:solidFill>
                <a:latin typeface="Segoe UI"/>
              </a:rPr>
              <a:t>•	</a:t>
            </a:r>
            <a:r>
              <a:rPr sz="1800" b="0" i="0">
                <a:solidFill>
                  <a:srgbClr val="1F4E79"/>
                </a:solidFill>
                <a:latin typeface="Consolas"/>
              </a:rPr>
              <a:t>Hotfix</a:t>
            </a:r>
            <a:r>
              <a:rPr sz="1900" b="0" i="0">
                <a:solidFill>
                  <a:srgbClr val="1C252B"/>
                </a:solidFill>
                <a:latin typeface="Segoe UI"/>
              </a:rPr>
              <a:t>: </a:t>
            </a:r>
            <a:r>
              <a:rPr sz="1800" b="0" i="0">
                <a:solidFill>
                  <a:srgbClr val="1F4E79"/>
                </a:solidFill>
                <a:latin typeface="Consolas"/>
              </a:rPr>
              <a:t>regression-pass = smoke</a:t>
            </a:r>
            <a:r>
              <a:rPr sz="1900" b="0" i="0">
                <a:solidFill>
                  <a:srgbClr val="1C252B"/>
                </a:solidFill>
                <a:latin typeface="Segoe UI"/>
              </a:rPr>
              <a:t>. </a:t>
            </a:r>
            <a:r>
              <a:rPr sz="1900" b="1" i="0">
                <a:solidFill>
                  <a:srgbClr val="1C252B"/>
                </a:solidFill>
                <a:latin typeface="Segoe UI"/>
              </a:rPr>
              <a:t>Stop.</a:t>
            </a:r>
          </a:p>
        </p:txBody>
      </p:sp>
      <p:sp>
        <p:nvSpPr>
          <p:cNvPr id="12" name="body-3"/>
          <p:cNvSpPr txBox="1"/>
          <p:nvPr/>
        </p:nvSpPr>
        <p:spPr>
          <a:xfrm>
            <a:off x="1042416" y="3698849"/>
            <a:ext cx="10234879" cy="648004"/>
          </a:xfrm>
          <a:prstGeom prst="rect">
            <a:avLst/>
          </a:prstGeom>
          <a:noFill/>
        </p:spPr>
        <p:txBody>
          <a:bodyPr wrap="square" anchor="t" lIns="0" rIns="0" tIns="0" bIns="0">
            <a:noAutofit/>
          </a:bodyPr>
          <a:lstStyle/>
          <a:p>
            <a:pPr algn="l">
              <a:lnSpc>
                <a:spcPct val="104000"/>
              </a:lnSpc>
              <a:spcBef>
                <a:spcPts val="0"/>
              </a:spcBef>
              <a:spcAft>
                <a:spcPts val="0"/>
              </a:spcAft>
            </a:pPr>
            <a:r>
              <a:rPr sz="1900" b="1" i="0">
                <a:solidFill>
                  <a:srgbClr val="7D6608"/>
                </a:solidFill>
                <a:latin typeface="Segoe UI"/>
              </a:rPr>
              <a:t>Answer: </a:t>
            </a:r>
            <a:r>
              <a:rPr sz="1800" b="1" i="0">
                <a:solidFill>
                  <a:srgbClr val="1F4E79"/>
                </a:solidFill>
                <a:latin typeface="Consolas"/>
              </a:rPr>
              <a:t>smoke</a:t>
            </a:r>
            <a:r>
              <a:rPr sz="1900" b="0" i="0">
                <a:solidFill>
                  <a:srgbClr val="1C252B"/>
                </a:solidFill>
                <a:latin typeface="Segoe UI"/>
              </a:rPr>
              <a:t>, inherited from </a:t>
            </a:r>
            <a:r>
              <a:rPr sz="1800" b="0" i="0">
                <a:solidFill>
                  <a:srgbClr val="1F4E79"/>
                </a:solidFill>
                <a:latin typeface="Consolas"/>
              </a:rPr>
              <a:t>Hotfix</a:t>
            </a:r>
            <a:r>
              <a:rPr sz="1900" b="0" i="0">
                <a:solidFill>
                  <a:srgbClr val="1C252B"/>
                </a:solidFill>
                <a:latin typeface="Segoe UI"/>
              </a:rPr>
              <a:t>. Note that </a:t>
            </a:r>
            <a:r>
              <a:rPr sz="1800" b="0" i="0">
                <a:solidFill>
                  <a:srgbClr val="1F4E79"/>
                </a:solidFill>
                <a:latin typeface="Consolas"/>
              </a:rPr>
              <a:t>Release</a:t>
            </a:r>
            <a:r>
              <a:rPr sz="1900" b="0" i="0">
                <a:solidFill>
                  <a:srgbClr val="1C252B"/>
                </a:solidFill>
                <a:latin typeface="Segoe UI"/>
              </a:rPr>
              <a:t> says </a:t>
            </a:r>
            <a:r>
              <a:rPr sz="1800" b="0" i="0">
                <a:solidFill>
                  <a:srgbClr val="1F4E79"/>
                </a:solidFill>
                <a:latin typeface="Consolas"/>
              </a:rPr>
              <a:t>full</a:t>
            </a:r>
            <a:r>
              <a:rPr sz="1900" b="0" i="0">
                <a:solidFill>
                  <a:srgbClr val="1C252B"/>
                </a:solidFill>
                <a:latin typeface="Segoe UI"/>
              </a:rPr>
              <a:t> and is never consulted — the search stops at the first hit, which is what “most specific wins” means operationally.</a:t>
            </a:r>
          </a:p>
        </p:txBody>
      </p:sp>
      <p:sp>
        <p:nvSpPr>
          <p:cNvPr id="13" name="body-3bar">
            <a:extLst>
              <a:ext uri="{C183D7F6-B498-43B3-948B-1728B52AA6E4}">
                <adec:decorative xmlns:adec="http://schemas.microsoft.com/office/drawing/2017/decorative" val="1"/>
              </a:ext>
            </a:extLst>
          </p:cNvPr>
          <p:cNvSpPr/>
          <p:nvPr/>
        </p:nvSpPr>
        <p:spPr>
          <a:xfrm>
            <a:off x="841248" y="3717137"/>
            <a:ext cx="54864" cy="583996"/>
          </a:xfrm>
          <a:prstGeom prst="rect">
            <a:avLst/>
          </a:prstGeom>
          <a:solidFill>
            <a:srgbClr val="B7950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4" name="body-4"/>
          <p:cNvSpPr txBox="1"/>
          <p:nvPr/>
        </p:nvSpPr>
        <p:spPr>
          <a:xfrm>
            <a:off x="1042416" y="4433849"/>
            <a:ext cx="10234879" cy="346862"/>
          </a:xfrm>
          <a:prstGeom prst="rect">
            <a:avLst/>
          </a:prstGeom>
          <a:noFill/>
        </p:spPr>
        <p:txBody>
          <a:bodyPr wrap="square" anchor="t" lIns="0" rIns="0" tIns="0" bIns="0">
            <a:noAutofit/>
          </a:bodyPr>
          <a:lstStyle/>
          <a:p>
            <a:pPr algn="l">
              <a:lnSpc>
                <a:spcPct val="104000"/>
              </a:lnSpc>
              <a:spcBef>
                <a:spcPts val="0"/>
              </a:spcBef>
              <a:spcAft>
                <a:spcPts val="0"/>
              </a:spcAft>
            </a:pPr>
            <a:r>
              <a:rPr sz="1900" b="1" i="0">
                <a:solidFill>
                  <a:srgbClr val="7D6608"/>
                </a:solidFill>
                <a:latin typeface="Segoe UI"/>
              </a:rPr>
              <a:t>Query 2: </a:t>
            </a:r>
            <a:r>
              <a:rPr sz="1800" b="1" i="0">
                <a:solidFill>
                  <a:srgbClr val="1F4E79"/>
                </a:solidFill>
                <a:latin typeface="Consolas"/>
              </a:rPr>
              <a:t>Release 4.7 . needs-signoff</a:t>
            </a:r>
            <a:r>
              <a:rPr sz="1900" b="0" i="0">
                <a:solidFill>
                  <a:srgbClr val="1C252B"/>
                </a:solidFill>
                <a:latin typeface="Segoe UI"/>
              </a:rPr>
              <a:t> (ignoring the second parent for the moment)</a:t>
            </a:r>
          </a:p>
        </p:txBody>
      </p:sp>
      <p:sp>
        <p:nvSpPr>
          <p:cNvPr id="15" name="body-4bar">
            <a:extLst>
              <a:ext uri="{C183D7F6-B498-43B3-948B-1728B52AA6E4}">
                <adec:decorative xmlns:adec="http://schemas.microsoft.com/office/drawing/2017/decorative" val="1"/>
              </a:ext>
            </a:extLst>
          </p:cNvPr>
          <p:cNvSpPr/>
          <p:nvPr/>
        </p:nvSpPr>
        <p:spPr>
          <a:xfrm>
            <a:off x="841248" y="4452137"/>
            <a:ext cx="54864" cy="282854"/>
          </a:xfrm>
          <a:prstGeom prst="rect">
            <a:avLst/>
          </a:prstGeom>
          <a:solidFill>
            <a:srgbClr val="B7950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6" name="body-5"/>
          <p:cNvSpPr txBox="1"/>
          <p:nvPr/>
        </p:nvSpPr>
        <p:spPr>
          <a:xfrm>
            <a:off x="1042416" y="4867706"/>
            <a:ext cx="10234879" cy="346862"/>
          </a:xfrm>
          <a:prstGeom prst="rect">
            <a:avLst/>
          </a:prstGeom>
          <a:noFill/>
        </p:spPr>
        <p:txBody>
          <a:bodyPr wrap="square" anchor="t" lIns="0" rIns="0" tIns="0" bIns="0">
            <a:noAutofit/>
          </a:bodyPr>
          <a:lstStyle/>
          <a:p>
            <a:pPr algn="l" marL="212450" indent="-212450">
              <a:lnSpc>
                <a:spcPct val="104000"/>
              </a:lnSpc>
              <a:spcBef>
                <a:spcPts val="0"/>
              </a:spcBef>
              <a:spcAft>
                <a:spcPts val="0"/>
              </a:spcAft>
            </a:pPr>
            <a:r>
              <a:rPr sz="1900" b="1">
                <a:solidFill>
                  <a:srgbClr val="7D6608"/>
                </a:solidFill>
                <a:latin typeface="Segoe UI"/>
              </a:rPr>
              <a:t>•	</a:t>
            </a:r>
            <a:r>
              <a:rPr sz="1800" b="0" i="0">
                <a:solidFill>
                  <a:srgbClr val="1F4E79"/>
                </a:solidFill>
                <a:latin typeface="Consolas"/>
              </a:rPr>
              <a:t>Release 4.7</a:t>
            </a:r>
            <a:r>
              <a:rPr sz="1900" b="0" i="0">
                <a:solidFill>
                  <a:srgbClr val="1C252B"/>
                </a:solidFill>
                <a:latin typeface="Segoe UI"/>
              </a:rPr>
              <a:t>: nothing. </a:t>
            </a:r>
            <a:r>
              <a:rPr sz="1800" b="0" i="0">
                <a:solidFill>
                  <a:srgbClr val="1F4E79"/>
                </a:solidFill>
                <a:latin typeface="Consolas"/>
              </a:rPr>
              <a:t>Hotfix</a:t>
            </a:r>
            <a:r>
              <a:rPr sz="1900" b="0" i="0">
                <a:solidFill>
                  <a:srgbClr val="1C252B"/>
                </a:solidFill>
                <a:latin typeface="Segoe UI"/>
              </a:rPr>
              <a:t>: nothing. </a:t>
            </a:r>
            <a:r>
              <a:rPr sz="1800" b="0" i="0">
                <a:solidFill>
                  <a:srgbClr val="1F4E79"/>
                </a:solidFill>
                <a:latin typeface="Consolas"/>
              </a:rPr>
              <a:t>Release</a:t>
            </a:r>
            <a:r>
              <a:rPr sz="1900" b="0" i="0">
                <a:solidFill>
                  <a:srgbClr val="1C252B"/>
                </a:solidFill>
                <a:latin typeface="Segoe UI"/>
              </a:rPr>
              <a:t>: </a:t>
            </a:r>
            <a:r>
              <a:rPr sz="1800" b="0" i="0">
                <a:solidFill>
                  <a:srgbClr val="1F4E79"/>
                </a:solidFill>
                <a:latin typeface="Consolas"/>
              </a:rPr>
              <a:t>yes</a:t>
            </a:r>
            <a:r>
              <a:rPr sz="1900" b="0" i="0">
                <a:solidFill>
                  <a:srgbClr val="1C252B"/>
                </a:solidFill>
                <a:latin typeface="Segoe UI"/>
              </a:rPr>
              <a:t>. </a:t>
            </a:r>
            <a:r>
              <a:rPr sz="1900" b="1" i="0">
                <a:solidFill>
                  <a:srgbClr val="1C252B"/>
                </a:solidFill>
                <a:latin typeface="Segoe UI"/>
              </a:rPr>
              <a:t>Stop.</a:t>
            </a:r>
          </a:p>
        </p:txBody>
      </p:sp>
      <p:sp>
        <p:nvSpPr>
          <p:cNvPr id="17" name="body-6"/>
          <p:cNvSpPr txBox="1"/>
          <p:nvPr/>
        </p:nvSpPr>
        <p:spPr>
          <a:xfrm>
            <a:off x="1042416" y="5301564"/>
            <a:ext cx="10234879" cy="648004"/>
          </a:xfrm>
          <a:prstGeom prst="rect">
            <a:avLst/>
          </a:prstGeom>
          <a:noFill/>
        </p:spPr>
        <p:txBody>
          <a:bodyPr wrap="square" anchor="t" lIns="0" rIns="0" tIns="0" bIns="0">
            <a:noAutofit/>
          </a:bodyPr>
          <a:lstStyle/>
          <a:p>
            <a:pPr algn="l">
              <a:lnSpc>
                <a:spcPct val="104000"/>
              </a:lnSpc>
              <a:spcBef>
                <a:spcPts val="0"/>
              </a:spcBef>
              <a:spcAft>
                <a:spcPts val="0"/>
              </a:spcAft>
            </a:pPr>
            <a:r>
              <a:rPr sz="1900" b="1" i="0">
                <a:solidFill>
                  <a:srgbClr val="7D6608"/>
                </a:solidFill>
                <a:latin typeface="Segoe UI"/>
              </a:rPr>
              <a:t>Answer: </a:t>
            </a:r>
            <a:r>
              <a:rPr sz="1800" b="1" i="0">
                <a:solidFill>
                  <a:srgbClr val="1F4E79"/>
                </a:solidFill>
                <a:latin typeface="Consolas"/>
              </a:rPr>
              <a:t>yes</a:t>
            </a:r>
            <a:r>
              <a:rPr sz="1900" b="0" i="0">
                <a:solidFill>
                  <a:srgbClr val="1C252B"/>
                </a:solidFill>
                <a:latin typeface="Segoe UI"/>
              </a:rPr>
              <a:t>, inherited from two levels up. The same walk answered both queries; only the depth at which it stopped differed.</a:t>
            </a:r>
          </a:p>
        </p:txBody>
      </p:sp>
      <p:sp>
        <p:nvSpPr>
          <p:cNvPr id="18" name="body-6bar">
            <a:extLst>
              <a:ext uri="{C183D7F6-B498-43B3-948B-1728B52AA6E4}">
                <adec:decorative xmlns:adec="http://schemas.microsoft.com/office/drawing/2017/decorative" val="1"/>
              </a:ext>
            </a:extLst>
          </p:cNvPr>
          <p:cNvSpPr/>
          <p:nvPr/>
        </p:nvSpPr>
        <p:spPr>
          <a:xfrm>
            <a:off x="841248" y="5319852"/>
            <a:ext cx="54864" cy="583996"/>
          </a:xfrm>
          <a:prstGeom prst="rect">
            <a:avLst/>
          </a:prstGeom>
          <a:solidFill>
            <a:srgbClr val="B7950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8"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9" name="!!pfill">
            <a:extLst>
              <a:ext uri="{C183D7F6-B498-43B3-948B-1728B52AA6E4}">
                <adec:decorative xmlns:adec="http://schemas.microsoft.com/office/drawing/2017/decorative" val="1"/>
              </a:ext>
            </a:extLst>
          </p:cNvPr>
          <p:cNvSpPr/>
          <p:nvPr/>
        </p:nvSpPr>
        <p:spPr>
          <a:xfrm>
            <a:off x="0" y="0"/>
            <a:ext cx="3685861" cy="54864"/>
          </a:xfrm>
          <a:prstGeom prst="rect">
            <a:avLst/>
          </a:prstGeom>
          <a:solidFill>
            <a:srgbClr val="8E44A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Requires="p14">
      <p:transition spd="med" p14:dur="450">
        <p:fade/>
      </p:transition>
    </mc:Choice>
    <mc:Fallback>
      <p:transition spd="med">
        <p:fade/>
      </p:transition>
    </mc:Fallback>
  </mc:AlternateContent>
  <p:timing>
    <p:tnLst>
      <p:par>
        <p:cTn id="2" dur="indefinite" restart="never" nodeType="tmRoot">
          <p:childTnLst>
            <p:seq concurrent="1" nextAc="seek">
              <p:cTn id="3" dur="indefinite" nodeType="mainSeq">
                <p:childTnLst>
                  <p:par>
                    <p:cTn id="4" fill="hold">
                      <p:stCondLst>
                        <p:cond delay="indefinite"/>
                      </p:stCondLst>
                      <p:childTnLst>
                        <p:par>
                          <p:cTn id="5" fill="hold">
                            <p:stCondLst>
                              <p:cond delay="0"/>
                            </p:stCondLst>
                            <p:childTnLst>
                              <p:par>
                                <p:cTn id="6" presetID="22" presetClass="entr" presetSubtype="8" fill="hold" grpId="0" nodeType="clickEffect">
                                  <p:stCondLst>
                                    <p:cond delay="0"/>
                                  </p:stCondLst>
                                  <p:childTnLst>
                                    <p:set>
                                      <p:cBhvr>
                                        <p:cTn id="7" dur="1" fill="hold">
                                          <p:stCondLst>
                                            <p:cond delay="0"/>
                                          </p:stCondLst>
                                        </p:cTn>
                                        <p:tgtEl>
                                          <p:spTgt spid="10"/>
                                        </p:tgtEl>
                                        <p:attrNameLst>
                                          <p:attrName>style.visibility</p:attrName>
                                        </p:attrNameLst>
                                      </p:cBhvr>
                                      <p:to>
                                        <p:strVal val="visible"/>
                                      </p:to>
                                    </p:set>
                                    <p:animEffect transition="in" filter="wipe(right)">
                                      <p:cBhvr>
                                        <p:cTn id="8" dur="420"/>
                                        <p:tgtEl>
                                          <p:spTgt spid="10"/>
                                        </p:tgtEl>
                                      </p:cBhvr>
                                    </p:animEffect>
                                  </p:childTnLst>
                                </p:cTn>
                              </p:par>
                            </p:childTnLst>
                          </p:cTn>
                        </p:par>
                      </p:childTnLst>
                    </p:cTn>
                  </p:par>
                  <p:par>
                    <p:cTn id="9" fill="hold">
                      <p:stCondLst>
                        <p:cond delay="indefinite"/>
                      </p:stCondLst>
                      <p:childTnLst>
                        <p:par>
                          <p:cTn id="10" fill="hold">
                            <p:stCondLst>
                              <p:cond delay="0"/>
                            </p:stCondLst>
                            <p:childTnLst>
                              <p:par>
                                <p:cTn id="11" presetID="10" presetClass="entr" presetSubtype="0" fill="hold" grpId="0" nodeType="clickEffect">
                                  <p:stCondLst>
                                    <p:cond delay="0"/>
                                  </p:stCondLst>
                                  <p:childTnLst>
                                    <p:set>
                                      <p:cBhvr>
                                        <p:cTn id="12" dur="1" fill="hold">
                                          <p:stCondLst>
                                            <p:cond delay="0"/>
                                          </p:stCondLst>
                                        </p:cTn>
                                        <p:tgtEl>
                                          <p:spTgt spid="11">
                                            <p:txEl>
                                              <p:pRg st="0" end="0"/>
                                            </p:txEl>
                                          </p:spTgt>
                                        </p:tgtEl>
                                        <p:attrNameLst>
                                          <p:attrName>style.visibility</p:attrName>
                                        </p:attrNameLst>
                                      </p:cBhvr>
                                      <p:to>
                                        <p:strVal val="visible"/>
                                      </p:to>
                                    </p:set>
                                    <p:animEffect transition="in" filter="fade">
                                      <p:cBhvr>
                                        <p:cTn id="13" dur="350"/>
                                        <p:tgtEl>
                                          <p:spTgt spid="11">
                                            <p:txEl>
                                              <p:pRg st="0" end="0"/>
                                            </p:txEl>
                                          </p:spTgt>
                                        </p:tgtEl>
                                      </p:cBhvr>
                                    </p:animEffect>
                                  </p:childTnLst>
                                </p:cTn>
                              </p:par>
                            </p:childTnLst>
                          </p:cTn>
                        </p:par>
                      </p:childTnLst>
                    </p:cTn>
                  </p:par>
                  <p:par>
                    <p:cTn id="14" fill="hold">
                      <p:stCondLst>
                        <p:cond delay="indefinite"/>
                      </p:stCondLst>
                      <p:childTnLst>
                        <p:par>
                          <p:cTn id="15" fill="hold">
                            <p:stCondLst>
                              <p:cond delay="0"/>
                            </p:stCondLst>
                            <p:childTnLst>
                              <p:par>
                                <p:cTn id="16" presetID="10" presetClass="entr" presetSubtype="0" fill="hold" grpId="0" nodeType="clickEffect">
                                  <p:stCondLst>
                                    <p:cond delay="0"/>
                                  </p:stCondLst>
                                  <p:childTnLst>
                                    <p:set>
                                      <p:cBhvr>
                                        <p:cTn id="17" dur="1" fill="hold">
                                          <p:stCondLst>
                                            <p:cond delay="0"/>
                                          </p:stCondLst>
                                        </p:cTn>
                                        <p:tgtEl>
                                          <p:spTgt spid="11">
                                            <p:txEl>
                                              <p:pRg st="1" end="1"/>
                                            </p:txEl>
                                          </p:spTgt>
                                        </p:tgtEl>
                                        <p:attrNameLst>
                                          <p:attrName>style.visibility</p:attrName>
                                        </p:attrNameLst>
                                      </p:cBhvr>
                                      <p:to>
                                        <p:strVal val="visible"/>
                                      </p:to>
                                    </p:set>
                                    <p:animEffect transition="in" filter="fade">
                                      <p:cBhvr>
                                        <p:cTn id="18" dur="350"/>
                                        <p:tgtEl>
                                          <p:spTgt spid="11">
                                            <p:txEl>
                                              <p:pRg st="1" end="1"/>
                                            </p:txEl>
                                          </p:spTgt>
                                        </p:tgtEl>
                                      </p:cBhvr>
                                    </p:animEffect>
                                  </p:childTnLst>
                                </p:cTn>
                              </p:par>
                            </p:childTnLst>
                          </p:cTn>
                        </p:par>
                      </p:childTnLst>
                    </p:cTn>
                  </p:par>
                  <p:par>
                    <p:cTn id="19" fill="hold">
                      <p:stCondLst>
                        <p:cond delay="indefinite"/>
                      </p:stCondLst>
                      <p:childTnLst>
                        <p:par>
                          <p:cTn id="20" fill="hold">
                            <p:stCondLst>
                              <p:cond delay="0"/>
                            </p:stCondLst>
                            <p:childTnLst>
                              <p:par>
                                <p:cTn id="21" presetID="22" presetClass="entr" presetSubtype="8" fill="hold" grpId="0" nodeType="clickEffect">
                                  <p:stCondLst>
                                    <p:cond delay="0"/>
                                  </p:stCondLst>
                                  <p:childTnLst>
                                    <p:set>
                                      <p:cBhvr>
                                        <p:cTn id="22" dur="1" fill="hold">
                                          <p:stCondLst>
                                            <p:cond delay="0"/>
                                          </p:stCondLst>
                                        </p:cTn>
                                        <p:tgtEl>
                                          <p:spTgt spid="13"/>
                                        </p:tgtEl>
                                        <p:attrNameLst>
                                          <p:attrName>style.visibility</p:attrName>
                                        </p:attrNameLst>
                                      </p:cBhvr>
                                      <p:to>
                                        <p:strVal val="visible"/>
                                      </p:to>
                                    </p:set>
                                    <p:animEffect transition="in" filter="wipe(right)">
                                      <p:cBhvr>
                                        <p:cTn id="23" dur="420"/>
                                        <p:tgtEl>
                                          <p:spTgt spid="13"/>
                                        </p:tgtEl>
                                      </p:cBhvr>
                                    </p:animEffect>
                                  </p:childTnLst>
                                </p:cTn>
                              </p:par>
                              <p:par>
                                <p:cTn id="24" presetID="10" presetClass="entr" presetSubtype="0" fill="hold" grpId="0" nodeType="withEffect">
                                  <p:stCondLst>
                                    <p:cond delay="0"/>
                                  </p:stCondLst>
                                  <p:childTnLst>
                                    <p:set>
                                      <p:cBhvr>
                                        <p:cTn id="25" dur="1" fill="hold">
                                          <p:stCondLst>
                                            <p:cond delay="0"/>
                                          </p:stCondLst>
                                        </p:cTn>
                                        <p:tgtEl>
                                          <p:spTgt spid="12"/>
                                        </p:tgtEl>
                                        <p:attrNameLst>
                                          <p:attrName>style.visibility</p:attrName>
                                        </p:attrNameLst>
                                      </p:cBhvr>
                                      <p:to>
                                        <p:strVal val="visible"/>
                                      </p:to>
                                    </p:set>
                                    <p:animEffect transition="in" filter="fade">
                                      <p:cBhvr>
                                        <p:cTn id="26" dur="420"/>
                                        <p:tgtEl>
                                          <p:spTgt spid="12"/>
                                        </p:tgtEl>
                                      </p:cBhvr>
                                    </p:animEffect>
                                  </p:childTnLst>
                                </p:cTn>
                              </p:par>
                            </p:childTnLst>
                          </p:cTn>
                        </p:par>
                      </p:childTnLst>
                    </p:cTn>
                  </p:par>
                  <p:par>
                    <p:cTn id="27" fill="hold">
                      <p:stCondLst>
                        <p:cond delay="indefinite"/>
                      </p:stCondLst>
                      <p:childTnLst>
                        <p:par>
                          <p:cTn id="28" fill="hold">
                            <p:stCondLst>
                              <p:cond delay="0"/>
                            </p:stCondLst>
                            <p:childTnLst>
                              <p:par>
                                <p:cTn id="29" presetID="22" presetClass="entr" presetSubtype="8" fill="hold" grpId="0" nodeType="clickEffect">
                                  <p:stCondLst>
                                    <p:cond delay="0"/>
                                  </p:stCondLst>
                                  <p:childTnLst>
                                    <p:set>
                                      <p:cBhvr>
                                        <p:cTn id="30" dur="1" fill="hold">
                                          <p:stCondLst>
                                            <p:cond delay="0"/>
                                          </p:stCondLst>
                                        </p:cTn>
                                        <p:tgtEl>
                                          <p:spTgt spid="15"/>
                                        </p:tgtEl>
                                        <p:attrNameLst>
                                          <p:attrName>style.visibility</p:attrName>
                                        </p:attrNameLst>
                                      </p:cBhvr>
                                      <p:to>
                                        <p:strVal val="visible"/>
                                      </p:to>
                                    </p:set>
                                    <p:animEffect transition="in" filter="wipe(right)">
                                      <p:cBhvr>
                                        <p:cTn id="31" dur="420"/>
                                        <p:tgtEl>
                                          <p:spTgt spid="15"/>
                                        </p:tgtEl>
                                      </p:cBhvr>
                                    </p:animEffect>
                                  </p:childTnLst>
                                </p:cTn>
                              </p:par>
                              <p:par>
                                <p:cTn id="32" presetID="10" presetClass="entr" presetSubtype="0" fill="hold" grpId="0" nodeType="withEffect">
                                  <p:stCondLst>
                                    <p:cond delay="0"/>
                                  </p:stCondLst>
                                  <p:childTnLst>
                                    <p:set>
                                      <p:cBhvr>
                                        <p:cTn id="33" dur="1" fill="hold">
                                          <p:stCondLst>
                                            <p:cond delay="0"/>
                                          </p:stCondLst>
                                        </p:cTn>
                                        <p:tgtEl>
                                          <p:spTgt spid="14"/>
                                        </p:tgtEl>
                                        <p:attrNameLst>
                                          <p:attrName>style.visibility</p:attrName>
                                        </p:attrNameLst>
                                      </p:cBhvr>
                                      <p:to>
                                        <p:strVal val="visible"/>
                                      </p:to>
                                    </p:set>
                                    <p:animEffect transition="in" filter="fade">
                                      <p:cBhvr>
                                        <p:cTn id="34" dur="420"/>
                                        <p:tgtEl>
                                          <p:spTgt spid="14"/>
                                        </p:tgtEl>
                                      </p:cBhvr>
                                    </p:animEffect>
                                  </p:childTnLst>
                                </p:cTn>
                              </p:par>
                            </p:childTnLst>
                          </p:cTn>
                        </p:par>
                      </p:childTnLst>
                    </p:cTn>
                  </p:par>
                  <p:par>
                    <p:cTn id="35" fill="hold">
                      <p:stCondLst>
                        <p:cond delay="indefinite"/>
                      </p:stCondLst>
                      <p:childTnLst>
                        <p:par>
                          <p:cTn id="36" fill="hold">
                            <p:stCondLst>
                              <p:cond delay="0"/>
                            </p:stCondLst>
                            <p:childTnLst>
                              <p:par>
                                <p:cTn id="37" presetID="22" presetClass="entr" presetSubtype="8" fill="hold" grpId="0" nodeType="clickEffect">
                                  <p:stCondLst>
                                    <p:cond delay="0"/>
                                  </p:stCondLst>
                                  <p:childTnLst>
                                    <p:set>
                                      <p:cBhvr>
                                        <p:cTn id="38" dur="1" fill="hold">
                                          <p:stCondLst>
                                            <p:cond delay="0"/>
                                          </p:stCondLst>
                                        </p:cTn>
                                        <p:tgtEl>
                                          <p:spTgt spid="16"/>
                                        </p:tgtEl>
                                        <p:attrNameLst>
                                          <p:attrName>style.visibility</p:attrName>
                                        </p:attrNameLst>
                                      </p:cBhvr>
                                      <p:to>
                                        <p:strVal val="visible"/>
                                      </p:to>
                                    </p:set>
                                    <p:animEffect transition="in" filter="wipe(right)">
                                      <p:cBhvr>
                                        <p:cTn id="39" dur="420"/>
                                        <p:tgtEl>
                                          <p:spTgt spid="16"/>
                                        </p:tgtEl>
                                      </p:cBhvr>
                                    </p:animEffect>
                                  </p:childTnLst>
                                </p:cTn>
                              </p:par>
                            </p:childTnLst>
                          </p:cTn>
                        </p:par>
                      </p:childTnLst>
                    </p:cTn>
                  </p:par>
                  <p:par>
                    <p:cTn id="40" fill="hold">
                      <p:stCondLst>
                        <p:cond delay="indefinite"/>
                      </p:stCondLst>
                      <p:childTnLst>
                        <p:par>
                          <p:cTn id="41" fill="hold">
                            <p:stCondLst>
                              <p:cond delay="0"/>
                            </p:stCondLst>
                            <p:childTnLst>
                              <p:par>
                                <p:cTn id="42" presetID="22" presetClass="entr" presetSubtype="8" fill="hold" grpId="0" nodeType="clickEffect">
                                  <p:stCondLst>
                                    <p:cond delay="0"/>
                                  </p:stCondLst>
                                  <p:childTnLst>
                                    <p:set>
                                      <p:cBhvr>
                                        <p:cTn id="43" dur="1" fill="hold">
                                          <p:stCondLst>
                                            <p:cond delay="0"/>
                                          </p:stCondLst>
                                        </p:cTn>
                                        <p:tgtEl>
                                          <p:spTgt spid="18"/>
                                        </p:tgtEl>
                                        <p:attrNameLst>
                                          <p:attrName>style.visibility</p:attrName>
                                        </p:attrNameLst>
                                      </p:cBhvr>
                                      <p:to>
                                        <p:strVal val="visible"/>
                                      </p:to>
                                    </p:set>
                                    <p:animEffect transition="in" filter="wipe(right)">
                                      <p:cBhvr>
                                        <p:cTn id="44" dur="420"/>
                                        <p:tgtEl>
                                          <p:spTgt spid="18"/>
                                        </p:tgtEl>
                                      </p:cBhvr>
                                    </p:animEffect>
                                  </p:childTnLst>
                                </p:cTn>
                              </p:par>
                              <p:par>
                                <p:cTn id="45" presetID="10" presetClass="entr" presetSubtype="0" fill="hold" grpId="0" nodeType="withEffect">
                                  <p:stCondLst>
                                    <p:cond delay="0"/>
                                  </p:stCondLst>
                                  <p:childTnLst>
                                    <p:set>
                                      <p:cBhvr>
                                        <p:cTn id="46" dur="1" fill="hold">
                                          <p:stCondLst>
                                            <p:cond delay="0"/>
                                          </p:stCondLst>
                                        </p:cTn>
                                        <p:tgtEl>
                                          <p:spTgt spid="17"/>
                                        </p:tgtEl>
                                        <p:attrNameLst>
                                          <p:attrName>style.visibility</p:attrName>
                                        </p:attrNameLst>
                                      </p:cBhvr>
                                      <p:to>
                                        <p:strVal val="visible"/>
                                      </p:to>
                                    </p:set>
                                    <p:animEffect transition="in" filter="fade">
                                      <p:cBhvr>
                                        <p:cTn id="47" dur="420"/>
                                        <p:tgtEl>
                                          <p:spTgt spid="1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build="p"/>
    </p:bldLst>
  </p:timing>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3000" b="0">
                <a:solidFill>
                  <a:srgbClr val="1A5276"/>
                </a:solidFill>
                <a:latin typeface="Segoe UI Semibold"/>
              </a:rPr>
              <a:t>Answering four queries by inheritance (continued)</a:t>
            </a:r>
          </a:p>
        </p:txBody>
      </p:sp>
      <p:pic>
        <p:nvPicPr>
          <p:cNvPr id="3" name="!!kicker-icon" descr="calculator-B7950B.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193146"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B7950B"/>
                </a:solidFill>
                <a:latin typeface="Segoe UI"/>
              </a:rPr>
              <a:t>WORKED EXAMPLE</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Artificial Intelligence  ·  Chapter 10  ·  Knowledge Representation</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§10.6  ·  Handout p. 104     </a:t>
            </a:r>
            <a:fld id="{6DF3CF7E-8FFC-4E2F-92AD-A7C0D5C0A1AF}" type="slidenum">
              <a:rPr lang="en-GB" sz="1000">
                <a:solidFill>
                  <a:srgbClr val="8795A1"/>
                </a:solidFill>
                <a:latin typeface="Segoe UI"/>
              </a:rPr>
              <a:t>14</a:t>
            </a:fld>
          </a:p>
        </p:txBody>
      </p:sp>
      <p:sp>
        <p:nvSpPr>
          <p:cNvPr id="7" name="!!card">
            <a:extLst>
              <a:ext uri="{C183D7F6-B498-43B3-948B-1728B52AA6E4}">
                <adec:decorative xmlns:adec="http://schemas.microsoft.com/office/drawing/2017/decorative" val="1"/>
              </a:ext>
            </a:extLst>
          </p:cNvPr>
          <p:cNvSpPr/>
          <p:nvPr/>
        </p:nvSpPr>
        <p:spPr>
          <a:xfrm>
            <a:off x="658368" y="1737360"/>
            <a:ext cx="10874959" cy="4175379"/>
          </a:xfrm>
          <a:prstGeom prst="roundRect">
            <a:avLst>
              <a:gd name="adj" fmla="val 2189"/>
            </a:avLst>
          </a:prstGeom>
          <a:solidFill>
            <a:srgbClr val="FBF8EC"/>
          </a:solidFill>
          <a:ln>
            <a:noFill/>
          </a:ln>
          <a:effectLst>
            <a:outerShdw blurRad="127000" dist="25400" dir="5400000" algn="t" rotWithShape="0">
              <a:srgbClr val="1C252B">
                <a:alpha val="10000"/>
              </a:srgbClr>
            </a:outerShdw>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8" name="!!cardrule">
            <a:extLst>
              <a:ext uri="{C183D7F6-B498-43B3-948B-1728B52AA6E4}">
                <adec:decorative xmlns:adec="http://schemas.microsoft.com/office/drawing/2017/decorative" val="1"/>
              </a:ext>
            </a:extLst>
          </p:cNvPr>
          <p:cNvSpPr/>
          <p:nvPr/>
        </p:nvSpPr>
        <p:spPr>
          <a:xfrm>
            <a:off x="658368" y="1737360"/>
            <a:ext cx="82296" cy="4175379"/>
          </a:xfrm>
          <a:prstGeom prst="rect">
            <a:avLst/>
          </a:prstGeom>
          <a:solidFill>
            <a:srgbClr val="B7950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9" name="body-0"/>
          <p:cNvSpPr txBox="1"/>
          <p:nvPr/>
        </p:nvSpPr>
        <p:spPr>
          <a:xfrm>
            <a:off x="1042416" y="2011679"/>
            <a:ext cx="10234879" cy="346862"/>
          </a:xfrm>
          <a:prstGeom prst="rect">
            <a:avLst/>
          </a:prstGeom>
          <a:noFill/>
        </p:spPr>
        <p:txBody>
          <a:bodyPr wrap="square" anchor="t" lIns="0" rIns="0" tIns="0" bIns="0">
            <a:noAutofit/>
          </a:bodyPr>
          <a:lstStyle/>
          <a:p>
            <a:pPr algn="l">
              <a:lnSpc>
                <a:spcPct val="104000"/>
              </a:lnSpc>
              <a:spcBef>
                <a:spcPts val="0"/>
              </a:spcBef>
              <a:spcAft>
                <a:spcPts val="0"/>
              </a:spcAft>
            </a:pPr>
            <a:r>
              <a:rPr sz="1900" b="1" i="0">
                <a:solidFill>
                  <a:srgbClr val="7D6608"/>
                </a:solidFill>
                <a:latin typeface="Segoe UI"/>
              </a:rPr>
              <a:t>Query 3: </a:t>
            </a:r>
            <a:r>
              <a:rPr sz="1800" b="1" i="0">
                <a:solidFill>
                  <a:srgbClr val="1F4E79"/>
                </a:solidFill>
                <a:latin typeface="Consolas"/>
              </a:rPr>
              <a:t>Release 4.7 . window</a:t>
            </a:r>
          </a:p>
        </p:txBody>
      </p:sp>
      <p:sp>
        <p:nvSpPr>
          <p:cNvPr id="10" name="body-0bar">
            <a:extLst>
              <a:ext uri="{C183D7F6-B498-43B3-948B-1728B52AA6E4}">
                <adec:decorative xmlns:adec="http://schemas.microsoft.com/office/drawing/2017/decorative" val="1"/>
              </a:ext>
            </a:extLst>
          </p:cNvPr>
          <p:cNvSpPr/>
          <p:nvPr/>
        </p:nvSpPr>
        <p:spPr>
          <a:xfrm>
            <a:off x="841248" y="2029967"/>
            <a:ext cx="54864" cy="282854"/>
          </a:xfrm>
          <a:prstGeom prst="rect">
            <a:avLst/>
          </a:prstGeom>
          <a:solidFill>
            <a:srgbClr val="B7950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1" name="body-1"/>
          <p:cNvSpPr txBox="1"/>
          <p:nvPr/>
        </p:nvSpPr>
        <p:spPr>
          <a:xfrm>
            <a:off x="1042416" y="2445537"/>
            <a:ext cx="10234879" cy="648004"/>
          </a:xfrm>
          <a:prstGeom prst="rect">
            <a:avLst/>
          </a:prstGeom>
          <a:noFill/>
        </p:spPr>
        <p:txBody>
          <a:bodyPr wrap="square" anchor="t" lIns="0" rIns="0" tIns="0" bIns="0">
            <a:noAutofit/>
          </a:bodyPr>
          <a:lstStyle/>
          <a:p>
            <a:pPr algn="l" marL="212450" indent="-212450">
              <a:lnSpc>
                <a:spcPct val="104000"/>
              </a:lnSpc>
              <a:spcBef>
                <a:spcPts val="0"/>
              </a:spcBef>
              <a:spcAft>
                <a:spcPts val="0"/>
              </a:spcAft>
            </a:pPr>
            <a:r>
              <a:rPr sz="1900" b="1">
                <a:solidFill>
                  <a:srgbClr val="7D6608"/>
                </a:solidFill>
                <a:latin typeface="Segoe UI"/>
              </a:rPr>
              <a:t>•	</a:t>
            </a:r>
            <a:r>
              <a:rPr sz="1800" b="0" i="0">
                <a:solidFill>
                  <a:srgbClr val="1F4E79"/>
                </a:solidFill>
                <a:latin typeface="Consolas"/>
              </a:rPr>
              <a:t>Hotfix</a:t>
            </a:r>
            <a:r>
              <a:rPr sz="1900" b="0" i="0">
                <a:solidFill>
                  <a:srgbClr val="1C252B"/>
                </a:solidFill>
                <a:latin typeface="Segoe UI"/>
              </a:rPr>
              <a:t> overrides with </a:t>
            </a:r>
            <a:r>
              <a:rPr sz="1800" b="0" i="0">
                <a:solidFill>
                  <a:srgbClr val="1F4E79"/>
                </a:solidFill>
                <a:latin typeface="Consolas"/>
              </a:rPr>
              <a:t>any</a:t>
            </a:r>
            <a:r>
              <a:rPr sz="1900" b="0" i="0">
                <a:solidFill>
                  <a:srgbClr val="1C252B"/>
                </a:solidFill>
                <a:latin typeface="Segoe UI"/>
              </a:rPr>
              <a:t>. </a:t>
            </a:r>
            <a:r>
              <a:rPr sz="1900" b="1" i="0">
                <a:solidFill>
                  <a:srgbClr val="1C252B"/>
                </a:solidFill>
                <a:latin typeface="Segoe UI"/>
              </a:rPr>
              <a:t>Answer: </a:t>
            </a:r>
            <a:r>
              <a:rPr sz="1800" b="1" i="0">
                <a:solidFill>
                  <a:srgbClr val="1F4E79"/>
                </a:solidFill>
                <a:latin typeface="Consolas"/>
              </a:rPr>
              <a:t>any</a:t>
            </a:r>
            <a:r>
              <a:rPr sz="1900" b="0" i="0">
                <a:solidFill>
                  <a:srgbClr val="1C252B"/>
                </a:solidFill>
                <a:latin typeface="Segoe UI"/>
              </a:rPr>
              <a:t> — the default </a:t>
            </a:r>
            <a:r>
              <a:rPr sz="1800" b="0" i="0">
                <a:solidFill>
                  <a:srgbClr val="1F4E79"/>
                </a:solidFill>
                <a:latin typeface="Consolas"/>
              </a:rPr>
              <a:t>Thursday</a:t>
            </a:r>
            <a:r>
              <a:rPr sz="1900" b="0" i="0">
                <a:solidFill>
                  <a:srgbClr val="1C252B"/>
                </a:solidFill>
                <a:latin typeface="Segoe UI"/>
              </a:rPr>
              <a:t> at </a:t>
            </a:r>
            <a:r>
              <a:rPr sz="1800" b="0" i="0">
                <a:solidFill>
                  <a:srgbClr val="1F4E79"/>
                </a:solidFill>
                <a:latin typeface="Consolas"/>
              </a:rPr>
              <a:t>Release</a:t>
            </a:r>
            <a:r>
              <a:rPr sz="1900" b="0" i="0">
                <a:solidFill>
                  <a:srgbClr val="1C252B"/>
                </a:solidFill>
                <a:latin typeface="Segoe UI"/>
              </a:rPr>
              <a:t> is correctly suppressed.</a:t>
            </a:r>
          </a:p>
        </p:txBody>
      </p:sp>
      <p:sp>
        <p:nvSpPr>
          <p:cNvPr id="12" name="body-2"/>
          <p:cNvSpPr txBox="1"/>
          <p:nvPr/>
        </p:nvSpPr>
        <p:spPr>
          <a:xfrm>
            <a:off x="1042416" y="3180537"/>
            <a:ext cx="10234879" cy="949147"/>
          </a:xfrm>
          <a:prstGeom prst="rect">
            <a:avLst/>
          </a:prstGeom>
          <a:noFill/>
        </p:spPr>
        <p:txBody>
          <a:bodyPr wrap="square" anchor="t" lIns="0" rIns="0" tIns="0" bIns="0">
            <a:noAutofit/>
          </a:bodyPr>
          <a:lstStyle/>
          <a:p>
            <a:pPr algn="l">
              <a:lnSpc>
                <a:spcPct val="104000"/>
              </a:lnSpc>
              <a:spcBef>
                <a:spcPts val="0"/>
              </a:spcBef>
              <a:spcAft>
                <a:spcPts val="0"/>
              </a:spcAft>
            </a:pPr>
            <a:r>
              <a:rPr sz="1900" b="0" i="0">
                <a:solidFill>
                  <a:srgbClr val="1C252B"/>
                </a:solidFill>
                <a:latin typeface="Segoe UI"/>
              </a:rPr>
              <a:t>Now add the fact that </a:t>
            </a:r>
            <a:r>
              <a:rPr sz="1800" b="0" i="0">
                <a:solidFill>
                  <a:srgbClr val="1F4E79"/>
                </a:solidFill>
                <a:latin typeface="Consolas"/>
              </a:rPr>
              <a:t>Release 4.7</a:t>
            </a:r>
            <a:r>
              <a:rPr sz="1900" b="0" i="0">
                <a:solidFill>
                  <a:srgbClr val="1C252B"/>
                </a:solidFill>
                <a:latin typeface="Segoe UI"/>
              </a:rPr>
              <a:t> is also a </a:t>
            </a:r>
            <a:r>
              <a:rPr sz="1800" b="0" i="0">
                <a:solidFill>
                  <a:srgbClr val="1F4E79"/>
                </a:solidFill>
                <a:latin typeface="Consolas"/>
              </a:rPr>
              <a:t>Regulated Change</a:t>
            </a:r>
            <a:r>
              <a:rPr sz="1900" b="0" i="0">
                <a:solidFill>
                  <a:srgbClr val="1C252B"/>
                </a:solidFill>
                <a:latin typeface="Segoe UI"/>
              </a:rPr>
              <a:t> whose window is </a:t>
            </a:r>
            <a:r>
              <a:rPr sz="1800" b="0" i="0">
                <a:solidFill>
                  <a:srgbClr val="1F4E79"/>
                </a:solidFill>
                <a:latin typeface="Consolas"/>
              </a:rPr>
              <a:t>Thursday</a:t>
            </a:r>
            <a:r>
              <a:rPr sz="1900" b="0" i="0">
                <a:solidFill>
                  <a:srgbClr val="1C252B"/>
                </a:solidFill>
                <a:latin typeface="Segoe UI"/>
              </a:rPr>
              <a:t>. The answer changes to a conflict. </a:t>
            </a:r>
            <a:r>
              <a:rPr sz="1900" b="0" i="1">
                <a:solidFill>
                  <a:srgbClr val="1C252B"/>
                </a:solidFill>
                <a:latin typeface="Segoe UI"/>
              </a:rPr>
              <a:t>Adding knowledge removed a conclusion</a:t>
            </a:r>
            <a:r>
              <a:rPr sz="1900" b="0" i="0">
                <a:solidFill>
                  <a:srgbClr val="1C252B"/>
                </a:solidFill>
                <a:latin typeface="Segoe UI"/>
              </a:rPr>
              <a:t>: that is non-monotonicity, in three lines.</a:t>
            </a:r>
          </a:p>
        </p:txBody>
      </p:sp>
      <p:sp>
        <p:nvSpPr>
          <p:cNvPr id="13" name="body-3"/>
          <p:cNvSpPr txBox="1"/>
          <p:nvPr/>
        </p:nvSpPr>
        <p:spPr>
          <a:xfrm>
            <a:off x="1042416" y="4216679"/>
            <a:ext cx="10234879" cy="346862"/>
          </a:xfrm>
          <a:prstGeom prst="rect">
            <a:avLst/>
          </a:prstGeom>
          <a:noFill/>
        </p:spPr>
        <p:txBody>
          <a:bodyPr wrap="square" anchor="t" lIns="0" rIns="0" tIns="0" bIns="0">
            <a:noAutofit/>
          </a:bodyPr>
          <a:lstStyle/>
          <a:p>
            <a:pPr algn="l">
              <a:lnSpc>
                <a:spcPct val="104000"/>
              </a:lnSpc>
              <a:spcBef>
                <a:spcPts val="0"/>
              </a:spcBef>
              <a:spcAft>
                <a:spcPts val="0"/>
              </a:spcAft>
            </a:pPr>
            <a:r>
              <a:rPr sz="1900" b="1" i="0">
                <a:solidFill>
                  <a:srgbClr val="7D6608"/>
                </a:solidFill>
                <a:latin typeface="Segoe UI"/>
              </a:rPr>
              <a:t>Query 4: </a:t>
            </a:r>
            <a:r>
              <a:rPr sz="1800" b="1" i="0">
                <a:solidFill>
                  <a:srgbClr val="1F4E79"/>
                </a:solidFill>
                <a:latin typeface="Consolas"/>
              </a:rPr>
              <a:t>Release 4.7 . needs-signoff</a:t>
            </a:r>
            <a:r>
              <a:rPr sz="1900" b="1" i="0">
                <a:solidFill>
                  <a:srgbClr val="1C252B"/>
                </a:solidFill>
                <a:latin typeface="Segoe UI"/>
              </a:rPr>
              <a:t>, with both parents.</a:t>
            </a:r>
          </a:p>
        </p:txBody>
      </p:sp>
      <p:sp>
        <p:nvSpPr>
          <p:cNvPr id="14" name="body-3bar">
            <a:extLst>
              <a:ext uri="{C183D7F6-B498-43B3-948B-1728B52AA6E4}">
                <adec:decorative xmlns:adec="http://schemas.microsoft.com/office/drawing/2017/decorative" val="1"/>
              </a:ext>
            </a:extLst>
          </p:cNvPr>
          <p:cNvSpPr/>
          <p:nvPr/>
        </p:nvSpPr>
        <p:spPr>
          <a:xfrm>
            <a:off x="841248" y="4234967"/>
            <a:ext cx="54864" cy="282854"/>
          </a:xfrm>
          <a:prstGeom prst="rect">
            <a:avLst/>
          </a:prstGeom>
          <a:solidFill>
            <a:srgbClr val="B7950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5" name="body-4"/>
          <p:cNvSpPr txBox="1"/>
          <p:nvPr/>
        </p:nvSpPr>
        <p:spPr>
          <a:xfrm>
            <a:off x="1042416" y="4650536"/>
            <a:ext cx="10234879" cy="1033602"/>
          </a:xfrm>
          <a:prstGeom prst="rect">
            <a:avLst/>
          </a:prstGeom>
          <a:noFill/>
        </p:spPr>
        <p:txBody>
          <a:bodyPr wrap="square" anchor="t" lIns="0" rIns="0" tIns="0" bIns="0">
            <a:noAutofit/>
          </a:bodyPr>
          <a:lstStyle/>
          <a:p>
            <a:pPr algn="l" marL="212450" indent="-212450">
              <a:lnSpc>
                <a:spcPct val="104000"/>
              </a:lnSpc>
              <a:spcBef>
                <a:spcPts val="0"/>
              </a:spcBef>
              <a:spcAft>
                <a:spcPts val="665"/>
              </a:spcAft>
            </a:pPr>
            <a:r>
              <a:rPr sz="1900" b="1">
                <a:solidFill>
                  <a:srgbClr val="7D6608"/>
                </a:solidFill>
                <a:latin typeface="Segoe UI"/>
              </a:rPr>
              <a:t>•	</a:t>
            </a:r>
            <a:r>
              <a:rPr sz="1800" b="0" i="0">
                <a:solidFill>
                  <a:srgbClr val="1F4E79"/>
                </a:solidFill>
                <a:latin typeface="Consolas"/>
              </a:rPr>
              <a:t>Hotfix</a:t>
            </a:r>
            <a:r>
              <a:rPr sz="1900" b="0" i="0">
                <a:solidFill>
                  <a:srgbClr val="1C252B"/>
                </a:solidFill>
                <a:latin typeface="Segoe UI"/>
              </a:rPr>
              <a:t> says </a:t>
            </a:r>
            <a:r>
              <a:rPr sz="1800" b="0" i="0">
                <a:solidFill>
                  <a:srgbClr val="1F4E79"/>
                </a:solidFill>
                <a:latin typeface="Consolas"/>
              </a:rPr>
              <a:t>no</a:t>
            </a:r>
            <a:r>
              <a:rPr sz="1900" b="0" i="0">
                <a:solidFill>
                  <a:srgbClr val="1C252B"/>
                </a:solidFill>
                <a:latin typeface="Segoe UI"/>
              </a:rPr>
              <a:t>; </a:t>
            </a:r>
            <a:r>
              <a:rPr sz="1800" b="0" i="0">
                <a:solidFill>
                  <a:srgbClr val="1F4E79"/>
                </a:solidFill>
                <a:latin typeface="Consolas"/>
              </a:rPr>
              <a:t>Regulated Change</a:t>
            </a:r>
            <a:r>
              <a:rPr sz="1900" b="0" i="0">
                <a:solidFill>
                  <a:srgbClr val="1C252B"/>
                </a:solidFill>
                <a:latin typeface="Segoe UI"/>
              </a:rPr>
              <a:t> says </a:t>
            </a:r>
            <a:r>
              <a:rPr sz="1800" b="0" i="0">
                <a:solidFill>
                  <a:srgbClr val="1F4E79"/>
                </a:solidFill>
                <a:latin typeface="Consolas"/>
              </a:rPr>
              <a:t>yes</a:t>
            </a:r>
            <a:r>
              <a:rPr sz="1900" b="0" i="0">
                <a:solidFill>
                  <a:srgbClr val="1C252B"/>
                </a:solidFill>
                <a:latin typeface="Segoe UI"/>
              </a:rPr>
              <a:t>. Both are at distance 1 from the individual.</a:t>
            </a:r>
          </a:p>
          <a:p>
            <a:pPr algn="l" marL="212450" indent="-212450">
              <a:lnSpc>
                <a:spcPct val="104000"/>
              </a:lnSpc>
              <a:spcBef>
                <a:spcPts val="0"/>
              </a:spcBef>
              <a:spcAft>
                <a:spcPts val="0"/>
              </a:spcAft>
            </a:pPr>
            <a:r>
              <a:rPr sz="1900" b="1">
                <a:solidFill>
                  <a:srgbClr val="7D6608"/>
                </a:solidFill>
                <a:latin typeface="Segoe UI"/>
              </a:rPr>
              <a:t>•	</a:t>
            </a:r>
            <a:r>
              <a:rPr sz="1900" b="0" i="0">
                <a:solidFill>
                  <a:srgbClr val="1C252B"/>
                </a:solidFill>
                <a:latin typeface="Segoe UI"/>
              </a:rPr>
              <a:t>Depth-first inheritance returns whichever was entered first. That is not an answer; it is an artefact of the file.</a:t>
            </a:r>
          </a:p>
        </p:txBody>
      </p:sp>
      <p:sp>
        <p:nvSpPr>
          <p:cNvPr id="40"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1" name="!!pfill">
            <a:extLst>
              <a:ext uri="{C183D7F6-B498-43B3-948B-1728B52AA6E4}">
                <adec:decorative xmlns:adec="http://schemas.microsoft.com/office/drawing/2017/decorative" val="1"/>
              </a:ext>
            </a:extLst>
          </p:cNvPr>
          <p:cNvSpPr/>
          <p:nvPr/>
        </p:nvSpPr>
        <p:spPr>
          <a:xfrm>
            <a:off x="0" y="0"/>
            <a:ext cx="3969389" cy="54864"/>
          </a:xfrm>
          <a:prstGeom prst="rect">
            <a:avLst/>
          </a:prstGeom>
          <a:solidFill>
            <a:srgbClr val="8E44A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Requires="p14">
      <p:transition spd="med" p14:dur="450">
        <p:fade/>
      </p:transition>
    </mc:Choice>
    <mc:Fallback>
      <p:transition spd="med">
        <p:fade/>
      </p:transition>
    </mc:Fallback>
  </mc:AlternateContent>
  <p:timing>
    <p:tnLst>
      <p:par>
        <p:cTn id="2" dur="indefinite" restart="never" nodeType="tmRoot">
          <p:childTnLst>
            <p:seq concurrent="1" nextAc="seek">
              <p:cTn id="3" dur="indefinite" nodeType="mainSeq">
                <p:childTnLst>
                  <p:par>
                    <p:cTn id="4" fill="hold">
                      <p:stCondLst>
                        <p:cond delay="indefinite"/>
                      </p:stCondLst>
                      <p:childTnLst>
                        <p:par>
                          <p:cTn id="5" fill="hold">
                            <p:stCondLst>
                              <p:cond delay="0"/>
                            </p:stCondLst>
                            <p:childTnLst>
                              <p:par>
                                <p:cTn id="6" presetID="22" presetClass="entr" presetSubtype="8" fill="hold" grpId="0" nodeType="clickEffect">
                                  <p:stCondLst>
                                    <p:cond delay="0"/>
                                  </p:stCondLst>
                                  <p:childTnLst>
                                    <p:set>
                                      <p:cBhvr>
                                        <p:cTn id="7" dur="1" fill="hold">
                                          <p:stCondLst>
                                            <p:cond delay="0"/>
                                          </p:stCondLst>
                                        </p:cTn>
                                        <p:tgtEl>
                                          <p:spTgt spid="10"/>
                                        </p:tgtEl>
                                        <p:attrNameLst>
                                          <p:attrName>style.visibility</p:attrName>
                                        </p:attrNameLst>
                                      </p:cBhvr>
                                      <p:to>
                                        <p:strVal val="visible"/>
                                      </p:to>
                                    </p:set>
                                    <p:animEffect transition="in" filter="wipe(right)">
                                      <p:cBhvr>
                                        <p:cTn id="8" dur="420"/>
                                        <p:tgtEl>
                                          <p:spTgt spid="10"/>
                                        </p:tgtEl>
                                      </p:cBhvr>
                                    </p:animEffect>
                                  </p:childTnLst>
                                </p:cTn>
                              </p:par>
                              <p:par>
                                <p:cTn id="9" presetID="10" presetClass="entr" presetSubtype="0" fill="hold" grpId="0" nodeType="withEffect">
                                  <p:stCondLst>
                                    <p:cond delay="0"/>
                                  </p:stCondLst>
                                  <p:childTnLst>
                                    <p:set>
                                      <p:cBhvr>
                                        <p:cTn id="10" dur="1" fill="hold">
                                          <p:stCondLst>
                                            <p:cond delay="0"/>
                                          </p:stCondLst>
                                        </p:cTn>
                                        <p:tgtEl>
                                          <p:spTgt spid="9"/>
                                        </p:tgtEl>
                                        <p:attrNameLst>
                                          <p:attrName>style.visibility</p:attrName>
                                        </p:attrNameLst>
                                      </p:cBhvr>
                                      <p:to>
                                        <p:strVal val="visible"/>
                                      </p:to>
                                    </p:set>
                                    <p:animEffect transition="in" filter="fade">
                                      <p:cBhvr>
                                        <p:cTn id="11" dur="420"/>
                                        <p:tgtEl>
                                          <p:spTgt spid="9"/>
                                        </p:tgtEl>
                                      </p:cBhvr>
                                    </p:animEffect>
                                  </p:childTnLst>
                                </p:cTn>
                              </p:par>
                            </p:childTnLst>
                          </p:cTn>
                        </p:par>
                      </p:childTnLst>
                    </p:cTn>
                  </p:par>
                  <p:par>
                    <p:cTn id="12" fill="hold">
                      <p:stCondLst>
                        <p:cond delay="indefinite"/>
                      </p:stCondLst>
                      <p:childTnLst>
                        <p:par>
                          <p:cTn id="13" fill="hold">
                            <p:stCondLst>
                              <p:cond delay="0"/>
                            </p:stCondLst>
                            <p:childTnLst>
                              <p:par>
                                <p:cTn id="14" presetID="22" presetClass="entr" presetSubtype="8" fill="hold" grpId="0" nodeType="clickEffect">
                                  <p:stCondLst>
                                    <p:cond delay="0"/>
                                  </p:stCondLst>
                                  <p:childTnLst>
                                    <p:set>
                                      <p:cBhvr>
                                        <p:cTn id="15" dur="1" fill="hold">
                                          <p:stCondLst>
                                            <p:cond delay="0"/>
                                          </p:stCondLst>
                                        </p:cTn>
                                        <p:tgtEl>
                                          <p:spTgt spid="11"/>
                                        </p:tgtEl>
                                        <p:attrNameLst>
                                          <p:attrName>style.visibility</p:attrName>
                                        </p:attrNameLst>
                                      </p:cBhvr>
                                      <p:to>
                                        <p:strVal val="visible"/>
                                      </p:to>
                                    </p:set>
                                    <p:animEffect transition="in" filter="wipe(right)">
                                      <p:cBhvr>
                                        <p:cTn id="16" dur="420"/>
                                        <p:tgtEl>
                                          <p:spTgt spid="11"/>
                                        </p:tgtEl>
                                      </p:cBhvr>
                                    </p:animEffect>
                                  </p:childTnLst>
                                </p:cTn>
                              </p:par>
                            </p:childTnLst>
                          </p:cTn>
                        </p:par>
                      </p:childTnLst>
                    </p:cTn>
                  </p:par>
                  <p:par>
                    <p:cTn id="17" fill="hold">
                      <p:stCondLst>
                        <p:cond delay="indefinite"/>
                      </p:stCondLst>
                      <p:childTnLst>
                        <p:par>
                          <p:cTn id="18" fill="hold">
                            <p:stCondLst>
                              <p:cond delay="0"/>
                            </p:stCondLst>
                            <p:childTnLst>
                              <p:par>
                                <p:cTn id="19" presetID="22" presetClass="entr" presetSubtype="8" fill="hold" grpId="0" nodeType="clickEffect">
                                  <p:stCondLst>
                                    <p:cond delay="0"/>
                                  </p:stCondLst>
                                  <p:childTnLst>
                                    <p:set>
                                      <p:cBhvr>
                                        <p:cTn id="20" dur="1" fill="hold">
                                          <p:stCondLst>
                                            <p:cond delay="0"/>
                                          </p:stCondLst>
                                        </p:cTn>
                                        <p:tgtEl>
                                          <p:spTgt spid="12"/>
                                        </p:tgtEl>
                                        <p:attrNameLst>
                                          <p:attrName>style.visibility</p:attrName>
                                        </p:attrNameLst>
                                      </p:cBhvr>
                                      <p:to>
                                        <p:strVal val="visible"/>
                                      </p:to>
                                    </p:set>
                                    <p:animEffect transition="in" filter="wipe(right)">
                                      <p:cBhvr>
                                        <p:cTn id="21" dur="420"/>
                                        <p:tgtEl>
                                          <p:spTgt spid="12"/>
                                        </p:tgtEl>
                                      </p:cBhvr>
                                    </p:animEffect>
                                  </p:childTnLst>
                                </p:cTn>
                              </p:par>
                            </p:childTnLst>
                          </p:cTn>
                        </p:par>
                      </p:childTnLst>
                    </p:cTn>
                  </p:par>
                  <p:par>
                    <p:cTn id="22" fill="hold">
                      <p:stCondLst>
                        <p:cond delay="indefinite"/>
                      </p:stCondLst>
                      <p:childTnLst>
                        <p:par>
                          <p:cTn id="23" fill="hold">
                            <p:stCondLst>
                              <p:cond delay="0"/>
                            </p:stCondLst>
                            <p:childTnLst>
                              <p:par>
                                <p:cTn id="24" presetID="22" presetClass="entr" presetSubtype="8" fill="hold" grpId="0" nodeType="clickEffect">
                                  <p:stCondLst>
                                    <p:cond delay="0"/>
                                  </p:stCondLst>
                                  <p:childTnLst>
                                    <p:set>
                                      <p:cBhvr>
                                        <p:cTn id="25" dur="1" fill="hold">
                                          <p:stCondLst>
                                            <p:cond delay="0"/>
                                          </p:stCondLst>
                                        </p:cTn>
                                        <p:tgtEl>
                                          <p:spTgt spid="14"/>
                                        </p:tgtEl>
                                        <p:attrNameLst>
                                          <p:attrName>style.visibility</p:attrName>
                                        </p:attrNameLst>
                                      </p:cBhvr>
                                      <p:to>
                                        <p:strVal val="visible"/>
                                      </p:to>
                                    </p:set>
                                    <p:animEffect transition="in" filter="wipe(right)">
                                      <p:cBhvr>
                                        <p:cTn id="26" dur="420"/>
                                        <p:tgtEl>
                                          <p:spTgt spid="14"/>
                                        </p:tgtEl>
                                      </p:cBhvr>
                                    </p:animEffect>
                                  </p:childTnLst>
                                </p:cTn>
                              </p:par>
                              <p:par>
                                <p:cTn id="27" presetID="10" presetClass="entr" presetSubtype="0" fill="hold" grpId="0" nodeType="withEffect">
                                  <p:stCondLst>
                                    <p:cond delay="0"/>
                                  </p:stCondLst>
                                  <p:childTnLst>
                                    <p:set>
                                      <p:cBhvr>
                                        <p:cTn id="28" dur="1" fill="hold">
                                          <p:stCondLst>
                                            <p:cond delay="0"/>
                                          </p:stCondLst>
                                        </p:cTn>
                                        <p:tgtEl>
                                          <p:spTgt spid="13"/>
                                        </p:tgtEl>
                                        <p:attrNameLst>
                                          <p:attrName>style.visibility</p:attrName>
                                        </p:attrNameLst>
                                      </p:cBhvr>
                                      <p:to>
                                        <p:strVal val="visible"/>
                                      </p:to>
                                    </p:set>
                                    <p:animEffect transition="in" filter="fade">
                                      <p:cBhvr>
                                        <p:cTn id="29" dur="420"/>
                                        <p:tgtEl>
                                          <p:spTgt spid="13"/>
                                        </p:tgtEl>
                                      </p:cBhvr>
                                    </p:animEffect>
                                  </p:childTnLst>
                                </p:cTn>
                              </p:par>
                            </p:childTnLst>
                          </p:cTn>
                        </p:par>
                      </p:childTnLst>
                    </p:cTn>
                  </p:par>
                  <p:par>
                    <p:cTn id="30" fill="hold">
                      <p:stCondLst>
                        <p:cond delay="indefinite"/>
                      </p:stCondLst>
                      <p:childTnLst>
                        <p:par>
                          <p:cTn id="31" fill="hold">
                            <p:stCondLst>
                              <p:cond delay="0"/>
                            </p:stCondLst>
                            <p:childTnLst>
                              <p:par>
                                <p:cTn id="32" presetID="10" presetClass="entr" presetSubtype="0" fill="hold" grpId="0" nodeType="clickEffect">
                                  <p:stCondLst>
                                    <p:cond delay="0"/>
                                  </p:stCondLst>
                                  <p:childTnLst>
                                    <p:set>
                                      <p:cBhvr>
                                        <p:cTn id="33" dur="1" fill="hold">
                                          <p:stCondLst>
                                            <p:cond delay="0"/>
                                          </p:stCondLst>
                                        </p:cTn>
                                        <p:tgtEl>
                                          <p:spTgt spid="15">
                                            <p:txEl>
                                              <p:pRg st="0" end="0"/>
                                            </p:txEl>
                                          </p:spTgt>
                                        </p:tgtEl>
                                        <p:attrNameLst>
                                          <p:attrName>style.visibility</p:attrName>
                                        </p:attrNameLst>
                                      </p:cBhvr>
                                      <p:to>
                                        <p:strVal val="visible"/>
                                      </p:to>
                                    </p:set>
                                    <p:animEffect transition="in" filter="fade">
                                      <p:cBhvr>
                                        <p:cTn id="34" dur="350"/>
                                        <p:tgtEl>
                                          <p:spTgt spid="15">
                                            <p:txEl>
                                              <p:pRg st="0" end="0"/>
                                            </p:txEl>
                                          </p:spTgt>
                                        </p:tgtEl>
                                      </p:cBhvr>
                                    </p:animEffect>
                                  </p:childTnLst>
                                </p:cTn>
                              </p:par>
                            </p:childTnLst>
                          </p:cTn>
                        </p:par>
                      </p:childTnLst>
                    </p:cTn>
                  </p:par>
                  <p:par>
                    <p:cTn id="35" fill="hold">
                      <p:stCondLst>
                        <p:cond delay="indefinite"/>
                      </p:stCondLst>
                      <p:childTnLst>
                        <p:par>
                          <p:cTn id="36" fill="hold">
                            <p:stCondLst>
                              <p:cond delay="0"/>
                            </p:stCondLst>
                            <p:childTnLst>
                              <p:par>
                                <p:cTn id="37" presetID="10" presetClass="entr" presetSubtype="0" fill="hold" grpId="0" nodeType="clickEffect">
                                  <p:stCondLst>
                                    <p:cond delay="0"/>
                                  </p:stCondLst>
                                  <p:childTnLst>
                                    <p:set>
                                      <p:cBhvr>
                                        <p:cTn id="38" dur="1" fill="hold">
                                          <p:stCondLst>
                                            <p:cond delay="0"/>
                                          </p:stCondLst>
                                        </p:cTn>
                                        <p:tgtEl>
                                          <p:spTgt spid="15">
                                            <p:txEl>
                                              <p:pRg st="1" end="1"/>
                                            </p:txEl>
                                          </p:spTgt>
                                        </p:tgtEl>
                                        <p:attrNameLst>
                                          <p:attrName>style.visibility</p:attrName>
                                        </p:attrNameLst>
                                      </p:cBhvr>
                                      <p:to>
                                        <p:strVal val="visible"/>
                                      </p:to>
                                    </p:set>
                                    <p:animEffect transition="in" filter="fade">
                                      <p:cBhvr>
                                        <p:cTn id="39" dur="350"/>
                                        <p:tgtEl>
                                          <p:spTgt spid="15">
                                            <p:txEl>
                                              <p:pRg st="1" end="1"/>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5" grpId="0" build="p"/>
    </p:bldLst>
  </p:timing>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3000" b="0">
                <a:solidFill>
                  <a:srgbClr val="1A5276"/>
                </a:solidFill>
                <a:latin typeface="Segoe UI Semibold"/>
              </a:rPr>
              <a:t>Answering four queries by inheritance (continued)</a:t>
            </a:r>
          </a:p>
        </p:txBody>
      </p:sp>
      <p:pic>
        <p:nvPicPr>
          <p:cNvPr id="3" name="!!kicker-icon" descr="calculator-B7950B.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193146"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B7950B"/>
                </a:solidFill>
                <a:latin typeface="Segoe UI"/>
              </a:rPr>
              <a:t>WORKED EXAMPLE</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Artificial Intelligence  ·  Chapter 10  ·  Knowledge Representation</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§10.6  ·  Handout p. 104     </a:t>
            </a:r>
            <a:fld id="{63D8B6AF-5009-4EC3-95B3-961D0E104972}" type="slidenum">
              <a:rPr lang="en-GB" sz="1000">
                <a:solidFill>
                  <a:srgbClr val="8795A1"/>
                </a:solidFill>
                <a:latin typeface="Segoe UI"/>
              </a:rPr>
              <a:t>15</a:t>
            </a:fld>
          </a:p>
        </p:txBody>
      </p:sp>
      <p:sp>
        <p:nvSpPr>
          <p:cNvPr id="7" name="!!card">
            <a:extLst>
              <a:ext uri="{C183D7F6-B498-43B3-948B-1728B52AA6E4}">
                <adec:decorative xmlns:adec="http://schemas.microsoft.com/office/drawing/2017/decorative" val="1"/>
              </a:ext>
            </a:extLst>
          </p:cNvPr>
          <p:cNvSpPr/>
          <p:nvPr/>
        </p:nvSpPr>
        <p:spPr>
          <a:xfrm>
            <a:off x="658368" y="1737360"/>
            <a:ext cx="10874959" cy="1753209"/>
          </a:xfrm>
          <a:prstGeom prst="roundRect">
            <a:avLst>
              <a:gd name="adj" fmla="val 5215"/>
            </a:avLst>
          </a:prstGeom>
          <a:solidFill>
            <a:srgbClr val="FBF8EC"/>
          </a:solidFill>
          <a:ln>
            <a:noFill/>
          </a:ln>
          <a:effectLst>
            <a:outerShdw blurRad="127000" dist="25400" dir="5400000" algn="t" rotWithShape="0">
              <a:srgbClr val="1C252B">
                <a:alpha val="10000"/>
              </a:srgbClr>
            </a:outerShdw>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8" name="!!cardrule">
            <a:extLst>
              <a:ext uri="{C183D7F6-B498-43B3-948B-1728B52AA6E4}">
                <adec:decorative xmlns:adec="http://schemas.microsoft.com/office/drawing/2017/decorative" val="1"/>
              </a:ext>
            </a:extLst>
          </p:cNvPr>
          <p:cNvSpPr/>
          <p:nvPr/>
        </p:nvSpPr>
        <p:spPr>
          <a:xfrm>
            <a:off x="658368" y="1737360"/>
            <a:ext cx="82296" cy="1753209"/>
          </a:xfrm>
          <a:prstGeom prst="rect">
            <a:avLst/>
          </a:prstGeom>
          <a:solidFill>
            <a:srgbClr val="B7950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9" name="body-0"/>
          <p:cNvSpPr txBox="1"/>
          <p:nvPr/>
        </p:nvSpPr>
        <p:spPr>
          <a:xfrm>
            <a:off x="1042416" y="2011679"/>
            <a:ext cx="10234879" cy="1250289"/>
          </a:xfrm>
          <a:prstGeom prst="rect">
            <a:avLst/>
          </a:prstGeom>
          <a:noFill/>
        </p:spPr>
        <p:txBody>
          <a:bodyPr wrap="square" anchor="t" lIns="0" rIns="0" tIns="0" bIns="0">
            <a:noAutofit/>
          </a:bodyPr>
          <a:lstStyle/>
          <a:p>
            <a:pPr algn="l">
              <a:lnSpc>
                <a:spcPct val="104000"/>
              </a:lnSpc>
              <a:spcBef>
                <a:spcPts val="0"/>
              </a:spcBef>
              <a:spcAft>
                <a:spcPts val="0"/>
              </a:spcAft>
            </a:pPr>
            <a:r>
              <a:rPr sz="1900" b="1" i="0">
                <a:solidFill>
                  <a:srgbClr val="7D6608"/>
                </a:solidFill>
                <a:latin typeface="Segoe UI"/>
              </a:rPr>
              <a:t>Answer: conflict</a:t>
            </a:r>
            <a:r>
              <a:rPr sz="1900" b="0" i="0">
                <a:solidFill>
                  <a:srgbClr val="1C252B"/>
                </a:solidFill>
                <a:latin typeface="Segoe UI"/>
              </a:rPr>
              <a:t>, and the system should say so. The lab returns the set </a:t>
            </a:r>
            <a:r>
              <a:rPr sz="1900" b="0" i="0">
                <a:solidFill>
                  <a:srgbClr val="1C252B"/>
                </a:solidFill>
                <a:latin typeface="Cambria"/>
              </a:rPr>
              <a:t>{</a:t>
            </a:r>
            <a:r>
              <a:rPr sz="1900" b="0" i="1">
                <a:solidFill>
                  <a:srgbClr val="1C252B"/>
                </a:solidFill>
                <a:latin typeface="Cambria"/>
              </a:rPr>
              <a:t>yes</a:t>
            </a:r>
            <a:r>
              <a:rPr sz="1900" b="0" i="0">
                <a:solidFill>
                  <a:srgbClr val="1C252B"/>
                </a:solidFill>
                <a:latin typeface="Cambria"/>
              </a:rPr>
              <a:t>, </a:t>
            </a:r>
            <a:r>
              <a:rPr sz="1900" b="0" i="1">
                <a:solidFill>
                  <a:srgbClr val="1C252B"/>
                </a:solidFill>
                <a:latin typeface="Cambria"/>
              </a:rPr>
              <a:t>no</a:t>
            </a:r>
            <a:r>
              <a:rPr sz="1900" b="0" i="0">
                <a:solidFill>
                  <a:srgbClr val="1C252B"/>
                </a:solidFill>
                <a:latin typeface="Cambria"/>
              </a:rPr>
              <a:t>}</a:t>
            </a:r>
            <a:r>
              <a:rPr sz="1900" b="0" i="0">
                <a:solidFill>
                  <a:srgbClr val="1C252B"/>
                </a:solidFill>
                <a:latin typeface="Segoe UI"/>
              </a:rPr>
              <a:t> with its provenance, and leaves the decision to a person — which in this case is the only defensible behaviour, because the two sources are a delivery convention and a regulatory obligation and they are not equally negotiable.</a:t>
            </a:r>
          </a:p>
        </p:txBody>
      </p:sp>
      <p:sp>
        <p:nvSpPr>
          <p:cNvPr id="10" name="body-0bar">
            <a:extLst>
              <a:ext uri="{C183D7F6-B498-43B3-948B-1728B52AA6E4}">
                <adec:decorative xmlns:adec="http://schemas.microsoft.com/office/drawing/2017/decorative" val="1"/>
              </a:ext>
            </a:extLst>
          </p:cNvPr>
          <p:cNvSpPr/>
          <p:nvPr/>
        </p:nvSpPr>
        <p:spPr>
          <a:xfrm>
            <a:off x="841248" y="2029967"/>
            <a:ext cx="54864" cy="1186281"/>
          </a:xfrm>
          <a:prstGeom prst="rect">
            <a:avLst/>
          </a:prstGeom>
          <a:solidFill>
            <a:srgbClr val="B7950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2"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3" name="!!pfill">
            <a:extLst>
              <a:ext uri="{C183D7F6-B498-43B3-948B-1728B52AA6E4}">
                <adec:decorative xmlns:adec="http://schemas.microsoft.com/office/drawing/2017/decorative" val="1"/>
              </a:ext>
            </a:extLst>
          </p:cNvPr>
          <p:cNvSpPr/>
          <p:nvPr/>
        </p:nvSpPr>
        <p:spPr>
          <a:xfrm>
            <a:off x="0" y="0"/>
            <a:ext cx="4252916" cy="54864"/>
          </a:xfrm>
          <a:prstGeom prst="rect">
            <a:avLst/>
          </a:prstGeom>
          <a:solidFill>
            <a:srgbClr val="8E44A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Requires="p14">
      <p:transition spd="med" p14:dur="450">
        <p:fade/>
      </p:transition>
    </mc:Choice>
    <mc:Fallback>
      <p:transition spd="med">
        <p:fade/>
      </p:transition>
    </mc:Fallback>
  </mc:AlternateContent>
  <p:timing>
    <p:tnLst>
      <p:par>
        <p:cTn id="2" dur="indefinite" restart="never" nodeType="tmRoot">
          <p:childTnLst>
            <p:seq concurrent="1" nextAc="seek">
              <p:cTn id="3" dur="indefinite" nodeType="mainSeq">
                <p:childTnLst>
                  <p:par>
                    <p:cTn id="4" fill="hold">
                      <p:stCondLst>
                        <p:cond delay="indefinite"/>
                      </p:stCondLst>
                      <p:childTnLst>
                        <p:par>
                          <p:cTn id="5" fill="hold">
                            <p:stCondLst>
                              <p:cond delay="0"/>
                            </p:stCondLst>
                            <p:childTnLst>
                              <p:par>
                                <p:cTn id="6" presetID="22" presetClass="entr" presetSubtype="8" fill="hold" grpId="0" nodeType="clickEffect">
                                  <p:stCondLst>
                                    <p:cond delay="0"/>
                                  </p:stCondLst>
                                  <p:childTnLst>
                                    <p:set>
                                      <p:cBhvr>
                                        <p:cTn id="7" dur="1" fill="hold">
                                          <p:stCondLst>
                                            <p:cond delay="0"/>
                                          </p:stCondLst>
                                        </p:cTn>
                                        <p:tgtEl>
                                          <p:spTgt spid="10"/>
                                        </p:tgtEl>
                                        <p:attrNameLst>
                                          <p:attrName>style.visibility</p:attrName>
                                        </p:attrNameLst>
                                      </p:cBhvr>
                                      <p:to>
                                        <p:strVal val="visible"/>
                                      </p:to>
                                    </p:set>
                                    <p:animEffect transition="in" filter="wipe(right)">
                                      <p:cBhvr>
                                        <p:cTn id="8" dur="420"/>
                                        <p:tgtEl>
                                          <p:spTgt spid="10"/>
                                        </p:tgtEl>
                                      </p:cBhvr>
                                    </p:animEffect>
                                  </p:childTnLst>
                                </p:cTn>
                              </p:par>
                              <p:par>
                                <p:cTn id="9" presetID="10" presetClass="entr" presetSubtype="0" fill="hold" grpId="0" nodeType="withEffect">
                                  <p:stCondLst>
                                    <p:cond delay="0"/>
                                  </p:stCondLst>
                                  <p:childTnLst>
                                    <p:set>
                                      <p:cBhvr>
                                        <p:cTn id="10" dur="1" fill="hold">
                                          <p:stCondLst>
                                            <p:cond delay="0"/>
                                          </p:stCondLst>
                                        </p:cTn>
                                        <p:tgtEl>
                                          <p:spTgt spid="9"/>
                                        </p:tgtEl>
                                        <p:attrNameLst>
                                          <p:attrName>style.visibility</p:attrName>
                                        </p:attrNameLst>
                                      </p:cBhvr>
                                      <p:to>
                                        <p:strVal val="visible"/>
                                      </p:to>
                                    </p:set>
                                    <p:animEffect transition="in" filter="fade">
                                      <p:cBhvr>
                                        <p:cTn id="11" dur="420"/>
                                        <p:tgtEl>
                                          <p:spTgt spid="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3000" b="0">
                <a:solidFill>
                  <a:srgbClr val="1A5276"/>
                </a:solidFill>
                <a:latin typeface="Segoe UI Semibold"/>
              </a:rPr>
              <a:t>Common pitfalls</a:t>
            </a:r>
          </a:p>
        </p:txBody>
      </p:sp>
      <p:pic>
        <p:nvPicPr>
          <p:cNvPr id="3" name="!!kicker-icon" descr="exclamation-circle-E74C3C.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226727"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E74C3C"/>
                </a:solidFill>
                <a:latin typeface="Segoe UI"/>
              </a:rPr>
              <a:t>COMMON PITFALLS</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Artificial Intelligence  ·  Chapter 10  ·  Knowledge Representation</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§10.6  ·  Handout p. 104     </a:t>
            </a:r>
            <a:fld id="{E3972587-6182-488B-8A5F-082CF57869E5}" type="slidenum">
              <a:rPr lang="en-GB" sz="1000">
                <a:solidFill>
                  <a:srgbClr val="8795A1"/>
                </a:solidFill>
                <a:latin typeface="Segoe UI"/>
              </a:rPr>
              <a:t>16</a:t>
            </a:fld>
          </a:p>
        </p:txBody>
      </p:sp>
      <p:sp>
        <p:nvSpPr>
          <p:cNvPr id="7" name="!!pb0">
            <a:extLst>
              <a:ext uri="{C183D7F6-B498-43B3-948B-1728B52AA6E4}">
                <adec:decorative xmlns:adec="http://schemas.microsoft.com/office/drawing/2017/decorative" val="1"/>
              </a:ext>
            </a:extLst>
          </p:cNvPr>
          <p:cNvSpPr/>
          <p:nvPr/>
        </p:nvSpPr>
        <p:spPr>
          <a:xfrm>
            <a:off x="658368" y="1755648"/>
            <a:ext cx="365760" cy="365760"/>
          </a:xfrm>
          <a:prstGeom prst="ellipse">
            <a:avLst/>
          </a:prstGeom>
          <a:solidFill>
            <a:srgbClr val="FCE6E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8" name="!!px0"/>
          <p:cNvSpPr txBox="1"/>
          <p:nvPr/>
        </p:nvSpPr>
        <p:spPr>
          <a:xfrm>
            <a:off x="658368" y="1778507"/>
            <a:ext cx="365760" cy="274320"/>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E74C3C"/>
                </a:solidFill>
                <a:latin typeface="Segoe UI"/>
              </a:rPr>
              <a:t>✕</a:t>
            </a:r>
          </a:p>
        </p:txBody>
      </p:sp>
      <p:sp>
        <p:nvSpPr>
          <p:cNvPr id="9" name="!!pt0"/>
          <p:cNvSpPr txBox="1"/>
          <p:nvPr/>
        </p:nvSpPr>
        <p:spPr>
          <a:xfrm>
            <a:off x="1261872" y="1737360"/>
            <a:ext cx="10271455" cy="570585"/>
          </a:xfrm>
          <a:prstGeom prst="rect">
            <a:avLst/>
          </a:prstGeom>
          <a:noFill/>
        </p:spPr>
        <p:txBody>
          <a:bodyPr wrap="square" anchor="t" lIns="0" rIns="0" tIns="0" bIns="0">
            <a:noAutofit/>
          </a:bodyPr>
          <a:lstStyle/>
          <a:p>
            <a:pPr algn="l">
              <a:lnSpc>
                <a:spcPct val="104000"/>
              </a:lnSpc>
              <a:spcBef>
                <a:spcPts val="0"/>
              </a:spcBef>
              <a:spcAft>
                <a:spcPts val="0"/>
              </a:spcAft>
            </a:pPr>
            <a:r>
              <a:rPr sz="1800" b="1" i="0">
                <a:solidFill>
                  <a:srgbClr val="A93226"/>
                </a:solidFill>
                <a:latin typeface="Segoe UI"/>
              </a:rPr>
              <a:t>Letting inheritance guess on a multiple-inheritance conflict.</a:t>
            </a:r>
            <a:r>
              <a:rPr sz="1800" b="0" i="0">
                <a:solidFill>
                  <a:srgbClr val="1C252B"/>
                </a:solidFill>
                <a:latin typeface="Segoe UI"/>
              </a:rPr>
              <a:t> The answer then depends on insertion order. Detect it and refuse.</a:t>
            </a:r>
          </a:p>
        </p:txBody>
      </p:sp>
      <p:sp>
        <p:nvSpPr>
          <p:cNvPr id="10" name="!!pb1">
            <a:extLst>
              <a:ext uri="{C183D7F6-B498-43B3-948B-1728B52AA6E4}">
                <adec:decorative xmlns:adec="http://schemas.microsoft.com/office/drawing/2017/decorative" val="1"/>
              </a:ext>
            </a:extLst>
          </p:cNvPr>
          <p:cNvSpPr/>
          <p:nvPr/>
        </p:nvSpPr>
        <p:spPr>
          <a:xfrm>
            <a:off x="658368" y="2527401"/>
            <a:ext cx="365760" cy="365760"/>
          </a:xfrm>
          <a:prstGeom prst="ellipse">
            <a:avLst/>
          </a:prstGeom>
          <a:solidFill>
            <a:srgbClr val="FCE6E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1" name="!!px1"/>
          <p:cNvSpPr txBox="1"/>
          <p:nvPr/>
        </p:nvSpPr>
        <p:spPr>
          <a:xfrm>
            <a:off x="658368" y="2550261"/>
            <a:ext cx="365760" cy="274320"/>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E74C3C"/>
                </a:solidFill>
                <a:latin typeface="Segoe UI"/>
              </a:rPr>
              <a:t>✕</a:t>
            </a:r>
          </a:p>
        </p:txBody>
      </p:sp>
      <p:sp>
        <p:nvSpPr>
          <p:cNvPr id="12" name="!!pt1"/>
          <p:cNvSpPr txBox="1"/>
          <p:nvPr/>
        </p:nvSpPr>
        <p:spPr>
          <a:xfrm>
            <a:off x="1261872" y="2509113"/>
            <a:ext cx="10271455" cy="570585"/>
          </a:xfrm>
          <a:prstGeom prst="rect">
            <a:avLst/>
          </a:prstGeom>
          <a:noFill/>
        </p:spPr>
        <p:txBody>
          <a:bodyPr wrap="square" anchor="t" lIns="0" rIns="0" tIns="0" bIns="0">
            <a:noAutofit/>
          </a:bodyPr>
          <a:lstStyle/>
          <a:p>
            <a:pPr algn="l">
              <a:lnSpc>
                <a:spcPct val="104000"/>
              </a:lnSpc>
              <a:spcBef>
                <a:spcPts val="0"/>
              </a:spcBef>
              <a:spcAft>
                <a:spcPts val="0"/>
              </a:spcAft>
            </a:pPr>
            <a:r>
              <a:rPr sz="1800" b="1" i="0">
                <a:solidFill>
                  <a:srgbClr val="A93226"/>
                </a:solidFill>
                <a:latin typeface="Segoe UI"/>
              </a:rPr>
              <a:t>Treating a default as a universal.</a:t>
            </a:r>
            <a:r>
              <a:rPr sz="1800" b="0" i="0">
                <a:solidFill>
                  <a:srgbClr val="1C252B"/>
                </a:solidFill>
                <a:latin typeface="Segoe UI"/>
              </a:rPr>
              <a:t> “Releases go out on Thursdays” is false of hotfixes. If you write it as </a:t>
            </a:r>
            <a:r>
              <a:rPr sz="1800" b="0" i="0">
                <a:solidFill>
                  <a:srgbClr val="1C252B"/>
                </a:solidFill>
                <a:latin typeface="Cambria"/>
              </a:rPr>
              <a:t>∀</a:t>
            </a:r>
            <a:r>
              <a:rPr sz="1800" b="0" i="0">
                <a:solidFill>
                  <a:srgbClr val="1C252B"/>
                </a:solidFill>
                <a:latin typeface="Segoe UI"/>
              </a:rPr>
              <a:t> in Chapter 12, the knowledge base becomes inconsistent the first time a hotfix appears.</a:t>
            </a:r>
          </a:p>
        </p:txBody>
      </p:sp>
      <p:sp>
        <p:nvSpPr>
          <p:cNvPr id="13" name="!!pb2">
            <a:extLst>
              <a:ext uri="{C183D7F6-B498-43B3-948B-1728B52AA6E4}">
                <adec:decorative xmlns:adec="http://schemas.microsoft.com/office/drawing/2017/decorative" val="1"/>
              </a:ext>
            </a:extLst>
          </p:cNvPr>
          <p:cNvSpPr/>
          <p:nvPr/>
        </p:nvSpPr>
        <p:spPr>
          <a:xfrm>
            <a:off x="658368" y="3299155"/>
            <a:ext cx="365760" cy="365760"/>
          </a:xfrm>
          <a:prstGeom prst="ellipse">
            <a:avLst/>
          </a:prstGeom>
          <a:solidFill>
            <a:srgbClr val="FCE6E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4" name="!!px2"/>
          <p:cNvSpPr txBox="1"/>
          <p:nvPr/>
        </p:nvSpPr>
        <p:spPr>
          <a:xfrm>
            <a:off x="658368" y="3322015"/>
            <a:ext cx="365760" cy="274320"/>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E74C3C"/>
                </a:solidFill>
                <a:latin typeface="Segoe UI"/>
              </a:rPr>
              <a:t>✕</a:t>
            </a:r>
          </a:p>
        </p:txBody>
      </p:sp>
      <p:sp>
        <p:nvSpPr>
          <p:cNvPr id="15" name="!!pt2"/>
          <p:cNvSpPr txBox="1"/>
          <p:nvPr/>
        </p:nvSpPr>
        <p:spPr>
          <a:xfrm>
            <a:off x="1261872" y="3280867"/>
            <a:ext cx="10271455" cy="570585"/>
          </a:xfrm>
          <a:prstGeom prst="rect">
            <a:avLst/>
          </a:prstGeom>
          <a:noFill/>
        </p:spPr>
        <p:txBody>
          <a:bodyPr wrap="square" anchor="t" lIns="0" rIns="0" tIns="0" bIns="0">
            <a:noAutofit/>
          </a:bodyPr>
          <a:lstStyle/>
          <a:p>
            <a:pPr algn="l">
              <a:lnSpc>
                <a:spcPct val="104000"/>
              </a:lnSpc>
              <a:spcBef>
                <a:spcPts val="0"/>
              </a:spcBef>
              <a:spcAft>
                <a:spcPts val="0"/>
              </a:spcAft>
            </a:pPr>
            <a:r>
              <a:rPr sz="1800" b="1" i="0">
                <a:solidFill>
                  <a:srgbClr val="A93226"/>
                </a:solidFill>
                <a:latin typeface="Segoe UI"/>
              </a:rPr>
              <a:t>Putting knowledge in code.</a:t>
            </a:r>
            <a:r>
              <a:rPr sz="1800" b="0" i="0">
                <a:solidFill>
                  <a:srgbClr val="1C252B"/>
                </a:solidFill>
                <a:latin typeface="Segoe UI"/>
              </a:rPr>
              <a:t> A rule inside an </a:t>
            </a:r>
            <a:r>
              <a:rPr sz="1700" b="0" i="0">
                <a:solidFill>
                  <a:srgbClr val="1F4E79"/>
                </a:solidFill>
                <a:latin typeface="Consolas"/>
              </a:rPr>
              <a:t>if</a:t>
            </a:r>
            <a:r>
              <a:rPr sz="1800" b="0" i="0">
                <a:solidFill>
                  <a:srgbClr val="1C252B"/>
                </a:solidFill>
                <a:latin typeface="Segoe UI"/>
              </a:rPr>
              <a:t> statement cannot be reviewed by the person who knows whether it is right.</a:t>
            </a:r>
          </a:p>
        </p:txBody>
      </p:sp>
      <p:sp>
        <p:nvSpPr>
          <p:cNvPr id="16" name="!!pb3">
            <a:extLst>
              <a:ext uri="{C183D7F6-B498-43B3-948B-1728B52AA6E4}">
                <adec:decorative xmlns:adec="http://schemas.microsoft.com/office/drawing/2017/decorative" val="1"/>
              </a:ext>
            </a:extLst>
          </p:cNvPr>
          <p:cNvSpPr/>
          <p:nvPr/>
        </p:nvSpPr>
        <p:spPr>
          <a:xfrm>
            <a:off x="658368" y="4070908"/>
            <a:ext cx="365760" cy="365760"/>
          </a:xfrm>
          <a:prstGeom prst="ellipse">
            <a:avLst/>
          </a:prstGeom>
          <a:solidFill>
            <a:srgbClr val="FCE6E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7" name="!!px3"/>
          <p:cNvSpPr txBox="1"/>
          <p:nvPr/>
        </p:nvSpPr>
        <p:spPr>
          <a:xfrm>
            <a:off x="658368" y="4093768"/>
            <a:ext cx="365760" cy="274320"/>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E74C3C"/>
                </a:solidFill>
                <a:latin typeface="Segoe UI"/>
              </a:rPr>
              <a:t>✕</a:t>
            </a:r>
          </a:p>
        </p:txBody>
      </p:sp>
      <p:sp>
        <p:nvSpPr>
          <p:cNvPr id="18" name="!!pt3"/>
          <p:cNvSpPr txBox="1"/>
          <p:nvPr/>
        </p:nvSpPr>
        <p:spPr>
          <a:xfrm>
            <a:off x="1261872" y="4052620"/>
            <a:ext cx="10271455" cy="570585"/>
          </a:xfrm>
          <a:prstGeom prst="rect">
            <a:avLst/>
          </a:prstGeom>
          <a:noFill/>
        </p:spPr>
        <p:txBody>
          <a:bodyPr wrap="square" anchor="t" lIns="0" rIns="0" tIns="0" bIns="0">
            <a:noAutofit/>
          </a:bodyPr>
          <a:lstStyle/>
          <a:p>
            <a:pPr algn="l">
              <a:lnSpc>
                <a:spcPct val="104000"/>
              </a:lnSpc>
              <a:spcBef>
                <a:spcPts val="0"/>
              </a:spcBef>
              <a:spcAft>
                <a:spcPts val="0"/>
              </a:spcAft>
            </a:pPr>
            <a:r>
              <a:rPr sz="1800" b="1" i="0">
                <a:solidFill>
                  <a:srgbClr val="A93226"/>
                </a:solidFill>
                <a:latin typeface="Segoe UI"/>
              </a:rPr>
              <a:t>Cycles in </a:t>
            </a:r>
            <a:r>
              <a:rPr sz="1700" b="1" i="0">
                <a:solidFill>
                  <a:srgbClr val="1F4E79"/>
                </a:solidFill>
                <a:latin typeface="Consolas"/>
              </a:rPr>
              <a:t>is-a</a:t>
            </a:r>
            <a:r>
              <a:rPr sz="1800" b="1" i="0">
                <a:solidFill>
                  <a:srgbClr val="1C252B"/>
                </a:solidFill>
                <a:latin typeface="Segoe UI"/>
              </a:rPr>
              <a:t>.</a:t>
            </a:r>
            <a:r>
              <a:rPr sz="1800" b="0" i="0">
                <a:solidFill>
                  <a:srgbClr val="1C252B"/>
                </a:solidFill>
                <a:latin typeface="Segoe UI"/>
              </a:rPr>
              <a:t> An inheritance walk that does not keep a visited set will not terminate. The lab keeps one.</a:t>
            </a:r>
          </a:p>
        </p:txBody>
      </p:sp>
      <p:sp>
        <p:nvSpPr>
          <p:cNvPr id="19" name="!!pb4">
            <a:extLst>
              <a:ext uri="{C183D7F6-B498-43B3-948B-1728B52AA6E4}">
                <adec:decorative xmlns:adec="http://schemas.microsoft.com/office/drawing/2017/decorative" val="1"/>
              </a:ext>
            </a:extLst>
          </p:cNvPr>
          <p:cNvSpPr/>
          <p:nvPr/>
        </p:nvSpPr>
        <p:spPr>
          <a:xfrm>
            <a:off x="658368" y="4842662"/>
            <a:ext cx="365760" cy="365760"/>
          </a:xfrm>
          <a:prstGeom prst="ellipse">
            <a:avLst/>
          </a:prstGeom>
          <a:solidFill>
            <a:srgbClr val="FCE6E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0" name="!!px4"/>
          <p:cNvSpPr txBox="1"/>
          <p:nvPr/>
        </p:nvSpPr>
        <p:spPr>
          <a:xfrm>
            <a:off x="658368" y="4865522"/>
            <a:ext cx="365760" cy="274320"/>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E74C3C"/>
                </a:solidFill>
                <a:latin typeface="Segoe UI"/>
              </a:rPr>
              <a:t>✕</a:t>
            </a:r>
          </a:p>
        </p:txBody>
      </p:sp>
      <p:sp>
        <p:nvSpPr>
          <p:cNvPr id="21" name="!!pt4"/>
          <p:cNvSpPr txBox="1"/>
          <p:nvPr/>
        </p:nvSpPr>
        <p:spPr>
          <a:xfrm>
            <a:off x="1261872" y="4824374"/>
            <a:ext cx="10271455" cy="570585"/>
          </a:xfrm>
          <a:prstGeom prst="rect">
            <a:avLst/>
          </a:prstGeom>
          <a:noFill/>
        </p:spPr>
        <p:txBody>
          <a:bodyPr wrap="square" anchor="t" lIns="0" rIns="0" tIns="0" bIns="0">
            <a:noAutofit/>
          </a:bodyPr>
          <a:lstStyle/>
          <a:p>
            <a:pPr algn="l">
              <a:lnSpc>
                <a:spcPct val="104000"/>
              </a:lnSpc>
              <a:spcBef>
                <a:spcPts val="0"/>
              </a:spcBef>
              <a:spcAft>
                <a:spcPts val="0"/>
              </a:spcAft>
            </a:pPr>
            <a:r>
              <a:rPr sz="1800" b="1" i="0">
                <a:solidFill>
                  <a:srgbClr val="A93226"/>
                </a:solidFill>
                <a:latin typeface="Segoe UI"/>
              </a:rPr>
              <a:t>Confusing </a:t>
            </a:r>
            <a:r>
              <a:rPr sz="1700" b="1" i="0">
                <a:solidFill>
                  <a:srgbClr val="1F4E79"/>
                </a:solidFill>
                <a:latin typeface="Consolas"/>
              </a:rPr>
              <a:t>is-a</a:t>
            </a:r>
            <a:r>
              <a:rPr sz="1800" b="1" i="0">
                <a:solidFill>
                  <a:srgbClr val="1C252B"/>
                </a:solidFill>
                <a:latin typeface="Segoe UI"/>
              </a:rPr>
              <a:t> with </a:t>
            </a:r>
            <a:r>
              <a:rPr sz="1700" b="1" i="0">
                <a:solidFill>
                  <a:srgbClr val="1F4E79"/>
                </a:solidFill>
                <a:latin typeface="Consolas"/>
              </a:rPr>
              <a:t>instance-of</a:t>
            </a:r>
            <a:r>
              <a:rPr sz="1800" b="1" i="0">
                <a:solidFill>
                  <a:srgbClr val="1C252B"/>
                </a:solidFill>
                <a:latin typeface="Segoe UI"/>
              </a:rPr>
              <a:t>.</a:t>
            </a:r>
            <a:r>
              <a:rPr sz="1800" b="0" i="0">
                <a:solidFill>
                  <a:srgbClr val="1C252B"/>
                </a:solidFill>
                <a:latin typeface="Segoe UI"/>
              </a:rPr>
              <a:t> A hotfix </a:t>
            </a:r>
            <a:r>
              <a:rPr sz="1800" b="0" i="1">
                <a:solidFill>
                  <a:srgbClr val="1C252B"/>
                </a:solidFill>
                <a:latin typeface="Segoe UI"/>
              </a:rPr>
              <a:t>is a kind of</a:t>
            </a:r>
            <a:r>
              <a:rPr sz="1800" b="0" i="0">
                <a:solidFill>
                  <a:srgbClr val="1C252B"/>
                </a:solidFill>
                <a:latin typeface="Segoe UI"/>
              </a:rPr>
              <a:t> release; Release 4.7 </a:t>
            </a:r>
            <a:r>
              <a:rPr sz="1800" b="0" i="1">
                <a:solidFill>
                  <a:srgbClr val="1C252B"/>
                </a:solidFill>
                <a:latin typeface="Segoe UI"/>
              </a:rPr>
              <a:t>is a</a:t>
            </a:r>
            <a:r>
              <a:rPr sz="1800" b="0" i="0">
                <a:solidFill>
                  <a:srgbClr val="1C252B"/>
                </a:solidFill>
                <a:latin typeface="Segoe UI"/>
              </a:rPr>
              <a:t> hotfix. Conflating them lets a class inherit properties of an individual, and the errors are very hard to see.</a:t>
            </a:r>
          </a:p>
        </p:txBody>
      </p:sp>
      <p:sp>
        <p:nvSpPr>
          <p:cNvPr id="22" name="!!pb5">
            <a:extLst>
              <a:ext uri="{C183D7F6-B498-43B3-948B-1728B52AA6E4}">
                <adec:decorative xmlns:adec="http://schemas.microsoft.com/office/drawing/2017/decorative" val="1"/>
              </a:ext>
            </a:extLst>
          </p:cNvPr>
          <p:cNvSpPr/>
          <p:nvPr/>
        </p:nvSpPr>
        <p:spPr>
          <a:xfrm>
            <a:off x="658368" y="5614416"/>
            <a:ext cx="365760" cy="365760"/>
          </a:xfrm>
          <a:prstGeom prst="ellipse">
            <a:avLst/>
          </a:prstGeom>
          <a:solidFill>
            <a:srgbClr val="FCE6E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3" name="!!px5"/>
          <p:cNvSpPr txBox="1"/>
          <p:nvPr/>
        </p:nvSpPr>
        <p:spPr>
          <a:xfrm>
            <a:off x="658368" y="5637276"/>
            <a:ext cx="365760" cy="274320"/>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E74C3C"/>
                </a:solidFill>
                <a:latin typeface="Segoe UI"/>
              </a:rPr>
              <a:t>✕</a:t>
            </a:r>
          </a:p>
        </p:txBody>
      </p:sp>
      <p:sp>
        <p:nvSpPr>
          <p:cNvPr id="24" name="!!pt5"/>
          <p:cNvSpPr txBox="1"/>
          <p:nvPr/>
        </p:nvSpPr>
        <p:spPr>
          <a:xfrm>
            <a:off x="1261872" y="5596128"/>
            <a:ext cx="10271455" cy="570585"/>
          </a:xfrm>
          <a:prstGeom prst="rect">
            <a:avLst/>
          </a:prstGeom>
          <a:noFill/>
        </p:spPr>
        <p:txBody>
          <a:bodyPr wrap="square" anchor="t" lIns="0" rIns="0" tIns="0" bIns="0">
            <a:noAutofit/>
          </a:bodyPr>
          <a:lstStyle/>
          <a:p>
            <a:pPr algn="l">
              <a:lnSpc>
                <a:spcPct val="104000"/>
              </a:lnSpc>
              <a:spcBef>
                <a:spcPts val="0"/>
              </a:spcBef>
              <a:spcAft>
                <a:spcPts val="0"/>
              </a:spcAft>
            </a:pPr>
            <a:r>
              <a:rPr sz="1800" b="1" i="0">
                <a:solidFill>
                  <a:srgbClr val="A93226"/>
                </a:solidFill>
                <a:latin typeface="Segoe UI"/>
              </a:rPr>
              <a:t>Expecting the ontology to pay for itself through inference.</a:t>
            </a:r>
            <a:r>
              <a:rPr sz="1800" b="0" i="0">
                <a:solidFill>
                  <a:srgbClr val="1C252B"/>
                </a:solidFill>
                <a:latin typeface="Segoe UI"/>
              </a:rPr>
              <a:t> In practice most of the value is the shared vocabulary.</a:t>
            </a:r>
          </a:p>
        </p:txBody>
      </p:sp>
      <p:sp>
        <p:nvSpPr>
          <p:cNvPr id="70"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71" name="!!pfill">
            <a:extLst>
              <a:ext uri="{C183D7F6-B498-43B3-948B-1728B52AA6E4}">
                <adec:decorative xmlns:adec="http://schemas.microsoft.com/office/drawing/2017/decorative" val="1"/>
              </a:ext>
            </a:extLst>
          </p:cNvPr>
          <p:cNvSpPr/>
          <p:nvPr/>
        </p:nvSpPr>
        <p:spPr>
          <a:xfrm>
            <a:off x="0" y="0"/>
            <a:ext cx="4536444" cy="54864"/>
          </a:xfrm>
          <a:prstGeom prst="rect">
            <a:avLst/>
          </a:prstGeom>
          <a:solidFill>
            <a:srgbClr val="8E44A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Requires="p14">
      <p:transition spd="med" p14:dur="450">
        <p:fade/>
      </p:transition>
    </mc:Choice>
    <mc:Fallback>
      <p:transition spd="med">
        <p:fade/>
      </p:transition>
    </mc:Fallback>
  </mc:AlternateContent>
  <p:timing>
    <p:tnLst>
      <p:par>
        <p:cTn id="2" dur="indefinite" restart="never" nodeType="tmRoot">
          <p:childTnLst>
            <p:seq concurrent="1" nextAc="seek">
              <p:cTn id="3" dur="indefinite" nodeType="mainSeq">
                <p:childTnLst>
                  <p:par>
                    <p:cTn id="4" fill="hold">
                      <p:stCondLst>
                        <p:cond delay="indefinite"/>
                      </p:stCondLst>
                      <p:childTnLst>
                        <p:par>
                          <p:cTn id="5" fill="hold">
                            <p:stCondLst>
                              <p:cond delay="0"/>
                            </p:stCondLst>
                            <p:childTnLst>
                              <p:par>
                                <p:cTn id="6" presetID="23" presetClass="entr" presetSubtype="16" fill="hold" grpId="0" nodeType="clickEffect">
                                  <p:stCondLst>
                                    <p:cond delay="0"/>
                                  </p:stCondLst>
                                  <p:childTnLst>
                                    <p:set>
                                      <p:cBhvr>
                                        <p:cTn id="7" dur="1" fill="hold">
                                          <p:stCondLst>
                                            <p:cond delay="0"/>
                                          </p:stCondLst>
                                        </p:cTn>
                                        <p:tgtEl>
                                          <p:spTgt spid="7"/>
                                        </p:tgtEl>
                                        <p:attrNameLst>
                                          <p:attrName>style.visibility</p:attrName>
                                        </p:attrNameLst>
                                      </p:cBhvr>
                                      <p:to>
                                        <p:strVal val="visible"/>
                                      </p:to>
                                    </p:set>
                                    <p:animEffect transition="in" filter="zoom(in)">
                                      <p:cBhvr>
                                        <p:cTn id="8" dur="260"/>
                                        <p:tgtEl>
                                          <p:spTgt spid="7"/>
                                        </p:tgtEl>
                                      </p:cBhvr>
                                    </p:animEffect>
                                  </p:childTnLst>
                                </p:cTn>
                              </p:par>
                              <p:par>
                                <p:cTn id="9" presetID="10" presetClass="entr" presetSubtype="0" fill="hold" grpId="0" nodeType="withEffect">
                                  <p:stCondLst>
                                    <p:cond delay="0"/>
                                  </p:stCondLst>
                                  <p:childTnLst>
                                    <p:set>
                                      <p:cBhvr>
                                        <p:cTn id="10" dur="1" fill="hold">
                                          <p:stCondLst>
                                            <p:cond delay="0"/>
                                          </p:stCondLst>
                                        </p:cTn>
                                        <p:tgtEl>
                                          <p:spTgt spid="8"/>
                                        </p:tgtEl>
                                        <p:attrNameLst>
                                          <p:attrName>style.visibility</p:attrName>
                                        </p:attrNameLst>
                                      </p:cBhvr>
                                      <p:to>
                                        <p:strVal val="visible"/>
                                      </p:to>
                                    </p:set>
                                    <p:animEffect transition="in" filter="fade">
                                      <p:cBhvr>
                                        <p:cTn id="11" dur="260"/>
                                        <p:tgtEl>
                                          <p:spTgt spid="8"/>
                                        </p:tgtEl>
                                      </p:cBhvr>
                                    </p:animEffect>
                                  </p:childTnLst>
                                </p:cTn>
                              </p:par>
                              <p:par>
                                <p:cTn id="12" presetID="22" presetClass="entr" presetSubtype="8" fill="hold" grpId="0" nodeType="withEffect">
                                  <p:stCondLst>
                                    <p:cond delay="0"/>
                                  </p:stCondLst>
                                  <p:childTnLst>
                                    <p:set>
                                      <p:cBhvr>
                                        <p:cTn id="13" dur="1" fill="hold">
                                          <p:stCondLst>
                                            <p:cond delay="0"/>
                                          </p:stCondLst>
                                        </p:cTn>
                                        <p:tgtEl>
                                          <p:spTgt spid="9"/>
                                        </p:tgtEl>
                                        <p:attrNameLst>
                                          <p:attrName>style.visibility</p:attrName>
                                        </p:attrNameLst>
                                      </p:cBhvr>
                                      <p:to>
                                        <p:strVal val="visible"/>
                                      </p:to>
                                    </p:set>
                                    <p:animEffect transition="in" filter="wipe(right)">
                                      <p:cBhvr>
                                        <p:cTn id="14" dur="400"/>
                                        <p:tgtEl>
                                          <p:spTgt spid="9"/>
                                        </p:tgtEl>
                                      </p:cBhvr>
                                    </p:animEffect>
                                  </p:childTnLst>
                                </p:cTn>
                              </p:par>
                            </p:childTnLst>
                          </p:cTn>
                        </p:par>
                      </p:childTnLst>
                    </p:cTn>
                  </p:par>
                  <p:par>
                    <p:cTn id="15" fill="hold">
                      <p:stCondLst>
                        <p:cond delay="indefinite"/>
                      </p:stCondLst>
                      <p:childTnLst>
                        <p:par>
                          <p:cTn id="16" fill="hold">
                            <p:stCondLst>
                              <p:cond delay="0"/>
                            </p:stCondLst>
                            <p:childTnLst>
                              <p:par>
                                <p:cTn id="17" presetID="23" presetClass="entr" presetSubtype="16" fill="hold" grpId="0" nodeType="clickEffect">
                                  <p:stCondLst>
                                    <p:cond delay="0"/>
                                  </p:stCondLst>
                                  <p:childTnLst>
                                    <p:set>
                                      <p:cBhvr>
                                        <p:cTn id="18" dur="1" fill="hold">
                                          <p:stCondLst>
                                            <p:cond delay="0"/>
                                          </p:stCondLst>
                                        </p:cTn>
                                        <p:tgtEl>
                                          <p:spTgt spid="10"/>
                                        </p:tgtEl>
                                        <p:attrNameLst>
                                          <p:attrName>style.visibility</p:attrName>
                                        </p:attrNameLst>
                                      </p:cBhvr>
                                      <p:to>
                                        <p:strVal val="visible"/>
                                      </p:to>
                                    </p:set>
                                    <p:animEffect transition="in" filter="zoom(in)">
                                      <p:cBhvr>
                                        <p:cTn id="19" dur="260"/>
                                        <p:tgtEl>
                                          <p:spTgt spid="10"/>
                                        </p:tgtEl>
                                      </p:cBhvr>
                                    </p:animEffect>
                                  </p:childTnLst>
                                </p:cTn>
                              </p:par>
                              <p:par>
                                <p:cTn id="20" presetID="10" presetClass="entr" presetSubtype="0" fill="hold" grpId="0" nodeType="withEffect">
                                  <p:stCondLst>
                                    <p:cond delay="0"/>
                                  </p:stCondLst>
                                  <p:childTnLst>
                                    <p:set>
                                      <p:cBhvr>
                                        <p:cTn id="21" dur="1" fill="hold">
                                          <p:stCondLst>
                                            <p:cond delay="0"/>
                                          </p:stCondLst>
                                        </p:cTn>
                                        <p:tgtEl>
                                          <p:spTgt spid="11"/>
                                        </p:tgtEl>
                                        <p:attrNameLst>
                                          <p:attrName>style.visibility</p:attrName>
                                        </p:attrNameLst>
                                      </p:cBhvr>
                                      <p:to>
                                        <p:strVal val="visible"/>
                                      </p:to>
                                    </p:set>
                                    <p:animEffect transition="in" filter="fade">
                                      <p:cBhvr>
                                        <p:cTn id="22" dur="260"/>
                                        <p:tgtEl>
                                          <p:spTgt spid="11"/>
                                        </p:tgtEl>
                                      </p:cBhvr>
                                    </p:animEffect>
                                  </p:childTnLst>
                                </p:cTn>
                              </p:par>
                              <p:par>
                                <p:cTn id="23" presetID="22" presetClass="entr" presetSubtype="8" fill="hold" grpId="0" nodeType="withEffect">
                                  <p:stCondLst>
                                    <p:cond delay="0"/>
                                  </p:stCondLst>
                                  <p:childTnLst>
                                    <p:set>
                                      <p:cBhvr>
                                        <p:cTn id="24" dur="1" fill="hold">
                                          <p:stCondLst>
                                            <p:cond delay="0"/>
                                          </p:stCondLst>
                                        </p:cTn>
                                        <p:tgtEl>
                                          <p:spTgt spid="12"/>
                                        </p:tgtEl>
                                        <p:attrNameLst>
                                          <p:attrName>style.visibility</p:attrName>
                                        </p:attrNameLst>
                                      </p:cBhvr>
                                      <p:to>
                                        <p:strVal val="visible"/>
                                      </p:to>
                                    </p:set>
                                    <p:animEffect transition="in" filter="wipe(right)">
                                      <p:cBhvr>
                                        <p:cTn id="25" dur="400"/>
                                        <p:tgtEl>
                                          <p:spTgt spid="12"/>
                                        </p:tgtEl>
                                      </p:cBhvr>
                                    </p:animEffect>
                                  </p:childTnLst>
                                </p:cTn>
                              </p:par>
                            </p:childTnLst>
                          </p:cTn>
                        </p:par>
                      </p:childTnLst>
                    </p:cTn>
                  </p:par>
                  <p:par>
                    <p:cTn id="26" fill="hold">
                      <p:stCondLst>
                        <p:cond delay="indefinite"/>
                      </p:stCondLst>
                      <p:childTnLst>
                        <p:par>
                          <p:cTn id="27" fill="hold">
                            <p:stCondLst>
                              <p:cond delay="0"/>
                            </p:stCondLst>
                            <p:childTnLst>
                              <p:par>
                                <p:cTn id="28" presetID="23" presetClass="entr" presetSubtype="16" fill="hold" grpId="0" nodeType="clickEffect">
                                  <p:stCondLst>
                                    <p:cond delay="0"/>
                                  </p:stCondLst>
                                  <p:childTnLst>
                                    <p:set>
                                      <p:cBhvr>
                                        <p:cTn id="29" dur="1" fill="hold">
                                          <p:stCondLst>
                                            <p:cond delay="0"/>
                                          </p:stCondLst>
                                        </p:cTn>
                                        <p:tgtEl>
                                          <p:spTgt spid="13"/>
                                        </p:tgtEl>
                                        <p:attrNameLst>
                                          <p:attrName>style.visibility</p:attrName>
                                        </p:attrNameLst>
                                      </p:cBhvr>
                                      <p:to>
                                        <p:strVal val="visible"/>
                                      </p:to>
                                    </p:set>
                                    <p:animEffect transition="in" filter="zoom(in)">
                                      <p:cBhvr>
                                        <p:cTn id="30" dur="260"/>
                                        <p:tgtEl>
                                          <p:spTgt spid="13"/>
                                        </p:tgtEl>
                                      </p:cBhvr>
                                    </p:animEffect>
                                  </p:childTnLst>
                                </p:cTn>
                              </p:par>
                              <p:par>
                                <p:cTn id="31" presetID="10" presetClass="entr" presetSubtype="0" fill="hold" grpId="0" nodeType="withEffect">
                                  <p:stCondLst>
                                    <p:cond delay="0"/>
                                  </p:stCondLst>
                                  <p:childTnLst>
                                    <p:set>
                                      <p:cBhvr>
                                        <p:cTn id="32" dur="1" fill="hold">
                                          <p:stCondLst>
                                            <p:cond delay="0"/>
                                          </p:stCondLst>
                                        </p:cTn>
                                        <p:tgtEl>
                                          <p:spTgt spid="14"/>
                                        </p:tgtEl>
                                        <p:attrNameLst>
                                          <p:attrName>style.visibility</p:attrName>
                                        </p:attrNameLst>
                                      </p:cBhvr>
                                      <p:to>
                                        <p:strVal val="visible"/>
                                      </p:to>
                                    </p:set>
                                    <p:animEffect transition="in" filter="fade">
                                      <p:cBhvr>
                                        <p:cTn id="33" dur="260"/>
                                        <p:tgtEl>
                                          <p:spTgt spid="14"/>
                                        </p:tgtEl>
                                      </p:cBhvr>
                                    </p:animEffect>
                                  </p:childTnLst>
                                </p:cTn>
                              </p:par>
                              <p:par>
                                <p:cTn id="34" presetID="22" presetClass="entr" presetSubtype="8" fill="hold" grpId="0" nodeType="withEffect">
                                  <p:stCondLst>
                                    <p:cond delay="0"/>
                                  </p:stCondLst>
                                  <p:childTnLst>
                                    <p:set>
                                      <p:cBhvr>
                                        <p:cTn id="35" dur="1" fill="hold">
                                          <p:stCondLst>
                                            <p:cond delay="0"/>
                                          </p:stCondLst>
                                        </p:cTn>
                                        <p:tgtEl>
                                          <p:spTgt spid="15"/>
                                        </p:tgtEl>
                                        <p:attrNameLst>
                                          <p:attrName>style.visibility</p:attrName>
                                        </p:attrNameLst>
                                      </p:cBhvr>
                                      <p:to>
                                        <p:strVal val="visible"/>
                                      </p:to>
                                    </p:set>
                                    <p:animEffect transition="in" filter="wipe(right)">
                                      <p:cBhvr>
                                        <p:cTn id="36" dur="400"/>
                                        <p:tgtEl>
                                          <p:spTgt spid="15"/>
                                        </p:tgtEl>
                                      </p:cBhvr>
                                    </p:animEffect>
                                  </p:childTnLst>
                                </p:cTn>
                              </p:par>
                            </p:childTnLst>
                          </p:cTn>
                        </p:par>
                      </p:childTnLst>
                    </p:cTn>
                  </p:par>
                  <p:par>
                    <p:cTn id="37" fill="hold">
                      <p:stCondLst>
                        <p:cond delay="indefinite"/>
                      </p:stCondLst>
                      <p:childTnLst>
                        <p:par>
                          <p:cTn id="38" fill="hold">
                            <p:stCondLst>
                              <p:cond delay="0"/>
                            </p:stCondLst>
                            <p:childTnLst>
                              <p:par>
                                <p:cTn id="39" presetID="23" presetClass="entr" presetSubtype="16" fill="hold" grpId="0" nodeType="clickEffect">
                                  <p:stCondLst>
                                    <p:cond delay="0"/>
                                  </p:stCondLst>
                                  <p:childTnLst>
                                    <p:set>
                                      <p:cBhvr>
                                        <p:cTn id="40" dur="1" fill="hold">
                                          <p:stCondLst>
                                            <p:cond delay="0"/>
                                          </p:stCondLst>
                                        </p:cTn>
                                        <p:tgtEl>
                                          <p:spTgt spid="16"/>
                                        </p:tgtEl>
                                        <p:attrNameLst>
                                          <p:attrName>style.visibility</p:attrName>
                                        </p:attrNameLst>
                                      </p:cBhvr>
                                      <p:to>
                                        <p:strVal val="visible"/>
                                      </p:to>
                                    </p:set>
                                    <p:animEffect transition="in" filter="zoom(in)">
                                      <p:cBhvr>
                                        <p:cTn id="41" dur="260"/>
                                        <p:tgtEl>
                                          <p:spTgt spid="16"/>
                                        </p:tgtEl>
                                      </p:cBhvr>
                                    </p:animEffect>
                                  </p:childTnLst>
                                </p:cTn>
                              </p:par>
                              <p:par>
                                <p:cTn id="42" presetID="10" presetClass="entr" presetSubtype="0" fill="hold" grpId="0" nodeType="withEffect">
                                  <p:stCondLst>
                                    <p:cond delay="0"/>
                                  </p:stCondLst>
                                  <p:childTnLst>
                                    <p:set>
                                      <p:cBhvr>
                                        <p:cTn id="43" dur="1" fill="hold">
                                          <p:stCondLst>
                                            <p:cond delay="0"/>
                                          </p:stCondLst>
                                        </p:cTn>
                                        <p:tgtEl>
                                          <p:spTgt spid="17"/>
                                        </p:tgtEl>
                                        <p:attrNameLst>
                                          <p:attrName>style.visibility</p:attrName>
                                        </p:attrNameLst>
                                      </p:cBhvr>
                                      <p:to>
                                        <p:strVal val="visible"/>
                                      </p:to>
                                    </p:set>
                                    <p:animEffect transition="in" filter="fade">
                                      <p:cBhvr>
                                        <p:cTn id="44" dur="260"/>
                                        <p:tgtEl>
                                          <p:spTgt spid="17"/>
                                        </p:tgtEl>
                                      </p:cBhvr>
                                    </p:animEffect>
                                  </p:childTnLst>
                                </p:cTn>
                              </p:par>
                              <p:par>
                                <p:cTn id="45" presetID="22" presetClass="entr" presetSubtype="8" fill="hold" grpId="0" nodeType="withEffect">
                                  <p:stCondLst>
                                    <p:cond delay="0"/>
                                  </p:stCondLst>
                                  <p:childTnLst>
                                    <p:set>
                                      <p:cBhvr>
                                        <p:cTn id="46" dur="1" fill="hold">
                                          <p:stCondLst>
                                            <p:cond delay="0"/>
                                          </p:stCondLst>
                                        </p:cTn>
                                        <p:tgtEl>
                                          <p:spTgt spid="18"/>
                                        </p:tgtEl>
                                        <p:attrNameLst>
                                          <p:attrName>style.visibility</p:attrName>
                                        </p:attrNameLst>
                                      </p:cBhvr>
                                      <p:to>
                                        <p:strVal val="visible"/>
                                      </p:to>
                                    </p:set>
                                    <p:animEffect transition="in" filter="wipe(right)">
                                      <p:cBhvr>
                                        <p:cTn id="47" dur="400"/>
                                        <p:tgtEl>
                                          <p:spTgt spid="18"/>
                                        </p:tgtEl>
                                      </p:cBhvr>
                                    </p:animEffect>
                                  </p:childTnLst>
                                </p:cTn>
                              </p:par>
                            </p:childTnLst>
                          </p:cTn>
                        </p:par>
                      </p:childTnLst>
                    </p:cTn>
                  </p:par>
                  <p:par>
                    <p:cTn id="48" fill="hold">
                      <p:stCondLst>
                        <p:cond delay="indefinite"/>
                      </p:stCondLst>
                      <p:childTnLst>
                        <p:par>
                          <p:cTn id="49" fill="hold">
                            <p:stCondLst>
                              <p:cond delay="0"/>
                            </p:stCondLst>
                            <p:childTnLst>
                              <p:par>
                                <p:cTn id="50" presetID="23" presetClass="entr" presetSubtype="16" fill="hold" grpId="0" nodeType="clickEffect">
                                  <p:stCondLst>
                                    <p:cond delay="0"/>
                                  </p:stCondLst>
                                  <p:childTnLst>
                                    <p:set>
                                      <p:cBhvr>
                                        <p:cTn id="51" dur="1" fill="hold">
                                          <p:stCondLst>
                                            <p:cond delay="0"/>
                                          </p:stCondLst>
                                        </p:cTn>
                                        <p:tgtEl>
                                          <p:spTgt spid="19"/>
                                        </p:tgtEl>
                                        <p:attrNameLst>
                                          <p:attrName>style.visibility</p:attrName>
                                        </p:attrNameLst>
                                      </p:cBhvr>
                                      <p:to>
                                        <p:strVal val="visible"/>
                                      </p:to>
                                    </p:set>
                                    <p:animEffect transition="in" filter="zoom(in)">
                                      <p:cBhvr>
                                        <p:cTn id="52" dur="260"/>
                                        <p:tgtEl>
                                          <p:spTgt spid="19"/>
                                        </p:tgtEl>
                                      </p:cBhvr>
                                    </p:animEffect>
                                  </p:childTnLst>
                                </p:cTn>
                              </p:par>
                              <p:par>
                                <p:cTn id="53" presetID="10" presetClass="entr" presetSubtype="0" fill="hold" grpId="0" nodeType="withEffect">
                                  <p:stCondLst>
                                    <p:cond delay="0"/>
                                  </p:stCondLst>
                                  <p:childTnLst>
                                    <p:set>
                                      <p:cBhvr>
                                        <p:cTn id="54" dur="1" fill="hold">
                                          <p:stCondLst>
                                            <p:cond delay="0"/>
                                          </p:stCondLst>
                                        </p:cTn>
                                        <p:tgtEl>
                                          <p:spTgt spid="20"/>
                                        </p:tgtEl>
                                        <p:attrNameLst>
                                          <p:attrName>style.visibility</p:attrName>
                                        </p:attrNameLst>
                                      </p:cBhvr>
                                      <p:to>
                                        <p:strVal val="visible"/>
                                      </p:to>
                                    </p:set>
                                    <p:animEffect transition="in" filter="fade">
                                      <p:cBhvr>
                                        <p:cTn id="55" dur="260"/>
                                        <p:tgtEl>
                                          <p:spTgt spid="20"/>
                                        </p:tgtEl>
                                      </p:cBhvr>
                                    </p:animEffect>
                                  </p:childTnLst>
                                </p:cTn>
                              </p:par>
                              <p:par>
                                <p:cTn id="56" presetID="22" presetClass="entr" presetSubtype="8" fill="hold" grpId="0" nodeType="withEffect">
                                  <p:stCondLst>
                                    <p:cond delay="0"/>
                                  </p:stCondLst>
                                  <p:childTnLst>
                                    <p:set>
                                      <p:cBhvr>
                                        <p:cTn id="57" dur="1" fill="hold">
                                          <p:stCondLst>
                                            <p:cond delay="0"/>
                                          </p:stCondLst>
                                        </p:cTn>
                                        <p:tgtEl>
                                          <p:spTgt spid="21"/>
                                        </p:tgtEl>
                                        <p:attrNameLst>
                                          <p:attrName>style.visibility</p:attrName>
                                        </p:attrNameLst>
                                      </p:cBhvr>
                                      <p:to>
                                        <p:strVal val="visible"/>
                                      </p:to>
                                    </p:set>
                                    <p:animEffect transition="in" filter="wipe(right)">
                                      <p:cBhvr>
                                        <p:cTn id="58" dur="400"/>
                                        <p:tgtEl>
                                          <p:spTgt spid="21"/>
                                        </p:tgtEl>
                                      </p:cBhvr>
                                    </p:animEffect>
                                  </p:childTnLst>
                                </p:cTn>
                              </p:par>
                            </p:childTnLst>
                          </p:cTn>
                        </p:par>
                      </p:childTnLst>
                    </p:cTn>
                  </p:par>
                  <p:par>
                    <p:cTn id="59" fill="hold">
                      <p:stCondLst>
                        <p:cond delay="indefinite"/>
                      </p:stCondLst>
                      <p:childTnLst>
                        <p:par>
                          <p:cTn id="60" fill="hold">
                            <p:stCondLst>
                              <p:cond delay="0"/>
                            </p:stCondLst>
                            <p:childTnLst>
                              <p:par>
                                <p:cTn id="61" presetID="23" presetClass="entr" presetSubtype="16" fill="hold" grpId="0" nodeType="clickEffect">
                                  <p:stCondLst>
                                    <p:cond delay="0"/>
                                  </p:stCondLst>
                                  <p:childTnLst>
                                    <p:set>
                                      <p:cBhvr>
                                        <p:cTn id="62" dur="1" fill="hold">
                                          <p:stCondLst>
                                            <p:cond delay="0"/>
                                          </p:stCondLst>
                                        </p:cTn>
                                        <p:tgtEl>
                                          <p:spTgt spid="22"/>
                                        </p:tgtEl>
                                        <p:attrNameLst>
                                          <p:attrName>style.visibility</p:attrName>
                                        </p:attrNameLst>
                                      </p:cBhvr>
                                      <p:to>
                                        <p:strVal val="visible"/>
                                      </p:to>
                                    </p:set>
                                    <p:animEffect transition="in" filter="zoom(in)">
                                      <p:cBhvr>
                                        <p:cTn id="63" dur="260"/>
                                        <p:tgtEl>
                                          <p:spTgt spid="22"/>
                                        </p:tgtEl>
                                      </p:cBhvr>
                                    </p:animEffect>
                                  </p:childTnLst>
                                </p:cTn>
                              </p:par>
                              <p:par>
                                <p:cTn id="64" presetID="10" presetClass="entr" presetSubtype="0" fill="hold" grpId="0" nodeType="withEffect">
                                  <p:stCondLst>
                                    <p:cond delay="0"/>
                                  </p:stCondLst>
                                  <p:childTnLst>
                                    <p:set>
                                      <p:cBhvr>
                                        <p:cTn id="65" dur="1" fill="hold">
                                          <p:stCondLst>
                                            <p:cond delay="0"/>
                                          </p:stCondLst>
                                        </p:cTn>
                                        <p:tgtEl>
                                          <p:spTgt spid="23"/>
                                        </p:tgtEl>
                                        <p:attrNameLst>
                                          <p:attrName>style.visibility</p:attrName>
                                        </p:attrNameLst>
                                      </p:cBhvr>
                                      <p:to>
                                        <p:strVal val="visible"/>
                                      </p:to>
                                    </p:set>
                                    <p:animEffect transition="in" filter="fade">
                                      <p:cBhvr>
                                        <p:cTn id="66" dur="260"/>
                                        <p:tgtEl>
                                          <p:spTgt spid="23"/>
                                        </p:tgtEl>
                                      </p:cBhvr>
                                    </p:animEffect>
                                  </p:childTnLst>
                                </p:cTn>
                              </p:par>
                              <p:par>
                                <p:cTn id="67" presetID="22" presetClass="entr" presetSubtype="8" fill="hold" grpId="0" nodeType="withEffect">
                                  <p:stCondLst>
                                    <p:cond delay="0"/>
                                  </p:stCondLst>
                                  <p:childTnLst>
                                    <p:set>
                                      <p:cBhvr>
                                        <p:cTn id="68" dur="1" fill="hold">
                                          <p:stCondLst>
                                            <p:cond delay="0"/>
                                          </p:stCondLst>
                                        </p:cTn>
                                        <p:tgtEl>
                                          <p:spTgt spid="24"/>
                                        </p:tgtEl>
                                        <p:attrNameLst>
                                          <p:attrName>style.visibility</p:attrName>
                                        </p:attrNameLst>
                                      </p:cBhvr>
                                      <p:to>
                                        <p:strVal val="visible"/>
                                      </p:to>
                                    </p:set>
                                    <p:animEffect transition="in" filter="wipe(right)">
                                      <p:cBhvr>
                                        <p:cTn id="69" dur="400"/>
                                        <p:tgtEl>
                                          <p:spTgt spid="2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3000" b="0">
                <a:solidFill>
                  <a:srgbClr val="1A5276"/>
                </a:solidFill>
                <a:latin typeface="Segoe UI Semibold"/>
              </a:rPr>
              <a:t>Try it yourself: A Semantic Network That Answers Queries</a:t>
            </a:r>
          </a:p>
        </p:txBody>
      </p:sp>
      <p:pic>
        <p:nvPicPr>
          <p:cNvPr id="3" name="!!kicker-icon" descr="flask-117A65.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192583"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117A65"/>
                </a:solidFill>
                <a:latin typeface="Segoe UI"/>
              </a:rPr>
              <a:t>TRY IT YOURSELF</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Artificial Intelligence  ·  Chapter 10  ·  Knowledge Representation</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§10.6  ·  Handout p. 104     </a:t>
            </a:r>
            <a:fld id="{9BDA338B-77BD-4B51-AC2D-6C16E9730540}" type="slidenum">
              <a:rPr lang="en-GB" sz="1000">
                <a:solidFill>
                  <a:srgbClr val="8795A1"/>
                </a:solidFill>
                <a:latin typeface="Segoe UI"/>
              </a:rPr>
              <a:t>17</a:t>
            </a:fld>
          </a:p>
        </p:txBody>
      </p:sp>
      <p:sp>
        <p:nvSpPr>
          <p:cNvPr id="7" name="body-0"/>
          <p:cNvSpPr txBox="1"/>
          <p:nvPr/>
        </p:nvSpPr>
        <p:spPr>
          <a:xfrm>
            <a:off x="658368" y="1737360"/>
            <a:ext cx="10874959" cy="679704"/>
          </a:xfrm>
          <a:prstGeom prst="rect">
            <a:avLst/>
          </a:prstGeom>
          <a:noFill/>
        </p:spPr>
        <p:txBody>
          <a:bodyPr wrap="square" anchor="t" lIns="0" rIns="0" tIns="0" bIns="0">
            <a:noAutofit/>
          </a:bodyPr>
          <a:lstStyle/>
          <a:p>
            <a:pPr algn="l">
              <a:lnSpc>
                <a:spcPct val="104000"/>
              </a:lnSpc>
              <a:spcBef>
                <a:spcPts val="0"/>
              </a:spcBef>
              <a:spcAft>
                <a:spcPts val="0"/>
              </a:spcAft>
            </a:pPr>
            <a:r>
              <a:rPr sz="2000" b="0" i="0">
                <a:solidFill>
                  <a:srgbClr val="1C252B"/>
                </a:solidFill>
                <a:latin typeface="Segoe UI"/>
              </a:rPr>
              <a:t>Frames in a dictionary, inheritance by walking upward, defaults with override, and a conflict that is detected rather than guessed.</a:t>
            </a:r>
          </a:p>
        </p:txBody>
      </p:sp>
      <p:sp>
        <p:nvSpPr>
          <p:cNvPr id="8" name="!!lfTHIS">
            <a:extLst>
              <a:ext uri="{C183D7F6-B498-43B3-948B-1728B52AA6E4}">
                <adec:decorative xmlns:adec="http://schemas.microsoft.com/office/drawing/2017/decorative" val="1"/>
              </a:ext>
            </a:extLst>
          </p:cNvPr>
          <p:cNvSpPr/>
          <p:nvPr/>
        </p:nvSpPr>
        <p:spPr>
          <a:xfrm>
            <a:off x="658368" y="2682240"/>
            <a:ext cx="3442106" cy="1078992"/>
          </a:xfrm>
          <a:prstGeom prst="roundRect">
            <a:avLst>
              <a:gd name="adj" fmla="val 8474"/>
            </a:avLst>
          </a:prstGeom>
          <a:solidFill>
            <a:srgbClr val="EEF6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9" name="!!lfbTHIS">
            <a:extLst>
              <a:ext uri="{C183D7F6-B498-43B3-948B-1728B52AA6E4}">
                <adec:decorative xmlns:adec="http://schemas.microsoft.com/office/drawing/2017/decorative" val="1"/>
              </a:ext>
            </a:extLst>
          </p:cNvPr>
          <p:cNvSpPr/>
          <p:nvPr/>
        </p:nvSpPr>
        <p:spPr>
          <a:xfrm>
            <a:off x="658368" y="2682240"/>
            <a:ext cx="64008" cy="1078992"/>
          </a:xfrm>
          <a:prstGeom prst="rect">
            <a:avLst/>
          </a:prstGeom>
          <a:solidFill>
            <a:srgbClr val="117A6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0" name="!!lflTHIS"/>
          <p:cNvSpPr txBox="1"/>
          <p:nvPr/>
        </p:nvSpPr>
        <p:spPr>
          <a:xfrm>
            <a:off x="932688" y="2846832"/>
            <a:ext cx="3030626" cy="237744"/>
          </a:xfrm>
          <a:prstGeom prst="rect">
            <a:avLst/>
          </a:prstGeom>
          <a:noFill/>
        </p:spPr>
        <p:txBody>
          <a:bodyPr wrap="square" anchor="t" lIns="0" rIns="0" tIns="0" bIns="0">
            <a:noAutofit/>
          </a:bodyPr>
          <a:lstStyle/>
          <a:p>
            <a:pPr algn="l">
              <a:lnSpc>
                <a:spcPct val="100000"/>
              </a:lnSpc>
              <a:spcBef>
                <a:spcPts val="0"/>
              </a:spcBef>
              <a:spcAft>
                <a:spcPts val="0"/>
              </a:spcAft>
            </a:pPr>
            <a:r>
              <a:rPr sz="1150" b="1" i="0" spc="140">
                <a:solidFill>
                  <a:srgbClr val="0E6655"/>
                </a:solidFill>
                <a:latin typeface="Segoe UI"/>
              </a:rPr>
              <a:t>THIS WEEK'S LAB</a:t>
            </a:r>
          </a:p>
        </p:txBody>
      </p:sp>
      <p:sp>
        <p:nvSpPr>
          <p:cNvPr id="11" name="!!lfvTHIS"/>
          <p:cNvSpPr txBox="1"/>
          <p:nvPr/>
        </p:nvSpPr>
        <p:spPr>
          <a:xfrm>
            <a:off x="932688" y="3139440"/>
            <a:ext cx="3030626" cy="566928"/>
          </a:xfrm>
          <a:prstGeom prst="rect">
            <a:avLst/>
          </a:prstGeom>
          <a:noFill/>
        </p:spPr>
        <p:txBody>
          <a:bodyPr wrap="square" anchor="t" lIns="0" rIns="0" tIns="0" bIns="0">
            <a:noAutofit/>
          </a:bodyPr>
          <a:lstStyle/>
          <a:p>
            <a:pPr algn="l">
              <a:lnSpc>
                <a:spcPct val="100000"/>
              </a:lnSpc>
              <a:spcBef>
                <a:spcPts val="0"/>
              </a:spcBef>
              <a:spcAft>
                <a:spcPts val="0"/>
              </a:spcAft>
            </a:pPr>
            <a:r>
              <a:rPr sz="1800" b="0" i="0">
                <a:solidFill>
                  <a:srgbClr val="1C252B"/>
                </a:solidFill>
                <a:latin typeface="Segoe UI"/>
              </a:rPr>
              <a:t>Week 9: A semantic network that answers queries</a:t>
            </a:r>
          </a:p>
        </p:txBody>
      </p:sp>
      <p:sp>
        <p:nvSpPr>
          <p:cNvPr id="12" name="!!lfWHAT">
            <a:extLst>
              <a:ext uri="{C183D7F6-B498-43B3-948B-1728B52AA6E4}">
                <adec:decorative xmlns:adec="http://schemas.microsoft.com/office/drawing/2017/decorative" val="1"/>
              </a:ext>
            </a:extLst>
          </p:cNvPr>
          <p:cNvSpPr/>
          <p:nvPr/>
        </p:nvSpPr>
        <p:spPr>
          <a:xfrm>
            <a:off x="4374794" y="2682240"/>
            <a:ext cx="3442106" cy="1078992"/>
          </a:xfrm>
          <a:prstGeom prst="roundRect">
            <a:avLst>
              <a:gd name="adj" fmla="val 8474"/>
            </a:avLst>
          </a:prstGeom>
          <a:solidFill>
            <a:srgbClr val="EEF6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3" name="!!lfbWHAT">
            <a:extLst>
              <a:ext uri="{C183D7F6-B498-43B3-948B-1728B52AA6E4}">
                <adec:decorative xmlns:adec="http://schemas.microsoft.com/office/drawing/2017/decorative" val="1"/>
              </a:ext>
            </a:extLst>
          </p:cNvPr>
          <p:cNvSpPr/>
          <p:nvPr/>
        </p:nvSpPr>
        <p:spPr>
          <a:xfrm>
            <a:off x="4374794" y="2682240"/>
            <a:ext cx="64008" cy="1078992"/>
          </a:xfrm>
          <a:prstGeom prst="rect">
            <a:avLst/>
          </a:prstGeom>
          <a:solidFill>
            <a:srgbClr val="117A6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4" name="!!lflWHAT"/>
          <p:cNvSpPr txBox="1"/>
          <p:nvPr/>
        </p:nvSpPr>
        <p:spPr>
          <a:xfrm>
            <a:off x="4649114" y="2846832"/>
            <a:ext cx="3030626" cy="237744"/>
          </a:xfrm>
          <a:prstGeom prst="rect">
            <a:avLst/>
          </a:prstGeom>
          <a:noFill/>
        </p:spPr>
        <p:txBody>
          <a:bodyPr wrap="square" anchor="t" lIns="0" rIns="0" tIns="0" bIns="0">
            <a:noAutofit/>
          </a:bodyPr>
          <a:lstStyle/>
          <a:p>
            <a:pPr algn="l">
              <a:lnSpc>
                <a:spcPct val="100000"/>
              </a:lnSpc>
              <a:spcBef>
                <a:spcPts val="0"/>
              </a:spcBef>
              <a:spcAft>
                <a:spcPts val="0"/>
              </a:spcAft>
            </a:pPr>
            <a:r>
              <a:rPr sz="1150" b="1" i="0" spc="140">
                <a:solidFill>
                  <a:srgbClr val="0E6655"/>
                </a:solidFill>
                <a:latin typeface="Segoe UI"/>
              </a:rPr>
              <a:t>WHAT YOU WILL RUN</a:t>
            </a:r>
          </a:p>
        </p:txBody>
      </p:sp>
      <p:sp>
        <p:nvSpPr>
          <p:cNvPr id="15" name="!!lfvWHAT"/>
          <p:cNvSpPr txBox="1"/>
          <p:nvPr/>
        </p:nvSpPr>
        <p:spPr>
          <a:xfrm>
            <a:off x="4649114" y="3139440"/>
            <a:ext cx="3030626" cy="566928"/>
          </a:xfrm>
          <a:prstGeom prst="rect">
            <a:avLst/>
          </a:prstGeom>
          <a:noFill/>
        </p:spPr>
        <p:txBody>
          <a:bodyPr wrap="square" anchor="t" lIns="0" rIns="0" tIns="0" bIns="0">
            <a:noAutofit/>
          </a:bodyPr>
          <a:lstStyle/>
          <a:p>
            <a:pPr algn="l">
              <a:lnSpc>
                <a:spcPct val="100000"/>
              </a:lnSpc>
              <a:spcBef>
                <a:spcPts val="0"/>
              </a:spcBef>
              <a:spcAft>
                <a:spcPts val="0"/>
              </a:spcAft>
            </a:pPr>
            <a:r>
              <a:rPr sz="1800" b="0" i="0">
                <a:solidFill>
                  <a:srgbClr val="1C252B"/>
                </a:solidFill>
                <a:latin typeface="Segoe UI"/>
              </a:rPr>
              <a:t>1 listing, 141 lines of Python</a:t>
            </a:r>
          </a:p>
        </p:txBody>
      </p:sp>
      <p:sp>
        <p:nvSpPr>
          <p:cNvPr id="16" name="!!lfRUNN">
            <a:extLst>
              <a:ext uri="{C183D7F6-B498-43B3-948B-1728B52AA6E4}">
                <adec:decorative xmlns:adec="http://schemas.microsoft.com/office/drawing/2017/decorative" val="1"/>
              </a:ext>
            </a:extLst>
          </p:cNvPr>
          <p:cNvSpPr/>
          <p:nvPr/>
        </p:nvSpPr>
        <p:spPr>
          <a:xfrm>
            <a:off x="8091220" y="2682240"/>
            <a:ext cx="3442106" cy="1078992"/>
          </a:xfrm>
          <a:prstGeom prst="roundRect">
            <a:avLst>
              <a:gd name="adj" fmla="val 8474"/>
            </a:avLst>
          </a:prstGeom>
          <a:solidFill>
            <a:srgbClr val="EEF6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7" name="!!lfbRUNN">
            <a:extLst>
              <a:ext uri="{C183D7F6-B498-43B3-948B-1728B52AA6E4}">
                <adec:decorative xmlns:adec="http://schemas.microsoft.com/office/drawing/2017/decorative" val="1"/>
              </a:ext>
            </a:extLst>
          </p:cNvPr>
          <p:cNvSpPr/>
          <p:nvPr/>
        </p:nvSpPr>
        <p:spPr>
          <a:xfrm>
            <a:off x="8091220" y="2682240"/>
            <a:ext cx="64008" cy="1078992"/>
          </a:xfrm>
          <a:prstGeom prst="rect">
            <a:avLst/>
          </a:prstGeom>
          <a:solidFill>
            <a:srgbClr val="117A6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8" name="!!lflRUNN"/>
          <p:cNvSpPr txBox="1"/>
          <p:nvPr/>
        </p:nvSpPr>
        <p:spPr>
          <a:xfrm>
            <a:off x="8365540" y="2846832"/>
            <a:ext cx="3030626" cy="237744"/>
          </a:xfrm>
          <a:prstGeom prst="rect">
            <a:avLst/>
          </a:prstGeom>
          <a:noFill/>
        </p:spPr>
        <p:txBody>
          <a:bodyPr wrap="square" anchor="t" lIns="0" rIns="0" tIns="0" bIns="0">
            <a:noAutofit/>
          </a:bodyPr>
          <a:lstStyle/>
          <a:p>
            <a:pPr algn="l">
              <a:lnSpc>
                <a:spcPct val="100000"/>
              </a:lnSpc>
              <a:spcBef>
                <a:spcPts val="0"/>
              </a:spcBef>
              <a:spcAft>
                <a:spcPts val="0"/>
              </a:spcAft>
            </a:pPr>
            <a:r>
              <a:rPr sz="1150" b="1" i="0" spc="140">
                <a:solidFill>
                  <a:srgbClr val="0E6655"/>
                </a:solidFill>
                <a:latin typeface="Segoe UI"/>
              </a:rPr>
              <a:t>RUNNABLE COPY</a:t>
            </a:r>
          </a:p>
        </p:txBody>
      </p:sp>
      <p:sp>
        <p:nvSpPr>
          <p:cNvPr id="19" name="!!lfvRUNN"/>
          <p:cNvSpPr txBox="1"/>
          <p:nvPr/>
        </p:nvSpPr>
        <p:spPr>
          <a:xfrm>
            <a:off x="8365540" y="3139440"/>
            <a:ext cx="3030626" cy="566928"/>
          </a:xfrm>
          <a:prstGeom prst="rect">
            <a:avLst/>
          </a:prstGeom>
          <a:noFill/>
        </p:spPr>
        <p:txBody>
          <a:bodyPr wrap="square" anchor="t" lIns="0" rIns="0" tIns="0" bIns="0">
            <a:noAutofit/>
          </a:bodyPr>
          <a:lstStyle/>
          <a:p>
            <a:pPr algn="l">
              <a:lnSpc>
                <a:spcPct val="100000"/>
              </a:lnSpc>
              <a:spcBef>
                <a:spcPts val="0"/>
              </a:spcBef>
              <a:spcAft>
                <a:spcPts val="0"/>
              </a:spcAft>
            </a:pPr>
            <a:r>
              <a:rPr sz="1800" b="0" i="0">
                <a:solidFill>
                  <a:srgbClr val="1C252B"/>
                </a:solidFill>
                <a:latin typeface="Consolas"/>
              </a:rPr>
              <a:t>code/ch10_semantic_network_that.py</a:t>
            </a:r>
          </a:p>
        </p:txBody>
      </p:sp>
      <p:sp>
        <p:nvSpPr>
          <p:cNvPr id="20"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1" name="!!pfill">
            <a:extLst>
              <a:ext uri="{C183D7F6-B498-43B3-948B-1728B52AA6E4}">
                <adec:decorative xmlns:adec="http://schemas.microsoft.com/office/drawing/2017/decorative" val="1"/>
              </a:ext>
            </a:extLst>
          </p:cNvPr>
          <p:cNvSpPr/>
          <p:nvPr/>
        </p:nvSpPr>
        <p:spPr>
          <a:xfrm>
            <a:off x="0" y="0"/>
            <a:ext cx="4819972" cy="54864"/>
          </a:xfrm>
          <a:prstGeom prst="rect">
            <a:avLst/>
          </a:prstGeom>
          <a:solidFill>
            <a:srgbClr val="8E44A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Requires="p14">
      <p:transition spd="med" p14:dur="450">
        <p:fade/>
      </p:transition>
    </mc:Choice>
    <mc:Fallback>
      <p:transition spd="med">
        <p:fade/>
      </p:transition>
    </mc:Fallback>
  </mc:AlternateContent>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2600" b="0">
                <a:solidFill>
                  <a:srgbClr val="1A5276"/>
                </a:solidFill>
                <a:latin typeface="Segoe UI Semibold"/>
              </a:rPr>
              <a:t>A Semantic Network That Answers Queries</a:t>
            </a:r>
          </a:p>
        </p:txBody>
      </p:sp>
      <p:pic>
        <p:nvPicPr>
          <p:cNvPr id="3" name="!!kicker-icon" descr="flask-117A65.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192583"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117A65"/>
                </a:solidFill>
                <a:latin typeface="Segoe UI"/>
              </a:rPr>
              <a:t>LAB  ·  STEP 1 OF 11</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Artificial Intelligence  ·  Chapter 10  ·  Knowledge Representation</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§10.6  ·  Handout p. 104     </a:t>
            </a:r>
            <a:fld id="{8A0E87FF-6AF3-4701-A98D-044E701EF18E}" type="slidenum">
              <a:rPr lang="en-GB" sz="1000">
                <a:solidFill>
                  <a:srgbClr val="8795A1"/>
                </a:solidFill>
                <a:latin typeface="Segoe UI"/>
              </a:rPr>
              <a:t>18</a:t>
            </a:fld>
          </a:p>
        </p:txBody>
      </p:sp>
      <p:sp>
        <p:nvSpPr>
          <p:cNvPr id="7" name="!!codehead"/>
          <p:cNvSpPr txBox="1"/>
          <p:nvPr/>
        </p:nvSpPr>
        <p:spPr>
          <a:xfrm>
            <a:off x="658368" y="1627631"/>
            <a:ext cx="10874959" cy="329184"/>
          </a:xfrm>
          <a:prstGeom prst="rect">
            <a:avLst/>
          </a:prstGeom>
          <a:noFill/>
        </p:spPr>
        <p:txBody>
          <a:bodyPr wrap="square" anchor="t" lIns="0" rIns="0" tIns="0" bIns="0">
            <a:noAutofit/>
          </a:bodyPr>
          <a:lstStyle/>
          <a:p>
            <a:pPr algn="l">
              <a:lnSpc>
                <a:spcPct val="100000"/>
              </a:lnSpc>
              <a:spcBef>
                <a:spcPts val="0"/>
              </a:spcBef>
              <a:spcAft>
                <a:spcPts val="0"/>
              </a:spcAft>
            </a:pPr>
            <a:r>
              <a:rPr sz="1900" b="1" i="0">
                <a:solidFill>
                  <a:srgbClr val="0E6655"/>
                </a:solidFill>
                <a:latin typeface="Segoe UI Semibold"/>
              </a:rPr>
              <a:t>Set-up</a:t>
            </a:r>
          </a:p>
        </p:txBody>
      </p:sp>
      <p:sp>
        <p:nvSpPr>
          <p:cNvPr id="8" name="!!code-bg">
            <a:extLst>
              <a:ext uri="{C183D7F6-B498-43B3-948B-1728B52AA6E4}">
                <adec:decorative xmlns:adec="http://schemas.microsoft.com/office/drawing/2017/decorative" val="1"/>
              </a:ext>
            </a:extLst>
          </p:cNvPr>
          <p:cNvSpPr/>
          <p:nvPr/>
        </p:nvSpPr>
        <p:spPr>
          <a:xfrm>
            <a:off x="658368" y="2084831"/>
            <a:ext cx="10874959" cy="2630424"/>
          </a:xfrm>
          <a:prstGeom prst="roundRect">
            <a:avLst>
              <a:gd name="adj" fmla="val 3476"/>
            </a:avLst>
          </a:prstGeom>
          <a:solidFill>
            <a:srgbClr val="1E283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9" name="!!code-sep">
            <a:extLst>
              <a:ext uri="{C183D7F6-B498-43B3-948B-1728B52AA6E4}">
                <adec:decorative xmlns:adec="http://schemas.microsoft.com/office/drawing/2017/decorative" val="1"/>
              </a:ext>
            </a:extLst>
          </p:cNvPr>
          <p:cNvSpPr/>
          <p:nvPr/>
        </p:nvSpPr>
        <p:spPr>
          <a:xfrm>
            <a:off x="676656" y="2404872"/>
            <a:ext cx="10838383" cy="10972"/>
          </a:xfrm>
          <a:prstGeom prst="rect">
            <a:avLst/>
          </a:prstGeom>
          <a:solidFill>
            <a:srgbClr val="28343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0" name="!!code-dot0">
            <a:extLst>
              <a:ext uri="{C183D7F6-B498-43B3-948B-1728B52AA6E4}">
                <adec:decorative xmlns:adec="http://schemas.microsoft.com/office/drawing/2017/decorative" val="1"/>
              </a:ext>
            </a:extLst>
          </p:cNvPr>
          <p:cNvSpPr/>
          <p:nvPr/>
        </p:nvSpPr>
        <p:spPr>
          <a:xfrm>
            <a:off x="859536" y="2199132"/>
            <a:ext cx="100584" cy="100584"/>
          </a:xfrm>
          <a:prstGeom prst="ellipse">
            <a:avLst/>
          </a:prstGeom>
          <a:solidFill>
            <a:srgbClr val="E74C3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1" name="!!code-dot1">
            <a:extLst>
              <a:ext uri="{C183D7F6-B498-43B3-948B-1728B52AA6E4}">
                <adec:decorative xmlns:adec="http://schemas.microsoft.com/office/drawing/2017/decorative" val="1"/>
              </a:ext>
            </a:extLst>
          </p:cNvPr>
          <p:cNvSpPr/>
          <p:nvPr/>
        </p:nvSpPr>
        <p:spPr>
          <a:xfrm>
            <a:off x="1042415" y="2199132"/>
            <a:ext cx="100584" cy="100584"/>
          </a:xfrm>
          <a:prstGeom prst="ellipse">
            <a:avLst/>
          </a:prstGeom>
          <a:solidFill>
            <a:srgbClr val="F4D03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2" name="!!code-dot2">
            <a:extLst>
              <a:ext uri="{C183D7F6-B498-43B3-948B-1728B52AA6E4}">
                <adec:decorative xmlns:adec="http://schemas.microsoft.com/office/drawing/2017/decorative" val="1"/>
              </a:ext>
            </a:extLst>
          </p:cNvPr>
          <p:cNvSpPr/>
          <p:nvPr/>
        </p:nvSpPr>
        <p:spPr>
          <a:xfrm>
            <a:off x="1225295" y="2199132"/>
            <a:ext cx="100584" cy="100584"/>
          </a:xfrm>
          <a:prstGeom prst="ellipse">
            <a:avLst/>
          </a:prstGeom>
          <a:solidFill>
            <a:srgbClr val="58D68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3" name="!!code-label"/>
          <p:cNvSpPr txBox="1"/>
          <p:nvPr/>
        </p:nvSpPr>
        <p:spPr>
          <a:xfrm>
            <a:off x="1527048" y="2148839"/>
            <a:ext cx="9777679" cy="219456"/>
          </a:xfrm>
          <a:prstGeom prst="rect">
            <a:avLst/>
          </a:prstGeom>
          <a:noFill/>
        </p:spPr>
        <p:txBody>
          <a:bodyPr wrap="square" anchor="t" lIns="0" rIns="0" tIns="0" bIns="0">
            <a:noAutofit/>
          </a:bodyPr>
          <a:lstStyle/>
          <a:p>
            <a:pPr algn="l">
              <a:lnSpc>
                <a:spcPct val="100000"/>
              </a:lnSpc>
              <a:spcBef>
                <a:spcPts val="0"/>
              </a:spcBef>
              <a:spcAft>
                <a:spcPts val="0"/>
              </a:spcAft>
            </a:pPr>
            <a:r>
              <a:rPr sz="1100" b="1" i="0">
                <a:solidFill>
                  <a:srgbClr val="9FB0BF"/>
                </a:solidFill>
                <a:latin typeface="Segoe UI"/>
              </a:rPr>
              <a:t>Python  ·  code/ch10_semantic_network_that.py</a:t>
            </a:r>
          </a:p>
        </p:txBody>
      </p:sp>
      <p:sp>
        <p:nvSpPr>
          <p:cNvPr id="14" name="!!code-text" descr="&quot;&quot;&quot;Chapter 10 lab -- a semantic network with frames and defaults. Inheritance is one upward walk. The interesting cases are the third query, where a default is correctly suppressed by a more specific one, and the fourth, where two equally specific parents disagree and the only defensible answer is to say so. &quot;&quot;&quot;"/>
          <p:cNvSpPr txBox="1"/>
          <p:nvPr/>
        </p:nvSpPr>
        <p:spPr>
          <a:xfrm>
            <a:off x="1362456" y="2523744"/>
            <a:ext cx="9987991" cy="2136648"/>
          </a:xfrm>
          <a:prstGeom prst="rect">
            <a:avLst/>
          </a:prstGeom>
          <a:noFill/>
        </p:spPr>
        <p:txBody>
          <a:bodyPr wrap="none" anchor="t" lIns="0" rIns="0" tIns="0" bIns="0">
            <a:noAutofit/>
          </a:bodyPr>
          <a:lstStyle/>
          <a:p>
            <a:pPr>
              <a:lnSpc>
                <a:spcPct val="100000"/>
              </a:lnSpc>
              <a:spcAft>
                <a:spcPts val="0"/>
              </a:spcAft>
            </a:pPr>
            <a:r>
              <a:rPr sz="1900" i="0">
                <a:solidFill>
                  <a:srgbClr val="7DCEA0"/>
                </a:solidFill>
                <a:latin typeface="Consolas"/>
              </a:rPr>
              <a:t>"""Chapter 10 lab -- a semantic network with frames and defaults.</a:t>
            </a:r>
          </a:p>
          <a:p>
            <a:pPr>
              <a:lnSpc>
                <a:spcPct val="100000"/>
              </a:lnSpc>
              <a:spcAft>
                <a:spcPts val="0"/>
              </a:spcAft>
            </a:pPr>
            <a:r>
              <a:rPr sz="1900">
                <a:latin typeface="Consolas"/>
              </a:rPr>
              <a:t> </a:t>
            </a:r>
          </a:p>
          <a:p>
            <a:pPr>
              <a:lnSpc>
                <a:spcPct val="100000"/>
              </a:lnSpc>
              <a:spcAft>
                <a:spcPts val="0"/>
              </a:spcAft>
            </a:pPr>
            <a:r>
              <a:rPr sz="1900" i="0">
                <a:solidFill>
                  <a:srgbClr val="7DCEA0"/>
                </a:solidFill>
                <a:latin typeface="Consolas"/>
              </a:rPr>
              <a:t>Inheritance is one upward walk. The interesting cases are the third</a:t>
            </a:r>
          </a:p>
          <a:p>
            <a:pPr>
              <a:lnSpc>
                <a:spcPct val="100000"/>
              </a:lnSpc>
              <a:spcAft>
                <a:spcPts val="0"/>
              </a:spcAft>
            </a:pPr>
            <a:r>
              <a:rPr sz="1900" i="0">
                <a:solidFill>
                  <a:srgbClr val="7DCEA0"/>
                </a:solidFill>
                <a:latin typeface="Consolas"/>
              </a:rPr>
              <a:t>query, where a default is correctly suppressed by a more specific one,</a:t>
            </a:r>
          </a:p>
          <a:p>
            <a:pPr>
              <a:lnSpc>
                <a:spcPct val="100000"/>
              </a:lnSpc>
              <a:spcAft>
                <a:spcPts val="0"/>
              </a:spcAft>
            </a:pPr>
            <a:r>
              <a:rPr sz="1900" i="0">
                <a:solidFill>
                  <a:srgbClr val="7DCEA0"/>
                </a:solidFill>
                <a:latin typeface="Consolas"/>
              </a:rPr>
              <a:t>and the fourth, where two equally specific parents disagree and the</a:t>
            </a:r>
          </a:p>
          <a:p>
            <a:pPr>
              <a:lnSpc>
                <a:spcPct val="100000"/>
              </a:lnSpc>
              <a:spcAft>
                <a:spcPts val="0"/>
              </a:spcAft>
            </a:pPr>
            <a:r>
              <a:rPr sz="1900" i="0">
                <a:solidFill>
                  <a:srgbClr val="7DCEA0"/>
                </a:solidFill>
                <a:latin typeface="Consolas"/>
              </a:rPr>
              <a:t>only defensible answer is to say so.</a:t>
            </a:r>
          </a:p>
          <a:p>
            <a:pPr>
              <a:lnSpc>
                <a:spcPct val="100000"/>
              </a:lnSpc>
              <a:spcAft>
                <a:spcPts val="0"/>
              </a:spcAft>
            </a:pPr>
            <a:r>
              <a:rPr sz="1900" i="0">
                <a:solidFill>
                  <a:srgbClr val="7DCEA0"/>
                </a:solidFill>
                <a:latin typeface="Consolas"/>
              </a:rPr>
              <a:t>"""</a:t>
            </a:r>
          </a:p>
        </p:txBody>
      </p:sp>
      <p:sp>
        <p:nvSpPr>
          <p:cNvPr id="15" name="!!code-num"/>
          <p:cNvSpPr txBox="1"/>
          <p:nvPr/>
        </p:nvSpPr>
        <p:spPr>
          <a:xfrm>
            <a:off x="768096" y="2523744"/>
            <a:ext cx="393192" cy="2136648"/>
          </a:xfrm>
          <a:prstGeom prst="rect">
            <a:avLst/>
          </a:prstGeom>
          <a:noFill/>
        </p:spPr>
        <p:txBody>
          <a:bodyPr wrap="none" anchor="t" lIns="0" rIns="0" tIns="0" bIns="0">
            <a:noAutofit/>
          </a:bodyPr>
          <a:lstStyle/>
          <a:p>
            <a:pPr algn="r">
              <a:lnSpc>
                <a:spcPct val="100000"/>
              </a:lnSpc>
            </a:pPr>
            <a:r>
              <a:rPr sz="1900">
                <a:solidFill>
                  <a:srgbClr val="4F5D6A"/>
                </a:solidFill>
                <a:latin typeface="Consolas"/>
              </a:rPr>
              <a:t>2</a:t>
            </a:r>
          </a:p>
          <a:p>
            <a:pPr algn="r">
              <a:lnSpc>
                <a:spcPct val="100000"/>
              </a:lnSpc>
            </a:pPr>
            <a:r>
              <a:rPr sz="1900">
                <a:solidFill>
                  <a:srgbClr val="4F5D6A"/>
                </a:solidFill>
                <a:latin typeface="Consolas"/>
              </a:rPr>
              <a:t>3</a:t>
            </a:r>
          </a:p>
          <a:p>
            <a:pPr algn="r">
              <a:lnSpc>
                <a:spcPct val="100000"/>
              </a:lnSpc>
            </a:pPr>
            <a:r>
              <a:rPr sz="1900">
                <a:solidFill>
                  <a:srgbClr val="4F5D6A"/>
                </a:solidFill>
                <a:latin typeface="Consolas"/>
              </a:rPr>
              <a:t>4</a:t>
            </a:r>
          </a:p>
          <a:p>
            <a:pPr algn="r">
              <a:lnSpc>
                <a:spcPct val="100000"/>
              </a:lnSpc>
            </a:pPr>
            <a:r>
              <a:rPr sz="1900">
                <a:solidFill>
                  <a:srgbClr val="4F5D6A"/>
                </a:solidFill>
                <a:latin typeface="Consolas"/>
              </a:rPr>
              <a:t>5</a:t>
            </a:r>
          </a:p>
          <a:p>
            <a:pPr algn="r">
              <a:lnSpc>
                <a:spcPct val="100000"/>
              </a:lnSpc>
            </a:pPr>
            <a:r>
              <a:rPr sz="1900">
                <a:solidFill>
                  <a:srgbClr val="4F5D6A"/>
                </a:solidFill>
                <a:latin typeface="Consolas"/>
              </a:rPr>
              <a:t>6</a:t>
            </a:r>
          </a:p>
          <a:p>
            <a:pPr algn="r">
              <a:lnSpc>
                <a:spcPct val="100000"/>
              </a:lnSpc>
            </a:pPr>
            <a:r>
              <a:rPr sz="1900">
                <a:solidFill>
                  <a:srgbClr val="4F5D6A"/>
                </a:solidFill>
                <a:latin typeface="Consolas"/>
              </a:rPr>
              <a:t>7</a:t>
            </a:r>
          </a:p>
          <a:p>
            <a:pPr algn="r">
              <a:lnSpc>
                <a:spcPct val="100000"/>
              </a:lnSpc>
            </a:pPr>
            <a:r>
              <a:rPr sz="1900">
                <a:solidFill>
                  <a:srgbClr val="4F5D6A"/>
                </a:solidFill>
                <a:latin typeface="Consolas"/>
              </a:rPr>
              <a:t>8</a:t>
            </a:r>
          </a:p>
        </p:txBody>
      </p:sp>
      <p:sp>
        <p:nvSpPr>
          <p:cNvPr id="16"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7" name="!!pfill">
            <a:extLst>
              <a:ext uri="{C183D7F6-B498-43B3-948B-1728B52AA6E4}">
                <adec:decorative xmlns:adec="http://schemas.microsoft.com/office/drawing/2017/decorative" val="1"/>
              </a:ext>
            </a:extLst>
          </p:cNvPr>
          <p:cNvSpPr/>
          <p:nvPr/>
        </p:nvSpPr>
        <p:spPr>
          <a:xfrm>
            <a:off x="0" y="0"/>
            <a:ext cx="5103500" cy="54864"/>
          </a:xfrm>
          <a:prstGeom prst="rect">
            <a:avLst/>
          </a:prstGeom>
          <a:solidFill>
            <a:srgbClr val="8E44A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Requires="p14">
      <p:transition spd="med" p14:dur="600">
        <p:fade/>
      </p:transition>
    </mc:Choice>
    <mc:Fallback>
      <p:transition spd="med">
        <p:fade/>
      </p:transition>
    </mc:Fallback>
  </mc:AlternateContent>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2600" b="0">
                <a:solidFill>
                  <a:srgbClr val="1A5276"/>
                </a:solidFill>
                <a:latin typeface="Segoe UI Semibold"/>
              </a:rPr>
              <a:t>A Semantic Network That Answers Queries</a:t>
            </a:r>
          </a:p>
        </p:txBody>
      </p:sp>
      <p:pic>
        <p:nvPicPr>
          <p:cNvPr id="3" name="!!kicker-icon" descr="flask-117A65.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192583"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117A65"/>
                </a:solidFill>
                <a:latin typeface="Segoe UI"/>
              </a:rPr>
              <a:t>LAB  ·  STEP 2 OF 11</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Artificial Intelligence  ·  Chapter 10  ·  Knowledge Representation</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§10.6  ·  Handout p. 104     </a:t>
            </a:r>
            <a:fld id="{80DF2E32-8C86-4AED-B91F-33AA0AD62E5C}" type="slidenum">
              <a:rPr lang="en-GB" sz="1000">
                <a:solidFill>
                  <a:srgbClr val="8795A1"/>
                </a:solidFill>
                <a:latin typeface="Segoe UI"/>
              </a:rPr>
              <a:t>19</a:t>
            </a:fld>
          </a:p>
        </p:txBody>
      </p:sp>
      <p:sp>
        <p:nvSpPr>
          <p:cNvPr id="7" name="!!codehead"/>
          <p:cNvSpPr txBox="1"/>
          <p:nvPr/>
        </p:nvSpPr>
        <p:spPr>
          <a:xfrm>
            <a:off x="658368" y="1627631"/>
            <a:ext cx="10874959" cy="329184"/>
          </a:xfrm>
          <a:prstGeom prst="rect">
            <a:avLst/>
          </a:prstGeom>
          <a:noFill/>
        </p:spPr>
        <p:txBody>
          <a:bodyPr wrap="square" anchor="t" lIns="0" rIns="0" tIns="0" bIns="0">
            <a:noAutofit/>
          </a:bodyPr>
          <a:lstStyle/>
          <a:p>
            <a:pPr algn="l">
              <a:lnSpc>
                <a:spcPct val="100000"/>
              </a:lnSpc>
              <a:spcBef>
                <a:spcPts val="0"/>
              </a:spcBef>
              <a:spcAft>
                <a:spcPts val="0"/>
              </a:spcAft>
            </a:pPr>
            <a:r>
              <a:rPr sz="1900" b="1" i="0">
                <a:solidFill>
                  <a:srgbClr val="0E6655"/>
                </a:solidFill>
                <a:latin typeface="Segoe UI Semibold"/>
              </a:rPr>
              <a:t>Set-up (continued)</a:t>
            </a:r>
          </a:p>
        </p:txBody>
      </p:sp>
      <p:sp>
        <p:nvSpPr>
          <p:cNvPr id="8" name="!!code-bg">
            <a:extLst>
              <a:ext uri="{C183D7F6-B498-43B3-948B-1728B52AA6E4}">
                <adec:decorative xmlns:adec="http://schemas.microsoft.com/office/drawing/2017/decorative" val="1"/>
              </a:ext>
            </a:extLst>
          </p:cNvPr>
          <p:cNvSpPr/>
          <p:nvPr/>
        </p:nvSpPr>
        <p:spPr>
          <a:xfrm>
            <a:off x="658368" y="2084831"/>
            <a:ext cx="10874959" cy="3956303"/>
          </a:xfrm>
          <a:prstGeom prst="roundRect">
            <a:avLst>
              <a:gd name="adj" fmla="val 2311"/>
            </a:avLst>
          </a:prstGeom>
          <a:solidFill>
            <a:srgbClr val="1E283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9" name="!!code-sep">
            <a:extLst>
              <a:ext uri="{C183D7F6-B498-43B3-948B-1728B52AA6E4}">
                <adec:decorative xmlns:adec="http://schemas.microsoft.com/office/drawing/2017/decorative" val="1"/>
              </a:ext>
            </a:extLst>
          </p:cNvPr>
          <p:cNvSpPr/>
          <p:nvPr/>
        </p:nvSpPr>
        <p:spPr>
          <a:xfrm>
            <a:off x="676656" y="2404872"/>
            <a:ext cx="10838383" cy="10972"/>
          </a:xfrm>
          <a:prstGeom prst="rect">
            <a:avLst/>
          </a:prstGeom>
          <a:solidFill>
            <a:srgbClr val="28343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0" name="!!code-dot0">
            <a:extLst>
              <a:ext uri="{C183D7F6-B498-43B3-948B-1728B52AA6E4}">
                <adec:decorative xmlns:adec="http://schemas.microsoft.com/office/drawing/2017/decorative" val="1"/>
              </a:ext>
            </a:extLst>
          </p:cNvPr>
          <p:cNvSpPr/>
          <p:nvPr/>
        </p:nvSpPr>
        <p:spPr>
          <a:xfrm>
            <a:off x="859536" y="2199132"/>
            <a:ext cx="100584" cy="100584"/>
          </a:xfrm>
          <a:prstGeom prst="ellipse">
            <a:avLst/>
          </a:prstGeom>
          <a:solidFill>
            <a:srgbClr val="E74C3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1" name="!!code-dot1">
            <a:extLst>
              <a:ext uri="{C183D7F6-B498-43B3-948B-1728B52AA6E4}">
                <adec:decorative xmlns:adec="http://schemas.microsoft.com/office/drawing/2017/decorative" val="1"/>
              </a:ext>
            </a:extLst>
          </p:cNvPr>
          <p:cNvSpPr/>
          <p:nvPr/>
        </p:nvSpPr>
        <p:spPr>
          <a:xfrm>
            <a:off x="1042415" y="2199132"/>
            <a:ext cx="100584" cy="100584"/>
          </a:xfrm>
          <a:prstGeom prst="ellipse">
            <a:avLst/>
          </a:prstGeom>
          <a:solidFill>
            <a:srgbClr val="F4D03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2" name="!!code-dot2">
            <a:extLst>
              <a:ext uri="{C183D7F6-B498-43B3-948B-1728B52AA6E4}">
                <adec:decorative xmlns:adec="http://schemas.microsoft.com/office/drawing/2017/decorative" val="1"/>
              </a:ext>
            </a:extLst>
          </p:cNvPr>
          <p:cNvSpPr/>
          <p:nvPr/>
        </p:nvSpPr>
        <p:spPr>
          <a:xfrm>
            <a:off x="1225295" y="2199132"/>
            <a:ext cx="100584" cy="100584"/>
          </a:xfrm>
          <a:prstGeom prst="ellipse">
            <a:avLst/>
          </a:prstGeom>
          <a:solidFill>
            <a:srgbClr val="58D68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3" name="!!code-label"/>
          <p:cNvSpPr txBox="1"/>
          <p:nvPr/>
        </p:nvSpPr>
        <p:spPr>
          <a:xfrm>
            <a:off x="1527048" y="2148839"/>
            <a:ext cx="9777679" cy="219456"/>
          </a:xfrm>
          <a:prstGeom prst="rect">
            <a:avLst/>
          </a:prstGeom>
          <a:noFill/>
        </p:spPr>
        <p:txBody>
          <a:bodyPr wrap="square" anchor="t" lIns="0" rIns="0" tIns="0" bIns="0">
            <a:noAutofit/>
          </a:bodyPr>
          <a:lstStyle/>
          <a:p>
            <a:pPr algn="l">
              <a:lnSpc>
                <a:spcPct val="100000"/>
              </a:lnSpc>
              <a:spcBef>
                <a:spcPts val="0"/>
              </a:spcBef>
              <a:spcAft>
                <a:spcPts val="0"/>
              </a:spcAft>
            </a:pPr>
            <a:r>
              <a:rPr sz="1100" b="1" i="0">
                <a:solidFill>
                  <a:srgbClr val="9FB0BF"/>
                </a:solidFill>
                <a:latin typeface="Segoe UI"/>
              </a:rPr>
              <a:t>Python  ·  code/ch10_semantic_network_that.py</a:t>
            </a:r>
          </a:p>
        </p:txBody>
      </p:sp>
      <p:sp>
        <p:nvSpPr>
          <p:cNvPr id="14" name="!!code-text" descr="# frame -&gt; {slot: value}. 'is-a' and 'instance-of' are the links the # inheritance walk follows; everything else is ordinary knowledge. FRAMES = { &quot;Artefact&quot;: { &quot;owned-by&quot;: &quot;Delivery&quot;, }, &quot;Release&quot;: { &quot;is-a&quot;: [&quot;Artefact&quot;], &quot;needs-signoff&quot;: &quot;yes&quot;, # default &quot;regression-pass&quot;: &quot;full&quot;, # default &quot;window&quot;: &quot;Thursday&quot;, # default }, &quot;Hotfix&quot;: { &quot;is-a&quot;: [&quot;Release&quot;], &quot;regression-pass&quot;: &quot;smoke&quot;, # overrides Release &quot;window&quot;: &quot;any&quot;, # overrides Release }, &quot;Regulated Change&quot;: { &quot;is-a&quot;: [&quot;Release&quot;], &quot;needs-signoff&quot;: &quot;yes&quot;,"/>
          <p:cNvSpPr txBox="1"/>
          <p:nvPr/>
        </p:nvSpPr>
        <p:spPr>
          <a:xfrm>
            <a:off x="1362456" y="2523744"/>
            <a:ext cx="9987991" cy="3462527"/>
          </a:xfrm>
          <a:prstGeom prst="rect">
            <a:avLst/>
          </a:prstGeom>
          <a:noFill/>
        </p:spPr>
        <p:txBody>
          <a:bodyPr wrap="none" anchor="t" lIns="0" rIns="0" tIns="0" bIns="0">
            <a:noAutofit/>
          </a:bodyPr>
          <a:lstStyle/>
          <a:p>
            <a:pPr>
              <a:lnSpc>
                <a:spcPct val="100000"/>
              </a:lnSpc>
              <a:spcAft>
                <a:spcPts val="0"/>
              </a:spcAft>
            </a:pPr>
            <a:r>
              <a:rPr sz="1100" i="1">
                <a:solidFill>
                  <a:srgbClr val="8795A1"/>
                </a:solidFill>
                <a:latin typeface="Consolas"/>
              </a:rPr>
              <a:t># frame -&gt; {slot: value}. 'is-a' and 'instance-of' are the links the</a:t>
            </a:r>
          </a:p>
          <a:p>
            <a:pPr>
              <a:lnSpc>
                <a:spcPct val="100000"/>
              </a:lnSpc>
              <a:spcAft>
                <a:spcPts val="0"/>
              </a:spcAft>
            </a:pPr>
            <a:r>
              <a:rPr sz="1100" i="1">
                <a:solidFill>
                  <a:srgbClr val="8795A1"/>
                </a:solidFill>
                <a:latin typeface="Consolas"/>
              </a:rPr>
              <a:t># inheritance walk follows; everything else is ordinary knowledge.</a:t>
            </a:r>
          </a:p>
          <a:p>
            <a:pPr>
              <a:lnSpc>
                <a:spcPct val="100000"/>
              </a:lnSpc>
              <a:spcAft>
                <a:spcPts val="0"/>
              </a:spcAft>
            </a:pPr>
            <a:r>
              <a:rPr sz="1100" i="0">
                <a:solidFill>
                  <a:srgbClr val="E8EDF2"/>
                </a:solidFill>
                <a:latin typeface="Consolas"/>
              </a:rPr>
              <a:t>FRAMES</a:t>
            </a:r>
            <a:r>
              <a:rPr sz="1100" i="0">
                <a:solidFill>
                  <a:srgbClr val="E8EDF2"/>
                </a:solidFill>
                <a:latin typeface="Consolas"/>
              </a:rPr>
              <a:t> </a:t>
            </a:r>
            <a:r>
              <a:rPr sz="1100" i="0">
                <a:solidFill>
                  <a:srgbClr val="AEB6BF"/>
                </a:solidFill>
                <a:latin typeface="Consolas"/>
              </a:rPr>
              <a:t>=</a:t>
            </a:r>
            <a:r>
              <a:rPr sz="1100" i="0">
                <a:solidFill>
                  <a:srgbClr val="E8EDF2"/>
                </a:solidFill>
                <a:latin typeface="Consolas"/>
              </a:rPr>
              <a:t> </a:t>
            </a:r>
            <a:r>
              <a:rPr sz="1100" i="0">
                <a:solidFill>
                  <a:srgbClr val="AEB6BF"/>
                </a:solidFill>
                <a:latin typeface="Consolas"/>
              </a:rPr>
              <a:t>{</a:t>
            </a:r>
          </a:p>
          <a:p>
            <a:pPr>
              <a:lnSpc>
                <a:spcPct val="100000"/>
              </a:lnSpc>
              <a:spcAft>
                <a:spcPts val="0"/>
              </a:spcAft>
            </a:pPr>
            <a:r>
              <a:rPr sz="1100" i="0">
                <a:solidFill>
                  <a:srgbClr val="E8EDF2"/>
                </a:solidFill>
                <a:latin typeface="Consolas"/>
              </a:rPr>
              <a:t>    </a:t>
            </a:r>
            <a:r>
              <a:rPr sz="1100" i="0">
                <a:solidFill>
                  <a:srgbClr val="7DCEA0"/>
                </a:solidFill>
                <a:latin typeface="Consolas"/>
              </a:rPr>
              <a:t>"</a:t>
            </a:r>
            <a:r>
              <a:rPr sz="1100" i="0">
                <a:solidFill>
                  <a:srgbClr val="7DCEA0"/>
                </a:solidFill>
                <a:latin typeface="Consolas"/>
              </a:rPr>
              <a:t>Artefact</a:t>
            </a:r>
            <a:r>
              <a:rPr sz="1100" i="0">
                <a:solidFill>
                  <a:srgbClr val="7DCEA0"/>
                </a:solidFill>
                <a:latin typeface="Consolas"/>
              </a:rPr>
              <a:t>"</a:t>
            </a:r>
            <a:r>
              <a:rPr sz="1100" i="0">
                <a:solidFill>
                  <a:srgbClr val="AEB6BF"/>
                </a:solidFill>
                <a:latin typeface="Consolas"/>
              </a:rPr>
              <a:t>:</a:t>
            </a:r>
            <a:r>
              <a:rPr sz="1100" i="0">
                <a:solidFill>
                  <a:srgbClr val="E8EDF2"/>
                </a:solidFill>
                <a:latin typeface="Consolas"/>
              </a:rPr>
              <a:t> </a:t>
            </a:r>
            <a:r>
              <a:rPr sz="1100" i="0">
                <a:solidFill>
                  <a:srgbClr val="AEB6BF"/>
                </a:solidFill>
                <a:latin typeface="Consolas"/>
              </a:rPr>
              <a:t>{</a:t>
            </a:r>
          </a:p>
          <a:p>
            <a:pPr>
              <a:lnSpc>
                <a:spcPct val="100000"/>
              </a:lnSpc>
              <a:spcAft>
                <a:spcPts val="0"/>
              </a:spcAft>
            </a:pPr>
            <a:r>
              <a:rPr sz="1100" i="0">
                <a:solidFill>
                  <a:srgbClr val="E8EDF2"/>
                </a:solidFill>
                <a:latin typeface="Consolas"/>
              </a:rPr>
              <a:t>        </a:t>
            </a:r>
            <a:r>
              <a:rPr sz="1100" i="0">
                <a:solidFill>
                  <a:srgbClr val="7DCEA0"/>
                </a:solidFill>
                <a:latin typeface="Consolas"/>
              </a:rPr>
              <a:t>"</a:t>
            </a:r>
            <a:r>
              <a:rPr sz="1100" i="0">
                <a:solidFill>
                  <a:srgbClr val="7DCEA0"/>
                </a:solidFill>
                <a:latin typeface="Consolas"/>
              </a:rPr>
              <a:t>owned-by</a:t>
            </a:r>
            <a:r>
              <a:rPr sz="1100" i="0">
                <a:solidFill>
                  <a:srgbClr val="7DCEA0"/>
                </a:solidFill>
                <a:latin typeface="Consolas"/>
              </a:rPr>
              <a:t>"</a:t>
            </a:r>
            <a:r>
              <a:rPr sz="1100" i="0">
                <a:solidFill>
                  <a:srgbClr val="AEB6BF"/>
                </a:solidFill>
                <a:latin typeface="Consolas"/>
              </a:rPr>
              <a:t>:</a:t>
            </a:r>
            <a:r>
              <a:rPr sz="1100" i="0">
                <a:solidFill>
                  <a:srgbClr val="E8EDF2"/>
                </a:solidFill>
                <a:latin typeface="Consolas"/>
              </a:rPr>
              <a:t> </a:t>
            </a:r>
            <a:r>
              <a:rPr sz="1100" i="0">
                <a:solidFill>
                  <a:srgbClr val="7DCEA0"/>
                </a:solidFill>
                <a:latin typeface="Consolas"/>
              </a:rPr>
              <a:t>"</a:t>
            </a:r>
            <a:r>
              <a:rPr sz="1100" i="0">
                <a:solidFill>
                  <a:srgbClr val="7DCEA0"/>
                </a:solidFill>
                <a:latin typeface="Consolas"/>
              </a:rPr>
              <a:t>Delivery</a:t>
            </a:r>
            <a:r>
              <a:rPr sz="1100" i="0">
                <a:solidFill>
                  <a:srgbClr val="7DCEA0"/>
                </a:solidFill>
                <a:latin typeface="Consolas"/>
              </a:rPr>
              <a:t>"</a:t>
            </a:r>
            <a:r>
              <a:rPr sz="1100" i="0">
                <a:solidFill>
                  <a:srgbClr val="AEB6BF"/>
                </a:solidFill>
                <a:latin typeface="Consolas"/>
              </a:rPr>
              <a:t>,</a:t>
            </a:r>
          </a:p>
          <a:p>
            <a:pPr>
              <a:lnSpc>
                <a:spcPct val="100000"/>
              </a:lnSpc>
              <a:spcAft>
                <a:spcPts val="0"/>
              </a:spcAft>
            </a:pPr>
            <a:r>
              <a:rPr sz="1100" i="0">
                <a:solidFill>
                  <a:srgbClr val="E8EDF2"/>
                </a:solidFill>
                <a:latin typeface="Consolas"/>
              </a:rPr>
              <a:t>    </a:t>
            </a:r>
            <a:r>
              <a:rPr sz="1100" i="0">
                <a:solidFill>
                  <a:srgbClr val="AEB6BF"/>
                </a:solidFill>
                <a:latin typeface="Consolas"/>
              </a:rPr>
              <a:t>}</a:t>
            </a:r>
            <a:r>
              <a:rPr sz="1100" i="0">
                <a:solidFill>
                  <a:srgbClr val="AEB6BF"/>
                </a:solidFill>
                <a:latin typeface="Consolas"/>
              </a:rPr>
              <a:t>,</a:t>
            </a:r>
          </a:p>
          <a:p>
            <a:pPr>
              <a:lnSpc>
                <a:spcPct val="100000"/>
              </a:lnSpc>
              <a:spcAft>
                <a:spcPts val="0"/>
              </a:spcAft>
            </a:pPr>
            <a:r>
              <a:rPr sz="1100" i="0">
                <a:solidFill>
                  <a:srgbClr val="E8EDF2"/>
                </a:solidFill>
                <a:latin typeface="Consolas"/>
              </a:rPr>
              <a:t>    </a:t>
            </a:r>
            <a:r>
              <a:rPr sz="1100" i="0">
                <a:solidFill>
                  <a:srgbClr val="7DCEA0"/>
                </a:solidFill>
                <a:latin typeface="Consolas"/>
              </a:rPr>
              <a:t>"</a:t>
            </a:r>
            <a:r>
              <a:rPr sz="1100" i="0">
                <a:solidFill>
                  <a:srgbClr val="7DCEA0"/>
                </a:solidFill>
                <a:latin typeface="Consolas"/>
              </a:rPr>
              <a:t>Release</a:t>
            </a:r>
            <a:r>
              <a:rPr sz="1100" i="0">
                <a:solidFill>
                  <a:srgbClr val="7DCEA0"/>
                </a:solidFill>
                <a:latin typeface="Consolas"/>
              </a:rPr>
              <a:t>"</a:t>
            </a:r>
            <a:r>
              <a:rPr sz="1100" i="0">
                <a:solidFill>
                  <a:srgbClr val="AEB6BF"/>
                </a:solidFill>
                <a:latin typeface="Consolas"/>
              </a:rPr>
              <a:t>:</a:t>
            </a:r>
            <a:r>
              <a:rPr sz="1100" i="0">
                <a:solidFill>
                  <a:srgbClr val="E8EDF2"/>
                </a:solidFill>
                <a:latin typeface="Consolas"/>
              </a:rPr>
              <a:t> </a:t>
            </a:r>
            <a:r>
              <a:rPr sz="1100" i="0">
                <a:solidFill>
                  <a:srgbClr val="AEB6BF"/>
                </a:solidFill>
                <a:latin typeface="Consolas"/>
              </a:rPr>
              <a:t>{</a:t>
            </a:r>
          </a:p>
          <a:p>
            <a:pPr>
              <a:lnSpc>
                <a:spcPct val="100000"/>
              </a:lnSpc>
              <a:spcAft>
                <a:spcPts val="0"/>
              </a:spcAft>
            </a:pPr>
            <a:r>
              <a:rPr sz="1100" i="0">
                <a:solidFill>
                  <a:srgbClr val="E8EDF2"/>
                </a:solidFill>
                <a:latin typeface="Consolas"/>
              </a:rPr>
              <a:t>        </a:t>
            </a:r>
            <a:r>
              <a:rPr sz="1100" i="0">
                <a:solidFill>
                  <a:srgbClr val="7DCEA0"/>
                </a:solidFill>
                <a:latin typeface="Consolas"/>
              </a:rPr>
              <a:t>"</a:t>
            </a:r>
            <a:r>
              <a:rPr sz="1100" i="0">
                <a:solidFill>
                  <a:srgbClr val="7DCEA0"/>
                </a:solidFill>
                <a:latin typeface="Consolas"/>
              </a:rPr>
              <a:t>is-a</a:t>
            </a:r>
            <a:r>
              <a:rPr sz="1100" i="0">
                <a:solidFill>
                  <a:srgbClr val="7DCEA0"/>
                </a:solidFill>
                <a:latin typeface="Consolas"/>
              </a:rPr>
              <a:t>"</a:t>
            </a:r>
            <a:r>
              <a:rPr sz="1100" i="0">
                <a:solidFill>
                  <a:srgbClr val="AEB6BF"/>
                </a:solidFill>
                <a:latin typeface="Consolas"/>
              </a:rPr>
              <a:t>:</a:t>
            </a:r>
            <a:r>
              <a:rPr sz="1100" i="0">
                <a:solidFill>
                  <a:srgbClr val="E8EDF2"/>
                </a:solidFill>
                <a:latin typeface="Consolas"/>
              </a:rPr>
              <a:t> </a:t>
            </a:r>
            <a:r>
              <a:rPr sz="1100" i="0">
                <a:solidFill>
                  <a:srgbClr val="AEB6BF"/>
                </a:solidFill>
                <a:latin typeface="Consolas"/>
              </a:rPr>
              <a:t>[</a:t>
            </a:r>
            <a:r>
              <a:rPr sz="1100" i="0">
                <a:solidFill>
                  <a:srgbClr val="7DCEA0"/>
                </a:solidFill>
                <a:latin typeface="Consolas"/>
              </a:rPr>
              <a:t>"</a:t>
            </a:r>
            <a:r>
              <a:rPr sz="1100" i="0">
                <a:solidFill>
                  <a:srgbClr val="7DCEA0"/>
                </a:solidFill>
                <a:latin typeface="Consolas"/>
              </a:rPr>
              <a:t>Artefact</a:t>
            </a:r>
            <a:r>
              <a:rPr sz="1100" i="0">
                <a:solidFill>
                  <a:srgbClr val="7DCEA0"/>
                </a:solidFill>
                <a:latin typeface="Consolas"/>
              </a:rPr>
              <a:t>"</a:t>
            </a:r>
            <a:r>
              <a:rPr sz="1100" i="0">
                <a:solidFill>
                  <a:srgbClr val="AEB6BF"/>
                </a:solidFill>
                <a:latin typeface="Consolas"/>
              </a:rPr>
              <a:t>]</a:t>
            </a:r>
            <a:r>
              <a:rPr sz="1100" i="0">
                <a:solidFill>
                  <a:srgbClr val="AEB6BF"/>
                </a:solidFill>
                <a:latin typeface="Consolas"/>
              </a:rPr>
              <a:t>,</a:t>
            </a:r>
          </a:p>
          <a:p>
            <a:pPr>
              <a:lnSpc>
                <a:spcPct val="100000"/>
              </a:lnSpc>
              <a:spcAft>
                <a:spcPts val="0"/>
              </a:spcAft>
            </a:pPr>
            <a:r>
              <a:rPr sz="1100" i="0">
                <a:solidFill>
                  <a:srgbClr val="E8EDF2"/>
                </a:solidFill>
                <a:latin typeface="Consolas"/>
              </a:rPr>
              <a:t>        </a:t>
            </a:r>
            <a:r>
              <a:rPr sz="1100" i="0">
                <a:solidFill>
                  <a:srgbClr val="7DCEA0"/>
                </a:solidFill>
                <a:latin typeface="Consolas"/>
              </a:rPr>
              <a:t>"</a:t>
            </a:r>
            <a:r>
              <a:rPr sz="1100" i="0">
                <a:solidFill>
                  <a:srgbClr val="7DCEA0"/>
                </a:solidFill>
                <a:latin typeface="Consolas"/>
              </a:rPr>
              <a:t>needs-signoff</a:t>
            </a:r>
            <a:r>
              <a:rPr sz="1100" i="0">
                <a:solidFill>
                  <a:srgbClr val="7DCEA0"/>
                </a:solidFill>
                <a:latin typeface="Consolas"/>
              </a:rPr>
              <a:t>"</a:t>
            </a:r>
            <a:r>
              <a:rPr sz="1100" i="0">
                <a:solidFill>
                  <a:srgbClr val="AEB6BF"/>
                </a:solidFill>
                <a:latin typeface="Consolas"/>
              </a:rPr>
              <a:t>:</a:t>
            </a:r>
            <a:r>
              <a:rPr sz="1100" i="0">
                <a:solidFill>
                  <a:srgbClr val="E8EDF2"/>
                </a:solidFill>
                <a:latin typeface="Consolas"/>
              </a:rPr>
              <a:t> </a:t>
            </a:r>
            <a:r>
              <a:rPr sz="1100" i="0">
                <a:solidFill>
                  <a:srgbClr val="7DCEA0"/>
                </a:solidFill>
                <a:latin typeface="Consolas"/>
              </a:rPr>
              <a:t>"</a:t>
            </a:r>
            <a:r>
              <a:rPr sz="1100" i="0">
                <a:solidFill>
                  <a:srgbClr val="7DCEA0"/>
                </a:solidFill>
                <a:latin typeface="Consolas"/>
              </a:rPr>
              <a:t>yes</a:t>
            </a:r>
            <a:r>
              <a:rPr sz="1100" i="0">
                <a:solidFill>
                  <a:srgbClr val="7DCEA0"/>
                </a:solidFill>
                <a:latin typeface="Consolas"/>
              </a:rPr>
              <a:t>"</a:t>
            </a:r>
            <a:r>
              <a:rPr sz="1100" i="0">
                <a:solidFill>
                  <a:srgbClr val="AEB6BF"/>
                </a:solidFill>
                <a:latin typeface="Consolas"/>
              </a:rPr>
              <a:t>,</a:t>
            </a:r>
            <a:r>
              <a:rPr sz="1100" i="0">
                <a:solidFill>
                  <a:srgbClr val="E8EDF2"/>
                </a:solidFill>
                <a:latin typeface="Consolas"/>
              </a:rPr>
              <a:t>          </a:t>
            </a:r>
            <a:r>
              <a:rPr sz="1100" i="1">
                <a:solidFill>
                  <a:srgbClr val="8795A1"/>
                </a:solidFill>
                <a:latin typeface="Consolas"/>
              </a:rPr>
              <a:t># default</a:t>
            </a:r>
          </a:p>
          <a:p>
            <a:pPr>
              <a:lnSpc>
                <a:spcPct val="100000"/>
              </a:lnSpc>
              <a:spcAft>
                <a:spcPts val="0"/>
              </a:spcAft>
            </a:pPr>
            <a:r>
              <a:rPr sz="1100" i="0">
                <a:solidFill>
                  <a:srgbClr val="E8EDF2"/>
                </a:solidFill>
                <a:latin typeface="Consolas"/>
              </a:rPr>
              <a:t>        </a:t>
            </a:r>
            <a:r>
              <a:rPr sz="1100" i="0">
                <a:solidFill>
                  <a:srgbClr val="7DCEA0"/>
                </a:solidFill>
                <a:latin typeface="Consolas"/>
              </a:rPr>
              <a:t>"</a:t>
            </a:r>
            <a:r>
              <a:rPr sz="1100" i="0">
                <a:solidFill>
                  <a:srgbClr val="7DCEA0"/>
                </a:solidFill>
                <a:latin typeface="Consolas"/>
              </a:rPr>
              <a:t>regression-pass</a:t>
            </a:r>
            <a:r>
              <a:rPr sz="1100" i="0">
                <a:solidFill>
                  <a:srgbClr val="7DCEA0"/>
                </a:solidFill>
                <a:latin typeface="Consolas"/>
              </a:rPr>
              <a:t>"</a:t>
            </a:r>
            <a:r>
              <a:rPr sz="1100" i="0">
                <a:solidFill>
                  <a:srgbClr val="AEB6BF"/>
                </a:solidFill>
                <a:latin typeface="Consolas"/>
              </a:rPr>
              <a:t>:</a:t>
            </a:r>
            <a:r>
              <a:rPr sz="1100" i="0">
                <a:solidFill>
                  <a:srgbClr val="E8EDF2"/>
                </a:solidFill>
                <a:latin typeface="Consolas"/>
              </a:rPr>
              <a:t> </a:t>
            </a:r>
            <a:r>
              <a:rPr sz="1100" i="0">
                <a:solidFill>
                  <a:srgbClr val="7DCEA0"/>
                </a:solidFill>
                <a:latin typeface="Consolas"/>
              </a:rPr>
              <a:t>"</a:t>
            </a:r>
            <a:r>
              <a:rPr sz="1100" i="0">
                <a:solidFill>
                  <a:srgbClr val="7DCEA0"/>
                </a:solidFill>
                <a:latin typeface="Consolas"/>
              </a:rPr>
              <a:t>full</a:t>
            </a:r>
            <a:r>
              <a:rPr sz="1100" i="0">
                <a:solidFill>
                  <a:srgbClr val="7DCEA0"/>
                </a:solidFill>
                <a:latin typeface="Consolas"/>
              </a:rPr>
              <a:t>"</a:t>
            </a:r>
            <a:r>
              <a:rPr sz="1100" i="0">
                <a:solidFill>
                  <a:srgbClr val="AEB6BF"/>
                </a:solidFill>
                <a:latin typeface="Consolas"/>
              </a:rPr>
              <a:t>,</a:t>
            </a:r>
            <a:r>
              <a:rPr sz="1100" i="0">
                <a:solidFill>
                  <a:srgbClr val="E8EDF2"/>
                </a:solidFill>
                <a:latin typeface="Consolas"/>
              </a:rPr>
              <a:t>       </a:t>
            </a:r>
            <a:r>
              <a:rPr sz="1100" i="1">
                <a:solidFill>
                  <a:srgbClr val="8795A1"/>
                </a:solidFill>
                <a:latin typeface="Consolas"/>
              </a:rPr>
              <a:t># default</a:t>
            </a:r>
          </a:p>
          <a:p>
            <a:pPr>
              <a:lnSpc>
                <a:spcPct val="100000"/>
              </a:lnSpc>
              <a:spcAft>
                <a:spcPts val="0"/>
              </a:spcAft>
            </a:pPr>
            <a:r>
              <a:rPr sz="1100" i="0">
                <a:solidFill>
                  <a:srgbClr val="E8EDF2"/>
                </a:solidFill>
                <a:latin typeface="Consolas"/>
              </a:rPr>
              <a:t>        </a:t>
            </a:r>
            <a:r>
              <a:rPr sz="1100" i="0">
                <a:solidFill>
                  <a:srgbClr val="7DCEA0"/>
                </a:solidFill>
                <a:latin typeface="Consolas"/>
              </a:rPr>
              <a:t>"</a:t>
            </a:r>
            <a:r>
              <a:rPr sz="1100" i="0">
                <a:solidFill>
                  <a:srgbClr val="7DCEA0"/>
                </a:solidFill>
                <a:latin typeface="Consolas"/>
              </a:rPr>
              <a:t>window</a:t>
            </a:r>
            <a:r>
              <a:rPr sz="1100" i="0">
                <a:solidFill>
                  <a:srgbClr val="7DCEA0"/>
                </a:solidFill>
                <a:latin typeface="Consolas"/>
              </a:rPr>
              <a:t>"</a:t>
            </a:r>
            <a:r>
              <a:rPr sz="1100" i="0">
                <a:solidFill>
                  <a:srgbClr val="AEB6BF"/>
                </a:solidFill>
                <a:latin typeface="Consolas"/>
              </a:rPr>
              <a:t>:</a:t>
            </a:r>
            <a:r>
              <a:rPr sz="1100" i="0">
                <a:solidFill>
                  <a:srgbClr val="E8EDF2"/>
                </a:solidFill>
                <a:latin typeface="Consolas"/>
              </a:rPr>
              <a:t> </a:t>
            </a:r>
            <a:r>
              <a:rPr sz="1100" i="0">
                <a:solidFill>
                  <a:srgbClr val="7DCEA0"/>
                </a:solidFill>
                <a:latin typeface="Consolas"/>
              </a:rPr>
              <a:t>"</a:t>
            </a:r>
            <a:r>
              <a:rPr sz="1100" i="0">
                <a:solidFill>
                  <a:srgbClr val="7DCEA0"/>
                </a:solidFill>
                <a:latin typeface="Consolas"/>
              </a:rPr>
              <a:t>Thursday</a:t>
            </a:r>
            <a:r>
              <a:rPr sz="1100" i="0">
                <a:solidFill>
                  <a:srgbClr val="7DCEA0"/>
                </a:solidFill>
                <a:latin typeface="Consolas"/>
              </a:rPr>
              <a:t>"</a:t>
            </a:r>
            <a:r>
              <a:rPr sz="1100" i="0">
                <a:solidFill>
                  <a:srgbClr val="AEB6BF"/>
                </a:solidFill>
                <a:latin typeface="Consolas"/>
              </a:rPr>
              <a:t>,</a:t>
            </a:r>
            <a:r>
              <a:rPr sz="1100" i="0">
                <a:solidFill>
                  <a:srgbClr val="E8EDF2"/>
                </a:solidFill>
                <a:latin typeface="Consolas"/>
              </a:rPr>
              <a:t>            </a:t>
            </a:r>
            <a:r>
              <a:rPr sz="1100" i="1">
                <a:solidFill>
                  <a:srgbClr val="8795A1"/>
                </a:solidFill>
                <a:latin typeface="Consolas"/>
              </a:rPr>
              <a:t># default</a:t>
            </a:r>
          </a:p>
          <a:p>
            <a:pPr>
              <a:lnSpc>
                <a:spcPct val="100000"/>
              </a:lnSpc>
              <a:spcAft>
                <a:spcPts val="0"/>
              </a:spcAft>
            </a:pPr>
            <a:r>
              <a:rPr sz="1100" i="0">
                <a:solidFill>
                  <a:srgbClr val="E8EDF2"/>
                </a:solidFill>
                <a:latin typeface="Consolas"/>
              </a:rPr>
              <a:t>    </a:t>
            </a:r>
            <a:r>
              <a:rPr sz="1100" i="0">
                <a:solidFill>
                  <a:srgbClr val="AEB6BF"/>
                </a:solidFill>
                <a:latin typeface="Consolas"/>
              </a:rPr>
              <a:t>}</a:t>
            </a:r>
            <a:r>
              <a:rPr sz="1100" i="0">
                <a:solidFill>
                  <a:srgbClr val="AEB6BF"/>
                </a:solidFill>
                <a:latin typeface="Consolas"/>
              </a:rPr>
              <a:t>,</a:t>
            </a:r>
          </a:p>
          <a:p>
            <a:pPr>
              <a:lnSpc>
                <a:spcPct val="100000"/>
              </a:lnSpc>
              <a:spcAft>
                <a:spcPts val="0"/>
              </a:spcAft>
            </a:pPr>
            <a:r>
              <a:rPr sz="1100" i="0">
                <a:solidFill>
                  <a:srgbClr val="E8EDF2"/>
                </a:solidFill>
                <a:latin typeface="Consolas"/>
              </a:rPr>
              <a:t>    </a:t>
            </a:r>
            <a:r>
              <a:rPr sz="1100" i="0">
                <a:solidFill>
                  <a:srgbClr val="7DCEA0"/>
                </a:solidFill>
                <a:latin typeface="Consolas"/>
              </a:rPr>
              <a:t>"</a:t>
            </a:r>
            <a:r>
              <a:rPr sz="1100" i="0">
                <a:solidFill>
                  <a:srgbClr val="7DCEA0"/>
                </a:solidFill>
                <a:latin typeface="Consolas"/>
              </a:rPr>
              <a:t>Hotfix</a:t>
            </a:r>
            <a:r>
              <a:rPr sz="1100" i="0">
                <a:solidFill>
                  <a:srgbClr val="7DCEA0"/>
                </a:solidFill>
                <a:latin typeface="Consolas"/>
              </a:rPr>
              <a:t>"</a:t>
            </a:r>
            <a:r>
              <a:rPr sz="1100" i="0">
                <a:solidFill>
                  <a:srgbClr val="AEB6BF"/>
                </a:solidFill>
                <a:latin typeface="Consolas"/>
              </a:rPr>
              <a:t>:</a:t>
            </a:r>
            <a:r>
              <a:rPr sz="1100" i="0">
                <a:solidFill>
                  <a:srgbClr val="E8EDF2"/>
                </a:solidFill>
                <a:latin typeface="Consolas"/>
              </a:rPr>
              <a:t> </a:t>
            </a:r>
            <a:r>
              <a:rPr sz="1100" i="0">
                <a:solidFill>
                  <a:srgbClr val="AEB6BF"/>
                </a:solidFill>
                <a:latin typeface="Consolas"/>
              </a:rPr>
              <a:t>{</a:t>
            </a:r>
          </a:p>
          <a:p>
            <a:pPr>
              <a:lnSpc>
                <a:spcPct val="100000"/>
              </a:lnSpc>
              <a:spcAft>
                <a:spcPts val="0"/>
              </a:spcAft>
            </a:pPr>
            <a:r>
              <a:rPr sz="1100" i="0">
                <a:solidFill>
                  <a:srgbClr val="E8EDF2"/>
                </a:solidFill>
                <a:latin typeface="Consolas"/>
              </a:rPr>
              <a:t>        </a:t>
            </a:r>
            <a:r>
              <a:rPr sz="1100" i="0">
                <a:solidFill>
                  <a:srgbClr val="7DCEA0"/>
                </a:solidFill>
                <a:latin typeface="Consolas"/>
              </a:rPr>
              <a:t>"</a:t>
            </a:r>
            <a:r>
              <a:rPr sz="1100" i="0">
                <a:solidFill>
                  <a:srgbClr val="7DCEA0"/>
                </a:solidFill>
                <a:latin typeface="Consolas"/>
              </a:rPr>
              <a:t>is-a</a:t>
            </a:r>
            <a:r>
              <a:rPr sz="1100" i="0">
                <a:solidFill>
                  <a:srgbClr val="7DCEA0"/>
                </a:solidFill>
                <a:latin typeface="Consolas"/>
              </a:rPr>
              <a:t>"</a:t>
            </a:r>
            <a:r>
              <a:rPr sz="1100" i="0">
                <a:solidFill>
                  <a:srgbClr val="AEB6BF"/>
                </a:solidFill>
                <a:latin typeface="Consolas"/>
              </a:rPr>
              <a:t>:</a:t>
            </a:r>
            <a:r>
              <a:rPr sz="1100" i="0">
                <a:solidFill>
                  <a:srgbClr val="E8EDF2"/>
                </a:solidFill>
                <a:latin typeface="Consolas"/>
              </a:rPr>
              <a:t> </a:t>
            </a:r>
            <a:r>
              <a:rPr sz="1100" i="0">
                <a:solidFill>
                  <a:srgbClr val="AEB6BF"/>
                </a:solidFill>
                <a:latin typeface="Consolas"/>
              </a:rPr>
              <a:t>[</a:t>
            </a:r>
            <a:r>
              <a:rPr sz="1100" i="0">
                <a:solidFill>
                  <a:srgbClr val="7DCEA0"/>
                </a:solidFill>
                <a:latin typeface="Consolas"/>
              </a:rPr>
              <a:t>"</a:t>
            </a:r>
            <a:r>
              <a:rPr sz="1100" i="0">
                <a:solidFill>
                  <a:srgbClr val="7DCEA0"/>
                </a:solidFill>
                <a:latin typeface="Consolas"/>
              </a:rPr>
              <a:t>Release</a:t>
            </a:r>
            <a:r>
              <a:rPr sz="1100" i="0">
                <a:solidFill>
                  <a:srgbClr val="7DCEA0"/>
                </a:solidFill>
                <a:latin typeface="Consolas"/>
              </a:rPr>
              <a:t>"</a:t>
            </a:r>
            <a:r>
              <a:rPr sz="1100" i="0">
                <a:solidFill>
                  <a:srgbClr val="AEB6BF"/>
                </a:solidFill>
                <a:latin typeface="Consolas"/>
              </a:rPr>
              <a:t>]</a:t>
            </a:r>
            <a:r>
              <a:rPr sz="1100" i="0">
                <a:solidFill>
                  <a:srgbClr val="AEB6BF"/>
                </a:solidFill>
                <a:latin typeface="Consolas"/>
              </a:rPr>
              <a:t>,</a:t>
            </a:r>
          </a:p>
          <a:p>
            <a:pPr>
              <a:lnSpc>
                <a:spcPct val="100000"/>
              </a:lnSpc>
              <a:spcAft>
                <a:spcPts val="0"/>
              </a:spcAft>
            </a:pPr>
            <a:r>
              <a:rPr sz="1100" i="0">
                <a:solidFill>
                  <a:srgbClr val="E8EDF2"/>
                </a:solidFill>
                <a:latin typeface="Consolas"/>
              </a:rPr>
              <a:t>        </a:t>
            </a:r>
            <a:r>
              <a:rPr sz="1100" i="0">
                <a:solidFill>
                  <a:srgbClr val="7DCEA0"/>
                </a:solidFill>
                <a:latin typeface="Consolas"/>
              </a:rPr>
              <a:t>"</a:t>
            </a:r>
            <a:r>
              <a:rPr sz="1100" i="0">
                <a:solidFill>
                  <a:srgbClr val="7DCEA0"/>
                </a:solidFill>
                <a:latin typeface="Consolas"/>
              </a:rPr>
              <a:t>regression-pass</a:t>
            </a:r>
            <a:r>
              <a:rPr sz="1100" i="0">
                <a:solidFill>
                  <a:srgbClr val="7DCEA0"/>
                </a:solidFill>
                <a:latin typeface="Consolas"/>
              </a:rPr>
              <a:t>"</a:t>
            </a:r>
            <a:r>
              <a:rPr sz="1100" i="0">
                <a:solidFill>
                  <a:srgbClr val="AEB6BF"/>
                </a:solidFill>
                <a:latin typeface="Consolas"/>
              </a:rPr>
              <a:t>:</a:t>
            </a:r>
            <a:r>
              <a:rPr sz="1100" i="0">
                <a:solidFill>
                  <a:srgbClr val="E8EDF2"/>
                </a:solidFill>
                <a:latin typeface="Consolas"/>
              </a:rPr>
              <a:t> </a:t>
            </a:r>
            <a:r>
              <a:rPr sz="1100" i="0">
                <a:solidFill>
                  <a:srgbClr val="7DCEA0"/>
                </a:solidFill>
                <a:latin typeface="Consolas"/>
              </a:rPr>
              <a:t>"</a:t>
            </a:r>
            <a:r>
              <a:rPr sz="1100" i="0">
                <a:solidFill>
                  <a:srgbClr val="7DCEA0"/>
                </a:solidFill>
                <a:latin typeface="Consolas"/>
              </a:rPr>
              <a:t>smoke</a:t>
            </a:r>
            <a:r>
              <a:rPr sz="1100" i="0">
                <a:solidFill>
                  <a:srgbClr val="7DCEA0"/>
                </a:solidFill>
                <a:latin typeface="Consolas"/>
              </a:rPr>
              <a:t>"</a:t>
            </a:r>
            <a:r>
              <a:rPr sz="1100" i="0">
                <a:solidFill>
                  <a:srgbClr val="AEB6BF"/>
                </a:solidFill>
                <a:latin typeface="Consolas"/>
              </a:rPr>
              <a:t>,</a:t>
            </a:r>
            <a:r>
              <a:rPr sz="1100" i="0">
                <a:solidFill>
                  <a:srgbClr val="E8EDF2"/>
                </a:solidFill>
                <a:latin typeface="Consolas"/>
              </a:rPr>
              <a:t>      </a:t>
            </a:r>
            <a:r>
              <a:rPr sz="1100" i="1">
                <a:solidFill>
                  <a:srgbClr val="8795A1"/>
                </a:solidFill>
                <a:latin typeface="Consolas"/>
              </a:rPr>
              <a:t># overrides Release</a:t>
            </a:r>
          </a:p>
          <a:p>
            <a:pPr>
              <a:lnSpc>
                <a:spcPct val="100000"/>
              </a:lnSpc>
              <a:spcAft>
                <a:spcPts val="0"/>
              </a:spcAft>
            </a:pPr>
            <a:r>
              <a:rPr sz="1100" i="0">
                <a:solidFill>
                  <a:srgbClr val="E8EDF2"/>
                </a:solidFill>
                <a:latin typeface="Consolas"/>
              </a:rPr>
              <a:t>        </a:t>
            </a:r>
            <a:r>
              <a:rPr sz="1100" i="0">
                <a:solidFill>
                  <a:srgbClr val="7DCEA0"/>
                </a:solidFill>
                <a:latin typeface="Consolas"/>
              </a:rPr>
              <a:t>"</a:t>
            </a:r>
            <a:r>
              <a:rPr sz="1100" i="0">
                <a:solidFill>
                  <a:srgbClr val="7DCEA0"/>
                </a:solidFill>
                <a:latin typeface="Consolas"/>
              </a:rPr>
              <a:t>window</a:t>
            </a:r>
            <a:r>
              <a:rPr sz="1100" i="0">
                <a:solidFill>
                  <a:srgbClr val="7DCEA0"/>
                </a:solidFill>
                <a:latin typeface="Consolas"/>
              </a:rPr>
              <a:t>"</a:t>
            </a:r>
            <a:r>
              <a:rPr sz="1100" i="0">
                <a:solidFill>
                  <a:srgbClr val="AEB6BF"/>
                </a:solidFill>
                <a:latin typeface="Consolas"/>
              </a:rPr>
              <a:t>:</a:t>
            </a:r>
            <a:r>
              <a:rPr sz="1100" i="0">
                <a:solidFill>
                  <a:srgbClr val="E8EDF2"/>
                </a:solidFill>
                <a:latin typeface="Consolas"/>
              </a:rPr>
              <a:t> </a:t>
            </a:r>
            <a:r>
              <a:rPr sz="1100" i="0">
                <a:solidFill>
                  <a:srgbClr val="7DCEA0"/>
                </a:solidFill>
                <a:latin typeface="Consolas"/>
              </a:rPr>
              <a:t>"</a:t>
            </a:r>
            <a:r>
              <a:rPr sz="1100" i="0">
                <a:solidFill>
                  <a:srgbClr val="7DCEA0"/>
                </a:solidFill>
                <a:latin typeface="Consolas"/>
              </a:rPr>
              <a:t>any</a:t>
            </a:r>
            <a:r>
              <a:rPr sz="1100" i="0">
                <a:solidFill>
                  <a:srgbClr val="7DCEA0"/>
                </a:solidFill>
                <a:latin typeface="Consolas"/>
              </a:rPr>
              <a:t>"</a:t>
            </a:r>
            <a:r>
              <a:rPr sz="1100" i="0">
                <a:solidFill>
                  <a:srgbClr val="AEB6BF"/>
                </a:solidFill>
                <a:latin typeface="Consolas"/>
              </a:rPr>
              <a:t>,</a:t>
            </a:r>
            <a:r>
              <a:rPr sz="1100" i="0">
                <a:solidFill>
                  <a:srgbClr val="E8EDF2"/>
                </a:solidFill>
                <a:latin typeface="Consolas"/>
              </a:rPr>
              <a:t>                 </a:t>
            </a:r>
            <a:r>
              <a:rPr sz="1100" i="1">
                <a:solidFill>
                  <a:srgbClr val="8795A1"/>
                </a:solidFill>
                <a:latin typeface="Consolas"/>
              </a:rPr>
              <a:t># overrides Release</a:t>
            </a:r>
          </a:p>
          <a:p>
            <a:pPr>
              <a:lnSpc>
                <a:spcPct val="100000"/>
              </a:lnSpc>
              <a:spcAft>
                <a:spcPts val="0"/>
              </a:spcAft>
            </a:pPr>
            <a:r>
              <a:rPr sz="1100" i="0">
                <a:solidFill>
                  <a:srgbClr val="E8EDF2"/>
                </a:solidFill>
                <a:latin typeface="Consolas"/>
              </a:rPr>
              <a:t>    </a:t>
            </a:r>
            <a:r>
              <a:rPr sz="1100" i="0">
                <a:solidFill>
                  <a:srgbClr val="AEB6BF"/>
                </a:solidFill>
                <a:latin typeface="Consolas"/>
              </a:rPr>
              <a:t>}</a:t>
            </a:r>
            <a:r>
              <a:rPr sz="1100" i="0">
                <a:solidFill>
                  <a:srgbClr val="AEB6BF"/>
                </a:solidFill>
                <a:latin typeface="Consolas"/>
              </a:rPr>
              <a:t>,</a:t>
            </a:r>
          </a:p>
          <a:p>
            <a:pPr>
              <a:lnSpc>
                <a:spcPct val="100000"/>
              </a:lnSpc>
              <a:spcAft>
                <a:spcPts val="0"/>
              </a:spcAft>
            </a:pPr>
            <a:r>
              <a:rPr sz="1100" i="0">
                <a:solidFill>
                  <a:srgbClr val="E8EDF2"/>
                </a:solidFill>
                <a:latin typeface="Consolas"/>
              </a:rPr>
              <a:t>    </a:t>
            </a:r>
            <a:r>
              <a:rPr sz="1100" i="0">
                <a:solidFill>
                  <a:srgbClr val="7DCEA0"/>
                </a:solidFill>
                <a:latin typeface="Consolas"/>
              </a:rPr>
              <a:t>"</a:t>
            </a:r>
            <a:r>
              <a:rPr sz="1100" i="0">
                <a:solidFill>
                  <a:srgbClr val="7DCEA0"/>
                </a:solidFill>
                <a:latin typeface="Consolas"/>
              </a:rPr>
              <a:t>Regulated Change</a:t>
            </a:r>
            <a:r>
              <a:rPr sz="1100" i="0">
                <a:solidFill>
                  <a:srgbClr val="7DCEA0"/>
                </a:solidFill>
                <a:latin typeface="Consolas"/>
              </a:rPr>
              <a:t>"</a:t>
            </a:r>
            <a:r>
              <a:rPr sz="1100" i="0">
                <a:solidFill>
                  <a:srgbClr val="AEB6BF"/>
                </a:solidFill>
                <a:latin typeface="Consolas"/>
              </a:rPr>
              <a:t>:</a:t>
            </a:r>
            <a:r>
              <a:rPr sz="1100" i="0">
                <a:solidFill>
                  <a:srgbClr val="E8EDF2"/>
                </a:solidFill>
                <a:latin typeface="Consolas"/>
              </a:rPr>
              <a:t> </a:t>
            </a:r>
            <a:r>
              <a:rPr sz="1100" i="0">
                <a:solidFill>
                  <a:srgbClr val="AEB6BF"/>
                </a:solidFill>
                <a:latin typeface="Consolas"/>
              </a:rPr>
              <a:t>{</a:t>
            </a:r>
          </a:p>
          <a:p>
            <a:pPr>
              <a:lnSpc>
                <a:spcPct val="100000"/>
              </a:lnSpc>
              <a:spcAft>
                <a:spcPts val="0"/>
              </a:spcAft>
            </a:pPr>
            <a:r>
              <a:rPr sz="1100" i="0">
                <a:solidFill>
                  <a:srgbClr val="E8EDF2"/>
                </a:solidFill>
                <a:latin typeface="Consolas"/>
              </a:rPr>
              <a:t>        </a:t>
            </a:r>
            <a:r>
              <a:rPr sz="1100" i="0">
                <a:solidFill>
                  <a:srgbClr val="7DCEA0"/>
                </a:solidFill>
                <a:latin typeface="Consolas"/>
              </a:rPr>
              <a:t>"</a:t>
            </a:r>
            <a:r>
              <a:rPr sz="1100" i="0">
                <a:solidFill>
                  <a:srgbClr val="7DCEA0"/>
                </a:solidFill>
                <a:latin typeface="Consolas"/>
              </a:rPr>
              <a:t>is-a</a:t>
            </a:r>
            <a:r>
              <a:rPr sz="1100" i="0">
                <a:solidFill>
                  <a:srgbClr val="7DCEA0"/>
                </a:solidFill>
                <a:latin typeface="Consolas"/>
              </a:rPr>
              <a:t>"</a:t>
            </a:r>
            <a:r>
              <a:rPr sz="1100" i="0">
                <a:solidFill>
                  <a:srgbClr val="AEB6BF"/>
                </a:solidFill>
                <a:latin typeface="Consolas"/>
              </a:rPr>
              <a:t>:</a:t>
            </a:r>
            <a:r>
              <a:rPr sz="1100" i="0">
                <a:solidFill>
                  <a:srgbClr val="E8EDF2"/>
                </a:solidFill>
                <a:latin typeface="Consolas"/>
              </a:rPr>
              <a:t> </a:t>
            </a:r>
            <a:r>
              <a:rPr sz="1100" i="0">
                <a:solidFill>
                  <a:srgbClr val="AEB6BF"/>
                </a:solidFill>
                <a:latin typeface="Consolas"/>
              </a:rPr>
              <a:t>[</a:t>
            </a:r>
            <a:r>
              <a:rPr sz="1100" i="0">
                <a:solidFill>
                  <a:srgbClr val="7DCEA0"/>
                </a:solidFill>
                <a:latin typeface="Consolas"/>
              </a:rPr>
              <a:t>"</a:t>
            </a:r>
            <a:r>
              <a:rPr sz="1100" i="0">
                <a:solidFill>
                  <a:srgbClr val="7DCEA0"/>
                </a:solidFill>
                <a:latin typeface="Consolas"/>
              </a:rPr>
              <a:t>Release</a:t>
            </a:r>
            <a:r>
              <a:rPr sz="1100" i="0">
                <a:solidFill>
                  <a:srgbClr val="7DCEA0"/>
                </a:solidFill>
                <a:latin typeface="Consolas"/>
              </a:rPr>
              <a:t>"</a:t>
            </a:r>
            <a:r>
              <a:rPr sz="1100" i="0">
                <a:solidFill>
                  <a:srgbClr val="AEB6BF"/>
                </a:solidFill>
                <a:latin typeface="Consolas"/>
              </a:rPr>
              <a:t>]</a:t>
            </a:r>
            <a:r>
              <a:rPr sz="1100" i="0">
                <a:solidFill>
                  <a:srgbClr val="AEB6BF"/>
                </a:solidFill>
                <a:latin typeface="Consolas"/>
              </a:rPr>
              <a:t>,</a:t>
            </a:r>
          </a:p>
          <a:p>
            <a:pPr>
              <a:lnSpc>
                <a:spcPct val="100000"/>
              </a:lnSpc>
              <a:spcAft>
                <a:spcPts val="0"/>
              </a:spcAft>
            </a:pPr>
            <a:r>
              <a:rPr sz="1100" i="0">
                <a:solidFill>
                  <a:srgbClr val="E8EDF2"/>
                </a:solidFill>
                <a:latin typeface="Consolas"/>
              </a:rPr>
              <a:t>        </a:t>
            </a:r>
            <a:r>
              <a:rPr sz="1100" i="0">
                <a:solidFill>
                  <a:srgbClr val="7DCEA0"/>
                </a:solidFill>
                <a:latin typeface="Consolas"/>
              </a:rPr>
              <a:t>"</a:t>
            </a:r>
            <a:r>
              <a:rPr sz="1100" i="0">
                <a:solidFill>
                  <a:srgbClr val="7DCEA0"/>
                </a:solidFill>
                <a:latin typeface="Consolas"/>
              </a:rPr>
              <a:t>needs-signoff</a:t>
            </a:r>
            <a:r>
              <a:rPr sz="1100" i="0">
                <a:solidFill>
                  <a:srgbClr val="7DCEA0"/>
                </a:solidFill>
                <a:latin typeface="Consolas"/>
              </a:rPr>
              <a:t>"</a:t>
            </a:r>
            <a:r>
              <a:rPr sz="1100" i="0">
                <a:solidFill>
                  <a:srgbClr val="AEB6BF"/>
                </a:solidFill>
                <a:latin typeface="Consolas"/>
              </a:rPr>
              <a:t>:</a:t>
            </a:r>
            <a:r>
              <a:rPr sz="1100" i="0">
                <a:solidFill>
                  <a:srgbClr val="E8EDF2"/>
                </a:solidFill>
                <a:latin typeface="Consolas"/>
              </a:rPr>
              <a:t> </a:t>
            </a:r>
            <a:r>
              <a:rPr sz="1100" i="0">
                <a:solidFill>
                  <a:srgbClr val="7DCEA0"/>
                </a:solidFill>
                <a:latin typeface="Consolas"/>
              </a:rPr>
              <a:t>"</a:t>
            </a:r>
            <a:r>
              <a:rPr sz="1100" i="0">
                <a:solidFill>
                  <a:srgbClr val="7DCEA0"/>
                </a:solidFill>
                <a:latin typeface="Consolas"/>
              </a:rPr>
              <a:t>yes</a:t>
            </a:r>
            <a:r>
              <a:rPr sz="1100" i="0">
                <a:solidFill>
                  <a:srgbClr val="7DCEA0"/>
                </a:solidFill>
                <a:latin typeface="Consolas"/>
              </a:rPr>
              <a:t>"</a:t>
            </a:r>
            <a:r>
              <a:rPr sz="1100" i="0">
                <a:solidFill>
                  <a:srgbClr val="AEB6BF"/>
                </a:solidFill>
                <a:latin typeface="Consolas"/>
              </a:rPr>
              <a:t>,</a:t>
            </a:r>
          </a:p>
        </p:txBody>
      </p:sp>
      <p:sp>
        <p:nvSpPr>
          <p:cNvPr id="15" name="!!code-num"/>
          <p:cNvSpPr txBox="1"/>
          <p:nvPr/>
        </p:nvSpPr>
        <p:spPr>
          <a:xfrm>
            <a:off x="768096" y="2523744"/>
            <a:ext cx="393192" cy="3462527"/>
          </a:xfrm>
          <a:prstGeom prst="rect">
            <a:avLst/>
          </a:prstGeom>
          <a:noFill/>
        </p:spPr>
        <p:txBody>
          <a:bodyPr wrap="none" anchor="t" lIns="0" rIns="0" tIns="0" bIns="0">
            <a:noAutofit/>
          </a:bodyPr>
          <a:lstStyle/>
          <a:p>
            <a:pPr algn="r">
              <a:lnSpc>
                <a:spcPct val="100000"/>
              </a:lnSpc>
            </a:pPr>
            <a:r>
              <a:rPr sz="1100">
                <a:solidFill>
                  <a:srgbClr val="4F5D6A"/>
                </a:solidFill>
                <a:latin typeface="Consolas"/>
              </a:rPr>
              <a:t>10</a:t>
            </a:r>
          </a:p>
          <a:p>
            <a:pPr algn="r">
              <a:lnSpc>
                <a:spcPct val="100000"/>
              </a:lnSpc>
            </a:pPr>
            <a:r>
              <a:rPr sz="1100">
                <a:solidFill>
                  <a:srgbClr val="4F5D6A"/>
                </a:solidFill>
                <a:latin typeface="Consolas"/>
              </a:rPr>
              <a:t>11</a:t>
            </a:r>
          </a:p>
          <a:p>
            <a:pPr algn="r">
              <a:lnSpc>
                <a:spcPct val="100000"/>
              </a:lnSpc>
            </a:pPr>
            <a:r>
              <a:rPr sz="1100">
                <a:solidFill>
                  <a:srgbClr val="4F5D6A"/>
                </a:solidFill>
                <a:latin typeface="Consolas"/>
              </a:rPr>
              <a:t>12</a:t>
            </a:r>
          </a:p>
          <a:p>
            <a:pPr algn="r">
              <a:lnSpc>
                <a:spcPct val="100000"/>
              </a:lnSpc>
            </a:pPr>
            <a:r>
              <a:rPr sz="1100">
                <a:solidFill>
                  <a:srgbClr val="4F5D6A"/>
                </a:solidFill>
                <a:latin typeface="Consolas"/>
              </a:rPr>
              <a:t>13</a:t>
            </a:r>
          </a:p>
          <a:p>
            <a:pPr algn="r">
              <a:lnSpc>
                <a:spcPct val="100000"/>
              </a:lnSpc>
            </a:pPr>
            <a:r>
              <a:rPr sz="1100">
                <a:solidFill>
                  <a:srgbClr val="4F5D6A"/>
                </a:solidFill>
                <a:latin typeface="Consolas"/>
              </a:rPr>
              <a:t>14</a:t>
            </a:r>
          </a:p>
          <a:p>
            <a:pPr algn="r">
              <a:lnSpc>
                <a:spcPct val="100000"/>
              </a:lnSpc>
            </a:pPr>
            <a:r>
              <a:rPr sz="1100">
                <a:solidFill>
                  <a:srgbClr val="4F5D6A"/>
                </a:solidFill>
                <a:latin typeface="Consolas"/>
              </a:rPr>
              <a:t>15</a:t>
            </a:r>
          </a:p>
          <a:p>
            <a:pPr algn="r">
              <a:lnSpc>
                <a:spcPct val="100000"/>
              </a:lnSpc>
            </a:pPr>
            <a:r>
              <a:rPr sz="1100">
                <a:solidFill>
                  <a:srgbClr val="4F5D6A"/>
                </a:solidFill>
                <a:latin typeface="Consolas"/>
              </a:rPr>
              <a:t>16</a:t>
            </a:r>
          </a:p>
          <a:p>
            <a:pPr algn="r">
              <a:lnSpc>
                <a:spcPct val="100000"/>
              </a:lnSpc>
            </a:pPr>
            <a:r>
              <a:rPr sz="1100">
                <a:solidFill>
                  <a:srgbClr val="4F5D6A"/>
                </a:solidFill>
                <a:latin typeface="Consolas"/>
              </a:rPr>
              <a:t>17</a:t>
            </a:r>
          </a:p>
          <a:p>
            <a:pPr algn="r">
              <a:lnSpc>
                <a:spcPct val="100000"/>
              </a:lnSpc>
            </a:pPr>
            <a:r>
              <a:rPr sz="1100">
                <a:solidFill>
                  <a:srgbClr val="4F5D6A"/>
                </a:solidFill>
                <a:latin typeface="Consolas"/>
              </a:rPr>
              <a:t>18</a:t>
            </a:r>
          </a:p>
          <a:p>
            <a:pPr algn="r">
              <a:lnSpc>
                <a:spcPct val="100000"/>
              </a:lnSpc>
            </a:pPr>
            <a:r>
              <a:rPr sz="1100">
                <a:solidFill>
                  <a:srgbClr val="4F5D6A"/>
                </a:solidFill>
                <a:latin typeface="Consolas"/>
              </a:rPr>
              <a:t>19</a:t>
            </a:r>
          </a:p>
          <a:p>
            <a:pPr algn="r">
              <a:lnSpc>
                <a:spcPct val="100000"/>
              </a:lnSpc>
            </a:pPr>
            <a:r>
              <a:rPr sz="1100">
                <a:solidFill>
                  <a:srgbClr val="4F5D6A"/>
                </a:solidFill>
                <a:latin typeface="Consolas"/>
              </a:rPr>
              <a:t>20</a:t>
            </a:r>
          </a:p>
          <a:p>
            <a:pPr algn="r">
              <a:lnSpc>
                <a:spcPct val="100000"/>
              </a:lnSpc>
            </a:pPr>
            <a:r>
              <a:rPr sz="1100">
                <a:solidFill>
                  <a:srgbClr val="4F5D6A"/>
                </a:solidFill>
                <a:latin typeface="Consolas"/>
              </a:rPr>
              <a:t>21</a:t>
            </a:r>
          </a:p>
          <a:p>
            <a:pPr algn="r">
              <a:lnSpc>
                <a:spcPct val="100000"/>
              </a:lnSpc>
            </a:pPr>
            <a:r>
              <a:rPr sz="1100">
                <a:solidFill>
                  <a:srgbClr val="4F5D6A"/>
                </a:solidFill>
                <a:latin typeface="Consolas"/>
              </a:rPr>
              <a:t>22</a:t>
            </a:r>
          </a:p>
          <a:p>
            <a:pPr algn="r">
              <a:lnSpc>
                <a:spcPct val="100000"/>
              </a:lnSpc>
            </a:pPr>
            <a:r>
              <a:rPr sz="1100">
                <a:solidFill>
                  <a:srgbClr val="4F5D6A"/>
                </a:solidFill>
                <a:latin typeface="Consolas"/>
              </a:rPr>
              <a:t>23</a:t>
            </a:r>
          </a:p>
          <a:p>
            <a:pPr algn="r">
              <a:lnSpc>
                <a:spcPct val="100000"/>
              </a:lnSpc>
            </a:pPr>
            <a:r>
              <a:rPr sz="1100">
                <a:solidFill>
                  <a:srgbClr val="4F5D6A"/>
                </a:solidFill>
                <a:latin typeface="Consolas"/>
              </a:rPr>
              <a:t>24</a:t>
            </a:r>
          </a:p>
          <a:p>
            <a:pPr algn="r">
              <a:lnSpc>
                <a:spcPct val="100000"/>
              </a:lnSpc>
            </a:pPr>
            <a:r>
              <a:rPr sz="1100">
                <a:solidFill>
                  <a:srgbClr val="4F5D6A"/>
                </a:solidFill>
                <a:latin typeface="Consolas"/>
              </a:rPr>
              <a:t>25</a:t>
            </a:r>
          </a:p>
          <a:p>
            <a:pPr algn="r">
              <a:lnSpc>
                <a:spcPct val="100000"/>
              </a:lnSpc>
            </a:pPr>
            <a:r>
              <a:rPr sz="1100">
                <a:solidFill>
                  <a:srgbClr val="4F5D6A"/>
                </a:solidFill>
                <a:latin typeface="Consolas"/>
              </a:rPr>
              <a:t>26</a:t>
            </a:r>
          </a:p>
          <a:p>
            <a:pPr algn="r">
              <a:lnSpc>
                <a:spcPct val="100000"/>
              </a:lnSpc>
            </a:pPr>
            <a:r>
              <a:rPr sz="1100">
                <a:solidFill>
                  <a:srgbClr val="4F5D6A"/>
                </a:solidFill>
                <a:latin typeface="Consolas"/>
              </a:rPr>
              <a:t>27</a:t>
            </a:r>
          </a:p>
          <a:p>
            <a:pPr algn="r">
              <a:lnSpc>
                <a:spcPct val="100000"/>
              </a:lnSpc>
            </a:pPr>
            <a:r>
              <a:rPr sz="1100">
                <a:solidFill>
                  <a:srgbClr val="4F5D6A"/>
                </a:solidFill>
                <a:latin typeface="Consolas"/>
              </a:rPr>
              <a:t>28</a:t>
            </a:r>
          </a:p>
          <a:p>
            <a:pPr algn="r">
              <a:lnSpc>
                <a:spcPct val="100000"/>
              </a:lnSpc>
            </a:pPr>
            <a:r>
              <a:rPr sz="1100">
                <a:solidFill>
                  <a:srgbClr val="4F5D6A"/>
                </a:solidFill>
                <a:latin typeface="Consolas"/>
              </a:rPr>
              <a:t>29</a:t>
            </a:r>
          </a:p>
        </p:txBody>
      </p:sp>
      <p:sp>
        <p:nvSpPr>
          <p:cNvPr id="16"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7" name="!!pfill">
            <a:extLst>
              <a:ext uri="{C183D7F6-B498-43B3-948B-1728B52AA6E4}">
                <adec:decorative xmlns:adec="http://schemas.microsoft.com/office/drawing/2017/decorative" val="1"/>
              </a:ext>
            </a:extLst>
          </p:cNvPr>
          <p:cNvSpPr/>
          <p:nvPr/>
        </p:nvSpPr>
        <p:spPr>
          <a:xfrm>
            <a:off x="0" y="0"/>
            <a:ext cx="5387028" cy="54864"/>
          </a:xfrm>
          <a:prstGeom prst="rect">
            <a:avLst/>
          </a:prstGeom>
          <a:solidFill>
            <a:srgbClr val="8E44A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xmlns:p159="http://schemas.microsoft.com/office/powerpoint/2015/09/main" Requires="p159">
      <p:transition spd="slow" p14:dur="600">
        <p159:morph option="byObject"/>
      </p:transition>
    </mc:Choice>
    <mc:Fallback>
      <p:transition spd="med">
        <p:fade/>
      </p:transition>
    </mc:Fallback>
  </mc:AlternateContent>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2600" b="0">
                <a:solidFill>
                  <a:srgbClr val="1A5276"/>
                </a:solidFill>
                <a:latin typeface="Segoe UI Semibold"/>
              </a:rPr>
              <a:t>A Semantic Network That Answers Queries</a:t>
            </a:r>
          </a:p>
        </p:txBody>
      </p:sp>
      <p:pic>
        <p:nvPicPr>
          <p:cNvPr id="3" name="!!kicker-icon" descr="flask-117A65.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192583"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117A65"/>
                </a:solidFill>
                <a:latin typeface="Segoe UI"/>
              </a:rPr>
              <a:t>LAB  ·  STEP 3 OF 11</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Artificial Intelligence  ·  Chapter 10  ·  Knowledge Representation</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§10.6  ·  Handout p. 104     </a:t>
            </a:r>
            <a:fld id="{5A5950DD-8062-4CDD-83C3-978F22351242}" type="slidenum">
              <a:rPr lang="en-GB" sz="1000">
                <a:solidFill>
                  <a:srgbClr val="8795A1"/>
                </a:solidFill>
                <a:latin typeface="Segoe UI"/>
              </a:rPr>
              <a:t>20</a:t>
            </a:fld>
          </a:p>
        </p:txBody>
      </p:sp>
      <p:sp>
        <p:nvSpPr>
          <p:cNvPr id="7" name="!!codehead"/>
          <p:cNvSpPr txBox="1"/>
          <p:nvPr/>
        </p:nvSpPr>
        <p:spPr>
          <a:xfrm>
            <a:off x="658368" y="1627631"/>
            <a:ext cx="10874959" cy="329184"/>
          </a:xfrm>
          <a:prstGeom prst="rect">
            <a:avLst/>
          </a:prstGeom>
          <a:noFill/>
        </p:spPr>
        <p:txBody>
          <a:bodyPr wrap="square" anchor="t" lIns="0" rIns="0" tIns="0" bIns="0">
            <a:noAutofit/>
          </a:bodyPr>
          <a:lstStyle/>
          <a:p>
            <a:pPr algn="l">
              <a:lnSpc>
                <a:spcPct val="100000"/>
              </a:lnSpc>
              <a:spcBef>
                <a:spcPts val="0"/>
              </a:spcBef>
              <a:spcAft>
                <a:spcPts val="0"/>
              </a:spcAft>
            </a:pPr>
            <a:r>
              <a:rPr sz="1900" b="1" i="0">
                <a:solidFill>
                  <a:srgbClr val="0E6655"/>
                </a:solidFill>
                <a:latin typeface="Segoe UI Semibold"/>
              </a:rPr>
              <a:t>Set-up (continued)</a:t>
            </a:r>
          </a:p>
        </p:txBody>
      </p:sp>
      <p:sp>
        <p:nvSpPr>
          <p:cNvPr id="8" name="!!code-bg">
            <a:extLst>
              <a:ext uri="{C183D7F6-B498-43B3-948B-1728B52AA6E4}">
                <adec:decorative xmlns:adec="http://schemas.microsoft.com/office/drawing/2017/decorative" val="1"/>
              </a:ext>
            </a:extLst>
          </p:cNvPr>
          <p:cNvSpPr/>
          <p:nvPr/>
        </p:nvSpPr>
        <p:spPr>
          <a:xfrm>
            <a:off x="658368" y="2084831"/>
            <a:ext cx="10874959" cy="4169663"/>
          </a:xfrm>
          <a:prstGeom prst="roundRect">
            <a:avLst>
              <a:gd name="adj" fmla="val 2192"/>
            </a:avLst>
          </a:prstGeom>
          <a:solidFill>
            <a:srgbClr val="1E283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9" name="!!code-sep">
            <a:extLst>
              <a:ext uri="{C183D7F6-B498-43B3-948B-1728B52AA6E4}">
                <adec:decorative xmlns:adec="http://schemas.microsoft.com/office/drawing/2017/decorative" val="1"/>
              </a:ext>
            </a:extLst>
          </p:cNvPr>
          <p:cNvSpPr/>
          <p:nvPr/>
        </p:nvSpPr>
        <p:spPr>
          <a:xfrm>
            <a:off x="676656" y="2404872"/>
            <a:ext cx="10838383" cy="10972"/>
          </a:xfrm>
          <a:prstGeom prst="rect">
            <a:avLst/>
          </a:prstGeom>
          <a:solidFill>
            <a:srgbClr val="28343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0" name="!!code-dot0">
            <a:extLst>
              <a:ext uri="{C183D7F6-B498-43B3-948B-1728B52AA6E4}">
                <adec:decorative xmlns:adec="http://schemas.microsoft.com/office/drawing/2017/decorative" val="1"/>
              </a:ext>
            </a:extLst>
          </p:cNvPr>
          <p:cNvSpPr/>
          <p:nvPr/>
        </p:nvSpPr>
        <p:spPr>
          <a:xfrm>
            <a:off x="859536" y="2199132"/>
            <a:ext cx="100584" cy="100584"/>
          </a:xfrm>
          <a:prstGeom prst="ellipse">
            <a:avLst/>
          </a:prstGeom>
          <a:solidFill>
            <a:srgbClr val="E74C3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1" name="!!code-dot1">
            <a:extLst>
              <a:ext uri="{C183D7F6-B498-43B3-948B-1728B52AA6E4}">
                <adec:decorative xmlns:adec="http://schemas.microsoft.com/office/drawing/2017/decorative" val="1"/>
              </a:ext>
            </a:extLst>
          </p:cNvPr>
          <p:cNvSpPr/>
          <p:nvPr/>
        </p:nvSpPr>
        <p:spPr>
          <a:xfrm>
            <a:off x="1042415" y="2199132"/>
            <a:ext cx="100584" cy="100584"/>
          </a:xfrm>
          <a:prstGeom prst="ellipse">
            <a:avLst/>
          </a:prstGeom>
          <a:solidFill>
            <a:srgbClr val="F4D03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2" name="!!code-dot2">
            <a:extLst>
              <a:ext uri="{C183D7F6-B498-43B3-948B-1728B52AA6E4}">
                <adec:decorative xmlns:adec="http://schemas.microsoft.com/office/drawing/2017/decorative" val="1"/>
              </a:ext>
            </a:extLst>
          </p:cNvPr>
          <p:cNvSpPr/>
          <p:nvPr/>
        </p:nvSpPr>
        <p:spPr>
          <a:xfrm>
            <a:off x="1225295" y="2199132"/>
            <a:ext cx="100584" cy="100584"/>
          </a:xfrm>
          <a:prstGeom prst="ellipse">
            <a:avLst/>
          </a:prstGeom>
          <a:solidFill>
            <a:srgbClr val="58D68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3" name="!!code-label"/>
          <p:cNvSpPr txBox="1"/>
          <p:nvPr/>
        </p:nvSpPr>
        <p:spPr>
          <a:xfrm>
            <a:off x="1527048" y="2148839"/>
            <a:ext cx="9777679" cy="219456"/>
          </a:xfrm>
          <a:prstGeom prst="rect">
            <a:avLst/>
          </a:prstGeom>
          <a:noFill/>
        </p:spPr>
        <p:txBody>
          <a:bodyPr wrap="square" anchor="t" lIns="0" rIns="0" tIns="0" bIns="0">
            <a:noAutofit/>
          </a:bodyPr>
          <a:lstStyle/>
          <a:p>
            <a:pPr algn="l">
              <a:lnSpc>
                <a:spcPct val="100000"/>
              </a:lnSpc>
              <a:spcBef>
                <a:spcPts val="0"/>
              </a:spcBef>
              <a:spcAft>
                <a:spcPts val="0"/>
              </a:spcAft>
            </a:pPr>
            <a:r>
              <a:rPr sz="1100" b="1" i="0">
                <a:solidFill>
                  <a:srgbClr val="9FB0BF"/>
                </a:solidFill>
                <a:latin typeface="Segoe UI"/>
              </a:rPr>
              <a:t>Python  ·  code/ch10_semantic_network_that.py</a:t>
            </a:r>
          </a:p>
        </p:txBody>
      </p:sp>
      <p:sp>
        <p:nvSpPr>
          <p:cNvPr id="14" name="!!code-text" descr="&quot;window&quot;: &quot;Thursday&quot;, }, &quot;Release 4.7&quot;: { &quot;instance-of&quot;: [&quot;Hotfix&quot;], &quot;changes&quot;: &quot;Payments&quot;, }, &quot;Developer&quot;: {}, &quot;Ayesha&quot;: {&quot;instance-of&quot;: [&quot;Developer&quot;], &quot;owns&quot;: &quot;Payments&quot;}, } LINKS = (&quot;instance-of&quot;, &quot;is-a&quot;) def parents(frame): out = [] for link in LINKS: out += FRAMES.get(frame, {}).get(link, []) return out"/>
          <p:cNvSpPr txBox="1"/>
          <p:nvPr/>
        </p:nvSpPr>
        <p:spPr>
          <a:xfrm>
            <a:off x="1362456" y="2523744"/>
            <a:ext cx="9987991" cy="3675887"/>
          </a:xfrm>
          <a:prstGeom prst="rect">
            <a:avLst/>
          </a:prstGeom>
          <a:noFill/>
        </p:spPr>
        <p:txBody>
          <a:bodyPr wrap="none" anchor="t" lIns="0" rIns="0" tIns="0" bIns="0">
            <a:noAutofit/>
          </a:bodyPr>
          <a:lstStyle/>
          <a:p>
            <a:pPr>
              <a:lnSpc>
                <a:spcPct val="100000"/>
              </a:lnSpc>
              <a:spcAft>
                <a:spcPts val="0"/>
              </a:spcAft>
            </a:pPr>
            <a:r>
              <a:rPr sz="1300" i="0">
                <a:solidFill>
                  <a:srgbClr val="E8EDF2"/>
                </a:solidFill>
                <a:latin typeface="Consolas"/>
              </a:rPr>
              <a:t>        </a:t>
            </a:r>
            <a:r>
              <a:rPr sz="1300" i="0">
                <a:solidFill>
                  <a:srgbClr val="7DCEA0"/>
                </a:solidFill>
                <a:latin typeface="Consolas"/>
              </a:rPr>
              <a:t>"</a:t>
            </a:r>
            <a:r>
              <a:rPr sz="1300" i="0">
                <a:solidFill>
                  <a:srgbClr val="7DCEA0"/>
                </a:solidFill>
                <a:latin typeface="Consolas"/>
              </a:rPr>
              <a:t>window</a:t>
            </a:r>
            <a:r>
              <a:rPr sz="1300" i="0">
                <a:solidFill>
                  <a:srgbClr val="7DCEA0"/>
                </a:solidFill>
                <a:latin typeface="Consolas"/>
              </a:rPr>
              <a:t>"</a:t>
            </a:r>
            <a:r>
              <a:rPr sz="1300" i="0">
                <a:solidFill>
                  <a:srgbClr val="AEB6BF"/>
                </a:solidFill>
                <a:latin typeface="Consolas"/>
              </a:rPr>
              <a:t>:</a:t>
            </a:r>
            <a:r>
              <a:rPr sz="1300" i="0">
                <a:solidFill>
                  <a:srgbClr val="E8EDF2"/>
                </a:solidFill>
                <a:latin typeface="Consolas"/>
              </a:rPr>
              <a:t> </a:t>
            </a:r>
            <a:r>
              <a:rPr sz="1300" i="0">
                <a:solidFill>
                  <a:srgbClr val="7DCEA0"/>
                </a:solidFill>
                <a:latin typeface="Consolas"/>
              </a:rPr>
              <a:t>"</a:t>
            </a:r>
            <a:r>
              <a:rPr sz="1300" i="0">
                <a:solidFill>
                  <a:srgbClr val="7DCEA0"/>
                </a:solidFill>
                <a:latin typeface="Consolas"/>
              </a:rPr>
              <a:t>Thursday</a:t>
            </a:r>
            <a:r>
              <a:rPr sz="1300" i="0">
                <a:solidFill>
                  <a:srgbClr val="7DCEA0"/>
                </a:solidFill>
                <a:latin typeface="Consolas"/>
              </a:rPr>
              <a:t>"</a:t>
            </a:r>
            <a:r>
              <a:rPr sz="1300" i="0">
                <a:solidFill>
                  <a:srgbClr val="AEB6BF"/>
                </a:solidFill>
                <a:latin typeface="Consolas"/>
              </a:rPr>
              <a:t>,</a:t>
            </a:r>
          </a:p>
          <a:p>
            <a:pPr>
              <a:lnSpc>
                <a:spcPct val="100000"/>
              </a:lnSpc>
              <a:spcAft>
                <a:spcPts val="0"/>
              </a:spcAft>
            </a:pPr>
            <a:r>
              <a:rPr sz="1300" i="0">
                <a:solidFill>
                  <a:srgbClr val="E8EDF2"/>
                </a:solidFill>
                <a:latin typeface="Consolas"/>
              </a:rPr>
              <a:t>    </a:t>
            </a:r>
            <a:r>
              <a:rPr sz="1300" i="0">
                <a:solidFill>
                  <a:srgbClr val="AEB6BF"/>
                </a:solidFill>
                <a:latin typeface="Consolas"/>
              </a:rPr>
              <a:t>}</a:t>
            </a:r>
            <a:r>
              <a:rPr sz="1300" i="0">
                <a:solidFill>
                  <a:srgbClr val="AEB6BF"/>
                </a:solidFill>
                <a:latin typeface="Consolas"/>
              </a:rPr>
              <a:t>,</a:t>
            </a:r>
          </a:p>
          <a:p>
            <a:pPr>
              <a:lnSpc>
                <a:spcPct val="100000"/>
              </a:lnSpc>
              <a:spcAft>
                <a:spcPts val="0"/>
              </a:spcAft>
            </a:pPr>
            <a:r>
              <a:rPr sz="1300" i="0">
                <a:solidFill>
                  <a:srgbClr val="E8EDF2"/>
                </a:solidFill>
                <a:latin typeface="Consolas"/>
              </a:rPr>
              <a:t>    </a:t>
            </a:r>
            <a:r>
              <a:rPr sz="1300" i="0">
                <a:solidFill>
                  <a:srgbClr val="7DCEA0"/>
                </a:solidFill>
                <a:latin typeface="Consolas"/>
              </a:rPr>
              <a:t>"</a:t>
            </a:r>
            <a:r>
              <a:rPr sz="1300" i="0">
                <a:solidFill>
                  <a:srgbClr val="7DCEA0"/>
                </a:solidFill>
                <a:latin typeface="Consolas"/>
              </a:rPr>
              <a:t>Release 4.7</a:t>
            </a:r>
            <a:r>
              <a:rPr sz="1300" i="0">
                <a:solidFill>
                  <a:srgbClr val="7DCEA0"/>
                </a:solidFill>
                <a:latin typeface="Consolas"/>
              </a:rPr>
              <a:t>"</a:t>
            </a:r>
            <a:r>
              <a:rPr sz="1300" i="0">
                <a:solidFill>
                  <a:srgbClr val="AEB6BF"/>
                </a:solidFill>
                <a:latin typeface="Consolas"/>
              </a:rPr>
              <a:t>:</a:t>
            </a:r>
            <a:r>
              <a:rPr sz="1300" i="0">
                <a:solidFill>
                  <a:srgbClr val="E8EDF2"/>
                </a:solidFill>
                <a:latin typeface="Consolas"/>
              </a:rPr>
              <a:t> </a:t>
            </a:r>
            <a:r>
              <a:rPr sz="1300" i="0">
                <a:solidFill>
                  <a:srgbClr val="AEB6BF"/>
                </a:solidFill>
                <a:latin typeface="Consolas"/>
              </a:rPr>
              <a:t>{</a:t>
            </a:r>
          </a:p>
          <a:p>
            <a:pPr>
              <a:lnSpc>
                <a:spcPct val="100000"/>
              </a:lnSpc>
              <a:spcAft>
                <a:spcPts val="0"/>
              </a:spcAft>
            </a:pPr>
            <a:r>
              <a:rPr sz="1300" i="0">
                <a:solidFill>
                  <a:srgbClr val="E8EDF2"/>
                </a:solidFill>
                <a:latin typeface="Consolas"/>
              </a:rPr>
              <a:t>        </a:t>
            </a:r>
            <a:r>
              <a:rPr sz="1300" i="0">
                <a:solidFill>
                  <a:srgbClr val="7DCEA0"/>
                </a:solidFill>
                <a:latin typeface="Consolas"/>
              </a:rPr>
              <a:t>"</a:t>
            </a:r>
            <a:r>
              <a:rPr sz="1300" i="0">
                <a:solidFill>
                  <a:srgbClr val="7DCEA0"/>
                </a:solidFill>
                <a:latin typeface="Consolas"/>
              </a:rPr>
              <a:t>instance-of</a:t>
            </a:r>
            <a:r>
              <a:rPr sz="1300" i="0">
                <a:solidFill>
                  <a:srgbClr val="7DCEA0"/>
                </a:solidFill>
                <a:latin typeface="Consolas"/>
              </a:rPr>
              <a:t>"</a:t>
            </a:r>
            <a:r>
              <a:rPr sz="1300" i="0">
                <a:solidFill>
                  <a:srgbClr val="AEB6BF"/>
                </a:solidFill>
                <a:latin typeface="Consolas"/>
              </a:rPr>
              <a:t>:</a:t>
            </a:r>
            <a:r>
              <a:rPr sz="1300" i="0">
                <a:solidFill>
                  <a:srgbClr val="E8EDF2"/>
                </a:solidFill>
                <a:latin typeface="Consolas"/>
              </a:rPr>
              <a:t> </a:t>
            </a:r>
            <a:r>
              <a:rPr sz="1300" i="0">
                <a:solidFill>
                  <a:srgbClr val="AEB6BF"/>
                </a:solidFill>
                <a:latin typeface="Consolas"/>
              </a:rPr>
              <a:t>[</a:t>
            </a:r>
            <a:r>
              <a:rPr sz="1300" i="0">
                <a:solidFill>
                  <a:srgbClr val="7DCEA0"/>
                </a:solidFill>
                <a:latin typeface="Consolas"/>
              </a:rPr>
              <a:t>"</a:t>
            </a:r>
            <a:r>
              <a:rPr sz="1300" i="0">
                <a:solidFill>
                  <a:srgbClr val="7DCEA0"/>
                </a:solidFill>
                <a:latin typeface="Consolas"/>
              </a:rPr>
              <a:t>Hotfix</a:t>
            </a:r>
            <a:r>
              <a:rPr sz="1300" i="0">
                <a:solidFill>
                  <a:srgbClr val="7DCEA0"/>
                </a:solidFill>
                <a:latin typeface="Consolas"/>
              </a:rPr>
              <a:t>"</a:t>
            </a:r>
            <a:r>
              <a:rPr sz="1300" i="0">
                <a:solidFill>
                  <a:srgbClr val="AEB6BF"/>
                </a:solidFill>
                <a:latin typeface="Consolas"/>
              </a:rPr>
              <a:t>]</a:t>
            </a:r>
            <a:r>
              <a:rPr sz="1300" i="0">
                <a:solidFill>
                  <a:srgbClr val="AEB6BF"/>
                </a:solidFill>
                <a:latin typeface="Consolas"/>
              </a:rPr>
              <a:t>,</a:t>
            </a:r>
          </a:p>
          <a:p>
            <a:pPr>
              <a:lnSpc>
                <a:spcPct val="100000"/>
              </a:lnSpc>
              <a:spcAft>
                <a:spcPts val="0"/>
              </a:spcAft>
            </a:pPr>
            <a:r>
              <a:rPr sz="1300" i="0">
                <a:solidFill>
                  <a:srgbClr val="E8EDF2"/>
                </a:solidFill>
                <a:latin typeface="Consolas"/>
              </a:rPr>
              <a:t>        </a:t>
            </a:r>
            <a:r>
              <a:rPr sz="1300" i="0">
                <a:solidFill>
                  <a:srgbClr val="7DCEA0"/>
                </a:solidFill>
                <a:latin typeface="Consolas"/>
              </a:rPr>
              <a:t>"</a:t>
            </a:r>
            <a:r>
              <a:rPr sz="1300" i="0">
                <a:solidFill>
                  <a:srgbClr val="7DCEA0"/>
                </a:solidFill>
                <a:latin typeface="Consolas"/>
              </a:rPr>
              <a:t>changes</a:t>
            </a:r>
            <a:r>
              <a:rPr sz="1300" i="0">
                <a:solidFill>
                  <a:srgbClr val="7DCEA0"/>
                </a:solidFill>
                <a:latin typeface="Consolas"/>
              </a:rPr>
              <a:t>"</a:t>
            </a:r>
            <a:r>
              <a:rPr sz="1300" i="0">
                <a:solidFill>
                  <a:srgbClr val="AEB6BF"/>
                </a:solidFill>
                <a:latin typeface="Consolas"/>
              </a:rPr>
              <a:t>:</a:t>
            </a:r>
            <a:r>
              <a:rPr sz="1300" i="0">
                <a:solidFill>
                  <a:srgbClr val="E8EDF2"/>
                </a:solidFill>
                <a:latin typeface="Consolas"/>
              </a:rPr>
              <a:t> </a:t>
            </a:r>
            <a:r>
              <a:rPr sz="1300" i="0">
                <a:solidFill>
                  <a:srgbClr val="7DCEA0"/>
                </a:solidFill>
                <a:latin typeface="Consolas"/>
              </a:rPr>
              <a:t>"</a:t>
            </a:r>
            <a:r>
              <a:rPr sz="1300" i="0">
                <a:solidFill>
                  <a:srgbClr val="7DCEA0"/>
                </a:solidFill>
                <a:latin typeface="Consolas"/>
              </a:rPr>
              <a:t>Payments</a:t>
            </a:r>
            <a:r>
              <a:rPr sz="1300" i="0">
                <a:solidFill>
                  <a:srgbClr val="7DCEA0"/>
                </a:solidFill>
                <a:latin typeface="Consolas"/>
              </a:rPr>
              <a:t>"</a:t>
            </a:r>
            <a:r>
              <a:rPr sz="1300" i="0">
                <a:solidFill>
                  <a:srgbClr val="AEB6BF"/>
                </a:solidFill>
                <a:latin typeface="Consolas"/>
              </a:rPr>
              <a:t>,</a:t>
            </a:r>
          </a:p>
          <a:p>
            <a:pPr>
              <a:lnSpc>
                <a:spcPct val="100000"/>
              </a:lnSpc>
              <a:spcAft>
                <a:spcPts val="0"/>
              </a:spcAft>
            </a:pPr>
            <a:r>
              <a:rPr sz="1300" i="0">
                <a:solidFill>
                  <a:srgbClr val="E8EDF2"/>
                </a:solidFill>
                <a:latin typeface="Consolas"/>
              </a:rPr>
              <a:t>    </a:t>
            </a:r>
            <a:r>
              <a:rPr sz="1300" i="0">
                <a:solidFill>
                  <a:srgbClr val="AEB6BF"/>
                </a:solidFill>
                <a:latin typeface="Consolas"/>
              </a:rPr>
              <a:t>}</a:t>
            </a:r>
            <a:r>
              <a:rPr sz="1300" i="0">
                <a:solidFill>
                  <a:srgbClr val="AEB6BF"/>
                </a:solidFill>
                <a:latin typeface="Consolas"/>
              </a:rPr>
              <a:t>,</a:t>
            </a:r>
          </a:p>
          <a:p>
            <a:pPr>
              <a:lnSpc>
                <a:spcPct val="100000"/>
              </a:lnSpc>
              <a:spcAft>
                <a:spcPts val="0"/>
              </a:spcAft>
            </a:pPr>
            <a:r>
              <a:rPr sz="1300" i="0">
                <a:solidFill>
                  <a:srgbClr val="E8EDF2"/>
                </a:solidFill>
                <a:latin typeface="Consolas"/>
              </a:rPr>
              <a:t>    </a:t>
            </a:r>
            <a:r>
              <a:rPr sz="1300" i="0">
                <a:solidFill>
                  <a:srgbClr val="7DCEA0"/>
                </a:solidFill>
                <a:latin typeface="Consolas"/>
              </a:rPr>
              <a:t>"</a:t>
            </a:r>
            <a:r>
              <a:rPr sz="1300" i="0">
                <a:solidFill>
                  <a:srgbClr val="7DCEA0"/>
                </a:solidFill>
                <a:latin typeface="Consolas"/>
              </a:rPr>
              <a:t>Developer</a:t>
            </a:r>
            <a:r>
              <a:rPr sz="1300" i="0">
                <a:solidFill>
                  <a:srgbClr val="7DCEA0"/>
                </a:solidFill>
                <a:latin typeface="Consolas"/>
              </a:rPr>
              <a:t>"</a:t>
            </a:r>
            <a:r>
              <a:rPr sz="1300" i="0">
                <a:solidFill>
                  <a:srgbClr val="AEB6BF"/>
                </a:solidFill>
                <a:latin typeface="Consolas"/>
              </a:rPr>
              <a:t>:</a:t>
            </a:r>
            <a:r>
              <a:rPr sz="1300" i="0">
                <a:solidFill>
                  <a:srgbClr val="E8EDF2"/>
                </a:solidFill>
                <a:latin typeface="Consolas"/>
              </a:rPr>
              <a:t> </a:t>
            </a:r>
            <a:r>
              <a:rPr sz="1300" i="0">
                <a:solidFill>
                  <a:srgbClr val="AEB6BF"/>
                </a:solidFill>
                <a:latin typeface="Consolas"/>
              </a:rPr>
              <a:t>{</a:t>
            </a:r>
            <a:r>
              <a:rPr sz="1300" i="0">
                <a:solidFill>
                  <a:srgbClr val="AEB6BF"/>
                </a:solidFill>
                <a:latin typeface="Consolas"/>
              </a:rPr>
              <a:t>}</a:t>
            </a:r>
            <a:r>
              <a:rPr sz="1300" i="0">
                <a:solidFill>
                  <a:srgbClr val="AEB6BF"/>
                </a:solidFill>
                <a:latin typeface="Consolas"/>
              </a:rPr>
              <a:t>,</a:t>
            </a:r>
          </a:p>
          <a:p>
            <a:pPr>
              <a:lnSpc>
                <a:spcPct val="100000"/>
              </a:lnSpc>
              <a:spcAft>
                <a:spcPts val="0"/>
              </a:spcAft>
            </a:pPr>
            <a:r>
              <a:rPr sz="1300" i="0">
                <a:solidFill>
                  <a:srgbClr val="E8EDF2"/>
                </a:solidFill>
                <a:latin typeface="Consolas"/>
              </a:rPr>
              <a:t>    </a:t>
            </a:r>
            <a:r>
              <a:rPr sz="1300" i="0">
                <a:solidFill>
                  <a:srgbClr val="7DCEA0"/>
                </a:solidFill>
                <a:latin typeface="Consolas"/>
              </a:rPr>
              <a:t>"</a:t>
            </a:r>
            <a:r>
              <a:rPr sz="1300" i="0">
                <a:solidFill>
                  <a:srgbClr val="7DCEA0"/>
                </a:solidFill>
                <a:latin typeface="Consolas"/>
              </a:rPr>
              <a:t>Ayesha</a:t>
            </a:r>
            <a:r>
              <a:rPr sz="1300" i="0">
                <a:solidFill>
                  <a:srgbClr val="7DCEA0"/>
                </a:solidFill>
                <a:latin typeface="Consolas"/>
              </a:rPr>
              <a:t>"</a:t>
            </a:r>
            <a:r>
              <a:rPr sz="1300" i="0">
                <a:solidFill>
                  <a:srgbClr val="AEB6BF"/>
                </a:solidFill>
                <a:latin typeface="Consolas"/>
              </a:rPr>
              <a:t>:</a:t>
            </a:r>
            <a:r>
              <a:rPr sz="1300" i="0">
                <a:solidFill>
                  <a:srgbClr val="E8EDF2"/>
                </a:solidFill>
                <a:latin typeface="Consolas"/>
              </a:rPr>
              <a:t> </a:t>
            </a:r>
            <a:r>
              <a:rPr sz="1300" i="0">
                <a:solidFill>
                  <a:srgbClr val="AEB6BF"/>
                </a:solidFill>
                <a:latin typeface="Consolas"/>
              </a:rPr>
              <a:t>{</a:t>
            </a:r>
            <a:r>
              <a:rPr sz="1300" i="0">
                <a:solidFill>
                  <a:srgbClr val="7DCEA0"/>
                </a:solidFill>
                <a:latin typeface="Consolas"/>
              </a:rPr>
              <a:t>"</a:t>
            </a:r>
            <a:r>
              <a:rPr sz="1300" i="0">
                <a:solidFill>
                  <a:srgbClr val="7DCEA0"/>
                </a:solidFill>
                <a:latin typeface="Consolas"/>
              </a:rPr>
              <a:t>instance-of</a:t>
            </a:r>
            <a:r>
              <a:rPr sz="1300" i="0">
                <a:solidFill>
                  <a:srgbClr val="7DCEA0"/>
                </a:solidFill>
                <a:latin typeface="Consolas"/>
              </a:rPr>
              <a:t>"</a:t>
            </a:r>
            <a:r>
              <a:rPr sz="1300" i="0">
                <a:solidFill>
                  <a:srgbClr val="AEB6BF"/>
                </a:solidFill>
                <a:latin typeface="Consolas"/>
              </a:rPr>
              <a:t>:</a:t>
            </a:r>
            <a:r>
              <a:rPr sz="1300" i="0">
                <a:solidFill>
                  <a:srgbClr val="E8EDF2"/>
                </a:solidFill>
                <a:latin typeface="Consolas"/>
              </a:rPr>
              <a:t> </a:t>
            </a:r>
            <a:r>
              <a:rPr sz="1300" i="0">
                <a:solidFill>
                  <a:srgbClr val="AEB6BF"/>
                </a:solidFill>
                <a:latin typeface="Consolas"/>
              </a:rPr>
              <a:t>[</a:t>
            </a:r>
            <a:r>
              <a:rPr sz="1300" i="0">
                <a:solidFill>
                  <a:srgbClr val="7DCEA0"/>
                </a:solidFill>
                <a:latin typeface="Consolas"/>
              </a:rPr>
              <a:t>"</a:t>
            </a:r>
            <a:r>
              <a:rPr sz="1300" i="0">
                <a:solidFill>
                  <a:srgbClr val="7DCEA0"/>
                </a:solidFill>
                <a:latin typeface="Consolas"/>
              </a:rPr>
              <a:t>Developer</a:t>
            </a:r>
            <a:r>
              <a:rPr sz="1300" i="0">
                <a:solidFill>
                  <a:srgbClr val="7DCEA0"/>
                </a:solidFill>
                <a:latin typeface="Consolas"/>
              </a:rPr>
              <a:t>"</a:t>
            </a:r>
            <a:r>
              <a:rPr sz="1300" i="0">
                <a:solidFill>
                  <a:srgbClr val="AEB6BF"/>
                </a:solidFill>
                <a:latin typeface="Consolas"/>
              </a:rPr>
              <a:t>]</a:t>
            </a:r>
            <a:r>
              <a:rPr sz="1300" i="0">
                <a:solidFill>
                  <a:srgbClr val="AEB6BF"/>
                </a:solidFill>
                <a:latin typeface="Consolas"/>
              </a:rPr>
              <a:t>,</a:t>
            </a:r>
            <a:r>
              <a:rPr sz="1300" i="0">
                <a:solidFill>
                  <a:srgbClr val="E8EDF2"/>
                </a:solidFill>
                <a:latin typeface="Consolas"/>
              </a:rPr>
              <a:t> </a:t>
            </a:r>
            <a:r>
              <a:rPr sz="1300" i="0">
                <a:solidFill>
                  <a:srgbClr val="7DCEA0"/>
                </a:solidFill>
                <a:latin typeface="Consolas"/>
              </a:rPr>
              <a:t>"</a:t>
            </a:r>
            <a:r>
              <a:rPr sz="1300" i="0">
                <a:solidFill>
                  <a:srgbClr val="7DCEA0"/>
                </a:solidFill>
                <a:latin typeface="Consolas"/>
              </a:rPr>
              <a:t>owns</a:t>
            </a:r>
            <a:r>
              <a:rPr sz="1300" i="0">
                <a:solidFill>
                  <a:srgbClr val="7DCEA0"/>
                </a:solidFill>
                <a:latin typeface="Consolas"/>
              </a:rPr>
              <a:t>"</a:t>
            </a:r>
            <a:r>
              <a:rPr sz="1300" i="0">
                <a:solidFill>
                  <a:srgbClr val="AEB6BF"/>
                </a:solidFill>
                <a:latin typeface="Consolas"/>
              </a:rPr>
              <a:t>:</a:t>
            </a:r>
            <a:r>
              <a:rPr sz="1300" i="0">
                <a:solidFill>
                  <a:srgbClr val="E8EDF2"/>
                </a:solidFill>
                <a:latin typeface="Consolas"/>
              </a:rPr>
              <a:t> </a:t>
            </a:r>
            <a:r>
              <a:rPr sz="1300" i="0">
                <a:solidFill>
                  <a:srgbClr val="7DCEA0"/>
                </a:solidFill>
                <a:latin typeface="Consolas"/>
              </a:rPr>
              <a:t>"</a:t>
            </a:r>
            <a:r>
              <a:rPr sz="1300" i="0">
                <a:solidFill>
                  <a:srgbClr val="7DCEA0"/>
                </a:solidFill>
                <a:latin typeface="Consolas"/>
              </a:rPr>
              <a:t>Payments</a:t>
            </a:r>
            <a:r>
              <a:rPr sz="1300" i="0">
                <a:solidFill>
                  <a:srgbClr val="7DCEA0"/>
                </a:solidFill>
                <a:latin typeface="Consolas"/>
              </a:rPr>
              <a:t>"</a:t>
            </a:r>
            <a:r>
              <a:rPr sz="1300" i="0">
                <a:solidFill>
                  <a:srgbClr val="AEB6BF"/>
                </a:solidFill>
                <a:latin typeface="Consolas"/>
              </a:rPr>
              <a:t>}</a:t>
            </a:r>
            <a:r>
              <a:rPr sz="1300" i="0">
                <a:solidFill>
                  <a:srgbClr val="AEB6BF"/>
                </a:solidFill>
                <a:latin typeface="Consolas"/>
              </a:rPr>
              <a:t>,</a:t>
            </a:r>
          </a:p>
          <a:p>
            <a:pPr>
              <a:lnSpc>
                <a:spcPct val="100000"/>
              </a:lnSpc>
              <a:spcAft>
                <a:spcPts val="0"/>
              </a:spcAft>
            </a:pPr>
            <a:r>
              <a:rPr sz="1300" i="0">
                <a:solidFill>
                  <a:srgbClr val="AEB6BF"/>
                </a:solidFill>
                <a:latin typeface="Consolas"/>
              </a:rPr>
              <a:t>}</a:t>
            </a:r>
          </a:p>
          <a:p>
            <a:pPr>
              <a:lnSpc>
                <a:spcPct val="100000"/>
              </a:lnSpc>
              <a:spcAft>
                <a:spcPts val="0"/>
              </a:spcAft>
            </a:pPr>
            <a:r>
              <a:rPr sz="1300">
                <a:latin typeface="Consolas"/>
              </a:rPr>
              <a:t> </a:t>
            </a:r>
          </a:p>
          <a:p>
            <a:pPr>
              <a:lnSpc>
                <a:spcPct val="100000"/>
              </a:lnSpc>
              <a:spcAft>
                <a:spcPts val="0"/>
              </a:spcAft>
            </a:pPr>
            <a:r>
              <a:rPr sz="1300" i="0">
                <a:solidFill>
                  <a:srgbClr val="E8EDF2"/>
                </a:solidFill>
                <a:latin typeface="Consolas"/>
              </a:rPr>
              <a:t>LINKS</a:t>
            </a:r>
            <a:r>
              <a:rPr sz="1300" i="0">
                <a:solidFill>
                  <a:srgbClr val="E8EDF2"/>
                </a:solidFill>
                <a:latin typeface="Consolas"/>
              </a:rPr>
              <a:t> </a:t>
            </a:r>
            <a:r>
              <a:rPr sz="1300" i="0">
                <a:solidFill>
                  <a:srgbClr val="AEB6BF"/>
                </a:solidFill>
                <a:latin typeface="Consolas"/>
              </a:rPr>
              <a:t>=</a:t>
            </a:r>
            <a:r>
              <a:rPr sz="1300" i="0">
                <a:solidFill>
                  <a:srgbClr val="E8EDF2"/>
                </a:solidFill>
                <a:latin typeface="Consolas"/>
              </a:rPr>
              <a:t> </a:t>
            </a:r>
            <a:r>
              <a:rPr sz="1300" i="0">
                <a:solidFill>
                  <a:srgbClr val="AEB6BF"/>
                </a:solidFill>
                <a:latin typeface="Consolas"/>
              </a:rPr>
              <a:t>(</a:t>
            </a:r>
            <a:r>
              <a:rPr sz="1300" i="0">
                <a:solidFill>
                  <a:srgbClr val="7DCEA0"/>
                </a:solidFill>
                <a:latin typeface="Consolas"/>
              </a:rPr>
              <a:t>"</a:t>
            </a:r>
            <a:r>
              <a:rPr sz="1300" i="0">
                <a:solidFill>
                  <a:srgbClr val="7DCEA0"/>
                </a:solidFill>
                <a:latin typeface="Consolas"/>
              </a:rPr>
              <a:t>instance-of</a:t>
            </a:r>
            <a:r>
              <a:rPr sz="1300" i="0">
                <a:solidFill>
                  <a:srgbClr val="7DCEA0"/>
                </a:solidFill>
                <a:latin typeface="Consolas"/>
              </a:rPr>
              <a:t>"</a:t>
            </a:r>
            <a:r>
              <a:rPr sz="1300" i="0">
                <a:solidFill>
                  <a:srgbClr val="AEB6BF"/>
                </a:solidFill>
                <a:latin typeface="Consolas"/>
              </a:rPr>
              <a:t>,</a:t>
            </a:r>
            <a:r>
              <a:rPr sz="1300" i="0">
                <a:solidFill>
                  <a:srgbClr val="E8EDF2"/>
                </a:solidFill>
                <a:latin typeface="Consolas"/>
              </a:rPr>
              <a:t> </a:t>
            </a:r>
            <a:r>
              <a:rPr sz="1300" i="0">
                <a:solidFill>
                  <a:srgbClr val="7DCEA0"/>
                </a:solidFill>
                <a:latin typeface="Consolas"/>
              </a:rPr>
              <a:t>"</a:t>
            </a:r>
            <a:r>
              <a:rPr sz="1300" i="0">
                <a:solidFill>
                  <a:srgbClr val="7DCEA0"/>
                </a:solidFill>
                <a:latin typeface="Consolas"/>
              </a:rPr>
              <a:t>is-a</a:t>
            </a:r>
            <a:r>
              <a:rPr sz="1300" i="0">
                <a:solidFill>
                  <a:srgbClr val="7DCEA0"/>
                </a:solidFill>
                <a:latin typeface="Consolas"/>
              </a:rPr>
              <a:t>"</a:t>
            </a:r>
            <a:r>
              <a:rPr sz="1300" i="0">
                <a:solidFill>
                  <a:srgbClr val="AEB6BF"/>
                </a:solidFill>
                <a:latin typeface="Consolas"/>
              </a:rPr>
              <a:t>)</a:t>
            </a:r>
          </a:p>
          <a:p>
            <a:pPr>
              <a:lnSpc>
                <a:spcPct val="100000"/>
              </a:lnSpc>
              <a:spcAft>
                <a:spcPts val="0"/>
              </a:spcAft>
            </a:pPr>
            <a:r>
              <a:rPr sz="1300">
                <a:latin typeface="Consolas"/>
              </a:rPr>
              <a:t> </a:t>
            </a:r>
          </a:p>
          <a:p>
            <a:pPr>
              <a:lnSpc>
                <a:spcPct val="100000"/>
              </a:lnSpc>
              <a:spcAft>
                <a:spcPts val="0"/>
              </a:spcAft>
            </a:pPr>
            <a:r>
              <a:rPr sz="1300">
                <a:latin typeface="Consolas"/>
              </a:rPr>
              <a:t> </a:t>
            </a:r>
          </a:p>
          <a:p>
            <a:pPr>
              <a:lnSpc>
                <a:spcPct val="100000"/>
              </a:lnSpc>
              <a:spcAft>
                <a:spcPts val="0"/>
              </a:spcAft>
            </a:pPr>
            <a:r>
              <a:rPr sz="1300" i="0">
                <a:solidFill>
                  <a:srgbClr val="5DADE2"/>
                </a:solidFill>
                <a:latin typeface="Consolas"/>
              </a:rPr>
              <a:t>def</a:t>
            </a:r>
            <a:r>
              <a:rPr sz="1300" i="0">
                <a:solidFill>
                  <a:srgbClr val="E8EDF2"/>
                </a:solidFill>
                <a:latin typeface="Consolas"/>
              </a:rPr>
              <a:t> </a:t>
            </a:r>
            <a:r>
              <a:rPr sz="1300" i="0">
                <a:solidFill>
                  <a:srgbClr val="C39BD3"/>
                </a:solidFill>
                <a:latin typeface="Consolas"/>
              </a:rPr>
              <a:t>parents</a:t>
            </a:r>
            <a:r>
              <a:rPr sz="1300" i="0">
                <a:solidFill>
                  <a:srgbClr val="AEB6BF"/>
                </a:solidFill>
                <a:latin typeface="Consolas"/>
              </a:rPr>
              <a:t>(</a:t>
            </a:r>
            <a:r>
              <a:rPr sz="1300" i="0">
                <a:solidFill>
                  <a:srgbClr val="E8EDF2"/>
                </a:solidFill>
                <a:latin typeface="Consolas"/>
              </a:rPr>
              <a:t>frame</a:t>
            </a:r>
            <a:r>
              <a:rPr sz="1300" i="0">
                <a:solidFill>
                  <a:srgbClr val="AEB6BF"/>
                </a:solidFill>
                <a:latin typeface="Consolas"/>
              </a:rPr>
              <a:t>)</a:t>
            </a:r>
            <a:r>
              <a:rPr sz="1300" i="0">
                <a:solidFill>
                  <a:srgbClr val="AEB6BF"/>
                </a:solidFill>
                <a:latin typeface="Consolas"/>
              </a:rPr>
              <a:t>:</a:t>
            </a:r>
          </a:p>
          <a:p>
            <a:pPr>
              <a:lnSpc>
                <a:spcPct val="100000"/>
              </a:lnSpc>
              <a:spcAft>
                <a:spcPts val="0"/>
              </a:spcAft>
            </a:pPr>
            <a:r>
              <a:rPr sz="1300" i="0">
                <a:solidFill>
                  <a:srgbClr val="E8EDF2"/>
                </a:solidFill>
                <a:latin typeface="Consolas"/>
              </a:rPr>
              <a:t>    </a:t>
            </a:r>
            <a:r>
              <a:rPr sz="1300" i="0">
                <a:solidFill>
                  <a:srgbClr val="E8EDF2"/>
                </a:solidFill>
                <a:latin typeface="Consolas"/>
              </a:rPr>
              <a:t>out</a:t>
            </a:r>
            <a:r>
              <a:rPr sz="1300" i="0">
                <a:solidFill>
                  <a:srgbClr val="E8EDF2"/>
                </a:solidFill>
                <a:latin typeface="Consolas"/>
              </a:rPr>
              <a:t> </a:t>
            </a:r>
            <a:r>
              <a:rPr sz="1300" i="0">
                <a:solidFill>
                  <a:srgbClr val="AEB6BF"/>
                </a:solidFill>
                <a:latin typeface="Consolas"/>
              </a:rPr>
              <a:t>=</a:t>
            </a:r>
            <a:r>
              <a:rPr sz="1300" i="0">
                <a:solidFill>
                  <a:srgbClr val="E8EDF2"/>
                </a:solidFill>
                <a:latin typeface="Consolas"/>
              </a:rPr>
              <a:t> </a:t>
            </a:r>
            <a:r>
              <a:rPr sz="1300" i="0">
                <a:solidFill>
                  <a:srgbClr val="AEB6BF"/>
                </a:solidFill>
                <a:latin typeface="Consolas"/>
              </a:rPr>
              <a:t>[</a:t>
            </a:r>
            <a:r>
              <a:rPr sz="1300" i="0">
                <a:solidFill>
                  <a:srgbClr val="AEB6BF"/>
                </a:solidFill>
                <a:latin typeface="Consolas"/>
              </a:rPr>
              <a:t>]</a:t>
            </a:r>
          </a:p>
          <a:p>
            <a:pPr>
              <a:lnSpc>
                <a:spcPct val="100000"/>
              </a:lnSpc>
              <a:spcAft>
                <a:spcPts val="0"/>
              </a:spcAft>
            </a:pPr>
            <a:r>
              <a:rPr sz="1300" i="0">
                <a:solidFill>
                  <a:srgbClr val="E8EDF2"/>
                </a:solidFill>
                <a:latin typeface="Consolas"/>
              </a:rPr>
              <a:t>    </a:t>
            </a:r>
            <a:r>
              <a:rPr sz="1300" i="0">
                <a:solidFill>
                  <a:srgbClr val="5DADE2"/>
                </a:solidFill>
                <a:latin typeface="Consolas"/>
              </a:rPr>
              <a:t>for</a:t>
            </a:r>
            <a:r>
              <a:rPr sz="1300" i="0">
                <a:solidFill>
                  <a:srgbClr val="E8EDF2"/>
                </a:solidFill>
                <a:latin typeface="Consolas"/>
              </a:rPr>
              <a:t> </a:t>
            </a:r>
            <a:r>
              <a:rPr sz="1300" i="0">
                <a:solidFill>
                  <a:srgbClr val="E8EDF2"/>
                </a:solidFill>
                <a:latin typeface="Consolas"/>
              </a:rPr>
              <a:t>link</a:t>
            </a:r>
            <a:r>
              <a:rPr sz="1300" i="0">
                <a:solidFill>
                  <a:srgbClr val="E8EDF2"/>
                </a:solidFill>
                <a:latin typeface="Consolas"/>
              </a:rPr>
              <a:t> </a:t>
            </a:r>
            <a:r>
              <a:rPr sz="1300" i="0">
                <a:solidFill>
                  <a:srgbClr val="AEB6BF"/>
                </a:solidFill>
                <a:latin typeface="Consolas"/>
              </a:rPr>
              <a:t>in</a:t>
            </a:r>
            <a:r>
              <a:rPr sz="1300" i="0">
                <a:solidFill>
                  <a:srgbClr val="E8EDF2"/>
                </a:solidFill>
                <a:latin typeface="Consolas"/>
              </a:rPr>
              <a:t> </a:t>
            </a:r>
            <a:r>
              <a:rPr sz="1300" i="0">
                <a:solidFill>
                  <a:srgbClr val="E8EDF2"/>
                </a:solidFill>
                <a:latin typeface="Consolas"/>
              </a:rPr>
              <a:t>LINKS</a:t>
            </a:r>
            <a:r>
              <a:rPr sz="1300" i="0">
                <a:solidFill>
                  <a:srgbClr val="AEB6BF"/>
                </a:solidFill>
                <a:latin typeface="Consolas"/>
              </a:rPr>
              <a:t>:</a:t>
            </a:r>
          </a:p>
          <a:p>
            <a:pPr>
              <a:lnSpc>
                <a:spcPct val="100000"/>
              </a:lnSpc>
              <a:spcAft>
                <a:spcPts val="0"/>
              </a:spcAft>
            </a:pPr>
            <a:r>
              <a:rPr sz="1300" i="0">
                <a:solidFill>
                  <a:srgbClr val="E8EDF2"/>
                </a:solidFill>
                <a:latin typeface="Consolas"/>
              </a:rPr>
              <a:t>        </a:t>
            </a:r>
            <a:r>
              <a:rPr sz="1300" i="0">
                <a:solidFill>
                  <a:srgbClr val="E8EDF2"/>
                </a:solidFill>
                <a:latin typeface="Consolas"/>
              </a:rPr>
              <a:t>out</a:t>
            </a:r>
            <a:r>
              <a:rPr sz="1300" i="0">
                <a:solidFill>
                  <a:srgbClr val="E8EDF2"/>
                </a:solidFill>
                <a:latin typeface="Consolas"/>
              </a:rPr>
              <a:t> </a:t>
            </a:r>
            <a:r>
              <a:rPr sz="1300" i="0">
                <a:solidFill>
                  <a:srgbClr val="AEB6BF"/>
                </a:solidFill>
                <a:latin typeface="Consolas"/>
              </a:rPr>
              <a:t>+</a:t>
            </a:r>
            <a:r>
              <a:rPr sz="1300" i="0">
                <a:solidFill>
                  <a:srgbClr val="AEB6BF"/>
                </a:solidFill>
                <a:latin typeface="Consolas"/>
              </a:rPr>
              <a:t>=</a:t>
            </a:r>
            <a:r>
              <a:rPr sz="1300" i="0">
                <a:solidFill>
                  <a:srgbClr val="E8EDF2"/>
                </a:solidFill>
                <a:latin typeface="Consolas"/>
              </a:rPr>
              <a:t> </a:t>
            </a:r>
            <a:r>
              <a:rPr sz="1300" i="0">
                <a:solidFill>
                  <a:srgbClr val="E8EDF2"/>
                </a:solidFill>
                <a:latin typeface="Consolas"/>
              </a:rPr>
              <a:t>FRAMES</a:t>
            </a:r>
            <a:r>
              <a:rPr sz="1300" i="0">
                <a:solidFill>
                  <a:srgbClr val="AEB6BF"/>
                </a:solidFill>
                <a:latin typeface="Consolas"/>
              </a:rPr>
              <a:t>.</a:t>
            </a:r>
            <a:r>
              <a:rPr sz="1300" i="0">
                <a:solidFill>
                  <a:srgbClr val="E8EDF2"/>
                </a:solidFill>
                <a:latin typeface="Consolas"/>
              </a:rPr>
              <a:t>get</a:t>
            </a:r>
            <a:r>
              <a:rPr sz="1300" i="0">
                <a:solidFill>
                  <a:srgbClr val="AEB6BF"/>
                </a:solidFill>
                <a:latin typeface="Consolas"/>
              </a:rPr>
              <a:t>(</a:t>
            </a:r>
            <a:r>
              <a:rPr sz="1300" i="0">
                <a:solidFill>
                  <a:srgbClr val="E8EDF2"/>
                </a:solidFill>
                <a:latin typeface="Consolas"/>
              </a:rPr>
              <a:t>frame</a:t>
            </a:r>
            <a:r>
              <a:rPr sz="1300" i="0">
                <a:solidFill>
                  <a:srgbClr val="AEB6BF"/>
                </a:solidFill>
                <a:latin typeface="Consolas"/>
              </a:rPr>
              <a:t>,</a:t>
            </a:r>
            <a:r>
              <a:rPr sz="1300" i="0">
                <a:solidFill>
                  <a:srgbClr val="E8EDF2"/>
                </a:solidFill>
                <a:latin typeface="Consolas"/>
              </a:rPr>
              <a:t> </a:t>
            </a:r>
            <a:r>
              <a:rPr sz="1300" i="0">
                <a:solidFill>
                  <a:srgbClr val="AEB6BF"/>
                </a:solidFill>
                <a:latin typeface="Consolas"/>
              </a:rPr>
              <a:t>{</a:t>
            </a:r>
            <a:r>
              <a:rPr sz="1300" i="0">
                <a:solidFill>
                  <a:srgbClr val="AEB6BF"/>
                </a:solidFill>
                <a:latin typeface="Consolas"/>
              </a:rPr>
              <a:t>}</a:t>
            </a:r>
            <a:r>
              <a:rPr sz="1300" i="0">
                <a:solidFill>
                  <a:srgbClr val="AEB6BF"/>
                </a:solidFill>
                <a:latin typeface="Consolas"/>
              </a:rPr>
              <a:t>)</a:t>
            </a:r>
            <a:r>
              <a:rPr sz="1300" i="0">
                <a:solidFill>
                  <a:srgbClr val="AEB6BF"/>
                </a:solidFill>
                <a:latin typeface="Consolas"/>
              </a:rPr>
              <a:t>.</a:t>
            </a:r>
            <a:r>
              <a:rPr sz="1300" i="0">
                <a:solidFill>
                  <a:srgbClr val="E8EDF2"/>
                </a:solidFill>
                <a:latin typeface="Consolas"/>
              </a:rPr>
              <a:t>get</a:t>
            </a:r>
            <a:r>
              <a:rPr sz="1300" i="0">
                <a:solidFill>
                  <a:srgbClr val="AEB6BF"/>
                </a:solidFill>
                <a:latin typeface="Consolas"/>
              </a:rPr>
              <a:t>(</a:t>
            </a:r>
            <a:r>
              <a:rPr sz="1300" i="0">
                <a:solidFill>
                  <a:srgbClr val="E8EDF2"/>
                </a:solidFill>
                <a:latin typeface="Consolas"/>
              </a:rPr>
              <a:t>link</a:t>
            </a:r>
            <a:r>
              <a:rPr sz="1300" i="0">
                <a:solidFill>
                  <a:srgbClr val="AEB6BF"/>
                </a:solidFill>
                <a:latin typeface="Consolas"/>
              </a:rPr>
              <a:t>,</a:t>
            </a:r>
            <a:r>
              <a:rPr sz="1300" i="0">
                <a:solidFill>
                  <a:srgbClr val="E8EDF2"/>
                </a:solidFill>
                <a:latin typeface="Consolas"/>
              </a:rPr>
              <a:t> </a:t>
            </a:r>
            <a:r>
              <a:rPr sz="1300" i="0">
                <a:solidFill>
                  <a:srgbClr val="AEB6BF"/>
                </a:solidFill>
                <a:latin typeface="Consolas"/>
              </a:rPr>
              <a:t>[</a:t>
            </a:r>
            <a:r>
              <a:rPr sz="1300" i="0">
                <a:solidFill>
                  <a:srgbClr val="AEB6BF"/>
                </a:solidFill>
                <a:latin typeface="Consolas"/>
              </a:rPr>
              <a:t>]</a:t>
            </a:r>
            <a:r>
              <a:rPr sz="1300" i="0">
                <a:solidFill>
                  <a:srgbClr val="AEB6BF"/>
                </a:solidFill>
                <a:latin typeface="Consolas"/>
              </a:rPr>
              <a:t>)</a:t>
            </a:r>
          </a:p>
          <a:p>
            <a:pPr>
              <a:lnSpc>
                <a:spcPct val="100000"/>
              </a:lnSpc>
              <a:spcAft>
                <a:spcPts val="0"/>
              </a:spcAft>
            </a:pPr>
            <a:r>
              <a:rPr sz="1300" i="0">
                <a:solidFill>
                  <a:srgbClr val="E8EDF2"/>
                </a:solidFill>
                <a:latin typeface="Consolas"/>
              </a:rPr>
              <a:t>    </a:t>
            </a:r>
            <a:r>
              <a:rPr sz="1300" i="0">
                <a:solidFill>
                  <a:srgbClr val="5DADE2"/>
                </a:solidFill>
                <a:latin typeface="Consolas"/>
              </a:rPr>
              <a:t>return</a:t>
            </a:r>
            <a:r>
              <a:rPr sz="1300" i="0">
                <a:solidFill>
                  <a:srgbClr val="E8EDF2"/>
                </a:solidFill>
                <a:latin typeface="Consolas"/>
              </a:rPr>
              <a:t> </a:t>
            </a:r>
            <a:r>
              <a:rPr sz="1300" i="0">
                <a:solidFill>
                  <a:srgbClr val="E8EDF2"/>
                </a:solidFill>
                <a:latin typeface="Consolas"/>
              </a:rPr>
              <a:t>out</a:t>
            </a:r>
          </a:p>
        </p:txBody>
      </p:sp>
      <p:sp>
        <p:nvSpPr>
          <p:cNvPr id="15" name="!!code-num"/>
          <p:cNvSpPr txBox="1"/>
          <p:nvPr/>
        </p:nvSpPr>
        <p:spPr>
          <a:xfrm>
            <a:off x="768096" y="2523744"/>
            <a:ext cx="393192" cy="3675887"/>
          </a:xfrm>
          <a:prstGeom prst="rect">
            <a:avLst/>
          </a:prstGeom>
          <a:noFill/>
        </p:spPr>
        <p:txBody>
          <a:bodyPr wrap="none" anchor="t" lIns="0" rIns="0" tIns="0" bIns="0">
            <a:noAutofit/>
          </a:bodyPr>
          <a:lstStyle/>
          <a:p>
            <a:pPr algn="r">
              <a:lnSpc>
                <a:spcPct val="100000"/>
              </a:lnSpc>
            </a:pPr>
            <a:r>
              <a:rPr sz="1300">
                <a:solidFill>
                  <a:srgbClr val="4F5D6A"/>
                </a:solidFill>
                <a:latin typeface="Consolas"/>
              </a:rPr>
              <a:t>30</a:t>
            </a:r>
          </a:p>
          <a:p>
            <a:pPr algn="r">
              <a:lnSpc>
                <a:spcPct val="100000"/>
              </a:lnSpc>
            </a:pPr>
            <a:r>
              <a:rPr sz="1300">
                <a:solidFill>
                  <a:srgbClr val="4F5D6A"/>
                </a:solidFill>
                <a:latin typeface="Consolas"/>
              </a:rPr>
              <a:t>31</a:t>
            </a:r>
          </a:p>
          <a:p>
            <a:pPr algn="r">
              <a:lnSpc>
                <a:spcPct val="100000"/>
              </a:lnSpc>
            </a:pPr>
            <a:r>
              <a:rPr sz="1300">
                <a:solidFill>
                  <a:srgbClr val="4F5D6A"/>
                </a:solidFill>
                <a:latin typeface="Consolas"/>
              </a:rPr>
              <a:t>32</a:t>
            </a:r>
          </a:p>
          <a:p>
            <a:pPr algn="r">
              <a:lnSpc>
                <a:spcPct val="100000"/>
              </a:lnSpc>
            </a:pPr>
            <a:r>
              <a:rPr sz="1300">
                <a:solidFill>
                  <a:srgbClr val="4F5D6A"/>
                </a:solidFill>
                <a:latin typeface="Consolas"/>
              </a:rPr>
              <a:t>33</a:t>
            </a:r>
          </a:p>
          <a:p>
            <a:pPr algn="r">
              <a:lnSpc>
                <a:spcPct val="100000"/>
              </a:lnSpc>
            </a:pPr>
            <a:r>
              <a:rPr sz="1300">
                <a:solidFill>
                  <a:srgbClr val="4F5D6A"/>
                </a:solidFill>
                <a:latin typeface="Consolas"/>
              </a:rPr>
              <a:t>34</a:t>
            </a:r>
          </a:p>
          <a:p>
            <a:pPr algn="r">
              <a:lnSpc>
                <a:spcPct val="100000"/>
              </a:lnSpc>
            </a:pPr>
            <a:r>
              <a:rPr sz="1300">
                <a:solidFill>
                  <a:srgbClr val="4F5D6A"/>
                </a:solidFill>
                <a:latin typeface="Consolas"/>
              </a:rPr>
              <a:t>35</a:t>
            </a:r>
          </a:p>
          <a:p>
            <a:pPr algn="r">
              <a:lnSpc>
                <a:spcPct val="100000"/>
              </a:lnSpc>
            </a:pPr>
            <a:r>
              <a:rPr sz="1300">
                <a:solidFill>
                  <a:srgbClr val="4F5D6A"/>
                </a:solidFill>
                <a:latin typeface="Consolas"/>
              </a:rPr>
              <a:t>36</a:t>
            </a:r>
          </a:p>
          <a:p>
            <a:pPr algn="r">
              <a:lnSpc>
                <a:spcPct val="100000"/>
              </a:lnSpc>
            </a:pPr>
            <a:r>
              <a:rPr sz="1300">
                <a:solidFill>
                  <a:srgbClr val="4F5D6A"/>
                </a:solidFill>
                <a:latin typeface="Consolas"/>
              </a:rPr>
              <a:t>37</a:t>
            </a:r>
          </a:p>
          <a:p>
            <a:pPr algn="r">
              <a:lnSpc>
                <a:spcPct val="100000"/>
              </a:lnSpc>
            </a:pPr>
            <a:r>
              <a:rPr sz="1300">
                <a:solidFill>
                  <a:srgbClr val="4F5D6A"/>
                </a:solidFill>
                <a:latin typeface="Consolas"/>
              </a:rPr>
              <a:t>38</a:t>
            </a:r>
          </a:p>
          <a:p>
            <a:pPr algn="r">
              <a:lnSpc>
                <a:spcPct val="100000"/>
              </a:lnSpc>
            </a:pPr>
            <a:r>
              <a:rPr sz="1300">
                <a:solidFill>
                  <a:srgbClr val="4F5D6A"/>
                </a:solidFill>
                <a:latin typeface="Consolas"/>
              </a:rPr>
              <a:t>39</a:t>
            </a:r>
          </a:p>
          <a:p>
            <a:pPr algn="r">
              <a:lnSpc>
                <a:spcPct val="100000"/>
              </a:lnSpc>
            </a:pPr>
            <a:r>
              <a:rPr sz="1300">
                <a:solidFill>
                  <a:srgbClr val="4F5D6A"/>
                </a:solidFill>
                <a:latin typeface="Consolas"/>
              </a:rPr>
              <a:t>40</a:t>
            </a:r>
          </a:p>
          <a:p>
            <a:pPr algn="r">
              <a:lnSpc>
                <a:spcPct val="100000"/>
              </a:lnSpc>
            </a:pPr>
            <a:r>
              <a:rPr sz="1300">
                <a:solidFill>
                  <a:srgbClr val="4F5D6A"/>
                </a:solidFill>
                <a:latin typeface="Consolas"/>
              </a:rPr>
              <a:t>41</a:t>
            </a:r>
          </a:p>
          <a:p>
            <a:pPr algn="r">
              <a:lnSpc>
                <a:spcPct val="100000"/>
              </a:lnSpc>
            </a:pPr>
            <a:r>
              <a:rPr sz="1300">
                <a:solidFill>
                  <a:srgbClr val="4F5D6A"/>
                </a:solidFill>
                <a:latin typeface="Consolas"/>
              </a:rPr>
              <a:t>42</a:t>
            </a:r>
          </a:p>
          <a:p>
            <a:pPr algn="r">
              <a:lnSpc>
                <a:spcPct val="100000"/>
              </a:lnSpc>
            </a:pPr>
            <a:r>
              <a:rPr sz="1300">
                <a:solidFill>
                  <a:srgbClr val="4F5D6A"/>
                </a:solidFill>
                <a:latin typeface="Consolas"/>
              </a:rPr>
              <a:t>43</a:t>
            </a:r>
          </a:p>
          <a:p>
            <a:pPr algn="r">
              <a:lnSpc>
                <a:spcPct val="100000"/>
              </a:lnSpc>
            </a:pPr>
            <a:r>
              <a:rPr sz="1300">
                <a:solidFill>
                  <a:srgbClr val="4F5D6A"/>
                </a:solidFill>
                <a:latin typeface="Consolas"/>
              </a:rPr>
              <a:t>44</a:t>
            </a:r>
          </a:p>
          <a:p>
            <a:pPr algn="r">
              <a:lnSpc>
                <a:spcPct val="100000"/>
              </a:lnSpc>
            </a:pPr>
            <a:r>
              <a:rPr sz="1300">
                <a:solidFill>
                  <a:srgbClr val="4F5D6A"/>
                </a:solidFill>
                <a:latin typeface="Consolas"/>
              </a:rPr>
              <a:t>45</a:t>
            </a:r>
          </a:p>
          <a:p>
            <a:pPr algn="r">
              <a:lnSpc>
                <a:spcPct val="100000"/>
              </a:lnSpc>
            </a:pPr>
            <a:r>
              <a:rPr sz="1300">
                <a:solidFill>
                  <a:srgbClr val="4F5D6A"/>
                </a:solidFill>
                <a:latin typeface="Consolas"/>
              </a:rPr>
              <a:t>46</a:t>
            </a:r>
          </a:p>
          <a:p>
            <a:pPr algn="r">
              <a:lnSpc>
                <a:spcPct val="100000"/>
              </a:lnSpc>
            </a:pPr>
            <a:r>
              <a:rPr sz="1300">
                <a:solidFill>
                  <a:srgbClr val="4F5D6A"/>
                </a:solidFill>
                <a:latin typeface="Consolas"/>
              </a:rPr>
              <a:t>47</a:t>
            </a:r>
          </a:p>
        </p:txBody>
      </p:sp>
      <p:sp>
        <p:nvSpPr>
          <p:cNvPr id="16"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7" name="!!pfill">
            <a:extLst>
              <a:ext uri="{C183D7F6-B498-43B3-948B-1728B52AA6E4}">
                <adec:decorative xmlns:adec="http://schemas.microsoft.com/office/drawing/2017/decorative" val="1"/>
              </a:ext>
            </a:extLst>
          </p:cNvPr>
          <p:cNvSpPr/>
          <p:nvPr/>
        </p:nvSpPr>
        <p:spPr>
          <a:xfrm>
            <a:off x="0" y="0"/>
            <a:ext cx="5670555" cy="54864"/>
          </a:xfrm>
          <a:prstGeom prst="rect">
            <a:avLst/>
          </a:prstGeom>
          <a:solidFill>
            <a:srgbClr val="8E44A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xmlns:p159="http://schemas.microsoft.com/office/powerpoint/2015/09/main" Requires="p159">
      <p:transition spd="slow" p14:dur="600">
        <p159:morph option="byObject"/>
      </p:transition>
    </mc:Choice>
    <mc:Fallback>
      <p:transition spd="med">
        <p:fade/>
      </p:transition>
    </mc:Fallback>
  </mc:AlternateContent>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2600" b="0">
                <a:solidFill>
                  <a:srgbClr val="1A5276"/>
                </a:solidFill>
                <a:latin typeface="Segoe UI Semibold"/>
              </a:rPr>
              <a:t>A Semantic Network That Answers Queries</a:t>
            </a:r>
          </a:p>
        </p:txBody>
      </p:sp>
      <p:pic>
        <p:nvPicPr>
          <p:cNvPr id="3" name="!!kicker-icon" descr="flask-117A65.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192583"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117A65"/>
                </a:solidFill>
                <a:latin typeface="Segoe UI"/>
              </a:rPr>
              <a:t>LAB  ·  STEP 4 OF 11</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Artificial Intelligence  ·  Chapter 10  ·  Knowledge Representation</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§10.6  ·  Handout p. 104     </a:t>
            </a:r>
            <a:fld id="{AA8450F9-09AD-4B78-952F-3CF0EF370A65}" type="slidenum">
              <a:rPr lang="en-GB" sz="1000">
                <a:solidFill>
                  <a:srgbClr val="8795A1"/>
                </a:solidFill>
                <a:latin typeface="Segoe UI"/>
              </a:rPr>
              <a:t>21</a:t>
            </a:fld>
          </a:p>
        </p:txBody>
      </p:sp>
      <p:sp>
        <p:nvSpPr>
          <p:cNvPr id="7" name="!!codehead"/>
          <p:cNvSpPr txBox="1"/>
          <p:nvPr/>
        </p:nvSpPr>
        <p:spPr>
          <a:xfrm>
            <a:off x="658368" y="1627631"/>
            <a:ext cx="10874959" cy="329184"/>
          </a:xfrm>
          <a:prstGeom prst="rect">
            <a:avLst/>
          </a:prstGeom>
          <a:noFill/>
        </p:spPr>
        <p:txBody>
          <a:bodyPr wrap="square" anchor="t" lIns="0" rIns="0" tIns="0" bIns="0">
            <a:noAutofit/>
          </a:bodyPr>
          <a:lstStyle/>
          <a:p>
            <a:pPr algn="l">
              <a:lnSpc>
                <a:spcPct val="100000"/>
              </a:lnSpc>
              <a:spcBef>
                <a:spcPts val="0"/>
              </a:spcBef>
              <a:spcAft>
                <a:spcPts val="0"/>
              </a:spcAft>
            </a:pPr>
            <a:r>
              <a:rPr sz="1900" b="1" i="0">
                <a:solidFill>
                  <a:srgbClr val="0E6655"/>
                </a:solidFill>
                <a:latin typeface="Segoe UI Semibold"/>
              </a:rPr>
              <a:t>Set-up (continued)</a:t>
            </a:r>
          </a:p>
        </p:txBody>
      </p:sp>
      <p:sp>
        <p:nvSpPr>
          <p:cNvPr id="8" name="!!code-bg">
            <a:extLst>
              <a:ext uri="{C183D7F6-B498-43B3-948B-1728B52AA6E4}">
                <adec:decorative xmlns:adec="http://schemas.microsoft.com/office/drawing/2017/decorative" val="1"/>
              </a:ext>
            </a:extLst>
          </p:cNvPr>
          <p:cNvSpPr/>
          <p:nvPr/>
        </p:nvSpPr>
        <p:spPr>
          <a:xfrm>
            <a:off x="658368" y="2084831"/>
            <a:ext cx="10874959" cy="4078223"/>
          </a:xfrm>
          <a:prstGeom prst="roundRect">
            <a:avLst>
              <a:gd name="adj" fmla="val 2242"/>
            </a:avLst>
          </a:prstGeom>
          <a:solidFill>
            <a:srgbClr val="1E283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9" name="!!code-sep">
            <a:extLst>
              <a:ext uri="{C183D7F6-B498-43B3-948B-1728B52AA6E4}">
                <adec:decorative xmlns:adec="http://schemas.microsoft.com/office/drawing/2017/decorative" val="1"/>
              </a:ext>
            </a:extLst>
          </p:cNvPr>
          <p:cNvSpPr/>
          <p:nvPr/>
        </p:nvSpPr>
        <p:spPr>
          <a:xfrm>
            <a:off x="676656" y="2404872"/>
            <a:ext cx="10838383" cy="10972"/>
          </a:xfrm>
          <a:prstGeom prst="rect">
            <a:avLst/>
          </a:prstGeom>
          <a:solidFill>
            <a:srgbClr val="28343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0" name="!!code-dot0">
            <a:extLst>
              <a:ext uri="{C183D7F6-B498-43B3-948B-1728B52AA6E4}">
                <adec:decorative xmlns:adec="http://schemas.microsoft.com/office/drawing/2017/decorative" val="1"/>
              </a:ext>
            </a:extLst>
          </p:cNvPr>
          <p:cNvSpPr/>
          <p:nvPr/>
        </p:nvSpPr>
        <p:spPr>
          <a:xfrm>
            <a:off x="859536" y="2199132"/>
            <a:ext cx="100584" cy="100584"/>
          </a:xfrm>
          <a:prstGeom prst="ellipse">
            <a:avLst/>
          </a:prstGeom>
          <a:solidFill>
            <a:srgbClr val="E74C3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1" name="!!code-dot1">
            <a:extLst>
              <a:ext uri="{C183D7F6-B498-43B3-948B-1728B52AA6E4}">
                <adec:decorative xmlns:adec="http://schemas.microsoft.com/office/drawing/2017/decorative" val="1"/>
              </a:ext>
            </a:extLst>
          </p:cNvPr>
          <p:cNvSpPr/>
          <p:nvPr/>
        </p:nvSpPr>
        <p:spPr>
          <a:xfrm>
            <a:off x="1042415" y="2199132"/>
            <a:ext cx="100584" cy="100584"/>
          </a:xfrm>
          <a:prstGeom prst="ellipse">
            <a:avLst/>
          </a:prstGeom>
          <a:solidFill>
            <a:srgbClr val="F4D03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2" name="!!code-dot2">
            <a:extLst>
              <a:ext uri="{C183D7F6-B498-43B3-948B-1728B52AA6E4}">
                <adec:decorative xmlns:adec="http://schemas.microsoft.com/office/drawing/2017/decorative" val="1"/>
              </a:ext>
            </a:extLst>
          </p:cNvPr>
          <p:cNvSpPr/>
          <p:nvPr/>
        </p:nvSpPr>
        <p:spPr>
          <a:xfrm>
            <a:off x="1225295" y="2199132"/>
            <a:ext cx="100584" cy="100584"/>
          </a:xfrm>
          <a:prstGeom prst="ellipse">
            <a:avLst/>
          </a:prstGeom>
          <a:solidFill>
            <a:srgbClr val="58D68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3" name="!!code-label"/>
          <p:cNvSpPr txBox="1"/>
          <p:nvPr/>
        </p:nvSpPr>
        <p:spPr>
          <a:xfrm>
            <a:off x="1527048" y="2148839"/>
            <a:ext cx="9777679" cy="219456"/>
          </a:xfrm>
          <a:prstGeom prst="rect">
            <a:avLst/>
          </a:prstGeom>
          <a:noFill/>
        </p:spPr>
        <p:txBody>
          <a:bodyPr wrap="square" anchor="t" lIns="0" rIns="0" tIns="0" bIns="0">
            <a:noAutofit/>
          </a:bodyPr>
          <a:lstStyle/>
          <a:p>
            <a:pPr algn="l">
              <a:lnSpc>
                <a:spcPct val="100000"/>
              </a:lnSpc>
              <a:spcBef>
                <a:spcPts val="0"/>
              </a:spcBef>
              <a:spcAft>
                <a:spcPts val="0"/>
              </a:spcAft>
            </a:pPr>
            <a:r>
              <a:rPr sz="1100" b="1" i="0">
                <a:solidFill>
                  <a:srgbClr val="9FB0BF"/>
                </a:solidFill>
                <a:latin typeface="Segoe UI"/>
              </a:rPr>
              <a:t>Python  ·  code/ch10_semantic_network_that.py</a:t>
            </a:r>
          </a:p>
        </p:txBody>
      </p:sp>
      <p:sp>
        <p:nvSpPr>
          <p:cNvPr id="14" name="!!code-text" descr="def ancestors(frame): &quot;&quot;&quot;Every class above this one, nearest first. The seen set is what stops an is-a cycle from looping forever.&quot;&quot;&quot; out, seen, queue = [], {frame}, list(parents(frame)) while queue: f = queue.pop(0) if f in seen: continue seen.add(f) out.append(f) queue += parents(f) return out"/>
          <p:cNvSpPr txBox="1"/>
          <p:nvPr/>
        </p:nvSpPr>
        <p:spPr>
          <a:xfrm>
            <a:off x="1362456" y="2523744"/>
            <a:ext cx="9987991" cy="3584447"/>
          </a:xfrm>
          <a:prstGeom prst="rect">
            <a:avLst/>
          </a:prstGeom>
          <a:noFill/>
        </p:spPr>
        <p:txBody>
          <a:bodyPr wrap="none" anchor="t" lIns="0" rIns="0" tIns="0" bIns="0">
            <a:noAutofit/>
          </a:bodyPr>
          <a:lstStyle/>
          <a:p>
            <a:pPr>
              <a:lnSpc>
                <a:spcPct val="100000"/>
              </a:lnSpc>
              <a:spcAft>
                <a:spcPts val="0"/>
              </a:spcAft>
            </a:pPr>
            <a:r>
              <a:rPr sz="1900" i="0">
                <a:solidFill>
                  <a:srgbClr val="5DADE2"/>
                </a:solidFill>
                <a:latin typeface="Consolas"/>
              </a:rPr>
              <a:t>def</a:t>
            </a:r>
            <a:r>
              <a:rPr sz="1900" i="0">
                <a:solidFill>
                  <a:srgbClr val="E8EDF2"/>
                </a:solidFill>
                <a:latin typeface="Consolas"/>
              </a:rPr>
              <a:t> </a:t>
            </a:r>
            <a:r>
              <a:rPr sz="1900" i="0">
                <a:solidFill>
                  <a:srgbClr val="C39BD3"/>
                </a:solidFill>
                <a:latin typeface="Consolas"/>
              </a:rPr>
              <a:t>ancestors</a:t>
            </a:r>
            <a:r>
              <a:rPr sz="1900" i="0">
                <a:solidFill>
                  <a:srgbClr val="AEB6BF"/>
                </a:solidFill>
                <a:latin typeface="Consolas"/>
              </a:rPr>
              <a:t>(</a:t>
            </a:r>
            <a:r>
              <a:rPr sz="1900" i="0">
                <a:solidFill>
                  <a:srgbClr val="E8EDF2"/>
                </a:solidFill>
                <a:latin typeface="Consolas"/>
              </a:rPr>
              <a:t>frame</a:t>
            </a:r>
            <a:r>
              <a:rPr sz="1900" i="0">
                <a:solidFill>
                  <a:srgbClr val="AEB6BF"/>
                </a:solidFill>
                <a:latin typeface="Consolas"/>
              </a:rPr>
              <a:t>)</a:t>
            </a:r>
            <a:r>
              <a:rPr sz="1900" i="0">
                <a:solidFill>
                  <a:srgbClr val="AEB6BF"/>
                </a:solidFill>
                <a:latin typeface="Consolas"/>
              </a:rPr>
              <a:t>:</a:t>
            </a:r>
          </a:p>
          <a:p>
            <a:pPr>
              <a:lnSpc>
                <a:spcPct val="100000"/>
              </a:lnSpc>
              <a:spcAft>
                <a:spcPts val="0"/>
              </a:spcAft>
            </a:pPr>
            <a:r>
              <a:rPr sz="1900" i="0">
                <a:solidFill>
                  <a:srgbClr val="E8EDF2"/>
                </a:solidFill>
                <a:latin typeface="Consolas"/>
              </a:rPr>
              <a:t>    </a:t>
            </a:r>
            <a:r>
              <a:rPr sz="1900" i="0">
                <a:solidFill>
                  <a:srgbClr val="7DCEA0"/>
                </a:solidFill>
                <a:latin typeface="Consolas"/>
              </a:rPr>
              <a:t>"""Every class above this one, nearest first. The seen set is what</a:t>
            </a:r>
          </a:p>
          <a:p>
            <a:pPr>
              <a:lnSpc>
                <a:spcPct val="100000"/>
              </a:lnSpc>
              <a:spcAft>
                <a:spcPts val="0"/>
              </a:spcAft>
            </a:pPr>
            <a:r>
              <a:rPr sz="1900" i="0">
                <a:solidFill>
                  <a:srgbClr val="7DCEA0"/>
                </a:solidFill>
                <a:latin typeface="Consolas"/>
              </a:rPr>
              <a:t>    stops an is-a cycle from looping forever."""</a:t>
            </a:r>
          </a:p>
          <a:p>
            <a:pPr>
              <a:lnSpc>
                <a:spcPct val="100000"/>
              </a:lnSpc>
              <a:spcAft>
                <a:spcPts val="0"/>
              </a:spcAft>
            </a:pPr>
            <a:r>
              <a:rPr sz="1900" i="0">
                <a:solidFill>
                  <a:srgbClr val="E8EDF2"/>
                </a:solidFill>
                <a:latin typeface="Consolas"/>
              </a:rPr>
              <a:t>    </a:t>
            </a:r>
            <a:r>
              <a:rPr sz="1900" i="0">
                <a:solidFill>
                  <a:srgbClr val="E8EDF2"/>
                </a:solidFill>
                <a:latin typeface="Consolas"/>
              </a:rPr>
              <a:t>out</a:t>
            </a:r>
            <a:r>
              <a:rPr sz="1900" i="0">
                <a:solidFill>
                  <a:srgbClr val="AEB6BF"/>
                </a:solidFill>
                <a:latin typeface="Consolas"/>
              </a:rPr>
              <a:t>,</a:t>
            </a:r>
            <a:r>
              <a:rPr sz="1900" i="0">
                <a:solidFill>
                  <a:srgbClr val="E8EDF2"/>
                </a:solidFill>
                <a:latin typeface="Consolas"/>
              </a:rPr>
              <a:t> </a:t>
            </a:r>
            <a:r>
              <a:rPr sz="1900" i="0">
                <a:solidFill>
                  <a:srgbClr val="E8EDF2"/>
                </a:solidFill>
                <a:latin typeface="Consolas"/>
              </a:rPr>
              <a:t>seen</a:t>
            </a:r>
            <a:r>
              <a:rPr sz="1900" i="0">
                <a:solidFill>
                  <a:srgbClr val="AEB6BF"/>
                </a:solidFill>
                <a:latin typeface="Consolas"/>
              </a:rPr>
              <a:t>,</a:t>
            </a:r>
            <a:r>
              <a:rPr sz="1900" i="0">
                <a:solidFill>
                  <a:srgbClr val="E8EDF2"/>
                </a:solidFill>
                <a:latin typeface="Consolas"/>
              </a:rPr>
              <a:t> </a:t>
            </a:r>
            <a:r>
              <a:rPr sz="1900" i="0">
                <a:solidFill>
                  <a:srgbClr val="E8EDF2"/>
                </a:solidFill>
                <a:latin typeface="Consolas"/>
              </a:rPr>
              <a:t>queue</a:t>
            </a:r>
            <a:r>
              <a:rPr sz="1900" i="0">
                <a:solidFill>
                  <a:srgbClr val="E8EDF2"/>
                </a:solidFill>
                <a:latin typeface="Consolas"/>
              </a:rPr>
              <a:t> </a:t>
            </a:r>
            <a:r>
              <a:rPr sz="1900" i="0">
                <a:solidFill>
                  <a:srgbClr val="AEB6BF"/>
                </a:solidFill>
                <a:latin typeface="Consolas"/>
              </a:rPr>
              <a:t>=</a:t>
            </a:r>
            <a:r>
              <a:rPr sz="1900" i="0">
                <a:solidFill>
                  <a:srgbClr val="E8EDF2"/>
                </a:solidFill>
                <a:latin typeface="Consolas"/>
              </a:rPr>
              <a:t> </a:t>
            </a:r>
            <a:r>
              <a:rPr sz="1900" i="0">
                <a:solidFill>
                  <a:srgbClr val="AEB6BF"/>
                </a:solidFill>
                <a:latin typeface="Consolas"/>
              </a:rPr>
              <a:t>[</a:t>
            </a:r>
            <a:r>
              <a:rPr sz="1900" i="0">
                <a:solidFill>
                  <a:srgbClr val="AEB6BF"/>
                </a:solidFill>
                <a:latin typeface="Consolas"/>
              </a:rPr>
              <a:t>]</a:t>
            </a:r>
            <a:r>
              <a:rPr sz="1900" i="0">
                <a:solidFill>
                  <a:srgbClr val="AEB6BF"/>
                </a:solidFill>
                <a:latin typeface="Consolas"/>
              </a:rPr>
              <a:t>,</a:t>
            </a:r>
            <a:r>
              <a:rPr sz="1900" i="0">
                <a:solidFill>
                  <a:srgbClr val="E8EDF2"/>
                </a:solidFill>
                <a:latin typeface="Consolas"/>
              </a:rPr>
              <a:t> </a:t>
            </a:r>
            <a:r>
              <a:rPr sz="1900" i="0">
                <a:solidFill>
                  <a:srgbClr val="AEB6BF"/>
                </a:solidFill>
                <a:latin typeface="Consolas"/>
              </a:rPr>
              <a:t>{</a:t>
            </a:r>
            <a:r>
              <a:rPr sz="1900" i="0">
                <a:solidFill>
                  <a:srgbClr val="E8EDF2"/>
                </a:solidFill>
                <a:latin typeface="Consolas"/>
              </a:rPr>
              <a:t>frame</a:t>
            </a:r>
            <a:r>
              <a:rPr sz="1900" i="0">
                <a:solidFill>
                  <a:srgbClr val="AEB6BF"/>
                </a:solidFill>
                <a:latin typeface="Consolas"/>
              </a:rPr>
              <a:t>}</a:t>
            </a:r>
            <a:r>
              <a:rPr sz="1900" i="0">
                <a:solidFill>
                  <a:srgbClr val="AEB6BF"/>
                </a:solidFill>
                <a:latin typeface="Consolas"/>
              </a:rPr>
              <a:t>,</a:t>
            </a:r>
            <a:r>
              <a:rPr sz="1900" i="0">
                <a:solidFill>
                  <a:srgbClr val="E8EDF2"/>
                </a:solidFill>
                <a:latin typeface="Consolas"/>
              </a:rPr>
              <a:t> </a:t>
            </a:r>
            <a:r>
              <a:rPr sz="1900" i="0">
                <a:solidFill>
                  <a:srgbClr val="C39BD3"/>
                </a:solidFill>
                <a:latin typeface="Consolas"/>
              </a:rPr>
              <a:t>list</a:t>
            </a:r>
            <a:r>
              <a:rPr sz="1900" i="0">
                <a:solidFill>
                  <a:srgbClr val="AEB6BF"/>
                </a:solidFill>
                <a:latin typeface="Consolas"/>
              </a:rPr>
              <a:t>(</a:t>
            </a:r>
            <a:r>
              <a:rPr sz="1900" i="0">
                <a:solidFill>
                  <a:srgbClr val="E8EDF2"/>
                </a:solidFill>
                <a:latin typeface="Consolas"/>
              </a:rPr>
              <a:t>parents</a:t>
            </a:r>
            <a:r>
              <a:rPr sz="1900" i="0">
                <a:solidFill>
                  <a:srgbClr val="AEB6BF"/>
                </a:solidFill>
                <a:latin typeface="Consolas"/>
              </a:rPr>
              <a:t>(</a:t>
            </a:r>
            <a:r>
              <a:rPr sz="1900" i="0">
                <a:solidFill>
                  <a:srgbClr val="E8EDF2"/>
                </a:solidFill>
                <a:latin typeface="Consolas"/>
              </a:rPr>
              <a:t>frame</a:t>
            </a:r>
            <a:r>
              <a:rPr sz="1900" i="0">
                <a:solidFill>
                  <a:srgbClr val="AEB6BF"/>
                </a:solidFill>
                <a:latin typeface="Consolas"/>
              </a:rPr>
              <a:t>)</a:t>
            </a:r>
            <a:r>
              <a:rPr sz="1900" i="0">
                <a:solidFill>
                  <a:srgbClr val="AEB6BF"/>
                </a:solidFill>
                <a:latin typeface="Consolas"/>
              </a:rPr>
              <a:t>)</a:t>
            </a:r>
          </a:p>
          <a:p>
            <a:pPr>
              <a:lnSpc>
                <a:spcPct val="100000"/>
              </a:lnSpc>
              <a:spcAft>
                <a:spcPts val="0"/>
              </a:spcAft>
            </a:pPr>
            <a:r>
              <a:rPr sz="1900" i="0">
                <a:solidFill>
                  <a:srgbClr val="E8EDF2"/>
                </a:solidFill>
                <a:latin typeface="Consolas"/>
              </a:rPr>
              <a:t>    </a:t>
            </a:r>
            <a:r>
              <a:rPr sz="1900" i="0">
                <a:solidFill>
                  <a:srgbClr val="5DADE2"/>
                </a:solidFill>
                <a:latin typeface="Consolas"/>
              </a:rPr>
              <a:t>while</a:t>
            </a:r>
            <a:r>
              <a:rPr sz="1900" i="0">
                <a:solidFill>
                  <a:srgbClr val="E8EDF2"/>
                </a:solidFill>
                <a:latin typeface="Consolas"/>
              </a:rPr>
              <a:t> </a:t>
            </a:r>
            <a:r>
              <a:rPr sz="1900" i="0">
                <a:solidFill>
                  <a:srgbClr val="E8EDF2"/>
                </a:solidFill>
                <a:latin typeface="Consolas"/>
              </a:rPr>
              <a:t>queue</a:t>
            </a:r>
            <a:r>
              <a:rPr sz="1900" i="0">
                <a:solidFill>
                  <a:srgbClr val="AEB6BF"/>
                </a:solidFill>
                <a:latin typeface="Consolas"/>
              </a:rPr>
              <a:t>:</a:t>
            </a:r>
          </a:p>
          <a:p>
            <a:pPr>
              <a:lnSpc>
                <a:spcPct val="100000"/>
              </a:lnSpc>
              <a:spcAft>
                <a:spcPts val="0"/>
              </a:spcAft>
            </a:pPr>
            <a:r>
              <a:rPr sz="1900" i="0">
                <a:solidFill>
                  <a:srgbClr val="E8EDF2"/>
                </a:solidFill>
                <a:latin typeface="Consolas"/>
              </a:rPr>
              <a:t>        </a:t>
            </a:r>
            <a:r>
              <a:rPr sz="1900" i="0">
                <a:solidFill>
                  <a:srgbClr val="E8EDF2"/>
                </a:solidFill>
                <a:latin typeface="Consolas"/>
              </a:rPr>
              <a:t>f</a:t>
            </a:r>
            <a:r>
              <a:rPr sz="1900" i="0">
                <a:solidFill>
                  <a:srgbClr val="E8EDF2"/>
                </a:solidFill>
                <a:latin typeface="Consolas"/>
              </a:rPr>
              <a:t> </a:t>
            </a:r>
            <a:r>
              <a:rPr sz="1900" i="0">
                <a:solidFill>
                  <a:srgbClr val="AEB6BF"/>
                </a:solidFill>
                <a:latin typeface="Consolas"/>
              </a:rPr>
              <a:t>=</a:t>
            </a:r>
            <a:r>
              <a:rPr sz="1900" i="0">
                <a:solidFill>
                  <a:srgbClr val="E8EDF2"/>
                </a:solidFill>
                <a:latin typeface="Consolas"/>
              </a:rPr>
              <a:t> </a:t>
            </a:r>
            <a:r>
              <a:rPr sz="1900" i="0">
                <a:solidFill>
                  <a:srgbClr val="E8EDF2"/>
                </a:solidFill>
                <a:latin typeface="Consolas"/>
              </a:rPr>
              <a:t>queue</a:t>
            </a:r>
            <a:r>
              <a:rPr sz="1900" i="0">
                <a:solidFill>
                  <a:srgbClr val="AEB6BF"/>
                </a:solidFill>
                <a:latin typeface="Consolas"/>
              </a:rPr>
              <a:t>.</a:t>
            </a:r>
            <a:r>
              <a:rPr sz="1900" i="0">
                <a:solidFill>
                  <a:srgbClr val="E8EDF2"/>
                </a:solidFill>
                <a:latin typeface="Consolas"/>
              </a:rPr>
              <a:t>pop</a:t>
            </a:r>
            <a:r>
              <a:rPr sz="1900" i="0">
                <a:solidFill>
                  <a:srgbClr val="AEB6BF"/>
                </a:solidFill>
                <a:latin typeface="Consolas"/>
              </a:rPr>
              <a:t>(</a:t>
            </a:r>
            <a:r>
              <a:rPr sz="1900" i="0">
                <a:solidFill>
                  <a:srgbClr val="F7DC6F"/>
                </a:solidFill>
                <a:latin typeface="Consolas"/>
              </a:rPr>
              <a:t>0</a:t>
            </a:r>
            <a:r>
              <a:rPr sz="1900" i="0">
                <a:solidFill>
                  <a:srgbClr val="AEB6BF"/>
                </a:solidFill>
                <a:latin typeface="Consolas"/>
              </a:rPr>
              <a:t>)</a:t>
            </a:r>
          </a:p>
          <a:p>
            <a:pPr>
              <a:lnSpc>
                <a:spcPct val="100000"/>
              </a:lnSpc>
              <a:spcAft>
                <a:spcPts val="0"/>
              </a:spcAft>
            </a:pPr>
            <a:r>
              <a:rPr sz="1900" i="0">
                <a:solidFill>
                  <a:srgbClr val="E8EDF2"/>
                </a:solidFill>
                <a:latin typeface="Consolas"/>
              </a:rPr>
              <a:t>        </a:t>
            </a:r>
            <a:r>
              <a:rPr sz="1900" i="0">
                <a:solidFill>
                  <a:srgbClr val="5DADE2"/>
                </a:solidFill>
                <a:latin typeface="Consolas"/>
              </a:rPr>
              <a:t>if</a:t>
            </a:r>
            <a:r>
              <a:rPr sz="1900" i="0">
                <a:solidFill>
                  <a:srgbClr val="E8EDF2"/>
                </a:solidFill>
                <a:latin typeface="Consolas"/>
              </a:rPr>
              <a:t> </a:t>
            </a:r>
            <a:r>
              <a:rPr sz="1900" i="0">
                <a:solidFill>
                  <a:srgbClr val="E8EDF2"/>
                </a:solidFill>
                <a:latin typeface="Consolas"/>
              </a:rPr>
              <a:t>f</a:t>
            </a:r>
            <a:r>
              <a:rPr sz="1900" i="0">
                <a:solidFill>
                  <a:srgbClr val="E8EDF2"/>
                </a:solidFill>
                <a:latin typeface="Consolas"/>
              </a:rPr>
              <a:t> </a:t>
            </a:r>
            <a:r>
              <a:rPr sz="1900" i="0">
                <a:solidFill>
                  <a:srgbClr val="AEB6BF"/>
                </a:solidFill>
                <a:latin typeface="Consolas"/>
              </a:rPr>
              <a:t>in</a:t>
            </a:r>
            <a:r>
              <a:rPr sz="1900" i="0">
                <a:solidFill>
                  <a:srgbClr val="E8EDF2"/>
                </a:solidFill>
                <a:latin typeface="Consolas"/>
              </a:rPr>
              <a:t> </a:t>
            </a:r>
            <a:r>
              <a:rPr sz="1900" i="0">
                <a:solidFill>
                  <a:srgbClr val="E8EDF2"/>
                </a:solidFill>
                <a:latin typeface="Consolas"/>
              </a:rPr>
              <a:t>seen</a:t>
            </a:r>
            <a:r>
              <a:rPr sz="1900" i="0">
                <a:solidFill>
                  <a:srgbClr val="AEB6BF"/>
                </a:solidFill>
                <a:latin typeface="Consolas"/>
              </a:rPr>
              <a:t>:</a:t>
            </a:r>
          </a:p>
          <a:p>
            <a:pPr>
              <a:lnSpc>
                <a:spcPct val="100000"/>
              </a:lnSpc>
              <a:spcAft>
                <a:spcPts val="0"/>
              </a:spcAft>
            </a:pPr>
            <a:r>
              <a:rPr sz="1900" i="0">
                <a:solidFill>
                  <a:srgbClr val="E8EDF2"/>
                </a:solidFill>
                <a:latin typeface="Consolas"/>
              </a:rPr>
              <a:t>            </a:t>
            </a:r>
            <a:r>
              <a:rPr sz="1900" i="0">
                <a:solidFill>
                  <a:srgbClr val="5DADE2"/>
                </a:solidFill>
                <a:latin typeface="Consolas"/>
              </a:rPr>
              <a:t>continue</a:t>
            </a:r>
          </a:p>
          <a:p>
            <a:pPr>
              <a:lnSpc>
                <a:spcPct val="100000"/>
              </a:lnSpc>
              <a:spcAft>
                <a:spcPts val="0"/>
              </a:spcAft>
            </a:pPr>
            <a:r>
              <a:rPr sz="1900" i="0">
                <a:solidFill>
                  <a:srgbClr val="E8EDF2"/>
                </a:solidFill>
                <a:latin typeface="Consolas"/>
              </a:rPr>
              <a:t>        </a:t>
            </a:r>
            <a:r>
              <a:rPr sz="1900" i="0">
                <a:solidFill>
                  <a:srgbClr val="E8EDF2"/>
                </a:solidFill>
                <a:latin typeface="Consolas"/>
              </a:rPr>
              <a:t>seen</a:t>
            </a:r>
            <a:r>
              <a:rPr sz="1900" i="0">
                <a:solidFill>
                  <a:srgbClr val="AEB6BF"/>
                </a:solidFill>
                <a:latin typeface="Consolas"/>
              </a:rPr>
              <a:t>.</a:t>
            </a:r>
            <a:r>
              <a:rPr sz="1900" i="0">
                <a:solidFill>
                  <a:srgbClr val="E8EDF2"/>
                </a:solidFill>
                <a:latin typeface="Consolas"/>
              </a:rPr>
              <a:t>add</a:t>
            </a:r>
            <a:r>
              <a:rPr sz="1900" i="0">
                <a:solidFill>
                  <a:srgbClr val="AEB6BF"/>
                </a:solidFill>
                <a:latin typeface="Consolas"/>
              </a:rPr>
              <a:t>(</a:t>
            </a:r>
            <a:r>
              <a:rPr sz="1900" i="0">
                <a:solidFill>
                  <a:srgbClr val="E8EDF2"/>
                </a:solidFill>
                <a:latin typeface="Consolas"/>
              </a:rPr>
              <a:t>f</a:t>
            </a:r>
            <a:r>
              <a:rPr sz="1900" i="0">
                <a:solidFill>
                  <a:srgbClr val="AEB6BF"/>
                </a:solidFill>
                <a:latin typeface="Consolas"/>
              </a:rPr>
              <a:t>)</a:t>
            </a:r>
          </a:p>
          <a:p>
            <a:pPr>
              <a:lnSpc>
                <a:spcPct val="100000"/>
              </a:lnSpc>
              <a:spcAft>
                <a:spcPts val="0"/>
              </a:spcAft>
            </a:pPr>
            <a:r>
              <a:rPr sz="1900" i="0">
                <a:solidFill>
                  <a:srgbClr val="E8EDF2"/>
                </a:solidFill>
                <a:latin typeface="Consolas"/>
              </a:rPr>
              <a:t>        </a:t>
            </a:r>
            <a:r>
              <a:rPr sz="1900" i="0">
                <a:solidFill>
                  <a:srgbClr val="E8EDF2"/>
                </a:solidFill>
                <a:latin typeface="Consolas"/>
              </a:rPr>
              <a:t>out</a:t>
            </a:r>
            <a:r>
              <a:rPr sz="1900" i="0">
                <a:solidFill>
                  <a:srgbClr val="AEB6BF"/>
                </a:solidFill>
                <a:latin typeface="Consolas"/>
              </a:rPr>
              <a:t>.</a:t>
            </a:r>
            <a:r>
              <a:rPr sz="1900" i="0">
                <a:solidFill>
                  <a:srgbClr val="E8EDF2"/>
                </a:solidFill>
                <a:latin typeface="Consolas"/>
              </a:rPr>
              <a:t>append</a:t>
            </a:r>
            <a:r>
              <a:rPr sz="1900" i="0">
                <a:solidFill>
                  <a:srgbClr val="AEB6BF"/>
                </a:solidFill>
                <a:latin typeface="Consolas"/>
              </a:rPr>
              <a:t>(</a:t>
            </a:r>
            <a:r>
              <a:rPr sz="1900" i="0">
                <a:solidFill>
                  <a:srgbClr val="E8EDF2"/>
                </a:solidFill>
                <a:latin typeface="Consolas"/>
              </a:rPr>
              <a:t>f</a:t>
            </a:r>
            <a:r>
              <a:rPr sz="1900" i="0">
                <a:solidFill>
                  <a:srgbClr val="AEB6BF"/>
                </a:solidFill>
                <a:latin typeface="Consolas"/>
              </a:rPr>
              <a:t>)</a:t>
            </a:r>
          </a:p>
          <a:p>
            <a:pPr>
              <a:lnSpc>
                <a:spcPct val="100000"/>
              </a:lnSpc>
              <a:spcAft>
                <a:spcPts val="0"/>
              </a:spcAft>
            </a:pPr>
            <a:r>
              <a:rPr sz="1900" i="0">
                <a:solidFill>
                  <a:srgbClr val="E8EDF2"/>
                </a:solidFill>
                <a:latin typeface="Consolas"/>
              </a:rPr>
              <a:t>        </a:t>
            </a:r>
            <a:r>
              <a:rPr sz="1900" i="0">
                <a:solidFill>
                  <a:srgbClr val="E8EDF2"/>
                </a:solidFill>
                <a:latin typeface="Consolas"/>
              </a:rPr>
              <a:t>queue</a:t>
            </a:r>
            <a:r>
              <a:rPr sz="1900" i="0">
                <a:solidFill>
                  <a:srgbClr val="E8EDF2"/>
                </a:solidFill>
                <a:latin typeface="Consolas"/>
              </a:rPr>
              <a:t> </a:t>
            </a:r>
            <a:r>
              <a:rPr sz="1900" i="0">
                <a:solidFill>
                  <a:srgbClr val="AEB6BF"/>
                </a:solidFill>
                <a:latin typeface="Consolas"/>
              </a:rPr>
              <a:t>+</a:t>
            </a:r>
            <a:r>
              <a:rPr sz="1900" i="0">
                <a:solidFill>
                  <a:srgbClr val="AEB6BF"/>
                </a:solidFill>
                <a:latin typeface="Consolas"/>
              </a:rPr>
              <a:t>=</a:t>
            </a:r>
            <a:r>
              <a:rPr sz="1900" i="0">
                <a:solidFill>
                  <a:srgbClr val="E8EDF2"/>
                </a:solidFill>
                <a:latin typeface="Consolas"/>
              </a:rPr>
              <a:t> </a:t>
            </a:r>
            <a:r>
              <a:rPr sz="1900" i="0">
                <a:solidFill>
                  <a:srgbClr val="E8EDF2"/>
                </a:solidFill>
                <a:latin typeface="Consolas"/>
              </a:rPr>
              <a:t>parents</a:t>
            </a:r>
            <a:r>
              <a:rPr sz="1900" i="0">
                <a:solidFill>
                  <a:srgbClr val="AEB6BF"/>
                </a:solidFill>
                <a:latin typeface="Consolas"/>
              </a:rPr>
              <a:t>(</a:t>
            </a:r>
            <a:r>
              <a:rPr sz="1900" i="0">
                <a:solidFill>
                  <a:srgbClr val="E8EDF2"/>
                </a:solidFill>
                <a:latin typeface="Consolas"/>
              </a:rPr>
              <a:t>f</a:t>
            </a:r>
            <a:r>
              <a:rPr sz="1900" i="0">
                <a:solidFill>
                  <a:srgbClr val="AEB6BF"/>
                </a:solidFill>
                <a:latin typeface="Consolas"/>
              </a:rPr>
              <a:t>)</a:t>
            </a:r>
          </a:p>
          <a:p>
            <a:pPr>
              <a:lnSpc>
                <a:spcPct val="100000"/>
              </a:lnSpc>
              <a:spcAft>
                <a:spcPts val="0"/>
              </a:spcAft>
            </a:pPr>
            <a:r>
              <a:rPr sz="1900" i="0">
                <a:solidFill>
                  <a:srgbClr val="E8EDF2"/>
                </a:solidFill>
                <a:latin typeface="Consolas"/>
              </a:rPr>
              <a:t>    </a:t>
            </a:r>
            <a:r>
              <a:rPr sz="1900" i="0">
                <a:solidFill>
                  <a:srgbClr val="5DADE2"/>
                </a:solidFill>
                <a:latin typeface="Consolas"/>
              </a:rPr>
              <a:t>return</a:t>
            </a:r>
            <a:r>
              <a:rPr sz="1900" i="0">
                <a:solidFill>
                  <a:srgbClr val="E8EDF2"/>
                </a:solidFill>
                <a:latin typeface="Consolas"/>
              </a:rPr>
              <a:t> </a:t>
            </a:r>
            <a:r>
              <a:rPr sz="1900" i="0">
                <a:solidFill>
                  <a:srgbClr val="E8EDF2"/>
                </a:solidFill>
                <a:latin typeface="Consolas"/>
              </a:rPr>
              <a:t>out</a:t>
            </a:r>
          </a:p>
        </p:txBody>
      </p:sp>
      <p:sp>
        <p:nvSpPr>
          <p:cNvPr id="15" name="!!code-num"/>
          <p:cNvSpPr txBox="1"/>
          <p:nvPr/>
        </p:nvSpPr>
        <p:spPr>
          <a:xfrm>
            <a:off x="768096" y="2523744"/>
            <a:ext cx="393192" cy="3584447"/>
          </a:xfrm>
          <a:prstGeom prst="rect">
            <a:avLst/>
          </a:prstGeom>
          <a:noFill/>
        </p:spPr>
        <p:txBody>
          <a:bodyPr wrap="none" anchor="t" lIns="0" rIns="0" tIns="0" bIns="0">
            <a:noAutofit/>
          </a:bodyPr>
          <a:lstStyle/>
          <a:p>
            <a:pPr algn="r">
              <a:lnSpc>
                <a:spcPct val="100000"/>
              </a:lnSpc>
            </a:pPr>
            <a:r>
              <a:rPr sz="1900">
                <a:solidFill>
                  <a:srgbClr val="4F5D6A"/>
                </a:solidFill>
                <a:latin typeface="Consolas"/>
              </a:rPr>
              <a:t>50</a:t>
            </a:r>
          </a:p>
          <a:p>
            <a:pPr algn="r">
              <a:lnSpc>
                <a:spcPct val="100000"/>
              </a:lnSpc>
            </a:pPr>
            <a:r>
              <a:rPr sz="1900">
                <a:solidFill>
                  <a:srgbClr val="4F5D6A"/>
                </a:solidFill>
                <a:latin typeface="Consolas"/>
              </a:rPr>
              <a:t>51</a:t>
            </a:r>
          </a:p>
          <a:p>
            <a:pPr algn="r">
              <a:lnSpc>
                <a:spcPct val="100000"/>
              </a:lnSpc>
            </a:pPr>
            <a:r>
              <a:rPr sz="1900">
                <a:solidFill>
                  <a:srgbClr val="4F5D6A"/>
                </a:solidFill>
                <a:latin typeface="Consolas"/>
              </a:rPr>
              <a:t>52</a:t>
            </a:r>
          </a:p>
          <a:p>
            <a:pPr algn="r">
              <a:lnSpc>
                <a:spcPct val="100000"/>
              </a:lnSpc>
            </a:pPr>
            <a:r>
              <a:rPr sz="1900">
                <a:solidFill>
                  <a:srgbClr val="4F5D6A"/>
                </a:solidFill>
                <a:latin typeface="Consolas"/>
              </a:rPr>
              <a:t>53</a:t>
            </a:r>
          </a:p>
          <a:p>
            <a:pPr algn="r">
              <a:lnSpc>
                <a:spcPct val="100000"/>
              </a:lnSpc>
            </a:pPr>
            <a:r>
              <a:rPr sz="1900">
                <a:solidFill>
                  <a:srgbClr val="4F5D6A"/>
                </a:solidFill>
                <a:latin typeface="Consolas"/>
              </a:rPr>
              <a:t>54</a:t>
            </a:r>
          </a:p>
          <a:p>
            <a:pPr algn="r">
              <a:lnSpc>
                <a:spcPct val="100000"/>
              </a:lnSpc>
            </a:pPr>
            <a:r>
              <a:rPr sz="1900">
                <a:solidFill>
                  <a:srgbClr val="4F5D6A"/>
                </a:solidFill>
                <a:latin typeface="Consolas"/>
              </a:rPr>
              <a:t>55</a:t>
            </a:r>
          </a:p>
          <a:p>
            <a:pPr algn="r">
              <a:lnSpc>
                <a:spcPct val="100000"/>
              </a:lnSpc>
            </a:pPr>
            <a:r>
              <a:rPr sz="1900">
                <a:solidFill>
                  <a:srgbClr val="4F5D6A"/>
                </a:solidFill>
                <a:latin typeface="Consolas"/>
              </a:rPr>
              <a:t>56</a:t>
            </a:r>
          </a:p>
          <a:p>
            <a:pPr algn="r">
              <a:lnSpc>
                <a:spcPct val="100000"/>
              </a:lnSpc>
            </a:pPr>
            <a:r>
              <a:rPr sz="1900">
                <a:solidFill>
                  <a:srgbClr val="4F5D6A"/>
                </a:solidFill>
                <a:latin typeface="Consolas"/>
              </a:rPr>
              <a:t>57</a:t>
            </a:r>
          </a:p>
          <a:p>
            <a:pPr algn="r">
              <a:lnSpc>
                <a:spcPct val="100000"/>
              </a:lnSpc>
            </a:pPr>
            <a:r>
              <a:rPr sz="1900">
                <a:solidFill>
                  <a:srgbClr val="4F5D6A"/>
                </a:solidFill>
                <a:latin typeface="Consolas"/>
              </a:rPr>
              <a:t>58</a:t>
            </a:r>
          </a:p>
          <a:p>
            <a:pPr algn="r">
              <a:lnSpc>
                <a:spcPct val="100000"/>
              </a:lnSpc>
            </a:pPr>
            <a:r>
              <a:rPr sz="1900">
                <a:solidFill>
                  <a:srgbClr val="4F5D6A"/>
                </a:solidFill>
                <a:latin typeface="Consolas"/>
              </a:rPr>
              <a:t>59</a:t>
            </a:r>
          </a:p>
          <a:p>
            <a:pPr algn="r">
              <a:lnSpc>
                <a:spcPct val="100000"/>
              </a:lnSpc>
            </a:pPr>
            <a:r>
              <a:rPr sz="1900">
                <a:solidFill>
                  <a:srgbClr val="4F5D6A"/>
                </a:solidFill>
                <a:latin typeface="Consolas"/>
              </a:rPr>
              <a:t>60</a:t>
            </a:r>
          </a:p>
          <a:p>
            <a:pPr algn="r">
              <a:lnSpc>
                <a:spcPct val="100000"/>
              </a:lnSpc>
            </a:pPr>
            <a:r>
              <a:rPr sz="1900">
                <a:solidFill>
                  <a:srgbClr val="4F5D6A"/>
                </a:solidFill>
                <a:latin typeface="Consolas"/>
              </a:rPr>
              <a:t>61</a:t>
            </a:r>
          </a:p>
        </p:txBody>
      </p:sp>
      <p:sp>
        <p:nvSpPr>
          <p:cNvPr id="16"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7" name="!!pfill">
            <a:extLst>
              <a:ext uri="{C183D7F6-B498-43B3-948B-1728B52AA6E4}">
                <adec:decorative xmlns:adec="http://schemas.microsoft.com/office/drawing/2017/decorative" val="1"/>
              </a:ext>
            </a:extLst>
          </p:cNvPr>
          <p:cNvSpPr/>
          <p:nvPr/>
        </p:nvSpPr>
        <p:spPr>
          <a:xfrm>
            <a:off x="0" y="0"/>
            <a:ext cx="5954083" cy="54864"/>
          </a:xfrm>
          <a:prstGeom prst="rect">
            <a:avLst/>
          </a:prstGeom>
          <a:solidFill>
            <a:srgbClr val="8E44A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xmlns:p159="http://schemas.microsoft.com/office/powerpoint/2015/09/main" Requires="p159">
      <p:transition spd="slow" p14:dur="600">
        <p159:morph option="byObject"/>
      </p:transition>
    </mc:Choice>
    <mc:Fallback>
      <p:transition spd="med">
        <p:fade/>
      </p:transition>
    </mc:Fallback>
  </mc:AlternateContent>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2600" b="0">
                <a:solidFill>
                  <a:srgbClr val="1A5276"/>
                </a:solidFill>
                <a:latin typeface="Segoe UI Semibold"/>
              </a:rPr>
              <a:t>A Semantic Network That Answers Queries</a:t>
            </a:r>
          </a:p>
        </p:txBody>
      </p:sp>
      <p:pic>
        <p:nvPicPr>
          <p:cNvPr id="3" name="!!kicker-icon" descr="flask-117A65.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192583"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117A65"/>
                </a:solidFill>
                <a:latin typeface="Segoe UI"/>
              </a:rPr>
              <a:t>LAB  ·  STEP 5 OF 11</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Artificial Intelligence  ·  Chapter 10  ·  Knowledge Representation</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§10.6  ·  Handout p. 104     </a:t>
            </a:r>
            <a:fld id="{D623F59A-0946-4AE2-9046-91336AFCEC1E}" type="slidenum">
              <a:rPr lang="en-GB" sz="1000">
                <a:solidFill>
                  <a:srgbClr val="8795A1"/>
                </a:solidFill>
                <a:latin typeface="Segoe UI"/>
              </a:rPr>
              <a:t>22</a:t>
            </a:fld>
          </a:p>
        </p:txBody>
      </p:sp>
      <p:sp>
        <p:nvSpPr>
          <p:cNvPr id="7" name="!!codehead"/>
          <p:cNvSpPr txBox="1"/>
          <p:nvPr/>
        </p:nvSpPr>
        <p:spPr>
          <a:xfrm>
            <a:off x="658368" y="1627631"/>
            <a:ext cx="10874959" cy="329184"/>
          </a:xfrm>
          <a:prstGeom prst="rect">
            <a:avLst/>
          </a:prstGeom>
          <a:noFill/>
        </p:spPr>
        <p:txBody>
          <a:bodyPr wrap="square" anchor="t" lIns="0" rIns="0" tIns="0" bIns="0">
            <a:noAutofit/>
          </a:bodyPr>
          <a:lstStyle/>
          <a:p>
            <a:pPr algn="l">
              <a:lnSpc>
                <a:spcPct val="100000"/>
              </a:lnSpc>
              <a:spcBef>
                <a:spcPts val="0"/>
              </a:spcBef>
              <a:spcAft>
                <a:spcPts val="0"/>
              </a:spcAft>
            </a:pPr>
            <a:r>
              <a:rPr sz="1900" b="1" i="0">
                <a:solidFill>
                  <a:srgbClr val="0E6655"/>
                </a:solidFill>
                <a:latin typeface="Segoe UI Semibold"/>
              </a:rPr>
              <a:t>Set-up (continued)</a:t>
            </a:r>
          </a:p>
        </p:txBody>
      </p:sp>
      <p:sp>
        <p:nvSpPr>
          <p:cNvPr id="8" name="!!code-bg">
            <a:extLst>
              <a:ext uri="{C183D7F6-B498-43B3-948B-1728B52AA6E4}">
                <adec:decorative xmlns:adec="http://schemas.microsoft.com/office/drawing/2017/decorative" val="1"/>
              </a:ext>
            </a:extLst>
          </p:cNvPr>
          <p:cNvSpPr/>
          <p:nvPr/>
        </p:nvSpPr>
        <p:spPr>
          <a:xfrm>
            <a:off x="658368" y="2084831"/>
            <a:ext cx="10874959" cy="2127504"/>
          </a:xfrm>
          <a:prstGeom prst="roundRect">
            <a:avLst>
              <a:gd name="adj" fmla="val 4297"/>
            </a:avLst>
          </a:prstGeom>
          <a:solidFill>
            <a:srgbClr val="1E283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9" name="!!code-sep">
            <a:extLst>
              <a:ext uri="{C183D7F6-B498-43B3-948B-1728B52AA6E4}">
                <adec:decorative xmlns:adec="http://schemas.microsoft.com/office/drawing/2017/decorative" val="1"/>
              </a:ext>
            </a:extLst>
          </p:cNvPr>
          <p:cNvSpPr/>
          <p:nvPr/>
        </p:nvSpPr>
        <p:spPr>
          <a:xfrm>
            <a:off x="676656" y="2404872"/>
            <a:ext cx="10838383" cy="10972"/>
          </a:xfrm>
          <a:prstGeom prst="rect">
            <a:avLst/>
          </a:prstGeom>
          <a:solidFill>
            <a:srgbClr val="28343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0" name="!!code-dot0">
            <a:extLst>
              <a:ext uri="{C183D7F6-B498-43B3-948B-1728B52AA6E4}">
                <adec:decorative xmlns:adec="http://schemas.microsoft.com/office/drawing/2017/decorative" val="1"/>
              </a:ext>
            </a:extLst>
          </p:cNvPr>
          <p:cNvSpPr/>
          <p:nvPr/>
        </p:nvSpPr>
        <p:spPr>
          <a:xfrm>
            <a:off x="859536" y="2199132"/>
            <a:ext cx="100584" cy="100584"/>
          </a:xfrm>
          <a:prstGeom prst="ellipse">
            <a:avLst/>
          </a:prstGeom>
          <a:solidFill>
            <a:srgbClr val="E74C3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1" name="!!code-dot1">
            <a:extLst>
              <a:ext uri="{C183D7F6-B498-43B3-948B-1728B52AA6E4}">
                <adec:decorative xmlns:adec="http://schemas.microsoft.com/office/drawing/2017/decorative" val="1"/>
              </a:ext>
            </a:extLst>
          </p:cNvPr>
          <p:cNvSpPr/>
          <p:nvPr/>
        </p:nvSpPr>
        <p:spPr>
          <a:xfrm>
            <a:off x="1042415" y="2199132"/>
            <a:ext cx="100584" cy="100584"/>
          </a:xfrm>
          <a:prstGeom prst="ellipse">
            <a:avLst/>
          </a:prstGeom>
          <a:solidFill>
            <a:srgbClr val="F4D03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2" name="!!code-dot2">
            <a:extLst>
              <a:ext uri="{C183D7F6-B498-43B3-948B-1728B52AA6E4}">
                <adec:decorative xmlns:adec="http://schemas.microsoft.com/office/drawing/2017/decorative" val="1"/>
              </a:ext>
            </a:extLst>
          </p:cNvPr>
          <p:cNvSpPr/>
          <p:nvPr/>
        </p:nvSpPr>
        <p:spPr>
          <a:xfrm>
            <a:off x="1225295" y="2199132"/>
            <a:ext cx="100584" cy="100584"/>
          </a:xfrm>
          <a:prstGeom prst="ellipse">
            <a:avLst/>
          </a:prstGeom>
          <a:solidFill>
            <a:srgbClr val="58D68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3" name="!!code-label"/>
          <p:cNvSpPr txBox="1"/>
          <p:nvPr/>
        </p:nvSpPr>
        <p:spPr>
          <a:xfrm>
            <a:off x="1527048" y="2148839"/>
            <a:ext cx="9777679" cy="219456"/>
          </a:xfrm>
          <a:prstGeom prst="rect">
            <a:avLst/>
          </a:prstGeom>
          <a:noFill/>
        </p:spPr>
        <p:txBody>
          <a:bodyPr wrap="square" anchor="t" lIns="0" rIns="0" tIns="0" bIns="0">
            <a:noAutofit/>
          </a:bodyPr>
          <a:lstStyle/>
          <a:p>
            <a:pPr algn="l">
              <a:lnSpc>
                <a:spcPct val="100000"/>
              </a:lnSpc>
              <a:spcBef>
                <a:spcPts val="0"/>
              </a:spcBef>
              <a:spcAft>
                <a:spcPts val="0"/>
              </a:spcAft>
            </a:pPr>
            <a:r>
              <a:rPr sz="1100" b="1" i="0">
                <a:solidFill>
                  <a:srgbClr val="9FB0BF"/>
                </a:solidFill>
                <a:latin typeface="Segoe UI"/>
              </a:rPr>
              <a:t>Python  ·  code/ch10_semantic_network_that.py</a:t>
            </a:r>
          </a:p>
        </p:txBody>
      </p:sp>
      <p:sp>
        <p:nvSpPr>
          <p:cNvPr id="14" name="!!code-text" descr="def get(frame, slot): &quot;&quot;&quot;Most specific value wins. Returns (value, where it came from), or a conflict if two equally distant sources disagree.&quot;&quot;&quot; if slot in FRAMES.get(frame, {}): return FRAMES[frame][slot], frame"/>
          <p:cNvSpPr txBox="1"/>
          <p:nvPr/>
        </p:nvSpPr>
        <p:spPr>
          <a:xfrm>
            <a:off x="1362456" y="2523744"/>
            <a:ext cx="9987991" cy="1633728"/>
          </a:xfrm>
          <a:prstGeom prst="rect">
            <a:avLst/>
          </a:prstGeom>
          <a:noFill/>
        </p:spPr>
        <p:txBody>
          <a:bodyPr wrap="none" anchor="t" lIns="0" rIns="0" tIns="0" bIns="0">
            <a:noAutofit/>
          </a:bodyPr>
          <a:lstStyle/>
          <a:p>
            <a:pPr>
              <a:lnSpc>
                <a:spcPct val="100000"/>
              </a:lnSpc>
              <a:spcAft>
                <a:spcPts val="0"/>
              </a:spcAft>
            </a:pPr>
            <a:r>
              <a:rPr sz="2000" i="0">
                <a:solidFill>
                  <a:srgbClr val="5DADE2"/>
                </a:solidFill>
                <a:latin typeface="Consolas"/>
              </a:rPr>
              <a:t>def</a:t>
            </a:r>
            <a:r>
              <a:rPr sz="2000" i="0">
                <a:solidFill>
                  <a:srgbClr val="E8EDF2"/>
                </a:solidFill>
                <a:latin typeface="Consolas"/>
              </a:rPr>
              <a:t> </a:t>
            </a:r>
            <a:r>
              <a:rPr sz="2000" i="0">
                <a:solidFill>
                  <a:srgbClr val="C39BD3"/>
                </a:solidFill>
                <a:latin typeface="Consolas"/>
              </a:rPr>
              <a:t>get</a:t>
            </a:r>
            <a:r>
              <a:rPr sz="2000" i="0">
                <a:solidFill>
                  <a:srgbClr val="AEB6BF"/>
                </a:solidFill>
                <a:latin typeface="Consolas"/>
              </a:rPr>
              <a:t>(</a:t>
            </a:r>
            <a:r>
              <a:rPr sz="2000" i="0">
                <a:solidFill>
                  <a:srgbClr val="E8EDF2"/>
                </a:solidFill>
                <a:latin typeface="Consolas"/>
              </a:rPr>
              <a:t>frame</a:t>
            </a:r>
            <a:r>
              <a:rPr sz="2000" i="0">
                <a:solidFill>
                  <a:srgbClr val="AEB6BF"/>
                </a:solidFill>
                <a:latin typeface="Consolas"/>
              </a:rPr>
              <a:t>,</a:t>
            </a:r>
            <a:r>
              <a:rPr sz="2000" i="0">
                <a:solidFill>
                  <a:srgbClr val="E8EDF2"/>
                </a:solidFill>
                <a:latin typeface="Consolas"/>
              </a:rPr>
              <a:t> </a:t>
            </a:r>
            <a:r>
              <a:rPr sz="2000" i="0">
                <a:solidFill>
                  <a:srgbClr val="E8EDF2"/>
                </a:solidFill>
                <a:latin typeface="Consolas"/>
              </a:rPr>
              <a:t>slot</a:t>
            </a:r>
            <a:r>
              <a:rPr sz="2000" i="0">
                <a:solidFill>
                  <a:srgbClr val="AEB6BF"/>
                </a:solidFill>
                <a:latin typeface="Consolas"/>
              </a:rPr>
              <a:t>)</a:t>
            </a:r>
            <a:r>
              <a:rPr sz="2000" i="0">
                <a:solidFill>
                  <a:srgbClr val="AEB6BF"/>
                </a:solidFill>
                <a:latin typeface="Consolas"/>
              </a:rPr>
              <a:t>:</a:t>
            </a:r>
          </a:p>
          <a:p>
            <a:pPr>
              <a:lnSpc>
                <a:spcPct val="100000"/>
              </a:lnSpc>
              <a:spcAft>
                <a:spcPts val="0"/>
              </a:spcAft>
            </a:pPr>
            <a:r>
              <a:rPr sz="2000" i="0">
                <a:solidFill>
                  <a:srgbClr val="E8EDF2"/>
                </a:solidFill>
                <a:latin typeface="Consolas"/>
              </a:rPr>
              <a:t>    </a:t>
            </a:r>
            <a:r>
              <a:rPr sz="2000" i="0">
                <a:solidFill>
                  <a:srgbClr val="7DCEA0"/>
                </a:solidFill>
                <a:latin typeface="Consolas"/>
              </a:rPr>
              <a:t>"""Most specific value wins. Returns (value, where it came from),</a:t>
            </a:r>
          </a:p>
          <a:p>
            <a:pPr>
              <a:lnSpc>
                <a:spcPct val="100000"/>
              </a:lnSpc>
              <a:spcAft>
                <a:spcPts val="0"/>
              </a:spcAft>
            </a:pPr>
            <a:r>
              <a:rPr sz="2000" i="0">
                <a:solidFill>
                  <a:srgbClr val="7DCEA0"/>
                </a:solidFill>
                <a:latin typeface="Consolas"/>
              </a:rPr>
              <a:t>    or a conflict if two equally distant sources disagree."""</a:t>
            </a:r>
          </a:p>
          <a:p>
            <a:pPr>
              <a:lnSpc>
                <a:spcPct val="100000"/>
              </a:lnSpc>
              <a:spcAft>
                <a:spcPts val="0"/>
              </a:spcAft>
            </a:pPr>
            <a:r>
              <a:rPr sz="2000" i="0">
                <a:solidFill>
                  <a:srgbClr val="E8EDF2"/>
                </a:solidFill>
                <a:latin typeface="Consolas"/>
              </a:rPr>
              <a:t>    </a:t>
            </a:r>
            <a:r>
              <a:rPr sz="2000" i="0">
                <a:solidFill>
                  <a:srgbClr val="5DADE2"/>
                </a:solidFill>
                <a:latin typeface="Consolas"/>
              </a:rPr>
              <a:t>if</a:t>
            </a:r>
            <a:r>
              <a:rPr sz="2000" i="0">
                <a:solidFill>
                  <a:srgbClr val="E8EDF2"/>
                </a:solidFill>
                <a:latin typeface="Consolas"/>
              </a:rPr>
              <a:t> </a:t>
            </a:r>
            <a:r>
              <a:rPr sz="2000" i="0">
                <a:solidFill>
                  <a:srgbClr val="E8EDF2"/>
                </a:solidFill>
                <a:latin typeface="Consolas"/>
              </a:rPr>
              <a:t>slot</a:t>
            </a:r>
            <a:r>
              <a:rPr sz="2000" i="0">
                <a:solidFill>
                  <a:srgbClr val="E8EDF2"/>
                </a:solidFill>
                <a:latin typeface="Consolas"/>
              </a:rPr>
              <a:t> </a:t>
            </a:r>
            <a:r>
              <a:rPr sz="2000" i="0">
                <a:solidFill>
                  <a:srgbClr val="AEB6BF"/>
                </a:solidFill>
                <a:latin typeface="Consolas"/>
              </a:rPr>
              <a:t>in</a:t>
            </a:r>
            <a:r>
              <a:rPr sz="2000" i="0">
                <a:solidFill>
                  <a:srgbClr val="E8EDF2"/>
                </a:solidFill>
                <a:latin typeface="Consolas"/>
              </a:rPr>
              <a:t> </a:t>
            </a:r>
            <a:r>
              <a:rPr sz="2000" i="0">
                <a:solidFill>
                  <a:srgbClr val="E8EDF2"/>
                </a:solidFill>
                <a:latin typeface="Consolas"/>
              </a:rPr>
              <a:t>FRAMES</a:t>
            </a:r>
            <a:r>
              <a:rPr sz="2000" i="0">
                <a:solidFill>
                  <a:srgbClr val="AEB6BF"/>
                </a:solidFill>
                <a:latin typeface="Consolas"/>
              </a:rPr>
              <a:t>.</a:t>
            </a:r>
            <a:r>
              <a:rPr sz="2000" i="0">
                <a:solidFill>
                  <a:srgbClr val="E8EDF2"/>
                </a:solidFill>
                <a:latin typeface="Consolas"/>
              </a:rPr>
              <a:t>get</a:t>
            </a:r>
            <a:r>
              <a:rPr sz="2000" i="0">
                <a:solidFill>
                  <a:srgbClr val="AEB6BF"/>
                </a:solidFill>
                <a:latin typeface="Consolas"/>
              </a:rPr>
              <a:t>(</a:t>
            </a:r>
            <a:r>
              <a:rPr sz="2000" i="0">
                <a:solidFill>
                  <a:srgbClr val="E8EDF2"/>
                </a:solidFill>
                <a:latin typeface="Consolas"/>
              </a:rPr>
              <a:t>frame</a:t>
            </a:r>
            <a:r>
              <a:rPr sz="2000" i="0">
                <a:solidFill>
                  <a:srgbClr val="AEB6BF"/>
                </a:solidFill>
                <a:latin typeface="Consolas"/>
              </a:rPr>
              <a:t>,</a:t>
            </a:r>
            <a:r>
              <a:rPr sz="2000" i="0">
                <a:solidFill>
                  <a:srgbClr val="E8EDF2"/>
                </a:solidFill>
                <a:latin typeface="Consolas"/>
              </a:rPr>
              <a:t> </a:t>
            </a:r>
            <a:r>
              <a:rPr sz="2000" i="0">
                <a:solidFill>
                  <a:srgbClr val="AEB6BF"/>
                </a:solidFill>
                <a:latin typeface="Consolas"/>
              </a:rPr>
              <a:t>{</a:t>
            </a:r>
            <a:r>
              <a:rPr sz="2000" i="0">
                <a:solidFill>
                  <a:srgbClr val="AEB6BF"/>
                </a:solidFill>
                <a:latin typeface="Consolas"/>
              </a:rPr>
              <a:t>}</a:t>
            </a:r>
            <a:r>
              <a:rPr sz="2000" i="0">
                <a:solidFill>
                  <a:srgbClr val="AEB6BF"/>
                </a:solidFill>
                <a:latin typeface="Consolas"/>
              </a:rPr>
              <a:t>)</a:t>
            </a:r>
            <a:r>
              <a:rPr sz="2000" i="0">
                <a:solidFill>
                  <a:srgbClr val="AEB6BF"/>
                </a:solidFill>
                <a:latin typeface="Consolas"/>
              </a:rPr>
              <a:t>:</a:t>
            </a:r>
          </a:p>
          <a:p>
            <a:pPr>
              <a:lnSpc>
                <a:spcPct val="100000"/>
              </a:lnSpc>
              <a:spcAft>
                <a:spcPts val="0"/>
              </a:spcAft>
            </a:pPr>
            <a:r>
              <a:rPr sz="2000" i="0">
                <a:solidFill>
                  <a:srgbClr val="E8EDF2"/>
                </a:solidFill>
                <a:latin typeface="Consolas"/>
              </a:rPr>
              <a:t>        </a:t>
            </a:r>
            <a:r>
              <a:rPr sz="2000" i="0">
                <a:solidFill>
                  <a:srgbClr val="5DADE2"/>
                </a:solidFill>
                <a:latin typeface="Consolas"/>
              </a:rPr>
              <a:t>return</a:t>
            </a:r>
            <a:r>
              <a:rPr sz="2000" i="0">
                <a:solidFill>
                  <a:srgbClr val="E8EDF2"/>
                </a:solidFill>
                <a:latin typeface="Consolas"/>
              </a:rPr>
              <a:t> </a:t>
            </a:r>
            <a:r>
              <a:rPr sz="2000" i="0">
                <a:solidFill>
                  <a:srgbClr val="E8EDF2"/>
                </a:solidFill>
                <a:latin typeface="Consolas"/>
              </a:rPr>
              <a:t>FRAMES</a:t>
            </a:r>
            <a:r>
              <a:rPr sz="2000" i="0">
                <a:solidFill>
                  <a:srgbClr val="AEB6BF"/>
                </a:solidFill>
                <a:latin typeface="Consolas"/>
              </a:rPr>
              <a:t>[</a:t>
            </a:r>
            <a:r>
              <a:rPr sz="2000" i="0">
                <a:solidFill>
                  <a:srgbClr val="E8EDF2"/>
                </a:solidFill>
                <a:latin typeface="Consolas"/>
              </a:rPr>
              <a:t>frame</a:t>
            </a:r>
            <a:r>
              <a:rPr sz="2000" i="0">
                <a:solidFill>
                  <a:srgbClr val="AEB6BF"/>
                </a:solidFill>
                <a:latin typeface="Consolas"/>
              </a:rPr>
              <a:t>]</a:t>
            </a:r>
            <a:r>
              <a:rPr sz="2000" i="0">
                <a:solidFill>
                  <a:srgbClr val="AEB6BF"/>
                </a:solidFill>
                <a:latin typeface="Consolas"/>
              </a:rPr>
              <a:t>[</a:t>
            </a:r>
            <a:r>
              <a:rPr sz="2000" i="0">
                <a:solidFill>
                  <a:srgbClr val="E8EDF2"/>
                </a:solidFill>
                <a:latin typeface="Consolas"/>
              </a:rPr>
              <a:t>slot</a:t>
            </a:r>
            <a:r>
              <a:rPr sz="2000" i="0">
                <a:solidFill>
                  <a:srgbClr val="AEB6BF"/>
                </a:solidFill>
                <a:latin typeface="Consolas"/>
              </a:rPr>
              <a:t>]</a:t>
            </a:r>
            <a:r>
              <a:rPr sz="2000" i="0">
                <a:solidFill>
                  <a:srgbClr val="AEB6BF"/>
                </a:solidFill>
                <a:latin typeface="Consolas"/>
              </a:rPr>
              <a:t>,</a:t>
            </a:r>
            <a:r>
              <a:rPr sz="2000" i="0">
                <a:solidFill>
                  <a:srgbClr val="E8EDF2"/>
                </a:solidFill>
                <a:latin typeface="Consolas"/>
              </a:rPr>
              <a:t> </a:t>
            </a:r>
            <a:r>
              <a:rPr sz="2000" i="0">
                <a:solidFill>
                  <a:srgbClr val="E8EDF2"/>
                </a:solidFill>
                <a:latin typeface="Consolas"/>
              </a:rPr>
              <a:t>frame</a:t>
            </a:r>
          </a:p>
        </p:txBody>
      </p:sp>
      <p:sp>
        <p:nvSpPr>
          <p:cNvPr id="15" name="!!code-num"/>
          <p:cNvSpPr txBox="1"/>
          <p:nvPr/>
        </p:nvSpPr>
        <p:spPr>
          <a:xfrm>
            <a:off x="768096" y="2523744"/>
            <a:ext cx="393192" cy="1633728"/>
          </a:xfrm>
          <a:prstGeom prst="rect">
            <a:avLst/>
          </a:prstGeom>
          <a:noFill/>
        </p:spPr>
        <p:txBody>
          <a:bodyPr wrap="none" anchor="t" lIns="0" rIns="0" tIns="0" bIns="0">
            <a:noAutofit/>
          </a:bodyPr>
          <a:lstStyle/>
          <a:p>
            <a:pPr algn="r">
              <a:lnSpc>
                <a:spcPct val="100000"/>
              </a:lnSpc>
            </a:pPr>
            <a:r>
              <a:rPr sz="2000">
                <a:solidFill>
                  <a:srgbClr val="4F5D6A"/>
                </a:solidFill>
                <a:latin typeface="Consolas"/>
              </a:rPr>
              <a:t>64</a:t>
            </a:r>
          </a:p>
          <a:p>
            <a:pPr algn="r">
              <a:lnSpc>
                <a:spcPct val="100000"/>
              </a:lnSpc>
            </a:pPr>
            <a:r>
              <a:rPr sz="2000">
                <a:solidFill>
                  <a:srgbClr val="4F5D6A"/>
                </a:solidFill>
                <a:latin typeface="Consolas"/>
              </a:rPr>
              <a:t>65</a:t>
            </a:r>
          </a:p>
          <a:p>
            <a:pPr algn="r">
              <a:lnSpc>
                <a:spcPct val="100000"/>
              </a:lnSpc>
            </a:pPr>
            <a:r>
              <a:rPr sz="2000">
                <a:solidFill>
                  <a:srgbClr val="4F5D6A"/>
                </a:solidFill>
                <a:latin typeface="Consolas"/>
              </a:rPr>
              <a:t>66</a:t>
            </a:r>
          </a:p>
          <a:p>
            <a:pPr algn="r">
              <a:lnSpc>
                <a:spcPct val="100000"/>
              </a:lnSpc>
            </a:pPr>
            <a:r>
              <a:rPr sz="2000">
                <a:solidFill>
                  <a:srgbClr val="4F5D6A"/>
                </a:solidFill>
                <a:latin typeface="Consolas"/>
              </a:rPr>
              <a:t>67</a:t>
            </a:r>
          </a:p>
          <a:p>
            <a:pPr algn="r">
              <a:lnSpc>
                <a:spcPct val="100000"/>
              </a:lnSpc>
            </a:pPr>
            <a:r>
              <a:rPr sz="2000">
                <a:solidFill>
                  <a:srgbClr val="4F5D6A"/>
                </a:solidFill>
                <a:latin typeface="Consolas"/>
              </a:rPr>
              <a:t>68</a:t>
            </a:r>
          </a:p>
        </p:txBody>
      </p:sp>
      <p:sp>
        <p:nvSpPr>
          <p:cNvPr id="16"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7" name="!!pfill">
            <a:extLst>
              <a:ext uri="{C183D7F6-B498-43B3-948B-1728B52AA6E4}">
                <adec:decorative xmlns:adec="http://schemas.microsoft.com/office/drawing/2017/decorative" val="1"/>
              </a:ext>
            </a:extLst>
          </p:cNvPr>
          <p:cNvSpPr/>
          <p:nvPr/>
        </p:nvSpPr>
        <p:spPr>
          <a:xfrm>
            <a:off x="0" y="0"/>
            <a:ext cx="6237611" cy="54864"/>
          </a:xfrm>
          <a:prstGeom prst="rect">
            <a:avLst/>
          </a:prstGeom>
          <a:solidFill>
            <a:srgbClr val="8E44A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xmlns:p159="http://schemas.microsoft.com/office/powerpoint/2015/09/main" Requires="p159">
      <p:transition spd="slow" p14:dur="600">
        <p159:morph option="byObject"/>
      </p:transition>
    </mc:Choice>
    <mc:Fallback>
      <p:transition spd="med">
        <p:fade/>
      </p:transition>
    </mc:Fallback>
  </mc:AlternateContent>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2600" b="0">
                <a:solidFill>
                  <a:srgbClr val="1A5276"/>
                </a:solidFill>
                <a:latin typeface="Segoe UI Semibold"/>
              </a:rPr>
              <a:t>A Semantic Network That Answers Queries</a:t>
            </a:r>
          </a:p>
        </p:txBody>
      </p:sp>
      <p:pic>
        <p:nvPicPr>
          <p:cNvPr id="3" name="!!kicker-icon" descr="flask-117A65.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192583"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117A65"/>
                </a:solidFill>
                <a:latin typeface="Segoe UI"/>
              </a:rPr>
              <a:t>LAB  ·  STEP 6 OF 11</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Artificial Intelligence  ·  Chapter 10  ·  Knowledge Representation</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§10.6  ·  Handout p. 104     </a:t>
            </a:r>
            <a:fld id="{CB4FAF11-969C-4165-ABBA-9987CE70671C}" type="slidenum">
              <a:rPr lang="en-GB" sz="1000">
                <a:solidFill>
                  <a:srgbClr val="8795A1"/>
                </a:solidFill>
                <a:latin typeface="Segoe UI"/>
              </a:rPr>
              <a:t>23</a:t>
            </a:fld>
          </a:p>
        </p:txBody>
      </p:sp>
      <p:sp>
        <p:nvSpPr>
          <p:cNvPr id="7" name="!!codehead"/>
          <p:cNvSpPr txBox="1"/>
          <p:nvPr/>
        </p:nvSpPr>
        <p:spPr>
          <a:xfrm>
            <a:off x="658368" y="1627631"/>
            <a:ext cx="10874959" cy="329184"/>
          </a:xfrm>
          <a:prstGeom prst="rect">
            <a:avLst/>
          </a:prstGeom>
          <a:noFill/>
        </p:spPr>
        <p:txBody>
          <a:bodyPr wrap="square" anchor="t" lIns="0" rIns="0" tIns="0" bIns="0">
            <a:noAutofit/>
          </a:bodyPr>
          <a:lstStyle/>
          <a:p>
            <a:pPr algn="l">
              <a:lnSpc>
                <a:spcPct val="100000"/>
              </a:lnSpc>
              <a:spcBef>
                <a:spcPts val="0"/>
              </a:spcBef>
              <a:spcAft>
                <a:spcPts val="0"/>
              </a:spcAft>
            </a:pPr>
            <a:r>
              <a:rPr sz="1900" b="1" i="0">
                <a:solidFill>
                  <a:srgbClr val="0E6655"/>
                </a:solidFill>
                <a:latin typeface="Segoe UI Semibold"/>
              </a:rPr>
              <a:t>Set-up (continued)</a:t>
            </a:r>
          </a:p>
        </p:txBody>
      </p:sp>
      <p:sp>
        <p:nvSpPr>
          <p:cNvPr id="8" name="!!code-bg">
            <a:extLst>
              <a:ext uri="{C183D7F6-B498-43B3-948B-1728B52AA6E4}">
                <adec:decorative xmlns:adec="http://schemas.microsoft.com/office/drawing/2017/decorative" val="1"/>
              </a:ext>
            </a:extLst>
          </p:cNvPr>
          <p:cNvSpPr/>
          <p:nvPr/>
        </p:nvSpPr>
        <p:spPr>
          <a:xfrm>
            <a:off x="658368" y="2084831"/>
            <a:ext cx="10874959" cy="1472184"/>
          </a:xfrm>
          <a:prstGeom prst="roundRect">
            <a:avLst>
              <a:gd name="adj" fmla="val 6211"/>
            </a:avLst>
          </a:prstGeom>
          <a:solidFill>
            <a:srgbClr val="1E283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9" name="!!code-sep">
            <a:extLst>
              <a:ext uri="{C183D7F6-B498-43B3-948B-1728B52AA6E4}">
                <adec:decorative xmlns:adec="http://schemas.microsoft.com/office/drawing/2017/decorative" val="1"/>
              </a:ext>
            </a:extLst>
          </p:cNvPr>
          <p:cNvSpPr/>
          <p:nvPr/>
        </p:nvSpPr>
        <p:spPr>
          <a:xfrm>
            <a:off x="676656" y="2404872"/>
            <a:ext cx="10838383" cy="10972"/>
          </a:xfrm>
          <a:prstGeom prst="rect">
            <a:avLst/>
          </a:prstGeom>
          <a:solidFill>
            <a:srgbClr val="28343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0" name="!!code-dot0">
            <a:extLst>
              <a:ext uri="{C183D7F6-B498-43B3-948B-1728B52AA6E4}">
                <adec:decorative xmlns:adec="http://schemas.microsoft.com/office/drawing/2017/decorative" val="1"/>
              </a:ext>
            </a:extLst>
          </p:cNvPr>
          <p:cNvSpPr/>
          <p:nvPr/>
        </p:nvSpPr>
        <p:spPr>
          <a:xfrm>
            <a:off x="859536" y="2199132"/>
            <a:ext cx="100584" cy="100584"/>
          </a:xfrm>
          <a:prstGeom prst="ellipse">
            <a:avLst/>
          </a:prstGeom>
          <a:solidFill>
            <a:srgbClr val="E74C3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1" name="!!code-dot1">
            <a:extLst>
              <a:ext uri="{C183D7F6-B498-43B3-948B-1728B52AA6E4}">
                <adec:decorative xmlns:adec="http://schemas.microsoft.com/office/drawing/2017/decorative" val="1"/>
              </a:ext>
            </a:extLst>
          </p:cNvPr>
          <p:cNvSpPr/>
          <p:nvPr/>
        </p:nvSpPr>
        <p:spPr>
          <a:xfrm>
            <a:off x="1042415" y="2199132"/>
            <a:ext cx="100584" cy="100584"/>
          </a:xfrm>
          <a:prstGeom prst="ellipse">
            <a:avLst/>
          </a:prstGeom>
          <a:solidFill>
            <a:srgbClr val="F4D03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2" name="!!code-dot2">
            <a:extLst>
              <a:ext uri="{C183D7F6-B498-43B3-948B-1728B52AA6E4}">
                <adec:decorative xmlns:adec="http://schemas.microsoft.com/office/drawing/2017/decorative" val="1"/>
              </a:ext>
            </a:extLst>
          </p:cNvPr>
          <p:cNvSpPr/>
          <p:nvPr/>
        </p:nvSpPr>
        <p:spPr>
          <a:xfrm>
            <a:off x="1225295" y="2199132"/>
            <a:ext cx="100584" cy="100584"/>
          </a:xfrm>
          <a:prstGeom prst="ellipse">
            <a:avLst/>
          </a:prstGeom>
          <a:solidFill>
            <a:srgbClr val="58D68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3" name="!!code-label"/>
          <p:cNvSpPr txBox="1"/>
          <p:nvPr/>
        </p:nvSpPr>
        <p:spPr>
          <a:xfrm>
            <a:off x="1527048" y="2148839"/>
            <a:ext cx="9777679" cy="219456"/>
          </a:xfrm>
          <a:prstGeom prst="rect">
            <a:avLst/>
          </a:prstGeom>
          <a:noFill/>
        </p:spPr>
        <p:txBody>
          <a:bodyPr wrap="square" anchor="t" lIns="0" rIns="0" tIns="0" bIns="0">
            <a:noAutofit/>
          </a:bodyPr>
          <a:lstStyle/>
          <a:p>
            <a:pPr algn="l">
              <a:lnSpc>
                <a:spcPct val="100000"/>
              </a:lnSpc>
              <a:spcBef>
                <a:spcPts val="0"/>
              </a:spcBef>
              <a:spcAft>
                <a:spcPts val="0"/>
              </a:spcAft>
            </a:pPr>
            <a:r>
              <a:rPr sz="1100" b="1" i="0">
                <a:solidFill>
                  <a:srgbClr val="9FB0BF"/>
                </a:solidFill>
                <a:latin typeface="Segoe UI"/>
              </a:rPr>
              <a:t>Python  ·  code/ch10_semantic_network_that.py</a:t>
            </a:r>
          </a:p>
        </p:txBody>
      </p:sp>
      <p:sp>
        <p:nvSpPr>
          <p:cNvPr id="14" name="!!code-text" descr="# breadth-first by distance, so 'equally specific' is well defined level, seen = list(parents(frame)), {frame} distance = 1"/>
          <p:cNvSpPr txBox="1"/>
          <p:nvPr/>
        </p:nvSpPr>
        <p:spPr>
          <a:xfrm>
            <a:off x="1362456" y="2523744"/>
            <a:ext cx="9987991" cy="978408"/>
          </a:xfrm>
          <a:prstGeom prst="rect">
            <a:avLst/>
          </a:prstGeom>
          <a:noFill/>
        </p:spPr>
        <p:txBody>
          <a:bodyPr wrap="none" anchor="t" lIns="0" rIns="0" tIns="0" bIns="0">
            <a:noAutofit/>
          </a:bodyPr>
          <a:lstStyle/>
          <a:p>
            <a:pPr>
              <a:lnSpc>
                <a:spcPct val="100000"/>
              </a:lnSpc>
              <a:spcAft>
                <a:spcPts val="0"/>
              </a:spcAft>
            </a:pPr>
            <a:r>
              <a:rPr sz="1900" i="0">
                <a:solidFill>
                  <a:srgbClr val="E8EDF2"/>
                </a:solidFill>
                <a:latin typeface="Consolas"/>
              </a:rPr>
              <a:t>    </a:t>
            </a:r>
            <a:r>
              <a:rPr sz="1900" i="1">
                <a:solidFill>
                  <a:srgbClr val="8795A1"/>
                </a:solidFill>
                <a:latin typeface="Consolas"/>
              </a:rPr>
              <a:t># breadth-first by distance, so 'equally specific' is well defined</a:t>
            </a:r>
          </a:p>
          <a:p>
            <a:pPr>
              <a:lnSpc>
                <a:spcPct val="100000"/>
              </a:lnSpc>
              <a:spcAft>
                <a:spcPts val="0"/>
              </a:spcAft>
            </a:pPr>
            <a:r>
              <a:rPr sz="1900" i="0">
                <a:solidFill>
                  <a:srgbClr val="E8EDF2"/>
                </a:solidFill>
                <a:latin typeface="Consolas"/>
              </a:rPr>
              <a:t>    </a:t>
            </a:r>
            <a:r>
              <a:rPr sz="1900" i="0">
                <a:solidFill>
                  <a:srgbClr val="E8EDF2"/>
                </a:solidFill>
                <a:latin typeface="Consolas"/>
              </a:rPr>
              <a:t>level</a:t>
            </a:r>
            <a:r>
              <a:rPr sz="1900" i="0">
                <a:solidFill>
                  <a:srgbClr val="AEB6BF"/>
                </a:solidFill>
                <a:latin typeface="Consolas"/>
              </a:rPr>
              <a:t>,</a:t>
            </a:r>
            <a:r>
              <a:rPr sz="1900" i="0">
                <a:solidFill>
                  <a:srgbClr val="E8EDF2"/>
                </a:solidFill>
                <a:latin typeface="Consolas"/>
              </a:rPr>
              <a:t> </a:t>
            </a:r>
            <a:r>
              <a:rPr sz="1900" i="0">
                <a:solidFill>
                  <a:srgbClr val="E8EDF2"/>
                </a:solidFill>
                <a:latin typeface="Consolas"/>
              </a:rPr>
              <a:t>seen</a:t>
            </a:r>
            <a:r>
              <a:rPr sz="1900" i="0">
                <a:solidFill>
                  <a:srgbClr val="E8EDF2"/>
                </a:solidFill>
                <a:latin typeface="Consolas"/>
              </a:rPr>
              <a:t> </a:t>
            </a:r>
            <a:r>
              <a:rPr sz="1900" i="0">
                <a:solidFill>
                  <a:srgbClr val="AEB6BF"/>
                </a:solidFill>
                <a:latin typeface="Consolas"/>
              </a:rPr>
              <a:t>=</a:t>
            </a:r>
            <a:r>
              <a:rPr sz="1900" i="0">
                <a:solidFill>
                  <a:srgbClr val="E8EDF2"/>
                </a:solidFill>
                <a:latin typeface="Consolas"/>
              </a:rPr>
              <a:t> </a:t>
            </a:r>
            <a:r>
              <a:rPr sz="1900" i="0">
                <a:solidFill>
                  <a:srgbClr val="C39BD3"/>
                </a:solidFill>
                <a:latin typeface="Consolas"/>
              </a:rPr>
              <a:t>list</a:t>
            </a:r>
            <a:r>
              <a:rPr sz="1900" i="0">
                <a:solidFill>
                  <a:srgbClr val="AEB6BF"/>
                </a:solidFill>
                <a:latin typeface="Consolas"/>
              </a:rPr>
              <a:t>(</a:t>
            </a:r>
            <a:r>
              <a:rPr sz="1900" i="0">
                <a:solidFill>
                  <a:srgbClr val="E8EDF2"/>
                </a:solidFill>
                <a:latin typeface="Consolas"/>
              </a:rPr>
              <a:t>parents</a:t>
            </a:r>
            <a:r>
              <a:rPr sz="1900" i="0">
                <a:solidFill>
                  <a:srgbClr val="AEB6BF"/>
                </a:solidFill>
                <a:latin typeface="Consolas"/>
              </a:rPr>
              <a:t>(</a:t>
            </a:r>
            <a:r>
              <a:rPr sz="1900" i="0">
                <a:solidFill>
                  <a:srgbClr val="E8EDF2"/>
                </a:solidFill>
                <a:latin typeface="Consolas"/>
              </a:rPr>
              <a:t>frame</a:t>
            </a:r>
            <a:r>
              <a:rPr sz="1900" i="0">
                <a:solidFill>
                  <a:srgbClr val="AEB6BF"/>
                </a:solidFill>
                <a:latin typeface="Consolas"/>
              </a:rPr>
              <a:t>)</a:t>
            </a:r>
            <a:r>
              <a:rPr sz="1900" i="0">
                <a:solidFill>
                  <a:srgbClr val="AEB6BF"/>
                </a:solidFill>
                <a:latin typeface="Consolas"/>
              </a:rPr>
              <a:t>)</a:t>
            </a:r>
            <a:r>
              <a:rPr sz="1900" i="0">
                <a:solidFill>
                  <a:srgbClr val="AEB6BF"/>
                </a:solidFill>
                <a:latin typeface="Consolas"/>
              </a:rPr>
              <a:t>,</a:t>
            </a:r>
            <a:r>
              <a:rPr sz="1900" i="0">
                <a:solidFill>
                  <a:srgbClr val="E8EDF2"/>
                </a:solidFill>
                <a:latin typeface="Consolas"/>
              </a:rPr>
              <a:t> </a:t>
            </a:r>
            <a:r>
              <a:rPr sz="1900" i="0">
                <a:solidFill>
                  <a:srgbClr val="AEB6BF"/>
                </a:solidFill>
                <a:latin typeface="Consolas"/>
              </a:rPr>
              <a:t>{</a:t>
            </a:r>
            <a:r>
              <a:rPr sz="1900" i="0">
                <a:solidFill>
                  <a:srgbClr val="E8EDF2"/>
                </a:solidFill>
                <a:latin typeface="Consolas"/>
              </a:rPr>
              <a:t>frame</a:t>
            </a:r>
            <a:r>
              <a:rPr sz="1900" i="0">
                <a:solidFill>
                  <a:srgbClr val="AEB6BF"/>
                </a:solidFill>
                <a:latin typeface="Consolas"/>
              </a:rPr>
              <a:t>}</a:t>
            </a:r>
          </a:p>
          <a:p>
            <a:pPr>
              <a:lnSpc>
                <a:spcPct val="100000"/>
              </a:lnSpc>
              <a:spcAft>
                <a:spcPts val="0"/>
              </a:spcAft>
            </a:pPr>
            <a:r>
              <a:rPr sz="1900" i="0">
                <a:solidFill>
                  <a:srgbClr val="E8EDF2"/>
                </a:solidFill>
                <a:latin typeface="Consolas"/>
              </a:rPr>
              <a:t>    </a:t>
            </a:r>
            <a:r>
              <a:rPr sz="1900" i="0">
                <a:solidFill>
                  <a:srgbClr val="E8EDF2"/>
                </a:solidFill>
                <a:latin typeface="Consolas"/>
              </a:rPr>
              <a:t>distance</a:t>
            </a:r>
            <a:r>
              <a:rPr sz="1900" i="0">
                <a:solidFill>
                  <a:srgbClr val="E8EDF2"/>
                </a:solidFill>
                <a:latin typeface="Consolas"/>
              </a:rPr>
              <a:t> </a:t>
            </a:r>
            <a:r>
              <a:rPr sz="1900" i="0">
                <a:solidFill>
                  <a:srgbClr val="AEB6BF"/>
                </a:solidFill>
                <a:latin typeface="Consolas"/>
              </a:rPr>
              <a:t>=</a:t>
            </a:r>
            <a:r>
              <a:rPr sz="1900" i="0">
                <a:solidFill>
                  <a:srgbClr val="E8EDF2"/>
                </a:solidFill>
                <a:latin typeface="Consolas"/>
              </a:rPr>
              <a:t> </a:t>
            </a:r>
            <a:r>
              <a:rPr sz="1900" i="0">
                <a:solidFill>
                  <a:srgbClr val="F7DC6F"/>
                </a:solidFill>
                <a:latin typeface="Consolas"/>
              </a:rPr>
              <a:t>1</a:t>
            </a:r>
          </a:p>
        </p:txBody>
      </p:sp>
      <p:sp>
        <p:nvSpPr>
          <p:cNvPr id="15" name="!!code-num"/>
          <p:cNvSpPr txBox="1"/>
          <p:nvPr/>
        </p:nvSpPr>
        <p:spPr>
          <a:xfrm>
            <a:off x="768096" y="2523744"/>
            <a:ext cx="393192" cy="978408"/>
          </a:xfrm>
          <a:prstGeom prst="rect">
            <a:avLst/>
          </a:prstGeom>
          <a:noFill/>
        </p:spPr>
        <p:txBody>
          <a:bodyPr wrap="none" anchor="t" lIns="0" rIns="0" tIns="0" bIns="0">
            <a:noAutofit/>
          </a:bodyPr>
          <a:lstStyle/>
          <a:p>
            <a:pPr algn="r">
              <a:lnSpc>
                <a:spcPct val="100000"/>
              </a:lnSpc>
            </a:pPr>
            <a:r>
              <a:rPr sz="1900">
                <a:solidFill>
                  <a:srgbClr val="4F5D6A"/>
                </a:solidFill>
                <a:latin typeface="Consolas"/>
              </a:rPr>
              <a:t>70</a:t>
            </a:r>
          </a:p>
          <a:p>
            <a:pPr algn="r">
              <a:lnSpc>
                <a:spcPct val="100000"/>
              </a:lnSpc>
            </a:pPr>
            <a:r>
              <a:rPr sz="1900">
                <a:solidFill>
                  <a:srgbClr val="4F5D6A"/>
                </a:solidFill>
                <a:latin typeface="Consolas"/>
              </a:rPr>
              <a:t>71</a:t>
            </a:r>
          </a:p>
          <a:p>
            <a:pPr algn="r">
              <a:lnSpc>
                <a:spcPct val="100000"/>
              </a:lnSpc>
            </a:pPr>
            <a:r>
              <a:rPr sz="1900">
                <a:solidFill>
                  <a:srgbClr val="4F5D6A"/>
                </a:solidFill>
                <a:latin typeface="Consolas"/>
              </a:rPr>
              <a:t>72</a:t>
            </a:r>
          </a:p>
        </p:txBody>
      </p:sp>
      <p:sp>
        <p:nvSpPr>
          <p:cNvPr id="16"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7" name="!!pfill">
            <a:extLst>
              <a:ext uri="{C183D7F6-B498-43B3-948B-1728B52AA6E4}">
                <adec:decorative xmlns:adec="http://schemas.microsoft.com/office/drawing/2017/decorative" val="1"/>
              </a:ext>
            </a:extLst>
          </p:cNvPr>
          <p:cNvSpPr/>
          <p:nvPr/>
        </p:nvSpPr>
        <p:spPr>
          <a:xfrm>
            <a:off x="0" y="0"/>
            <a:ext cx="6521139" cy="54864"/>
          </a:xfrm>
          <a:prstGeom prst="rect">
            <a:avLst/>
          </a:prstGeom>
          <a:solidFill>
            <a:srgbClr val="8E44A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xmlns:p159="http://schemas.microsoft.com/office/powerpoint/2015/09/main" Requires="p159">
      <p:transition spd="slow" p14:dur="600">
        <p159:morph option="byObject"/>
      </p:transition>
    </mc:Choice>
    <mc:Fallback>
      <p:transition spd="med">
        <p:fade/>
      </p:transition>
    </mc:Fallback>
  </mc:AlternateContent>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2600" b="0">
                <a:solidFill>
                  <a:srgbClr val="1A5276"/>
                </a:solidFill>
                <a:latin typeface="Segoe UI Semibold"/>
              </a:rPr>
              <a:t>A Semantic Network That Answers Queries</a:t>
            </a:r>
          </a:p>
        </p:txBody>
      </p:sp>
      <p:pic>
        <p:nvPicPr>
          <p:cNvPr id="3" name="!!kicker-icon" descr="flask-117A65.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192583"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117A65"/>
                </a:solidFill>
                <a:latin typeface="Segoe UI"/>
              </a:rPr>
              <a:t>LAB  ·  STEP 7 OF 11</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Artificial Intelligence  ·  Chapter 10  ·  Knowledge Representation</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§10.6  ·  Handout p. 104     </a:t>
            </a:r>
            <a:fld id="{F36C2BC1-AAFC-47D7-9DF8-1105A2634DA8}" type="slidenum">
              <a:rPr lang="en-GB" sz="1000">
                <a:solidFill>
                  <a:srgbClr val="8795A1"/>
                </a:solidFill>
                <a:latin typeface="Segoe UI"/>
              </a:rPr>
              <a:t>24</a:t>
            </a:fld>
          </a:p>
        </p:txBody>
      </p:sp>
      <p:sp>
        <p:nvSpPr>
          <p:cNvPr id="7" name="!!codehead"/>
          <p:cNvSpPr txBox="1"/>
          <p:nvPr/>
        </p:nvSpPr>
        <p:spPr>
          <a:xfrm>
            <a:off x="658368" y="1627631"/>
            <a:ext cx="10874959" cy="329184"/>
          </a:xfrm>
          <a:prstGeom prst="rect">
            <a:avLst/>
          </a:prstGeom>
          <a:noFill/>
        </p:spPr>
        <p:txBody>
          <a:bodyPr wrap="square" anchor="t" lIns="0" rIns="0" tIns="0" bIns="0">
            <a:noAutofit/>
          </a:bodyPr>
          <a:lstStyle/>
          <a:p>
            <a:pPr algn="l">
              <a:lnSpc>
                <a:spcPct val="100000"/>
              </a:lnSpc>
              <a:spcBef>
                <a:spcPts val="0"/>
              </a:spcBef>
              <a:spcAft>
                <a:spcPts val="0"/>
              </a:spcAft>
            </a:pPr>
            <a:r>
              <a:rPr sz="1900" b="1" i="0">
                <a:solidFill>
                  <a:srgbClr val="0E6655"/>
                </a:solidFill>
                <a:latin typeface="Segoe UI Semibold"/>
              </a:rPr>
              <a:t>Set-up (continued)</a:t>
            </a:r>
          </a:p>
        </p:txBody>
      </p:sp>
      <p:sp>
        <p:nvSpPr>
          <p:cNvPr id="8" name="!!code-bg">
            <a:extLst>
              <a:ext uri="{C183D7F6-B498-43B3-948B-1728B52AA6E4}">
                <adec:decorative xmlns:adec="http://schemas.microsoft.com/office/drawing/2017/decorative" val="1"/>
              </a:ext>
            </a:extLst>
          </p:cNvPr>
          <p:cNvSpPr/>
          <p:nvPr/>
        </p:nvSpPr>
        <p:spPr>
          <a:xfrm>
            <a:off x="658368" y="2084831"/>
            <a:ext cx="10874959" cy="4078224"/>
          </a:xfrm>
          <a:prstGeom prst="roundRect">
            <a:avLst>
              <a:gd name="adj" fmla="val 2242"/>
            </a:avLst>
          </a:prstGeom>
          <a:solidFill>
            <a:srgbClr val="1E283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9" name="!!code-sep">
            <a:extLst>
              <a:ext uri="{C183D7F6-B498-43B3-948B-1728B52AA6E4}">
                <adec:decorative xmlns:adec="http://schemas.microsoft.com/office/drawing/2017/decorative" val="1"/>
              </a:ext>
            </a:extLst>
          </p:cNvPr>
          <p:cNvSpPr/>
          <p:nvPr/>
        </p:nvSpPr>
        <p:spPr>
          <a:xfrm>
            <a:off x="676656" y="2404872"/>
            <a:ext cx="10838383" cy="10972"/>
          </a:xfrm>
          <a:prstGeom prst="rect">
            <a:avLst/>
          </a:prstGeom>
          <a:solidFill>
            <a:srgbClr val="28343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0" name="!!code-dot0">
            <a:extLst>
              <a:ext uri="{C183D7F6-B498-43B3-948B-1728B52AA6E4}">
                <adec:decorative xmlns:adec="http://schemas.microsoft.com/office/drawing/2017/decorative" val="1"/>
              </a:ext>
            </a:extLst>
          </p:cNvPr>
          <p:cNvSpPr/>
          <p:nvPr/>
        </p:nvSpPr>
        <p:spPr>
          <a:xfrm>
            <a:off x="859536" y="2199132"/>
            <a:ext cx="100584" cy="100584"/>
          </a:xfrm>
          <a:prstGeom prst="ellipse">
            <a:avLst/>
          </a:prstGeom>
          <a:solidFill>
            <a:srgbClr val="E74C3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1" name="!!code-dot1">
            <a:extLst>
              <a:ext uri="{C183D7F6-B498-43B3-948B-1728B52AA6E4}">
                <adec:decorative xmlns:adec="http://schemas.microsoft.com/office/drawing/2017/decorative" val="1"/>
              </a:ext>
            </a:extLst>
          </p:cNvPr>
          <p:cNvSpPr/>
          <p:nvPr/>
        </p:nvSpPr>
        <p:spPr>
          <a:xfrm>
            <a:off x="1042415" y="2199132"/>
            <a:ext cx="100584" cy="100584"/>
          </a:xfrm>
          <a:prstGeom prst="ellipse">
            <a:avLst/>
          </a:prstGeom>
          <a:solidFill>
            <a:srgbClr val="F4D03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2" name="!!code-dot2">
            <a:extLst>
              <a:ext uri="{C183D7F6-B498-43B3-948B-1728B52AA6E4}">
                <adec:decorative xmlns:adec="http://schemas.microsoft.com/office/drawing/2017/decorative" val="1"/>
              </a:ext>
            </a:extLst>
          </p:cNvPr>
          <p:cNvSpPr/>
          <p:nvPr/>
        </p:nvSpPr>
        <p:spPr>
          <a:xfrm>
            <a:off x="1225295" y="2199132"/>
            <a:ext cx="100584" cy="100584"/>
          </a:xfrm>
          <a:prstGeom prst="ellipse">
            <a:avLst/>
          </a:prstGeom>
          <a:solidFill>
            <a:srgbClr val="58D68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3" name="!!code-label"/>
          <p:cNvSpPr txBox="1"/>
          <p:nvPr/>
        </p:nvSpPr>
        <p:spPr>
          <a:xfrm>
            <a:off x="1527048" y="2148839"/>
            <a:ext cx="9777679" cy="219456"/>
          </a:xfrm>
          <a:prstGeom prst="rect">
            <a:avLst/>
          </a:prstGeom>
          <a:noFill/>
        </p:spPr>
        <p:txBody>
          <a:bodyPr wrap="square" anchor="t" lIns="0" rIns="0" tIns="0" bIns="0">
            <a:noAutofit/>
          </a:bodyPr>
          <a:lstStyle/>
          <a:p>
            <a:pPr algn="l">
              <a:lnSpc>
                <a:spcPct val="100000"/>
              </a:lnSpc>
              <a:spcBef>
                <a:spcPts val="0"/>
              </a:spcBef>
              <a:spcAft>
                <a:spcPts val="0"/>
              </a:spcAft>
            </a:pPr>
            <a:r>
              <a:rPr sz="1100" b="1" i="0">
                <a:solidFill>
                  <a:srgbClr val="9FB0BF"/>
                </a:solidFill>
                <a:latin typeface="Segoe UI"/>
              </a:rPr>
              <a:t>Python  ·  code/ch10_semantic_network_that.py</a:t>
            </a:r>
          </a:p>
        </p:txBody>
      </p:sp>
      <p:sp>
        <p:nvSpPr>
          <p:cNvPr id="14" name="!!code-text" descr="while level: hits = [] for f in level: if f in seen: continue if slot in FRAMES.get(f, {}): hits.append((FRAMES[f][slot], f)) values = {v for v, _ in hits} if len(values) &gt; 1: return (&quot;CONFLICT&quot;, sorted(hits)), distance if hits: return hits[0][0], hits[0][1] seen |= set(level) nxt = [] for f in level: nxt += parents(f) level = [f for f in nxt if f not in seen] distance += 1 return None, None"/>
          <p:cNvSpPr txBox="1"/>
          <p:nvPr/>
        </p:nvSpPr>
        <p:spPr>
          <a:xfrm>
            <a:off x="1362456" y="2523744"/>
            <a:ext cx="9987991" cy="3584447"/>
          </a:xfrm>
          <a:prstGeom prst="rect">
            <a:avLst/>
          </a:prstGeom>
          <a:noFill/>
        </p:spPr>
        <p:txBody>
          <a:bodyPr wrap="none" anchor="t" lIns="0" rIns="0" tIns="0" bIns="0">
            <a:noAutofit/>
          </a:bodyPr>
          <a:lstStyle/>
          <a:p>
            <a:pPr>
              <a:lnSpc>
                <a:spcPct val="100000"/>
              </a:lnSpc>
              <a:spcAft>
                <a:spcPts val="0"/>
              </a:spcAft>
            </a:pPr>
            <a:r>
              <a:rPr sz="1200" i="0">
                <a:solidFill>
                  <a:srgbClr val="E8EDF2"/>
                </a:solidFill>
                <a:latin typeface="Consolas"/>
              </a:rPr>
              <a:t>    </a:t>
            </a:r>
            <a:r>
              <a:rPr sz="1200" i="0">
                <a:solidFill>
                  <a:srgbClr val="5DADE2"/>
                </a:solidFill>
                <a:latin typeface="Consolas"/>
              </a:rPr>
              <a:t>while</a:t>
            </a:r>
            <a:r>
              <a:rPr sz="1200" i="0">
                <a:solidFill>
                  <a:srgbClr val="E8EDF2"/>
                </a:solidFill>
                <a:latin typeface="Consolas"/>
              </a:rPr>
              <a:t> </a:t>
            </a:r>
            <a:r>
              <a:rPr sz="1200" i="0">
                <a:solidFill>
                  <a:srgbClr val="E8EDF2"/>
                </a:solidFill>
                <a:latin typeface="Consolas"/>
              </a:rPr>
              <a:t>level</a:t>
            </a:r>
            <a:r>
              <a:rPr sz="1200" i="0">
                <a:solidFill>
                  <a:srgbClr val="AEB6BF"/>
                </a:solidFill>
                <a:latin typeface="Consolas"/>
              </a:rPr>
              <a:t>:</a:t>
            </a:r>
          </a:p>
          <a:p>
            <a:pPr>
              <a:lnSpc>
                <a:spcPct val="100000"/>
              </a:lnSpc>
              <a:spcAft>
                <a:spcPts val="0"/>
              </a:spcAft>
            </a:pPr>
            <a:r>
              <a:rPr sz="1200" i="0">
                <a:solidFill>
                  <a:srgbClr val="E8EDF2"/>
                </a:solidFill>
                <a:latin typeface="Consolas"/>
              </a:rPr>
              <a:t>        </a:t>
            </a:r>
            <a:r>
              <a:rPr sz="1200" i="0">
                <a:solidFill>
                  <a:srgbClr val="E8EDF2"/>
                </a:solidFill>
                <a:latin typeface="Consolas"/>
              </a:rPr>
              <a:t>hits</a:t>
            </a:r>
            <a:r>
              <a:rPr sz="1200" i="0">
                <a:solidFill>
                  <a:srgbClr val="E8EDF2"/>
                </a:solidFill>
                <a:latin typeface="Consolas"/>
              </a:rPr>
              <a:t> </a:t>
            </a:r>
            <a:r>
              <a:rPr sz="1200" i="0">
                <a:solidFill>
                  <a:srgbClr val="AEB6BF"/>
                </a:solidFill>
                <a:latin typeface="Consolas"/>
              </a:rPr>
              <a:t>=</a:t>
            </a:r>
            <a:r>
              <a:rPr sz="1200" i="0">
                <a:solidFill>
                  <a:srgbClr val="E8EDF2"/>
                </a:solidFill>
                <a:latin typeface="Consolas"/>
              </a:rPr>
              <a:t> </a:t>
            </a:r>
            <a:r>
              <a:rPr sz="1200" i="0">
                <a:solidFill>
                  <a:srgbClr val="AEB6BF"/>
                </a:solidFill>
                <a:latin typeface="Consolas"/>
              </a:rPr>
              <a:t>[</a:t>
            </a:r>
            <a:r>
              <a:rPr sz="1200" i="0">
                <a:solidFill>
                  <a:srgbClr val="AEB6BF"/>
                </a:solidFill>
                <a:latin typeface="Consolas"/>
              </a:rPr>
              <a:t>]</a:t>
            </a:r>
          </a:p>
          <a:p>
            <a:pPr>
              <a:lnSpc>
                <a:spcPct val="100000"/>
              </a:lnSpc>
              <a:spcAft>
                <a:spcPts val="0"/>
              </a:spcAft>
            </a:pPr>
            <a:r>
              <a:rPr sz="1200" i="0">
                <a:solidFill>
                  <a:srgbClr val="E8EDF2"/>
                </a:solidFill>
                <a:latin typeface="Consolas"/>
              </a:rPr>
              <a:t>        </a:t>
            </a:r>
            <a:r>
              <a:rPr sz="1200" i="0">
                <a:solidFill>
                  <a:srgbClr val="5DADE2"/>
                </a:solidFill>
                <a:latin typeface="Consolas"/>
              </a:rPr>
              <a:t>for</a:t>
            </a:r>
            <a:r>
              <a:rPr sz="1200" i="0">
                <a:solidFill>
                  <a:srgbClr val="E8EDF2"/>
                </a:solidFill>
                <a:latin typeface="Consolas"/>
              </a:rPr>
              <a:t> </a:t>
            </a:r>
            <a:r>
              <a:rPr sz="1200" i="0">
                <a:solidFill>
                  <a:srgbClr val="E8EDF2"/>
                </a:solidFill>
                <a:latin typeface="Consolas"/>
              </a:rPr>
              <a:t>f</a:t>
            </a:r>
            <a:r>
              <a:rPr sz="1200" i="0">
                <a:solidFill>
                  <a:srgbClr val="E8EDF2"/>
                </a:solidFill>
                <a:latin typeface="Consolas"/>
              </a:rPr>
              <a:t> </a:t>
            </a:r>
            <a:r>
              <a:rPr sz="1200" i="0">
                <a:solidFill>
                  <a:srgbClr val="AEB6BF"/>
                </a:solidFill>
                <a:latin typeface="Consolas"/>
              </a:rPr>
              <a:t>in</a:t>
            </a:r>
            <a:r>
              <a:rPr sz="1200" i="0">
                <a:solidFill>
                  <a:srgbClr val="E8EDF2"/>
                </a:solidFill>
                <a:latin typeface="Consolas"/>
              </a:rPr>
              <a:t> </a:t>
            </a:r>
            <a:r>
              <a:rPr sz="1200" i="0">
                <a:solidFill>
                  <a:srgbClr val="E8EDF2"/>
                </a:solidFill>
                <a:latin typeface="Consolas"/>
              </a:rPr>
              <a:t>level</a:t>
            </a:r>
            <a:r>
              <a:rPr sz="1200" i="0">
                <a:solidFill>
                  <a:srgbClr val="AEB6BF"/>
                </a:solidFill>
                <a:latin typeface="Consolas"/>
              </a:rPr>
              <a:t>:</a:t>
            </a:r>
          </a:p>
          <a:p>
            <a:pPr>
              <a:lnSpc>
                <a:spcPct val="100000"/>
              </a:lnSpc>
              <a:spcAft>
                <a:spcPts val="0"/>
              </a:spcAft>
            </a:pPr>
            <a:r>
              <a:rPr sz="1200" i="0">
                <a:solidFill>
                  <a:srgbClr val="E8EDF2"/>
                </a:solidFill>
                <a:latin typeface="Consolas"/>
              </a:rPr>
              <a:t>            </a:t>
            </a:r>
            <a:r>
              <a:rPr sz="1200" i="0">
                <a:solidFill>
                  <a:srgbClr val="5DADE2"/>
                </a:solidFill>
                <a:latin typeface="Consolas"/>
              </a:rPr>
              <a:t>if</a:t>
            </a:r>
            <a:r>
              <a:rPr sz="1200" i="0">
                <a:solidFill>
                  <a:srgbClr val="E8EDF2"/>
                </a:solidFill>
                <a:latin typeface="Consolas"/>
              </a:rPr>
              <a:t> </a:t>
            </a:r>
            <a:r>
              <a:rPr sz="1200" i="0">
                <a:solidFill>
                  <a:srgbClr val="E8EDF2"/>
                </a:solidFill>
                <a:latin typeface="Consolas"/>
              </a:rPr>
              <a:t>f</a:t>
            </a:r>
            <a:r>
              <a:rPr sz="1200" i="0">
                <a:solidFill>
                  <a:srgbClr val="E8EDF2"/>
                </a:solidFill>
                <a:latin typeface="Consolas"/>
              </a:rPr>
              <a:t> </a:t>
            </a:r>
            <a:r>
              <a:rPr sz="1200" i="0">
                <a:solidFill>
                  <a:srgbClr val="AEB6BF"/>
                </a:solidFill>
                <a:latin typeface="Consolas"/>
              </a:rPr>
              <a:t>in</a:t>
            </a:r>
            <a:r>
              <a:rPr sz="1200" i="0">
                <a:solidFill>
                  <a:srgbClr val="E8EDF2"/>
                </a:solidFill>
                <a:latin typeface="Consolas"/>
              </a:rPr>
              <a:t> </a:t>
            </a:r>
            <a:r>
              <a:rPr sz="1200" i="0">
                <a:solidFill>
                  <a:srgbClr val="E8EDF2"/>
                </a:solidFill>
                <a:latin typeface="Consolas"/>
              </a:rPr>
              <a:t>seen</a:t>
            </a:r>
            <a:r>
              <a:rPr sz="1200" i="0">
                <a:solidFill>
                  <a:srgbClr val="AEB6BF"/>
                </a:solidFill>
                <a:latin typeface="Consolas"/>
              </a:rPr>
              <a:t>:</a:t>
            </a:r>
          </a:p>
          <a:p>
            <a:pPr>
              <a:lnSpc>
                <a:spcPct val="100000"/>
              </a:lnSpc>
              <a:spcAft>
                <a:spcPts val="0"/>
              </a:spcAft>
            </a:pPr>
            <a:r>
              <a:rPr sz="1200" i="0">
                <a:solidFill>
                  <a:srgbClr val="E8EDF2"/>
                </a:solidFill>
                <a:latin typeface="Consolas"/>
              </a:rPr>
              <a:t>                </a:t>
            </a:r>
            <a:r>
              <a:rPr sz="1200" i="0">
                <a:solidFill>
                  <a:srgbClr val="5DADE2"/>
                </a:solidFill>
                <a:latin typeface="Consolas"/>
              </a:rPr>
              <a:t>continue</a:t>
            </a:r>
          </a:p>
          <a:p>
            <a:pPr>
              <a:lnSpc>
                <a:spcPct val="100000"/>
              </a:lnSpc>
              <a:spcAft>
                <a:spcPts val="0"/>
              </a:spcAft>
            </a:pPr>
            <a:r>
              <a:rPr sz="1200" i="0">
                <a:solidFill>
                  <a:srgbClr val="E8EDF2"/>
                </a:solidFill>
                <a:latin typeface="Consolas"/>
              </a:rPr>
              <a:t>            </a:t>
            </a:r>
            <a:r>
              <a:rPr sz="1200" i="0">
                <a:solidFill>
                  <a:srgbClr val="5DADE2"/>
                </a:solidFill>
                <a:latin typeface="Consolas"/>
              </a:rPr>
              <a:t>if</a:t>
            </a:r>
            <a:r>
              <a:rPr sz="1200" i="0">
                <a:solidFill>
                  <a:srgbClr val="E8EDF2"/>
                </a:solidFill>
                <a:latin typeface="Consolas"/>
              </a:rPr>
              <a:t> </a:t>
            </a:r>
            <a:r>
              <a:rPr sz="1200" i="0">
                <a:solidFill>
                  <a:srgbClr val="E8EDF2"/>
                </a:solidFill>
                <a:latin typeface="Consolas"/>
              </a:rPr>
              <a:t>slot</a:t>
            </a:r>
            <a:r>
              <a:rPr sz="1200" i="0">
                <a:solidFill>
                  <a:srgbClr val="E8EDF2"/>
                </a:solidFill>
                <a:latin typeface="Consolas"/>
              </a:rPr>
              <a:t> </a:t>
            </a:r>
            <a:r>
              <a:rPr sz="1200" i="0">
                <a:solidFill>
                  <a:srgbClr val="AEB6BF"/>
                </a:solidFill>
                <a:latin typeface="Consolas"/>
              </a:rPr>
              <a:t>in</a:t>
            </a:r>
            <a:r>
              <a:rPr sz="1200" i="0">
                <a:solidFill>
                  <a:srgbClr val="E8EDF2"/>
                </a:solidFill>
                <a:latin typeface="Consolas"/>
              </a:rPr>
              <a:t> </a:t>
            </a:r>
            <a:r>
              <a:rPr sz="1200" i="0">
                <a:solidFill>
                  <a:srgbClr val="E8EDF2"/>
                </a:solidFill>
                <a:latin typeface="Consolas"/>
              </a:rPr>
              <a:t>FRAMES</a:t>
            </a:r>
            <a:r>
              <a:rPr sz="1200" i="0">
                <a:solidFill>
                  <a:srgbClr val="AEB6BF"/>
                </a:solidFill>
                <a:latin typeface="Consolas"/>
              </a:rPr>
              <a:t>.</a:t>
            </a:r>
            <a:r>
              <a:rPr sz="1200" i="0">
                <a:solidFill>
                  <a:srgbClr val="E8EDF2"/>
                </a:solidFill>
                <a:latin typeface="Consolas"/>
              </a:rPr>
              <a:t>get</a:t>
            </a:r>
            <a:r>
              <a:rPr sz="1200" i="0">
                <a:solidFill>
                  <a:srgbClr val="AEB6BF"/>
                </a:solidFill>
                <a:latin typeface="Consolas"/>
              </a:rPr>
              <a:t>(</a:t>
            </a:r>
            <a:r>
              <a:rPr sz="1200" i="0">
                <a:solidFill>
                  <a:srgbClr val="E8EDF2"/>
                </a:solidFill>
                <a:latin typeface="Consolas"/>
              </a:rPr>
              <a:t>f</a:t>
            </a:r>
            <a:r>
              <a:rPr sz="1200" i="0">
                <a:solidFill>
                  <a:srgbClr val="AEB6BF"/>
                </a:solidFill>
                <a:latin typeface="Consolas"/>
              </a:rPr>
              <a:t>,</a:t>
            </a:r>
            <a:r>
              <a:rPr sz="1200" i="0">
                <a:solidFill>
                  <a:srgbClr val="E8EDF2"/>
                </a:solidFill>
                <a:latin typeface="Consolas"/>
              </a:rPr>
              <a:t> </a:t>
            </a:r>
            <a:r>
              <a:rPr sz="1200" i="0">
                <a:solidFill>
                  <a:srgbClr val="AEB6BF"/>
                </a:solidFill>
                <a:latin typeface="Consolas"/>
              </a:rPr>
              <a:t>{</a:t>
            </a:r>
            <a:r>
              <a:rPr sz="1200" i="0">
                <a:solidFill>
                  <a:srgbClr val="AEB6BF"/>
                </a:solidFill>
                <a:latin typeface="Consolas"/>
              </a:rPr>
              <a:t>}</a:t>
            </a:r>
            <a:r>
              <a:rPr sz="1200" i="0">
                <a:solidFill>
                  <a:srgbClr val="AEB6BF"/>
                </a:solidFill>
                <a:latin typeface="Consolas"/>
              </a:rPr>
              <a:t>)</a:t>
            </a:r>
            <a:r>
              <a:rPr sz="1200" i="0">
                <a:solidFill>
                  <a:srgbClr val="AEB6BF"/>
                </a:solidFill>
                <a:latin typeface="Consolas"/>
              </a:rPr>
              <a:t>:</a:t>
            </a:r>
          </a:p>
          <a:p>
            <a:pPr>
              <a:lnSpc>
                <a:spcPct val="100000"/>
              </a:lnSpc>
              <a:spcAft>
                <a:spcPts val="0"/>
              </a:spcAft>
            </a:pPr>
            <a:r>
              <a:rPr sz="1200" i="0">
                <a:solidFill>
                  <a:srgbClr val="E8EDF2"/>
                </a:solidFill>
                <a:latin typeface="Consolas"/>
              </a:rPr>
              <a:t>                </a:t>
            </a:r>
            <a:r>
              <a:rPr sz="1200" i="0">
                <a:solidFill>
                  <a:srgbClr val="E8EDF2"/>
                </a:solidFill>
                <a:latin typeface="Consolas"/>
              </a:rPr>
              <a:t>hits</a:t>
            </a:r>
            <a:r>
              <a:rPr sz="1200" i="0">
                <a:solidFill>
                  <a:srgbClr val="AEB6BF"/>
                </a:solidFill>
                <a:latin typeface="Consolas"/>
              </a:rPr>
              <a:t>.</a:t>
            </a:r>
            <a:r>
              <a:rPr sz="1200" i="0">
                <a:solidFill>
                  <a:srgbClr val="E8EDF2"/>
                </a:solidFill>
                <a:latin typeface="Consolas"/>
              </a:rPr>
              <a:t>append</a:t>
            </a:r>
            <a:r>
              <a:rPr sz="1200" i="0">
                <a:solidFill>
                  <a:srgbClr val="AEB6BF"/>
                </a:solidFill>
                <a:latin typeface="Consolas"/>
              </a:rPr>
              <a:t>(</a:t>
            </a:r>
            <a:r>
              <a:rPr sz="1200" i="0">
                <a:solidFill>
                  <a:srgbClr val="AEB6BF"/>
                </a:solidFill>
                <a:latin typeface="Consolas"/>
              </a:rPr>
              <a:t>(</a:t>
            </a:r>
            <a:r>
              <a:rPr sz="1200" i="0">
                <a:solidFill>
                  <a:srgbClr val="E8EDF2"/>
                </a:solidFill>
                <a:latin typeface="Consolas"/>
              </a:rPr>
              <a:t>FRAMES</a:t>
            </a:r>
            <a:r>
              <a:rPr sz="1200" i="0">
                <a:solidFill>
                  <a:srgbClr val="AEB6BF"/>
                </a:solidFill>
                <a:latin typeface="Consolas"/>
              </a:rPr>
              <a:t>[</a:t>
            </a:r>
            <a:r>
              <a:rPr sz="1200" i="0">
                <a:solidFill>
                  <a:srgbClr val="E8EDF2"/>
                </a:solidFill>
                <a:latin typeface="Consolas"/>
              </a:rPr>
              <a:t>f</a:t>
            </a:r>
            <a:r>
              <a:rPr sz="1200" i="0">
                <a:solidFill>
                  <a:srgbClr val="AEB6BF"/>
                </a:solidFill>
                <a:latin typeface="Consolas"/>
              </a:rPr>
              <a:t>]</a:t>
            </a:r>
            <a:r>
              <a:rPr sz="1200" i="0">
                <a:solidFill>
                  <a:srgbClr val="AEB6BF"/>
                </a:solidFill>
                <a:latin typeface="Consolas"/>
              </a:rPr>
              <a:t>[</a:t>
            </a:r>
            <a:r>
              <a:rPr sz="1200" i="0">
                <a:solidFill>
                  <a:srgbClr val="E8EDF2"/>
                </a:solidFill>
                <a:latin typeface="Consolas"/>
              </a:rPr>
              <a:t>slot</a:t>
            </a:r>
            <a:r>
              <a:rPr sz="1200" i="0">
                <a:solidFill>
                  <a:srgbClr val="AEB6BF"/>
                </a:solidFill>
                <a:latin typeface="Consolas"/>
              </a:rPr>
              <a:t>]</a:t>
            </a:r>
            <a:r>
              <a:rPr sz="1200" i="0">
                <a:solidFill>
                  <a:srgbClr val="AEB6BF"/>
                </a:solidFill>
                <a:latin typeface="Consolas"/>
              </a:rPr>
              <a:t>,</a:t>
            </a:r>
            <a:r>
              <a:rPr sz="1200" i="0">
                <a:solidFill>
                  <a:srgbClr val="E8EDF2"/>
                </a:solidFill>
                <a:latin typeface="Consolas"/>
              </a:rPr>
              <a:t> </a:t>
            </a:r>
            <a:r>
              <a:rPr sz="1200" i="0">
                <a:solidFill>
                  <a:srgbClr val="E8EDF2"/>
                </a:solidFill>
                <a:latin typeface="Consolas"/>
              </a:rPr>
              <a:t>f</a:t>
            </a:r>
            <a:r>
              <a:rPr sz="1200" i="0">
                <a:solidFill>
                  <a:srgbClr val="AEB6BF"/>
                </a:solidFill>
                <a:latin typeface="Consolas"/>
              </a:rPr>
              <a:t>)</a:t>
            </a:r>
            <a:r>
              <a:rPr sz="1200" i="0">
                <a:solidFill>
                  <a:srgbClr val="AEB6BF"/>
                </a:solidFill>
                <a:latin typeface="Consolas"/>
              </a:rPr>
              <a:t>)</a:t>
            </a:r>
          </a:p>
          <a:p>
            <a:pPr>
              <a:lnSpc>
                <a:spcPct val="100000"/>
              </a:lnSpc>
              <a:spcAft>
                <a:spcPts val="0"/>
              </a:spcAft>
            </a:pPr>
            <a:r>
              <a:rPr sz="1200" i="0">
                <a:solidFill>
                  <a:srgbClr val="E8EDF2"/>
                </a:solidFill>
                <a:latin typeface="Consolas"/>
              </a:rPr>
              <a:t>        </a:t>
            </a:r>
            <a:r>
              <a:rPr sz="1200" i="0">
                <a:solidFill>
                  <a:srgbClr val="E8EDF2"/>
                </a:solidFill>
                <a:latin typeface="Consolas"/>
              </a:rPr>
              <a:t>values</a:t>
            </a:r>
            <a:r>
              <a:rPr sz="1200" i="0">
                <a:solidFill>
                  <a:srgbClr val="E8EDF2"/>
                </a:solidFill>
                <a:latin typeface="Consolas"/>
              </a:rPr>
              <a:t> </a:t>
            </a:r>
            <a:r>
              <a:rPr sz="1200" i="0">
                <a:solidFill>
                  <a:srgbClr val="AEB6BF"/>
                </a:solidFill>
                <a:latin typeface="Consolas"/>
              </a:rPr>
              <a:t>=</a:t>
            </a:r>
            <a:r>
              <a:rPr sz="1200" i="0">
                <a:solidFill>
                  <a:srgbClr val="E8EDF2"/>
                </a:solidFill>
                <a:latin typeface="Consolas"/>
              </a:rPr>
              <a:t> </a:t>
            </a:r>
            <a:r>
              <a:rPr sz="1200" i="0">
                <a:solidFill>
                  <a:srgbClr val="AEB6BF"/>
                </a:solidFill>
                <a:latin typeface="Consolas"/>
              </a:rPr>
              <a:t>{</a:t>
            </a:r>
            <a:r>
              <a:rPr sz="1200" i="0">
                <a:solidFill>
                  <a:srgbClr val="E8EDF2"/>
                </a:solidFill>
                <a:latin typeface="Consolas"/>
              </a:rPr>
              <a:t>v</a:t>
            </a:r>
            <a:r>
              <a:rPr sz="1200" i="0">
                <a:solidFill>
                  <a:srgbClr val="E8EDF2"/>
                </a:solidFill>
                <a:latin typeface="Consolas"/>
              </a:rPr>
              <a:t> </a:t>
            </a:r>
            <a:r>
              <a:rPr sz="1200" i="0">
                <a:solidFill>
                  <a:srgbClr val="5DADE2"/>
                </a:solidFill>
                <a:latin typeface="Consolas"/>
              </a:rPr>
              <a:t>for</a:t>
            </a:r>
            <a:r>
              <a:rPr sz="1200" i="0">
                <a:solidFill>
                  <a:srgbClr val="E8EDF2"/>
                </a:solidFill>
                <a:latin typeface="Consolas"/>
              </a:rPr>
              <a:t> </a:t>
            </a:r>
            <a:r>
              <a:rPr sz="1200" i="0">
                <a:solidFill>
                  <a:srgbClr val="E8EDF2"/>
                </a:solidFill>
                <a:latin typeface="Consolas"/>
              </a:rPr>
              <a:t>v</a:t>
            </a:r>
            <a:r>
              <a:rPr sz="1200" i="0">
                <a:solidFill>
                  <a:srgbClr val="AEB6BF"/>
                </a:solidFill>
                <a:latin typeface="Consolas"/>
              </a:rPr>
              <a:t>,</a:t>
            </a:r>
            <a:r>
              <a:rPr sz="1200" i="0">
                <a:solidFill>
                  <a:srgbClr val="E8EDF2"/>
                </a:solidFill>
                <a:latin typeface="Consolas"/>
              </a:rPr>
              <a:t> </a:t>
            </a:r>
            <a:r>
              <a:rPr sz="1200" i="0">
                <a:solidFill>
                  <a:srgbClr val="E8EDF2"/>
                </a:solidFill>
                <a:latin typeface="Consolas"/>
              </a:rPr>
              <a:t>_</a:t>
            </a:r>
            <a:r>
              <a:rPr sz="1200" i="0">
                <a:solidFill>
                  <a:srgbClr val="E8EDF2"/>
                </a:solidFill>
                <a:latin typeface="Consolas"/>
              </a:rPr>
              <a:t> </a:t>
            </a:r>
            <a:r>
              <a:rPr sz="1200" i="0">
                <a:solidFill>
                  <a:srgbClr val="AEB6BF"/>
                </a:solidFill>
                <a:latin typeface="Consolas"/>
              </a:rPr>
              <a:t>in</a:t>
            </a:r>
            <a:r>
              <a:rPr sz="1200" i="0">
                <a:solidFill>
                  <a:srgbClr val="E8EDF2"/>
                </a:solidFill>
                <a:latin typeface="Consolas"/>
              </a:rPr>
              <a:t> </a:t>
            </a:r>
            <a:r>
              <a:rPr sz="1200" i="0">
                <a:solidFill>
                  <a:srgbClr val="E8EDF2"/>
                </a:solidFill>
                <a:latin typeface="Consolas"/>
              </a:rPr>
              <a:t>hits</a:t>
            </a:r>
            <a:r>
              <a:rPr sz="1200" i="0">
                <a:solidFill>
                  <a:srgbClr val="AEB6BF"/>
                </a:solidFill>
                <a:latin typeface="Consolas"/>
              </a:rPr>
              <a:t>}</a:t>
            </a:r>
          </a:p>
          <a:p>
            <a:pPr>
              <a:lnSpc>
                <a:spcPct val="100000"/>
              </a:lnSpc>
              <a:spcAft>
                <a:spcPts val="0"/>
              </a:spcAft>
            </a:pPr>
            <a:r>
              <a:rPr sz="1200" i="0">
                <a:solidFill>
                  <a:srgbClr val="E8EDF2"/>
                </a:solidFill>
                <a:latin typeface="Consolas"/>
              </a:rPr>
              <a:t>        </a:t>
            </a:r>
            <a:r>
              <a:rPr sz="1200" i="0">
                <a:solidFill>
                  <a:srgbClr val="5DADE2"/>
                </a:solidFill>
                <a:latin typeface="Consolas"/>
              </a:rPr>
              <a:t>if</a:t>
            </a:r>
            <a:r>
              <a:rPr sz="1200" i="0">
                <a:solidFill>
                  <a:srgbClr val="E8EDF2"/>
                </a:solidFill>
                <a:latin typeface="Consolas"/>
              </a:rPr>
              <a:t> </a:t>
            </a:r>
            <a:r>
              <a:rPr sz="1200" i="0">
                <a:solidFill>
                  <a:srgbClr val="C39BD3"/>
                </a:solidFill>
                <a:latin typeface="Consolas"/>
              </a:rPr>
              <a:t>len</a:t>
            </a:r>
            <a:r>
              <a:rPr sz="1200" i="0">
                <a:solidFill>
                  <a:srgbClr val="AEB6BF"/>
                </a:solidFill>
                <a:latin typeface="Consolas"/>
              </a:rPr>
              <a:t>(</a:t>
            </a:r>
            <a:r>
              <a:rPr sz="1200" i="0">
                <a:solidFill>
                  <a:srgbClr val="E8EDF2"/>
                </a:solidFill>
                <a:latin typeface="Consolas"/>
              </a:rPr>
              <a:t>values</a:t>
            </a:r>
            <a:r>
              <a:rPr sz="1200" i="0">
                <a:solidFill>
                  <a:srgbClr val="AEB6BF"/>
                </a:solidFill>
                <a:latin typeface="Consolas"/>
              </a:rPr>
              <a:t>)</a:t>
            </a:r>
            <a:r>
              <a:rPr sz="1200" i="0">
                <a:solidFill>
                  <a:srgbClr val="E8EDF2"/>
                </a:solidFill>
                <a:latin typeface="Consolas"/>
              </a:rPr>
              <a:t> </a:t>
            </a:r>
            <a:r>
              <a:rPr sz="1200" i="0">
                <a:solidFill>
                  <a:srgbClr val="AEB6BF"/>
                </a:solidFill>
                <a:latin typeface="Consolas"/>
              </a:rPr>
              <a:t>&gt;</a:t>
            </a:r>
            <a:r>
              <a:rPr sz="1200" i="0">
                <a:solidFill>
                  <a:srgbClr val="E8EDF2"/>
                </a:solidFill>
                <a:latin typeface="Consolas"/>
              </a:rPr>
              <a:t> </a:t>
            </a:r>
            <a:r>
              <a:rPr sz="1200" i="0">
                <a:solidFill>
                  <a:srgbClr val="F7DC6F"/>
                </a:solidFill>
                <a:latin typeface="Consolas"/>
              </a:rPr>
              <a:t>1</a:t>
            </a:r>
            <a:r>
              <a:rPr sz="1200" i="0">
                <a:solidFill>
                  <a:srgbClr val="AEB6BF"/>
                </a:solidFill>
                <a:latin typeface="Consolas"/>
              </a:rPr>
              <a:t>:</a:t>
            </a:r>
          </a:p>
          <a:p>
            <a:pPr>
              <a:lnSpc>
                <a:spcPct val="100000"/>
              </a:lnSpc>
              <a:spcAft>
                <a:spcPts val="0"/>
              </a:spcAft>
            </a:pPr>
            <a:r>
              <a:rPr sz="1200" i="0">
                <a:solidFill>
                  <a:srgbClr val="E8EDF2"/>
                </a:solidFill>
                <a:latin typeface="Consolas"/>
              </a:rPr>
              <a:t>            </a:t>
            </a:r>
            <a:r>
              <a:rPr sz="1200" i="0">
                <a:solidFill>
                  <a:srgbClr val="5DADE2"/>
                </a:solidFill>
                <a:latin typeface="Consolas"/>
              </a:rPr>
              <a:t>return</a:t>
            </a:r>
            <a:r>
              <a:rPr sz="1200" i="0">
                <a:solidFill>
                  <a:srgbClr val="E8EDF2"/>
                </a:solidFill>
                <a:latin typeface="Consolas"/>
              </a:rPr>
              <a:t> </a:t>
            </a:r>
            <a:r>
              <a:rPr sz="1200" i="0">
                <a:solidFill>
                  <a:srgbClr val="AEB6BF"/>
                </a:solidFill>
                <a:latin typeface="Consolas"/>
              </a:rPr>
              <a:t>(</a:t>
            </a:r>
            <a:r>
              <a:rPr sz="1200" i="0">
                <a:solidFill>
                  <a:srgbClr val="7DCEA0"/>
                </a:solidFill>
                <a:latin typeface="Consolas"/>
              </a:rPr>
              <a:t>"</a:t>
            </a:r>
            <a:r>
              <a:rPr sz="1200" i="0">
                <a:solidFill>
                  <a:srgbClr val="7DCEA0"/>
                </a:solidFill>
                <a:latin typeface="Consolas"/>
              </a:rPr>
              <a:t>CONFLICT</a:t>
            </a:r>
            <a:r>
              <a:rPr sz="1200" i="0">
                <a:solidFill>
                  <a:srgbClr val="7DCEA0"/>
                </a:solidFill>
                <a:latin typeface="Consolas"/>
              </a:rPr>
              <a:t>"</a:t>
            </a:r>
            <a:r>
              <a:rPr sz="1200" i="0">
                <a:solidFill>
                  <a:srgbClr val="AEB6BF"/>
                </a:solidFill>
                <a:latin typeface="Consolas"/>
              </a:rPr>
              <a:t>,</a:t>
            </a:r>
            <a:r>
              <a:rPr sz="1200" i="0">
                <a:solidFill>
                  <a:srgbClr val="E8EDF2"/>
                </a:solidFill>
                <a:latin typeface="Consolas"/>
              </a:rPr>
              <a:t> </a:t>
            </a:r>
            <a:r>
              <a:rPr sz="1200" i="0">
                <a:solidFill>
                  <a:srgbClr val="C39BD3"/>
                </a:solidFill>
                <a:latin typeface="Consolas"/>
              </a:rPr>
              <a:t>sorted</a:t>
            </a:r>
            <a:r>
              <a:rPr sz="1200" i="0">
                <a:solidFill>
                  <a:srgbClr val="AEB6BF"/>
                </a:solidFill>
                <a:latin typeface="Consolas"/>
              </a:rPr>
              <a:t>(</a:t>
            </a:r>
            <a:r>
              <a:rPr sz="1200" i="0">
                <a:solidFill>
                  <a:srgbClr val="E8EDF2"/>
                </a:solidFill>
                <a:latin typeface="Consolas"/>
              </a:rPr>
              <a:t>hits</a:t>
            </a:r>
            <a:r>
              <a:rPr sz="1200" i="0">
                <a:solidFill>
                  <a:srgbClr val="AEB6BF"/>
                </a:solidFill>
                <a:latin typeface="Consolas"/>
              </a:rPr>
              <a:t>)</a:t>
            </a:r>
            <a:r>
              <a:rPr sz="1200" i="0">
                <a:solidFill>
                  <a:srgbClr val="AEB6BF"/>
                </a:solidFill>
                <a:latin typeface="Consolas"/>
              </a:rPr>
              <a:t>)</a:t>
            </a:r>
            <a:r>
              <a:rPr sz="1200" i="0">
                <a:solidFill>
                  <a:srgbClr val="AEB6BF"/>
                </a:solidFill>
                <a:latin typeface="Consolas"/>
              </a:rPr>
              <a:t>,</a:t>
            </a:r>
            <a:r>
              <a:rPr sz="1200" i="0">
                <a:solidFill>
                  <a:srgbClr val="E8EDF2"/>
                </a:solidFill>
                <a:latin typeface="Consolas"/>
              </a:rPr>
              <a:t> </a:t>
            </a:r>
            <a:r>
              <a:rPr sz="1200" i="0">
                <a:solidFill>
                  <a:srgbClr val="E8EDF2"/>
                </a:solidFill>
                <a:latin typeface="Consolas"/>
              </a:rPr>
              <a:t>distance</a:t>
            </a:r>
          </a:p>
          <a:p>
            <a:pPr>
              <a:lnSpc>
                <a:spcPct val="100000"/>
              </a:lnSpc>
              <a:spcAft>
                <a:spcPts val="0"/>
              </a:spcAft>
            </a:pPr>
            <a:r>
              <a:rPr sz="1200" i="0">
                <a:solidFill>
                  <a:srgbClr val="E8EDF2"/>
                </a:solidFill>
                <a:latin typeface="Consolas"/>
              </a:rPr>
              <a:t>        </a:t>
            </a:r>
            <a:r>
              <a:rPr sz="1200" i="0">
                <a:solidFill>
                  <a:srgbClr val="5DADE2"/>
                </a:solidFill>
                <a:latin typeface="Consolas"/>
              </a:rPr>
              <a:t>if</a:t>
            </a:r>
            <a:r>
              <a:rPr sz="1200" i="0">
                <a:solidFill>
                  <a:srgbClr val="E8EDF2"/>
                </a:solidFill>
                <a:latin typeface="Consolas"/>
              </a:rPr>
              <a:t> </a:t>
            </a:r>
            <a:r>
              <a:rPr sz="1200" i="0">
                <a:solidFill>
                  <a:srgbClr val="E8EDF2"/>
                </a:solidFill>
                <a:latin typeface="Consolas"/>
              </a:rPr>
              <a:t>hits</a:t>
            </a:r>
            <a:r>
              <a:rPr sz="1200" i="0">
                <a:solidFill>
                  <a:srgbClr val="AEB6BF"/>
                </a:solidFill>
                <a:latin typeface="Consolas"/>
              </a:rPr>
              <a:t>:</a:t>
            </a:r>
          </a:p>
          <a:p>
            <a:pPr>
              <a:lnSpc>
                <a:spcPct val="100000"/>
              </a:lnSpc>
              <a:spcAft>
                <a:spcPts val="0"/>
              </a:spcAft>
            </a:pPr>
            <a:r>
              <a:rPr sz="1200" i="0">
                <a:solidFill>
                  <a:srgbClr val="E8EDF2"/>
                </a:solidFill>
                <a:latin typeface="Consolas"/>
              </a:rPr>
              <a:t>            </a:t>
            </a:r>
            <a:r>
              <a:rPr sz="1200" i="0">
                <a:solidFill>
                  <a:srgbClr val="5DADE2"/>
                </a:solidFill>
                <a:latin typeface="Consolas"/>
              </a:rPr>
              <a:t>return</a:t>
            </a:r>
            <a:r>
              <a:rPr sz="1200" i="0">
                <a:solidFill>
                  <a:srgbClr val="E8EDF2"/>
                </a:solidFill>
                <a:latin typeface="Consolas"/>
              </a:rPr>
              <a:t> </a:t>
            </a:r>
            <a:r>
              <a:rPr sz="1200" i="0">
                <a:solidFill>
                  <a:srgbClr val="E8EDF2"/>
                </a:solidFill>
                <a:latin typeface="Consolas"/>
              </a:rPr>
              <a:t>hits</a:t>
            </a:r>
            <a:r>
              <a:rPr sz="1200" i="0">
                <a:solidFill>
                  <a:srgbClr val="AEB6BF"/>
                </a:solidFill>
                <a:latin typeface="Consolas"/>
              </a:rPr>
              <a:t>[</a:t>
            </a:r>
            <a:r>
              <a:rPr sz="1200" i="0">
                <a:solidFill>
                  <a:srgbClr val="F7DC6F"/>
                </a:solidFill>
                <a:latin typeface="Consolas"/>
              </a:rPr>
              <a:t>0</a:t>
            </a:r>
            <a:r>
              <a:rPr sz="1200" i="0">
                <a:solidFill>
                  <a:srgbClr val="AEB6BF"/>
                </a:solidFill>
                <a:latin typeface="Consolas"/>
              </a:rPr>
              <a:t>]</a:t>
            </a:r>
            <a:r>
              <a:rPr sz="1200" i="0">
                <a:solidFill>
                  <a:srgbClr val="AEB6BF"/>
                </a:solidFill>
                <a:latin typeface="Consolas"/>
              </a:rPr>
              <a:t>[</a:t>
            </a:r>
            <a:r>
              <a:rPr sz="1200" i="0">
                <a:solidFill>
                  <a:srgbClr val="F7DC6F"/>
                </a:solidFill>
                <a:latin typeface="Consolas"/>
              </a:rPr>
              <a:t>0</a:t>
            </a:r>
            <a:r>
              <a:rPr sz="1200" i="0">
                <a:solidFill>
                  <a:srgbClr val="AEB6BF"/>
                </a:solidFill>
                <a:latin typeface="Consolas"/>
              </a:rPr>
              <a:t>]</a:t>
            </a:r>
            <a:r>
              <a:rPr sz="1200" i="0">
                <a:solidFill>
                  <a:srgbClr val="AEB6BF"/>
                </a:solidFill>
                <a:latin typeface="Consolas"/>
              </a:rPr>
              <a:t>,</a:t>
            </a:r>
            <a:r>
              <a:rPr sz="1200" i="0">
                <a:solidFill>
                  <a:srgbClr val="E8EDF2"/>
                </a:solidFill>
                <a:latin typeface="Consolas"/>
              </a:rPr>
              <a:t> </a:t>
            </a:r>
            <a:r>
              <a:rPr sz="1200" i="0">
                <a:solidFill>
                  <a:srgbClr val="E8EDF2"/>
                </a:solidFill>
                <a:latin typeface="Consolas"/>
              </a:rPr>
              <a:t>hits</a:t>
            </a:r>
            <a:r>
              <a:rPr sz="1200" i="0">
                <a:solidFill>
                  <a:srgbClr val="AEB6BF"/>
                </a:solidFill>
                <a:latin typeface="Consolas"/>
              </a:rPr>
              <a:t>[</a:t>
            </a:r>
            <a:r>
              <a:rPr sz="1200" i="0">
                <a:solidFill>
                  <a:srgbClr val="F7DC6F"/>
                </a:solidFill>
                <a:latin typeface="Consolas"/>
              </a:rPr>
              <a:t>0</a:t>
            </a:r>
            <a:r>
              <a:rPr sz="1200" i="0">
                <a:solidFill>
                  <a:srgbClr val="AEB6BF"/>
                </a:solidFill>
                <a:latin typeface="Consolas"/>
              </a:rPr>
              <a:t>]</a:t>
            </a:r>
            <a:r>
              <a:rPr sz="1200" i="0">
                <a:solidFill>
                  <a:srgbClr val="AEB6BF"/>
                </a:solidFill>
                <a:latin typeface="Consolas"/>
              </a:rPr>
              <a:t>[</a:t>
            </a:r>
            <a:r>
              <a:rPr sz="1200" i="0">
                <a:solidFill>
                  <a:srgbClr val="F7DC6F"/>
                </a:solidFill>
                <a:latin typeface="Consolas"/>
              </a:rPr>
              <a:t>1</a:t>
            </a:r>
            <a:r>
              <a:rPr sz="1200" i="0">
                <a:solidFill>
                  <a:srgbClr val="AEB6BF"/>
                </a:solidFill>
                <a:latin typeface="Consolas"/>
              </a:rPr>
              <a:t>]</a:t>
            </a:r>
          </a:p>
          <a:p>
            <a:pPr>
              <a:lnSpc>
                <a:spcPct val="100000"/>
              </a:lnSpc>
              <a:spcAft>
                <a:spcPts val="0"/>
              </a:spcAft>
            </a:pPr>
            <a:r>
              <a:rPr sz="1200" i="0">
                <a:solidFill>
                  <a:srgbClr val="E8EDF2"/>
                </a:solidFill>
                <a:latin typeface="Consolas"/>
              </a:rPr>
              <a:t>        </a:t>
            </a:r>
            <a:r>
              <a:rPr sz="1200" i="0">
                <a:solidFill>
                  <a:srgbClr val="E8EDF2"/>
                </a:solidFill>
                <a:latin typeface="Consolas"/>
              </a:rPr>
              <a:t>seen</a:t>
            </a:r>
            <a:r>
              <a:rPr sz="1200" i="0">
                <a:solidFill>
                  <a:srgbClr val="E8EDF2"/>
                </a:solidFill>
                <a:latin typeface="Consolas"/>
              </a:rPr>
              <a:t> </a:t>
            </a:r>
            <a:r>
              <a:rPr sz="1200" i="0">
                <a:solidFill>
                  <a:srgbClr val="AEB6BF"/>
                </a:solidFill>
                <a:latin typeface="Consolas"/>
              </a:rPr>
              <a:t>|</a:t>
            </a:r>
            <a:r>
              <a:rPr sz="1200" i="0">
                <a:solidFill>
                  <a:srgbClr val="AEB6BF"/>
                </a:solidFill>
                <a:latin typeface="Consolas"/>
              </a:rPr>
              <a:t>=</a:t>
            </a:r>
            <a:r>
              <a:rPr sz="1200" i="0">
                <a:solidFill>
                  <a:srgbClr val="E8EDF2"/>
                </a:solidFill>
                <a:latin typeface="Consolas"/>
              </a:rPr>
              <a:t> </a:t>
            </a:r>
            <a:r>
              <a:rPr sz="1200" i="0">
                <a:solidFill>
                  <a:srgbClr val="C39BD3"/>
                </a:solidFill>
                <a:latin typeface="Consolas"/>
              </a:rPr>
              <a:t>set</a:t>
            </a:r>
            <a:r>
              <a:rPr sz="1200" i="0">
                <a:solidFill>
                  <a:srgbClr val="AEB6BF"/>
                </a:solidFill>
                <a:latin typeface="Consolas"/>
              </a:rPr>
              <a:t>(</a:t>
            </a:r>
            <a:r>
              <a:rPr sz="1200" i="0">
                <a:solidFill>
                  <a:srgbClr val="E8EDF2"/>
                </a:solidFill>
                <a:latin typeface="Consolas"/>
              </a:rPr>
              <a:t>level</a:t>
            </a:r>
            <a:r>
              <a:rPr sz="1200" i="0">
                <a:solidFill>
                  <a:srgbClr val="AEB6BF"/>
                </a:solidFill>
                <a:latin typeface="Consolas"/>
              </a:rPr>
              <a:t>)</a:t>
            </a:r>
          </a:p>
          <a:p>
            <a:pPr>
              <a:lnSpc>
                <a:spcPct val="100000"/>
              </a:lnSpc>
              <a:spcAft>
                <a:spcPts val="0"/>
              </a:spcAft>
            </a:pPr>
            <a:r>
              <a:rPr sz="1200" i="0">
                <a:solidFill>
                  <a:srgbClr val="E8EDF2"/>
                </a:solidFill>
                <a:latin typeface="Consolas"/>
              </a:rPr>
              <a:t>        </a:t>
            </a:r>
            <a:r>
              <a:rPr sz="1200" i="0">
                <a:solidFill>
                  <a:srgbClr val="E8EDF2"/>
                </a:solidFill>
                <a:latin typeface="Consolas"/>
              </a:rPr>
              <a:t>nxt</a:t>
            </a:r>
            <a:r>
              <a:rPr sz="1200" i="0">
                <a:solidFill>
                  <a:srgbClr val="E8EDF2"/>
                </a:solidFill>
                <a:latin typeface="Consolas"/>
              </a:rPr>
              <a:t> </a:t>
            </a:r>
            <a:r>
              <a:rPr sz="1200" i="0">
                <a:solidFill>
                  <a:srgbClr val="AEB6BF"/>
                </a:solidFill>
                <a:latin typeface="Consolas"/>
              </a:rPr>
              <a:t>=</a:t>
            </a:r>
            <a:r>
              <a:rPr sz="1200" i="0">
                <a:solidFill>
                  <a:srgbClr val="E8EDF2"/>
                </a:solidFill>
                <a:latin typeface="Consolas"/>
              </a:rPr>
              <a:t> </a:t>
            </a:r>
            <a:r>
              <a:rPr sz="1200" i="0">
                <a:solidFill>
                  <a:srgbClr val="AEB6BF"/>
                </a:solidFill>
                <a:latin typeface="Consolas"/>
              </a:rPr>
              <a:t>[</a:t>
            </a:r>
            <a:r>
              <a:rPr sz="1200" i="0">
                <a:solidFill>
                  <a:srgbClr val="AEB6BF"/>
                </a:solidFill>
                <a:latin typeface="Consolas"/>
              </a:rPr>
              <a:t>]</a:t>
            </a:r>
          </a:p>
          <a:p>
            <a:pPr>
              <a:lnSpc>
                <a:spcPct val="100000"/>
              </a:lnSpc>
              <a:spcAft>
                <a:spcPts val="0"/>
              </a:spcAft>
            </a:pPr>
            <a:r>
              <a:rPr sz="1200" i="0">
                <a:solidFill>
                  <a:srgbClr val="E8EDF2"/>
                </a:solidFill>
                <a:latin typeface="Consolas"/>
              </a:rPr>
              <a:t>        </a:t>
            </a:r>
            <a:r>
              <a:rPr sz="1200" i="0">
                <a:solidFill>
                  <a:srgbClr val="5DADE2"/>
                </a:solidFill>
                <a:latin typeface="Consolas"/>
              </a:rPr>
              <a:t>for</a:t>
            </a:r>
            <a:r>
              <a:rPr sz="1200" i="0">
                <a:solidFill>
                  <a:srgbClr val="E8EDF2"/>
                </a:solidFill>
                <a:latin typeface="Consolas"/>
              </a:rPr>
              <a:t> </a:t>
            </a:r>
            <a:r>
              <a:rPr sz="1200" i="0">
                <a:solidFill>
                  <a:srgbClr val="E8EDF2"/>
                </a:solidFill>
                <a:latin typeface="Consolas"/>
              </a:rPr>
              <a:t>f</a:t>
            </a:r>
            <a:r>
              <a:rPr sz="1200" i="0">
                <a:solidFill>
                  <a:srgbClr val="E8EDF2"/>
                </a:solidFill>
                <a:latin typeface="Consolas"/>
              </a:rPr>
              <a:t> </a:t>
            </a:r>
            <a:r>
              <a:rPr sz="1200" i="0">
                <a:solidFill>
                  <a:srgbClr val="AEB6BF"/>
                </a:solidFill>
                <a:latin typeface="Consolas"/>
              </a:rPr>
              <a:t>in</a:t>
            </a:r>
            <a:r>
              <a:rPr sz="1200" i="0">
                <a:solidFill>
                  <a:srgbClr val="E8EDF2"/>
                </a:solidFill>
                <a:latin typeface="Consolas"/>
              </a:rPr>
              <a:t> </a:t>
            </a:r>
            <a:r>
              <a:rPr sz="1200" i="0">
                <a:solidFill>
                  <a:srgbClr val="E8EDF2"/>
                </a:solidFill>
                <a:latin typeface="Consolas"/>
              </a:rPr>
              <a:t>level</a:t>
            </a:r>
            <a:r>
              <a:rPr sz="1200" i="0">
                <a:solidFill>
                  <a:srgbClr val="AEB6BF"/>
                </a:solidFill>
                <a:latin typeface="Consolas"/>
              </a:rPr>
              <a:t>:</a:t>
            </a:r>
          </a:p>
          <a:p>
            <a:pPr>
              <a:lnSpc>
                <a:spcPct val="100000"/>
              </a:lnSpc>
              <a:spcAft>
                <a:spcPts val="0"/>
              </a:spcAft>
            </a:pPr>
            <a:r>
              <a:rPr sz="1200" i="0">
                <a:solidFill>
                  <a:srgbClr val="E8EDF2"/>
                </a:solidFill>
                <a:latin typeface="Consolas"/>
              </a:rPr>
              <a:t>            </a:t>
            </a:r>
            <a:r>
              <a:rPr sz="1200" i="0">
                <a:solidFill>
                  <a:srgbClr val="E8EDF2"/>
                </a:solidFill>
                <a:latin typeface="Consolas"/>
              </a:rPr>
              <a:t>nxt</a:t>
            </a:r>
            <a:r>
              <a:rPr sz="1200" i="0">
                <a:solidFill>
                  <a:srgbClr val="E8EDF2"/>
                </a:solidFill>
                <a:latin typeface="Consolas"/>
              </a:rPr>
              <a:t> </a:t>
            </a:r>
            <a:r>
              <a:rPr sz="1200" i="0">
                <a:solidFill>
                  <a:srgbClr val="AEB6BF"/>
                </a:solidFill>
                <a:latin typeface="Consolas"/>
              </a:rPr>
              <a:t>+</a:t>
            </a:r>
            <a:r>
              <a:rPr sz="1200" i="0">
                <a:solidFill>
                  <a:srgbClr val="AEB6BF"/>
                </a:solidFill>
                <a:latin typeface="Consolas"/>
              </a:rPr>
              <a:t>=</a:t>
            </a:r>
            <a:r>
              <a:rPr sz="1200" i="0">
                <a:solidFill>
                  <a:srgbClr val="E8EDF2"/>
                </a:solidFill>
                <a:latin typeface="Consolas"/>
              </a:rPr>
              <a:t> </a:t>
            </a:r>
            <a:r>
              <a:rPr sz="1200" i="0">
                <a:solidFill>
                  <a:srgbClr val="E8EDF2"/>
                </a:solidFill>
                <a:latin typeface="Consolas"/>
              </a:rPr>
              <a:t>parents</a:t>
            </a:r>
            <a:r>
              <a:rPr sz="1200" i="0">
                <a:solidFill>
                  <a:srgbClr val="AEB6BF"/>
                </a:solidFill>
                <a:latin typeface="Consolas"/>
              </a:rPr>
              <a:t>(</a:t>
            </a:r>
            <a:r>
              <a:rPr sz="1200" i="0">
                <a:solidFill>
                  <a:srgbClr val="E8EDF2"/>
                </a:solidFill>
                <a:latin typeface="Consolas"/>
              </a:rPr>
              <a:t>f</a:t>
            </a:r>
            <a:r>
              <a:rPr sz="1200" i="0">
                <a:solidFill>
                  <a:srgbClr val="AEB6BF"/>
                </a:solidFill>
                <a:latin typeface="Consolas"/>
              </a:rPr>
              <a:t>)</a:t>
            </a:r>
          </a:p>
          <a:p>
            <a:pPr>
              <a:lnSpc>
                <a:spcPct val="100000"/>
              </a:lnSpc>
              <a:spcAft>
                <a:spcPts val="0"/>
              </a:spcAft>
            </a:pPr>
            <a:r>
              <a:rPr sz="1200" i="0">
                <a:solidFill>
                  <a:srgbClr val="E8EDF2"/>
                </a:solidFill>
                <a:latin typeface="Consolas"/>
              </a:rPr>
              <a:t>        </a:t>
            </a:r>
            <a:r>
              <a:rPr sz="1200" i="0">
                <a:solidFill>
                  <a:srgbClr val="E8EDF2"/>
                </a:solidFill>
                <a:latin typeface="Consolas"/>
              </a:rPr>
              <a:t>level</a:t>
            </a:r>
            <a:r>
              <a:rPr sz="1200" i="0">
                <a:solidFill>
                  <a:srgbClr val="E8EDF2"/>
                </a:solidFill>
                <a:latin typeface="Consolas"/>
              </a:rPr>
              <a:t> </a:t>
            </a:r>
            <a:r>
              <a:rPr sz="1200" i="0">
                <a:solidFill>
                  <a:srgbClr val="AEB6BF"/>
                </a:solidFill>
                <a:latin typeface="Consolas"/>
              </a:rPr>
              <a:t>=</a:t>
            </a:r>
            <a:r>
              <a:rPr sz="1200" i="0">
                <a:solidFill>
                  <a:srgbClr val="E8EDF2"/>
                </a:solidFill>
                <a:latin typeface="Consolas"/>
              </a:rPr>
              <a:t> </a:t>
            </a:r>
            <a:r>
              <a:rPr sz="1200" i="0">
                <a:solidFill>
                  <a:srgbClr val="AEB6BF"/>
                </a:solidFill>
                <a:latin typeface="Consolas"/>
              </a:rPr>
              <a:t>[</a:t>
            </a:r>
            <a:r>
              <a:rPr sz="1200" i="0">
                <a:solidFill>
                  <a:srgbClr val="E8EDF2"/>
                </a:solidFill>
                <a:latin typeface="Consolas"/>
              </a:rPr>
              <a:t>f</a:t>
            </a:r>
            <a:r>
              <a:rPr sz="1200" i="0">
                <a:solidFill>
                  <a:srgbClr val="E8EDF2"/>
                </a:solidFill>
                <a:latin typeface="Consolas"/>
              </a:rPr>
              <a:t> </a:t>
            </a:r>
            <a:r>
              <a:rPr sz="1200" i="0">
                <a:solidFill>
                  <a:srgbClr val="5DADE2"/>
                </a:solidFill>
                <a:latin typeface="Consolas"/>
              </a:rPr>
              <a:t>for</a:t>
            </a:r>
            <a:r>
              <a:rPr sz="1200" i="0">
                <a:solidFill>
                  <a:srgbClr val="E8EDF2"/>
                </a:solidFill>
                <a:latin typeface="Consolas"/>
              </a:rPr>
              <a:t> </a:t>
            </a:r>
            <a:r>
              <a:rPr sz="1200" i="0">
                <a:solidFill>
                  <a:srgbClr val="E8EDF2"/>
                </a:solidFill>
                <a:latin typeface="Consolas"/>
              </a:rPr>
              <a:t>f</a:t>
            </a:r>
            <a:r>
              <a:rPr sz="1200" i="0">
                <a:solidFill>
                  <a:srgbClr val="E8EDF2"/>
                </a:solidFill>
                <a:latin typeface="Consolas"/>
              </a:rPr>
              <a:t> </a:t>
            </a:r>
            <a:r>
              <a:rPr sz="1200" i="0">
                <a:solidFill>
                  <a:srgbClr val="AEB6BF"/>
                </a:solidFill>
                <a:latin typeface="Consolas"/>
              </a:rPr>
              <a:t>in</a:t>
            </a:r>
            <a:r>
              <a:rPr sz="1200" i="0">
                <a:solidFill>
                  <a:srgbClr val="E8EDF2"/>
                </a:solidFill>
                <a:latin typeface="Consolas"/>
              </a:rPr>
              <a:t> </a:t>
            </a:r>
            <a:r>
              <a:rPr sz="1200" i="0">
                <a:solidFill>
                  <a:srgbClr val="E8EDF2"/>
                </a:solidFill>
                <a:latin typeface="Consolas"/>
              </a:rPr>
              <a:t>nxt</a:t>
            </a:r>
            <a:r>
              <a:rPr sz="1200" i="0">
                <a:solidFill>
                  <a:srgbClr val="E8EDF2"/>
                </a:solidFill>
                <a:latin typeface="Consolas"/>
              </a:rPr>
              <a:t> </a:t>
            </a:r>
            <a:r>
              <a:rPr sz="1200" i="0">
                <a:solidFill>
                  <a:srgbClr val="5DADE2"/>
                </a:solidFill>
                <a:latin typeface="Consolas"/>
              </a:rPr>
              <a:t>if</a:t>
            </a:r>
            <a:r>
              <a:rPr sz="1200" i="0">
                <a:solidFill>
                  <a:srgbClr val="E8EDF2"/>
                </a:solidFill>
                <a:latin typeface="Consolas"/>
              </a:rPr>
              <a:t> </a:t>
            </a:r>
            <a:r>
              <a:rPr sz="1200" i="0">
                <a:solidFill>
                  <a:srgbClr val="E8EDF2"/>
                </a:solidFill>
                <a:latin typeface="Consolas"/>
              </a:rPr>
              <a:t>f</a:t>
            </a:r>
            <a:r>
              <a:rPr sz="1200" i="0">
                <a:solidFill>
                  <a:srgbClr val="E8EDF2"/>
                </a:solidFill>
                <a:latin typeface="Consolas"/>
              </a:rPr>
              <a:t> </a:t>
            </a:r>
            <a:r>
              <a:rPr sz="1200" i="0">
                <a:solidFill>
                  <a:srgbClr val="AEB6BF"/>
                </a:solidFill>
                <a:latin typeface="Consolas"/>
              </a:rPr>
              <a:t>not</a:t>
            </a:r>
            <a:r>
              <a:rPr sz="1200" i="0">
                <a:solidFill>
                  <a:srgbClr val="E8EDF2"/>
                </a:solidFill>
                <a:latin typeface="Consolas"/>
              </a:rPr>
              <a:t> </a:t>
            </a:r>
            <a:r>
              <a:rPr sz="1200" i="0">
                <a:solidFill>
                  <a:srgbClr val="AEB6BF"/>
                </a:solidFill>
                <a:latin typeface="Consolas"/>
              </a:rPr>
              <a:t>in</a:t>
            </a:r>
            <a:r>
              <a:rPr sz="1200" i="0">
                <a:solidFill>
                  <a:srgbClr val="E8EDF2"/>
                </a:solidFill>
                <a:latin typeface="Consolas"/>
              </a:rPr>
              <a:t> </a:t>
            </a:r>
            <a:r>
              <a:rPr sz="1200" i="0">
                <a:solidFill>
                  <a:srgbClr val="E8EDF2"/>
                </a:solidFill>
                <a:latin typeface="Consolas"/>
              </a:rPr>
              <a:t>seen</a:t>
            </a:r>
            <a:r>
              <a:rPr sz="1200" i="0">
                <a:solidFill>
                  <a:srgbClr val="AEB6BF"/>
                </a:solidFill>
                <a:latin typeface="Consolas"/>
              </a:rPr>
              <a:t>]</a:t>
            </a:r>
          </a:p>
          <a:p>
            <a:pPr>
              <a:lnSpc>
                <a:spcPct val="100000"/>
              </a:lnSpc>
              <a:spcAft>
                <a:spcPts val="0"/>
              </a:spcAft>
            </a:pPr>
            <a:r>
              <a:rPr sz="1200" i="0">
                <a:solidFill>
                  <a:srgbClr val="E8EDF2"/>
                </a:solidFill>
                <a:latin typeface="Consolas"/>
              </a:rPr>
              <a:t>        </a:t>
            </a:r>
            <a:r>
              <a:rPr sz="1200" i="0">
                <a:solidFill>
                  <a:srgbClr val="E8EDF2"/>
                </a:solidFill>
                <a:latin typeface="Consolas"/>
              </a:rPr>
              <a:t>distance</a:t>
            </a:r>
            <a:r>
              <a:rPr sz="1200" i="0">
                <a:solidFill>
                  <a:srgbClr val="E8EDF2"/>
                </a:solidFill>
                <a:latin typeface="Consolas"/>
              </a:rPr>
              <a:t> </a:t>
            </a:r>
            <a:r>
              <a:rPr sz="1200" i="0">
                <a:solidFill>
                  <a:srgbClr val="AEB6BF"/>
                </a:solidFill>
                <a:latin typeface="Consolas"/>
              </a:rPr>
              <a:t>+</a:t>
            </a:r>
            <a:r>
              <a:rPr sz="1200" i="0">
                <a:solidFill>
                  <a:srgbClr val="AEB6BF"/>
                </a:solidFill>
                <a:latin typeface="Consolas"/>
              </a:rPr>
              <a:t>=</a:t>
            </a:r>
            <a:r>
              <a:rPr sz="1200" i="0">
                <a:solidFill>
                  <a:srgbClr val="E8EDF2"/>
                </a:solidFill>
                <a:latin typeface="Consolas"/>
              </a:rPr>
              <a:t> </a:t>
            </a:r>
            <a:r>
              <a:rPr sz="1200" i="0">
                <a:solidFill>
                  <a:srgbClr val="F7DC6F"/>
                </a:solidFill>
                <a:latin typeface="Consolas"/>
              </a:rPr>
              <a:t>1</a:t>
            </a:r>
          </a:p>
          <a:p>
            <a:pPr>
              <a:lnSpc>
                <a:spcPct val="100000"/>
              </a:lnSpc>
              <a:spcAft>
                <a:spcPts val="0"/>
              </a:spcAft>
            </a:pPr>
            <a:r>
              <a:rPr sz="1200" i="0">
                <a:solidFill>
                  <a:srgbClr val="E8EDF2"/>
                </a:solidFill>
                <a:latin typeface="Consolas"/>
              </a:rPr>
              <a:t>    </a:t>
            </a:r>
            <a:r>
              <a:rPr sz="1200" i="0">
                <a:solidFill>
                  <a:srgbClr val="5DADE2"/>
                </a:solidFill>
                <a:latin typeface="Consolas"/>
              </a:rPr>
              <a:t>return</a:t>
            </a:r>
            <a:r>
              <a:rPr sz="1200" i="0">
                <a:solidFill>
                  <a:srgbClr val="E8EDF2"/>
                </a:solidFill>
                <a:latin typeface="Consolas"/>
              </a:rPr>
              <a:t> </a:t>
            </a:r>
            <a:r>
              <a:rPr sz="1200" i="0">
                <a:solidFill>
                  <a:srgbClr val="5DADE2"/>
                </a:solidFill>
                <a:latin typeface="Consolas"/>
              </a:rPr>
              <a:t>None</a:t>
            </a:r>
            <a:r>
              <a:rPr sz="1200" i="0">
                <a:solidFill>
                  <a:srgbClr val="AEB6BF"/>
                </a:solidFill>
                <a:latin typeface="Consolas"/>
              </a:rPr>
              <a:t>,</a:t>
            </a:r>
            <a:r>
              <a:rPr sz="1200" i="0">
                <a:solidFill>
                  <a:srgbClr val="E8EDF2"/>
                </a:solidFill>
                <a:latin typeface="Consolas"/>
              </a:rPr>
              <a:t> </a:t>
            </a:r>
            <a:r>
              <a:rPr sz="1200" i="0">
                <a:solidFill>
                  <a:srgbClr val="5DADE2"/>
                </a:solidFill>
                <a:latin typeface="Consolas"/>
              </a:rPr>
              <a:t>None</a:t>
            </a:r>
          </a:p>
        </p:txBody>
      </p:sp>
      <p:sp>
        <p:nvSpPr>
          <p:cNvPr id="15" name="!!code-num"/>
          <p:cNvSpPr txBox="1"/>
          <p:nvPr/>
        </p:nvSpPr>
        <p:spPr>
          <a:xfrm>
            <a:off x="768096" y="2523744"/>
            <a:ext cx="393192" cy="3584447"/>
          </a:xfrm>
          <a:prstGeom prst="rect">
            <a:avLst/>
          </a:prstGeom>
          <a:noFill/>
        </p:spPr>
        <p:txBody>
          <a:bodyPr wrap="none" anchor="t" lIns="0" rIns="0" tIns="0" bIns="0">
            <a:noAutofit/>
          </a:bodyPr>
          <a:lstStyle/>
          <a:p>
            <a:pPr algn="r">
              <a:lnSpc>
                <a:spcPct val="100000"/>
              </a:lnSpc>
            </a:pPr>
            <a:r>
              <a:rPr sz="1200">
                <a:solidFill>
                  <a:srgbClr val="4F5D6A"/>
                </a:solidFill>
                <a:latin typeface="Consolas"/>
              </a:rPr>
              <a:t>73</a:t>
            </a:r>
          </a:p>
          <a:p>
            <a:pPr algn="r">
              <a:lnSpc>
                <a:spcPct val="100000"/>
              </a:lnSpc>
            </a:pPr>
            <a:r>
              <a:rPr sz="1200">
                <a:solidFill>
                  <a:srgbClr val="4F5D6A"/>
                </a:solidFill>
                <a:latin typeface="Consolas"/>
              </a:rPr>
              <a:t>74</a:t>
            </a:r>
          </a:p>
          <a:p>
            <a:pPr algn="r">
              <a:lnSpc>
                <a:spcPct val="100000"/>
              </a:lnSpc>
            </a:pPr>
            <a:r>
              <a:rPr sz="1200">
                <a:solidFill>
                  <a:srgbClr val="4F5D6A"/>
                </a:solidFill>
                <a:latin typeface="Consolas"/>
              </a:rPr>
              <a:t>75</a:t>
            </a:r>
          </a:p>
          <a:p>
            <a:pPr algn="r">
              <a:lnSpc>
                <a:spcPct val="100000"/>
              </a:lnSpc>
            </a:pPr>
            <a:r>
              <a:rPr sz="1200">
                <a:solidFill>
                  <a:srgbClr val="4F5D6A"/>
                </a:solidFill>
                <a:latin typeface="Consolas"/>
              </a:rPr>
              <a:t>76</a:t>
            </a:r>
          </a:p>
          <a:p>
            <a:pPr algn="r">
              <a:lnSpc>
                <a:spcPct val="100000"/>
              </a:lnSpc>
            </a:pPr>
            <a:r>
              <a:rPr sz="1200">
                <a:solidFill>
                  <a:srgbClr val="4F5D6A"/>
                </a:solidFill>
                <a:latin typeface="Consolas"/>
              </a:rPr>
              <a:t>77</a:t>
            </a:r>
          </a:p>
          <a:p>
            <a:pPr algn="r">
              <a:lnSpc>
                <a:spcPct val="100000"/>
              </a:lnSpc>
            </a:pPr>
            <a:r>
              <a:rPr sz="1200">
                <a:solidFill>
                  <a:srgbClr val="4F5D6A"/>
                </a:solidFill>
                <a:latin typeface="Consolas"/>
              </a:rPr>
              <a:t>78</a:t>
            </a:r>
          </a:p>
          <a:p>
            <a:pPr algn="r">
              <a:lnSpc>
                <a:spcPct val="100000"/>
              </a:lnSpc>
            </a:pPr>
            <a:r>
              <a:rPr sz="1200">
                <a:solidFill>
                  <a:srgbClr val="4F5D6A"/>
                </a:solidFill>
                <a:latin typeface="Consolas"/>
              </a:rPr>
              <a:t>79</a:t>
            </a:r>
          </a:p>
          <a:p>
            <a:pPr algn="r">
              <a:lnSpc>
                <a:spcPct val="100000"/>
              </a:lnSpc>
            </a:pPr>
            <a:r>
              <a:rPr sz="1200">
                <a:solidFill>
                  <a:srgbClr val="4F5D6A"/>
                </a:solidFill>
                <a:latin typeface="Consolas"/>
              </a:rPr>
              <a:t>80</a:t>
            </a:r>
          </a:p>
          <a:p>
            <a:pPr algn="r">
              <a:lnSpc>
                <a:spcPct val="100000"/>
              </a:lnSpc>
            </a:pPr>
            <a:r>
              <a:rPr sz="1200">
                <a:solidFill>
                  <a:srgbClr val="4F5D6A"/>
                </a:solidFill>
                <a:latin typeface="Consolas"/>
              </a:rPr>
              <a:t>81</a:t>
            </a:r>
          </a:p>
          <a:p>
            <a:pPr algn="r">
              <a:lnSpc>
                <a:spcPct val="100000"/>
              </a:lnSpc>
            </a:pPr>
            <a:r>
              <a:rPr sz="1200">
                <a:solidFill>
                  <a:srgbClr val="4F5D6A"/>
                </a:solidFill>
                <a:latin typeface="Consolas"/>
              </a:rPr>
              <a:t>82</a:t>
            </a:r>
          </a:p>
          <a:p>
            <a:pPr algn="r">
              <a:lnSpc>
                <a:spcPct val="100000"/>
              </a:lnSpc>
            </a:pPr>
            <a:r>
              <a:rPr sz="1200">
                <a:solidFill>
                  <a:srgbClr val="4F5D6A"/>
                </a:solidFill>
                <a:latin typeface="Consolas"/>
              </a:rPr>
              <a:t>83</a:t>
            </a:r>
          </a:p>
          <a:p>
            <a:pPr algn="r">
              <a:lnSpc>
                <a:spcPct val="100000"/>
              </a:lnSpc>
            </a:pPr>
            <a:r>
              <a:rPr sz="1200">
                <a:solidFill>
                  <a:srgbClr val="4F5D6A"/>
                </a:solidFill>
                <a:latin typeface="Consolas"/>
              </a:rPr>
              <a:t>84</a:t>
            </a:r>
          </a:p>
          <a:p>
            <a:pPr algn="r">
              <a:lnSpc>
                <a:spcPct val="100000"/>
              </a:lnSpc>
            </a:pPr>
            <a:r>
              <a:rPr sz="1200">
                <a:solidFill>
                  <a:srgbClr val="4F5D6A"/>
                </a:solidFill>
                <a:latin typeface="Consolas"/>
              </a:rPr>
              <a:t>85</a:t>
            </a:r>
          </a:p>
          <a:p>
            <a:pPr algn="r">
              <a:lnSpc>
                <a:spcPct val="100000"/>
              </a:lnSpc>
            </a:pPr>
            <a:r>
              <a:rPr sz="1200">
                <a:solidFill>
                  <a:srgbClr val="4F5D6A"/>
                </a:solidFill>
                <a:latin typeface="Consolas"/>
              </a:rPr>
              <a:t>86</a:t>
            </a:r>
          </a:p>
          <a:p>
            <a:pPr algn="r">
              <a:lnSpc>
                <a:spcPct val="100000"/>
              </a:lnSpc>
            </a:pPr>
            <a:r>
              <a:rPr sz="1200">
                <a:solidFill>
                  <a:srgbClr val="4F5D6A"/>
                </a:solidFill>
                <a:latin typeface="Consolas"/>
              </a:rPr>
              <a:t>87</a:t>
            </a:r>
          </a:p>
          <a:p>
            <a:pPr algn="r">
              <a:lnSpc>
                <a:spcPct val="100000"/>
              </a:lnSpc>
            </a:pPr>
            <a:r>
              <a:rPr sz="1200">
                <a:solidFill>
                  <a:srgbClr val="4F5D6A"/>
                </a:solidFill>
                <a:latin typeface="Consolas"/>
              </a:rPr>
              <a:t>88</a:t>
            </a:r>
          </a:p>
          <a:p>
            <a:pPr algn="r">
              <a:lnSpc>
                <a:spcPct val="100000"/>
              </a:lnSpc>
            </a:pPr>
            <a:r>
              <a:rPr sz="1200">
                <a:solidFill>
                  <a:srgbClr val="4F5D6A"/>
                </a:solidFill>
                <a:latin typeface="Consolas"/>
              </a:rPr>
              <a:t>89</a:t>
            </a:r>
          </a:p>
          <a:p>
            <a:pPr algn="r">
              <a:lnSpc>
                <a:spcPct val="100000"/>
              </a:lnSpc>
            </a:pPr>
            <a:r>
              <a:rPr sz="1200">
                <a:solidFill>
                  <a:srgbClr val="4F5D6A"/>
                </a:solidFill>
                <a:latin typeface="Consolas"/>
              </a:rPr>
              <a:t>90</a:t>
            </a:r>
          </a:p>
          <a:p>
            <a:pPr algn="r">
              <a:lnSpc>
                <a:spcPct val="100000"/>
              </a:lnSpc>
            </a:pPr>
            <a:r>
              <a:rPr sz="1200">
                <a:solidFill>
                  <a:srgbClr val="4F5D6A"/>
                </a:solidFill>
                <a:latin typeface="Consolas"/>
              </a:rPr>
              <a:t>91</a:t>
            </a:r>
          </a:p>
        </p:txBody>
      </p:sp>
      <p:sp>
        <p:nvSpPr>
          <p:cNvPr id="16"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7" name="!!pfill">
            <a:extLst>
              <a:ext uri="{C183D7F6-B498-43B3-948B-1728B52AA6E4}">
                <adec:decorative xmlns:adec="http://schemas.microsoft.com/office/drawing/2017/decorative" val="1"/>
              </a:ext>
            </a:extLst>
          </p:cNvPr>
          <p:cNvSpPr/>
          <p:nvPr/>
        </p:nvSpPr>
        <p:spPr>
          <a:xfrm>
            <a:off x="0" y="0"/>
            <a:ext cx="6804667" cy="54864"/>
          </a:xfrm>
          <a:prstGeom prst="rect">
            <a:avLst/>
          </a:prstGeom>
          <a:solidFill>
            <a:srgbClr val="8E44A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xmlns:p159="http://schemas.microsoft.com/office/powerpoint/2015/09/main" Requires="p159">
      <p:transition spd="slow" p14:dur="600">
        <p159:morph option="byObject"/>
      </p:transition>
    </mc:Choice>
    <mc:Fallback>
      <p:transition spd="med">
        <p:fade/>
      </p:transition>
    </mc:Fallback>
  </mc:AlternateContent>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2600" b="0">
                <a:solidFill>
                  <a:srgbClr val="1A5276"/>
                </a:solidFill>
                <a:latin typeface="Segoe UI Semibold"/>
              </a:rPr>
              <a:t>A Semantic Network That Answers Queries</a:t>
            </a:r>
          </a:p>
        </p:txBody>
      </p:sp>
      <p:pic>
        <p:nvPicPr>
          <p:cNvPr id="3" name="!!kicker-icon" descr="flask-117A65.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192583"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117A65"/>
                </a:solidFill>
                <a:latin typeface="Segoe UI"/>
              </a:rPr>
              <a:t>LAB  ·  STEP 8 OF 11</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Artificial Intelligence  ·  Chapter 10  ·  Knowledge Representation</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§10.6  ·  Handout p. 104     </a:t>
            </a:r>
            <a:fld id="{3631925C-5645-4889-AFC5-4B1FCA082460}" type="slidenum">
              <a:rPr lang="en-GB" sz="1000">
                <a:solidFill>
                  <a:srgbClr val="8795A1"/>
                </a:solidFill>
                <a:latin typeface="Segoe UI"/>
              </a:rPr>
              <a:t>25</a:t>
            </a:fld>
          </a:p>
        </p:txBody>
      </p:sp>
      <p:sp>
        <p:nvSpPr>
          <p:cNvPr id="7" name="!!codehead"/>
          <p:cNvSpPr txBox="1"/>
          <p:nvPr/>
        </p:nvSpPr>
        <p:spPr>
          <a:xfrm>
            <a:off x="658368" y="1627631"/>
            <a:ext cx="10874959" cy="329184"/>
          </a:xfrm>
          <a:prstGeom prst="rect">
            <a:avLst/>
          </a:prstGeom>
          <a:noFill/>
        </p:spPr>
        <p:txBody>
          <a:bodyPr wrap="square" anchor="t" lIns="0" rIns="0" tIns="0" bIns="0">
            <a:noAutofit/>
          </a:bodyPr>
          <a:lstStyle/>
          <a:p>
            <a:pPr algn="l">
              <a:lnSpc>
                <a:spcPct val="100000"/>
              </a:lnSpc>
              <a:spcBef>
                <a:spcPts val="0"/>
              </a:spcBef>
              <a:spcAft>
                <a:spcPts val="0"/>
              </a:spcAft>
            </a:pPr>
            <a:r>
              <a:rPr sz="1900" b="1" i="0">
                <a:solidFill>
                  <a:srgbClr val="0E6655"/>
                </a:solidFill>
                <a:latin typeface="Segoe UI Semibold"/>
              </a:rPr>
              <a:t>Set-up (continued)</a:t>
            </a:r>
          </a:p>
        </p:txBody>
      </p:sp>
      <p:sp>
        <p:nvSpPr>
          <p:cNvPr id="8" name="!!code-bg">
            <a:extLst>
              <a:ext uri="{C183D7F6-B498-43B3-948B-1728B52AA6E4}">
                <adec:decorative xmlns:adec="http://schemas.microsoft.com/office/drawing/2017/decorative" val="1"/>
              </a:ext>
            </a:extLst>
          </p:cNvPr>
          <p:cNvSpPr/>
          <p:nvPr/>
        </p:nvSpPr>
        <p:spPr>
          <a:xfrm>
            <a:off x="658368" y="2084831"/>
            <a:ext cx="10874959" cy="1213104"/>
          </a:xfrm>
          <a:prstGeom prst="roundRect">
            <a:avLst>
              <a:gd name="adj" fmla="val 7537"/>
            </a:avLst>
          </a:prstGeom>
          <a:solidFill>
            <a:srgbClr val="1E283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9" name="!!code-sep">
            <a:extLst>
              <a:ext uri="{C183D7F6-B498-43B3-948B-1728B52AA6E4}">
                <adec:decorative xmlns:adec="http://schemas.microsoft.com/office/drawing/2017/decorative" val="1"/>
              </a:ext>
            </a:extLst>
          </p:cNvPr>
          <p:cNvSpPr/>
          <p:nvPr/>
        </p:nvSpPr>
        <p:spPr>
          <a:xfrm>
            <a:off x="676656" y="2404872"/>
            <a:ext cx="10838383" cy="10972"/>
          </a:xfrm>
          <a:prstGeom prst="rect">
            <a:avLst/>
          </a:prstGeom>
          <a:solidFill>
            <a:srgbClr val="28343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0" name="!!code-dot0">
            <a:extLst>
              <a:ext uri="{C183D7F6-B498-43B3-948B-1728B52AA6E4}">
                <adec:decorative xmlns:adec="http://schemas.microsoft.com/office/drawing/2017/decorative" val="1"/>
              </a:ext>
            </a:extLst>
          </p:cNvPr>
          <p:cNvSpPr/>
          <p:nvPr/>
        </p:nvSpPr>
        <p:spPr>
          <a:xfrm>
            <a:off x="859536" y="2199132"/>
            <a:ext cx="100584" cy="100584"/>
          </a:xfrm>
          <a:prstGeom prst="ellipse">
            <a:avLst/>
          </a:prstGeom>
          <a:solidFill>
            <a:srgbClr val="E74C3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1" name="!!code-dot1">
            <a:extLst>
              <a:ext uri="{C183D7F6-B498-43B3-948B-1728B52AA6E4}">
                <adec:decorative xmlns:adec="http://schemas.microsoft.com/office/drawing/2017/decorative" val="1"/>
              </a:ext>
            </a:extLst>
          </p:cNvPr>
          <p:cNvSpPr/>
          <p:nvPr/>
        </p:nvSpPr>
        <p:spPr>
          <a:xfrm>
            <a:off x="1042415" y="2199132"/>
            <a:ext cx="100584" cy="100584"/>
          </a:xfrm>
          <a:prstGeom prst="ellipse">
            <a:avLst/>
          </a:prstGeom>
          <a:solidFill>
            <a:srgbClr val="F4D03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2" name="!!code-dot2">
            <a:extLst>
              <a:ext uri="{C183D7F6-B498-43B3-948B-1728B52AA6E4}">
                <adec:decorative xmlns:adec="http://schemas.microsoft.com/office/drawing/2017/decorative" val="1"/>
              </a:ext>
            </a:extLst>
          </p:cNvPr>
          <p:cNvSpPr/>
          <p:nvPr/>
        </p:nvSpPr>
        <p:spPr>
          <a:xfrm>
            <a:off x="1225295" y="2199132"/>
            <a:ext cx="100584" cy="100584"/>
          </a:xfrm>
          <a:prstGeom prst="ellipse">
            <a:avLst/>
          </a:prstGeom>
          <a:solidFill>
            <a:srgbClr val="58D68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3" name="!!code-label"/>
          <p:cNvSpPr txBox="1"/>
          <p:nvPr/>
        </p:nvSpPr>
        <p:spPr>
          <a:xfrm>
            <a:off x="1527048" y="2148839"/>
            <a:ext cx="9777679" cy="219456"/>
          </a:xfrm>
          <a:prstGeom prst="rect">
            <a:avLst/>
          </a:prstGeom>
          <a:noFill/>
        </p:spPr>
        <p:txBody>
          <a:bodyPr wrap="square" anchor="t" lIns="0" rIns="0" tIns="0" bIns="0">
            <a:noAutofit/>
          </a:bodyPr>
          <a:lstStyle/>
          <a:p>
            <a:pPr algn="l">
              <a:lnSpc>
                <a:spcPct val="100000"/>
              </a:lnSpc>
              <a:spcBef>
                <a:spcPts val="0"/>
              </a:spcBef>
              <a:spcAft>
                <a:spcPts val="0"/>
              </a:spcAft>
            </a:pPr>
            <a:r>
              <a:rPr sz="1100" b="1" i="0">
                <a:solidFill>
                  <a:srgbClr val="9FB0BF"/>
                </a:solidFill>
                <a:latin typeface="Segoe UI"/>
              </a:rPr>
              <a:t>Python  ·  code/ch10_semantic_network_that.py</a:t>
            </a:r>
          </a:p>
        </p:txBody>
      </p:sp>
      <p:sp>
        <p:nvSpPr>
          <p:cNvPr id="14" name="!!code-text" descr="def isa_chain(frame): return [frame] + ancestors(frame)"/>
          <p:cNvSpPr txBox="1"/>
          <p:nvPr/>
        </p:nvSpPr>
        <p:spPr>
          <a:xfrm>
            <a:off x="1362456" y="2523744"/>
            <a:ext cx="9987991" cy="719328"/>
          </a:xfrm>
          <a:prstGeom prst="rect">
            <a:avLst/>
          </a:prstGeom>
          <a:noFill/>
        </p:spPr>
        <p:txBody>
          <a:bodyPr wrap="none" anchor="t" lIns="0" rIns="0" tIns="0" bIns="0">
            <a:noAutofit/>
          </a:bodyPr>
          <a:lstStyle/>
          <a:p>
            <a:pPr>
              <a:lnSpc>
                <a:spcPct val="100000"/>
              </a:lnSpc>
              <a:spcAft>
                <a:spcPts val="0"/>
              </a:spcAft>
            </a:pPr>
            <a:r>
              <a:rPr sz="2000" i="0">
                <a:solidFill>
                  <a:srgbClr val="5DADE2"/>
                </a:solidFill>
                <a:latin typeface="Consolas"/>
              </a:rPr>
              <a:t>def</a:t>
            </a:r>
            <a:r>
              <a:rPr sz="2000" i="0">
                <a:solidFill>
                  <a:srgbClr val="E8EDF2"/>
                </a:solidFill>
                <a:latin typeface="Consolas"/>
              </a:rPr>
              <a:t> </a:t>
            </a:r>
            <a:r>
              <a:rPr sz="2000" i="0">
                <a:solidFill>
                  <a:srgbClr val="C39BD3"/>
                </a:solidFill>
                <a:latin typeface="Consolas"/>
              </a:rPr>
              <a:t>isa_chain</a:t>
            </a:r>
            <a:r>
              <a:rPr sz="2000" i="0">
                <a:solidFill>
                  <a:srgbClr val="AEB6BF"/>
                </a:solidFill>
                <a:latin typeface="Consolas"/>
              </a:rPr>
              <a:t>(</a:t>
            </a:r>
            <a:r>
              <a:rPr sz="2000" i="0">
                <a:solidFill>
                  <a:srgbClr val="E8EDF2"/>
                </a:solidFill>
                <a:latin typeface="Consolas"/>
              </a:rPr>
              <a:t>frame</a:t>
            </a:r>
            <a:r>
              <a:rPr sz="2000" i="0">
                <a:solidFill>
                  <a:srgbClr val="AEB6BF"/>
                </a:solidFill>
                <a:latin typeface="Consolas"/>
              </a:rPr>
              <a:t>)</a:t>
            </a:r>
            <a:r>
              <a:rPr sz="2000" i="0">
                <a:solidFill>
                  <a:srgbClr val="AEB6BF"/>
                </a:solidFill>
                <a:latin typeface="Consolas"/>
              </a:rPr>
              <a:t>:</a:t>
            </a:r>
          </a:p>
          <a:p>
            <a:pPr>
              <a:lnSpc>
                <a:spcPct val="100000"/>
              </a:lnSpc>
              <a:spcAft>
                <a:spcPts val="0"/>
              </a:spcAft>
            </a:pPr>
            <a:r>
              <a:rPr sz="2000" i="0">
                <a:solidFill>
                  <a:srgbClr val="E8EDF2"/>
                </a:solidFill>
                <a:latin typeface="Consolas"/>
              </a:rPr>
              <a:t>    </a:t>
            </a:r>
            <a:r>
              <a:rPr sz="2000" i="0">
                <a:solidFill>
                  <a:srgbClr val="5DADE2"/>
                </a:solidFill>
                <a:latin typeface="Consolas"/>
              </a:rPr>
              <a:t>return</a:t>
            </a:r>
            <a:r>
              <a:rPr sz="2000" i="0">
                <a:solidFill>
                  <a:srgbClr val="E8EDF2"/>
                </a:solidFill>
                <a:latin typeface="Consolas"/>
              </a:rPr>
              <a:t> </a:t>
            </a:r>
            <a:r>
              <a:rPr sz="2000" i="0">
                <a:solidFill>
                  <a:srgbClr val="AEB6BF"/>
                </a:solidFill>
                <a:latin typeface="Consolas"/>
              </a:rPr>
              <a:t>[</a:t>
            </a:r>
            <a:r>
              <a:rPr sz="2000" i="0">
                <a:solidFill>
                  <a:srgbClr val="E8EDF2"/>
                </a:solidFill>
                <a:latin typeface="Consolas"/>
              </a:rPr>
              <a:t>frame</a:t>
            </a:r>
            <a:r>
              <a:rPr sz="2000" i="0">
                <a:solidFill>
                  <a:srgbClr val="AEB6BF"/>
                </a:solidFill>
                <a:latin typeface="Consolas"/>
              </a:rPr>
              <a:t>]</a:t>
            </a:r>
            <a:r>
              <a:rPr sz="2000" i="0">
                <a:solidFill>
                  <a:srgbClr val="E8EDF2"/>
                </a:solidFill>
                <a:latin typeface="Consolas"/>
              </a:rPr>
              <a:t> </a:t>
            </a:r>
            <a:r>
              <a:rPr sz="2000" i="0">
                <a:solidFill>
                  <a:srgbClr val="AEB6BF"/>
                </a:solidFill>
                <a:latin typeface="Consolas"/>
              </a:rPr>
              <a:t>+</a:t>
            </a:r>
            <a:r>
              <a:rPr sz="2000" i="0">
                <a:solidFill>
                  <a:srgbClr val="E8EDF2"/>
                </a:solidFill>
                <a:latin typeface="Consolas"/>
              </a:rPr>
              <a:t> </a:t>
            </a:r>
            <a:r>
              <a:rPr sz="2000" i="0">
                <a:solidFill>
                  <a:srgbClr val="E8EDF2"/>
                </a:solidFill>
                <a:latin typeface="Consolas"/>
              </a:rPr>
              <a:t>ancestors</a:t>
            </a:r>
            <a:r>
              <a:rPr sz="2000" i="0">
                <a:solidFill>
                  <a:srgbClr val="AEB6BF"/>
                </a:solidFill>
                <a:latin typeface="Consolas"/>
              </a:rPr>
              <a:t>(</a:t>
            </a:r>
            <a:r>
              <a:rPr sz="2000" i="0">
                <a:solidFill>
                  <a:srgbClr val="E8EDF2"/>
                </a:solidFill>
                <a:latin typeface="Consolas"/>
              </a:rPr>
              <a:t>frame</a:t>
            </a:r>
            <a:r>
              <a:rPr sz="2000" i="0">
                <a:solidFill>
                  <a:srgbClr val="AEB6BF"/>
                </a:solidFill>
                <a:latin typeface="Consolas"/>
              </a:rPr>
              <a:t>)</a:t>
            </a:r>
          </a:p>
        </p:txBody>
      </p:sp>
      <p:sp>
        <p:nvSpPr>
          <p:cNvPr id="15" name="!!code-num"/>
          <p:cNvSpPr txBox="1"/>
          <p:nvPr/>
        </p:nvSpPr>
        <p:spPr>
          <a:xfrm>
            <a:off x="768096" y="2523744"/>
            <a:ext cx="393192" cy="719328"/>
          </a:xfrm>
          <a:prstGeom prst="rect">
            <a:avLst/>
          </a:prstGeom>
          <a:noFill/>
        </p:spPr>
        <p:txBody>
          <a:bodyPr wrap="none" anchor="t" lIns="0" rIns="0" tIns="0" bIns="0">
            <a:noAutofit/>
          </a:bodyPr>
          <a:lstStyle/>
          <a:p>
            <a:pPr algn="r">
              <a:lnSpc>
                <a:spcPct val="100000"/>
              </a:lnSpc>
            </a:pPr>
            <a:r>
              <a:rPr sz="2000">
                <a:solidFill>
                  <a:srgbClr val="4F5D6A"/>
                </a:solidFill>
                <a:latin typeface="Consolas"/>
              </a:rPr>
              <a:t>94</a:t>
            </a:r>
          </a:p>
          <a:p>
            <a:pPr algn="r">
              <a:lnSpc>
                <a:spcPct val="100000"/>
              </a:lnSpc>
            </a:pPr>
            <a:r>
              <a:rPr sz="2000">
                <a:solidFill>
                  <a:srgbClr val="4F5D6A"/>
                </a:solidFill>
                <a:latin typeface="Consolas"/>
              </a:rPr>
              <a:t>95</a:t>
            </a:r>
          </a:p>
        </p:txBody>
      </p:sp>
      <p:sp>
        <p:nvSpPr>
          <p:cNvPr id="16"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7" name="!!pfill">
            <a:extLst>
              <a:ext uri="{C183D7F6-B498-43B3-948B-1728B52AA6E4}">
                <adec:decorative xmlns:adec="http://schemas.microsoft.com/office/drawing/2017/decorative" val="1"/>
              </a:ext>
            </a:extLst>
          </p:cNvPr>
          <p:cNvSpPr/>
          <p:nvPr/>
        </p:nvSpPr>
        <p:spPr>
          <a:xfrm>
            <a:off x="0" y="0"/>
            <a:ext cx="7088194" cy="54864"/>
          </a:xfrm>
          <a:prstGeom prst="rect">
            <a:avLst/>
          </a:prstGeom>
          <a:solidFill>
            <a:srgbClr val="8E44A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xmlns:p159="http://schemas.microsoft.com/office/powerpoint/2015/09/main" Requires="p159">
      <p:transition spd="slow" p14:dur="600">
        <p159:morph option="byObject"/>
      </p:transition>
    </mc:Choice>
    <mc:Fallback>
      <p:transition spd="med">
        <p:fade/>
      </p:transition>
    </mc:Fallback>
  </mc:AlternateContent>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2600" b="0">
                <a:solidFill>
                  <a:srgbClr val="1A5276"/>
                </a:solidFill>
                <a:latin typeface="Segoe UI Semibold"/>
              </a:rPr>
              <a:t>A Semantic Network That Answers Queries</a:t>
            </a:r>
          </a:p>
        </p:txBody>
      </p:sp>
      <p:pic>
        <p:nvPicPr>
          <p:cNvPr id="3" name="!!kicker-icon" descr="flask-117A65.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192583"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117A65"/>
                </a:solidFill>
                <a:latin typeface="Segoe UI"/>
              </a:rPr>
              <a:t>LAB  ·  STEP 9 OF 11</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Artificial Intelligence  ·  Chapter 10  ·  Knowledge Representation</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§10.6  ·  Handout p. 104     </a:t>
            </a:r>
            <a:fld id="{A4762C1C-4F40-4FC3-B265-AF6D0843383F}" type="slidenum">
              <a:rPr lang="en-GB" sz="1000">
                <a:solidFill>
                  <a:srgbClr val="8795A1"/>
                </a:solidFill>
                <a:latin typeface="Segoe UI"/>
              </a:rPr>
              <a:t>26</a:t>
            </a:fld>
          </a:p>
        </p:txBody>
      </p:sp>
      <p:sp>
        <p:nvSpPr>
          <p:cNvPr id="7" name="!!codehead"/>
          <p:cNvSpPr txBox="1"/>
          <p:nvPr/>
        </p:nvSpPr>
        <p:spPr>
          <a:xfrm>
            <a:off x="658368" y="1627631"/>
            <a:ext cx="10874959" cy="329184"/>
          </a:xfrm>
          <a:prstGeom prst="rect">
            <a:avLst/>
          </a:prstGeom>
          <a:noFill/>
        </p:spPr>
        <p:txBody>
          <a:bodyPr wrap="square" anchor="t" lIns="0" rIns="0" tIns="0" bIns="0">
            <a:noAutofit/>
          </a:bodyPr>
          <a:lstStyle/>
          <a:p>
            <a:pPr algn="l">
              <a:lnSpc>
                <a:spcPct val="100000"/>
              </a:lnSpc>
              <a:spcBef>
                <a:spcPts val="0"/>
              </a:spcBef>
              <a:spcAft>
                <a:spcPts val="0"/>
              </a:spcAft>
            </a:pPr>
            <a:r>
              <a:rPr sz="1900" b="1" i="0">
                <a:solidFill>
                  <a:srgbClr val="0E6655"/>
                </a:solidFill>
                <a:latin typeface="Segoe UI Semibold"/>
              </a:rPr>
              <a:t>Set-up (continued)</a:t>
            </a:r>
          </a:p>
        </p:txBody>
      </p:sp>
      <p:sp>
        <p:nvSpPr>
          <p:cNvPr id="8" name="!!code-bg">
            <a:extLst>
              <a:ext uri="{C183D7F6-B498-43B3-948B-1728B52AA6E4}">
                <adec:decorative xmlns:adec="http://schemas.microsoft.com/office/drawing/2017/decorative" val="1"/>
              </a:ext>
            </a:extLst>
          </p:cNvPr>
          <p:cNvSpPr/>
          <p:nvPr/>
        </p:nvSpPr>
        <p:spPr>
          <a:xfrm>
            <a:off x="658368" y="2084831"/>
            <a:ext cx="10874959" cy="3956303"/>
          </a:xfrm>
          <a:prstGeom prst="roundRect">
            <a:avLst>
              <a:gd name="adj" fmla="val 2311"/>
            </a:avLst>
          </a:prstGeom>
          <a:solidFill>
            <a:srgbClr val="1E283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9" name="!!code-sep">
            <a:extLst>
              <a:ext uri="{C183D7F6-B498-43B3-948B-1728B52AA6E4}">
                <adec:decorative xmlns:adec="http://schemas.microsoft.com/office/drawing/2017/decorative" val="1"/>
              </a:ext>
            </a:extLst>
          </p:cNvPr>
          <p:cNvSpPr/>
          <p:nvPr/>
        </p:nvSpPr>
        <p:spPr>
          <a:xfrm>
            <a:off x="676656" y="2404872"/>
            <a:ext cx="10838383" cy="10972"/>
          </a:xfrm>
          <a:prstGeom prst="rect">
            <a:avLst/>
          </a:prstGeom>
          <a:solidFill>
            <a:srgbClr val="28343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0" name="!!code-dot0">
            <a:extLst>
              <a:ext uri="{C183D7F6-B498-43B3-948B-1728B52AA6E4}">
                <adec:decorative xmlns:adec="http://schemas.microsoft.com/office/drawing/2017/decorative" val="1"/>
              </a:ext>
            </a:extLst>
          </p:cNvPr>
          <p:cNvSpPr/>
          <p:nvPr/>
        </p:nvSpPr>
        <p:spPr>
          <a:xfrm>
            <a:off x="859536" y="2199132"/>
            <a:ext cx="100584" cy="100584"/>
          </a:xfrm>
          <a:prstGeom prst="ellipse">
            <a:avLst/>
          </a:prstGeom>
          <a:solidFill>
            <a:srgbClr val="E74C3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1" name="!!code-dot1">
            <a:extLst>
              <a:ext uri="{C183D7F6-B498-43B3-948B-1728B52AA6E4}">
                <adec:decorative xmlns:adec="http://schemas.microsoft.com/office/drawing/2017/decorative" val="1"/>
              </a:ext>
            </a:extLst>
          </p:cNvPr>
          <p:cNvSpPr/>
          <p:nvPr/>
        </p:nvSpPr>
        <p:spPr>
          <a:xfrm>
            <a:off x="1042415" y="2199132"/>
            <a:ext cx="100584" cy="100584"/>
          </a:xfrm>
          <a:prstGeom prst="ellipse">
            <a:avLst/>
          </a:prstGeom>
          <a:solidFill>
            <a:srgbClr val="F4D03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2" name="!!code-dot2">
            <a:extLst>
              <a:ext uri="{C183D7F6-B498-43B3-948B-1728B52AA6E4}">
                <adec:decorative xmlns:adec="http://schemas.microsoft.com/office/drawing/2017/decorative" val="1"/>
              </a:ext>
            </a:extLst>
          </p:cNvPr>
          <p:cNvSpPr/>
          <p:nvPr/>
        </p:nvSpPr>
        <p:spPr>
          <a:xfrm>
            <a:off x="1225295" y="2199132"/>
            <a:ext cx="100584" cy="100584"/>
          </a:xfrm>
          <a:prstGeom prst="ellipse">
            <a:avLst/>
          </a:prstGeom>
          <a:solidFill>
            <a:srgbClr val="58D68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3" name="!!code-label"/>
          <p:cNvSpPr txBox="1"/>
          <p:nvPr/>
        </p:nvSpPr>
        <p:spPr>
          <a:xfrm>
            <a:off x="1527048" y="2148839"/>
            <a:ext cx="9777679" cy="219456"/>
          </a:xfrm>
          <a:prstGeom prst="rect">
            <a:avLst/>
          </a:prstGeom>
          <a:noFill/>
        </p:spPr>
        <p:txBody>
          <a:bodyPr wrap="square" anchor="t" lIns="0" rIns="0" tIns="0" bIns="0">
            <a:noAutofit/>
          </a:bodyPr>
          <a:lstStyle/>
          <a:p>
            <a:pPr algn="l">
              <a:lnSpc>
                <a:spcPct val="100000"/>
              </a:lnSpc>
              <a:spcBef>
                <a:spcPts val="0"/>
              </a:spcBef>
              <a:spcAft>
                <a:spcPts val="0"/>
              </a:spcAft>
            </a:pPr>
            <a:r>
              <a:rPr sz="1100" b="1" i="0">
                <a:solidFill>
                  <a:srgbClr val="9FB0BF"/>
                </a:solidFill>
                <a:latin typeface="Segoe UI"/>
              </a:rPr>
              <a:t>Python  ·  code/ch10_semantic_network_that.py</a:t>
            </a:r>
          </a:p>
        </p:txBody>
      </p:sp>
      <p:sp>
        <p:nvSpPr>
          <p:cNvPr id="14" name="!!code-text" descr="if __name__ == &quot;__main__&quot;: print(&quot;inheritance chain for Release 4.7:&quot;) print(&quot; &quot; + &quot; -&gt; &quot;.join(isa_chain(&quot;Release 4.7&quot;))) assert &quot;Artefact&quot; in ancestors(&quot;Release 4.7&quot;) print() print(&quot;queries, with the frame each answer came from&quot;) print(&quot;-&quot; * 56) for slot in (&quot;regression-pass&quot;, &quot;needs-signoff&quot;, &quot;window&quot;, &quot;changes&quot;, &quot;owned-by&quot;): val, src = get(&quot;Release 4.7&quot;, slot) print(&quot; %-16s = %-10s (from %s)&quot; % (slot, val, src)) # the default was correctly suppressed assert get(&quot;Release 4.7&quot;, &quot;regression-pass&quot;) == (&quot;smoke&quot;, &quot;Hotfix&quot;) assert get(&quot;Release&quot;, &quot;regression-pass&quot;) == (&quot;full&quot;, &quot;Release&quot;) # and a default two levels up is still found assert get(&quot;Release 4.7&quot;, &quot;needs-signoff&quot;) == (&quot;yes&quot;, &quot;Release&quot;) print() print(&quot;'smoke' overrode 'full'; 'yes' was still reached two levels up.&quot;)"/>
          <p:cNvSpPr txBox="1"/>
          <p:nvPr/>
        </p:nvSpPr>
        <p:spPr>
          <a:xfrm>
            <a:off x="1362456" y="2523744"/>
            <a:ext cx="9987991" cy="3462527"/>
          </a:xfrm>
          <a:prstGeom prst="rect">
            <a:avLst/>
          </a:prstGeom>
          <a:noFill/>
        </p:spPr>
        <p:txBody>
          <a:bodyPr wrap="none" anchor="t" lIns="0" rIns="0" tIns="0" bIns="0">
            <a:noAutofit/>
          </a:bodyPr>
          <a:lstStyle/>
          <a:p>
            <a:pPr>
              <a:lnSpc>
                <a:spcPct val="100000"/>
              </a:lnSpc>
              <a:spcAft>
                <a:spcPts val="0"/>
              </a:spcAft>
            </a:pPr>
            <a:r>
              <a:rPr sz="1100" i="0">
                <a:solidFill>
                  <a:srgbClr val="5DADE2"/>
                </a:solidFill>
                <a:latin typeface="Consolas"/>
              </a:rPr>
              <a:t>if</a:t>
            </a:r>
            <a:r>
              <a:rPr sz="1100" i="0">
                <a:solidFill>
                  <a:srgbClr val="E8EDF2"/>
                </a:solidFill>
                <a:latin typeface="Consolas"/>
              </a:rPr>
              <a:t> </a:t>
            </a:r>
            <a:r>
              <a:rPr sz="1100" i="0">
                <a:solidFill>
                  <a:srgbClr val="E8EDF2"/>
                </a:solidFill>
                <a:latin typeface="Consolas"/>
              </a:rPr>
              <a:t>__name__</a:t>
            </a:r>
            <a:r>
              <a:rPr sz="1100" i="0">
                <a:solidFill>
                  <a:srgbClr val="E8EDF2"/>
                </a:solidFill>
                <a:latin typeface="Consolas"/>
              </a:rPr>
              <a:t> </a:t>
            </a:r>
            <a:r>
              <a:rPr sz="1100" i="0">
                <a:solidFill>
                  <a:srgbClr val="AEB6BF"/>
                </a:solidFill>
                <a:latin typeface="Consolas"/>
              </a:rPr>
              <a:t>==</a:t>
            </a:r>
            <a:r>
              <a:rPr sz="1100" i="0">
                <a:solidFill>
                  <a:srgbClr val="E8EDF2"/>
                </a:solidFill>
                <a:latin typeface="Consolas"/>
              </a:rPr>
              <a:t> </a:t>
            </a:r>
            <a:r>
              <a:rPr sz="1100" i="0">
                <a:solidFill>
                  <a:srgbClr val="7DCEA0"/>
                </a:solidFill>
                <a:latin typeface="Consolas"/>
              </a:rPr>
              <a:t>"</a:t>
            </a:r>
            <a:r>
              <a:rPr sz="1100" i="0">
                <a:solidFill>
                  <a:srgbClr val="7DCEA0"/>
                </a:solidFill>
                <a:latin typeface="Consolas"/>
              </a:rPr>
              <a:t>__main__</a:t>
            </a:r>
            <a:r>
              <a:rPr sz="1100" i="0">
                <a:solidFill>
                  <a:srgbClr val="7DCEA0"/>
                </a:solidFill>
                <a:latin typeface="Consolas"/>
              </a:rPr>
              <a:t>"</a:t>
            </a:r>
            <a:r>
              <a:rPr sz="1100" i="0">
                <a:solidFill>
                  <a:srgbClr val="AEB6BF"/>
                </a:solidFill>
                <a:latin typeface="Consolas"/>
              </a:rPr>
              <a:t>:</a:t>
            </a:r>
          </a:p>
          <a:p>
            <a:pPr>
              <a:lnSpc>
                <a:spcPct val="100000"/>
              </a:lnSpc>
              <a:spcAft>
                <a:spcPts val="0"/>
              </a:spcAft>
            </a:pPr>
            <a:r>
              <a:rPr sz="1100" i="0">
                <a:solidFill>
                  <a:srgbClr val="E8EDF2"/>
                </a:solidFill>
                <a:latin typeface="Consolas"/>
              </a:rPr>
              <a:t>    </a:t>
            </a:r>
            <a:r>
              <a:rPr sz="1100" i="0">
                <a:solidFill>
                  <a:srgbClr val="C39BD3"/>
                </a:solidFill>
                <a:latin typeface="Consolas"/>
              </a:rPr>
              <a:t>print</a:t>
            </a:r>
            <a:r>
              <a:rPr sz="1100" i="0">
                <a:solidFill>
                  <a:srgbClr val="AEB6BF"/>
                </a:solidFill>
                <a:latin typeface="Consolas"/>
              </a:rPr>
              <a:t>(</a:t>
            </a:r>
            <a:r>
              <a:rPr sz="1100" i="0">
                <a:solidFill>
                  <a:srgbClr val="7DCEA0"/>
                </a:solidFill>
                <a:latin typeface="Consolas"/>
              </a:rPr>
              <a:t>"</a:t>
            </a:r>
            <a:r>
              <a:rPr sz="1100" i="0">
                <a:solidFill>
                  <a:srgbClr val="7DCEA0"/>
                </a:solidFill>
                <a:latin typeface="Consolas"/>
              </a:rPr>
              <a:t>inheritance chain for Release 4.7:</a:t>
            </a:r>
            <a:r>
              <a:rPr sz="1100" i="0">
                <a:solidFill>
                  <a:srgbClr val="7DCEA0"/>
                </a:solidFill>
                <a:latin typeface="Consolas"/>
              </a:rPr>
              <a:t>"</a:t>
            </a:r>
            <a:r>
              <a:rPr sz="1100" i="0">
                <a:solidFill>
                  <a:srgbClr val="AEB6BF"/>
                </a:solidFill>
                <a:latin typeface="Consolas"/>
              </a:rPr>
              <a:t>)</a:t>
            </a:r>
          </a:p>
          <a:p>
            <a:pPr>
              <a:lnSpc>
                <a:spcPct val="100000"/>
              </a:lnSpc>
              <a:spcAft>
                <a:spcPts val="0"/>
              </a:spcAft>
            </a:pPr>
            <a:r>
              <a:rPr sz="1100" i="0">
                <a:solidFill>
                  <a:srgbClr val="E8EDF2"/>
                </a:solidFill>
                <a:latin typeface="Consolas"/>
              </a:rPr>
              <a:t>    </a:t>
            </a:r>
            <a:r>
              <a:rPr sz="1100" i="0">
                <a:solidFill>
                  <a:srgbClr val="C39BD3"/>
                </a:solidFill>
                <a:latin typeface="Consolas"/>
              </a:rPr>
              <a:t>print</a:t>
            </a:r>
            <a:r>
              <a:rPr sz="1100" i="0">
                <a:solidFill>
                  <a:srgbClr val="AEB6BF"/>
                </a:solidFill>
                <a:latin typeface="Consolas"/>
              </a:rPr>
              <a:t>(</a:t>
            </a:r>
            <a:r>
              <a:rPr sz="1100" i="0">
                <a:solidFill>
                  <a:srgbClr val="7DCEA0"/>
                </a:solidFill>
                <a:latin typeface="Consolas"/>
              </a:rPr>
              <a:t>"</a:t>
            </a:r>
            <a:r>
              <a:rPr sz="1100" i="0">
                <a:solidFill>
                  <a:srgbClr val="7DCEA0"/>
                </a:solidFill>
                <a:latin typeface="Consolas"/>
              </a:rPr>
              <a:t>   </a:t>
            </a:r>
            <a:r>
              <a:rPr sz="1100" i="0">
                <a:solidFill>
                  <a:srgbClr val="7DCEA0"/>
                </a:solidFill>
                <a:latin typeface="Consolas"/>
              </a:rPr>
              <a:t>"</a:t>
            </a:r>
            <a:r>
              <a:rPr sz="1100" i="0">
                <a:solidFill>
                  <a:srgbClr val="E8EDF2"/>
                </a:solidFill>
                <a:latin typeface="Consolas"/>
              </a:rPr>
              <a:t> </a:t>
            </a:r>
            <a:r>
              <a:rPr sz="1100" i="0">
                <a:solidFill>
                  <a:srgbClr val="AEB6BF"/>
                </a:solidFill>
                <a:latin typeface="Consolas"/>
              </a:rPr>
              <a:t>+</a:t>
            </a:r>
            <a:r>
              <a:rPr sz="1100" i="0">
                <a:solidFill>
                  <a:srgbClr val="E8EDF2"/>
                </a:solidFill>
                <a:latin typeface="Consolas"/>
              </a:rPr>
              <a:t> </a:t>
            </a:r>
            <a:r>
              <a:rPr sz="1100" i="0">
                <a:solidFill>
                  <a:srgbClr val="7DCEA0"/>
                </a:solidFill>
                <a:latin typeface="Consolas"/>
              </a:rPr>
              <a:t>"</a:t>
            </a:r>
            <a:r>
              <a:rPr sz="1100" i="0">
                <a:solidFill>
                  <a:srgbClr val="7DCEA0"/>
                </a:solidFill>
                <a:latin typeface="Consolas"/>
              </a:rPr>
              <a:t> -&gt; </a:t>
            </a:r>
            <a:r>
              <a:rPr sz="1100" i="0">
                <a:solidFill>
                  <a:srgbClr val="7DCEA0"/>
                </a:solidFill>
                <a:latin typeface="Consolas"/>
              </a:rPr>
              <a:t>"</a:t>
            </a:r>
            <a:r>
              <a:rPr sz="1100" i="0">
                <a:solidFill>
                  <a:srgbClr val="AEB6BF"/>
                </a:solidFill>
                <a:latin typeface="Consolas"/>
              </a:rPr>
              <a:t>.</a:t>
            </a:r>
            <a:r>
              <a:rPr sz="1100" i="0">
                <a:solidFill>
                  <a:srgbClr val="E8EDF2"/>
                </a:solidFill>
                <a:latin typeface="Consolas"/>
              </a:rPr>
              <a:t>join</a:t>
            </a:r>
            <a:r>
              <a:rPr sz="1100" i="0">
                <a:solidFill>
                  <a:srgbClr val="AEB6BF"/>
                </a:solidFill>
                <a:latin typeface="Consolas"/>
              </a:rPr>
              <a:t>(</a:t>
            </a:r>
            <a:r>
              <a:rPr sz="1100" i="0">
                <a:solidFill>
                  <a:srgbClr val="E8EDF2"/>
                </a:solidFill>
                <a:latin typeface="Consolas"/>
              </a:rPr>
              <a:t>isa_chain</a:t>
            </a:r>
            <a:r>
              <a:rPr sz="1100" i="0">
                <a:solidFill>
                  <a:srgbClr val="AEB6BF"/>
                </a:solidFill>
                <a:latin typeface="Consolas"/>
              </a:rPr>
              <a:t>(</a:t>
            </a:r>
            <a:r>
              <a:rPr sz="1100" i="0">
                <a:solidFill>
                  <a:srgbClr val="7DCEA0"/>
                </a:solidFill>
                <a:latin typeface="Consolas"/>
              </a:rPr>
              <a:t>"</a:t>
            </a:r>
            <a:r>
              <a:rPr sz="1100" i="0">
                <a:solidFill>
                  <a:srgbClr val="7DCEA0"/>
                </a:solidFill>
                <a:latin typeface="Consolas"/>
              </a:rPr>
              <a:t>Release 4.7</a:t>
            </a:r>
            <a:r>
              <a:rPr sz="1100" i="0">
                <a:solidFill>
                  <a:srgbClr val="7DCEA0"/>
                </a:solidFill>
                <a:latin typeface="Consolas"/>
              </a:rPr>
              <a:t>"</a:t>
            </a:r>
            <a:r>
              <a:rPr sz="1100" i="0">
                <a:solidFill>
                  <a:srgbClr val="AEB6BF"/>
                </a:solidFill>
                <a:latin typeface="Consolas"/>
              </a:rPr>
              <a:t>)</a:t>
            </a:r>
            <a:r>
              <a:rPr sz="1100" i="0">
                <a:solidFill>
                  <a:srgbClr val="AEB6BF"/>
                </a:solidFill>
                <a:latin typeface="Consolas"/>
              </a:rPr>
              <a:t>)</a:t>
            </a:r>
            <a:r>
              <a:rPr sz="1100" i="0">
                <a:solidFill>
                  <a:srgbClr val="AEB6BF"/>
                </a:solidFill>
                <a:latin typeface="Consolas"/>
              </a:rPr>
              <a:t>)</a:t>
            </a:r>
          </a:p>
          <a:p>
            <a:pPr>
              <a:lnSpc>
                <a:spcPct val="100000"/>
              </a:lnSpc>
              <a:spcAft>
                <a:spcPts val="0"/>
              </a:spcAft>
            </a:pPr>
            <a:r>
              <a:rPr sz="1100" i="0">
                <a:solidFill>
                  <a:srgbClr val="E8EDF2"/>
                </a:solidFill>
                <a:latin typeface="Consolas"/>
              </a:rPr>
              <a:t>    </a:t>
            </a:r>
            <a:r>
              <a:rPr sz="1100" i="0">
                <a:solidFill>
                  <a:srgbClr val="5DADE2"/>
                </a:solidFill>
                <a:latin typeface="Consolas"/>
              </a:rPr>
              <a:t>assert</a:t>
            </a:r>
            <a:r>
              <a:rPr sz="1100" i="0">
                <a:solidFill>
                  <a:srgbClr val="E8EDF2"/>
                </a:solidFill>
                <a:latin typeface="Consolas"/>
              </a:rPr>
              <a:t> </a:t>
            </a:r>
            <a:r>
              <a:rPr sz="1100" i="0">
                <a:solidFill>
                  <a:srgbClr val="7DCEA0"/>
                </a:solidFill>
                <a:latin typeface="Consolas"/>
              </a:rPr>
              <a:t>"</a:t>
            </a:r>
            <a:r>
              <a:rPr sz="1100" i="0">
                <a:solidFill>
                  <a:srgbClr val="7DCEA0"/>
                </a:solidFill>
                <a:latin typeface="Consolas"/>
              </a:rPr>
              <a:t>Artefact</a:t>
            </a:r>
            <a:r>
              <a:rPr sz="1100" i="0">
                <a:solidFill>
                  <a:srgbClr val="7DCEA0"/>
                </a:solidFill>
                <a:latin typeface="Consolas"/>
              </a:rPr>
              <a:t>"</a:t>
            </a:r>
            <a:r>
              <a:rPr sz="1100" i="0">
                <a:solidFill>
                  <a:srgbClr val="E8EDF2"/>
                </a:solidFill>
                <a:latin typeface="Consolas"/>
              </a:rPr>
              <a:t> </a:t>
            </a:r>
            <a:r>
              <a:rPr sz="1100" i="0">
                <a:solidFill>
                  <a:srgbClr val="AEB6BF"/>
                </a:solidFill>
                <a:latin typeface="Consolas"/>
              </a:rPr>
              <a:t>in</a:t>
            </a:r>
            <a:r>
              <a:rPr sz="1100" i="0">
                <a:solidFill>
                  <a:srgbClr val="E8EDF2"/>
                </a:solidFill>
                <a:latin typeface="Consolas"/>
              </a:rPr>
              <a:t> </a:t>
            </a:r>
            <a:r>
              <a:rPr sz="1100" i="0">
                <a:solidFill>
                  <a:srgbClr val="E8EDF2"/>
                </a:solidFill>
                <a:latin typeface="Consolas"/>
              </a:rPr>
              <a:t>ancestors</a:t>
            </a:r>
            <a:r>
              <a:rPr sz="1100" i="0">
                <a:solidFill>
                  <a:srgbClr val="AEB6BF"/>
                </a:solidFill>
                <a:latin typeface="Consolas"/>
              </a:rPr>
              <a:t>(</a:t>
            </a:r>
            <a:r>
              <a:rPr sz="1100" i="0">
                <a:solidFill>
                  <a:srgbClr val="7DCEA0"/>
                </a:solidFill>
                <a:latin typeface="Consolas"/>
              </a:rPr>
              <a:t>"</a:t>
            </a:r>
            <a:r>
              <a:rPr sz="1100" i="0">
                <a:solidFill>
                  <a:srgbClr val="7DCEA0"/>
                </a:solidFill>
                <a:latin typeface="Consolas"/>
              </a:rPr>
              <a:t>Release 4.7</a:t>
            </a:r>
            <a:r>
              <a:rPr sz="1100" i="0">
                <a:solidFill>
                  <a:srgbClr val="7DCEA0"/>
                </a:solidFill>
                <a:latin typeface="Consolas"/>
              </a:rPr>
              <a:t>"</a:t>
            </a:r>
            <a:r>
              <a:rPr sz="1100" i="0">
                <a:solidFill>
                  <a:srgbClr val="AEB6BF"/>
                </a:solidFill>
                <a:latin typeface="Consolas"/>
              </a:rPr>
              <a:t>)</a:t>
            </a:r>
          </a:p>
          <a:p>
            <a:pPr>
              <a:lnSpc>
                <a:spcPct val="100000"/>
              </a:lnSpc>
              <a:spcAft>
                <a:spcPts val="0"/>
              </a:spcAft>
            </a:pPr>
            <a:r>
              <a:rPr sz="1100" i="0">
                <a:solidFill>
                  <a:srgbClr val="E8EDF2"/>
                </a:solidFill>
                <a:latin typeface="Consolas"/>
              </a:rPr>
              <a:t>    </a:t>
            </a:r>
            <a:r>
              <a:rPr sz="1100" i="0">
                <a:solidFill>
                  <a:srgbClr val="C39BD3"/>
                </a:solidFill>
                <a:latin typeface="Consolas"/>
              </a:rPr>
              <a:t>print</a:t>
            </a:r>
            <a:r>
              <a:rPr sz="1100" i="0">
                <a:solidFill>
                  <a:srgbClr val="AEB6BF"/>
                </a:solidFill>
                <a:latin typeface="Consolas"/>
              </a:rPr>
              <a:t>(</a:t>
            </a:r>
            <a:r>
              <a:rPr sz="1100" i="0">
                <a:solidFill>
                  <a:srgbClr val="AEB6BF"/>
                </a:solidFill>
                <a:latin typeface="Consolas"/>
              </a:rPr>
              <a:t>)</a:t>
            </a:r>
          </a:p>
          <a:p>
            <a:pPr>
              <a:lnSpc>
                <a:spcPct val="100000"/>
              </a:lnSpc>
              <a:spcAft>
                <a:spcPts val="0"/>
              </a:spcAft>
            </a:pPr>
            <a:r>
              <a:rPr sz="1100">
                <a:latin typeface="Consolas"/>
              </a:rPr>
              <a:t> </a:t>
            </a:r>
          </a:p>
          <a:p>
            <a:pPr>
              <a:lnSpc>
                <a:spcPct val="100000"/>
              </a:lnSpc>
              <a:spcAft>
                <a:spcPts val="0"/>
              </a:spcAft>
            </a:pPr>
            <a:r>
              <a:rPr sz="1100" i="0">
                <a:solidFill>
                  <a:srgbClr val="E8EDF2"/>
                </a:solidFill>
                <a:latin typeface="Consolas"/>
              </a:rPr>
              <a:t>    </a:t>
            </a:r>
            <a:r>
              <a:rPr sz="1100" i="0">
                <a:solidFill>
                  <a:srgbClr val="C39BD3"/>
                </a:solidFill>
                <a:latin typeface="Consolas"/>
              </a:rPr>
              <a:t>print</a:t>
            </a:r>
            <a:r>
              <a:rPr sz="1100" i="0">
                <a:solidFill>
                  <a:srgbClr val="AEB6BF"/>
                </a:solidFill>
                <a:latin typeface="Consolas"/>
              </a:rPr>
              <a:t>(</a:t>
            </a:r>
            <a:r>
              <a:rPr sz="1100" i="0">
                <a:solidFill>
                  <a:srgbClr val="7DCEA0"/>
                </a:solidFill>
                <a:latin typeface="Consolas"/>
              </a:rPr>
              <a:t>"</a:t>
            </a:r>
            <a:r>
              <a:rPr sz="1100" i="0">
                <a:solidFill>
                  <a:srgbClr val="7DCEA0"/>
                </a:solidFill>
                <a:latin typeface="Consolas"/>
              </a:rPr>
              <a:t>queries, with the frame each answer came from</a:t>
            </a:r>
            <a:r>
              <a:rPr sz="1100" i="0">
                <a:solidFill>
                  <a:srgbClr val="7DCEA0"/>
                </a:solidFill>
                <a:latin typeface="Consolas"/>
              </a:rPr>
              <a:t>"</a:t>
            </a:r>
            <a:r>
              <a:rPr sz="1100" i="0">
                <a:solidFill>
                  <a:srgbClr val="AEB6BF"/>
                </a:solidFill>
                <a:latin typeface="Consolas"/>
              </a:rPr>
              <a:t>)</a:t>
            </a:r>
          </a:p>
          <a:p>
            <a:pPr>
              <a:lnSpc>
                <a:spcPct val="100000"/>
              </a:lnSpc>
              <a:spcAft>
                <a:spcPts val="0"/>
              </a:spcAft>
            </a:pPr>
            <a:r>
              <a:rPr sz="1100" i="0">
                <a:solidFill>
                  <a:srgbClr val="E8EDF2"/>
                </a:solidFill>
                <a:latin typeface="Consolas"/>
              </a:rPr>
              <a:t>    </a:t>
            </a:r>
            <a:r>
              <a:rPr sz="1100" i="0">
                <a:solidFill>
                  <a:srgbClr val="C39BD3"/>
                </a:solidFill>
                <a:latin typeface="Consolas"/>
              </a:rPr>
              <a:t>print</a:t>
            </a:r>
            <a:r>
              <a:rPr sz="1100" i="0">
                <a:solidFill>
                  <a:srgbClr val="AEB6BF"/>
                </a:solidFill>
                <a:latin typeface="Consolas"/>
              </a:rPr>
              <a:t>(</a:t>
            </a:r>
            <a:r>
              <a:rPr sz="1100" i="0">
                <a:solidFill>
                  <a:srgbClr val="7DCEA0"/>
                </a:solidFill>
                <a:latin typeface="Consolas"/>
              </a:rPr>
              <a:t>"</a:t>
            </a:r>
            <a:r>
              <a:rPr sz="1100" i="0">
                <a:solidFill>
                  <a:srgbClr val="7DCEA0"/>
                </a:solidFill>
                <a:latin typeface="Consolas"/>
              </a:rPr>
              <a:t>-</a:t>
            </a:r>
            <a:r>
              <a:rPr sz="1100" i="0">
                <a:solidFill>
                  <a:srgbClr val="7DCEA0"/>
                </a:solidFill>
                <a:latin typeface="Consolas"/>
              </a:rPr>
              <a:t>"</a:t>
            </a:r>
            <a:r>
              <a:rPr sz="1100" i="0">
                <a:solidFill>
                  <a:srgbClr val="E8EDF2"/>
                </a:solidFill>
                <a:latin typeface="Consolas"/>
              </a:rPr>
              <a:t> </a:t>
            </a:r>
            <a:r>
              <a:rPr sz="1100" i="0">
                <a:solidFill>
                  <a:srgbClr val="AEB6BF"/>
                </a:solidFill>
                <a:latin typeface="Consolas"/>
              </a:rPr>
              <a:t>*</a:t>
            </a:r>
            <a:r>
              <a:rPr sz="1100" i="0">
                <a:solidFill>
                  <a:srgbClr val="E8EDF2"/>
                </a:solidFill>
                <a:latin typeface="Consolas"/>
              </a:rPr>
              <a:t> </a:t>
            </a:r>
            <a:r>
              <a:rPr sz="1100" i="0">
                <a:solidFill>
                  <a:srgbClr val="F7DC6F"/>
                </a:solidFill>
                <a:latin typeface="Consolas"/>
              </a:rPr>
              <a:t>56</a:t>
            </a:r>
            <a:r>
              <a:rPr sz="1100" i="0">
                <a:solidFill>
                  <a:srgbClr val="AEB6BF"/>
                </a:solidFill>
                <a:latin typeface="Consolas"/>
              </a:rPr>
              <a:t>)</a:t>
            </a:r>
          </a:p>
          <a:p>
            <a:pPr>
              <a:lnSpc>
                <a:spcPct val="100000"/>
              </a:lnSpc>
              <a:spcAft>
                <a:spcPts val="0"/>
              </a:spcAft>
            </a:pPr>
            <a:r>
              <a:rPr sz="1100" i="0">
                <a:solidFill>
                  <a:srgbClr val="E8EDF2"/>
                </a:solidFill>
                <a:latin typeface="Consolas"/>
              </a:rPr>
              <a:t>    </a:t>
            </a:r>
            <a:r>
              <a:rPr sz="1100" i="0">
                <a:solidFill>
                  <a:srgbClr val="5DADE2"/>
                </a:solidFill>
                <a:latin typeface="Consolas"/>
              </a:rPr>
              <a:t>for</a:t>
            </a:r>
            <a:r>
              <a:rPr sz="1100" i="0">
                <a:solidFill>
                  <a:srgbClr val="E8EDF2"/>
                </a:solidFill>
                <a:latin typeface="Consolas"/>
              </a:rPr>
              <a:t> </a:t>
            </a:r>
            <a:r>
              <a:rPr sz="1100" i="0">
                <a:solidFill>
                  <a:srgbClr val="E8EDF2"/>
                </a:solidFill>
                <a:latin typeface="Consolas"/>
              </a:rPr>
              <a:t>slot</a:t>
            </a:r>
            <a:r>
              <a:rPr sz="1100" i="0">
                <a:solidFill>
                  <a:srgbClr val="E8EDF2"/>
                </a:solidFill>
                <a:latin typeface="Consolas"/>
              </a:rPr>
              <a:t> </a:t>
            </a:r>
            <a:r>
              <a:rPr sz="1100" i="0">
                <a:solidFill>
                  <a:srgbClr val="AEB6BF"/>
                </a:solidFill>
                <a:latin typeface="Consolas"/>
              </a:rPr>
              <a:t>in</a:t>
            </a:r>
            <a:r>
              <a:rPr sz="1100" i="0">
                <a:solidFill>
                  <a:srgbClr val="E8EDF2"/>
                </a:solidFill>
                <a:latin typeface="Consolas"/>
              </a:rPr>
              <a:t> </a:t>
            </a:r>
            <a:r>
              <a:rPr sz="1100" i="0">
                <a:solidFill>
                  <a:srgbClr val="AEB6BF"/>
                </a:solidFill>
                <a:latin typeface="Consolas"/>
              </a:rPr>
              <a:t>(</a:t>
            </a:r>
            <a:r>
              <a:rPr sz="1100" i="0">
                <a:solidFill>
                  <a:srgbClr val="7DCEA0"/>
                </a:solidFill>
                <a:latin typeface="Consolas"/>
              </a:rPr>
              <a:t>"</a:t>
            </a:r>
            <a:r>
              <a:rPr sz="1100" i="0">
                <a:solidFill>
                  <a:srgbClr val="7DCEA0"/>
                </a:solidFill>
                <a:latin typeface="Consolas"/>
              </a:rPr>
              <a:t>regression-pass</a:t>
            </a:r>
            <a:r>
              <a:rPr sz="1100" i="0">
                <a:solidFill>
                  <a:srgbClr val="7DCEA0"/>
                </a:solidFill>
                <a:latin typeface="Consolas"/>
              </a:rPr>
              <a:t>"</a:t>
            </a:r>
            <a:r>
              <a:rPr sz="1100" i="0">
                <a:solidFill>
                  <a:srgbClr val="AEB6BF"/>
                </a:solidFill>
                <a:latin typeface="Consolas"/>
              </a:rPr>
              <a:t>,</a:t>
            </a:r>
            <a:r>
              <a:rPr sz="1100" i="0">
                <a:solidFill>
                  <a:srgbClr val="E8EDF2"/>
                </a:solidFill>
                <a:latin typeface="Consolas"/>
              </a:rPr>
              <a:t> </a:t>
            </a:r>
            <a:r>
              <a:rPr sz="1100" i="0">
                <a:solidFill>
                  <a:srgbClr val="7DCEA0"/>
                </a:solidFill>
                <a:latin typeface="Consolas"/>
              </a:rPr>
              <a:t>"</a:t>
            </a:r>
            <a:r>
              <a:rPr sz="1100" i="0">
                <a:solidFill>
                  <a:srgbClr val="7DCEA0"/>
                </a:solidFill>
                <a:latin typeface="Consolas"/>
              </a:rPr>
              <a:t>needs-signoff</a:t>
            </a:r>
            <a:r>
              <a:rPr sz="1100" i="0">
                <a:solidFill>
                  <a:srgbClr val="7DCEA0"/>
                </a:solidFill>
                <a:latin typeface="Consolas"/>
              </a:rPr>
              <a:t>"</a:t>
            </a:r>
            <a:r>
              <a:rPr sz="1100" i="0">
                <a:solidFill>
                  <a:srgbClr val="AEB6BF"/>
                </a:solidFill>
                <a:latin typeface="Consolas"/>
              </a:rPr>
              <a:t>,</a:t>
            </a:r>
            <a:r>
              <a:rPr sz="1100" i="0">
                <a:solidFill>
                  <a:srgbClr val="E8EDF2"/>
                </a:solidFill>
                <a:latin typeface="Consolas"/>
              </a:rPr>
              <a:t> </a:t>
            </a:r>
            <a:r>
              <a:rPr sz="1100" i="0">
                <a:solidFill>
                  <a:srgbClr val="7DCEA0"/>
                </a:solidFill>
                <a:latin typeface="Consolas"/>
              </a:rPr>
              <a:t>"</a:t>
            </a:r>
            <a:r>
              <a:rPr sz="1100" i="0">
                <a:solidFill>
                  <a:srgbClr val="7DCEA0"/>
                </a:solidFill>
                <a:latin typeface="Consolas"/>
              </a:rPr>
              <a:t>window</a:t>
            </a:r>
            <a:r>
              <a:rPr sz="1100" i="0">
                <a:solidFill>
                  <a:srgbClr val="7DCEA0"/>
                </a:solidFill>
                <a:latin typeface="Consolas"/>
              </a:rPr>
              <a:t>"</a:t>
            </a:r>
            <a:r>
              <a:rPr sz="1100" i="0">
                <a:solidFill>
                  <a:srgbClr val="AEB6BF"/>
                </a:solidFill>
                <a:latin typeface="Consolas"/>
              </a:rPr>
              <a:t>,</a:t>
            </a:r>
          </a:p>
          <a:p>
            <a:pPr>
              <a:lnSpc>
                <a:spcPct val="100000"/>
              </a:lnSpc>
              <a:spcAft>
                <a:spcPts val="0"/>
              </a:spcAft>
            </a:pPr>
            <a:r>
              <a:rPr sz="1100" i="0">
                <a:solidFill>
                  <a:srgbClr val="E8EDF2"/>
                </a:solidFill>
                <a:latin typeface="Consolas"/>
              </a:rPr>
              <a:t>                 </a:t>
            </a:r>
            <a:r>
              <a:rPr sz="1100" i="0">
                <a:solidFill>
                  <a:srgbClr val="7DCEA0"/>
                </a:solidFill>
                <a:latin typeface="Consolas"/>
              </a:rPr>
              <a:t>"</a:t>
            </a:r>
            <a:r>
              <a:rPr sz="1100" i="0">
                <a:solidFill>
                  <a:srgbClr val="7DCEA0"/>
                </a:solidFill>
                <a:latin typeface="Consolas"/>
              </a:rPr>
              <a:t>changes</a:t>
            </a:r>
            <a:r>
              <a:rPr sz="1100" i="0">
                <a:solidFill>
                  <a:srgbClr val="7DCEA0"/>
                </a:solidFill>
                <a:latin typeface="Consolas"/>
              </a:rPr>
              <a:t>"</a:t>
            </a:r>
            <a:r>
              <a:rPr sz="1100" i="0">
                <a:solidFill>
                  <a:srgbClr val="AEB6BF"/>
                </a:solidFill>
                <a:latin typeface="Consolas"/>
              </a:rPr>
              <a:t>,</a:t>
            </a:r>
            <a:r>
              <a:rPr sz="1100" i="0">
                <a:solidFill>
                  <a:srgbClr val="E8EDF2"/>
                </a:solidFill>
                <a:latin typeface="Consolas"/>
              </a:rPr>
              <a:t> </a:t>
            </a:r>
            <a:r>
              <a:rPr sz="1100" i="0">
                <a:solidFill>
                  <a:srgbClr val="7DCEA0"/>
                </a:solidFill>
                <a:latin typeface="Consolas"/>
              </a:rPr>
              <a:t>"</a:t>
            </a:r>
            <a:r>
              <a:rPr sz="1100" i="0">
                <a:solidFill>
                  <a:srgbClr val="7DCEA0"/>
                </a:solidFill>
                <a:latin typeface="Consolas"/>
              </a:rPr>
              <a:t>owned-by</a:t>
            </a:r>
            <a:r>
              <a:rPr sz="1100" i="0">
                <a:solidFill>
                  <a:srgbClr val="7DCEA0"/>
                </a:solidFill>
                <a:latin typeface="Consolas"/>
              </a:rPr>
              <a:t>"</a:t>
            </a:r>
            <a:r>
              <a:rPr sz="1100" i="0">
                <a:solidFill>
                  <a:srgbClr val="AEB6BF"/>
                </a:solidFill>
                <a:latin typeface="Consolas"/>
              </a:rPr>
              <a:t>)</a:t>
            </a:r>
            <a:r>
              <a:rPr sz="1100" i="0">
                <a:solidFill>
                  <a:srgbClr val="AEB6BF"/>
                </a:solidFill>
                <a:latin typeface="Consolas"/>
              </a:rPr>
              <a:t>:</a:t>
            </a:r>
          </a:p>
          <a:p>
            <a:pPr>
              <a:lnSpc>
                <a:spcPct val="100000"/>
              </a:lnSpc>
              <a:spcAft>
                <a:spcPts val="0"/>
              </a:spcAft>
            </a:pPr>
            <a:r>
              <a:rPr sz="1100" i="0">
                <a:solidFill>
                  <a:srgbClr val="E8EDF2"/>
                </a:solidFill>
                <a:latin typeface="Consolas"/>
              </a:rPr>
              <a:t>        </a:t>
            </a:r>
            <a:r>
              <a:rPr sz="1100" i="0">
                <a:solidFill>
                  <a:srgbClr val="E8EDF2"/>
                </a:solidFill>
                <a:latin typeface="Consolas"/>
              </a:rPr>
              <a:t>val</a:t>
            </a:r>
            <a:r>
              <a:rPr sz="1100" i="0">
                <a:solidFill>
                  <a:srgbClr val="AEB6BF"/>
                </a:solidFill>
                <a:latin typeface="Consolas"/>
              </a:rPr>
              <a:t>,</a:t>
            </a:r>
            <a:r>
              <a:rPr sz="1100" i="0">
                <a:solidFill>
                  <a:srgbClr val="E8EDF2"/>
                </a:solidFill>
                <a:latin typeface="Consolas"/>
              </a:rPr>
              <a:t> </a:t>
            </a:r>
            <a:r>
              <a:rPr sz="1100" i="0">
                <a:solidFill>
                  <a:srgbClr val="E8EDF2"/>
                </a:solidFill>
                <a:latin typeface="Consolas"/>
              </a:rPr>
              <a:t>src</a:t>
            </a:r>
            <a:r>
              <a:rPr sz="1100" i="0">
                <a:solidFill>
                  <a:srgbClr val="E8EDF2"/>
                </a:solidFill>
                <a:latin typeface="Consolas"/>
              </a:rPr>
              <a:t> </a:t>
            </a:r>
            <a:r>
              <a:rPr sz="1100" i="0">
                <a:solidFill>
                  <a:srgbClr val="AEB6BF"/>
                </a:solidFill>
                <a:latin typeface="Consolas"/>
              </a:rPr>
              <a:t>=</a:t>
            </a:r>
            <a:r>
              <a:rPr sz="1100" i="0">
                <a:solidFill>
                  <a:srgbClr val="E8EDF2"/>
                </a:solidFill>
                <a:latin typeface="Consolas"/>
              </a:rPr>
              <a:t> </a:t>
            </a:r>
            <a:r>
              <a:rPr sz="1100" i="0">
                <a:solidFill>
                  <a:srgbClr val="E8EDF2"/>
                </a:solidFill>
                <a:latin typeface="Consolas"/>
              </a:rPr>
              <a:t>get</a:t>
            </a:r>
            <a:r>
              <a:rPr sz="1100" i="0">
                <a:solidFill>
                  <a:srgbClr val="AEB6BF"/>
                </a:solidFill>
                <a:latin typeface="Consolas"/>
              </a:rPr>
              <a:t>(</a:t>
            </a:r>
            <a:r>
              <a:rPr sz="1100" i="0">
                <a:solidFill>
                  <a:srgbClr val="7DCEA0"/>
                </a:solidFill>
                <a:latin typeface="Consolas"/>
              </a:rPr>
              <a:t>"</a:t>
            </a:r>
            <a:r>
              <a:rPr sz="1100" i="0">
                <a:solidFill>
                  <a:srgbClr val="7DCEA0"/>
                </a:solidFill>
                <a:latin typeface="Consolas"/>
              </a:rPr>
              <a:t>Release 4.7</a:t>
            </a:r>
            <a:r>
              <a:rPr sz="1100" i="0">
                <a:solidFill>
                  <a:srgbClr val="7DCEA0"/>
                </a:solidFill>
                <a:latin typeface="Consolas"/>
              </a:rPr>
              <a:t>"</a:t>
            </a:r>
            <a:r>
              <a:rPr sz="1100" i="0">
                <a:solidFill>
                  <a:srgbClr val="AEB6BF"/>
                </a:solidFill>
                <a:latin typeface="Consolas"/>
              </a:rPr>
              <a:t>,</a:t>
            </a:r>
            <a:r>
              <a:rPr sz="1100" i="0">
                <a:solidFill>
                  <a:srgbClr val="E8EDF2"/>
                </a:solidFill>
                <a:latin typeface="Consolas"/>
              </a:rPr>
              <a:t> </a:t>
            </a:r>
            <a:r>
              <a:rPr sz="1100" i="0">
                <a:solidFill>
                  <a:srgbClr val="E8EDF2"/>
                </a:solidFill>
                <a:latin typeface="Consolas"/>
              </a:rPr>
              <a:t>slot</a:t>
            </a:r>
            <a:r>
              <a:rPr sz="1100" i="0">
                <a:solidFill>
                  <a:srgbClr val="AEB6BF"/>
                </a:solidFill>
                <a:latin typeface="Consolas"/>
              </a:rPr>
              <a:t>)</a:t>
            </a:r>
          </a:p>
          <a:p>
            <a:pPr>
              <a:lnSpc>
                <a:spcPct val="100000"/>
              </a:lnSpc>
              <a:spcAft>
                <a:spcPts val="0"/>
              </a:spcAft>
            </a:pPr>
            <a:r>
              <a:rPr sz="1100" i="0">
                <a:solidFill>
                  <a:srgbClr val="E8EDF2"/>
                </a:solidFill>
                <a:latin typeface="Consolas"/>
              </a:rPr>
              <a:t>        </a:t>
            </a:r>
            <a:r>
              <a:rPr sz="1100" i="0">
                <a:solidFill>
                  <a:srgbClr val="C39BD3"/>
                </a:solidFill>
                <a:latin typeface="Consolas"/>
              </a:rPr>
              <a:t>print</a:t>
            </a:r>
            <a:r>
              <a:rPr sz="1100" i="0">
                <a:solidFill>
                  <a:srgbClr val="AEB6BF"/>
                </a:solidFill>
                <a:latin typeface="Consolas"/>
              </a:rPr>
              <a:t>(</a:t>
            </a:r>
            <a:r>
              <a:rPr sz="1100" i="0">
                <a:solidFill>
                  <a:srgbClr val="7DCEA0"/>
                </a:solidFill>
                <a:latin typeface="Consolas"/>
              </a:rPr>
              <a:t>"</a:t>
            </a:r>
            <a:r>
              <a:rPr sz="1100" i="0">
                <a:solidFill>
                  <a:srgbClr val="7DCEA0"/>
                </a:solidFill>
                <a:latin typeface="Consolas"/>
              </a:rPr>
              <a:t>   </a:t>
            </a:r>
            <a:r>
              <a:rPr sz="1100" i="0">
                <a:solidFill>
                  <a:srgbClr val="7DCEA0"/>
                </a:solidFill>
                <a:latin typeface="Consolas"/>
              </a:rPr>
              <a:t>%-16s</a:t>
            </a:r>
            <a:r>
              <a:rPr sz="1100" i="0">
                <a:solidFill>
                  <a:srgbClr val="7DCEA0"/>
                </a:solidFill>
                <a:latin typeface="Consolas"/>
              </a:rPr>
              <a:t> = </a:t>
            </a:r>
            <a:r>
              <a:rPr sz="1100" i="0">
                <a:solidFill>
                  <a:srgbClr val="7DCEA0"/>
                </a:solidFill>
                <a:latin typeface="Consolas"/>
              </a:rPr>
              <a:t>%-10s</a:t>
            </a:r>
            <a:r>
              <a:rPr sz="1100" i="0">
                <a:solidFill>
                  <a:srgbClr val="7DCEA0"/>
                </a:solidFill>
                <a:latin typeface="Consolas"/>
              </a:rPr>
              <a:t>  (from </a:t>
            </a:r>
            <a:r>
              <a:rPr sz="1100" i="0">
                <a:solidFill>
                  <a:srgbClr val="7DCEA0"/>
                </a:solidFill>
                <a:latin typeface="Consolas"/>
              </a:rPr>
              <a:t>%s</a:t>
            </a:r>
            <a:r>
              <a:rPr sz="1100" i="0">
                <a:solidFill>
                  <a:srgbClr val="7DCEA0"/>
                </a:solidFill>
                <a:latin typeface="Consolas"/>
              </a:rPr>
              <a:t>)</a:t>
            </a:r>
            <a:r>
              <a:rPr sz="1100" i="0">
                <a:solidFill>
                  <a:srgbClr val="7DCEA0"/>
                </a:solidFill>
                <a:latin typeface="Consolas"/>
              </a:rPr>
              <a:t>"</a:t>
            </a:r>
            <a:r>
              <a:rPr sz="1100" i="0">
                <a:solidFill>
                  <a:srgbClr val="E8EDF2"/>
                </a:solidFill>
                <a:latin typeface="Consolas"/>
              </a:rPr>
              <a:t> </a:t>
            </a:r>
            <a:r>
              <a:rPr sz="1100" i="0">
                <a:solidFill>
                  <a:srgbClr val="AEB6BF"/>
                </a:solidFill>
                <a:latin typeface="Consolas"/>
              </a:rPr>
              <a:t>%</a:t>
            </a:r>
            <a:r>
              <a:rPr sz="1100" i="0">
                <a:solidFill>
                  <a:srgbClr val="E8EDF2"/>
                </a:solidFill>
                <a:latin typeface="Consolas"/>
              </a:rPr>
              <a:t> </a:t>
            </a:r>
            <a:r>
              <a:rPr sz="1100" i="0">
                <a:solidFill>
                  <a:srgbClr val="AEB6BF"/>
                </a:solidFill>
                <a:latin typeface="Consolas"/>
              </a:rPr>
              <a:t>(</a:t>
            </a:r>
            <a:r>
              <a:rPr sz="1100" i="0">
                <a:solidFill>
                  <a:srgbClr val="E8EDF2"/>
                </a:solidFill>
                <a:latin typeface="Consolas"/>
              </a:rPr>
              <a:t>slot</a:t>
            </a:r>
            <a:r>
              <a:rPr sz="1100" i="0">
                <a:solidFill>
                  <a:srgbClr val="AEB6BF"/>
                </a:solidFill>
                <a:latin typeface="Consolas"/>
              </a:rPr>
              <a:t>,</a:t>
            </a:r>
            <a:r>
              <a:rPr sz="1100" i="0">
                <a:solidFill>
                  <a:srgbClr val="E8EDF2"/>
                </a:solidFill>
                <a:latin typeface="Consolas"/>
              </a:rPr>
              <a:t> </a:t>
            </a:r>
            <a:r>
              <a:rPr sz="1100" i="0">
                <a:solidFill>
                  <a:srgbClr val="E8EDF2"/>
                </a:solidFill>
                <a:latin typeface="Consolas"/>
              </a:rPr>
              <a:t>val</a:t>
            </a:r>
            <a:r>
              <a:rPr sz="1100" i="0">
                <a:solidFill>
                  <a:srgbClr val="AEB6BF"/>
                </a:solidFill>
                <a:latin typeface="Consolas"/>
              </a:rPr>
              <a:t>,</a:t>
            </a:r>
            <a:r>
              <a:rPr sz="1100" i="0">
                <a:solidFill>
                  <a:srgbClr val="E8EDF2"/>
                </a:solidFill>
                <a:latin typeface="Consolas"/>
              </a:rPr>
              <a:t> </a:t>
            </a:r>
            <a:r>
              <a:rPr sz="1100" i="0">
                <a:solidFill>
                  <a:srgbClr val="E8EDF2"/>
                </a:solidFill>
                <a:latin typeface="Consolas"/>
              </a:rPr>
              <a:t>src</a:t>
            </a:r>
            <a:r>
              <a:rPr sz="1100" i="0">
                <a:solidFill>
                  <a:srgbClr val="AEB6BF"/>
                </a:solidFill>
                <a:latin typeface="Consolas"/>
              </a:rPr>
              <a:t>)</a:t>
            </a:r>
            <a:r>
              <a:rPr sz="1100" i="0">
                <a:solidFill>
                  <a:srgbClr val="AEB6BF"/>
                </a:solidFill>
                <a:latin typeface="Consolas"/>
              </a:rPr>
              <a:t>)</a:t>
            </a:r>
          </a:p>
          <a:p>
            <a:pPr>
              <a:lnSpc>
                <a:spcPct val="100000"/>
              </a:lnSpc>
              <a:spcAft>
                <a:spcPts val="0"/>
              </a:spcAft>
            </a:pPr>
            <a:r>
              <a:rPr sz="1100">
                <a:latin typeface="Consolas"/>
              </a:rPr>
              <a:t> </a:t>
            </a:r>
          </a:p>
          <a:p>
            <a:pPr>
              <a:lnSpc>
                <a:spcPct val="100000"/>
              </a:lnSpc>
              <a:spcAft>
                <a:spcPts val="0"/>
              </a:spcAft>
            </a:pPr>
            <a:r>
              <a:rPr sz="1100" i="0">
                <a:solidFill>
                  <a:srgbClr val="E8EDF2"/>
                </a:solidFill>
                <a:latin typeface="Consolas"/>
              </a:rPr>
              <a:t>    </a:t>
            </a:r>
            <a:r>
              <a:rPr sz="1100" i="1">
                <a:solidFill>
                  <a:srgbClr val="8795A1"/>
                </a:solidFill>
                <a:latin typeface="Consolas"/>
              </a:rPr>
              <a:t># the default was correctly suppressed</a:t>
            </a:r>
          </a:p>
          <a:p>
            <a:pPr>
              <a:lnSpc>
                <a:spcPct val="100000"/>
              </a:lnSpc>
              <a:spcAft>
                <a:spcPts val="0"/>
              </a:spcAft>
            </a:pPr>
            <a:r>
              <a:rPr sz="1100" i="0">
                <a:solidFill>
                  <a:srgbClr val="E8EDF2"/>
                </a:solidFill>
                <a:latin typeface="Consolas"/>
              </a:rPr>
              <a:t>    </a:t>
            </a:r>
            <a:r>
              <a:rPr sz="1100" i="0">
                <a:solidFill>
                  <a:srgbClr val="5DADE2"/>
                </a:solidFill>
                <a:latin typeface="Consolas"/>
              </a:rPr>
              <a:t>assert</a:t>
            </a:r>
            <a:r>
              <a:rPr sz="1100" i="0">
                <a:solidFill>
                  <a:srgbClr val="E8EDF2"/>
                </a:solidFill>
                <a:latin typeface="Consolas"/>
              </a:rPr>
              <a:t> </a:t>
            </a:r>
            <a:r>
              <a:rPr sz="1100" i="0">
                <a:solidFill>
                  <a:srgbClr val="E8EDF2"/>
                </a:solidFill>
                <a:latin typeface="Consolas"/>
              </a:rPr>
              <a:t>get</a:t>
            </a:r>
            <a:r>
              <a:rPr sz="1100" i="0">
                <a:solidFill>
                  <a:srgbClr val="AEB6BF"/>
                </a:solidFill>
                <a:latin typeface="Consolas"/>
              </a:rPr>
              <a:t>(</a:t>
            </a:r>
            <a:r>
              <a:rPr sz="1100" i="0">
                <a:solidFill>
                  <a:srgbClr val="7DCEA0"/>
                </a:solidFill>
                <a:latin typeface="Consolas"/>
              </a:rPr>
              <a:t>"</a:t>
            </a:r>
            <a:r>
              <a:rPr sz="1100" i="0">
                <a:solidFill>
                  <a:srgbClr val="7DCEA0"/>
                </a:solidFill>
                <a:latin typeface="Consolas"/>
              </a:rPr>
              <a:t>Release 4.7</a:t>
            </a:r>
            <a:r>
              <a:rPr sz="1100" i="0">
                <a:solidFill>
                  <a:srgbClr val="7DCEA0"/>
                </a:solidFill>
                <a:latin typeface="Consolas"/>
              </a:rPr>
              <a:t>"</a:t>
            </a:r>
            <a:r>
              <a:rPr sz="1100" i="0">
                <a:solidFill>
                  <a:srgbClr val="AEB6BF"/>
                </a:solidFill>
                <a:latin typeface="Consolas"/>
              </a:rPr>
              <a:t>,</a:t>
            </a:r>
            <a:r>
              <a:rPr sz="1100" i="0">
                <a:solidFill>
                  <a:srgbClr val="E8EDF2"/>
                </a:solidFill>
                <a:latin typeface="Consolas"/>
              </a:rPr>
              <a:t> </a:t>
            </a:r>
            <a:r>
              <a:rPr sz="1100" i="0">
                <a:solidFill>
                  <a:srgbClr val="7DCEA0"/>
                </a:solidFill>
                <a:latin typeface="Consolas"/>
              </a:rPr>
              <a:t>"</a:t>
            </a:r>
            <a:r>
              <a:rPr sz="1100" i="0">
                <a:solidFill>
                  <a:srgbClr val="7DCEA0"/>
                </a:solidFill>
                <a:latin typeface="Consolas"/>
              </a:rPr>
              <a:t>regression-pass</a:t>
            </a:r>
            <a:r>
              <a:rPr sz="1100" i="0">
                <a:solidFill>
                  <a:srgbClr val="7DCEA0"/>
                </a:solidFill>
                <a:latin typeface="Consolas"/>
              </a:rPr>
              <a:t>"</a:t>
            </a:r>
            <a:r>
              <a:rPr sz="1100" i="0">
                <a:solidFill>
                  <a:srgbClr val="AEB6BF"/>
                </a:solidFill>
                <a:latin typeface="Consolas"/>
              </a:rPr>
              <a:t>)</a:t>
            </a:r>
            <a:r>
              <a:rPr sz="1100" i="0">
                <a:solidFill>
                  <a:srgbClr val="E8EDF2"/>
                </a:solidFill>
                <a:latin typeface="Consolas"/>
              </a:rPr>
              <a:t> </a:t>
            </a:r>
            <a:r>
              <a:rPr sz="1100" i="0">
                <a:solidFill>
                  <a:srgbClr val="AEB6BF"/>
                </a:solidFill>
                <a:latin typeface="Consolas"/>
              </a:rPr>
              <a:t>==</a:t>
            </a:r>
            <a:r>
              <a:rPr sz="1100" i="0">
                <a:solidFill>
                  <a:srgbClr val="E8EDF2"/>
                </a:solidFill>
                <a:latin typeface="Consolas"/>
              </a:rPr>
              <a:t> </a:t>
            </a:r>
            <a:r>
              <a:rPr sz="1100" i="0">
                <a:solidFill>
                  <a:srgbClr val="AEB6BF"/>
                </a:solidFill>
                <a:latin typeface="Consolas"/>
              </a:rPr>
              <a:t>(</a:t>
            </a:r>
            <a:r>
              <a:rPr sz="1100" i="0">
                <a:solidFill>
                  <a:srgbClr val="7DCEA0"/>
                </a:solidFill>
                <a:latin typeface="Consolas"/>
              </a:rPr>
              <a:t>"</a:t>
            </a:r>
            <a:r>
              <a:rPr sz="1100" i="0">
                <a:solidFill>
                  <a:srgbClr val="7DCEA0"/>
                </a:solidFill>
                <a:latin typeface="Consolas"/>
              </a:rPr>
              <a:t>smoke</a:t>
            </a:r>
            <a:r>
              <a:rPr sz="1100" i="0">
                <a:solidFill>
                  <a:srgbClr val="7DCEA0"/>
                </a:solidFill>
                <a:latin typeface="Consolas"/>
              </a:rPr>
              <a:t>"</a:t>
            </a:r>
            <a:r>
              <a:rPr sz="1100" i="0">
                <a:solidFill>
                  <a:srgbClr val="AEB6BF"/>
                </a:solidFill>
                <a:latin typeface="Consolas"/>
              </a:rPr>
              <a:t>,</a:t>
            </a:r>
            <a:r>
              <a:rPr sz="1100" i="0">
                <a:solidFill>
                  <a:srgbClr val="E8EDF2"/>
                </a:solidFill>
                <a:latin typeface="Consolas"/>
              </a:rPr>
              <a:t> </a:t>
            </a:r>
            <a:r>
              <a:rPr sz="1100" i="0">
                <a:solidFill>
                  <a:srgbClr val="7DCEA0"/>
                </a:solidFill>
                <a:latin typeface="Consolas"/>
              </a:rPr>
              <a:t>"</a:t>
            </a:r>
            <a:r>
              <a:rPr sz="1100" i="0">
                <a:solidFill>
                  <a:srgbClr val="7DCEA0"/>
                </a:solidFill>
                <a:latin typeface="Consolas"/>
              </a:rPr>
              <a:t>Hotfix</a:t>
            </a:r>
            <a:r>
              <a:rPr sz="1100" i="0">
                <a:solidFill>
                  <a:srgbClr val="7DCEA0"/>
                </a:solidFill>
                <a:latin typeface="Consolas"/>
              </a:rPr>
              <a:t>"</a:t>
            </a:r>
            <a:r>
              <a:rPr sz="1100" i="0">
                <a:solidFill>
                  <a:srgbClr val="AEB6BF"/>
                </a:solidFill>
                <a:latin typeface="Consolas"/>
              </a:rPr>
              <a:t>)</a:t>
            </a:r>
          </a:p>
          <a:p>
            <a:pPr>
              <a:lnSpc>
                <a:spcPct val="100000"/>
              </a:lnSpc>
              <a:spcAft>
                <a:spcPts val="0"/>
              </a:spcAft>
            </a:pPr>
            <a:r>
              <a:rPr sz="1100" i="0">
                <a:solidFill>
                  <a:srgbClr val="E8EDF2"/>
                </a:solidFill>
                <a:latin typeface="Consolas"/>
              </a:rPr>
              <a:t>    </a:t>
            </a:r>
            <a:r>
              <a:rPr sz="1100" i="0">
                <a:solidFill>
                  <a:srgbClr val="5DADE2"/>
                </a:solidFill>
                <a:latin typeface="Consolas"/>
              </a:rPr>
              <a:t>assert</a:t>
            </a:r>
            <a:r>
              <a:rPr sz="1100" i="0">
                <a:solidFill>
                  <a:srgbClr val="E8EDF2"/>
                </a:solidFill>
                <a:latin typeface="Consolas"/>
              </a:rPr>
              <a:t> </a:t>
            </a:r>
            <a:r>
              <a:rPr sz="1100" i="0">
                <a:solidFill>
                  <a:srgbClr val="E8EDF2"/>
                </a:solidFill>
                <a:latin typeface="Consolas"/>
              </a:rPr>
              <a:t>get</a:t>
            </a:r>
            <a:r>
              <a:rPr sz="1100" i="0">
                <a:solidFill>
                  <a:srgbClr val="AEB6BF"/>
                </a:solidFill>
                <a:latin typeface="Consolas"/>
              </a:rPr>
              <a:t>(</a:t>
            </a:r>
            <a:r>
              <a:rPr sz="1100" i="0">
                <a:solidFill>
                  <a:srgbClr val="7DCEA0"/>
                </a:solidFill>
                <a:latin typeface="Consolas"/>
              </a:rPr>
              <a:t>"</a:t>
            </a:r>
            <a:r>
              <a:rPr sz="1100" i="0">
                <a:solidFill>
                  <a:srgbClr val="7DCEA0"/>
                </a:solidFill>
                <a:latin typeface="Consolas"/>
              </a:rPr>
              <a:t>Release</a:t>
            </a:r>
            <a:r>
              <a:rPr sz="1100" i="0">
                <a:solidFill>
                  <a:srgbClr val="7DCEA0"/>
                </a:solidFill>
                <a:latin typeface="Consolas"/>
              </a:rPr>
              <a:t>"</a:t>
            </a:r>
            <a:r>
              <a:rPr sz="1100" i="0">
                <a:solidFill>
                  <a:srgbClr val="AEB6BF"/>
                </a:solidFill>
                <a:latin typeface="Consolas"/>
              </a:rPr>
              <a:t>,</a:t>
            </a:r>
            <a:r>
              <a:rPr sz="1100" i="0">
                <a:solidFill>
                  <a:srgbClr val="E8EDF2"/>
                </a:solidFill>
                <a:latin typeface="Consolas"/>
              </a:rPr>
              <a:t> </a:t>
            </a:r>
            <a:r>
              <a:rPr sz="1100" i="0">
                <a:solidFill>
                  <a:srgbClr val="7DCEA0"/>
                </a:solidFill>
                <a:latin typeface="Consolas"/>
              </a:rPr>
              <a:t>"</a:t>
            </a:r>
            <a:r>
              <a:rPr sz="1100" i="0">
                <a:solidFill>
                  <a:srgbClr val="7DCEA0"/>
                </a:solidFill>
                <a:latin typeface="Consolas"/>
              </a:rPr>
              <a:t>regression-pass</a:t>
            </a:r>
            <a:r>
              <a:rPr sz="1100" i="0">
                <a:solidFill>
                  <a:srgbClr val="7DCEA0"/>
                </a:solidFill>
                <a:latin typeface="Consolas"/>
              </a:rPr>
              <a:t>"</a:t>
            </a:r>
            <a:r>
              <a:rPr sz="1100" i="0">
                <a:solidFill>
                  <a:srgbClr val="AEB6BF"/>
                </a:solidFill>
                <a:latin typeface="Consolas"/>
              </a:rPr>
              <a:t>)</a:t>
            </a:r>
            <a:r>
              <a:rPr sz="1100" i="0">
                <a:solidFill>
                  <a:srgbClr val="E8EDF2"/>
                </a:solidFill>
                <a:latin typeface="Consolas"/>
              </a:rPr>
              <a:t> </a:t>
            </a:r>
            <a:r>
              <a:rPr sz="1100" i="0">
                <a:solidFill>
                  <a:srgbClr val="AEB6BF"/>
                </a:solidFill>
                <a:latin typeface="Consolas"/>
              </a:rPr>
              <a:t>==</a:t>
            </a:r>
            <a:r>
              <a:rPr sz="1100" i="0">
                <a:solidFill>
                  <a:srgbClr val="E8EDF2"/>
                </a:solidFill>
                <a:latin typeface="Consolas"/>
              </a:rPr>
              <a:t> </a:t>
            </a:r>
            <a:r>
              <a:rPr sz="1100" i="0">
                <a:solidFill>
                  <a:srgbClr val="AEB6BF"/>
                </a:solidFill>
                <a:latin typeface="Consolas"/>
              </a:rPr>
              <a:t>(</a:t>
            </a:r>
            <a:r>
              <a:rPr sz="1100" i="0">
                <a:solidFill>
                  <a:srgbClr val="7DCEA0"/>
                </a:solidFill>
                <a:latin typeface="Consolas"/>
              </a:rPr>
              <a:t>"</a:t>
            </a:r>
            <a:r>
              <a:rPr sz="1100" i="0">
                <a:solidFill>
                  <a:srgbClr val="7DCEA0"/>
                </a:solidFill>
                <a:latin typeface="Consolas"/>
              </a:rPr>
              <a:t>full</a:t>
            </a:r>
            <a:r>
              <a:rPr sz="1100" i="0">
                <a:solidFill>
                  <a:srgbClr val="7DCEA0"/>
                </a:solidFill>
                <a:latin typeface="Consolas"/>
              </a:rPr>
              <a:t>"</a:t>
            </a:r>
            <a:r>
              <a:rPr sz="1100" i="0">
                <a:solidFill>
                  <a:srgbClr val="AEB6BF"/>
                </a:solidFill>
                <a:latin typeface="Consolas"/>
              </a:rPr>
              <a:t>,</a:t>
            </a:r>
            <a:r>
              <a:rPr sz="1100" i="0">
                <a:solidFill>
                  <a:srgbClr val="E8EDF2"/>
                </a:solidFill>
                <a:latin typeface="Consolas"/>
              </a:rPr>
              <a:t> </a:t>
            </a:r>
            <a:r>
              <a:rPr sz="1100" i="0">
                <a:solidFill>
                  <a:srgbClr val="7DCEA0"/>
                </a:solidFill>
                <a:latin typeface="Consolas"/>
              </a:rPr>
              <a:t>"</a:t>
            </a:r>
            <a:r>
              <a:rPr sz="1100" i="0">
                <a:solidFill>
                  <a:srgbClr val="7DCEA0"/>
                </a:solidFill>
                <a:latin typeface="Consolas"/>
              </a:rPr>
              <a:t>Release</a:t>
            </a:r>
            <a:r>
              <a:rPr sz="1100" i="0">
                <a:solidFill>
                  <a:srgbClr val="7DCEA0"/>
                </a:solidFill>
                <a:latin typeface="Consolas"/>
              </a:rPr>
              <a:t>"</a:t>
            </a:r>
            <a:r>
              <a:rPr sz="1100" i="0">
                <a:solidFill>
                  <a:srgbClr val="AEB6BF"/>
                </a:solidFill>
                <a:latin typeface="Consolas"/>
              </a:rPr>
              <a:t>)</a:t>
            </a:r>
          </a:p>
          <a:p>
            <a:pPr>
              <a:lnSpc>
                <a:spcPct val="100000"/>
              </a:lnSpc>
              <a:spcAft>
                <a:spcPts val="0"/>
              </a:spcAft>
            </a:pPr>
            <a:r>
              <a:rPr sz="1100" i="0">
                <a:solidFill>
                  <a:srgbClr val="E8EDF2"/>
                </a:solidFill>
                <a:latin typeface="Consolas"/>
              </a:rPr>
              <a:t>    </a:t>
            </a:r>
            <a:r>
              <a:rPr sz="1100" i="1">
                <a:solidFill>
                  <a:srgbClr val="8795A1"/>
                </a:solidFill>
                <a:latin typeface="Consolas"/>
              </a:rPr>
              <a:t># and a default two levels up is still found</a:t>
            </a:r>
          </a:p>
          <a:p>
            <a:pPr>
              <a:lnSpc>
                <a:spcPct val="100000"/>
              </a:lnSpc>
              <a:spcAft>
                <a:spcPts val="0"/>
              </a:spcAft>
            </a:pPr>
            <a:r>
              <a:rPr sz="1100" i="0">
                <a:solidFill>
                  <a:srgbClr val="E8EDF2"/>
                </a:solidFill>
                <a:latin typeface="Consolas"/>
              </a:rPr>
              <a:t>    </a:t>
            </a:r>
            <a:r>
              <a:rPr sz="1100" i="0">
                <a:solidFill>
                  <a:srgbClr val="5DADE2"/>
                </a:solidFill>
                <a:latin typeface="Consolas"/>
              </a:rPr>
              <a:t>assert</a:t>
            </a:r>
            <a:r>
              <a:rPr sz="1100" i="0">
                <a:solidFill>
                  <a:srgbClr val="E8EDF2"/>
                </a:solidFill>
                <a:latin typeface="Consolas"/>
              </a:rPr>
              <a:t> </a:t>
            </a:r>
            <a:r>
              <a:rPr sz="1100" i="0">
                <a:solidFill>
                  <a:srgbClr val="E8EDF2"/>
                </a:solidFill>
                <a:latin typeface="Consolas"/>
              </a:rPr>
              <a:t>get</a:t>
            </a:r>
            <a:r>
              <a:rPr sz="1100" i="0">
                <a:solidFill>
                  <a:srgbClr val="AEB6BF"/>
                </a:solidFill>
                <a:latin typeface="Consolas"/>
              </a:rPr>
              <a:t>(</a:t>
            </a:r>
            <a:r>
              <a:rPr sz="1100" i="0">
                <a:solidFill>
                  <a:srgbClr val="7DCEA0"/>
                </a:solidFill>
                <a:latin typeface="Consolas"/>
              </a:rPr>
              <a:t>"</a:t>
            </a:r>
            <a:r>
              <a:rPr sz="1100" i="0">
                <a:solidFill>
                  <a:srgbClr val="7DCEA0"/>
                </a:solidFill>
                <a:latin typeface="Consolas"/>
              </a:rPr>
              <a:t>Release 4.7</a:t>
            </a:r>
            <a:r>
              <a:rPr sz="1100" i="0">
                <a:solidFill>
                  <a:srgbClr val="7DCEA0"/>
                </a:solidFill>
                <a:latin typeface="Consolas"/>
              </a:rPr>
              <a:t>"</a:t>
            </a:r>
            <a:r>
              <a:rPr sz="1100" i="0">
                <a:solidFill>
                  <a:srgbClr val="AEB6BF"/>
                </a:solidFill>
                <a:latin typeface="Consolas"/>
              </a:rPr>
              <a:t>,</a:t>
            </a:r>
            <a:r>
              <a:rPr sz="1100" i="0">
                <a:solidFill>
                  <a:srgbClr val="E8EDF2"/>
                </a:solidFill>
                <a:latin typeface="Consolas"/>
              </a:rPr>
              <a:t> </a:t>
            </a:r>
            <a:r>
              <a:rPr sz="1100" i="0">
                <a:solidFill>
                  <a:srgbClr val="7DCEA0"/>
                </a:solidFill>
                <a:latin typeface="Consolas"/>
              </a:rPr>
              <a:t>"</a:t>
            </a:r>
            <a:r>
              <a:rPr sz="1100" i="0">
                <a:solidFill>
                  <a:srgbClr val="7DCEA0"/>
                </a:solidFill>
                <a:latin typeface="Consolas"/>
              </a:rPr>
              <a:t>needs-signoff</a:t>
            </a:r>
            <a:r>
              <a:rPr sz="1100" i="0">
                <a:solidFill>
                  <a:srgbClr val="7DCEA0"/>
                </a:solidFill>
                <a:latin typeface="Consolas"/>
              </a:rPr>
              <a:t>"</a:t>
            </a:r>
            <a:r>
              <a:rPr sz="1100" i="0">
                <a:solidFill>
                  <a:srgbClr val="AEB6BF"/>
                </a:solidFill>
                <a:latin typeface="Consolas"/>
              </a:rPr>
              <a:t>)</a:t>
            </a:r>
            <a:r>
              <a:rPr sz="1100" i="0">
                <a:solidFill>
                  <a:srgbClr val="E8EDF2"/>
                </a:solidFill>
                <a:latin typeface="Consolas"/>
              </a:rPr>
              <a:t> </a:t>
            </a:r>
            <a:r>
              <a:rPr sz="1100" i="0">
                <a:solidFill>
                  <a:srgbClr val="AEB6BF"/>
                </a:solidFill>
                <a:latin typeface="Consolas"/>
              </a:rPr>
              <a:t>==</a:t>
            </a:r>
            <a:r>
              <a:rPr sz="1100" i="0">
                <a:solidFill>
                  <a:srgbClr val="E8EDF2"/>
                </a:solidFill>
                <a:latin typeface="Consolas"/>
              </a:rPr>
              <a:t> </a:t>
            </a:r>
            <a:r>
              <a:rPr sz="1100" i="0">
                <a:solidFill>
                  <a:srgbClr val="AEB6BF"/>
                </a:solidFill>
                <a:latin typeface="Consolas"/>
              </a:rPr>
              <a:t>(</a:t>
            </a:r>
            <a:r>
              <a:rPr sz="1100" i="0">
                <a:solidFill>
                  <a:srgbClr val="7DCEA0"/>
                </a:solidFill>
                <a:latin typeface="Consolas"/>
              </a:rPr>
              <a:t>"</a:t>
            </a:r>
            <a:r>
              <a:rPr sz="1100" i="0">
                <a:solidFill>
                  <a:srgbClr val="7DCEA0"/>
                </a:solidFill>
                <a:latin typeface="Consolas"/>
              </a:rPr>
              <a:t>yes</a:t>
            </a:r>
            <a:r>
              <a:rPr sz="1100" i="0">
                <a:solidFill>
                  <a:srgbClr val="7DCEA0"/>
                </a:solidFill>
                <a:latin typeface="Consolas"/>
              </a:rPr>
              <a:t>"</a:t>
            </a:r>
            <a:r>
              <a:rPr sz="1100" i="0">
                <a:solidFill>
                  <a:srgbClr val="AEB6BF"/>
                </a:solidFill>
                <a:latin typeface="Consolas"/>
              </a:rPr>
              <a:t>,</a:t>
            </a:r>
            <a:r>
              <a:rPr sz="1100" i="0">
                <a:solidFill>
                  <a:srgbClr val="E8EDF2"/>
                </a:solidFill>
                <a:latin typeface="Consolas"/>
              </a:rPr>
              <a:t> </a:t>
            </a:r>
            <a:r>
              <a:rPr sz="1100" i="0">
                <a:solidFill>
                  <a:srgbClr val="7DCEA0"/>
                </a:solidFill>
                <a:latin typeface="Consolas"/>
              </a:rPr>
              <a:t>"</a:t>
            </a:r>
            <a:r>
              <a:rPr sz="1100" i="0">
                <a:solidFill>
                  <a:srgbClr val="7DCEA0"/>
                </a:solidFill>
                <a:latin typeface="Consolas"/>
              </a:rPr>
              <a:t>Release</a:t>
            </a:r>
            <a:r>
              <a:rPr sz="1100" i="0">
                <a:solidFill>
                  <a:srgbClr val="7DCEA0"/>
                </a:solidFill>
                <a:latin typeface="Consolas"/>
              </a:rPr>
              <a:t>"</a:t>
            </a:r>
            <a:r>
              <a:rPr sz="1100" i="0">
                <a:solidFill>
                  <a:srgbClr val="AEB6BF"/>
                </a:solidFill>
                <a:latin typeface="Consolas"/>
              </a:rPr>
              <a:t>)</a:t>
            </a:r>
          </a:p>
          <a:p>
            <a:pPr>
              <a:lnSpc>
                <a:spcPct val="100000"/>
              </a:lnSpc>
              <a:spcAft>
                <a:spcPts val="0"/>
              </a:spcAft>
            </a:pPr>
            <a:r>
              <a:rPr sz="1100" i="0">
                <a:solidFill>
                  <a:srgbClr val="E8EDF2"/>
                </a:solidFill>
                <a:latin typeface="Consolas"/>
              </a:rPr>
              <a:t>    </a:t>
            </a:r>
            <a:r>
              <a:rPr sz="1100" i="0">
                <a:solidFill>
                  <a:srgbClr val="C39BD3"/>
                </a:solidFill>
                <a:latin typeface="Consolas"/>
              </a:rPr>
              <a:t>print</a:t>
            </a:r>
            <a:r>
              <a:rPr sz="1100" i="0">
                <a:solidFill>
                  <a:srgbClr val="AEB6BF"/>
                </a:solidFill>
                <a:latin typeface="Consolas"/>
              </a:rPr>
              <a:t>(</a:t>
            </a:r>
            <a:r>
              <a:rPr sz="1100" i="0">
                <a:solidFill>
                  <a:srgbClr val="AEB6BF"/>
                </a:solidFill>
                <a:latin typeface="Consolas"/>
              </a:rPr>
              <a:t>)</a:t>
            </a:r>
          </a:p>
          <a:p>
            <a:pPr>
              <a:lnSpc>
                <a:spcPct val="100000"/>
              </a:lnSpc>
              <a:spcAft>
                <a:spcPts val="0"/>
              </a:spcAft>
            </a:pPr>
            <a:r>
              <a:rPr sz="1100" i="0">
                <a:solidFill>
                  <a:srgbClr val="E8EDF2"/>
                </a:solidFill>
                <a:latin typeface="Consolas"/>
              </a:rPr>
              <a:t>    </a:t>
            </a:r>
            <a:r>
              <a:rPr sz="1100" i="0">
                <a:solidFill>
                  <a:srgbClr val="C39BD3"/>
                </a:solidFill>
                <a:latin typeface="Consolas"/>
              </a:rPr>
              <a:t>print</a:t>
            </a:r>
            <a:r>
              <a:rPr sz="1100" i="0">
                <a:solidFill>
                  <a:srgbClr val="AEB6BF"/>
                </a:solidFill>
                <a:latin typeface="Consolas"/>
              </a:rPr>
              <a:t>(</a:t>
            </a:r>
            <a:r>
              <a:rPr sz="1100" i="0">
                <a:solidFill>
                  <a:srgbClr val="7DCEA0"/>
                </a:solidFill>
                <a:latin typeface="Consolas"/>
              </a:rPr>
              <a:t>"</a:t>
            </a:r>
            <a:r>
              <a:rPr sz="1100" i="0">
                <a:solidFill>
                  <a:srgbClr val="7DCEA0"/>
                </a:solidFill>
                <a:latin typeface="Consolas"/>
              </a:rPr>
              <a:t>'</a:t>
            </a:r>
            <a:r>
              <a:rPr sz="1100" i="0">
                <a:solidFill>
                  <a:srgbClr val="7DCEA0"/>
                </a:solidFill>
                <a:latin typeface="Consolas"/>
              </a:rPr>
              <a:t>smoke</a:t>
            </a:r>
            <a:r>
              <a:rPr sz="1100" i="0">
                <a:solidFill>
                  <a:srgbClr val="7DCEA0"/>
                </a:solidFill>
                <a:latin typeface="Consolas"/>
              </a:rPr>
              <a:t>'</a:t>
            </a:r>
            <a:r>
              <a:rPr sz="1100" i="0">
                <a:solidFill>
                  <a:srgbClr val="7DCEA0"/>
                </a:solidFill>
                <a:latin typeface="Consolas"/>
              </a:rPr>
              <a:t> overrode </a:t>
            </a:r>
            <a:r>
              <a:rPr sz="1100" i="0">
                <a:solidFill>
                  <a:srgbClr val="7DCEA0"/>
                </a:solidFill>
                <a:latin typeface="Consolas"/>
              </a:rPr>
              <a:t>'</a:t>
            </a:r>
            <a:r>
              <a:rPr sz="1100" i="0">
                <a:solidFill>
                  <a:srgbClr val="7DCEA0"/>
                </a:solidFill>
                <a:latin typeface="Consolas"/>
              </a:rPr>
              <a:t>full</a:t>
            </a:r>
            <a:r>
              <a:rPr sz="1100" i="0">
                <a:solidFill>
                  <a:srgbClr val="7DCEA0"/>
                </a:solidFill>
                <a:latin typeface="Consolas"/>
              </a:rPr>
              <a:t>'</a:t>
            </a:r>
            <a:r>
              <a:rPr sz="1100" i="0">
                <a:solidFill>
                  <a:srgbClr val="7DCEA0"/>
                </a:solidFill>
                <a:latin typeface="Consolas"/>
              </a:rPr>
              <a:t>; </a:t>
            </a:r>
            <a:r>
              <a:rPr sz="1100" i="0">
                <a:solidFill>
                  <a:srgbClr val="7DCEA0"/>
                </a:solidFill>
                <a:latin typeface="Consolas"/>
              </a:rPr>
              <a:t>'</a:t>
            </a:r>
            <a:r>
              <a:rPr sz="1100" i="0">
                <a:solidFill>
                  <a:srgbClr val="7DCEA0"/>
                </a:solidFill>
                <a:latin typeface="Consolas"/>
              </a:rPr>
              <a:t>yes</a:t>
            </a:r>
            <a:r>
              <a:rPr sz="1100" i="0">
                <a:solidFill>
                  <a:srgbClr val="7DCEA0"/>
                </a:solidFill>
                <a:latin typeface="Consolas"/>
              </a:rPr>
              <a:t>'</a:t>
            </a:r>
            <a:r>
              <a:rPr sz="1100" i="0">
                <a:solidFill>
                  <a:srgbClr val="7DCEA0"/>
                </a:solidFill>
                <a:latin typeface="Consolas"/>
              </a:rPr>
              <a:t> was still reached two levels up.</a:t>
            </a:r>
            <a:r>
              <a:rPr sz="1100" i="0">
                <a:solidFill>
                  <a:srgbClr val="7DCEA0"/>
                </a:solidFill>
                <a:latin typeface="Consolas"/>
              </a:rPr>
              <a:t>"</a:t>
            </a:r>
            <a:r>
              <a:rPr sz="1100" i="0">
                <a:solidFill>
                  <a:srgbClr val="AEB6BF"/>
                </a:solidFill>
                <a:latin typeface="Consolas"/>
              </a:rPr>
              <a:t>)</a:t>
            </a:r>
          </a:p>
        </p:txBody>
      </p:sp>
      <p:sp>
        <p:nvSpPr>
          <p:cNvPr id="15" name="!!code-num"/>
          <p:cNvSpPr txBox="1"/>
          <p:nvPr/>
        </p:nvSpPr>
        <p:spPr>
          <a:xfrm>
            <a:off x="768096" y="2523744"/>
            <a:ext cx="393192" cy="3462527"/>
          </a:xfrm>
          <a:prstGeom prst="rect">
            <a:avLst/>
          </a:prstGeom>
          <a:noFill/>
        </p:spPr>
        <p:txBody>
          <a:bodyPr wrap="none" anchor="t" lIns="0" rIns="0" tIns="0" bIns="0">
            <a:noAutofit/>
          </a:bodyPr>
          <a:lstStyle/>
          <a:p>
            <a:pPr algn="r">
              <a:lnSpc>
                <a:spcPct val="100000"/>
              </a:lnSpc>
            </a:pPr>
            <a:r>
              <a:rPr sz="1100">
                <a:solidFill>
                  <a:srgbClr val="4F5D6A"/>
                </a:solidFill>
                <a:latin typeface="Consolas"/>
              </a:rPr>
              <a:t>98</a:t>
            </a:r>
          </a:p>
          <a:p>
            <a:pPr algn="r">
              <a:lnSpc>
                <a:spcPct val="100000"/>
              </a:lnSpc>
            </a:pPr>
            <a:r>
              <a:rPr sz="1100">
                <a:solidFill>
                  <a:srgbClr val="4F5D6A"/>
                </a:solidFill>
                <a:latin typeface="Consolas"/>
              </a:rPr>
              <a:t>99</a:t>
            </a:r>
          </a:p>
          <a:p>
            <a:pPr algn="r">
              <a:lnSpc>
                <a:spcPct val="100000"/>
              </a:lnSpc>
            </a:pPr>
            <a:r>
              <a:rPr sz="1100">
                <a:solidFill>
                  <a:srgbClr val="4F5D6A"/>
                </a:solidFill>
                <a:latin typeface="Consolas"/>
              </a:rPr>
              <a:t>100</a:t>
            </a:r>
          </a:p>
          <a:p>
            <a:pPr algn="r">
              <a:lnSpc>
                <a:spcPct val="100000"/>
              </a:lnSpc>
            </a:pPr>
            <a:r>
              <a:rPr sz="1100">
                <a:solidFill>
                  <a:srgbClr val="4F5D6A"/>
                </a:solidFill>
                <a:latin typeface="Consolas"/>
              </a:rPr>
              <a:t>101</a:t>
            </a:r>
          </a:p>
          <a:p>
            <a:pPr algn="r">
              <a:lnSpc>
                <a:spcPct val="100000"/>
              </a:lnSpc>
            </a:pPr>
            <a:r>
              <a:rPr sz="1100">
                <a:solidFill>
                  <a:srgbClr val="4F5D6A"/>
                </a:solidFill>
                <a:latin typeface="Consolas"/>
              </a:rPr>
              <a:t>102</a:t>
            </a:r>
          </a:p>
          <a:p>
            <a:pPr algn="r">
              <a:lnSpc>
                <a:spcPct val="100000"/>
              </a:lnSpc>
            </a:pPr>
            <a:r>
              <a:rPr sz="1100">
                <a:solidFill>
                  <a:srgbClr val="4F5D6A"/>
                </a:solidFill>
                <a:latin typeface="Consolas"/>
              </a:rPr>
              <a:t>103</a:t>
            </a:r>
          </a:p>
          <a:p>
            <a:pPr algn="r">
              <a:lnSpc>
                <a:spcPct val="100000"/>
              </a:lnSpc>
            </a:pPr>
            <a:r>
              <a:rPr sz="1100">
                <a:solidFill>
                  <a:srgbClr val="4F5D6A"/>
                </a:solidFill>
                <a:latin typeface="Consolas"/>
              </a:rPr>
              <a:t>104</a:t>
            </a:r>
          </a:p>
          <a:p>
            <a:pPr algn="r">
              <a:lnSpc>
                <a:spcPct val="100000"/>
              </a:lnSpc>
            </a:pPr>
            <a:r>
              <a:rPr sz="1100">
                <a:solidFill>
                  <a:srgbClr val="4F5D6A"/>
                </a:solidFill>
                <a:latin typeface="Consolas"/>
              </a:rPr>
              <a:t>105</a:t>
            </a:r>
          </a:p>
          <a:p>
            <a:pPr algn="r">
              <a:lnSpc>
                <a:spcPct val="100000"/>
              </a:lnSpc>
            </a:pPr>
            <a:r>
              <a:rPr sz="1100">
                <a:solidFill>
                  <a:srgbClr val="4F5D6A"/>
                </a:solidFill>
                <a:latin typeface="Consolas"/>
              </a:rPr>
              <a:t>106</a:t>
            </a:r>
          </a:p>
          <a:p>
            <a:pPr algn="r">
              <a:lnSpc>
                <a:spcPct val="100000"/>
              </a:lnSpc>
            </a:pPr>
            <a:r>
              <a:rPr sz="1100">
                <a:solidFill>
                  <a:srgbClr val="4F5D6A"/>
                </a:solidFill>
                <a:latin typeface="Consolas"/>
              </a:rPr>
              <a:t>107</a:t>
            </a:r>
          </a:p>
          <a:p>
            <a:pPr algn="r">
              <a:lnSpc>
                <a:spcPct val="100000"/>
              </a:lnSpc>
            </a:pPr>
            <a:r>
              <a:rPr sz="1100">
                <a:solidFill>
                  <a:srgbClr val="4F5D6A"/>
                </a:solidFill>
                <a:latin typeface="Consolas"/>
              </a:rPr>
              <a:t>108</a:t>
            </a:r>
          </a:p>
          <a:p>
            <a:pPr algn="r">
              <a:lnSpc>
                <a:spcPct val="100000"/>
              </a:lnSpc>
            </a:pPr>
            <a:r>
              <a:rPr sz="1100">
                <a:solidFill>
                  <a:srgbClr val="4F5D6A"/>
                </a:solidFill>
                <a:latin typeface="Consolas"/>
              </a:rPr>
              <a:t>109</a:t>
            </a:r>
          </a:p>
          <a:p>
            <a:pPr algn="r">
              <a:lnSpc>
                <a:spcPct val="100000"/>
              </a:lnSpc>
            </a:pPr>
            <a:r>
              <a:rPr sz="1100">
                <a:solidFill>
                  <a:srgbClr val="4F5D6A"/>
                </a:solidFill>
                <a:latin typeface="Consolas"/>
              </a:rPr>
              <a:t>110</a:t>
            </a:r>
          </a:p>
          <a:p>
            <a:pPr algn="r">
              <a:lnSpc>
                <a:spcPct val="100000"/>
              </a:lnSpc>
            </a:pPr>
            <a:r>
              <a:rPr sz="1100">
                <a:solidFill>
                  <a:srgbClr val="4F5D6A"/>
                </a:solidFill>
                <a:latin typeface="Consolas"/>
              </a:rPr>
              <a:t>111</a:t>
            </a:r>
          </a:p>
          <a:p>
            <a:pPr algn="r">
              <a:lnSpc>
                <a:spcPct val="100000"/>
              </a:lnSpc>
            </a:pPr>
            <a:r>
              <a:rPr sz="1100">
                <a:solidFill>
                  <a:srgbClr val="4F5D6A"/>
                </a:solidFill>
                <a:latin typeface="Consolas"/>
              </a:rPr>
              <a:t>112</a:t>
            </a:r>
          </a:p>
          <a:p>
            <a:pPr algn="r">
              <a:lnSpc>
                <a:spcPct val="100000"/>
              </a:lnSpc>
            </a:pPr>
            <a:r>
              <a:rPr sz="1100">
                <a:solidFill>
                  <a:srgbClr val="4F5D6A"/>
                </a:solidFill>
                <a:latin typeface="Consolas"/>
              </a:rPr>
              <a:t>113</a:t>
            </a:r>
          </a:p>
          <a:p>
            <a:pPr algn="r">
              <a:lnSpc>
                <a:spcPct val="100000"/>
              </a:lnSpc>
            </a:pPr>
            <a:r>
              <a:rPr sz="1100">
                <a:solidFill>
                  <a:srgbClr val="4F5D6A"/>
                </a:solidFill>
                <a:latin typeface="Consolas"/>
              </a:rPr>
              <a:t>114</a:t>
            </a:r>
          </a:p>
          <a:p>
            <a:pPr algn="r">
              <a:lnSpc>
                <a:spcPct val="100000"/>
              </a:lnSpc>
            </a:pPr>
            <a:r>
              <a:rPr sz="1100">
                <a:solidFill>
                  <a:srgbClr val="4F5D6A"/>
                </a:solidFill>
                <a:latin typeface="Consolas"/>
              </a:rPr>
              <a:t>115</a:t>
            </a:r>
          </a:p>
          <a:p>
            <a:pPr algn="r">
              <a:lnSpc>
                <a:spcPct val="100000"/>
              </a:lnSpc>
            </a:pPr>
            <a:r>
              <a:rPr sz="1100">
                <a:solidFill>
                  <a:srgbClr val="4F5D6A"/>
                </a:solidFill>
                <a:latin typeface="Consolas"/>
              </a:rPr>
              <a:t>116</a:t>
            </a:r>
          </a:p>
          <a:p>
            <a:pPr algn="r">
              <a:lnSpc>
                <a:spcPct val="100000"/>
              </a:lnSpc>
            </a:pPr>
            <a:r>
              <a:rPr sz="1100">
                <a:solidFill>
                  <a:srgbClr val="4F5D6A"/>
                </a:solidFill>
                <a:latin typeface="Consolas"/>
              </a:rPr>
              <a:t>117</a:t>
            </a:r>
          </a:p>
        </p:txBody>
      </p:sp>
      <p:sp>
        <p:nvSpPr>
          <p:cNvPr id="16"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7" name="!!pfill">
            <a:extLst>
              <a:ext uri="{C183D7F6-B498-43B3-948B-1728B52AA6E4}">
                <adec:decorative xmlns:adec="http://schemas.microsoft.com/office/drawing/2017/decorative" val="1"/>
              </a:ext>
            </a:extLst>
          </p:cNvPr>
          <p:cNvSpPr/>
          <p:nvPr/>
        </p:nvSpPr>
        <p:spPr>
          <a:xfrm>
            <a:off x="0" y="0"/>
            <a:ext cx="7371722" cy="54864"/>
          </a:xfrm>
          <a:prstGeom prst="rect">
            <a:avLst/>
          </a:prstGeom>
          <a:solidFill>
            <a:srgbClr val="8E44A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xmlns:p159="http://schemas.microsoft.com/office/powerpoint/2015/09/main" Requires="p159">
      <p:transition spd="slow" p14:dur="600">
        <p159:morph option="byObject"/>
      </p:transition>
    </mc:Choice>
    <mc:Fallback>
      <p:transition spd="med">
        <p:fade/>
      </p:transition>
    </mc:Fallback>
  </mc:AlternateContent>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2600" b="0">
                <a:solidFill>
                  <a:srgbClr val="1A5276"/>
                </a:solidFill>
                <a:latin typeface="Segoe UI Semibold"/>
              </a:rPr>
              <a:t>A Semantic Network That Answers Queries</a:t>
            </a:r>
          </a:p>
        </p:txBody>
      </p:sp>
      <p:pic>
        <p:nvPicPr>
          <p:cNvPr id="3" name="!!kicker-icon" descr="flask-117A65.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192583"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117A65"/>
                </a:solidFill>
                <a:latin typeface="Segoe UI"/>
              </a:rPr>
              <a:t>LAB  ·  STEP 10 OF 11</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Artificial Intelligence  ·  Chapter 10  ·  Knowledge Representation</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§10.6  ·  Handout p. 104     </a:t>
            </a:r>
            <a:fld id="{272AC9F7-5ECF-4C8C-AFA2-BCA6A4554E1C}" type="slidenum">
              <a:rPr lang="en-GB" sz="1000">
                <a:solidFill>
                  <a:srgbClr val="8795A1"/>
                </a:solidFill>
                <a:latin typeface="Segoe UI"/>
              </a:rPr>
              <a:t>27</a:t>
            </a:fld>
          </a:p>
        </p:txBody>
      </p:sp>
      <p:sp>
        <p:nvSpPr>
          <p:cNvPr id="7" name="!!codehead"/>
          <p:cNvSpPr txBox="1"/>
          <p:nvPr/>
        </p:nvSpPr>
        <p:spPr>
          <a:xfrm>
            <a:off x="658368" y="1627631"/>
            <a:ext cx="10874959" cy="329184"/>
          </a:xfrm>
          <a:prstGeom prst="rect">
            <a:avLst/>
          </a:prstGeom>
          <a:noFill/>
        </p:spPr>
        <p:txBody>
          <a:bodyPr wrap="square" anchor="t" lIns="0" rIns="0" tIns="0" bIns="0">
            <a:noAutofit/>
          </a:bodyPr>
          <a:lstStyle/>
          <a:p>
            <a:pPr algn="l">
              <a:lnSpc>
                <a:spcPct val="100000"/>
              </a:lnSpc>
              <a:spcBef>
                <a:spcPts val="0"/>
              </a:spcBef>
              <a:spcAft>
                <a:spcPts val="0"/>
              </a:spcAft>
            </a:pPr>
            <a:r>
              <a:rPr sz="1900" b="1" i="0">
                <a:solidFill>
                  <a:srgbClr val="0E6655"/>
                </a:solidFill>
                <a:latin typeface="Segoe UI Semibold"/>
              </a:rPr>
              <a:t>Now add a second, equally specific parent</a:t>
            </a:r>
          </a:p>
        </p:txBody>
      </p:sp>
      <p:sp>
        <p:nvSpPr>
          <p:cNvPr id="8" name="!!code-bg">
            <a:extLst>
              <a:ext uri="{C183D7F6-B498-43B3-948B-1728B52AA6E4}">
                <adec:decorative xmlns:adec="http://schemas.microsoft.com/office/drawing/2017/decorative" val="1"/>
              </a:ext>
            </a:extLst>
          </p:cNvPr>
          <p:cNvSpPr/>
          <p:nvPr/>
        </p:nvSpPr>
        <p:spPr>
          <a:xfrm>
            <a:off x="658368" y="2084831"/>
            <a:ext cx="10874959" cy="4169663"/>
          </a:xfrm>
          <a:prstGeom prst="roundRect">
            <a:avLst>
              <a:gd name="adj" fmla="val 2192"/>
            </a:avLst>
          </a:prstGeom>
          <a:solidFill>
            <a:srgbClr val="1E283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9" name="!!code-sep">
            <a:extLst>
              <a:ext uri="{C183D7F6-B498-43B3-948B-1728B52AA6E4}">
                <adec:decorative xmlns:adec="http://schemas.microsoft.com/office/drawing/2017/decorative" val="1"/>
              </a:ext>
            </a:extLst>
          </p:cNvPr>
          <p:cNvSpPr/>
          <p:nvPr/>
        </p:nvSpPr>
        <p:spPr>
          <a:xfrm>
            <a:off x="676656" y="2404872"/>
            <a:ext cx="10838383" cy="10972"/>
          </a:xfrm>
          <a:prstGeom prst="rect">
            <a:avLst/>
          </a:prstGeom>
          <a:solidFill>
            <a:srgbClr val="28343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0" name="!!code-dot0">
            <a:extLst>
              <a:ext uri="{C183D7F6-B498-43B3-948B-1728B52AA6E4}">
                <adec:decorative xmlns:adec="http://schemas.microsoft.com/office/drawing/2017/decorative" val="1"/>
              </a:ext>
            </a:extLst>
          </p:cNvPr>
          <p:cNvSpPr/>
          <p:nvPr/>
        </p:nvSpPr>
        <p:spPr>
          <a:xfrm>
            <a:off x="859536" y="2199132"/>
            <a:ext cx="100584" cy="100584"/>
          </a:xfrm>
          <a:prstGeom prst="ellipse">
            <a:avLst/>
          </a:prstGeom>
          <a:solidFill>
            <a:srgbClr val="E74C3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1" name="!!code-dot1">
            <a:extLst>
              <a:ext uri="{C183D7F6-B498-43B3-948B-1728B52AA6E4}">
                <adec:decorative xmlns:adec="http://schemas.microsoft.com/office/drawing/2017/decorative" val="1"/>
              </a:ext>
            </a:extLst>
          </p:cNvPr>
          <p:cNvSpPr/>
          <p:nvPr/>
        </p:nvSpPr>
        <p:spPr>
          <a:xfrm>
            <a:off x="1042415" y="2199132"/>
            <a:ext cx="100584" cy="100584"/>
          </a:xfrm>
          <a:prstGeom prst="ellipse">
            <a:avLst/>
          </a:prstGeom>
          <a:solidFill>
            <a:srgbClr val="F4D03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2" name="!!code-dot2">
            <a:extLst>
              <a:ext uri="{C183D7F6-B498-43B3-948B-1728B52AA6E4}">
                <adec:decorative xmlns:adec="http://schemas.microsoft.com/office/drawing/2017/decorative" val="1"/>
              </a:ext>
            </a:extLst>
          </p:cNvPr>
          <p:cNvSpPr/>
          <p:nvPr/>
        </p:nvSpPr>
        <p:spPr>
          <a:xfrm>
            <a:off x="1225295" y="2199132"/>
            <a:ext cx="100584" cy="100584"/>
          </a:xfrm>
          <a:prstGeom prst="ellipse">
            <a:avLst/>
          </a:prstGeom>
          <a:solidFill>
            <a:srgbClr val="58D68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3" name="!!code-label"/>
          <p:cNvSpPr txBox="1"/>
          <p:nvPr/>
        </p:nvSpPr>
        <p:spPr>
          <a:xfrm>
            <a:off x="1527048" y="2148839"/>
            <a:ext cx="9777679" cy="219456"/>
          </a:xfrm>
          <a:prstGeom prst="rect">
            <a:avLst/>
          </a:prstGeom>
          <a:noFill/>
        </p:spPr>
        <p:txBody>
          <a:bodyPr wrap="square" anchor="t" lIns="0" rIns="0" tIns="0" bIns="0">
            <a:noAutofit/>
          </a:bodyPr>
          <a:lstStyle/>
          <a:p>
            <a:pPr algn="l">
              <a:lnSpc>
                <a:spcPct val="100000"/>
              </a:lnSpc>
              <a:spcBef>
                <a:spcPts val="0"/>
              </a:spcBef>
              <a:spcAft>
                <a:spcPts val="0"/>
              </a:spcAft>
            </a:pPr>
            <a:r>
              <a:rPr sz="1100" b="1" i="0">
                <a:solidFill>
                  <a:srgbClr val="9FB0BF"/>
                </a:solidFill>
                <a:latin typeface="Segoe UI"/>
              </a:rPr>
              <a:t>Python  ·  code/ch10_semantic_network_that.py</a:t>
            </a:r>
          </a:p>
        </p:txBody>
      </p:sp>
      <p:sp>
        <p:nvSpPr>
          <p:cNvPr id="14" name="!!code-text" descr="# --- now add a second, equally specific parent ---------------- print() print(&quot;adding 'Release 4.7 is-a Regulated Change' ...&quot;) FRAMES[&quot;Hotfix&quot;][&quot;needs-signoff&quot;] = &quot;no&quot; # delivery convention FRAMES[&quot;Release 4.7&quot;][&quot;is-a&quot;] = [&quot;Regulated Change&quot;] val, dist = get(&quot;Release 4.7&quot;, &quot;needs-signoff&quot;) print(&quot; needs-signoff =&quot;, val[0] if isinstance(val, tuple) else val) assert isinstance(val, tuple) and val[0] == &quot;CONFLICT&quot; for v, src in val[1]: print(&quot; %-4s from %s&quot; % (v, src)) print() print(&quot;Two parents at the same distance disagree. Depth-first&quot;) print(&quot;inheritance would answer whichever link was entered first,&quot;) print(&quot;which is a property of the file and not of the knowledge.&quot;) print(&quot;Here that would wave a regulated change through with no&quot;) print(&quot;sign-off, so the only defensible answer is to report the&quot;) print(&quot;conflict and its provenance.&quot;)"/>
          <p:cNvSpPr txBox="1"/>
          <p:nvPr/>
        </p:nvSpPr>
        <p:spPr>
          <a:xfrm>
            <a:off x="1362456" y="2523744"/>
            <a:ext cx="9987991" cy="3675887"/>
          </a:xfrm>
          <a:prstGeom prst="rect">
            <a:avLst/>
          </a:prstGeom>
          <a:noFill/>
        </p:spPr>
        <p:txBody>
          <a:bodyPr wrap="none" anchor="t" lIns="0" rIns="0" tIns="0" bIns="0">
            <a:noAutofit/>
          </a:bodyPr>
          <a:lstStyle/>
          <a:p>
            <a:pPr>
              <a:lnSpc>
                <a:spcPct val="100000"/>
              </a:lnSpc>
              <a:spcAft>
                <a:spcPts val="0"/>
              </a:spcAft>
            </a:pPr>
            <a:r>
              <a:rPr sz="1300" i="0">
                <a:solidFill>
                  <a:srgbClr val="E8EDF2"/>
                </a:solidFill>
                <a:latin typeface="Consolas"/>
              </a:rPr>
              <a:t>    </a:t>
            </a:r>
            <a:r>
              <a:rPr sz="1300" i="1">
                <a:solidFill>
                  <a:srgbClr val="8795A1"/>
                </a:solidFill>
                <a:latin typeface="Consolas"/>
              </a:rPr>
              <a:t># --- now add a second, equally specific parent ----------------</a:t>
            </a:r>
          </a:p>
          <a:p>
            <a:pPr>
              <a:lnSpc>
                <a:spcPct val="100000"/>
              </a:lnSpc>
              <a:spcAft>
                <a:spcPts val="0"/>
              </a:spcAft>
            </a:pPr>
            <a:r>
              <a:rPr sz="1300" i="0">
                <a:solidFill>
                  <a:srgbClr val="E8EDF2"/>
                </a:solidFill>
                <a:latin typeface="Consolas"/>
              </a:rPr>
              <a:t>    </a:t>
            </a:r>
            <a:r>
              <a:rPr sz="1300" i="0">
                <a:solidFill>
                  <a:srgbClr val="C39BD3"/>
                </a:solidFill>
                <a:latin typeface="Consolas"/>
              </a:rPr>
              <a:t>print</a:t>
            </a:r>
            <a:r>
              <a:rPr sz="1300" i="0">
                <a:solidFill>
                  <a:srgbClr val="AEB6BF"/>
                </a:solidFill>
                <a:latin typeface="Consolas"/>
              </a:rPr>
              <a:t>(</a:t>
            </a:r>
            <a:r>
              <a:rPr sz="1300" i="0">
                <a:solidFill>
                  <a:srgbClr val="AEB6BF"/>
                </a:solidFill>
                <a:latin typeface="Consolas"/>
              </a:rPr>
              <a:t>)</a:t>
            </a:r>
          </a:p>
          <a:p>
            <a:pPr>
              <a:lnSpc>
                <a:spcPct val="100000"/>
              </a:lnSpc>
              <a:spcAft>
                <a:spcPts val="0"/>
              </a:spcAft>
            </a:pPr>
            <a:r>
              <a:rPr sz="1300" i="0">
                <a:solidFill>
                  <a:srgbClr val="E8EDF2"/>
                </a:solidFill>
                <a:latin typeface="Consolas"/>
              </a:rPr>
              <a:t>    </a:t>
            </a:r>
            <a:r>
              <a:rPr sz="1300" i="0">
                <a:solidFill>
                  <a:srgbClr val="C39BD3"/>
                </a:solidFill>
                <a:latin typeface="Consolas"/>
              </a:rPr>
              <a:t>print</a:t>
            </a:r>
            <a:r>
              <a:rPr sz="1300" i="0">
                <a:solidFill>
                  <a:srgbClr val="AEB6BF"/>
                </a:solidFill>
                <a:latin typeface="Consolas"/>
              </a:rPr>
              <a:t>(</a:t>
            </a:r>
            <a:r>
              <a:rPr sz="1300" i="0">
                <a:solidFill>
                  <a:srgbClr val="7DCEA0"/>
                </a:solidFill>
                <a:latin typeface="Consolas"/>
              </a:rPr>
              <a:t>"</a:t>
            </a:r>
            <a:r>
              <a:rPr sz="1300" i="0">
                <a:solidFill>
                  <a:srgbClr val="7DCEA0"/>
                </a:solidFill>
                <a:latin typeface="Consolas"/>
              </a:rPr>
              <a:t>adding </a:t>
            </a:r>
            <a:r>
              <a:rPr sz="1300" i="0">
                <a:solidFill>
                  <a:srgbClr val="7DCEA0"/>
                </a:solidFill>
                <a:latin typeface="Consolas"/>
              </a:rPr>
              <a:t>'</a:t>
            </a:r>
            <a:r>
              <a:rPr sz="1300" i="0">
                <a:solidFill>
                  <a:srgbClr val="7DCEA0"/>
                </a:solidFill>
                <a:latin typeface="Consolas"/>
              </a:rPr>
              <a:t>Release 4.7 is-a Regulated Change</a:t>
            </a:r>
            <a:r>
              <a:rPr sz="1300" i="0">
                <a:solidFill>
                  <a:srgbClr val="7DCEA0"/>
                </a:solidFill>
                <a:latin typeface="Consolas"/>
              </a:rPr>
              <a:t>'</a:t>
            </a:r>
            <a:r>
              <a:rPr sz="1300" i="0">
                <a:solidFill>
                  <a:srgbClr val="7DCEA0"/>
                </a:solidFill>
                <a:latin typeface="Consolas"/>
              </a:rPr>
              <a:t> ...</a:t>
            </a:r>
            <a:r>
              <a:rPr sz="1300" i="0">
                <a:solidFill>
                  <a:srgbClr val="7DCEA0"/>
                </a:solidFill>
                <a:latin typeface="Consolas"/>
              </a:rPr>
              <a:t>"</a:t>
            </a:r>
            <a:r>
              <a:rPr sz="1300" i="0">
                <a:solidFill>
                  <a:srgbClr val="AEB6BF"/>
                </a:solidFill>
                <a:latin typeface="Consolas"/>
              </a:rPr>
              <a:t>)</a:t>
            </a:r>
          </a:p>
          <a:p>
            <a:pPr>
              <a:lnSpc>
                <a:spcPct val="100000"/>
              </a:lnSpc>
              <a:spcAft>
                <a:spcPts val="0"/>
              </a:spcAft>
            </a:pPr>
            <a:r>
              <a:rPr sz="1300" i="0">
                <a:solidFill>
                  <a:srgbClr val="E8EDF2"/>
                </a:solidFill>
                <a:latin typeface="Consolas"/>
              </a:rPr>
              <a:t>    </a:t>
            </a:r>
            <a:r>
              <a:rPr sz="1300" i="0">
                <a:solidFill>
                  <a:srgbClr val="E8EDF2"/>
                </a:solidFill>
                <a:latin typeface="Consolas"/>
              </a:rPr>
              <a:t>FRAMES</a:t>
            </a:r>
            <a:r>
              <a:rPr sz="1300" i="0">
                <a:solidFill>
                  <a:srgbClr val="AEB6BF"/>
                </a:solidFill>
                <a:latin typeface="Consolas"/>
              </a:rPr>
              <a:t>[</a:t>
            </a:r>
            <a:r>
              <a:rPr sz="1300" i="0">
                <a:solidFill>
                  <a:srgbClr val="7DCEA0"/>
                </a:solidFill>
                <a:latin typeface="Consolas"/>
              </a:rPr>
              <a:t>"</a:t>
            </a:r>
            <a:r>
              <a:rPr sz="1300" i="0">
                <a:solidFill>
                  <a:srgbClr val="7DCEA0"/>
                </a:solidFill>
                <a:latin typeface="Consolas"/>
              </a:rPr>
              <a:t>Hotfix</a:t>
            </a:r>
            <a:r>
              <a:rPr sz="1300" i="0">
                <a:solidFill>
                  <a:srgbClr val="7DCEA0"/>
                </a:solidFill>
                <a:latin typeface="Consolas"/>
              </a:rPr>
              <a:t>"</a:t>
            </a:r>
            <a:r>
              <a:rPr sz="1300" i="0">
                <a:solidFill>
                  <a:srgbClr val="AEB6BF"/>
                </a:solidFill>
                <a:latin typeface="Consolas"/>
              </a:rPr>
              <a:t>]</a:t>
            </a:r>
            <a:r>
              <a:rPr sz="1300" i="0">
                <a:solidFill>
                  <a:srgbClr val="AEB6BF"/>
                </a:solidFill>
                <a:latin typeface="Consolas"/>
              </a:rPr>
              <a:t>[</a:t>
            </a:r>
            <a:r>
              <a:rPr sz="1300" i="0">
                <a:solidFill>
                  <a:srgbClr val="7DCEA0"/>
                </a:solidFill>
                <a:latin typeface="Consolas"/>
              </a:rPr>
              <a:t>"</a:t>
            </a:r>
            <a:r>
              <a:rPr sz="1300" i="0">
                <a:solidFill>
                  <a:srgbClr val="7DCEA0"/>
                </a:solidFill>
                <a:latin typeface="Consolas"/>
              </a:rPr>
              <a:t>needs-signoff</a:t>
            </a:r>
            <a:r>
              <a:rPr sz="1300" i="0">
                <a:solidFill>
                  <a:srgbClr val="7DCEA0"/>
                </a:solidFill>
                <a:latin typeface="Consolas"/>
              </a:rPr>
              <a:t>"</a:t>
            </a:r>
            <a:r>
              <a:rPr sz="1300" i="0">
                <a:solidFill>
                  <a:srgbClr val="AEB6BF"/>
                </a:solidFill>
                <a:latin typeface="Consolas"/>
              </a:rPr>
              <a:t>]</a:t>
            </a:r>
            <a:r>
              <a:rPr sz="1300" i="0">
                <a:solidFill>
                  <a:srgbClr val="E8EDF2"/>
                </a:solidFill>
                <a:latin typeface="Consolas"/>
              </a:rPr>
              <a:t> </a:t>
            </a:r>
            <a:r>
              <a:rPr sz="1300" i="0">
                <a:solidFill>
                  <a:srgbClr val="AEB6BF"/>
                </a:solidFill>
                <a:latin typeface="Consolas"/>
              </a:rPr>
              <a:t>=</a:t>
            </a:r>
            <a:r>
              <a:rPr sz="1300" i="0">
                <a:solidFill>
                  <a:srgbClr val="E8EDF2"/>
                </a:solidFill>
                <a:latin typeface="Consolas"/>
              </a:rPr>
              <a:t> </a:t>
            </a:r>
            <a:r>
              <a:rPr sz="1300" i="0">
                <a:solidFill>
                  <a:srgbClr val="7DCEA0"/>
                </a:solidFill>
                <a:latin typeface="Consolas"/>
              </a:rPr>
              <a:t>"</a:t>
            </a:r>
            <a:r>
              <a:rPr sz="1300" i="0">
                <a:solidFill>
                  <a:srgbClr val="7DCEA0"/>
                </a:solidFill>
                <a:latin typeface="Consolas"/>
              </a:rPr>
              <a:t>no</a:t>
            </a:r>
            <a:r>
              <a:rPr sz="1300" i="0">
                <a:solidFill>
                  <a:srgbClr val="7DCEA0"/>
                </a:solidFill>
                <a:latin typeface="Consolas"/>
              </a:rPr>
              <a:t>"</a:t>
            </a:r>
            <a:r>
              <a:rPr sz="1300" i="0">
                <a:solidFill>
                  <a:srgbClr val="E8EDF2"/>
                </a:solidFill>
                <a:latin typeface="Consolas"/>
              </a:rPr>
              <a:t>      </a:t>
            </a:r>
            <a:r>
              <a:rPr sz="1300" i="1">
                <a:solidFill>
                  <a:srgbClr val="8795A1"/>
                </a:solidFill>
                <a:latin typeface="Consolas"/>
              </a:rPr>
              <a:t># delivery convention</a:t>
            </a:r>
          </a:p>
          <a:p>
            <a:pPr>
              <a:lnSpc>
                <a:spcPct val="100000"/>
              </a:lnSpc>
              <a:spcAft>
                <a:spcPts val="0"/>
              </a:spcAft>
            </a:pPr>
            <a:r>
              <a:rPr sz="1300" i="0">
                <a:solidFill>
                  <a:srgbClr val="E8EDF2"/>
                </a:solidFill>
                <a:latin typeface="Consolas"/>
              </a:rPr>
              <a:t>    </a:t>
            </a:r>
            <a:r>
              <a:rPr sz="1300" i="0">
                <a:solidFill>
                  <a:srgbClr val="E8EDF2"/>
                </a:solidFill>
                <a:latin typeface="Consolas"/>
              </a:rPr>
              <a:t>FRAMES</a:t>
            </a:r>
            <a:r>
              <a:rPr sz="1300" i="0">
                <a:solidFill>
                  <a:srgbClr val="AEB6BF"/>
                </a:solidFill>
                <a:latin typeface="Consolas"/>
              </a:rPr>
              <a:t>[</a:t>
            </a:r>
            <a:r>
              <a:rPr sz="1300" i="0">
                <a:solidFill>
                  <a:srgbClr val="7DCEA0"/>
                </a:solidFill>
                <a:latin typeface="Consolas"/>
              </a:rPr>
              <a:t>"</a:t>
            </a:r>
            <a:r>
              <a:rPr sz="1300" i="0">
                <a:solidFill>
                  <a:srgbClr val="7DCEA0"/>
                </a:solidFill>
                <a:latin typeface="Consolas"/>
              </a:rPr>
              <a:t>Release 4.7</a:t>
            </a:r>
            <a:r>
              <a:rPr sz="1300" i="0">
                <a:solidFill>
                  <a:srgbClr val="7DCEA0"/>
                </a:solidFill>
                <a:latin typeface="Consolas"/>
              </a:rPr>
              <a:t>"</a:t>
            </a:r>
            <a:r>
              <a:rPr sz="1300" i="0">
                <a:solidFill>
                  <a:srgbClr val="AEB6BF"/>
                </a:solidFill>
                <a:latin typeface="Consolas"/>
              </a:rPr>
              <a:t>]</a:t>
            </a:r>
            <a:r>
              <a:rPr sz="1300" i="0">
                <a:solidFill>
                  <a:srgbClr val="AEB6BF"/>
                </a:solidFill>
                <a:latin typeface="Consolas"/>
              </a:rPr>
              <a:t>[</a:t>
            </a:r>
            <a:r>
              <a:rPr sz="1300" i="0">
                <a:solidFill>
                  <a:srgbClr val="7DCEA0"/>
                </a:solidFill>
                <a:latin typeface="Consolas"/>
              </a:rPr>
              <a:t>"</a:t>
            </a:r>
            <a:r>
              <a:rPr sz="1300" i="0">
                <a:solidFill>
                  <a:srgbClr val="7DCEA0"/>
                </a:solidFill>
                <a:latin typeface="Consolas"/>
              </a:rPr>
              <a:t>is-a</a:t>
            </a:r>
            <a:r>
              <a:rPr sz="1300" i="0">
                <a:solidFill>
                  <a:srgbClr val="7DCEA0"/>
                </a:solidFill>
                <a:latin typeface="Consolas"/>
              </a:rPr>
              <a:t>"</a:t>
            </a:r>
            <a:r>
              <a:rPr sz="1300" i="0">
                <a:solidFill>
                  <a:srgbClr val="AEB6BF"/>
                </a:solidFill>
                <a:latin typeface="Consolas"/>
              </a:rPr>
              <a:t>]</a:t>
            </a:r>
            <a:r>
              <a:rPr sz="1300" i="0">
                <a:solidFill>
                  <a:srgbClr val="E8EDF2"/>
                </a:solidFill>
                <a:latin typeface="Consolas"/>
              </a:rPr>
              <a:t> </a:t>
            </a:r>
            <a:r>
              <a:rPr sz="1300" i="0">
                <a:solidFill>
                  <a:srgbClr val="AEB6BF"/>
                </a:solidFill>
                <a:latin typeface="Consolas"/>
              </a:rPr>
              <a:t>=</a:t>
            </a:r>
            <a:r>
              <a:rPr sz="1300" i="0">
                <a:solidFill>
                  <a:srgbClr val="E8EDF2"/>
                </a:solidFill>
                <a:latin typeface="Consolas"/>
              </a:rPr>
              <a:t> </a:t>
            </a:r>
            <a:r>
              <a:rPr sz="1300" i="0">
                <a:solidFill>
                  <a:srgbClr val="AEB6BF"/>
                </a:solidFill>
                <a:latin typeface="Consolas"/>
              </a:rPr>
              <a:t>[</a:t>
            </a:r>
            <a:r>
              <a:rPr sz="1300" i="0">
                <a:solidFill>
                  <a:srgbClr val="7DCEA0"/>
                </a:solidFill>
                <a:latin typeface="Consolas"/>
              </a:rPr>
              <a:t>"</a:t>
            </a:r>
            <a:r>
              <a:rPr sz="1300" i="0">
                <a:solidFill>
                  <a:srgbClr val="7DCEA0"/>
                </a:solidFill>
                <a:latin typeface="Consolas"/>
              </a:rPr>
              <a:t>Regulated Change</a:t>
            </a:r>
            <a:r>
              <a:rPr sz="1300" i="0">
                <a:solidFill>
                  <a:srgbClr val="7DCEA0"/>
                </a:solidFill>
                <a:latin typeface="Consolas"/>
              </a:rPr>
              <a:t>"</a:t>
            </a:r>
            <a:r>
              <a:rPr sz="1300" i="0">
                <a:solidFill>
                  <a:srgbClr val="AEB6BF"/>
                </a:solidFill>
                <a:latin typeface="Consolas"/>
              </a:rPr>
              <a:t>]</a:t>
            </a:r>
          </a:p>
          <a:p>
            <a:pPr>
              <a:lnSpc>
                <a:spcPct val="100000"/>
              </a:lnSpc>
              <a:spcAft>
                <a:spcPts val="0"/>
              </a:spcAft>
            </a:pPr>
            <a:r>
              <a:rPr sz="1300">
                <a:latin typeface="Consolas"/>
              </a:rPr>
              <a:t> </a:t>
            </a:r>
          </a:p>
          <a:p>
            <a:pPr>
              <a:lnSpc>
                <a:spcPct val="100000"/>
              </a:lnSpc>
              <a:spcAft>
                <a:spcPts val="0"/>
              </a:spcAft>
            </a:pPr>
            <a:r>
              <a:rPr sz="1300" i="0">
                <a:solidFill>
                  <a:srgbClr val="E8EDF2"/>
                </a:solidFill>
                <a:latin typeface="Consolas"/>
              </a:rPr>
              <a:t>    </a:t>
            </a:r>
            <a:r>
              <a:rPr sz="1300" i="0">
                <a:solidFill>
                  <a:srgbClr val="E8EDF2"/>
                </a:solidFill>
                <a:latin typeface="Consolas"/>
              </a:rPr>
              <a:t>val</a:t>
            </a:r>
            <a:r>
              <a:rPr sz="1300" i="0">
                <a:solidFill>
                  <a:srgbClr val="AEB6BF"/>
                </a:solidFill>
                <a:latin typeface="Consolas"/>
              </a:rPr>
              <a:t>,</a:t>
            </a:r>
            <a:r>
              <a:rPr sz="1300" i="0">
                <a:solidFill>
                  <a:srgbClr val="E8EDF2"/>
                </a:solidFill>
                <a:latin typeface="Consolas"/>
              </a:rPr>
              <a:t> </a:t>
            </a:r>
            <a:r>
              <a:rPr sz="1300" i="0">
                <a:solidFill>
                  <a:srgbClr val="E8EDF2"/>
                </a:solidFill>
                <a:latin typeface="Consolas"/>
              </a:rPr>
              <a:t>dist</a:t>
            </a:r>
            <a:r>
              <a:rPr sz="1300" i="0">
                <a:solidFill>
                  <a:srgbClr val="E8EDF2"/>
                </a:solidFill>
                <a:latin typeface="Consolas"/>
              </a:rPr>
              <a:t> </a:t>
            </a:r>
            <a:r>
              <a:rPr sz="1300" i="0">
                <a:solidFill>
                  <a:srgbClr val="AEB6BF"/>
                </a:solidFill>
                <a:latin typeface="Consolas"/>
              </a:rPr>
              <a:t>=</a:t>
            </a:r>
            <a:r>
              <a:rPr sz="1300" i="0">
                <a:solidFill>
                  <a:srgbClr val="E8EDF2"/>
                </a:solidFill>
                <a:latin typeface="Consolas"/>
              </a:rPr>
              <a:t> </a:t>
            </a:r>
            <a:r>
              <a:rPr sz="1300" i="0">
                <a:solidFill>
                  <a:srgbClr val="E8EDF2"/>
                </a:solidFill>
                <a:latin typeface="Consolas"/>
              </a:rPr>
              <a:t>get</a:t>
            </a:r>
            <a:r>
              <a:rPr sz="1300" i="0">
                <a:solidFill>
                  <a:srgbClr val="AEB6BF"/>
                </a:solidFill>
                <a:latin typeface="Consolas"/>
              </a:rPr>
              <a:t>(</a:t>
            </a:r>
            <a:r>
              <a:rPr sz="1300" i="0">
                <a:solidFill>
                  <a:srgbClr val="7DCEA0"/>
                </a:solidFill>
                <a:latin typeface="Consolas"/>
              </a:rPr>
              <a:t>"</a:t>
            </a:r>
            <a:r>
              <a:rPr sz="1300" i="0">
                <a:solidFill>
                  <a:srgbClr val="7DCEA0"/>
                </a:solidFill>
                <a:latin typeface="Consolas"/>
              </a:rPr>
              <a:t>Release 4.7</a:t>
            </a:r>
            <a:r>
              <a:rPr sz="1300" i="0">
                <a:solidFill>
                  <a:srgbClr val="7DCEA0"/>
                </a:solidFill>
                <a:latin typeface="Consolas"/>
              </a:rPr>
              <a:t>"</a:t>
            </a:r>
            <a:r>
              <a:rPr sz="1300" i="0">
                <a:solidFill>
                  <a:srgbClr val="AEB6BF"/>
                </a:solidFill>
                <a:latin typeface="Consolas"/>
              </a:rPr>
              <a:t>,</a:t>
            </a:r>
            <a:r>
              <a:rPr sz="1300" i="0">
                <a:solidFill>
                  <a:srgbClr val="E8EDF2"/>
                </a:solidFill>
                <a:latin typeface="Consolas"/>
              </a:rPr>
              <a:t> </a:t>
            </a:r>
            <a:r>
              <a:rPr sz="1300" i="0">
                <a:solidFill>
                  <a:srgbClr val="7DCEA0"/>
                </a:solidFill>
                <a:latin typeface="Consolas"/>
              </a:rPr>
              <a:t>"</a:t>
            </a:r>
            <a:r>
              <a:rPr sz="1300" i="0">
                <a:solidFill>
                  <a:srgbClr val="7DCEA0"/>
                </a:solidFill>
                <a:latin typeface="Consolas"/>
              </a:rPr>
              <a:t>needs-signoff</a:t>
            </a:r>
            <a:r>
              <a:rPr sz="1300" i="0">
                <a:solidFill>
                  <a:srgbClr val="7DCEA0"/>
                </a:solidFill>
                <a:latin typeface="Consolas"/>
              </a:rPr>
              <a:t>"</a:t>
            </a:r>
            <a:r>
              <a:rPr sz="1300" i="0">
                <a:solidFill>
                  <a:srgbClr val="AEB6BF"/>
                </a:solidFill>
                <a:latin typeface="Consolas"/>
              </a:rPr>
              <a:t>)</a:t>
            </a:r>
          </a:p>
          <a:p>
            <a:pPr>
              <a:lnSpc>
                <a:spcPct val="100000"/>
              </a:lnSpc>
              <a:spcAft>
                <a:spcPts val="0"/>
              </a:spcAft>
            </a:pPr>
            <a:r>
              <a:rPr sz="1300" i="0">
                <a:solidFill>
                  <a:srgbClr val="E8EDF2"/>
                </a:solidFill>
                <a:latin typeface="Consolas"/>
              </a:rPr>
              <a:t>    </a:t>
            </a:r>
            <a:r>
              <a:rPr sz="1300" i="0">
                <a:solidFill>
                  <a:srgbClr val="C39BD3"/>
                </a:solidFill>
                <a:latin typeface="Consolas"/>
              </a:rPr>
              <a:t>print</a:t>
            </a:r>
            <a:r>
              <a:rPr sz="1300" i="0">
                <a:solidFill>
                  <a:srgbClr val="AEB6BF"/>
                </a:solidFill>
                <a:latin typeface="Consolas"/>
              </a:rPr>
              <a:t>(</a:t>
            </a:r>
            <a:r>
              <a:rPr sz="1300" i="0">
                <a:solidFill>
                  <a:srgbClr val="7DCEA0"/>
                </a:solidFill>
                <a:latin typeface="Consolas"/>
              </a:rPr>
              <a:t>"</a:t>
            </a:r>
            <a:r>
              <a:rPr sz="1300" i="0">
                <a:solidFill>
                  <a:srgbClr val="7DCEA0"/>
                </a:solidFill>
                <a:latin typeface="Consolas"/>
              </a:rPr>
              <a:t>   needs-signoff =</a:t>
            </a:r>
            <a:r>
              <a:rPr sz="1300" i="0">
                <a:solidFill>
                  <a:srgbClr val="7DCEA0"/>
                </a:solidFill>
                <a:latin typeface="Consolas"/>
              </a:rPr>
              <a:t>"</a:t>
            </a:r>
            <a:r>
              <a:rPr sz="1300" i="0">
                <a:solidFill>
                  <a:srgbClr val="AEB6BF"/>
                </a:solidFill>
                <a:latin typeface="Consolas"/>
              </a:rPr>
              <a:t>,</a:t>
            </a:r>
            <a:r>
              <a:rPr sz="1300" i="0">
                <a:solidFill>
                  <a:srgbClr val="E8EDF2"/>
                </a:solidFill>
                <a:latin typeface="Consolas"/>
              </a:rPr>
              <a:t> </a:t>
            </a:r>
            <a:r>
              <a:rPr sz="1300" i="0">
                <a:solidFill>
                  <a:srgbClr val="E8EDF2"/>
                </a:solidFill>
                <a:latin typeface="Consolas"/>
              </a:rPr>
              <a:t>val</a:t>
            </a:r>
            <a:r>
              <a:rPr sz="1300" i="0">
                <a:solidFill>
                  <a:srgbClr val="AEB6BF"/>
                </a:solidFill>
                <a:latin typeface="Consolas"/>
              </a:rPr>
              <a:t>[</a:t>
            </a:r>
            <a:r>
              <a:rPr sz="1300" i="0">
                <a:solidFill>
                  <a:srgbClr val="F7DC6F"/>
                </a:solidFill>
                <a:latin typeface="Consolas"/>
              </a:rPr>
              <a:t>0</a:t>
            </a:r>
            <a:r>
              <a:rPr sz="1300" i="0">
                <a:solidFill>
                  <a:srgbClr val="AEB6BF"/>
                </a:solidFill>
                <a:latin typeface="Consolas"/>
              </a:rPr>
              <a:t>]</a:t>
            </a:r>
            <a:r>
              <a:rPr sz="1300" i="0">
                <a:solidFill>
                  <a:srgbClr val="E8EDF2"/>
                </a:solidFill>
                <a:latin typeface="Consolas"/>
              </a:rPr>
              <a:t> </a:t>
            </a:r>
            <a:r>
              <a:rPr sz="1300" i="0">
                <a:solidFill>
                  <a:srgbClr val="5DADE2"/>
                </a:solidFill>
                <a:latin typeface="Consolas"/>
              </a:rPr>
              <a:t>if</a:t>
            </a:r>
            <a:r>
              <a:rPr sz="1300" i="0">
                <a:solidFill>
                  <a:srgbClr val="E8EDF2"/>
                </a:solidFill>
                <a:latin typeface="Consolas"/>
              </a:rPr>
              <a:t> </a:t>
            </a:r>
            <a:r>
              <a:rPr sz="1300" i="0">
                <a:solidFill>
                  <a:srgbClr val="C39BD3"/>
                </a:solidFill>
                <a:latin typeface="Consolas"/>
              </a:rPr>
              <a:t>isinstance</a:t>
            </a:r>
            <a:r>
              <a:rPr sz="1300" i="0">
                <a:solidFill>
                  <a:srgbClr val="AEB6BF"/>
                </a:solidFill>
                <a:latin typeface="Consolas"/>
              </a:rPr>
              <a:t>(</a:t>
            </a:r>
            <a:r>
              <a:rPr sz="1300" i="0">
                <a:solidFill>
                  <a:srgbClr val="E8EDF2"/>
                </a:solidFill>
                <a:latin typeface="Consolas"/>
              </a:rPr>
              <a:t>val</a:t>
            </a:r>
            <a:r>
              <a:rPr sz="1300" i="0">
                <a:solidFill>
                  <a:srgbClr val="AEB6BF"/>
                </a:solidFill>
                <a:latin typeface="Consolas"/>
              </a:rPr>
              <a:t>,</a:t>
            </a:r>
            <a:r>
              <a:rPr sz="1300" i="0">
                <a:solidFill>
                  <a:srgbClr val="E8EDF2"/>
                </a:solidFill>
                <a:latin typeface="Consolas"/>
              </a:rPr>
              <a:t> </a:t>
            </a:r>
            <a:r>
              <a:rPr sz="1300" i="0">
                <a:solidFill>
                  <a:srgbClr val="C39BD3"/>
                </a:solidFill>
                <a:latin typeface="Consolas"/>
              </a:rPr>
              <a:t>tuple</a:t>
            </a:r>
            <a:r>
              <a:rPr sz="1300" i="0">
                <a:solidFill>
                  <a:srgbClr val="AEB6BF"/>
                </a:solidFill>
                <a:latin typeface="Consolas"/>
              </a:rPr>
              <a:t>)</a:t>
            </a:r>
            <a:r>
              <a:rPr sz="1300" i="0">
                <a:solidFill>
                  <a:srgbClr val="E8EDF2"/>
                </a:solidFill>
                <a:latin typeface="Consolas"/>
              </a:rPr>
              <a:t> </a:t>
            </a:r>
            <a:r>
              <a:rPr sz="1300" i="0">
                <a:solidFill>
                  <a:srgbClr val="5DADE2"/>
                </a:solidFill>
                <a:latin typeface="Consolas"/>
              </a:rPr>
              <a:t>else</a:t>
            </a:r>
            <a:r>
              <a:rPr sz="1300" i="0">
                <a:solidFill>
                  <a:srgbClr val="E8EDF2"/>
                </a:solidFill>
                <a:latin typeface="Consolas"/>
              </a:rPr>
              <a:t> </a:t>
            </a:r>
            <a:r>
              <a:rPr sz="1300" i="0">
                <a:solidFill>
                  <a:srgbClr val="E8EDF2"/>
                </a:solidFill>
                <a:latin typeface="Consolas"/>
              </a:rPr>
              <a:t>val</a:t>
            </a:r>
            <a:r>
              <a:rPr sz="1300" i="0">
                <a:solidFill>
                  <a:srgbClr val="AEB6BF"/>
                </a:solidFill>
                <a:latin typeface="Consolas"/>
              </a:rPr>
              <a:t>)</a:t>
            </a:r>
          </a:p>
          <a:p>
            <a:pPr>
              <a:lnSpc>
                <a:spcPct val="100000"/>
              </a:lnSpc>
              <a:spcAft>
                <a:spcPts val="0"/>
              </a:spcAft>
            </a:pPr>
            <a:r>
              <a:rPr sz="1300" i="0">
                <a:solidFill>
                  <a:srgbClr val="E8EDF2"/>
                </a:solidFill>
                <a:latin typeface="Consolas"/>
              </a:rPr>
              <a:t>    </a:t>
            </a:r>
            <a:r>
              <a:rPr sz="1300" i="0">
                <a:solidFill>
                  <a:srgbClr val="5DADE2"/>
                </a:solidFill>
                <a:latin typeface="Consolas"/>
              </a:rPr>
              <a:t>assert</a:t>
            </a:r>
            <a:r>
              <a:rPr sz="1300" i="0">
                <a:solidFill>
                  <a:srgbClr val="E8EDF2"/>
                </a:solidFill>
                <a:latin typeface="Consolas"/>
              </a:rPr>
              <a:t> </a:t>
            </a:r>
            <a:r>
              <a:rPr sz="1300" i="0">
                <a:solidFill>
                  <a:srgbClr val="C39BD3"/>
                </a:solidFill>
                <a:latin typeface="Consolas"/>
              </a:rPr>
              <a:t>isinstance</a:t>
            </a:r>
            <a:r>
              <a:rPr sz="1300" i="0">
                <a:solidFill>
                  <a:srgbClr val="AEB6BF"/>
                </a:solidFill>
                <a:latin typeface="Consolas"/>
              </a:rPr>
              <a:t>(</a:t>
            </a:r>
            <a:r>
              <a:rPr sz="1300" i="0">
                <a:solidFill>
                  <a:srgbClr val="E8EDF2"/>
                </a:solidFill>
                <a:latin typeface="Consolas"/>
              </a:rPr>
              <a:t>val</a:t>
            </a:r>
            <a:r>
              <a:rPr sz="1300" i="0">
                <a:solidFill>
                  <a:srgbClr val="AEB6BF"/>
                </a:solidFill>
                <a:latin typeface="Consolas"/>
              </a:rPr>
              <a:t>,</a:t>
            </a:r>
            <a:r>
              <a:rPr sz="1300" i="0">
                <a:solidFill>
                  <a:srgbClr val="E8EDF2"/>
                </a:solidFill>
                <a:latin typeface="Consolas"/>
              </a:rPr>
              <a:t> </a:t>
            </a:r>
            <a:r>
              <a:rPr sz="1300" i="0">
                <a:solidFill>
                  <a:srgbClr val="C39BD3"/>
                </a:solidFill>
                <a:latin typeface="Consolas"/>
              </a:rPr>
              <a:t>tuple</a:t>
            </a:r>
            <a:r>
              <a:rPr sz="1300" i="0">
                <a:solidFill>
                  <a:srgbClr val="AEB6BF"/>
                </a:solidFill>
                <a:latin typeface="Consolas"/>
              </a:rPr>
              <a:t>)</a:t>
            </a:r>
            <a:r>
              <a:rPr sz="1300" i="0">
                <a:solidFill>
                  <a:srgbClr val="E8EDF2"/>
                </a:solidFill>
                <a:latin typeface="Consolas"/>
              </a:rPr>
              <a:t> </a:t>
            </a:r>
            <a:r>
              <a:rPr sz="1300" i="0">
                <a:solidFill>
                  <a:srgbClr val="AEB6BF"/>
                </a:solidFill>
                <a:latin typeface="Consolas"/>
              </a:rPr>
              <a:t>and</a:t>
            </a:r>
            <a:r>
              <a:rPr sz="1300" i="0">
                <a:solidFill>
                  <a:srgbClr val="E8EDF2"/>
                </a:solidFill>
                <a:latin typeface="Consolas"/>
              </a:rPr>
              <a:t> </a:t>
            </a:r>
            <a:r>
              <a:rPr sz="1300" i="0">
                <a:solidFill>
                  <a:srgbClr val="E8EDF2"/>
                </a:solidFill>
                <a:latin typeface="Consolas"/>
              </a:rPr>
              <a:t>val</a:t>
            </a:r>
            <a:r>
              <a:rPr sz="1300" i="0">
                <a:solidFill>
                  <a:srgbClr val="AEB6BF"/>
                </a:solidFill>
                <a:latin typeface="Consolas"/>
              </a:rPr>
              <a:t>[</a:t>
            </a:r>
            <a:r>
              <a:rPr sz="1300" i="0">
                <a:solidFill>
                  <a:srgbClr val="F7DC6F"/>
                </a:solidFill>
                <a:latin typeface="Consolas"/>
              </a:rPr>
              <a:t>0</a:t>
            </a:r>
            <a:r>
              <a:rPr sz="1300" i="0">
                <a:solidFill>
                  <a:srgbClr val="AEB6BF"/>
                </a:solidFill>
                <a:latin typeface="Consolas"/>
              </a:rPr>
              <a:t>]</a:t>
            </a:r>
            <a:r>
              <a:rPr sz="1300" i="0">
                <a:solidFill>
                  <a:srgbClr val="E8EDF2"/>
                </a:solidFill>
                <a:latin typeface="Consolas"/>
              </a:rPr>
              <a:t> </a:t>
            </a:r>
            <a:r>
              <a:rPr sz="1300" i="0">
                <a:solidFill>
                  <a:srgbClr val="AEB6BF"/>
                </a:solidFill>
                <a:latin typeface="Consolas"/>
              </a:rPr>
              <a:t>==</a:t>
            </a:r>
            <a:r>
              <a:rPr sz="1300" i="0">
                <a:solidFill>
                  <a:srgbClr val="E8EDF2"/>
                </a:solidFill>
                <a:latin typeface="Consolas"/>
              </a:rPr>
              <a:t> </a:t>
            </a:r>
            <a:r>
              <a:rPr sz="1300" i="0">
                <a:solidFill>
                  <a:srgbClr val="7DCEA0"/>
                </a:solidFill>
                <a:latin typeface="Consolas"/>
              </a:rPr>
              <a:t>"</a:t>
            </a:r>
            <a:r>
              <a:rPr sz="1300" i="0">
                <a:solidFill>
                  <a:srgbClr val="7DCEA0"/>
                </a:solidFill>
                <a:latin typeface="Consolas"/>
              </a:rPr>
              <a:t>CONFLICT</a:t>
            </a:r>
            <a:r>
              <a:rPr sz="1300" i="0">
                <a:solidFill>
                  <a:srgbClr val="7DCEA0"/>
                </a:solidFill>
                <a:latin typeface="Consolas"/>
              </a:rPr>
              <a:t>"</a:t>
            </a:r>
          </a:p>
          <a:p>
            <a:pPr>
              <a:lnSpc>
                <a:spcPct val="100000"/>
              </a:lnSpc>
              <a:spcAft>
                <a:spcPts val="0"/>
              </a:spcAft>
            </a:pPr>
            <a:r>
              <a:rPr sz="1300" i="0">
                <a:solidFill>
                  <a:srgbClr val="E8EDF2"/>
                </a:solidFill>
                <a:latin typeface="Consolas"/>
              </a:rPr>
              <a:t>    </a:t>
            </a:r>
            <a:r>
              <a:rPr sz="1300" i="0">
                <a:solidFill>
                  <a:srgbClr val="5DADE2"/>
                </a:solidFill>
                <a:latin typeface="Consolas"/>
              </a:rPr>
              <a:t>for</a:t>
            </a:r>
            <a:r>
              <a:rPr sz="1300" i="0">
                <a:solidFill>
                  <a:srgbClr val="E8EDF2"/>
                </a:solidFill>
                <a:latin typeface="Consolas"/>
              </a:rPr>
              <a:t> </a:t>
            </a:r>
            <a:r>
              <a:rPr sz="1300" i="0">
                <a:solidFill>
                  <a:srgbClr val="E8EDF2"/>
                </a:solidFill>
                <a:latin typeface="Consolas"/>
              </a:rPr>
              <a:t>v</a:t>
            </a:r>
            <a:r>
              <a:rPr sz="1300" i="0">
                <a:solidFill>
                  <a:srgbClr val="AEB6BF"/>
                </a:solidFill>
                <a:latin typeface="Consolas"/>
              </a:rPr>
              <a:t>,</a:t>
            </a:r>
            <a:r>
              <a:rPr sz="1300" i="0">
                <a:solidFill>
                  <a:srgbClr val="E8EDF2"/>
                </a:solidFill>
                <a:latin typeface="Consolas"/>
              </a:rPr>
              <a:t> </a:t>
            </a:r>
            <a:r>
              <a:rPr sz="1300" i="0">
                <a:solidFill>
                  <a:srgbClr val="E8EDF2"/>
                </a:solidFill>
                <a:latin typeface="Consolas"/>
              </a:rPr>
              <a:t>src</a:t>
            </a:r>
            <a:r>
              <a:rPr sz="1300" i="0">
                <a:solidFill>
                  <a:srgbClr val="E8EDF2"/>
                </a:solidFill>
                <a:latin typeface="Consolas"/>
              </a:rPr>
              <a:t> </a:t>
            </a:r>
            <a:r>
              <a:rPr sz="1300" i="0">
                <a:solidFill>
                  <a:srgbClr val="AEB6BF"/>
                </a:solidFill>
                <a:latin typeface="Consolas"/>
              </a:rPr>
              <a:t>in</a:t>
            </a:r>
            <a:r>
              <a:rPr sz="1300" i="0">
                <a:solidFill>
                  <a:srgbClr val="E8EDF2"/>
                </a:solidFill>
                <a:latin typeface="Consolas"/>
              </a:rPr>
              <a:t> </a:t>
            </a:r>
            <a:r>
              <a:rPr sz="1300" i="0">
                <a:solidFill>
                  <a:srgbClr val="E8EDF2"/>
                </a:solidFill>
                <a:latin typeface="Consolas"/>
              </a:rPr>
              <a:t>val</a:t>
            </a:r>
            <a:r>
              <a:rPr sz="1300" i="0">
                <a:solidFill>
                  <a:srgbClr val="AEB6BF"/>
                </a:solidFill>
                <a:latin typeface="Consolas"/>
              </a:rPr>
              <a:t>[</a:t>
            </a:r>
            <a:r>
              <a:rPr sz="1300" i="0">
                <a:solidFill>
                  <a:srgbClr val="F7DC6F"/>
                </a:solidFill>
                <a:latin typeface="Consolas"/>
              </a:rPr>
              <a:t>1</a:t>
            </a:r>
            <a:r>
              <a:rPr sz="1300" i="0">
                <a:solidFill>
                  <a:srgbClr val="AEB6BF"/>
                </a:solidFill>
                <a:latin typeface="Consolas"/>
              </a:rPr>
              <a:t>]</a:t>
            </a:r>
            <a:r>
              <a:rPr sz="1300" i="0">
                <a:solidFill>
                  <a:srgbClr val="AEB6BF"/>
                </a:solidFill>
                <a:latin typeface="Consolas"/>
              </a:rPr>
              <a:t>:</a:t>
            </a:r>
          </a:p>
          <a:p>
            <a:pPr>
              <a:lnSpc>
                <a:spcPct val="100000"/>
              </a:lnSpc>
              <a:spcAft>
                <a:spcPts val="0"/>
              </a:spcAft>
            </a:pPr>
            <a:r>
              <a:rPr sz="1300" i="0">
                <a:solidFill>
                  <a:srgbClr val="E8EDF2"/>
                </a:solidFill>
                <a:latin typeface="Consolas"/>
              </a:rPr>
              <a:t>        </a:t>
            </a:r>
            <a:r>
              <a:rPr sz="1300" i="0">
                <a:solidFill>
                  <a:srgbClr val="C39BD3"/>
                </a:solidFill>
                <a:latin typeface="Consolas"/>
              </a:rPr>
              <a:t>print</a:t>
            </a:r>
            <a:r>
              <a:rPr sz="1300" i="0">
                <a:solidFill>
                  <a:srgbClr val="AEB6BF"/>
                </a:solidFill>
                <a:latin typeface="Consolas"/>
              </a:rPr>
              <a:t>(</a:t>
            </a:r>
            <a:r>
              <a:rPr sz="1300" i="0">
                <a:solidFill>
                  <a:srgbClr val="7DCEA0"/>
                </a:solidFill>
                <a:latin typeface="Consolas"/>
              </a:rPr>
              <a:t>"</a:t>
            </a:r>
            <a:r>
              <a:rPr sz="1300" i="0">
                <a:solidFill>
                  <a:srgbClr val="7DCEA0"/>
                </a:solidFill>
                <a:latin typeface="Consolas"/>
              </a:rPr>
              <a:t>      </a:t>
            </a:r>
            <a:r>
              <a:rPr sz="1300" i="0">
                <a:solidFill>
                  <a:srgbClr val="7DCEA0"/>
                </a:solidFill>
                <a:latin typeface="Consolas"/>
              </a:rPr>
              <a:t>%-4s</a:t>
            </a:r>
            <a:r>
              <a:rPr sz="1300" i="0">
                <a:solidFill>
                  <a:srgbClr val="7DCEA0"/>
                </a:solidFill>
                <a:latin typeface="Consolas"/>
              </a:rPr>
              <a:t> from </a:t>
            </a:r>
            <a:r>
              <a:rPr sz="1300" i="0">
                <a:solidFill>
                  <a:srgbClr val="7DCEA0"/>
                </a:solidFill>
                <a:latin typeface="Consolas"/>
              </a:rPr>
              <a:t>%s</a:t>
            </a:r>
            <a:r>
              <a:rPr sz="1300" i="0">
                <a:solidFill>
                  <a:srgbClr val="7DCEA0"/>
                </a:solidFill>
                <a:latin typeface="Consolas"/>
              </a:rPr>
              <a:t>"</a:t>
            </a:r>
            <a:r>
              <a:rPr sz="1300" i="0">
                <a:solidFill>
                  <a:srgbClr val="E8EDF2"/>
                </a:solidFill>
                <a:latin typeface="Consolas"/>
              </a:rPr>
              <a:t> </a:t>
            </a:r>
            <a:r>
              <a:rPr sz="1300" i="0">
                <a:solidFill>
                  <a:srgbClr val="AEB6BF"/>
                </a:solidFill>
                <a:latin typeface="Consolas"/>
              </a:rPr>
              <a:t>%</a:t>
            </a:r>
            <a:r>
              <a:rPr sz="1300" i="0">
                <a:solidFill>
                  <a:srgbClr val="E8EDF2"/>
                </a:solidFill>
                <a:latin typeface="Consolas"/>
              </a:rPr>
              <a:t> </a:t>
            </a:r>
            <a:r>
              <a:rPr sz="1300" i="0">
                <a:solidFill>
                  <a:srgbClr val="AEB6BF"/>
                </a:solidFill>
                <a:latin typeface="Consolas"/>
              </a:rPr>
              <a:t>(</a:t>
            </a:r>
            <a:r>
              <a:rPr sz="1300" i="0">
                <a:solidFill>
                  <a:srgbClr val="E8EDF2"/>
                </a:solidFill>
                <a:latin typeface="Consolas"/>
              </a:rPr>
              <a:t>v</a:t>
            </a:r>
            <a:r>
              <a:rPr sz="1300" i="0">
                <a:solidFill>
                  <a:srgbClr val="AEB6BF"/>
                </a:solidFill>
                <a:latin typeface="Consolas"/>
              </a:rPr>
              <a:t>,</a:t>
            </a:r>
            <a:r>
              <a:rPr sz="1300" i="0">
                <a:solidFill>
                  <a:srgbClr val="E8EDF2"/>
                </a:solidFill>
                <a:latin typeface="Consolas"/>
              </a:rPr>
              <a:t> </a:t>
            </a:r>
            <a:r>
              <a:rPr sz="1300" i="0">
                <a:solidFill>
                  <a:srgbClr val="E8EDF2"/>
                </a:solidFill>
                <a:latin typeface="Consolas"/>
              </a:rPr>
              <a:t>src</a:t>
            </a:r>
            <a:r>
              <a:rPr sz="1300" i="0">
                <a:solidFill>
                  <a:srgbClr val="AEB6BF"/>
                </a:solidFill>
                <a:latin typeface="Consolas"/>
              </a:rPr>
              <a:t>)</a:t>
            </a:r>
            <a:r>
              <a:rPr sz="1300" i="0">
                <a:solidFill>
                  <a:srgbClr val="AEB6BF"/>
                </a:solidFill>
                <a:latin typeface="Consolas"/>
              </a:rPr>
              <a:t>)</a:t>
            </a:r>
          </a:p>
          <a:p>
            <a:pPr>
              <a:lnSpc>
                <a:spcPct val="100000"/>
              </a:lnSpc>
              <a:spcAft>
                <a:spcPts val="0"/>
              </a:spcAft>
            </a:pPr>
            <a:r>
              <a:rPr sz="1300" i="0">
                <a:solidFill>
                  <a:srgbClr val="E8EDF2"/>
                </a:solidFill>
                <a:latin typeface="Consolas"/>
              </a:rPr>
              <a:t>    </a:t>
            </a:r>
            <a:r>
              <a:rPr sz="1300" i="0">
                <a:solidFill>
                  <a:srgbClr val="C39BD3"/>
                </a:solidFill>
                <a:latin typeface="Consolas"/>
              </a:rPr>
              <a:t>print</a:t>
            </a:r>
            <a:r>
              <a:rPr sz="1300" i="0">
                <a:solidFill>
                  <a:srgbClr val="AEB6BF"/>
                </a:solidFill>
                <a:latin typeface="Consolas"/>
              </a:rPr>
              <a:t>(</a:t>
            </a:r>
            <a:r>
              <a:rPr sz="1300" i="0">
                <a:solidFill>
                  <a:srgbClr val="AEB6BF"/>
                </a:solidFill>
                <a:latin typeface="Consolas"/>
              </a:rPr>
              <a:t>)</a:t>
            </a:r>
          </a:p>
          <a:p>
            <a:pPr>
              <a:lnSpc>
                <a:spcPct val="100000"/>
              </a:lnSpc>
              <a:spcAft>
                <a:spcPts val="0"/>
              </a:spcAft>
            </a:pPr>
            <a:r>
              <a:rPr sz="1300" i="0">
                <a:solidFill>
                  <a:srgbClr val="E8EDF2"/>
                </a:solidFill>
                <a:latin typeface="Consolas"/>
              </a:rPr>
              <a:t>    </a:t>
            </a:r>
            <a:r>
              <a:rPr sz="1300" i="0">
                <a:solidFill>
                  <a:srgbClr val="C39BD3"/>
                </a:solidFill>
                <a:latin typeface="Consolas"/>
              </a:rPr>
              <a:t>print</a:t>
            </a:r>
            <a:r>
              <a:rPr sz="1300" i="0">
                <a:solidFill>
                  <a:srgbClr val="AEB6BF"/>
                </a:solidFill>
                <a:latin typeface="Consolas"/>
              </a:rPr>
              <a:t>(</a:t>
            </a:r>
            <a:r>
              <a:rPr sz="1300" i="0">
                <a:solidFill>
                  <a:srgbClr val="7DCEA0"/>
                </a:solidFill>
                <a:latin typeface="Consolas"/>
              </a:rPr>
              <a:t>"</a:t>
            </a:r>
            <a:r>
              <a:rPr sz="1300" i="0">
                <a:solidFill>
                  <a:srgbClr val="7DCEA0"/>
                </a:solidFill>
                <a:latin typeface="Consolas"/>
              </a:rPr>
              <a:t>Two parents at the same distance disagree. Depth-first</a:t>
            </a:r>
            <a:r>
              <a:rPr sz="1300" i="0">
                <a:solidFill>
                  <a:srgbClr val="7DCEA0"/>
                </a:solidFill>
                <a:latin typeface="Consolas"/>
              </a:rPr>
              <a:t>"</a:t>
            </a:r>
            <a:r>
              <a:rPr sz="1300" i="0">
                <a:solidFill>
                  <a:srgbClr val="AEB6BF"/>
                </a:solidFill>
                <a:latin typeface="Consolas"/>
              </a:rPr>
              <a:t>)</a:t>
            </a:r>
          </a:p>
          <a:p>
            <a:pPr>
              <a:lnSpc>
                <a:spcPct val="100000"/>
              </a:lnSpc>
              <a:spcAft>
                <a:spcPts val="0"/>
              </a:spcAft>
            </a:pPr>
            <a:r>
              <a:rPr sz="1300" i="0">
                <a:solidFill>
                  <a:srgbClr val="E8EDF2"/>
                </a:solidFill>
                <a:latin typeface="Consolas"/>
              </a:rPr>
              <a:t>    </a:t>
            </a:r>
            <a:r>
              <a:rPr sz="1300" i="0">
                <a:solidFill>
                  <a:srgbClr val="C39BD3"/>
                </a:solidFill>
                <a:latin typeface="Consolas"/>
              </a:rPr>
              <a:t>print</a:t>
            </a:r>
            <a:r>
              <a:rPr sz="1300" i="0">
                <a:solidFill>
                  <a:srgbClr val="AEB6BF"/>
                </a:solidFill>
                <a:latin typeface="Consolas"/>
              </a:rPr>
              <a:t>(</a:t>
            </a:r>
            <a:r>
              <a:rPr sz="1300" i="0">
                <a:solidFill>
                  <a:srgbClr val="7DCEA0"/>
                </a:solidFill>
                <a:latin typeface="Consolas"/>
              </a:rPr>
              <a:t>"</a:t>
            </a:r>
            <a:r>
              <a:rPr sz="1300" i="0">
                <a:solidFill>
                  <a:srgbClr val="7DCEA0"/>
                </a:solidFill>
                <a:latin typeface="Consolas"/>
              </a:rPr>
              <a:t>inheritance would answer whichever link was entered first,</a:t>
            </a:r>
            <a:r>
              <a:rPr sz="1300" i="0">
                <a:solidFill>
                  <a:srgbClr val="7DCEA0"/>
                </a:solidFill>
                <a:latin typeface="Consolas"/>
              </a:rPr>
              <a:t>"</a:t>
            </a:r>
            <a:r>
              <a:rPr sz="1300" i="0">
                <a:solidFill>
                  <a:srgbClr val="AEB6BF"/>
                </a:solidFill>
                <a:latin typeface="Consolas"/>
              </a:rPr>
              <a:t>)</a:t>
            </a:r>
          </a:p>
          <a:p>
            <a:pPr>
              <a:lnSpc>
                <a:spcPct val="100000"/>
              </a:lnSpc>
              <a:spcAft>
                <a:spcPts val="0"/>
              </a:spcAft>
            </a:pPr>
            <a:r>
              <a:rPr sz="1300" i="0">
                <a:solidFill>
                  <a:srgbClr val="E8EDF2"/>
                </a:solidFill>
                <a:latin typeface="Consolas"/>
              </a:rPr>
              <a:t>    </a:t>
            </a:r>
            <a:r>
              <a:rPr sz="1300" i="0">
                <a:solidFill>
                  <a:srgbClr val="C39BD3"/>
                </a:solidFill>
                <a:latin typeface="Consolas"/>
              </a:rPr>
              <a:t>print</a:t>
            </a:r>
            <a:r>
              <a:rPr sz="1300" i="0">
                <a:solidFill>
                  <a:srgbClr val="AEB6BF"/>
                </a:solidFill>
                <a:latin typeface="Consolas"/>
              </a:rPr>
              <a:t>(</a:t>
            </a:r>
            <a:r>
              <a:rPr sz="1300" i="0">
                <a:solidFill>
                  <a:srgbClr val="7DCEA0"/>
                </a:solidFill>
                <a:latin typeface="Consolas"/>
              </a:rPr>
              <a:t>"</a:t>
            </a:r>
            <a:r>
              <a:rPr sz="1300" i="0">
                <a:solidFill>
                  <a:srgbClr val="7DCEA0"/>
                </a:solidFill>
                <a:latin typeface="Consolas"/>
              </a:rPr>
              <a:t>which is a property of the file and not of the knowledge.</a:t>
            </a:r>
            <a:r>
              <a:rPr sz="1300" i="0">
                <a:solidFill>
                  <a:srgbClr val="7DCEA0"/>
                </a:solidFill>
                <a:latin typeface="Consolas"/>
              </a:rPr>
              <a:t>"</a:t>
            </a:r>
            <a:r>
              <a:rPr sz="1300" i="0">
                <a:solidFill>
                  <a:srgbClr val="AEB6BF"/>
                </a:solidFill>
                <a:latin typeface="Consolas"/>
              </a:rPr>
              <a:t>)</a:t>
            </a:r>
          </a:p>
          <a:p>
            <a:pPr>
              <a:lnSpc>
                <a:spcPct val="100000"/>
              </a:lnSpc>
              <a:spcAft>
                <a:spcPts val="0"/>
              </a:spcAft>
            </a:pPr>
            <a:r>
              <a:rPr sz="1300" i="0">
                <a:solidFill>
                  <a:srgbClr val="E8EDF2"/>
                </a:solidFill>
                <a:latin typeface="Consolas"/>
              </a:rPr>
              <a:t>    </a:t>
            </a:r>
            <a:r>
              <a:rPr sz="1300" i="0">
                <a:solidFill>
                  <a:srgbClr val="C39BD3"/>
                </a:solidFill>
                <a:latin typeface="Consolas"/>
              </a:rPr>
              <a:t>print</a:t>
            </a:r>
            <a:r>
              <a:rPr sz="1300" i="0">
                <a:solidFill>
                  <a:srgbClr val="AEB6BF"/>
                </a:solidFill>
                <a:latin typeface="Consolas"/>
              </a:rPr>
              <a:t>(</a:t>
            </a:r>
            <a:r>
              <a:rPr sz="1300" i="0">
                <a:solidFill>
                  <a:srgbClr val="7DCEA0"/>
                </a:solidFill>
                <a:latin typeface="Consolas"/>
              </a:rPr>
              <a:t>"</a:t>
            </a:r>
            <a:r>
              <a:rPr sz="1300" i="0">
                <a:solidFill>
                  <a:srgbClr val="7DCEA0"/>
                </a:solidFill>
                <a:latin typeface="Consolas"/>
              </a:rPr>
              <a:t>Here that would wave a regulated change through with no</a:t>
            </a:r>
            <a:r>
              <a:rPr sz="1300" i="0">
                <a:solidFill>
                  <a:srgbClr val="7DCEA0"/>
                </a:solidFill>
                <a:latin typeface="Consolas"/>
              </a:rPr>
              <a:t>"</a:t>
            </a:r>
            <a:r>
              <a:rPr sz="1300" i="0">
                <a:solidFill>
                  <a:srgbClr val="AEB6BF"/>
                </a:solidFill>
                <a:latin typeface="Consolas"/>
              </a:rPr>
              <a:t>)</a:t>
            </a:r>
          </a:p>
          <a:p>
            <a:pPr>
              <a:lnSpc>
                <a:spcPct val="100000"/>
              </a:lnSpc>
              <a:spcAft>
                <a:spcPts val="0"/>
              </a:spcAft>
            </a:pPr>
            <a:r>
              <a:rPr sz="1300" i="0">
                <a:solidFill>
                  <a:srgbClr val="E8EDF2"/>
                </a:solidFill>
                <a:latin typeface="Consolas"/>
              </a:rPr>
              <a:t>    </a:t>
            </a:r>
            <a:r>
              <a:rPr sz="1300" i="0">
                <a:solidFill>
                  <a:srgbClr val="C39BD3"/>
                </a:solidFill>
                <a:latin typeface="Consolas"/>
              </a:rPr>
              <a:t>print</a:t>
            </a:r>
            <a:r>
              <a:rPr sz="1300" i="0">
                <a:solidFill>
                  <a:srgbClr val="AEB6BF"/>
                </a:solidFill>
                <a:latin typeface="Consolas"/>
              </a:rPr>
              <a:t>(</a:t>
            </a:r>
            <a:r>
              <a:rPr sz="1300" i="0">
                <a:solidFill>
                  <a:srgbClr val="7DCEA0"/>
                </a:solidFill>
                <a:latin typeface="Consolas"/>
              </a:rPr>
              <a:t>"</a:t>
            </a:r>
            <a:r>
              <a:rPr sz="1300" i="0">
                <a:solidFill>
                  <a:srgbClr val="7DCEA0"/>
                </a:solidFill>
                <a:latin typeface="Consolas"/>
              </a:rPr>
              <a:t>sign-off, so the only defensible answer is to report the</a:t>
            </a:r>
            <a:r>
              <a:rPr sz="1300" i="0">
                <a:solidFill>
                  <a:srgbClr val="7DCEA0"/>
                </a:solidFill>
                <a:latin typeface="Consolas"/>
              </a:rPr>
              <a:t>"</a:t>
            </a:r>
            <a:r>
              <a:rPr sz="1300" i="0">
                <a:solidFill>
                  <a:srgbClr val="AEB6BF"/>
                </a:solidFill>
                <a:latin typeface="Consolas"/>
              </a:rPr>
              <a:t>)</a:t>
            </a:r>
          </a:p>
          <a:p>
            <a:pPr>
              <a:lnSpc>
                <a:spcPct val="100000"/>
              </a:lnSpc>
              <a:spcAft>
                <a:spcPts val="0"/>
              </a:spcAft>
            </a:pPr>
            <a:r>
              <a:rPr sz="1300" i="0">
                <a:solidFill>
                  <a:srgbClr val="E8EDF2"/>
                </a:solidFill>
                <a:latin typeface="Consolas"/>
              </a:rPr>
              <a:t>    </a:t>
            </a:r>
            <a:r>
              <a:rPr sz="1300" i="0">
                <a:solidFill>
                  <a:srgbClr val="C39BD3"/>
                </a:solidFill>
                <a:latin typeface="Consolas"/>
              </a:rPr>
              <a:t>print</a:t>
            </a:r>
            <a:r>
              <a:rPr sz="1300" i="0">
                <a:solidFill>
                  <a:srgbClr val="AEB6BF"/>
                </a:solidFill>
                <a:latin typeface="Consolas"/>
              </a:rPr>
              <a:t>(</a:t>
            </a:r>
            <a:r>
              <a:rPr sz="1300" i="0">
                <a:solidFill>
                  <a:srgbClr val="7DCEA0"/>
                </a:solidFill>
                <a:latin typeface="Consolas"/>
              </a:rPr>
              <a:t>"</a:t>
            </a:r>
            <a:r>
              <a:rPr sz="1300" i="0">
                <a:solidFill>
                  <a:srgbClr val="7DCEA0"/>
                </a:solidFill>
                <a:latin typeface="Consolas"/>
              </a:rPr>
              <a:t>conflict and its provenance.</a:t>
            </a:r>
            <a:r>
              <a:rPr sz="1300" i="0">
                <a:solidFill>
                  <a:srgbClr val="7DCEA0"/>
                </a:solidFill>
                <a:latin typeface="Consolas"/>
              </a:rPr>
              <a:t>"</a:t>
            </a:r>
            <a:r>
              <a:rPr sz="1300" i="0">
                <a:solidFill>
                  <a:srgbClr val="AEB6BF"/>
                </a:solidFill>
                <a:latin typeface="Consolas"/>
              </a:rPr>
              <a:t>)</a:t>
            </a:r>
          </a:p>
        </p:txBody>
      </p:sp>
      <p:sp>
        <p:nvSpPr>
          <p:cNvPr id="15" name="!!code-num"/>
          <p:cNvSpPr txBox="1"/>
          <p:nvPr/>
        </p:nvSpPr>
        <p:spPr>
          <a:xfrm>
            <a:off x="768096" y="2523744"/>
            <a:ext cx="393192" cy="3675887"/>
          </a:xfrm>
          <a:prstGeom prst="rect">
            <a:avLst/>
          </a:prstGeom>
          <a:noFill/>
        </p:spPr>
        <p:txBody>
          <a:bodyPr wrap="none" anchor="t" lIns="0" rIns="0" tIns="0" bIns="0">
            <a:noAutofit/>
          </a:bodyPr>
          <a:lstStyle/>
          <a:p>
            <a:pPr algn="r">
              <a:lnSpc>
                <a:spcPct val="100000"/>
              </a:lnSpc>
            </a:pPr>
            <a:r>
              <a:rPr sz="1300">
                <a:solidFill>
                  <a:srgbClr val="4F5D6A"/>
                </a:solidFill>
                <a:latin typeface="Consolas"/>
              </a:rPr>
              <a:t>119</a:t>
            </a:r>
          </a:p>
          <a:p>
            <a:pPr algn="r">
              <a:lnSpc>
                <a:spcPct val="100000"/>
              </a:lnSpc>
            </a:pPr>
            <a:r>
              <a:rPr sz="1300">
                <a:solidFill>
                  <a:srgbClr val="4F5D6A"/>
                </a:solidFill>
                <a:latin typeface="Consolas"/>
              </a:rPr>
              <a:t>120</a:t>
            </a:r>
          </a:p>
          <a:p>
            <a:pPr algn="r">
              <a:lnSpc>
                <a:spcPct val="100000"/>
              </a:lnSpc>
            </a:pPr>
            <a:r>
              <a:rPr sz="1300">
                <a:solidFill>
                  <a:srgbClr val="4F5D6A"/>
                </a:solidFill>
                <a:latin typeface="Consolas"/>
              </a:rPr>
              <a:t>121</a:t>
            </a:r>
          </a:p>
          <a:p>
            <a:pPr algn="r">
              <a:lnSpc>
                <a:spcPct val="100000"/>
              </a:lnSpc>
            </a:pPr>
            <a:r>
              <a:rPr sz="1300">
                <a:solidFill>
                  <a:srgbClr val="4F5D6A"/>
                </a:solidFill>
                <a:latin typeface="Consolas"/>
              </a:rPr>
              <a:t>122</a:t>
            </a:r>
          </a:p>
          <a:p>
            <a:pPr algn="r">
              <a:lnSpc>
                <a:spcPct val="100000"/>
              </a:lnSpc>
            </a:pPr>
            <a:r>
              <a:rPr sz="1300">
                <a:solidFill>
                  <a:srgbClr val="4F5D6A"/>
                </a:solidFill>
                <a:latin typeface="Consolas"/>
              </a:rPr>
              <a:t>123</a:t>
            </a:r>
          </a:p>
          <a:p>
            <a:pPr algn="r">
              <a:lnSpc>
                <a:spcPct val="100000"/>
              </a:lnSpc>
            </a:pPr>
            <a:r>
              <a:rPr sz="1300">
                <a:solidFill>
                  <a:srgbClr val="4F5D6A"/>
                </a:solidFill>
                <a:latin typeface="Consolas"/>
              </a:rPr>
              <a:t>124</a:t>
            </a:r>
          </a:p>
          <a:p>
            <a:pPr algn="r">
              <a:lnSpc>
                <a:spcPct val="100000"/>
              </a:lnSpc>
            </a:pPr>
            <a:r>
              <a:rPr sz="1300">
                <a:solidFill>
                  <a:srgbClr val="4F5D6A"/>
                </a:solidFill>
                <a:latin typeface="Consolas"/>
              </a:rPr>
              <a:t>125</a:t>
            </a:r>
          </a:p>
          <a:p>
            <a:pPr algn="r">
              <a:lnSpc>
                <a:spcPct val="100000"/>
              </a:lnSpc>
            </a:pPr>
            <a:r>
              <a:rPr sz="1300">
                <a:solidFill>
                  <a:srgbClr val="4F5D6A"/>
                </a:solidFill>
                <a:latin typeface="Consolas"/>
              </a:rPr>
              <a:t>126</a:t>
            </a:r>
          </a:p>
          <a:p>
            <a:pPr algn="r">
              <a:lnSpc>
                <a:spcPct val="100000"/>
              </a:lnSpc>
            </a:pPr>
            <a:r>
              <a:rPr sz="1300">
                <a:solidFill>
                  <a:srgbClr val="4F5D6A"/>
                </a:solidFill>
                <a:latin typeface="Consolas"/>
              </a:rPr>
              <a:t>127</a:t>
            </a:r>
          </a:p>
          <a:p>
            <a:pPr algn="r">
              <a:lnSpc>
                <a:spcPct val="100000"/>
              </a:lnSpc>
            </a:pPr>
            <a:r>
              <a:rPr sz="1300">
                <a:solidFill>
                  <a:srgbClr val="4F5D6A"/>
                </a:solidFill>
                <a:latin typeface="Consolas"/>
              </a:rPr>
              <a:t>128</a:t>
            </a:r>
          </a:p>
          <a:p>
            <a:pPr algn="r">
              <a:lnSpc>
                <a:spcPct val="100000"/>
              </a:lnSpc>
            </a:pPr>
            <a:r>
              <a:rPr sz="1300">
                <a:solidFill>
                  <a:srgbClr val="4F5D6A"/>
                </a:solidFill>
                <a:latin typeface="Consolas"/>
              </a:rPr>
              <a:t>129</a:t>
            </a:r>
          </a:p>
          <a:p>
            <a:pPr algn="r">
              <a:lnSpc>
                <a:spcPct val="100000"/>
              </a:lnSpc>
            </a:pPr>
            <a:r>
              <a:rPr sz="1300">
                <a:solidFill>
                  <a:srgbClr val="4F5D6A"/>
                </a:solidFill>
                <a:latin typeface="Consolas"/>
              </a:rPr>
              <a:t>130</a:t>
            </a:r>
          </a:p>
          <a:p>
            <a:pPr algn="r">
              <a:lnSpc>
                <a:spcPct val="100000"/>
              </a:lnSpc>
            </a:pPr>
            <a:r>
              <a:rPr sz="1300">
                <a:solidFill>
                  <a:srgbClr val="4F5D6A"/>
                </a:solidFill>
                <a:latin typeface="Consolas"/>
              </a:rPr>
              <a:t>131</a:t>
            </a:r>
          </a:p>
          <a:p>
            <a:pPr algn="r">
              <a:lnSpc>
                <a:spcPct val="100000"/>
              </a:lnSpc>
            </a:pPr>
            <a:r>
              <a:rPr sz="1300">
                <a:solidFill>
                  <a:srgbClr val="4F5D6A"/>
                </a:solidFill>
                <a:latin typeface="Consolas"/>
              </a:rPr>
              <a:t>132</a:t>
            </a:r>
          </a:p>
          <a:p>
            <a:pPr algn="r">
              <a:lnSpc>
                <a:spcPct val="100000"/>
              </a:lnSpc>
            </a:pPr>
            <a:r>
              <a:rPr sz="1300">
                <a:solidFill>
                  <a:srgbClr val="4F5D6A"/>
                </a:solidFill>
                <a:latin typeface="Consolas"/>
              </a:rPr>
              <a:t>133</a:t>
            </a:r>
          </a:p>
          <a:p>
            <a:pPr algn="r">
              <a:lnSpc>
                <a:spcPct val="100000"/>
              </a:lnSpc>
            </a:pPr>
            <a:r>
              <a:rPr sz="1300">
                <a:solidFill>
                  <a:srgbClr val="4F5D6A"/>
                </a:solidFill>
                <a:latin typeface="Consolas"/>
              </a:rPr>
              <a:t>134</a:t>
            </a:r>
          </a:p>
          <a:p>
            <a:pPr algn="r">
              <a:lnSpc>
                <a:spcPct val="100000"/>
              </a:lnSpc>
            </a:pPr>
            <a:r>
              <a:rPr sz="1300">
                <a:solidFill>
                  <a:srgbClr val="4F5D6A"/>
                </a:solidFill>
                <a:latin typeface="Consolas"/>
              </a:rPr>
              <a:t>135</a:t>
            </a:r>
          </a:p>
          <a:p>
            <a:pPr algn="r">
              <a:lnSpc>
                <a:spcPct val="100000"/>
              </a:lnSpc>
            </a:pPr>
            <a:r>
              <a:rPr sz="1300">
                <a:solidFill>
                  <a:srgbClr val="4F5D6A"/>
                </a:solidFill>
                <a:latin typeface="Consolas"/>
              </a:rPr>
              <a:t>136</a:t>
            </a:r>
          </a:p>
        </p:txBody>
      </p:sp>
      <p:sp>
        <p:nvSpPr>
          <p:cNvPr id="16"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7" name="!!pfill">
            <a:extLst>
              <a:ext uri="{C183D7F6-B498-43B3-948B-1728B52AA6E4}">
                <adec:decorative xmlns:adec="http://schemas.microsoft.com/office/drawing/2017/decorative" val="1"/>
              </a:ext>
            </a:extLst>
          </p:cNvPr>
          <p:cNvSpPr/>
          <p:nvPr/>
        </p:nvSpPr>
        <p:spPr>
          <a:xfrm>
            <a:off x="0" y="0"/>
            <a:ext cx="7655250" cy="54864"/>
          </a:xfrm>
          <a:prstGeom prst="rect">
            <a:avLst/>
          </a:prstGeom>
          <a:solidFill>
            <a:srgbClr val="8E44A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xmlns:p159="http://schemas.microsoft.com/office/powerpoint/2015/09/main" Requires="p159">
      <p:transition spd="slow" p14:dur="600">
        <p159:morph option="byObject"/>
      </p:transition>
    </mc:Choice>
    <mc:Fallback>
      <p:transition spd="med">
        <p:fade/>
      </p:transition>
    </mc:Fallback>
  </mc:AlternateContent>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2600" b="0">
                <a:solidFill>
                  <a:srgbClr val="1A5276"/>
                </a:solidFill>
                <a:latin typeface="Segoe UI Semibold"/>
              </a:rPr>
              <a:t>A Semantic Network That Answers Queries</a:t>
            </a:r>
          </a:p>
        </p:txBody>
      </p:sp>
      <p:pic>
        <p:nvPicPr>
          <p:cNvPr id="3" name="!!kicker-icon" descr="flask-117A65.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192583"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117A65"/>
                </a:solidFill>
                <a:latin typeface="Segoe UI"/>
              </a:rPr>
              <a:t>LAB  ·  STEP 11 OF 11</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Artificial Intelligence  ·  Chapter 10  ·  Knowledge Representation</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§10.6  ·  Handout p. 104     </a:t>
            </a:r>
            <a:fld id="{BADD3DE1-A19C-4081-B76D-E6CD3343C85E}" type="slidenum">
              <a:rPr lang="en-GB" sz="1000">
                <a:solidFill>
                  <a:srgbClr val="8795A1"/>
                </a:solidFill>
                <a:latin typeface="Segoe UI"/>
              </a:rPr>
              <a:t>28</a:t>
            </a:fld>
          </a:p>
        </p:txBody>
      </p:sp>
      <p:sp>
        <p:nvSpPr>
          <p:cNvPr id="7" name="!!codehead"/>
          <p:cNvSpPr txBox="1"/>
          <p:nvPr/>
        </p:nvSpPr>
        <p:spPr>
          <a:xfrm>
            <a:off x="658368" y="1627631"/>
            <a:ext cx="10874959" cy="329184"/>
          </a:xfrm>
          <a:prstGeom prst="rect">
            <a:avLst/>
          </a:prstGeom>
          <a:noFill/>
        </p:spPr>
        <p:txBody>
          <a:bodyPr wrap="square" anchor="t" lIns="0" rIns="0" tIns="0" bIns="0">
            <a:noAutofit/>
          </a:bodyPr>
          <a:lstStyle/>
          <a:p>
            <a:pPr algn="l">
              <a:lnSpc>
                <a:spcPct val="100000"/>
              </a:lnSpc>
              <a:spcBef>
                <a:spcPts val="0"/>
              </a:spcBef>
              <a:spcAft>
                <a:spcPts val="0"/>
              </a:spcAft>
            </a:pPr>
            <a:r>
              <a:rPr sz="1900" b="1" i="0">
                <a:solidFill>
                  <a:srgbClr val="0E6655"/>
                </a:solidFill>
                <a:latin typeface="Segoe UI Semibold"/>
              </a:rPr>
              <a:t>Now add a second, equally specific parent (continued)</a:t>
            </a:r>
          </a:p>
        </p:txBody>
      </p:sp>
      <p:sp>
        <p:nvSpPr>
          <p:cNvPr id="8" name="!!code-bg">
            <a:extLst>
              <a:ext uri="{C183D7F6-B498-43B3-948B-1728B52AA6E4}">
                <adec:decorative xmlns:adec="http://schemas.microsoft.com/office/drawing/2017/decorative" val="1"/>
              </a:ext>
            </a:extLst>
          </p:cNvPr>
          <p:cNvSpPr/>
          <p:nvPr/>
        </p:nvSpPr>
        <p:spPr>
          <a:xfrm>
            <a:off x="658368" y="2084831"/>
            <a:ext cx="10874959" cy="2051303"/>
          </a:xfrm>
          <a:prstGeom prst="roundRect">
            <a:avLst>
              <a:gd name="adj" fmla="val 4457"/>
            </a:avLst>
          </a:prstGeom>
          <a:solidFill>
            <a:srgbClr val="1E283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9" name="!!code-sep">
            <a:extLst>
              <a:ext uri="{C183D7F6-B498-43B3-948B-1728B52AA6E4}">
                <adec:decorative xmlns:adec="http://schemas.microsoft.com/office/drawing/2017/decorative" val="1"/>
              </a:ext>
            </a:extLst>
          </p:cNvPr>
          <p:cNvSpPr/>
          <p:nvPr/>
        </p:nvSpPr>
        <p:spPr>
          <a:xfrm>
            <a:off x="676656" y="2404872"/>
            <a:ext cx="10838383" cy="10972"/>
          </a:xfrm>
          <a:prstGeom prst="rect">
            <a:avLst/>
          </a:prstGeom>
          <a:solidFill>
            <a:srgbClr val="28343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0" name="!!code-dot0">
            <a:extLst>
              <a:ext uri="{C183D7F6-B498-43B3-948B-1728B52AA6E4}">
                <adec:decorative xmlns:adec="http://schemas.microsoft.com/office/drawing/2017/decorative" val="1"/>
              </a:ext>
            </a:extLst>
          </p:cNvPr>
          <p:cNvSpPr/>
          <p:nvPr/>
        </p:nvSpPr>
        <p:spPr>
          <a:xfrm>
            <a:off x="859536" y="2199132"/>
            <a:ext cx="100584" cy="100584"/>
          </a:xfrm>
          <a:prstGeom prst="ellipse">
            <a:avLst/>
          </a:prstGeom>
          <a:solidFill>
            <a:srgbClr val="E74C3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1" name="!!code-dot1">
            <a:extLst>
              <a:ext uri="{C183D7F6-B498-43B3-948B-1728B52AA6E4}">
                <adec:decorative xmlns:adec="http://schemas.microsoft.com/office/drawing/2017/decorative" val="1"/>
              </a:ext>
            </a:extLst>
          </p:cNvPr>
          <p:cNvSpPr/>
          <p:nvPr/>
        </p:nvSpPr>
        <p:spPr>
          <a:xfrm>
            <a:off x="1042415" y="2199132"/>
            <a:ext cx="100584" cy="100584"/>
          </a:xfrm>
          <a:prstGeom prst="ellipse">
            <a:avLst/>
          </a:prstGeom>
          <a:solidFill>
            <a:srgbClr val="F4D03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2" name="!!code-dot2">
            <a:extLst>
              <a:ext uri="{C183D7F6-B498-43B3-948B-1728B52AA6E4}">
                <adec:decorative xmlns:adec="http://schemas.microsoft.com/office/drawing/2017/decorative" val="1"/>
              </a:ext>
            </a:extLst>
          </p:cNvPr>
          <p:cNvSpPr/>
          <p:nvPr/>
        </p:nvSpPr>
        <p:spPr>
          <a:xfrm>
            <a:off x="1225295" y="2199132"/>
            <a:ext cx="100584" cy="100584"/>
          </a:xfrm>
          <a:prstGeom prst="ellipse">
            <a:avLst/>
          </a:prstGeom>
          <a:solidFill>
            <a:srgbClr val="58D68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3" name="!!code-label"/>
          <p:cNvSpPr txBox="1"/>
          <p:nvPr/>
        </p:nvSpPr>
        <p:spPr>
          <a:xfrm>
            <a:off x="1527048" y="2148839"/>
            <a:ext cx="9777679" cy="219456"/>
          </a:xfrm>
          <a:prstGeom prst="rect">
            <a:avLst/>
          </a:prstGeom>
          <a:noFill/>
        </p:spPr>
        <p:txBody>
          <a:bodyPr wrap="square" anchor="t" lIns="0" rIns="0" tIns="0" bIns="0">
            <a:noAutofit/>
          </a:bodyPr>
          <a:lstStyle/>
          <a:p>
            <a:pPr algn="l">
              <a:lnSpc>
                <a:spcPct val="100000"/>
              </a:lnSpc>
              <a:spcBef>
                <a:spcPts val="0"/>
              </a:spcBef>
              <a:spcAft>
                <a:spcPts val="0"/>
              </a:spcAft>
            </a:pPr>
            <a:r>
              <a:rPr sz="1100" b="1" i="0">
                <a:solidFill>
                  <a:srgbClr val="9FB0BF"/>
                </a:solidFill>
                <a:latin typeface="Segoe UI"/>
              </a:rPr>
              <a:t>Python  ·  code/ch10_semantic_network_that.py</a:t>
            </a:r>
          </a:p>
        </p:txBody>
      </p:sp>
      <p:sp>
        <p:nvSpPr>
          <p:cNvPr id="14" name="!!code-text" descr="# non-monotonicity, demonstrated: adding knowledge REMOVED an answer print() print(&quot;Note what just happened: adding a fact removed a&quot;) print(&quot;conclusion. Classical logic cannot do that, which is&quot;) print(&quot;exactly the trade Chapters 11 and 12 make.&quot;)"/>
          <p:cNvSpPr txBox="1"/>
          <p:nvPr/>
        </p:nvSpPr>
        <p:spPr>
          <a:xfrm>
            <a:off x="1362456" y="2523744"/>
            <a:ext cx="9987991" cy="1557528"/>
          </a:xfrm>
          <a:prstGeom prst="rect">
            <a:avLst/>
          </a:prstGeom>
          <a:noFill/>
        </p:spPr>
        <p:txBody>
          <a:bodyPr wrap="none" anchor="t" lIns="0" rIns="0" tIns="0" bIns="0">
            <a:noAutofit/>
          </a:bodyPr>
          <a:lstStyle/>
          <a:p>
            <a:pPr>
              <a:lnSpc>
                <a:spcPct val="100000"/>
              </a:lnSpc>
              <a:spcAft>
                <a:spcPts val="0"/>
              </a:spcAft>
            </a:pPr>
            <a:r>
              <a:rPr sz="1900" i="0">
                <a:solidFill>
                  <a:srgbClr val="E8EDF2"/>
                </a:solidFill>
                <a:latin typeface="Consolas"/>
              </a:rPr>
              <a:t>    </a:t>
            </a:r>
            <a:r>
              <a:rPr sz="1900" i="1">
                <a:solidFill>
                  <a:srgbClr val="8795A1"/>
                </a:solidFill>
                <a:latin typeface="Consolas"/>
              </a:rPr>
              <a:t># non-monotonicity, demonstrated: adding knowledge REMOVED an answer</a:t>
            </a:r>
          </a:p>
          <a:p>
            <a:pPr>
              <a:lnSpc>
                <a:spcPct val="100000"/>
              </a:lnSpc>
              <a:spcAft>
                <a:spcPts val="0"/>
              </a:spcAft>
            </a:pPr>
            <a:r>
              <a:rPr sz="1900" i="0">
                <a:solidFill>
                  <a:srgbClr val="E8EDF2"/>
                </a:solidFill>
                <a:latin typeface="Consolas"/>
              </a:rPr>
              <a:t>    </a:t>
            </a:r>
            <a:r>
              <a:rPr sz="1900" i="0">
                <a:solidFill>
                  <a:srgbClr val="C39BD3"/>
                </a:solidFill>
                <a:latin typeface="Consolas"/>
              </a:rPr>
              <a:t>print</a:t>
            </a:r>
            <a:r>
              <a:rPr sz="1900" i="0">
                <a:solidFill>
                  <a:srgbClr val="AEB6BF"/>
                </a:solidFill>
                <a:latin typeface="Consolas"/>
              </a:rPr>
              <a:t>(</a:t>
            </a:r>
            <a:r>
              <a:rPr sz="1900" i="0">
                <a:solidFill>
                  <a:srgbClr val="AEB6BF"/>
                </a:solidFill>
                <a:latin typeface="Consolas"/>
              </a:rPr>
              <a:t>)</a:t>
            </a:r>
          </a:p>
          <a:p>
            <a:pPr>
              <a:lnSpc>
                <a:spcPct val="100000"/>
              </a:lnSpc>
              <a:spcAft>
                <a:spcPts val="0"/>
              </a:spcAft>
            </a:pPr>
            <a:r>
              <a:rPr sz="1900" i="0">
                <a:solidFill>
                  <a:srgbClr val="E8EDF2"/>
                </a:solidFill>
                <a:latin typeface="Consolas"/>
              </a:rPr>
              <a:t>    </a:t>
            </a:r>
            <a:r>
              <a:rPr sz="1900" i="0">
                <a:solidFill>
                  <a:srgbClr val="C39BD3"/>
                </a:solidFill>
                <a:latin typeface="Consolas"/>
              </a:rPr>
              <a:t>print</a:t>
            </a:r>
            <a:r>
              <a:rPr sz="1900" i="0">
                <a:solidFill>
                  <a:srgbClr val="AEB6BF"/>
                </a:solidFill>
                <a:latin typeface="Consolas"/>
              </a:rPr>
              <a:t>(</a:t>
            </a:r>
            <a:r>
              <a:rPr sz="1900" i="0">
                <a:solidFill>
                  <a:srgbClr val="7DCEA0"/>
                </a:solidFill>
                <a:latin typeface="Consolas"/>
              </a:rPr>
              <a:t>"</a:t>
            </a:r>
            <a:r>
              <a:rPr sz="1900" i="0">
                <a:solidFill>
                  <a:srgbClr val="7DCEA0"/>
                </a:solidFill>
                <a:latin typeface="Consolas"/>
              </a:rPr>
              <a:t>Note what just happened: adding a fact removed a</a:t>
            </a:r>
            <a:r>
              <a:rPr sz="1900" i="0">
                <a:solidFill>
                  <a:srgbClr val="7DCEA0"/>
                </a:solidFill>
                <a:latin typeface="Consolas"/>
              </a:rPr>
              <a:t>"</a:t>
            </a:r>
            <a:r>
              <a:rPr sz="1900" i="0">
                <a:solidFill>
                  <a:srgbClr val="AEB6BF"/>
                </a:solidFill>
                <a:latin typeface="Consolas"/>
              </a:rPr>
              <a:t>)</a:t>
            </a:r>
          </a:p>
          <a:p>
            <a:pPr>
              <a:lnSpc>
                <a:spcPct val="100000"/>
              </a:lnSpc>
              <a:spcAft>
                <a:spcPts val="0"/>
              </a:spcAft>
            </a:pPr>
            <a:r>
              <a:rPr sz="1900" i="0">
                <a:solidFill>
                  <a:srgbClr val="E8EDF2"/>
                </a:solidFill>
                <a:latin typeface="Consolas"/>
              </a:rPr>
              <a:t>    </a:t>
            </a:r>
            <a:r>
              <a:rPr sz="1900" i="0">
                <a:solidFill>
                  <a:srgbClr val="C39BD3"/>
                </a:solidFill>
                <a:latin typeface="Consolas"/>
              </a:rPr>
              <a:t>print</a:t>
            </a:r>
            <a:r>
              <a:rPr sz="1900" i="0">
                <a:solidFill>
                  <a:srgbClr val="AEB6BF"/>
                </a:solidFill>
                <a:latin typeface="Consolas"/>
              </a:rPr>
              <a:t>(</a:t>
            </a:r>
            <a:r>
              <a:rPr sz="1900" i="0">
                <a:solidFill>
                  <a:srgbClr val="7DCEA0"/>
                </a:solidFill>
                <a:latin typeface="Consolas"/>
              </a:rPr>
              <a:t>"</a:t>
            </a:r>
            <a:r>
              <a:rPr sz="1900" i="0">
                <a:solidFill>
                  <a:srgbClr val="7DCEA0"/>
                </a:solidFill>
                <a:latin typeface="Consolas"/>
              </a:rPr>
              <a:t>conclusion. Classical logic cannot do that, which is</a:t>
            </a:r>
            <a:r>
              <a:rPr sz="1900" i="0">
                <a:solidFill>
                  <a:srgbClr val="7DCEA0"/>
                </a:solidFill>
                <a:latin typeface="Consolas"/>
              </a:rPr>
              <a:t>"</a:t>
            </a:r>
            <a:r>
              <a:rPr sz="1900" i="0">
                <a:solidFill>
                  <a:srgbClr val="AEB6BF"/>
                </a:solidFill>
                <a:latin typeface="Consolas"/>
              </a:rPr>
              <a:t>)</a:t>
            </a:r>
          </a:p>
          <a:p>
            <a:pPr>
              <a:lnSpc>
                <a:spcPct val="100000"/>
              </a:lnSpc>
              <a:spcAft>
                <a:spcPts val="0"/>
              </a:spcAft>
            </a:pPr>
            <a:r>
              <a:rPr sz="1900" i="0">
                <a:solidFill>
                  <a:srgbClr val="E8EDF2"/>
                </a:solidFill>
                <a:latin typeface="Consolas"/>
              </a:rPr>
              <a:t>    </a:t>
            </a:r>
            <a:r>
              <a:rPr sz="1900" i="0">
                <a:solidFill>
                  <a:srgbClr val="C39BD3"/>
                </a:solidFill>
                <a:latin typeface="Consolas"/>
              </a:rPr>
              <a:t>print</a:t>
            </a:r>
            <a:r>
              <a:rPr sz="1900" i="0">
                <a:solidFill>
                  <a:srgbClr val="AEB6BF"/>
                </a:solidFill>
                <a:latin typeface="Consolas"/>
              </a:rPr>
              <a:t>(</a:t>
            </a:r>
            <a:r>
              <a:rPr sz="1900" i="0">
                <a:solidFill>
                  <a:srgbClr val="7DCEA0"/>
                </a:solidFill>
                <a:latin typeface="Consolas"/>
              </a:rPr>
              <a:t>"</a:t>
            </a:r>
            <a:r>
              <a:rPr sz="1900" i="0">
                <a:solidFill>
                  <a:srgbClr val="7DCEA0"/>
                </a:solidFill>
                <a:latin typeface="Consolas"/>
              </a:rPr>
              <a:t>exactly the trade Chapters 11 and 12 make.</a:t>
            </a:r>
            <a:r>
              <a:rPr sz="1900" i="0">
                <a:solidFill>
                  <a:srgbClr val="7DCEA0"/>
                </a:solidFill>
                <a:latin typeface="Consolas"/>
              </a:rPr>
              <a:t>"</a:t>
            </a:r>
            <a:r>
              <a:rPr sz="1900" i="0">
                <a:solidFill>
                  <a:srgbClr val="AEB6BF"/>
                </a:solidFill>
                <a:latin typeface="Consolas"/>
              </a:rPr>
              <a:t>)</a:t>
            </a:r>
          </a:p>
        </p:txBody>
      </p:sp>
      <p:sp>
        <p:nvSpPr>
          <p:cNvPr id="15" name="!!code-num"/>
          <p:cNvSpPr txBox="1"/>
          <p:nvPr/>
        </p:nvSpPr>
        <p:spPr>
          <a:xfrm>
            <a:off x="768096" y="2523744"/>
            <a:ext cx="393192" cy="1557528"/>
          </a:xfrm>
          <a:prstGeom prst="rect">
            <a:avLst/>
          </a:prstGeom>
          <a:noFill/>
        </p:spPr>
        <p:txBody>
          <a:bodyPr wrap="none" anchor="t" lIns="0" rIns="0" tIns="0" bIns="0">
            <a:noAutofit/>
          </a:bodyPr>
          <a:lstStyle/>
          <a:p>
            <a:pPr algn="r">
              <a:lnSpc>
                <a:spcPct val="100000"/>
              </a:lnSpc>
            </a:pPr>
            <a:r>
              <a:rPr sz="1900">
                <a:solidFill>
                  <a:srgbClr val="4F5D6A"/>
                </a:solidFill>
                <a:latin typeface="Consolas"/>
              </a:rPr>
              <a:t>138</a:t>
            </a:r>
          </a:p>
          <a:p>
            <a:pPr algn="r">
              <a:lnSpc>
                <a:spcPct val="100000"/>
              </a:lnSpc>
            </a:pPr>
            <a:r>
              <a:rPr sz="1900">
                <a:solidFill>
                  <a:srgbClr val="4F5D6A"/>
                </a:solidFill>
                <a:latin typeface="Consolas"/>
              </a:rPr>
              <a:t>139</a:t>
            </a:r>
          </a:p>
          <a:p>
            <a:pPr algn="r">
              <a:lnSpc>
                <a:spcPct val="100000"/>
              </a:lnSpc>
            </a:pPr>
            <a:r>
              <a:rPr sz="1900">
                <a:solidFill>
                  <a:srgbClr val="4F5D6A"/>
                </a:solidFill>
                <a:latin typeface="Consolas"/>
              </a:rPr>
              <a:t>140</a:t>
            </a:r>
          </a:p>
          <a:p>
            <a:pPr algn="r">
              <a:lnSpc>
                <a:spcPct val="100000"/>
              </a:lnSpc>
            </a:pPr>
            <a:r>
              <a:rPr sz="1900">
                <a:solidFill>
                  <a:srgbClr val="4F5D6A"/>
                </a:solidFill>
                <a:latin typeface="Consolas"/>
              </a:rPr>
              <a:t>141</a:t>
            </a:r>
          </a:p>
          <a:p>
            <a:pPr algn="r">
              <a:lnSpc>
                <a:spcPct val="100000"/>
              </a:lnSpc>
            </a:pPr>
            <a:r>
              <a:rPr sz="1900">
                <a:solidFill>
                  <a:srgbClr val="4F5D6A"/>
                </a:solidFill>
                <a:latin typeface="Consolas"/>
              </a:rPr>
              <a:t>142</a:t>
            </a:r>
          </a:p>
        </p:txBody>
      </p:sp>
      <p:sp>
        <p:nvSpPr>
          <p:cNvPr id="16"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7" name="!!pfill">
            <a:extLst>
              <a:ext uri="{C183D7F6-B498-43B3-948B-1728B52AA6E4}">
                <adec:decorative xmlns:adec="http://schemas.microsoft.com/office/drawing/2017/decorative" val="1"/>
              </a:ext>
            </a:extLst>
          </p:cNvPr>
          <p:cNvSpPr/>
          <p:nvPr/>
        </p:nvSpPr>
        <p:spPr>
          <a:xfrm>
            <a:off x="0" y="0"/>
            <a:ext cx="7938778" cy="54864"/>
          </a:xfrm>
          <a:prstGeom prst="rect">
            <a:avLst/>
          </a:prstGeom>
          <a:solidFill>
            <a:srgbClr val="8E44A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xmlns:p159="http://schemas.microsoft.com/office/powerpoint/2015/09/main" Requires="p159">
      <p:transition spd="slow" p14:dur="600">
        <p159:morph option="byObject"/>
      </p:transition>
    </mc:Choice>
    <mc:Fallback>
      <p:transition spd="med">
        <p:fade/>
      </p:transition>
    </mc:Fallback>
  </mc:AlternateContent>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3000" b="0">
                <a:solidFill>
                  <a:srgbClr val="1A5276"/>
                </a:solidFill>
                <a:latin typeface="Segoe UI Semibold"/>
              </a:rPr>
              <a:t>What the lab shows</a:t>
            </a:r>
          </a:p>
        </p:txBody>
      </p:sp>
      <p:pic>
        <p:nvPicPr>
          <p:cNvPr id="3" name="!!kicker-icon" descr="flask-117A65.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192583"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117A65"/>
                </a:solidFill>
                <a:latin typeface="Segoe UI"/>
              </a:rPr>
              <a:t>TRY IT YOURSELF</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Artificial Intelligence  ·  Chapter 10  ·  Knowledge Representation</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§10.6  ·  Handout p. 104     </a:t>
            </a:r>
            <a:fld id="{8BF3E8BE-1A60-4F39-93B2-2EC299926341}" type="slidenum">
              <a:rPr lang="en-GB" sz="1000">
                <a:solidFill>
                  <a:srgbClr val="8795A1"/>
                </a:solidFill>
                <a:latin typeface="Segoe UI"/>
              </a:rPr>
              <a:t>29</a:t>
            </a:fld>
          </a:p>
        </p:txBody>
      </p:sp>
      <p:sp>
        <p:nvSpPr>
          <p:cNvPr id="7" name="!!card">
            <a:extLst>
              <a:ext uri="{C183D7F6-B498-43B3-948B-1728B52AA6E4}">
                <adec:decorative xmlns:adec="http://schemas.microsoft.com/office/drawing/2017/decorative" val="1"/>
              </a:ext>
            </a:extLst>
          </p:cNvPr>
          <p:cNvSpPr/>
          <p:nvPr/>
        </p:nvSpPr>
        <p:spPr>
          <a:xfrm>
            <a:off x="658368" y="1737360"/>
            <a:ext cx="10874959" cy="2444496"/>
          </a:xfrm>
          <a:prstGeom prst="roundRect">
            <a:avLst>
              <a:gd name="adj" fmla="val 3740"/>
            </a:avLst>
          </a:prstGeom>
          <a:solidFill>
            <a:srgbClr val="EEF6F4"/>
          </a:solidFill>
          <a:ln>
            <a:noFill/>
          </a:ln>
          <a:effectLst>
            <a:outerShdw blurRad="127000" dist="25400" dir="5400000" algn="t" rotWithShape="0">
              <a:srgbClr val="1C252B">
                <a:alpha val="10000"/>
              </a:srgbClr>
            </a:outerShdw>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8" name="!!cardrule">
            <a:extLst>
              <a:ext uri="{C183D7F6-B498-43B3-948B-1728B52AA6E4}">
                <adec:decorative xmlns:adec="http://schemas.microsoft.com/office/drawing/2017/decorative" val="1"/>
              </a:ext>
            </a:extLst>
          </p:cNvPr>
          <p:cNvSpPr/>
          <p:nvPr/>
        </p:nvSpPr>
        <p:spPr>
          <a:xfrm>
            <a:off x="658368" y="1737360"/>
            <a:ext cx="82296" cy="2444496"/>
          </a:xfrm>
          <a:prstGeom prst="rect">
            <a:avLst/>
          </a:prstGeom>
          <a:solidFill>
            <a:srgbClr val="117A6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9" name="body-0"/>
          <p:cNvSpPr txBox="1"/>
          <p:nvPr/>
        </p:nvSpPr>
        <p:spPr>
          <a:xfrm>
            <a:off x="1060704" y="2048255"/>
            <a:ext cx="10161727" cy="1868424"/>
          </a:xfrm>
          <a:prstGeom prst="rect">
            <a:avLst/>
          </a:prstGeom>
          <a:noFill/>
        </p:spPr>
        <p:txBody>
          <a:bodyPr wrap="square" anchor="t" lIns="0" rIns="0" tIns="0" bIns="0">
            <a:noAutofit/>
          </a:bodyPr>
          <a:lstStyle/>
          <a:p>
            <a:pPr algn="l">
              <a:lnSpc>
                <a:spcPct val="104000"/>
              </a:lnSpc>
              <a:spcBef>
                <a:spcPts val="0"/>
              </a:spcBef>
              <a:spcAft>
                <a:spcPts val="0"/>
              </a:spcAft>
            </a:pPr>
            <a:r>
              <a:rPr sz="2300" b="0" i="0">
                <a:solidFill>
                  <a:srgbClr val="1C252B"/>
                </a:solidFill>
                <a:latin typeface="Segoe UI"/>
              </a:rPr>
              <a:t>Then add an explicit precedence — a slot </a:t>
            </a:r>
            <a:r>
              <a:rPr sz="2150" b="0" i="0">
                <a:solidFill>
                  <a:srgbClr val="1F4E79"/>
                </a:solidFill>
                <a:latin typeface="Consolas"/>
              </a:rPr>
              <a:t>overrides</a:t>
            </a:r>
            <a:r>
              <a:rPr sz="2300" b="0" i="0">
                <a:solidFill>
                  <a:srgbClr val="1C252B"/>
                </a:solidFill>
                <a:latin typeface="Segoe UI"/>
              </a:rPr>
              <a:t> on </a:t>
            </a:r>
            <a:r>
              <a:rPr sz="2150" b="0" i="0">
                <a:solidFill>
                  <a:srgbClr val="1F4E79"/>
                </a:solidFill>
                <a:latin typeface="Consolas"/>
              </a:rPr>
              <a:t>Regulated Change</a:t>
            </a:r>
            <a:r>
              <a:rPr sz="2300" b="0" i="0">
                <a:solidFill>
                  <a:srgbClr val="1C252B"/>
                </a:solidFill>
                <a:latin typeface="Segoe UI"/>
              </a:rPr>
              <a:t> naming </a:t>
            </a:r>
            <a:r>
              <a:rPr sz="2150" b="0" i="0">
                <a:solidFill>
                  <a:srgbClr val="1F4E79"/>
                </a:solidFill>
                <a:latin typeface="Consolas"/>
              </a:rPr>
              <a:t>Hotfix</a:t>
            </a:r>
            <a:r>
              <a:rPr sz="2300" b="0" i="0">
                <a:solidFill>
                  <a:srgbClr val="1C252B"/>
                </a:solidFill>
                <a:latin typeface="Segoe UI"/>
              </a:rPr>
              <a:t> — and make </a:t>
            </a:r>
            <a:r>
              <a:rPr sz="2150" b="0" i="0">
                <a:solidFill>
                  <a:srgbClr val="1F4E79"/>
                </a:solidFill>
                <a:latin typeface="Consolas"/>
              </a:rPr>
              <a:t>get</a:t>
            </a:r>
            <a:r>
              <a:rPr sz="2300" b="0" i="0">
                <a:solidFill>
                  <a:srgbClr val="1C252B"/>
                </a:solidFill>
                <a:latin typeface="Segoe UI"/>
              </a:rPr>
              <a:t> consult it before reporting a conflict. That is the smallest honest fix, and it is worth noticing that it works by adding </a:t>
            </a:r>
            <a:r>
              <a:rPr sz="2300" b="0" i="1">
                <a:solidFill>
                  <a:srgbClr val="1C252B"/>
                </a:solidFill>
                <a:latin typeface="Segoe UI"/>
              </a:rPr>
              <a:t>knowledge about the knowledge</a:t>
            </a:r>
            <a:r>
              <a:rPr sz="2300" b="0" i="0">
                <a:solidFill>
                  <a:srgbClr val="1C252B"/>
                </a:solidFill>
                <a:latin typeface="Segoe UI"/>
              </a:rPr>
              <a:t>, which is the direction description logic goes in.</a:t>
            </a:r>
          </a:p>
        </p:txBody>
      </p:sp>
      <p:sp>
        <p:nvSpPr>
          <p:cNvPr id="10"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1" name="!!pfill">
            <a:extLst>
              <a:ext uri="{C183D7F6-B498-43B3-948B-1728B52AA6E4}">
                <adec:decorative xmlns:adec="http://schemas.microsoft.com/office/drawing/2017/decorative" val="1"/>
              </a:ext>
            </a:extLst>
          </p:cNvPr>
          <p:cNvSpPr/>
          <p:nvPr/>
        </p:nvSpPr>
        <p:spPr>
          <a:xfrm>
            <a:off x="0" y="0"/>
            <a:ext cx="8222306" cy="54864"/>
          </a:xfrm>
          <a:prstGeom prst="rect">
            <a:avLst/>
          </a:prstGeom>
          <a:solidFill>
            <a:srgbClr val="8E44A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Requires="p14">
      <p:transition spd="med" p14:dur="450">
        <p:fade/>
      </p:transition>
    </mc:Choice>
    <mc:Fallback>
      <p:transition spd="med">
        <p:fade/>
      </p:transition>
    </mc:Fallback>
  </mc:AlternateContent>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236694"/>
        </a:solidFill>
        <a:effectLst/>
      </p:bgPr>
    </p:bg>
    <p:spTree>
      <p:nvGrpSpPr>
        <p:cNvPr id="1" name=""/>
        <p:cNvGrpSpPr/>
        <p:nvPr/>
      </p:nvGrpSpPr>
      <p:grpSpPr/>
      <p:sp>
        <p:nvSpPr>
          <p:cNvPr id="2" name="!!q"/>
          <p:cNvSpPr>
            <a:spLocks noGrp="1"/>
          </p:cNvSpPr>
          <p:nvPr>
            <p:ph type="title"/>
          </p:nvPr>
        </p:nvSpPr>
        <p:spPr>
          <a:xfrm>
            <a:off x="658368" y="2011680"/>
            <a:ext cx="10874959" cy="3017520"/>
          </a:xfrm>
        </p:spPr>
        <p:txBody>
          <a:bodyPr wrap="square" lIns="0" rIns="0" tIns="0" bIns="0" anchor="t">
            <a:noAutofit/>
          </a:bodyPr>
          <a:lstStyle/>
          <a:p>
            <a:pPr algn="l">
              <a:lnSpc>
                <a:spcPct val="96000"/>
              </a:lnSpc>
            </a:pPr>
            <a:r>
              <a:rPr sz="3200" b="0" i="0">
                <a:solidFill>
                  <a:srgbClr val="FFFFFF"/>
                </a:solidFill>
                <a:latin typeface="Consolas"/>
              </a:rPr>
              <a:t>Release</a:t>
            </a:r>
            <a:r>
              <a:rPr sz="3400" b="0" i="0">
                <a:solidFill>
                  <a:srgbClr val="FFFFFF"/>
                </a:solidFill>
                <a:latin typeface="Segoe UI Semibold"/>
              </a:rPr>
              <a:t> says </a:t>
            </a:r>
            <a:r>
              <a:rPr sz="3200" b="0" i="0">
                <a:solidFill>
                  <a:srgbClr val="FFFFFF"/>
                </a:solidFill>
                <a:latin typeface="Consolas"/>
              </a:rPr>
              <a:t>regression-pass = full</a:t>
            </a:r>
            <a:r>
              <a:rPr sz="3400" b="0" i="0">
                <a:solidFill>
                  <a:srgbClr val="FFFFFF"/>
                </a:solidFill>
                <a:latin typeface="Segoe UI Semibold"/>
              </a:rPr>
              <a:t> and </a:t>
            </a:r>
            <a:r>
              <a:rPr sz="3200" b="0" i="0">
                <a:solidFill>
                  <a:srgbClr val="FFFFFF"/>
                </a:solidFill>
                <a:latin typeface="Consolas"/>
              </a:rPr>
              <a:t>Hotfix</a:t>
            </a:r>
            <a:r>
              <a:rPr sz="3400" b="0" i="0">
                <a:solidFill>
                  <a:srgbClr val="FFFFFF"/>
                </a:solidFill>
                <a:latin typeface="Segoe UI Semibold"/>
              </a:rPr>
              <a:t> says </a:t>
            </a:r>
            <a:r>
              <a:rPr sz="3200" b="0" i="0">
                <a:solidFill>
                  <a:srgbClr val="FFFFFF"/>
                </a:solidFill>
                <a:latin typeface="Consolas"/>
              </a:rPr>
              <a:t>smoke</a:t>
            </a:r>
            <a:r>
              <a:rPr sz="3400" b="0" i="0">
                <a:solidFill>
                  <a:srgbClr val="FFFFFF"/>
                </a:solidFill>
                <a:latin typeface="Segoe UI Semibold"/>
              </a:rPr>
              <a:t>. Explain, in terms of the inheritance walk, why </a:t>
            </a:r>
            <a:r>
              <a:rPr sz="3200" b="0" i="0">
                <a:solidFill>
                  <a:srgbClr val="FFFFFF"/>
                </a:solidFill>
                <a:latin typeface="Consolas"/>
              </a:rPr>
              <a:t>Release 4.7</a:t>
            </a:r>
            <a:r>
              <a:rPr sz="3400" b="0" i="0">
                <a:solidFill>
                  <a:srgbClr val="FFFFFF"/>
                </a:solidFill>
                <a:latin typeface="Segoe UI Semibold"/>
              </a:rPr>
              <a:t> gets </a:t>
            </a:r>
            <a:r>
              <a:rPr sz="3200" b="0" i="0">
                <a:solidFill>
                  <a:srgbClr val="FFFFFF"/>
                </a:solidFill>
                <a:latin typeface="Consolas"/>
              </a:rPr>
              <a:t>smoke</a:t>
            </a:r>
            <a:r>
              <a:rPr sz="3400" b="0" i="0">
                <a:solidFill>
                  <a:srgbClr val="FFFFFF"/>
                </a:solidFill>
                <a:latin typeface="Segoe UI Semibold"/>
              </a:rPr>
              <a:t>, and why no rule about “specificity” has to be stated separately.</a:t>
            </a:r>
          </a:p>
        </p:txBody>
      </p:sp>
      <p:pic>
        <p:nvPicPr>
          <p:cNvPr id="3" name="!!qicon" descr="question-circle-FFFFFF.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1298448"/>
            <a:ext cx="396772" cy="384048"/>
          </a:xfrm>
          <a:prstGeom prst="rect">
            <a:avLst/>
          </a:prstGeom>
        </p:spPr>
      </p:pic>
      <p:sp>
        <p:nvSpPr>
          <p:cNvPr id="4" name="!!qlab"/>
          <p:cNvSpPr txBox="1"/>
          <p:nvPr/>
        </p:nvSpPr>
        <p:spPr>
          <a:xfrm>
            <a:off x="1225295" y="1344168"/>
            <a:ext cx="7315200" cy="310896"/>
          </a:xfrm>
          <a:prstGeom prst="rect">
            <a:avLst/>
          </a:prstGeom>
          <a:noFill/>
        </p:spPr>
        <p:txBody>
          <a:bodyPr wrap="square" anchor="t" lIns="0" rIns="0" tIns="0" bIns="0">
            <a:noAutofit/>
          </a:bodyPr>
          <a:lstStyle/>
          <a:p>
            <a:pPr algn="l">
              <a:lnSpc>
                <a:spcPct val="100000"/>
              </a:lnSpc>
              <a:spcBef>
                <a:spcPts val="0"/>
              </a:spcBef>
              <a:spcAft>
                <a:spcPts val="0"/>
              </a:spcAft>
            </a:pPr>
            <a:r>
              <a:rPr sz="1400" b="1" i="0" spc="200">
                <a:solidFill>
                  <a:srgbClr val="BDD1DF"/>
                </a:solidFill>
                <a:latin typeface="Segoe UI"/>
              </a:rPr>
              <a:t>CHECKPOINT  1 OF 3</a:t>
            </a:r>
          </a:p>
        </p:txBody>
      </p:sp>
      <p:sp>
        <p:nvSpPr>
          <p:cNvPr id="5" name="!!qhint"/>
          <p:cNvSpPr txBox="1"/>
          <p:nvPr/>
        </p:nvSpPr>
        <p:spPr>
          <a:xfrm>
            <a:off x="658368" y="5760720"/>
            <a:ext cx="10874959" cy="310896"/>
          </a:xfrm>
          <a:prstGeom prst="rect">
            <a:avLst/>
          </a:prstGeom>
          <a:noFill/>
        </p:spPr>
        <p:txBody>
          <a:bodyPr wrap="square" anchor="t" lIns="0" rIns="0" tIns="0" bIns="0">
            <a:noAutofit/>
          </a:bodyPr>
          <a:lstStyle/>
          <a:p>
            <a:pPr algn="l">
              <a:lnSpc>
                <a:spcPct val="100000"/>
              </a:lnSpc>
              <a:spcBef>
                <a:spcPts val="0"/>
              </a:spcBef>
              <a:spcAft>
                <a:spcPts val="0"/>
              </a:spcAft>
            </a:pPr>
            <a:r>
              <a:rPr sz="1400" b="0" i="1">
                <a:solidFill>
                  <a:srgbClr val="9CBACF"/>
                </a:solidFill>
                <a:latin typeface="Segoe UI"/>
              </a:rPr>
              <a:t>Discuss with the person next to you, then advance.</a:t>
            </a:r>
          </a:p>
        </p:txBody>
      </p:sp>
      <p:sp>
        <p:nvSpPr>
          <p:cNvPr id="6"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B9C6D0"/>
                </a:solidFill>
                <a:latin typeface="Segoe UI"/>
              </a:rPr>
              <a:t>Artificial Intelligence  ·  Chapter 10  ·  Knowledge Representation</a:t>
            </a:r>
          </a:p>
        </p:txBody>
      </p:sp>
      <p:sp>
        <p:nvSpPr>
          <p:cNvPr id="7"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B9C6D0"/>
                </a:solidFill>
                <a:latin typeface="Segoe UI"/>
              </a:rPr>
              <a:t>Handout p. 109  ·  answers in Appendix D     </a:t>
            </a:r>
            <a:fld id="{D6083857-FE1C-4D60-A188-D301BD3C10AB}" type="slidenum">
              <a:rPr lang="en-GB" sz="1000">
                <a:solidFill>
                  <a:srgbClr val="D5DEE5"/>
                </a:solidFill>
                <a:latin typeface="Segoe UI"/>
              </a:rPr>
              <a:t>30</a:t>
            </a:fld>
          </a:p>
        </p:txBody>
      </p:sp>
    </p:spTree>
  </p:cSld>
  <p:clrMapOvr>
    <a:masterClrMapping/>
  </p:clrMapOvr>
  <mc:AlternateContent xmlns:mc="http://schemas.openxmlformats.org/markup-compatibility/2006" xmlns:p14="http://schemas.microsoft.com/office/powerpoint/2010/main">
    <mc:Choice Requires="p14">
      <p:transition spd="med" p14:dur="450">
        <p:fade/>
      </p:transition>
    </mc:Choice>
    <mc:Fallback>
      <p:transition spd="med">
        <p:fade/>
      </p:transition>
    </mc:Fallback>
  </mc:AlternateContent>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q"/>
          <p:cNvSpPr>
            <a:spLocks noGrp="1"/>
          </p:cNvSpPr>
          <p:nvPr>
            <p:ph type="title"/>
          </p:nvPr>
        </p:nvSpPr>
        <p:spPr>
          <a:xfrm>
            <a:off x="658368" y="676656"/>
            <a:ext cx="10874959" cy="1099108"/>
          </a:xfrm>
        </p:spPr>
        <p:txBody>
          <a:bodyPr wrap="square" lIns="0" rIns="0" tIns="0" bIns="0" anchor="t">
            <a:noAutofit/>
          </a:bodyPr>
          <a:lstStyle/>
          <a:p>
            <a:pPr algn="l">
              <a:lnSpc>
                <a:spcPct val="96000"/>
              </a:lnSpc>
            </a:pPr>
            <a:r>
              <a:rPr sz="2250" b="0" i="0">
                <a:solidFill>
                  <a:srgbClr val="1A5276"/>
                </a:solidFill>
                <a:latin typeface="Consolas"/>
              </a:rPr>
              <a:t>Release</a:t>
            </a:r>
            <a:r>
              <a:rPr sz="2400" b="0" i="0">
                <a:solidFill>
                  <a:srgbClr val="1A5276"/>
                </a:solidFill>
                <a:latin typeface="Segoe UI Semibold"/>
              </a:rPr>
              <a:t> says </a:t>
            </a:r>
            <a:r>
              <a:rPr sz="2250" b="0" i="0">
                <a:solidFill>
                  <a:srgbClr val="1A5276"/>
                </a:solidFill>
                <a:latin typeface="Consolas"/>
              </a:rPr>
              <a:t>regression-pass = full</a:t>
            </a:r>
            <a:r>
              <a:rPr sz="2400" b="0" i="0">
                <a:solidFill>
                  <a:srgbClr val="1A5276"/>
                </a:solidFill>
                <a:latin typeface="Segoe UI Semibold"/>
              </a:rPr>
              <a:t> and </a:t>
            </a:r>
            <a:r>
              <a:rPr sz="2250" b="0" i="0">
                <a:solidFill>
                  <a:srgbClr val="1A5276"/>
                </a:solidFill>
                <a:latin typeface="Consolas"/>
              </a:rPr>
              <a:t>Hotfix</a:t>
            </a:r>
            <a:r>
              <a:rPr sz="2400" b="0" i="0">
                <a:solidFill>
                  <a:srgbClr val="1A5276"/>
                </a:solidFill>
                <a:latin typeface="Segoe UI Semibold"/>
              </a:rPr>
              <a:t> says </a:t>
            </a:r>
            <a:r>
              <a:rPr sz="2250" b="0" i="0">
                <a:solidFill>
                  <a:srgbClr val="1A5276"/>
                </a:solidFill>
                <a:latin typeface="Consolas"/>
              </a:rPr>
              <a:t>smoke</a:t>
            </a:r>
            <a:r>
              <a:rPr sz="2400" b="0" i="0">
                <a:solidFill>
                  <a:srgbClr val="1A5276"/>
                </a:solidFill>
                <a:latin typeface="Segoe UI Semibold"/>
              </a:rPr>
              <a:t>. Explain, in terms of the inheritance walk, why </a:t>
            </a:r>
            <a:r>
              <a:rPr sz="2250" b="0" i="0">
                <a:solidFill>
                  <a:srgbClr val="1A5276"/>
                </a:solidFill>
                <a:latin typeface="Consolas"/>
              </a:rPr>
              <a:t>Release 4.7</a:t>
            </a:r>
            <a:r>
              <a:rPr sz="2400" b="0" i="0">
                <a:solidFill>
                  <a:srgbClr val="1A5276"/>
                </a:solidFill>
                <a:latin typeface="Segoe UI Semibold"/>
              </a:rPr>
              <a:t> gets </a:t>
            </a:r>
            <a:r>
              <a:rPr sz="2250" b="0" i="0">
                <a:solidFill>
                  <a:srgbClr val="1A5276"/>
                </a:solidFill>
                <a:latin typeface="Consolas"/>
              </a:rPr>
              <a:t>smoke</a:t>
            </a:r>
            <a:r>
              <a:rPr sz="2400" b="0" i="0">
                <a:solidFill>
                  <a:srgbClr val="1A5276"/>
                </a:solidFill>
                <a:latin typeface="Segoe UI Semibold"/>
              </a:rPr>
              <a:t>, and why no rule about “specificity” has to be stated separately.</a:t>
            </a:r>
          </a:p>
        </p:txBody>
      </p:sp>
      <p:pic>
        <p:nvPicPr>
          <p:cNvPr id="3" name="!!kicker-icon" descr="check-256B9A.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290630"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256B9A"/>
                </a:solidFill>
                <a:latin typeface="Segoe UI"/>
              </a:rPr>
              <a:t>CHECKPOINT 1 OF 3  ·  ANSWER</a:t>
            </a:r>
          </a:p>
        </p:txBody>
      </p:sp>
      <p:sp>
        <p:nvSpPr>
          <p:cNvPr id="5" name="!!abar">
            <a:extLst>
              <a:ext uri="{C183D7F6-B498-43B3-948B-1728B52AA6E4}">
                <adec:decorative xmlns:adec="http://schemas.microsoft.com/office/drawing/2017/decorative" val="1"/>
              </a:ext>
            </a:extLst>
          </p:cNvPr>
          <p:cNvSpPr/>
          <p:nvPr/>
        </p:nvSpPr>
        <p:spPr>
          <a:xfrm>
            <a:off x="658368" y="2114092"/>
            <a:ext cx="64008" cy="1743456"/>
          </a:xfrm>
          <a:prstGeom prst="rect">
            <a:avLst/>
          </a:prstGeom>
          <a:solidFill>
            <a:srgbClr val="27AE6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6" name="!!ans-0"/>
          <p:cNvSpPr txBox="1"/>
          <p:nvPr/>
        </p:nvSpPr>
        <p:spPr>
          <a:xfrm>
            <a:off x="987552" y="2114092"/>
            <a:ext cx="10509199" cy="1789176"/>
          </a:xfrm>
          <a:prstGeom prst="rect">
            <a:avLst/>
          </a:prstGeom>
          <a:noFill/>
        </p:spPr>
        <p:txBody>
          <a:bodyPr wrap="square" anchor="t" lIns="0" rIns="0" tIns="0" bIns="0">
            <a:noAutofit/>
          </a:bodyPr>
          <a:lstStyle/>
          <a:p>
            <a:pPr algn="l">
              <a:lnSpc>
                <a:spcPct val="104000"/>
              </a:lnSpc>
              <a:spcBef>
                <a:spcPts val="0"/>
              </a:spcBef>
              <a:spcAft>
                <a:spcPts val="0"/>
              </a:spcAft>
            </a:pPr>
            <a:r>
              <a:rPr sz="2200" b="0" i="0">
                <a:solidFill>
                  <a:srgbClr val="1C252B"/>
                </a:solidFill>
                <a:latin typeface="Segoe UI"/>
              </a:rPr>
              <a:t>The walk starts at </a:t>
            </a:r>
            <a:r>
              <a:rPr sz="2050" b="0" i="0">
                <a:solidFill>
                  <a:srgbClr val="1F4E79"/>
                </a:solidFill>
                <a:latin typeface="Consolas"/>
              </a:rPr>
              <a:t>Release 4.7</a:t>
            </a:r>
            <a:r>
              <a:rPr sz="2200" b="0" i="0">
                <a:solidFill>
                  <a:srgbClr val="1C252B"/>
                </a:solidFill>
                <a:latin typeface="Segoe UI"/>
              </a:rPr>
              <a:t>, finds no local </a:t>
            </a:r>
            <a:r>
              <a:rPr sz="2050" b="0" i="0">
                <a:solidFill>
                  <a:srgbClr val="1F4E79"/>
                </a:solidFill>
                <a:latin typeface="Consolas"/>
              </a:rPr>
              <a:t>regression-pass</a:t>
            </a:r>
            <a:r>
              <a:rPr sz="2200" b="0" i="0">
                <a:solidFill>
                  <a:srgbClr val="1C252B"/>
                </a:solidFill>
                <a:latin typeface="Segoe UI"/>
              </a:rPr>
              <a:t>, moves to </a:t>
            </a:r>
            <a:r>
              <a:rPr sz="2050" b="0" i="0">
                <a:solidFill>
                  <a:srgbClr val="1F4E79"/>
                </a:solidFill>
                <a:latin typeface="Consolas"/>
              </a:rPr>
              <a:t>Hotfix</a:t>
            </a:r>
            <a:r>
              <a:rPr sz="2200" b="0" i="0">
                <a:solidFill>
                  <a:srgbClr val="1C252B"/>
                </a:solidFill>
                <a:latin typeface="Segoe UI"/>
              </a:rPr>
              <a:t>, finds </a:t>
            </a:r>
            <a:r>
              <a:rPr sz="2050" b="0" i="0">
                <a:solidFill>
                  <a:srgbClr val="1F4E79"/>
                </a:solidFill>
                <a:latin typeface="Consolas"/>
              </a:rPr>
              <a:t>smoke</a:t>
            </a:r>
            <a:r>
              <a:rPr sz="2200" b="0" i="0">
                <a:solidFill>
                  <a:srgbClr val="1C252B"/>
                </a:solidFill>
                <a:latin typeface="Segoe UI"/>
              </a:rPr>
              <a:t>, and </a:t>
            </a:r>
            <a:r>
              <a:rPr sz="2200" b="0" i="1">
                <a:solidFill>
                  <a:srgbClr val="1C252B"/>
                </a:solidFill>
                <a:latin typeface="Segoe UI"/>
              </a:rPr>
              <a:t>stops</a:t>
            </a:r>
            <a:r>
              <a:rPr sz="2200" b="0" i="0">
                <a:solidFill>
                  <a:srgbClr val="1C252B"/>
                </a:solidFill>
                <a:latin typeface="Segoe UI"/>
              </a:rPr>
              <a:t>. </a:t>
            </a:r>
            <a:r>
              <a:rPr sz="2050" b="0" i="0">
                <a:solidFill>
                  <a:srgbClr val="1F4E79"/>
                </a:solidFill>
                <a:latin typeface="Consolas"/>
              </a:rPr>
              <a:t>Release</a:t>
            </a:r>
            <a:r>
              <a:rPr sz="2200" b="0" i="0">
                <a:solidFill>
                  <a:srgbClr val="1C252B"/>
                </a:solidFill>
                <a:latin typeface="Segoe UI"/>
              </a:rPr>
              <a:t> is never consulted, so its </a:t>
            </a:r>
            <a:r>
              <a:rPr sz="2050" b="0" i="0">
                <a:solidFill>
                  <a:srgbClr val="1F4E79"/>
                </a:solidFill>
                <a:latin typeface="Consolas"/>
              </a:rPr>
              <a:t>full</a:t>
            </a:r>
            <a:r>
              <a:rPr sz="2200" b="0" i="0">
                <a:solidFill>
                  <a:srgbClr val="1C252B"/>
                </a:solidFill>
                <a:latin typeface="Segoe UI"/>
              </a:rPr>
              <a:t> never competes. “Most specific wins” does not have to be stated as a rule because it is a consequence of the search order: the walk goes from specific to general and halts at the first hit.</a:t>
            </a:r>
          </a:p>
        </p:txBody>
      </p:sp>
      <p:sp>
        <p:nvSpPr>
          <p:cNvPr id="7"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Artificial Intelligence  ·  Chapter 10  ·  Knowledge Representation</a:t>
            </a:r>
          </a:p>
        </p:txBody>
      </p:sp>
      <p:sp>
        <p:nvSpPr>
          <p:cNvPr id="8"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Handout p. 109  ·  answers in Appendix D     </a:t>
            </a:r>
            <a:fld id="{87ACAF0D-4D4C-4DC0-8393-BEB6976C9900}" type="slidenum">
              <a:rPr lang="en-GB" sz="1000">
                <a:solidFill>
                  <a:srgbClr val="8795A1"/>
                </a:solidFill>
                <a:latin typeface="Segoe UI"/>
              </a:rPr>
              <a:t>31</a:t>
            </a:fld>
          </a:p>
        </p:txBody>
      </p:sp>
      <p:sp>
        <p:nvSpPr>
          <p:cNvPr id="9"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0" name="!!pfill">
            <a:extLst>
              <a:ext uri="{C183D7F6-B498-43B3-948B-1728B52AA6E4}">
                <adec:decorative xmlns:adec="http://schemas.microsoft.com/office/drawing/2017/decorative" val="1"/>
              </a:ext>
            </a:extLst>
          </p:cNvPr>
          <p:cNvSpPr/>
          <p:nvPr/>
        </p:nvSpPr>
        <p:spPr>
          <a:xfrm>
            <a:off x="0" y="0"/>
            <a:ext cx="8789361" cy="54864"/>
          </a:xfrm>
          <a:prstGeom prst="rect">
            <a:avLst/>
          </a:prstGeom>
          <a:solidFill>
            <a:srgbClr val="8E44A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xmlns:p159="http://schemas.microsoft.com/office/powerpoint/2015/09/main" Requires="p159">
      <p:transition spd="slow" p14:dur="650">
        <p159:morph option="byObject"/>
      </p:transition>
    </mc:Choice>
    <mc:Fallback>
      <p:transition spd="med">
        <p:fade/>
      </p:transition>
    </mc:Fallback>
  </mc:AlternateContent>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236694"/>
        </a:solidFill>
        <a:effectLst/>
      </p:bgPr>
    </p:bg>
    <p:spTree>
      <p:nvGrpSpPr>
        <p:cNvPr id="1" name=""/>
        <p:cNvGrpSpPr/>
        <p:nvPr/>
      </p:nvGrpSpPr>
      <p:grpSpPr/>
      <p:sp>
        <p:nvSpPr>
          <p:cNvPr id="2" name="!!q"/>
          <p:cNvSpPr>
            <a:spLocks noGrp="1"/>
          </p:cNvSpPr>
          <p:nvPr>
            <p:ph type="title"/>
          </p:nvPr>
        </p:nvSpPr>
        <p:spPr>
          <a:xfrm>
            <a:off x="658368" y="2011680"/>
            <a:ext cx="10874959" cy="3017520"/>
          </a:xfrm>
        </p:spPr>
        <p:txBody>
          <a:bodyPr wrap="square" lIns="0" rIns="0" tIns="0" bIns="0" anchor="t">
            <a:noAutofit/>
          </a:bodyPr>
          <a:lstStyle/>
          <a:p>
            <a:pPr algn="l">
              <a:lnSpc>
                <a:spcPct val="96000"/>
              </a:lnSpc>
            </a:pPr>
            <a:r>
              <a:rPr sz="3400" b="0" i="0">
                <a:solidFill>
                  <a:srgbClr val="FFFFFF"/>
                </a:solidFill>
                <a:latin typeface="Segoe UI Semibold"/>
              </a:rPr>
              <a:t>Adding the fact that Release 4.7 is a regulated change </a:t>
            </a:r>
            <a:r>
              <a:rPr sz="3400" b="0" i="1">
                <a:solidFill>
                  <a:srgbClr val="FFFFFF"/>
                </a:solidFill>
                <a:latin typeface="Segoe UI Semibold"/>
              </a:rPr>
              <a:t>removed</a:t>
            </a:r>
            <a:r>
              <a:rPr sz="3400" b="0" i="0">
                <a:solidFill>
                  <a:srgbClr val="FFFFFF"/>
                </a:solidFill>
                <a:latin typeface="Segoe UI Semibold"/>
              </a:rPr>
              <a:t> the system’s answer about sign-off. Name the property of this kind of reasoning that this demonstrates, and say whether classical logic has it.</a:t>
            </a:r>
          </a:p>
        </p:txBody>
      </p:sp>
      <p:pic>
        <p:nvPicPr>
          <p:cNvPr id="3" name="!!qicon" descr="question-circle-FFFFFF.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1298448"/>
            <a:ext cx="396772" cy="384048"/>
          </a:xfrm>
          <a:prstGeom prst="rect">
            <a:avLst/>
          </a:prstGeom>
        </p:spPr>
      </p:pic>
      <p:sp>
        <p:nvSpPr>
          <p:cNvPr id="4" name="!!qlab"/>
          <p:cNvSpPr txBox="1"/>
          <p:nvPr/>
        </p:nvSpPr>
        <p:spPr>
          <a:xfrm>
            <a:off x="1225295" y="1344168"/>
            <a:ext cx="7315200" cy="310896"/>
          </a:xfrm>
          <a:prstGeom prst="rect">
            <a:avLst/>
          </a:prstGeom>
          <a:noFill/>
        </p:spPr>
        <p:txBody>
          <a:bodyPr wrap="square" anchor="t" lIns="0" rIns="0" tIns="0" bIns="0">
            <a:noAutofit/>
          </a:bodyPr>
          <a:lstStyle/>
          <a:p>
            <a:pPr algn="l">
              <a:lnSpc>
                <a:spcPct val="100000"/>
              </a:lnSpc>
              <a:spcBef>
                <a:spcPts val="0"/>
              </a:spcBef>
              <a:spcAft>
                <a:spcPts val="0"/>
              </a:spcAft>
            </a:pPr>
            <a:r>
              <a:rPr sz="1400" b="1" i="0" spc="200">
                <a:solidFill>
                  <a:srgbClr val="BDD1DF"/>
                </a:solidFill>
                <a:latin typeface="Segoe UI"/>
              </a:rPr>
              <a:t>CHECKPOINT  2 OF 3</a:t>
            </a:r>
          </a:p>
        </p:txBody>
      </p:sp>
      <p:sp>
        <p:nvSpPr>
          <p:cNvPr id="5" name="!!qhint"/>
          <p:cNvSpPr txBox="1"/>
          <p:nvPr/>
        </p:nvSpPr>
        <p:spPr>
          <a:xfrm>
            <a:off x="658368" y="5760720"/>
            <a:ext cx="10874959" cy="310896"/>
          </a:xfrm>
          <a:prstGeom prst="rect">
            <a:avLst/>
          </a:prstGeom>
          <a:noFill/>
        </p:spPr>
        <p:txBody>
          <a:bodyPr wrap="square" anchor="t" lIns="0" rIns="0" tIns="0" bIns="0">
            <a:noAutofit/>
          </a:bodyPr>
          <a:lstStyle/>
          <a:p>
            <a:pPr algn="l">
              <a:lnSpc>
                <a:spcPct val="100000"/>
              </a:lnSpc>
              <a:spcBef>
                <a:spcPts val="0"/>
              </a:spcBef>
              <a:spcAft>
                <a:spcPts val="0"/>
              </a:spcAft>
            </a:pPr>
            <a:r>
              <a:rPr sz="1400" b="0" i="1">
                <a:solidFill>
                  <a:srgbClr val="9CBACF"/>
                </a:solidFill>
                <a:latin typeface="Segoe UI"/>
              </a:rPr>
              <a:t>Discuss with the person next to you, then advance.</a:t>
            </a:r>
          </a:p>
        </p:txBody>
      </p:sp>
      <p:sp>
        <p:nvSpPr>
          <p:cNvPr id="6"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B9C6D0"/>
                </a:solidFill>
                <a:latin typeface="Segoe UI"/>
              </a:rPr>
              <a:t>Artificial Intelligence  ·  Chapter 10  ·  Knowledge Representation</a:t>
            </a:r>
          </a:p>
        </p:txBody>
      </p:sp>
      <p:sp>
        <p:nvSpPr>
          <p:cNvPr id="7"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B9C6D0"/>
                </a:solidFill>
                <a:latin typeface="Segoe UI"/>
              </a:rPr>
              <a:t>Handout p. 109  ·  answers in Appendix D     </a:t>
            </a:r>
            <a:fld id="{EF8D6288-FA46-4B6A-A7CF-39B0BE464CAF}" type="slidenum">
              <a:rPr lang="en-GB" sz="1000">
                <a:solidFill>
                  <a:srgbClr val="D5DEE5"/>
                </a:solidFill>
                <a:latin typeface="Segoe UI"/>
              </a:rPr>
              <a:t>32</a:t>
            </a:fld>
          </a:p>
        </p:txBody>
      </p:sp>
    </p:spTree>
  </p:cSld>
  <p:clrMapOvr>
    <a:masterClrMapping/>
  </p:clrMapOvr>
  <mc:AlternateContent xmlns:mc="http://schemas.openxmlformats.org/markup-compatibility/2006" xmlns:p14="http://schemas.microsoft.com/office/powerpoint/2010/main">
    <mc:Choice Requires="p14">
      <p:transition spd="med" p14:dur="450">
        <p:fade/>
      </p:transition>
    </mc:Choice>
    <mc:Fallback>
      <p:transition spd="med">
        <p:fade/>
      </p:transition>
    </mc:Fallback>
  </mc:AlternateContent>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q"/>
          <p:cNvSpPr>
            <a:spLocks noGrp="1"/>
          </p:cNvSpPr>
          <p:nvPr>
            <p:ph type="title"/>
          </p:nvPr>
        </p:nvSpPr>
        <p:spPr>
          <a:xfrm>
            <a:off x="658368" y="676656"/>
            <a:ext cx="10874959" cy="1099108"/>
          </a:xfrm>
        </p:spPr>
        <p:txBody>
          <a:bodyPr wrap="square" lIns="0" rIns="0" tIns="0" bIns="0" anchor="t">
            <a:noAutofit/>
          </a:bodyPr>
          <a:lstStyle/>
          <a:p>
            <a:pPr algn="l">
              <a:lnSpc>
                <a:spcPct val="96000"/>
              </a:lnSpc>
            </a:pPr>
            <a:r>
              <a:rPr sz="2400" b="0" i="0">
                <a:solidFill>
                  <a:srgbClr val="1A5276"/>
                </a:solidFill>
                <a:latin typeface="Segoe UI Semibold"/>
              </a:rPr>
              <a:t>Adding the fact that Release 4.7 is a regulated change </a:t>
            </a:r>
            <a:r>
              <a:rPr sz="2400" b="0" i="1">
                <a:solidFill>
                  <a:srgbClr val="1A5276"/>
                </a:solidFill>
                <a:latin typeface="Segoe UI Semibold"/>
              </a:rPr>
              <a:t>removed</a:t>
            </a:r>
            <a:r>
              <a:rPr sz="2400" b="0" i="0">
                <a:solidFill>
                  <a:srgbClr val="1A5276"/>
                </a:solidFill>
                <a:latin typeface="Segoe UI Semibold"/>
              </a:rPr>
              <a:t> the system’s answer about sign-off. Name the property of this kind of reasoning that this demonstrates, and say whether classical logic has it.</a:t>
            </a:r>
          </a:p>
        </p:txBody>
      </p:sp>
      <p:pic>
        <p:nvPicPr>
          <p:cNvPr id="3" name="!!kicker-icon" descr="check-256B9A.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290630"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256B9A"/>
                </a:solidFill>
                <a:latin typeface="Segoe UI"/>
              </a:rPr>
              <a:t>CHECKPOINT 2 OF 3  ·  ANSWER</a:t>
            </a:r>
          </a:p>
        </p:txBody>
      </p:sp>
      <p:sp>
        <p:nvSpPr>
          <p:cNvPr id="5" name="!!abar">
            <a:extLst>
              <a:ext uri="{C183D7F6-B498-43B3-948B-1728B52AA6E4}">
                <adec:decorative xmlns:adec="http://schemas.microsoft.com/office/drawing/2017/decorative" val="1"/>
              </a:ext>
            </a:extLst>
          </p:cNvPr>
          <p:cNvSpPr/>
          <p:nvPr/>
        </p:nvSpPr>
        <p:spPr>
          <a:xfrm>
            <a:off x="658368" y="2114092"/>
            <a:ext cx="64008" cy="1743456"/>
          </a:xfrm>
          <a:prstGeom prst="rect">
            <a:avLst/>
          </a:prstGeom>
          <a:solidFill>
            <a:srgbClr val="27AE6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6" name="!!ans-0"/>
          <p:cNvSpPr txBox="1"/>
          <p:nvPr/>
        </p:nvSpPr>
        <p:spPr>
          <a:xfrm>
            <a:off x="987552" y="2114092"/>
            <a:ext cx="10509199" cy="1789176"/>
          </a:xfrm>
          <a:prstGeom prst="rect">
            <a:avLst/>
          </a:prstGeom>
          <a:noFill/>
        </p:spPr>
        <p:txBody>
          <a:bodyPr wrap="square" anchor="t" lIns="0" rIns="0" tIns="0" bIns="0">
            <a:noAutofit/>
          </a:bodyPr>
          <a:lstStyle/>
          <a:p>
            <a:pPr algn="l">
              <a:lnSpc>
                <a:spcPct val="104000"/>
              </a:lnSpc>
              <a:spcBef>
                <a:spcPts val="0"/>
              </a:spcBef>
              <a:spcAft>
                <a:spcPts val="0"/>
              </a:spcAft>
            </a:pPr>
            <a:r>
              <a:rPr sz="2200" b="1" i="0">
                <a:solidFill>
                  <a:srgbClr val="1A5276"/>
                </a:solidFill>
                <a:latin typeface="Segoe UI"/>
              </a:rPr>
              <a:t>Non-monotonicity</a:t>
            </a:r>
            <a:r>
              <a:rPr sz="2200" b="0" i="0">
                <a:solidFill>
                  <a:srgbClr val="1C252B"/>
                </a:solidFill>
                <a:latin typeface="Segoe UI"/>
              </a:rPr>
              <a:t> — adding knowledge removed a conclusion. Classical logic does not have it: entailment is defined as truth in every model of the knowledge base, and adding a sentence can only rule models out, so the set of entailed conclusions can only grow. That is exactly the trade Chapter 11 makes — it gains soundness and loses the ability to say “normally”.</a:t>
            </a:r>
          </a:p>
        </p:txBody>
      </p:sp>
      <p:sp>
        <p:nvSpPr>
          <p:cNvPr id="7"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Artificial Intelligence  ·  Chapter 10  ·  Knowledge Representation</a:t>
            </a:r>
          </a:p>
        </p:txBody>
      </p:sp>
      <p:sp>
        <p:nvSpPr>
          <p:cNvPr id="8"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Handout p. 109  ·  answers in Appendix D     </a:t>
            </a:r>
            <a:fld id="{DCEC323C-9ABA-459F-9947-96FF6F1A0DCE}" type="slidenum">
              <a:rPr lang="en-GB" sz="1000">
                <a:solidFill>
                  <a:srgbClr val="8795A1"/>
                </a:solidFill>
                <a:latin typeface="Segoe UI"/>
              </a:rPr>
              <a:t>33</a:t>
            </a:fld>
          </a:p>
        </p:txBody>
      </p:sp>
      <p:sp>
        <p:nvSpPr>
          <p:cNvPr id="9"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0" name="!!pfill">
            <a:extLst>
              <a:ext uri="{C183D7F6-B498-43B3-948B-1728B52AA6E4}">
                <adec:decorative xmlns:adec="http://schemas.microsoft.com/office/drawing/2017/decorative" val="1"/>
              </a:ext>
            </a:extLst>
          </p:cNvPr>
          <p:cNvSpPr/>
          <p:nvPr/>
        </p:nvSpPr>
        <p:spPr>
          <a:xfrm>
            <a:off x="0" y="0"/>
            <a:ext cx="9356417" cy="54864"/>
          </a:xfrm>
          <a:prstGeom prst="rect">
            <a:avLst/>
          </a:prstGeom>
          <a:solidFill>
            <a:srgbClr val="8E44A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xmlns:p159="http://schemas.microsoft.com/office/powerpoint/2015/09/main" Requires="p159">
      <p:transition spd="slow" p14:dur="650">
        <p159:morph option="byObject"/>
      </p:transition>
    </mc:Choice>
    <mc:Fallback>
      <p:transition spd="med">
        <p:fade/>
      </p:transition>
    </mc:Fallback>
  </mc:AlternateContent>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236694"/>
        </a:solidFill>
        <a:effectLst/>
      </p:bgPr>
    </p:bg>
    <p:spTree>
      <p:nvGrpSpPr>
        <p:cNvPr id="1" name=""/>
        <p:cNvGrpSpPr/>
        <p:nvPr/>
      </p:nvGrpSpPr>
      <p:grpSpPr/>
      <p:sp>
        <p:nvSpPr>
          <p:cNvPr id="2" name="!!q"/>
          <p:cNvSpPr>
            <a:spLocks noGrp="1"/>
          </p:cNvSpPr>
          <p:nvPr>
            <p:ph type="title"/>
          </p:nvPr>
        </p:nvSpPr>
        <p:spPr>
          <a:xfrm>
            <a:off x="658368" y="2011680"/>
            <a:ext cx="10874959" cy="3017520"/>
          </a:xfrm>
        </p:spPr>
        <p:txBody>
          <a:bodyPr wrap="square" lIns="0" rIns="0" tIns="0" bIns="0" anchor="t">
            <a:noAutofit/>
          </a:bodyPr>
          <a:lstStyle/>
          <a:p>
            <a:pPr algn="l">
              <a:lnSpc>
                <a:spcPct val="96000"/>
              </a:lnSpc>
            </a:pPr>
            <a:r>
              <a:rPr sz="3400" b="0" i="0">
                <a:solidFill>
                  <a:srgbClr val="FFFFFF"/>
                </a:solidFill>
                <a:latin typeface="Segoe UI Semibold"/>
              </a:rPr>
              <a:t>Give one thing a semantic network can express that a set of universally quantified logical statements cannot, and one thing logic can do that the network cannot.</a:t>
            </a:r>
          </a:p>
        </p:txBody>
      </p:sp>
      <p:pic>
        <p:nvPicPr>
          <p:cNvPr id="3" name="!!qicon" descr="question-circle-FFFFFF.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1298448"/>
            <a:ext cx="396772" cy="384048"/>
          </a:xfrm>
          <a:prstGeom prst="rect">
            <a:avLst/>
          </a:prstGeom>
        </p:spPr>
      </p:pic>
      <p:sp>
        <p:nvSpPr>
          <p:cNvPr id="4" name="!!qlab"/>
          <p:cNvSpPr txBox="1"/>
          <p:nvPr/>
        </p:nvSpPr>
        <p:spPr>
          <a:xfrm>
            <a:off x="1225295" y="1344168"/>
            <a:ext cx="7315200" cy="310896"/>
          </a:xfrm>
          <a:prstGeom prst="rect">
            <a:avLst/>
          </a:prstGeom>
          <a:noFill/>
        </p:spPr>
        <p:txBody>
          <a:bodyPr wrap="square" anchor="t" lIns="0" rIns="0" tIns="0" bIns="0">
            <a:noAutofit/>
          </a:bodyPr>
          <a:lstStyle/>
          <a:p>
            <a:pPr algn="l">
              <a:lnSpc>
                <a:spcPct val="100000"/>
              </a:lnSpc>
              <a:spcBef>
                <a:spcPts val="0"/>
              </a:spcBef>
              <a:spcAft>
                <a:spcPts val="0"/>
              </a:spcAft>
            </a:pPr>
            <a:r>
              <a:rPr sz="1400" b="1" i="0" spc="200">
                <a:solidFill>
                  <a:srgbClr val="BDD1DF"/>
                </a:solidFill>
                <a:latin typeface="Segoe UI"/>
              </a:rPr>
              <a:t>CHECKPOINT  3 OF 3</a:t>
            </a:r>
          </a:p>
        </p:txBody>
      </p:sp>
      <p:sp>
        <p:nvSpPr>
          <p:cNvPr id="5" name="!!qhint"/>
          <p:cNvSpPr txBox="1"/>
          <p:nvPr/>
        </p:nvSpPr>
        <p:spPr>
          <a:xfrm>
            <a:off x="658368" y="5760720"/>
            <a:ext cx="10874959" cy="310896"/>
          </a:xfrm>
          <a:prstGeom prst="rect">
            <a:avLst/>
          </a:prstGeom>
          <a:noFill/>
        </p:spPr>
        <p:txBody>
          <a:bodyPr wrap="square" anchor="t" lIns="0" rIns="0" tIns="0" bIns="0">
            <a:noAutofit/>
          </a:bodyPr>
          <a:lstStyle/>
          <a:p>
            <a:pPr algn="l">
              <a:lnSpc>
                <a:spcPct val="100000"/>
              </a:lnSpc>
              <a:spcBef>
                <a:spcPts val="0"/>
              </a:spcBef>
              <a:spcAft>
                <a:spcPts val="0"/>
              </a:spcAft>
            </a:pPr>
            <a:r>
              <a:rPr sz="1400" b="0" i="1">
                <a:solidFill>
                  <a:srgbClr val="9CBACF"/>
                </a:solidFill>
                <a:latin typeface="Segoe UI"/>
              </a:rPr>
              <a:t>Discuss with the person next to you, then advance.</a:t>
            </a:r>
          </a:p>
        </p:txBody>
      </p:sp>
      <p:sp>
        <p:nvSpPr>
          <p:cNvPr id="6"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B9C6D0"/>
                </a:solidFill>
                <a:latin typeface="Segoe UI"/>
              </a:rPr>
              <a:t>Artificial Intelligence  ·  Chapter 10  ·  Knowledge Representation</a:t>
            </a:r>
          </a:p>
        </p:txBody>
      </p:sp>
      <p:sp>
        <p:nvSpPr>
          <p:cNvPr id="7"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B9C6D0"/>
                </a:solidFill>
                <a:latin typeface="Segoe UI"/>
              </a:rPr>
              <a:t>Handout p. 109  ·  answers in Appendix D     </a:t>
            </a:r>
            <a:fld id="{AC594CCD-A0ED-4FD1-AE0D-290874F26CBE}" type="slidenum">
              <a:rPr lang="en-GB" sz="1000">
                <a:solidFill>
                  <a:srgbClr val="D5DEE5"/>
                </a:solidFill>
                <a:latin typeface="Segoe UI"/>
              </a:rPr>
              <a:t>34</a:t>
            </a:fld>
          </a:p>
        </p:txBody>
      </p:sp>
    </p:spTree>
  </p:cSld>
  <p:clrMapOvr>
    <a:masterClrMapping/>
  </p:clrMapOvr>
  <mc:AlternateContent xmlns:mc="http://schemas.openxmlformats.org/markup-compatibility/2006" xmlns:p14="http://schemas.microsoft.com/office/powerpoint/2010/main">
    <mc:Choice Requires="p14">
      <p:transition spd="med" p14:dur="450">
        <p:fade/>
      </p:transition>
    </mc:Choice>
    <mc:Fallback>
      <p:transition spd="med">
        <p:fade/>
      </p:transition>
    </mc:Fallback>
  </mc:AlternateContent>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q"/>
          <p:cNvSpPr>
            <a:spLocks noGrp="1"/>
          </p:cNvSpPr>
          <p:nvPr>
            <p:ph type="title"/>
          </p:nvPr>
        </p:nvSpPr>
        <p:spPr>
          <a:xfrm>
            <a:off x="658368" y="676656"/>
            <a:ext cx="10874959" cy="1099108"/>
          </a:xfrm>
        </p:spPr>
        <p:txBody>
          <a:bodyPr wrap="square" lIns="0" rIns="0" tIns="0" bIns="0" anchor="t">
            <a:noAutofit/>
          </a:bodyPr>
          <a:lstStyle/>
          <a:p>
            <a:pPr algn="l">
              <a:lnSpc>
                <a:spcPct val="96000"/>
              </a:lnSpc>
            </a:pPr>
            <a:r>
              <a:rPr sz="2400" b="0" i="0">
                <a:solidFill>
                  <a:srgbClr val="1A5276"/>
                </a:solidFill>
                <a:latin typeface="Segoe UI Semibold"/>
              </a:rPr>
              <a:t>Give one thing a semantic network can express that a set of universally quantified logical statements cannot, and one thing logic can do that the network cannot.</a:t>
            </a:r>
          </a:p>
        </p:txBody>
      </p:sp>
      <p:pic>
        <p:nvPicPr>
          <p:cNvPr id="3" name="!!kicker-icon" descr="check-256B9A.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290630"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256B9A"/>
                </a:solidFill>
                <a:latin typeface="Segoe UI"/>
              </a:rPr>
              <a:t>CHECKPOINT 3 OF 3  ·  ANSWER</a:t>
            </a:r>
          </a:p>
        </p:txBody>
      </p:sp>
      <p:sp>
        <p:nvSpPr>
          <p:cNvPr id="5" name="!!abar">
            <a:extLst>
              <a:ext uri="{C183D7F6-B498-43B3-948B-1728B52AA6E4}">
                <adec:decorative xmlns:adec="http://schemas.microsoft.com/office/drawing/2017/decorative" val="1"/>
              </a:ext>
            </a:extLst>
          </p:cNvPr>
          <p:cNvSpPr/>
          <p:nvPr/>
        </p:nvSpPr>
        <p:spPr>
          <a:xfrm>
            <a:off x="658368" y="2114092"/>
            <a:ext cx="64008" cy="2789529"/>
          </a:xfrm>
          <a:prstGeom prst="rect">
            <a:avLst/>
          </a:prstGeom>
          <a:solidFill>
            <a:srgbClr val="27AE6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6" name="!!ans-0"/>
          <p:cNvSpPr txBox="1"/>
          <p:nvPr/>
        </p:nvSpPr>
        <p:spPr>
          <a:xfrm>
            <a:off x="987552" y="2114092"/>
            <a:ext cx="10509199" cy="2835249"/>
          </a:xfrm>
          <a:prstGeom prst="rect">
            <a:avLst/>
          </a:prstGeom>
          <a:noFill/>
        </p:spPr>
        <p:txBody>
          <a:bodyPr wrap="square" anchor="t" lIns="0" rIns="0" tIns="0" bIns="0">
            <a:noAutofit/>
          </a:bodyPr>
          <a:lstStyle/>
          <a:p>
            <a:pPr algn="l">
              <a:lnSpc>
                <a:spcPct val="104000"/>
              </a:lnSpc>
              <a:spcBef>
                <a:spcPts val="0"/>
              </a:spcBef>
              <a:spcAft>
                <a:spcPts val="0"/>
              </a:spcAft>
            </a:pPr>
            <a:r>
              <a:rPr sz="2200" b="0" i="0">
                <a:solidFill>
                  <a:srgbClr val="1C252B"/>
                </a:solidFill>
                <a:latin typeface="Segoe UI"/>
              </a:rPr>
              <a:t>A semantic network with defaults can express </a:t>
            </a:r>
            <a:r>
              <a:rPr sz="2200" b="0" i="1">
                <a:solidFill>
                  <a:srgbClr val="1C252B"/>
                </a:solidFill>
                <a:latin typeface="Segoe UI"/>
              </a:rPr>
              <a:t>normally</a:t>
            </a:r>
            <a:r>
              <a:rPr sz="2200" b="0" i="0">
                <a:solidFill>
                  <a:srgbClr val="1C252B"/>
                </a:solidFill>
                <a:latin typeface="Segoe UI"/>
              </a:rPr>
              <a:t>: “releases go out on Thursdays” with hotfixes excepted, without the exception making the knowledge base inconsistent. Written as a universally quantified sentence that claim is simply false, and adding one hotfix makes the knowledge base contradictory. What logic can do and the network cannot is </a:t>
            </a:r>
            <a:r>
              <a:rPr sz="2200" b="0" i="1">
                <a:solidFill>
                  <a:srgbClr val="1C252B"/>
                </a:solidFill>
                <a:latin typeface="Segoe UI"/>
              </a:rPr>
              <a:t>derive guaranteed consequences</a:t>
            </a:r>
            <a:r>
              <a:rPr sz="2200" b="0" i="0">
                <a:solidFill>
                  <a:srgbClr val="1C252B"/>
                </a:solidFill>
                <a:latin typeface="Segoe UI"/>
              </a:rPr>
              <a:t>: a sound procedure over logic gives conclusions that hold in every model, whereas an inheritance walk gives whatever the nearest ancestor happened to say, with no guarantee it is consistent with anything else in the network.</a:t>
            </a:r>
          </a:p>
        </p:txBody>
      </p:sp>
      <p:sp>
        <p:nvSpPr>
          <p:cNvPr id="7"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Artificial Intelligence  ·  Chapter 10  ·  Knowledge Representation</a:t>
            </a:r>
          </a:p>
        </p:txBody>
      </p:sp>
      <p:sp>
        <p:nvSpPr>
          <p:cNvPr id="8"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Handout p. 109  ·  answers in Appendix D     </a:t>
            </a:r>
            <a:fld id="{7292E7C9-7D41-423F-A824-F59A9ECE0916}" type="slidenum">
              <a:rPr lang="en-GB" sz="1000">
                <a:solidFill>
                  <a:srgbClr val="8795A1"/>
                </a:solidFill>
                <a:latin typeface="Segoe UI"/>
              </a:rPr>
              <a:t>35</a:t>
            </a:fld>
          </a:p>
        </p:txBody>
      </p:sp>
      <p:sp>
        <p:nvSpPr>
          <p:cNvPr id="9"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0" name="!!pfill">
            <a:extLst>
              <a:ext uri="{C183D7F6-B498-43B3-948B-1728B52AA6E4}">
                <adec:decorative xmlns:adec="http://schemas.microsoft.com/office/drawing/2017/decorative" val="1"/>
              </a:ext>
            </a:extLst>
          </p:cNvPr>
          <p:cNvSpPr/>
          <p:nvPr/>
        </p:nvSpPr>
        <p:spPr>
          <a:xfrm>
            <a:off x="0" y="0"/>
            <a:ext cx="9923472" cy="54864"/>
          </a:xfrm>
          <a:prstGeom prst="rect">
            <a:avLst/>
          </a:prstGeom>
          <a:solidFill>
            <a:srgbClr val="8E44A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xmlns:p159="http://schemas.microsoft.com/office/powerpoint/2015/09/main" Requires="p159">
      <p:transition spd="slow" p14:dur="650">
        <p159:morph option="byObject"/>
      </p:transition>
    </mc:Choice>
    <mc:Fallback>
      <p:transition spd="med">
        <p:fade/>
      </p:transition>
    </mc:Fallback>
  </mc:AlternateContent>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3000" b="0">
                <a:solidFill>
                  <a:srgbClr val="1A5276"/>
                </a:solidFill>
                <a:latin typeface="Segoe UI Semibold"/>
              </a:rPr>
              <a:t>What to take away</a:t>
            </a:r>
          </a:p>
        </p:txBody>
      </p:sp>
      <p:pic>
        <p:nvPicPr>
          <p:cNvPr id="3" name="!!kicker-icon" descr="clipboard-check-15425E.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166837"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15425E"/>
                </a:solidFill>
                <a:latin typeface="Segoe UI"/>
              </a:rPr>
              <a:t>CHAPTER SUMMARY</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Artificial Intelligence  ·  Chapter 10  ·  Knowledge Representation</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Handout p. 109     </a:t>
            </a:r>
            <a:fld id="{094A9E65-4AE4-41FA-87BA-B3507FE6ECDD}" type="slidenum">
              <a:rPr lang="en-GB" sz="1000">
                <a:solidFill>
                  <a:srgbClr val="8795A1"/>
                </a:solidFill>
                <a:latin typeface="Segoe UI"/>
              </a:rPr>
              <a:t>36</a:t>
            </a:fld>
          </a:p>
        </p:txBody>
      </p:sp>
      <p:sp>
        <p:nvSpPr>
          <p:cNvPr id="7" name="!!sb0">
            <a:extLst>
              <a:ext uri="{C183D7F6-B498-43B3-948B-1728B52AA6E4}">
                <adec:decorative xmlns:adec="http://schemas.microsoft.com/office/drawing/2017/decorative" val="1"/>
              </a:ext>
            </a:extLst>
          </p:cNvPr>
          <p:cNvSpPr/>
          <p:nvPr/>
        </p:nvSpPr>
        <p:spPr>
          <a:xfrm>
            <a:off x="658368" y="1746504"/>
            <a:ext cx="402336" cy="402336"/>
          </a:xfrm>
          <a:prstGeom prst="roundRect">
            <a:avLst>
              <a:gd name="adj" fmla="val 22727"/>
            </a:avLst>
          </a:prstGeom>
          <a:solidFill>
            <a:srgbClr val="15425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8" name="!!sbn0"/>
          <p:cNvSpPr txBox="1"/>
          <p:nvPr/>
        </p:nvSpPr>
        <p:spPr>
          <a:xfrm>
            <a:off x="658368" y="1801368"/>
            <a:ext cx="402336" cy="274320"/>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FFFFFF"/>
                </a:solidFill>
                <a:latin typeface="Segoe UI Semibold"/>
              </a:rPr>
              <a:t>1</a:t>
            </a:r>
          </a:p>
        </p:txBody>
      </p:sp>
      <p:sp>
        <p:nvSpPr>
          <p:cNvPr id="9" name="!!st0"/>
          <p:cNvSpPr txBox="1"/>
          <p:nvPr/>
        </p:nvSpPr>
        <p:spPr>
          <a:xfrm>
            <a:off x="1298448" y="1737360"/>
            <a:ext cx="10234879" cy="808329"/>
          </a:xfrm>
          <a:prstGeom prst="rect">
            <a:avLst/>
          </a:prstGeom>
          <a:noFill/>
        </p:spPr>
        <p:txBody>
          <a:bodyPr wrap="square" anchor="t" lIns="0" rIns="0" tIns="0" bIns="0">
            <a:noAutofit/>
          </a:bodyPr>
          <a:lstStyle/>
          <a:p>
            <a:pPr algn="l">
              <a:lnSpc>
                <a:spcPct val="104000"/>
              </a:lnSpc>
              <a:spcBef>
                <a:spcPts val="0"/>
              </a:spcBef>
              <a:spcAft>
                <a:spcPts val="0"/>
              </a:spcAft>
            </a:pPr>
            <a:r>
              <a:rPr sz="1700" b="0" i="0">
                <a:solidFill>
                  <a:srgbClr val="1C252B"/>
                </a:solidFill>
                <a:latin typeface="Segoe UI"/>
              </a:rPr>
              <a:t>A knowledge representation must be </a:t>
            </a:r>
            <a:r>
              <a:rPr sz="1700" b="1" i="0">
                <a:solidFill>
                  <a:srgbClr val="1A5276"/>
                </a:solidFill>
                <a:latin typeface="Segoe UI"/>
              </a:rPr>
              <a:t>representationally</a:t>
            </a:r>
            <a:r>
              <a:rPr sz="1700" b="0" i="0">
                <a:solidFill>
                  <a:srgbClr val="1C252B"/>
                </a:solidFill>
                <a:latin typeface="Segoe UI"/>
              </a:rPr>
              <a:t> and </a:t>
            </a:r>
            <a:r>
              <a:rPr sz="1700" b="1" i="0">
                <a:solidFill>
                  <a:srgbClr val="1A5276"/>
                </a:solidFill>
                <a:latin typeface="Segoe UI"/>
              </a:rPr>
              <a:t>inferentially adequate</a:t>
            </a:r>
            <a:r>
              <a:rPr sz="1700" b="0" i="0">
                <a:solidFill>
                  <a:srgbClr val="1C252B"/>
                </a:solidFill>
                <a:latin typeface="Segoe UI"/>
              </a:rPr>
              <a:t>, </a:t>
            </a:r>
            <a:r>
              <a:rPr sz="1700" b="1" i="0">
                <a:solidFill>
                  <a:srgbClr val="1A5276"/>
                </a:solidFill>
                <a:latin typeface="Segoe UI"/>
              </a:rPr>
              <a:t>efficient</a:t>
            </a:r>
            <a:r>
              <a:rPr sz="1700" b="0" i="0">
                <a:solidFill>
                  <a:srgbClr val="1C252B"/>
                </a:solidFill>
                <a:latin typeface="Segoe UI"/>
              </a:rPr>
              <a:t>, and easy to add to — and those requirements pull against each other. Expressive representations tend to have intractable inference.</a:t>
            </a:r>
          </a:p>
        </p:txBody>
      </p:sp>
      <p:sp>
        <p:nvSpPr>
          <p:cNvPr id="10" name="!!sb1">
            <a:extLst>
              <a:ext uri="{C183D7F6-B498-43B3-948B-1728B52AA6E4}">
                <adec:decorative xmlns:adec="http://schemas.microsoft.com/office/drawing/2017/decorative" val="1"/>
              </a:ext>
            </a:extLst>
          </p:cNvPr>
          <p:cNvSpPr/>
          <p:nvPr/>
        </p:nvSpPr>
        <p:spPr>
          <a:xfrm>
            <a:off x="658368" y="2737713"/>
            <a:ext cx="402336" cy="402336"/>
          </a:xfrm>
          <a:prstGeom prst="roundRect">
            <a:avLst>
              <a:gd name="adj" fmla="val 22727"/>
            </a:avLst>
          </a:prstGeom>
          <a:solidFill>
            <a:srgbClr val="15425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1" name="!!sbn1"/>
          <p:cNvSpPr txBox="1"/>
          <p:nvPr/>
        </p:nvSpPr>
        <p:spPr>
          <a:xfrm>
            <a:off x="658368" y="2792577"/>
            <a:ext cx="402336" cy="274320"/>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FFFFFF"/>
                </a:solidFill>
                <a:latin typeface="Segoe UI Semibold"/>
              </a:rPr>
              <a:t>2</a:t>
            </a:r>
          </a:p>
        </p:txBody>
      </p:sp>
      <p:sp>
        <p:nvSpPr>
          <p:cNvPr id="12" name="!!st1"/>
          <p:cNvSpPr txBox="1"/>
          <p:nvPr/>
        </p:nvSpPr>
        <p:spPr>
          <a:xfrm>
            <a:off x="1298448" y="2728569"/>
            <a:ext cx="10234879" cy="808329"/>
          </a:xfrm>
          <a:prstGeom prst="rect">
            <a:avLst/>
          </a:prstGeom>
          <a:noFill/>
        </p:spPr>
        <p:txBody>
          <a:bodyPr wrap="square" anchor="t" lIns="0" rIns="0" tIns="0" bIns="0">
            <a:noAutofit/>
          </a:bodyPr>
          <a:lstStyle/>
          <a:p>
            <a:pPr algn="l">
              <a:lnSpc>
                <a:spcPct val="104000"/>
              </a:lnSpc>
              <a:spcBef>
                <a:spcPts val="0"/>
              </a:spcBef>
              <a:spcAft>
                <a:spcPts val="0"/>
              </a:spcAft>
            </a:pPr>
            <a:r>
              <a:rPr sz="1700" b="0" i="0">
                <a:solidFill>
                  <a:srgbClr val="1C252B"/>
                </a:solidFill>
                <a:latin typeface="Segoe UI"/>
              </a:rPr>
              <a:t>A </a:t>
            </a:r>
            <a:r>
              <a:rPr sz="1700" b="1" i="0">
                <a:solidFill>
                  <a:srgbClr val="1A5276"/>
                </a:solidFill>
                <a:latin typeface="Segoe UI"/>
              </a:rPr>
              <a:t>semantic network</a:t>
            </a:r>
            <a:r>
              <a:rPr sz="1700" b="0" i="0">
                <a:solidFill>
                  <a:srgbClr val="1C252B"/>
                </a:solidFill>
                <a:latin typeface="Segoe UI"/>
              </a:rPr>
              <a:t> is nodes and labelled links. </a:t>
            </a:r>
            <a:r>
              <a:rPr sz="1600" b="0" i="0">
                <a:solidFill>
                  <a:srgbClr val="1F4E79"/>
                </a:solidFill>
                <a:latin typeface="Consolas"/>
              </a:rPr>
              <a:t>is-a</a:t>
            </a:r>
            <a:r>
              <a:rPr sz="1700" b="0" i="0">
                <a:solidFill>
                  <a:srgbClr val="1C252B"/>
                </a:solidFill>
                <a:latin typeface="Segoe UI"/>
              </a:rPr>
              <a:t> relates a class to a more general class, </a:t>
            </a:r>
            <a:r>
              <a:rPr sz="1600" b="0" i="0">
                <a:solidFill>
                  <a:srgbClr val="1F4E79"/>
                </a:solidFill>
                <a:latin typeface="Consolas"/>
              </a:rPr>
              <a:t>instance-of</a:t>
            </a:r>
            <a:r>
              <a:rPr sz="1700" b="0" i="0">
                <a:solidFill>
                  <a:srgbClr val="1C252B"/>
                </a:solidFill>
                <a:latin typeface="Segoe UI"/>
              </a:rPr>
              <a:t> relates an individual to a class, and </a:t>
            </a:r>
            <a:r>
              <a:rPr sz="1700" b="1" i="0">
                <a:solidFill>
                  <a:srgbClr val="1A5276"/>
                </a:solidFill>
                <a:latin typeface="Segoe UI"/>
              </a:rPr>
              <a:t>inheritance</a:t>
            </a:r>
            <a:r>
              <a:rPr sz="1700" b="0" i="0">
                <a:solidFill>
                  <a:srgbClr val="1C252B"/>
                </a:solidFill>
                <a:latin typeface="Segoe UI"/>
              </a:rPr>
              <a:t> — one upward walk — is the whole inference mechanism.</a:t>
            </a:r>
          </a:p>
        </p:txBody>
      </p:sp>
      <p:sp>
        <p:nvSpPr>
          <p:cNvPr id="13" name="!!sb2">
            <a:extLst>
              <a:ext uri="{C183D7F6-B498-43B3-948B-1728B52AA6E4}">
                <adec:decorative xmlns:adec="http://schemas.microsoft.com/office/drawing/2017/decorative" val="1"/>
              </a:ext>
            </a:extLst>
          </p:cNvPr>
          <p:cNvSpPr/>
          <p:nvPr/>
        </p:nvSpPr>
        <p:spPr>
          <a:xfrm>
            <a:off x="658368" y="3728923"/>
            <a:ext cx="402336" cy="402336"/>
          </a:xfrm>
          <a:prstGeom prst="roundRect">
            <a:avLst>
              <a:gd name="adj" fmla="val 22727"/>
            </a:avLst>
          </a:prstGeom>
          <a:solidFill>
            <a:srgbClr val="15425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4" name="!!sbn2"/>
          <p:cNvSpPr txBox="1"/>
          <p:nvPr/>
        </p:nvSpPr>
        <p:spPr>
          <a:xfrm>
            <a:off x="658368" y="3783787"/>
            <a:ext cx="402336" cy="274320"/>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FFFFFF"/>
                </a:solidFill>
                <a:latin typeface="Segoe UI Semibold"/>
              </a:rPr>
              <a:t>3</a:t>
            </a:r>
          </a:p>
        </p:txBody>
      </p:sp>
      <p:sp>
        <p:nvSpPr>
          <p:cNvPr id="15" name="!!st2"/>
          <p:cNvSpPr txBox="1"/>
          <p:nvPr/>
        </p:nvSpPr>
        <p:spPr>
          <a:xfrm>
            <a:off x="1298448" y="3719779"/>
            <a:ext cx="10234879" cy="538886"/>
          </a:xfrm>
          <a:prstGeom prst="rect">
            <a:avLst/>
          </a:prstGeom>
          <a:noFill/>
        </p:spPr>
        <p:txBody>
          <a:bodyPr wrap="square" anchor="t" lIns="0" rIns="0" tIns="0" bIns="0">
            <a:noAutofit/>
          </a:bodyPr>
          <a:lstStyle/>
          <a:p>
            <a:pPr algn="l">
              <a:lnSpc>
                <a:spcPct val="104000"/>
              </a:lnSpc>
              <a:spcBef>
                <a:spcPts val="0"/>
              </a:spcBef>
              <a:spcAft>
                <a:spcPts val="0"/>
              </a:spcAft>
            </a:pPr>
            <a:r>
              <a:rPr sz="1700" b="0" i="0">
                <a:solidFill>
                  <a:srgbClr val="1C252B"/>
                </a:solidFill>
                <a:latin typeface="Segoe UI"/>
              </a:rPr>
              <a:t>A </a:t>
            </a:r>
            <a:r>
              <a:rPr sz="1700" b="1" i="0">
                <a:solidFill>
                  <a:srgbClr val="1A5276"/>
                </a:solidFill>
                <a:latin typeface="Segoe UI"/>
              </a:rPr>
              <a:t>frame</a:t>
            </a:r>
            <a:r>
              <a:rPr sz="1700" b="0" i="0">
                <a:solidFill>
                  <a:srgbClr val="1C252B"/>
                </a:solidFill>
                <a:latin typeface="Segoe UI"/>
              </a:rPr>
              <a:t> organises the same knowledge by concept: slots with fillers or </a:t>
            </a:r>
            <a:r>
              <a:rPr sz="1700" b="1" i="0">
                <a:solidFill>
                  <a:srgbClr val="1A5276"/>
                </a:solidFill>
                <a:latin typeface="Segoe UI"/>
              </a:rPr>
              <a:t>defaults</a:t>
            </a:r>
            <a:r>
              <a:rPr sz="1700" b="0" i="0">
                <a:solidFill>
                  <a:srgbClr val="1C252B"/>
                </a:solidFill>
                <a:latin typeface="Segoe UI"/>
              </a:rPr>
              <a:t>. The most specific value wins, which falls out of stopping the walk at the first hit.</a:t>
            </a:r>
          </a:p>
        </p:txBody>
      </p:sp>
      <p:sp>
        <p:nvSpPr>
          <p:cNvPr id="16" name="!!sb3">
            <a:extLst>
              <a:ext uri="{C183D7F6-B498-43B3-948B-1728B52AA6E4}">
                <adec:decorative xmlns:adec="http://schemas.microsoft.com/office/drawing/2017/decorative" val="1"/>
              </a:ext>
            </a:extLst>
          </p:cNvPr>
          <p:cNvSpPr/>
          <p:nvPr/>
        </p:nvSpPr>
        <p:spPr>
          <a:xfrm>
            <a:off x="658368" y="4450689"/>
            <a:ext cx="402336" cy="402336"/>
          </a:xfrm>
          <a:prstGeom prst="roundRect">
            <a:avLst>
              <a:gd name="adj" fmla="val 22727"/>
            </a:avLst>
          </a:prstGeom>
          <a:solidFill>
            <a:srgbClr val="15425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7" name="!!sbn3"/>
          <p:cNvSpPr txBox="1"/>
          <p:nvPr/>
        </p:nvSpPr>
        <p:spPr>
          <a:xfrm>
            <a:off x="658368" y="4505553"/>
            <a:ext cx="402336" cy="274320"/>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FFFFFF"/>
                </a:solidFill>
                <a:latin typeface="Segoe UI Semibold"/>
              </a:rPr>
              <a:t>4</a:t>
            </a:r>
          </a:p>
        </p:txBody>
      </p:sp>
      <p:sp>
        <p:nvSpPr>
          <p:cNvPr id="18" name="!!st3"/>
          <p:cNvSpPr txBox="1"/>
          <p:nvPr/>
        </p:nvSpPr>
        <p:spPr>
          <a:xfrm>
            <a:off x="1298448" y="4441545"/>
            <a:ext cx="10234879" cy="538886"/>
          </a:xfrm>
          <a:prstGeom prst="rect">
            <a:avLst/>
          </a:prstGeom>
          <a:noFill/>
        </p:spPr>
        <p:txBody>
          <a:bodyPr wrap="square" anchor="t" lIns="0" rIns="0" tIns="0" bIns="0">
            <a:noAutofit/>
          </a:bodyPr>
          <a:lstStyle/>
          <a:p>
            <a:pPr algn="l">
              <a:lnSpc>
                <a:spcPct val="104000"/>
              </a:lnSpc>
              <a:spcBef>
                <a:spcPts val="0"/>
              </a:spcBef>
              <a:spcAft>
                <a:spcPts val="0"/>
              </a:spcAft>
            </a:pPr>
            <a:r>
              <a:rPr sz="1700" b="0" i="0">
                <a:solidFill>
                  <a:srgbClr val="1C252B"/>
                </a:solidFill>
                <a:latin typeface="Segoe UI"/>
              </a:rPr>
              <a:t>Defaults make the representation fit an organisation and make the reasoning </a:t>
            </a:r>
            <a:r>
              <a:rPr sz="1700" b="1" i="0">
                <a:solidFill>
                  <a:srgbClr val="1A5276"/>
                </a:solidFill>
                <a:latin typeface="Segoe UI"/>
              </a:rPr>
              <a:t>non-monotonic</a:t>
            </a:r>
            <a:r>
              <a:rPr sz="1700" b="0" i="0">
                <a:solidFill>
                  <a:srgbClr val="1C252B"/>
                </a:solidFill>
                <a:latin typeface="Segoe UI"/>
              </a:rPr>
              <a:t>: adding knowledge can remove a conclusion. Classical logic is monotonic and cannot say “normally”.</a:t>
            </a:r>
          </a:p>
        </p:txBody>
      </p:sp>
      <p:sp>
        <p:nvSpPr>
          <p:cNvPr id="19" name="!!sb4">
            <a:extLst>
              <a:ext uri="{C183D7F6-B498-43B3-948B-1728B52AA6E4}">
                <adec:decorative xmlns:adec="http://schemas.microsoft.com/office/drawing/2017/decorative" val="1"/>
              </a:ext>
            </a:extLst>
          </p:cNvPr>
          <p:cNvSpPr/>
          <p:nvPr/>
        </p:nvSpPr>
        <p:spPr>
          <a:xfrm>
            <a:off x="658368" y="5172456"/>
            <a:ext cx="402336" cy="402336"/>
          </a:xfrm>
          <a:prstGeom prst="roundRect">
            <a:avLst>
              <a:gd name="adj" fmla="val 22727"/>
            </a:avLst>
          </a:prstGeom>
          <a:solidFill>
            <a:srgbClr val="15425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0" name="!!sbn4"/>
          <p:cNvSpPr txBox="1"/>
          <p:nvPr/>
        </p:nvSpPr>
        <p:spPr>
          <a:xfrm>
            <a:off x="658368" y="5227320"/>
            <a:ext cx="402336" cy="274320"/>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FFFFFF"/>
                </a:solidFill>
                <a:latin typeface="Segoe UI Semibold"/>
              </a:rPr>
              <a:t>5</a:t>
            </a:r>
          </a:p>
        </p:txBody>
      </p:sp>
      <p:sp>
        <p:nvSpPr>
          <p:cNvPr id="21" name="!!st4"/>
          <p:cNvSpPr txBox="1"/>
          <p:nvPr/>
        </p:nvSpPr>
        <p:spPr>
          <a:xfrm>
            <a:off x="1298448" y="5163312"/>
            <a:ext cx="10234879" cy="538886"/>
          </a:xfrm>
          <a:prstGeom prst="rect">
            <a:avLst/>
          </a:prstGeom>
          <a:noFill/>
        </p:spPr>
        <p:txBody>
          <a:bodyPr wrap="square" anchor="t" lIns="0" rIns="0" tIns="0" bIns="0">
            <a:noAutofit/>
          </a:bodyPr>
          <a:lstStyle/>
          <a:p>
            <a:pPr algn="l">
              <a:lnSpc>
                <a:spcPct val="104000"/>
              </a:lnSpc>
              <a:spcBef>
                <a:spcPts val="0"/>
              </a:spcBef>
              <a:spcAft>
                <a:spcPts val="0"/>
              </a:spcAft>
            </a:pPr>
            <a:r>
              <a:rPr sz="1700" b="1" i="0">
                <a:solidFill>
                  <a:srgbClr val="1A5276"/>
                </a:solidFill>
                <a:latin typeface="Segoe UI"/>
              </a:rPr>
              <a:t>Multiple inheritance</a:t>
            </a:r>
            <a:r>
              <a:rPr sz="1700" b="0" i="0">
                <a:solidFill>
                  <a:srgbClr val="1C252B"/>
                </a:solidFill>
                <a:latin typeface="Segoe UI"/>
              </a:rPr>
              <a:t> from disagreeing parents has no purely local resolution. Detect the conflict, report its provenance, and refuse to guess — the dangerous system is the one that quietly answers.</a:t>
            </a:r>
          </a:p>
        </p:txBody>
      </p:sp>
      <p:sp>
        <p:nvSpPr>
          <p:cNvPr id="59"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60" name="!!pfill">
            <a:extLst>
              <a:ext uri="{C183D7F6-B498-43B3-948B-1728B52AA6E4}">
                <adec:decorative xmlns:adec="http://schemas.microsoft.com/office/drawing/2017/decorative" val="1"/>
              </a:ext>
            </a:extLst>
          </p:cNvPr>
          <p:cNvSpPr/>
          <p:nvPr/>
        </p:nvSpPr>
        <p:spPr>
          <a:xfrm>
            <a:off x="0" y="0"/>
            <a:ext cx="10207000" cy="54864"/>
          </a:xfrm>
          <a:prstGeom prst="rect">
            <a:avLst/>
          </a:prstGeom>
          <a:solidFill>
            <a:srgbClr val="8E44A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Requires="p14">
      <p:transition spd="med" p14:dur="450">
        <p:fade/>
      </p:transition>
    </mc:Choice>
    <mc:Fallback>
      <p:transition spd="med">
        <p:fade/>
      </p:transition>
    </mc:Fallback>
  </mc:AlternateContent>
  <p:timing>
    <p:tnLst>
      <p:par>
        <p:cTn id="2" dur="indefinite" restart="never" nodeType="tmRoot">
          <p:childTnLst>
            <p:seq concurrent="1" nextAc="seek">
              <p:cTn id="3" dur="indefinite" nodeType="mainSeq">
                <p:childTnLst>
                  <p:par>
                    <p:cTn id="4" fill="hold">
                      <p:stCondLst>
                        <p:cond delay="indefinite"/>
                      </p:stCondLst>
                      <p:childTnLst>
                        <p:par>
                          <p:cTn id="5" fill="hold">
                            <p:stCondLst>
                              <p:cond delay="0"/>
                            </p:stCondLst>
                            <p:childTnLst>
                              <p:par>
                                <p:cTn id="6" presetID="23" presetClass="entr" presetSubtype="16" fill="hold" grpId="0" nodeType="clickEffect">
                                  <p:stCondLst>
                                    <p:cond delay="0"/>
                                  </p:stCondLst>
                                  <p:childTnLst>
                                    <p:set>
                                      <p:cBhvr>
                                        <p:cTn id="7" dur="1" fill="hold">
                                          <p:stCondLst>
                                            <p:cond delay="0"/>
                                          </p:stCondLst>
                                        </p:cTn>
                                        <p:tgtEl>
                                          <p:spTgt spid="7"/>
                                        </p:tgtEl>
                                        <p:attrNameLst>
                                          <p:attrName>style.visibility</p:attrName>
                                        </p:attrNameLst>
                                      </p:cBhvr>
                                      <p:to>
                                        <p:strVal val="visible"/>
                                      </p:to>
                                    </p:set>
                                    <p:animEffect transition="in" filter="zoom(in)">
                                      <p:cBhvr>
                                        <p:cTn id="8" dur="260"/>
                                        <p:tgtEl>
                                          <p:spTgt spid="7"/>
                                        </p:tgtEl>
                                      </p:cBhvr>
                                    </p:animEffect>
                                  </p:childTnLst>
                                </p:cTn>
                              </p:par>
                              <p:par>
                                <p:cTn id="9" presetID="10" presetClass="entr" presetSubtype="0" fill="hold" grpId="0" nodeType="withEffect">
                                  <p:stCondLst>
                                    <p:cond delay="0"/>
                                  </p:stCondLst>
                                  <p:childTnLst>
                                    <p:set>
                                      <p:cBhvr>
                                        <p:cTn id="10" dur="1" fill="hold">
                                          <p:stCondLst>
                                            <p:cond delay="0"/>
                                          </p:stCondLst>
                                        </p:cTn>
                                        <p:tgtEl>
                                          <p:spTgt spid="8"/>
                                        </p:tgtEl>
                                        <p:attrNameLst>
                                          <p:attrName>style.visibility</p:attrName>
                                        </p:attrNameLst>
                                      </p:cBhvr>
                                      <p:to>
                                        <p:strVal val="visible"/>
                                      </p:to>
                                    </p:set>
                                    <p:animEffect transition="in" filter="fade">
                                      <p:cBhvr>
                                        <p:cTn id="11" dur="260"/>
                                        <p:tgtEl>
                                          <p:spTgt spid="8"/>
                                        </p:tgtEl>
                                      </p:cBhvr>
                                    </p:animEffect>
                                  </p:childTnLst>
                                </p:cTn>
                              </p:par>
                              <p:par>
                                <p:cTn id="12" presetID="22" presetClass="entr" presetSubtype="8" fill="hold" grpId="0" nodeType="withEffect">
                                  <p:stCondLst>
                                    <p:cond delay="0"/>
                                  </p:stCondLst>
                                  <p:childTnLst>
                                    <p:set>
                                      <p:cBhvr>
                                        <p:cTn id="13" dur="1" fill="hold">
                                          <p:stCondLst>
                                            <p:cond delay="0"/>
                                          </p:stCondLst>
                                        </p:cTn>
                                        <p:tgtEl>
                                          <p:spTgt spid="9"/>
                                        </p:tgtEl>
                                        <p:attrNameLst>
                                          <p:attrName>style.visibility</p:attrName>
                                        </p:attrNameLst>
                                      </p:cBhvr>
                                      <p:to>
                                        <p:strVal val="visible"/>
                                      </p:to>
                                    </p:set>
                                    <p:animEffect transition="in" filter="wipe(right)">
                                      <p:cBhvr>
                                        <p:cTn id="14" dur="400"/>
                                        <p:tgtEl>
                                          <p:spTgt spid="9"/>
                                        </p:tgtEl>
                                      </p:cBhvr>
                                    </p:animEffect>
                                  </p:childTnLst>
                                </p:cTn>
                              </p:par>
                            </p:childTnLst>
                          </p:cTn>
                        </p:par>
                      </p:childTnLst>
                    </p:cTn>
                  </p:par>
                  <p:par>
                    <p:cTn id="15" fill="hold">
                      <p:stCondLst>
                        <p:cond delay="indefinite"/>
                      </p:stCondLst>
                      <p:childTnLst>
                        <p:par>
                          <p:cTn id="16" fill="hold">
                            <p:stCondLst>
                              <p:cond delay="0"/>
                            </p:stCondLst>
                            <p:childTnLst>
                              <p:par>
                                <p:cTn id="17" presetID="23" presetClass="entr" presetSubtype="16" fill="hold" grpId="0" nodeType="clickEffect">
                                  <p:stCondLst>
                                    <p:cond delay="0"/>
                                  </p:stCondLst>
                                  <p:childTnLst>
                                    <p:set>
                                      <p:cBhvr>
                                        <p:cTn id="18" dur="1" fill="hold">
                                          <p:stCondLst>
                                            <p:cond delay="0"/>
                                          </p:stCondLst>
                                        </p:cTn>
                                        <p:tgtEl>
                                          <p:spTgt spid="10"/>
                                        </p:tgtEl>
                                        <p:attrNameLst>
                                          <p:attrName>style.visibility</p:attrName>
                                        </p:attrNameLst>
                                      </p:cBhvr>
                                      <p:to>
                                        <p:strVal val="visible"/>
                                      </p:to>
                                    </p:set>
                                    <p:animEffect transition="in" filter="zoom(in)">
                                      <p:cBhvr>
                                        <p:cTn id="19" dur="260"/>
                                        <p:tgtEl>
                                          <p:spTgt spid="10"/>
                                        </p:tgtEl>
                                      </p:cBhvr>
                                    </p:animEffect>
                                  </p:childTnLst>
                                </p:cTn>
                              </p:par>
                              <p:par>
                                <p:cTn id="20" presetID="10" presetClass="entr" presetSubtype="0" fill="hold" grpId="0" nodeType="withEffect">
                                  <p:stCondLst>
                                    <p:cond delay="0"/>
                                  </p:stCondLst>
                                  <p:childTnLst>
                                    <p:set>
                                      <p:cBhvr>
                                        <p:cTn id="21" dur="1" fill="hold">
                                          <p:stCondLst>
                                            <p:cond delay="0"/>
                                          </p:stCondLst>
                                        </p:cTn>
                                        <p:tgtEl>
                                          <p:spTgt spid="11"/>
                                        </p:tgtEl>
                                        <p:attrNameLst>
                                          <p:attrName>style.visibility</p:attrName>
                                        </p:attrNameLst>
                                      </p:cBhvr>
                                      <p:to>
                                        <p:strVal val="visible"/>
                                      </p:to>
                                    </p:set>
                                    <p:animEffect transition="in" filter="fade">
                                      <p:cBhvr>
                                        <p:cTn id="22" dur="260"/>
                                        <p:tgtEl>
                                          <p:spTgt spid="11"/>
                                        </p:tgtEl>
                                      </p:cBhvr>
                                    </p:animEffect>
                                  </p:childTnLst>
                                </p:cTn>
                              </p:par>
                              <p:par>
                                <p:cTn id="23" presetID="22" presetClass="entr" presetSubtype="8" fill="hold" grpId="0" nodeType="withEffect">
                                  <p:stCondLst>
                                    <p:cond delay="0"/>
                                  </p:stCondLst>
                                  <p:childTnLst>
                                    <p:set>
                                      <p:cBhvr>
                                        <p:cTn id="24" dur="1" fill="hold">
                                          <p:stCondLst>
                                            <p:cond delay="0"/>
                                          </p:stCondLst>
                                        </p:cTn>
                                        <p:tgtEl>
                                          <p:spTgt spid="12"/>
                                        </p:tgtEl>
                                        <p:attrNameLst>
                                          <p:attrName>style.visibility</p:attrName>
                                        </p:attrNameLst>
                                      </p:cBhvr>
                                      <p:to>
                                        <p:strVal val="visible"/>
                                      </p:to>
                                    </p:set>
                                    <p:animEffect transition="in" filter="wipe(right)">
                                      <p:cBhvr>
                                        <p:cTn id="25" dur="400"/>
                                        <p:tgtEl>
                                          <p:spTgt spid="12"/>
                                        </p:tgtEl>
                                      </p:cBhvr>
                                    </p:animEffect>
                                  </p:childTnLst>
                                </p:cTn>
                              </p:par>
                            </p:childTnLst>
                          </p:cTn>
                        </p:par>
                      </p:childTnLst>
                    </p:cTn>
                  </p:par>
                  <p:par>
                    <p:cTn id="26" fill="hold">
                      <p:stCondLst>
                        <p:cond delay="indefinite"/>
                      </p:stCondLst>
                      <p:childTnLst>
                        <p:par>
                          <p:cTn id="27" fill="hold">
                            <p:stCondLst>
                              <p:cond delay="0"/>
                            </p:stCondLst>
                            <p:childTnLst>
                              <p:par>
                                <p:cTn id="28" presetID="23" presetClass="entr" presetSubtype="16" fill="hold" grpId="0" nodeType="clickEffect">
                                  <p:stCondLst>
                                    <p:cond delay="0"/>
                                  </p:stCondLst>
                                  <p:childTnLst>
                                    <p:set>
                                      <p:cBhvr>
                                        <p:cTn id="29" dur="1" fill="hold">
                                          <p:stCondLst>
                                            <p:cond delay="0"/>
                                          </p:stCondLst>
                                        </p:cTn>
                                        <p:tgtEl>
                                          <p:spTgt spid="13"/>
                                        </p:tgtEl>
                                        <p:attrNameLst>
                                          <p:attrName>style.visibility</p:attrName>
                                        </p:attrNameLst>
                                      </p:cBhvr>
                                      <p:to>
                                        <p:strVal val="visible"/>
                                      </p:to>
                                    </p:set>
                                    <p:animEffect transition="in" filter="zoom(in)">
                                      <p:cBhvr>
                                        <p:cTn id="30" dur="260"/>
                                        <p:tgtEl>
                                          <p:spTgt spid="13"/>
                                        </p:tgtEl>
                                      </p:cBhvr>
                                    </p:animEffect>
                                  </p:childTnLst>
                                </p:cTn>
                              </p:par>
                              <p:par>
                                <p:cTn id="31" presetID="10" presetClass="entr" presetSubtype="0" fill="hold" grpId="0" nodeType="withEffect">
                                  <p:stCondLst>
                                    <p:cond delay="0"/>
                                  </p:stCondLst>
                                  <p:childTnLst>
                                    <p:set>
                                      <p:cBhvr>
                                        <p:cTn id="32" dur="1" fill="hold">
                                          <p:stCondLst>
                                            <p:cond delay="0"/>
                                          </p:stCondLst>
                                        </p:cTn>
                                        <p:tgtEl>
                                          <p:spTgt spid="14"/>
                                        </p:tgtEl>
                                        <p:attrNameLst>
                                          <p:attrName>style.visibility</p:attrName>
                                        </p:attrNameLst>
                                      </p:cBhvr>
                                      <p:to>
                                        <p:strVal val="visible"/>
                                      </p:to>
                                    </p:set>
                                    <p:animEffect transition="in" filter="fade">
                                      <p:cBhvr>
                                        <p:cTn id="33" dur="260"/>
                                        <p:tgtEl>
                                          <p:spTgt spid="14"/>
                                        </p:tgtEl>
                                      </p:cBhvr>
                                    </p:animEffect>
                                  </p:childTnLst>
                                </p:cTn>
                              </p:par>
                              <p:par>
                                <p:cTn id="34" presetID="22" presetClass="entr" presetSubtype="8" fill="hold" grpId="0" nodeType="withEffect">
                                  <p:stCondLst>
                                    <p:cond delay="0"/>
                                  </p:stCondLst>
                                  <p:childTnLst>
                                    <p:set>
                                      <p:cBhvr>
                                        <p:cTn id="35" dur="1" fill="hold">
                                          <p:stCondLst>
                                            <p:cond delay="0"/>
                                          </p:stCondLst>
                                        </p:cTn>
                                        <p:tgtEl>
                                          <p:spTgt spid="15"/>
                                        </p:tgtEl>
                                        <p:attrNameLst>
                                          <p:attrName>style.visibility</p:attrName>
                                        </p:attrNameLst>
                                      </p:cBhvr>
                                      <p:to>
                                        <p:strVal val="visible"/>
                                      </p:to>
                                    </p:set>
                                    <p:animEffect transition="in" filter="wipe(right)">
                                      <p:cBhvr>
                                        <p:cTn id="36" dur="400"/>
                                        <p:tgtEl>
                                          <p:spTgt spid="15"/>
                                        </p:tgtEl>
                                      </p:cBhvr>
                                    </p:animEffect>
                                  </p:childTnLst>
                                </p:cTn>
                              </p:par>
                            </p:childTnLst>
                          </p:cTn>
                        </p:par>
                      </p:childTnLst>
                    </p:cTn>
                  </p:par>
                  <p:par>
                    <p:cTn id="37" fill="hold">
                      <p:stCondLst>
                        <p:cond delay="indefinite"/>
                      </p:stCondLst>
                      <p:childTnLst>
                        <p:par>
                          <p:cTn id="38" fill="hold">
                            <p:stCondLst>
                              <p:cond delay="0"/>
                            </p:stCondLst>
                            <p:childTnLst>
                              <p:par>
                                <p:cTn id="39" presetID="23" presetClass="entr" presetSubtype="16" fill="hold" grpId="0" nodeType="clickEffect">
                                  <p:stCondLst>
                                    <p:cond delay="0"/>
                                  </p:stCondLst>
                                  <p:childTnLst>
                                    <p:set>
                                      <p:cBhvr>
                                        <p:cTn id="40" dur="1" fill="hold">
                                          <p:stCondLst>
                                            <p:cond delay="0"/>
                                          </p:stCondLst>
                                        </p:cTn>
                                        <p:tgtEl>
                                          <p:spTgt spid="16"/>
                                        </p:tgtEl>
                                        <p:attrNameLst>
                                          <p:attrName>style.visibility</p:attrName>
                                        </p:attrNameLst>
                                      </p:cBhvr>
                                      <p:to>
                                        <p:strVal val="visible"/>
                                      </p:to>
                                    </p:set>
                                    <p:animEffect transition="in" filter="zoom(in)">
                                      <p:cBhvr>
                                        <p:cTn id="41" dur="260"/>
                                        <p:tgtEl>
                                          <p:spTgt spid="16"/>
                                        </p:tgtEl>
                                      </p:cBhvr>
                                    </p:animEffect>
                                  </p:childTnLst>
                                </p:cTn>
                              </p:par>
                              <p:par>
                                <p:cTn id="42" presetID="10" presetClass="entr" presetSubtype="0" fill="hold" grpId="0" nodeType="withEffect">
                                  <p:stCondLst>
                                    <p:cond delay="0"/>
                                  </p:stCondLst>
                                  <p:childTnLst>
                                    <p:set>
                                      <p:cBhvr>
                                        <p:cTn id="43" dur="1" fill="hold">
                                          <p:stCondLst>
                                            <p:cond delay="0"/>
                                          </p:stCondLst>
                                        </p:cTn>
                                        <p:tgtEl>
                                          <p:spTgt spid="17"/>
                                        </p:tgtEl>
                                        <p:attrNameLst>
                                          <p:attrName>style.visibility</p:attrName>
                                        </p:attrNameLst>
                                      </p:cBhvr>
                                      <p:to>
                                        <p:strVal val="visible"/>
                                      </p:to>
                                    </p:set>
                                    <p:animEffect transition="in" filter="fade">
                                      <p:cBhvr>
                                        <p:cTn id="44" dur="260"/>
                                        <p:tgtEl>
                                          <p:spTgt spid="17"/>
                                        </p:tgtEl>
                                      </p:cBhvr>
                                    </p:animEffect>
                                  </p:childTnLst>
                                </p:cTn>
                              </p:par>
                              <p:par>
                                <p:cTn id="45" presetID="22" presetClass="entr" presetSubtype="8" fill="hold" grpId="0" nodeType="withEffect">
                                  <p:stCondLst>
                                    <p:cond delay="0"/>
                                  </p:stCondLst>
                                  <p:childTnLst>
                                    <p:set>
                                      <p:cBhvr>
                                        <p:cTn id="46" dur="1" fill="hold">
                                          <p:stCondLst>
                                            <p:cond delay="0"/>
                                          </p:stCondLst>
                                        </p:cTn>
                                        <p:tgtEl>
                                          <p:spTgt spid="18"/>
                                        </p:tgtEl>
                                        <p:attrNameLst>
                                          <p:attrName>style.visibility</p:attrName>
                                        </p:attrNameLst>
                                      </p:cBhvr>
                                      <p:to>
                                        <p:strVal val="visible"/>
                                      </p:to>
                                    </p:set>
                                    <p:animEffect transition="in" filter="wipe(right)">
                                      <p:cBhvr>
                                        <p:cTn id="47" dur="400"/>
                                        <p:tgtEl>
                                          <p:spTgt spid="18"/>
                                        </p:tgtEl>
                                      </p:cBhvr>
                                    </p:animEffect>
                                  </p:childTnLst>
                                </p:cTn>
                              </p:par>
                            </p:childTnLst>
                          </p:cTn>
                        </p:par>
                      </p:childTnLst>
                    </p:cTn>
                  </p:par>
                  <p:par>
                    <p:cTn id="48" fill="hold">
                      <p:stCondLst>
                        <p:cond delay="indefinite"/>
                      </p:stCondLst>
                      <p:childTnLst>
                        <p:par>
                          <p:cTn id="49" fill="hold">
                            <p:stCondLst>
                              <p:cond delay="0"/>
                            </p:stCondLst>
                            <p:childTnLst>
                              <p:par>
                                <p:cTn id="50" presetID="23" presetClass="entr" presetSubtype="16" fill="hold" grpId="0" nodeType="clickEffect">
                                  <p:stCondLst>
                                    <p:cond delay="0"/>
                                  </p:stCondLst>
                                  <p:childTnLst>
                                    <p:set>
                                      <p:cBhvr>
                                        <p:cTn id="51" dur="1" fill="hold">
                                          <p:stCondLst>
                                            <p:cond delay="0"/>
                                          </p:stCondLst>
                                        </p:cTn>
                                        <p:tgtEl>
                                          <p:spTgt spid="19"/>
                                        </p:tgtEl>
                                        <p:attrNameLst>
                                          <p:attrName>style.visibility</p:attrName>
                                        </p:attrNameLst>
                                      </p:cBhvr>
                                      <p:to>
                                        <p:strVal val="visible"/>
                                      </p:to>
                                    </p:set>
                                    <p:animEffect transition="in" filter="zoom(in)">
                                      <p:cBhvr>
                                        <p:cTn id="52" dur="260"/>
                                        <p:tgtEl>
                                          <p:spTgt spid="19"/>
                                        </p:tgtEl>
                                      </p:cBhvr>
                                    </p:animEffect>
                                  </p:childTnLst>
                                </p:cTn>
                              </p:par>
                              <p:par>
                                <p:cTn id="53" presetID="10" presetClass="entr" presetSubtype="0" fill="hold" grpId="0" nodeType="withEffect">
                                  <p:stCondLst>
                                    <p:cond delay="0"/>
                                  </p:stCondLst>
                                  <p:childTnLst>
                                    <p:set>
                                      <p:cBhvr>
                                        <p:cTn id="54" dur="1" fill="hold">
                                          <p:stCondLst>
                                            <p:cond delay="0"/>
                                          </p:stCondLst>
                                        </p:cTn>
                                        <p:tgtEl>
                                          <p:spTgt spid="20"/>
                                        </p:tgtEl>
                                        <p:attrNameLst>
                                          <p:attrName>style.visibility</p:attrName>
                                        </p:attrNameLst>
                                      </p:cBhvr>
                                      <p:to>
                                        <p:strVal val="visible"/>
                                      </p:to>
                                    </p:set>
                                    <p:animEffect transition="in" filter="fade">
                                      <p:cBhvr>
                                        <p:cTn id="55" dur="260"/>
                                        <p:tgtEl>
                                          <p:spTgt spid="20"/>
                                        </p:tgtEl>
                                      </p:cBhvr>
                                    </p:animEffect>
                                  </p:childTnLst>
                                </p:cTn>
                              </p:par>
                              <p:par>
                                <p:cTn id="56" presetID="22" presetClass="entr" presetSubtype="8" fill="hold" grpId="0" nodeType="withEffect">
                                  <p:stCondLst>
                                    <p:cond delay="0"/>
                                  </p:stCondLst>
                                  <p:childTnLst>
                                    <p:set>
                                      <p:cBhvr>
                                        <p:cTn id="57" dur="1" fill="hold">
                                          <p:stCondLst>
                                            <p:cond delay="0"/>
                                          </p:stCondLst>
                                        </p:cTn>
                                        <p:tgtEl>
                                          <p:spTgt spid="21"/>
                                        </p:tgtEl>
                                        <p:attrNameLst>
                                          <p:attrName>style.visibility</p:attrName>
                                        </p:attrNameLst>
                                      </p:cBhvr>
                                      <p:to>
                                        <p:strVal val="visible"/>
                                      </p:to>
                                    </p:set>
                                    <p:animEffect transition="in" filter="wipe(right)">
                                      <p:cBhvr>
                                        <p:cTn id="58" dur="400"/>
                                        <p:tgtEl>
                                          <p:spTgt spid="2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3000" b="0">
                <a:solidFill>
                  <a:srgbClr val="1A5276"/>
                </a:solidFill>
                <a:latin typeface="Segoe UI Semibold"/>
              </a:rPr>
              <a:t>What to take away (continued)</a:t>
            </a:r>
          </a:p>
        </p:txBody>
      </p:sp>
      <p:pic>
        <p:nvPicPr>
          <p:cNvPr id="3" name="!!kicker-icon" descr="clipboard-check-15425E.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166837"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15425E"/>
                </a:solidFill>
                <a:latin typeface="Segoe UI"/>
              </a:rPr>
              <a:t>CHAPTER SUMMARY</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Artificial Intelligence  ·  Chapter 10  ·  Knowledge Representation</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Handout p. 109     </a:t>
            </a:r>
            <a:fld id="{ADC52ABC-505D-45E4-BE87-7A8E4E64E8A1}" type="slidenum">
              <a:rPr lang="en-GB" sz="1000">
                <a:solidFill>
                  <a:srgbClr val="8795A1"/>
                </a:solidFill>
                <a:latin typeface="Segoe UI"/>
              </a:rPr>
              <a:t>37</a:t>
            </a:fld>
          </a:p>
        </p:txBody>
      </p:sp>
      <p:sp>
        <p:nvSpPr>
          <p:cNvPr id="7" name="!!sb5">
            <a:extLst>
              <a:ext uri="{C183D7F6-B498-43B3-948B-1728B52AA6E4}">
                <adec:decorative xmlns:adec="http://schemas.microsoft.com/office/drawing/2017/decorative" val="1"/>
              </a:ext>
            </a:extLst>
          </p:cNvPr>
          <p:cNvSpPr/>
          <p:nvPr/>
        </p:nvSpPr>
        <p:spPr>
          <a:xfrm>
            <a:off x="658368" y="1746504"/>
            <a:ext cx="402336" cy="402336"/>
          </a:xfrm>
          <a:prstGeom prst="roundRect">
            <a:avLst>
              <a:gd name="adj" fmla="val 22727"/>
            </a:avLst>
          </a:prstGeom>
          <a:solidFill>
            <a:srgbClr val="15425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8" name="!!sbn5"/>
          <p:cNvSpPr txBox="1"/>
          <p:nvPr/>
        </p:nvSpPr>
        <p:spPr>
          <a:xfrm>
            <a:off x="658368" y="1801368"/>
            <a:ext cx="402336" cy="274320"/>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FFFFFF"/>
                </a:solidFill>
                <a:latin typeface="Segoe UI Semibold"/>
              </a:rPr>
              <a:t>6</a:t>
            </a:r>
          </a:p>
        </p:txBody>
      </p:sp>
      <p:sp>
        <p:nvSpPr>
          <p:cNvPr id="9" name="!!st5"/>
          <p:cNvSpPr txBox="1"/>
          <p:nvPr/>
        </p:nvSpPr>
        <p:spPr>
          <a:xfrm>
            <a:off x="1298448" y="1737360"/>
            <a:ext cx="10234879" cy="538886"/>
          </a:xfrm>
          <a:prstGeom prst="rect">
            <a:avLst/>
          </a:prstGeom>
          <a:noFill/>
        </p:spPr>
        <p:txBody>
          <a:bodyPr wrap="square" anchor="t" lIns="0" rIns="0" tIns="0" bIns="0">
            <a:noAutofit/>
          </a:bodyPr>
          <a:lstStyle/>
          <a:p>
            <a:pPr algn="l">
              <a:lnSpc>
                <a:spcPct val="104000"/>
              </a:lnSpc>
              <a:spcBef>
                <a:spcPts val="0"/>
              </a:spcBef>
              <a:spcAft>
                <a:spcPts val="0"/>
              </a:spcAft>
            </a:pPr>
            <a:r>
              <a:rPr sz="1700" b="0" i="0">
                <a:solidFill>
                  <a:srgbClr val="1C252B"/>
                </a:solidFill>
                <a:latin typeface="Segoe UI"/>
              </a:rPr>
              <a:t>An </a:t>
            </a:r>
            <a:r>
              <a:rPr sz="1700" b="1" i="0">
                <a:solidFill>
                  <a:srgbClr val="1A5276"/>
                </a:solidFill>
                <a:latin typeface="Segoe UI"/>
              </a:rPr>
              <a:t>ontology</a:t>
            </a:r>
            <a:r>
              <a:rPr sz="1700" b="0" i="0">
                <a:solidFill>
                  <a:srgbClr val="1C252B"/>
                </a:solidFill>
                <a:latin typeface="Segoe UI"/>
              </a:rPr>
              <a:t> is a shared, formal vocabulary with explicit </a:t>
            </a:r>
            <a:r>
              <a:rPr sz="1700" b="1" i="0">
                <a:solidFill>
                  <a:srgbClr val="1A5276"/>
                </a:solidFill>
                <a:latin typeface="Segoe UI"/>
              </a:rPr>
              <a:t>ontological commitments</a:t>
            </a:r>
            <a:r>
              <a:rPr sz="1700" b="0" i="0">
                <a:solidFill>
                  <a:srgbClr val="1C252B"/>
                </a:solidFill>
                <a:latin typeface="Segoe UI"/>
              </a:rPr>
              <a:t>. In practice most of its value is the agreement, not the inference.</a:t>
            </a:r>
          </a:p>
        </p:txBody>
      </p:sp>
      <p:sp>
        <p:nvSpPr>
          <p:cNvPr id="10" name="!!sb6">
            <a:extLst>
              <a:ext uri="{C183D7F6-B498-43B3-948B-1728B52AA6E4}">
                <adec:decorative xmlns:adec="http://schemas.microsoft.com/office/drawing/2017/decorative" val="1"/>
              </a:ext>
            </a:extLst>
          </p:cNvPr>
          <p:cNvSpPr/>
          <p:nvPr/>
        </p:nvSpPr>
        <p:spPr>
          <a:xfrm>
            <a:off x="658368" y="2468270"/>
            <a:ext cx="402336" cy="402336"/>
          </a:xfrm>
          <a:prstGeom prst="roundRect">
            <a:avLst>
              <a:gd name="adj" fmla="val 22727"/>
            </a:avLst>
          </a:prstGeom>
          <a:solidFill>
            <a:srgbClr val="15425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1" name="!!sbn6"/>
          <p:cNvSpPr txBox="1"/>
          <p:nvPr/>
        </p:nvSpPr>
        <p:spPr>
          <a:xfrm>
            <a:off x="658368" y="2523134"/>
            <a:ext cx="402336" cy="274320"/>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FFFFFF"/>
                </a:solidFill>
                <a:latin typeface="Segoe UI Semibold"/>
              </a:rPr>
              <a:t>7</a:t>
            </a:r>
          </a:p>
        </p:txBody>
      </p:sp>
      <p:sp>
        <p:nvSpPr>
          <p:cNvPr id="12" name="!!st6"/>
          <p:cNvSpPr txBox="1"/>
          <p:nvPr/>
        </p:nvSpPr>
        <p:spPr>
          <a:xfrm>
            <a:off x="1298448" y="2459126"/>
            <a:ext cx="10234879" cy="538886"/>
          </a:xfrm>
          <a:prstGeom prst="rect">
            <a:avLst/>
          </a:prstGeom>
          <a:noFill/>
        </p:spPr>
        <p:txBody>
          <a:bodyPr wrap="square" anchor="t" lIns="0" rIns="0" tIns="0" bIns="0">
            <a:noAutofit/>
          </a:bodyPr>
          <a:lstStyle/>
          <a:p>
            <a:pPr algn="l">
              <a:lnSpc>
                <a:spcPct val="104000"/>
              </a:lnSpc>
              <a:spcBef>
                <a:spcPts val="0"/>
              </a:spcBef>
              <a:spcAft>
                <a:spcPts val="0"/>
              </a:spcAft>
            </a:pPr>
            <a:r>
              <a:rPr sz="1700" b="0" i="0">
                <a:solidFill>
                  <a:srgbClr val="1C252B"/>
                </a:solidFill>
                <a:latin typeface="Segoe UI"/>
              </a:rPr>
              <a:t>This is a first pass. Description logic, ontology languages and commonsense reasoning belong to </a:t>
            </a:r>
            <a:r>
              <a:rPr sz="1700" b="0" i="1">
                <a:solidFill>
                  <a:srgbClr val="1C252B"/>
                </a:solidFill>
                <a:latin typeface="Segoe UI"/>
              </a:rPr>
              <a:t>Knowledge Representation and Reasoning</a:t>
            </a:r>
            <a:r>
              <a:rPr sz="1700" b="0" i="0">
                <a:solidFill>
                  <a:srgbClr val="1C252B"/>
                </a:solidFill>
                <a:latin typeface="Segoe UI"/>
              </a:rPr>
              <a:t> (Appendix F).</a:t>
            </a:r>
          </a:p>
        </p:txBody>
      </p:sp>
      <p:sp>
        <p:nvSpPr>
          <p:cNvPr id="26"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7" name="!!pfill">
            <a:extLst>
              <a:ext uri="{C183D7F6-B498-43B3-948B-1728B52AA6E4}">
                <adec:decorative xmlns:adec="http://schemas.microsoft.com/office/drawing/2017/decorative" val="1"/>
              </a:ext>
            </a:extLst>
          </p:cNvPr>
          <p:cNvSpPr/>
          <p:nvPr/>
        </p:nvSpPr>
        <p:spPr>
          <a:xfrm>
            <a:off x="0" y="0"/>
            <a:ext cx="10490528" cy="54864"/>
          </a:xfrm>
          <a:prstGeom prst="rect">
            <a:avLst/>
          </a:prstGeom>
          <a:solidFill>
            <a:srgbClr val="8E44A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Requires="p14">
      <p:transition spd="med" p14:dur="450">
        <p:fade/>
      </p:transition>
    </mc:Choice>
    <mc:Fallback>
      <p:transition spd="med">
        <p:fade/>
      </p:transition>
    </mc:Fallback>
  </mc:AlternateContent>
  <p:timing>
    <p:tnLst>
      <p:par>
        <p:cTn id="2" dur="indefinite" restart="never" nodeType="tmRoot">
          <p:childTnLst>
            <p:seq concurrent="1" nextAc="seek">
              <p:cTn id="3" dur="indefinite" nodeType="mainSeq">
                <p:childTnLst>
                  <p:par>
                    <p:cTn id="4" fill="hold">
                      <p:stCondLst>
                        <p:cond delay="indefinite"/>
                      </p:stCondLst>
                      <p:childTnLst>
                        <p:par>
                          <p:cTn id="5" fill="hold">
                            <p:stCondLst>
                              <p:cond delay="0"/>
                            </p:stCondLst>
                            <p:childTnLst>
                              <p:par>
                                <p:cTn id="6" presetID="23" presetClass="entr" presetSubtype="16" fill="hold" grpId="0" nodeType="clickEffect">
                                  <p:stCondLst>
                                    <p:cond delay="0"/>
                                  </p:stCondLst>
                                  <p:childTnLst>
                                    <p:set>
                                      <p:cBhvr>
                                        <p:cTn id="7" dur="1" fill="hold">
                                          <p:stCondLst>
                                            <p:cond delay="0"/>
                                          </p:stCondLst>
                                        </p:cTn>
                                        <p:tgtEl>
                                          <p:spTgt spid="7"/>
                                        </p:tgtEl>
                                        <p:attrNameLst>
                                          <p:attrName>style.visibility</p:attrName>
                                        </p:attrNameLst>
                                      </p:cBhvr>
                                      <p:to>
                                        <p:strVal val="visible"/>
                                      </p:to>
                                    </p:set>
                                    <p:animEffect transition="in" filter="zoom(in)">
                                      <p:cBhvr>
                                        <p:cTn id="8" dur="260"/>
                                        <p:tgtEl>
                                          <p:spTgt spid="7"/>
                                        </p:tgtEl>
                                      </p:cBhvr>
                                    </p:animEffect>
                                  </p:childTnLst>
                                </p:cTn>
                              </p:par>
                              <p:par>
                                <p:cTn id="9" presetID="10" presetClass="entr" presetSubtype="0" fill="hold" grpId="0" nodeType="withEffect">
                                  <p:stCondLst>
                                    <p:cond delay="0"/>
                                  </p:stCondLst>
                                  <p:childTnLst>
                                    <p:set>
                                      <p:cBhvr>
                                        <p:cTn id="10" dur="1" fill="hold">
                                          <p:stCondLst>
                                            <p:cond delay="0"/>
                                          </p:stCondLst>
                                        </p:cTn>
                                        <p:tgtEl>
                                          <p:spTgt spid="8"/>
                                        </p:tgtEl>
                                        <p:attrNameLst>
                                          <p:attrName>style.visibility</p:attrName>
                                        </p:attrNameLst>
                                      </p:cBhvr>
                                      <p:to>
                                        <p:strVal val="visible"/>
                                      </p:to>
                                    </p:set>
                                    <p:animEffect transition="in" filter="fade">
                                      <p:cBhvr>
                                        <p:cTn id="11" dur="260"/>
                                        <p:tgtEl>
                                          <p:spTgt spid="8"/>
                                        </p:tgtEl>
                                      </p:cBhvr>
                                    </p:animEffect>
                                  </p:childTnLst>
                                </p:cTn>
                              </p:par>
                              <p:par>
                                <p:cTn id="12" presetID="22" presetClass="entr" presetSubtype="8" fill="hold" grpId="0" nodeType="withEffect">
                                  <p:stCondLst>
                                    <p:cond delay="0"/>
                                  </p:stCondLst>
                                  <p:childTnLst>
                                    <p:set>
                                      <p:cBhvr>
                                        <p:cTn id="13" dur="1" fill="hold">
                                          <p:stCondLst>
                                            <p:cond delay="0"/>
                                          </p:stCondLst>
                                        </p:cTn>
                                        <p:tgtEl>
                                          <p:spTgt spid="9"/>
                                        </p:tgtEl>
                                        <p:attrNameLst>
                                          <p:attrName>style.visibility</p:attrName>
                                        </p:attrNameLst>
                                      </p:cBhvr>
                                      <p:to>
                                        <p:strVal val="visible"/>
                                      </p:to>
                                    </p:set>
                                    <p:animEffect transition="in" filter="wipe(right)">
                                      <p:cBhvr>
                                        <p:cTn id="14" dur="400"/>
                                        <p:tgtEl>
                                          <p:spTgt spid="9"/>
                                        </p:tgtEl>
                                      </p:cBhvr>
                                    </p:animEffect>
                                  </p:childTnLst>
                                </p:cTn>
                              </p:par>
                            </p:childTnLst>
                          </p:cTn>
                        </p:par>
                      </p:childTnLst>
                    </p:cTn>
                  </p:par>
                  <p:par>
                    <p:cTn id="15" fill="hold">
                      <p:stCondLst>
                        <p:cond delay="indefinite"/>
                      </p:stCondLst>
                      <p:childTnLst>
                        <p:par>
                          <p:cTn id="16" fill="hold">
                            <p:stCondLst>
                              <p:cond delay="0"/>
                            </p:stCondLst>
                            <p:childTnLst>
                              <p:par>
                                <p:cTn id="17" presetID="23" presetClass="entr" presetSubtype="16" fill="hold" grpId="0" nodeType="clickEffect">
                                  <p:stCondLst>
                                    <p:cond delay="0"/>
                                  </p:stCondLst>
                                  <p:childTnLst>
                                    <p:set>
                                      <p:cBhvr>
                                        <p:cTn id="18" dur="1" fill="hold">
                                          <p:stCondLst>
                                            <p:cond delay="0"/>
                                          </p:stCondLst>
                                        </p:cTn>
                                        <p:tgtEl>
                                          <p:spTgt spid="10"/>
                                        </p:tgtEl>
                                        <p:attrNameLst>
                                          <p:attrName>style.visibility</p:attrName>
                                        </p:attrNameLst>
                                      </p:cBhvr>
                                      <p:to>
                                        <p:strVal val="visible"/>
                                      </p:to>
                                    </p:set>
                                    <p:animEffect transition="in" filter="zoom(in)">
                                      <p:cBhvr>
                                        <p:cTn id="19" dur="260"/>
                                        <p:tgtEl>
                                          <p:spTgt spid="10"/>
                                        </p:tgtEl>
                                      </p:cBhvr>
                                    </p:animEffect>
                                  </p:childTnLst>
                                </p:cTn>
                              </p:par>
                              <p:par>
                                <p:cTn id="20" presetID="10" presetClass="entr" presetSubtype="0" fill="hold" grpId="0" nodeType="withEffect">
                                  <p:stCondLst>
                                    <p:cond delay="0"/>
                                  </p:stCondLst>
                                  <p:childTnLst>
                                    <p:set>
                                      <p:cBhvr>
                                        <p:cTn id="21" dur="1" fill="hold">
                                          <p:stCondLst>
                                            <p:cond delay="0"/>
                                          </p:stCondLst>
                                        </p:cTn>
                                        <p:tgtEl>
                                          <p:spTgt spid="11"/>
                                        </p:tgtEl>
                                        <p:attrNameLst>
                                          <p:attrName>style.visibility</p:attrName>
                                        </p:attrNameLst>
                                      </p:cBhvr>
                                      <p:to>
                                        <p:strVal val="visible"/>
                                      </p:to>
                                    </p:set>
                                    <p:animEffect transition="in" filter="fade">
                                      <p:cBhvr>
                                        <p:cTn id="22" dur="260"/>
                                        <p:tgtEl>
                                          <p:spTgt spid="11"/>
                                        </p:tgtEl>
                                      </p:cBhvr>
                                    </p:animEffect>
                                  </p:childTnLst>
                                </p:cTn>
                              </p:par>
                              <p:par>
                                <p:cTn id="23" presetID="22" presetClass="entr" presetSubtype="8" fill="hold" grpId="0" nodeType="withEffect">
                                  <p:stCondLst>
                                    <p:cond delay="0"/>
                                  </p:stCondLst>
                                  <p:childTnLst>
                                    <p:set>
                                      <p:cBhvr>
                                        <p:cTn id="24" dur="1" fill="hold">
                                          <p:stCondLst>
                                            <p:cond delay="0"/>
                                          </p:stCondLst>
                                        </p:cTn>
                                        <p:tgtEl>
                                          <p:spTgt spid="12"/>
                                        </p:tgtEl>
                                        <p:attrNameLst>
                                          <p:attrName>style.visibility</p:attrName>
                                        </p:attrNameLst>
                                      </p:cBhvr>
                                      <p:to>
                                        <p:strVal val="visible"/>
                                      </p:to>
                                    </p:set>
                                    <p:animEffect transition="in" filter="wipe(right)">
                                      <p:cBhvr>
                                        <p:cTn id="25" dur="400"/>
                                        <p:tgtEl>
                                          <p:spTgt spid="1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3000" b="0">
                <a:solidFill>
                  <a:srgbClr val="1A5276"/>
                </a:solidFill>
                <a:latin typeface="Segoe UI Semibold"/>
              </a:rPr>
              <a:t>Quick check 1 of 4</a:t>
            </a:r>
          </a:p>
        </p:txBody>
      </p:sp>
      <p:pic>
        <p:nvPicPr>
          <p:cNvPr id="3" name="!!kicker-icon" descr="pen-fancy-1A5276.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219456"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1A5276"/>
                </a:solidFill>
                <a:latin typeface="Segoe UI"/>
              </a:rPr>
              <a:t>REVIEW  ·  MULTIPLE CHOICE</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Artificial Intelligence  ·  Chapter 10  ·  Knowledge Representation</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Handout p. 109     </a:t>
            </a:r>
            <a:fld id="{F604E350-8718-4A57-975A-7B28CF9294F0}" type="slidenum">
              <a:rPr lang="en-GB" sz="1000">
                <a:solidFill>
                  <a:srgbClr val="8795A1"/>
                </a:solidFill>
                <a:latin typeface="Segoe UI"/>
              </a:rPr>
              <a:t>38</a:t>
            </a:fld>
          </a:p>
        </p:txBody>
      </p:sp>
      <p:sp>
        <p:nvSpPr>
          <p:cNvPr id="7" name="!!mstem"/>
          <p:cNvSpPr txBox="1"/>
          <p:nvPr/>
        </p:nvSpPr>
        <p:spPr>
          <a:xfrm>
            <a:off x="658368" y="1737360"/>
            <a:ext cx="10874959" cy="457809"/>
          </a:xfrm>
          <a:prstGeom prst="rect">
            <a:avLst/>
          </a:prstGeom>
          <a:noFill/>
        </p:spPr>
        <p:txBody>
          <a:bodyPr wrap="square" anchor="t" lIns="0" rIns="0" tIns="0" bIns="0">
            <a:noAutofit/>
          </a:bodyPr>
          <a:lstStyle/>
          <a:p>
            <a:pPr algn="l">
              <a:lnSpc>
                <a:spcPct val="104000"/>
              </a:lnSpc>
              <a:spcBef>
                <a:spcPts val="0"/>
              </a:spcBef>
              <a:spcAft>
                <a:spcPts val="0"/>
              </a:spcAft>
            </a:pPr>
            <a:r>
              <a:rPr sz="2600" b="0" i="0">
                <a:solidFill>
                  <a:srgbClr val="1C252B"/>
                </a:solidFill>
                <a:latin typeface="Segoe UI"/>
              </a:rPr>
              <a:t>In a semantic network, </a:t>
            </a:r>
            <a:r>
              <a:rPr sz="2450" b="0" i="0">
                <a:solidFill>
                  <a:srgbClr val="1F4E79"/>
                </a:solidFill>
                <a:latin typeface="Consolas"/>
              </a:rPr>
              <a:t>is-a</a:t>
            </a:r>
            <a:r>
              <a:rPr sz="2600" b="0" i="0">
                <a:solidFill>
                  <a:srgbClr val="1C252B"/>
                </a:solidFill>
                <a:latin typeface="Segoe UI"/>
              </a:rPr>
              <a:t> relates:</a:t>
            </a:r>
          </a:p>
        </p:txBody>
      </p:sp>
      <p:sp>
        <p:nvSpPr>
          <p:cNvPr id="8" name="!!mo0">
            <a:extLst>
              <a:ext uri="{C183D7F6-B498-43B3-948B-1728B52AA6E4}">
                <adec:decorative xmlns:adec="http://schemas.microsoft.com/office/drawing/2017/decorative" val="1"/>
              </a:ext>
            </a:extLst>
          </p:cNvPr>
          <p:cNvSpPr/>
          <p:nvPr/>
        </p:nvSpPr>
        <p:spPr>
          <a:xfrm>
            <a:off x="658368" y="2515209"/>
            <a:ext cx="5318607" cy="1005840"/>
          </a:xfrm>
          <a:prstGeom prst="roundRect">
            <a:avLst>
              <a:gd name="adj" fmla="val 9090"/>
            </a:avLst>
          </a:prstGeom>
          <a:solidFill>
            <a:srgbClr val="F4F7F9"/>
          </a:solidFill>
          <a:ln w="12700">
            <a:solidFill>
              <a:srgbClr val="D9E1E7"/>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9" name="!!mol0">
            <a:extLst>
              <a:ext uri="{C183D7F6-B498-43B3-948B-1728B52AA6E4}">
                <adec:decorative xmlns:adec="http://schemas.microsoft.com/office/drawing/2017/decorative" val="1"/>
              </a:ext>
            </a:extLst>
          </p:cNvPr>
          <p:cNvSpPr/>
          <p:nvPr/>
        </p:nvSpPr>
        <p:spPr>
          <a:xfrm>
            <a:off x="841247" y="2789529"/>
            <a:ext cx="457200" cy="457200"/>
          </a:xfrm>
          <a:prstGeom prst="roundRect">
            <a:avLst>
              <a:gd name="adj" fmla="val 50000"/>
            </a:avLst>
          </a:prstGeom>
          <a:solidFill>
            <a:srgbClr val="7A3A9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0" name="!!molt0"/>
          <p:cNvSpPr txBox="1"/>
          <p:nvPr/>
        </p:nvSpPr>
        <p:spPr>
          <a:xfrm>
            <a:off x="841247" y="2871825"/>
            <a:ext cx="457200" cy="274320"/>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FFFFFF"/>
                </a:solidFill>
                <a:latin typeface="Segoe UI Semibold"/>
              </a:rPr>
              <a:t>A</a:t>
            </a:r>
          </a:p>
        </p:txBody>
      </p:sp>
      <p:sp>
        <p:nvSpPr>
          <p:cNvPr id="11" name="!!mot0"/>
          <p:cNvSpPr txBox="1"/>
          <p:nvPr/>
        </p:nvSpPr>
        <p:spPr>
          <a:xfrm>
            <a:off x="1481328" y="2865729"/>
            <a:ext cx="4312767" cy="1005840"/>
          </a:xfrm>
          <a:prstGeom prst="rect">
            <a:avLst/>
          </a:prstGeom>
          <a:noFill/>
        </p:spPr>
        <p:txBody>
          <a:bodyPr wrap="square" anchor="t" lIns="0" rIns="0" tIns="0" bIns="0">
            <a:noAutofit/>
          </a:bodyPr>
          <a:lstStyle/>
          <a:p>
            <a:pPr algn="l">
              <a:lnSpc>
                <a:spcPct val="100000"/>
              </a:lnSpc>
              <a:spcBef>
                <a:spcPts val="0"/>
              </a:spcBef>
              <a:spcAft>
                <a:spcPts val="0"/>
              </a:spcAft>
            </a:pPr>
            <a:r>
              <a:rPr sz="2000" b="0" i="0">
                <a:solidFill>
                  <a:srgbClr val="1C252B"/>
                </a:solidFill>
                <a:latin typeface="Segoe UI"/>
              </a:rPr>
              <a:t>an individual to a class</a:t>
            </a:r>
          </a:p>
        </p:txBody>
      </p:sp>
      <p:sp>
        <p:nvSpPr>
          <p:cNvPr id="12" name="!!mo1">
            <a:extLst>
              <a:ext uri="{C183D7F6-B498-43B3-948B-1728B52AA6E4}">
                <adec:decorative xmlns:adec="http://schemas.microsoft.com/office/drawing/2017/decorative" val="1"/>
              </a:ext>
            </a:extLst>
          </p:cNvPr>
          <p:cNvSpPr/>
          <p:nvPr/>
        </p:nvSpPr>
        <p:spPr>
          <a:xfrm>
            <a:off x="6214719" y="2515209"/>
            <a:ext cx="5318607" cy="1005840"/>
          </a:xfrm>
          <a:prstGeom prst="roundRect">
            <a:avLst>
              <a:gd name="adj" fmla="val 9090"/>
            </a:avLst>
          </a:prstGeom>
          <a:solidFill>
            <a:srgbClr val="F4F7F9"/>
          </a:solidFill>
          <a:ln w="12700">
            <a:solidFill>
              <a:srgbClr val="D9E1E7"/>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3" name="!!mol1">
            <a:extLst>
              <a:ext uri="{C183D7F6-B498-43B3-948B-1728B52AA6E4}">
                <adec:decorative xmlns:adec="http://schemas.microsoft.com/office/drawing/2017/decorative" val="1"/>
              </a:ext>
            </a:extLst>
          </p:cNvPr>
          <p:cNvSpPr/>
          <p:nvPr/>
        </p:nvSpPr>
        <p:spPr>
          <a:xfrm>
            <a:off x="6397599" y="2789529"/>
            <a:ext cx="457200" cy="457200"/>
          </a:xfrm>
          <a:prstGeom prst="roundRect">
            <a:avLst>
              <a:gd name="adj" fmla="val 50000"/>
            </a:avLst>
          </a:prstGeom>
          <a:solidFill>
            <a:srgbClr val="7A3A9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4" name="!!molt1"/>
          <p:cNvSpPr txBox="1"/>
          <p:nvPr/>
        </p:nvSpPr>
        <p:spPr>
          <a:xfrm>
            <a:off x="6397599" y="2871825"/>
            <a:ext cx="457200" cy="274320"/>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FFFFFF"/>
                </a:solidFill>
                <a:latin typeface="Segoe UI Semibold"/>
              </a:rPr>
              <a:t>B</a:t>
            </a:r>
          </a:p>
        </p:txBody>
      </p:sp>
      <p:sp>
        <p:nvSpPr>
          <p:cNvPr id="15" name="!!mot1"/>
          <p:cNvSpPr txBox="1"/>
          <p:nvPr/>
        </p:nvSpPr>
        <p:spPr>
          <a:xfrm>
            <a:off x="7037679" y="2865729"/>
            <a:ext cx="4312767" cy="1005840"/>
          </a:xfrm>
          <a:prstGeom prst="rect">
            <a:avLst/>
          </a:prstGeom>
          <a:noFill/>
        </p:spPr>
        <p:txBody>
          <a:bodyPr wrap="square" anchor="t" lIns="0" rIns="0" tIns="0" bIns="0">
            <a:noAutofit/>
          </a:bodyPr>
          <a:lstStyle/>
          <a:p>
            <a:pPr algn="l">
              <a:lnSpc>
                <a:spcPct val="100000"/>
              </a:lnSpc>
              <a:spcBef>
                <a:spcPts val="0"/>
              </a:spcBef>
              <a:spcAft>
                <a:spcPts val="0"/>
              </a:spcAft>
            </a:pPr>
            <a:r>
              <a:rPr sz="2000" b="0" i="0">
                <a:solidFill>
                  <a:srgbClr val="1C252B"/>
                </a:solidFill>
                <a:latin typeface="Segoe UI"/>
              </a:rPr>
              <a:t>a class to a more general class</a:t>
            </a:r>
          </a:p>
        </p:txBody>
      </p:sp>
      <p:sp>
        <p:nvSpPr>
          <p:cNvPr id="16" name="!!mo2">
            <a:extLst>
              <a:ext uri="{C183D7F6-B498-43B3-948B-1728B52AA6E4}">
                <adec:decorative xmlns:adec="http://schemas.microsoft.com/office/drawing/2017/decorative" val="1"/>
              </a:ext>
            </a:extLst>
          </p:cNvPr>
          <p:cNvSpPr/>
          <p:nvPr/>
        </p:nvSpPr>
        <p:spPr>
          <a:xfrm>
            <a:off x="658368" y="3703929"/>
            <a:ext cx="5318607" cy="1005840"/>
          </a:xfrm>
          <a:prstGeom prst="roundRect">
            <a:avLst>
              <a:gd name="adj" fmla="val 9090"/>
            </a:avLst>
          </a:prstGeom>
          <a:solidFill>
            <a:srgbClr val="F4F7F9"/>
          </a:solidFill>
          <a:ln w="12700">
            <a:solidFill>
              <a:srgbClr val="D9E1E7"/>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7" name="!!mol2">
            <a:extLst>
              <a:ext uri="{C183D7F6-B498-43B3-948B-1728B52AA6E4}">
                <adec:decorative xmlns:adec="http://schemas.microsoft.com/office/drawing/2017/decorative" val="1"/>
              </a:ext>
            </a:extLst>
          </p:cNvPr>
          <p:cNvSpPr/>
          <p:nvPr/>
        </p:nvSpPr>
        <p:spPr>
          <a:xfrm>
            <a:off x="841247" y="3978249"/>
            <a:ext cx="457200" cy="457200"/>
          </a:xfrm>
          <a:prstGeom prst="roundRect">
            <a:avLst>
              <a:gd name="adj" fmla="val 50000"/>
            </a:avLst>
          </a:prstGeom>
          <a:solidFill>
            <a:srgbClr val="7A3A9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8" name="!!molt2"/>
          <p:cNvSpPr txBox="1"/>
          <p:nvPr/>
        </p:nvSpPr>
        <p:spPr>
          <a:xfrm>
            <a:off x="841247" y="4060545"/>
            <a:ext cx="457200" cy="274320"/>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FFFFFF"/>
                </a:solidFill>
                <a:latin typeface="Segoe UI Semibold"/>
              </a:rPr>
              <a:t>C</a:t>
            </a:r>
          </a:p>
        </p:txBody>
      </p:sp>
      <p:sp>
        <p:nvSpPr>
          <p:cNvPr id="19" name="!!mot2"/>
          <p:cNvSpPr txBox="1"/>
          <p:nvPr/>
        </p:nvSpPr>
        <p:spPr>
          <a:xfrm>
            <a:off x="1481328" y="4054449"/>
            <a:ext cx="4312767" cy="1005840"/>
          </a:xfrm>
          <a:prstGeom prst="rect">
            <a:avLst/>
          </a:prstGeom>
          <a:noFill/>
        </p:spPr>
        <p:txBody>
          <a:bodyPr wrap="square" anchor="t" lIns="0" rIns="0" tIns="0" bIns="0">
            <a:noAutofit/>
          </a:bodyPr>
          <a:lstStyle/>
          <a:p>
            <a:pPr algn="l">
              <a:lnSpc>
                <a:spcPct val="100000"/>
              </a:lnSpc>
              <a:spcBef>
                <a:spcPts val="0"/>
              </a:spcBef>
              <a:spcAft>
                <a:spcPts val="0"/>
              </a:spcAft>
            </a:pPr>
            <a:r>
              <a:rPr sz="2000" b="0" i="0">
                <a:solidFill>
                  <a:srgbClr val="1C252B"/>
                </a:solidFill>
                <a:latin typeface="Segoe UI"/>
              </a:rPr>
              <a:t>two individuals</a:t>
            </a:r>
          </a:p>
        </p:txBody>
      </p:sp>
      <p:sp>
        <p:nvSpPr>
          <p:cNvPr id="20" name="!!mo3">
            <a:extLst>
              <a:ext uri="{C183D7F6-B498-43B3-948B-1728B52AA6E4}">
                <adec:decorative xmlns:adec="http://schemas.microsoft.com/office/drawing/2017/decorative" val="1"/>
              </a:ext>
            </a:extLst>
          </p:cNvPr>
          <p:cNvSpPr/>
          <p:nvPr/>
        </p:nvSpPr>
        <p:spPr>
          <a:xfrm>
            <a:off x="6214719" y="3703929"/>
            <a:ext cx="5318607" cy="1005840"/>
          </a:xfrm>
          <a:prstGeom prst="roundRect">
            <a:avLst>
              <a:gd name="adj" fmla="val 9090"/>
            </a:avLst>
          </a:prstGeom>
          <a:solidFill>
            <a:srgbClr val="F4F7F9"/>
          </a:solidFill>
          <a:ln w="12700">
            <a:solidFill>
              <a:srgbClr val="D9E1E7"/>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1" name="!!mol3">
            <a:extLst>
              <a:ext uri="{C183D7F6-B498-43B3-948B-1728B52AA6E4}">
                <adec:decorative xmlns:adec="http://schemas.microsoft.com/office/drawing/2017/decorative" val="1"/>
              </a:ext>
            </a:extLst>
          </p:cNvPr>
          <p:cNvSpPr/>
          <p:nvPr/>
        </p:nvSpPr>
        <p:spPr>
          <a:xfrm>
            <a:off x="6397599" y="3978249"/>
            <a:ext cx="457200" cy="457200"/>
          </a:xfrm>
          <a:prstGeom prst="roundRect">
            <a:avLst>
              <a:gd name="adj" fmla="val 50000"/>
            </a:avLst>
          </a:prstGeom>
          <a:solidFill>
            <a:srgbClr val="7A3A9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2" name="!!molt3"/>
          <p:cNvSpPr txBox="1"/>
          <p:nvPr/>
        </p:nvSpPr>
        <p:spPr>
          <a:xfrm>
            <a:off x="6397599" y="4060545"/>
            <a:ext cx="457200" cy="274320"/>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FFFFFF"/>
                </a:solidFill>
                <a:latin typeface="Segoe UI Semibold"/>
              </a:rPr>
              <a:t>D</a:t>
            </a:r>
          </a:p>
        </p:txBody>
      </p:sp>
      <p:sp>
        <p:nvSpPr>
          <p:cNvPr id="23" name="!!mot3"/>
          <p:cNvSpPr txBox="1"/>
          <p:nvPr/>
        </p:nvSpPr>
        <p:spPr>
          <a:xfrm>
            <a:off x="7037679" y="4054449"/>
            <a:ext cx="4312767" cy="1005840"/>
          </a:xfrm>
          <a:prstGeom prst="rect">
            <a:avLst/>
          </a:prstGeom>
          <a:noFill/>
        </p:spPr>
        <p:txBody>
          <a:bodyPr wrap="square" anchor="t" lIns="0" rIns="0" tIns="0" bIns="0">
            <a:noAutofit/>
          </a:bodyPr>
          <a:lstStyle/>
          <a:p>
            <a:pPr algn="l">
              <a:lnSpc>
                <a:spcPct val="100000"/>
              </a:lnSpc>
              <a:spcBef>
                <a:spcPts val="0"/>
              </a:spcBef>
              <a:spcAft>
                <a:spcPts val="0"/>
              </a:spcAft>
            </a:pPr>
            <a:r>
              <a:rPr sz="2000" b="0" i="0">
                <a:solidFill>
                  <a:srgbClr val="1C252B"/>
                </a:solidFill>
                <a:latin typeface="Segoe UI"/>
              </a:rPr>
              <a:t>a slot to a filler</a:t>
            </a:r>
          </a:p>
        </p:txBody>
      </p:sp>
      <p:sp>
        <p:nvSpPr>
          <p:cNvPr id="24"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5" name="!!pfill">
            <a:extLst>
              <a:ext uri="{C183D7F6-B498-43B3-948B-1728B52AA6E4}">
                <adec:decorative xmlns:adec="http://schemas.microsoft.com/office/drawing/2017/decorative" val="1"/>
              </a:ext>
            </a:extLst>
          </p:cNvPr>
          <p:cNvSpPr/>
          <p:nvPr/>
        </p:nvSpPr>
        <p:spPr>
          <a:xfrm>
            <a:off x="0" y="0"/>
            <a:ext cx="10774056" cy="54864"/>
          </a:xfrm>
          <a:prstGeom prst="rect">
            <a:avLst/>
          </a:prstGeom>
          <a:solidFill>
            <a:srgbClr val="8E44A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Requires="p14">
      <p:transition spd="med" p14:dur="450">
        <p:fade/>
      </p:transition>
    </mc:Choice>
    <mc:Fallback>
      <p:transition spd="med">
        <p:fade/>
      </p:transition>
    </mc:Fallback>
  </mc:AlternateContent>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3000" b="0">
                <a:solidFill>
                  <a:srgbClr val="1A5276"/>
                </a:solidFill>
                <a:latin typeface="Segoe UI Semibold"/>
              </a:rPr>
              <a:t>Quick check 2 of 4</a:t>
            </a:r>
          </a:p>
        </p:txBody>
      </p:sp>
      <p:pic>
        <p:nvPicPr>
          <p:cNvPr id="3" name="!!kicker-icon" descr="pen-fancy-1A5276.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219456"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1A5276"/>
                </a:solidFill>
                <a:latin typeface="Segoe UI"/>
              </a:rPr>
              <a:t>REVIEW  ·  MULTIPLE CHOICE</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Artificial Intelligence  ·  Chapter 10  ·  Knowledge Representation</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Handout p. 109     </a:t>
            </a:r>
            <a:fld id="{F6596AA4-0D66-49BD-8422-BAD5C174119C}" type="slidenum">
              <a:rPr lang="en-GB" sz="1000">
                <a:solidFill>
                  <a:srgbClr val="8795A1"/>
                </a:solidFill>
                <a:latin typeface="Segoe UI"/>
              </a:rPr>
              <a:t>39</a:t>
            </a:fld>
          </a:p>
        </p:txBody>
      </p:sp>
      <p:sp>
        <p:nvSpPr>
          <p:cNvPr id="7" name="!!mstem"/>
          <p:cNvSpPr txBox="1"/>
          <p:nvPr/>
        </p:nvSpPr>
        <p:spPr>
          <a:xfrm>
            <a:off x="658368" y="1737360"/>
            <a:ext cx="10874959" cy="457809"/>
          </a:xfrm>
          <a:prstGeom prst="rect">
            <a:avLst/>
          </a:prstGeom>
          <a:noFill/>
        </p:spPr>
        <p:txBody>
          <a:bodyPr wrap="square" anchor="t" lIns="0" rIns="0" tIns="0" bIns="0">
            <a:noAutofit/>
          </a:bodyPr>
          <a:lstStyle/>
          <a:p>
            <a:pPr algn="l">
              <a:lnSpc>
                <a:spcPct val="104000"/>
              </a:lnSpc>
              <a:spcBef>
                <a:spcPts val="0"/>
              </a:spcBef>
              <a:spcAft>
                <a:spcPts val="0"/>
              </a:spcAft>
            </a:pPr>
            <a:r>
              <a:rPr sz="2600" b="0" i="0">
                <a:solidFill>
                  <a:srgbClr val="1C252B"/>
                </a:solidFill>
                <a:latin typeface="Segoe UI"/>
              </a:rPr>
              <a:t>“The most specific value wins” is implemented by:</a:t>
            </a:r>
          </a:p>
        </p:txBody>
      </p:sp>
      <p:sp>
        <p:nvSpPr>
          <p:cNvPr id="8" name="!!mo0">
            <a:extLst>
              <a:ext uri="{C183D7F6-B498-43B3-948B-1728B52AA6E4}">
                <adec:decorative xmlns:adec="http://schemas.microsoft.com/office/drawing/2017/decorative" val="1"/>
              </a:ext>
            </a:extLst>
          </p:cNvPr>
          <p:cNvSpPr/>
          <p:nvPr/>
        </p:nvSpPr>
        <p:spPr>
          <a:xfrm>
            <a:off x="658368" y="2515209"/>
            <a:ext cx="5318607" cy="1005840"/>
          </a:xfrm>
          <a:prstGeom prst="roundRect">
            <a:avLst>
              <a:gd name="adj" fmla="val 9090"/>
            </a:avLst>
          </a:prstGeom>
          <a:solidFill>
            <a:srgbClr val="F4F7F9"/>
          </a:solidFill>
          <a:ln w="12700">
            <a:solidFill>
              <a:srgbClr val="D9E1E7"/>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9" name="!!mol0">
            <a:extLst>
              <a:ext uri="{C183D7F6-B498-43B3-948B-1728B52AA6E4}">
                <adec:decorative xmlns:adec="http://schemas.microsoft.com/office/drawing/2017/decorative" val="1"/>
              </a:ext>
            </a:extLst>
          </p:cNvPr>
          <p:cNvSpPr/>
          <p:nvPr/>
        </p:nvSpPr>
        <p:spPr>
          <a:xfrm>
            <a:off x="841247" y="2789529"/>
            <a:ext cx="457200" cy="457200"/>
          </a:xfrm>
          <a:prstGeom prst="roundRect">
            <a:avLst>
              <a:gd name="adj" fmla="val 50000"/>
            </a:avLst>
          </a:prstGeom>
          <a:solidFill>
            <a:srgbClr val="7A3A9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0" name="!!molt0"/>
          <p:cNvSpPr txBox="1"/>
          <p:nvPr/>
        </p:nvSpPr>
        <p:spPr>
          <a:xfrm>
            <a:off x="841247" y="2871825"/>
            <a:ext cx="457200" cy="274320"/>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FFFFFF"/>
                </a:solidFill>
                <a:latin typeface="Segoe UI Semibold"/>
              </a:rPr>
              <a:t>A</a:t>
            </a:r>
          </a:p>
        </p:txBody>
      </p:sp>
      <p:sp>
        <p:nvSpPr>
          <p:cNvPr id="11" name="!!mot0"/>
          <p:cNvSpPr txBox="1"/>
          <p:nvPr/>
        </p:nvSpPr>
        <p:spPr>
          <a:xfrm>
            <a:off x="1481328" y="2865729"/>
            <a:ext cx="4312767" cy="1005840"/>
          </a:xfrm>
          <a:prstGeom prst="rect">
            <a:avLst/>
          </a:prstGeom>
          <a:noFill/>
        </p:spPr>
        <p:txBody>
          <a:bodyPr wrap="square" anchor="t" lIns="0" rIns="0" tIns="0" bIns="0">
            <a:noAutofit/>
          </a:bodyPr>
          <a:lstStyle/>
          <a:p>
            <a:pPr algn="l">
              <a:lnSpc>
                <a:spcPct val="100000"/>
              </a:lnSpc>
              <a:spcBef>
                <a:spcPts val="0"/>
              </a:spcBef>
              <a:spcAft>
                <a:spcPts val="0"/>
              </a:spcAft>
            </a:pPr>
            <a:r>
              <a:rPr sz="2000" b="0" i="0">
                <a:solidFill>
                  <a:srgbClr val="1C252B"/>
                </a:solidFill>
                <a:latin typeface="Segoe UI"/>
              </a:rPr>
              <a:t>sorting all values</a:t>
            </a:r>
          </a:p>
        </p:txBody>
      </p:sp>
      <p:sp>
        <p:nvSpPr>
          <p:cNvPr id="12" name="!!mo1">
            <a:extLst>
              <a:ext uri="{C183D7F6-B498-43B3-948B-1728B52AA6E4}">
                <adec:decorative xmlns:adec="http://schemas.microsoft.com/office/drawing/2017/decorative" val="1"/>
              </a:ext>
            </a:extLst>
          </p:cNvPr>
          <p:cNvSpPr/>
          <p:nvPr/>
        </p:nvSpPr>
        <p:spPr>
          <a:xfrm>
            <a:off x="6214719" y="2515209"/>
            <a:ext cx="5318607" cy="1005840"/>
          </a:xfrm>
          <a:prstGeom prst="roundRect">
            <a:avLst>
              <a:gd name="adj" fmla="val 9090"/>
            </a:avLst>
          </a:prstGeom>
          <a:solidFill>
            <a:srgbClr val="F4F7F9"/>
          </a:solidFill>
          <a:ln w="12700">
            <a:solidFill>
              <a:srgbClr val="D9E1E7"/>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3" name="!!mol1">
            <a:extLst>
              <a:ext uri="{C183D7F6-B498-43B3-948B-1728B52AA6E4}">
                <adec:decorative xmlns:adec="http://schemas.microsoft.com/office/drawing/2017/decorative" val="1"/>
              </a:ext>
            </a:extLst>
          </p:cNvPr>
          <p:cNvSpPr/>
          <p:nvPr/>
        </p:nvSpPr>
        <p:spPr>
          <a:xfrm>
            <a:off x="6397599" y="2789529"/>
            <a:ext cx="457200" cy="457200"/>
          </a:xfrm>
          <a:prstGeom prst="roundRect">
            <a:avLst>
              <a:gd name="adj" fmla="val 50000"/>
            </a:avLst>
          </a:prstGeom>
          <a:solidFill>
            <a:srgbClr val="7A3A9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4" name="!!molt1"/>
          <p:cNvSpPr txBox="1"/>
          <p:nvPr/>
        </p:nvSpPr>
        <p:spPr>
          <a:xfrm>
            <a:off x="6397599" y="2871825"/>
            <a:ext cx="457200" cy="274320"/>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FFFFFF"/>
                </a:solidFill>
                <a:latin typeface="Segoe UI Semibold"/>
              </a:rPr>
              <a:t>B</a:t>
            </a:r>
          </a:p>
        </p:txBody>
      </p:sp>
      <p:sp>
        <p:nvSpPr>
          <p:cNvPr id="15" name="!!mot1"/>
          <p:cNvSpPr txBox="1"/>
          <p:nvPr/>
        </p:nvSpPr>
        <p:spPr>
          <a:xfrm>
            <a:off x="7037679" y="2713329"/>
            <a:ext cx="4312767" cy="1005840"/>
          </a:xfrm>
          <a:prstGeom prst="rect">
            <a:avLst/>
          </a:prstGeom>
          <a:noFill/>
        </p:spPr>
        <p:txBody>
          <a:bodyPr wrap="square" anchor="t" lIns="0" rIns="0" tIns="0" bIns="0">
            <a:noAutofit/>
          </a:bodyPr>
          <a:lstStyle/>
          <a:p>
            <a:pPr algn="l">
              <a:lnSpc>
                <a:spcPct val="100000"/>
              </a:lnSpc>
              <a:spcBef>
                <a:spcPts val="0"/>
              </a:spcBef>
              <a:spcAft>
                <a:spcPts val="0"/>
              </a:spcAft>
            </a:pPr>
            <a:r>
              <a:rPr sz="2000" b="0" i="0">
                <a:solidFill>
                  <a:srgbClr val="1C252B"/>
                </a:solidFill>
                <a:latin typeface="Segoe UI"/>
              </a:rPr>
              <a:t>stopping the upward walk at the first hit</a:t>
            </a:r>
          </a:p>
        </p:txBody>
      </p:sp>
      <p:sp>
        <p:nvSpPr>
          <p:cNvPr id="16" name="!!mo2">
            <a:extLst>
              <a:ext uri="{C183D7F6-B498-43B3-948B-1728B52AA6E4}">
                <adec:decorative xmlns:adec="http://schemas.microsoft.com/office/drawing/2017/decorative" val="1"/>
              </a:ext>
            </a:extLst>
          </p:cNvPr>
          <p:cNvSpPr/>
          <p:nvPr/>
        </p:nvSpPr>
        <p:spPr>
          <a:xfrm>
            <a:off x="658368" y="3703929"/>
            <a:ext cx="5318607" cy="1005840"/>
          </a:xfrm>
          <a:prstGeom prst="roundRect">
            <a:avLst>
              <a:gd name="adj" fmla="val 9090"/>
            </a:avLst>
          </a:prstGeom>
          <a:solidFill>
            <a:srgbClr val="F4F7F9"/>
          </a:solidFill>
          <a:ln w="12700">
            <a:solidFill>
              <a:srgbClr val="D9E1E7"/>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7" name="!!mol2">
            <a:extLst>
              <a:ext uri="{C183D7F6-B498-43B3-948B-1728B52AA6E4}">
                <adec:decorative xmlns:adec="http://schemas.microsoft.com/office/drawing/2017/decorative" val="1"/>
              </a:ext>
            </a:extLst>
          </p:cNvPr>
          <p:cNvSpPr/>
          <p:nvPr/>
        </p:nvSpPr>
        <p:spPr>
          <a:xfrm>
            <a:off x="841247" y="3978249"/>
            <a:ext cx="457200" cy="457200"/>
          </a:xfrm>
          <a:prstGeom prst="roundRect">
            <a:avLst>
              <a:gd name="adj" fmla="val 50000"/>
            </a:avLst>
          </a:prstGeom>
          <a:solidFill>
            <a:srgbClr val="7A3A9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8" name="!!molt2"/>
          <p:cNvSpPr txBox="1"/>
          <p:nvPr/>
        </p:nvSpPr>
        <p:spPr>
          <a:xfrm>
            <a:off x="841247" y="4060545"/>
            <a:ext cx="457200" cy="274320"/>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FFFFFF"/>
                </a:solidFill>
                <a:latin typeface="Segoe UI Semibold"/>
              </a:rPr>
              <a:t>C</a:t>
            </a:r>
          </a:p>
        </p:txBody>
      </p:sp>
      <p:sp>
        <p:nvSpPr>
          <p:cNvPr id="19" name="!!mot2"/>
          <p:cNvSpPr txBox="1"/>
          <p:nvPr/>
        </p:nvSpPr>
        <p:spPr>
          <a:xfrm>
            <a:off x="1481328" y="4054449"/>
            <a:ext cx="4312767" cy="1005840"/>
          </a:xfrm>
          <a:prstGeom prst="rect">
            <a:avLst/>
          </a:prstGeom>
          <a:noFill/>
        </p:spPr>
        <p:txBody>
          <a:bodyPr wrap="square" anchor="t" lIns="0" rIns="0" tIns="0" bIns="0">
            <a:noAutofit/>
          </a:bodyPr>
          <a:lstStyle/>
          <a:p>
            <a:pPr algn="l">
              <a:lnSpc>
                <a:spcPct val="100000"/>
              </a:lnSpc>
              <a:spcBef>
                <a:spcPts val="0"/>
              </a:spcBef>
              <a:spcAft>
                <a:spcPts val="0"/>
              </a:spcAft>
            </a:pPr>
            <a:r>
              <a:rPr sz="2000" b="0" i="0">
                <a:solidFill>
                  <a:srgbClr val="1C252B"/>
                </a:solidFill>
                <a:latin typeface="Segoe UI"/>
              </a:rPr>
              <a:t>preferring the root</a:t>
            </a:r>
          </a:p>
        </p:txBody>
      </p:sp>
      <p:sp>
        <p:nvSpPr>
          <p:cNvPr id="20" name="!!mo3">
            <a:extLst>
              <a:ext uri="{C183D7F6-B498-43B3-948B-1728B52AA6E4}">
                <adec:decorative xmlns:adec="http://schemas.microsoft.com/office/drawing/2017/decorative" val="1"/>
              </a:ext>
            </a:extLst>
          </p:cNvPr>
          <p:cNvSpPr/>
          <p:nvPr/>
        </p:nvSpPr>
        <p:spPr>
          <a:xfrm>
            <a:off x="6214719" y="3703929"/>
            <a:ext cx="5318607" cy="1005840"/>
          </a:xfrm>
          <a:prstGeom prst="roundRect">
            <a:avLst>
              <a:gd name="adj" fmla="val 9090"/>
            </a:avLst>
          </a:prstGeom>
          <a:solidFill>
            <a:srgbClr val="F4F7F9"/>
          </a:solidFill>
          <a:ln w="12700">
            <a:solidFill>
              <a:srgbClr val="D9E1E7"/>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1" name="!!mol3">
            <a:extLst>
              <a:ext uri="{C183D7F6-B498-43B3-948B-1728B52AA6E4}">
                <adec:decorative xmlns:adec="http://schemas.microsoft.com/office/drawing/2017/decorative" val="1"/>
              </a:ext>
            </a:extLst>
          </p:cNvPr>
          <p:cNvSpPr/>
          <p:nvPr/>
        </p:nvSpPr>
        <p:spPr>
          <a:xfrm>
            <a:off x="6397599" y="3978249"/>
            <a:ext cx="457200" cy="457200"/>
          </a:xfrm>
          <a:prstGeom prst="roundRect">
            <a:avLst>
              <a:gd name="adj" fmla="val 50000"/>
            </a:avLst>
          </a:prstGeom>
          <a:solidFill>
            <a:srgbClr val="7A3A9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2" name="!!molt3"/>
          <p:cNvSpPr txBox="1"/>
          <p:nvPr/>
        </p:nvSpPr>
        <p:spPr>
          <a:xfrm>
            <a:off x="6397599" y="4060545"/>
            <a:ext cx="457200" cy="274320"/>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FFFFFF"/>
                </a:solidFill>
                <a:latin typeface="Segoe UI Semibold"/>
              </a:rPr>
              <a:t>D</a:t>
            </a:r>
          </a:p>
        </p:txBody>
      </p:sp>
      <p:sp>
        <p:nvSpPr>
          <p:cNvPr id="23" name="!!mot3"/>
          <p:cNvSpPr txBox="1"/>
          <p:nvPr/>
        </p:nvSpPr>
        <p:spPr>
          <a:xfrm>
            <a:off x="7037679" y="4054449"/>
            <a:ext cx="4312767" cy="1005840"/>
          </a:xfrm>
          <a:prstGeom prst="rect">
            <a:avLst/>
          </a:prstGeom>
          <a:noFill/>
        </p:spPr>
        <p:txBody>
          <a:bodyPr wrap="square" anchor="t" lIns="0" rIns="0" tIns="0" bIns="0">
            <a:noAutofit/>
          </a:bodyPr>
          <a:lstStyle/>
          <a:p>
            <a:pPr algn="l">
              <a:lnSpc>
                <a:spcPct val="100000"/>
              </a:lnSpc>
              <a:spcBef>
                <a:spcPts val="0"/>
              </a:spcBef>
              <a:spcAft>
                <a:spcPts val="0"/>
              </a:spcAft>
            </a:pPr>
            <a:r>
              <a:rPr sz="2000" b="0" i="0">
                <a:solidFill>
                  <a:srgbClr val="1C252B"/>
                </a:solidFill>
                <a:latin typeface="Segoe UI"/>
              </a:rPr>
              <a:t>taking the majority</a:t>
            </a:r>
          </a:p>
        </p:txBody>
      </p:sp>
      <p:sp>
        <p:nvSpPr>
          <p:cNvPr id="24"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5" name="!!pfill">
            <a:extLst>
              <a:ext uri="{C183D7F6-B498-43B3-948B-1728B52AA6E4}">
                <adec:decorative xmlns:adec="http://schemas.microsoft.com/office/drawing/2017/decorative" val="1"/>
              </a:ext>
            </a:extLst>
          </p:cNvPr>
          <p:cNvSpPr/>
          <p:nvPr/>
        </p:nvSpPr>
        <p:spPr>
          <a:xfrm>
            <a:off x="0" y="0"/>
            <a:ext cx="11057584" cy="54864"/>
          </a:xfrm>
          <a:prstGeom prst="rect">
            <a:avLst/>
          </a:prstGeom>
          <a:solidFill>
            <a:srgbClr val="8E44A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Requires="p14">
      <p:transition spd="med" p14:dur="450">
        <p:fade/>
      </p:transition>
    </mc:Choice>
    <mc:Fallback>
      <p:transition spd="med">
        <p:fade/>
      </p:transition>
    </mc:Fallback>
  </mc:AlternateContent>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3000" b="0">
                <a:solidFill>
                  <a:srgbClr val="1A5276"/>
                </a:solidFill>
                <a:latin typeface="Segoe UI Semibold"/>
              </a:rPr>
              <a:t>Quick check 3 of 4</a:t>
            </a:r>
          </a:p>
        </p:txBody>
      </p:sp>
      <p:pic>
        <p:nvPicPr>
          <p:cNvPr id="3" name="!!kicker-icon" descr="pen-fancy-1A5276.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219456"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1A5276"/>
                </a:solidFill>
                <a:latin typeface="Segoe UI"/>
              </a:rPr>
              <a:t>REVIEW  ·  MULTIPLE CHOICE</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Artificial Intelligence  ·  Chapter 10  ·  Knowledge Representation</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Handout p. 109     </a:t>
            </a:r>
            <a:fld id="{585FB92B-F1D2-4FAC-A59F-788552DB5D84}" type="slidenum">
              <a:rPr lang="en-GB" sz="1000">
                <a:solidFill>
                  <a:srgbClr val="8795A1"/>
                </a:solidFill>
                <a:latin typeface="Segoe UI"/>
              </a:rPr>
              <a:t>40</a:t>
            </a:fld>
          </a:p>
        </p:txBody>
      </p:sp>
      <p:sp>
        <p:nvSpPr>
          <p:cNvPr id="7" name="!!mstem"/>
          <p:cNvSpPr txBox="1"/>
          <p:nvPr/>
        </p:nvSpPr>
        <p:spPr>
          <a:xfrm>
            <a:off x="658368" y="1737360"/>
            <a:ext cx="10874959" cy="457809"/>
          </a:xfrm>
          <a:prstGeom prst="rect">
            <a:avLst/>
          </a:prstGeom>
          <a:noFill/>
        </p:spPr>
        <p:txBody>
          <a:bodyPr wrap="square" anchor="t" lIns="0" rIns="0" tIns="0" bIns="0">
            <a:noAutofit/>
          </a:bodyPr>
          <a:lstStyle/>
          <a:p>
            <a:pPr algn="l">
              <a:lnSpc>
                <a:spcPct val="104000"/>
              </a:lnSpc>
              <a:spcBef>
                <a:spcPts val="0"/>
              </a:spcBef>
              <a:spcAft>
                <a:spcPts val="0"/>
              </a:spcAft>
            </a:pPr>
            <a:r>
              <a:rPr sz="2600" b="0" i="0">
                <a:solidFill>
                  <a:srgbClr val="1C252B"/>
                </a:solidFill>
                <a:latin typeface="Segoe UI"/>
              </a:rPr>
              <a:t>Reasoning in which adding a fact can remove a conclusion is:</a:t>
            </a:r>
          </a:p>
        </p:txBody>
      </p:sp>
      <p:sp>
        <p:nvSpPr>
          <p:cNvPr id="8" name="!!mo0">
            <a:extLst>
              <a:ext uri="{C183D7F6-B498-43B3-948B-1728B52AA6E4}">
                <adec:decorative xmlns:adec="http://schemas.microsoft.com/office/drawing/2017/decorative" val="1"/>
              </a:ext>
            </a:extLst>
          </p:cNvPr>
          <p:cNvSpPr/>
          <p:nvPr/>
        </p:nvSpPr>
        <p:spPr>
          <a:xfrm>
            <a:off x="658368" y="2515209"/>
            <a:ext cx="5318607" cy="1005840"/>
          </a:xfrm>
          <a:prstGeom prst="roundRect">
            <a:avLst>
              <a:gd name="adj" fmla="val 9090"/>
            </a:avLst>
          </a:prstGeom>
          <a:solidFill>
            <a:srgbClr val="F4F7F9"/>
          </a:solidFill>
          <a:ln w="12700">
            <a:solidFill>
              <a:srgbClr val="D9E1E7"/>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9" name="!!mol0">
            <a:extLst>
              <a:ext uri="{C183D7F6-B498-43B3-948B-1728B52AA6E4}">
                <adec:decorative xmlns:adec="http://schemas.microsoft.com/office/drawing/2017/decorative" val="1"/>
              </a:ext>
            </a:extLst>
          </p:cNvPr>
          <p:cNvSpPr/>
          <p:nvPr/>
        </p:nvSpPr>
        <p:spPr>
          <a:xfrm>
            <a:off x="841247" y="2789529"/>
            <a:ext cx="457200" cy="457200"/>
          </a:xfrm>
          <a:prstGeom prst="roundRect">
            <a:avLst>
              <a:gd name="adj" fmla="val 50000"/>
            </a:avLst>
          </a:prstGeom>
          <a:solidFill>
            <a:srgbClr val="7A3A9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0" name="!!molt0"/>
          <p:cNvSpPr txBox="1"/>
          <p:nvPr/>
        </p:nvSpPr>
        <p:spPr>
          <a:xfrm>
            <a:off x="841247" y="2871825"/>
            <a:ext cx="457200" cy="274320"/>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FFFFFF"/>
                </a:solidFill>
                <a:latin typeface="Segoe UI Semibold"/>
              </a:rPr>
              <a:t>A</a:t>
            </a:r>
          </a:p>
        </p:txBody>
      </p:sp>
      <p:sp>
        <p:nvSpPr>
          <p:cNvPr id="11" name="!!mot0"/>
          <p:cNvSpPr txBox="1"/>
          <p:nvPr/>
        </p:nvSpPr>
        <p:spPr>
          <a:xfrm>
            <a:off x="1481328" y="2865729"/>
            <a:ext cx="4312767" cy="1005840"/>
          </a:xfrm>
          <a:prstGeom prst="rect">
            <a:avLst/>
          </a:prstGeom>
          <a:noFill/>
        </p:spPr>
        <p:txBody>
          <a:bodyPr wrap="square" anchor="t" lIns="0" rIns="0" tIns="0" bIns="0">
            <a:noAutofit/>
          </a:bodyPr>
          <a:lstStyle/>
          <a:p>
            <a:pPr algn="l">
              <a:lnSpc>
                <a:spcPct val="100000"/>
              </a:lnSpc>
              <a:spcBef>
                <a:spcPts val="0"/>
              </a:spcBef>
              <a:spcAft>
                <a:spcPts val="0"/>
              </a:spcAft>
            </a:pPr>
            <a:r>
              <a:rPr sz="2000" b="0" i="0">
                <a:solidFill>
                  <a:srgbClr val="1C252B"/>
                </a:solidFill>
                <a:latin typeface="Segoe UI"/>
              </a:rPr>
              <a:t>monotonic</a:t>
            </a:r>
          </a:p>
        </p:txBody>
      </p:sp>
      <p:sp>
        <p:nvSpPr>
          <p:cNvPr id="12" name="!!mo1">
            <a:extLst>
              <a:ext uri="{C183D7F6-B498-43B3-948B-1728B52AA6E4}">
                <adec:decorative xmlns:adec="http://schemas.microsoft.com/office/drawing/2017/decorative" val="1"/>
              </a:ext>
            </a:extLst>
          </p:cNvPr>
          <p:cNvSpPr/>
          <p:nvPr/>
        </p:nvSpPr>
        <p:spPr>
          <a:xfrm>
            <a:off x="6214719" y="2515209"/>
            <a:ext cx="5318607" cy="1005840"/>
          </a:xfrm>
          <a:prstGeom prst="roundRect">
            <a:avLst>
              <a:gd name="adj" fmla="val 9090"/>
            </a:avLst>
          </a:prstGeom>
          <a:solidFill>
            <a:srgbClr val="F4F7F9"/>
          </a:solidFill>
          <a:ln w="12700">
            <a:solidFill>
              <a:srgbClr val="D9E1E7"/>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3" name="!!mol1">
            <a:extLst>
              <a:ext uri="{C183D7F6-B498-43B3-948B-1728B52AA6E4}">
                <adec:decorative xmlns:adec="http://schemas.microsoft.com/office/drawing/2017/decorative" val="1"/>
              </a:ext>
            </a:extLst>
          </p:cNvPr>
          <p:cNvSpPr/>
          <p:nvPr/>
        </p:nvSpPr>
        <p:spPr>
          <a:xfrm>
            <a:off x="6397599" y="2789529"/>
            <a:ext cx="457200" cy="457200"/>
          </a:xfrm>
          <a:prstGeom prst="roundRect">
            <a:avLst>
              <a:gd name="adj" fmla="val 50000"/>
            </a:avLst>
          </a:prstGeom>
          <a:solidFill>
            <a:srgbClr val="7A3A9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4" name="!!molt1"/>
          <p:cNvSpPr txBox="1"/>
          <p:nvPr/>
        </p:nvSpPr>
        <p:spPr>
          <a:xfrm>
            <a:off x="6397599" y="2871825"/>
            <a:ext cx="457200" cy="274320"/>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FFFFFF"/>
                </a:solidFill>
                <a:latin typeface="Segoe UI Semibold"/>
              </a:rPr>
              <a:t>B</a:t>
            </a:r>
          </a:p>
        </p:txBody>
      </p:sp>
      <p:sp>
        <p:nvSpPr>
          <p:cNvPr id="15" name="!!mot1"/>
          <p:cNvSpPr txBox="1"/>
          <p:nvPr/>
        </p:nvSpPr>
        <p:spPr>
          <a:xfrm>
            <a:off x="7037679" y="2865729"/>
            <a:ext cx="4312767" cy="1005840"/>
          </a:xfrm>
          <a:prstGeom prst="rect">
            <a:avLst/>
          </a:prstGeom>
          <a:noFill/>
        </p:spPr>
        <p:txBody>
          <a:bodyPr wrap="square" anchor="t" lIns="0" rIns="0" tIns="0" bIns="0">
            <a:noAutofit/>
          </a:bodyPr>
          <a:lstStyle/>
          <a:p>
            <a:pPr algn="l">
              <a:lnSpc>
                <a:spcPct val="100000"/>
              </a:lnSpc>
              <a:spcBef>
                <a:spcPts val="0"/>
              </a:spcBef>
              <a:spcAft>
                <a:spcPts val="0"/>
              </a:spcAft>
            </a:pPr>
            <a:r>
              <a:rPr sz="2000" b="0" i="0">
                <a:solidFill>
                  <a:srgbClr val="1C252B"/>
                </a:solidFill>
                <a:latin typeface="Segoe UI"/>
              </a:rPr>
              <a:t>non-monotonic</a:t>
            </a:r>
          </a:p>
        </p:txBody>
      </p:sp>
      <p:sp>
        <p:nvSpPr>
          <p:cNvPr id="16" name="!!mo2">
            <a:extLst>
              <a:ext uri="{C183D7F6-B498-43B3-948B-1728B52AA6E4}">
                <adec:decorative xmlns:adec="http://schemas.microsoft.com/office/drawing/2017/decorative" val="1"/>
              </a:ext>
            </a:extLst>
          </p:cNvPr>
          <p:cNvSpPr/>
          <p:nvPr/>
        </p:nvSpPr>
        <p:spPr>
          <a:xfrm>
            <a:off x="658368" y="3703929"/>
            <a:ext cx="5318607" cy="1005840"/>
          </a:xfrm>
          <a:prstGeom prst="roundRect">
            <a:avLst>
              <a:gd name="adj" fmla="val 9090"/>
            </a:avLst>
          </a:prstGeom>
          <a:solidFill>
            <a:srgbClr val="F4F7F9"/>
          </a:solidFill>
          <a:ln w="12700">
            <a:solidFill>
              <a:srgbClr val="D9E1E7"/>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7" name="!!mol2">
            <a:extLst>
              <a:ext uri="{C183D7F6-B498-43B3-948B-1728B52AA6E4}">
                <adec:decorative xmlns:adec="http://schemas.microsoft.com/office/drawing/2017/decorative" val="1"/>
              </a:ext>
            </a:extLst>
          </p:cNvPr>
          <p:cNvSpPr/>
          <p:nvPr/>
        </p:nvSpPr>
        <p:spPr>
          <a:xfrm>
            <a:off x="841247" y="3978249"/>
            <a:ext cx="457200" cy="457200"/>
          </a:xfrm>
          <a:prstGeom prst="roundRect">
            <a:avLst>
              <a:gd name="adj" fmla="val 50000"/>
            </a:avLst>
          </a:prstGeom>
          <a:solidFill>
            <a:srgbClr val="7A3A9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8" name="!!molt2"/>
          <p:cNvSpPr txBox="1"/>
          <p:nvPr/>
        </p:nvSpPr>
        <p:spPr>
          <a:xfrm>
            <a:off x="841247" y="4060545"/>
            <a:ext cx="457200" cy="274320"/>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FFFFFF"/>
                </a:solidFill>
                <a:latin typeface="Segoe UI Semibold"/>
              </a:rPr>
              <a:t>C</a:t>
            </a:r>
          </a:p>
        </p:txBody>
      </p:sp>
      <p:sp>
        <p:nvSpPr>
          <p:cNvPr id="19" name="!!mot2"/>
          <p:cNvSpPr txBox="1"/>
          <p:nvPr/>
        </p:nvSpPr>
        <p:spPr>
          <a:xfrm>
            <a:off x="1481328" y="4054449"/>
            <a:ext cx="4312767" cy="1005840"/>
          </a:xfrm>
          <a:prstGeom prst="rect">
            <a:avLst/>
          </a:prstGeom>
          <a:noFill/>
        </p:spPr>
        <p:txBody>
          <a:bodyPr wrap="square" anchor="t" lIns="0" rIns="0" tIns="0" bIns="0">
            <a:noAutofit/>
          </a:bodyPr>
          <a:lstStyle/>
          <a:p>
            <a:pPr algn="l">
              <a:lnSpc>
                <a:spcPct val="100000"/>
              </a:lnSpc>
              <a:spcBef>
                <a:spcPts val="0"/>
              </a:spcBef>
              <a:spcAft>
                <a:spcPts val="0"/>
              </a:spcAft>
            </a:pPr>
            <a:r>
              <a:rPr sz="2000" b="0" i="0">
                <a:solidFill>
                  <a:srgbClr val="1C252B"/>
                </a:solidFill>
                <a:latin typeface="Segoe UI"/>
              </a:rPr>
              <a:t>unsound</a:t>
            </a:r>
          </a:p>
        </p:txBody>
      </p:sp>
      <p:sp>
        <p:nvSpPr>
          <p:cNvPr id="20" name="!!mo3">
            <a:extLst>
              <a:ext uri="{C183D7F6-B498-43B3-948B-1728B52AA6E4}">
                <adec:decorative xmlns:adec="http://schemas.microsoft.com/office/drawing/2017/decorative" val="1"/>
              </a:ext>
            </a:extLst>
          </p:cNvPr>
          <p:cNvSpPr/>
          <p:nvPr/>
        </p:nvSpPr>
        <p:spPr>
          <a:xfrm>
            <a:off x="6214719" y="3703929"/>
            <a:ext cx="5318607" cy="1005840"/>
          </a:xfrm>
          <a:prstGeom prst="roundRect">
            <a:avLst>
              <a:gd name="adj" fmla="val 9090"/>
            </a:avLst>
          </a:prstGeom>
          <a:solidFill>
            <a:srgbClr val="F4F7F9"/>
          </a:solidFill>
          <a:ln w="12700">
            <a:solidFill>
              <a:srgbClr val="D9E1E7"/>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1" name="!!mol3">
            <a:extLst>
              <a:ext uri="{C183D7F6-B498-43B3-948B-1728B52AA6E4}">
                <adec:decorative xmlns:adec="http://schemas.microsoft.com/office/drawing/2017/decorative" val="1"/>
              </a:ext>
            </a:extLst>
          </p:cNvPr>
          <p:cNvSpPr/>
          <p:nvPr/>
        </p:nvSpPr>
        <p:spPr>
          <a:xfrm>
            <a:off x="6397599" y="3978249"/>
            <a:ext cx="457200" cy="457200"/>
          </a:xfrm>
          <a:prstGeom prst="roundRect">
            <a:avLst>
              <a:gd name="adj" fmla="val 50000"/>
            </a:avLst>
          </a:prstGeom>
          <a:solidFill>
            <a:srgbClr val="7A3A9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2" name="!!molt3"/>
          <p:cNvSpPr txBox="1"/>
          <p:nvPr/>
        </p:nvSpPr>
        <p:spPr>
          <a:xfrm>
            <a:off x="6397599" y="4060545"/>
            <a:ext cx="457200" cy="274320"/>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FFFFFF"/>
                </a:solidFill>
                <a:latin typeface="Segoe UI Semibold"/>
              </a:rPr>
              <a:t>D</a:t>
            </a:r>
          </a:p>
        </p:txBody>
      </p:sp>
      <p:sp>
        <p:nvSpPr>
          <p:cNvPr id="23" name="!!mot3"/>
          <p:cNvSpPr txBox="1"/>
          <p:nvPr/>
        </p:nvSpPr>
        <p:spPr>
          <a:xfrm>
            <a:off x="7037679" y="4054449"/>
            <a:ext cx="4312767" cy="1005840"/>
          </a:xfrm>
          <a:prstGeom prst="rect">
            <a:avLst/>
          </a:prstGeom>
          <a:noFill/>
        </p:spPr>
        <p:txBody>
          <a:bodyPr wrap="square" anchor="t" lIns="0" rIns="0" tIns="0" bIns="0">
            <a:noAutofit/>
          </a:bodyPr>
          <a:lstStyle/>
          <a:p>
            <a:pPr algn="l">
              <a:lnSpc>
                <a:spcPct val="100000"/>
              </a:lnSpc>
              <a:spcBef>
                <a:spcPts val="0"/>
              </a:spcBef>
              <a:spcAft>
                <a:spcPts val="0"/>
              </a:spcAft>
            </a:pPr>
            <a:r>
              <a:rPr sz="2000" b="0" i="0">
                <a:solidFill>
                  <a:srgbClr val="1C252B"/>
                </a:solidFill>
                <a:latin typeface="Segoe UI"/>
              </a:rPr>
              <a:t>incomplete</a:t>
            </a:r>
          </a:p>
        </p:txBody>
      </p:sp>
      <p:sp>
        <p:nvSpPr>
          <p:cNvPr id="24"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5" name="!!pfill">
            <a:extLst>
              <a:ext uri="{C183D7F6-B498-43B3-948B-1728B52AA6E4}">
                <adec:decorative xmlns:adec="http://schemas.microsoft.com/office/drawing/2017/decorative" val="1"/>
              </a:ext>
            </a:extLst>
          </p:cNvPr>
          <p:cNvSpPr/>
          <p:nvPr/>
        </p:nvSpPr>
        <p:spPr>
          <a:xfrm>
            <a:off x="0" y="0"/>
            <a:ext cx="11341111" cy="54864"/>
          </a:xfrm>
          <a:prstGeom prst="rect">
            <a:avLst/>
          </a:prstGeom>
          <a:solidFill>
            <a:srgbClr val="8E44A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Requires="p14">
      <p:transition spd="med" p14:dur="450">
        <p:fade/>
      </p:transition>
    </mc:Choice>
    <mc:Fallback>
      <p:transition spd="med">
        <p:fade/>
      </p:transition>
    </mc:Fallback>
  </mc:AlternateContent>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3000" b="0">
                <a:solidFill>
                  <a:srgbClr val="1A5276"/>
                </a:solidFill>
                <a:latin typeface="Segoe UI Semibold"/>
              </a:rPr>
              <a:t>Quick check 4 of 4</a:t>
            </a:r>
          </a:p>
        </p:txBody>
      </p:sp>
      <p:pic>
        <p:nvPicPr>
          <p:cNvPr id="3" name="!!kicker-icon" descr="pen-fancy-1A5276.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219456"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1A5276"/>
                </a:solidFill>
                <a:latin typeface="Segoe UI"/>
              </a:rPr>
              <a:t>REVIEW  ·  MULTIPLE CHOICE</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Artificial Intelligence  ·  Chapter 10  ·  Knowledge Representation</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Handout p. 109     </a:t>
            </a:r>
            <a:fld id="{938C227F-7DFC-42EA-A62C-6B614FE892CB}" type="slidenum">
              <a:rPr lang="en-GB" sz="1000">
                <a:solidFill>
                  <a:srgbClr val="8795A1"/>
                </a:solidFill>
                <a:latin typeface="Segoe UI"/>
              </a:rPr>
              <a:t>41</a:t>
            </a:fld>
          </a:p>
        </p:txBody>
      </p:sp>
      <p:sp>
        <p:nvSpPr>
          <p:cNvPr id="7" name="!!mstem"/>
          <p:cNvSpPr txBox="1"/>
          <p:nvPr/>
        </p:nvSpPr>
        <p:spPr>
          <a:xfrm>
            <a:off x="658368" y="1737360"/>
            <a:ext cx="10874959" cy="869899"/>
          </a:xfrm>
          <a:prstGeom prst="rect">
            <a:avLst/>
          </a:prstGeom>
          <a:noFill/>
        </p:spPr>
        <p:txBody>
          <a:bodyPr wrap="square" anchor="t" lIns="0" rIns="0" tIns="0" bIns="0">
            <a:noAutofit/>
          </a:bodyPr>
          <a:lstStyle/>
          <a:p>
            <a:pPr algn="l">
              <a:lnSpc>
                <a:spcPct val="104000"/>
              </a:lnSpc>
              <a:spcBef>
                <a:spcPts val="0"/>
              </a:spcBef>
              <a:spcAft>
                <a:spcPts val="0"/>
              </a:spcAft>
            </a:pPr>
            <a:r>
              <a:rPr sz="2600" b="0" i="0">
                <a:solidFill>
                  <a:srgbClr val="1C252B"/>
                </a:solidFill>
                <a:latin typeface="Segoe UI"/>
              </a:rPr>
              <a:t>A multiple-inheritance conflict between two equally specific parents should be:</a:t>
            </a:r>
          </a:p>
        </p:txBody>
      </p:sp>
      <p:sp>
        <p:nvSpPr>
          <p:cNvPr id="8" name="!!mo0">
            <a:extLst>
              <a:ext uri="{C183D7F6-B498-43B3-948B-1728B52AA6E4}">
                <adec:decorative xmlns:adec="http://schemas.microsoft.com/office/drawing/2017/decorative" val="1"/>
              </a:ext>
            </a:extLst>
          </p:cNvPr>
          <p:cNvSpPr/>
          <p:nvPr/>
        </p:nvSpPr>
        <p:spPr>
          <a:xfrm>
            <a:off x="658368" y="2927299"/>
            <a:ext cx="5318607" cy="1005840"/>
          </a:xfrm>
          <a:prstGeom prst="roundRect">
            <a:avLst>
              <a:gd name="adj" fmla="val 9090"/>
            </a:avLst>
          </a:prstGeom>
          <a:solidFill>
            <a:srgbClr val="F4F7F9"/>
          </a:solidFill>
          <a:ln w="12700">
            <a:solidFill>
              <a:srgbClr val="D9E1E7"/>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9" name="!!mol0">
            <a:extLst>
              <a:ext uri="{C183D7F6-B498-43B3-948B-1728B52AA6E4}">
                <adec:decorative xmlns:adec="http://schemas.microsoft.com/office/drawing/2017/decorative" val="1"/>
              </a:ext>
            </a:extLst>
          </p:cNvPr>
          <p:cNvSpPr/>
          <p:nvPr/>
        </p:nvSpPr>
        <p:spPr>
          <a:xfrm>
            <a:off x="841247" y="3201619"/>
            <a:ext cx="457200" cy="457200"/>
          </a:xfrm>
          <a:prstGeom prst="roundRect">
            <a:avLst>
              <a:gd name="adj" fmla="val 50000"/>
            </a:avLst>
          </a:prstGeom>
          <a:solidFill>
            <a:srgbClr val="7A3A9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0" name="!!molt0"/>
          <p:cNvSpPr txBox="1"/>
          <p:nvPr/>
        </p:nvSpPr>
        <p:spPr>
          <a:xfrm>
            <a:off x="841247" y="3283915"/>
            <a:ext cx="457200" cy="274320"/>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FFFFFF"/>
                </a:solidFill>
                <a:latin typeface="Segoe UI Semibold"/>
              </a:rPr>
              <a:t>A</a:t>
            </a:r>
          </a:p>
        </p:txBody>
      </p:sp>
      <p:sp>
        <p:nvSpPr>
          <p:cNvPr id="11" name="!!mot0"/>
          <p:cNvSpPr txBox="1"/>
          <p:nvPr/>
        </p:nvSpPr>
        <p:spPr>
          <a:xfrm>
            <a:off x="1481328" y="3277819"/>
            <a:ext cx="4312767" cy="1005840"/>
          </a:xfrm>
          <a:prstGeom prst="rect">
            <a:avLst/>
          </a:prstGeom>
          <a:noFill/>
        </p:spPr>
        <p:txBody>
          <a:bodyPr wrap="square" anchor="t" lIns="0" rIns="0" tIns="0" bIns="0">
            <a:noAutofit/>
          </a:bodyPr>
          <a:lstStyle/>
          <a:p>
            <a:pPr algn="l">
              <a:lnSpc>
                <a:spcPct val="100000"/>
              </a:lnSpc>
              <a:spcBef>
                <a:spcPts val="0"/>
              </a:spcBef>
              <a:spcAft>
                <a:spcPts val="0"/>
              </a:spcAft>
            </a:pPr>
            <a:r>
              <a:rPr sz="2000" b="0" i="0">
                <a:solidFill>
                  <a:srgbClr val="1C252B"/>
                </a:solidFill>
                <a:latin typeface="Segoe UI"/>
              </a:rPr>
              <a:t>resolved depth-first</a:t>
            </a:r>
          </a:p>
        </p:txBody>
      </p:sp>
      <p:sp>
        <p:nvSpPr>
          <p:cNvPr id="12" name="!!mo1">
            <a:extLst>
              <a:ext uri="{C183D7F6-B498-43B3-948B-1728B52AA6E4}">
                <adec:decorative xmlns:adec="http://schemas.microsoft.com/office/drawing/2017/decorative" val="1"/>
              </a:ext>
            </a:extLst>
          </p:cNvPr>
          <p:cNvSpPr/>
          <p:nvPr/>
        </p:nvSpPr>
        <p:spPr>
          <a:xfrm>
            <a:off x="6214719" y="2927299"/>
            <a:ext cx="5318607" cy="1005840"/>
          </a:xfrm>
          <a:prstGeom prst="roundRect">
            <a:avLst>
              <a:gd name="adj" fmla="val 9090"/>
            </a:avLst>
          </a:prstGeom>
          <a:solidFill>
            <a:srgbClr val="F4F7F9"/>
          </a:solidFill>
          <a:ln w="12700">
            <a:solidFill>
              <a:srgbClr val="D9E1E7"/>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3" name="!!mol1">
            <a:extLst>
              <a:ext uri="{C183D7F6-B498-43B3-948B-1728B52AA6E4}">
                <adec:decorative xmlns:adec="http://schemas.microsoft.com/office/drawing/2017/decorative" val="1"/>
              </a:ext>
            </a:extLst>
          </p:cNvPr>
          <p:cNvSpPr/>
          <p:nvPr/>
        </p:nvSpPr>
        <p:spPr>
          <a:xfrm>
            <a:off x="6397599" y="3201619"/>
            <a:ext cx="457200" cy="457200"/>
          </a:xfrm>
          <a:prstGeom prst="roundRect">
            <a:avLst>
              <a:gd name="adj" fmla="val 50000"/>
            </a:avLst>
          </a:prstGeom>
          <a:solidFill>
            <a:srgbClr val="7A3A9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4" name="!!molt1"/>
          <p:cNvSpPr txBox="1"/>
          <p:nvPr/>
        </p:nvSpPr>
        <p:spPr>
          <a:xfrm>
            <a:off x="6397599" y="3283915"/>
            <a:ext cx="457200" cy="274320"/>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FFFFFF"/>
                </a:solidFill>
                <a:latin typeface="Segoe UI Semibold"/>
              </a:rPr>
              <a:t>B</a:t>
            </a:r>
          </a:p>
        </p:txBody>
      </p:sp>
      <p:sp>
        <p:nvSpPr>
          <p:cNvPr id="15" name="!!mot1"/>
          <p:cNvSpPr txBox="1"/>
          <p:nvPr/>
        </p:nvSpPr>
        <p:spPr>
          <a:xfrm>
            <a:off x="7037679" y="3277819"/>
            <a:ext cx="4312767" cy="1005840"/>
          </a:xfrm>
          <a:prstGeom prst="rect">
            <a:avLst/>
          </a:prstGeom>
          <a:noFill/>
        </p:spPr>
        <p:txBody>
          <a:bodyPr wrap="square" anchor="t" lIns="0" rIns="0" tIns="0" bIns="0">
            <a:noAutofit/>
          </a:bodyPr>
          <a:lstStyle/>
          <a:p>
            <a:pPr algn="l">
              <a:lnSpc>
                <a:spcPct val="100000"/>
              </a:lnSpc>
              <a:spcBef>
                <a:spcPts val="0"/>
              </a:spcBef>
              <a:spcAft>
                <a:spcPts val="0"/>
              </a:spcAft>
            </a:pPr>
            <a:r>
              <a:rPr sz="2000" b="0" i="0">
                <a:solidFill>
                  <a:srgbClr val="1C252B"/>
                </a:solidFill>
                <a:latin typeface="Segoe UI"/>
              </a:rPr>
              <a:t>resolved breadth-first</a:t>
            </a:r>
          </a:p>
        </p:txBody>
      </p:sp>
      <p:sp>
        <p:nvSpPr>
          <p:cNvPr id="16" name="!!mo2">
            <a:extLst>
              <a:ext uri="{C183D7F6-B498-43B3-948B-1728B52AA6E4}">
                <adec:decorative xmlns:adec="http://schemas.microsoft.com/office/drawing/2017/decorative" val="1"/>
              </a:ext>
            </a:extLst>
          </p:cNvPr>
          <p:cNvSpPr/>
          <p:nvPr/>
        </p:nvSpPr>
        <p:spPr>
          <a:xfrm>
            <a:off x="658368" y="4116019"/>
            <a:ext cx="5318607" cy="1005840"/>
          </a:xfrm>
          <a:prstGeom prst="roundRect">
            <a:avLst>
              <a:gd name="adj" fmla="val 9090"/>
            </a:avLst>
          </a:prstGeom>
          <a:solidFill>
            <a:srgbClr val="F4F7F9"/>
          </a:solidFill>
          <a:ln w="12700">
            <a:solidFill>
              <a:srgbClr val="D9E1E7"/>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7" name="!!mol2">
            <a:extLst>
              <a:ext uri="{C183D7F6-B498-43B3-948B-1728B52AA6E4}">
                <adec:decorative xmlns:adec="http://schemas.microsoft.com/office/drawing/2017/decorative" val="1"/>
              </a:ext>
            </a:extLst>
          </p:cNvPr>
          <p:cNvSpPr/>
          <p:nvPr/>
        </p:nvSpPr>
        <p:spPr>
          <a:xfrm>
            <a:off x="841247" y="4390339"/>
            <a:ext cx="457200" cy="457200"/>
          </a:xfrm>
          <a:prstGeom prst="roundRect">
            <a:avLst>
              <a:gd name="adj" fmla="val 50000"/>
            </a:avLst>
          </a:prstGeom>
          <a:solidFill>
            <a:srgbClr val="7A3A9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8" name="!!molt2"/>
          <p:cNvSpPr txBox="1"/>
          <p:nvPr/>
        </p:nvSpPr>
        <p:spPr>
          <a:xfrm>
            <a:off x="841247" y="4472635"/>
            <a:ext cx="457200" cy="274320"/>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FFFFFF"/>
                </a:solidFill>
                <a:latin typeface="Segoe UI Semibold"/>
              </a:rPr>
              <a:t>C</a:t>
            </a:r>
          </a:p>
        </p:txBody>
      </p:sp>
      <p:sp>
        <p:nvSpPr>
          <p:cNvPr id="19" name="!!mot2"/>
          <p:cNvSpPr txBox="1"/>
          <p:nvPr/>
        </p:nvSpPr>
        <p:spPr>
          <a:xfrm>
            <a:off x="1481328" y="4466539"/>
            <a:ext cx="4312767" cy="1005840"/>
          </a:xfrm>
          <a:prstGeom prst="rect">
            <a:avLst/>
          </a:prstGeom>
          <a:noFill/>
        </p:spPr>
        <p:txBody>
          <a:bodyPr wrap="square" anchor="t" lIns="0" rIns="0" tIns="0" bIns="0">
            <a:noAutofit/>
          </a:bodyPr>
          <a:lstStyle/>
          <a:p>
            <a:pPr algn="l">
              <a:lnSpc>
                <a:spcPct val="100000"/>
              </a:lnSpc>
              <a:spcBef>
                <a:spcPts val="0"/>
              </a:spcBef>
              <a:spcAft>
                <a:spcPts val="0"/>
              </a:spcAft>
            </a:pPr>
            <a:r>
              <a:rPr sz="2000" b="0" i="0">
                <a:solidFill>
                  <a:srgbClr val="1C252B"/>
                </a:solidFill>
                <a:latin typeface="Segoe UI"/>
              </a:rPr>
              <a:t>reported, with its provenance</a:t>
            </a:r>
          </a:p>
        </p:txBody>
      </p:sp>
      <p:sp>
        <p:nvSpPr>
          <p:cNvPr id="20" name="!!mo3">
            <a:extLst>
              <a:ext uri="{C183D7F6-B498-43B3-948B-1728B52AA6E4}">
                <adec:decorative xmlns:adec="http://schemas.microsoft.com/office/drawing/2017/decorative" val="1"/>
              </a:ext>
            </a:extLst>
          </p:cNvPr>
          <p:cNvSpPr/>
          <p:nvPr/>
        </p:nvSpPr>
        <p:spPr>
          <a:xfrm>
            <a:off x="6214719" y="4116019"/>
            <a:ext cx="5318607" cy="1005840"/>
          </a:xfrm>
          <a:prstGeom prst="roundRect">
            <a:avLst>
              <a:gd name="adj" fmla="val 9090"/>
            </a:avLst>
          </a:prstGeom>
          <a:solidFill>
            <a:srgbClr val="F4F7F9"/>
          </a:solidFill>
          <a:ln w="12700">
            <a:solidFill>
              <a:srgbClr val="D9E1E7"/>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1" name="!!mol3">
            <a:extLst>
              <a:ext uri="{C183D7F6-B498-43B3-948B-1728B52AA6E4}">
                <adec:decorative xmlns:adec="http://schemas.microsoft.com/office/drawing/2017/decorative" val="1"/>
              </a:ext>
            </a:extLst>
          </p:cNvPr>
          <p:cNvSpPr/>
          <p:nvPr/>
        </p:nvSpPr>
        <p:spPr>
          <a:xfrm>
            <a:off x="6397599" y="4390339"/>
            <a:ext cx="457200" cy="457200"/>
          </a:xfrm>
          <a:prstGeom prst="roundRect">
            <a:avLst>
              <a:gd name="adj" fmla="val 50000"/>
            </a:avLst>
          </a:prstGeom>
          <a:solidFill>
            <a:srgbClr val="7A3A9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2" name="!!molt3"/>
          <p:cNvSpPr txBox="1"/>
          <p:nvPr/>
        </p:nvSpPr>
        <p:spPr>
          <a:xfrm>
            <a:off x="6397599" y="4472635"/>
            <a:ext cx="457200" cy="274320"/>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FFFFFF"/>
                </a:solidFill>
                <a:latin typeface="Segoe UI Semibold"/>
              </a:rPr>
              <a:t>D</a:t>
            </a:r>
          </a:p>
        </p:txBody>
      </p:sp>
      <p:sp>
        <p:nvSpPr>
          <p:cNvPr id="23" name="!!mot3"/>
          <p:cNvSpPr txBox="1"/>
          <p:nvPr/>
        </p:nvSpPr>
        <p:spPr>
          <a:xfrm>
            <a:off x="7037679" y="4314139"/>
            <a:ext cx="4312767" cy="1005840"/>
          </a:xfrm>
          <a:prstGeom prst="rect">
            <a:avLst/>
          </a:prstGeom>
          <a:noFill/>
        </p:spPr>
        <p:txBody>
          <a:bodyPr wrap="square" anchor="t" lIns="0" rIns="0" tIns="0" bIns="0">
            <a:noAutofit/>
          </a:bodyPr>
          <a:lstStyle/>
          <a:p>
            <a:pPr algn="l">
              <a:lnSpc>
                <a:spcPct val="100000"/>
              </a:lnSpc>
              <a:spcBef>
                <a:spcPts val="0"/>
              </a:spcBef>
              <a:spcAft>
                <a:spcPts val="0"/>
              </a:spcAft>
            </a:pPr>
            <a:r>
              <a:rPr sz="2000" b="0" i="0">
                <a:solidFill>
                  <a:srgbClr val="1C252B"/>
                </a:solidFill>
                <a:latin typeface="Segoe UI"/>
              </a:rPr>
              <a:t>resolved by the alphabetically first parent</a:t>
            </a:r>
          </a:p>
        </p:txBody>
      </p:sp>
      <p:sp>
        <p:nvSpPr>
          <p:cNvPr id="24"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5" name="!!pfill">
            <a:extLst>
              <a:ext uri="{C183D7F6-B498-43B3-948B-1728B52AA6E4}">
                <adec:decorative xmlns:adec="http://schemas.microsoft.com/office/drawing/2017/decorative" val="1"/>
              </a:ext>
            </a:extLst>
          </p:cNvPr>
          <p:cNvSpPr/>
          <p:nvPr/>
        </p:nvSpPr>
        <p:spPr>
          <a:xfrm>
            <a:off x="0" y="0"/>
            <a:ext cx="11624639" cy="54864"/>
          </a:xfrm>
          <a:prstGeom prst="rect">
            <a:avLst/>
          </a:prstGeom>
          <a:solidFill>
            <a:srgbClr val="8E44A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Requires="p14">
      <p:transition spd="med" p14:dur="450">
        <p:fade/>
      </p:transition>
    </mc:Choice>
    <mc:Fallback>
      <p:transition spd="med">
        <p:fade/>
      </p:transition>
    </mc:Fallback>
  </mc:AlternateContent>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3000" b="0">
                <a:solidFill>
                  <a:srgbClr val="1A5276"/>
                </a:solidFill>
                <a:latin typeface="Segoe UI Semibold"/>
              </a:rPr>
              <a:t>For your notebook</a:t>
            </a:r>
          </a:p>
        </p:txBody>
      </p:sp>
      <p:pic>
        <p:nvPicPr>
          <p:cNvPr id="3" name="!!kicker-icon" descr="pen-fancy-1A5276.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219456"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1A5276"/>
                </a:solidFill>
                <a:latin typeface="Segoe UI"/>
              </a:rPr>
              <a:t>REVIEW QUESTIONS</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Artificial Intelligence  ·  Chapter 10  ·  Knowledge Representation</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Handout p. 109     </a:t>
            </a:r>
            <a:fld id="{544E58C6-9CAB-4FC9-A847-1AF46EE58AA5}" type="slidenum">
              <a:rPr lang="en-GB" sz="1000">
                <a:solidFill>
                  <a:srgbClr val="8795A1"/>
                </a:solidFill>
                <a:latin typeface="Segoe UI"/>
              </a:rPr>
              <a:t>42</a:t>
            </a:fld>
          </a:p>
        </p:txBody>
      </p:sp>
      <p:sp>
        <p:nvSpPr>
          <p:cNvPr id="7" name="!!rt0">
            <a:extLst>
              <a:ext uri="{C183D7F6-B498-43B3-948B-1728B52AA6E4}">
                <adec:decorative xmlns:adec="http://schemas.microsoft.com/office/drawing/2017/decorative" val="1"/>
              </a:ext>
            </a:extLst>
          </p:cNvPr>
          <p:cNvSpPr/>
          <p:nvPr/>
        </p:nvSpPr>
        <p:spPr>
          <a:xfrm>
            <a:off x="658368" y="1755648"/>
            <a:ext cx="1051560" cy="310896"/>
          </a:xfrm>
          <a:prstGeom prst="roundRect">
            <a:avLst>
              <a:gd name="adj" fmla="val 50000"/>
            </a:avLst>
          </a:prstGeom>
          <a:solidFill>
            <a:srgbClr val="E6F0F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8" name="!!rtt0"/>
          <p:cNvSpPr txBox="1"/>
          <p:nvPr/>
        </p:nvSpPr>
        <p:spPr>
          <a:xfrm>
            <a:off x="658368" y="1796795"/>
            <a:ext cx="1051560" cy="237744"/>
          </a:xfrm>
          <a:prstGeom prst="rect">
            <a:avLst/>
          </a:prstGeom>
          <a:noFill/>
        </p:spPr>
        <p:txBody>
          <a:bodyPr wrap="square" anchor="t" lIns="0" rIns="0" tIns="0" bIns="0">
            <a:noAutofit/>
          </a:bodyPr>
          <a:lstStyle/>
          <a:p>
            <a:pPr algn="ctr">
              <a:lnSpc>
                <a:spcPct val="100000"/>
              </a:lnSpc>
              <a:spcBef>
                <a:spcPts val="0"/>
              </a:spcBef>
              <a:spcAft>
                <a:spcPts val="0"/>
              </a:spcAft>
            </a:pPr>
            <a:r>
              <a:rPr sz="1100" b="1" i="0" spc="120">
                <a:solidFill>
                  <a:srgbClr val="236794"/>
                </a:solidFill>
                <a:latin typeface="Segoe UI"/>
              </a:rPr>
              <a:t>SHORT</a:t>
            </a:r>
          </a:p>
        </p:txBody>
      </p:sp>
      <p:sp>
        <p:nvSpPr>
          <p:cNvPr id="9" name="!!rq0"/>
          <p:cNvSpPr txBox="1"/>
          <p:nvPr/>
        </p:nvSpPr>
        <p:spPr>
          <a:xfrm>
            <a:off x="1892807" y="1737360"/>
            <a:ext cx="9549079" cy="602284"/>
          </a:xfrm>
          <a:prstGeom prst="rect">
            <a:avLst/>
          </a:prstGeom>
          <a:noFill/>
        </p:spPr>
        <p:txBody>
          <a:bodyPr wrap="square" anchor="t" lIns="0" rIns="0" tIns="0" bIns="0">
            <a:noAutofit/>
          </a:bodyPr>
          <a:lstStyle/>
          <a:p>
            <a:pPr algn="l">
              <a:lnSpc>
                <a:spcPct val="104000"/>
              </a:lnSpc>
              <a:spcBef>
                <a:spcPts val="0"/>
              </a:spcBef>
              <a:spcAft>
                <a:spcPts val="0"/>
              </a:spcAft>
            </a:pPr>
            <a:r>
              <a:rPr sz="1900" b="0" i="0">
                <a:solidFill>
                  <a:srgbClr val="1C252B"/>
                </a:solidFill>
                <a:latin typeface="Segoe UI"/>
              </a:rPr>
              <a:t>State the four requirements on a knowledge representation and give one pair that pull against each other, with an example.</a:t>
            </a:r>
          </a:p>
        </p:txBody>
      </p:sp>
      <p:sp>
        <p:nvSpPr>
          <p:cNvPr id="10" name="!!rt1">
            <a:extLst>
              <a:ext uri="{C183D7F6-B498-43B3-948B-1728B52AA6E4}">
                <adec:decorative xmlns:adec="http://schemas.microsoft.com/office/drawing/2017/decorative" val="1"/>
              </a:ext>
            </a:extLst>
          </p:cNvPr>
          <p:cNvSpPr/>
          <p:nvPr/>
        </p:nvSpPr>
        <p:spPr>
          <a:xfrm>
            <a:off x="658368" y="2577388"/>
            <a:ext cx="1051560" cy="310896"/>
          </a:xfrm>
          <a:prstGeom prst="roundRect">
            <a:avLst>
              <a:gd name="adj" fmla="val 50000"/>
            </a:avLst>
          </a:prstGeom>
          <a:solidFill>
            <a:srgbClr val="E6F0F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1" name="!!rtt1"/>
          <p:cNvSpPr txBox="1"/>
          <p:nvPr/>
        </p:nvSpPr>
        <p:spPr>
          <a:xfrm>
            <a:off x="658368" y="2618536"/>
            <a:ext cx="1051560" cy="237744"/>
          </a:xfrm>
          <a:prstGeom prst="rect">
            <a:avLst/>
          </a:prstGeom>
          <a:noFill/>
        </p:spPr>
        <p:txBody>
          <a:bodyPr wrap="square" anchor="t" lIns="0" rIns="0" tIns="0" bIns="0">
            <a:noAutofit/>
          </a:bodyPr>
          <a:lstStyle/>
          <a:p>
            <a:pPr algn="ctr">
              <a:lnSpc>
                <a:spcPct val="100000"/>
              </a:lnSpc>
              <a:spcBef>
                <a:spcPts val="0"/>
              </a:spcBef>
              <a:spcAft>
                <a:spcPts val="0"/>
              </a:spcAft>
            </a:pPr>
            <a:r>
              <a:rPr sz="1100" b="1" i="0" spc="120">
                <a:solidFill>
                  <a:srgbClr val="236794"/>
                </a:solidFill>
                <a:latin typeface="Segoe UI"/>
              </a:rPr>
              <a:t>SHORT</a:t>
            </a:r>
          </a:p>
        </p:txBody>
      </p:sp>
      <p:sp>
        <p:nvSpPr>
          <p:cNvPr id="12" name="!!rq1"/>
          <p:cNvSpPr txBox="1"/>
          <p:nvPr/>
        </p:nvSpPr>
        <p:spPr>
          <a:xfrm>
            <a:off x="1892807" y="2559100"/>
            <a:ext cx="9549079" cy="602284"/>
          </a:xfrm>
          <a:prstGeom prst="rect">
            <a:avLst/>
          </a:prstGeom>
          <a:noFill/>
        </p:spPr>
        <p:txBody>
          <a:bodyPr wrap="square" anchor="t" lIns="0" rIns="0" tIns="0" bIns="0">
            <a:noAutofit/>
          </a:bodyPr>
          <a:lstStyle/>
          <a:p>
            <a:pPr algn="l">
              <a:lnSpc>
                <a:spcPct val="104000"/>
              </a:lnSpc>
              <a:spcBef>
                <a:spcPts val="0"/>
              </a:spcBef>
              <a:spcAft>
                <a:spcPts val="0"/>
              </a:spcAft>
            </a:pPr>
            <a:r>
              <a:rPr sz="1900" b="0" i="0">
                <a:solidFill>
                  <a:srgbClr val="1C252B"/>
                </a:solidFill>
                <a:latin typeface="Segoe UI"/>
              </a:rPr>
              <a:t>Explain the difference between </a:t>
            </a:r>
            <a:r>
              <a:rPr sz="1800" b="0" i="0">
                <a:solidFill>
                  <a:srgbClr val="1F4E79"/>
                </a:solidFill>
                <a:latin typeface="Consolas"/>
              </a:rPr>
              <a:t>is-a</a:t>
            </a:r>
            <a:r>
              <a:rPr sz="1900" b="0" i="0">
                <a:solidFill>
                  <a:srgbClr val="1C252B"/>
                </a:solidFill>
                <a:latin typeface="Segoe UI"/>
              </a:rPr>
              <a:t> and </a:t>
            </a:r>
            <a:r>
              <a:rPr sz="1800" b="0" i="0">
                <a:solidFill>
                  <a:srgbClr val="1F4E79"/>
                </a:solidFill>
                <a:latin typeface="Consolas"/>
              </a:rPr>
              <a:t>instance-of</a:t>
            </a:r>
            <a:r>
              <a:rPr sz="1900" b="0" i="0">
                <a:solidFill>
                  <a:srgbClr val="1C252B"/>
                </a:solidFill>
                <a:latin typeface="Segoe UI"/>
              </a:rPr>
              <a:t>, and describe a concrete error caused by conflating them.</a:t>
            </a:r>
          </a:p>
        </p:txBody>
      </p:sp>
      <p:sp>
        <p:nvSpPr>
          <p:cNvPr id="13" name="!!rt2">
            <a:extLst>
              <a:ext uri="{C183D7F6-B498-43B3-948B-1728B52AA6E4}">
                <adec:decorative xmlns:adec="http://schemas.microsoft.com/office/drawing/2017/decorative" val="1"/>
              </a:ext>
            </a:extLst>
          </p:cNvPr>
          <p:cNvSpPr/>
          <p:nvPr/>
        </p:nvSpPr>
        <p:spPr>
          <a:xfrm>
            <a:off x="658368" y="3399129"/>
            <a:ext cx="1051560" cy="310896"/>
          </a:xfrm>
          <a:prstGeom prst="roundRect">
            <a:avLst>
              <a:gd name="adj" fmla="val 50000"/>
            </a:avLst>
          </a:prstGeom>
          <a:solidFill>
            <a:srgbClr val="E6F0F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4" name="!!rtt2"/>
          <p:cNvSpPr txBox="1"/>
          <p:nvPr/>
        </p:nvSpPr>
        <p:spPr>
          <a:xfrm>
            <a:off x="658368" y="3440277"/>
            <a:ext cx="1051560" cy="237744"/>
          </a:xfrm>
          <a:prstGeom prst="rect">
            <a:avLst/>
          </a:prstGeom>
          <a:noFill/>
        </p:spPr>
        <p:txBody>
          <a:bodyPr wrap="square" anchor="t" lIns="0" rIns="0" tIns="0" bIns="0">
            <a:noAutofit/>
          </a:bodyPr>
          <a:lstStyle/>
          <a:p>
            <a:pPr algn="ctr">
              <a:lnSpc>
                <a:spcPct val="100000"/>
              </a:lnSpc>
              <a:spcBef>
                <a:spcPts val="0"/>
              </a:spcBef>
              <a:spcAft>
                <a:spcPts val="0"/>
              </a:spcAft>
            </a:pPr>
            <a:r>
              <a:rPr sz="1100" b="1" i="0" spc="120">
                <a:solidFill>
                  <a:srgbClr val="236794"/>
                </a:solidFill>
                <a:latin typeface="Segoe UI"/>
              </a:rPr>
              <a:t>SHORT</a:t>
            </a:r>
          </a:p>
        </p:txBody>
      </p:sp>
      <p:sp>
        <p:nvSpPr>
          <p:cNvPr id="15" name="!!rq2"/>
          <p:cNvSpPr txBox="1"/>
          <p:nvPr/>
        </p:nvSpPr>
        <p:spPr>
          <a:xfrm>
            <a:off x="1892807" y="3380841"/>
            <a:ext cx="9549079" cy="602284"/>
          </a:xfrm>
          <a:prstGeom prst="rect">
            <a:avLst/>
          </a:prstGeom>
          <a:noFill/>
        </p:spPr>
        <p:txBody>
          <a:bodyPr wrap="square" anchor="t" lIns="0" rIns="0" tIns="0" bIns="0">
            <a:noAutofit/>
          </a:bodyPr>
          <a:lstStyle/>
          <a:p>
            <a:pPr algn="l">
              <a:lnSpc>
                <a:spcPct val="104000"/>
              </a:lnSpc>
              <a:spcBef>
                <a:spcPts val="0"/>
              </a:spcBef>
              <a:spcAft>
                <a:spcPts val="0"/>
              </a:spcAft>
            </a:pPr>
            <a:r>
              <a:rPr sz="1900" b="0" i="0">
                <a:solidFill>
                  <a:srgbClr val="1C252B"/>
                </a:solidFill>
                <a:latin typeface="Segoe UI"/>
              </a:rPr>
              <a:t>Why is “most of the value of an ontology is the agreement, not the inference” a reasonable claim? Give a delivery example.</a:t>
            </a:r>
          </a:p>
        </p:txBody>
      </p:sp>
      <p:sp>
        <p:nvSpPr>
          <p:cNvPr id="16" name="!!rt3">
            <a:extLst>
              <a:ext uri="{C183D7F6-B498-43B3-948B-1728B52AA6E4}">
                <adec:decorative xmlns:adec="http://schemas.microsoft.com/office/drawing/2017/decorative" val="1"/>
              </a:ext>
            </a:extLst>
          </p:cNvPr>
          <p:cNvSpPr/>
          <p:nvPr/>
        </p:nvSpPr>
        <p:spPr>
          <a:xfrm>
            <a:off x="658368" y="4220870"/>
            <a:ext cx="1051560" cy="310896"/>
          </a:xfrm>
          <a:prstGeom prst="roundRect">
            <a:avLst>
              <a:gd name="adj" fmla="val 50000"/>
            </a:avLst>
          </a:prstGeom>
          <a:solidFill>
            <a:srgbClr val="E2EFE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7" name="!!rtt3"/>
          <p:cNvSpPr txBox="1"/>
          <p:nvPr/>
        </p:nvSpPr>
        <p:spPr>
          <a:xfrm>
            <a:off x="658368" y="4262018"/>
            <a:ext cx="1051560" cy="237744"/>
          </a:xfrm>
          <a:prstGeom prst="rect">
            <a:avLst/>
          </a:prstGeom>
          <a:noFill/>
        </p:spPr>
        <p:txBody>
          <a:bodyPr wrap="square" anchor="t" lIns="0" rIns="0" tIns="0" bIns="0">
            <a:noAutofit/>
          </a:bodyPr>
          <a:lstStyle/>
          <a:p>
            <a:pPr algn="ctr">
              <a:lnSpc>
                <a:spcPct val="100000"/>
              </a:lnSpc>
              <a:spcBef>
                <a:spcPts val="0"/>
              </a:spcBef>
              <a:spcAft>
                <a:spcPts val="0"/>
              </a:spcAft>
            </a:pPr>
            <a:r>
              <a:rPr sz="1100" b="1" i="0" spc="120">
                <a:solidFill>
                  <a:srgbClr val="107964"/>
                </a:solidFill>
                <a:latin typeface="Segoe UI"/>
              </a:rPr>
              <a:t>APPLIED</a:t>
            </a:r>
          </a:p>
        </p:txBody>
      </p:sp>
      <p:sp>
        <p:nvSpPr>
          <p:cNvPr id="18" name="!!rq3"/>
          <p:cNvSpPr txBox="1"/>
          <p:nvPr/>
        </p:nvSpPr>
        <p:spPr>
          <a:xfrm>
            <a:off x="1892807" y="4202582"/>
            <a:ext cx="9549079" cy="1505712"/>
          </a:xfrm>
          <a:prstGeom prst="rect">
            <a:avLst/>
          </a:prstGeom>
          <a:noFill/>
        </p:spPr>
        <p:txBody>
          <a:bodyPr wrap="square" anchor="t" lIns="0" rIns="0" tIns="0" bIns="0">
            <a:noAutofit/>
          </a:bodyPr>
          <a:lstStyle/>
          <a:p>
            <a:pPr algn="l">
              <a:lnSpc>
                <a:spcPct val="104000"/>
              </a:lnSpc>
              <a:spcBef>
                <a:spcPts val="0"/>
              </a:spcBef>
              <a:spcAft>
                <a:spcPts val="0"/>
              </a:spcAft>
            </a:pPr>
            <a:r>
              <a:rPr sz="1900" b="0" i="0">
                <a:solidFill>
                  <a:srgbClr val="1C252B"/>
                </a:solidFill>
                <a:latin typeface="Segoe UI"/>
              </a:rPr>
              <a:t>Extend the frames of this chapter with a class </a:t>
            </a:r>
            <a:r>
              <a:rPr sz="1800" b="0" i="0">
                <a:solidFill>
                  <a:srgbClr val="1F4E79"/>
                </a:solidFill>
                <a:latin typeface="Consolas"/>
              </a:rPr>
              <a:t>Emergency Hotfix</a:t>
            </a:r>
            <a:r>
              <a:rPr sz="1900" b="0" i="0">
                <a:solidFill>
                  <a:srgbClr val="1C252B"/>
                </a:solidFill>
                <a:latin typeface="Segoe UI"/>
              </a:rPr>
              <a:t>, a kind of </a:t>
            </a:r>
            <a:r>
              <a:rPr sz="1800" b="0" i="0">
                <a:solidFill>
                  <a:srgbClr val="1F4E79"/>
                </a:solidFill>
                <a:latin typeface="Consolas"/>
              </a:rPr>
              <a:t>Hotfix</a:t>
            </a:r>
            <a:r>
              <a:rPr sz="1900" b="0" i="0">
                <a:solidFill>
                  <a:srgbClr val="1C252B"/>
                </a:solidFill>
                <a:latin typeface="Segoe UI"/>
              </a:rPr>
              <a:t>, whose </a:t>
            </a:r>
            <a:r>
              <a:rPr sz="1800" b="0" i="0">
                <a:solidFill>
                  <a:srgbClr val="1F4E79"/>
                </a:solidFill>
                <a:latin typeface="Consolas"/>
              </a:rPr>
              <a:t>needs-signoff</a:t>
            </a:r>
            <a:r>
              <a:rPr sz="1900" b="0" i="0">
                <a:solidFill>
                  <a:srgbClr val="1C252B"/>
                </a:solidFill>
                <a:latin typeface="Segoe UI"/>
              </a:rPr>
              <a:t> is </a:t>
            </a:r>
            <a:r>
              <a:rPr sz="1800" b="0" i="0">
                <a:solidFill>
                  <a:srgbClr val="1F4E79"/>
                </a:solidFill>
                <a:latin typeface="Consolas"/>
              </a:rPr>
              <a:t>retrospective</a:t>
            </a:r>
            <a:r>
              <a:rPr sz="1900" b="0" i="0">
                <a:solidFill>
                  <a:srgbClr val="1C252B"/>
                </a:solidFill>
                <a:latin typeface="Segoe UI"/>
              </a:rPr>
              <a:t>. Give the value of </a:t>
            </a:r>
            <a:r>
              <a:rPr sz="1800" b="0" i="0">
                <a:solidFill>
                  <a:srgbClr val="1F4E79"/>
                </a:solidFill>
                <a:latin typeface="Consolas"/>
              </a:rPr>
              <a:t>needs-signoff</a:t>
            </a:r>
            <a:r>
              <a:rPr sz="1900" b="0" i="0">
                <a:solidFill>
                  <a:srgbClr val="1C252B"/>
                </a:solidFill>
                <a:latin typeface="Segoe UI"/>
              </a:rPr>
              <a:t>, </a:t>
            </a:r>
            <a:r>
              <a:rPr sz="1800" b="0" i="0">
                <a:solidFill>
                  <a:srgbClr val="1F4E79"/>
                </a:solidFill>
                <a:latin typeface="Consolas"/>
              </a:rPr>
              <a:t>regression-pass</a:t>
            </a:r>
            <a:r>
              <a:rPr sz="1900" b="0" i="0">
                <a:solidFill>
                  <a:srgbClr val="1C252B"/>
                </a:solidFill>
                <a:latin typeface="Segoe UI"/>
              </a:rPr>
              <a:t> and </a:t>
            </a:r>
            <a:r>
              <a:rPr sz="1800" b="0" i="0">
                <a:solidFill>
                  <a:srgbClr val="1F4E79"/>
                </a:solidFill>
                <a:latin typeface="Consolas"/>
              </a:rPr>
              <a:t>window</a:t>
            </a:r>
            <a:r>
              <a:rPr sz="1900" b="0" i="0">
                <a:solidFill>
                  <a:srgbClr val="1C252B"/>
                </a:solidFill>
                <a:latin typeface="Segoe UI"/>
              </a:rPr>
              <a:t> for an instance of it, naming the frame each answer comes from. Then say what happens if that instance is also a </a:t>
            </a:r>
            <a:r>
              <a:rPr sz="1800" b="0" i="0">
                <a:solidFill>
                  <a:srgbClr val="1F4E79"/>
                </a:solidFill>
                <a:latin typeface="Consolas"/>
              </a:rPr>
              <a:t>Regulated Change</a:t>
            </a:r>
            <a:r>
              <a:rPr sz="1900" b="0" i="0">
                <a:solidFill>
                  <a:srgbClr val="1C252B"/>
                </a:solidFill>
                <a:latin typeface="Segoe UI"/>
              </a:rPr>
              <a:t>, and what the system should do.</a:t>
            </a:r>
          </a:p>
        </p:txBody>
      </p:sp>
      <p:sp>
        <p:nvSpPr>
          <p:cNvPr id="19"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0" name="!!pfill">
            <a:extLst>
              <a:ext uri="{C183D7F6-B498-43B3-948B-1728B52AA6E4}">
                <adec:decorative xmlns:adec="http://schemas.microsoft.com/office/drawing/2017/decorative" val="1"/>
              </a:ext>
            </a:extLst>
          </p:cNvPr>
          <p:cNvSpPr/>
          <p:nvPr/>
        </p:nvSpPr>
        <p:spPr>
          <a:xfrm>
            <a:off x="0" y="0"/>
            <a:ext cx="11908167" cy="54864"/>
          </a:xfrm>
          <a:prstGeom prst="rect">
            <a:avLst/>
          </a:prstGeom>
          <a:solidFill>
            <a:srgbClr val="8E44A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Requires="p14">
      <p:transition spd="med" p14:dur="450">
        <p:fade/>
      </p:transition>
    </mc:Choice>
    <mc:Fallback>
      <p:transition spd="med">
        <p:fade/>
      </p:transition>
    </mc:Fallback>
  </mc:AlternateContent>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7A3A95"/>
        </a:solidFill>
        <a:effectLst/>
      </p:bgPr>
    </p:bg>
    <p:spTree>
      <p:nvGrpSpPr>
        <p:cNvPr id="1" name=""/>
        <p:cNvGrpSpPr/>
        <p:nvPr/>
      </p:nvGrpSpPr>
      <p:grpSpPr/>
      <p:sp>
        <p:nvSpPr>
          <p:cNvPr id="3" name="!!wm">
            <a:extLst>
              <a:ext uri="{C183D7F6-B498-43B3-948B-1728B52AA6E4}">
                <adec:decorative xmlns:adec="http://schemas.microsoft.com/office/drawing/2017/decorative" val="1"/>
              </a:ext>
            </a:extLst>
          </p:cNvPr>
          <p:cNvSpPr txBox="1"/>
          <p:nvPr/>
        </p:nvSpPr>
        <p:spPr>
          <a:xfrm>
            <a:off x="6430975" y="-502920"/>
            <a:ext cx="5486400" cy="4572000"/>
          </a:xfrm>
          <a:prstGeom prst="rect">
            <a:avLst/>
          </a:prstGeom>
          <a:noFill/>
        </p:spPr>
        <p:txBody>
          <a:bodyPr wrap="square" anchor="t" lIns="0" rIns="0" tIns="0" bIns="0">
            <a:noAutofit/>
          </a:bodyPr>
          <a:lstStyle/>
          <a:p>
            <a:pPr algn="r">
              <a:lnSpc>
                <a:spcPct val="100000"/>
              </a:lnSpc>
              <a:spcBef>
                <a:spcPts val="0"/>
              </a:spcBef>
              <a:spcAft>
                <a:spcPts val="0"/>
              </a:spcAft>
            </a:pPr>
            <a:r>
              <a:rPr sz="28000" b="0" i="0">
                <a:solidFill>
                  <a:srgbClr val="854A9D"/>
                </a:solidFill>
                <a:latin typeface="Segoe UI Black"/>
              </a:rPr>
              <a:t>10</a:t>
            </a:r>
          </a:p>
        </p:txBody>
      </p:sp>
      <p:sp>
        <p:nvSpPr>
          <p:cNvPr id="2" name="!!title"/>
          <p:cNvSpPr>
            <a:spLocks noGrp="1"/>
          </p:cNvSpPr>
          <p:nvPr>
            <p:ph type="title"/>
          </p:nvPr>
        </p:nvSpPr>
        <p:spPr>
          <a:xfrm>
            <a:off x="658368" y="1243584"/>
            <a:ext cx="8229600" cy="822960"/>
          </a:xfrm>
        </p:spPr>
        <p:txBody>
          <a:bodyPr wrap="square" lIns="0" rIns="0" tIns="0" bIns="0" anchor="t">
            <a:noAutofit/>
          </a:bodyPr>
          <a:lstStyle/>
          <a:p>
            <a:pPr algn="l">
              <a:lnSpc>
                <a:spcPct val="96000"/>
              </a:lnSpc>
            </a:pPr>
            <a:r>
              <a:rPr sz="4000" b="0">
                <a:solidFill>
                  <a:srgbClr val="FFFFFF"/>
                </a:solidFill>
                <a:latin typeface="Segoe UI Semibold"/>
              </a:rPr>
              <a:t>End of Chapter 10</a:t>
            </a:r>
          </a:p>
        </p:txBody>
      </p:sp>
      <p:sp>
        <p:nvSpPr>
          <p:cNvPr id="4" name="!!tbar">
            <a:extLst>
              <a:ext uri="{C183D7F6-B498-43B3-948B-1728B52AA6E4}">
                <adec:decorative xmlns:adec="http://schemas.microsoft.com/office/drawing/2017/decorative" val="1"/>
              </a:ext>
            </a:extLst>
          </p:cNvPr>
          <p:cNvSpPr/>
          <p:nvPr/>
        </p:nvSpPr>
        <p:spPr>
          <a:xfrm>
            <a:off x="658368" y="1024128"/>
            <a:ext cx="822960" cy="6400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 name="!!cl0">
            <a:extLst>
              <a:ext uri="{C183D7F6-B498-43B3-948B-1728B52AA6E4}">
                <adec:decorative xmlns:adec="http://schemas.microsoft.com/office/drawing/2017/decorative" val="1"/>
              </a:ext>
            </a:extLst>
          </p:cNvPr>
          <p:cNvSpPr/>
          <p:nvPr/>
        </p:nvSpPr>
        <p:spPr>
          <a:xfrm>
            <a:off x="658368" y="2286000"/>
            <a:ext cx="5300319" cy="1097280"/>
          </a:xfrm>
          <a:prstGeom prst="roundRect">
            <a:avLst>
              <a:gd name="adj" fmla="val 8333"/>
            </a:avLst>
          </a:prstGeom>
          <a:solidFill>
            <a:srgbClr val="5F2D7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6" name="!!cll0"/>
          <p:cNvSpPr txBox="1"/>
          <p:nvPr/>
        </p:nvSpPr>
        <p:spPr>
          <a:xfrm>
            <a:off x="932688" y="2468880"/>
            <a:ext cx="4751679" cy="237744"/>
          </a:xfrm>
          <a:prstGeom prst="rect">
            <a:avLst/>
          </a:prstGeom>
          <a:noFill/>
        </p:spPr>
        <p:txBody>
          <a:bodyPr wrap="square" anchor="t" lIns="0" rIns="0" tIns="0" bIns="0">
            <a:noAutofit/>
          </a:bodyPr>
          <a:lstStyle/>
          <a:p>
            <a:pPr algn="l">
              <a:lnSpc>
                <a:spcPct val="100000"/>
              </a:lnSpc>
              <a:spcBef>
                <a:spcPts val="0"/>
              </a:spcBef>
              <a:spcAft>
                <a:spcPts val="0"/>
              </a:spcAft>
            </a:pPr>
            <a:r>
              <a:rPr sz="1150" b="1" i="0" spc="160">
                <a:solidFill>
                  <a:srgbClr val="CCB4D7"/>
                </a:solidFill>
                <a:latin typeface="Segoe UI"/>
              </a:rPr>
              <a:t>NEXT</a:t>
            </a:r>
          </a:p>
        </p:txBody>
      </p:sp>
      <p:sp>
        <p:nvSpPr>
          <p:cNvPr id="7" name="!!clv0"/>
          <p:cNvSpPr txBox="1"/>
          <p:nvPr/>
        </p:nvSpPr>
        <p:spPr>
          <a:xfrm>
            <a:off x="932688" y="2761488"/>
            <a:ext cx="4751679" cy="566928"/>
          </a:xfrm>
          <a:prstGeom prst="rect">
            <a:avLst/>
          </a:prstGeom>
          <a:noFill/>
        </p:spPr>
        <p:txBody>
          <a:bodyPr wrap="square" anchor="t" lIns="0" rIns="0" tIns="0" bIns="0">
            <a:noAutofit/>
          </a:bodyPr>
          <a:lstStyle/>
          <a:p>
            <a:pPr algn="l">
              <a:lnSpc>
                <a:spcPct val="100000"/>
              </a:lnSpc>
              <a:spcBef>
                <a:spcPts val="0"/>
              </a:spcBef>
              <a:spcAft>
                <a:spcPts val="0"/>
              </a:spcAft>
            </a:pPr>
            <a:r>
              <a:rPr sz="1900" b="0" i="0">
                <a:solidFill>
                  <a:srgbClr val="FFFFFF"/>
                </a:solidFill>
                <a:latin typeface="Segoe UI Semibold"/>
              </a:rPr>
              <a:t>Chapter 11 — Propositional Logic and Inference</a:t>
            </a:r>
          </a:p>
        </p:txBody>
      </p:sp>
      <p:sp>
        <p:nvSpPr>
          <p:cNvPr id="8" name="!!cl1">
            <a:extLst>
              <a:ext uri="{C183D7F6-B498-43B3-948B-1728B52AA6E4}">
                <adec:decorative xmlns:adec="http://schemas.microsoft.com/office/drawing/2017/decorative" val="1"/>
              </a:ext>
            </a:extLst>
          </p:cNvPr>
          <p:cNvSpPr/>
          <p:nvPr/>
        </p:nvSpPr>
        <p:spPr>
          <a:xfrm>
            <a:off x="6233007" y="2286000"/>
            <a:ext cx="5300319" cy="1097280"/>
          </a:xfrm>
          <a:prstGeom prst="roundRect">
            <a:avLst>
              <a:gd name="adj" fmla="val 8333"/>
            </a:avLst>
          </a:prstGeom>
          <a:solidFill>
            <a:srgbClr val="5F2D7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9" name="!!cll1"/>
          <p:cNvSpPr txBox="1"/>
          <p:nvPr/>
        </p:nvSpPr>
        <p:spPr>
          <a:xfrm>
            <a:off x="6507327" y="2468880"/>
            <a:ext cx="4751679" cy="237744"/>
          </a:xfrm>
          <a:prstGeom prst="rect">
            <a:avLst/>
          </a:prstGeom>
          <a:noFill/>
        </p:spPr>
        <p:txBody>
          <a:bodyPr wrap="square" anchor="t" lIns="0" rIns="0" tIns="0" bIns="0">
            <a:noAutofit/>
          </a:bodyPr>
          <a:lstStyle/>
          <a:p>
            <a:pPr algn="l">
              <a:lnSpc>
                <a:spcPct val="100000"/>
              </a:lnSpc>
              <a:spcBef>
                <a:spcPts val="0"/>
              </a:spcBef>
              <a:spcAft>
                <a:spcPts val="0"/>
              </a:spcAft>
            </a:pPr>
            <a:r>
              <a:rPr sz="1150" b="1" i="0" spc="160">
                <a:solidFill>
                  <a:srgbClr val="CCB4D7"/>
                </a:solidFill>
                <a:latin typeface="Segoe UI"/>
              </a:rPr>
              <a:t>READ</a:t>
            </a:r>
          </a:p>
        </p:txBody>
      </p:sp>
      <p:sp>
        <p:nvSpPr>
          <p:cNvPr id="10" name="!!clv1"/>
          <p:cNvSpPr txBox="1"/>
          <p:nvPr/>
        </p:nvSpPr>
        <p:spPr>
          <a:xfrm>
            <a:off x="6507327" y="2761488"/>
            <a:ext cx="4751679" cy="566928"/>
          </a:xfrm>
          <a:prstGeom prst="rect">
            <a:avLst/>
          </a:prstGeom>
          <a:noFill/>
        </p:spPr>
        <p:txBody>
          <a:bodyPr wrap="square" anchor="t" lIns="0" rIns="0" tIns="0" bIns="0">
            <a:noAutofit/>
          </a:bodyPr>
          <a:lstStyle/>
          <a:p>
            <a:pPr algn="l">
              <a:lnSpc>
                <a:spcPct val="100000"/>
              </a:lnSpc>
              <a:spcBef>
                <a:spcPts val="0"/>
              </a:spcBef>
              <a:spcAft>
                <a:spcPts val="0"/>
              </a:spcAft>
            </a:pPr>
            <a:r>
              <a:rPr sz="2100" b="0" i="0">
                <a:solidFill>
                  <a:srgbClr val="FFFFFF"/>
                </a:solidFill>
                <a:latin typeface="Segoe UI Semibold"/>
              </a:rPr>
              <a:t>Handout Chapter 10, pages 101–109</a:t>
            </a:r>
          </a:p>
        </p:txBody>
      </p:sp>
      <p:sp>
        <p:nvSpPr>
          <p:cNvPr id="11" name="!!cl2">
            <a:extLst>
              <a:ext uri="{C183D7F6-B498-43B3-948B-1728B52AA6E4}">
                <adec:decorative xmlns:adec="http://schemas.microsoft.com/office/drawing/2017/decorative" val="1"/>
              </a:ext>
            </a:extLst>
          </p:cNvPr>
          <p:cNvSpPr/>
          <p:nvPr/>
        </p:nvSpPr>
        <p:spPr>
          <a:xfrm>
            <a:off x="658368" y="3584448"/>
            <a:ext cx="5300319" cy="1097280"/>
          </a:xfrm>
          <a:prstGeom prst="roundRect">
            <a:avLst>
              <a:gd name="adj" fmla="val 8333"/>
            </a:avLst>
          </a:prstGeom>
          <a:solidFill>
            <a:srgbClr val="5F2D7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2" name="!!cll2"/>
          <p:cNvSpPr txBox="1"/>
          <p:nvPr/>
        </p:nvSpPr>
        <p:spPr>
          <a:xfrm>
            <a:off x="932688" y="3767328"/>
            <a:ext cx="4751679" cy="237744"/>
          </a:xfrm>
          <a:prstGeom prst="rect">
            <a:avLst/>
          </a:prstGeom>
          <a:noFill/>
        </p:spPr>
        <p:txBody>
          <a:bodyPr wrap="square" anchor="t" lIns="0" rIns="0" tIns="0" bIns="0">
            <a:noAutofit/>
          </a:bodyPr>
          <a:lstStyle/>
          <a:p>
            <a:pPr algn="l">
              <a:lnSpc>
                <a:spcPct val="100000"/>
              </a:lnSpc>
              <a:spcBef>
                <a:spcPts val="0"/>
              </a:spcBef>
              <a:spcAft>
                <a:spcPts val="0"/>
              </a:spcAft>
            </a:pPr>
            <a:r>
              <a:rPr sz="1150" b="1" i="0" spc="160">
                <a:solidFill>
                  <a:srgbClr val="CCB4D7"/>
                </a:solidFill>
                <a:latin typeface="Segoe UI"/>
              </a:rPr>
              <a:t>THIS WEEK'S LAB</a:t>
            </a:r>
          </a:p>
        </p:txBody>
      </p:sp>
      <p:sp>
        <p:nvSpPr>
          <p:cNvPr id="13" name="!!clv2"/>
          <p:cNvSpPr txBox="1"/>
          <p:nvPr/>
        </p:nvSpPr>
        <p:spPr>
          <a:xfrm>
            <a:off x="932688" y="4059935"/>
            <a:ext cx="4751679" cy="566928"/>
          </a:xfrm>
          <a:prstGeom prst="rect">
            <a:avLst/>
          </a:prstGeom>
          <a:noFill/>
        </p:spPr>
        <p:txBody>
          <a:bodyPr wrap="square" anchor="t" lIns="0" rIns="0" tIns="0" bIns="0">
            <a:noAutofit/>
          </a:bodyPr>
          <a:lstStyle/>
          <a:p>
            <a:pPr algn="l">
              <a:lnSpc>
                <a:spcPct val="100000"/>
              </a:lnSpc>
              <a:spcBef>
                <a:spcPts val="0"/>
              </a:spcBef>
              <a:spcAft>
                <a:spcPts val="0"/>
              </a:spcAft>
            </a:pPr>
            <a:r>
              <a:rPr sz="1900" b="0" i="0">
                <a:solidFill>
                  <a:srgbClr val="FFFFFF"/>
                </a:solidFill>
                <a:latin typeface="Segoe UI Semibold"/>
              </a:rPr>
              <a:t>A semantic network that answers queries</a:t>
            </a:r>
          </a:p>
        </p:txBody>
      </p:sp>
      <p:sp>
        <p:nvSpPr>
          <p:cNvPr id="14"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B9C6D0"/>
                </a:solidFill>
                <a:latin typeface="Segoe UI"/>
              </a:rPr>
              <a:t>Artificial Intelligence  ·  Chapter 10  ·  Knowledge Representation</a:t>
            </a:r>
          </a:p>
        </p:txBody>
      </p:sp>
      <p:sp>
        <p:nvSpPr>
          <p:cNvPr id="15" name="!!footR"/>
          <p:cNvSpPr txBox="1"/>
          <p:nvPr/>
        </p:nvSpPr>
        <p:spPr>
          <a:xfrm>
            <a:off x="6639595" y="6437376"/>
            <a:ext cx="4893731" cy="237744"/>
          </a:xfrm>
          <a:prstGeom prst="rect">
            <a:avLst/>
          </a:prstGeom>
          <a:noFill/>
        </p:spPr>
        <p:txBody>
          <a:bodyPr wrap="square" anchor="t" lIns="0" rIns="0" tIns="0" bIns="0">
            <a:noAutofit/>
          </a:bodyPr>
          <a:lstStyle/>
          <a:p>
            <a:pPr algn="r"/>
            <a:fld id="{065DE1AB-A4E4-44AD-B6AC-982333B96111}" type="slidenum">
              <a:rPr lang="en-GB" sz="1000">
                <a:solidFill>
                  <a:srgbClr val="D5DEE5"/>
                </a:solidFill>
                <a:latin typeface="Segoe UI"/>
              </a:rPr>
              <a:t>43</a:t>
            </a:fld>
          </a:p>
        </p:txBody>
      </p:sp>
    </p:spTree>
  </p:cSld>
  <p:clrMapOvr>
    <a:masterClrMapping/>
  </p:clrMapOvr>
  <mc:AlternateContent xmlns:mc="http://schemas.openxmlformats.org/markup-compatibility/2006" xmlns:p14="http://schemas.microsoft.com/office/powerpoint/2010/main">
    <mc:Choice Requires="p14">
      <p:transition spd="med" p14:dur="450">
        <p:fade/>
      </p:transition>
    </mc:Choice>
    <mc:Fallback>
      <p:transition spd="med">
        <p:fade/>
      </p:transition>
    </mc:Fallback>
  </mc:AlternateContent>
</p:sld>
</file>

<file path=ppt/theme/theme1.xml><?xml version="1.0" encoding="utf-8"?>
<a:theme xmlns:a="http://schemas.openxmlformats.org/drawingml/2006/main" name="Artificial Intelligence Fall 2026">
  <a:themeElements>
    <a:clrScheme name="Artificial Intelligence Fall 2026">
      <a:dk1>
        <a:srgbClr val="1C252B"/>
      </a:dk1>
      <a:lt1>
        <a:srgbClr val="FFFFFF"/>
      </a:lt1>
      <a:dk2>
        <a:srgbClr val="1A5276"/>
      </a:dk2>
      <a:lt2>
        <a:srgbClr val="EBF5FB"/>
      </a:lt2>
      <a:accent1>
        <a:srgbClr val="1A5276"/>
      </a:accent1>
      <a:accent2>
        <a:srgbClr val="2E86C1"/>
      </a:accent2>
      <a:accent3>
        <a:srgbClr val="E74C3C"/>
      </a:accent3>
      <a:accent4>
        <a:srgbClr val="27AE60"/>
      </a:accent4>
      <a:accent5>
        <a:srgbClr val="8E44AD"/>
      </a:accent5>
      <a:accent6>
        <a:srgbClr val="B7950B"/>
      </a:accent6>
      <a:hlink>
        <a:srgbClr val="2E86C1"/>
      </a:hlink>
      <a:folHlink>
        <a:srgbClr val="8E44AD"/>
      </a:folHlink>
    </a:clrScheme>
    <a:fontScheme name="Artificial Intelligence Fall 2026">
      <a:majorFont>
        <a:latin typeface="Segoe UI Semibold"/>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Segoe U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Chapter 10: Knowledge Representation</dc:title>
  <dc:subject>Artificial Intelligence — Search, Knowledge and Reasoning · BSIT · Fall 2026</dc:subject>
  <dc:creator>Dr. Mustafa Hameed</dc:creator>
  <cp:keywords>artificial intelligence; lecture slides; BSIT; HEC; Fall 2026</cp:keywords>
  <dc:description>generated using python-pptx</dc:description>
  <cp:lastModifiedBy>Steve Canny</cp:lastModifiedBy>
  <cp:revision>1</cp:revision>
  <dcterms:created xsi:type="dcterms:W3CDTF">2013-01-27T09:14:16Z</dcterms:created>
  <dcterms:modified xsi:type="dcterms:W3CDTF">2013-01-27T09:15:58Z</dcterms:modified>
  <cp:category>Lecture slides</cp:category>
</cp:coreProperties>
</file>