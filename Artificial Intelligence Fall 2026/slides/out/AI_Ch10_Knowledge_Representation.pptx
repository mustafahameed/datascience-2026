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0C264BB-A3F1-41AC-B6FE-E513F1C19371}">
          <p14:sldIdLst>
            <p14:sldId id="256"/>
            <p14:sldId id="257"/>
            <p14:sldId id="258"/>
            <p14:sldId id="259"/>
            <p14:sldId id="260"/>
          </p14:sldIdLst>
        </p14:section>
        <p14:section name="10.5 Where This Course Stops" id="{995D29BE-452E-4223-9B8C-CD183A737F21}">
          <p14:sldIdLst>
            <p14:sldId id="261"/>
          </p14:sldIdLst>
        </p14:section>
        <p14:section name="Checkpoint" id="{A906CFDC-1986-43F5-9FB4-AFDF869D3C35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8DE42B54-BBA8-4871-A75C-B4C0E58D8B69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10: Knowledge Representation. Part 4 — Knowledge, Logic and Reasoning. Week 9: Knowledge representation. Handout pages 101–102.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3 (dictionaries and sets). No logic is assumed; Chapter 11 makes formal what this chapter introduces informally.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knowledge representation; semantic network; is-a; inheritance; frame; slot; default; override; ontology; taxonomy; epistemological adequacy.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11 — Propositional Logic and Inference. READ: Handout Chapter 10, pages 101–102. THIS WEEK'S LAB: A semantic network that answers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74EA0"/>
                </a:solidFill>
                <a:latin typeface="Segoe UI Black"/>
              </a:rPr>
              <a:t>10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Knowledge Representation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PART IV  ·  KNOWLEDGE, LOGIC AND REASONING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CHAPTER 10  ·  WEEK 9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4D8EA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8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C0AE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0C3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0AE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101     </a:t>
            </a:r>
            <a:fld id="{1372A136-F374-48EC-86E2-CD8552175751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441386" y="1755648"/>
            <a:ext cx="173869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A3A95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1386" y="2029967"/>
            <a:ext cx="1738690" cy="4572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509260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09260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9012160" y="1755648"/>
            <a:ext cx="24022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2160" y="2029967"/>
            <a:ext cx="240229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5253" y="2112264"/>
            <a:ext cx="566928" cy="566928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335253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653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95509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60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3646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558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77414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94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4579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89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8675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84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82770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523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9608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185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3704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13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7799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269263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A3A95"/>
                </a:solidFill>
                <a:latin typeface="Segoe UI"/>
              </a:rPr>
              <a:t>Knowledge Representation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3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Representations and Search in Python</a:t>
            </a:r>
          </a:p>
        </p:txBody>
      </p:sp>
      <p:sp>
        <p:nvSpPr>
          <p:cNvPr id="68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69" name="!!chipUS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bUS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tUS11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Propositional Logic and Inference</a:t>
            </a:r>
          </a:p>
        </p:txBody>
      </p:sp>
      <p:sp>
        <p:nvSpPr>
          <p:cNvPr id="72" name="!!chipUS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bUS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chiptUS13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Rule-Based Expert Systems</a:t>
            </a:r>
          </a:p>
        </p:txBody>
      </p:sp>
      <p:sp>
        <p:nvSpPr>
          <p:cNvPr id="7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101     </a:t>
            </a:r>
            <a:fld id="{810D79CA-84D5-4F20-BDF2-E0AAF8A2D043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a knowledge representation must support,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judge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representation against those criteria.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11170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Build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semantic network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answer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queries by inheritance.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Distinguish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frames, slots and defaults,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default override.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268419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an ontology adds, and where this course hands over to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Knowledge Representation and Reasoning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101     </a:t>
            </a:r>
            <a:fld id="{16B4154A-AD68-4A83-BC80-E4C3B7EB5EBF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knowledge rep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97925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knowledge rep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knowledge repr"/>
          <p:cNvSpPr txBox="1"/>
          <p:nvPr/>
        </p:nvSpPr>
        <p:spPr>
          <a:xfrm>
            <a:off x="950976" y="1955291"/>
            <a:ext cx="279637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knowledge representation</a:t>
            </a:r>
          </a:p>
        </p:txBody>
      </p:sp>
      <p:sp>
        <p:nvSpPr>
          <p:cNvPr id="10" name="!!term-semantic netw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929" y="1847088"/>
            <a:ext cx="215263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semantic netw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11945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semantic netwo"/>
          <p:cNvSpPr txBox="1"/>
          <p:nvPr/>
        </p:nvSpPr>
        <p:spPr>
          <a:xfrm>
            <a:off x="4076537" y="1955291"/>
            <a:ext cx="196975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semantic network</a:t>
            </a:r>
          </a:p>
        </p:txBody>
      </p:sp>
      <p:sp>
        <p:nvSpPr>
          <p:cNvPr id="13" name="!!term-is-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2871" y="1847088"/>
            <a:ext cx="78575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is-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88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is-a"/>
          <p:cNvSpPr txBox="1"/>
          <p:nvPr/>
        </p:nvSpPr>
        <p:spPr>
          <a:xfrm>
            <a:off x="6375479" y="1955291"/>
            <a:ext cx="60287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is-a</a:t>
            </a:r>
          </a:p>
        </p:txBody>
      </p:sp>
      <p:sp>
        <p:nvSpPr>
          <p:cNvPr id="16" name="!!term-inheritan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4930" y="1847088"/>
            <a:ext cx="151489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inheritan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294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inheritance"/>
          <p:cNvSpPr txBox="1"/>
          <p:nvPr/>
        </p:nvSpPr>
        <p:spPr>
          <a:xfrm>
            <a:off x="7307538" y="1955291"/>
            <a:ext cx="133201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inheritance</a:t>
            </a:r>
          </a:p>
        </p:txBody>
      </p:sp>
      <p:sp>
        <p:nvSpPr>
          <p:cNvPr id="19" name="!!term-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76132" y="1847088"/>
            <a:ext cx="100134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414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frame"/>
          <p:cNvSpPr txBox="1"/>
          <p:nvPr/>
        </p:nvSpPr>
        <p:spPr>
          <a:xfrm>
            <a:off x="8968740" y="1955291"/>
            <a:ext cx="81846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frame</a:t>
            </a:r>
          </a:p>
        </p:txBody>
      </p:sp>
      <p:sp>
        <p:nvSpPr>
          <p:cNvPr id="22" name="!!term-sl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3784" y="1847088"/>
            <a:ext cx="78927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sl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180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slot"/>
          <p:cNvSpPr txBox="1"/>
          <p:nvPr/>
        </p:nvSpPr>
        <p:spPr>
          <a:xfrm>
            <a:off x="10116392" y="1955291"/>
            <a:ext cx="60639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slot</a:t>
            </a:r>
          </a:p>
        </p:txBody>
      </p:sp>
      <p:sp>
        <p:nvSpPr>
          <p:cNvPr id="25" name="!!term-defau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11740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defau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default"/>
          <p:cNvSpPr txBox="1"/>
          <p:nvPr/>
        </p:nvSpPr>
        <p:spPr>
          <a:xfrm>
            <a:off x="950976" y="2577084"/>
            <a:ext cx="93452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default</a:t>
            </a:r>
          </a:p>
        </p:txBody>
      </p:sp>
      <p:sp>
        <p:nvSpPr>
          <p:cNvPr id="28" name="!!term-overri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22075" y="2468880"/>
            <a:ext cx="124004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overri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009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override"/>
          <p:cNvSpPr txBox="1"/>
          <p:nvPr/>
        </p:nvSpPr>
        <p:spPr>
          <a:xfrm>
            <a:off x="2214683" y="2577084"/>
            <a:ext cx="105716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override</a:t>
            </a:r>
          </a:p>
        </p:txBody>
      </p:sp>
      <p:sp>
        <p:nvSpPr>
          <p:cNvPr id="31" name="!!term-ontolog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8424" y="2468880"/>
            <a:ext cx="131491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ontolog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6440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ontology"/>
          <p:cNvSpPr txBox="1"/>
          <p:nvPr/>
        </p:nvSpPr>
        <p:spPr>
          <a:xfrm>
            <a:off x="3601032" y="2577084"/>
            <a:ext cx="113203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ontology</a:t>
            </a:r>
          </a:p>
        </p:txBody>
      </p:sp>
      <p:sp>
        <p:nvSpPr>
          <p:cNvPr id="34" name="!!term-taxonom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9639" y="2468880"/>
            <a:ext cx="140564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taxonom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765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taxonomy"/>
          <p:cNvSpPr txBox="1"/>
          <p:nvPr/>
        </p:nvSpPr>
        <p:spPr>
          <a:xfrm>
            <a:off x="5062247" y="2577084"/>
            <a:ext cx="122276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taxonomy</a:t>
            </a:r>
          </a:p>
        </p:txBody>
      </p:sp>
      <p:sp>
        <p:nvSpPr>
          <p:cNvPr id="37" name="!!term-epistemolog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1585" y="2468880"/>
            <a:ext cx="296324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epistemolog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960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epistemologica"/>
          <p:cNvSpPr txBox="1"/>
          <p:nvPr/>
        </p:nvSpPr>
        <p:spPr>
          <a:xfrm>
            <a:off x="6614193" y="2577084"/>
            <a:ext cx="278036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epistemological adequacy</a:t>
            </a:r>
          </a:p>
        </p:txBody>
      </p:sp>
      <p:sp>
        <p:nvSpPr>
          <p:cNvPr id="40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101–102     </a:t>
            </a:r>
            <a:fld id="{DEBF1ACB-BAD6-432C-9C96-3045A3FC6A9D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0.1 What a Representation Must Support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10.1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What a Representation Must Support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101  ›</a:t>
            </a:r>
          </a:p>
        </p:txBody>
      </p:sp>
      <p:sp>
        <p:nvSpPr>
          <p:cNvPr id="12" name="!!ag1" descr="Go to section 10.2 Semantic Networks and Inheritance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10.2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Semantic Networks and Inheritance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101  ›</a:t>
            </a:r>
          </a:p>
        </p:txBody>
      </p:sp>
      <p:sp>
        <p:nvSpPr>
          <p:cNvPr id="17" name="!!ag2" descr="Go to section 10.3 Frames, Slots and Defaults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10.3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Frames, Slots and Defaults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101  ›</a:t>
            </a:r>
          </a:p>
        </p:txBody>
      </p:sp>
      <p:sp>
        <p:nvSpPr>
          <p:cNvPr id="22" name="!!ag3" descr="Go to section 10.4 Ontologies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10.4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Ontologies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101  ›</a:t>
            </a:r>
          </a:p>
        </p:txBody>
      </p:sp>
      <p:sp>
        <p:nvSpPr>
          <p:cNvPr id="27" name="!!ag4" descr="Go to section 10.5 Where This Course Stops">
            <a:hlinkClick action="ppaction://hlinksldjump" r:id="rId5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10.5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Where This Course Stops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101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§10.5  ·  Handout p. 101     </a:t>
            </a:r>
            <a:fld id="{8F2142CA-677D-4213-A9D2-D5F9560C3AAC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102  ·  answers in Appendix D     </a:t>
            </a:r>
            <a:fld id="{F380EB94-DE44-483F-97EE-562ED068F258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102  ·  answers in Appendix D     </a:t>
            </a:r>
            <a:fld id="{62107A6C-D4B4-4F5F-BEF0-5B07A2DE0563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102  ·  answers in Appendix D     </a:t>
            </a:r>
            <a:fld id="{ACA5CF65-21C3-4DF8-BE9A-E0A003AAF364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102  ·  answers in Appendix D     </a:t>
            </a:r>
            <a:fld id="{EBFA93CA-5341-4F9C-BACB-EADDDF92083B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102  ·  answers in Appendix D     </a:t>
            </a:r>
            <a:fld id="{FB81573B-4D93-4FEB-B554-E37656F4A762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102  ·  answers in Appendix D     </a:t>
            </a:r>
            <a:fld id="{F9BE4C39-7B84-4A93-8CD3-670020428B8C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102     </a:t>
            </a:r>
            <a:fld id="{720154DD-15F5-4FD2-8AF2-A6401705F01A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What a Representation Must Support.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Semantic Networks and Inheritance.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Frames, Slots and Defaults.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Ontologies.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Where This Course Stops.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102     </a:t>
            </a:r>
            <a:fld id="{6DB74C67-64FE-4518-A837-758E16776F6A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54A9D"/>
                </a:solidFill>
                <a:latin typeface="Segoe UI Black"/>
              </a:rPr>
              <a:t>10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10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11 — Propositional Logic and Inference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10, pages 101–102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A semantic network that answers queries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10  ·  Knowledge Representation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4321AB60-03BB-4F7D-9360-0DDF22FFC623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Knowledge Representation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