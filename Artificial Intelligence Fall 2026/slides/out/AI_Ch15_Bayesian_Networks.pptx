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4DD3B2F-D6AB-4C78-98D8-8076852A656D}">
          <p14:sldIdLst>
            <p14:sldId id="256"/>
            <p14:sldId id="257"/>
            <p14:sldId id="258"/>
            <p14:sldId id="259"/>
            <p14:sldId id="260"/>
          </p14:sldIdLst>
        </p14:section>
        <p14:section name="15.5 Approximate Inference by Sampling" id="{DB489E32-7532-4E23-AE39-B448E16DA892}">
          <p14:sldIdLst>
            <p14:sldId id="261"/>
          </p14:sldIdLst>
        </p14:section>
        <p14:section name="Checkpoint" id="{F38059A4-B190-41F3-971F-4A08F1561AD5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0AD49BF1-A5DF-455C-8772-48F5AD5FB695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15: Bayesian Networks. Part 5 — Reasoning Under Uncertainty. Week 13: Uncertainty and decision making; Bayesian networks. Handout pages 113–114.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14 (Bayes’ rule, conditional independence, marginalisation).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Bayesian network; directed acyclic graph; conditional probability table; parent; enumeration; variable elimination; factor; rejection sampling; likelihood weighting; explaining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16 — Fuzzy Logic. READ: Handout Chapter 15, pages 113–114. THIS WEEK'S LAB: Go/no-go under uncertainty; diagnosing a defect cause. ASSESSMENT: Quiz 3 (Ch 9–13).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88674"/>
                </a:solidFill>
                <a:latin typeface="Segoe UI Black"/>
              </a:rPr>
              <a:t>15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Bayesian Networks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PART V  ·  REASONING UNDER UNCERTAINTY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CD9D4"/>
                </a:solidFill>
                <a:latin typeface="Segoe UI"/>
              </a:rPr>
              <a:t>CHAPTER 15  ·  WEEK 13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4E0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0C5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3BFB9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BD0CC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3BFB9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113     </a:t>
            </a:r>
            <a:fld id="{58F229C8-9F8D-498E-AA73-560A518E41B9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4846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484611" cy="45720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9012160" y="1755648"/>
            <a:ext cx="24022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2160" y="2029967"/>
            <a:ext cx="240229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57206" y="2112264"/>
            <a:ext cx="566928" cy="566928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657206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84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82770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5233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96089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014590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7964"/>
                </a:solidFill>
                <a:latin typeface="Segoe UI"/>
              </a:rPr>
              <a:t>Bayesian Networks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14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Uncertainty and Decision Making</a:t>
            </a:r>
          </a:p>
        </p:txBody>
      </p:sp>
      <p:sp>
        <p:nvSpPr>
          <p:cNvPr id="68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69" name="!!dep-none-USED "/>
          <p:cNvSpPr txBox="1"/>
          <p:nvPr/>
        </p:nvSpPr>
        <p:spPr>
          <a:xfrm>
            <a:off x="6324447" y="3785616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8A4AE"/>
                </a:solidFill>
                <a:latin typeface="Segoe UI"/>
              </a:rPr>
              <a:t>—  no later chapter depends on it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113     </a:t>
            </a:r>
            <a:fld id="{015D55B4-9A61-4F65-B58E-4A0DBCE515A8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Read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Bayesian network as a set of conditional independence claims.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6664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Compute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posterior by enumeration and by variable elimination.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29000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48843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419856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Estimate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posterior by rejection sampling and by likelihood weighting,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say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when sampling is preferable.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268419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7964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the network representation is smaller than the full joint distribution, and by how much.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113     </a:t>
            </a:r>
            <a:fld id="{AFB48C9A-563B-4A90-AE71-4DBF0DE6409E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Bayesian netw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13148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Bayesian netw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Bayesian netwo"/>
          <p:cNvSpPr txBox="1"/>
          <p:nvPr/>
        </p:nvSpPr>
        <p:spPr>
          <a:xfrm>
            <a:off x="950976" y="1955291"/>
            <a:ext cx="19486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Bayesian network</a:t>
            </a:r>
          </a:p>
        </p:txBody>
      </p:sp>
      <p:sp>
        <p:nvSpPr>
          <p:cNvPr id="10" name="!!term-directed acyc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36152" y="1847088"/>
            <a:ext cx="25586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directed acyc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6416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directed acycl"/>
          <p:cNvSpPr txBox="1"/>
          <p:nvPr/>
        </p:nvSpPr>
        <p:spPr>
          <a:xfrm>
            <a:off x="3228760" y="1955291"/>
            <a:ext cx="23757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directed acyclic graph</a:t>
            </a:r>
          </a:p>
        </p:txBody>
      </p:sp>
      <p:sp>
        <p:nvSpPr>
          <p:cNvPr id="13" name="!!term-conditional p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097" y="1847088"/>
            <a:ext cx="317701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conditional p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911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conditional pr"/>
          <p:cNvSpPr txBox="1"/>
          <p:nvPr/>
        </p:nvSpPr>
        <p:spPr>
          <a:xfrm>
            <a:off x="5933705" y="1955291"/>
            <a:ext cx="299413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conditional probability table</a:t>
            </a:r>
          </a:p>
        </p:txBody>
      </p:sp>
      <p:sp>
        <p:nvSpPr>
          <p:cNvPr id="16" name="!!term-par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4414" y="1847088"/>
            <a:ext cx="107150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par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9243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parent"/>
          <p:cNvSpPr txBox="1"/>
          <p:nvPr/>
        </p:nvSpPr>
        <p:spPr>
          <a:xfrm>
            <a:off x="9257022" y="1955291"/>
            <a:ext cx="88862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parent</a:t>
            </a:r>
          </a:p>
        </p:txBody>
      </p:sp>
      <p:sp>
        <p:nvSpPr>
          <p:cNvPr id="19" name="!!term-enumer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67851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enumer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enumeration"/>
          <p:cNvSpPr txBox="1"/>
          <p:nvPr/>
        </p:nvSpPr>
        <p:spPr>
          <a:xfrm>
            <a:off x="950976" y="2577084"/>
            <a:ext cx="149563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enumeration</a:t>
            </a:r>
          </a:p>
        </p:txBody>
      </p:sp>
      <p:sp>
        <p:nvSpPr>
          <p:cNvPr id="22" name="!!term-variable elim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3191" y="2468880"/>
            <a:ext cx="233977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variable elim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120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variable elimi"/>
          <p:cNvSpPr txBox="1"/>
          <p:nvPr/>
        </p:nvSpPr>
        <p:spPr>
          <a:xfrm>
            <a:off x="2775799" y="2577084"/>
            <a:ext cx="215689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variable elimination</a:t>
            </a:r>
          </a:p>
        </p:txBody>
      </p:sp>
      <p:sp>
        <p:nvSpPr>
          <p:cNvPr id="25" name="!!term-fa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69266" y="2468880"/>
            <a:ext cx="100198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fa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728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factor"/>
          <p:cNvSpPr txBox="1"/>
          <p:nvPr/>
        </p:nvSpPr>
        <p:spPr>
          <a:xfrm>
            <a:off x="5261874" y="2577084"/>
            <a:ext cx="81910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factor</a:t>
            </a:r>
          </a:p>
        </p:txBody>
      </p:sp>
      <p:sp>
        <p:nvSpPr>
          <p:cNvPr id="28" name="!!term-rejection s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7552" y="2468880"/>
            <a:ext cx="222835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rejection s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556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rejection samp"/>
          <p:cNvSpPr txBox="1"/>
          <p:nvPr/>
        </p:nvSpPr>
        <p:spPr>
          <a:xfrm>
            <a:off x="6410160" y="2577084"/>
            <a:ext cx="204547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rejection sampling</a:t>
            </a:r>
          </a:p>
        </p:txBody>
      </p:sp>
      <p:sp>
        <p:nvSpPr>
          <p:cNvPr id="31" name="!!term-likelihood we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2215" y="2468880"/>
            <a:ext cx="241374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likelihood we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2023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likelihood wei"/>
          <p:cNvSpPr txBox="1"/>
          <p:nvPr/>
        </p:nvSpPr>
        <p:spPr>
          <a:xfrm>
            <a:off x="8784823" y="2577084"/>
            <a:ext cx="223086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likelihood weighting</a:t>
            </a:r>
          </a:p>
        </p:txBody>
      </p:sp>
      <p:sp>
        <p:nvSpPr>
          <p:cNvPr id="34" name="!!term-explaining aw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98594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explaining aw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explaining awa"/>
          <p:cNvSpPr txBox="1"/>
          <p:nvPr/>
        </p:nvSpPr>
        <p:spPr>
          <a:xfrm>
            <a:off x="950976" y="3198876"/>
            <a:ext cx="180306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explaining away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113–114     </a:t>
            </a:r>
            <a:fld id="{77806840-7C2C-4118-8DC2-9DB0CD91F5A3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5.1 Diagnosing a Defect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15.1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Diagnosing a Defect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113  ›</a:t>
            </a:r>
          </a:p>
        </p:txBody>
      </p:sp>
      <p:sp>
        <p:nvSpPr>
          <p:cNvPr id="12" name="!!ag1" descr="Go to section 15.2 The Network as Independence Claims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15.2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Network as Independence Claims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113  ›</a:t>
            </a:r>
          </a:p>
        </p:txBody>
      </p:sp>
      <p:sp>
        <p:nvSpPr>
          <p:cNvPr id="17" name="!!ag2" descr="Go to section 15.3 Exact Inference by Enumeration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15.3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Exact Inference by Enumeration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113  ›</a:t>
            </a:r>
          </a:p>
        </p:txBody>
      </p:sp>
      <p:sp>
        <p:nvSpPr>
          <p:cNvPr id="22" name="!!ag3" descr="Go to section 15.4 Variable Elimination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15.4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Variable Elimination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113  ›</a:t>
            </a:r>
          </a:p>
        </p:txBody>
      </p:sp>
      <p:sp>
        <p:nvSpPr>
          <p:cNvPr id="27" name="!!ag4" descr="Go to section 15.5 Approximate Inference by Sampling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7964"/>
                </a:solidFill>
                <a:latin typeface="Segoe UI Semibold"/>
              </a:rPr>
              <a:t>15.5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Approximate Inference by Sampling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113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§15.5  ·  Handout p. 113     </a:t>
            </a:r>
            <a:fld id="{B4030869-26C1-4E33-945C-0BAA70B5E2C4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114  ·  answers in Appendix D     </a:t>
            </a:r>
            <a:fld id="{75B659EA-5139-42B9-99E0-4F3C53A49BD1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114  ·  answers in Appendix D     </a:t>
            </a:r>
            <a:fld id="{1E457ADC-A534-4076-ADF7-FD29FDBB3D4A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114  ·  answers in Appendix D     </a:t>
            </a:r>
            <a:fld id="{4EAC44E4-474F-413D-80CA-F6AAE1ED1C7E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114  ·  answers in Appendix D     </a:t>
            </a:r>
            <a:fld id="{B4F058B6-5C28-4A18-A5ED-02F9ED4B6694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114  ·  answers in Appendix D     </a:t>
            </a:r>
            <a:fld id="{57DA586D-90BD-4B55-9B75-2B88645AA51B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114  ·  answers in Appendix D     </a:t>
            </a:r>
            <a:fld id="{E88F141A-A373-4BB2-8179-FF43AF6D6396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114     </a:t>
            </a:r>
            <a:fld id="{B4FA281F-4116-4414-88E1-FEC185E84981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Diagnosing a Defect.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Network as Independence Claims.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Exact Inference by Enumeration.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Variable Elimination.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Approximate Inference by Sampling.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114     </a:t>
            </a:r>
            <a:fld id="{86BC32E4-65C6-49CB-9989-CB16B1C93FD8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79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38470"/>
                </a:solidFill>
                <a:latin typeface="Segoe UI Black"/>
              </a:rPr>
              <a:t>15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15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Chapter 16 — Fuzzy Logic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15, pages 113–114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Go/no-go under uncertainty; diagnosing a defect cause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0C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4CCC4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Quiz 3 (Ch 9–13)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15  ·  Bayesian Networks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AF3AC5B9-5D50-4C3A-AD19-CD1E60738360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15: Bayesian Networks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