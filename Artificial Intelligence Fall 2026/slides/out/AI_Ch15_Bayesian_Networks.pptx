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4.svg" ContentType="image/svg+xml"/>
  <Override PartName="/ppt/media/image65.svg" ContentType="image/svg+xml"/>
  <Override PartName="/ppt/media/image67.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73.svg" ContentType="image/svg+xml"/>
  <Override PartName="/ppt/media/image75.svg" ContentType="image/svg+xml"/>
  <Override PartName="/ppt/media/image76.svg" ContentType="image/svg+xml"/>
  <Override PartName="/ppt/media/image78.svg" ContentType="image/svg+xml"/>
  <Override PartName="/ppt/media/image79.svg" ContentType="image/svg+xml"/>
  <Override PartName="/ppt/media/image8.svg" ContentType="image/svg+xml"/>
  <Override PartName="/ppt/media/image80.svg" ContentType="image/svg+xml"/>
  <Override PartName="/ppt/media/image81.svg" ContentType="image/svg+xml"/>
  <Override PartName="/ppt/media/image8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F0C172-DAE8-4113-BD4B-362FCAD10C9C}">
          <p14:sldIdLst>
            <p14:sldId id="256"/>
            <p14:sldId id="257"/>
            <p14:sldId id="258"/>
            <p14:sldId id="259"/>
            <p14:sldId id="260"/>
          </p14:sldIdLst>
        </p14:section>
        <p14:section name="15.1 Diagnosing a Defect" id="{B1888950-1019-4167-A20B-326E165051F8}">
          <p14:sldIdLst>
            <p14:sldId id="261"/>
            <p14:sldId id="262"/>
            <p14:sldId id="263"/>
            <p14:sldId id="264"/>
          </p14:sldIdLst>
        </p14:section>
        <p14:section name="15.2 Exact Inference by Enumeration" id="{630E7F81-AACE-494A-ABB3-46CE3DFFE7B6}">
          <p14:sldIdLst>
            <p14:sldId id="265"/>
          </p14:sldIdLst>
        </p14:section>
        <p14:section name="15.3 Variable Elimination" id="{3F908F61-458F-4EEF-A290-A56A01164E78}">
          <p14:sldIdLst>
            <p14:sldId id="266"/>
            <p14:sldId id="267"/>
            <p14:sldId id="268"/>
          </p14:sldIdLst>
        </p14:section>
        <p14:section name="15.4 Approximate Inference by Sampling" id="{B4AA07E4-AAE9-4C5C-BE37-9DFC310031B5}">
          <p14:sldIdLst>
            <p14:sldId id="269"/>
          </p14:sldIdLst>
        </p14:section>
        <p14:section name="15.5 Explaining Away" id="{0F751EA3-06F2-46C1-8E90-4D4C07A05A7B}">
          <p14:sldIdLst>
            <p14:sldId id="270"/>
            <p14:sldId id="271"/>
            <p14:sldId id="272"/>
            <p14:sldId id="273"/>
            <p14:sldId id="274"/>
          </p14:sldIdLst>
        </p14:section>
        <p14:section name="Pitfalls" id="{9DCABFE4-A251-4142-AF6B-6AEA4C28F723}">
          <p14:sldIdLst>
            <p14:sldId id="275"/>
          </p14:sldIdLst>
        </p14:section>
        <p14:section name="Lab" id="{61F7A030-74A6-4A18-B5EE-F4DB0C427945}">
          <p14:sldIdLst>
            <p14:sldId id="276"/>
            <p14:sldId id="277"/>
            <p14:sldId id="278"/>
            <p14:sldId id="279"/>
            <p14:sldId id="280"/>
            <p14:sldId id="281"/>
            <p14:sldId id="282"/>
            <p14:sldId id="283"/>
            <p14:sldId id="284"/>
            <p14:sldId id="285"/>
            <p14:sldId id="286"/>
            <p14:sldId id="287"/>
            <p14:sldId id="288"/>
            <p14:sldId id="289"/>
            <p14:sldId id="290"/>
            <p14:sldId id="291"/>
            <p14:sldId id="292"/>
          </p14:sldIdLst>
        </p14:section>
        <p14:section name="Checkpoint" id="{E97ED48D-E27F-4231-988B-136D6F443842}">
          <p14:sldIdLst>
            <p14:sldId id="293"/>
            <p14:sldId id="294"/>
            <p14:sldId id="295"/>
            <p14:sldId id="296"/>
            <p14:sldId id="297"/>
            <p14:sldId id="298"/>
          </p14:sldIdLst>
        </p14:section>
        <p14:section name="Wrap-up" id="{2DF1D42C-B2FD-4C8C-8D49-836636BC6DDA}">
          <p14:sldIdLst>
            <p14:sldId id="299"/>
            <p14:sldId id="300"/>
            <p14:sldId id="301"/>
            <p14:sldId id="302"/>
            <p14:sldId id="303"/>
            <p14:sldId id="304"/>
            <p14:sldId id="305"/>
            <p14:sldId id="306"/>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15: Bayesian Networks. Part 5 — Reasoning Under Uncertainty. Week 13: Uncertainty and decision making; Bayesian networks. Handout pages 156–165.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14 — Bayes’ rule, marginalisation, and above all conditional independence, which is the single idea this whole representation is built 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Bayesian network; directed acyclic graph; conditional probability table; parent; chain rule; enumeration; factor; variable elimination; rejection sampling; likelihood weighting; explaining away; diagnostic and causal direction.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release has been rolled back. Why? The team believes three things make defects likely: a rushed specification, a junior developer working unsupervised, and weak test coverage. A defect in turn makes two things likely: an emergency hotfix, and a rollback. Nobody observes the defect directly — they observe the rollback and want to know what caused it. That is a diagnosis problem, and its structure is what a Bayesian network represents.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15.1 (handout p. 157): The diagnosis network. Causes point to effects, so the arrows run the way the world does; inference then runs against them, from rollback back to cause.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Enumeration recomputes the same subexpressions over and over. Variable elimination computes each once, by pushing sums inward and caching the results as factors. A factor is a table over some subset of the variables. The procedure is: build one factor per node; then for each hidden variable, multiply together every factor mentioning it and sum it out, leaving a new factor; finally multiply what remains and normalise.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 it at scale and the picture inverts completely. Take a chain of services, each of which may be delayed by the one before it, and ask about the first given evidence about the last:</a:t>
            </a:r>
          </a:p>
          <a:p/>
          <a:p>
            <a:r>
              <a:t>Figure 15.2 (handout p. 158): Enumeration against variable elimination on a chain. At six nodes enumeration wins; at fourteen it needs 8,192 terms against 186 operations, and beyond that it stops being an option.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Variable elimination is not always polynomial — its cost is governed by the largest intermediate factor, which depends on the graph’s structure and on the elimination order. On a chain it is linear; on a densely connected graph it is exponential again, and exact inference in general Bayesian networks is NP-hard. When exact inference is out of reach, generate samples from the network and count. Rejection sampling is the obvious method: sample every variable in topological order using its conditional probability table, discard any sample that disagrees with the evidence, and take the proportion among the survivors. It is correct, and it wastes almost everything. Here the evidence Rollback = T has probability about 0.30, so roughly 70% of samples are thrown away: 20,000 samples leave about 6,000 usable. With rarer evidence — and diagnostic evidence is usually rare, since that is why it is interesting — the rejection rate approaches 100% and the method stops working. Likelihood weighting fixes this. Do not sample the evidence variables at all: fix them to their observed values, sample only the rest, and weight each sample by the probability of the evidence given what was sampled. Every sample now counts.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behaviour that justifies the whole apparatus, and that no rule base of Chapter 13 can produce. Learn that there is a defect. Belief in a rushed specification rises from 0.30 to 0.5281 — the defect needs explaining, and a rushed specification is one of the explanations. Now additionally learn that a junior developer was working unsupervised. Belief in a rushed specification falls, to 0.4304. The junior developer already accounts for the defect, so less of the explanatory work is left for the specification to 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network of Figure 15.1, four inference methods, the explaining-away measurement, and the scaling comparison of Figure 15.2.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Set-up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Exact: enumeration.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Exact: variable elimination.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Exact: variable elimination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Exact: variable elimination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Exact: variable elimination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Rejection sampling.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Likelihood weighting.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Likelihood weighting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Likelihood weighting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Likelihood weighting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Explaining away.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15: And where variable elimination earns its keep.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It asserts that each variable is conditionally independent of its non-descendants given its parents. That licenses the chain rule, so the joint factorises into one small table per node. An assertion in Figure 15.1 that could easily be false: there is no edge between Rushed and Junior, which claims they are independent. In many organisations rushed work is precisely what gets handed to the least experienced developer, and if that is true here the network is wrong and will give confidently wrong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Both are consequences of the arithmetic of a common effect. Defect needs explaining, and a rushed specification is one of the available explanations, so its probability rises. Learning that a junior developer was involved supplies a different sufficient explanation, so less explanatory work is left over and the probability of the first cause falls. A forward-chaining rule base cannot reproduce this because it would need a rule whose conclusion becomes weaker when a condition is added — and Chapter 13’s specificity strategy would do the opposite, preferring the rule with more conditions and thus strengthening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It becomes useless when the evidence is rare: it keeps only the fraction of samples that happen to match, so evidence of probability 0.01 throws away 99% of the work, and diagnostic evidence is usually rare because that is what makes it worth reasoning about. Likelihood weighting does not sample the evidence variables at all — it fixes them to their observed values and weights each sample by the probability of the evidence given what was sampled — so every sample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16 — Fuzzy Logic. READ: Handout Chapter 15, pages 156–165. THIS WEEK'S LAB: Go/no-go under uncertainty; diagnosing a defect cause. ASSESSMENT: Quiz 3 (Ch 9–13).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1.xml"/><Relationship Id="rId8" Type="http://schemas.openxmlformats.org/officeDocument/2006/relationships/slide" Target="slide14.xml"/><Relationship Id="rId9" Type="http://schemas.openxmlformats.org/officeDocument/2006/relationships/slide" Target="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13.png"/><Relationship Id="rId5" Type="http://schemas.openxmlformats.org/officeDocument/2006/relationships/image" Target="../media/image14.sv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image" Target="../media/image21.png"/><Relationship Id="rId5" Type="http://schemas.openxmlformats.org/officeDocument/2006/relationships/image" Target="../media/image22.svg"/><Relationship Id="rId6" Type="http://schemas.openxmlformats.org/officeDocument/2006/relationships/image" Target="../media/image23.png"/><Relationship Id="rId7" Type="http://schemas.openxmlformats.org/officeDocument/2006/relationships/image" Target="../media/image24.svg"/><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25.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image" Target="../media/image34.png"/><Relationship Id="rId5" Type="http://schemas.openxmlformats.org/officeDocument/2006/relationships/image" Target="../media/image35.svg"/><Relationship Id="rId6" Type="http://schemas.openxmlformats.org/officeDocument/2006/relationships/image" Target="../media/image36.png"/><Relationship Id="rId7" Type="http://schemas.openxmlformats.org/officeDocument/2006/relationships/image" Target="../media/image37.sv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38.svg"/><Relationship Id="rId4" Type="http://schemas.openxmlformats.org/officeDocument/2006/relationships/image" Target="../media/image39.png"/><Relationship Id="rId5" Type="http://schemas.openxmlformats.org/officeDocument/2006/relationships/image" Target="../media/image40.svg"/><Relationship Id="rId6" Type="http://schemas.openxmlformats.org/officeDocument/2006/relationships/image" Target="../media/image41.png"/><Relationship Id="rId7" Type="http://schemas.openxmlformats.org/officeDocument/2006/relationships/image" Target="../media/image42.sv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2.png"/><Relationship Id="rId3" Type="http://schemas.openxmlformats.org/officeDocument/2006/relationships/image" Target="../media/image43.svg"/><Relationship Id="rId4" Type="http://schemas.openxmlformats.org/officeDocument/2006/relationships/image" Target="../media/image44.png"/><Relationship Id="rId5" Type="http://schemas.openxmlformats.org/officeDocument/2006/relationships/image" Target="../media/image45.svg"/><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49.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0.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1.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2.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3.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4.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5.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6.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7.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8.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59.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60.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61.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62.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63.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64.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8.png"/><Relationship Id="rId3" Type="http://schemas.openxmlformats.org/officeDocument/2006/relationships/image" Target="../media/image65.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7.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70.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1.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72.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3.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5.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4.png"/><Relationship Id="rId3" Type="http://schemas.openxmlformats.org/officeDocument/2006/relationships/image" Target="../media/image76.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image" Target="../media/image78.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image" Target="../media/image79.sv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image" Target="../media/image80.sv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image" Target="../media/image81.sv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7.png"/><Relationship Id="rId3" Type="http://schemas.openxmlformats.org/officeDocument/2006/relationships/image" Target="../media/image82.sv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88674"/>
                </a:solidFill>
                <a:latin typeface="Segoe UI Black"/>
              </a:rPr>
              <a:t>15</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Bayesian Networks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PART V  ·  REASONING UNDER UNCERTAINTY</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CD9D4"/>
                </a:solidFill>
                <a:latin typeface="Segoe UI"/>
              </a:rPr>
              <a:t>CHAPTER 15  ·  WEEK 13</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CFE4E0"/>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0C574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3BFB9"/>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BD0CC"/>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3BFB9"/>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156     </a:t>
            </a:r>
            <a:fld id="{815FC9E9-5639-41E9-A0C3-8E83683AE93F}"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198364" y="1755648"/>
            <a:ext cx="148461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198364" y="2029967"/>
            <a:ext cx="1484611" cy="4572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9012160" y="1755648"/>
            <a:ext cx="240229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9012160" y="2029967"/>
            <a:ext cx="240229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38535"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1470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57206" y="2112264"/>
            <a:ext cx="566928" cy="566928"/>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657206"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15</a:t>
            </a:r>
          </a:p>
        </p:txBody>
      </p:sp>
      <p:sp>
        <p:nvSpPr>
          <p:cNvPr id="49" name="!!dot16">
            <a:extLst>
              <a:ext uri="{C183D7F6-B498-43B3-948B-1728B52AA6E4}">
                <adec:decorative xmlns:adec="http://schemas.microsoft.com/office/drawing/2017/decorative" val="1"/>
              </a:ext>
            </a:extLst>
          </p:cNvPr>
          <p:cNvSpPr/>
          <p:nvPr/>
        </p:nvSpPr>
        <p:spPr>
          <a:xfrm>
            <a:off x="836848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2770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9052331"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96089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46185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37041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871384"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77994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280910"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101894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014590"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07964"/>
                </a:solidFill>
                <a:latin typeface="Segoe UI"/>
              </a:rPr>
              <a:t>Bayesian Networks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14">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14">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14"/>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14  </a:t>
            </a:r>
            <a:r>
              <a:rPr sz="1400" b="0" i="0">
                <a:solidFill>
                  <a:srgbClr val="1C252B"/>
                </a:solidFill>
                <a:latin typeface="Segoe UI"/>
              </a:rPr>
              <a:t>Uncertainty and Decision Making</a:t>
            </a:r>
          </a:p>
        </p:txBody>
      </p:sp>
      <p:sp>
        <p:nvSpPr>
          <p:cNvPr id="68"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69" name="!!chipUS16">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bUS16">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chiptUS16"/>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16  </a:t>
            </a:r>
            <a:r>
              <a:rPr sz="1400" b="0" i="0">
                <a:solidFill>
                  <a:srgbClr val="1C252B"/>
                </a:solidFill>
                <a:latin typeface="Segoe UI"/>
              </a:rPr>
              <a:t>Fuzzy Logic</a:t>
            </a:r>
          </a:p>
        </p:txBody>
      </p:sp>
      <p:sp>
        <p:nvSpPr>
          <p:cNvPr id="72" name="!!chipUS20">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bUS20">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4" name="!!chiptUS20"/>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20  </a:t>
            </a:r>
            <a:r>
              <a:rPr sz="1400" b="0" i="0">
                <a:solidFill>
                  <a:srgbClr val="1C252B"/>
                </a:solidFill>
                <a:latin typeface="Segoe UI"/>
              </a:rPr>
              <a:t>Recent Trends and Applications</a:t>
            </a:r>
          </a:p>
        </p:txBody>
      </p:sp>
      <p:sp>
        <p:nvSpPr>
          <p:cNvPr id="75" name="!!chipUS21">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21">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21"/>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AI and Its Limits</a:t>
            </a:r>
          </a:p>
        </p:txBody>
      </p:sp>
      <p:sp>
        <p:nvSpPr>
          <p:cNvPr id="78" name="!!chipUS22">
            <a:extLst>
              <a:ext uri="{C183D7F6-B498-43B3-948B-1728B52AA6E4}">
                <adec:decorative xmlns:adec="http://schemas.microsoft.com/office/drawing/2017/decorative" val="1"/>
              </a:ext>
            </a:extLst>
          </p:cNvPr>
          <p:cNvSpPr/>
          <p:nvPr/>
        </p:nvSpPr>
        <p:spPr>
          <a:xfrm>
            <a:off x="6324447"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2">
            <a:extLst>
              <a:ext uri="{C183D7F6-B498-43B3-948B-1728B52AA6E4}">
                <adec:decorative xmlns:adec="http://schemas.microsoft.com/office/drawing/2017/decorative" val="1"/>
              </a:ext>
            </a:extLst>
          </p:cNvPr>
          <p:cNvSpPr/>
          <p:nvPr/>
        </p:nvSpPr>
        <p:spPr>
          <a:xfrm>
            <a:off x="6324447"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2"/>
          <p:cNvSpPr txBox="1"/>
          <p:nvPr/>
        </p:nvSpPr>
        <p:spPr>
          <a:xfrm>
            <a:off x="6525615"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22  </a:t>
            </a:r>
            <a:r>
              <a:rPr sz="1400" b="0" i="0">
                <a:solidFill>
                  <a:srgbClr val="1C252B"/>
                </a:solidFill>
                <a:latin typeface="Segoe UI"/>
              </a:rPr>
              <a:t>The Artificial Intelligence Project</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47810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156     </a:t>
            </a:r>
            <a:fld id="{1589BC31-20F8-4C87-9C3C-F639DEE2655A}"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Read</a:t>
            </a:r>
            <a:r>
              <a:rPr sz="2100" b="0" i="0">
                <a:solidFill>
                  <a:srgbClr val="1C252B"/>
                </a:solidFill>
                <a:latin typeface="Segoe UI"/>
              </a:rPr>
              <a:t> a Bayesian network as a set of conditional independence claims, and </a:t>
            </a:r>
            <a:r>
              <a:rPr sz="2100" b="1" i="0">
                <a:solidFill>
                  <a:srgbClr val="1C252B"/>
                </a:solidFill>
                <a:latin typeface="Segoe UI"/>
              </a:rPr>
              <a:t>count</a:t>
            </a:r>
            <a:r>
              <a:rPr sz="2100" b="0" i="0">
                <a:solidFill>
                  <a:srgbClr val="1C252B"/>
                </a:solidFill>
                <a:latin typeface="Segoe UI"/>
              </a:rPr>
              <a:t> the numbers it needs against the full joint.</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11170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Compute</a:t>
            </a:r>
            <a:r>
              <a:rPr sz="2100" b="0" i="0">
                <a:solidFill>
                  <a:srgbClr val="1C252B"/>
                </a:solidFill>
                <a:latin typeface="Segoe UI"/>
              </a:rPr>
              <a:t> a posterior by enumeration and by variable elimination.</a:t>
            </a:r>
          </a:p>
        </p:txBody>
      </p:sp>
      <p:sp>
        <p:nvSpPr>
          <p:cNvPr id="14" name="!!ob2">
            <a:extLst>
              <a:ext uri="{C183D7F6-B498-43B3-948B-1728B52AA6E4}">
                <adec:decorative xmlns:adec="http://schemas.microsoft.com/office/drawing/2017/decorative" val="1"/>
              </a:ext>
            </a:extLst>
          </p:cNvPr>
          <p:cNvSpPr/>
          <p:nvPr/>
        </p:nvSpPr>
        <p:spPr>
          <a:xfrm>
            <a:off x="658368" y="3674059"/>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733495"/>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664915"/>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Estimate</a:t>
            </a:r>
            <a:r>
              <a:rPr sz="2100" b="0" i="0">
                <a:solidFill>
                  <a:srgbClr val="1C252B"/>
                </a:solidFill>
                <a:latin typeface="Segoe UI"/>
              </a:rPr>
              <a:t> a posterior by rejection sampling and by likelihood weighting, and </a:t>
            </a:r>
            <a:r>
              <a:rPr sz="2100" b="1" i="0">
                <a:solidFill>
                  <a:srgbClr val="1C252B"/>
                </a:solidFill>
                <a:latin typeface="Segoe UI"/>
              </a:rPr>
              <a:t>say</a:t>
            </a:r>
            <a:r>
              <a:rPr sz="2100" b="0" i="0">
                <a:solidFill>
                  <a:srgbClr val="1C252B"/>
                </a:solidFill>
                <a:latin typeface="Segoe UI"/>
              </a:rPr>
              <a:t> when each is preferable.</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Recognise</a:t>
            </a:r>
            <a:r>
              <a:rPr sz="2100" b="0" i="0">
                <a:solidFill>
                  <a:srgbClr val="1C252B"/>
                </a:solidFill>
                <a:latin typeface="Segoe UI"/>
              </a:rPr>
              <a:t> </a:t>
            </a:r>
            <a:r>
              <a:rPr sz="2100" b="0" i="1">
                <a:solidFill>
                  <a:srgbClr val="1C252B"/>
                </a:solidFill>
                <a:latin typeface="Segoe UI"/>
              </a:rPr>
              <a:t>explaining away</a:t>
            </a:r>
            <a:r>
              <a:rPr sz="2100" b="0" i="0">
                <a:solidFill>
                  <a:srgbClr val="1C252B"/>
                </a:solidFill>
                <a:latin typeface="Segoe UI"/>
              </a:rPr>
              <a:t>, and </a:t>
            </a:r>
            <a:r>
              <a:rPr sz="2100" b="1" i="0">
                <a:solidFill>
                  <a:srgbClr val="1C252B"/>
                </a:solidFill>
                <a:latin typeface="Segoe UI"/>
              </a:rPr>
              <a:t>explain</a:t>
            </a:r>
            <a:r>
              <a:rPr sz="2100" b="0" i="0">
                <a:solidFill>
                  <a:srgbClr val="1C252B"/>
                </a:solidFill>
                <a:latin typeface="Segoe UI"/>
              </a:rPr>
              <a:t> why it cannot be produced by any rule-based system.</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07964"/>
                </a:solidFill>
                <a:latin typeface="Segoe UI"/>
              </a:rPr>
              <a:t>Judge</a:t>
            </a:r>
            <a:r>
              <a:rPr sz="2100" b="0" i="0">
                <a:solidFill>
                  <a:srgbClr val="1C252B"/>
                </a:solidFill>
                <a:latin typeface="Segoe UI"/>
              </a:rPr>
              <a:t> when variable elimination is worth its overhead.</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1715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156     </a:t>
            </a:r>
            <a:fld id="{DC9B1401-B105-45DE-9AD2-C251A6C28EE7}" type="slidenum">
              <a:rPr lang="en-GB" sz="1000">
                <a:solidFill>
                  <a:srgbClr val="8795A1"/>
                </a:solidFill>
                <a:latin typeface="Segoe UI"/>
              </a:rPr>
              <a:t>4</a:t>
            </a:fld>
          </a:p>
        </p:txBody>
      </p:sp>
      <p:sp>
        <p:nvSpPr>
          <p:cNvPr id="7" name="!!term-Bayesian netwo">
            <a:extLst>
              <a:ext uri="{C183D7F6-B498-43B3-948B-1728B52AA6E4}">
                <adec:decorative xmlns:adec="http://schemas.microsoft.com/office/drawing/2017/decorative" val="1"/>
              </a:ext>
            </a:extLst>
          </p:cNvPr>
          <p:cNvSpPr/>
          <p:nvPr/>
        </p:nvSpPr>
        <p:spPr>
          <a:xfrm>
            <a:off x="658368" y="1847088"/>
            <a:ext cx="21314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Bayesian netwo">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Bayesian netwo"/>
          <p:cNvSpPr txBox="1"/>
          <p:nvPr/>
        </p:nvSpPr>
        <p:spPr>
          <a:xfrm>
            <a:off x="950976" y="1955291"/>
            <a:ext cx="1948600"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Bayesian network</a:t>
            </a:r>
          </a:p>
        </p:txBody>
      </p:sp>
      <p:sp>
        <p:nvSpPr>
          <p:cNvPr id="10" name="!!term-directed acycl">
            <a:extLst>
              <a:ext uri="{C183D7F6-B498-43B3-948B-1728B52AA6E4}">
                <adec:decorative xmlns:adec="http://schemas.microsoft.com/office/drawing/2017/decorative" val="1"/>
              </a:ext>
            </a:extLst>
          </p:cNvPr>
          <p:cNvSpPr/>
          <p:nvPr/>
        </p:nvSpPr>
        <p:spPr>
          <a:xfrm>
            <a:off x="2936152" y="1847088"/>
            <a:ext cx="25586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directed acycl">
            <a:extLst>
              <a:ext uri="{C183D7F6-B498-43B3-948B-1728B52AA6E4}">
                <adec:decorative xmlns:adec="http://schemas.microsoft.com/office/drawing/2017/decorative" val="1"/>
              </a:ext>
            </a:extLst>
          </p:cNvPr>
          <p:cNvSpPr/>
          <p:nvPr/>
        </p:nvSpPr>
        <p:spPr>
          <a:xfrm>
            <a:off x="306416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directed acycl"/>
          <p:cNvSpPr txBox="1"/>
          <p:nvPr/>
        </p:nvSpPr>
        <p:spPr>
          <a:xfrm>
            <a:off x="3228760" y="1955291"/>
            <a:ext cx="237576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directed acyclic graph</a:t>
            </a:r>
          </a:p>
        </p:txBody>
      </p:sp>
      <p:sp>
        <p:nvSpPr>
          <p:cNvPr id="13" name="!!term-conditional pr">
            <a:extLst>
              <a:ext uri="{C183D7F6-B498-43B3-948B-1728B52AA6E4}">
                <adec:decorative xmlns:adec="http://schemas.microsoft.com/office/drawing/2017/decorative" val="1"/>
              </a:ext>
            </a:extLst>
          </p:cNvPr>
          <p:cNvSpPr/>
          <p:nvPr/>
        </p:nvSpPr>
        <p:spPr>
          <a:xfrm>
            <a:off x="5641097" y="1847088"/>
            <a:ext cx="317701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conditional pr">
            <a:extLst>
              <a:ext uri="{C183D7F6-B498-43B3-948B-1728B52AA6E4}">
                <adec:decorative xmlns:adec="http://schemas.microsoft.com/office/drawing/2017/decorative" val="1"/>
              </a:ext>
            </a:extLst>
          </p:cNvPr>
          <p:cNvSpPr/>
          <p:nvPr/>
        </p:nvSpPr>
        <p:spPr>
          <a:xfrm>
            <a:off x="5769113"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conditional pr"/>
          <p:cNvSpPr txBox="1"/>
          <p:nvPr/>
        </p:nvSpPr>
        <p:spPr>
          <a:xfrm>
            <a:off x="5933705" y="1955291"/>
            <a:ext cx="2994133"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conditional probability table</a:t>
            </a:r>
          </a:p>
        </p:txBody>
      </p:sp>
      <p:sp>
        <p:nvSpPr>
          <p:cNvPr id="16" name="!!term-parent">
            <a:extLst>
              <a:ext uri="{C183D7F6-B498-43B3-948B-1728B52AA6E4}">
                <adec:decorative xmlns:adec="http://schemas.microsoft.com/office/drawing/2017/decorative" val="1"/>
              </a:ext>
            </a:extLst>
          </p:cNvPr>
          <p:cNvSpPr/>
          <p:nvPr/>
        </p:nvSpPr>
        <p:spPr>
          <a:xfrm>
            <a:off x="8964414" y="1847088"/>
            <a:ext cx="10715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arent">
            <a:extLst>
              <a:ext uri="{C183D7F6-B498-43B3-948B-1728B52AA6E4}">
                <adec:decorative xmlns:adec="http://schemas.microsoft.com/office/drawing/2017/decorative" val="1"/>
              </a:ext>
            </a:extLst>
          </p:cNvPr>
          <p:cNvSpPr/>
          <p:nvPr/>
        </p:nvSpPr>
        <p:spPr>
          <a:xfrm>
            <a:off x="9092430"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arent"/>
          <p:cNvSpPr txBox="1"/>
          <p:nvPr/>
        </p:nvSpPr>
        <p:spPr>
          <a:xfrm>
            <a:off x="9257022" y="1955291"/>
            <a:ext cx="88862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parent</a:t>
            </a:r>
          </a:p>
        </p:txBody>
      </p:sp>
      <p:sp>
        <p:nvSpPr>
          <p:cNvPr id="19" name="!!term-chain rule">
            <a:extLst>
              <a:ext uri="{C183D7F6-B498-43B3-948B-1728B52AA6E4}">
                <adec:decorative xmlns:adec="http://schemas.microsoft.com/office/drawing/2017/decorative" val="1"/>
              </a:ext>
            </a:extLst>
          </p:cNvPr>
          <p:cNvSpPr/>
          <p:nvPr/>
        </p:nvSpPr>
        <p:spPr>
          <a:xfrm>
            <a:off x="658368" y="2468880"/>
            <a:ext cx="138540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chain rule">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chain rule"/>
          <p:cNvSpPr txBox="1"/>
          <p:nvPr/>
        </p:nvSpPr>
        <p:spPr>
          <a:xfrm>
            <a:off x="950976" y="2577084"/>
            <a:ext cx="120252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chain rule</a:t>
            </a:r>
          </a:p>
        </p:txBody>
      </p:sp>
      <p:sp>
        <p:nvSpPr>
          <p:cNvPr id="22" name="!!term-enumeration">
            <a:extLst>
              <a:ext uri="{C183D7F6-B498-43B3-948B-1728B52AA6E4}">
                <adec:decorative xmlns:adec="http://schemas.microsoft.com/office/drawing/2017/decorative" val="1"/>
              </a:ext>
            </a:extLst>
          </p:cNvPr>
          <p:cNvSpPr/>
          <p:nvPr/>
        </p:nvSpPr>
        <p:spPr>
          <a:xfrm>
            <a:off x="2190080" y="2468880"/>
            <a:ext cx="167851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enumeration">
            <a:extLst>
              <a:ext uri="{C183D7F6-B498-43B3-948B-1728B52AA6E4}">
                <adec:decorative xmlns:adec="http://schemas.microsoft.com/office/drawing/2017/decorative" val="1"/>
              </a:ext>
            </a:extLst>
          </p:cNvPr>
          <p:cNvSpPr/>
          <p:nvPr/>
        </p:nvSpPr>
        <p:spPr>
          <a:xfrm>
            <a:off x="231809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enumeration"/>
          <p:cNvSpPr txBox="1"/>
          <p:nvPr/>
        </p:nvSpPr>
        <p:spPr>
          <a:xfrm>
            <a:off x="2482688" y="2577084"/>
            <a:ext cx="1495639"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enumeration</a:t>
            </a:r>
          </a:p>
        </p:txBody>
      </p:sp>
      <p:sp>
        <p:nvSpPr>
          <p:cNvPr id="25" name="!!term-factor">
            <a:extLst>
              <a:ext uri="{C183D7F6-B498-43B3-948B-1728B52AA6E4}">
                <adec:decorative xmlns:adec="http://schemas.microsoft.com/office/drawing/2017/decorative" val="1"/>
              </a:ext>
            </a:extLst>
          </p:cNvPr>
          <p:cNvSpPr/>
          <p:nvPr/>
        </p:nvSpPr>
        <p:spPr>
          <a:xfrm>
            <a:off x="4014904" y="2468880"/>
            <a:ext cx="100198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factor">
            <a:extLst>
              <a:ext uri="{C183D7F6-B498-43B3-948B-1728B52AA6E4}">
                <adec:decorative xmlns:adec="http://schemas.microsoft.com/office/drawing/2017/decorative" val="1"/>
              </a:ext>
            </a:extLst>
          </p:cNvPr>
          <p:cNvSpPr/>
          <p:nvPr/>
        </p:nvSpPr>
        <p:spPr>
          <a:xfrm>
            <a:off x="4142920"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factor"/>
          <p:cNvSpPr txBox="1"/>
          <p:nvPr/>
        </p:nvSpPr>
        <p:spPr>
          <a:xfrm>
            <a:off x="4307512" y="2577084"/>
            <a:ext cx="81910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factor</a:t>
            </a:r>
          </a:p>
        </p:txBody>
      </p:sp>
      <p:sp>
        <p:nvSpPr>
          <p:cNvPr id="28" name="!!term-variable elimi">
            <a:extLst>
              <a:ext uri="{C183D7F6-B498-43B3-948B-1728B52AA6E4}">
                <adec:decorative xmlns:adec="http://schemas.microsoft.com/office/drawing/2017/decorative" val="1"/>
              </a:ext>
            </a:extLst>
          </p:cNvPr>
          <p:cNvSpPr/>
          <p:nvPr/>
        </p:nvSpPr>
        <p:spPr>
          <a:xfrm>
            <a:off x="5163189" y="2468880"/>
            <a:ext cx="233977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variable elimi">
            <a:extLst>
              <a:ext uri="{C183D7F6-B498-43B3-948B-1728B52AA6E4}">
                <adec:decorative xmlns:adec="http://schemas.microsoft.com/office/drawing/2017/decorative" val="1"/>
              </a:ext>
            </a:extLst>
          </p:cNvPr>
          <p:cNvSpPr/>
          <p:nvPr/>
        </p:nvSpPr>
        <p:spPr>
          <a:xfrm>
            <a:off x="529120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variable elimi"/>
          <p:cNvSpPr txBox="1"/>
          <p:nvPr/>
        </p:nvSpPr>
        <p:spPr>
          <a:xfrm>
            <a:off x="5455797" y="2577084"/>
            <a:ext cx="215689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variable elimination</a:t>
            </a:r>
          </a:p>
        </p:txBody>
      </p:sp>
      <p:sp>
        <p:nvSpPr>
          <p:cNvPr id="31" name="!!term-rejection samp">
            <a:extLst>
              <a:ext uri="{C183D7F6-B498-43B3-948B-1728B52AA6E4}">
                <adec:decorative xmlns:adec="http://schemas.microsoft.com/office/drawing/2017/decorative" val="1"/>
              </a:ext>
            </a:extLst>
          </p:cNvPr>
          <p:cNvSpPr/>
          <p:nvPr/>
        </p:nvSpPr>
        <p:spPr>
          <a:xfrm>
            <a:off x="7649265" y="2468880"/>
            <a:ext cx="222835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rejection samp">
            <a:extLst>
              <a:ext uri="{C183D7F6-B498-43B3-948B-1728B52AA6E4}">
                <adec:decorative xmlns:adec="http://schemas.microsoft.com/office/drawing/2017/decorative" val="1"/>
              </a:ext>
            </a:extLst>
          </p:cNvPr>
          <p:cNvSpPr/>
          <p:nvPr/>
        </p:nvSpPr>
        <p:spPr>
          <a:xfrm>
            <a:off x="7777281"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rejection samp"/>
          <p:cNvSpPr txBox="1"/>
          <p:nvPr/>
        </p:nvSpPr>
        <p:spPr>
          <a:xfrm>
            <a:off x="7941873" y="2577084"/>
            <a:ext cx="204547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rejection sampling</a:t>
            </a:r>
          </a:p>
        </p:txBody>
      </p:sp>
      <p:sp>
        <p:nvSpPr>
          <p:cNvPr id="34" name="!!term-likelihood wei">
            <a:extLst>
              <a:ext uri="{C183D7F6-B498-43B3-948B-1728B52AA6E4}">
                <adec:decorative xmlns:adec="http://schemas.microsoft.com/office/drawing/2017/decorative" val="1"/>
              </a:ext>
            </a:extLst>
          </p:cNvPr>
          <p:cNvSpPr/>
          <p:nvPr/>
        </p:nvSpPr>
        <p:spPr>
          <a:xfrm>
            <a:off x="658368" y="3090672"/>
            <a:ext cx="241374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likelihood wei">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likelihood wei"/>
          <p:cNvSpPr txBox="1"/>
          <p:nvPr/>
        </p:nvSpPr>
        <p:spPr>
          <a:xfrm>
            <a:off x="950976" y="3198876"/>
            <a:ext cx="223086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likelihood weighting</a:t>
            </a:r>
          </a:p>
        </p:txBody>
      </p:sp>
      <p:sp>
        <p:nvSpPr>
          <p:cNvPr id="37" name="!!term-explaining awa">
            <a:extLst>
              <a:ext uri="{C183D7F6-B498-43B3-948B-1728B52AA6E4}">
                <adec:decorative xmlns:adec="http://schemas.microsoft.com/office/drawing/2017/decorative" val="1"/>
              </a:ext>
            </a:extLst>
          </p:cNvPr>
          <p:cNvSpPr/>
          <p:nvPr/>
        </p:nvSpPr>
        <p:spPr>
          <a:xfrm>
            <a:off x="3218413" y="3090672"/>
            <a:ext cx="198594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explaining awa">
            <a:extLst>
              <a:ext uri="{C183D7F6-B498-43B3-948B-1728B52AA6E4}">
                <adec:decorative xmlns:adec="http://schemas.microsoft.com/office/drawing/2017/decorative" val="1"/>
              </a:ext>
            </a:extLst>
          </p:cNvPr>
          <p:cNvSpPr/>
          <p:nvPr/>
        </p:nvSpPr>
        <p:spPr>
          <a:xfrm>
            <a:off x="3346429"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explaining awa"/>
          <p:cNvSpPr txBox="1"/>
          <p:nvPr/>
        </p:nvSpPr>
        <p:spPr>
          <a:xfrm>
            <a:off x="3511021" y="3198876"/>
            <a:ext cx="1803063"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explaining away</a:t>
            </a:r>
          </a:p>
        </p:txBody>
      </p:sp>
      <p:sp>
        <p:nvSpPr>
          <p:cNvPr id="40" name="!!term-diagnostic and">
            <a:extLst>
              <a:ext uri="{C183D7F6-B498-43B3-948B-1728B52AA6E4}">
                <adec:decorative xmlns:adec="http://schemas.microsoft.com/office/drawing/2017/decorative" val="1"/>
              </a:ext>
            </a:extLst>
          </p:cNvPr>
          <p:cNvSpPr/>
          <p:nvPr/>
        </p:nvSpPr>
        <p:spPr>
          <a:xfrm>
            <a:off x="5350660" y="3090672"/>
            <a:ext cx="344330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diagnostic and">
            <a:extLst>
              <a:ext uri="{C183D7F6-B498-43B3-948B-1728B52AA6E4}">
                <adec:decorative xmlns:adec="http://schemas.microsoft.com/office/drawing/2017/decorative" val="1"/>
              </a:ext>
            </a:extLst>
          </p:cNvPr>
          <p:cNvSpPr/>
          <p:nvPr/>
        </p:nvSpPr>
        <p:spPr>
          <a:xfrm>
            <a:off x="547867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diagnostic and"/>
          <p:cNvSpPr txBox="1"/>
          <p:nvPr/>
        </p:nvSpPr>
        <p:spPr>
          <a:xfrm>
            <a:off x="5643268" y="3198876"/>
            <a:ext cx="326042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diagnostic and causal direction</a:t>
            </a:r>
          </a:p>
        </p:txBody>
      </p:sp>
      <p:sp>
        <p:nvSpPr>
          <p:cNvPr id="43"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pfill">
            <a:extLst>
              <a:ext uri="{C183D7F6-B498-43B3-948B-1728B52AA6E4}">
                <adec:decorative xmlns:adec="http://schemas.microsoft.com/office/drawing/2017/decorative" val="1"/>
              </a:ext>
            </a:extLst>
          </p:cNvPr>
          <p:cNvSpPr/>
          <p:nvPr/>
        </p:nvSpPr>
        <p:spPr>
          <a:xfrm>
            <a:off x="0" y="0"/>
            <a:ext cx="95621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156–165     </a:t>
            </a:r>
            <a:fld id="{849E11DD-FAE6-4472-9EF2-14B5B4B89B3B}" type="slidenum">
              <a:rPr lang="en-GB" sz="1000">
                <a:solidFill>
                  <a:srgbClr val="8795A1"/>
                </a:solidFill>
                <a:latin typeface="Segoe UI"/>
              </a:rPr>
              <a:t>5</a:t>
            </a:fld>
          </a:p>
        </p:txBody>
      </p:sp>
      <p:sp>
        <p:nvSpPr>
          <p:cNvPr id="7" name="!!ag0" descr="Go to section 15.1 Diagnosing a Defect">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15.1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Diagnosing a Defect</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156  ›</a:t>
            </a:r>
          </a:p>
        </p:txBody>
      </p:sp>
      <p:sp>
        <p:nvSpPr>
          <p:cNvPr id="12" name="!!ag1" descr="Go to section 15.2 Exact Inference by Enumeration">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15.2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Exact Inference by Enumeration</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157  ›</a:t>
            </a:r>
          </a:p>
        </p:txBody>
      </p:sp>
      <p:sp>
        <p:nvSpPr>
          <p:cNvPr id="17" name="!!ag2" descr="Go to section 15.3 Variable Elimination">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15.3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Variable Elimination</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158  ›</a:t>
            </a:r>
          </a:p>
        </p:txBody>
      </p:sp>
      <p:sp>
        <p:nvSpPr>
          <p:cNvPr id="22" name="!!ag3" descr="Go to section 15.4 Approximate Inference by Sampling">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15.4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Approximate Inference by Sampling</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158  ›</a:t>
            </a:r>
          </a:p>
        </p:txBody>
      </p:sp>
      <p:sp>
        <p:nvSpPr>
          <p:cNvPr id="27" name="!!ag4" descr="Go to section 15.5 Explaining Away">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07964"/>
                </a:solidFill>
                <a:latin typeface="Segoe UI Semibold"/>
              </a:rPr>
              <a:t>15.5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Explaining Away</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159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19526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Diagnosing a Defect</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1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15.1</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15.1   Diagnosing a Defect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15.2   Exact Inference by Enumeration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15.3   Variable Elimination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15.4   Approximate Inference by Sampling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15.5   Explaining Away</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§15.1     </a:t>
            </a:r>
            <a:fld id="{937F6034-710D-456B-A948-3AC56EAFAE65}" type="slidenum">
              <a:rPr lang="en-GB" sz="1000">
                <a:solidFill>
                  <a:srgbClr val="8795A1"/>
                </a:solidFill>
                <a:latin typeface="Segoe UI"/>
              </a:rPr>
              <a:t>6</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43431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Bayesian network</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§15.1  ·  Handout p. 156     </a:t>
            </a:r>
            <a:fld id="{4374551A-CF28-4856-9217-B2A2FB383667}"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54591"/>
          </a:xfrm>
          <a:prstGeom prst="roundRect">
            <a:avLst>
              <a:gd name="adj" fmla="val 205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54591"/>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A </a:t>
            </a:r>
            <a:r>
              <a:rPr sz="2200" b="1" i="0">
                <a:solidFill>
                  <a:srgbClr val="1A5276"/>
                </a:solidFill>
                <a:latin typeface="Segoe UI"/>
              </a:rPr>
              <a:t>Bayesian network</a:t>
            </a:r>
            <a:r>
              <a:rPr sz="2200" b="0" i="0">
                <a:solidFill>
                  <a:srgbClr val="1C252B"/>
                </a:solidFill>
                <a:latin typeface="Segoe UI"/>
              </a:rPr>
              <a:t> is a directed acyclic graph in which each node is a random variable and each node carries a </a:t>
            </a:r>
            <a:r>
              <a:rPr sz="2200" b="1" i="0">
                <a:solidFill>
                  <a:srgbClr val="1A5276"/>
                </a:solidFill>
                <a:latin typeface="Segoe UI"/>
              </a:rPr>
              <a:t>conditional probability table</a:t>
            </a:r>
            <a:r>
              <a:rPr sz="2200" b="0" i="0">
                <a:solidFill>
                  <a:srgbClr val="1C252B"/>
                </a:solidFill>
                <a:latin typeface="Segoe UI"/>
              </a:rPr>
              <a:t> giving </a:t>
            </a:r>
            <a:r>
              <a:rPr sz="2200" b="0" i="1">
                <a:solidFill>
                  <a:srgbClr val="1C252B"/>
                </a:solidFill>
                <a:latin typeface="Cambria"/>
              </a:rPr>
              <a:t>P</a:t>
            </a:r>
            <a:r>
              <a:rPr sz="2200" b="0" i="0">
                <a:solidFill>
                  <a:srgbClr val="1C252B"/>
                </a:solidFill>
                <a:latin typeface="Cambria"/>
              </a:rPr>
              <a:t>(</a:t>
            </a:r>
            <a:r>
              <a:rPr sz="2200" b="0" i="0">
                <a:solidFill>
                  <a:srgbClr val="1C252B"/>
                </a:solidFill>
                <a:latin typeface="Segoe UI"/>
              </a:rPr>
              <a:t>node</a:t>
            </a:r>
            <a:r>
              <a:rPr sz="2200" b="0" i="0">
                <a:solidFill>
                  <a:srgbClr val="1C252B"/>
                </a:solidFill>
                <a:latin typeface="Cambria"/>
              </a:rPr>
              <a:t> ∣ </a:t>
            </a:r>
            <a:r>
              <a:rPr sz="2200" b="0" i="0">
                <a:solidFill>
                  <a:srgbClr val="1C252B"/>
                </a:solidFill>
                <a:latin typeface="Segoe UI"/>
              </a:rPr>
              <a:t>its parents</a:t>
            </a:r>
            <a:r>
              <a:rPr sz="2200" b="0" i="0">
                <a:solidFill>
                  <a:srgbClr val="1C252B"/>
                </a:solidFill>
                <a:latin typeface="Cambria"/>
              </a:rPr>
              <a:t>)</a:t>
            </a:r>
            <a:r>
              <a:rPr sz="2200" b="0" i="0">
                <a:solidFill>
                  <a:srgbClr val="1C252B"/>
                </a:solidFill>
                <a:latin typeface="Segoe UI"/>
              </a:rPr>
              <a:t>.</a:t>
            </a:r>
          </a:p>
        </p:txBody>
      </p:sp>
      <p:sp>
        <p:nvSpPr>
          <p:cNvPr id="10" name="body-1"/>
          <p:cNvSpPr txBox="1"/>
          <p:nvPr/>
        </p:nvSpPr>
        <p:spPr>
          <a:xfrm>
            <a:off x="1060704" y="3247999"/>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graph asserts that </a:t>
            </a:r>
            <a:r>
              <a:rPr sz="2200" b="0" i="1">
                <a:solidFill>
                  <a:srgbClr val="1C252B"/>
                </a:solidFill>
                <a:latin typeface="Segoe UI"/>
              </a:rPr>
              <a:t>each variable is conditionally independent of its non-descendants given its parents</a:t>
            </a:r>
            <a:r>
              <a:rPr sz="2200" b="0" i="0">
                <a:solidFill>
                  <a:srgbClr val="1C252B"/>
                </a:solidFill>
                <a:latin typeface="Segoe UI"/>
              </a:rPr>
              <a:t>. That assertion licenses the chain rule</a:t>
            </a:r>
          </a:p>
        </p:txBody>
      </p:sp>
      <p:pic>
        <p:nvPicPr>
          <p:cNvPr id="11" name="body-2" descr="P(x_{1}, \ldots, x_{n}) \;=\; \prod_{i=1}^{n} P\bigl(x_{i} \mid \mathrm{parents}(x_{i})\big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4099052"/>
            <a:ext cx="10161727" cy="930950"/>
          </a:xfrm>
          <a:prstGeom prst="rect">
            <a:avLst/>
          </a:prstGeom>
        </p:spPr>
      </p:pic>
      <p:sp>
        <p:nvSpPr>
          <p:cNvPr id="12" name="body-3"/>
          <p:cNvSpPr txBox="1"/>
          <p:nvPr/>
        </p:nvSpPr>
        <p:spPr>
          <a:xfrm>
            <a:off x="1060704" y="5183672"/>
            <a:ext cx="10161727"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so the full joint distribution is recoverable from the tables — which is why the tables are all you have to store, and all anybody has to estimate.</a:t>
            </a:r>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167336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diagnosis network</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15.1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§15.1  ·  Handout p. 156     </a:t>
            </a:r>
            <a:fld id="{24756308-F0F5-42E3-8F36-2651E89CF13E}" type="slidenum">
              <a:rPr lang="en-GB" sz="1000">
                <a:solidFill>
                  <a:srgbClr val="8795A1"/>
                </a:solidFill>
                <a:latin typeface="Segoe UI"/>
              </a:rPr>
              <a:t>8</a:t>
            </a:fld>
          </a:p>
        </p:txBody>
      </p:sp>
      <p:pic>
        <p:nvPicPr>
          <p:cNvPr id="6" name="!!figure" descr="Figure 15.1. The diagnosis network. Causes point to effects, so the arrows run the way the world does; inference then runs against them, from rollback back to cause."/>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419210" y="1737360"/>
            <a:ext cx="5353274"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Causes point to effects, so the arrows run the way the world does; inference then runs against them, from rollback back to cause.</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91242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missing arrows say</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§15.1  ·  Handout p. 156     </a:t>
            </a:r>
            <a:fld id="{0E23A98F-3C6A-483F-A57D-42F3F4B816B0}" type="slidenum">
              <a:rPr lang="en-GB" sz="1000">
                <a:solidFill>
                  <a:srgbClr val="8795A1"/>
                </a:solidFill>
                <a:latin typeface="Segoe UI"/>
              </a:rPr>
              <a:t>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23969"/>
          </a:xfrm>
          <a:prstGeom prst="roundRect">
            <a:avLst>
              <a:gd name="adj" fmla="val 2164"/>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23969"/>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content of a Bayesian network is in the edges it </a:t>
            </a:r>
            <a:r>
              <a:rPr sz="2300" b="0" i="1">
                <a:solidFill>
                  <a:srgbClr val="1C252B"/>
                </a:solidFill>
                <a:latin typeface="Segoe UI"/>
              </a:rPr>
              <a:t>lacks</a:t>
            </a:r>
            <a:r>
              <a:rPr sz="2300" b="0" i="0">
                <a:solidFill>
                  <a:srgbClr val="1C252B"/>
                </a:solidFill>
                <a:latin typeface="Segoe UI"/>
              </a:rPr>
              <a:t>.</a:t>
            </a:r>
          </a:p>
        </p:txBody>
      </p:sp>
      <p:sp>
        <p:nvSpPr>
          <p:cNvPr id="10" name="body-1"/>
          <p:cNvSpPr txBox="1"/>
          <p:nvPr/>
        </p:nvSpPr>
        <p:spPr>
          <a:xfrm>
            <a:off x="1060704" y="2573451"/>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There is no arrow from </a:t>
            </a:r>
            <a:r>
              <a:rPr sz="2300" b="0" i="1">
                <a:solidFill>
                  <a:srgbClr val="1C252B"/>
                </a:solidFill>
                <a:latin typeface="Segoe UI"/>
              </a:rPr>
              <a:t>Hotfix</a:t>
            </a:r>
            <a:r>
              <a:rPr sz="2300" b="0" i="0">
                <a:solidFill>
                  <a:srgbClr val="1C252B"/>
                </a:solidFill>
                <a:latin typeface="Segoe UI"/>
              </a:rPr>
              <a:t> to </a:t>
            </a:r>
            <a:r>
              <a:rPr sz="2300" b="0" i="1">
                <a:solidFill>
                  <a:srgbClr val="1C252B"/>
                </a:solidFill>
                <a:latin typeface="Segoe UI"/>
              </a:rPr>
              <a:t>Rollback</a:t>
            </a:r>
            <a:r>
              <a:rPr sz="2300" b="0" i="0">
                <a:solidFill>
                  <a:srgbClr val="1C252B"/>
                </a:solidFill>
                <a:latin typeface="Segoe UI"/>
              </a:rPr>
              <a:t>, which asserts that once you know whether there is a defect, learning that a hotfix was issued tells you nothing further about whether a rollback happened. There is no arrow between </a:t>
            </a:r>
            <a:r>
              <a:rPr sz="2300" b="0" i="1">
                <a:solidFill>
                  <a:srgbClr val="1C252B"/>
                </a:solidFill>
                <a:latin typeface="Segoe UI"/>
              </a:rPr>
              <a:t>Rushed</a:t>
            </a:r>
            <a:r>
              <a:rPr sz="2300" b="0" i="0">
                <a:solidFill>
                  <a:srgbClr val="1C252B"/>
                </a:solidFill>
                <a:latin typeface="Segoe UI"/>
              </a:rPr>
              <a:t> and </a:t>
            </a:r>
            <a:r>
              <a:rPr sz="2300" b="0" i="1">
                <a:solidFill>
                  <a:srgbClr val="1C252B"/>
                </a:solidFill>
                <a:latin typeface="Segoe UI"/>
              </a:rPr>
              <a:t>Junior</a:t>
            </a:r>
            <a:r>
              <a:rPr sz="2300" b="0" i="0">
                <a:solidFill>
                  <a:srgbClr val="1C252B"/>
                </a:solidFill>
                <a:latin typeface="Segoe UI"/>
              </a:rPr>
              <a:t>, asserting they are independent before any evidence.</a:t>
            </a:r>
          </a:p>
        </p:txBody>
      </p:sp>
      <p:sp>
        <p:nvSpPr>
          <p:cNvPr id="11" name="body-2"/>
          <p:cNvSpPr txBox="1"/>
          <p:nvPr/>
        </p:nvSpPr>
        <p:spPr>
          <a:xfrm>
            <a:off x="1060704" y="4192270"/>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Those are substantive claims about the domain and they can be wrong. If rushed specifications are usually handed to junior developers, the second claim is false and the network will give confidently wrong answers. </a:t>
            </a:r>
            <a:r>
              <a:rPr sz="2300" b="0" i="1">
                <a:solidFill>
                  <a:srgbClr val="1C252B"/>
                </a:solidFill>
                <a:latin typeface="Segoe UI"/>
              </a:rPr>
              <a:t>Drawing the graph is the modelling; the numbers are the easy part.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15147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Exact Inference by Enumeration</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§15.2  ·  Handout p. 157     </a:t>
            </a:r>
            <a:fld id="{0973032A-8A4D-45F8-AAC0-C9302DAB15B4}" type="slidenum">
              <a:rPr lang="en-GB" sz="1000">
                <a:solidFill>
                  <a:srgbClr val="8795A1"/>
                </a:solidFill>
                <a:latin typeface="Segoe UI"/>
              </a:rPr>
              <a:t>10</a:t>
            </a:fld>
          </a:p>
        </p:txBody>
      </p:sp>
      <p:sp>
        <p:nvSpPr>
          <p:cNvPr id="7" name="!!stbar">
            <a:extLst>
              <a:ext uri="{C183D7F6-B498-43B3-948B-1728B52AA6E4}">
                <adec:decorative xmlns:adec="http://schemas.microsoft.com/office/drawing/2017/decorative" val="1"/>
              </a:ext>
            </a:extLst>
          </p:cNvPr>
          <p:cNvSpPr/>
          <p:nvPr/>
        </p:nvSpPr>
        <p:spPr>
          <a:xfrm>
            <a:off x="658368" y="1810512"/>
            <a:ext cx="73152" cy="4150903"/>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378561"/>
          </a:xfrm>
          <a:prstGeom prst="rect">
            <a:avLst/>
          </a:prstGeom>
          <a:noFill/>
        </p:spPr>
        <p:txBody>
          <a:bodyPr wrap="square" anchor="t" lIns="0" rIns="0" tIns="0" bIns="0">
            <a:noAutofit/>
          </a:bodyPr>
          <a:lstStyle/>
          <a:p>
            <a:pPr algn="l">
              <a:lnSpc>
                <a:spcPct val="104000"/>
              </a:lnSpc>
              <a:spcBef>
                <a:spcPts val="0"/>
              </a:spcBef>
              <a:spcAft>
                <a:spcPts val="0"/>
              </a:spcAft>
            </a:pPr>
            <a:r>
              <a:rPr sz="2100" b="0" i="1">
                <a:solidFill>
                  <a:srgbClr val="1C252B"/>
                </a:solidFill>
                <a:latin typeface="Cambria"/>
              </a:rPr>
              <a:t>P</a:t>
            </a:r>
            <a:r>
              <a:rPr sz="2100" b="0" i="0">
                <a:solidFill>
                  <a:srgbClr val="1C252B"/>
                </a:solidFill>
                <a:latin typeface="Cambria"/>
              </a:rPr>
              <a:t>(</a:t>
            </a:r>
            <a:r>
              <a:rPr sz="2100" b="0" i="1">
                <a:solidFill>
                  <a:srgbClr val="1C252B"/>
                </a:solidFill>
                <a:latin typeface="Cambria"/>
              </a:rPr>
              <a:t>Rushed</a:t>
            </a:r>
            <a:r>
              <a:rPr sz="2100" b="0" i="0">
                <a:solidFill>
                  <a:srgbClr val="1C252B"/>
                </a:solidFill>
                <a:latin typeface="Cambria"/>
              </a:rPr>
              <a:t> ∣ </a:t>
            </a:r>
            <a:r>
              <a:rPr sz="2100" b="0" i="1">
                <a:solidFill>
                  <a:srgbClr val="1C252B"/>
                </a:solidFill>
                <a:latin typeface="Cambria"/>
              </a:rPr>
              <a:t>Rollback</a:t>
            </a:r>
            <a:r>
              <a:rPr sz="2100" b="0" i="0">
                <a:solidFill>
                  <a:srgbClr val="1C252B"/>
                </a:solidFill>
                <a:latin typeface="Cambria"/>
              </a:rPr>
              <a:t>)</a:t>
            </a:r>
            <a:r>
              <a:rPr sz="2100" b="0" i="0">
                <a:solidFill>
                  <a:srgbClr val="1C252B"/>
                </a:solidFill>
                <a:latin typeface="Segoe UI"/>
              </a:rPr>
              <a:t> follows directly from the definition:</a:t>
            </a:r>
          </a:p>
        </p:txBody>
      </p:sp>
      <p:pic>
        <p:nvPicPr>
          <p:cNvPr id="9" name="body-1" descr="P(r \mid b) \;=\; \alpha \sum_{j,w,d,h} P(r)P(j)P(w) P(d \mid r,j,w) P(h \mid d) P(b \mid d)"/>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5" y="2271750"/>
            <a:ext cx="10417759" cy="765444"/>
          </a:xfrm>
          <a:prstGeom prst="rect">
            <a:avLst/>
          </a:prstGeom>
        </p:spPr>
      </p:pic>
      <p:sp>
        <p:nvSpPr>
          <p:cNvPr id="10" name="body-2"/>
          <p:cNvSpPr txBox="1"/>
          <p:nvPr/>
        </p:nvSpPr>
        <p:spPr>
          <a:xfrm>
            <a:off x="1042415" y="3183879"/>
            <a:ext cx="1041775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Sum the joint over every hidden variable, for each value of the query, and normalise. On this network that is </a:t>
            </a:r>
            <a:r>
              <a:rPr sz="2100" b="0" i="0">
                <a:solidFill>
                  <a:srgbClr val="1C252B"/>
                </a:solidFill>
                <a:latin typeface="Cambria"/>
              </a:rPr>
              <a:t>32</a:t>
            </a:r>
            <a:r>
              <a:rPr sz="2100" b="0" i="0">
                <a:solidFill>
                  <a:srgbClr val="1C252B"/>
                </a:solidFill>
                <a:latin typeface="Segoe UI"/>
              </a:rPr>
              <a:t> terms, and the answer is</a:t>
            </a:r>
          </a:p>
        </p:txBody>
      </p:sp>
      <p:pic>
        <p:nvPicPr>
          <p:cNvPr id="11" name="body-3" descr="P(\mathit{Rushed} \mid \mathit{Rollback}) \;=\; 0.4899"/>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5" y="3996248"/>
            <a:ext cx="10417759" cy="358719"/>
          </a:xfrm>
          <a:prstGeom prst="rect">
            <a:avLst/>
          </a:prstGeom>
        </p:spPr>
      </p:pic>
      <p:sp>
        <p:nvSpPr>
          <p:cNvPr id="12" name="body-4"/>
          <p:cNvSpPr txBox="1"/>
          <p:nvPr/>
        </p:nvSpPr>
        <p:spPr>
          <a:xfrm>
            <a:off x="1042415" y="4501652"/>
            <a:ext cx="1041775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against a prior of </a:t>
            </a:r>
            <a:r>
              <a:rPr sz="2100" b="0" i="0">
                <a:solidFill>
                  <a:srgbClr val="1C252B"/>
                </a:solidFill>
                <a:latin typeface="Cambria"/>
              </a:rPr>
              <a:t>0.30</a:t>
            </a:r>
            <a:r>
              <a:rPr sz="2100" b="0" i="0">
                <a:solidFill>
                  <a:srgbClr val="1C252B"/>
                </a:solidFill>
                <a:latin typeface="Segoe UI"/>
              </a:rPr>
              <a:t>. A rollback makes a rushed specification substantially more likely — not because any rule says so, but because the arithmetic of the graph says so.</a:t>
            </a:r>
          </a:p>
        </p:txBody>
      </p:sp>
      <p:sp>
        <p:nvSpPr>
          <p:cNvPr id="13" name="body-5"/>
          <p:cNvSpPr txBox="1"/>
          <p:nvPr/>
        </p:nvSpPr>
        <p:spPr>
          <a:xfrm>
            <a:off x="1042415" y="5314020"/>
            <a:ext cx="10417759" cy="711403"/>
          </a:xfrm>
          <a:prstGeom prst="rect">
            <a:avLst/>
          </a:prstGeom>
          <a:noFill/>
        </p:spPr>
        <p:txBody>
          <a:bodyPr wrap="square" anchor="t" lIns="0" rIns="0" tIns="0" bIns="0">
            <a:noAutofit/>
          </a:bodyPr>
          <a:lstStyle/>
          <a:p>
            <a:pPr algn="l">
              <a:lnSpc>
                <a:spcPct val="104000"/>
              </a:lnSpc>
              <a:spcBef>
                <a:spcPts val="0"/>
              </a:spcBef>
              <a:spcAft>
                <a:spcPts val="0"/>
              </a:spcAft>
            </a:pPr>
            <a:r>
              <a:rPr sz="2100" b="0" i="0">
                <a:solidFill>
                  <a:srgbClr val="1C252B"/>
                </a:solidFill>
                <a:latin typeface="Segoe UI"/>
              </a:rPr>
              <a:t>Enumeration is exact and it is </a:t>
            </a:r>
            <a:r>
              <a:rPr sz="2100" b="0" i="1">
                <a:solidFill>
                  <a:srgbClr val="1C252B"/>
                </a:solidFill>
                <a:latin typeface="Cambria"/>
              </a:rPr>
              <a:t>O</a:t>
            </a:r>
            <a:r>
              <a:rPr sz="2100" b="0" i="0">
                <a:solidFill>
                  <a:srgbClr val="1C252B"/>
                </a:solidFill>
                <a:latin typeface="Cambria"/>
              </a:rPr>
              <a:t>(2</a:t>
            </a:r>
            <a:r>
              <a:rPr sz="1400" b="0" i="1" baseline="30000">
                <a:solidFill>
                  <a:srgbClr val="1C252B"/>
                </a:solidFill>
                <a:latin typeface="Cambria"/>
              </a:rPr>
              <a:t>n</a:t>
            </a:r>
            <a:r>
              <a:rPr sz="2100" b="0" i="0">
                <a:solidFill>
                  <a:srgbClr val="1C252B"/>
                </a:solidFill>
                <a:latin typeface="Cambria"/>
              </a:rPr>
              <a:t>)</a:t>
            </a:r>
            <a:r>
              <a:rPr sz="2100" b="0" i="0">
                <a:solidFill>
                  <a:srgbClr val="1C252B"/>
                </a:solidFill>
                <a:latin typeface="Segoe UI"/>
              </a:rPr>
              <a:t>. That is Chapter 11’s model checking again, and it fails for the same reason.</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239052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5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450"/>
                                        <p:tgtEl>
                                          <p:spTgt spid="1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Variable Elimination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3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15.3</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15.1   Diagnosing a Defect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15.2   Exact Inference by Enumeration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15.3   Variable Elimination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15.4   Approximate Inference by Sampling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15.5   Explaining Away</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§15.3     </a:t>
            </a:r>
            <a:fld id="{EC8EA2AB-8A4C-405B-8955-4101A3FB9D60}" type="slidenum">
              <a:rPr lang="en-GB" sz="1000">
                <a:solidFill>
                  <a:srgbClr val="8795A1"/>
                </a:solidFill>
                <a:latin typeface="Segoe UI"/>
              </a:rPr>
              <a:t>11</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62958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 this network, variable elimination is slower</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§15.3  ·  Handout p. 158     </a:t>
            </a:r>
            <a:fld id="{7BBCA863-F416-485B-9877-DE1117221BE6}" type="slidenum">
              <a:rPr lang="en-GB" sz="1000">
                <a:solidFill>
                  <a:srgbClr val="8795A1"/>
                </a:solidFill>
                <a:latin typeface="Segoe UI"/>
              </a:rPr>
              <a:t>12</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34232"/>
          </a:xfrm>
          <a:prstGeom prst="roundRect">
            <a:avLst>
              <a:gd name="adj" fmla="val 2742"/>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34232"/>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It uses </a:t>
            </a:r>
            <a:r>
              <a:rPr sz="2300" b="0" i="0">
                <a:solidFill>
                  <a:srgbClr val="1C252B"/>
                </a:solidFill>
                <a:latin typeface="Cambria"/>
              </a:rPr>
              <a:t>74</a:t>
            </a:r>
            <a:r>
              <a:rPr sz="2300" b="0" i="0">
                <a:solidFill>
                  <a:srgbClr val="1C252B"/>
                </a:solidFill>
                <a:latin typeface="Segoe UI"/>
              </a:rPr>
              <a:t> operations where enumeration uses </a:t>
            </a:r>
            <a:r>
              <a:rPr sz="2300" b="0" i="0">
                <a:solidFill>
                  <a:srgbClr val="1C252B"/>
                </a:solidFill>
                <a:latin typeface="Cambria"/>
              </a:rPr>
              <a:t>32</a:t>
            </a:r>
            <a:r>
              <a:rPr sz="2300" b="0" i="0">
                <a:solidFill>
                  <a:srgbClr val="1C252B"/>
                </a:solidFill>
                <a:latin typeface="Segoe UI"/>
              </a:rPr>
              <a:t> terms, and returns the same </a:t>
            </a:r>
            <a:r>
              <a:rPr sz="2300" b="0" i="0">
                <a:solidFill>
                  <a:srgbClr val="1C252B"/>
                </a:solidFill>
                <a:latin typeface="Cambria"/>
              </a:rPr>
              <a:t>0.4899</a:t>
            </a:r>
            <a:r>
              <a:rPr sz="2300" b="0" i="0">
                <a:solidFill>
                  <a:srgbClr val="1C252B"/>
                </a:solidFill>
                <a:latin typeface="Segoe UI"/>
              </a:rPr>
              <a:t>. The bookkeeping costs more than the sharing saves, because the network has six nodes and there is almost nothing to share.</a:t>
            </a:r>
          </a:p>
        </p:txBody>
      </p:sp>
      <p:sp>
        <p:nvSpPr>
          <p:cNvPr id="10" name="body-1"/>
          <p:cNvSpPr txBox="1"/>
          <p:nvPr/>
        </p:nvSpPr>
        <p:spPr>
          <a:xfrm>
            <a:off x="1060704" y="3302533"/>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This is the same lesson as Chapter 7’s AC-3 and Chapter 9’s heuristic, and it is worth stating as a rule: </a:t>
            </a:r>
            <a:r>
              <a:rPr sz="2300" b="0" i="1">
                <a:solidFill>
                  <a:srgbClr val="1C252B"/>
                </a:solidFill>
                <a:latin typeface="Segoe UI"/>
              </a:rPr>
              <a:t>an algorithm whose advantage is asymptotic has no advantage at the size where you first test it</a:t>
            </a:r>
            <a:r>
              <a:rPr sz="2300" b="0" i="0">
                <a:solidFill>
                  <a:srgbClr val="1C252B"/>
                </a:solidFill>
                <a:latin typeface="Segoe UI"/>
              </a:rPr>
              <a:t>. Measure at the size you will deploy at.</a:t>
            </a:r>
          </a:p>
        </p:txBody>
      </p:sp>
      <p:sp>
        <p:nvSpPr>
          <p:cNvPr id="1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pfill">
            <a:extLst>
              <a:ext uri="{C183D7F6-B498-43B3-948B-1728B52AA6E4}">
                <adec:decorative xmlns:adec="http://schemas.microsoft.com/office/drawing/2017/decorative" val="1"/>
              </a:ext>
            </a:extLst>
          </p:cNvPr>
          <p:cNvSpPr/>
          <p:nvPr/>
        </p:nvSpPr>
        <p:spPr>
          <a:xfrm>
            <a:off x="0" y="0"/>
            <a:ext cx="286863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Enumeration against variable elimination on a chain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07964"/>
                </a:solidFill>
                <a:latin typeface="Segoe UI"/>
              </a:rPr>
              <a:t>FIGURE 15.2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§15.3  ·  Handout p. 158     </a:t>
            </a:r>
            <a:fld id="{40668497-50F1-410E-8275-00B32F3DA64A}" type="slidenum">
              <a:rPr lang="en-GB" sz="1000">
                <a:solidFill>
                  <a:srgbClr val="8795A1"/>
                </a:solidFill>
                <a:latin typeface="Segoe UI"/>
              </a:rPr>
              <a:t>13</a:t>
            </a:fld>
          </a:p>
        </p:txBody>
      </p:sp>
      <p:pic>
        <p:nvPicPr>
          <p:cNvPr id="6" name="!!figure" descr="Figure 15.2. Enumeration against variable elimination on a chain. At six nodes enumeration wins; at fourteen it needs 8,192 terms against 186 operations, and beyond that it stops being an option."/>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863821" y="1737360"/>
            <a:ext cx="8464053"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At six nodes enumeration wins; at fourteen it needs 8,192 terms against 186 operations, and beyond that it stops being an option.</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107687"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Approximate Inference by Sampling</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§15.4  ·  Handout p. 158     </a:t>
            </a:r>
            <a:fld id="{94678C31-6675-4DB6-854B-4535A009D649}" type="slidenum">
              <a:rPr lang="en-GB" sz="1000">
                <a:solidFill>
                  <a:srgbClr val="8795A1"/>
                </a:solidFill>
                <a:latin typeface="Segoe UI"/>
              </a:rPr>
              <a:t>14</a:t>
            </a:fld>
          </a:p>
        </p:txBody>
      </p:sp>
      <p:graphicFrame>
        <p:nvGraphicFramePr>
          <p:cNvPr id="7" name="!!table"/>
          <p:cNvGraphicFramePr>
            <a:graphicFrameLocks noGrp="1"/>
          </p:cNvGraphicFramePr>
          <p:nvPr/>
        </p:nvGraphicFramePr>
        <p:xfrm>
          <a:off x="658368" y="1737360"/>
          <a:ext cx="8836684" cy="2026920"/>
        </p:xfrm>
        <a:graphic>
          <a:graphicData uri="http://schemas.openxmlformats.org/drawingml/2006/table">
            <a:tbl>
              <a:tblPr firstRow="0" bandRow="0" firstCol="0" lastRow="0" lastCol="0" bandCol="0">
                <a:tableStyleId>{2D5ABB26-0587-4C30-8999-92F81FD0307C}</a:tableStyleId>
              </a:tblPr>
              <a:tblGrid>
                <a:gridCol w="3030692"/>
                <a:gridCol w="1488964"/>
                <a:gridCol w="1488964"/>
                <a:gridCol w="2828064"/>
              </a:tblGrid>
              <a:tr h="405384">
                <a:tc>
                  <a:txBody>
                    <a:bodyPr wrap="square"/>
                    <a:lstStyle/>
                    <a:p>
                      <a:pPr algn="l"/>
                      <a:r>
                        <a:rPr sz="1700" b="1" i="0">
                          <a:solidFill>
                            <a:srgbClr val="1A5276"/>
                          </a:solidFill>
                          <a:latin typeface="Segoe UI"/>
                        </a:rPr>
                        <a:t>Method</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Answer</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Error</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Note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405384">
                <a:tc>
                  <a:txBody>
                    <a:bodyPr wrap="square"/>
                    <a:lstStyle/>
                    <a:p>
                      <a:pPr algn="l"/>
                      <a:r>
                        <a:rPr sz="1700" b="0" i="0">
                          <a:solidFill>
                            <a:srgbClr val="1C252B"/>
                          </a:solidFill>
                          <a:latin typeface="Segoe UI"/>
                        </a:rPr>
                        <a:t>Enumeration (exact)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0.48990</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32 terms</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Variable elimination (exact)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0.48990</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74 operations</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Rejection, 20,000 samples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0.4952</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0.0053</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Cambria"/>
                        </a:rPr>
                        <a:t>6,034</a:t>
                      </a:r>
                      <a:r>
                        <a:rPr sz="1700" b="0" i="0">
                          <a:solidFill>
                            <a:srgbClr val="1C252B"/>
                          </a:solidFill>
                          <a:latin typeface="Segoe UI"/>
                        </a:rPr>
                        <a:t> kept; </a:t>
                      </a:r>
                      <a:r>
                        <a:rPr sz="1700" b="0" i="0">
                          <a:solidFill>
                            <a:srgbClr val="1C252B"/>
                          </a:solidFill>
                          <a:latin typeface="Cambria"/>
                        </a:rPr>
                        <a:t>70%</a:t>
                      </a:r>
                      <a:r>
                        <a:rPr sz="1700" b="0" i="0">
                          <a:solidFill>
                            <a:srgbClr val="1C252B"/>
                          </a:solidFill>
                          <a:latin typeface="Segoe UI"/>
                        </a:rPr>
                        <a:t> discarded</a:t>
                      </a:r>
                      <a:endParaRPr sz="1700"/>
                    </a:p>
                  </a:txBody>
                  <a:tcPr marL="109728" marR="109728" marT="64008" marB="45720" anchor="t">
                    <a:lnL w="0" cmpd="sng">
                      <a:noFill/>
                    </a:lnL>
                    <a:lnR w="0" cmpd="sng">
                      <a:noFill/>
                    </a:lnR>
                    <a:lnT w="9525" cmpd="sng">
                      <a:noFill/>
                    </a:lnT>
                    <a:lnB w="9525" cmpd="sng">
                      <a:noFill/>
                    </a:lnB>
                    <a:solidFill>
                      <a:srgbClr val="FFFFFF"/>
                    </a:solidFill>
                  </a:tcPr>
                </a:tc>
              </a:tr>
              <a:tr h="405384">
                <a:tc>
                  <a:txBody>
                    <a:bodyPr wrap="square"/>
                    <a:lstStyle/>
                    <a:p>
                      <a:pPr algn="l"/>
                      <a:r>
                        <a:rPr sz="1700" b="0" i="0">
                          <a:solidFill>
                            <a:srgbClr val="1C252B"/>
                          </a:solidFill>
                          <a:latin typeface="Segoe UI"/>
                        </a:rPr>
                        <a:t>Likelihood weighting, 20,000</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0.4913</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1" i="0">
                          <a:solidFill>
                            <a:srgbClr val="1C252B"/>
                          </a:solidFill>
                          <a:latin typeface="Segoe UI"/>
                        </a:rPr>
                        <a:t>0.0014</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c>
                  <a:txBody>
                    <a:bodyPr wrap="square"/>
                    <a:lstStyle/>
                    <a:p>
                      <a:pPr algn="l"/>
                      <a:r>
                        <a:rPr sz="1700" b="0" i="0">
                          <a:solidFill>
                            <a:srgbClr val="1C252B"/>
                          </a:solidFill>
                          <a:latin typeface="Segoe UI"/>
                        </a:rPr>
                        <a:t>every sample used</a:t>
                      </a:r>
                      <a:endParaRPr sz="1700"/>
                    </a:p>
                  </a:txBody>
                  <a:tcPr marL="109728" marR="109728" marT="64008" marB="45720" anchor="t">
                    <a:lnL w="0" cmpd="sng">
                      <a:noFill/>
                    </a:lnL>
                    <a:lnR w="0" cmpd="sng">
                      <a:noFill/>
                    </a:lnR>
                    <a:lnT w="19050" cmpd="sng">
                      <a:noFill/>
                    </a:lnT>
                    <a:lnB w="19050" cmpd="sng">
                      <a:solidFill>
                        <a:srgbClr val="1A5276"/>
                      </a:solidFill>
                    </a:lnB>
                    <a:solidFill>
                      <a:srgbClr val="F2F8FC"/>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334673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Explaining Away</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7D7D0"/>
                </a:solidFill>
                <a:latin typeface="Segoe UI"/>
              </a:rPr>
              <a:t>SECTION 5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15.5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15.1   Diagnosing a Defect</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15.2   Exact Inference by Enumeration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15.3   Variable Elimination</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15.4   Approximate Inference by Sampling</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07964"/>
                </a:solidFill>
                <a:latin typeface="Segoe UI"/>
              </a:rPr>
              <a:t>15.5   Explaining Away</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§15.5     </a:t>
            </a:r>
            <a:fld id="{678D210F-F137-4948-A3BF-93BA1D2E8619}" type="slidenum">
              <a:rPr lang="en-GB" sz="1000">
                <a:solidFill>
                  <a:srgbClr val="8795A1"/>
                </a:solidFill>
                <a:latin typeface="Segoe UI"/>
              </a:rPr>
              <a:t>15</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58579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Explaining Away</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5C949FD4-FE8B-401E-94A9-7BA7CA5F5AD1}"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500930"/>
          </a:xfrm>
          <a:prstGeom prst="roundRect">
            <a:avLst>
              <a:gd name="adj" fmla="val 2031"/>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500930"/>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Two causes of a common effect are independent </a:t>
            </a:r>
            <a:r>
              <a:rPr sz="1900" b="0" i="1">
                <a:solidFill>
                  <a:srgbClr val="1C252B"/>
                </a:solidFill>
                <a:latin typeface="Segoe UI"/>
              </a:rPr>
              <a:t>until</a:t>
            </a:r>
            <a:r>
              <a:rPr sz="1900" b="0" i="0">
                <a:solidFill>
                  <a:srgbClr val="1C252B"/>
                </a:solidFill>
                <a:latin typeface="Segoe UI"/>
              </a:rPr>
              <a:t> the effect is observed, and become dependent once it is — negatively so. That is </a:t>
            </a:r>
            <a:r>
              <a:rPr sz="1900" b="1" i="0">
                <a:solidFill>
                  <a:srgbClr val="1A5276"/>
                </a:solidFill>
                <a:latin typeface="Segoe UI"/>
              </a:rPr>
              <a:t>explaining away</a:t>
            </a:r>
            <a:r>
              <a:rPr sz="1900" b="0" i="0">
                <a:solidFill>
                  <a:srgbClr val="1C252B"/>
                </a:solidFill>
                <a:latin typeface="Segoe UI"/>
              </a:rPr>
              <a:t>, and it is the reason to build a network rather than a rule base.</a:t>
            </a:r>
          </a:p>
        </p:txBody>
      </p:sp>
      <p:sp>
        <p:nvSpPr>
          <p:cNvPr id="10" name="body-1"/>
          <p:cNvSpPr txBox="1"/>
          <p:nvPr/>
        </p:nvSpPr>
        <p:spPr>
          <a:xfrm>
            <a:off x="1060704" y="3084398"/>
            <a:ext cx="10161727" cy="185257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Notice what a production rule would have to say. if defect and junior developer then rushed specification is </a:t>
            </a:r>
            <a:r>
              <a:rPr sz="1900" b="0" i="1">
                <a:solidFill>
                  <a:srgbClr val="1C252B"/>
                </a:solidFill>
                <a:latin typeface="Segoe UI"/>
              </a:rPr>
              <a:t>less</a:t>
            </a:r>
            <a:r>
              <a:rPr sz="1900" b="0" i="0">
                <a:solidFill>
                  <a:srgbClr val="1C252B"/>
                </a:solidFill>
                <a:latin typeface="Segoe UI"/>
              </a:rPr>
              <a:t> likely — a rule whose conclusion is weakened by adding a condition, which no forward-chaining engine can express, and which Chapter 13’s specificity strategy would actively get wrong. The behaviour falls out of the graph and the arithmetic without anybody writing it down, and it would have to be anticipated and hand-coded in any rule-based system.</a:t>
            </a:r>
          </a:p>
        </p:txBody>
      </p:sp>
      <p:sp>
        <p:nvSpPr>
          <p:cNvPr id="11" name="body-2"/>
          <p:cNvSpPr txBox="1"/>
          <p:nvPr/>
        </p:nvSpPr>
        <p:spPr>
          <a:xfrm>
            <a:off x="1060704" y="5023967"/>
            <a:ext cx="10161727" cy="94914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It is also the formal version of something every incident reviewer does: on finding one sufficient cause, they become less interested in the others. The network says exactly how much less.</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82484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Computing P(Rushed ∣ Rollback) by hand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B0E0E160-C71D-4C12-A6D4-D6688809C6C3}" type="slidenum">
              <a:rPr lang="en-GB" sz="1000">
                <a:solidFill>
                  <a:srgbClr val="8795A1"/>
                </a:solidFill>
                <a:latin typeface="Segoe UI"/>
              </a:rPr>
              <a:t>17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77472"/>
          </a:xfrm>
          <a:prstGeom prst="roundRect">
            <a:avLst>
              <a:gd name="adj" fmla="val 235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7747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query has one evidence variable, and </a:t>
            </a:r>
            <a:r>
              <a:rPr sz="1900" b="0" i="1">
                <a:solidFill>
                  <a:srgbClr val="1C252B"/>
                </a:solidFill>
                <a:latin typeface="Cambria"/>
              </a:rPr>
              <a:t>Junior</a:t>
            </a:r>
            <a:r>
              <a:rPr sz="1900" b="0" i="0">
                <a:solidFill>
                  <a:srgbClr val="1C252B"/>
                </a:solidFill>
                <a:latin typeface="Segoe UI"/>
              </a:rPr>
              <a:t>, </a:t>
            </a:r>
            <a:r>
              <a:rPr sz="1900" b="0" i="1">
                <a:solidFill>
                  <a:srgbClr val="1C252B"/>
                </a:solidFill>
                <a:latin typeface="Cambria"/>
              </a:rPr>
              <a:t>Weak</a:t>
            </a:r>
            <a:r>
              <a:rPr sz="1900" b="0" i="0">
                <a:solidFill>
                  <a:srgbClr val="1C252B"/>
                </a:solidFill>
                <a:latin typeface="Segoe UI"/>
              </a:rPr>
              <a:t>, </a:t>
            </a:r>
            <a:r>
              <a:rPr sz="1900" b="0" i="1">
                <a:solidFill>
                  <a:srgbClr val="1C252B"/>
                </a:solidFill>
                <a:latin typeface="Cambria"/>
              </a:rPr>
              <a:t>Defect</a:t>
            </a:r>
            <a:r>
              <a:rPr sz="1900" b="0" i="0">
                <a:solidFill>
                  <a:srgbClr val="1C252B"/>
                </a:solidFill>
                <a:latin typeface="Segoe UI"/>
              </a:rPr>
              <a:t> and </a:t>
            </a:r>
            <a:r>
              <a:rPr sz="1900" b="0" i="1">
                <a:solidFill>
                  <a:srgbClr val="1C252B"/>
                </a:solidFill>
                <a:latin typeface="Cambria"/>
              </a:rPr>
              <a:t>Hotfix</a:t>
            </a:r>
            <a:r>
              <a:rPr sz="1900" b="0" i="0">
                <a:solidFill>
                  <a:srgbClr val="1C252B"/>
                </a:solidFill>
                <a:latin typeface="Segoe UI"/>
              </a:rPr>
              <a:t> are hidden.</a:t>
            </a:r>
          </a:p>
        </p:txBody>
      </p:sp>
      <p:pic>
        <p:nvPicPr>
          <p:cNvPr id="10" name="body-1" descr="Step 1: drop Hotfix. It is not in the query and not in the evidence, and nothing else depends on it. Summing it out gives Σh P(h ∣ d) = 1 for either value of d, so it contributes a factor of one and can be deleted before any arithmetic. A hidden variable with no observed descendants is irrelevant — a useful check to run before computing anythi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445537"/>
            <a:ext cx="10234879" cy="1201978"/>
          </a:xfrm>
          <a:prstGeom prst="rect">
            <a:avLst/>
          </a:prstGeom>
        </p:spPr>
      </p:pic>
      <p:sp>
        <p:nvSpPr>
          <p:cNvPr id="11" name="body-2"/>
          <p:cNvSpPr txBox="1"/>
          <p:nvPr/>
        </p:nvSpPr>
        <p:spPr>
          <a:xfrm>
            <a:off x="1042416" y="3780231"/>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2: the remaining sum.</a:t>
            </a:r>
            <a:r>
              <a:rPr sz="1900" b="0" i="0">
                <a:solidFill>
                  <a:srgbClr val="1C252B"/>
                </a:solidFill>
                <a:latin typeface="Segoe UI"/>
              </a:rPr>
              <a:t> With </a:t>
            </a:r>
            <a:r>
              <a:rPr sz="1900" b="0" i="1">
                <a:solidFill>
                  <a:srgbClr val="1C252B"/>
                </a:solidFill>
                <a:latin typeface="Cambria"/>
              </a:rPr>
              <a:t>r</a:t>
            </a:r>
            <a:r>
              <a:rPr sz="1900" b="0" i="0">
                <a:solidFill>
                  <a:srgbClr val="1C252B"/>
                </a:solidFill>
                <a:latin typeface="Segoe UI"/>
              </a:rPr>
              <a:t> for </a:t>
            </a:r>
            <a:r>
              <a:rPr sz="1900" b="0" i="1">
                <a:solidFill>
                  <a:srgbClr val="1C252B"/>
                </a:solidFill>
                <a:latin typeface="Segoe UI"/>
              </a:rPr>
              <a:t>Rushed</a:t>
            </a:r>
            <a:r>
              <a:rPr sz="1900" b="0" i="0">
                <a:solidFill>
                  <a:srgbClr val="1C252B"/>
                </a:solidFill>
                <a:latin typeface="Segoe UI"/>
              </a:rPr>
              <a:t>, </a:t>
            </a:r>
            <a:r>
              <a:rPr sz="1900" b="0" i="1">
                <a:solidFill>
                  <a:srgbClr val="1C252B"/>
                </a:solidFill>
                <a:latin typeface="Cambria"/>
              </a:rPr>
              <a:t>b</a:t>
            </a:r>
            <a:r>
              <a:rPr sz="1900" b="0" i="0">
                <a:solidFill>
                  <a:srgbClr val="1C252B"/>
                </a:solidFill>
                <a:latin typeface="Segoe UI"/>
              </a:rPr>
              <a:t> for </a:t>
            </a:r>
            <a:r>
              <a:rPr sz="1900" b="0" i="1">
                <a:solidFill>
                  <a:srgbClr val="1C252B"/>
                </a:solidFill>
                <a:latin typeface="Segoe UI"/>
              </a:rPr>
              <a:t>Rollback</a:t>
            </a:r>
            <a:r>
              <a:rPr sz="1900" b="0" i="0">
                <a:solidFill>
                  <a:srgbClr val="1C252B"/>
                </a:solidFill>
                <a:latin typeface="Segoe UI"/>
              </a:rPr>
              <a:t>:</a:t>
            </a:r>
          </a:p>
        </p:txBody>
      </p:sp>
      <p:sp>
        <p:nvSpPr>
          <p:cNvPr id="12" name="body-2bar">
            <a:extLst>
              <a:ext uri="{C183D7F6-B498-43B3-948B-1728B52AA6E4}">
                <adec:decorative xmlns:adec="http://schemas.microsoft.com/office/drawing/2017/decorative" val="1"/>
              </a:ext>
            </a:extLst>
          </p:cNvPr>
          <p:cNvSpPr/>
          <p:nvPr/>
        </p:nvSpPr>
        <p:spPr>
          <a:xfrm>
            <a:off x="841248" y="3798519"/>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 name="body-3" descr="P(r \mid b) = \alpha\, P(r) \sum_{j} P(j) \sum_{w} P(w) \sum_{d} P(d \mid r,j,w)\, P(b \mid d)"/>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4214088"/>
            <a:ext cx="10234879" cy="692566"/>
          </a:xfrm>
          <a:prstGeom prst="rect">
            <a:avLst/>
          </a:prstGeom>
        </p:spPr>
      </p:pic>
      <p:sp>
        <p:nvSpPr>
          <p:cNvPr id="14" name="body-4"/>
          <p:cNvSpPr txBox="1"/>
          <p:nvPr/>
        </p:nvSpPr>
        <p:spPr>
          <a:xfrm>
            <a:off x="1042416" y="5039370"/>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3: the inner sum.</a:t>
            </a:r>
            <a:r>
              <a:rPr sz="1900" b="0" i="0">
                <a:solidFill>
                  <a:srgbClr val="1C252B"/>
                </a:solidFill>
                <a:latin typeface="Segoe UI"/>
              </a:rPr>
              <a:t> For each combination of </a:t>
            </a:r>
            <a:r>
              <a:rPr sz="1900" b="0" i="1">
                <a:solidFill>
                  <a:srgbClr val="1C252B"/>
                </a:solidFill>
                <a:latin typeface="Cambria"/>
              </a:rPr>
              <a:t>r</a:t>
            </a:r>
            <a:r>
              <a:rPr sz="1900" b="0" i="0">
                <a:solidFill>
                  <a:srgbClr val="1C252B"/>
                </a:solidFill>
                <a:latin typeface="Cambria"/>
              </a:rPr>
              <a:t>, </a:t>
            </a:r>
            <a:r>
              <a:rPr sz="1900" b="0" i="1">
                <a:solidFill>
                  <a:srgbClr val="1C252B"/>
                </a:solidFill>
                <a:latin typeface="Cambria"/>
              </a:rPr>
              <a:t>j</a:t>
            </a:r>
            <a:r>
              <a:rPr sz="1900" b="0" i="0">
                <a:solidFill>
                  <a:srgbClr val="1C252B"/>
                </a:solidFill>
                <a:latin typeface="Cambria"/>
              </a:rPr>
              <a:t>, </a:t>
            </a:r>
            <a:r>
              <a:rPr sz="1900" b="0" i="1">
                <a:solidFill>
                  <a:srgbClr val="1C252B"/>
                </a:solidFill>
                <a:latin typeface="Cambria"/>
              </a:rPr>
              <a:t>w</a:t>
            </a:r>
            <a:r>
              <a:rPr sz="1900" b="0" i="0">
                <a:solidFill>
                  <a:srgbClr val="1C252B"/>
                </a:solidFill>
                <a:latin typeface="Segoe UI"/>
              </a:rPr>
              <a:t> let </a:t>
            </a:r>
            <a:r>
              <a:rPr sz="1900" b="0" i="1">
                <a:solidFill>
                  <a:srgbClr val="1C252B"/>
                </a:solidFill>
                <a:latin typeface="Cambria"/>
              </a:rPr>
              <a:t>q</a:t>
            </a:r>
            <a:r>
              <a:rPr sz="1900" b="0" i="0">
                <a:solidFill>
                  <a:srgbClr val="1C252B"/>
                </a:solidFill>
                <a:latin typeface="Cambria"/>
              </a:rPr>
              <a:t> =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Defect</a:t>
            </a:r>
            <a:r>
              <a:rPr sz="1900" b="0" i="0">
                <a:solidFill>
                  <a:srgbClr val="1C252B"/>
                </a:solidFill>
                <a:latin typeface="Cambria"/>
              </a:rPr>
              <a:t> ∣ </a:t>
            </a:r>
            <a:r>
              <a:rPr sz="1900" b="0" i="1">
                <a:solidFill>
                  <a:srgbClr val="1C252B"/>
                </a:solidFill>
                <a:latin typeface="Cambria"/>
              </a:rPr>
              <a:t>r</a:t>
            </a:r>
            <a:r>
              <a:rPr sz="1900" b="0" i="0">
                <a:solidFill>
                  <a:srgbClr val="1C252B"/>
                </a:solidFill>
                <a:latin typeface="Cambria"/>
              </a:rPr>
              <a:t>,</a:t>
            </a:r>
            <a:r>
              <a:rPr sz="1900" b="0" i="1">
                <a:solidFill>
                  <a:srgbClr val="1C252B"/>
                </a:solidFill>
                <a:latin typeface="Cambria"/>
              </a:rPr>
              <a:t>j</a:t>
            </a:r>
            <a:r>
              <a:rPr sz="1900" b="0" i="0">
                <a:solidFill>
                  <a:srgbClr val="1C252B"/>
                </a:solidFill>
                <a:latin typeface="Cambria"/>
              </a:rPr>
              <a:t>,</a:t>
            </a:r>
            <a:r>
              <a:rPr sz="1900" b="0" i="1">
                <a:solidFill>
                  <a:srgbClr val="1C252B"/>
                </a:solidFill>
                <a:latin typeface="Cambria"/>
              </a:rPr>
              <a:t>w</a:t>
            </a:r>
            <a:r>
              <a:rPr sz="1900" b="0" i="0">
                <a:solidFill>
                  <a:srgbClr val="1C252B"/>
                </a:solidFill>
                <a:latin typeface="Cambria"/>
              </a:rPr>
              <a:t>)</a:t>
            </a:r>
            <a:r>
              <a:rPr sz="1900" b="0" i="0">
                <a:solidFill>
                  <a:srgbClr val="1C252B"/>
                </a:solidFill>
                <a:latin typeface="Segoe UI"/>
              </a:rPr>
              <a:t>. Then</a:t>
            </a:r>
          </a:p>
        </p:txBody>
      </p:sp>
      <p:sp>
        <p:nvSpPr>
          <p:cNvPr id="15" name="body-4bar">
            <a:extLst>
              <a:ext uri="{C183D7F6-B498-43B3-948B-1728B52AA6E4}">
                <adec:decorative xmlns:adec="http://schemas.microsoft.com/office/drawing/2017/decorative" val="1"/>
              </a:ext>
            </a:extLst>
          </p:cNvPr>
          <p:cNvSpPr/>
          <p:nvPr/>
        </p:nvSpPr>
        <p:spPr>
          <a:xfrm>
            <a:off x="841248" y="5057658"/>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1" name="!!pfill">
            <a:extLst>
              <a:ext uri="{C183D7F6-B498-43B3-948B-1728B52AA6E4}">
                <adec:decorative xmlns:adec="http://schemas.microsoft.com/office/drawing/2017/decorative" val="1"/>
              </a:ext>
            </a:extLst>
          </p:cNvPr>
          <p:cNvSpPr/>
          <p:nvPr/>
        </p:nvSpPr>
        <p:spPr>
          <a:xfrm>
            <a:off x="0" y="0"/>
            <a:ext cx="406389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wipe(right)">
                                      <p:cBhvr>
                                        <p:cTn id="13" dur="420"/>
                                        <p:tgtEl>
                                          <p:spTgt spid="12"/>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20"/>
                                        <p:tgtEl>
                                          <p:spTgt spid="11"/>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wipe(right)">
                                      <p:cBhvr>
                                        <p:cTn id="21" dur="420"/>
                                        <p:tgtEl>
                                          <p:spTgt spid="13"/>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right)">
                                      <p:cBhvr>
                                        <p:cTn id="26" dur="420"/>
                                        <p:tgtEl>
                                          <p:spTgt spid="15"/>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Computing P(Rushed ∣ Rollback) by hand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AFC5B16A-DC13-4DF3-8D6D-54C09B02A921}"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87962"/>
          </a:xfrm>
          <a:prstGeom prst="roundRect">
            <a:avLst>
              <a:gd name="adj" fmla="val 229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8796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sum_{d} P(d \mid r,j,w) P(b \mid d) = 0.70\,q + 0.05\,(1-q) = 0.05 + 0.65\,q"/>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2011679"/>
            <a:ext cx="10234879" cy="654344"/>
          </a:xfrm>
          <a:prstGeom prst="rect">
            <a:avLst/>
          </a:prstGeom>
        </p:spPr>
      </p:pic>
      <p:sp>
        <p:nvSpPr>
          <p:cNvPr id="10" name="body-1"/>
          <p:cNvSpPr txBox="1"/>
          <p:nvPr/>
        </p:nvSpPr>
        <p:spPr>
          <a:xfrm>
            <a:off x="1042416" y="279873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so every row of the big table reduces to one number. With </a:t>
            </a:r>
            <a:r>
              <a:rPr sz="1900" b="0" i="1">
                <a:solidFill>
                  <a:srgbClr val="1C252B"/>
                </a:solidFill>
                <a:latin typeface="Cambria"/>
              </a:rPr>
              <a:t>r</a:t>
            </a:r>
            <a:r>
              <a:rPr sz="1900" b="0" i="0">
                <a:solidFill>
                  <a:srgbClr val="1C252B"/>
                </a:solidFill>
                <a:latin typeface="Segoe UI"/>
              </a:rPr>
              <a:t> true the four </a:t>
            </a:r>
            <a:r>
              <a:rPr sz="1900" b="0" i="1">
                <a:solidFill>
                  <a:srgbClr val="1C252B"/>
                </a:solidFill>
                <a:latin typeface="Cambria"/>
              </a:rPr>
              <a:t>q</a:t>
            </a:r>
            <a:r>
              <a:rPr sz="1900" b="0" i="0">
                <a:solidFill>
                  <a:srgbClr val="1C252B"/>
                </a:solidFill>
                <a:latin typeface="Segoe UI"/>
              </a:rPr>
              <a:t> values are </a:t>
            </a:r>
            <a:r>
              <a:rPr sz="1900" b="0" i="0">
                <a:solidFill>
                  <a:srgbClr val="1C252B"/>
                </a:solidFill>
                <a:latin typeface="Cambria"/>
              </a:rPr>
              <a:t>0.95, 0.80, 0.75, 0.50</a:t>
            </a:r>
            <a:r>
              <a:rPr sz="1900" b="0" i="0">
                <a:solidFill>
                  <a:srgbClr val="1C252B"/>
                </a:solidFill>
                <a:latin typeface="Segoe UI"/>
              </a:rPr>
              <a:t>, giving </a:t>
            </a:r>
            <a:r>
              <a:rPr sz="1900" b="0" i="0">
                <a:solidFill>
                  <a:srgbClr val="1C252B"/>
                </a:solidFill>
                <a:latin typeface="Cambria"/>
              </a:rPr>
              <a:t>0.6675, 0.5700, 0.5375, 0.3750</a:t>
            </a:r>
            <a:r>
              <a:rPr sz="1900" b="0" i="0">
                <a:solidFill>
                  <a:srgbClr val="1C252B"/>
                </a:solidFill>
                <a:latin typeface="Segoe UI"/>
              </a:rPr>
              <a:t>.</a:t>
            </a:r>
          </a:p>
        </p:txBody>
      </p:sp>
      <p:sp>
        <p:nvSpPr>
          <p:cNvPr id="11" name="body-2"/>
          <p:cNvSpPr txBox="1"/>
          <p:nvPr/>
        </p:nvSpPr>
        <p:spPr>
          <a:xfrm>
            <a:off x="1042416" y="353373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4: weight by the priors.</a:t>
            </a:r>
            <a:r>
              <a:rPr sz="1900" b="0" i="0">
                <a:solidFill>
                  <a:srgbClr val="1C252B"/>
                </a:solidFill>
                <a:latin typeface="Segoe UI"/>
              </a:rPr>
              <a:t>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j</a:t>
            </a:r>
            <a:r>
              <a:rPr sz="1900" b="0" i="0">
                <a:solidFill>
                  <a:srgbClr val="1C252B"/>
                </a:solidFill>
                <a:latin typeface="Cambria"/>
              </a:rPr>
              <a:t>) = 0.40</a:t>
            </a:r>
            <a:r>
              <a:rPr sz="1900" b="0" i="0">
                <a:solidFill>
                  <a:srgbClr val="1C252B"/>
                </a:solidFill>
                <a:latin typeface="Segoe UI"/>
              </a:rPr>
              <a:t>,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w</a:t>
            </a:r>
            <a:r>
              <a:rPr sz="1900" b="0" i="0">
                <a:solidFill>
                  <a:srgbClr val="1C252B"/>
                </a:solidFill>
                <a:latin typeface="Cambria"/>
              </a:rPr>
              <a:t>) = 0.25</a:t>
            </a:r>
            <a:r>
              <a:rPr sz="1900" b="0" i="0">
                <a:solidFill>
                  <a:srgbClr val="1C252B"/>
                </a:solidFill>
                <a:latin typeface="Segoe UI"/>
              </a:rPr>
              <a:t>:</a:t>
            </a:r>
          </a:p>
        </p:txBody>
      </p:sp>
      <p:sp>
        <p:nvSpPr>
          <p:cNvPr id="12" name="body-2bar">
            <a:extLst>
              <a:ext uri="{C183D7F6-B498-43B3-948B-1728B52AA6E4}">
                <adec:decorative xmlns:adec="http://schemas.microsoft.com/office/drawing/2017/decorative" val="1"/>
              </a:ext>
            </a:extLst>
          </p:cNvPr>
          <p:cNvSpPr/>
          <p:nvPr/>
        </p:nvSpPr>
        <p:spPr>
          <a:xfrm>
            <a:off x="841248" y="355202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 name="body-3" descr="\begin{aligned}&amp;0.40 \times 0.25 \times 0.6675 \;+\; 0.40 \times 0.75 \times 0.5700 \\ &amp;{}+\; 0.60 \times 0.25 \times 0.5375 \;+\; 0.60 \times 0.75 \times 0.3750 \\ &amp;= 0.06675 + 0.17100 + 0.08063 + 0.16875 \;=\; 0.48713\end{aligned}"/>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42416" y="3967596"/>
            <a:ext cx="10234879" cy="1049548"/>
          </a:xfrm>
          <a:prstGeom prst="rect">
            <a:avLst/>
          </a:prstGeom>
        </p:spPr>
      </p:pic>
      <p:sp>
        <p:nvSpPr>
          <p:cNvPr id="14" name="body-4"/>
          <p:cNvSpPr txBox="1"/>
          <p:nvPr/>
        </p:nvSpPr>
        <p:spPr>
          <a:xfrm>
            <a:off x="1042416" y="5149860"/>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Multiply by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r</a:t>
            </a:r>
            <a:r>
              <a:rPr sz="1900" b="0" i="0">
                <a:solidFill>
                  <a:srgbClr val="1C252B"/>
                </a:solidFill>
                <a:latin typeface="Cambria"/>
              </a:rPr>
              <a:t>) = 0.30</a:t>
            </a:r>
            <a:r>
              <a:rPr sz="1900" b="0" i="0">
                <a:solidFill>
                  <a:srgbClr val="1C252B"/>
                </a:solidFill>
                <a:latin typeface="Segoe UI"/>
              </a:rPr>
              <a:t>: the unnormalised weight for </a:t>
            </a:r>
            <a:r>
              <a:rPr sz="1900" b="0" i="1">
                <a:solidFill>
                  <a:srgbClr val="1C252B"/>
                </a:solidFill>
                <a:latin typeface="Cambria"/>
              </a:rPr>
              <a:t>r</a:t>
            </a:r>
            <a:r>
              <a:rPr sz="1900" b="0" i="0">
                <a:solidFill>
                  <a:srgbClr val="1C252B"/>
                </a:solidFill>
                <a:latin typeface="Segoe UI"/>
              </a:rPr>
              <a:t> true is </a:t>
            </a:r>
            <a:r>
              <a:rPr sz="1900" b="0" i="0">
                <a:solidFill>
                  <a:srgbClr val="1C252B"/>
                </a:solidFill>
                <a:latin typeface="Cambria"/>
              </a:rPr>
              <a:t>0.146138</a:t>
            </a:r>
            <a:r>
              <a:rPr sz="1900" b="0" i="0">
                <a:solidFill>
                  <a:srgbClr val="1C252B"/>
                </a:solidFill>
                <a:latin typeface="Segoe UI"/>
              </a:rPr>
              <a:t>.</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430295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420"/>
                                        <p:tgtEl>
                                          <p:spTgt spid="11"/>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wipe(right)">
                                      <p:cBhvr>
                                        <p:cTn id="26" dur="420"/>
                                        <p:tgtEl>
                                          <p:spTgt spid="13"/>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Computing P(Rushed ∣ Rollback) by hand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422802B3-9740-4078-B2AF-4F3E905B16AD}"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209547"/>
          </a:xfrm>
          <a:prstGeom prst="roundRect">
            <a:avLst>
              <a:gd name="adj" fmla="val 217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209547"/>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5: the other branch.</a:t>
            </a:r>
            <a:r>
              <a:rPr sz="1900" b="0" i="0">
                <a:solidFill>
                  <a:srgbClr val="1C252B"/>
                </a:solidFill>
                <a:latin typeface="Segoe UI"/>
              </a:rPr>
              <a:t> With </a:t>
            </a:r>
            <a:r>
              <a:rPr sz="1900" b="0" i="1">
                <a:solidFill>
                  <a:srgbClr val="1C252B"/>
                </a:solidFill>
                <a:latin typeface="Cambria"/>
              </a:rPr>
              <a:t>r</a:t>
            </a:r>
            <a:r>
              <a:rPr sz="1900" b="0" i="0">
                <a:solidFill>
                  <a:srgbClr val="1C252B"/>
                </a:solidFill>
                <a:latin typeface="Segoe UI"/>
              </a:rPr>
              <a:t> false the four </a:t>
            </a:r>
            <a:r>
              <a:rPr sz="1900" b="0" i="1">
                <a:solidFill>
                  <a:srgbClr val="1C252B"/>
                </a:solidFill>
                <a:latin typeface="Cambria"/>
              </a:rPr>
              <a:t>q</a:t>
            </a:r>
            <a:r>
              <a:rPr sz="1900" b="0" i="0">
                <a:solidFill>
                  <a:srgbClr val="1C252B"/>
                </a:solidFill>
                <a:latin typeface="Segoe UI"/>
              </a:rPr>
              <a:t> values are </a:t>
            </a:r>
            <a:r>
              <a:rPr sz="1900" b="0" i="0">
                <a:solidFill>
                  <a:srgbClr val="1C252B"/>
                </a:solidFill>
                <a:latin typeface="Cambria"/>
              </a:rPr>
              <a:t>0.70, 0.40, 0.30, 0.05</a:t>
            </a:r>
            <a:r>
              <a:rPr sz="1900" b="0" i="0">
                <a:solidFill>
                  <a:srgbClr val="1C252B"/>
                </a:solidFill>
                <a:latin typeface="Segoe UI"/>
              </a:rPr>
              <a:t>, giving </a:t>
            </a:r>
            <a:r>
              <a:rPr sz="1900" b="0" i="0">
                <a:solidFill>
                  <a:srgbClr val="1C252B"/>
                </a:solidFill>
                <a:latin typeface="Cambria"/>
              </a:rPr>
              <a:t>0.5050, 0.3100, 0.2450, 0.0825</a:t>
            </a:r>
            <a:r>
              <a:rPr sz="1900" b="0" i="0">
                <a:solidFill>
                  <a:srgbClr val="1C252B"/>
                </a:solidFill>
                <a:latin typeface="Segoe UI"/>
              </a:rPr>
              <a:t>; weighting by the same priors gives </a:t>
            </a:r>
            <a:r>
              <a:rPr sz="1900" b="0" i="0">
                <a:solidFill>
                  <a:srgbClr val="1C252B"/>
                </a:solidFill>
                <a:latin typeface="Cambria"/>
              </a:rPr>
              <a:t>0.21738</a:t>
            </a:r>
            <a:r>
              <a:rPr sz="1900" b="0" i="0">
                <a:solidFill>
                  <a:srgbClr val="1C252B"/>
                </a:solidFill>
                <a:latin typeface="Segoe UI"/>
              </a:rPr>
              <a:t>, and multiplying by </a:t>
            </a:r>
            <a:r>
              <a:rPr sz="1900" b="0" i="1">
                <a:solidFill>
                  <a:srgbClr val="1C252B"/>
                </a:solidFill>
                <a:latin typeface="Cambria"/>
              </a:rPr>
              <a:t>P</a:t>
            </a:r>
            <a:r>
              <a:rPr sz="1900" b="0" i="0">
                <a:solidFill>
                  <a:srgbClr val="1C252B"/>
                </a:solidFill>
                <a:latin typeface="Cambria"/>
              </a:rPr>
              <a:t>(¬ </a:t>
            </a:r>
            <a:r>
              <a:rPr sz="1900" b="0" i="1">
                <a:solidFill>
                  <a:srgbClr val="1C252B"/>
                </a:solidFill>
                <a:latin typeface="Cambria"/>
              </a:rPr>
              <a:t>r</a:t>
            </a:r>
            <a:r>
              <a:rPr sz="1900" b="0" i="0">
                <a:solidFill>
                  <a:srgbClr val="1C252B"/>
                </a:solidFill>
                <a:latin typeface="Cambria"/>
              </a:rPr>
              <a:t>) = 0.70</a:t>
            </a:r>
            <a:r>
              <a:rPr sz="1900" b="0" i="0">
                <a:solidFill>
                  <a:srgbClr val="1C252B"/>
                </a:solidFill>
                <a:latin typeface="Segoe UI"/>
              </a:rPr>
              <a:t> gives </a:t>
            </a:r>
            <a:r>
              <a:rPr sz="1900" b="0" i="0">
                <a:solidFill>
                  <a:srgbClr val="1C252B"/>
                </a:solidFill>
                <a:latin typeface="Cambria"/>
              </a:rPr>
              <a:t>0.152163</a:t>
            </a:r>
            <a:r>
              <a:rPr sz="1900" b="0" i="0">
                <a:solidFill>
                  <a:srgbClr val="1C252B"/>
                </a:solidFill>
                <a:latin typeface="Segoe UI"/>
              </a:rPr>
              <a: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88513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3047822"/>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Step 6: normalise.</a:t>
            </a:r>
          </a:p>
        </p:txBody>
      </p:sp>
      <p:sp>
        <p:nvSpPr>
          <p:cNvPr id="12" name="body-1bar">
            <a:extLst>
              <a:ext uri="{C183D7F6-B498-43B3-948B-1728B52AA6E4}">
                <adec:decorative xmlns:adec="http://schemas.microsoft.com/office/drawing/2017/decorative" val="1"/>
              </a:ext>
            </a:extLst>
          </p:cNvPr>
          <p:cNvSpPr/>
          <p:nvPr/>
        </p:nvSpPr>
        <p:spPr>
          <a:xfrm>
            <a:off x="841248" y="3066110"/>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13" name="body-2" descr="P(r \mid b) = \frac{0.146138}{0.146138 + 0.152163} = \frac{0.146138}{0.298301} = 0.4899"/>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42416" y="3481679"/>
            <a:ext cx="10234879" cy="552480"/>
          </a:xfrm>
          <a:prstGeom prst="rect">
            <a:avLst/>
          </a:prstGeom>
        </p:spPr>
      </p:pic>
      <p:sp>
        <p:nvSpPr>
          <p:cNvPr id="14" name="body-3"/>
          <p:cNvSpPr txBox="1"/>
          <p:nvPr/>
        </p:nvSpPr>
        <p:spPr>
          <a:xfrm>
            <a:off x="1042416" y="4166875"/>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the work shows.</a:t>
            </a:r>
            <a:r>
              <a:rPr sz="1900" b="0" i="0">
                <a:solidFill>
                  <a:srgbClr val="1C252B"/>
                </a:solidFill>
                <a:latin typeface="Segoe UI"/>
              </a:rPr>
              <a:t> Steps 3 and 4 were done once for </a:t>
            </a:r>
            <a:r>
              <a:rPr sz="1900" b="0" i="1">
                <a:solidFill>
                  <a:srgbClr val="1C252B"/>
                </a:solidFill>
                <a:latin typeface="Cambria"/>
              </a:rPr>
              <a:t>r</a:t>
            </a:r>
            <a:r>
              <a:rPr sz="1900" b="0" i="0">
                <a:solidFill>
                  <a:srgbClr val="1C252B"/>
                </a:solidFill>
                <a:latin typeface="Segoe UI"/>
              </a:rPr>
              <a:t> true and once for </a:t>
            </a:r>
            <a:r>
              <a:rPr sz="1900" b="0" i="1">
                <a:solidFill>
                  <a:srgbClr val="1C252B"/>
                </a:solidFill>
                <a:latin typeface="Cambria"/>
              </a:rPr>
              <a:t>r</a:t>
            </a:r>
            <a:r>
              <a:rPr sz="1900" b="0" i="0">
                <a:solidFill>
                  <a:srgbClr val="1C252B"/>
                </a:solidFill>
                <a:latin typeface="Segoe UI"/>
              </a:rPr>
              <a:t> false, and the inner structure was identical both times. Variable elimination is exactly the observation that this shared structure need not be recomputed — and on six variables the saving is not worth the bookkeeping, while on Figure 15.2’s chain it is the difference between possible and impossible.</a:t>
            </a:r>
          </a:p>
        </p:txBody>
      </p:sp>
      <p:sp>
        <p:nvSpPr>
          <p:cNvPr id="15" name="body-3bar">
            <a:extLst>
              <a:ext uri="{C183D7F6-B498-43B3-948B-1728B52AA6E4}">
                <adec:decorative xmlns:adec="http://schemas.microsoft.com/office/drawing/2017/decorative" val="1"/>
              </a:ext>
            </a:extLst>
          </p:cNvPr>
          <p:cNvSpPr/>
          <p:nvPr/>
        </p:nvSpPr>
        <p:spPr>
          <a:xfrm>
            <a:off x="841248" y="4185163"/>
            <a:ext cx="54864" cy="148742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pfill">
            <a:extLst>
              <a:ext uri="{C183D7F6-B498-43B3-948B-1728B52AA6E4}">
                <adec:decorative xmlns:adec="http://schemas.microsoft.com/office/drawing/2017/decorative" val="1"/>
              </a:ext>
            </a:extLst>
          </p:cNvPr>
          <p:cNvSpPr/>
          <p:nvPr/>
        </p:nvSpPr>
        <p:spPr>
          <a:xfrm>
            <a:off x="0" y="0"/>
            <a:ext cx="454200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wipe(right)">
                                      <p:cBhvr>
                                        <p:cTn id="16" dur="42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2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wipe(right)">
                                      <p:cBhvr>
                                        <p:cTn id="24" dur="420"/>
                                        <p:tgtEl>
                                          <p:spTgt spid="13"/>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wipe(right)">
                                      <p:cBhvr>
                                        <p:cTn id="29" dur="420"/>
                                        <p:tgtEl>
                                          <p:spTgt spid="15"/>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4"/>
                                        </p:tgtEl>
                                        <p:attrNameLst>
                                          <p:attrName>style.visibility</p:attrName>
                                        </p:attrNameLst>
                                      </p:cBhvr>
                                      <p:to>
                                        <p:strVal val="visible"/>
                                      </p:to>
                                    </p:set>
                                    <p:animEffect transition="in" filter="fade">
                                      <p:cBhvr>
                                        <p:cTn id="32" dur="42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F6B000CE-739E-41D9-9A33-4904B22596C4}" type="slidenum">
              <a:rPr lang="en-GB" sz="1000">
                <a:solidFill>
                  <a:srgbClr val="8795A1"/>
                </a:solidFill>
                <a:latin typeface="Segoe UI"/>
              </a:rPr>
              <a:t>20</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Reading arrows as “causes” and inference as following them.</a:t>
            </a:r>
            <a:r>
              <a:rPr sz="1700" b="0" i="0">
                <a:solidFill>
                  <a:srgbClr val="1C252B"/>
                </a:solidFill>
                <a:latin typeface="Segoe UI"/>
              </a:rPr>
              <a:t> The arrows point from cause to effect; the query here runs backwards, from rollback to specification. Both directions are ordinary conditional probability.</a:t>
            </a:r>
          </a:p>
        </p:txBody>
      </p:sp>
      <p:sp>
        <p:nvSpPr>
          <p:cNvPr id="10" name="!!pb1">
            <a:extLst>
              <a:ext uri="{C183D7F6-B498-43B3-948B-1728B52AA6E4}">
                <adec:decorative xmlns:adec="http://schemas.microsoft.com/office/drawing/2017/decorative" val="1"/>
              </a:ext>
            </a:extLst>
          </p:cNvPr>
          <p:cNvSpPr/>
          <p:nvPr/>
        </p:nvSpPr>
        <p:spPr>
          <a:xfrm>
            <a:off x="658368" y="276514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78800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746857"/>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Forgetting that the missing arrows are the claims.</a:t>
            </a:r>
            <a:r>
              <a:rPr sz="1700" b="0" i="0">
                <a:solidFill>
                  <a:srgbClr val="1C252B"/>
                </a:solidFill>
                <a:latin typeface="Segoe UI"/>
              </a:rPr>
              <a:t> No edge between </a:t>
            </a:r>
            <a:r>
              <a:rPr sz="1700" b="0" i="1">
                <a:solidFill>
                  <a:srgbClr val="1C252B"/>
                </a:solidFill>
                <a:latin typeface="Segoe UI"/>
              </a:rPr>
              <a:t>Rushed</a:t>
            </a:r>
            <a:r>
              <a:rPr sz="1700" b="0" i="0">
                <a:solidFill>
                  <a:srgbClr val="1C252B"/>
                </a:solidFill>
                <a:latin typeface="Segoe UI"/>
              </a:rPr>
              <a:t> and </a:t>
            </a:r>
            <a:r>
              <a:rPr sz="1700" b="0" i="1">
                <a:solidFill>
                  <a:srgbClr val="1C252B"/>
                </a:solidFill>
                <a:latin typeface="Segoe UI"/>
              </a:rPr>
              <a:t>Junior</a:t>
            </a:r>
            <a:r>
              <a:rPr sz="1700" b="0" i="0">
                <a:solidFill>
                  <a:srgbClr val="1C252B"/>
                </a:solidFill>
                <a:latin typeface="Segoe UI"/>
              </a:rPr>
              <a:t> asserts independence. If rushed work is usually given to junior developers, the network is simply wrong.</a:t>
            </a:r>
          </a:p>
        </p:txBody>
      </p:sp>
      <p:sp>
        <p:nvSpPr>
          <p:cNvPr id="13" name="!!pb2">
            <a:extLst>
              <a:ext uri="{C183D7F6-B498-43B3-948B-1728B52AA6E4}">
                <adec:decorative xmlns:adec="http://schemas.microsoft.com/office/drawing/2017/decorative" val="1"/>
              </a:ext>
            </a:extLst>
          </p:cNvPr>
          <p:cNvSpPr/>
          <p:nvPr/>
        </p:nvSpPr>
        <p:spPr>
          <a:xfrm>
            <a:off x="658368" y="35051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280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86911"/>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Using rejection sampling with rare evidence.</a:t>
            </a:r>
            <a:r>
              <a:rPr sz="1700" b="0" i="0">
                <a:solidFill>
                  <a:srgbClr val="1C252B"/>
                </a:solidFill>
                <a:latin typeface="Segoe UI"/>
              </a:rPr>
              <a:t> </a:t>
            </a:r>
            <a:r>
              <a:rPr sz="1700" b="0" i="0">
                <a:solidFill>
                  <a:srgbClr val="1C252B"/>
                </a:solidFill>
                <a:latin typeface="Cambria"/>
              </a:rPr>
              <a:t>70%</a:t>
            </a:r>
            <a:r>
              <a:rPr sz="1700" b="0" i="0">
                <a:solidFill>
                  <a:srgbClr val="1C252B"/>
                </a:solidFill>
                <a:latin typeface="Segoe UI"/>
              </a:rPr>
              <a:t> of samples discarded here; with evidence of probability </a:t>
            </a:r>
            <a:r>
              <a:rPr sz="1700" b="0" i="0">
                <a:solidFill>
                  <a:srgbClr val="1C252B"/>
                </a:solidFill>
                <a:latin typeface="Cambria"/>
              </a:rPr>
              <a:t>0.01</a:t>
            </a:r>
            <a:r>
              <a:rPr sz="1700" b="0" i="0">
                <a:solidFill>
                  <a:srgbClr val="1C252B"/>
                </a:solidFill>
                <a:latin typeface="Segoe UI"/>
              </a:rPr>
              <a:t> it is </a:t>
            </a:r>
            <a:r>
              <a:rPr sz="1700" b="0" i="0">
                <a:solidFill>
                  <a:srgbClr val="1C252B"/>
                </a:solidFill>
                <a:latin typeface="Cambria"/>
              </a:rPr>
              <a:t>99%</a:t>
            </a:r>
            <a:r>
              <a:rPr sz="1700" b="0" i="0">
                <a:solidFill>
                  <a:srgbClr val="1C252B"/>
                </a:solidFill>
                <a:latin typeface="Segoe UI"/>
              </a:rPr>
              <a:t>. Use likelihood weighting.</a:t>
            </a:r>
          </a:p>
        </p:txBody>
      </p:sp>
      <p:sp>
        <p:nvSpPr>
          <p:cNvPr id="16" name="!!pb3">
            <a:extLst>
              <a:ext uri="{C183D7F6-B498-43B3-948B-1728B52AA6E4}">
                <adec:decorative xmlns:adec="http://schemas.microsoft.com/office/drawing/2017/decorative" val="1"/>
              </a:ext>
            </a:extLst>
          </p:cNvPr>
          <p:cNvSpPr/>
          <p:nvPr/>
        </p:nvSpPr>
        <p:spPr>
          <a:xfrm>
            <a:off x="658368" y="4245254"/>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268114"/>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226966"/>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Assuming variable elimination is always faster.</a:t>
            </a:r>
            <a:r>
              <a:rPr sz="1700" b="0" i="0">
                <a:solidFill>
                  <a:srgbClr val="1C252B"/>
                </a:solidFill>
                <a:latin typeface="Segoe UI"/>
              </a:rPr>
              <a:t> It lost on this network, </a:t>
            </a:r>
            <a:r>
              <a:rPr sz="1700" b="0" i="0">
                <a:solidFill>
                  <a:srgbClr val="1C252B"/>
                </a:solidFill>
                <a:latin typeface="Cambria"/>
              </a:rPr>
              <a:t>74</a:t>
            </a:r>
            <a:r>
              <a:rPr sz="1700" b="0" i="0">
                <a:solidFill>
                  <a:srgbClr val="1C252B"/>
                </a:solidFill>
                <a:latin typeface="Segoe UI"/>
              </a:rPr>
              <a:t> operations against </a:t>
            </a:r>
            <a:r>
              <a:rPr sz="1700" b="0" i="0">
                <a:solidFill>
                  <a:srgbClr val="1C252B"/>
                </a:solidFill>
                <a:latin typeface="Cambria"/>
              </a:rPr>
              <a:t>32</a:t>
            </a:r>
            <a:r>
              <a:rPr sz="1700" b="0" i="0">
                <a:solidFill>
                  <a:srgbClr val="1C252B"/>
                </a:solidFill>
                <a:latin typeface="Segoe UI"/>
              </a:rPr>
              <a:t>. Its advantage is asymptotic and depends on the elimination order.</a:t>
            </a:r>
          </a:p>
        </p:txBody>
      </p:sp>
      <p:sp>
        <p:nvSpPr>
          <p:cNvPr id="19" name="!!pb4">
            <a:extLst>
              <a:ext uri="{C183D7F6-B498-43B3-948B-1728B52AA6E4}">
                <adec:decorative xmlns:adec="http://schemas.microsoft.com/office/drawing/2017/decorative" val="1"/>
              </a:ext>
            </a:extLst>
          </p:cNvPr>
          <p:cNvSpPr/>
          <p:nvPr/>
        </p:nvSpPr>
        <p:spPr>
          <a:xfrm>
            <a:off x="658368" y="49853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0081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967020"/>
            <a:ext cx="10271455" cy="365760"/>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Expecting exact inference to scale in general.</a:t>
            </a:r>
            <a:r>
              <a:rPr sz="1700" b="0" i="0">
                <a:solidFill>
                  <a:srgbClr val="1C252B"/>
                </a:solidFill>
                <a:latin typeface="Segoe UI"/>
              </a:rPr>
              <a:t> It is linear on a chain and NP-hard on general graphs.</a:t>
            </a:r>
          </a:p>
        </p:txBody>
      </p:sp>
      <p:sp>
        <p:nvSpPr>
          <p:cNvPr id="22" name="!!pb5">
            <a:extLst>
              <a:ext uri="{C183D7F6-B498-43B3-948B-1728B52AA6E4}">
                <adec:decorative xmlns:adec="http://schemas.microsoft.com/office/drawing/2017/decorative" val="1"/>
              </a:ext>
            </a:extLst>
          </p:cNvPr>
          <p:cNvSpPr/>
          <p:nvPr/>
        </p:nvSpPr>
        <p:spPr>
          <a:xfrm>
            <a:off x="658368" y="555223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57509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33948"/>
            <a:ext cx="10271455" cy="53888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A93226"/>
                </a:solidFill>
                <a:latin typeface="Segoe UI"/>
              </a:rPr>
              <a:t>Summing over hidden variables that cannot matter.</a:t>
            </a:r>
            <a:r>
              <a:rPr sz="1700" b="0" i="0">
                <a:solidFill>
                  <a:srgbClr val="1C252B"/>
                </a:solidFill>
                <a:latin typeface="Segoe UI"/>
              </a:rPr>
              <a:t> A hidden variable with no observed descendants sums to one. Delete </a:t>
            </a:r>
            <a:r>
              <a:rPr sz="1700" b="0" i="1">
                <a:solidFill>
                  <a:srgbClr val="1C252B"/>
                </a:solidFill>
                <a:latin typeface="Segoe UI"/>
              </a:rPr>
              <a:t>Hotfix</a:t>
            </a:r>
            <a:r>
              <a:rPr sz="1700" b="0" i="0">
                <a:solidFill>
                  <a:srgbClr val="1C252B"/>
                </a:solidFill>
                <a:latin typeface="Segoe UI"/>
              </a:rPr>
              <a:t> before computing, not after.</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78105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BC4996C6-36AE-40C4-95F3-786717C72E85}" type="slidenum">
              <a:rPr lang="en-GB" sz="1000">
                <a:solidFill>
                  <a:srgbClr val="8795A1"/>
                </a:solidFill>
                <a:latin typeface="Segoe UI"/>
              </a:rPr>
              <a:t>21</a:t>
            </a:fld>
          </a:p>
        </p:txBody>
      </p:sp>
      <p:sp>
        <p:nvSpPr>
          <p:cNvPr id="7" name="body-0"/>
          <p:cNvSpPr txBox="1"/>
          <p:nvPr/>
        </p:nvSpPr>
        <p:spPr>
          <a:xfrm>
            <a:off x="658368" y="1737360"/>
            <a:ext cx="1087495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network of Figure 15.1, four inference methods, the explaining-away measurement, and the scaling comparison of Figure 15.2.</a:t>
            </a:r>
          </a:p>
        </p:txBody>
      </p:sp>
      <p:sp>
        <p:nvSpPr>
          <p:cNvPr id="8" name="!!labsteps-h"/>
          <p:cNvSpPr txBox="1"/>
          <p:nvPr/>
        </p:nvSpPr>
        <p:spPr>
          <a:xfrm>
            <a:off x="658368" y="268224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066288"/>
            <a:ext cx="10874959" cy="1859280"/>
          </a:xfrm>
          <a:prstGeom prst="rect">
            <a:avLst/>
          </a:prstGeom>
          <a:noFill/>
        </p:spPr>
        <p:txBody>
          <a:bodyPr wrap="square" anchor="t" lIns="0" rIns="0" tIns="0" bIns="0">
            <a:noAutofit/>
          </a:bodyPr>
          <a:lstStyle/>
          <a:p>
            <a:pPr algn="l" marL="404250" indent="-404250">
              <a:lnSpc>
                <a:spcPct val="100000"/>
              </a:lnSpc>
              <a:spcBef>
                <a:spcPts val="0"/>
              </a:spcBef>
              <a:spcAft>
                <a:spcPts val="480"/>
              </a:spcAft>
            </a:pPr>
            <a:r>
              <a:rPr sz="1600" b="1">
                <a:solidFill>
                  <a:srgbClr val="117A65"/>
                </a:solidFill>
                <a:latin typeface="Segoe UI"/>
              </a:rPr>
              <a:t>1.	</a:t>
            </a:r>
            <a:r>
              <a:rPr sz="1600" b="0" i="0">
                <a:solidFill>
                  <a:srgbClr val="1C252B"/>
                </a:solidFill>
                <a:latin typeface="Segoe UI"/>
              </a:rPr>
              <a:t>Exact: enumeration</a:t>
            </a:r>
          </a:p>
          <a:p>
            <a:pPr algn="l" marL="404250" indent="-404250">
              <a:lnSpc>
                <a:spcPct val="100000"/>
              </a:lnSpc>
              <a:spcBef>
                <a:spcPts val="0"/>
              </a:spcBef>
              <a:spcAft>
                <a:spcPts val="480"/>
              </a:spcAft>
            </a:pPr>
            <a:r>
              <a:rPr sz="1600" b="1">
                <a:solidFill>
                  <a:srgbClr val="117A65"/>
                </a:solidFill>
                <a:latin typeface="Segoe UI"/>
              </a:rPr>
              <a:t>2.	</a:t>
            </a:r>
            <a:r>
              <a:rPr sz="1600" b="0" i="0">
                <a:solidFill>
                  <a:srgbClr val="1C252B"/>
                </a:solidFill>
                <a:latin typeface="Segoe UI"/>
              </a:rPr>
              <a:t>Exact: variable elimination</a:t>
            </a:r>
          </a:p>
          <a:p>
            <a:pPr algn="l" marL="404250" indent="-404250">
              <a:lnSpc>
                <a:spcPct val="100000"/>
              </a:lnSpc>
              <a:spcBef>
                <a:spcPts val="0"/>
              </a:spcBef>
              <a:spcAft>
                <a:spcPts val="480"/>
              </a:spcAft>
            </a:pPr>
            <a:r>
              <a:rPr sz="1600" b="1">
                <a:solidFill>
                  <a:srgbClr val="117A65"/>
                </a:solidFill>
                <a:latin typeface="Segoe UI"/>
              </a:rPr>
              <a:t>3.	</a:t>
            </a:r>
            <a:r>
              <a:rPr sz="1600" b="0" i="0">
                <a:solidFill>
                  <a:srgbClr val="1C252B"/>
                </a:solidFill>
                <a:latin typeface="Segoe UI"/>
              </a:rPr>
              <a:t>Rejection sampling</a:t>
            </a:r>
          </a:p>
          <a:p>
            <a:pPr algn="l" marL="404250" indent="-404250">
              <a:lnSpc>
                <a:spcPct val="100000"/>
              </a:lnSpc>
              <a:spcBef>
                <a:spcPts val="0"/>
              </a:spcBef>
              <a:spcAft>
                <a:spcPts val="480"/>
              </a:spcAft>
            </a:pPr>
            <a:r>
              <a:rPr sz="1600" b="1">
                <a:solidFill>
                  <a:srgbClr val="117A65"/>
                </a:solidFill>
                <a:latin typeface="Segoe UI"/>
              </a:rPr>
              <a:t>4.	</a:t>
            </a:r>
            <a:r>
              <a:rPr sz="1600" b="0" i="0">
                <a:solidFill>
                  <a:srgbClr val="1C252B"/>
                </a:solidFill>
                <a:latin typeface="Segoe UI"/>
              </a:rPr>
              <a:t>Likelihood weighting</a:t>
            </a:r>
          </a:p>
          <a:p>
            <a:pPr algn="l" marL="404250" indent="-404250">
              <a:lnSpc>
                <a:spcPct val="100000"/>
              </a:lnSpc>
              <a:spcBef>
                <a:spcPts val="0"/>
              </a:spcBef>
              <a:spcAft>
                <a:spcPts val="480"/>
              </a:spcAft>
            </a:pPr>
            <a:r>
              <a:rPr sz="1600" b="1">
                <a:solidFill>
                  <a:srgbClr val="117A65"/>
                </a:solidFill>
                <a:latin typeface="Segoe UI"/>
              </a:rPr>
              <a:t>5.	</a:t>
            </a:r>
            <a:r>
              <a:rPr sz="1600" b="0" i="0">
                <a:solidFill>
                  <a:srgbClr val="1C252B"/>
                </a:solidFill>
                <a:latin typeface="Segoe UI"/>
              </a:rPr>
              <a:t>Explaining away</a:t>
            </a:r>
          </a:p>
          <a:p>
            <a:pPr algn="l" marL="404250" indent="-404250">
              <a:lnSpc>
                <a:spcPct val="100000"/>
              </a:lnSpc>
              <a:spcBef>
                <a:spcPts val="0"/>
              </a:spcBef>
              <a:spcAft>
                <a:spcPts val="0"/>
              </a:spcAft>
            </a:pPr>
            <a:r>
              <a:rPr sz="1600" b="1">
                <a:solidFill>
                  <a:srgbClr val="117A65"/>
                </a:solidFill>
                <a:latin typeface="Segoe UI"/>
              </a:rPr>
              <a:t>6.	</a:t>
            </a:r>
            <a:r>
              <a:rPr sz="1600" b="0" i="0">
                <a:solidFill>
                  <a:srgbClr val="1C252B"/>
                </a:solidFill>
                <a:latin typeface="Segoe UI"/>
              </a:rPr>
              <a:t>And where variable elimination earns its keep</a:t>
            </a:r>
          </a:p>
        </p:txBody>
      </p:sp>
      <p:sp>
        <p:nvSpPr>
          <p:cNvPr id="3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300" b="0" i="0">
                <a:solidFill>
                  <a:srgbClr val="1C252B"/>
                </a:solidFill>
                <a:latin typeface="Segoe UI"/>
              </a:rPr>
              <a:t>Week 13: Go/no-go under uncertainty; diagnosing a defect cause</a:t>
            </a:r>
          </a:p>
        </p:txBody>
      </p:sp>
      <p:sp>
        <p:nvSpPr>
          <p:cNvPr id="3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4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236 lines of Python</a:t>
            </a:r>
          </a:p>
        </p:txBody>
      </p:sp>
      <p:sp>
        <p:nvSpPr>
          <p:cNvPr id="4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code/ch15_diagnosing_defect_s.py</a:t>
            </a:r>
          </a:p>
        </p:txBody>
      </p:sp>
      <p:sp>
        <p:nvSpPr>
          <p:cNvPr id="4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pfill">
            <a:extLst>
              <a:ext uri="{C183D7F6-B498-43B3-948B-1728B52AA6E4}">
                <adec:decorative xmlns:adec="http://schemas.microsoft.com/office/drawing/2017/decorative" val="1"/>
              </a:ext>
            </a:extLst>
          </p:cNvPr>
          <p:cNvSpPr/>
          <p:nvPr/>
        </p:nvSpPr>
        <p:spPr>
          <a:xfrm>
            <a:off x="0" y="0"/>
            <a:ext cx="502010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2534F756-B658-4D36-B3E2-EDD505AF1383}" type="slidenum">
              <a:rPr lang="en-GB" sz="1000">
                <a:solidFill>
                  <a:srgbClr val="8795A1"/>
                </a:solidFill>
                <a:latin typeface="Segoe UI"/>
              </a:rPr>
              <a:t>22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quot;&quot;&quot;Chapter 15 lab -- inference in a Bayesian network. Four ways to compute P(Rushed | Rollback): two exact, two by sampling. Then explaining away, and the scaling comparison that justifies variable elimination. &quot;&quot;&quot; import itertools import random"/>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15 lab -- inference in a Bayesian network.</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Four ways to compute P(Rushed | Rollback): two exact, two by</a:t>
            </a:r>
          </a:p>
          <a:p>
            <a:pPr>
              <a:lnSpc>
                <a:spcPct val="100000"/>
              </a:lnSpc>
              <a:spcAft>
                <a:spcPts val="0"/>
              </a:spcAft>
            </a:pPr>
            <a:r>
              <a:rPr sz="2000" i="0">
                <a:solidFill>
                  <a:srgbClr val="7DCEA0"/>
                </a:solidFill>
                <a:latin typeface="Consolas"/>
              </a:rPr>
              <a:t>sampling. Then explaining away, and the scaling comparison that</a:t>
            </a:r>
          </a:p>
          <a:p>
            <a:pPr>
              <a:lnSpc>
                <a:spcPct val="100000"/>
              </a:lnSpc>
              <a:spcAft>
                <a:spcPts val="0"/>
              </a:spcAft>
            </a:pPr>
            <a:r>
              <a:rPr sz="2000" i="0">
                <a:solidFill>
                  <a:srgbClr val="7DCEA0"/>
                </a:solidFill>
                <a:latin typeface="Consolas"/>
              </a:rPr>
              <a:t>justifies variable elimination.</a:t>
            </a:r>
          </a:p>
          <a:p>
            <a:pPr>
              <a:lnSpc>
                <a:spcPct val="100000"/>
              </a:lnSpc>
              <a:spcAft>
                <a:spcPts val="0"/>
              </a:spcAft>
            </a:pPr>
            <a:r>
              <a:rPr sz="2000" i="0">
                <a:solidFill>
                  <a:srgbClr val="7DCEA0"/>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itertools</a:t>
            </a:r>
          </a:p>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random</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a:p>
            <a:pPr algn="r">
              <a:lnSpc>
                <a:spcPct val="100000"/>
              </a:lnSpc>
            </a:pPr>
            <a:r>
              <a:rPr sz="2000">
                <a:solidFill>
                  <a:srgbClr val="4F5D6A"/>
                </a:solidFill>
                <a:latin typeface="Consolas"/>
              </a:rPr>
              <a:t>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25916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2D543E24-5D78-4CAD-86B0-1D9252BE04CA}"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node -&gt; (parents, table mapping parent values to P(node = True)) NET = { &quot;Rushed&quot;: ([], {(): 0.30}), &quot;Junior&quot;: ([], {(): 0.40}), &quot;WeakTest&quot;: ([], {(): 0.25}), &quot;Defect&quot;: ([&quot;Rushed&quot;, &quot;Junior&quot;, &quot;WeakTest&quot;], { (True, True, True): 0.95, (True, True, False): 0.80, (True, False, True): 0.75, (True, False, False): 0.50, (False, True, True): 0.70, (False, True, False): 0.40, (False, False, True): 0.30, (False, False, False): 0.05, }), &quot;Hotfix&quot;: ([&quot;Defect&quot;], {(True,): 0.90, (False,): 0.10}), &quot;Rollback&quot;: ([&quot;Defect&quot;], {(True,): 0.70, (False,): 0.05}), } ORDER = [&quot;Rushed&quot;, &quot;Junior&quot;, &quot;WeakTest&quot;, &quot;Defect&quot;, &quot;Hotfix&quot;, &quot;Rollback&quot;]"/>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node -&gt; (parents, table mapping parent values to P(node = True))</a:t>
            </a:r>
          </a:p>
          <a:p>
            <a:pPr>
              <a:lnSpc>
                <a:spcPct val="100000"/>
              </a:lnSpc>
              <a:spcAft>
                <a:spcPts val="0"/>
              </a:spcAft>
            </a:pPr>
            <a:r>
              <a:rPr sz="1500" i="0">
                <a:solidFill>
                  <a:srgbClr val="E8EDF2"/>
                </a:solidFill>
                <a:latin typeface="Consolas"/>
              </a:rPr>
              <a:t>NET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Rushed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0.30</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Junior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0.40</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WeakTest</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0.25</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Defect</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Rushed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Junior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WeakTest</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0.95</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0.80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0.75</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0.50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0.70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0.40</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True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0.30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E8EDF2"/>
                </a:solidFill>
                <a:latin typeface="Consolas"/>
              </a:rPr>
              <a:t> </a:t>
            </a:r>
            <a:r>
              <a:rPr sz="1500" i="0">
                <a:solidFill>
                  <a:srgbClr val="5DADE2"/>
                </a:solidFill>
                <a:latin typeface="Consolas"/>
              </a:rPr>
              <a:t>False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0.05</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Hotfix</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Defect</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0.90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0.10</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Rollback</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Defect</a:t>
            </a:r>
            <a:r>
              <a:rPr sz="1500" i="0">
                <a:solidFill>
                  <a:srgbClr val="7DCEA0"/>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5DADE2"/>
                </a:solidFill>
                <a:latin typeface="Consolas"/>
              </a:rPr>
              <a:t>True</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0.70</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5DADE2"/>
                </a:solidFill>
                <a:latin typeface="Consolas"/>
              </a:rPr>
              <a:t>False</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0.05</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AEB6BF"/>
                </a:solidFill>
                <a:latin typeface="Consolas"/>
              </a:rPr>
              <a:t>}</a:t>
            </a:r>
          </a:p>
          <a:p>
            <a:pPr>
              <a:lnSpc>
                <a:spcPct val="100000"/>
              </a:lnSpc>
              <a:spcAft>
                <a:spcPts val="0"/>
              </a:spcAft>
            </a:pPr>
            <a:r>
              <a:rPr sz="1500" i="0">
                <a:solidFill>
                  <a:srgbClr val="E8EDF2"/>
                </a:solidFill>
                <a:latin typeface="Consolas"/>
              </a:rPr>
              <a:t>ORDER</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7DCEA0"/>
                </a:solidFill>
                <a:latin typeface="Consolas"/>
              </a:rPr>
              <a:t>"</a:t>
            </a:r>
            <a:r>
              <a:rPr sz="1500" i="0">
                <a:solidFill>
                  <a:srgbClr val="7DCEA0"/>
                </a:solidFill>
                <a:latin typeface="Consolas"/>
              </a:rPr>
              <a:t>Rushed</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Junior</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WeakTest</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Defect</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Hotfix</a:t>
            </a:r>
            <a:r>
              <a:rPr sz="1500" i="0">
                <a:solidFill>
                  <a:srgbClr val="7DCEA0"/>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7DCEA0"/>
                </a:solidFill>
                <a:latin typeface="Consolas"/>
              </a:rPr>
              <a:t>"</a:t>
            </a:r>
            <a:r>
              <a:rPr sz="1500" i="0">
                <a:solidFill>
                  <a:srgbClr val="7DCEA0"/>
                </a:solidFill>
                <a:latin typeface="Consolas"/>
              </a:rPr>
              <a:t>Rollback</a:t>
            </a:r>
            <a:r>
              <a:rPr sz="1500" i="0">
                <a:solidFill>
                  <a:srgbClr val="7DCEA0"/>
                </a:solidFill>
                <a:latin typeface="Consolas"/>
              </a:rPr>
              <a:t>"</a:t>
            </a:r>
            <a:r>
              <a:rPr sz="1500" i="0">
                <a:solidFill>
                  <a:srgbClr val="AEB6BF"/>
                </a:solidFill>
                <a:latin typeface="Consolas"/>
              </a:rPr>
              <a:t>]</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12</a:t>
            </a:r>
          </a:p>
          <a:p>
            <a:pPr algn="r">
              <a:lnSpc>
                <a:spcPct val="100000"/>
              </a:lnSpc>
            </a:pPr>
            <a:r>
              <a:rPr sz="1500">
                <a:solidFill>
                  <a:srgbClr val="4F5D6A"/>
                </a:solidFill>
                <a:latin typeface="Consolas"/>
              </a:rPr>
              <a:t>13</a:t>
            </a:r>
          </a:p>
          <a:p>
            <a:pPr algn="r">
              <a:lnSpc>
                <a:spcPct val="100000"/>
              </a:lnSpc>
            </a:pPr>
            <a:r>
              <a:rPr sz="1500">
                <a:solidFill>
                  <a:srgbClr val="4F5D6A"/>
                </a:solidFill>
                <a:latin typeface="Consolas"/>
              </a:rPr>
              <a:t>14</a:t>
            </a:r>
          </a:p>
          <a:p>
            <a:pPr algn="r">
              <a:lnSpc>
                <a:spcPct val="100000"/>
              </a:lnSpc>
            </a:pPr>
            <a:r>
              <a:rPr sz="1500">
                <a:solidFill>
                  <a:srgbClr val="4F5D6A"/>
                </a:solidFill>
                <a:latin typeface="Consolas"/>
              </a:rPr>
              <a:t>15</a:t>
            </a:r>
          </a:p>
          <a:p>
            <a:pPr algn="r">
              <a:lnSpc>
                <a:spcPct val="100000"/>
              </a:lnSpc>
            </a:pPr>
            <a:r>
              <a:rPr sz="1500">
                <a:solidFill>
                  <a:srgbClr val="4F5D6A"/>
                </a:solidFill>
                <a:latin typeface="Consolas"/>
              </a:rPr>
              <a:t>16</a:t>
            </a:r>
          </a:p>
          <a:p>
            <a:pPr algn="r">
              <a:lnSpc>
                <a:spcPct val="100000"/>
              </a:lnSpc>
            </a:pPr>
            <a:r>
              <a:rPr sz="1500">
                <a:solidFill>
                  <a:srgbClr val="4F5D6A"/>
                </a:solidFill>
                <a:latin typeface="Consolas"/>
              </a:rPr>
              <a:t>17</a:t>
            </a:r>
          </a:p>
          <a:p>
            <a:pPr algn="r">
              <a:lnSpc>
                <a:spcPct val="100000"/>
              </a:lnSpc>
            </a:pPr>
            <a:r>
              <a:rPr sz="1500">
                <a:solidFill>
                  <a:srgbClr val="4F5D6A"/>
                </a:solidFill>
                <a:latin typeface="Consolas"/>
              </a:rPr>
              <a:t>18</a:t>
            </a:r>
          </a:p>
          <a:p>
            <a:pPr algn="r">
              <a:lnSpc>
                <a:spcPct val="100000"/>
              </a:lnSpc>
            </a:pPr>
            <a:r>
              <a:rPr sz="1500">
                <a:solidFill>
                  <a:srgbClr val="4F5D6A"/>
                </a:solidFill>
                <a:latin typeface="Consolas"/>
              </a:rPr>
              <a:t>19</a:t>
            </a:r>
          </a:p>
          <a:p>
            <a:pPr algn="r">
              <a:lnSpc>
                <a:spcPct val="100000"/>
              </a:lnSpc>
            </a:pPr>
            <a:r>
              <a:rPr sz="1500">
                <a:solidFill>
                  <a:srgbClr val="4F5D6A"/>
                </a:solidFill>
                <a:latin typeface="Consolas"/>
              </a:rPr>
              <a:t>20</a:t>
            </a:r>
          </a:p>
          <a:p>
            <a:pPr algn="r">
              <a:lnSpc>
                <a:spcPct val="100000"/>
              </a:lnSpc>
            </a:pPr>
            <a:r>
              <a:rPr sz="1500">
                <a:solidFill>
                  <a:srgbClr val="4F5D6A"/>
                </a:solidFill>
                <a:latin typeface="Consolas"/>
              </a:rPr>
              <a:t>21</a:t>
            </a:r>
          </a:p>
          <a:p>
            <a:pPr algn="r">
              <a:lnSpc>
                <a:spcPct val="100000"/>
              </a:lnSpc>
            </a:pPr>
            <a:r>
              <a:rPr sz="1500">
                <a:solidFill>
                  <a:srgbClr val="4F5D6A"/>
                </a:solidFill>
                <a:latin typeface="Consolas"/>
              </a:rPr>
              <a:t>22</a:t>
            </a:r>
          </a:p>
          <a:p>
            <a:pPr algn="r">
              <a:lnSpc>
                <a:spcPct val="100000"/>
              </a:lnSpc>
            </a:pPr>
            <a:r>
              <a:rPr sz="1500">
                <a:solidFill>
                  <a:srgbClr val="4F5D6A"/>
                </a:solidFill>
                <a:latin typeface="Consolas"/>
              </a:rPr>
              <a:t>23</a:t>
            </a:r>
          </a:p>
          <a:p>
            <a:pPr algn="r">
              <a:lnSpc>
                <a:spcPct val="100000"/>
              </a:lnSpc>
            </a:pPr>
            <a:r>
              <a:rPr sz="1500">
                <a:solidFill>
                  <a:srgbClr val="4F5D6A"/>
                </a:solidFill>
                <a:latin typeface="Consolas"/>
              </a:rPr>
              <a:t>24</a:t>
            </a:r>
          </a:p>
          <a:p>
            <a:pPr algn="r">
              <a:lnSpc>
                <a:spcPct val="100000"/>
              </a:lnSpc>
            </a:pPr>
            <a:r>
              <a:rPr sz="1500">
                <a:solidFill>
                  <a:srgbClr val="4F5D6A"/>
                </a:solidFill>
                <a:latin typeface="Consolas"/>
              </a:rPr>
              <a:t>25</a:t>
            </a:r>
          </a:p>
          <a:p>
            <a:pPr algn="r">
              <a:lnSpc>
                <a:spcPct val="100000"/>
              </a:lnSpc>
            </a:pPr>
            <a:r>
              <a:rPr sz="1500">
                <a:solidFill>
                  <a:srgbClr val="4F5D6A"/>
                </a:solidFill>
                <a:latin typeface="Consolas"/>
              </a:rPr>
              <a:t>26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49821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206EC363-D308-4891-B203-86A2EBD7E182}"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41903"/>
          </a:xfrm>
          <a:prstGeom prst="roundRect">
            <a:avLst>
              <a:gd name="adj" fmla="val 30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def p_true(net, node, a): parents, table = net[node] return table[tuple(a[p] for p in parents)] def prob(net, node, value, a): p = p_true(net, node, a) return p if value else 1 - p"/>
          <p:cNvSpPr txBox="1"/>
          <p:nvPr/>
        </p:nvSpPr>
        <p:spPr>
          <a:xfrm>
            <a:off x="1362456" y="2523744"/>
            <a:ext cx="9987991" cy="2548127"/>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p_true</a:t>
            </a:r>
            <a:r>
              <a:rPr sz="2000" i="0">
                <a:solidFill>
                  <a:srgbClr val="AEB6BF"/>
                </a:solidFill>
                <a:latin typeface="Consolas"/>
              </a:rPr>
              <a:t>(</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parents</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table</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node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table</a:t>
            </a:r>
            <a:r>
              <a:rPr sz="2000" i="0">
                <a:solidFill>
                  <a:srgbClr val="AEB6BF"/>
                </a:solidFill>
                <a:latin typeface="Consolas"/>
              </a:rPr>
              <a:t>[</a:t>
            </a:r>
            <a:r>
              <a:rPr sz="2000" i="0">
                <a:solidFill>
                  <a:srgbClr val="C39BD3"/>
                </a:solidFill>
                <a:latin typeface="Consolas"/>
              </a:rPr>
              <a:t>tuple</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p</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p</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parents</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a:latin typeface="Consolas"/>
              </a:rPr>
              <a:t>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prob</a:t>
            </a:r>
            <a:r>
              <a:rPr sz="2000" i="0">
                <a:solidFill>
                  <a:srgbClr val="AEB6BF"/>
                </a:solidFill>
                <a:latin typeface="Consolas"/>
              </a:rPr>
              <a:t>(</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value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p</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p_true</a:t>
            </a:r>
            <a:r>
              <a:rPr sz="2000" i="0">
                <a:solidFill>
                  <a:srgbClr val="AEB6BF"/>
                </a:solidFill>
                <a:latin typeface="Consolas"/>
              </a:rPr>
              <a:t>(</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p</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value</a:t>
            </a:r>
            <a:r>
              <a:rPr sz="2000" i="0">
                <a:solidFill>
                  <a:srgbClr val="E8EDF2"/>
                </a:solidFill>
                <a:latin typeface="Consolas"/>
              </a:rPr>
              <a:t> </a:t>
            </a:r>
            <a:r>
              <a:rPr sz="2000" i="0">
                <a:solidFill>
                  <a:srgbClr val="5DADE2"/>
                </a:solidFill>
                <a:latin typeface="Consolas"/>
              </a:rPr>
              <a:t>else</a:t>
            </a:r>
            <a:r>
              <a:rPr sz="2000" i="0">
                <a:solidFill>
                  <a:srgbClr val="E8EDF2"/>
                </a:solidFill>
                <a:latin typeface="Consolas"/>
              </a:rPr>
              <a:t> </a:t>
            </a:r>
            <a:r>
              <a:rPr sz="2000" i="0">
                <a:solidFill>
                  <a:srgbClr val="F7DC6F"/>
                </a:solidFill>
                <a:latin typeface="Consolas"/>
              </a:rPr>
              <a:t>1</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a:t>
            </a:r>
          </a:p>
        </p:txBody>
      </p:sp>
      <p:sp>
        <p:nvSpPr>
          <p:cNvPr id="15" name="!!code-num"/>
          <p:cNvSpPr txBox="1"/>
          <p:nvPr/>
        </p:nvSpPr>
        <p:spPr>
          <a:xfrm>
            <a:off x="768096" y="2523744"/>
            <a:ext cx="393192" cy="2548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29</a:t>
            </a:r>
          </a:p>
          <a:p>
            <a:pPr algn="r">
              <a:lnSpc>
                <a:spcPct val="100000"/>
              </a:lnSpc>
            </a:pPr>
            <a:r>
              <a:rPr sz="2000">
                <a:solidFill>
                  <a:srgbClr val="4F5D6A"/>
                </a:solidFill>
                <a:latin typeface="Consolas"/>
              </a:rPr>
              <a:t>30</a:t>
            </a:r>
          </a:p>
          <a:p>
            <a:pPr algn="r">
              <a:lnSpc>
                <a:spcPct val="100000"/>
              </a:lnSpc>
            </a:pPr>
            <a:r>
              <a:rPr sz="2000">
                <a:solidFill>
                  <a:srgbClr val="4F5D6A"/>
                </a:solidFill>
                <a:latin typeface="Consolas"/>
              </a:rPr>
              <a:t>31</a:t>
            </a:r>
          </a:p>
          <a:p>
            <a:pPr algn="r">
              <a:lnSpc>
                <a:spcPct val="100000"/>
              </a:lnSpc>
            </a:pPr>
            <a:r>
              <a:rPr sz="2000">
                <a:solidFill>
                  <a:srgbClr val="4F5D6A"/>
                </a:solidFill>
                <a:latin typeface="Consolas"/>
              </a:rPr>
              <a:t>32</a:t>
            </a:r>
          </a:p>
          <a:p>
            <a:pPr algn="r">
              <a:lnSpc>
                <a:spcPct val="100000"/>
              </a:lnSpc>
            </a:pPr>
            <a:r>
              <a:rPr sz="2000">
                <a:solidFill>
                  <a:srgbClr val="4F5D6A"/>
                </a:solidFill>
                <a:latin typeface="Consolas"/>
              </a:rPr>
              <a:t>33</a:t>
            </a:r>
          </a:p>
          <a:p>
            <a:pPr algn="r">
              <a:lnSpc>
                <a:spcPct val="100000"/>
              </a:lnSpc>
            </a:pPr>
            <a:r>
              <a:rPr sz="2000">
                <a:solidFill>
                  <a:srgbClr val="4F5D6A"/>
                </a:solidFill>
                <a:latin typeface="Consolas"/>
              </a:rPr>
              <a:t>34</a:t>
            </a:r>
          </a:p>
          <a:p>
            <a:pPr algn="r">
              <a:lnSpc>
                <a:spcPct val="100000"/>
              </a:lnSpc>
            </a:pPr>
            <a:r>
              <a:rPr sz="2000">
                <a:solidFill>
                  <a:srgbClr val="4F5D6A"/>
                </a:solidFill>
                <a:latin typeface="Consolas"/>
              </a:rPr>
              <a:t>35</a:t>
            </a:r>
          </a:p>
          <a:p>
            <a:pPr algn="r">
              <a:lnSpc>
                <a:spcPct val="100000"/>
              </a:lnSpc>
            </a:pPr>
            <a:r>
              <a:rPr sz="2000">
                <a:solidFill>
                  <a:srgbClr val="4F5D6A"/>
                </a:solidFill>
                <a:latin typeface="Consolas"/>
              </a:rPr>
              <a:t>36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73726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31D79782-EDE5-4647-9352-8B754F6C08F0}"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Exact: enumeration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 1. exact: enumeration ----------------------------------------- def enumerate_query(net, order, query, evidence): hidden = [n for n in order if n != query and n not in evidence] totals, terms = {True: 0.0, False: 0.0}, 0 for qv in (True, False): for combo in itertools.product([True, False], repeat=len(hidden)): a = dict(evidence) a[query] = qv a.update(dict(zip(hidden, combo))) pr = 1.0 for n in order: pr *= prob(net, n, a[n], a) totals[qv] += pr terms += 1 z = totals[True] + totals[False] return totals[True] / z, terms"/>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1">
                <a:solidFill>
                  <a:srgbClr val="8795A1"/>
                </a:solidFill>
                <a:latin typeface="Consolas"/>
              </a:rPr>
              <a:t># --- 1. exact: enumeration -----------------------------------------</a:t>
            </a:r>
          </a:p>
          <a:p>
            <a:pPr>
              <a:lnSpc>
                <a:spcPct val="100000"/>
              </a:lnSpc>
              <a:spcAft>
                <a:spcPts val="0"/>
              </a:spcAft>
            </a:pPr>
            <a:r>
              <a:rPr sz="1300" i="0">
                <a:solidFill>
                  <a:srgbClr val="5DADE2"/>
                </a:solidFill>
                <a:latin typeface="Consolas"/>
              </a:rPr>
              <a:t>def</a:t>
            </a:r>
            <a:r>
              <a:rPr sz="1300" i="0">
                <a:solidFill>
                  <a:srgbClr val="E8EDF2"/>
                </a:solidFill>
                <a:latin typeface="Consolas"/>
              </a:rPr>
              <a:t> </a:t>
            </a:r>
            <a:r>
              <a:rPr sz="1300" i="0">
                <a:solidFill>
                  <a:srgbClr val="C39BD3"/>
                </a:solidFill>
                <a:latin typeface="Consolas"/>
              </a:rPr>
              <a:t>enumerate_query</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query</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evidence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hidden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n</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order</a:t>
            </a: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query</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not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evidence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totals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terms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0.0</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0.0</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qv</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combo</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itertools</a:t>
            </a:r>
            <a:r>
              <a:rPr sz="1300" i="0">
                <a:solidFill>
                  <a:srgbClr val="AEB6BF"/>
                </a:solidFill>
                <a:latin typeface="Consolas"/>
              </a:rPr>
              <a:t>.</a:t>
            </a:r>
            <a:r>
              <a:rPr sz="1300" i="0">
                <a:solidFill>
                  <a:srgbClr val="E8EDF2"/>
                </a:solidFill>
                <a:latin typeface="Consolas"/>
              </a:rPr>
              <a:t>product</a:t>
            </a:r>
            <a:r>
              <a:rPr sz="1300" i="0">
                <a:solidFill>
                  <a:srgbClr val="AEB6BF"/>
                </a:solidFill>
                <a:latin typeface="Consolas"/>
              </a:rPr>
              <a:t>(</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False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repeat</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hidden</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dict</a:t>
            </a:r>
            <a:r>
              <a:rPr sz="1300" i="0">
                <a:solidFill>
                  <a:srgbClr val="AEB6BF"/>
                </a:solidFill>
                <a:latin typeface="Consolas"/>
              </a:rPr>
              <a:t>(</a:t>
            </a:r>
            <a:r>
              <a:rPr sz="1300" i="0">
                <a:solidFill>
                  <a:srgbClr val="E8EDF2"/>
                </a:solidFill>
                <a:latin typeface="Consolas"/>
              </a:rPr>
              <a:t>evidence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query</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qv</a:t>
            </a:r>
          </a:p>
          <a:p>
            <a:pPr>
              <a:lnSpc>
                <a:spcPct val="100000"/>
              </a:lnSpc>
              <a:spcAft>
                <a:spcPts val="0"/>
              </a:spcAft>
            </a:pP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update</a:t>
            </a:r>
            <a:r>
              <a:rPr sz="1300" i="0">
                <a:solidFill>
                  <a:srgbClr val="AEB6BF"/>
                </a:solidFill>
                <a:latin typeface="Consolas"/>
              </a:rPr>
              <a:t>(</a:t>
            </a:r>
            <a:r>
              <a:rPr sz="1300" i="0">
                <a:solidFill>
                  <a:srgbClr val="C39BD3"/>
                </a:solidFill>
                <a:latin typeface="Consolas"/>
              </a:rPr>
              <a:t>dict</a:t>
            </a:r>
            <a:r>
              <a:rPr sz="1300" i="0">
                <a:solidFill>
                  <a:srgbClr val="AEB6BF"/>
                </a:solidFill>
                <a:latin typeface="Consolas"/>
              </a:rPr>
              <a:t>(</a:t>
            </a:r>
            <a:r>
              <a:rPr sz="1300" i="0">
                <a:solidFill>
                  <a:srgbClr val="C39BD3"/>
                </a:solidFill>
                <a:latin typeface="Consolas"/>
              </a:rPr>
              <a:t>zip</a:t>
            </a:r>
            <a:r>
              <a:rPr sz="1300" i="0">
                <a:solidFill>
                  <a:srgbClr val="AEB6BF"/>
                </a:solidFill>
                <a:latin typeface="Consolas"/>
              </a:rPr>
              <a:t>(</a:t>
            </a:r>
            <a:r>
              <a:rPr sz="1300" i="0">
                <a:solidFill>
                  <a:srgbClr val="E8EDF2"/>
                </a:solidFill>
                <a:latin typeface="Consolas"/>
              </a:rPr>
              <a:t>hidden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combo</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pr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pr</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prob</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totals</a:t>
            </a:r>
            <a:r>
              <a:rPr sz="1300" i="0">
                <a:solidFill>
                  <a:srgbClr val="AEB6BF"/>
                </a:solidFill>
                <a:latin typeface="Consolas"/>
              </a:rPr>
              <a:t>[</a:t>
            </a:r>
            <a:r>
              <a:rPr sz="1300" i="0">
                <a:solidFill>
                  <a:srgbClr val="E8EDF2"/>
                </a:solidFill>
                <a:latin typeface="Consolas"/>
              </a:rPr>
              <a:t>qv</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pr</a:t>
            </a:r>
          </a:p>
          <a:p>
            <a:pPr>
              <a:lnSpc>
                <a:spcPct val="100000"/>
              </a:lnSpc>
              <a:spcAft>
                <a:spcPts val="0"/>
              </a:spcAft>
            </a:pPr>
            <a:r>
              <a:rPr sz="1300" i="0">
                <a:solidFill>
                  <a:srgbClr val="E8EDF2"/>
                </a:solidFill>
                <a:latin typeface="Consolas"/>
              </a:rPr>
              <a:t>            </a:t>
            </a:r>
            <a:r>
              <a:rPr sz="1300" i="0">
                <a:solidFill>
                  <a:srgbClr val="E8EDF2"/>
                </a:solidFill>
                <a:latin typeface="Consolas"/>
              </a:rPr>
              <a:t>terms</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p>
          <a:p>
            <a:pPr>
              <a:lnSpc>
                <a:spcPct val="100000"/>
              </a:lnSpc>
              <a:spcAft>
                <a:spcPts val="0"/>
              </a:spcAft>
            </a:pPr>
            <a:r>
              <a:rPr sz="1300" i="0">
                <a:solidFill>
                  <a:srgbClr val="E8EDF2"/>
                </a:solidFill>
                <a:latin typeface="Consolas"/>
              </a:rPr>
              <a:t>    </a:t>
            </a:r>
            <a:r>
              <a:rPr sz="1300" i="0">
                <a:solidFill>
                  <a:srgbClr val="E8EDF2"/>
                </a:solidFill>
                <a:latin typeface="Consolas"/>
              </a:rPr>
              <a:t>z</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totals</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totals</a:t>
            </a:r>
            <a:r>
              <a:rPr sz="1300" i="0">
                <a:solidFill>
                  <a:srgbClr val="AEB6BF"/>
                </a:solidFill>
                <a:latin typeface="Consolas"/>
              </a:rPr>
              <a:t>[</a:t>
            </a:r>
            <a:r>
              <a:rPr sz="1300" i="0">
                <a:solidFill>
                  <a:srgbClr val="5DADE2"/>
                </a:solidFill>
                <a:latin typeface="Consolas"/>
              </a:rPr>
              <a:t>False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totals</a:t>
            </a:r>
            <a:r>
              <a:rPr sz="1300" i="0">
                <a:solidFill>
                  <a:srgbClr val="AEB6BF"/>
                </a:solidFill>
                <a:latin typeface="Consolas"/>
              </a:rPr>
              <a:t>[</a:t>
            </a:r>
            <a:r>
              <a:rPr sz="1300" i="0">
                <a:solidFill>
                  <a:srgbClr val="5DADE2"/>
                </a:solidFill>
                <a:latin typeface="Consolas"/>
              </a:rPr>
              <a:t>True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z</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terms</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39</a:t>
            </a:r>
          </a:p>
          <a:p>
            <a:pPr algn="r">
              <a:lnSpc>
                <a:spcPct val="100000"/>
              </a:lnSpc>
            </a:pPr>
            <a:r>
              <a:rPr sz="1300">
                <a:solidFill>
                  <a:srgbClr val="4F5D6A"/>
                </a:solidFill>
                <a:latin typeface="Consolas"/>
              </a:rPr>
              <a:t>40</a:t>
            </a:r>
          </a:p>
          <a:p>
            <a:pPr algn="r">
              <a:lnSpc>
                <a:spcPct val="100000"/>
              </a:lnSpc>
            </a:pPr>
            <a:r>
              <a:rPr sz="1300">
                <a:solidFill>
                  <a:srgbClr val="4F5D6A"/>
                </a:solidFill>
                <a:latin typeface="Consolas"/>
              </a:rPr>
              <a:t>41</a:t>
            </a:r>
          </a:p>
          <a:p>
            <a:pPr algn="r">
              <a:lnSpc>
                <a:spcPct val="100000"/>
              </a:lnSpc>
            </a:pPr>
            <a:r>
              <a:rPr sz="1300">
                <a:solidFill>
                  <a:srgbClr val="4F5D6A"/>
                </a:solidFill>
                <a:latin typeface="Consolas"/>
              </a:rPr>
              <a:t>42</a:t>
            </a:r>
          </a:p>
          <a:p>
            <a:pPr algn="r">
              <a:lnSpc>
                <a:spcPct val="100000"/>
              </a:lnSpc>
            </a:pPr>
            <a:r>
              <a:rPr sz="1300">
                <a:solidFill>
                  <a:srgbClr val="4F5D6A"/>
                </a:solidFill>
                <a:latin typeface="Consolas"/>
              </a:rPr>
              <a:t>43</a:t>
            </a:r>
          </a:p>
          <a:p>
            <a:pPr algn="r">
              <a:lnSpc>
                <a:spcPct val="100000"/>
              </a:lnSpc>
            </a:pPr>
            <a:r>
              <a:rPr sz="1300">
                <a:solidFill>
                  <a:srgbClr val="4F5D6A"/>
                </a:solidFill>
                <a:latin typeface="Consolas"/>
              </a:rPr>
              <a:t>44</a:t>
            </a:r>
          </a:p>
          <a:p>
            <a:pPr algn="r">
              <a:lnSpc>
                <a:spcPct val="100000"/>
              </a:lnSpc>
            </a:pPr>
            <a:r>
              <a:rPr sz="1300">
                <a:solidFill>
                  <a:srgbClr val="4F5D6A"/>
                </a:solidFill>
                <a:latin typeface="Consolas"/>
              </a:rPr>
              <a:t>45</a:t>
            </a:r>
          </a:p>
          <a:p>
            <a:pPr algn="r">
              <a:lnSpc>
                <a:spcPct val="100000"/>
              </a:lnSpc>
            </a:pPr>
            <a:r>
              <a:rPr sz="1300">
                <a:solidFill>
                  <a:srgbClr val="4F5D6A"/>
                </a:solidFill>
                <a:latin typeface="Consolas"/>
              </a:rPr>
              <a:t>46</a:t>
            </a:r>
          </a:p>
          <a:p>
            <a:pPr algn="r">
              <a:lnSpc>
                <a:spcPct val="100000"/>
              </a:lnSpc>
            </a:pPr>
            <a:r>
              <a:rPr sz="1300">
                <a:solidFill>
                  <a:srgbClr val="4F5D6A"/>
                </a:solidFill>
                <a:latin typeface="Consolas"/>
              </a:rPr>
              <a:t>47</a:t>
            </a:r>
          </a:p>
          <a:p>
            <a:pPr algn="r">
              <a:lnSpc>
                <a:spcPct val="100000"/>
              </a:lnSpc>
            </a:pPr>
            <a:r>
              <a:rPr sz="1300">
                <a:solidFill>
                  <a:srgbClr val="4F5D6A"/>
                </a:solidFill>
                <a:latin typeface="Consolas"/>
              </a:rPr>
              <a:t>48</a:t>
            </a:r>
          </a:p>
          <a:p>
            <a:pPr algn="r">
              <a:lnSpc>
                <a:spcPct val="100000"/>
              </a:lnSpc>
            </a:pPr>
            <a:r>
              <a:rPr sz="1300">
                <a:solidFill>
                  <a:srgbClr val="4F5D6A"/>
                </a:solidFill>
                <a:latin typeface="Consolas"/>
              </a:rPr>
              <a:t>49</a:t>
            </a:r>
          </a:p>
          <a:p>
            <a:pPr algn="r">
              <a:lnSpc>
                <a:spcPct val="100000"/>
              </a:lnSpc>
            </a:pPr>
            <a:r>
              <a:rPr sz="1300">
                <a:solidFill>
                  <a:srgbClr val="4F5D6A"/>
                </a:solidFill>
                <a:latin typeface="Consolas"/>
              </a:rPr>
              <a:t>50</a:t>
            </a:r>
          </a:p>
          <a:p>
            <a:pPr algn="r">
              <a:lnSpc>
                <a:spcPct val="100000"/>
              </a:lnSpc>
            </a:pPr>
            <a:r>
              <a:rPr sz="1300">
                <a:solidFill>
                  <a:srgbClr val="4F5D6A"/>
                </a:solidFill>
                <a:latin typeface="Consolas"/>
              </a:rPr>
              <a:t>51</a:t>
            </a:r>
          </a:p>
          <a:p>
            <a:pPr algn="r">
              <a:lnSpc>
                <a:spcPct val="100000"/>
              </a:lnSpc>
            </a:pPr>
            <a:r>
              <a:rPr sz="1300">
                <a:solidFill>
                  <a:srgbClr val="4F5D6A"/>
                </a:solidFill>
                <a:latin typeface="Consolas"/>
              </a:rPr>
              <a:t>52</a:t>
            </a:r>
          </a:p>
          <a:p>
            <a:pPr algn="r">
              <a:lnSpc>
                <a:spcPct val="100000"/>
              </a:lnSpc>
            </a:pPr>
            <a:r>
              <a:rPr sz="1300">
                <a:solidFill>
                  <a:srgbClr val="4F5D6A"/>
                </a:solidFill>
                <a:latin typeface="Consolas"/>
              </a:rPr>
              <a:t>53</a:t>
            </a:r>
          </a:p>
          <a:p>
            <a:pPr algn="r">
              <a:lnSpc>
                <a:spcPct val="100000"/>
              </a:lnSpc>
            </a:pPr>
            <a:r>
              <a:rPr sz="1300">
                <a:solidFill>
                  <a:srgbClr val="4F5D6A"/>
                </a:solidFill>
                <a:latin typeface="Consolas"/>
              </a:rPr>
              <a:t>54</a:t>
            </a:r>
          </a:p>
          <a:p>
            <a:pPr algn="r">
              <a:lnSpc>
                <a:spcPct val="100000"/>
              </a:lnSpc>
            </a:pPr>
            <a:r>
              <a:rPr sz="1300">
                <a:solidFill>
                  <a:srgbClr val="4F5D6A"/>
                </a:solidFill>
                <a:latin typeface="Consolas"/>
              </a:rPr>
              <a:t>55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97632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D312E1E5-488F-41AD-9860-5E8122379971}"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Exact: variable elimination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 2. exact: variable elimination -------------------------------- class Factor: def __init__(self, vars_, table): self.vars, self.table = list(vars_), table def make_factor(net, node, evidence): allv = net[node][0] + [node] keep = [v for v in allv if v not in evidence] table = {} for combo in itertools.product([True, False], repeat=len(allv)): a = dict(zip(allv, combo)) if any(v in evidence and a[v] != evidence[v] for v in allv): continue table[tuple(a[v] for v in keep)] = prob(net, node, a[node], a) return Factor(keep, table)"/>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400" i="1">
                <a:solidFill>
                  <a:srgbClr val="8795A1"/>
                </a:solidFill>
                <a:latin typeface="Consolas"/>
              </a:rPr>
              <a:t># --- 2. exact: variable elimination --------------------------------</a:t>
            </a:r>
          </a:p>
          <a:p>
            <a:pPr>
              <a:lnSpc>
                <a:spcPct val="100000"/>
              </a:lnSpc>
              <a:spcAft>
                <a:spcPts val="0"/>
              </a:spcAft>
            </a:pPr>
            <a:r>
              <a:rPr sz="1400" i="0">
                <a:solidFill>
                  <a:srgbClr val="5DADE2"/>
                </a:solidFill>
                <a:latin typeface="Consolas"/>
              </a:rPr>
              <a:t>class</a:t>
            </a:r>
            <a:r>
              <a:rPr sz="1400" i="0">
                <a:solidFill>
                  <a:srgbClr val="E8EDF2"/>
                </a:solidFill>
                <a:latin typeface="Consolas"/>
              </a:rPr>
              <a:t> </a:t>
            </a:r>
            <a:r>
              <a:rPr sz="1400" i="0">
                <a:solidFill>
                  <a:srgbClr val="76D7C4"/>
                </a:solidFill>
                <a:latin typeface="Consolas"/>
              </a:rPr>
              <a:t>Factor</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__init__</a:t>
            </a:r>
            <a:r>
              <a:rPr sz="1400" i="0">
                <a:solidFill>
                  <a:srgbClr val="AEB6BF"/>
                </a:solidFill>
                <a:latin typeface="Consolas"/>
              </a:rPr>
              <a:t>(</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vars_</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table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vars</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self</a:t>
            </a:r>
            <a:r>
              <a:rPr sz="1400" i="0">
                <a:solidFill>
                  <a:srgbClr val="AEB6BF"/>
                </a:solidFill>
                <a:latin typeface="Consolas"/>
              </a:rPr>
              <a:t>.</a:t>
            </a:r>
            <a:r>
              <a:rPr sz="1400" i="0">
                <a:solidFill>
                  <a:srgbClr val="E8EDF2"/>
                </a:solidFill>
                <a:latin typeface="Consolas"/>
              </a:rPr>
              <a:t>table</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list</a:t>
            </a:r>
            <a:r>
              <a:rPr sz="1400" i="0">
                <a:solidFill>
                  <a:srgbClr val="AEB6BF"/>
                </a:solidFill>
                <a:latin typeface="Consolas"/>
              </a:rPr>
              <a:t>(</a:t>
            </a:r>
            <a:r>
              <a:rPr sz="1400" i="0">
                <a:solidFill>
                  <a:srgbClr val="E8EDF2"/>
                </a:solidFill>
                <a:latin typeface="Consolas"/>
              </a:rPr>
              <a:t>vars_</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table</a:t>
            </a:r>
          </a:p>
          <a:p>
            <a:pPr>
              <a:lnSpc>
                <a:spcPct val="100000"/>
              </a:lnSpc>
              <a:spcAft>
                <a:spcPts val="0"/>
              </a:spcAft>
            </a:pPr>
            <a:r>
              <a:rPr sz="1400">
                <a:latin typeface="Consolas"/>
              </a:rPr>
              <a:t> </a:t>
            </a:r>
          </a:p>
          <a:p>
            <a:pPr>
              <a:lnSpc>
                <a:spcPct val="100000"/>
              </a:lnSpc>
              <a:spcAft>
                <a:spcPts val="0"/>
              </a:spcAft>
            </a:pPr>
            <a:r>
              <a:rPr sz="1400">
                <a:latin typeface="Consolas"/>
              </a:rPr>
              <a:t> </a:t>
            </a:r>
          </a:p>
          <a:p>
            <a:pPr>
              <a:lnSpc>
                <a:spcPct val="100000"/>
              </a:lnSpc>
              <a:spcAft>
                <a:spcPts val="0"/>
              </a:spcAft>
            </a:pPr>
            <a:r>
              <a:rPr sz="1400" i="0">
                <a:solidFill>
                  <a:srgbClr val="5DADE2"/>
                </a:solidFill>
                <a:latin typeface="Consolas"/>
              </a:rPr>
              <a:t>def</a:t>
            </a:r>
            <a:r>
              <a:rPr sz="1400" i="0">
                <a:solidFill>
                  <a:srgbClr val="E8EDF2"/>
                </a:solidFill>
                <a:latin typeface="Consolas"/>
              </a:rPr>
              <a:t> </a:t>
            </a:r>
            <a:r>
              <a:rPr sz="1400" i="0">
                <a:solidFill>
                  <a:srgbClr val="C39BD3"/>
                </a:solidFill>
                <a:latin typeface="Consolas"/>
              </a:rPr>
              <a:t>make_factor</a:t>
            </a:r>
            <a:r>
              <a:rPr sz="1400" i="0">
                <a:solidFill>
                  <a:srgbClr val="AEB6BF"/>
                </a:solidFill>
                <a:latin typeface="Consolas"/>
              </a:rPr>
              <a:t>(</a:t>
            </a:r>
            <a:r>
              <a:rPr sz="1400" i="0">
                <a:solidFill>
                  <a:srgbClr val="E8EDF2"/>
                </a:solidFill>
                <a:latin typeface="Consolas"/>
              </a:rPr>
              <a:t>net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evidence</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allv</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net</a:t>
            </a:r>
            <a:r>
              <a:rPr sz="1400" i="0">
                <a:solidFill>
                  <a:srgbClr val="AEB6BF"/>
                </a:solidFill>
                <a:latin typeface="Consolas"/>
              </a:rPr>
              <a:t>[</a:t>
            </a:r>
            <a:r>
              <a:rPr sz="1400" i="0">
                <a:solidFill>
                  <a:srgbClr val="E8EDF2"/>
                </a:solidFill>
                <a:latin typeface="Consolas"/>
              </a:rPr>
              <a:t>node</a:t>
            </a:r>
            <a:r>
              <a:rPr sz="1400" i="0">
                <a:solidFill>
                  <a:srgbClr val="AEB6BF"/>
                </a:solidFill>
                <a:latin typeface="Consolas"/>
              </a:rPr>
              <a:t>]</a:t>
            </a:r>
            <a:r>
              <a:rPr sz="1400" i="0">
                <a:solidFill>
                  <a:srgbClr val="AEB6BF"/>
                </a:solidFill>
                <a:latin typeface="Consolas"/>
              </a:rPr>
              <a:t>[</a:t>
            </a:r>
            <a:r>
              <a:rPr sz="1400" i="0">
                <a:solidFill>
                  <a:srgbClr val="F7DC6F"/>
                </a:solidFill>
                <a:latin typeface="Consolas"/>
              </a:rPr>
              <a:t>0</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node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keep</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v</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allv</a:t>
            </a: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not</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evidence</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table</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combo</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itertools</a:t>
            </a:r>
            <a:r>
              <a:rPr sz="1400" i="0">
                <a:solidFill>
                  <a:srgbClr val="AEB6BF"/>
                </a:solidFill>
                <a:latin typeface="Consolas"/>
              </a:rPr>
              <a:t>.</a:t>
            </a:r>
            <a:r>
              <a:rPr sz="1400" i="0">
                <a:solidFill>
                  <a:srgbClr val="E8EDF2"/>
                </a:solidFill>
                <a:latin typeface="Consolas"/>
              </a:rPr>
              <a:t>product</a:t>
            </a:r>
            <a:r>
              <a:rPr sz="1400" i="0">
                <a:solidFill>
                  <a:srgbClr val="AEB6BF"/>
                </a:solidFill>
                <a:latin typeface="Consolas"/>
              </a:rPr>
              <a:t>(</a:t>
            </a:r>
            <a:r>
              <a:rPr sz="1400" i="0">
                <a:solidFill>
                  <a:srgbClr val="AEB6BF"/>
                </a:solidFill>
                <a:latin typeface="Consolas"/>
              </a:rPr>
              <a:t>[</a:t>
            </a:r>
            <a:r>
              <a:rPr sz="1400" i="0">
                <a:solidFill>
                  <a:srgbClr val="5DADE2"/>
                </a:solidFill>
                <a:latin typeface="Consolas"/>
              </a:rPr>
              <a:t>True</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False</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repeat</a:t>
            </a:r>
            <a:r>
              <a:rPr sz="1400" i="0">
                <a:solidFill>
                  <a:srgbClr val="AEB6BF"/>
                </a:solidFill>
                <a:latin typeface="Consolas"/>
              </a:rPr>
              <a:t>=</a:t>
            </a:r>
            <a:r>
              <a:rPr sz="1400" i="0">
                <a:solidFill>
                  <a:srgbClr val="C39BD3"/>
                </a:solidFill>
                <a:latin typeface="Consolas"/>
              </a:rPr>
              <a:t>len</a:t>
            </a:r>
            <a:r>
              <a:rPr sz="1400" i="0">
                <a:solidFill>
                  <a:srgbClr val="AEB6BF"/>
                </a:solidFill>
                <a:latin typeface="Consolas"/>
              </a:rPr>
              <a:t>(</a:t>
            </a:r>
            <a:r>
              <a:rPr sz="1400" i="0">
                <a:solidFill>
                  <a:srgbClr val="E8EDF2"/>
                </a:solidFill>
                <a:latin typeface="Consolas"/>
              </a:rPr>
              <a:t>allv</a:t>
            </a:r>
            <a:r>
              <a:rPr sz="1400" i="0">
                <a:solidFill>
                  <a:srgbClr val="AEB6BF"/>
                </a:solidFill>
                <a:latin typeface="Consolas"/>
              </a:rPr>
              <a:t>)</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E8EDF2"/>
                </a:solidFill>
                <a:latin typeface="Consolas"/>
              </a:rPr>
              <a:t>a</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C39BD3"/>
                </a:solidFill>
                <a:latin typeface="Consolas"/>
              </a:rPr>
              <a:t>dict</a:t>
            </a:r>
            <a:r>
              <a:rPr sz="1400" i="0">
                <a:solidFill>
                  <a:srgbClr val="AEB6BF"/>
                </a:solidFill>
                <a:latin typeface="Consolas"/>
              </a:rPr>
              <a:t>(</a:t>
            </a:r>
            <a:r>
              <a:rPr sz="1400" i="0">
                <a:solidFill>
                  <a:srgbClr val="C39BD3"/>
                </a:solidFill>
                <a:latin typeface="Consolas"/>
              </a:rPr>
              <a:t>zip</a:t>
            </a:r>
            <a:r>
              <a:rPr sz="1400" i="0">
                <a:solidFill>
                  <a:srgbClr val="AEB6BF"/>
                </a:solidFill>
                <a:latin typeface="Consolas"/>
              </a:rPr>
              <a:t>(</a:t>
            </a:r>
            <a:r>
              <a:rPr sz="1400" i="0">
                <a:solidFill>
                  <a:srgbClr val="E8EDF2"/>
                </a:solidFill>
                <a:latin typeface="Consolas"/>
              </a:rPr>
              <a:t>allv</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combo</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if</a:t>
            </a:r>
            <a:r>
              <a:rPr sz="1400" i="0">
                <a:solidFill>
                  <a:srgbClr val="E8EDF2"/>
                </a:solidFill>
                <a:latin typeface="Consolas"/>
              </a:rPr>
              <a:t> </a:t>
            </a:r>
            <a:r>
              <a:rPr sz="1400" i="0">
                <a:solidFill>
                  <a:srgbClr val="C39BD3"/>
                </a:solidFill>
                <a:latin typeface="Consolas"/>
              </a:rPr>
              <a:t>any</a:t>
            </a:r>
            <a:r>
              <a:rPr sz="1400" i="0">
                <a:solidFill>
                  <a:srgbClr val="AEB6BF"/>
                </a:solidFill>
                <a:latin typeface="Consolas"/>
              </a:rPr>
              <a:t>(</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evidence</a:t>
            </a:r>
            <a:r>
              <a:rPr sz="1400" i="0">
                <a:solidFill>
                  <a:srgbClr val="E8EDF2"/>
                </a:solidFill>
                <a:latin typeface="Consolas"/>
              </a:rPr>
              <a:t> </a:t>
            </a:r>
            <a:r>
              <a:rPr sz="1400" i="0">
                <a:solidFill>
                  <a:srgbClr val="AEB6BF"/>
                </a:solidFill>
                <a:latin typeface="Consolas"/>
              </a:rPr>
              <a:t>and</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evidence</a:t>
            </a:r>
            <a:r>
              <a:rPr sz="1400" i="0">
                <a:solidFill>
                  <a:srgbClr val="AEB6BF"/>
                </a:solidFill>
                <a:latin typeface="Consolas"/>
              </a:rPr>
              <a:t>[</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allv</a:t>
            </a:r>
            <a:r>
              <a:rPr sz="1400" i="0">
                <a:solidFill>
                  <a:srgbClr val="AEB6BF"/>
                </a:solidFill>
                <a:latin typeface="Consolas"/>
              </a:rPr>
              <a:t>)</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continue</a:t>
            </a:r>
          </a:p>
          <a:p>
            <a:pPr>
              <a:lnSpc>
                <a:spcPct val="100000"/>
              </a:lnSpc>
              <a:spcAft>
                <a:spcPts val="0"/>
              </a:spcAft>
            </a:pPr>
            <a:r>
              <a:rPr sz="1400" i="0">
                <a:solidFill>
                  <a:srgbClr val="E8EDF2"/>
                </a:solidFill>
                <a:latin typeface="Consolas"/>
              </a:rPr>
              <a:t>        </a:t>
            </a:r>
            <a:r>
              <a:rPr sz="1400" i="0">
                <a:solidFill>
                  <a:srgbClr val="E8EDF2"/>
                </a:solidFill>
                <a:latin typeface="Consolas"/>
              </a:rPr>
              <a:t>table</a:t>
            </a:r>
            <a:r>
              <a:rPr sz="1400" i="0">
                <a:solidFill>
                  <a:srgbClr val="AEB6BF"/>
                </a:solidFill>
                <a:latin typeface="Consolas"/>
              </a:rPr>
              <a:t>[</a:t>
            </a:r>
            <a:r>
              <a:rPr sz="1400" i="0">
                <a:solidFill>
                  <a:srgbClr val="C39BD3"/>
                </a:solidFill>
                <a:latin typeface="Consolas"/>
              </a:rPr>
              <a:t>tuple</a:t>
            </a:r>
            <a:r>
              <a:rPr sz="1400" i="0">
                <a:solidFill>
                  <a:srgbClr val="AEB6BF"/>
                </a:solidFill>
                <a:latin typeface="Consolas"/>
              </a:rPr>
              <a:t>(</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v</a:t>
            </a:r>
            <a:r>
              <a:rPr sz="1400" i="0">
                <a:solidFill>
                  <a:srgbClr val="AEB6BF"/>
                </a:solidFill>
                <a:latin typeface="Consolas"/>
              </a:rPr>
              <a:t>]</a:t>
            </a:r>
            <a:r>
              <a:rPr sz="1400" i="0">
                <a:solidFill>
                  <a:srgbClr val="E8EDF2"/>
                </a:solidFill>
                <a:latin typeface="Consolas"/>
              </a:rPr>
              <a:t> </a:t>
            </a:r>
            <a:r>
              <a:rPr sz="1400" i="0">
                <a:solidFill>
                  <a:srgbClr val="5DADE2"/>
                </a:solidFill>
                <a:latin typeface="Consolas"/>
              </a:rPr>
              <a:t>for</a:t>
            </a:r>
            <a:r>
              <a:rPr sz="1400" i="0">
                <a:solidFill>
                  <a:srgbClr val="E8EDF2"/>
                </a:solidFill>
                <a:latin typeface="Consolas"/>
              </a:rPr>
              <a:t> </a:t>
            </a:r>
            <a:r>
              <a:rPr sz="1400" i="0">
                <a:solidFill>
                  <a:srgbClr val="E8EDF2"/>
                </a:solidFill>
                <a:latin typeface="Consolas"/>
              </a:rPr>
              <a:t>v</a:t>
            </a:r>
            <a:r>
              <a:rPr sz="1400" i="0">
                <a:solidFill>
                  <a:srgbClr val="E8EDF2"/>
                </a:solidFill>
                <a:latin typeface="Consolas"/>
              </a:rPr>
              <a:t> </a:t>
            </a:r>
            <a:r>
              <a:rPr sz="1400" i="0">
                <a:solidFill>
                  <a:srgbClr val="AEB6BF"/>
                </a:solidFill>
                <a:latin typeface="Consolas"/>
              </a:rPr>
              <a:t>in</a:t>
            </a:r>
            <a:r>
              <a:rPr sz="1400" i="0">
                <a:solidFill>
                  <a:srgbClr val="E8EDF2"/>
                </a:solidFill>
                <a:latin typeface="Consolas"/>
              </a:rPr>
              <a:t> </a:t>
            </a:r>
            <a:r>
              <a:rPr sz="1400" i="0">
                <a:solidFill>
                  <a:srgbClr val="E8EDF2"/>
                </a:solidFill>
                <a:latin typeface="Consolas"/>
              </a:rPr>
              <a:t>keep</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prob</a:t>
            </a:r>
            <a:r>
              <a:rPr sz="1400" i="0">
                <a:solidFill>
                  <a:srgbClr val="AEB6BF"/>
                </a:solidFill>
                <a:latin typeface="Consolas"/>
              </a:rPr>
              <a:t>(</a:t>
            </a:r>
            <a:r>
              <a:rPr sz="1400" i="0">
                <a:solidFill>
                  <a:srgbClr val="E8EDF2"/>
                </a:solidFill>
                <a:latin typeface="Consolas"/>
              </a:rPr>
              <a:t>net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node</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r>
              <a:rPr sz="1400" i="0">
                <a:solidFill>
                  <a:srgbClr val="E8EDF2"/>
                </a:solidFill>
                <a:latin typeface="Consolas"/>
              </a:rPr>
              <a:t>node</a:t>
            </a:r>
            <a:r>
              <a:rPr sz="1400" i="0">
                <a:solidFill>
                  <a:srgbClr val="AEB6BF"/>
                </a:solidFill>
                <a:latin typeface="Consolas"/>
              </a:rPr>
              <a:t>]</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a</a:t>
            </a:r>
            <a:r>
              <a:rPr sz="1400" i="0">
                <a:solidFill>
                  <a:srgbClr val="AEB6BF"/>
                </a:solidFill>
                <a:latin typeface="Consolas"/>
              </a:rPr>
              <a:t>)</a:t>
            </a:r>
          </a:p>
          <a:p>
            <a:pPr>
              <a:lnSpc>
                <a:spcPct val="100000"/>
              </a:lnSpc>
              <a:spcAft>
                <a:spcPts val="0"/>
              </a:spcAft>
            </a:pPr>
            <a:r>
              <a:rPr sz="1400" i="0">
                <a:solidFill>
                  <a:srgbClr val="E8EDF2"/>
                </a:solidFill>
                <a:latin typeface="Consolas"/>
              </a:rPr>
              <a:t>    </a:t>
            </a:r>
            <a:r>
              <a:rPr sz="1400" i="0">
                <a:solidFill>
                  <a:srgbClr val="5DADE2"/>
                </a:solidFill>
                <a:latin typeface="Consolas"/>
              </a:rPr>
              <a:t>return</a:t>
            </a:r>
            <a:r>
              <a:rPr sz="1400" i="0">
                <a:solidFill>
                  <a:srgbClr val="E8EDF2"/>
                </a:solidFill>
                <a:latin typeface="Consolas"/>
              </a:rPr>
              <a:t> </a:t>
            </a:r>
            <a:r>
              <a:rPr sz="1400" i="0">
                <a:solidFill>
                  <a:srgbClr val="E8EDF2"/>
                </a:solidFill>
                <a:latin typeface="Consolas"/>
              </a:rPr>
              <a:t>Factor</a:t>
            </a:r>
            <a:r>
              <a:rPr sz="1400" i="0">
                <a:solidFill>
                  <a:srgbClr val="AEB6BF"/>
                </a:solidFill>
                <a:latin typeface="Consolas"/>
              </a:rPr>
              <a:t>(</a:t>
            </a:r>
            <a:r>
              <a:rPr sz="1400" i="0">
                <a:solidFill>
                  <a:srgbClr val="E8EDF2"/>
                </a:solidFill>
                <a:latin typeface="Consolas"/>
              </a:rPr>
              <a:t>keep</a:t>
            </a:r>
            <a:r>
              <a:rPr sz="1400" i="0">
                <a:solidFill>
                  <a:srgbClr val="AEB6BF"/>
                </a:solidFill>
                <a:latin typeface="Consolas"/>
              </a:rPr>
              <a:t>,</a:t>
            </a:r>
            <a:r>
              <a:rPr sz="1400" i="0">
                <a:solidFill>
                  <a:srgbClr val="E8EDF2"/>
                </a:solidFill>
                <a:latin typeface="Consolas"/>
              </a:rPr>
              <a:t> </a:t>
            </a:r>
            <a:r>
              <a:rPr sz="1400" i="0">
                <a:solidFill>
                  <a:srgbClr val="E8EDF2"/>
                </a:solidFill>
                <a:latin typeface="Consolas"/>
              </a:rPr>
              <a:t>table</a:t>
            </a:r>
            <a:r>
              <a:rPr sz="14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400">
                <a:solidFill>
                  <a:srgbClr val="4F5D6A"/>
                </a:solidFill>
                <a:latin typeface="Consolas"/>
              </a:rPr>
              <a:t>58</a:t>
            </a:r>
          </a:p>
          <a:p>
            <a:pPr algn="r">
              <a:lnSpc>
                <a:spcPct val="100000"/>
              </a:lnSpc>
            </a:pPr>
            <a:r>
              <a:rPr sz="1400">
                <a:solidFill>
                  <a:srgbClr val="4F5D6A"/>
                </a:solidFill>
                <a:latin typeface="Consolas"/>
              </a:rPr>
              <a:t>59</a:t>
            </a:r>
          </a:p>
          <a:p>
            <a:pPr algn="r">
              <a:lnSpc>
                <a:spcPct val="100000"/>
              </a:lnSpc>
            </a:pPr>
            <a:r>
              <a:rPr sz="1400">
                <a:solidFill>
                  <a:srgbClr val="4F5D6A"/>
                </a:solidFill>
                <a:latin typeface="Consolas"/>
              </a:rPr>
              <a:t>60</a:t>
            </a:r>
          </a:p>
          <a:p>
            <a:pPr algn="r">
              <a:lnSpc>
                <a:spcPct val="100000"/>
              </a:lnSpc>
            </a:pPr>
            <a:r>
              <a:rPr sz="1400">
                <a:solidFill>
                  <a:srgbClr val="4F5D6A"/>
                </a:solidFill>
                <a:latin typeface="Consolas"/>
              </a:rPr>
              <a:t>61</a:t>
            </a:r>
          </a:p>
          <a:p>
            <a:pPr algn="r">
              <a:lnSpc>
                <a:spcPct val="100000"/>
              </a:lnSpc>
            </a:pPr>
            <a:r>
              <a:rPr sz="1400">
                <a:solidFill>
                  <a:srgbClr val="4F5D6A"/>
                </a:solidFill>
                <a:latin typeface="Consolas"/>
              </a:rPr>
              <a:t>62</a:t>
            </a:r>
          </a:p>
          <a:p>
            <a:pPr algn="r">
              <a:lnSpc>
                <a:spcPct val="100000"/>
              </a:lnSpc>
            </a:pPr>
            <a:r>
              <a:rPr sz="1400">
                <a:solidFill>
                  <a:srgbClr val="4F5D6A"/>
                </a:solidFill>
                <a:latin typeface="Consolas"/>
              </a:rPr>
              <a:t>63</a:t>
            </a:r>
          </a:p>
          <a:p>
            <a:pPr algn="r">
              <a:lnSpc>
                <a:spcPct val="100000"/>
              </a:lnSpc>
            </a:pPr>
            <a:r>
              <a:rPr sz="1400">
                <a:solidFill>
                  <a:srgbClr val="4F5D6A"/>
                </a:solidFill>
                <a:latin typeface="Consolas"/>
              </a:rPr>
              <a:t>64</a:t>
            </a:r>
          </a:p>
          <a:p>
            <a:pPr algn="r">
              <a:lnSpc>
                <a:spcPct val="100000"/>
              </a:lnSpc>
            </a:pPr>
            <a:r>
              <a:rPr sz="1400">
                <a:solidFill>
                  <a:srgbClr val="4F5D6A"/>
                </a:solidFill>
                <a:latin typeface="Consolas"/>
              </a:rPr>
              <a:t>65</a:t>
            </a:r>
          </a:p>
          <a:p>
            <a:pPr algn="r">
              <a:lnSpc>
                <a:spcPct val="100000"/>
              </a:lnSpc>
            </a:pPr>
            <a:r>
              <a:rPr sz="1400">
                <a:solidFill>
                  <a:srgbClr val="4F5D6A"/>
                </a:solidFill>
                <a:latin typeface="Consolas"/>
              </a:rPr>
              <a:t>66</a:t>
            </a:r>
          </a:p>
          <a:p>
            <a:pPr algn="r">
              <a:lnSpc>
                <a:spcPct val="100000"/>
              </a:lnSpc>
            </a:pPr>
            <a:r>
              <a:rPr sz="1400">
                <a:solidFill>
                  <a:srgbClr val="4F5D6A"/>
                </a:solidFill>
                <a:latin typeface="Consolas"/>
              </a:rPr>
              <a:t>67</a:t>
            </a:r>
          </a:p>
          <a:p>
            <a:pPr algn="r">
              <a:lnSpc>
                <a:spcPct val="100000"/>
              </a:lnSpc>
            </a:pPr>
            <a:r>
              <a:rPr sz="1400">
                <a:solidFill>
                  <a:srgbClr val="4F5D6A"/>
                </a:solidFill>
                <a:latin typeface="Consolas"/>
              </a:rPr>
              <a:t>68</a:t>
            </a:r>
          </a:p>
          <a:p>
            <a:pPr algn="r">
              <a:lnSpc>
                <a:spcPct val="100000"/>
              </a:lnSpc>
            </a:pPr>
            <a:r>
              <a:rPr sz="1400">
                <a:solidFill>
                  <a:srgbClr val="4F5D6A"/>
                </a:solidFill>
                <a:latin typeface="Consolas"/>
              </a:rPr>
              <a:t>69</a:t>
            </a:r>
          </a:p>
          <a:p>
            <a:pPr algn="r">
              <a:lnSpc>
                <a:spcPct val="100000"/>
              </a:lnSpc>
            </a:pPr>
            <a:r>
              <a:rPr sz="1400">
                <a:solidFill>
                  <a:srgbClr val="4F5D6A"/>
                </a:solidFill>
                <a:latin typeface="Consolas"/>
              </a:rPr>
              <a:t>70</a:t>
            </a:r>
          </a:p>
          <a:p>
            <a:pPr algn="r">
              <a:lnSpc>
                <a:spcPct val="100000"/>
              </a:lnSpc>
            </a:pPr>
            <a:r>
              <a:rPr sz="1400">
                <a:solidFill>
                  <a:srgbClr val="4F5D6A"/>
                </a:solidFill>
                <a:latin typeface="Consolas"/>
              </a:rPr>
              <a:t>71</a:t>
            </a:r>
          </a:p>
          <a:p>
            <a:pPr algn="r">
              <a:lnSpc>
                <a:spcPct val="100000"/>
              </a:lnSpc>
            </a:pPr>
            <a:r>
              <a:rPr sz="1400">
                <a:solidFill>
                  <a:srgbClr val="4F5D6A"/>
                </a:solidFill>
                <a:latin typeface="Consolas"/>
              </a:rPr>
              <a:t>72</a:t>
            </a:r>
          </a:p>
          <a:p>
            <a:pPr algn="r">
              <a:lnSpc>
                <a:spcPct val="100000"/>
              </a:lnSpc>
            </a:pPr>
            <a:r>
              <a:rPr sz="1400">
                <a:solidFill>
                  <a:srgbClr val="4F5D6A"/>
                </a:solidFill>
                <a:latin typeface="Consolas"/>
              </a:rPr>
              <a:t>73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215374"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3A0AEA4C-7633-4BAF-B84D-B3509A877E5A}"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Exact: variable elimination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def multiply(f1, f2, ops): vars_ = f1.vars + [v for v in f2.vars if v not in f1.vars] table = {} for combo in itertools.product([True, False], repeat=len(vars_)): a = dict(zip(vars_, combo)) table[combo] = (f1.table[tuple(a[v] for v in f1.vars)] * f2.table[tuple(a[v] for v in f2.vars)]) ops[0] += 1 return Factor(vars_, table) def sum_out(f, var, ops): i = f.vars.index(var) keep = [v for v in f.vars if v != var] table = {} for combo, val in f.table.items(): k = combo[:i] + combo[i + 1:] table[k] = table.get(k, 0.0) + val ops[0] += 1 return Factor(keep, table)"/>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multiply</a:t>
            </a:r>
            <a:r>
              <a:rPr sz="1100" i="0">
                <a:solidFill>
                  <a:srgbClr val="AEB6BF"/>
                </a:solidFill>
                <a:latin typeface="Consolas"/>
              </a:rPr>
              <a:t>(</a:t>
            </a:r>
            <a:r>
              <a:rPr sz="1100" i="0">
                <a:solidFill>
                  <a:srgbClr val="E8EDF2"/>
                </a:solidFill>
                <a:latin typeface="Consolas"/>
              </a:rPr>
              <a:t>f1</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f2</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ops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vars_</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f1</a:t>
            </a:r>
            <a:r>
              <a:rPr sz="1100" i="0">
                <a:solidFill>
                  <a:srgbClr val="AEB6BF"/>
                </a:solidFill>
                <a:latin typeface="Consolas"/>
              </a:rPr>
              <a:t>.</a:t>
            </a:r>
            <a:r>
              <a:rPr sz="1100" i="0">
                <a:solidFill>
                  <a:srgbClr val="E8EDF2"/>
                </a:solidFill>
                <a:latin typeface="Consolas"/>
              </a:rPr>
              <a:t>vars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v</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v</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f2</a:t>
            </a:r>
            <a:r>
              <a:rPr sz="1100" i="0">
                <a:solidFill>
                  <a:srgbClr val="AEB6BF"/>
                </a:solidFill>
                <a:latin typeface="Consolas"/>
              </a:rPr>
              <a:t>.</a:t>
            </a:r>
            <a:r>
              <a:rPr sz="1100" i="0">
                <a:solidFill>
                  <a:srgbClr val="E8EDF2"/>
                </a:solidFill>
                <a:latin typeface="Consolas"/>
              </a:rPr>
              <a:t>vars</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v</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f1</a:t>
            </a:r>
            <a:r>
              <a:rPr sz="1100" i="0">
                <a:solidFill>
                  <a:srgbClr val="AEB6BF"/>
                </a:solidFill>
                <a:latin typeface="Consolas"/>
              </a:rPr>
              <a:t>.</a:t>
            </a:r>
            <a:r>
              <a:rPr sz="1100" i="0">
                <a:solidFill>
                  <a:srgbClr val="E8EDF2"/>
                </a:solidFill>
                <a:latin typeface="Consolas"/>
              </a:rPr>
              <a:t>vars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table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combo</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itertools</a:t>
            </a:r>
            <a:r>
              <a:rPr sz="1100" i="0">
                <a:solidFill>
                  <a:srgbClr val="AEB6BF"/>
                </a:solidFill>
                <a:latin typeface="Consolas"/>
              </a:rPr>
              <a:t>.</a:t>
            </a:r>
            <a:r>
              <a:rPr sz="1100" i="0">
                <a:solidFill>
                  <a:srgbClr val="E8EDF2"/>
                </a:solidFill>
                <a:latin typeface="Consolas"/>
              </a:rPr>
              <a:t>product</a:t>
            </a:r>
            <a:r>
              <a:rPr sz="1100" i="0">
                <a:solidFill>
                  <a:srgbClr val="AEB6BF"/>
                </a:solidFill>
                <a:latin typeface="Consolas"/>
              </a:rPr>
              <a:t>(</a:t>
            </a:r>
            <a:r>
              <a:rPr sz="1100" i="0">
                <a:solidFill>
                  <a:srgbClr val="AEB6BF"/>
                </a:solidFill>
                <a:latin typeface="Consolas"/>
              </a:rPr>
              <a:t>[</a:t>
            </a:r>
            <a:r>
              <a:rPr sz="1100" i="0">
                <a:solidFill>
                  <a:srgbClr val="5DADE2"/>
                </a:solidFill>
                <a:latin typeface="Consolas"/>
              </a:rPr>
              <a:t>True</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False</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repeat</a:t>
            </a:r>
            <a:r>
              <a:rPr sz="1100" i="0">
                <a:solidFill>
                  <a:srgbClr val="AEB6BF"/>
                </a:solidFill>
                <a:latin typeface="Consolas"/>
              </a:rPr>
              <a:t>=</a:t>
            </a:r>
            <a:r>
              <a:rPr sz="1100" i="0">
                <a:solidFill>
                  <a:srgbClr val="C39BD3"/>
                </a:solidFill>
                <a:latin typeface="Consolas"/>
              </a:rPr>
              <a:t>len</a:t>
            </a:r>
            <a:r>
              <a:rPr sz="1100" i="0">
                <a:solidFill>
                  <a:srgbClr val="AEB6BF"/>
                </a:solidFill>
                <a:latin typeface="Consolas"/>
              </a:rPr>
              <a:t>(</a:t>
            </a:r>
            <a:r>
              <a:rPr sz="1100" i="0">
                <a:solidFill>
                  <a:srgbClr val="E8EDF2"/>
                </a:solidFill>
                <a:latin typeface="Consolas"/>
              </a:rPr>
              <a:t>vars_</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a</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dict</a:t>
            </a:r>
            <a:r>
              <a:rPr sz="1100" i="0">
                <a:solidFill>
                  <a:srgbClr val="AEB6BF"/>
                </a:solidFill>
                <a:latin typeface="Consolas"/>
              </a:rPr>
              <a:t>(</a:t>
            </a:r>
            <a:r>
              <a:rPr sz="1100" i="0">
                <a:solidFill>
                  <a:srgbClr val="C39BD3"/>
                </a:solidFill>
                <a:latin typeface="Consolas"/>
              </a:rPr>
              <a:t>zip</a:t>
            </a:r>
            <a:r>
              <a:rPr sz="1100" i="0">
                <a:solidFill>
                  <a:srgbClr val="AEB6BF"/>
                </a:solidFill>
                <a:latin typeface="Consolas"/>
              </a:rPr>
              <a:t>(</a:t>
            </a:r>
            <a:r>
              <a:rPr sz="1100" i="0">
                <a:solidFill>
                  <a:srgbClr val="E8EDF2"/>
                </a:solidFill>
                <a:latin typeface="Consolas"/>
              </a:rPr>
              <a:t>vars_</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combo</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table</a:t>
            </a:r>
            <a:r>
              <a:rPr sz="1100" i="0">
                <a:solidFill>
                  <a:srgbClr val="AEB6BF"/>
                </a:solidFill>
                <a:latin typeface="Consolas"/>
              </a:rPr>
              <a:t>[</a:t>
            </a:r>
            <a:r>
              <a:rPr sz="1100" i="0">
                <a:solidFill>
                  <a:srgbClr val="E8EDF2"/>
                </a:solidFill>
                <a:latin typeface="Consolas"/>
              </a:rPr>
              <a:t>combo</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f1</a:t>
            </a:r>
            <a:r>
              <a:rPr sz="1100" i="0">
                <a:solidFill>
                  <a:srgbClr val="AEB6BF"/>
                </a:solidFill>
                <a:latin typeface="Consolas"/>
              </a:rPr>
              <a:t>.</a:t>
            </a:r>
            <a:r>
              <a:rPr sz="1100" i="0">
                <a:solidFill>
                  <a:srgbClr val="E8EDF2"/>
                </a:solidFill>
                <a:latin typeface="Consolas"/>
              </a:rPr>
              <a:t>table</a:t>
            </a:r>
            <a:r>
              <a:rPr sz="1100" i="0">
                <a:solidFill>
                  <a:srgbClr val="AEB6BF"/>
                </a:solidFill>
                <a:latin typeface="Consolas"/>
              </a:rPr>
              <a:t>[</a:t>
            </a:r>
            <a:r>
              <a:rPr sz="1100" i="0">
                <a:solidFill>
                  <a:srgbClr val="C39BD3"/>
                </a:solidFill>
                <a:latin typeface="Consolas"/>
              </a:rPr>
              <a:t>tuple</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v</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v</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f1</a:t>
            </a:r>
            <a:r>
              <a:rPr sz="1100" i="0">
                <a:solidFill>
                  <a:srgbClr val="AEB6BF"/>
                </a:solidFill>
                <a:latin typeface="Consolas"/>
              </a:rPr>
              <a:t>.</a:t>
            </a:r>
            <a:r>
              <a:rPr sz="1100" i="0">
                <a:solidFill>
                  <a:srgbClr val="E8EDF2"/>
                </a:solidFill>
                <a:latin typeface="Consolas"/>
              </a:rPr>
              <a:t>vars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f2</a:t>
            </a:r>
            <a:r>
              <a:rPr sz="1100" i="0">
                <a:solidFill>
                  <a:srgbClr val="AEB6BF"/>
                </a:solidFill>
                <a:latin typeface="Consolas"/>
              </a:rPr>
              <a:t>.</a:t>
            </a:r>
            <a:r>
              <a:rPr sz="1100" i="0">
                <a:solidFill>
                  <a:srgbClr val="E8EDF2"/>
                </a:solidFill>
                <a:latin typeface="Consolas"/>
              </a:rPr>
              <a:t>table</a:t>
            </a:r>
            <a:r>
              <a:rPr sz="1100" i="0">
                <a:solidFill>
                  <a:srgbClr val="AEB6BF"/>
                </a:solidFill>
                <a:latin typeface="Consolas"/>
              </a:rPr>
              <a:t>[</a:t>
            </a:r>
            <a:r>
              <a:rPr sz="1100" i="0">
                <a:solidFill>
                  <a:srgbClr val="C39BD3"/>
                </a:solidFill>
                <a:latin typeface="Consolas"/>
              </a:rPr>
              <a:t>tuple</a:t>
            </a:r>
            <a:r>
              <a:rPr sz="1100" i="0">
                <a:solidFill>
                  <a:srgbClr val="AEB6BF"/>
                </a:solidFill>
                <a:latin typeface="Consolas"/>
              </a:rPr>
              <a:t>(</a:t>
            </a:r>
            <a:r>
              <a:rPr sz="1100" i="0">
                <a:solidFill>
                  <a:srgbClr val="E8EDF2"/>
                </a:solidFill>
                <a:latin typeface="Consolas"/>
              </a:rPr>
              <a:t>a</a:t>
            </a:r>
            <a:r>
              <a:rPr sz="1100" i="0">
                <a:solidFill>
                  <a:srgbClr val="AEB6BF"/>
                </a:solidFill>
                <a:latin typeface="Consolas"/>
              </a:rPr>
              <a:t>[</a:t>
            </a:r>
            <a:r>
              <a:rPr sz="1100" i="0">
                <a:solidFill>
                  <a:srgbClr val="E8EDF2"/>
                </a:solidFill>
                <a:latin typeface="Consolas"/>
              </a:rPr>
              <a:t>v</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v</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f2</a:t>
            </a:r>
            <a:r>
              <a:rPr sz="1100" i="0">
                <a:solidFill>
                  <a:srgbClr val="AEB6BF"/>
                </a:solidFill>
                <a:latin typeface="Consolas"/>
              </a:rPr>
              <a:t>.</a:t>
            </a:r>
            <a:r>
              <a:rPr sz="1100" i="0">
                <a:solidFill>
                  <a:srgbClr val="E8EDF2"/>
                </a:solidFill>
                <a:latin typeface="Consolas"/>
              </a:rPr>
              <a:t>vars</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ops</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Factor</a:t>
            </a:r>
            <a:r>
              <a:rPr sz="1100" i="0">
                <a:solidFill>
                  <a:srgbClr val="AEB6BF"/>
                </a:solidFill>
                <a:latin typeface="Consolas"/>
              </a:rPr>
              <a:t>(</a:t>
            </a:r>
            <a:r>
              <a:rPr sz="1100" i="0">
                <a:solidFill>
                  <a:srgbClr val="E8EDF2"/>
                </a:solidFill>
                <a:latin typeface="Consolas"/>
              </a:rPr>
              <a:t>vars_</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table</a:t>
            </a:r>
            <a:r>
              <a:rPr sz="1100" i="0">
                <a:solidFill>
                  <a:srgbClr val="AEB6BF"/>
                </a:solidFill>
                <a:latin typeface="Consolas"/>
              </a:rPr>
              <a:t>)</a:t>
            </a:r>
          </a:p>
          <a:p>
            <a:pPr>
              <a:lnSpc>
                <a:spcPct val="100000"/>
              </a:lnSpc>
              <a:spcAft>
                <a:spcPts val="0"/>
              </a:spcAft>
            </a:pPr>
            <a:r>
              <a:rPr sz="1100">
                <a:latin typeface="Consolas"/>
              </a:rPr>
              <a:t> </a:t>
            </a:r>
          </a:p>
          <a:p>
            <a:pPr>
              <a:lnSpc>
                <a:spcPct val="100000"/>
              </a:lnSpc>
              <a:spcAft>
                <a:spcPts val="0"/>
              </a:spcAft>
            </a:pPr>
            <a:r>
              <a:rPr sz="1100">
                <a:latin typeface="Consolas"/>
              </a:rPr>
              <a:t> </a:t>
            </a:r>
          </a:p>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sum_out</a:t>
            </a:r>
            <a:r>
              <a:rPr sz="1100" i="0">
                <a:solidFill>
                  <a:srgbClr val="AEB6BF"/>
                </a:solidFill>
                <a:latin typeface="Consolas"/>
              </a:rPr>
              <a:t>(</a:t>
            </a:r>
            <a:r>
              <a:rPr sz="1100" i="0">
                <a:solidFill>
                  <a:srgbClr val="E8EDF2"/>
                </a:solidFill>
                <a:latin typeface="Consolas"/>
              </a:rPr>
              <a:t>f</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var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ops</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f</a:t>
            </a:r>
            <a:r>
              <a:rPr sz="1100" i="0">
                <a:solidFill>
                  <a:srgbClr val="AEB6BF"/>
                </a:solidFill>
                <a:latin typeface="Consolas"/>
              </a:rPr>
              <a:t>.</a:t>
            </a:r>
            <a:r>
              <a:rPr sz="1100" i="0">
                <a:solidFill>
                  <a:srgbClr val="E8EDF2"/>
                </a:solidFill>
                <a:latin typeface="Consolas"/>
              </a:rPr>
              <a:t>vars</a:t>
            </a:r>
            <a:r>
              <a:rPr sz="1100" i="0">
                <a:solidFill>
                  <a:srgbClr val="AEB6BF"/>
                </a:solidFill>
                <a:latin typeface="Consolas"/>
              </a:rPr>
              <a:t>.</a:t>
            </a:r>
            <a:r>
              <a:rPr sz="1100" i="0">
                <a:solidFill>
                  <a:srgbClr val="E8EDF2"/>
                </a:solidFill>
                <a:latin typeface="Consolas"/>
              </a:rPr>
              <a:t>index</a:t>
            </a:r>
            <a:r>
              <a:rPr sz="1100" i="0">
                <a:solidFill>
                  <a:srgbClr val="AEB6BF"/>
                </a:solidFill>
                <a:latin typeface="Consolas"/>
              </a:rPr>
              <a:t>(</a:t>
            </a:r>
            <a:r>
              <a:rPr sz="1100" i="0">
                <a:solidFill>
                  <a:srgbClr val="E8EDF2"/>
                </a:solidFill>
                <a:latin typeface="Consolas"/>
              </a:rPr>
              <a:t>var</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keep</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v</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v</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f</a:t>
            </a:r>
            <a:r>
              <a:rPr sz="1100" i="0">
                <a:solidFill>
                  <a:srgbClr val="AEB6BF"/>
                </a:solidFill>
                <a:latin typeface="Consolas"/>
              </a:rPr>
              <a:t>.</a:t>
            </a:r>
            <a:r>
              <a:rPr sz="1100" i="0">
                <a:solidFill>
                  <a:srgbClr val="E8EDF2"/>
                </a:solidFill>
                <a:latin typeface="Consolas"/>
              </a:rPr>
              <a:t>vars</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v</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var</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table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combo</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val</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f</a:t>
            </a:r>
            <a:r>
              <a:rPr sz="1100" i="0">
                <a:solidFill>
                  <a:srgbClr val="AEB6BF"/>
                </a:solidFill>
                <a:latin typeface="Consolas"/>
              </a:rPr>
              <a:t>.</a:t>
            </a:r>
            <a:r>
              <a:rPr sz="1100" i="0">
                <a:solidFill>
                  <a:srgbClr val="E8EDF2"/>
                </a:solidFill>
                <a:latin typeface="Consolas"/>
              </a:rPr>
              <a:t>table</a:t>
            </a:r>
            <a:r>
              <a:rPr sz="1100" i="0">
                <a:solidFill>
                  <a:srgbClr val="AEB6BF"/>
                </a:solidFill>
                <a:latin typeface="Consolas"/>
              </a:rPr>
              <a:t>.</a:t>
            </a:r>
            <a:r>
              <a:rPr sz="1100" i="0">
                <a:solidFill>
                  <a:srgbClr val="E8EDF2"/>
                </a:solidFill>
                <a:latin typeface="Consolas"/>
              </a:rPr>
              <a:t>items</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k</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combo</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i</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combo</a:t>
            </a:r>
            <a:r>
              <a:rPr sz="1100" i="0">
                <a:solidFill>
                  <a:srgbClr val="AEB6BF"/>
                </a:solidFill>
                <a:latin typeface="Consolas"/>
              </a:rPr>
              <a:t>[</a:t>
            </a:r>
            <a:r>
              <a:rPr sz="1100" i="0">
                <a:solidFill>
                  <a:srgbClr val="E8EDF2"/>
                </a:solidFill>
                <a:latin typeface="Consolas"/>
              </a:rPr>
              <a:t>i</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table</a:t>
            </a:r>
            <a:r>
              <a:rPr sz="1100" i="0">
                <a:solidFill>
                  <a:srgbClr val="AEB6BF"/>
                </a:solidFill>
                <a:latin typeface="Consolas"/>
              </a:rPr>
              <a:t>[</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table</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0.0</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val</a:t>
            </a:r>
          </a:p>
          <a:p>
            <a:pPr>
              <a:lnSpc>
                <a:spcPct val="100000"/>
              </a:lnSpc>
              <a:spcAft>
                <a:spcPts val="0"/>
              </a:spcAft>
            </a:pPr>
            <a:r>
              <a:rPr sz="1100" i="0">
                <a:solidFill>
                  <a:srgbClr val="E8EDF2"/>
                </a:solidFill>
                <a:latin typeface="Consolas"/>
              </a:rPr>
              <a:t>        </a:t>
            </a:r>
            <a:r>
              <a:rPr sz="1100" i="0">
                <a:solidFill>
                  <a:srgbClr val="E8EDF2"/>
                </a:solidFill>
                <a:latin typeface="Consolas"/>
              </a:rPr>
              <a:t>ops</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Factor</a:t>
            </a:r>
            <a:r>
              <a:rPr sz="1100" i="0">
                <a:solidFill>
                  <a:srgbClr val="AEB6BF"/>
                </a:solidFill>
                <a:latin typeface="Consolas"/>
              </a:rPr>
              <a:t>(</a:t>
            </a:r>
            <a:r>
              <a:rPr sz="1100" i="0">
                <a:solidFill>
                  <a:srgbClr val="E8EDF2"/>
                </a:solidFill>
                <a:latin typeface="Consolas"/>
              </a:rPr>
              <a:t>keep</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table</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76</a:t>
            </a:r>
          </a:p>
          <a:p>
            <a:pPr algn="r">
              <a:lnSpc>
                <a:spcPct val="100000"/>
              </a:lnSpc>
            </a:pPr>
            <a:r>
              <a:rPr sz="1100">
                <a:solidFill>
                  <a:srgbClr val="4F5D6A"/>
                </a:solidFill>
                <a:latin typeface="Consolas"/>
              </a:rPr>
              <a:t>77</a:t>
            </a:r>
          </a:p>
          <a:p>
            <a:pPr algn="r">
              <a:lnSpc>
                <a:spcPct val="100000"/>
              </a:lnSpc>
            </a:pPr>
            <a:r>
              <a:rPr sz="1100">
                <a:solidFill>
                  <a:srgbClr val="4F5D6A"/>
                </a:solidFill>
                <a:latin typeface="Consolas"/>
              </a:rPr>
              <a:t>78</a:t>
            </a:r>
          </a:p>
          <a:p>
            <a:pPr algn="r">
              <a:lnSpc>
                <a:spcPct val="100000"/>
              </a:lnSpc>
            </a:pPr>
            <a:r>
              <a:rPr sz="1100">
                <a:solidFill>
                  <a:srgbClr val="4F5D6A"/>
                </a:solidFill>
                <a:latin typeface="Consolas"/>
              </a:rPr>
              <a:t>79</a:t>
            </a:r>
          </a:p>
          <a:p>
            <a:pPr algn="r">
              <a:lnSpc>
                <a:spcPct val="100000"/>
              </a:lnSpc>
            </a:pPr>
            <a:r>
              <a:rPr sz="1100">
                <a:solidFill>
                  <a:srgbClr val="4F5D6A"/>
                </a:solidFill>
                <a:latin typeface="Consolas"/>
              </a:rPr>
              <a:t>80</a:t>
            </a:r>
          </a:p>
          <a:p>
            <a:pPr algn="r">
              <a:lnSpc>
                <a:spcPct val="100000"/>
              </a:lnSpc>
            </a:pPr>
            <a:r>
              <a:rPr sz="1100">
                <a:solidFill>
                  <a:srgbClr val="4F5D6A"/>
                </a:solidFill>
                <a:latin typeface="Consolas"/>
              </a:rPr>
              <a:t>81</a:t>
            </a:r>
          </a:p>
          <a:p>
            <a:pPr algn="r">
              <a:lnSpc>
                <a:spcPct val="100000"/>
              </a:lnSpc>
            </a:pPr>
            <a:r>
              <a:rPr sz="1100">
                <a:solidFill>
                  <a:srgbClr val="4F5D6A"/>
                </a:solidFill>
                <a:latin typeface="Consolas"/>
              </a:rPr>
              <a:t>82</a:t>
            </a:r>
          </a:p>
          <a:p>
            <a:pPr algn="r">
              <a:lnSpc>
                <a:spcPct val="100000"/>
              </a:lnSpc>
            </a:pPr>
            <a:r>
              <a:rPr sz="1100">
                <a:solidFill>
                  <a:srgbClr val="4F5D6A"/>
                </a:solidFill>
                <a:latin typeface="Consolas"/>
              </a:rPr>
              <a:t>83</a:t>
            </a:r>
          </a:p>
          <a:p>
            <a:pPr algn="r">
              <a:lnSpc>
                <a:spcPct val="100000"/>
              </a:lnSpc>
            </a:pPr>
            <a:r>
              <a:rPr sz="1100">
                <a:solidFill>
                  <a:srgbClr val="4F5D6A"/>
                </a:solidFill>
                <a:latin typeface="Consolas"/>
              </a:rPr>
              <a:t>84</a:t>
            </a:r>
          </a:p>
          <a:p>
            <a:pPr algn="r">
              <a:lnSpc>
                <a:spcPct val="100000"/>
              </a:lnSpc>
            </a:pPr>
            <a:r>
              <a:rPr sz="1100">
                <a:solidFill>
                  <a:srgbClr val="4F5D6A"/>
                </a:solidFill>
                <a:latin typeface="Consolas"/>
              </a:rPr>
              <a:t>85</a:t>
            </a:r>
          </a:p>
          <a:p>
            <a:pPr algn="r">
              <a:lnSpc>
                <a:spcPct val="100000"/>
              </a:lnSpc>
            </a:pPr>
            <a:r>
              <a:rPr sz="1100">
                <a:solidFill>
                  <a:srgbClr val="4F5D6A"/>
                </a:solidFill>
                <a:latin typeface="Consolas"/>
              </a:rPr>
              <a:t>86</a:t>
            </a:r>
          </a:p>
          <a:p>
            <a:pPr algn="r">
              <a:lnSpc>
                <a:spcPct val="100000"/>
              </a:lnSpc>
            </a:pPr>
            <a:r>
              <a:rPr sz="1100">
                <a:solidFill>
                  <a:srgbClr val="4F5D6A"/>
                </a:solidFill>
                <a:latin typeface="Consolas"/>
              </a:rPr>
              <a:t>87</a:t>
            </a:r>
          </a:p>
          <a:p>
            <a:pPr algn="r">
              <a:lnSpc>
                <a:spcPct val="100000"/>
              </a:lnSpc>
            </a:pPr>
            <a:r>
              <a:rPr sz="1100">
                <a:solidFill>
                  <a:srgbClr val="4F5D6A"/>
                </a:solidFill>
                <a:latin typeface="Consolas"/>
              </a:rPr>
              <a:t>88</a:t>
            </a:r>
          </a:p>
          <a:p>
            <a:pPr algn="r">
              <a:lnSpc>
                <a:spcPct val="100000"/>
              </a:lnSpc>
            </a:pPr>
            <a:r>
              <a:rPr sz="1100">
                <a:solidFill>
                  <a:srgbClr val="4F5D6A"/>
                </a:solidFill>
                <a:latin typeface="Consolas"/>
              </a:rPr>
              <a:t>89</a:t>
            </a:r>
          </a:p>
          <a:p>
            <a:pPr algn="r">
              <a:lnSpc>
                <a:spcPct val="100000"/>
              </a:lnSpc>
            </a:pPr>
            <a:r>
              <a:rPr sz="1100">
                <a:solidFill>
                  <a:srgbClr val="4F5D6A"/>
                </a:solidFill>
                <a:latin typeface="Consolas"/>
              </a:rPr>
              <a:t>90</a:t>
            </a:r>
          </a:p>
          <a:p>
            <a:pPr algn="r">
              <a:lnSpc>
                <a:spcPct val="100000"/>
              </a:lnSpc>
            </a:pPr>
            <a:r>
              <a:rPr sz="1100">
                <a:solidFill>
                  <a:srgbClr val="4F5D6A"/>
                </a:solidFill>
                <a:latin typeface="Consolas"/>
              </a:rPr>
              <a:t>91</a:t>
            </a:r>
          </a:p>
          <a:p>
            <a:pPr algn="r">
              <a:lnSpc>
                <a:spcPct val="100000"/>
              </a:lnSpc>
            </a:pPr>
            <a:r>
              <a:rPr sz="1100">
                <a:solidFill>
                  <a:srgbClr val="4F5D6A"/>
                </a:solidFill>
                <a:latin typeface="Consolas"/>
              </a:rPr>
              <a:t>92</a:t>
            </a:r>
          </a:p>
          <a:p>
            <a:pPr algn="r">
              <a:lnSpc>
                <a:spcPct val="100000"/>
              </a:lnSpc>
            </a:pPr>
            <a:r>
              <a:rPr sz="1100">
                <a:solidFill>
                  <a:srgbClr val="4F5D6A"/>
                </a:solidFill>
                <a:latin typeface="Consolas"/>
              </a:rPr>
              <a:t>93</a:t>
            </a:r>
          </a:p>
          <a:p>
            <a:pPr algn="r">
              <a:lnSpc>
                <a:spcPct val="100000"/>
              </a:lnSpc>
            </a:pPr>
            <a:r>
              <a:rPr sz="1100">
                <a:solidFill>
                  <a:srgbClr val="4F5D6A"/>
                </a:solidFill>
                <a:latin typeface="Consolas"/>
              </a:rPr>
              <a:t>94</a:t>
            </a:r>
          </a:p>
          <a:p>
            <a:pPr algn="r">
              <a:lnSpc>
                <a:spcPct val="100000"/>
              </a:lnSpc>
            </a:pPr>
            <a:r>
              <a:rPr sz="1100">
                <a:solidFill>
                  <a:srgbClr val="4F5D6A"/>
                </a:solidFill>
                <a:latin typeface="Consolas"/>
              </a:rPr>
              <a:t>95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45442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789E9F82-AB01-4F7E-A585-8300FDB4D542}"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Exact: variable elimination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def var_elim(net, order, query, evidence): ops = [0] factors = [f for f in (make_factor(net, n, evidence) for n in order) if f.vars] for h in [n for n in order if n != query and n not in evidence]: involved = [f for f in factors if h in f.vars] if not involved: continue factors = [f for f in factors if h not in f.vars] prod = involved[0] for f in involved[1:]: prod = multiply(prod, f, ops) factors.append(sum_out(prod, h, ops))"/>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def</a:t>
            </a:r>
            <a:r>
              <a:rPr sz="1800" i="0">
                <a:solidFill>
                  <a:srgbClr val="E8EDF2"/>
                </a:solidFill>
                <a:latin typeface="Consolas"/>
              </a:rPr>
              <a:t> </a:t>
            </a:r>
            <a:r>
              <a:rPr sz="1800" i="0">
                <a:solidFill>
                  <a:srgbClr val="C39BD3"/>
                </a:solidFill>
                <a:latin typeface="Consolas"/>
              </a:rPr>
              <a:t>var_elim</a:t>
            </a:r>
            <a:r>
              <a:rPr sz="1800" i="0">
                <a:solidFill>
                  <a:srgbClr val="AEB6BF"/>
                </a:solidFill>
                <a:latin typeface="Consolas"/>
              </a:rPr>
              <a:t>(</a:t>
            </a:r>
            <a:r>
              <a:rPr sz="1800" i="0">
                <a:solidFill>
                  <a:srgbClr val="E8EDF2"/>
                </a:solidFill>
                <a:latin typeface="Consolas"/>
              </a:rPr>
              <a:t>net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query</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evidence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ops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factors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f</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f</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make_factor</a:t>
            </a:r>
            <a:r>
              <a:rPr sz="1800" i="0">
                <a:solidFill>
                  <a:srgbClr val="AEB6BF"/>
                </a:solidFill>
                <a:latin typeface="Consolas"/>
              </a:rPr>
              <a:t>(</a:t>
            </a:r>
            <a:r>
              <a:rPr sz="1800" i="0">
                <a:solidFill>
                  <a:srgbClr val="E8EDF2"/>
                </a:solidFill>
                <a:latin typeface="Consolas"/>
              </a:rPr>
              <a:t>net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evidence</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order</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f</a:t>
            </a:r>
            <a:r>
              <a:rPr sz="1800" i="0">
                <a:solidFill>
                  <a:srgbClr val="AEB6BF"/>
                </a:solidFill>
                <a:latin typeface="Consolas"/>
              </a:rPr>
              <a:t>.</a:t>
            </a:r>
            <a:r>
              <a:rPr sz="1800" i="0">
                <a:solidFill>
                  <a:srgbClr val="E8EDF2"/>
                </a:solidFill>
                <a:latin typeface="Consolas"/>
              </a:rPr>
              <a:t>vars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h</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n</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order</a:t>
            </a: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query</a:t>
            </a:r>
            <a:r>
              <a:rPr sz="1800" i="0">
                <a:solidFill>
                  <a:srgbClr val="E8EDF2"/>
                </a:solidFill>
                <a:latin typeface="Consolas"/>
              </a:rPr>
              <a:t> </a:t>
            </a:r>
            <a:r>
              <a:rPr sz="1800" i="0">
                <a:solidFill>
                  <a:srgbClr val="AEB6BF"/>
                </a:solidFill>
                <a:latin typeface="Consolas"/>
              </a:rPr>
              <a:t>and</a:t>
            </a:r>
            <a:r>
              <a:rPr sz="1800" i="0">
                <a:solidFill>
                  <a:srgbClr val="E8EDF2"/>
                </a:solidFill>
                <a:latin typeface="Consolas"/>
              </a:rPr>
              <a:t> </a:t>
            </a:r>
            <a:r>
              <a:rPr sz="1800" i="0">
                <a:solidFill>
                  <a:srgbClr val="E8EDF2"/>
                </a:solidFill>
                <a:latin typeface="Consolas"/>
              </a:rPr>
              <a:t>n</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evidence</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involved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f</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f</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factors</a:t>
            </a: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h</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f</a:t>
            </a:r>
            <a:r>
              <a:rPr sz="1800" i="0">
                <a:solidFill>
                  <a:srgbClr val="AEB6BF"/>
                </a:solidFill>
                <a:latin typeface="Consolas"/>
              </a:rPr>
              <a:t>.</a:t>
            </a:r>
            <a:r>
              <a:rPr sz="1800" i="0">
                <a:solidFill>
                  <a:srgbClr val="E8EDF2"/>
                </a:solidFill>
                <a:latin typeface="Consolas"/>
              </a:rPr>
              <a:t>vars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E8EDF2"/>
                </a:solidFill>
                <a:latin typeface="Consolas"/>
              </a:rPr>
              <a:t>involved</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continue</a:t>
            </a:r>
          </a:p>
          <a:p>
            <a:pPr>
              <a:lnSpc>
                <a:spcPct val="100000"/>
              </a:lnSpc>
              <a:spcAft>
                <a:spcPts val="0"/>
              </a:spcAft>
            </a:pPr>
            <a:r>
              <a:rPr sz="1800" i="0">
                <a:solidFill>
                  <a:srgbClr val="E8EDF2"/>
                </a:solidFill>
                <a:latin typeface="Consolas"/>
              </a:rPr>
              <a:t>        </a:t>
            </a:r>
            <a:r>
              <a:rPr sz="1800" i="0">
                <a:solidFill>
                  <a:srgbClr val="E8EDF2"/>
                </a:solidFill>
                <a:latin typeface="Consolas"/>
              </a:rPr>
              <a:t>factors</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f</a:t>
            </a: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f</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factors</a:t>
            </a: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h</a:t>
            </a:r>
            <a:r>
              <a:rPr sz="1800" i="0">
                <a:solidFill>
                  <a:srgbClr val="E8EDF2"/>
                </a:solidFill>
                <a:latin typeface="Consolas"/>
              </a:rPr>
              <a:t> </a:t>
            </a:r>
            <a:r>
              <a:rPr sz="1800" i="0">
                <a:solidFill>
                  <a:srgbClr val="AEB6BF"/>
                </a:solidFill>
                <a:latin typeface="Consolas"/>
              </a:rPr>
              <a:t>not</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f</a:t>
            </a:r>
            <a:r>
              <a:rPr sz="1800" i="0">
                <a:solidFill>
                  <a:srgbClr val="AEB6BF"/>
                </a:solidFill>
                <a:latin typeface="Consolas"/>
              </a:rPr>
              <a:t>.</a:t>
            </a:r>
            <a:r>
              <a:rPr sz="1800" i="0">
                <a:solidFill>
                  <a:srgbClr val="E8EDF2"/>
                </a:solidFill>
                <a:latin typeface="Consolas"/>
              </a:rPr>
              <a:t>vars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prod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involved</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f</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E8EDF2"/>
                </a:solidFill>
                <a:latin typeface="Consolas"/>
              </a:rPr>
              <a:t>involved</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prod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multiply</a:t>
            </a:r>
            <a:r>
              <a:rPr sz="1800" i="0">
                <a:solidFill>
                  <a:srgbClr val="AEB6BF"/>
                </a:solidFill>
                <a:latin typeface="Consolas"/>
              </a:rPr>
              <a:t>(</a:t>
            </a:r>
            <a:r>
              <a:rPr sz="1800" i="0">
                <a:solidFill>
                  <a:srgbClr val="E8EDF2"/>
                </a:solidFill>
                <a:latin typeface="Consolas"/>
              </a:rPr>
              <a:t>prod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f</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ops</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factors</a:t>
            </a:r>
            <a:r>
              <a:rPr sz="1800" i="0">
                <a:solidFill>
                  <a:srgbClr val="AEB6BF"/>
                </a:solidFill>
                <a:latin typeface="Consolas"/>
              </a:rPr>
              <a:t>.</a:t>
            </a:r>
            <a:r>
              <a:rPr sz="1800" i="0">
                <a:solidFill>
                  <a:srgbClr val="E8EDF2"/>
                </a:solidFill>
                <a:latin typeface="Consolas"/>
              </a:rPr>
              <a:t>append</a:t>
            </a:r>
            <a:r>
              <a:rPr sz="1800" i="0">
                <a:solidFill>
                  <a:srgbClr val="AEB6BF"/>
                </a:solidFill>
                <a:latin typeface="Consolas"/>
              </a:rPr>
              <a:t>(</a:t>
            </a:r>
            <a:r>
              <a:rPr sz="1800" i="0">
                <a:solidFill>
                  <a:srgbClr val="E8EDF2"/>
                </a:solidFill>
                <a:latin typeface="Consolas"/>
              </a:rPr>
              <a:t>sum_out</a:t>
            </a:r>
            <a:r>
              <a:rPr sz="1800" i="0">
                <a:solidFill>
                  <a:srgbClr val="AEB6BF"/>
                </a:solidFill>
                <a:latin typeface="Consolas"/>
              </a:rPr>
              <a:t>(</a:t>
            </a:r>
            <a:r>
              <a:rPr sz="1800" i="0">
                <a:solidFill>
                  <a:srgbClr val="E8EDF2"/>
                </a:solidFill>
                <a:latin typeface="Consolas"/>
              </a:rPr>
              <a:t>prod</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ops</a:t>
            </a:r>
            <a:r>
              <a:rPr sz="1800" i="0">
                <a:solidFill>
                  <a:srgbClr val="AEB6BF"/>
                </a:solidFill>
                <a:latin typeface="Consolas"/>
              </a:rPr>
              <a:t>)</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98</a:t>
            </a:r>
          </a:p>
          <a:p>
            <a:pPr algn="r">
              <a:lnSpc>
                <a:spcPct val="100000"/>
              </a:lnSpc>
            </a:pPr>
            <a:r>
              <a:rPr sz="1800">
                <a:solidFill>
                  <a:srgbClr val="4F5D6A"/>
                </a:solidFill>
                <a:latin typeface="Consolas"/>
              </a:rPr>
              <a:t>99</a:t>
            </a:r>
          </a:p>
          <a:p>
            <a:pPr algn="r">
              <a:lnSpc>
                <a:spcPct val="100000"/>
              </a:lnSpc>
            </a:pPr>
            <a:r>
              <a:rPr sz="1800">
                <a:solidFill>
                  <a:srgbClr val="4F5D6A"/>
                </a:solidFill>
                <a:latin typeface="Consolas"/>
              </a:rPr>
              <a:t>100</a:t>
            </a:r>
          </a:p>
          <a:p>
            <a:pPr algn="r">
              <a:lnSpc>
                <a:spcPct val="100000"/>
              </a:lnSpc>
            </a:pPr>
            <a:r>
              <a:rPr sz="1800">
                <a:solidFill>
                  <a:srgbClr val="4F5D6A"/>
                </a:solidFill>
                <a:latin typeface="Consolas"/>
              </a:rPr>
              <a:t>101</a:t>
            </a:r>
          </a:p>
          <a:p>
            <a:pPr algn="r">
              <a:lnSpc>
                <a:spcPct val="100000"/>
              </a:lnSpc>
            </a:pPr>
            <a:r>
              <a:rPr sz="1800">
                <a:solidFill>
                  <a:srgbClr val="4F5D6A"/>
                </a:solidFill>
                <a:latin typeface="Consolas"/>
              </a:rPr>
              <a:t>102</a:t>
            </a:r>
          </a:p>
          <a:p>
            <a:pPr algn="r">
              <a:lnSpc>
                <a:spcPct val="100000"/>
              </a:lnSpc>
            </a:pPr>
            <a:r>
              <a:rPr sz="1800">
                <a:solidFill>
                  <a:srgbClr val="4F5D6A"/>
                </a:solidFill>
                <a:latin typeface="Consolas"/>
              </a:rPr>
              <a:t>103</a:t>
            </a:r>
          </a:p>
          <a:p>
            <a:pPr algn="r">
              <a:lnSpc>
                <a:spcPct val="100000"/>
              </a:lnSpc>
            </a:pPr>
            <a:r>
              <a:rPr sz="1800">
                <a:solidFill>
                  <a:srgbClr val="4F5D6A"/>
                </a:solidFill>
                <a:latin typeface="Consolas"/>
              </a:rPr>
              <a:t>104</a:t>
            </a:r>
          </a:p>
          <a:p>
            <a:pPr algn="r">
              <a:lnSpc>
                <a:spcPct val="100000"/>
              </a:lnSpc>
            </a:pPr>
            <a:r>
              <a:rPr sz="1800">
                <a:solidFill>
                  <a:srgbClr val="4F5D6A"/>
                </a:solidFill>
                <a:latin typeface="Consolas"/>
              </a:rPr>
              <a:t>105</a:t>
            </a:r>
          </a:p>
          <a:p>
            <a:pPr algn="r">
              <a:lnSpc>
                <a:spcPct val="100000"/>
              </a:lnSpc>
            </a:pPr>
            <a:r>
              <a:rPr sz="1800">
                <a:solidFill>
                  <a:srgbClr val="4F5D6A"/>
                </a:solidFill>
                <a:latin typeface="Consolas"/>
              </a:rPr>
              <a:t>106</a:t>
            </a:r>
          </a:p>
          <a:p>
            <a:pPr algn="r">
              <a:lnSpc>
                <a:spcPct val="100000"/>
              </a:lnSpc>
            </a:pPr>
            <a:r>
              <a:rPr sz="1800">
                <a:solidFill>
                  <a:srgbClr val="4F5D6A"/>
                </a:solidFill>
                <a:latin typeface="Consolas"/>
              </a:rPr>
              <a:t>107</a:t>
            </a:r>
          </a:p>
          <a:p>
            <a:pPr algn="r">
              <a:lnSpc>
                <a:spcPct val="100000"/>
              </a:lnSpc>
            </a:pPr>
            <a:r>
              <a:rPr sz="1800">
                <a:solidFill>
                  <a:srgbClr val="4F5D6A"/>
                </a:solidFill>
                <a:latin typeface="Consolas"/>
              </a:rPr>
              <a:t>108</a:t>
            </a:r>
          </a:p>
          <a:p>
            <a:pPr algn="r">
              <a:lnSpc>
                <a:spcPct val="100000"/>
              </a:lnSpc>
            </a:pPr>
            <a:r>
              <a:rPr sz="1800">
                <a:solidFill>
                  <a:srgbClr val="4F5D6A"/>
                </a:solidFill>
                <a:latin typeface="Consolas"/>
              </a:rPr>
              <a:t>109</a:t>
            </a:r>
          </a:p>
          <a:p>
            <a:pPr algn="r">
              <a:lnSpc>
                <a:spcPct val="100000"/>
              </a:lnSpc>
            </a:pPr>
            <a:r>
              <a:rPr sz="1800">
                <a:solidFill>
                  <a:srgbClr val="4F5D6A"/>
                </a:solidFill>
                <a:latin typeface="Consolas"/>
              </a:rPr>
              <a:t>110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69347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C9ADC81A-8045-4FA6-844C-513B4DF1348E}"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Exact: variable elimination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prod = factors[0] for f in factors[1:]: prod = multiply(prod, f, ops) i = prod.vars.index(query) totals = {True: 0.0, False: 0.0} for combo, val in prod.table.items(): totals[combo[i]] += val z = totals[True] + totals[False] return totals[True] / z, ops[0]"/>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E8EDF2"/>
                </a:solidFill>
                <a:latin typeface="Consolas"/>
              </a:rPr>
              <a:t>prod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factors</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f</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factors</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prod</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multiply</a:t>
            </a:r>
            <a:r>
              <a:rPr sz="2000" i="0">
                <a:solidFill>
                  <a:srgbClr val="AEB6BF"/>
                </a:solidFill>
                <a:latin typeface="Consolas"/>
              </a:rPr>
              <a:t>(</a:t>
            </a:r>
            <a:r>
              <a:rPr sz="2000" i="0">
                <a:solidFill>
                  <a:srgbClr val="E8EDF2"/>
                </a:solidFill>
                <a:latin typeface="Consolas"/>
              </a:rPr>
              <a:t>prod</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f</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i</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prod</a:t>
            </a:r>
            <a:r>
              <a:rPr sz="2000" i="0">
                <a:solidFill>
                  <a:srgbClr val="AEB6BF"/>
                </a:solidFill>
                <a:latin typeface="Consolas"/>
              </a:rPr>
              <a:t>.</a:t>
            </a:r>
            <a:r>
              <a:rPr sz="2000" i="0">
                <a:solidFill>
                  <a:srgbClr val="E8EDF2"/>
                </a:solidFill>
                <a:latin typeface="Consolas"/>
              </a:rPr>
              <a:t>vars</a:t>
            </a:r>
            <a:r>
              <a:rPr sz="2000" i="0">
                <a:solidFill>
                  <a:srgbClr val="AEB6BF"/>
                </a:solidFill>
                <a:latin typeface="Consolas"/>
              </a:rPr>
              <a:t>.</a:t>
            </a:r>
            <a:r>
              <a:rPr sz="2000" i="0">
                <a:solidFill>
                  <a:srgbClr val="E8EDF2"/>
                </a:solidFill>
                <a:latin typeface="Consolas"/>
              </a:rPr>
              <a:t>index</a:t>
            </a:r>
            <a:r>
              <a:rPr sz="2000" i="0">
                <a:solidFill>
                  <a:srgbClr val="AEB6BF"/>
                </a:solidFill>
                <a:latin typeface="Consolas"/>
              </a:rPr>
              <a:t>(</a:t>
            </a:r>
            <a:r>
              <a:rPr sz="2000" i="0">
                <a:solidFill>
                  <a:srgbClr val="E8EDF2"/>
                </a:solidFill>
                <a:latin typeface="Consolas"/>
              </a:rPr>
              <a:t>query</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totals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5DADE2"/>
                </a:solidFill>
                <a:latin typeface="Consolas"/>
              </a:rPr>
              <a:t>True</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0.0</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False</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0.0</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combo</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prod</a:t>
            </a:r>
            <a:r>
              <a:rPr sz="2000" i="0">
                <a:solidFill>
                  <a:srgbClr val="AEB6BF"/>
                </a:solidFill>
                <a:latin typeface="Consolas"/>
              </a:rPr>
              <a:t>.</a:t>
            </a:r>
            <a:r>
              <a:rPr sz="2000" i="0">
                <a:solidFill>
                  <a:srgbClr val="E8EDF2"/>
                </a:solidFill>
                <a:latin typeface="Consolas"/>
              </a:rPr>
              <a:t>table</a:t>
            </a:r>
            <a:r>
              <a:rPr sz="2000" i="0">
                <a:solidFill>
                  <a:srgbClr val="AEB6BF"/>
                </a:solidFill>
                <a:latin typeface="Consolas"/>
              </a:rPr>
              <a:t>.</a:t>
            </a:r>
            <a:r>
              <a:rPr sz="2000" i="0">
                <a:solidFill>
                  <a:srgbClr val="E8EDF2"/>
                </a:solidFill>
                <a:latin typeface="Consolas"/>
              </a:rPr>
              <a:t>items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totals</a:t>
            </a:r>
            <a:r>
              <a:rPr sz="2000" i="0">
                <a:solidFill>
                  <a:srgbClr val="AEB6BF"/>
                </a:solidFill>
                <a:latin typeface="Consolas"/>
              </a:rPr>
              <a:t>[</a:t>
            </a:r>
            <a:r>
              <a:rPr sz="2000" i="0">
                <a:solidFill>
                  <a:srgbClr val="E8EDF2"/>
                </a:solidFill>
                <a:latin typeface="Consolas"/>
              </a:rPr>
              <a:t>combo</a:t>
            </a:r>
            <a:r>
              <a:rPr sz="2000" i="0">
                <a:solidFill>
                  <a:srgbClr val="AEB6BF"/>
                </a:solidFill>
                <a:latin typeface="Consolas"/>
              </a:rPr>
              <a:t>[</a:t>
            </a:r>
            <a:r>
              <a:rPr sz="2000" i="0">
                <a:solidFill>
                  <a:srgbClr val="E8EDF2"/>
                </a:solidFill>
                <a:latin typeface="Consolas"/>
              </a:rPr>
              <a:t>i</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val</a:t>
            </a:r>
          </a:p>
          <a:p>
            <a:pPr>
              <a:lnSpc>
                <a:spcPct val="100000"/>
              </a:lnSpc>
              <a:spcAft>
                <a:spcPts val="0"/>
              </a:spcAft>
            </a:pPr>
            <a:r>
              <a:rPr sz="2000" i="0">
                <a:solidFill>
                  <a:srgbClr val="E8EDF2"/>
                </a:solidFill>
                <a:latin typeface="Consolas"/>
              </a:rPr>
              <a:t>    </a:t>
            </a:r>
            <a:r>
              <a:rPr sz="2000" i="0">
                <a:solidFill>
                  <a:srgbClr val="E8EDF2"/>
                </a:solidFill>
                <a:latin typeface="Consolas"/>
              </a:rPr>
              <a:t>z</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totals</a:t>
            </a:r>
            <a:r>
              <a:rPr sz="2000" i="0">
                <a:solidFill>
                  <a:srgbClr val="AEB6BF"/>
                </a:solidFill>
                <a:latin typeface="Consolas"/>
              </a:rPr>
              <a:t>[</a:t>
            </a:r>
            <a:r>
              <a:rPr sz="2000" i="0">
                <a:solidFill>
                  <a:srgbClr val="5DADE2"/>
                </a:solidFill>
                <a:latin typeface="Consolas"/>
              </a:rPr>
              <a:t>True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totals</a:t>
            </a:r>
            <a:r>
              <a:rPr sz="2000" i="0">
                <a:solidFill>
                  <a:srgbClr val="AEB6BF"/>
                </a:solidFill>
                <a:latin typeface="Consolas"/>
              </a:rPr>
              <a:t>[</a:t>
            </a:r>
            <a:r>
              <a:rPr sz="2000" i="0">
                <a:solidFill>
                  <a:srgbClr val="5DADE2"/>
                </a:solidFill>
                <a:latin typeface="Consolas"/>
              </a:rPr>
              <a:t>False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totals</a:t>
            </a:r>
            <a:r>
              <a:rPr sz="2000" i="0">
                <a:solidFill>
                  <a:srgbClr val="AEB6BF"/>
                </a:solidFill>
                <a:latin typeface="Consolas"/>
              </a:rPr>
              <a:t>[</a:t>
            </a:r>
            <a:r>
              <a:rPr sz="2000" i="0">
                <a:solidFill>
                  <a:srgbClr val="5DADE2"/>
                </a:solidFill>
                <a:latin typeface="Consolas"/>
              </a:rPr>
              <a:t>True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z</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ops</a:t>
            </a:r>
            <a:r>
              <a:rPr sz="2000" i="0">
                <a:solidFill>
                  <a:srgbClr val="AEB6BF"/>
                </a:solidFill>
                <a:latin typeface="Consolas"/>
              </a:rPr>
              <a:t>[</a:t>
            </a:r>
            <a:r>
              <a:rPr sz="2000" i="0">
                <a:solidFill>
                  <a:srgbClr val="F7DC6F"/>
                </a:solidFill>
                <a:latin typeface="Consolas"/>
              </a:rPr>
              <a:t>0</a:t>
            </a:r>
            <a:r>
              <a:rPr sz="2000" i="0">
                <a:solidFill>
                  <a:srgbClr val="AEB6BF"/>
                </a:solidFill>
                <a:latin typeface="Consolas"/>
              </a:rPr>
              <a:t>]</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111</a:t>
            </a:r>
          </a:p>
          <a:p>
            <a:pPr algn="r">
              <a:lnSpc>
                <a:spcPct val="100000"/>
              </a:lnSpc>
            </a:pPr>
            <a:r>
              <a:rPr sz="2000">
                <a:solidFill>
                  <a:srgbClr val="4F5D6A"/>
                </a:solidFill>
                <a:latin typeface="Consolas"/>
              </a:rPr>
              <a:t>112</a:t>
            </a:r>
          </a:p>
          <a:p>
            <a:pPr algn="r">
              <a:lnSpc>
                <a:spcPct val="100000"/>
              </a:lnSpc>
            </a:pPr>
            <a:r>
              <a:rPr sz="2000">
                <a:solidFill>
                  <a:srgbClr val="4F5D6A"/>
                </a:solidFill>
                <a:latin typeface="Consolas"/>
              </a:rPr>
              <a:t>113</a:t>
            </a:r>
          </a:p>
          <a:p>
            <a:pPr algn="r">
              <a:lnSpc>
                <a:spcPct val="100000"/>
              </a:lnSpc>
            </a:pPr>
            <a:r>
              <a:rPr sz="2000">
                <a:solidFill>
                  <a:srgbClr val="4F5D6A"/>
                </a:solidFill>
                <a:latin typeface="Consolas"/>
              </a:rPr>
              <a:t>114</a:t>
            </a:r>
          </a:p>
          <a:p>
            <a:pPr algn="r">
              <a:lnSpc>
                <a:spcPct val="100000"/>
              </a:lnSpc>
            </a:pPr>
            <a:r>
              <a:rPr sz="2000">
                <a:solidFill>
                  <a:srgbClr val="4F5D6A"/>
                </a:solidFill>
                <a:latin typeface="Consolas"/>
              </a:rPr>
              <a:t>115</a:t>
            </a:r>
          </a:p>
          <a:p>
            <a:pPr algn="r">
              <a:lnSpc>
                <a:spcPct val="100000"/>
              </a:lnSpc>
            </a:pPr>
            <a:r>
              <a:rPr sz="2000">
                <a:solidFill>
                  <a:srgbClr val="4F5D6A"/>
                </a:solidFill>
                <a:latin typeface="Consolas"/>
              </a:rPr>
              <a:t>116</a:t>
            </a:r>
          </a:p>
          <a:p>
            <a:pPr algn="r">
              <a:lnSpc>
                <a:spcPct val="100000"/>
              </a:lnSpc>
            </a:pPr>
            <a:r>
              <a:rPr sz="2000">
                <a:solidFill>
                  <a:srgbClr val="4F5D6A"/>
                </a:solidFill>
                <a:latin typeface="Consolas"/>
              </a:rPr>
              <a:t>117</a:t>
            </a:r>
          </a:p>
          <a:p>
            <a:pPr algn="r">
              <a:lnSpc>
                <a:spcPct val="100000"/>
              </a:lnSpc>
            </a:pPr>
            <a:r>
              <a:rPr sz="2000">
                <a:solidFill>
                  <a:srgbClr val="4F5D6A"/>
                </a:solidFill>
                <a:latin typeface="Consolas"/>
              </a:rPr>
              <a:t>118</a:t>
            </a:r>
          </a:p>
          <a:p>
            <a:pPr algn="r">
              <a:lnSpc>
                <a:spcPct val="100000"/>
              </a:lnSpc>
            </a:pPr>
            <a:r>
              <a:rPr sz="2000">
                <a:solidFill>
                  <a:srgbClr val="4F5D6A"/>
                </a:solidFill>
                <a:latin typeface="Consolas"/>
              </a:rPr>
              <a:t>119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93253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77723AD6-5B24-4EF1-B14D-41AAD509E6AE}"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Rejection sampling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 3. rejection sampling ----------------------------------------- def rejection(net, order, query, evidence, n, rng): kept = hits = 0 for _ in range(n): a = {} for node in order: a[node] = rng.random() &lt; p_true(net, node, a) if all(a[k] == v for k, v in evidence.items()): kept += 1 hits += a[query] return (hits / kept if kept else None), kep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2000" i="1">
                <a:solidFill>
                  <a:srgbClr val="8795A1"/>
                </a:solidFill>
                <a:latin typeface="Consolas"/>
              </a:rPr>
              <a:t># --- 3. rejection sampling -----------------------------------------</a:t>
            </a:r>
          </a:p>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rejection</a:t>
            </a:r>
            <a:r>
              <a:rPr sz="2000" i="0">
                <a:solidFill>
                  <a:srgbClr val="AEB6BF"/>
                </a:solidFill>
                <a:latin typeface="Consolas"/>
              </a:rPr>
              <a:t>(</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order</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query</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evidence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rng</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kept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hits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_</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node</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order</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rng</a:t>
            </a:r>
            <a:r>
              <a:rPr sz="2000" i="0">
                <a:solidFill>
                  <a:srgbClr val="AEB6BF"/>
                </a:solidFill>
                <a:latin typeface="Consolas"/>
              </a:rPr>
              <a:t>.</a:t>
            </a:r>
            <a:r>
              <a:rPr sz="2000" i="0">
                <a:solidFill>
                  <a:srgbClr val="E8EDF2"/>
                </a:solidFill>
                <a:latin typeface="Consolas"/>
              </a:rPr>
              <a:t>random</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&lt;</a:t>
            </a:r>
            <a:r>
              <a:rPr sz="2000" i="0">
                <a:solidFill>
                  <a:srgbClr val="E8EDF2"/>
                </a:solidFill>
                <a:latin typeface="Consolas"/>
              </a:rPr>
              <a:t> </a:t>
            </a:r>
            <a:r>
              <a:rPr sz="2000" i="0">
                <a:solidFill>
                  <a:srgbClr val="E8EDF2"/>
                </a:solidFill>
                <a:latin typeface="Consolas"/>
              </a:rPr>
              <a:t>p_true</a:t>
            </a:r>
            <a:r>
              <a:rPr sz="2000" i="0">
                <a:solidFill>
                  <a:srgbClr val="AEB6BF"/>
                </a:solidFill>
                <a:latin typeface="Consolas"/>
              </a:rPr>
              <a:t>(</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node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C39BD3"/>
                </a:solidFill>
                <a:latin typeface="Consolas"/>
              </a:rPr>
              <a:t>all</a:t>
            </a:r>
            <a:r>
              <a:rPr sz="2000" i="0">
                <a:solidFill>
                  <a:srgbClr val="AEB6BF"/>
                </a:solidFill>
                <a:latin typeface="Consolas"/>
              </a:rPr>
              <a:t>(</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v</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evidence</a:t>
            </a:r>
            <a:r>
              <a:rPr sz="2000" i="0">
                <a:solidFill>
                  <a:srgbClr val="AEB6BF"/>
                </a:solidFill>
                <a:latin typeface="Consolas"/>
              </a:rPr>
              <a:t>.</a:t>
            </a:r>
            <a:r>
              <a:rPr sz="2000" i="0">
                <a:solidFill>
                  <a:srgbClr val="E8EDF2"/>
                </a:solidFill>
                <a:latin typeface="Consolas"/>
              </a:rPr>
              <a:t>items</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kept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p>
          <a:p>
            <a:pPr>
              <a:lnSpc>
                <a:spcPct val="100000"/>
              </a:lnSpc>
              <a:spcAft>
                <a:spcPts val="0"/>
              </a:spcAft>
            </a:pPr>
            <a:r>
              <a:rPr sz="2000" i="0">
                <a:solidFill>
                  <a:srgbClr val="E8EDF2"/>
                </a:solidFill>
                <a:latin typeface="Consolas"/>
              </a:rPr>
              <a:t>            </a:t>
            </a:r>
            <a:r>
              <a:rPr sz="2000" i="0">
                <a:solidFill>
                  <a:srgbClr val="E8EDF2"/>
                </a:solidFill>
                <a:latin typeface="Consolas"/>
              </a:rPr>
              <a:t>hits</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a:t>
            </a:r>
            <a:r>
              <a:rPr sz="2000" i="0">
                <a:solidFill>
                  <a:srgbClr val="AEB6BF"/>
                </a:solidFill>
                <a:latin typeface="Consolas"/>
              </a:rPr>
              <a:t>[</a:t>
            </a:r>
            <a:r>
              <a:rPr sz="2000" i="0">
                <a:solidFill>
                  <a:srgbClr val="E8EDF2"/>
                </a:solidFill>
                <a:latin typeface="Consolas"/>
              </a:rPr>
              <a:t>query</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hits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kept</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kept</a:t>
            </a:r>
            <a:r>
              <a:rPr sz="2000" i="0">
                <a:solidFill>
                  <a:srgbClr val="E8EDF2"/>
                </a:solidFill>
                <a:latin typeface="Consolas"/>
              </a:rPr>
              <a:t> </a:t>
            </a:r>
            <a:r>
              <a:rPr sz="2000" i="0">
                <a:solidFill>
                  <a:srgbClr val="5DADE2"/>
                </a:solidFill>
                <a:latin typeface="Consolas"/>
              </a:rPr>
              <a:t>else</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kept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122</a:t>
            </a:r>
          </a:p>
          <a:p>
            <a:pPr algn="r">
              <a:lnSpc>
                <a:spcPct val="100000"/>
              </a:lnSpc>
            </a:pPr>
            <a:r>
              <a:rPr sz="2000">
                <a:solidFill>
                  <a:srgbClr val="4F5D6A"/>
                </a:solidFill>
                <a:latin typeface="Consolas"/>
              </a:rPr>
              <a:t>123</a:t>
            </a:r>
          </a:p>
          <a:p>
            <a:pPr algn="r">
              <a:lnSpc>
                <a:spcPct val="100000"/>
              </a:lnSpc>
            </a:pPr>
            <a:r>
              <a:rPr sz="2000">
                <a:solidFill>
                  <a:srgbClr val="4F5D6A"/>
                </a:solidFill>
                <a:latin typeface="Consolas"/>
              </a:rPr>
              <a:t>124</a:t>
            </a:r>
          </a:p>
          <a:p>
            <a:pPr algn="r">
              <a:lnSpc>
                <a:spcPct val="100000"/>
              </a:lnSpc>
            </a:pPr>
            <a:r>
              <a:rPr sz="2000">
                <a:solidFill>
                  <a:srgbClr val="4F5D6A"/>
                </a:solidFill>
                <a:latin typeface="Consolas"/>
              </a:rPr>
              <a:t>125</a:t>
            </a:r>
          </a:p>
          <a:p>
            <a:pPr algn="r">
              <a:lnSpc>
                <a:spcPct val="100000"/>
              </a:lnSpc>
            </a:pPr>
            <a:r>
              <a:rPr sz="2000">
                <a:solidFill>
                  <a:srgbClr val="4F5D6A"/>
                </a:solidFill>
                <a:latin typeface="Consolas"/>
              </a:rPr>
              <a:t>126</a:t>
            </a:r>
          </a:p>
          <a:p>
            <a:pPr algn="r">
              <a:lnSpc>
                <a:spcPct val="100000"/>
              </a:lnSpc>
            </a:pPr>
            <a:r>
              <a:rPr sz="2000">
                <a:solidFill>
                  <a:srgbClr val="4F5D6A"/>
                </a:solidFill>
                <a:latin typeface="Consolas"/>
              </a:rPr>
              <a:t>127</a:t>
            </a:r>
          </a:p>
          <a:p>
            <a:pPr algn="r">
              <a:lnSpc>
                <a:spcPct val="100000"/>
              </a:lnSpc>
            </a:pPr>
            <a:r>
              <a:rPr sz="2000">
                <a:solidFill>
                  <a:srgbClr val="4F5D6A"/>
                </a:solidFill>
                <a:latin typeface="Consolas"/>
              </a:rPr>
              <a:t>128</a:t>
            </a:r>
          </a:p>
          <a:p>
            <a:pPr algn="r">
              <a:lnSpc>
                <a:spcPct val="100000"/>
              </a:lnSpc>
            </a:pPr>
            <a:r>
              <a:rPr sz="2000">
                <a:solidFill>
                  <a:srgbClr val="4F5D6A"/>
                </a:solidFill>
                <a:latin typeface="Consolas"/>
              </a:rPr>
              <a:t>129</a:t>
            </a:r>
          </a:p>
          <a:p>
            <a:pPr algn="r">
              <a:lnSpc>
                <a:spcPct val="100000"/>
              </a:lnSpc>
            </a:pPr>
            <a:r>
              <a:rPr sz="2000">
                <a:solidFill>
                  <a:srgbClr val="4F5D6A"/>
                </a:solidFill>
                <a:latin typeface="Consolas"/>
              </a:rPr>
              <a:t>130</a:t>
            </a:r>
          </a:p>
          <a:p>
            <a:pPr algn="r">
              <a:lnSpc>
                <a:spcPct val="100000"/>
              </a:lnSpc>
            </a:pPr>
            <a:r>
              <a:rPr sz="2000">
                <a:solidFill>
                  <a:srgbClr val="4F5D6A"/>
                </a:solidFill>
                <a:latin typeface="Consolas"/>
              </a:rPr>
              <a:t>131</a:t>
            </a:r>
          </a:p>
          <a:p>
            <a:pPr algn="r">
              <a:lnSpc>
                <a:spcPct val="100000"/>
              </a:lnSpc>
            </a:pPr>
            <a:r>
              <a:rPr sz="2000">
                <a:solidFill>
                  <a:srgbClr val="4F5D6A"/>
                </a:solidFill>
                <a:latin typeface="Consolas"/>
              </a:rPr>
              <a:t>132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17158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867E08D8-E6B8-49A6-B0A3-22EE5D3698EC}"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Likelihood weighting</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32504"/>
          </a:xfrm>
          <a:prstGeom prst="roundRect">
            <a:avLst>
              <a:gd name="adj" fmla="val 2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 4. likelihood weighting --------------------------------------- def likelihood_weighting(net, order, query, evidence, n, rng): num = den = 0.0 for _ in range(n): a, w = {}, 1.0 for node in order: if node in evidence: a[node] = evidence[node] w *= prob(net, node, a[node], a) # weight, not sample else: a[node] = rng.random() &lt; p_true(net, node, a) den += w if a[query]: num += w return num / den, den"/>
          <p:cNvSpPr txBox="1"/>
          <p:nvPr/>
        </p:nvSpPr>
        <p:spPr>
          <a:xfrm>
            <a:off x="1362456" y="2523744"/>
            <a:ext cx="9987991" cy="3538727"/>
          </a:xfrm>
          <a:prstGeom prst="rect">
            <a:avLst/>
          </a:prstGeom>
          <a:noFill/>
        </p:spPr>
        <p:txBody>
          <a:bodyPr wrap="none" anchor="t" lIns="0" rIns="0" tIns="0" bIns="0">
            <a:noAutofit/>
          </a:bodyPr>
          <a:lstStyle/>
          <a:p>
            <a:pPr>
              <a:lnSpc>
                <a:spcPct val="100000"/>
              </a:lnSpc>
              <a:spcAft>
                <a:spcPts val="0"/>
              </a:spcAft>
            </a:pPr>
            <a:r>
              <a:rPr sz="1500" i="1">
                <a:solidFill>
                  <a:srgbClr val="8795A1"/>
                </a:solidFill>
                <a:latin typeface="Consolas"/>
              </a:rPr>
              <a:t># --- 4. likelihood weighting ---------------------------------------</a:t>
            </a:r>
          </a:p>
          <a:p>
            <a:pPr>
              <a:lnSpc>
                <a:spcPct val="100000"/>
              </a:lnSpc>
              <a:spcAft>
                <a:spcPts val="0"/>
              </a:spcAft>
            </a:pPr>
            <a:r>
              <a:rPr sz="1500" i="0">
                <a:solidFill>
                  <a:srgbClr val="5DADE2"/>
                </a:solidFill>
                <a:latin typeface="Consolas"/>
              </a:rPr>
              <a:t>def</a:t>
            </a:r>
            <a:r>
              <a:rPr sz="1500" i="0">
                <a:solidFill>
                  <a:srgbClr val="E8EDF2"/>
                </a:solidFill>
                <a:latin typeface="Consolas"/>
              </a:rPr>
              <a:t> </a:t>
            </a:r>
            <a:r>
              <a:rPr sz="1500" i="0">
                <a:solidFill>
                  <a:srgbClr val="C39BD3"/>
                </a:solidFill>
                <a:latin typeface="Consolas"/>
              </a:rPr>
              <a:t>likelihood_weighting</a:t>
            </a:r>
            <a:r>
              <a:rPr sz="1500" i="0">
                <a:solidFill>
                  <a:srgbClr val="AEB6BF"/>
                </a:solidFill>
                <a:latin typeface="Consolas"/>
              </a:rPr>
              <a:t>(</a:t>
            </a:r>
            <a:r>
              <a:rPr sz="1500" i="0">
                <a:solidFill>
                  <a:srgbClr val="E8EDF2"/>
                </a:solidFill>
                <a:latin typeface="Consolas"/>
              </a:rPr>
              <a:t>net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order</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query</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evidence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num</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den</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0.0</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_</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C39BD3"/>
                </a:solidFill>
                <a:latin typeface="Consolas"/>
              </a:rPr>
              <a:t>range</a:t>
            </a:r>
            <a:r>
              <a:rPr sz="1500" i="0">
                <a:solidFill>
                  <a:srgbClr val="AEB6BF"/>
                </a:solidFill>
                <a:latin typeface="Consolas"/>
              </a:rPr>
              <a:t>(</a:t>
            </a:r>
            <a:r>
              <a:rPr sz="1500" i="0">
                <a:solidFill>
                  <a:srgbClr val="E8EDF2"/>
                </a:solidFill>
                <a:latin typeface="Consolas"/>
              </a:rPr>
              <a:t>n</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F7DC6F"/>
                </a:solidFill>
                <a:latin typeface="Consolas"/>
              </a:rPr>
              <a:t>1.0</a:t>
            </a:r>
          </a:p>
          <a:p>
            <a:pPr>
              <a:lnSpc>
                <a:spcPct val="100000"/>
              </a:lnSpc>
              <a:spcAft>
                <a:spcPts val="0"/>
              </a:spcAft>
            </a:pPr>
            <a:r>
              <a:rPr sz="1500" i="0">
                <a:solidFill>
                  <a:srgbClr val="E8EDF2"/>
                </a:solidFill>
                <a:latin typeface="Consolas"/>
              </a:rPr>
              <a:t>        </a:t>
            </a:r>
            <a:r>
              <a:rPr sz="1500" i="0">
                <a:solidFill>
                  <a:srgbClr val="5DADE2"/>
                </a:solidFill>
                <a:latin typeface="Consolas"/>
              </a:rPr>
              <a:t>for</a:t>
            </a:r>
            <a:r>
              <a:rPr sz="1500" i="0">
                <a:solidFill>
                  <a:srgbClr val="E8EDF2"/>
                </a:solidFill>
                <a:latin typeface="Consolas"/>
              </a:rPr>
              <a:t> </a:t>
            </a:r>
            <a:r>
              <a:rPr sz="1500" i="0">
                <a:solidFill>
                  <a:srgbClr val="E8EDF2"/>
                </a:solidFill>
                <a:latin typeface="Consolas"/>
              </a:rPr>
              <a:t>node</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order</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node</a:t>
            </a:r>
            <a:r>
              <a:rPr sz="1500" i="0">
                <a:solidFill>
                  <a:srgbClr val="E8EDF2"/>
                </a:solidFill>
                <a:latin typeface="Consolas"/>
              </a:rPr>
              <a:t> </a:t>
            </a:r>
            <a:r>
              <a:rPr sz="1500" i="0">
                <a:solidFill>
                  <a:srgbClr val="AEB6BF"/>
                </a:solidFill>
                <a:latin typeface="Consolas"/>
              </a:rPr>
              <a:t>in</a:t>
            </a:r>
            <a:r>
              <a:rPr sz="1500" i="0">
                <a:solidFill>
                  <a:srgbClr val="E8EDF2"/>
                </a:solidFill>
                <a:latin typeface="Consolas"/>
              </a:rPr>
              <a:t> </a:t>
            </a:r>
            <a:r>
              <a:rPr sz="1500" i="0">
                <a:solidFill>
                  <a:srgbClr val="E8EDF2"/>
                </a:solidFill>
                <a:latin typeface="Consolas"/>
              </a:rPr>
              <a:t>evidence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evidence</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w</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prob</a:t>
            </a:r>
            <a:r>
              <a:rPr sz="1500" i="0">
                <a:solidFill>
                  <a:srgbClr val="AEB6BF"/>
                </a:solidFill>
                <a:latin typeface="Consolas"/>
              </a:rPr>
              <a:t>(</a:t>
            </a:r>
            <a:r>
              <a:rPr sz="1500" i="0">
                <a:solidFill>
                  <a:srgbClr val="E8EDF2"/>
                </a:solidFill>
                <a:latin typeface="Consolas"/>
              </a:rPr>
              <a:t>net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     </a:t>
            </a:r>
            <a:r>
              <a:rPr sz="1500" i="1">
                <a:solidFill>
                  <a:srgbClr val="8795A1"/>
                </a:solidFill>
                <a:latin typeface="Consolas"/>
              </a:rPr>
              <a:t># weight, not sample</a:t>
            </a:r>
          </a:p>
          <a:p>
            <a:pPr>
              <a:lnSpc>
                <a:spcPct val="100000"/>
              </a:lnSpc>
              <a:spcAft>
                <a:spcPts val="0"/>
              </a:spcAft>
            </a:pPr>
            <a:r>
              <a:rPr sz="1500" i="0">
                <a:solidFill>
                  <a:srgbClr val="E8EDF2"/>
                </a:solidFill>
                <a:latin typeface="Consolas"/>
              </a:rPr>
              <a:t>            </a:t>
            </a:r>
            <a:r>
              <a:rPr sz="1500" i="0">
                <a:solidFill>
                  <a:srgbClr val="5DADE2"/>
                </a:solidFill>
                <a:latin typeface="Consolas"/>
              </a:rPr>
              <a:t>else</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rng</a:t>
            </a:r>
            <a:r>
              <a:rPr sz="1500" i="0">
                <a:solidFill>
                  <a:srgbClr val="AEB6BF"/>
                </a:solidFill>
                <a:latin typeface="Consolas"/>
              </a:rPr>
              <a:t>.</a:t>
            </a:r>
            <a:r>
              <a:rPr sz="1500" i="0">
                <a:solidFill>
                  <a:srgbClr val="E8EDF2"/>
                </a:solidFill>
                <a:latin typeface="Consolas"/>
              </a:rPr>
              <a:t>random</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AEB6BF"/>
                </a:solidFill>
                <a:latin typeface="Consolas"/>
              </a:rPr>
              <a:t>&lt;</a:t>
            </a:r>
            <a:r>
              <a:rPr sz="1500" i="0">
                <a:solidFill>
                  <a:srgbClr val="E8EDF2"/>
                </a:solidFill>
                <a:latin typeface="Consolas"/>
              </a:rPr>
              <a:t> </a:t>
            </a:r>
            <a:r>
              <a:rPr sz="1500" i="0">
                <a:solidFill>
                  <a:srgbClr val="E8EDF2"/>
                </a:solidFill>
                <a:latin typeface="Consolas"/>
              </a:rPr>
              <a:t>p_true</a:t>
            </a:r>
            <a:r>
              <a:rPr sz="1500" i="0">
                <a:solidFill>
                  <a:srgbClr val="AEB6BF"/>
                </a:solidFill>
                <a:latin typeface="Consolas"/>
              </a:rPr>
              <a:t>(</a:t>
            </a:r>
            <a:r>
              <a:rPr sz="1500" i="0">
                <a:solidFill>
                  <a:srgbClr val="E8EDF2"/>
                </a:solidFill>
                <a:latin typeface="Consolas"/>
              </a:rPr>
              <a:t>net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node</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den</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a:t>
            </a:r>
          </a:p>
          <a:p>
            <a:pPr>
              <a:lnSpc>
                <a:spcPct val="100000"/>
              </a:lnSpc>
              <a:spcAft>
                <a:spcPts val="0"/>
              </a:spcAft>
            </a:pPr>
            <a:r>
              <a:rPr sz="1500" i="0">
                <a:solidFill>
                  <a:srgbClr val="E8EDF2"/>
                </a:solidFill>
                <a:latin typeface="Consolas"/>
              </a:rPr>
              <a:t>        </a:t>
            </a:r>
            <a:r>
              <a:rPr sz="1500" i="0">
                <a:solidFill>
                  <a:srgbClr val="5DADE2"/>
                </a:solidFill>
                <a:latin typeface="Consolas"/>
              </a:rPr>
              <a:t>if</a:t>
            </a:r>
            <a:r>
              <a:rPr sz="1500" i="0">
                <a:solidFill>
                  <a:srgbClr val="E8EDF2"/>
                </a:solidFill>
                <a:latin typeface="Consolas"/>
              </a:rPr>
              <a:t> </a:t>
            </a:r>
            <a:r>
              <a:rPr sz="1500" i="0">
                <a:solidFill>
                  <a:srgbClr val="E8EDF2"/>
                </a:solidFill>
                <a:latin typeface="Consolas"/>
              </a:rPr>
              <a:t>a</a:t>
            </a:r>
            <a:r>
              <a:rPr sz="1500" i="0">
                <a:solidFill>
                  <a:srgbClr val="AEB6BF"/>
                </a:solidFill>
                <a:latin typeface="Consolas"/>
              </a:rPr>
              <a:t>[</a:t>
            </a:r>
            <a:r>
              <a:rPr sz="1500" i="0">
                <a:solidFill>
                  <a:srgbClr val="E8EDF2"/>
                </a:solidFill>
                <a:latin typeface="Consolas"/>
              </a:rPr>
              <a:t>query</a:t>
            </a:r>
            <a:r>
              <a:rPr sz="1500" i="0">
                <a:solidFill>
                  <a:srgbClr val="AEB6BF"/>
                </a:solidFill>
                <a:latin typeface="Consolas"/>
              </a:rPr>
              <a:t>]</a:t>
            </a:r>
            <a:r>
              <a:rPr sz="1500" i="0">
                <a:solidFill>
                  <a:srgbClr val="AEB6BF"/>
                </a:solidFill>
                <a:latin typeface="Consolas"/>
              </a:rPr>
              <a:t>:</a:t>
            </a:r>
          </a:p>
          <a:p>
            <a:pPr>
              <a:lnSpc>
                <a:spcPct val="100000"/>
              </a:lnSpc>
              <a:spcAft>
                <a:spcPts val="0"/>
              </a:spcAft>
            </a:pPr>
            <a:r>
              <a:rPr sz="1500" i="0">
                <a:solidFill>
                  <a:srgbClr val="E8EDF2"/>
                </a:solidFill>
                <a:latin typeface="Consolas"/>
              </a:rPr>
              <a:t>            </a:t>
            </a:r>
            <a:r>
              <a:rPr sz="1500" i="0">
                <a:solidFill>
                  <a:srgbClr val="E8EDF2"/>
                </a:solidFill>
                <a:latin typeface="Consolas"/>
              </a:rPr>
              <a:t>num</a:t>
            </a:r>
            <a:r>
              <a:rPr sz="1500" i="0">
                <a:solidFill>
                  <a:srgbClr val="E8EDF2"/>
                </a:solidFill>
                <a:latin typeface="Consolas"/>
              </a:rPr>
              <a:t> </a:t>
            </a:r>
            <a:r>
              <a:rPr sz="1500" i="0">
                <a:solidFill>
                  <a:srgbClr val="AEB6BF"/>
                </a:solidFill>
                <a:latin typeface="Consolas"/>
              </a:rPr>
              <a:t>+</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w</a:t>
            </a:r>
          </a:p>
          <a:p>
            <a:pPr>
              <a:lnSpc>
                <a:spcPct val="100000"/>
              </a:lnSpc>
              <a:spcAft>
                <a:spcPts val="0"/>
              </a:spcAft>
            </a:pPr>
            <a:r>
              <a:rPr sz="1500" i="0">
                <a:solidFill>
                  <a:srgbClr val="E8EDF2"/>
                </a:solidFill>
                <a:latin typeface="Consolas"/>
              </a:rPr>
              <a:t>    </a:t>
            </a:r>
            <a:r>
              <a:rPr sz="1500" i="0">
                <a:solidFill>
                  <a:srgbClr val="5DADE2"/>
                </a:solidFill>
                <a:latin typeface="Consolas"/>
              </a:rPr>
              <a:t>return</a:t>
            </a:r>
            <a:r>
              <a:rPr sz="1500" i="0">
                <a:solidFill>
                  <a:srgbClr val="E8EDF2"/>
                </a:solidFill>
                <a:latin typeface="Consolas"/>
              </a:rPr>
              <a:t> </a:t>
            </a:r>
            <a:r>
              <a:rPr sz="1500" i="0">
                <a:solidFill>
                  <a:srgbClr val="E8EDF2"/>
                </a:solidFill>
                <a:latin typeface="Consolas"/>
              </a:rPr>
              <a:t>num</a:t>
            </a:r>
            <a:r>
              <a:rPr sz="1500" i="0">
                <a:solidFill>
                  <a:srgbClr val="E8EDF2"/>
                </a:solidFill>
                <a:latin typeface="Consolas"/>
              </a:rPr>
              <a:t> </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den</a:t>
            </a:r>
            <a:r>
              <a:rPr sz="1500" i="0">
                <a:solidFill>
                  <a:srgbClr val="AEB6BF"/>
                </a:solidFill>
                <a:latin typeface="Consolas"/>
              </a:rPr>
              <a:t>,</a:t>
            </a:r>
            <a:r>
              <a:rPr sz="1500" i="0">
                <a:solidFill>
                  <a:srgbClr val="E8EDF2"/>
                </a:solidFill>
                <a:latin typeface="Consolas"/>
              </a:rPr>
              <a:t> </a:t>
            </a:r>
            <a:r>
              <a:rPr sz="1500" i="0">
                <a:solidFill>
                  <a:srgbClr val="E8EDF2"/>
                </a:solidFill>
                <a:latin typeface="Consolas"/>
              </a:rPr>
              <a:t>den</a:t>
            </a:r>
          </a:p>
        </p:txBody>
      </p:sp>
      <p:sp>
        <p:nvSpPr>
          <p:cNvPr id="15" name="!!code-num"/>
          <p:cNvSpPr txBox="1"/>
          <p:nvPr/>
        </p:nvSpPr>
        <p:spPr>
          <a:xfrm>
            <a:off x="768096" y="2523744"/>
            <a:ext cx="393192" cy="3538727"/>
          </a:xfrm>
          <a:prstGeom prst="rect">
            <a:avLst/>
          </a:prstGeom>
          <a:noFill/>
        </p:spPr>
        <p:txBody>
          <a:bodyPr wrap="none" anchor="t" lIns="0" rIns="0" tIns="0" bIns="0">
            <a:noAutofit/>
          </a:bodyPr>
          <a:lstStyle/>
          <a:p>
            <a:pPr algn="r">
              <a:lnSpc>
                <a:spcPct val="100000"/>
              </a:lnSpc>
            </a:pPr>
            <a:r>
              <a:rPr sz="1500">
                <a:solidFill>
                  <a:srgbClr val="4F5D6A"/>
                </a:solidFill>
                <a:latin typeface="Consolas"/>
              </a:rPr>
              <a:t>135</a:t>
            </a:r>
          </a:p>
          <a:p>
            <a:pPr algn="r">
              <a:lnSpc>
                <a:spcPct val="100000"/>
              </a:lnSpc>
            </a:pPr>
            <a:r>
              <a:rPr sz="1500">
                <a:solidFill>
                  <a:srgbClr val="4F5D6A"/>
                </a:solidFill>
                <a:latin typeface="Consolas"/>
              </a:rPr>
              <a:t>136</a:t>
            </a:r>
          </a:p>
          <a:p>
            <a:pPr algn="r">
              <a:lnSpc>
                <a:spcPct val="100000"/>
              </a:lnSpc>
            </a:pPr>
            <a:r>
              <a:rPr sz="1500">
                <a:solidFill>
                  <a:srgbClr val="4F5D6A"/>
                </a:solidFill>
                <a:latin typeface="Consolas"/>
              </a:rPr>
              <a:t>137</a:t>
            </a:r>
          </a:p>
          <a:p>
            <a:pPr algn="r">
              <a:lnSpc>
                <a:spcPct val="100000"/>
              </a:lnSpc>
            </a:pPr>
            <a:r>
              <a:rPr sz="1500">
                <a:solidFill>
                  <a:srgbClr val="4F5D6A"/>
                </a:solidFill>
                <a:latin typeface="Consolas"/>
              </a:rPr>
              <a:t>138</a:t>
            </a:r>
          </a:p>
          <a:p>
            <a:pPr algn="r">
              <a:lnSpc>
                <a:spcPct val="100000"/>
              </a:lnSpc>
            </a:pPr>
            <a:r>
              <a:rPr sz="1500">
                <a:solidFill>
                  <a:srgbClr val="4F5D6A"/>
                </a:solidFill>
                <a:latin typeface="Consolas"/>
              </a:rPr>
              <a:t>139</a:t>
            </a:r>
          </a:p>
          <a:p>
            <a:pPr algn="r">
              <a:lnSpc>
                <a:spcPct val="100000"/>
              </a:lnSpc>
            </a:pPr>
            <a:r>
              <a:rPr sz="1500">
                <a:solidFill>
                  <a:srgbClr val="4F5D6A"/>
                </a:solidFill>
                <a:latin typeface="Consolas"/>
              </a:rPr>
              <a:t>140</a:t>
            </a:r>
          </a:p>
          <a:p>
            <a:pPr algn="r">
              <a:lnSpc>
                <a:spcPct val="100000"/>
              </a:lnSpc>
            </a:pPr>
            <a:r>
              <a:rPr sz="1500">
                <a:solidFill>
                  <a:srgbClr val="4F5D6A"/>
                </a:solidFill>
                <a:latin typeface="Consolas"/>
              </a:rPr>
              <a:t>141</a:t>
            </a:r>
          </a:p>
          <a:p>
            <a:pPr algn="r">
              <a:lnSpc>
                <a:spcPct val="100000"/>
              </a:lnSpc>
            </a:pPr>
            <a:r>
              <a:rPr sz="1500">
                <a:solidFill>
                  <a:srgbClr val="4F5D6A"/>
                </a:solidFill>
                <a:latin typeface="Consolas"/>
              </a:rPr>
              <a:t>142</a:t>
            </a:r>
          </a:p>
          <a:p>
            <a:pPr algn="r">
              <a:lnSpc>
                <a:spcPct val="100000"/>
              </a:lnSpc>
            </a:pPr>
            <a:r>
              <a:rPr sz="1500">
                <a:solidFill>
                  <a:srgbClr val="4F5D6A"/>
                </a:solidFill>
                <a:latin typeface="Consolas"/>
              </a:rPr>
              <a:t>143</a:t>
            </a:r>
          </a:p>
          <a:p>
            <a:pPr algn="r">
              <a:lnSpc>
                <a:spcPct val="100000"/>
              </a:lnSpc>
            </a:pPr>
            <a:r>
              <a:rPr sz="1500">
                <a:solidFill>
                  <a:srgbClr val="4F5D6A"/>
                </a:solidFill>
                <a:latin typeface="Consolas"/>
              </a:rPr>
              <a:t>144</a:t>
            </a:r>
          </a:p>
          <a:p>
            <a:pPr algn="r">
              <a:lnSpc>
                <a:spcPct val="100000"/>
              </a:lnSpc>
            </a:pPr>
            <a:r>
              <a:rPr sz="1500">
                <a:solidFill>
                  <a:srgbClr val="4F5D6A"/>
                </a:solidFill>
                <a:latin typeface="Consolas"/>
              </a:rPr>
              <a:t>145</a:t>
            </a:r>
          </a:p>
          <a:p>
            <a:pPr algn="r">
              <a:lnSpc>
                <a:spcPct val="100000"/>
              </a:lnSpc>
            </a:pPr>
            <a:r>
              <a:rPr sz="1500">
                <a:solidFill>
                  <a:srgbClr val="4F5D6A"/>
                </a:solidFill>
                <a:latin typeface="Consolas"/>
              </a:rPr>
              <a:t>146</a:t>
            </a:r>
          </a:p>
          <a:p>
            <a:pPr algn="r">
              <a:lnSpc>
                <a:spcPct val="100000"/>
              </a:lnSpc>
            </a:pPr>
            <a:r>
              <a:rPr sz="1500">
                <a:solidFill>
                  <a:srgbClr val="4F5D6A"/>
                </a:solidFill>
                <a:latin typeface="Consolas"/>
              </a:rPr>
              <a:t>147</a:t>
            </a:r>
          </a:p>
          <a:p>
            <a:pPr algn="r">
              <a:lnSpc>
                <a:spcPct val="100000"/>
              </a:lnSpc>
            </a:pPr>
            <a:r>
              <a:rPr sz="1500">
                <a:solidFill>
                  <a:srgbClr val="4F5D6A"/>
                </a:solidFill>
                <a:latin typeface="Consolas"/>
              </a:rPr>
              <a:t>148</a:t>
            </a:r>
          </a:p>
          <a:p>
            <a:pPr algn="r">
              <a:lnSpc>
                <a:spcPct val="100000"/>
              </a:lnSpc>
            </a:pPr>
            <a:r>
              <a:rPr sz="1500">
                <a:solidFill>
                  <a:srgbClr val="4F5D6A"/>
                </a:solidFill>
                <a:latin typeface="Consolas"/>
              </a:rPr>
              <a:t>149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41063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734F9640-3831-420A-AE34-86874E87355C}"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Likelihood weighting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def make_chain(n): &quot;&quot;&quot;X1 -&gt; X2 -&gt; ... -&gt; Xn: a service dependency chain.&quot;&quot;&quot; net = {&quot;X1&quot;: ([], {(): 0.3})} for i in range(2, n + 1): net[&quot;X%d&quot; % i] = ([&quot;X%d&quot; % (i - 1)], {(True,): 0.8, (False,): 0.1}) return net, [&quot;X%d&quot; % i for i in range(1, n + 1)]"/>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make_chain</a:t>
            </a:r>
            <a:r>
              <a:rPr sz="2000" i="0">
                <a:solidFill>
                  <a:srgbClr val="AEB6BF"/>
                </a:solidFill>
                <a:latin typeface="Consolas"/>
              </a:rPr>
              <a:t>(</a:t>
            </a:r>
            <a:r>
              <a:rPr sz="2000" i="0">
                <a:solidFill>
                  <a:srgbClr val="E8EDF2"/>
                </a:solidFill>
                <a:latin typeface="Consolas"/>
              </a:rPr>
              <a:t>n</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"""X1 -&gt; X2 -&gt; ... -&gt; Xn: a service dependency chain."""</a:t>
            </a:r>
          </a:p>
          <a:p>
            <a:pPr>
              <a:lnSpc>
                <a:spcPct val="100000"/>
              </a:lnSpc>
              <a:spcAft>
                <a:spcPts val="0"/>
              </a:spcAft>
            </a:pPr>
            <a:r>
              <a:rPr sz="2000" i="0">
                <a:solidFill>
                  <a:srgbClr val="E8EDF2"/>
                </a:solidFill>
                <a:latin typeface="Consolas"/>
              </a:rPr>
              <a:t>    </a:t>
            </a:r>
            <a:r>
              <a:rPr sz="2000" i="0">
                <a:solidFill>
                  <a:srgbClr val="E8EDF2"/>
                </a:solidFill>
                <a:latin typeface="Consolas"/>
              </a:rPr>
              <a:t>net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X1</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0.3</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i</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F7DC6F"/>
                </a:solidFill>
                <a:latin typeface="Consolas"/>
              </a:rPr>
              <a:t>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net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X</a:t>
            </a:r>
            <a:r>
              <a:rPr sz="2000" i="0">
                <a:solidFill>
                  <a:srgbClr val="7DCEA0"/>
                </a:solidFill>
                <a:latin typeface="Consolas"/>
              </a:rPr>
              <a:t>%d</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i</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X</a:t>
            </a:r>
            <a:r>
              <a:rPr sz="2000" i="0">
                <a:solidFill>
                  <a:srgbClr val="7DCEA0"/>
                </a:solidFill>
                <a:latin typeface="Consolas"/>
              </a:rPr>
              <a:t>%d</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i</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5DADE2"/>
                </a:solidFill>
                <a:latin typeface="Consolas"/>
              </a:rPr>
              <a:t>True</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0.8</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5DADE2"/>
                </a:solidFill>
                <a:latin typeface="Consolas"/>
              </a:rPr>
              <a:t>False</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0.1</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return</a:t>
            </a:r>
            <a:r>
              <a:rPr sz="2000" i="0">
                <a:solidFill>
                  <a:srgbClr val="E8EDF2"/>
                </a:solidFill>
                <a:latin typeface="Consolas"/>
              </a:rPr>
              <a:t> </a:t>
            </a:r>
            <a:r>
              <a:rPr sz="2000" i="0">
                <a:solidFill>
                  <a:srgbClr val="E8EDF2"/>
                </a:solidFill>
                <a:latin typeface="Consolas"/>
              </a:rPr>
              <a:t>net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X</a:t>
            </a:r>
            <a:r>
              <a:rPr sz="2000" i="0">
                <a:solidFill>
                  <a:srgbClr val="7DCEA0"/>
                </a:solidFill>
                <a:latin typeface="Consolas"/>
              </a:rPr>
              <a:t>%d</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i</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i</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C39BD3"/>
                </a:solidFill>
                <a:latin typeface="Consolas"/>
              </a:rPr>
              <a:t>range</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1</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152</a:t>
            </a:r>
          </a:p>
          <a:p>
            <a:pPr algn="r">
              <a:lnSpc>
                <a:spcPct val="100000"/>
              </a:lnSpc>
            </a:pPr>
            <a:r>
              <a:rPr sz="2000">
                <a:solidFill>
                  <a:srgbClr val="4F5D6A"/>
                </a:solidFill>
                <a:latin typeface="Consolas"/>
              </a:rPr>
              <a:t>153</a:t>
            </a:r>
          </a:p>
          <a:p>
            <a:pPr algn="r">
              <a:lnSpc>
                <a:spcPct val="100000"/>
              </a:lnSpc>
            </a:pPr>
            <a:r>
              <a:rPr sz="2000">
                <a:solidFill>
                  <a:srgbClr val="4F5D6A"/>
                </a:solidFill>
                <a:latin typeface="Consolas"/>
              </a:rPr>
              <a:t>154</a:t>
            </a:r>
          </a:p>
          <a:p>
            <a:pPr algn="r">
              <a:lnSpc>
                <a:spcPct val="100000"/>
              </a:lnSpc>
            </a:pPr>
            <a:r>
              <a:rPr sz="2000">
                <a:solidFill>
                  <a:srgbClr val="4F5D6A"/>
                </a:solidFill>
                <a:latin typeface="Consolas"/>
              </a:rPr>
              <a:t>155</a:t>
            </a:r>
          </a:p>
          <a:p>
            <a:pPr algn="r">
              <a:lnSpc>
                <a:spcPct val="100000"/>
              </a:lnSpc>
            </a:pPr>
            <a:r>
              <a:rPr sz="2000">
                <a:solidFill>
                  <a:srgbClr val="4F5D6A"/>
                </a:solidFill>
                <a:latin typeface="Consolas"/>
              </a:rPr>
              <a:t>156</a:t>
            </a:r>
          </a:p>
          <a:p>
            <a:pPr algn="r">
              <a:lnSpc>
                <a:spcPct val="100000"/>
              </a:lnSpc>
            </a:pPr>
            <a:r>
              <a:rPr sz="2000">
                <a:solidFill>
                  <a:srgbClr val="4F5D6A"/>
                </a:solidFill>
                <a:latin typeface="Consolas"/>
              </a:rPr>
              <a:t>157</a:t>
            </a:r>
          </a:p>
          <a:p>
            <a:pPr algn="r">
              <a:lnSpc>
                <a:spcPct val="100000"/>
              </a:lnSpc>
            </a:pPr>
            <a:r>
              <a:rPr sz="2000">
                <a:solidFill>
                  <a:srgbClr val="4F5D6A"/>
                </a:solidFill>
                <a:latin typeface="Consolas"/>
              </a:rPr>
              <a:t>158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4969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0BB52CA9-AE1D-41D9-9C46-97CD0E61DF7A}" type="slidenum">
              <a:rPr lang="en-GB" sz="1000">
                <a:solidFill>
                  <a:srgbClr val="8795A1"/>
                </a:solidFill>
                <a:latin typeface="Segoe UI"/>
              </a:rPr>
              <a:t>33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Likelihood weighting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if __name__ == &quot;__main__&quot;: print(&quot;variables: %d full joint entries: %d&quot; % (len(ORDER), 2 ** len(ORDER))) print(&quot;numbers the network stores: %d&quot; % sum(len(NET[n][1]) for n in ORDER)) print() ev = {&quot;Rollback&quot;: True} exact, terms = enumerate_query(NET, ORDER, &quot;Rushed&quot;, ev) ve, ops = var_elim(NET, ORDER, &quot;Rushed&quot;, ev) print(&quot;P(Rushed) = %.4f (the prior)&quot; % 0.30) print(&quot;P(Rushed | Rollback) = %.5f&quot; % exact) assert abs(exact - ve) &lt; 1e-9 print() print(&quot;method answer work&quot;) print(&quot;-&quot; * 48) print(&quot;enumeration (exact) %9.5f %4d terms&quot; % (exact, terms)) print(&quot;variable elimination (exact) %9.5f %4d ops&quot; % (ve, ops))"/>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__name__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__main__</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variables: </a:t>
            </a:r>
            <a:r>
              <a:rPr sz="1300" i="0">
                <a:solidFill>
                  <a:srgbClr val="7DCEA0"/>
                </a:solidFill>
                <a:latin typeface="Consolas"/>
              </a:rPr>
              <a:t>%d</a:t>
            </a:r>
            <a:r>
              <a:rPr sz="1300" i="0">
                <a:solidFill>
                  <a:srgbClr val="7DCEA0"/>
                </a:solidFill>
                <a:latin typeface="Consolas"/>
              </a:rPr>
              <a:t>   full joint entries: </a:t>
            </a:r>
            <a:r>
              <a:rPr sz="1300" i="0">
                <a:solidFill>
                  <a:srgbClr val="7DCEA0"/>
                </a:solidFill>
                <a:latin typeface="Consolas"/>
              </a:rPr>
              <a:t>%d</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ORDER</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a:t>
            </a:r>
            <a:r>
              <a:rPr sz="1300" i="0">
                <a:solidFill>
                  <a:srgbClr val="E8EDF2"/>
                </a:solidFill>
                <a:latin typeface="Consolas"/>
              </a:rPr>
              <a:t> </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ORDER</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numbers the network stores: </a:t>
            </a:r>
            <a:r>
              <a:rPr sz="1300" i="0">
                <a:solidFill>
                  <a:srgbClr val="7DCEA0"/>
                </a:solidFill>
                <a:latin typeface="Consolas"/>
              </a:rPr>
              <a:t>%d</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sum</a:t>
            </a:r>
            <a:r>
              <a:rPr sz="1300" i="0">
                <a:solidFill>
                  <a:srgbClr val="AEB6BF"/>
                </a:solidFill>
                <a:latin typeface="Consolas"/>
              </a:rPr>
              <a:t>(</a:t>
            </a:r>
            <a:r>
              <a:rPr sz="1300" i="0">
                <a:solidFill>
                  <a:srgbClr val="C39BD3"/>
                </a:solidFill>
                <a:latin typeface="Consolas"/>
              </a:rPr>
              <a:t>len</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n</a:t>
            </a:r>
            <a:r>
              <a:rPr sz="1300" i="0">
                <a:solidFill>
                  <a:srgbClr val="AEB6BF"/>
                </a:solidFill>
                <a:latin typeface="Consolas"/>
              </a:rPr>
              <a:t>]</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n</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ev</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Rollback</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True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exact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terms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enumerate_query</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Rushed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ev</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ve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var_elim</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Rushed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ev</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P(Rushed)                = </a:t>
            </a:r>
            <a:r>
              <a:rPr sz="1300" i="0">
                <a:solidFill>
                  <a:srgbClr val="7DCEA0"/>
                </a:solidFill>
                <a:latin typeface="Consolas"/>
              </a:rPr>
              <a:t>%.4f</a:t>
            </a:r>
            <a:r>
              <a:rPr sz="1300" i="0">
                <a:solidFill>
                  <a:srgbClr val="7DCEA0"/>
                </a:solidFill>
                <a:latin typeface="Consolas"/>
              </a:rPr>
              <a:t>   (the prior)</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0.30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P(Rushed | Rollback)     = </a:t>
            </a:r>
            <a:r>
              <a:rPr sz="1300" i="0">
                <a:solidFill>
                  <a:srgbClr val="7DCEA0"/>
                </a:solidFill>
                <a:latin typeface="Consolas"/>
              </a:rPr>
              <a:t>%.5f</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exact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C39BD3"/>
                </a:solidFill>
                <a:latin typeface="Consolas"/>
              </a:rPr>
              <a:t>abs</a:t>
            </a:r>
            <a:r>
              <a:rPr sz="1300" i="0">
                <a:solidFill>
                  <a:srgbClr val="AEB6BF"/>
                </a:solidFill>
                <a:latin typeface="Consolas"/>
              </a:rPr>
              <a:t>(</a:t>
            </a:r>
            <a:r>
              <a:rPr sz="1300" i="0">
                <a:solidFill>
                  <a:srgbClr val="E8EDF2"/>
                </a:solidFill>
                <a:latin typeface="Consolas"/>
              </a:rPr>
              <a:t>exact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ve</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F7DC6F"/>
                </a:solidFill>
                <a:latin typeface="Consolas"/>
              </a:rPr>
              <a:t>1e-9</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method                          answer    work</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48</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enumeration (exact)           </a:t>
            </a:r>
            <a:r>
              <a:rPr sz="1300" i="0">
                <a:solidFill>
                  <a:srgbClr val="7DCEA0"/>
                </a:solidFill>
                <a:latin typeface="Consolas"/>
              </a:rPr>
              <a:t>%9.5f</a:t>
            </a:r>
            <a:r>
              <a:rPr sz="1300" i="0">
                <a:solidFill>
                  <a:srgbClr val="7DCEA0"/>
                </a:solidFill>
                <a:latin typeface="Consolas"/>
              </a:rPr>
              <a:t>  </a:t>
            </a:r>
            <a:r>
              <a:rPr sz="1300" i="0">
                <a:solidFill>
                  <a:srgbClr val="7DCEA0"/>
                </a:solidFill>
                <a:latin typeface="Consolas"/>
              </a:rPr>
              <a:t>%4d</a:t>
            </a:r>
            <a:r>
              <a:rPr sz="1300" i="0">
                <a:solidFill>
                  <a:srgbClr val="7DCEA0"/>
                </a:solidFill>
                <a:latin typeface="Consolas"/>
              </a:rPr>
              <a:t> terms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exact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terms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variable elimination (exact)  </a:t>
            </a:r>
            <a:r>
              <a:rPr sz="1300" i="0">
                <a:solidFill>
                  <a:srgbClr val="7DCEA0"/>
                </a:solidFill>
                <a:latin typeface="Consolas"/>
              </a:rPr>
              <a:t>%9.5f</a:t>
            </a:r>
            <a:r>
              <a:rPr sz="1300" i="0">
                <a:solidFill>
                  <a:srgbClr val="7DCEA0"/>
                </a:solidFill>
                <a:latin typeface="Consolas"/>
              </a:rPr>
              <a:t>  </a:t>
            </a:r>
            <a:r>
              <a:rPr sz="1300" i="0">
                <a:solidFill>
                  <a:srgbClr val="7DCEA0"/>
                </a:solidFill>
                <a:latin typeface="Consolas"/>
              </a:rPr>
              <a:t>%4d</a:t>
            </a:r>
            <a:r>
              <a:rPr sz="1300" i="0">
                <a:solidFill>
                  <a:srgbClr val="7DCEA0"/>
                </a:solidFill>
                <a:latin typeface="Consolas"/>
              </a:rPr>
              <a:t> ops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ve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ops</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161</a:t>
            </a:r>
          </a:p>
          <a:p>
            <a:pPr algn="r">
              <a:lnSpc>
                <a:spcPct val="100000"/>
              </a:lnSpc>
            </a:pPr>
            <a:r>
              <a:rPr sz="1300">
                <a:solidFill>
                  <a:srgbClr val="4F5D6A"/>
                </a:solidFill>
                <a:latin typeface="Consolas"/>
              </a:rPr>
              <a:t>162</a:t>
            </a:r>
          </a:p>
          <a:p>
            <a:pPr algn="r">
              <a:lnSpc>
                <a:spcPct val="100000"/>
              </a:lnSpc>
            </a:pPr>
            <a:r>
              <a:rPr sz="1300">
                <a:solidFill>
                  <a:srgbClr val="4F5D6A"/>
                </a:solidFill>
                <a:latin typeface="Consolas"/>
              </a:rPr>
              <a:t>163</a:t>
            </a:r>
          </a:p>
          <a:p>
            <a:pPr algn="r">
              <a:lnSpc>
                <a:spcPct val="100000"/>
              </a:lnSpc>
            </a:pPr>
            <a:r>
              <a:rPr sz="1300">
                <a:solidFill>
                  <a:srgbClr val="4F5D6A"/>
                </a:solidFill>
                <a:latin typeface="Consolas"/>
              </a:rPr>
              <a:t>164</a:t>
            </a:r>
          </a:p>
          <a:p>
            <a:pPr algn="r">
              <a:lnSpc>
                <a:spcPct val="100000"/>
              </a:lnSpc>
            </a:pPr>
            <a:r>
              <a:rPr sz="1300">
                <a:solidFill>
                  <a:srgbClr val="4F5D6A"/>
                </a:solidFill>
                <a:latin typeface="Consolas"/>
              </a:rPr>
              <a:t>165</a:t>
            </a:r>
          </a:p>
          <a:p>
            <a:pPr algn="r">
              <a:lnSpc>
                <a:spcPct val="100000"/>
              </a:lnSpc>
            </a:pPr>
            <a:r>
              <a:rPr sz="1300">
                <a:solidFill>
                  <a:srgbClr val="4F5D6A"/>
                </a:solidFill>
                <a:latin typeface="Consolas"/>
              </a:rPr>
              <a:t>166</a:t>
            </a:r>
          </a:p>
          <a:p>
            <a:pPr algn="r">
              <a:lnSpc>
                <a:spcPct val="100000"/>
              </a:lnSpc>
            </a:pPr>
            <a:r>
              <a:rPr sz="1300">
                <a:solidFill>
                  <a:srgbClr val="4F5D6A"/>
                </a:solidFill>
                <a:latin typeface="Consolas"/>
              </a:rPr>
              <a:t>167</a:t>
            </a:r>
          </a:p>
          <a:p>
            <a:pPr algn="r">
              <a:lnSpc>
                <a:spcPct val="100000"/>
              </a:lnSpc>
            </a:pPr>
            <a:r>
              <a:rPr sz="1300">
                <a:solidFill>
                  <a:srgbClr val="4F5D6A"/>
                </a:solidFill>
                <a:latin typeface="Consolas"/>
              </a:rPr>
              <a:t>168</a:t>
            </a:r>
          </a:p>
          <a:p>
            <a:pPr algn="r">
              <a:lnSpc>
                <a:spcPct val="100000"/>
              </a:lnSpc>
            </a:pPr>
            <a:r>
              <a:rPr sz="1300">
                <a:solidFill>
                  <a:srgbClr val="4F5D6A"/>
                </a:solidFill>
                <a:latin typeface="Consolas"/>
              </a:rPr>
              <a:t>169</a:t>
            </a:r>
          </a:p>
          <a:p>
            <a:pPr algn="r">
              <a:lnSpc>
                <a:spcPct val="100000"/>
              </a:lnSpc>
            </a:pPr>
            <a:r>
              <a:rPr sz="1300">
                <a:solidFill>
                  <a:srgbClr val="4F5D6A"/>
                </a:solidFill>
                <a:latin typeface="Consolas"/>
              </a:rPr>
              <a:t>170</a:t>
            </a:r>
          </a:p>
          <a:p>
            <a:pPr algn="r">
              <a:lnSpc>
                <a:spcPct val="100000"/>
              </a:lnSpc>
            </a:pPr>
            <a:r>
              <a:rPr sz="1300">
                <a:solidFill>
                  <a:srgbClr val="4F5D6A"/>
                </a:solidFill>
                <a:latin typeface="Consolas"/>
              </a:rPr>
              <a:t>171</a:t>
            </a:r>
          </a:p>
          <a:p>
            <a:pPr algn="r">
              <a:lnSpc>
                <a:spcPct val="100000"/>
              </a:lnSpc>
            </a:pPr>
            <a:r>
              <a:rPr sz="1300">
                <a:solidFill>
                  <a:srgbClr val="4F5D6A"/>
                </a:solidFill>
                <a:latin typeface="Consolas"/>
              </a:rPr>
              <a:t>172</a:t>
            </a:r>
          </a:p>
          <a:p>
            <a:pPr algn="r">
              <a:lnSpc>
                <a:spcPct val="100000"/>
              </a:lnSpc>
            </a:pPr>
            <a:r>
              <a:rPr sz="1300">
                <a:solidFill>
                  <a:srgbClr val="4F5D6A"/>
                </a:solidFill>
                <a:latin typeface="Consolas"/>
              </a:rPr>
              <a:t>173</a:t>
            </a:r>
          </a:p>
          <a:p>
            <a:pPr algn="r">
              <a:lnSpc>
                <a:spcPct val="100000"/>
              </a:lnSpc>
            </a:pPr>
            <a:r>
              <a:rPr sz="1300">
                <a:solidFill>
                  <a:srgbClr val="4F5D6A"/>
                </a:solidFill>
                <a:latin typeface="Consolas"/>
              </a:rPr>
              <a:t>174</a:t>
            </a:r>
          </a:p>
          <a:p>
            <a:pPr algn="r">
              <a:lnSpc>
                <a:spcPct val="100000"/>
              </a:lnSpc>
            </a:pPr>
            <a:r>
              <a:rPr sz="1300">
                <a:solidFill>
                  <a:srgbClr val="4F5D6A"/>
                </a:solidFill>
                <a:latin typeface="Consolas"/>
              </a:rPr>
              <a:t>175</a:t>
            </a:r>
          </a:p>
          <a:p>
            <a:pPr algn="r">
              <a:lnSpc>
                <a:spcPct val="100000"/>
              </a:lnSpc>
            </a:pPr>
            <a:r>
              <a:rPr sz="1300">
                <a:solidFill>
                  <a:srgbClr val="4F5D6A"/>
                </a:solidFill>
                <a:latin typeface="Consolas"/>
              </a:rPr>
              <a:t>176</a:t>
            </a:r>
          </a:p>
          <a:p>
            <a:pPr algn="r">
              <a:lnSpc>
                <a:spcPct val="100000"/>
              </a:lnSpc>
            </a:pPr>
            <a:r>
              <a:rPr sz="1300">
                <a:solidFill>
                  <a:srgbClr val="4F5D6A"/>
                </a:solidFill>
                <a:latin typeface="Consolas"/>
              </a:rPr>
              <a:t>177</a:t>
            </a:r>
          </a:p>
          <a:p>
            <a:pPr algn="r">
              <a:lnSpc>
                <a:spcPct val="100000"/>
              </a:lnSpc>
            </a:pPr>
            <a:r>
              <a:rPr sz="1300">
                <a:solidFill>
                  <a:srgbClr val="4F5D6A"/>
                </a:solidFill>
                <a:latin typeface="Consolas"/>
              </a:rPr>
              <a:t>178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88874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95DDA219-F65F-4299-816D-7D42C4A41D29}" type="slidenum">
              <a:rPr lang="en-GB" sz="1000">
                <a:solidFill>
                  <a:srgbClr val="8795A1"/>
                </a:solidFill>
                <a:latin typeface="Segoe UI"/>
              </a:rPr>
              <a:t>34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Likelihood weighting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rng = random.Random(0) rej, kept = rejection(NET, ORDER, &quot;Rushed&quot;, ev, 20000, rng) rng = random.Random(0) lw, _ = likelihood_weighting(NET, ORDER, &quot;Rushed&quot;, ev, 20000, rng) print(&quot;rejection, 20000 samples %9.4f %4d kept (%.0f%%)&quot; % (rej, kept, 100.0 * kept / 20000)) print(&quot;likelihood weighting, 20000 %9.4f all samples used&quot; % lw) print() print(&quot; errors: rejection %.4f, weighting %.4f&quot; % (abs(rej - exact), abs(lw - exact))) assert abs(lw - exact) &lt; 0.01 and abs(rej - exact) &lt; 0.02 # variable elimination LOSES on a network this small assert ops &gt; terms print() print(&quot;Note that variable elimination used MORE work than&quot;) print(&quot;enumeration here (%d against %d). Its advantage is&quot; % (ops, terms)) print(&quot;asymptotic, and six variables is not asymptotic.&quot;)"/>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E8EDF2"/>
                </a:solidFill>
                <a:latin typeface="Consolas"/>
              </a:rPr>
              <a:t>rng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Random</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rej</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kept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rejection</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Rushed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ev</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20000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rng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random</a:t>
            </a:r>
            <a:r>
              <a:rPr sz="1300" i="0">
                <a:solidFill>
                  <a:srgbClr val="AEB6BF"/>
                </a:solidFill>
                <a:latin typeface="Consolas"/>
              </a:rPr>
              <a:t>.</a:t>
            </a:r>
            <a:r>
              <a:rPr sz="1300" i="0">
                <a:solidFill>
                  <a:srgbClr val="E8EDF2"/>
                </a:solidFill>
                <a:latin typeface="Consolas"/>
              </a:rPr>
              <a:t>Random</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lw</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_</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likelihood_weighting</a:t>
            </a:r>
            <a:r>
              <a:rPr sz="1300" i="0">
                <a:solidFill>
                  <a:srgbClr val="AEB6BF"/>
                </a:solidFill>
                <a:latin typeface="Consolas"/>
              </a:rPr>
              <a:t>(</a:t>
            </a:r>
            <a:r>
              <a:rPr sz="1300" i="0">
                <a:solidFill>
                  <a:srgbClr val="E8EDF2"/>
                </a:solidFill>
                <a:latin typeface="Consolas"/>
              </a:rPr>
              <a:t>NET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ORDER</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Rushed</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ev</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20000</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rng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rejection, 20000 samples      </a:t>
            </a:r>
            <a:r>
              <a:rPr sz="1300" i="0">
                <a:solidFill>
                  <a:srgbClr val="7DCEA0"/>
                </a:solidFill>
                <a:latin typeface="Consolas"/>
              </a:rPr>
              <a:t>%9.4f</a:t>
            </a:r>
            <a:r>
              <a:rPr sz="1300" i="0">
                <a:solidFill>
                  <a:srgbClr val="7DCEA0"/>
                </a:solidFill>
                <a:latin typeface="Consolas"/>
              </a:rPr>
              <a:t>  </a:t>
            </a:r>
            <a:r>
              <a:rPr sz="1300" i="0">
                <a:solidFill>
                  <a:srgbClr val="7DCEA0"/>
                </a:solidFill>
                <a:latin typeface="Consolas"/>
              </a:rPr>
              <a:t>%4d</a:t>
            </a:r>
            <a:r>
              <a:rPr sz="1300" i="0">
                <a:solidFill>
                  <a:srgbClr val="7DCEA0"/>
                </a:solidFill>
                <a:latin typeface="Consolas"/>
              </a:rPr>
              <a:t> kept (</a:t>
            </a:r>
            <a:r>
              <a:rPr sz="1300" i="0">
                <a:solidFill>
                  <a:srgbClr val="7DCEA0"/>
                </a:solidFill>
                <a:latin typeface="Consolas"/>
              </a:rPr>
              <a:t>%.0f</a:t>
            </a:r>
            <a:r>
              <a:rPr sz="1300" i="0">
                <a:solidFill>
                  <a:srgbClr val="7DCEA0"/>
                </a:solidFill>
                <a:latin typeface="Consolas"/>
              </a:rPr>
              <a:t>%%</a:t>
            </a:r>
            <a:r>
              <a:rPr sz="1300" i="0">
                <a:solidFill>
                  <a:srgbClr val="7DCEA0"/>
                </a:solidFill>
                <a:latin typeface="Consolas"/>
              </a:rPr>
              <a:t>)</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rej</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kept</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100.0</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kept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20000</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likelihood weighting, 20000   </a:t>
            </a:r>
            <a:r>
              <a:rPr sz="1300" i="0">
                <a:solidFill>
                  <a:srgbClr val="7DCEA0"/>
                </a:solidFill>
                <a:latin typeface="Consolas"/>
              </a:rPr>
              <a:t>%9.4f</a:t>
            </a:r>
            <a:r>
              <a:rPr sz="1300" i="0">
                <a:solidFill>
                  <a:srgbClr val="7DCEA0"/>
                </a:solidFill>
                <a:latin typeface="Consolas"/>
              </a:rPr>
              <a:t>  all samples used</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lw</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   errors: rejection </a:t>
            </a:r>
            <a:r>
              <a:rPr sz="1300" i="0">
                <a:solidFill>
                  <a:srgbClr val="7DCEA0"/>
                </a:solidFill>
                <a:latin typeface="Consolas"/>
              </a:rPr>
              <a:t>%.4f</a:t>
            </a:r>
            <a:r>
              <a:rPr sz="1300" i="0">
                <a:solidFill>
                  <a:srgbClr val="7DCEA0"/>
                </a:solidFill>
                <a:latin typeface="Consolas"/>
              </a:rPr>
              <a:t>, weighting </a:t>
            </a:r>
            <a:r>
              <a:rPr sz="1300" i="0">
                <a:solidFill>
                  <a:srgbClr val="7DCEA0"/>
                </a:solidFill>
                <a:latin typeface="Consolas"/>
              </a:rPr>
              <a:t>%.4f</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C39BD3"/>
                </a:solidFill>
                <a:latin typeface="Consolas"/>
              </a:rPr>
              <a:t>abs</a:t>
            </a:r>
            <a:r>
              <a:rPr sz="1300" i="0">
                <a:solidFill>
                  <a:srgbClr val="AEB6BF"/>
                </a:solidFill>
                <a:latin typeface="Consolas"/>
              </a:rPr>
              <a:t>(</a:t>
            </a:r>
            <a:r>
              <a:rPr sz="1300" i="0">
                <a:solidFill>
                  <a:srgbClr val="E8EDF2"/>
                </a:solidFill>
                <a:latin typeface="Consolas"/>
              </a:rPr>
              <a:t>rej</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exact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abs</a:t>
            </a:r>
            <a:r>
              <a:rPr sz="1300" i="0">
                <a:solidFill>
                  <a:srgbClr val="AEB6BF"/>
                </a:solidFill>
                <a:latin typeface="Consolas"/>
              </a:rPr>
              <a:t>(</a:t>
            </a:r>
            <a:r>
              <a:rPr sz="1300" i="0">
                <a:solidFill>
                  <a:srgbClr val="E8EDF2"/>
                </a:solidFill>
                <a:latin typeface="Consolas"/>
              </a:rPr>
              <a:t>lw</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exact</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C39BD3"/>
                </a:solidFill>
                <a:latin typeface="Consolas"/>
              </a:rPr>
              <a:t>abs</a:t>
            </a:r>
            <a:r>
              <a:rPr sz="1300" i="0">
                <a:solidFill>
                  <a:srgbClr val="AEB6BF"/>
                </a:solidFill>
                <a:latin typeface="Consolas"/>
              </a:rPr>
              <a:t>(</a:t>
            </a:r>
            <a:r>
              <a:rPr sz="1300" i="0">
                <a:solidFill>
                  <a:srgbClr val="E8EDF2"/>
                </a:solidFill>
                <a:latin typeface="Consolas"/>
              </a:rPr>
              <a:t>lw</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exact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F7DC6F"/>
                </a:solidFill>
                <a:latin typeface="Consolas"/>
              </a:rPr>
              <a:t>0.01</a:t>
            </a:r>
            <a:r>
              <a:rPr sz="1300" i="0">
                <a:solidFill>
                  <a:srgbClr val="E8EDF2"/>
                </a:solidFill>
                <a:latin typeface="Consolas"/>
              </a:rPr>
              <a:t> </a:t>
            </a:r>
            <a:r>
              <a:rPr sz="1300" i="0">
                <a:solidFill>
                  <a:srgbClr val="AEB6BF"/>
                </a:solidFill>
                <a:latin typeface="Consolas"/>
              </a:rPr>
              <a:t>and</a:t>
            </a:r>
            <a:r>
              <a:rPr sz="1300" i="0">
                <a:solidFill>
                  <a:srgbClr val="E8EDF2"/>
                </a:solidFill>
                <a:latin typeface="Consolas"/>
              </a:rPr>
              <a:t> </a:t>
            </a:r>
            <a:r>
              <a:rPr sz="1300" i="0">
                <a:solidFill>
                  <a:srgbClr val="C39BD3"/>
                </a:solidFill>
                <a:latin typeface="Consolas"/>
              </a:rPr>
              <a:t>abs</a:t>
            </a:r>
            <a:r>
              <a:rPr sz="1300" i="0">
                <a:solidFill>
                  <a:srgbClr val="AEB6BF"/>
                </a:solidFill>
                <a:latin typeface="Consolas"/>
              </a:rPr>
              <a:t>(</a:t>
            </a:r>
            <a:r>
              <a:rPr sz="1300" i="0">
                <a:solidFill>
                  <a:srgbClr val="E8EDF2"/>
                </a:solidFill>
                <a:latin typeface="Consolas"/>
              </a:rPr>
              <a:t>rej</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exact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&lt;</a:t>
            </a:r>
            <a:r>
              <a:rPr sz="1300" i="0">
                <a:solidFill>
                  <a:srgbClr val="E8EDF2"/>
                </a:solidFill>
                <a:latin typeface="Consolas"/>
              </a:rPr>
              <a:t> </a:t>
            </a:r>
            <a:r>
              <a:rPr sz="1300" i="0">
                <a:solidFill>
                  <a:srgbClr val="F7DC6F"/>
                </a:solidFill>
                <a:latin typeface="Consolas"/>
              </a:rPr>
              <a:t>0.02</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1">
                <a:solidFill>
                  <a:srgbClr val="8795A1"/>
                </a:solidFill>
                <a:latin typeface="Consolas"/>
              </a:rPr>
              <a:t># variable elimination LOSES on a network this small</a:t>
            </a:r>
          </a:p>
          <a:p>
            <a:pPr>
              <a:lnSpc>
                <a:spcPct val="100000"/>
              </a:lnSpc>
              <a:spcAft>
                <a:spcPts val="0"/>
              </a:spcAft>
            </a:pPr>
            <a:r>
              <a:rPr sz="1300" i="0">
                <a:solidFill>
                  <a:srgbClr val="E8EDF2"/>
                </a:solidFill>
                <a:latin typeface="Consolas"/>
              </a:rPr>
              <a:t>    </a:t>
            </a:r>
            <a:r>
              <a:rPr sz="1300" i="0">
                <a:solidFill>
                  <a:srgbClr val="5DADE2"/>
                </a:solidFill>
                <a:latin typeface="Consolas"/>
              </a:rPr>
              <a:t>assert</a:t>
            </a:r>
            <a:r>
              <a:rPr sz="1300" i="0">
                <a:solidFill>
                  <a:srgbClr val="E8EDF2"/>
                </a:solidFill>
                <a:latin typeface="Consolas"/>
              </a:rPr>
              <a:t> </a:t>
            </a:r>
            <a:r>
              <a:rPr sz="1300" i="0">
                <a:solidFill>
                  <a:srgbClr val="E8EDF2"/>
                </a:solidFill>
                <a:latin typeface="Consolas"/>
              </a:rPr>
              <a:t>ops</a:t>
            </a:r>
            <a:r>
              <a:rPr sz="1300" i="0">
                <a:solidFill>
                  <a:srgbClr val="E8EDF2"/>
                </a:solidFill>
                <a:latin typeface="Consolas"/>
              </a:rPr>
              <a:t> </a:t>
            </a:r>
            <a:r>
              <a:rPr sz="1300" i="0">
                <a:solidFill>
                  <a:srgbClr val="AEB6BF"/>
                </a:solidFill>
                <a:latin typeface="Consolas"/>
              </a:rPr>
              <a:t>&gt;</a:t>
            </a:r>
            <a:r>
              <a:rPr sz="1300" i="0">
                <a:solidFill>
                  <a:srgbClr val="E8EDF2"/>
                </a:solidFill>
                <a:latin typeface="Consolas"/>
              </a:rPr>
              <a:t> </a:t>
            </a:r>
            <a:r>
              <a:rPr sz="1300" i="0">
                <a:solidFill>
                  <a:srgbClr val="E8EDF2"/>
                </a:solidFill>
                <a:latin typeface="Consolas"/>
              </a:rPr>
              <a:t>terms</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Note that variable elimination used MORE work than</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enumeration here (</a:t>
            </a:r>
            <a:r>
              <a:rPr sz="1300" i="0">
                <a:solidFill>
                  <a:srgbClr val="7DCEA0"/>
                </a:solidFill>
                <a:latin typeface="Consolas"/>
              </a:rPr>
              <a:t>%d</a:t>
            </a:r>
            <a:r>
              <a:rPr sz="1300" i="0">
                <a:solidFill>
                  <a:srgbClr val="7DCEA0"/>
                </a:solidFill>
                <a:latin typeface="Consolas"/>
              </a:rPr>
              <a:t> against </a:t>
            </a:r>
            <a:r>
              <a:rPr sz="1300" i="0">
                <a:solidFill>
                  <a:srgbClr val="7DCEA0"/>
                </a:solidFill>
                <a:latin typeface="Consolas"/>
              </a:rPr>
              <a:t>%d</a:t>
            </a:r>
            <a:r>
              <a:rPr sz="1300" i="0">
                <a:solidFill>
                  <a:srgbClr val="7DCEA0"/>
                </a:solidFill>
                <a:latin typeface="Consolas"/>
              </a:rPr>
              <a:t>). Its advantage is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ops</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terms</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C39BD3"/>
                </a:solidFill>
                <a:latin typeface="Consolas"/>
              </a:rPr>
              <a:t>print</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asymptotic, and six variables is not asymptotic.</a:t>
            </a:r>
            <a:r>
              <a:rPr sz="1300" i="0">
                <a:solidFill>
                  <a:srgbClr val="7DCEA0"/>
                </a:solidFill>
                <a:latin typeface="Consolas"/>
              </a:rPr>
              <a:t>"</a:t>
            </a: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180</a:t>
            </a:r>
          </a:p>
          <a:p>
            <a:pPr algn="r">
              <a:lnSpc>
                <a:spcPct val="100000"/>
              </a:lnSpc>
            </a:pPr>
            <a:r>
              <a:rPr sz="1300">
                <a:solidFill>
                  <a:srgbClr val="4F5D6A"/>
                </a:solidFill>
                <a:latin typeface="Consolas"/>
              </a:rPr>
              <a:t>181</a:t>
            </a:r>
          </a:p>
          <a:p>
            <a:pPr algn="r">
              <a:lnSpc>
                <a:spcPct val="100000"/>
              </a:lnSpc>
            </a:pPr>
            <a:r>
              <a:rPr sz="1300">
                <a:solidFill>
                  <a:srgbClr val="4F5D6A"/>
                </a:solidFill>
                <a:latin typeface="Consolas"/>
              </a:rPr>
              <a:t>182</a:t>
            </a:r>
          </a:p>
          <a:p>
            <a:pPr algn="r">
              <a:lnSpc>
                <a:spcPct val="100000"/>
              </a:lnSpc>
            </a:pPr>
            <a:r>
              <a:rPr sz="1300">
                <a:solidFill>
                  <a:srgbClr val="4F5D6A"/>
                </a:solidFill>
                <a:latin typeface="Consolas"/>
              </a:rPr>
              <a:t>183</a:t>
            </a:r>
          </a:p>
          <a:p>
            <a:pPr algn="r">
              <a:lnSpc>
                <a:spcPct val="100000"/>
              </a:lnSpc>
            </a:pPr>
            <a:r>
              <a:rPr sz="1300">
                <a:solidFill>
                  <a:srgbClr val="4F5D6A"/>
                </a:solidFill>
                <a:latin typeface="Consolas"/>
              </a:rPr>
              <a:t>184</a:t>
            </a:r>
          </a:p>
          <a:p>
            <a:pPr algn="r">
              <a:lnSpc>
                <a:spcPct val="100000"/>
              </a:lnSpc>
            </a:pPr>
            <a:r>
              <a:rPr sz="1300">
                <a:solidFill>
                  <a:srgbClr val="4F5D6A"/>
                </a:solidFill>
                <a:latin typeface="Consolas"/>
              </a:rPr>
              <a:t>185</a:t>
            </a:r>
          </a:p>
          <a:p>
            <a:pPr algn="r">
              <a:lnSpc>
                <a:spcPct val="100000"/>
              </a:lnSpc>
            </a:pPr>
            <a:r>
              <a:rPr sz="1300">
                <a:solidFill>
                  <a:srgbClr val="4F5D6A"/>
                </a:solidFill>
                <a:latin typeface="Consolas"/>
              </a:rPr>
              <a:t>186</a:t>
            </a:r>
          </a:p>
          <a:p>
            <a:pPr algn="r">
              <a:lnSpc>
                <a:spcPct val="100000"/>
              </a:lnSpc>
            </a:pPr>
            <a:r>
              <a:rPr sz="1300">
                <a:solidFill>
                  <a:srgbClr val="4F5D6A"/>
                </a:solidFill>
                <a:latin typeface="Consolas"/>
              </a:rPr>
              <a:t>187</a:t>
            </a:r>
          </a:p>
          <a:p>
            <a:pPr algn="r">
              <a:lnSpc>
                <a:spcPct val="100000"/>
              </a:lnSpc>
            </a:pPr>
            <a:r>
              <a:rPr sz="1300">
                <a:solidFill>
                  <a:srgbClr val="4F5D6A"/>
                </a:solidFill>
                <a:latin typeface="Consolas"/>
              </a:rPr>
              <a:t>188</a:t>
            </a:r>
          </a:p>
          <a:p>
            <a:pPr algn="r">
              <a:lnSpc>
                <a:spcPct val="100000"/>
              </a:lnSpc>
            </a:pPr>
            <a:r>
              <a:rPr sz="1300">
                <a:solidFill>
                  <a:srgbClr val="4F5D6A"/>
                </a:solidFill>
                <a:latin typeface="Consolas"/>
              </a:rPr>
              <a:t>189</a:t>
            </a:r>
          </a:p>
          <a:p>
            <a:pPr algn="r">
              <a:lnSpc>
                <a:spcPct val="100000"/>
              </a:lnSpc>
            </a:pPr>
            <a:r>
              <a:rPr sz="1300">
                <a:solidFill>
                  <a:srgbClr val="4F5D6A"/>
                </a:solidFill>
                <a:latin typeface="Consolas"/>
              </a:rPr>
              <a:t>190</a:t>
            </a:r>
          </a:p>
          <a:p>
            <a:pPr algn="r">
              <a:lnSpc>
                <a:spcPct val="100000"/>
              </a:lnSpc>
            </a:pPr>
            <a:r>
              <a:rPr sz="1300">
                <a:solidFill>
                  <a:srgbClr val="4F5D6A"/>
                </a:solidFill>
                <a:latin typeface="Consolas"/>
              </a:rPr>
              <a:t>191</a:t>
            </a:r>
          </a:p>
          <a:p>
            <a:pPr algn="r">
              <a:lnSpc>
                <a:spcPct val="100000"/>
              </a:lnSpc>
            </a:pPr>
            <a:r>
              <a:rPr sz="1300">
                <a:solidFill>
                  <a:srgbClr val="4F5D6A"/>
                </a:solidFill>
                <a:latin typeface="Consolas"/>
              </a:rPr>
              <a:t>192</a:t>
            </a:r>
          </a:p>
          <a:p>
            <a:pPr algn="r">
              <a:lnSpc>
                <a:spcPct val="100000"/>
              </a:lnSpc>
            </a:pPr>
            <a:r>
              <a:rPr sz="1300">
                <a:solidFill>
                  <a:srgbClr val="4F5D6A"/>
                </a:solidFill>
                <a:latin typeface="Consolas"/>
              </a:rPr>
              <a:t>193</a:t>
            </a:r>
          </a:p>
          <a:p>
            <a:pPr algn="r">
              <a:lnSpc>
                <a:spcPct val="100000"/>
              </a:lnSpc>
            </a:pPr>
            <a:r>
              <a:rPr sz="1300">
                <a:solidFill>
                  <a:srgbClr val="4F5D6A"/>
                </a:solidFill>
                <a:latin typeface="Consolas"/>
              </a:rPr>
              <a:t>194</a:t>
            </a:r>
          </a:p>
          <a:p>
            <a:pPr algn="r">
              <a:lnSpc>
                <a:spcPct val="100000"/>
              </a:lnSpc>
            </a:pPr>
            <a:r>
              <a:rPr sz="1300">
                <a:solidFill>
                  <a:srgbClr val="4F5D6A"/>
                </a:solidFill>
                <a:latin typeface="Consolas"/>
              </a:rPr>
              <a:t>195</a:t>
            </a:r>
          </a:p>
          <a:p>
            <a:pPr algn="r">
              <a:lnSpc>
                <a:spcPct val="100000"/>
              </a:lnSpc>
            </a:pPr>
            <a:r>
              <a:rPr sz="1300">
                <a:solidFill>
                  <a:srgbClr val="4F5D6A"/>
                </a:solidFill>
                <a:latin typeface="Consolas"/>
              </a:rPr>
              <a:t>196</a:t>
            </a:r>
          </a:p>
          <a:p>
            <a:pPr algn="r">
              <a:lnSpc>
                <a:spcPct val="100000"/>
              </a:lnSpc>
            </a:pPr>
            <a:r>
              <a:rPr sz="1300">
                <a:solidFill>
                  <a:srgbClr val="4F5D6A"/>
                </a:solidFill>
                <a:latin typeface="Consolas"/>
              </a:rPr>
              <a:t>197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12779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96022420-22EA-440A-A6F3-1B6FBB7F4A3B}" type="slidenum">
              <a:rPr lang="en-GB" sz="1000">
                <a:solidFill>
                  <a:srgbClr val="8795A1"/>
                </a:solidFill>
                <a:latin typeface="Segoe UI"/>
              </a:rPr>
              <a:t>35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Explaining away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 explaining away ------------------------------------------- print() print(&quot;=== explaining away ===&quot;) prior = 0.30 given_d, _ = enumerate_query(NET, ORDER, &quot;Rushed&quot;, {&quot;Defect&quot;: True}) given_dj, _ = enumerate_query(NET, ORDER, &quot;Rushed&quot;, {&quot;Defect&quot;: True, &quot;Junior&quot;: True}) print(&quot; P(Rushed) = %.4f&quot; % prior) print(&quot; P(Rushed | Defect) = %.4f (rises)&quot; % given_d) print(&quot; P(Rushed | Defect, Junior) = %.4f (FALLS)&quot; % given_dj) assert given_d &gt; prior &gt; 0 and given_dj &lt; given_d print() print(&quot; The junior developer already accounts for the defect,&quot;) print(&quot; so less explaining is left for the rushed spec to do.&quot;) print(&quot; Two causes of one effect are independent until the&quot;) print(&quot; effect is seen, and negatively dependent afterwards.&quot;) print(&quot; No production rule can express a conclusion that gets&quot;) print(&quot; WEAKER when a condition is added.&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E8EDF2"/>
                </a:solidFill>
                <a:latin typeface="Consolas"/>
              </a:rPr>
              <a:t>    </a:t>
            </a:r>
            <a:r>
              <a:rPr sz="1200" i="1">
                <a:solidFill>
                  <a:srgbClr val="8795A1"/>
                </a:solidFill>
                <a:latin typeface="Consolas"/>
              </a:rPr>
              <a:t># --- explaining away -------------------------------------------</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explaining away ===</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prior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0.30</a:t>
            </a:r>
          </a:p>
          <a:p>
            <a:pPr>
              <a:lnSpc>
                <a:spcPct val="100000"/>
              </a:lnSpc>
              <a:spcAft>
                <a:spcPts val="0"/>
              </a:spcAft>
            </a:pPr>
            <a:r>
              <a:rPr sz="1200" i="0">
                <a:solidFill>
                  <a:srgbClr val="E8EDF2"/>
                </a:solidFill>
                <a:latin typeface="Consolas"/>
              </a:rPr>
              <a:t>    </a:t>
            </a:r>
            <a:r>
              <a:rPr sz="1200" i="0">
                <a:solidFill>
                  <a:srgbClr val="E8EDF2"/>
                </a:solidFill>
                <a:latin typeface="Consolas"/>
              </a:rPr>
              <a:t>given_d</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_</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enumerate_query</a:t>
            </a:r>
            <a:r>
              <a:rPr sz="1200" i="0">
                <a:solidFill>
                  <a:srgbClr val="AEB6BF"/>
                </a:solidFill>
                <a:latin typeface="Consolas"/>
              </a:rPr>
              <a:t>(</a:t>
            </a:r>
            <a:r>
              <a:rPr sz="1200" i="0">
                <a:solidFill>
                  <a:srgbClr val="E8EDF2"/>
                </a:solidFill>
                <a:latin typeface="Consolas"/>
              </a:rPr>
              <a:t>NET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ORDER</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Rushed</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Defect</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True</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given_dj</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_</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enumerate_query</a:t>
            </a:r>
            <a:r>
              <a:rPr sz="1200" i="0">
                <a:solidFill>
                  <a:srgbClr val="AEB6BF"/>
                </a:solidFill>
                <a:latin typeface="Consolas"/>
              </a:rPr>
              <a:t>(</a:t>
            </a:r>
            <a:r>
              <a:rPr sz="1200" i="0">
                <a:solidFill>
                  <a:srgbClr val="E8EDF2"/>
                </a:solidFill>
                <a:latin typeface="Consolas"/>
              </a:rPr>
              <a:t>NET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ORDER</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Rushed</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Defect</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True</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Junior</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True</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P(Rushed)                       = </a:t>
            </a:r>
            <a:r>
              <a:rPr sz="1200" i="0">
                <a:solidFill>
                  <a:srgbClr val="7DCEA0"/>
                </a:solidFill>
                <a:latin typeface="Consolas"/>
              </a:rPr>
              <a:t>%.4f</a:t>
            </a:r>
            <a:r>
              <a:rPr sz="1200" i="0">
                <a:solidFill>
                  <a:srgbClr val="7DCEA0"/>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prior</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P(Rushed | Defect)              = </a:t>
            </a:r>
            <a:r>
              <a:rPr sz="1200" i="0">
                <a:solidFill>
                  <a:srgbClr val="7DCEA0"/>
                </a:solidFill>
                <a:latin typeface="Consolas"/>
              </a:rPr>
              <a:t>%.4f</a:t>
            </a:r>
            <a:r>
              <a:rPr sz="1200" i="0">
                <a:solidFill>
                  <a:srgbClr val="7DCEA0"/>
                </a:solidFill>
                <a:latin typeface="Consolas"/>
              </a:rPr>
              <a:t>   (rises)</a:t>
            </a:r>
            <a:r>
              <a:rPr sz="1200" i="0">
                <a:solidFill>
                  <a:srgbClr val="7DCEA0"/>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given_d</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P(Rushed | Defect, Junior)      = </a:t>
            </a:r>
            <a:r>
              <a:rPr sz="1200" i="0">
                <a:solidFill>
                  <a:srgbClr val="7DCEA0"/>
                </a:solidFill>
                <a:latin typeface="Consolas"/>
              </a:rPr>
              <a:t>%.4f</a:t>
            </a:r>
            <a:r>
              <a:rPr sz="1200" i="0">
                <a:solidFill>
                  <a:srgbClr val="7DCEA0"/>
                </a:solidFill>
                <a:latin typeface="Consolas"/>
              </a:rPr>
              <a:t>   (FALLS)</a:t>
            </a:r>
            <a:r>
              <a:rPr sz="1200" i="0">
                <a:solidFill>
                  <a:srgbClr val="7DCEA0"/>
                </a:solidFill>
                <a:latin typeface="Consolas"/>
              </a:rPr>
              <a:t>"</a:t>
            </a:r>
          </a:p>
          <a:p>
            <a:pPr>
              <a:lnSpc>
                <a:spcPct val="100000"/>
              </a:lnSpc>
              <a:spcAft>
                <a:spcPts val="0"/>
              </a:spcAft>
            </a:pP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given_dj</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E8EDF2"/>
                </a:solidFill>
                <a:latin typeface="Consolas"/>
              </a:rPr>
              <a:t>given_d</a:t>
            </a:r>
            <a:r>
              <a:rPr sz="1200" i="0">
                <a:solidFill>
                  <a:srgbClr val="E8EDF2"/>
                </a:solidFill>
                <a:latin typeface="Consolas"/>
              </a:rPr>
              <a:t> </a:t>
            </a:r>
            <a:r>
              <a:rPr sz="1200" i="0">
                <a:solidFill>
                  <a:srgbClr val="AEB6BF"/>
                </a:solidFill>
                <a:latin typeface="Consolas"/>
              </a:rPr>
              <a:t>&gt;</a:t>
            </a:r>
            <a:r>
              <a:rPr sz="1200" i="0">
                <a:solidFill>
                  <a:srgbClr val="E8EDF2"/>
                </a:solidFill>
                <a:latin typeface="Consolas"/>
              </a:rPr>
              <a:t> </a:t>
            </a:r>
            <a:r>
              <a:rPr sz="1200" i="0">
                <a:solidFill>
                  <a:srgbClr val="E8EDF2"/>
                </a:solidFill>
                <a:latin typeface="Consolas"/>
              </a:rPr>
              <a:t>prior</a:t>
            </a:r>
            <a:r>
              <a:rPr sz="1200" i="0">
                <a:solidFill>
                  <a:srgbClr val="E8EDF2"/>
                </a:solidFill>
                <a:latin typeface="Consolas"/>
              </a:rPr>
              <a:t> </a:t>
            </a:r>
            <a:r>
              <a:rPr sz="1200" i="0">
                <a:solidFill>
                  <a:srgbClr val="AEB6BF"/>
                </a:solidFill>
                <a:latin typeface="Consolas"/>
              </a:rPr>
              <a:t>&gt;</a:t>
            </a:r>
            <a:r>
              <a:rPr sz="1200" i="0">
                <a:solidFill>
                  <a:srgbClr val="E8EDF2"/>
                </a:solidFill>
                <a:latin typeface="Consolas"/>
              </a:rPr>
              <a:t> </a:t>
            </a:r>
            <a:r>
              <a:rPr sz="1200" i="0">
                <a:solidFill>
                  <a:srgbClr val="F7DC6F"/>
                </a:solidFill>
                <a:latin typeface="Consolas"/>
              </a:rPr>
              <a:t>0</a:t>
            </a:r>
            <a:r>
              <a:rPr sz="1200" i="0">
                <a:solidFill>
                  <a:srgbClr val="E8EDF2"/>
                </a:solidFill>
                <a:latin typeface="Consolas"/>
              </a:rPr>
              <a:t> </a:t>
            </a:r>
            <a:r>
              <a:rPr sz="1200" i="0">
                <a:solidFill>
                  <a:srgbClr val="AEB6BF"/>
                </a:solidFill>
                <a:latin typeface="Consolas"/>
              </a:rPr>
              <a:t>and</a:t>
            </a:r>
            <a:r>
              <a:rPr sz="1200" i="0">
                <a:solidFill>
                  <a:srgbClr val="E8EDF2"/>
                </a:solidFill>
                <a:latin typeface="Consolas"/>
              </a:rPr>
              <a:t> </a:t>
            </a:r>
            <a:r>
              <a:rPr sz="1200" i="0">
                <a:solidFill>
                  <a:srgbClr val="E8EDF2"/>
                </a:solidFill>
                <a:latin typeface="Consolas"/>
              </a:rPr>
              <a:t>given_dj</a:t>
            </a:r>
            <a:r>
              <a:rPr sz="1200" i="0">
                <a:solidFill>
                  <a:srgbClr val="E8EDF2"/>
                </a:solidFill>
                <a:latin typeface="Consolas"/>
              </a:rPr>
              <a:t> </a:t>
            </a:r>
            <a:r>
              <a:rPr sz="1200" i="0">
                <a:solidFill>
                  <a:srgbClr val="AEB6BF"/>
                </a:solidFill>
                <a:latin typeface="Consolas"/>
              </a:rPr>
              <a:t>&lt;</a:t>
            </a:r>
            <a:r>
              <a:rPr sz="1200" i="0">
                <a:solidFill>
                  <a:srgbClr val="E8EDF2"/>
                </a:solidFill>
                <a:latin typeface="Consolas"/>
              </a:rPr>
              <a:t> </a:t>
            </a:r>
            <a:r>
              <a:rPr sz="1200" i="0">
                <a:solidFill>
                  <a:srgbClr val="E8EDF2"/>
                </a:solidFill>
                <a:latin typeface="Consolas"/>
              </a:rPr>
              <a:t>given_d</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The junior developer already accounts for the defect,</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so less explaining is left for the rushed spec to do.</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Two causes of one effect are independent until the</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effect is seen, and negatively dependent afterwards.</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No production rule can express a conclusion that gets</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WEAKER when a condition is added.</a:t>
            </a:r>
            <a:r>
              <a:rPr sz="1200" i="0">
                <a:solidFill>
                  <a:srgbClr val="7DCEA0"/>
                </a:solidFill>
                <a:latin typeface="Consolas"/>
              </a:rPr>
              <a:t>"</a:t>
            </a:r>
            <a:r>
              <a:rPr sz="12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199</a:t>
            </a:r>
          </a:p>
          <a:p>
            <a:pPr algn="r">
              <a:lnSpc>
                <a:spcPct val="100000"/>
              </a:lnSpc>
            </a:pPr>
            <a:r>
              <a:rPr sz="1200">
                <a:solidFill>
                  <a:srgbClr val="4F5D6A"/>
                </a:solidFill>
                <a:latin typeface="Consolas"/>
              </a:rPr>
              <a:t>200</a:t>
            </a:r>
          </a:p>
          <a:p>
            <a:pPr algn="r">
              <a:lnSpc>
                <a:spcPct val="100000"/>
              </a:lnSpc>
            </a:pPr>
            <a:r>
              <a:rPr sz="1200">
                <a:solidFill>
                  <a:srgbClr val="4F5D6A"/>
                </a:solidFill>
                <a:latin typeface="Consolas"/>
              </a:rPr>
              <a:t>201</a:t>
            </a:r>
          </a:p>
          <a:p>
            <a:pPr algn="r">
              <a:lnSpc>
                <a:spcPct val="100000"/>
              </a:lnSpc>
            </a:pPr>
            <a:r>
              <a:rPr sz="1200">
                <a:solidFill>
                  <a:srgbClr val="4F5D6A"/>
                </a:solidFill>
                <a:latin typeface="Consolas"/>
              </a:rPr>
              <a:t>202</a:t>
            </a:r>
          </a:p>
          <a:p>
            <a:pPr algn="r">
              <a:lnSpc>
                <a:spcPct val="100000"/>
              </a:lnSpc>
            </a:pPr>
            <a:r>
              <a:rPr sz="1200">
                <a:solidFill>
                  <a:srgbClr val="4F5D6A"/>
                </a:solidFill>
                <a:latin typeface="Consolas"/>
              </a:rPr>
              <a:t>203</a:t>
            </a:r>
          </a:p>
          <a:p>
            <a:pPr algn="r">
              <a:lnSpc>
                <a:spcPct val="100000"/>
              </a:lnSpc>
            </a:pPr>
            <a:r>
              <a:rPr sz="1200">
                <a:solidFill>
                  <a:srgbClr val="4F5D6A"/>
                </a:solidFill>
                <a:latin typeface="Consolas"/>
              </a:rPr>
              <a:t>204</a:t>
            </a:r>
          </a:p>
          <a:p>
            <a:pPr algn="r">
              <a:lnSpc>
                <a:spcPct val="100000"/>
              </a:lnSpc>
            </a:pPr>
            <a:r>
              <a:rPr sz="1200">
                <a:solidFill>
                  <a:srgbClr val="4F5D6A"/>
                </a:solidFill>
                <a:latin typeface="Consolas"/>
              </a:rPr>
              <a:t>205</a:t>
            </a:r>
          </a:p>
          <a:p>
            <a:pPr algn="r">
              <a:lnSpc>
                <a:spcPct val="100000"/>
              </a:lnSpc>
            </a:pPr>
            <a:r>
              <a:rPr sz="1200">
                <a:solidFill>
                  <a:srgbClr val="4F5D6A"/>
                </a:solidFill>
                <a:latin typeface="Consolas"/>
              </a:rPr>
              <a:t>206</a:t>
            </a:r>
          </a:p>
          <a:p>
            <a:pPr algn="r">
              <a:lnSpc>
                <a:spcPct val="100000"/>
              </a:lnSpc>
            </a:pPr>
            <a:r>
              <a:rPr sz="1200">
                <a:solidFill>
                  <a:srgbClr val="4F5D6A"/>
                </a:solidFill>
                <a:latin typeface="Consolas"/>
              </a:rPr>
              <a:t>207</a:t>
            </a:r>
          </a:p>
          <a:p>
            <a:pPr algn="r">
              <a:lnSpc>
                <a:spcPct val="100000"/>
              </a:lnSpc>
            </a:pPr>
            <a:r>
              <a:rPr sz="1200">
                <a:solidFill>
                  <a:srgbClr val="4F5D6A"/>
                </a:solidFill>
                <a:latin typeface="Consolas"/>
              </a:rPr>
              <a:t>208</a:t>
            </a:r>
          </a:p>
          <a:p>
            <a:pPr algn="r">
              <a:lnSpc>
                <a:spcPct val="100000"/>
              </a:lnSpc>
            </a:pPr>
            <a:r>
              <a:rPr sz="1200">
                <a:solidFill>
                  <a:srgbClr val="4F5D6A"/>
                </a:solidFill>
                <a:latin typeface="Consolas"/>
              </a:rPr>
              <a:t>209</a:t>
            </a:r>
          </a:p>
          <a:p>
            <a:pPr algn="r">
              <a:lnSpc>
                <a:spcPct val="100000"/>
              </a:lnSpc>
            </a:pPr>
            <a:r>
              <a:rPr sz="1200">
                <a:solidFill>
                  <a:srgbClr val="4F5D6A"/>
                </a:solidFill>
                <a:latin typeface="Consolas"/>
              </a:rPr>
              <a:t>210</a:t>
            </a:r>
          </a:p>
          <a:p>
            <a:pPr algn="r">
              <a:lnSpc>
                <a:spcPct val="100000"/>
              </a:lnSpc>
            </a:pPr>
            <a:r>
              <a:rPr sz="1200">
                <a:solidFill>
                  <a:srgbClr val="4F5D6A"/>
                </a:solidFill>
                <a:latin typeface="Consolas"/>
              </a:rPr>
              <a:t>211</a:t>
            </a:r>
          </a:p>
          <a:p>
            <a:pPr algn="r">
              <a:lnSpc>
                <a:spcPct val="100000"/>
              </a:lnSpc>
            </a:pPr>
            <a:r>
              <a:rPr sz="1200">
                <a:solidFill>
                  <a:srgbClr val="4F5D6A"/>
                </a:solidFill>
                <a:latin typeface="Consolas"/>
              </a:rPr>
              <a:t>212</a:t>
            </a:r>
          </a:p>
          <a:p>
            <a:pPr algn="r">
              <a:lnSpc>
                <a:spcPct val="100000"/>
              </a:lnSpc>
            </a:pPr>
            <a:r>
              <a:rPr sz="1200">
                <a:solidFill>
                  <a:srgbClr val="4F5D6A"/>
                </a:solidFill>
                <a:latin typeface="Consolas"/>
              </a:rPr>
              <a:t>213</a:t>
            </a:r>
          </a:p>
          <a:p>
            <a:pPr algn="r">
              <a:lnSpc>
                <a:spcPct val="100000"/>
              </a:lnSpc>
            </a:pPr>
            <a:r>
              <a:rPr sz="1200">
                <a:solidFill>
                  <a:srgbClr val="4F5D6A"/>
                </a:solidFill>
                <a:latin typeface="Consolas"/>
              </a:rPr>
              <a:t>214</a:t>
            </a:r>
          </a:p>
          <a:p>
            <a:pPr algn="r">
              <a:lnSpc>
                <a:spcPct val="100000"/>
              </a:lnSpc>
            </a:pPr>
            <a:r>
              <a:rPr sz="1200">
                <a:solidFill>
                  <a:srgbClr val="4F5D6A"/>
                </a:solidFill>
                <a:latin typeface="Consolas"/>
              </a:rPr>
              <a:t>215</a:t>
            </a:r>
          </a:p>
          <a:p>
            <a:pPr algn="r">
              <a:lnSpc>
                <a:spcPct val="100000"/>
              </a:lnSpc>
            </a:pPr>
            <a:r>
              <a:rPr sz="1200">
                <a:solidFill>
                  <a:srgbClr val="4F5D6A"/>
                </a:solidFill>
                <a:latin typeface="Consolas"/>
              </a:rPr>
              <a:t>216</a:t>
            </a:r>
          </a:p>
          <a:p>
            <a:pPr algn="r">
              <a:lnSpc>
                <a:spcPct val="100000"/>
              </a:lnSpc>
            </a:pPr>
            <a:r>
              <a:rPr sz="1200">
                <a:solidFill>
                  <a:srgbClr val="4F5D6A"/>
                </a:solidFill>
                <a:latin typeface="Consolas"/>
              </a:rPr>
              <a:t>217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6684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Diagnosing a Defect’s Cause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15 OF 15</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CB30DF2C-0B68-449C-B0D0-B12AE6B21BD7}" type="slidenum">
              <a:rPr lang="en-GB" sz="1000">
                <a:solidFill>
                  <a:srgbClr val="8795A1"/>
                </a:solidFill>
                <a:latin typeface="Segoe UI"/>
              </a:rPr>
              <a:t>36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And where variable elimination earns its keep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78224"/>
          </a:xfrm>
          <a:prstGeom prst="roundRect">
            <a:avLst>
              <a:gd name="adj" fmla="val 224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code/ch15_diagnosing_defect_s.py</a:t>
            </a:r>
          </a:p>
        </p:txBody>
      </p:sp>
      <p:sp>
        <p:nvSpPr>
          <p:cNvPr id="14" name="!!code-text" descr="# --- and where variable elimination earns its keep ------------- print() print(&quot;=== scaling, on a chain of services ===&quot;) print(&quot; n enumeration VE ops&quot;) print(&quot;-&quot; * 30) for n in (6, 10, 14, 18): net, order = make_chain(n) e = {order[-1]: True} v, vops = var_elim(net, order, &quot;X1&quot;, e) if n &lt;= 14: ex, et = enumerate_query(net, order, &quot;X1&quot;, e) assert abs(ex - v) &lt; 1e-9 print(&quot;%3d %13d %8d&quot; % (n, et, vops)) else: print(&quot;%3d %13s %8d&quot; % (n, &quot;infeasible&quot;, vops)) print() print(&quot;Enumeration doubles with every service; variable&quot;) print(&quot;elimination grows linearly on a chain. At n=14 that is&quot;) print(&quot;8192 terms against 186 operations.&quot;)"/>
          <p:cNvSpPr txBox="1"/>
          <p:nvPr/>
        </p:nvSpPr>
        <p:spPr>
          <a:xfrm>
            <a:off x="1362456" y="2523744"/>
            <a:ext cx="9987991" cy="3584447"/>
          </a:xfrm>
          <a:prstGeom prst="rect">
            <a:avLst/>
          </a:prstGeom>
          <a:noFill/>
        </p:spPr>
        <p:txBody>
          <a:bodyPr wrap="none" anchor="t" lIns="0" rIns="0" tIns="0" bIns="0">
            <a:noAutofit/>
          </a:bodyPr>
          <a:lstStyle/>
          <a:p>
            <a:pPr>
              <a:lnSpc>
                <a:spcPct val="100000"/>
              </a:lnSpc>
              <a:spcAft>
                <a:spcPts val="0"/>
              </a:spcAft>
            </a:pPr>
            <a:r>
              <a:rPr sz="1200" i="0">
                <a:solidFill>
                  <a:srgbClr val="E8EDF2"/>
                </a:solidFill>
                <a:latin typeface="Consolas"/>
              </a:rPr>
              <a:t>    </a:t>
            </a:r>
            <a:r>
              <a:rPr sz="1200" i="1">
                <a:solidFill>
                  <a:srgbClr val="8795A1"/>
                </a:solidFill>
                <a:latin typeface="Consolas"/>
              </a:rPr>
              <a:t># --- and where variable elimination earns its keep -------------</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scaling, on a chain of services ===</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  n   enumeration   VE ops</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7DCEA0"/>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30</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for</a:t>
            </a:r>
            <a:r>
              <a:rPr sz="1200" i="0">
                <a:solidFill>
                  <a:srgbClr val="E8EDF2"/>
                </a:solidFill>
                <a:latin typeface="Consolas"/>
              </a:rPr>
              <a:t> </a:t>
            </a:r>
            <a:r>
              <a:rPr sz="1200" i="0">
                <a:solidFill>
                  <a:srgbClr val="E8EDF2"/>
                </a:solidFill>
                <a:latin typeface="Consolas"/>
              </a:rPr>
              <a:t>n</a:t>
            </a:r>
            <a:r>
              <a:rPr sz="1200" i="0">
                <a:solidFill>
                  <a:srgbClr val="E8EDF2"/>
                </a:solidFill>
                <a:latin typeface="Consolas"/>
              </a:rPr>
              <a:t> </a:t>
            </a:r>
            <a:r>
              <a:rPr sz="1200" i="0">
                <a:solidFill>
                  <a:srgbClr val="AEB6BF"/>
                </a:solidFill>
                <a:latin typeface="Consolas"/>
              </a:rPr>
              <a:t>in</a:t>
            </a:r>
            <a:r>
              <a:rPr sz="1200" i="0">
                <a:solidFill>
                  <a:srgbClr val="E8EDF2"/>
                </a:solidFill>
                <a:latin typeface="Consolas"/>
              </a:rPr>
              <a:t> </a:t>
            </a:r>
            <a:r>
              <a:rPr sz="1200" i="0">
                <a:solidFill>
                  <a:srgbClr val="AEB6BF"/>
                </a:solidFill>
                <a:latin typeface="Consolas"/>
              </a:rPr>
              <a:t>(</a:t>
            </a:r>
            <a:r>
              <a:rPr sz="1200" i="0">
                <a:solidFill>
                  <a:srgbClr val="F7DC6F"/>
                </a:solidFill>
                <a:latin typeface="Consolas"/>
              </a:rPr>
              <a:t>6</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10</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14</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18</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net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order</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make_chain</a:t>
            </a:r>
            <a:r>
              <a:rPr sz="1200" i="0">
                <a:solidFill>
                  <a:srgbClr val="AEB6BF"/>
                </a:solidFill>
                <a:latin typeface="Consolas"/>
              </a:rPr>
              <a:t>(</a:t>
            </a:r>
            <a:r>
              <a:rPr sz="1200" i="0">
                <a:solidFill>
                  <a:srgbClr val="E8EDF2"/>
                </a:solidFill>
                <a:latin typeface="Consolas"/>
              </a:rPr>
              <a:t>n</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e</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order</a:t>
            </a:r>
            <a:r>
              <a:rPr sz="1200" i="0">
                <a:solidFill>
                  <a:srgbClr val="AEB6BF"/>
                </a:solidFill>
                <a:latin typeface="Consolas"/>
              </a:rPr>
              <a:t>[</a:t>
            </a:r>
            <a:r>
              <a:rPr sz="1200" i="0">
                <a:solidFill>
                  <a:srgbClr val="AEB6BF"/>
                </a:solidFill>
                <a:latin typeface="Consolas"/>
              </a:rPr>
              <a:t>-</a:t>
            </a:r>
            <a:r>
              <a:rPr sz="1200" i="0">
                <a:solidFill>
                  <a:srgbClr val="F7DC6F"/>
                </a:solidFill>
                <a:latin typeface="Consolas"/>
              </a:rPr>
              <a:t>1</a:t>
            </a:r>
            <a:r>
              <a:rPr sz="1200" i="0">
                <a:solidFill>
                  <a:srgbClr val="AEB6BF"/>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5DADE2"/>
                </a:solidFill>
                <a:latin typeface="Consolas"/>
              </a:rPr>
              <a:t>True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v</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vops</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var_elim</a:t>
            </a:r>
            <a:r>
              <a:rPr sz="1200" i="0">
                <a:solidFill>
                  <a:srgbClr val="AEB6BF"/>
                </a:solidFill>
                <a:latin typeface="Consolas"/>
              </a:rPr>
              <a:t>(</a:t>
            </a:r>
            <a:r>
              <a:rPr sz="1200" i="0">
                <a:solidFill>
                  <a:srgbClr val="E8EDF2"/>
                </a:solidFill>
                <a:latin typeface="Consolas"/>
              </a:rPr>
              <a:t>net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order</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X1</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if</a:t>
            </a:r>
            <a:r>
              <a:rPr sz="1200" i="0">
                <a:solidFill>
                  <a:srgbClr val="E8EDF2"/>
                </a:solidFill>
                <a:latin typeface="Consolas"/>
              </a:rPr>
              <a:t> </a:t>
            </a:r>
            <a:r>
              <a:rPr sz="1200" i="0">
                <a:solidFill>
                  <a:srgbClr val="E8EDF2"/>
                </a:solidFill>
                <a:latin typeface="Consolas"/>
              </a:rPr>
              <a:t>n</a:t>
            </a:r>
            <a:r>
              <a:rPr sz="1200" i="0">
                <a:solidFill>
                  <a:srgbClr val="E8EDF2"/>
                </a:solidFill>
                <a:latin typeface="Consolas"/>
              </a:rPr>
              <a:t> </a:t>
            </a:r>
            <a:r>
              <a:rPr sz="1200" i="0">
                <a:solidFill>
                  <a:srgbClr val="AEB6BF"/>
                </a:solidFill>
                <a:latin typeface="Consolas"/>
              </a:rPr>
              <a:t>&lt;</a:t>
            </a:r>
            <a:r>
              <a:rPr sz="1200" i="0">
                <a:solidFill>
                  <a:srgbClr val="AEB6BF"/>
                </a:solidFill>
                <a:latin typeface="Consolas"/>
              </a:rPr>
              <a:t>=</a:t>
            </a:r>
            <a:r>
              <a:rPr sz="1200" i="0">
                <a:solidFill>
                  <a:srgbClr val="E8EDF2"/>
                </a:solidFill>
                <a:latin typeface="Consolas"/>
              </a:rPr>
              <a:t> </a:t>
            </a:r>
            <a:r>
              <a:rPr sz="1200" i="0">
                <a:solidFill>
                  <a:srgbClr val="F7DC6F"/>
                </a:solidFill>
                <a:latin typeface="Consolas"/>
              </a:rPr>
              <a:t>14</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E8EDF2"/>
                </a:solidFill>
                <a:latin typeface="Consolas"/>
              </a:rPr>
              <a:t>ex</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enumerate_query</a:t>
            </a:r>
            <a:r>
              <a:rPr sz="1200" i="0">
                <a:solidFill>
                  <a:srgbClr val="AEB6BF"/>
                </a:solidFill>
                <a:latin typeface="Consolas"/>
              </a:rPr>
              <a:t>(</a:t>
            </a:r>
            <a:r>
              <a:rPr sz="1200" i="0">
                <a:solidFill>
                  <a:srgbClr val="E8EDF2"/>
                </a:solidFill>
                <a:latin typeface="Consolas"/>
              </a:rPr>
              <a:t>net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order</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X1</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assert</a:t>
            </a:r>
            <a:r>
              <a:rPr sz="1200" i="0">
                <a:solidFill>
                  <a:srgbClr val="E8EDF2"/>
                </a:solidFill>
                <a:latin typeface="Consolas"/>
              </a:rPr>
              <a:t> </a:t>
            </a:r>
            <a:r>
              <a:rPr sz="1200" i="0">
                <a:solidFill>
                  <a:srgbClr val="C39BD3"/>
                </a:solidFill>
                <a:latin typeface="Consolas"/>
              </a:rPr>
              <a:t>abs</a:t>
            </a:r>
            <a:r>
              <a:rPr sz="1200" i="0">
                <a:solidFill>
                  <a:srgbClr val="AEB6BF"/>
                </a:solidFill>
                <a:latin typeface="Consolas"/>
              </a:rPr>
              <a:t>(</a:t>
            </a:r>
            <a:r>
              <a:rPr sz="1200" i="0">
                <a:solidFill>
                  <a:srgbClr val="E8EDF2"/>
                </a:solidFill>
                <a:latin typeface="Consolas"/>
              </a:rPr>
              <a:t>ex</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&lt;</a:t>
            </a:r>
            <a:r>
              <a:rPr sz="1200" i="0">
                <a:solidFill>
                  <a:srgbClr val="E8EDF2"/>
                </a:solidFill>
                <a:latin typeface="Consolas"/>
              </a:rPr>
              <a:t> </a:t>
            </a:r>
            <a:r>
              <a:rPr sz="1200" i="0">
                <a:solidFill>
                  <a:srgbClr val="F7DC6F"/>
                </a:solidFill>
                <a:latin typeface="Consolas"/>
              </a:rPr>
              <a:t>1e-9</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%3d</a:t>
            </a:r>
            <a:r>
              <a:rPr sz="1200" i="0">
                <a:solidFill>
                  <a:srgbClr val="7DCEA0"/>
                </a:solidFill>
                <a:latin typeface="Consolas"/>
              </a:rPr>
              <a:t> </a:t>
            </a:r>
            <a:r>
              <a:rPr sz="1200" i="0">
                <a:solidFill>
                  <a:srgbClr val="7DCEA0"/>
                </a:solidFill>
                <a:latin typeface="Consolas"/>
              </a:rPr>
              <a:t>%13d</a:t>
            </a:r>
            <a:r>
              <a:rPr sz="1200" i="0">
                <a:solidFill>
                  <a:srgbClr val="7DCEA0"/>
                </a:solidFill>
                <a:latin typeface="Consolas"/>
              </a:rPr>
              <a:t> </a:t>
            </a:r>
            <a:r>
              <a:rPr sz="1200" i="0">
                <a:solidFill>
                  <a:srgbClr val="7DCEA0"/>
                </a:solidFill>
                <a:latin typeface="Consolas"/>
              </a:rPr>
              <a:t>%8d</a:t>
            </a:r>
            <a:r>
              <a:rPr sz="1200" i="0">
                <a:solidFill>
                  <a:srgbClr val="7DCEA0"/>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n</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et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vops</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5DADE2"/>
                </a:solidFill>
                <a:latin typeface="Consolas"/>
              </a:rPr>
              <a:t>else</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%3d</a:t>
            </a:r>
            <a:r>
              <a:rPr sz="1200" i="0">
                <a:solidFill>
                  <a:srgbClr val="7DCEA0"/>
                </a:solidFill>
                <a:latin typeface="Consolas"/>
              </a:rPr>
              <a:t> </a:t>
            </a:r>
            <a:r>
              <a:rPr sz="1200" i="0">
                <a:solidFill>
                  <a:srgbClr val="7DCEA0"/>
                </a:solidFill>
                <a:latin typeface="Consolas"/>
              </a:rPr>
              <a:t>%13s</a:t>
            </a:r>
            <a:r>
              <a:rPr sz="1200" i="0">
                <a:solidFill>
                  <a:srgbClr val="7DCEA0"/>
                </a:solidFill>
                <a:latin typeface="Consolas"/>
              </a:rPr>
              <a:t> </a:t>
            </a:r>
            <a:r>
              <a:rPr sz="1200" i="0">
                <a:solidFill>
                  <a:srgbClr val="7DCEA0"/>
                </a:solidFill>
                <a:latin typeface="Consolas"/>
              </a:rPr>
              <a:t>%8d</a:t>
            </a:r>
            <a:r>
              <a:rPr sz="1200" i="0">
                <a:solidFill>
                  <a:srgbClr val="7DCEA0"/>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 </a:t>
            </a:r>
            <a:r>
              <a:rPr sz="1200" i="0">
                <a:solidFill>
                  <a:srgbClr val="AEB6BF"/>
                </a:solidFill>
                <a:latin typeface="Consolas"/>
              </a:rPr>
              <a:t>(</a:t>
            </a:r>
            <a:r>
              <a:rPr sz="1200" i="0">
                <a:solidFill>
                  <a:srgbClr val="E8EDF2"/>
                </a:solidFill>
                <a:latin typeface="Consolas"/>
              </a:rPr>
              <a:t>n</a:t>
            </a:r>
            <a:r>
              <a:rPr sz="1200" i="0">
                <a:solidFill>
                  <a:srgbClr val="AEB6BF"/>
                </a:solidFill>
                <a:latin typeface="Consolas"/>
              </a:rPr>
              <a:t>,</a:t>
            </a:r>
            <a:r>
              <a:rPr sz="1200" i="0">
                <a:solidFill>
                  <a:srgbClr val="E8EDF2"/>
                </a:solidFill>
                <a:latin typeface="Consolas"/>
              </a:rPr>
              <a:t> </a:t>
            </a:r>
            <a:r>
              <a:rPr sz="1200" i="0">
                <a:solidFill>
                  <a:srgbClr val="7DCEA0"/>
                </a:solidFill>
                <a:latin typeface="Consolas"/>
              </a:rPr>
              <a:t>"</a:t>
            </a:r>
            <a:r>
              <a:rPr sz="1200" i="0">
                <a:solidFill>
                  <a:srgbClr val="7DCEA0"/>
                </a:solidFill>
                <a:latin typeface="Consolas"/>
              </a:rPr>
              <a:t>infeasible</a:t>
            </a:r>
            <a:r>
              <a:rPr sz="1200" i="0">
                <a:solidFill>
                  <a:srgbClr val="7DCEA0"/>
                </a:solidFill>
                <a:latin typeface="Consolas"/>
              </a:rPr>
              <a:t>"</a:t>
            </a:r>
            <a:r>
              <a:rPr sz="1200" i="0">
                <a:solidFill>
                  <a:srgbClr val="AEB6BF"/>
                </a:solidFill>
                <a:latin typeface="Consolas"/>
              </a:rPr>
              <a:t>,</a:t>
            </a:r>
            <a:r>
              <a:rPr sz="1200" i="0">
                <a:solidFill>
                  <a:srgbClr val="E8EDF2"/>
                </a:solidFill>
                <a:latin typeface="Consolas"/>
              </a:rPr>
              <a:t> </a:t>
            </a:r>
            <a:r>
              <a:rPr sz="1200" i="0">
                <a:solidFill>
                  <a:srgbClr val="E8EDF2"/>
                </a:solidFill>
                <a:latin typeface="Consolas"/>
              </a:rPr>
              <a:t>vops</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Enumeration doubles with every service; variable</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elimination grows linearly on a chain. At n=14 that is</a:t>
            </a:r>
            <a:r>
              <a:rPr sz="1200" i="0">
                <a:solidFill>
                  <a:srgbClr val="7DCEA0"/>
                </a:solidFill>
                <a:latin typeface="Consolas"/>
              </a:rPr>
              <a:t>"</a:t>
            </a:r>
            <a:r>
              <a:rPr sz="1200" i="0">
                <a:solidFill>
                  <a:srgbClr val="AEB6BF"/>
                </a:solidFill>
                <a:latin typeface="Consolas"/>
              </a:rPr>
              <a:t>)</a:t>
            </a:r>
          </a:p>
          <a:p>
            <a:pPr>
              <a:lnSpc>
                <a:spcPct val="100000"/>
              </a:lnSpc>
              <a:spcAft>
                <a:spcPts val="0"/>
              </a:spcAft>
            </a:pPr>
            <a:r>
              <a:rPr sz="1200" i="0">
                <a:solidFill>
                  <a:srgbClr val="E8EDF2"/>
                </a:solidFill>
                <a:latin typeface="Consolas"/>
              </a:rPr>
              <a:t>    </a:t>
            </a:r>
            <a:r>
              <a:rPr sz="1200" i="0">
                <a:solidFill>
                  <a:srgbClr val="C39BD3"/>
                </a:solidFill>
                <a:latin typeface="Consolas"/>
              </a:rPr>
              <a:t>print</a:t>
            </a:r>
            <a:r>
              <a:rPr sz="1200" i="0">
                <a:solidFill>
                  <a:srgbClr val="AEB6BF"/>
                </a:solidFill>
                <a:latin typeface="Consolas"/>
              </a:rPr>
              <a:t>(</a:t>
            </a:r>
            <a:r>
              <a:rPr sz="1200" i="0">
                <a:solidFill>
                  <a:srgbClr val="7DCEA0"/>
                </a:solidFill>
                <a:latin typeface="Consolas"/>
              </a:rPr>
              <a:t>"</a:t>
            </a:r>
            <a:r>
              <a:rPr sz="1200" i="0">
                <a:solidFill>
                  <a:srgbClr val="7DCEA0"/>
                </a:solidFill>
                <a:latin typeface="Consolas"/>
              </a:rPr>
              <a:t>8192 terms against 186 operations.</a:t>
            </a:r>
            <a:r>
              <a:rPr sz="1200" i="0">
                <a:solidFill>
                  <a:srgbClr val="7DCEA0"/>
                </a:solidFill>
                <a:latin typeface="Consolas"/>
              </a:rPr>
              <a:t>"</a:t>
            </a:r>
            <a:r>
              <a:rPr sz="1200" i="0">
                <a:solidFill>
                  <a:srgbClr val="AEB6BF"/>
                </a:solidFill>
                <a:latin typeface="Consolas"/>
              </a:rPr>
              <a:t>)</a:t>
            </a:r>
          </a:p>
        </p:txBody>
      </p:sp>
      <p:sp>
        <p:nvSpPr>
          <p:cNvPr id="15" name="!!code-num"/>
          <p:cNvSpPr txBox="1"/>
          <p:nvPr/>
        </p:nvSpPr>
        <p:spPr>
          <a:xfrm>
            <a:off x="768096" y="2523744"/>
            <a:ext cx="393192" cy="3584447"/>
          </a:xfrm>
          <a:prstGeom prst="rect">
            <a:avLst/>
          </a:prstGeom>
          <a:noFill/>
        </p:spPr>
        <p:txBody>
          <a:bodyPr wrap="none" anchor="t" lIns="0" rIns="0" tIns="0" bIns="0">
            <a:noAutofit/>
          </a:bodyPr>
          <a:lstStyle/>
          <a:p>
            <a:pPr algn="r">
              <a:lnSpc>
                <a:spcPct val="100000"/>
              </a:lnSpc>
            </a:pPr>
            <a:r>
              <a:rPr sz="1200">
                <a:solidFill>
                  <a:srgbClr val="4F5D6A"/>
                </a:solidFill>
                <a:latin typeface="Consolas"/>
              </a:rPr>
              <a:t>219</a:t>
            </a:r>
          </a:p>
          <a:p>
            <a:pPr algn="r">
              <a:lnSpc>
                <a:spcPct val="100000"/>
              </a:lnSpc>
            </a:pPr>
            <a:r>
              <a:rPr sz="1200">
                <a:solidFill>
                  <a:srgbClr val="4F5D6A"/>
                </a:solidFill>
                <a:latin typeface="Consolas"/>
              </a:rPr>
              <a:t>220</a:t>
            </a:r>
          </a:p>
          <a:p>
            <a:pPr algn="r">
              <a:lnSpc>
                <a:spcPct val="100000"/>
              </a:lnSpc>
            </a:pPr>
            <a:r>
              <a:rPr sz="1200">
                <a:solidFill>
                  <a:srgbClr val="4F5D6A"/>
                </a:solidFill>
                <a:latin typeface="Consolas"/>
              </a:rPr>
              <a:t>221</a:t>
            </a:r>
          </a:p>
          <a:p>
            <a:pPr algn="r">
              <a:lnSpc>
                <a:spcPct val="100000"/>
              </a:lnSpc>
            </a:pPr>
            <a:r>
              <a:rPr sz="1200">
                <a:solidFill>
                  <a:srgbClr val="4F5D6A"/>
                </a:solidFill>
                <a:latin typeface="Consolas"/>
              </a:rPr>
              <a:t>222</a:t>
            </a:r>
          </a:p>
          <a:p>
            <a:pPr algn="r">
              <a:lnSpc>
                <a:spcPct val="100000"/>
              </a:lnSpc>
            </a:pPr>
            <a:r>
              <a:rPr sz="1200">
                <a:solidFill>
                  <a:srgbClr val="4F5D6A"/>
                </a:solidFill>
                <a:latin typeface="Consolas"/>
              </a:rPr>
              <a:t>223</a:t>
            </a:r>
          </a:p>
          <a:p>
            <a:pPr algn="r">
              <a:lnSpc>
                <a:spcPct val="100000"/>
              </a:lnSpc>
            </a:pPr>
            <a:r>
              <a:rPr sz="1200">
                <a:solidFill>
                  <a:srgbClr val="4F5D6A"/>
                </a:solidFill>
                <a:latin typeface="Consolas"/>
              </a:rPr>
              <a:t>224</a:t>
            </a:r>
          </a:p>
          <a:p>
            <a:pPr algn="r">
              <a:lnSpc>
                <a:spcPct val="100000"/>
              </a:lnSpc>
            </a:pPr>
            <a:r>
              <a:rPr sz="1200">
                <a:solidFill>
                  <a:srgbClr val="4F5D6A"/>
                </a:solidFill>
                <a:latin typeface="Consolas"/>
              </a:rPr>
              <a:t>225</a:t>
            </a:r>
          </a:p>
          <a:p>
            <a:pPr algn="r">
              <a:lnSpc>
                <a:spcPct val="100000"/>
              </a:lnSpc>
            </a:pPr>
            <a:r>
              <a:rPr sz="1200">
                <a:solidFill>
                  <a:srgbClr val="4F5D6A"/>
                </a:solidFill>
                <a:latin typeface="Consolas"/>
              </a:rPr>
              <a:t>226</a:t>
            </a:r>
          </a:p>
          <a:p>
            <a:pPr algn="r">
              <a:lnSpc>
                <a:spcPct val="100000"/>
              </a:lnSpc>
            </a:pPr>
            <a:r>
              <a:rPr sz="1200">
                <a:solidFill>
                  <a:srgbClr val="4F5D6A"/>
                </a:solidFill>
                <a:latin typeface="Consolas"/>
              </a:rPr>
              <a:t>227</a:t>
            </a:r>
          </a:p>
          <a:p>
            <a:pPr algn="r">
              <a:lnSpc>
                <a:spcPct val="100000"/>
              </a:lnSpc>
            </a:pPr>
            <a:r>
              <a:rPr sz="1200">
                <a:solidFill>
                  <a:srgbClr val="4F5D6A"/>
                </a:solidFill>
                <a:latin typeface="Consolas"/>
              </a:rPr>
              <a:t>228</a:t>
            </a:r>
          </a:p>
          <a:p>
            <a:pPr algn="r">
              <a:lnSpc>
                <a:spcPct val="100000"/>
              </a:lnSpc>
            </a:pPr>
            <a:r>
              <a:rPr sz="1200">
                <a:solidFill>
                  <a:srgbClr val="4F5D6A"/>
                </a:solidFill>
                <a:latin typeface="Consolas"/>
              </a:rPr>
              <a:t>229</a:t>
            </a:r>
          </a:p>
          <a:p>
            <a:pPr algn="r">
              <a:lnSpc>
                <a:spcPct val="100000"/>
              </a:lnSpc>
            </a:pPr>
            <a:r>
              <a:rPr sz="1200">
                <a:solidFill>
                  <a:srgbClr val="4F5D6A"/>
                </a:solidFill>
                <a:latin typeface="Consolas"/>
              </a:rPr>
              <a:t>230</a:t>
            </a:r>
          </a:p>
          <a:p>
            <a:pPr algn="r">
              <a:lnSpc>
                <a:spcPct val="100000"/>
              </a:lnSpc>
            </a:pPr>
            <a:r>
              <a:rPr sz="1200">
                <a:solidFill>
                  <a:srgbClr val="4F5D6A"/>
                </a:solidFill>
                <a:latin typeface="Consolas"/>
              </a:rPr>
              <a:t>231</a:t>
            </a:r>
          </a:p>
          <a:p>
            <a:pPr algn="r">
              <a:lnSpc>
                <a:spcPct val="100000"/>
              </a:lnSpc>
            </a:pPr>
            <a:r>
              <a:rPr sz="1200">
                <a:solidFill>
                  <a:srgbClr val="4F5D6A"/>
                </a:solidFill>
                <a:latin typeface="Consolas"/>
              </a:rPr>
              <a:t>232</a:t>
            </a:r>
          </a:p>
          <a:p>
            <a:pPr algn="r">
              <a:lnSpc>
                <a:spcPct val="100000"/>
              </a:lnSpc>
            </a:pPr>
            <a:r>
              <a:rPr sz="1200">
                <a:solidFill>
                  <a:srgbClr val="4F5D6A"/>
                </a:solidFill>
                <a:latin typeface="Consolas"/>
              </a:rPr>
              <a:t>233</a:t>
            </a:r>
          </a:p>
          <a:p>
            <a:pPr algn="r">
              <a:lnSpc>
                <a:spcPct val="100000"/>
              </a:lnSpc>
            </a:pPr>
            <a:r>
              <a:rPr sz="1200">
                <a:solidFill>
                  <a:srgbClr val="4F5D6A"/>
                </a:solidFill>
                <a:latin typeface="Consolas"/>
              </a:rPr>
              <a:t>234</a:t>
            </a:r>
          </a:p>
          <a:p>
            <a:pPr algn="r">
              <a:lnSpc>
                <a:spcPct val="100000"/>
              </a:lnSpc>
            </a:pPr>
            <a:r>
              <a:rPr sz="1200">
                <a:solidFill>
                  <a:srgbClr val="4F5D6A"/>
                </a:solidFill>
                <a:latin typeface="Consolas"/>
              </a:rPr>
              <a:t>235</a:t>
            </a:r>
          </a:p>
          <a:p>
            <a:pPr algn="r">
              <a:lnSpc>
                <a:spcPct val="100000"/>
              </a:lnSpc>
            </a:pPr>
            <a:r>
              <a:rPr sz="1200">
                <a:solidFill>
                  <a:srgbClr val="4F5D6A"/>
                </a:solidFill>
                <a:latin typeface="Consolas"/>
              </a:rPr>
              <a:t>236</a:t>
            </a:r>
          </a:p>
          <a:p>
            <a:pPr algn="r">
              <a:lnSpc>
                <a:spcPct val="100000"/>
              </a:lnSpc>
            </a:pPr>
            <a:r>
              <a:rPr sz="1200">
                <a:solidFill>
                  <a:srgbClr val="4F5D6A"/>
                </a:solidFill>
                <a:latin typeface="Consolas"/>
              </a:rPr>
              <a:t>237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60590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§15.5  ·  Handout p. 159     </a:t>
            </a:r>
            <a:fld id="{1C2B6D1F-1B7F-4CEB-87B9-CF5CC0AD8C47}" type="slidenum">
              <a:rPr lang="en-GB" sz="1000">
                <a:solidFill>
                  <a:srgbClr val="8795A1"/>
                </a:solidFill>
                <a:latin typeface="Segoe UI"/>
              </a:rPr>
              <a:t>37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add an arrow from </a:t>
            </a:r>
            <a:r>
              <a:rPr sz="2300" b="0" i="1">
                <a:solidFill>
                  <a:srgbClr val="1C252B"/>
                </a:solidFill>
                <a:latin typeface="Segoe UI"/>
              </a:rPr>
              <a:t>Junior</a:t>
            </a:r>
            <a:r>
              <a:rPr sz="2300" b="0" i="0">
                <a:solidFill>
                  <a:srgbClr val="1C252B"/>
                </a:solidFill>
                <a:latin typeface="Segoe UI"/>
              </a:rPr>
              <a:t> to </a:t>
            </a:r>
            <a:r>
              <a:rPr sz="2300" b="0" i="1">
                <a:solidFill>
                  <a:srgbClr val="1C252B"/>
                </a:solidFill>
                <a:latin typeface="Segoe UI"/>
              </a:rPr>
              <a:t>Rushed</a:t>
            </a:r>
            <a:r>
              <a:rPr sz="2300" b="0" i="0">
                <a:solidFill>
                  <a:srgbClr val="1C252B"/>
                </a:solidFill>
                <a:latin typeface="Segoe UI"/>
              </a:rPr>
              <a:t> — suppose rushed work really is given to junior developers — and re-run. The explaining-away effect changes size, because the two causes are no longer independent to begin with. That is the modelling decision of the alertbox, made concrete.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84495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full joint over these six variables needs </a:t>
            </a:r>
            <a:r>
              <a:rPr sz="3400" b="0" i="0">
                <a:solidFill>
                  <a:srgbClr val="FFFFFF"/>
                </a:solidFill>
                <a:latin typeface="Cambria"/>
              </a:rPr>
              <a:t>64</a:t>
            </a:r>
            <a:r>
              <a:rPr sz="3400" b="0" i="0">
                <a:solidFill>
                  <a:srgbClr val="FFFFFF"/>
                </a:solidFill>
                <a:latin typeface="Segoe UI Semibold"/>
              </a:rPr>
              <a:t> numbers and the network stores </a:t>
            </a:r>
            <a:r>
              <a:rPr sz="3400" b="0" i="0">
                <a:solidFill>
                  <a:srgbClr val="FFFFFF"/>
                </a:solidFill>
                <a:latin typeface="Cambria"/>
              </a:rPr>
              <a:t>15</a:t>
            </a:r>
            <a:r>
              <a:rPr sz="3400" b="0" i="0">
                <a:solidFill>
                  <a:srgbClr val="FFFFFF"/>
                </a:solidFill>
                <a:latin typeface="Segoe UI Semibold"/>
              </a:rPr>
              <a:t>. State precisely what the network asserts in order to get away with the smaller number, and name one assertion in Figure 15.1 that could be false in a real organisation.</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15  ·  Bayesian Networks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165  ·  answers in Appendix D     </a:t>
            </a:r>
            <a:fld id="{4CCBF78E-25DC-4C1C-AA4C-B68E17DB9BBF}"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967435"/>
          </a:xfrm>
        </p:spPr>
        <p:txBody>
          <a:bodyPr wrap="square" lIns="0" rIns="0" tIns="0" bIns="0" anchor="t">
            <a:noAutofit/>
          </a:bodyPr>
          <a:lstStyle/>
          <a:p>
            <a:pPr algn="l">
              <a:lnSpc>
                <a:spcPct val="96000"/>
              </a:lnSpc>
            </a:pPr>
            <a:r>
              <a:rPr sz="2100" b="0" i="0">
                <a:solidFill>
                  <a:srgbClr val="1A5276"/>
                </a:solidFill>
                <a:latin typeface="Segoe UI Semibold"/>
              </a:rPr>
              <a:t>The full joint over these six variables needs </a:t>
            </a:r>
            <a:r>
              <a:rPr sz="2100" b="0" i="0">
                <a:solidFill>
                  <a:srgbClr val="1A5276"/>
                </a:solidFill>
                <a:latin typeface="Cambria"/>
              </a:rPr>
              <a:t>64</a:t>
            </a:r>
            <a:r>
              <a:rPr sz="2100" b="0" i="0">
                <a:solidFill>
                  <a:srgbClr val="1A5276"/>
                </a:solidFill>
                <a:latin typeface="Segoe UI Semibold"/>
              </a:rPr>
              <a:t> numbers and the network stores </a:t>
            </a:r>
            <a:r>
              <a:rPr sz="2100" b="0" i="0">
                <a:solidFill>
                  <a:srgbClr val="1A5276"/>
                </a:solidFill>
                <a:latin typeface="Cambria"/>
              </a:rPr>
              <a:t>15</a:t>
            </a:r>
            <a:r>
              <a:rPr sz="2100" b="0" i="0">
                <a:solidFill>
                  <a:srgbClr val="1A5276"/>
                </a:solidFill>
                <a:latin typeface="Segoe UI Semibold"/>
              </a:rPr>
              <a:t>. State precisely what the network asserts in order to get away with the smaller number, and name one assertion in Figure 15.1 that could be false in a real organisation.</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982419"/>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982419"/>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asserts that </a:t>
            </a:r>
            <a:r>
              <a:rPr sz="2200" b="0" i="1">
                <a:solidFill>
                  <a:srgbClr val="1C252B"/>
                </a:solidFill>
                <a:latin typeface="Segoe UI"/>
              </a:rPr>
              <a:t>each variable is conditionally independent of its non-descendants given its parents</a:t>
            </a:r>
            <a:r>
              <a:rPr sz="2200" b="0" i="0">
                <a:solidFill>
                  <a:srgbClr val="1C252B"/>
                </a:solidFill>
                <a:latin typeface="Segoe UI"/>
              </a:rPr>
              <a:t>. That licenses the chain rule, so the joint factorises into one small table per node. An assertion in Figure 15.1 that could easily be false: there is no edge between </a:t>
            </a:r>
            <a:r>
              <a:rPr sz="2200" b="0" i="1">
                <a:solidFill>
                  <a:srgbClr val="1C252B"/>
                </a:solidFill>
                <a:latin typeface="Segoe UI"/>
              </a:rPr>
              <a:t>Rushed</a:t>
            </a:r>
            <a:r>
              <a:rPr sz="2200" b="0" i="0">
                <a:solidFill>
                  <a:srgbClr val="1C252B"/>
                </a:solidFill>
                <a:latin typeface="Segoe UI"/>
              </a:rPr>
              <a:t> and </a:t>
            </a:r>
            <a:r>
              <a:rPr sz="2200" b="0" i="1">
                <a:solidFill>
                  <a:srgbClr val="1C252B"/>
                </a:solidFill>
                <a:latin typeface="Segoe UI"/>
              </a:rPr>
              <a:t>Junior</a:t>
            </a:r>
            <a:r>
              <a:rPr sz="2200" b="0" i="0">
                <a:solidFill>
                  <a:srgbClr val="1C252B"/>
                </a:solidFill>
                <a:latin typeface="Segoe UI"/>
              </a:rPr>
              <a:t>, which claims they are independent. In many organisations rushed work is precisely what gets handed to the least experienced developer, and if that is true here the network is wrong and will give confidently wrong answers.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  answers in Appendix D     </a:t>
            </a:r>
            <a:fld id="{B6D6949A-A2AF-4D52-86C2-BC1C947C5EE7}"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23061"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Learning that there is a defect raised belief in a rushed specification from </a:t>
            </a:r>
            <a:r>
              <a:rPr sz="3400" b="0" i="0">
                <a:solidFill>
                  <a:srgbClr val="FFFFFF"/>
                </a:solidFill>
                <a:latin typeface="Cambria"/>
              </a:rPr>
              <a:t>0.30</a:t>
            </a:r>
            <a:r>
              <a:rPr sz="3400" b="0" i="0">
                <a:solidFill>
                  <a:srgbClr val="FFFFFF"/>
                </a:solidFill>
                <a:latin typeface="Segoe UI Semibold"/>
              </a:rPr>
              <a:t> to </a:t>
            </a:r>
            <a:r>
              <a:rPr sz="3400" b="0" i="0">
                <a:solidFill>
                  <a:srgbClr val="FFFFFF"/>
                </a:solidFill>
                <a:latin typeface="Cambria"/>
              </a:rPr>
              <a:t>0.5281</a:t>
            </a:r>
            <a:r>
              <a:rPr sz="3400" b="0" i="0">
                <a:solidFill>
                  <a:srgbClr val="FFFFFF"/>
                </a:solidFill>
                <a:latin typeface="Segoe UI Semibold"/>
              </a:rPr>
              <a:t>; additionally learning that a junior developer was involved </a:t>
            </a:r>
            <a:r>
              <a:rPr sz="3400" b="0" i="1">
                <a:solidFill>
                  <a:srgbClr val="FFFFFF"/>
                </a:solidFill>
                <a:latin typeface="Segoe UI Semibold"/>
              </a:rPr>
              <a:t>lowered</a:t>
            </a:r>
            <a:r>
              <a:rPr sz="3400" b="0" i="0">
                <a:solidFill>
                  <a:srgbClr val="FFFFFF"/>
                </a:solidFill>
                <a:latin typeface="Segoe UI Semibold"/>
              </a:rPr>
              <a:t> it to </a:t>
            </a:r>
            <a:r>
              <a:rPr sz="3400" b="0" i="0">
                <a:solidFill>
                  <a:srgbClr val="FFFFFF"/>
                </a:solidFill>
                <a:latin typeface="Cambria"/>
              </a:rPr>
              <a:t>0.4304</a:t>
            </a:r>
            <a:r>
              <a:rPr sz="3400" b="0" i="0">
                <a:solidFill>
                  <a:srgbClr val="FFFFFF"/>
                </a:solidFill>
                <a:latin typeface="Segoe UI Semibold"/>
              </a:rPr>
              <a:t>. Explain why, and say why a forward-chaining rule base cannot reproduce this.</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15  ·  Bayesian Networks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165  ·  answers in Appendix D     </a:t>
            </a:r>
            <a:fld id="{385D6D76-DB88-488B-810B-32E550C9729A}" type="slidenum">
              <a:rPr lang="en-GB" sz="1000">
                <a:solidFill>
                  <a:srgbClr val="D5DEE5"/>
                </a:solidFill>
                <a:latin typeface="Segoe UI"/>
              </a:rPr>
              <a:t>40</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967435"/>
          </a:xfrm>
        </p:spPr>
        <p:txBody>
          <a:bodyPr wrap="square" lIns="0" rIns="0" tIns="0" bIns="0" anchor="t">
            <a:noAutofit/>
          </a:bodyPr>
          <a:lstStyle/>
          <a:p>
            <a:pPr algn="l">
              <a:lnSpc>
                <a:spcPct val="96000"/>
              </a:lnSpc>
            </a:pPr>
            <a:r>
              <a:rPr sz="2100" b="0" i="0">
                <a:solidFill>
                  <a:srgbClr val="1A5276"/>
                </a:solidFill>
                <a:latin typeface="Segoe UI Semibold"/>
              </a:rPr>
              <a:t>Learning that there is a defect raised belief in a rushed specification from </a:t>
            </a:r>
            <a:r>
              <a:rPr sz="2100" b="0" i="0">
                <a:solidFill>
                  <a:srgbClr val="1A5276"/>
                </a:solidFill>
                <a:latin typeface="Cambria"/>
              </a:rPr>
              <a:t>0.30</a:t>
            </a:r>
            <a:r>
              <a:rPr sz="2100" b="0" i="0">
                <a:solidFill>
                  <a:srgbClr val="1A5276"/>
                </a:solidFill>
                <a:latin typeface="Segoe UI Semibold"/>
              </a:rPr>
              <a:t> to </a:t>
            </a:r>
            <a:r>
              <a:rPr sz="2100" b="0" i="0">
                <a:solidFill>
                  <a:srgbClr val="1A5276"/>
                </a:solidFill>
                <a:latin typeface="Cambria"/>
              </a:rPr>
              <a:t>0.5281</a:t>
            </a:r>
            <a:r>
              <a:rPr sz="2100" b="0" i="0">
                <a:solidFill>
                  <a:srgbClr val="1A5276"/>
                </a:solidFill>
                <a:latin typeface="Segoe UI Semibold"/>
              </a:rPr>
              <a:t>; additionally learning that a junior developer was involved </a:t>
            </a:r>
            <a:r>
              <a:rPr sz="2100" b="0" i="1">
                <a:solidFill>
                  <a:srgbClr val="1A5276"/>
                </a:solidFill>
                <a:latin typeface="Segoe UI Semibold"/>
              </a:rPr>
              <a:t>lowered</a:t>
            </a:r>
            <a:r>
              <a:rPr sz="2100" b="0" i="0">
                <a:solidFill>
                  <a:srgbClr val="1A5276"/>
                </a:solidFill>
                <a:latin typeface="Segoe UI Semibold"/>
              </a:rPr>
              <a:t> it to </a:t>
            </a:r>
            <a:r>
              <a:rPr sz="2100" b="0" i="0">
                <a:solidFill>
                  <a:srgbClr val="1A5276"/>
                </a:solidFill>
                <a:latin typeface="Cambria"/>
              </a:rPr>
              <a:t>0.4304</a:t>
            </a:r>
            <a:r>
              <a:rPr sz="2100" b="0" i="0">
                <a:solidFill>
                  <a:srgbClr val="1A5276"/>
                </a:solidFill>
                <a:latin typeface="Segoe UI Semibold"/>
              </a:rPr>
              <a:t>. Explain why, and say why a forward-chaining rule base cannot reproduce this.</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982419"/>
            <a:ext cx="64008" cy="278952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982419"/>
            <a:ext cx="10509199" cy="2835249"/>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Both are consequences of the arithmetic of a common effect. </a:t>
            </a:r>
            <a:r>
              <a:rPr sz="2200" b="0" i="1">
                <a:solidFill>
                  <a:srgbClr val="1C252B"/>
                </a:solidFill>
                <a:latin typeface="Segoe UI"/>
              </a:rPr>
              <a:t>Defect</a:t>
            </a:r>
            <a:r>
              <a:rPr sz="2200" b="0" i="0">
                <a:solidFill>
                  <a:srgbClr val="1C252B"/>
                </a:solidFill>
                <a:latin typeface="Segoe UI"/>
              </a:rPr>
              <a:t> needs explaining, and a rushed specification is one of the available explanations, so its probability rises. Learning that a junior developer was involved supplies a </a:t>
            </a:r>
            <a:r>
              <a:rPr sz="2200" b="0" i="1">
                <a:solidFill>
                  <a:srgbClr val="1C252B"/>
                </a:solidFill>
                <a:latin typeface="Segoe UI"/>
              </a:rPr>
              <a:t>different</a:t>
            </a:r>
            <a:r>
              <a:rPr sz="2200" b="0" i="0">
                <a:solidFill>
                  <a:srgbClr val="1C252B"/>
                </a:solidFill>
                <a:latin typeface="Segoe UI"/>
              </a:rPr>
              <a:t> sufficient explanation, so less explanatory work is left over and the probability of the first cause falls. A forward-chaining rule base cannot reproduce this because it would need a rule whose conclusion becomes </a:t>
            </a:r>
            <a:r>
              <a:rPr sz="2200" b="0" i="1">
                <a:solidFill>
                  <a:srgbClr val="1C252B"/>
                </a:solidFill>
                <a:latin typeface="Segoe UI"/>
              </a:rPr>
              <a:t>weaker</a:t>
            </a:r>
            <a:r>
              <a:rPr sz="2200" b="0" i="0">
                <a:solidFill>
                  <a:srgbClr val="1C252B"/>
                </a:solidFill>
                <a:latin typeface="Segoe UI"/>
              </a:rPr>
              <a:t> when a condition is added — and Chapter 13’s specificity strategy would do the opposite, preferring the rule with more conditions and thus strengthening it.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  answers in Appendix D     </a:t>
            </a:r>
            <a:fld id="{1C169254-6209-4F7C-8541-AD7166FACB18}" type="slidenum">
              <a:rPr lang="en-GB" sz="1000">
                <a:solidFill>
                  <a:srgbClr val="8795A1"/>
                </a:solidFill>
                <a:latin typeface="Segoe UI"/>
              </a:rPr>
              <a:t>41</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80116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Rejection sampling discarded </a:t>
            </a:r>
            <a:r>
              <a:rPr sz="3400" b="0" i="0">
                <a:solidFill>
                  <a:srgbClr val="FFFFFF"/>
                </a:solidFill>
                <a:latin typeface="Cambria"/>
              </a:rPr>
              <a:t>70%</a:t>
            </a:r>
            <a:r>
              <a:rPr sz="3400" b="0" i="0">
                <a:solidFill>
                  <a:srgbClr val="FFFFFF"/>
                </a:solidFill>
                <a:latin typeface="Segoe UI Semibold"/>
              </a:rPr>
              <a:t> of its samples here. Describe the circumstance in which it becomes useless, and say what likelihood weighting does differently.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15  ·  Bayesian Networks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165  ·  answers in Appendix D     </a:t>
            </a:r>
            <a:fld id="{AE78F257-7FFE-4F19-BE6B-6D1139ABD3DC}" type="slidenum">
              <a:rPr lang="en-GB" sz="1000">
                <a:solidFill>
                  <a:srgbClr val="D5DEE5"/>
                </a:solidFill>
                <a:latin typeface="Segoe UI"/>
              </a:rPr>
              <a:t>42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Rejection sampling discarded </a:t>
            </a:r>
            <a:r>
              <a:rPr sz="2400" b="0" i="0">
                <a:solidFill>
                  <a:srgbClr val="1A5276"/>
                </a:solidFill>
                <a:latin typeface="Cambria"/>
              </a:rPr>
              <a:t>70%</a:t>
            </a:r>
            <a:r>
              <a:rPr sz="2400" b="0" i="0">
                <a:solidFill>
                  <a:srgbClr val="1A5276"/>
                </a:solidFill>
                <a:latin typeface="Segoe UI Semibold"/>
              </a:rPr>
              <a:t> of its samples here. Describe the circumstance in which it becomes useless, and say what likelihood weighting does differently.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It becomes useless when the evidence is rare: it keeps only the fraction of samples that happen to match, so evidence of probability </a:t>
            </a:r>
            <a:r>
              <a:rPr sz="2200" b="0" i="0">
                <a:solidFill>
                  <a:srgbClr val="1C252B"/>
                </a:solidFill>
                <a:latin typeface="Cambria"/>
              </a:rPr>
              <a:t>0.01</a:t>
            </a:r>
            <a:r>
              <a:rPr sz="2200" b="0" i="0">
                <a:solidFill>
                  <a:srgbClr val="1C252B"/>
                </a:solidFill>
                <a:latin typeface="Segoe UI"/>
              </a:rPr>
              <a:t> throws away </a:t>
            </a:r>
            <a:r>
              <a:rPr sz="2200" b="0" i="0">
                <a:solidFill>
                  <a:srgbClr val="1C252B"/>
                </a:solidFill>
                <a:latin typeface="Cambria"/>
              </a:rPr>
              <a:t>99%</a:t>
            </a:r>
            <a:r>
              <a:rPr sz="2200" b="0" i="0">
                <a:solidFill>
                  <a:srgbClr val="1C252B"/>
                </a:solidFill>
                <a:latin typeface="Segoe UI"/>
              </a:rPr>
              <a:t> of the work, and diagnostic evidence is usually rare because that is what makes it worth reasoning about. Likelihood weighting does not sample the evidence variables at all — it fixes them to their observed values and weights each sample by the probability of the evidence given what was sampled — so every sample contributes.</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  answers in Appendix D     </a:t>
            </a:r>
            <a:fld id="{88A60823-C9E0-4FC9-99AA-DB9FA784B41B}" type="slidenum">
              <a:rPr lang="en-GB" sz="1000">
                <a:solidFill>
                  <a:srgbClr val="8795A1"/>
                </a:solidFill>
                <a:latin typeface="Segoe UI"/>
              </a:rPr>
              <a:t>43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27927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3473454B-B0F9-497B-B200-14CCEA883222}" type="slidenum">
              <a:rPr lang="en-GB" sz="1000">
                <a:solidFill>
                  <a:srgbClr val="8795A1"/>
                </a:solidFill>
                <a:latin typeface="Segoe UI"/>
              </a:rPr>
              <a:t>44</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Bayesian network</a:t>
            </a:r>
            <a:r>
              <a:rPr sz="1700" b="0" i="0">
                <a:solidFill>
                  <a:srgbClr val="1C252B"/>
                </a:solidFill>
                <a:latin typeface="Segoe UI"/>
              </a:rPr>
              <a:t> is a directed acyclic graph with a conditional probability table at each node. It asserts that each variable is conditionally independent of its non-descendants given its parents, which licenses the chain rule and lets </a:t>
            </a:r>
            <a:r>
              <a:rPr sz="1700" b="0" i="0">
                <a:solidFill>
                  <a:srgbClr val="1C252B"/>
                </a:solidFill>
                <a:latin typeface="Cambria"/>
              </a:rPr>
              <a:t>15</a:t>
            </a:r>
            <a:r>
              <a:rPr sz="1700" b="0" i="0">
                <a:solidFill>
                  <a:srgbClr val="1C252B"/>
                </a:solidFill>
                <a:latin typeface="Segoe UI"/>
              </a:rPr>
              <a:t> numbers stand for a joint of </a:t>
            </a:r>
            <a:r>
              <a:rPr sz="1700" b="0" i="0">
                <a:solidFill>
                  <a:srgbClr val="1C252B"/>
                </a:solidFill>
                <a:latin typeface="Cambria"/>
              </a:rPr>
              <a:t>64</a:t>
            </a:r>
            <a:r>
              <a:rPr sz="1700" b="0" i="0">
                <a:solidFill>
                  <a:srgbClr val="1C252B"/>
                </a:solidFill>
                <a:latin typeface="Segoe UI"/>
              </a:rPr>
              <a:t>.</a:t>
            </a:r>
          </a:p>
        </p:txBody>
      </p:sp>
      <p:sp>
        <p:nvSpPr>
          <p:cNvPr id="10" name="!!sb1">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728569"/>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1">
                <a:solidFill>
                  <a:srgbClr val="1C252B"/>
                </a:solidFill>
                <a:latin typeface="Segoe UI"/>
              </a:rPr>
              <a:t>The missing arrows are the claims.</a:t>
            </a:r>
            <a:r>
              <a:rPr sz="1700" b="0" i="0">
                <a:solidFill>
                  <a:srgbClr val="1C252B"/>
                </a:solidFill>
                <a:latin typeface="Segoe UI"/>
              </a:rPr>
              <a:t> They are substantive assertions about the domain and they can be wrong; drawing the graph is the modelling.</a:t>
            </a:r>
          </a:p>
        </p:txBody>
      </p:sp>
      <p:sp>
        <p:nvSpPr>
          <p:cNvPr id="13" name="!!sb2">
            <a:extLst>
              <a:ext uri="{C183D7F6-B498-43B3-948B-1728B52AA6E4}">
                <adec:decorative xmlns:adec="http://schemas.microsoft.com/office/drawing/2017/decorative" val="1"/>
              </a:ext>
            </a:extLst>
          </p:cNvPr>
          <p:cNvSpPr/>
          <p:nvPr/>
        </p:nvSpPr>
        <p:spPr>
          <a:xfrm>
            <a:off x="658368" y="345948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51434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450336"/>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Enumeration</a:t>
            </a:r>
            <a:r>
              <a:rPr sz="1700" b="0" i="0">
                <a:solidFill>
                  <a:srgbClr val="1C252B"/>
                </a:solidFill>
                <a:latin typeface="Segoe UI"/>
              </a:rPr>
              <a:t> is exact and </a:t>
            </a:r>
            <a:r>
              <a:rPr sz="1700" b="0" i="1">
                <a:solidFill>
                  <a:srgbClr val="1C252B"/>
                </a:solidFill>
                <a:latin typeface="Cambria"/>
              </a:rPr>
              <a:t>O</a:t>
            </a:r>
            <a:r>
              <a:rPr sz="1700" b="0" i="0">
                <a:solidFill>
                  <a:srgbClr val="1C252B"/>
                </a:solidFill>
                <a:latin typeface="Cambria"/>
              </a:rPr>
              <a:t>(2</a:t>
            </a:r>
            <a:r>
              <a:rPr sz="1100" b="0" i="1" baseline="30000">
                <a:solidFill>
                  <a:srgbClr val="1C252B"/>
                </a:solidFill>
                <a:latin typeface="Cambria"/>
              </a:rPr>
              <a:t>n</a:t>
            </a:r>
            <a:r>
              <a:rPr sz="1700" b="0" i="0">
                <a:solidFill>
                  <a:srgbClr val="1C252B"/>
                </a:solidFill>
                <a:latin typeface="Cambria"/>
              </a:rPr>
              <a:t>)</a:t>
            </a:r>
            <a:r>
              <a:rPr sz="1700" b="0" i="0">
                <a:solidFill>
                  <a:srgbClr val="1C252B"/>
                </a:solidFill>
                <a:latin typeface="Segoe UI"/>
              </a:rPr>
              <a:t>. </a:t>
            </a:r>
            <a:r>
              <a:rPr sz="1700" b="1" i="0">
                <a:solidFill>
                  <a:srgbClr val="1A5276"/>
                </a:solidFill>
                <a:latin typeface="Segoe UI"/>
              </a:rPr>
              <a:t>Variable elimination</a:t>
            </a:r>
            <a:r>
              <a:rPr sz="1700" b="0" i="0">
                <a:solidFill>
                  <a:srgbClr val="1C252B"/>
                </a:solidFill>
                <a:latin typeface="Segoe UI"/>
              </a:rPr>
              <a:t> is exact and computes shared subexpressions once — but it </a:t>
            </a:r>
            <a:r>
              <a:rPr sz="1700" b="0" i="1">
                <a:solidFill>
                  <a:srgbClr val="1C252B"/>
                </a:solidFill>
                <a:latin typeface="Segoe UI"/>
              </a:rPr>
              <a:t>lost</a:t>
            </a:r>
            <a:r>
              <a:rPr sz="1700" b="0" i="0">
                <a:solidFill>
                  <a:srgbClr val="1C252B"/>
                </a:solidFill>
                <a:latin typeface="Segoe UI"/>
              </a:rPr>
              <a:t> on this six-node network, </a:t>
            </a:r>
            <a:r>
              <a:rPr sz="1700" b="0" i="0">
                <a:solidFill>
                  <a:srgbClr val="1C252B"/>
                </a:solidFill>
                <a:latin typeface="Cambria"/>
              </a:rPr>
              <a:t>74</a:t>
            </a:r>
            <a:r>
              <a:rPr sz="1700" b="0" i="0">
                <a:solidFill>
                  <a:srgbClr val="1C252B"/>
                </a:solidFill>
                <a:latin typeface="Segoe UI"/>
              </a:rPr>
              <a:t> operations against </a:t>
            </a:r>
            <a:r>
              <a:rPr sz="1700" b="0" i="0">
                <a:solidFill>
                  <a:srgbClr val="1C252B"/>
                </a:solidFill>
                <a:latin typeface="Cambria"/>
              </a:rPr>
              <a:t>32</a:t>
            </a:r>
            <a:r>
              <a:rPr sz="1700" b="0" i="0">
                <a:solidFill>
                  <a:srgbClr val="1C252B"/>
                </a:solidFill>
                <a:latin typeface="Segoe UI"/>
              </a:rPr>
              <a:t> terms. Its advantage is asymptotic: on a fourteen-service chain it is </a:t>
            </a:r>
            <a:r>
              <a:rPr sz="1700" b="0" i="0">
                <a:solidFill>
                  <a:srgbClr val="1C252B"/>
                </a:solidFill>
                <a:latin typeface="Cambria"/>
              </a:rPr>
              <a:t>186</a:t>
            </a:r>
            <a:r>
              <a:rPr sz="1700" b="0" i="0">
                <a:solidFill>
                  <a:srgbClr val="1C252B"/>
                </a:solidFill>
                <a:latin typeface="Segoe UI"/>
              </a:rPr>
              <a:t> operations against </a:t>
            </a:r>
            <a:r>
              <a:rPr sz="1700" b="0" i="0">
                <a:solidFill>
                  <a:srgbClr val="1C252B"/>
                </a:solidFill>
                <a:latin typeface="Cambria"/>
              </a:rPr>
              <a:t>8,192</a:t>
            </a:r>
            <a:r>
              <a:rPr sz="1700" b="0" i="0">
                <a:solidFill>
                  <a:srgbClr val="1C252B"/>
                </a:solidFill>
                <a:latin typeface="Segoe UI"/>
              </a:rPr>
              <a:t> terms.</a:t>
            </a:r>
          </a:p>
        </p:txBody>
      </p:sp>
      <p:sp>
        <p:nvSpPr>
          <p:cNvPr id="16" name="!!sb3">
            <a:extLst>
              <a:ext uri="{C183D7F6-B498-43B3-948B-1728B52AA6E4}">
                <adec:decorative xmlns:adec="http://schemas.microsoft.com/office/drawing/2017/decorative" val="1"/>
              </a:ext>
            </a:extLst>
          </p:cNvPr>
          <p:cNvSpPr/>
          <p:nvPr/>
        </p:nvSpPr>
        <p:spPr>
          <a:xfrm>
            <a:off x="658368" y="445068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50555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441545"/>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Exact inference in general Bayesian networks is NP-hard; the cost is governed by the largest intermediate factor.</a:t>
            </a:r>
          </a:p>
        </p:txBody>
      </p:sp>
      <p:sp>
        <p:nvSpPr>
          <p:cNvPr id="19" name="!!sb4">
            <a:extLst>
              <a:ext uri="{C183D7F6-B498-43B3-948B-1728B52AA6E4}">
                <adec:decorative xmlns:adec="http://schemas.microsoft.com/office/drawing/2017/decorative" val="1"/>
              </a:ext>
            </a:extLst>
          </p:cNvPr>
          <p:cNvSpPr/>
          <p:nvPr/>
        </p:nvSpPr>
        <p:spPr>
          <a:xfrm>
            <a:off x="658368" y="517245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522732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5163312"/>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Rejection sampling</a:t>
            </a:r>
            <a:r>
              <a:rPr sz="1700" b="0" i="0">
                <a:solidFill>
                  <a:srgbClr val="1C252B"/>
                </a:solidFill>
                <a:latin typeface="Segoe UI"/>
              </a:rPr>
              <a:t> discards every sample disagreeing with the evidence — </a:t>
            </a:r>
            <a:r>
              <a:rPr sz="1700" b="0" i="0">
                <a:solidFill>
                  <a:srgbClr val="1C252B"/>
                </a:solidFill>
                <a:latin typeface="Cambria"/>
              </a:rPr>
              <a:t>70%</a:t>
            </a:r>
            <a:r>
              <a:rPr sz="1700" b="0" i="0">
                <a:solidFill>
                  <a:srgbClr val="1C252B"/>
                </a:solidFill>
                <a:latin typeface="Segoe UI"/>
              </a:rPr>
              <a:t> here, and nearly everything when the evidence is rare. </a:t>
            </a:r>
            <a:r>
              <a:rPr sz="1700" b="1" i="0">
                <a:solidFill>
                  <a:srgbClr val="1A5276"/>
                </a:solidFill>
                <a:latin typeface="Segoe UI"/>
              </a:rPr>
              <a:t>Likelihood weighting</a:t>
            </a:r>
            <a:r>
              <a:rPr sz="1700" b="0" i="0">
                <a:solidFill>
                  <a:srgbClr val="1C252B"/>
                </a:solidFill>
                <a:latin typeface="Segoe UI"/>
              </a:rPr>
              <a:t> fixes the evidence and weights instead, so every sample counts.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10518325"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BE17EB0E-F445-430A-815E-D0688B2CF934}" type="slidenum">
              <a:rPr lang="en-GB" sz="1000">
                <a:solidFill>
                  <a:srgbClr val="8795A1"/>
                </a:solidFill>
                <a:latin typeface="Segoe UI"/>
              </a:rPr>
              <a:t>45</a:t>
            </a:fld>
          </a:p>
        </p:txBody>
      </p:sp>
      <p:sp>
        <p:nvSpPr>
          <p:cNvPr id="7" name="!!sb5">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5"/>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9" name="!!st5"/>
          <p:cNvSpPr txBox="1"/>
          <p:nvPr/>
        </p:nvSpPr>
        <p:spPr>
          <a:xfrm>
            <a:off x="1298448" y="1737360"/>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Explaining away</a:t>
            </a:r>
            <a:r>
              <a:rPr sz="1700" b="0" i="0">
                <a:solidFill>
                  <a:srgbClr val="1C252B"/>
                </a:solidFill>
                <a:latin typeface="Segoe UI"/>
              </a:rPr>
              <a:t>: two causes of a common effect are independent until the effect is observed and negatively dependent afterwards. Belief in a rushed specification rose to </a:t>
            </a:r>
            <a:r>
              <a:rPr sz="1700" b="0" i="0">
                <a:solidFill>
                  <a:srgbClr val="1C252B"/>
                </a:solidFill>
                <a:latin typeface="Cambria"/>
              </a:rPr>
              <a:t>0.5281</a:t>
            </a:r>
            <a:r>
              <a:rPr sz="1700" b="0" i="0">
                <a:solidFill>
                  <a:srgbClr val="1C252B"/>
                </a:solidFill>
                <a:latin typeface="Segoe UI"/>
              </a:rPr>
              <a:t> on seeing a defect and fell to </a:t>
            </a:r>
            <a:r>
              <a:rPr sz="1700" b="0" i="0">
                <a:solidFill>
                  <a:srgbClr val="1C252B"/>
                </a:solidFill>
                <a:latin typeface="Cambria"/>
              </a:rPr>
              <a:t>0.4304</a:t>
            </a:r>
            <a:r>
              <a:rPr sz="1700" b="0" i="0">
                <a:solidFill>
                  <a:srgbClr val="1C252B"/>
                </a:solidFill>
                <a:latin typeface="Segoe UI"/>
              </a:rPr>
              <a:t> on also learning of a junior developer.</a:t>
            </a:r>
          </a:p>
        </p:txBody>
      </p:sp>
      <p:sp>
        <p:nvSpPr>
          <p:cNvPr id="10" name="!!sb6">
            <a:extLst>
              <a:ext uri="{C183D7F6-B498-43B3-948B-1728B52AA6E4}">
                <adec:decorative xmlns:adec="http://schemas.microsoft.com/office/drawing/2017/decorative" val="1"/>
              </a:ext>
            </a:extLst>
          </p:cNvPr>
          <p:cNvSpPr/>
          <p:nvPr/>
        </p:nvSpPr>
        <p:spPr>
          <a:xfrm>
            <a:off x="658368" y="273771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6"/>
          <p:cNvSpPr txBox="1"/>
          <p:nvPr/>
        </p:nvSpPr>
        <p:spPr>
          <a:xfrm>
            <a:off x="658368" y="279257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12" name="!!st6"/>
          <p:cNvSpPr txBox="1"/>
          <p:nvPr/>
        </p:nvSpPr>
        <p:spPr>
          <a:xfrm>
            <a:off x="1298448" y="2728569"/>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That behaviour is why one builds a network rather than a rule base: it requires a conclusion to become </a:t>
            </a:r>
            <a:r>
              <a:rPr sz="1700" b="0" i="1">
                <a:solidFill>
                  <a:srgbClr val="1C252B"/>
                </a:solidFill>
                <a:latin typeface="Segoe UI"/>
              </a:rPr>
              <a:t>weaker</a:t>
            </a:r>
            <a:r>
              <a:rPr sz="1700" b="0" i="0">
                <a:solidFill>
                  <a:srgbClr val="1C252B"/>
                </a:solidFill>
                <a:latin typeface="Segoe UI"/>
              </a:rPr>
              <a:t> as a condition is added, which no production rule expresses and Chapter 13’s specificity strategy would get backwards.</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10757378"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D3426F5F-D1CB-40B7-8962-8195361B996A}" type="slidenum">
              <a:rPr lang="en-GB" sz="1000">
                <a:solidFill>
                  <a:srgbClr val="8795A1"/>
                </a:solidFill>
                <a:latin typeface="Segoe UI"/>
              </a:rPr>
              <a:t>46</a:t>
            </a:fld>
          </a:p>
        </p:txBody>
      </p:sp>
      <p:sp>
        <p:nvSpPr>
          <p:cNvPr id="7" name="!!mstem"/>
          <p:cNvSpPr txBox="1"/>
          <p:nvPr/>
        </p:nvSpPr>
        <p:spPr>
          <a:xfrm>
            <a:off x="658368" y="1737360"/>
            <a:ext cx="10874959" cy="86989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Bayesian network asserts that each variable is conditionally independent of:</a:t>
            </a:r>
          </a:p>
        </p:txBody>
      </p:sp>
      <p:sp>
        <p:nvSpPr>
          <p:cNvPr id="8" name="!!mo0">
            <a:extLst>
              <a:ext uri="{C183D7F6-B498-43B3-948B-1728B52AA6E4}">
                <adec:decorative xmlns:adec="http://schemas.microsoft.com/office/drawing/2017/decorative" val="1"/>
              </a:ext>
            </a:extLst>
          </p:cNvPr>
          <p:cNvSpPr/>
          <p:nvPr/>
        </p:nvSpPr>
        <p:spPr>
          <a:xfrm>
            <a:off x="658368"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320161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32778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all other variables</a:t>
            </a:r>
          </a:p>
        </p:txBody>
      </p:sp>
      <p:sp>
        <p:nvSpPr>
          <p:cNvPr id="12" name="!!mo1">
            <a:extLst>
              <a:ext uri="{C183D7F6-B498-43B3-948B-1728B52AA6E4}">
                <adec:decorative xmlns:adec="http://schemas.microsoft.com/office/drawing/2017/decorative" val="1"/>
              </a:ext>
            </a:extLst>
          </p:cNvPr>
          <p:cNvSpPr/>
          <p:nvPr/>
        </p:nvSpPr>
        <p:spPr>
          <a:xfrm>
            <a:off x="6214719" y="292729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320161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328391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312541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its non-descendants, given its parents</a:t>
            </a:r>
          </a:p>
        </p:txBody>
      </p:sp>
      <p:sp>
        <p:nvSpPr>
          <p:cNvPr id="16" name="!!mo2">
            <a:extLst>
              <a:ext uri="{C183D7F6-B498-43B3-948B-1728B52AA6E4}">
                <adec:decorative xmlns:adec="http://schemas.microsoft.com/office/drawing/2017/decorative" val="1"/>
              </a:ext>
            </a:extLst>
          </p:cNvPr>
          <p:cNvSpPr/>
          <p:nvPr/>
        </p:nvSpPr>
        <p:spPr>
          <a:xfrm>
            <a:off x="658368"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439033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its parents</a:t>
            </a:r>
          </a:p>
        </p:txBody>
      </p:sp>
      <p:sp>
        <p:nvSpPr>
          <p:cNvPr id="20" name="!!mo3">
            <a:extLst>
              <a:ext uri="{C183D7F6-B498-43B3-948B-1728B52AA6E4}">
                <adec:decorative xmlns:adec="http://schemas.microsoft.com/office/drawing/2017/decorative" val="1"/>
              </a:ext>
            </a:extLst>
          </p:cNvPr>
          <p:cNvSpPr/>
          <p:nvPr/>
        </p:nvSpPr>
        <p:spPr>
          <a:xfrm>
            <a:off x="6214719" y="411601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439033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47263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46653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its descendants, given the evidence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996430"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CECD1B43-E220-478B-AC60-D3AB26B7EF46}" type="slidenum">
              <a:rPr lang="en-GB" sz="1000">
                <a:solidFill>
                  <a:srgbClr val="8795A1"/>
                </a:solidFill>
                <a:latin typeface="Segoe UI"/>
              </a:rPr>
              <a:t>47</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Explaining away means that: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evidence for one cause raises belief in another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evidence for one cause lowers belief in another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causes are always independent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effects are independent of causes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235483"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E773B0F8-9A6B-44C4-A7F8-2DD9EBA1D3CE}" type="slidenum">
              <a:rPr lang="en-GB" sz="1000">
                <a:solidFill>
                  <a:srgbClr val="8795A1"/>
                </a:solidFill>
                <a:latin typeface="Segoe UI"/>
              </a:rPr>
              <a:t>48</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Likelihood weighting differs from rejection sampling by:</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sampling more variables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fixing the evidence and weighting each sample</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using exact arithmetic</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eliminating variables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74536"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38A14097-2996-42BA-9559-5132AE9FC3F2}" type="slidenum">
              <a:rPr lang="en-GB" sz="1000">
                <a:solidFill>
                  <a:srgbClr val="8795A1"/>
                </a:solidFill>
                <a:latin typeface="Segoe UI"/>
              </a:rPr>
              <a:t>49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hidden variable with no observed descendants: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must be summed over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sums to one and can be deleted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makes the query intractable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must be given evidence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713589"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15  ·  Bayesian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165     </a:t>
            </a:r>
            <a:fld id="{E50DEBE4-7F23-48F7-A300-3D8633ABC2B2}" type="slidenum">
              <a:rPr lang="en-GB" sz="1000">
                <a:solidFill>
                  <a:srgbClr val="8795A1"/>
                </a:solidFill>
                <a:latin typeface="Segoe UI"/>
              </a:rPr>
              <a:t>50</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what it means to say “the missing arrows are the claims”, using one missing arrow from Figure 15.1.</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Variable elimination was slower than enumeration on this network and far faster on a chain of fourteen. Explain both results with one principle.</a:t>
            </a:r>
          </a:p>
        </p:txBody>
      </p:sp>
      <p:sp>
        <p:nvSpPr>
          <p:cNvPr id="13" name="!!rt2">
            <a:extLst>
              <a:ext uri="{C183D7F6-B498-43B3-948B-1728B52AA6E4}">
                <adec:decorative xmlns:adec="http://schemas.microsoft.com/office/drawing/2017/decorative" val="1"/>
              </a:ext>
            </a:extLst>
          </p:cNvPr>
          <p:cNvSpPr/>
          <p:nvPr/>
        </p:nvSpPr>
        <p:spPr>
          <a:xfrm>
            <a:off x="658368" y="3399129"/>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440277"/>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380841"/>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can a production rule not express explaining away? State what such a rule would have to do.</a:t>
            </a:r>
          </a:p>
        </p:txBody>
      </p:sp>
      <p:sp>
        <p:nvSpPr>
          <p:cNvPr id="16" name="!!rt3">
            <a:extLst>
              <a:ext uri="{C183D7F6-B498-43B3-948B-1728B52AA6E4}">
                <adec:decorative xmlns:adec="http://schemas.microsoft.com/office/drawing/2017/decorative" val="1"/>
              </a:ext>
            </a:extLst>
          </p:cNvPr>
          <p:cNvSpPr/>
          <p:nvPr/>
        </p:nvSpPr>
        <p:spPr>
          <a:xfrm>
            <a:off x="658368" y="4220870"/>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4262018"/>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4202582"/>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Compute </a:t>
            </a:r>
            <a:r>
              <a:rPr sz="1900" b="0" i="1">
                <a:solidFill>
                  <a:srgbClr val="1C252B"/>
                </a:solidFill>
                <a:latin typeface="Cambria"/>
              </a:rPr>
              <a:t>P</a:t>
            </a:r>
            <a:r>
              <a:rPr sz="1900" b="0" i="0">
                <a:solidFill>
                  <a:srgbClr val="1C252B"/>
                </a:solidFill>
                <a:latin typeface="Cambria"/>
              </a:rPr>
              <a:t>(</a:t>
            </a:r>
            <a:r>
              <a:rPr sz="1900" b="0" i="1">
                <a:solidFill>
                  <a:srgbClr val="1C252B"/>
                </a:solidFill>
                <a:latin typeface="Cambria"/>
              </a:rPr>
              <a:t>Defect</a:t>
            </a:r>
            <a:r>
              <a:rPr sz="1900" b="0" i="0">
                <a:solidFill>
                  <a:srgbClr val="1C252B"/>
                </a:solidFill>
                <a:latin typeface="Cambria"/>
              </a:rPr>
              <a:t> ∣ </a:t>
            </a:r>
            <a:r>
              <a:rPr sz="1900" b="0" i="1">
                <a:solidFill>
                  <a:srgbClr val="1C252B"/>
                </a:solidFill>
                <a:latin typeface="Cambria"/>
              </a:rPr>
              <a:t>Hotfix</a:t>
            </a:r>
            <a:r>
              <a:rPr sz="1900" b="0" i="0">
                <a:solidFill>
                  <a:srgbClr val="1C252B"/>
                </a:solidFill>
                <a:latin typeface="Cambria"/>
              </a:rPr>
              <a:t>)</a:t>
            </a:r>
            <a:r>
              <a:rPr sz="1900" b="0" i="0">
                <a:solidFill>
                  <a:srgbClr val="1C252B"/>
                </a:solidFill>
                <a:latin typeface="Segoe UI"/>
              </a:rPr>
              <a:t> by hand from the tables of Figure 15.1, showing the marginalisation over </a:t>
            </a:r>
            <a:r>
              <a:rPr sz="1900" b="0" i="1">
                <a:solidFill>
                  <a:srgbClr val="1C252B"/>
                </a:solidFill>
                <a:latin typeface="Cambria"/>
              </a:rPr>
              <a:t>Rushed</a:t>
            </a:r>
            <a:r>
              <a:rPr sz="1900" b="0" i="0">
                <a:solidFill>
                  <a:srgbClr val="1C252B"/>
                </a:solidFill>
                <a:latin typeface="Segoe UI"/>
              </a:rPr>
              <a:t>, </a:t>
            </a:r>
            <a:r>
              <a:rPr sz="1900" b="0" i="1">
                <a:solidFill>
                  <a:srgbClr val="1C252B"/>
                </a:solidFill>
                <a:latin typeface="Cambria"/>
              </a:rPr>
              <a:t>Junior</a:t>
            </a:r>
            <a:r>
              <a:rPr sz="1900" b="0" i="0">
                <a:solidFill>
                  <a:srgbClr val="1C252B"/>
                </a:solidFill>
                <a:latin typeface="Segoe UI"/>
              </a:rPr>
              <a:t> and </a:t>
            </a:r>
            <a:r>
              <a:rPr sz="1900" b="0" i="1">
                <a:solidFill>
                  <a:srgbClr val="1C252B"/>
                </a:solidFill>
                <a:latin typeface="Cambria"/>
              </a:rPr>
              <a:t>WeakTest</a:t>
            </a:r>
            <a:r>
              <a:rPr sz="1900" b="0" i="0">
                <a:solidFill>
                  <a:srgbClr val="1C252B"/>
                </a:solidFill>
                <a:latin typeface="Segoe UI"/>
              </a:rPr>
              <a:t>. Then say whether </a:t>
            </a:r>
            <a:r>
              <a:rPr sz="1900" b="0" i="1">
                <a:solidFill>
                  <a:srgbClr val="1C252B"/>
                </a:solidFill>
                <a:latin typeface="Cambria"/>
              </a:rPr>
              <a:t>Rollback</a:t>
            </a:r>
            <a:r>
              <a:rPr sz="1900" b="0" i="0">
                <a:solidFill>
                  <a:srgbClr val="1C252B"/>
                </a:solidFill>
                <a:latin typeface="Segoe UI"/>
              </a:rPr>
              <a:t> needs to be summed over, and why.</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52642" cy="54864"/>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07964"/>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38470"/>
                </a:solidFill>
                <a:latin typeface="Segoe UI Black"/>
              </a:rPr>
              <a:t>15</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15</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16 — Fuzzy Logic</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15, pages 156–165</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Go/no-go under uncertainty; diagnosing a defect cause</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0C5E4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4CCC4"/>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Quiz 3 (Ch 9–13)</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15  ·  Bayesian Networks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E6A1D40B-E981-49AF-AF5E-6DBB6E921E59}" type="slidenum">
              <a:rPr lang="en-GB" sz="1000">
                <a:solidFill>
                  <a:srgbClr val="D5DEE5"/>
                </a:solidFill>
                <a:latin typeface="Segoe UI"/>
              </a:rPr>
              <a:t>51</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15: Bayesian Networks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