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CFEA2D4-5CAA-48BC-9979-E4569ED9136D}">
          <p14:sldIdLst>
            <p14:sldId id="256"/>
            <p14:sldId id="257"/>
            <p14:sldId id="258"/>
            <p14:sldId id="259"/>
            <p14:sldId id="260"/>
          </p14:sldIdLst>
        </p14:section>
        <p14:section name="18.5 N-Grams and Their Limit" id="{C7081413-7335-4AED-8BBB-EA63E381E2FD}">
          <p14:sldIdLst>
            <p14:sldId id="261"/>
          </p14:sldIdLst>
        </p14:section>
        <p14:section name="Checkpoint" id="{DEE0E82D-41D5-4CBA-8D38-94BC010C7C6D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Wrap-up" id="{D6672CD5-9B64-4FF5-AE68-4CEC7204A8CF}">
          <p14:sldIdLst>
            <p14:sldId id="268"/>
            <p14:sldId id="269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18: Natural Language Processing. Part 6 — Learning, Language and Responsible AI. Week 15: Natural language processing; classic AI systems. Handout pages 121–122.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 the chapter. Before you start: Chapter 3 (dictionaries, recursion) and Chapter 12 (pattern matching and substitution, which is unification in another guise).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these out: they are the chapter's contract with the room. Each click adds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define these now; they arrive one at a time. This slide is for the students' notes. Terms: tokenisation; morphology; context-free grammar; parse tree; chart parsing; CYK; ambiguity; pattern substitution; Eliza; n-gram; Markov assumption; semantics.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route through the chapter. Each row is a link: click it to jump to that section in the slide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To be written with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To be written with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To be written with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to say each takeaway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these for independent study. Model answers are not printed in the handout.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NEXT: Chapter 19 — Classic AI Systems and How to Analyse Them. READ: Handout Chapter 18, pages 121–122. THIS WEEK'S LAB: Parsing ticket subjects; four systems in one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000" kern="1200" b="0">
          <a:solidFill>
            <a:srgbClr val="1A527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notesSlide" Target="../notesSlides/notesSlide5.xml"/><Relationship Id="rId5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7.sv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8.sv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9.sv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20.sv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05B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7E6B1F"/>
                </a:solidFill>
                <a:latin typeface="Segoe UI Black"/>
              </a:rPr>
              <a:t>18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2304288"/>
            <a:ext cx="8503920" cy="19202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600" b="0">
                <a:solidFill>
                  <a:srgbClr val="FFFFFF"/>
                </a:solidFill>
                <a:latin typeface="Segoe UI Semibold"/>
              </a:rPr>
              <a:t>Natural Language Processing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29844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tpart"/>
          <p:cNvSpPr txBox="1"/>
          <p:nvPr/>
        </p:nvSpPr>
        <p:spPr>
          <a:xfrm>
            <a:off x="658368" y="1517904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D7D1B9"/>
                </a:solidFill>
                <a:latin typeface="Segoe UI"/>
              </a:rPr>
              <a:t>PART VI  ·  LEARNING, LANGUAGE AND RESPONSIBLE AI</a:t>
            </a:r>
          </a:p>
        </p:txBody>
      </p:sp>
      <p:sp>
        <p:nvSpPr>
          <p:cNvPr id="6" name="!!tch"/>
          <p:cNvSpPr txBox="1"/>
          <p:nvPr/>
        </p:nvSpPr>
        <p:spPr>
          <a:xfrm>
            <a:off x="658368" y="186537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D7D1B9"/>
                </a:solidFill>
                <a:latin typeface="Segoe UI"/>
              </a:rPr>
              <a:t>CHAPTER 18  ·  WEEK 15</a:t>
            </a:r>
          </a:p>
        </p:txBody>
      </p:sp>
      <p:sp>
        <p:nvSpPr>
          <p:cNvPr id="7" name="!!tsub"/>
          <p:cNvSpPr txBox="1"/>
          <p:nvPr/>
        </p:nvSpPr>
        <p:spPr>
          <a:xfrm>
            <a:off x="658368" y="4315968"/>
            <a:ext cx="85039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2DECD"/>
                </a:solidFill>
                <a:latin typeface="Segoe UI"/>
              </a:rPr>
              <a:t>Artificial Intelligence — Search, Knowledge and Reasoning</a:t>
            </a:r>
          </a:p>
        </p:txBody>
      </p:sp>
      <p:sp>
        <p:nvSpPr>
          <p:cNvPr id="8" name="!!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285232"/>
            <a:ext cx="12191695" cy="1572767"/>
          </a:xfrm>
          <a:prstGeom prst="rect">
            <a:avLst/>
          </a:prstGeom>
          <a:solidFill>
            <a:srgbClr val="5142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ab"/>
          <p:cNvSpPr txBox="1"/>
          <p:nvPr/>
        </p:nvSpPr>
        <p:spPr>
          <a:xfrm>
            <a:off x="658368" y="554126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BDB7A0"/>
                </a:solidFill>
                <a:latin typeface="Segoe UI"/>
              </a:rPr>
              <a:t>LECTURER</a:t>
            </a:r>
          </a:p>
        </p:txBody>
      </p:sp>
      <p:sp>
        <p:nvSpPr>
          <p:cNvPr id="10" name="!!author"/>
          <p:cNvSpPr txBox="1"/>
          <p:nvPr/>
        </p:nvSpPr>
        <p:spPr>
          <a:xfrm>
            <a:off x="658368" y="577900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Dr. Mustafa Hameed</a:t>
            </a:r>
          </a:p>
        </p:txBody>
      </p:sp>
      <p:sp>
        <p:nvSpPr>
          <p:cNvPr id="11" name="!!dept"/>
          <p:cNvSpPr txBox="1"/>
          <p:nvPr/>
        </p:nvSpPr>
        <p:spPr>
          <a:xfrm>
            <a:off x="658368" y="6181344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ECAB9"/>
                </a:solidFill>
                <a:latin typeface="Segoe UI"/>
              </a:rPr>
              <a:t>Department of Information Technology  ·  BSIT · Fall 2026</a:t>
            </a:r>
          </a:p>
        </p:txBody>
      </p:sp>
      <p:sp>
        <p:nvSpPr>
          <p:cNvPr id="12" name="!!uni"/>
          <p:cNvSpPr txBox="1"/>
          <p:nvPr/>
        </p:nvSpPr>
        <p:spPr>
          <a:xfrm>
            <a:off x="5205818" y="568756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60">
                <a:solidFill>
                  <a:srgbClr val="FFFFFF"/>
                </a:solidFill>
                <a:latin typeface="Segoe UI"/>
              </a:rPr>
              <a:t>THE ISLAMIA UNIVERSITY OF BAHAWALPUR</a:t>
            </a:r>
          </a:p>
        </p:txBody>
      </p:sp>
      <p:sp>
        <p:nvSpPr>
          <p:cNvPr id="13" name="!!uni2"/>
          <p:cNvSpPr txBox="1"/>
          <p:nvPr/>
        </p:nvSpPr>
        <p:spPr>
          <a:xfrm>
            <a:off x="5205818" y="596188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DB7A0"/>
                </a:solidFill>
                <a:latin typeface="Segoe UI"/>
              </a:rPr>
              <a:t>Bahawalpur, Pakistan</a:t>
            </a:r>
          </a:p>
        </p:txBody>
      </p:sp>
      <p:pic>
        <p:nvPicPr>
          <p:cNvPr id="14" name="!!logo-iub-logo-white" descr="The Islamia University of Bahawalp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498" y="5486400"/>
            <a:ext cx="904084" cy="896112"/>
          </a:xfrm>
          <a:prstGeom prst="rect">
            <a:avLst/>
          </a:prstGeom>
        </p:spPr>
      </p:pic>
      <p:pic>
        <p:nvPicPr>
          <p:cNvPr id="15" name="!!logo-dit-logo" descr="Department of Information Technolog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614" y="5486400"/>
            <a:ext cx="869712" cy="896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Where this chapter sits</a:t>
            </a:r>
          </a:p>
        </p:txBody>
      </p:sp>
      <p:pic>
        <p:nvPicPr>
          <p:cNvPr id="3" name="!!kicker-icon" descr="map-signs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 COURSE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18  ·  Natural Language Processing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121     </a:t>
            </a:r>
            <a:fld id="{7063AAA2-549A-463A-84BC-5865DF54F339}" type="slidenum">
              <a:rPr lang="en-GB" sz="1000">
                <a:solidFill>
                  <a:srgbClr val="8795A1"/>
                </a:solidFill>
                <a:latin typeface="Segoe UI"/>
              </a:rPr>
              <a:t>2</a:t>
            </a:fld>
          </a:p>
        </p:txBody>
      </p:sp>
      <p:sp>
        <p:nvSpPr>
          <p:cNvPr id="7" name="!!rp1"/>
          <p:cNvSpPr txBox="1"/>
          <p:nvPr/>
        </p:nvSpPr>
        <p:spPr>
          <a:xfrm>
            <a:off x="777239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</a:t>
            </a:r>
          </a:p>
        </p:txBody>
      </p:sp>
      <p:sp>
        <p:nvSpPr>
          <p:cNvPr id="8" name="!!rp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39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rp2"/>
          <p:cNvSpPr txBox="1"/>
          <p:nvPr/>
        </p:nvSpPr>
        <p:spPr>
          <a:xfrm>
            <a:off x="2280139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</a:t>
            </a:r>
          </a:p>
        </p:txBody>
      </p:sp>
      <p:sp>
        <p:nvSpPr>
          <p:cNvPr id="10" name="!!rp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0139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p3"/>
          <p:cNvSpPr txBox="1"/>
          <p:nvPr/>
        </p:nvSpPr>
        <p:spPr>
          <a:xfrm>
            <a:off x="3783039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III</a:t>
            </a:r>
          </a:p>
        </p:txBody>
      </p:sp>
      <p:sp>
        <p:nvSpPr>
          <p:cNvPr id="12" name="!!rp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3039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rp4"/>
          <p:cNvSpPr txBox="1"/>
          <p:nvPr/>
        </p:nvSpPr>
        <p:spPr>
          <a:xfrm>
            <a:off x="5285938" y="1755648"/>
            <a:ext cx="158324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IV</a:t>
            </a:r>
          </a:p>
        </p:txBody>
      </p:sp>
      <p:sp>
        <p:nvSpPr>
          <p:cNvPr id="14" name="!!rpl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85938" y="2029967"/>
            <a:ext cx="1583242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rp5"/>
          <p:cNvSpPr txBox="1"/>
          <p:nvPr/>
        </p:nvSpPr>
        <p:spPr>
          <a:xfrm>
            <a:off x="7198364" y="1755648"/>
            <a:ext cx="11737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</a:t>
            </a:r>
          </a:p>
        </p:txBody>
      </p:sp>
      <p:sp>
        <p:nvSpPr>
          <p:cNvPr id="16" name="!!rpl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98364" y="2029967"/>
            <a:ext cx="1173715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p6"/>
          <p:cNvSpPr txBox="1"/>
          <p:nvPr/>
        </p:nvSpPr>
        <p:spPr>
          <a:xfrm>
            <a:off x="8701264" y="1755648"/>
            <a:ext cx="271319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705B06"/>
                </a:solidFill>
                <a:latin typeface="Segoe UI"/>
              </a:rPr>
              <a:t>PART VI</a:t>
            </a:r>
          </a:p>
        </p:txBody>
      </p:sp>
      <p:sp>
        <p:nvSpPr>
          <p:cNvPr id="18" name="!!rpl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01264" y="2029967"/>
            <a:ext cx="2713191" cy="45720"/>
          </a:xfrm>
          <a:prstGeom prst="rect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7411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dotn1"/>
          <p:cNvSpPr txBox="1"/>
          <p:nvPr/>
        </p:nvSpPr>
        <p:spPr>
          <a:xfrm>
            <a:off x="72597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1" name="!!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6937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dotn2"/>
          <p:cNvSpPr txBox="1"/>
          <p:nvPr/>
        </p:nvSpPr>
        <p:spPr>
          <a:xfrm>
            <a:off x="11354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3" name="!!do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36464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dotn3"/>
          <p:cNvSpPr txBox="1"/>
          <p:nvPr/>
        </p:nvSpPr>
        <p:spPr>
          <a:xfrm>
            <a:off x="154502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!!dot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20310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dotn4"/>
          <p:cNvSpPr txBox="1"/>
          <p:nvPr/>
        </p:nvSpPr>
        <p:spPr>
          <a:xfrm>
            <a:off x="222887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!!dot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29837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dotn5"/>
          <p:cNvSpPr txBox="1"/>
          <p:nvPr/>
        </p:nvSpPr>
        <p:spPr>
          <a:xfrm>
            <a:off x="26383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!!dot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39363" y="2258568"/>
            <a:ext cx="274320" cy="274320"/>
          </a:xfrm>
          <a:prstGeom prst="ellipse">
            <a:avLst/>
          </a:prstGeom>
          <a:solidFill>
            <a:srgbClr val="4D9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dotn6"/>
          <p:cNvSpPr txBox="1"/>
          <p:nvPr/>
        </p:nvSpPr>
        <p:spPr>
          <a:xfrm>
            <a:off x="304792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1" name="!!dot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23210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dotn7"/>
          <p:cNvSpPr txBox="1"/>
          <p:nvPr/>
        </p:nvSpPr>
        <p:spPr>
          <a:xfrm>
            <a:off x="373177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33" name="!!dot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32736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!!dotn8"/>
          <p:cNvSpPr txBox="1"/>
          <p:nvPr/>
        </p:nvSpPr>
        <p:spPr>
          <a:xfrm>
            <a:off x="414129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5" name="!!dot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2263" y="2258568"/>
            <a:ext cx="274320" cy="274320"/>
          </a:xfrm>
          <a:prstGeom prst="ellipse">
            <a:avLst/>
          </a:prstGeom>
          <a:solidFill>
            <a:srgbClr val="47B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dotn9"/>
          <p:cNvSpPr txBox="1"/>
          <p:nvPr/>
        </p:nvSpPr>
        <p:spPr>
          <a:xfrm>
            <a:off x="455082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37" name="!!dot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26109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dotn10"/>
          <p:cNvSpPr txBox="1"/>
          <p:nvPr/>
        </p:nvSpPr>
        <p:spPr>
          <a:xfrm>
            <a:off x="523466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39" name="!!dot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35636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!!dotn11"/>
          <p:cNvSpPr txBox="1"/>
          <p:nvPr/>
        </p:nvSpPr>
        <p:spPr>
          <a:xfrm>
            <a:off x="564419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41" name="!!dot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5162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dotn12"/>
          <p:cNvSpPr txBox="1"/>
          <p:nvPr/>
        </p:nvSpPr>
        <p:spPr>
          <a:xfrm>
            <a:off x="605372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43" name="!!dot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54689" y="2258568"/>
            <a:ext cx="274320" cy="274320"/>
          </a:xfrm>
          <a:prstGeom prst="ellipse">
            <a:avLst/>
          </a:prstGeom>
          <a:solidFill>
            <a:srgbClr val="9F60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!!dotn13"/>
          <p:cNvSpPr txBox="1"/>
          <p:nvPr/>
        </p:nvSpPr>
        <p:spPr>
          <a:xfrm>
            <a:off x="646324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45" name="!!dot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38535" y="2258568"/>
            <a:ext cx="274320" cy="274320"/>
          </a:xfrm>
          <a:prstGeom prst="ellipse">
            <a:avLst/>
          </a:prstGeom>
          <a:solidFill>
            <a:srgbClr val="358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!!dotn14"/>
          <p:cNvSpPr txBox="1"/>
          <p:nvPr/>
        </p:nvSpPr>
        <p:spPr>
          <a:xfrm>
            <a:off x="714709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47" name="!!dot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8062" y="2258568"/>
            <a:ext cx="274320" cy="274320"/>
          </a:xfrm>
          <a:prstGeom prst="ellipse">
            <a:avLst/>
          </a:prstGeom>
          <a:solidFill>
            <a:srgbClr val="358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!!dotn15"/>
          <p:cNvSpPr txBox="1"/>
          <p:nvPr/>
        </p:nvSpPr>
        <p:spPr>
          <a:xfrm>
            <a:off x="755662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  <p:sp>
        <p:nvSpPr>
          <p:cNvPr id="49" name="!!dot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57588" y="2258568"/>
            <a:ext cx="274320" cy="274320"/>
          </a:xfrm>
          <a:prstGeom prst="ellipse">
            <a:avLst/>
          </a:prstGeom>
          <a:solidFill>
            <a:srgbClr val="358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!!dotn16"/>
          <p:cNvSpPr txBox="1"/>
          <p:nvPr/>
        </p:nvSpPr>
        <p:spPr>
          <a:xfrm>
            <a:off x="796614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16</a:t>
            </a:r>
          </a:p>
        </p:txBody>
      </p:sp>
      <p:sp>
        <p:nvSpPr>
          <p:cNvPr id="51" name="!!dot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41435" y="2258568"/>
            <a:ext cx="274320" cy="274320"/>
          </a:xfrm>
          <a:prstGeom prst="ellipse">
            <a:avLst/>
          </a:prstGeom>
          <a:solidFill>
            <a:srgbClr val="C2A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!!dotn17"/>
          <p:cNvSpPr txBox="1"/>
          <p:nvPr/>
        </p:nvSpPr>
        <p:spPr>
          <a:xfrm>
            <a:off x="864999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53" name="!!dot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60105" y="2112264"/>
            <a:ext cx="566928" cy="566928"/>
          </a:xfrm>
          <a:prstGeom prst="ellipse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!!dotn18"/>
          <p:cNvSpPr txBox="1"/>
          <p:nvPr/>
        </p:nvSpPr>
        <p:spPr>
          <a:xfrm>
            <a:off x="9160105" y="2240280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18</a:t>
            </a:r>
          </a:p>
        </p:txBody>
      </p:sp>
      <p:sp>
        <p:nvSpPr>
          <p:cNvPr id="55" name="!!dot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7138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!!dotn19"/>
          <p:cNvSpPr txBox="1"/>
          <p:nvPr/>
        </p:nvSpPr>
        <p:spPr>
          <a:xfrm>
            <a:off x="977994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19</a:t>
            </a:r>
          </a:p>
        </p:txBody>
      </p:sp>
      <p:sp>
        <p:nvSpPr>
          <p:cNvPr id="57" name="!!dot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80910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!!dotn20"/>
          <p:cNvSpPr txBox="1"/>
          <p:nvPr/>
        </p:nvSpPr>
        <p:spPr>
          <a:xfrm>
            <a:off x="1018947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20</a:t>
            </a:r>
          </a:p>
        </p:txBody>
      </p:sp>
      <p:sp>
        <p:nvSpPr>
          <p:cNvPr id="59" name="!!dot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690437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dotn21"/>
          <p:cNvSpPr txBox="1"/>
          <p:nvPr/>
        </p:nvSpPr>
        <p:spPr>
          <a:xfrm>
            <a:off x="1059899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21</a:t>
            </a:r>
          </a:p>
        </p:txBody>
      </p:sp>
      <p:sp>
        <p:nvSpPr>
          <p:cNvPr id="61" name="!!dot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099963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!!dotn22"/>
          <p:cNvSpPr txBox="1"/>
          <p:nvPr/>
        </p:nvSpPr>
        <p:spPr>
          <a:xfrm>
            <a:off x="1100852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22</a:t>
            </a:r>
          </a:p>
        </p:txBody>
      </p:sp>
      <p:sp>
        <p:nvSpPr>
          <p:cNvPr id="63" name="!!dotlabel"/>
          <p:cNvSpPr txBox="1"/>
          <p:nvPr/>
        </p:nvSpPr>
        <p:spPr>
          <a:xfrm>
            <a:off x="5681167" y="279806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05B06"/>
                </a:solidFill>
                <a:latin typeface="Segoe UI"/>
              </a:rPr>
              <a:t>Natural Language Processing</a:t>
            </a:r>
          </a:p>
        </p:txBody>
      </p:sp>
      <p:sp>
        <p:nvSpPr>
          <p:cNvPr id="64" name="!!dep-BUILD"/>
          <p:cNvSpPr txBox="1"/>
          <p:nvPr/>
        </p:nvSpPr>
        <p:spPr>
          <a:xfrm>
            <a:off x="658368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BUILDS ON</a:t>
            </a:r>
          </a:p>
        </p:txBody>
      </p:sp>
      <p:sp>
        <p:nvSpPr>
          <p:cNvPr id="65" name="!!chipBU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!!chipbBU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64008" cy="42062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7" name="!!chiptBU3"/>
          <p:cNvSpPr txBox="1"/>
          <p:nvPr/>
        </p:nvSpPr>
        <p:spPr>
          <a:xfrm>
            <a:off x="859536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5276"/>
                </a:solidFill>
                <a:latin typeface="Segoe UI"/>
              </a:rPr>
              <a:t>Ch 3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Representations and Search in Python</a:t>
            </a:r>
          </a:p>
        </p:txBody>
      </p:sp>
      <p:sp>
        <p:nvSpPr>
          <p:cNvPr id="68" name="!!chipBU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97680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2EB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9" name="!!chipbBU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97680"/>
            <a:ext cx="64008" cy="420624"/>
          </a:xfrm>
          <a:prstGeom prst="rect">
            <a:avLst/>
          </a:prstGeom>
          <a:solidFill>
            <a:srgbClr val="7A3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!!chiptBU12"/>
          <p:cNvSpPr txBox="1"/>
          <p:nvPr/>
        </p:nvSpPr>
        <p:spPr>
          <a:xfrm>
            <a:off x="859536" y="4389120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A3A95"/>
                </a:solidFill>
                <a:latin typeface="Segoe UI"/>
              </a:rPr>
              <a:t>Ch 12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First-Order Logic and Resolution</a:t>
            </a:r>
          </a:p>
        </p:txBody>
      </p:sp>
      <p:sp>
        <p:nvSpPr>
          <p:cNvPr id="71" name="!!dep-USED "/>
          <p:cNvSpPr txBox="1"/>
          <p:nvPr/>
        </p:nvSpPr>
        <p:spPr>
          <a:xfrm>
            <a:off x="6324447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USED LATER IN</a:t>
            </a:r>
          </a:p>
        </p:txBody>
      </p:sp>
      <p:sp>
        <p:nvSpPr>
          <p:cNvPr id="72" name="!!chipUS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F1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3" name="!!chipbUS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64008" cy="420624"/>
          </a:xfrm>
          <a:prstGeom prst="rect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4" name="!!chiptUS19"/>
          <p:cNvSpPr txBox="1"/>
          <p:nvPr/>
        </p:nvSpPr>
        <p:spPr>
          <a:xfrm>
            <a:off x="6525615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05B06"/>
                </a:solidFill>
                <a:latin typeface="Segoe UI"/>
              </a:rPr>
              <a:t>Ch 19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Classic AI Systems and How to Analyse Them</a:t>
            </a:r>
          </a:p>
        </p:txBody>
      </p:sp>
      <p:sp>
        <p:nvSpPr>
          <p:cNvPr id="7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625559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you will be able to do</a:t>
            </a:r>
          </a:p>
        </p:txBody>
      </p:sp>
      <p:pic>
        <p:nvPicPr>
          <p:cNvPr id="3" name="!!kicker-icon" descr="bullseye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LEARNING OUTCOMES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18  ·  Natural Language Processing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121     </a:t>
            </a:r>
            <a:fld id="{ACEC20F1-96D1-4D41-A34D-ED51262A82DC}" type="slidenum">
              <a:rPr lang="en-GB" sz="1000">
                <a:solidFill>
                  <a:srgbClr val="8795A1"/>
                </a:solidFill>
                <a:latin typeface="Segoe UI"/>
              </a:rPr>
              <a:t>3</a:t>
            </a:fld>
          </a:p>
        </p:txBody>
      </p:sp>
      <p:sp>
        <p:nvSpPr>
          <p:cNvPr id="7" name="!!olead"/>
          <p:cNvSpPr txBox="1"/>
          <p:nvPr/>
        </p:nvSpPr>
        <p:spPr>
          <a:xfrm>
            <a:off x="658368" y="1737360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F6F7B"/>
                </a:solidFill>
                <a:latin typeface="Segoe UI"/>
              </a:rPr>
              <a:t>By the end of this chapter you will be able to:</a:t>
            </a:r>
          </a:p>
        </p:txBody>
      </p:sp>
      <p:sp>
        <p:nvSpPr>
          <p:cNvPr id="8" name="!!o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21991"/>
            <a:ext cx="420624" cy="420624"/>
          </a:xfrm>
          <a:prstGeom prst="ellipse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obn0"/>
          <p:cNvSpPr txBox="1"/>
          <p:nvPr/>
        </p:nvSpPr>
        <p:spPr>
          <a:xfrm>
            <a:off x="658368" y="228142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!!ot0"/>
          <p:cNvSpPr txBox="1"/>
          <p:nvPr/>
        </p:nvSpPr>
        <p:spPr>
          <a:xfrm>
            <a:off x="1316736" y="2263140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05B06"/>
                </a:solidFill>
                <a:latin typeface="Segoe UI"/>
              </a:rPr>
              <a:t>Describe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symbolic language pipeline from tokens to meaning.</a:t>
            </a:r>
          </a:p>
        </p:txBody>
      </p:sp>
      <p:sp>
        <p:nvSpPr>
          <p:cNvPr id="11" name="!!o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825496"/>
            <a:ext cx="420624" cy="420624"/>
          </a:xfrm>
          <a:prstGeom prst="ellipse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obn1"/>
          <p:cNvSpPr txBox="1"/>
          <p:nvPr/>
        </p:nvSpPr>
        <p:spPr>
          <a:xfrm>
            <a:off x="658368" y="2884932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3" name="!!ot1"/>
          <p:cNvSpPr txBox="1"/>
          <p:nvPr/>
        </p:nvSpPr>
        <p:spPr>
          <a:xfrm>
            <a:off x="1316736" y="2866644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05B06"/>
                </a:solidFill>
                <a:latin typeface="Segoe UI"/>
              </a:rPr>
              <a:t>Write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 context-free grammar for a small sub-language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parse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sentences with it.</a:t>
            </a:r>
          </a:p>
        </p:txBody>
      </p:sp>
      <p:sp>
        <p:nvSpPr>
          <p:cNvPr id="14" name="!!o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429000"/>
            <a:ext cx="420624" cy="420624"/>
          </a:xfrm>
          <a:prstGeom prst="ellipse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obn2"/>
          <p:cNvSpPr txBox="1"/>
          <p:nvPr/>
        </p:nvSpPr>
        <p:spPr>
          <a:xfrm>
            <a:off x="658368" y="3488436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6" name="!!ot2"/>
          <p:cNvSpPr txBox="1"/>
          <p:nvPr/>
        </p:nvSpPr>
        <p:spPr>
          <a:xfrm>
            <a:off x="1316736" y="3419856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05B06"/>
                </a:solidFill>
                <a:latin typeface="Segoe UI"/>
              </a:rPr>
              <a:t>Implement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pattern substitution in the style of Eliza,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say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what it demonstrates and what it does not.</a:t>
            </a:r>
          </a:p>
        </p:txBody>
      </p:sp>
      <p:sp>
        <p:nvSpPr>
          <p:cNvPr id="17" name="!!o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77563"/>
            <a:ext cx="420624" cy="420624"/>
          </a:xfrm>
          <a:prstGeom prst="ellipse">
            <a:avLst/>
          </a:prstGeom>
          <a:solidFill>
            <a:srgbClr val="705B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obn3"/>
          <p:cNvSpPr txBox="1"/>
          <p:nvPr/>
        </p:nvSpPr>
        <p:spPr>
          <a:xfrm>
            <a:off x="658368" y="4336999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9" name="!!ot3"/>
          <p:cNvSpPr txBox="1"/>
          <p:nvPr/>
        </p:nvSpPr>
        <p:spPr>
          <a:xfrm>
            <a:off x="1316736" y="4318711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05B06"/>
                </a:solidFill>
                <a:latin typeface="Segoe UI"/>
              </a:rPr>
              <a:t>Build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an n-gram model and </a:t>
            </a:r>
            <a:r>
              <a:rPr sz="2100" b="1" i="0">
                <a:solidFill>
                  <a:srgbClr val="1C252B"/>
                </a:solidFill>
                <a:latin typeface="Segoe UI"/>
              </a:rPr>
              <a:t>state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its limitation.</a:t>
            </a:r>
          </a:p>
        </p:txBody>
      </p:sp>
      <p:sp>
        <p:nvSpPr>
          <p:cNvPr id="4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Vocabulary for this chapter</a:t>
            </a:r>
          </a:p>
        </p:txBody>
      </p:sp>
      <p:pic>
        <p:nvPicPr>
          <p:cNvPr id="3" name="!!kicker-icon" descr="tags-8E44AD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7256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8E44AD"/>
                </a:solidFill>
                <a:latin typeface="Segoe UI"/>
              </a:rPr>
              <a:t>KEY TERMS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18  ·  Natural Language Processing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121     </a:t>
            </a:r>
            <a:fld id="{3C9BA349-36E6-410C-90D3-725C36A55738}" type="slidenum">
              <a:rPr lang="en-GB" sz="1000">
                <a:solidFill>
                  <a:srgbClr val="8795A1"/>
                </a:solidFill>
                <a:latin typeface="Segoe UI"/>
              </a:rPr>
              <a:t>4</a:t>
            </a:fld>
          </a:p>
        </p:txBody>
      </p:sp>
      <p:sp>
        <p:nvSpPr>
          <p:cNvPr id="7" name="!!term-tokenisa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847088"/>
            <a:ext cx="1632176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ermd-tokenisa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termt-tokenisation"/>
          <p:cNvSpPr txBox="1"/>
          <p:nvPr/>
        </p:nvSpPr>
        <p:spPr>
          <a:xfrm>
            <a:off x="950976" y="1955291"/>
            <a:ext cx="1449296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tokenisation</a:t>
            </a:r>
          </a:p>
        </p:txBody>
      </p:sp>
      <p:sp>
        <p:nvSpPr>
          <p:cNvPr id="10" name="!!term-morpholog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36848" y="1847088"/>
            <a:ext cx="1636017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termd-morpholog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64864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termt-morphology"/>
          <p:cNvSpPr txBox="1"/>
          <p:nvPr/>
        </p:nvSpPr>
        <p:spPr>
          <a:xfrm>
            <a:off x="2729456" y="1955291"/>
            <a:ext cx="1453137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morphology</a:t>
            </a:r>
          </a:p>
        </p:txBody>
      </p:sp>
      <p:sp>
        <p:nvSpPr>
          <p:cNvPr id="13" name="!!term-context-free 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19170" y="1847088"/>
            <a:ext cx="2570360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termd-context-free 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47186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termt-context-free g"/>
          <p:cNvSpPr txBox="1"/>
          <p:nvPr/>
        </p:nvSpPr>
        <p:spPr>
          <a:xfrm>
            <a:off x="4511778" y="1955291"/>
            <a:ext cx="2387480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context-free grammar</a:t>
            </a:r>
          </a:p>
        </p:txBody>
      </p:sp>
      <p:sp>
        <p:nvSpPr>
          <p:cNvPr id="16" name="!!term-parse tre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35834" y="1847088"/>
            <a:ext cx="1407585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termd-parse tre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63850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termt-parse tree"/>
          <p:cNvSpPr txBox="1"/>
          <p:nvPr/>
        </p:nvSpPr>
        <p:spPr>
          <a:xfrm>
            <a:off x="7228442" y="1955291"/>
            <a:ext cx="1224705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parse tree</a:t>
            </a:r>
          </a:p>
        </p:txBody>
      </p:sp>
      <p:sp>
        <p:nvSpPr>
          <p:cNvPr id="19" name="!!term-chart pars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89724" y="1847088"/>
            <a:ext cx="1708327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termd-chart pars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17740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termt-chart parsing"/>
          <p:cNvSpPr txBox="1"/>
          <p:nvPr/>
        </p:nvSpPr>
        <p:spPr>
          <a:xfrm>
            <a:off x="8782332" y="1955291"/>
            <a:ext cx="1525447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chart parsing</a:t>
            </a:r>
          </a:p>
        </p:txBody>
      </p:sp>
      <p:sp>
        <p:nvSpPr>
          <p:cNvPr id="22" name="!!term-CY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44356" y="1847088"/>
            <a:ext cx="824733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termd-CY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72372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termt-CYK"/>
          <p:cNvSpPr txBox="1"/>
          <p:nvPr/>
        </p:nvSpPr>
        <p:spPr>
          <a:xfrm>
            <a:off x="10636964" y="1955291"/>
            <a:ext cx="641853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CYK</a:t>
            </a:r>
          </a:p>
        </p:txBody>
      </p:sp>
      <p:sp>
        <p:nvSpPr>
          <p:cNvPr id="25" name="!!term-ambiguit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68880"/>
            <a:ext cx="1412275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termd-ambiguit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!!termt-ambiguity"/>
          <p:cNvSpPr txBox="1"/>
          <p:nvPr/>
        </p:nvSpPr>
        <p:spPr>
          <a:xfrm>
            <a:off x="950976" y="2577084"/>
            <a:ext cx="1229395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ambiguity</a:t>
            </a:r>
          </a:p>
        </p:txBody>
      </p:sp>
      <p:sp>
        <p:nvSpPr>
          <p:cNvPr id="28" name="!!term-pattern subst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16947" y="2468880"/>
            <a:ext cx="2356270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termd-pattern substi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44963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termt-pattern substi"/>
          <p:cNvSpPr txBox="1"/>
          <p:nvPr/>
        </p:nvSpPr>
        <p:spPr>
          <a:xfrm>
            <a:off x="2509555" y="2577084"/>
            <a:ext cx="2173390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pattern substitution</a:t>
            </a:r>
          </a:p>
        </p:txBody>
      </p:sp>
      <p:sp>
        <p:nvSpPr>
          <p:cNvPr id="31" name="!!term-Eliz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19522" y="2468880"/>
            <a:ext cx="868557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termd-Eliz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47538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termt-Eliza"/>
          <p:cNvSpPr txBox="1"/>
          <p:nvPr/>
        </p:nvSpPr>
        <p:spPr>
          <a:xfrm>
            <a:off x="5012130" y="2577084"/>
            <a:ext cx="685677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Eliza</a:t>
            </a:r>
          </a:p>
        </p:txBody>
      </p:sp>
      <p:sp>
        <p:nvSpPr>
          <p:cNvPr id="34" name="!!term-n-gra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34383" y="2468880"/>
            <a:ext cx="1159685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!!termd-n-gra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2399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termt-n-gram"/>
          <p:cNvSpPr txBox="1"/>
          <p:nvPr/>
        </p:nvSpPr>
        <p:spPr>
          <a:xfrm>
            <a:off x="6026991" y="2577084"/>
            <a:ext cx="976805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n-gram</a:t>
            </a:r>
          </a:p>
        </p:txBody>
      </p:sp>
      <p:sp>
        <p:nvSpPr>
          <p:cNvPr id="37" name="!!term-Markov assump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0373" y="2468880"/>
            <a:ext cx="2353858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termd-Markov assump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68389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!!termt-Markov assumpt"/>
          <p:cNvSpPr txBox="1"/>
          <p:nvPr/>
        </p:nvSpPr>
        <p:spPr>
          <a:xfrm>
            <a:off x="7332981" y="2577084"/>
            <a:ext cx="2170978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Markov assumption</a:t>
            </a:r>
          </a:p>
        </p:txBody>
      </p:sp>
      <p:sp>
        <p:nvSpPr>
          <p:cNvPr id="40" name="!!term-semantic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40536" y="2468880"/>
            <a:ext cx="1396860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1" name="!!termd-semantic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68552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termt-semantics"/>
          <p:cNvSpPr txBox="1"/>
          <p:nvPr/>
        </p:nvSpPr>
        <p:spPr>
          <a:xfrm>
            <a:off x="9833144" y="2577084"/>
            <a:ext cx="1213980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semantics</a:t>
            </a:r>
          </a:p>
        </p:txBody>
      </p:sp>
      <p:sp>
        <p:nvSpPr>
          <p:cNvPr id="43" name="!!termnote"/>
          <p:cNvSpPr txBox="1"/>
          <p:nvPr/>
        </p:nvSpPr>
        <p:spPr>
          <a:xfrm>
            <a:off x="658368" y="3291840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F6F7B"/>
                </a:solidFill>
                <a:latin typeface="Segoe UI"/>
              </a:rPr>
              <a:t>Each term is defined where it first matters — not here.</a:t>
            </a:r>
          </a:p>
        </p:txBody>
      </p:sp>
      <p:sp>
        <p:nvSpPr>
          <p:cNvPr id="4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251118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In this chapter</a:t>
            </a:r>
          </a:p>
        </p:txBody>
      </p:sp>
      <p:pic>
        <p:nvPicPr>
          <p:cNvPr id="3" name="!!kicker-icon" descr="list-ul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6883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IN THIS CHAPTER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18  ·  Natural Language Processing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pp. 121–122     </a:t>
            </a:r>
            <a:fld id="{DD705861-13AE-43BA-96D0-CAF363072ED9}" type="slidenum">
              <a:rPr lang="en-GB" sz="1000">
                <a:solidFill>
                  <a:srgbClr val="8795A1"/>
                </a:solidFill>
                <a:latin typeface="Segoe UI"/>
              </a:rPr>
              <a:t>5</a:t>
            </a:fld>
          </a:p>
        </p:txBody>
      </p:sp>
      <p:sp>
        <p:nvSpPr>
          <p:cNvPr id="7" name="!!ag0" descr="Go to section 18.1 Ticket Subject Lines"/>
          <p:cNvSpPr/>
          <p:nvPr/>
        </p:nvSpPr>
        <p:spPr>
          <a:xfrm>
            <a:off x="658368" y="177393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ag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73936"/>
            <a:ext cx="64008" cy="56692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agn0"/>
          <p:cNvSpPr txBox="1"/>
          <p:nvPr/>
        </p:nvSpPr>
        <p:spPr>
          <a:xfrm>
            <a:off x="932688" y="192024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05B06"/>
                </a:solidFill>
                <a:latin typeface="Segoe UI Semibold"/>
              </a:rPr>
              <a:t>18.1</a:t>
            </a:r>
          </a:p>
        </p:txBody>
      </p:sp>
      <p:sp>
        <p:nvSpPr>
          <p:cNvPr id="10" name="!!agt0"/>
          <p:cNvSpPr txBox="1"/>
          <p:nvPr/>
        </p:nvSpPr>
        <p:spPr>
          <a:xfrm>
            <a:off x="1847088" y="192024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Ticket Subject Lines</a:t>
            </a:r>
          </a:p>
        </p:txBody>
      </p:sp>
      <p:sp>
        <p:nvSpPr>
          <p:cNvPr id="11" name="!!agp0"/>
          <p:cNvSpPr txBox="1"/>
          <p:nvPr/>
        </p:nvSpPr>
        <p:spPr>
          <a:xfrm>
            <a:off x="9795967" y="194767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121  ›</a:t>
            </a:r>
          </a:p>
        </p:txBody>
      </p:sp>
      <p:sp>
        <p:nvSpPr>
          <p:cNvPr id="12" name="!!ag1" descr="Go to section 18.2 The Symbolic Pipeline"/>
          <p:cNvSpPr/>
          <p:nvPr/>
        </p:nvSpPr>
        <p:spPr>
          <a:xfrm>
            <a:off x="658368" y="2414015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ag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14015"/>
            <a:ext cx="64008" cy="56692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agn1"/>
          <p:cNvSpPr txBox="1"/>
          <p:nvPr/>
        </p:nvSpPr>
        <p:spPr>
          <a:xfrm>
            <a:off x="932688" y="256032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05B06"/>
                </a:solidFill>
                <a:latin typeface="Segoe UI Semibold"/>
              </a:rPr>
              <a:t>18.2</a:t>
            </a:r>
          </a:p>
        </p:txBody>
      </p:sp>
      <p:sp>
        <p:nvSpPr>
          <p:cNvPr id="15" name="!!agt1"/>
          <p:cNvSpPr txBox="1"/>
          <p:nvPr/>
        </p:nvSpPr>
        <p:spPr>
          <a:xfrm>
            <a:off x="1847088" y="256032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The Symbolic Pipeline</a:t>
            </a:r>
          </a:p>
        </p:txBody>
      </p:sp>
      <p:sp>
        <p:nvSpPr>
          <p:cNvPr id="16" name="!!agp1"/>
          <p:cNvSpPr txBox="1"/>
          <p:nvPr/>
        </p:nvSpPr>
        <p:spPr>
          <a:xfrm>
            <a:off x="9795967" y="2587751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121  ›</a:t>
            </a:r>
          </a:p>
        </p:txBody>
      </p:sp>
      <p:sp>
        <p:nvSpPr>
          <p:cNvPr id="17" name="!!ag2" descr="Go to section 18.3 Context-Free Grammars and Parsing"/>
          <p:cNvSpPr/>
          <p:nvPr/>
        </p:nvSpPr>
        <p:spPr>
          <a:xfrm>
            <a:off x="658368" y="305409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ag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54096"/>
            <a:ext cx="64008" cy="56692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agn2"/>
          <p:cNvSpPr txBox="1"/>
          <p:nvPr/>
        </p:nvSpPr>
        <p:spPr>
          <a:xfrm>
            <a:off x="932688" y="320040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05B06"/>
                </a:solidFill>
                <a:latin typeface="Segoe UI Semibold"/>
              </a:rPr>
              <a:t>18.3</a:t>
            </a:r>
          </a:p>
        </p:txBody>
      </p:sp>
      <p:sp>
        <p:nvSpPr>
          <p:cNvPr id="20" name="!!agt2"/>
          <p:cNvSpPr txBox="1"/>
          <p:nvPr/>
        </p:nvSpPr>
        <p:spPr>
          <a:xfrm>
            <a:off x="1847088" y="320040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Context-Free Grammars and Parsing</a:t>
            </a:r>
          </a:p>
        </p:txBody>
      </p:sp>
      <p:sp>
        <p:nvSpPr>
          <p:cNvPr id="21" name="!!agp2"/>
          <p:cNvSpPr txBox="1"/>
          <p:nvPr/>
        </p:nvSpPr>
        <p:spPr>
          <a:xfrm>
            <a:off x="9795967" y="322783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121  ›</a:t>
            </a:r>
          </a:p>
        </p:txBody>
      </p:sp>
      <p:sp>
        <p:nvSpPr>
          <p:cNvPr id="22" name="!!ag3" descr="Go to section 18.4 Pattern Substitution: Eliza"/>
          <p:cNvSpPr/>
          <p:nvPr/>
        </p:nvSpPr>
        <p:spPr>
          <a:xfrm>
            <a:off x="658368" y="369417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ag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94176"/>
            <a:ext cx="64008" cy="56692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agn3"/>
          <p:cNvSpPr txBox="1"/>
          <p:nvPr/>
        </p:nvSpPr>
        <p:spPr>
          <a:xfrm>
            <a:off x="932688" y="384048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05B06"/>
                </a:solidFill>
                <a:latin typeface="Segoe UI Semibold"/>
              </a:rPr>
              <a:t>18.4</a:t>
            </a:r>
          </a:p>
        </p:txBody>
      </p:sp>
      <p:sp>
        <p:nvSpPr>
          <p:cNvPr id="25" name="!!agt3"/>
          <p:cNvSpPr txBox="1"/>
          <p:nvPr/>
        </p:nvSpPr>
        <p:spPr>
          <a:xfrm>
            <a:off x="1847088" y="384048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Pattern Substitution: Eliza</a:t>
            </a:r>
          </a:p>
        </p:txBody>
      </p:sp>
      <p:sp>
        <p:nvSpPr>
          <p:cNvPr id="26" name="!!agp3"/>
          <p:cNvSpPr txBox="1"/>
          <p:nvPr/>
        </p:nvSpPr>
        <p:spPr>
          <a:xfrm>
            <a:off x="9795967" y="386791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121  ›</a:t>
            </a:r>
          </a:p>
        </p:txBody>
      </p:sp>
      <p:sp>
        <p:nvSpPr>
          <p:cNvPr id="27" name="!!ag4" descr="Go to section 18.5 N-Grams and Their Limit">
            <a:hlinkClick action="ppaction://hlinksldjump" r:id="rId5"/>
          </p:cNvPr>
          <p:cNvSpPr/>
          <p:nvPr/>
        </p:nvSpPr>
        <p:spPr>
          <a:xfrm>
            <a:off x="658368" y="433425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ag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334256"/>
            <a:ext cx="64008" cy="56692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agn4"/>
          <p:cNvSpPr txBox="1"/>
          <p:nvPr/>
        </p:nvSpPr>
        <p:spPr>
          <a:xfrm>
            <a:off x="932688" y="448056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05B06"/>
                </a:solidFill>
                <a:latin typeface="Segoe UI Semibold"/>
              </a:rPr>
              <a:t>18.5</a:t>
            </a:r>
          </a:p>
        </p:txBody>
      </p:sp>
      <p:sp>
        <p:nvSpPr>
          <p:cNvPr id="30" name="!!agt4"/>
          <p:cNvSpPr txBox="1"/>
          <p:nvPr/>
        </p:nvSpPr>
        <p:spPr>
          <a:xfrm>
            <a:off x="1847088" y="448056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N-Grams and Their Limit</a:t>
            </a:r>
          </a:p>
        </p:txBody>
      </p:sp>
      <p:sp>
        <p:nvSpPr>
          <p:cNvPr id="31" name="!!agp4"/>
          <p:cNvSpPr txBox="1"/>
          <p:nvPr/>
        </p:nvSpPr>
        <p:spPr>
          <a:xfrm>
            <a:off x="9795967" y="450799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121  ›</a:t>
            </a:r>
          </a:p>
        </p:txBody>
      </p:sp>
      <p:sp>
        <p:nvSpPr>
          <p:cNvPr id="3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Chapter in preparation</a:t>
            </a:r>
          </a:p>
        </p:txBody>
      </p:sp>
      <p:pic>
        <p:nvPicPr>
          <p:cNvPr id="3" name="!!kicker-icon" descr="exclamation-triang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45688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WATCH OUT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18  ·  Natural Language Processing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§18.5  ·  Handout p. 121     </a:t>
            </a:r>
            <a:fld id="{1BAA2802-A3E9-49B0-A4B8-3B140898DD26}" type="slidenum">
              <a:rPr lang="en-GB" sz="1000">
                <a:solidFill>
                  <a:srgbClr val="8795A1"/>
                </a:solidFill>
                <a:latin typeface="Segoe UI"/>
              </a:rPr>
              <a:t>6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079955"/>
          </a:xfrm>
          <a:prstGeom prst="roundRect">
            <a:avLst>
              <a:gd name="adj" fmla="val 4396"/>
            </a:avLst>
          </a:prstGeom>
          <a:solidFill>
            <a:srgbClr val="FDED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079955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5038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The full text of this chapter — prose, figures, worked example, laboratory and review questions — is being written. The outcomes, prerequisites, key terms and section structure above are settled and match the Course Specification and Appendix G.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876678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1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18  ·  Natural Language Processing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122  ·  answers in Appendix D     </a:t>
            </a:r>
            <a:fld id="{26F492C9-1A5D-4B89-9536-177D1B0DA2E7}" type="slidenum">
              <a:rPr lang="en-GB" sz="1000">
                <a:solidFill>
                  <a:srgbClr val="D5DEE5"/>
                </a:solidFill>
                <a:latin typeface="Segoe UI"/>
              </a:rPr>
              <a:t>7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4572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1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411833"/>
            <a:ext cx="64008" cy="34869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411833"/>
            <a:ext cx="10509199" cy="3944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18  ·  Natural Language Processing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122  ·  answers in Appendix D     </a:t>
            </a:r>
            <a:fld id="{E969B0B1-A4AF-485F-8A44-D1A2C12B411B}" type="slidenum">
              <a:rPr lang="en-GB" sz="1000">
                <a:solidFill>
                  <a:srgbClr val="8795A1"/>
                </a:solidFill>
                <a:latin typeface="Segoe UI"/>
              </a:rPr>
              <a:t>8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502237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2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18  ·  Natural Language Processing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122  ·  answers in Appendix D     </a:t>
            </a:r>
            <a:fld id="{B567F5EF-2129-4BBF-8FDB-3F63914FBE74}" type="slidenum">
              <a:rPr lang="en-GB" sz="1000">
                <a:solidFill>
                  <a:srgbClr val="D5DEE5"/>
                </a:solidFill>
                <a:latin typeface="Segoe UI"/>
              </a:rPr>
              <a:t>9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4572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2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411833"/>
            <a:ext cx="64008" cy="34869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411833"/>
            <a:ext cx="10509199" cy="3944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18  ·  Natural Language Processing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122  ·  answers in Appendix D     </a:t>
            </a:r>
            <a:fld id="{B4DEEA61-FEB3-4845-ACA3-ED0B7F98B281}" type="slidenum">
              <a:rPr lang="en-GB" sz="1000">
                <a:solidFill>
                  <a:srgbClr val="8795A1"/>
                </a:solidFill>
                <a:latin typeface="Segoe UI"/>
              </a:rPr>
              <a:t>10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127796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3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18  ·  Natural Language Processing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122  ·  answers in Appendix D     </a:t>
            </a:r>
            <a:fld id="{BA72ED21-9B83-4E07-A7A2-4A4EAAE72B27}" type="slidenum">
              <a:rPr lang="en-GB" sz="1000">
                <a:solidFill>
                  <a:srgbClr val="D5DEE5"/>
                </a:solidFill>
                <a:latin typeface="Segoe UI"/>
              </a:rPr>
              <a:t>11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45720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To be written with the chapter.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3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411833"/>
            <a:ext cx="64008" cy="348691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411833"/>
            <a:ext cx="10509199" cy="3944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18  ·  Natural Language Processing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122  ·  answers in Appendix D     </a:t>
            </a:r>
            <a:fld id="{808ED9B7-CB7B-40B7-AE14-3B497186FFEF}" type="slidenum">
              <a:rPr lang="en-GB" sz="1000">
                <a:solidFill>
                  <a:srgbClr val="8795A1"/>
                </a:solidFill>
                <a:latin typeface="Segoe UI"/>
              </a:rPr>
              <a:t>12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753356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to take away</a:t>
            </a:r>
          </a:p>
        </p:txBody>
      </p:sp>
      <p:pic>
        <p:nvPicPr>
          <p:cNvPr id="3" name="!!kicker-icon" descr="clipboard-check-15425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5425E"/>
                </a:solidFill>
                <a:latin typeface="Segoe UI"/>
              </a:rPr>
              <a:t>CHAPTER SUMMARY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18  ·  Natural Language Processing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122     </a:t>
            </a:r>
            <a:fld id="{B832B50C-6310-4D7C-9933-44A4517A4B07}" type="slidenum">
              <a:rPr lang="en-GB" sz="1000">
                <a:solidFill>
                  <a:srgbClr val="8795A1"/>
                </a:solidFill>
                <a:latin typeface="Segoe UI"/>
              </a:rPr>
              <a:t>13</a:t>
            </a:fld>
          </a:p>
        </p:txBody>
      </p:sp>
      <p:sp>
        <p:nvSpPr>
          <p:cNvPr id="7" name="!!s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46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sbn0"/>
          <p:cNvSpPr txBox="1"/>
          <p:nvPr/>
        </p:nvSpPr>
        <p:spPr>
          <a:xfrm>
            <a:off x="658368" y="18013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!!st0"/>
          <p:cNvSpPr txBox="1"/>
          <p:nvPr/>
        </p:nvSpPr>
        <p:spPr>
          <a:xfrm>
            <a:off x="1298448" y="1737360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Ticket Subject Lines.</a:t>
            </a:r>
          </a:p>
        </p:txBody>
      </p:sp>
      <p:sp>
        <p:nvSpPr>
          <p:cNvPr id="10" name="!!s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33172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sbn1"/>
          <p:cNvSpPr txBox="1"/>
          <p:nvPr/>
        </p:nvSpPr>
        <p:spPr>
          <a:xfrm>
            <a:off x="658368" y="2386584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!!st1"/>
          <p:cNvSpPr txBox="1"/>
          <p:nvPr/>
        </p:nvSpPr>
        <p:spPr>
          <a:xfrm>
            <a:off x="1298448" y="2322576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The Symbolic Pipeline.</a:t>
            </a:r>
          </a:p>
        </p:txBody>
      </p:sp>
      <p:sp>
        <p:nvSpPr>
          <p:cNvPr id="13" name="!!s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91693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sbn2"/>
          <p:cNvSpPr txBox="1"/>
          <p:nvPr/>
        </p:nvSpPr>
        <p:spPr>
          <a:xfrm>
            <a:off x="658368" y="2971800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5" name="!!st2"/>
          <p:cNvSpPr txBox="1"/>
          <p:nvPr/>
        </p:nvSpPr>
        <p:spPr>
          <a:xfrm>
            <a:off x="1298448" y="2907792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Context-Free Grammars and Parsing.</a:t>
            </a:r>
          </a:p>
        </p:txBody>
      </p:sp>
      <p:sp>
        <p:nvSpPr>
          <p:cNvPr id="16" name="!!s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5021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sbn3"/>
          <p:cNvSpPr txBox="1"/>
          <p:nvPr/>
        </p:nvSpPr>
        <p:spPr>
          <a:xfrm>
            <a:off x="658368" y="3557016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8" name="!!st3"/>
          <p:cNvSpPr txBox="1"/>
          <p:nvPr/>
        </p:nvSpPr>
        <p:spPr>
          <a:xfrm>
            <a:off x="1298448" y="3493008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Pattern Substitution: Eliza.</a:t>
            </a:r>
          </a:p>
        </p:txBody>
      </p:sp>
      <p:sp>
        <p:nvSpPr>
          <p:cNvPr id="19" name="!!s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08736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sbn4"/>
          <p:cNvSpPr txBox="1"/>
          <p:nvPr/>
        </p:nvSpPr>
        <p:spPr>
          <a:xfrm>
            <a:off x="658368" y="4142232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1" name="!!st4"/>
          <p:cNvSpPr txBox="1"/>
          <p:nvPr/>
        </p:nvSpPr>
        <p:spPr>
          <a:xfrm>
            <a:off x="1298448" y="4078224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1C252B"/>
                </a:solidFill>
                <a:latin typeface="Segoe UI"/>
              </a:rPr>
              <a:t>N-Grams and Their Limit.</a:t>
            </a:r>
          </a:p>
        </p:txBody>
      </p:sp>
      <p:sp>
        <p:nvSpPr>
          <p:cNvPr id="5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56613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2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2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For your notebook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QUESTIONS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Artificial Intelligence  ·  Chapter 18  ·  Natural Language Processing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122     </a:t>
            </a:r>
            <a:fld id="{BAF76B17-B135-45B9-B248-9FC44D7B0DC0}" type="slidenum">
              <a:rPr lang="en-GB" sz="1000">
                <a:solidFill>
                  <a:srgbClr val="8795A1"/>
                </a:solidFill>
                <a:latin typeface="Segoe UI"/>
              </a:rPr>
              <a:t>14</a:t>
            </a:fld>
          </a:p>
        </p:txBody>
      </p:sp>
      <p:sp>
        <p:nvSpPr>
          <p:cNvPr id="7" name="!!r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rtt0"/>
          <p:cNvSpPr txBox="1"/>
          <p:nvPr/>
        </p:nvSpPr>
        <p:spPr>
          <a:xfrm>
            <a:off x="658368" y="1796795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9" name="!!rq0"/>
          <p:cNvSpPr txBox="1"/>
          <p:nvPr/>
        </p:nvSpPr>
        <p:spPr>
          <a:xfrm>
            <a:off x="1892807" y="1737360"/>
            <a:ext cx="9549079" cy="3011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10" name="!!r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76246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tt1"/>
          <p:cNvSpPr txBox="1"/>
          <p:nvPr/>
        </p:nvSpPr>
        <p:spPr>
          <a:xfrm>
            <a:off x="658368" y="2317394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APPLIED</a:t>
            </a:r>
          </a:p>
        </p:txBody>
      </p:sp>
      <p:sp>
        <p:nvSpPr>
          <p:cNvPr id="12" name="!!rq1"/>
          <p:cNvSpPr txBox="1"/>
          <p:nvPr/>
        </p:nvSpPr>
        <p:spPr>
          <a:xfrm>
            <a:off x="1892807" y="2257958"/>
            <a:ext cx="9549079" cy="3011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To be written with the chapter.</a:t>
            </a:r>
          </a:p>
        </p:txBody>
      </p:sp>
      <p:sp>
        <p:nvSpPr>
          <p:cNvPr id="13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37891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05B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7B681A"/>
                </a:solidFill>
                <a:latin typeface="Segoe UI Black"/>
              </a:rPr>
              <a:t>18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1243584"/>
            <a:ext cx="8229600" cy="82296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000" b="0">
                <a:solidFill>
                  <a:srgbClr val="FFFFFF"/>
                </a:solidFill>
                <a:latin typeface="Segoe UI Semibold"/>
              </a:rPr>
              <a:t>End of Chapter 18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02412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c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574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cll0"/>
          <p:cNvSpPr txBox="1"/>
          <p:nvPr/>
        </p:nvSpPr>
        <p:spPr>
          <a:xfrm>
            <a:off x="932688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C9C1A0"/>
                </a:solidFill>
                <a:latin typeface="Segoe UI"/>
              </a:rPr>
              <a:t>NEXT</a:t>
            </a:r>
          </a:p>
        </p:txBody>
      </p:sp>
      <p:sp>
        <p:nvSpPr>
          <p:cNvPr id="7" name="!!clv0"/>
          <p:cNvSpPr txBox="1"/>
          <p:nvPr/>
        </p:nvSpPr>
        <p:spPr>
          <a:xfrm>
            <a:off x="932688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Chapter 19 — Classic AI Systems and How to Analyse Them</a:t>
            </a:r>
          </a:p>
        </p:txBody>
      </p:sp>
      <p:sp>
        <p:nvSpPr>
          <p:cNvPr id="8" name="!!c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574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ll1"/>
          <p:cNvSpPr txBox="1"/>
          <p:nvPr/>
        </p:nvSpPr>
        <p:spPr>
          <a:xfrm>
            <a:off x="6507327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C9C1A0"/>
                </a:solidFill>
                <a:latin typeface="Segoe UI"/>
              </a:rPr>
              <a:t>READ</a:t>
            </a:r>
          </a:p>
        </p:txBody>
      </p:sp>
      <p:sp>
        <p:nvSpPr>
          <p:cNvPr id="10" name="!!clv1"/>
          <p:cNvSpPr txBox="1"/>
          <p:nvPr/>
        </p:nvSpPr>
        <p:spPr>
          <a:xfrm>
            <a:off x="6507327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Handout Chapter 18, pages 121–122</a:t>
            </a:r>
          </a:p>
        </p:txBody>
      </p:sp>
      <p:sp>
        <p:nvSpPr>
          <p:cNvPr id="11" name="!!c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574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ll2"/>
          <p:cNvSpPr txBox="1"/>
          <p:nvPr/>
        </p:nvSpPr>
        <p:spPr>
          <a:xfrm>
            <a:off x="932688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C9C1A0"/>
                </a:solidFill>
                <a:latin typeface="Segoe UI"/>
              </a:rPr>
              <a:t>THIS WEEK'S LAB</a:t>
            </a:r>
          </a:p>
        </p:txBody>
      </p:sp>
      <p:sp>
        <p:nvSpPr>
          <p:cNvPr id="13" name="!!clv2"/>
          <p:cNvSpPr txBox="1"/>
          <p:nvPr/>
        </p:nvSpPr>
        <p:spPr>
          <a:xfrm>
            <a:off x="932688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Segoe UI Semibold"/>
              </a:rPr>
              <a:t>Parsing ticket subjects; four systems in one file</a:t>
            </a:r>
          </a:p>
        </p:txBody>
      </p:sp>
      <p:sp>
        <p:nvSpPr>
          <p:cNvPr id="1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Artificial Intelligence  ·  Chapter 18  ·  Natural Language Processing</a:t>
            </a:r>
          </a:p>
        </p:txBody>
      </p:sp>
      <p:sp>
        <p:nvSpPr>
          <p:cNvPr id="1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fld id="{45BD736F-598E-4491-8D10-1CCD2742EBD2}" type="slidenum">
              <a:rPr lang="en-GB" sz="1000">
                <a:solidFill>
                  <a:srgbClr val="D5DEE5"/>
                </a:solidFill>
                <a:latin typeface="Segoe UI"/>
              </a:rPr>
              <a:t>15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rtificial Intelligence Fall 2026">
  <a:themeElements>
    <a:clrScheme name="Artificial Intelligence Fall 2026">
      <a:dk1>
        <a:srgbClr val="1C252B"/>
      </a:dk1>
      <a:lt1>
        <a:srgbClr val="FFFFFF"/>
      </a:lt1>
      <a:dk2>
        <a:srgbClr val="1A5276"/>
      </a:dk2>
      <a:lt2>
        <a:srgbClr val="EBF5FB"/>
      </a:lt2>
      <a:accent1>
        <a:srgbClr val="1A5276"/>
      </a:accent1>
      <a:accent2>
        <a:srgbClr val="2E86C1"/>
      </a:accent2>
      <a:accent3>
        <a:srgbClr val="E74C3C"/>
      </a:accent3>
      <a:accent4>
        <a:srgbClr val="27AE60"/>
      </a:accent4>
      <a:accent5>
        <a:srgbClr val="8E44AD"/>
      </a:accent5>
      <a:accent6>
        <a:srgbClr val="B7950B"/>
      </a:accent6>
      <a:hlink>
        <a:srgbClr val="2E86C1"/>
      </a:hlink>
      <a:folHlink>
        <a:srgbClr val="8E44AD"/>
      </a:folHlink>
    </a:clrScheme>
    <a:fontScheme name="Artificial Intelligence Fall 2026">
      <a:majorFont>
        <a:latin typeface="Segoe UI Semi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18: Natural Language Processing</dc:title>
  <dc:subject>Artificial Intelligence — Search, Knowledge and Reasoning · BSIT · Fall 2026</dc:subject>
  <dc:creator>Dr. Mustafa Hameed</dc:creator>
  <cp:keywords>artificial intelligence; lecture slides; BSIT; HEC; Fall 2026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Lecture slides</cp:category>
</cp:coreProperties>
</file>